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288" r:id="rId10"/>
    <p:sldId id="352" r:id="rId11"/>
    <p:sldId id="362" r:id="rId12"/>
    <p:sldId id="323" r:id="rId13"/>
    <p:sldId id="324" r:id="rId14"/>
    <p:sldId id="357" r:id="rId15"/>
    <p:sldId id="363" r:id="rId16"/>
    <p:sldId id="364" r:id="rId17"/>
    <p:sldId id="368" r:id="rId18"/>
    <p:sldId id="302" r:id="rId19"/>
    <p:sldId id="303" r:id="rId20"/>
    <p:sldId id="360" r:id="rId21"/>
    <p:sldId id="366" r:id="rId22"/>
    <p:sldId id="369" r:id="rId23"/>
    <p:sldId id="306" r:id="rId24"/>
    <p:sldId id="307" r:id="rId25"/>
    <p:sldId id="361" r:id="rId26"/>
  </p:sldIdLst>
  <p:sldSz cx="12192000" cy="6858000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6"/>
    <p:restoredTop sz="94687"/>
  </p:normalViewPr>
  <p:slideViewPr>
    <p:cSldViewPr snapToGrid="0">
      <p:cViewPr varScale="1">
        <p:scale>
          <a:sx n="81" d="100"/>
          <a:sy n="81" d="100"/>
        </p:scale>
        <p:origin x="94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75944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6873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1738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6791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40871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3611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597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597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52357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52357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6439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tiff"/><Relationship Id="rId4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tiff"/><Relationship Id="rId5" Type="http://schemas.openxmlformats.org/officeDocument/2006/relationships/image" Target="../media/image180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tiff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tiff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tiff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tiff"/><Relationship Id="rId5" Type="http://schemas.openxmlformats.org/officeDocument/2006/relationships/image" Target="../media/image35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6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Describing Rigid Transformations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87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399862" y="169000"/>
            <a:ext cx="88672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81" y="458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79549" y="1600200"/>
            <a:ext cx="1102431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MA.8.GR.2.1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preimage and image generated by a single transformation, identify the transformation that describes the relationship.</a:t>
            </a:r>
          </a:p>
          <a:p>
            <a:pPr indent="0">
              <a:buNone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MA.8.GR.2.3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and apply the effect of a single transformation on two-dimensional figures using coordinates and the coordinate plane.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4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368980" y="129667"/>
            <a:ext cx="931330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92428" y="1596390"/>
            <a:ext cx="1102431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22590" y="30660"/>
            <a:ext cx="885577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245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79549" y="1600200"/>
            <a:ext cx="963125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the effect of a single transformation.</a:t>
            </a:r>
          </a:p>
          <a:p>
            <a:pPr marL="463550" lvl="0" indent="-463550"/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463550" indent="-46355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the effect of a transformation on the coordinate plane.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7520" y="2916936"/>
            <a:ext cx="1031749" cy="103174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35589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3148" y="60325"/>
            <a:ext cx="92260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9.6.1 Warm-Up: Eight-Digit Puzzle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48640" y="1386026"/>
                <a:ext cx="1108534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Place the numbers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through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the rectangles below so that no two consecutive numbers are next to each other horizontally, vertically, or diagonally.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386026"/>
                <a:ext cx="11085342" cy="1015663"/>
              </a:xfrm>
              <a:prstGeom prst="rect">
                <a:avLst/>
              </a:prstGeom>
              <a:blipFill>
                <a:blip r:embed="rId5"/>
                <a:stretch>
                  <a:fillRect l="-573" t="-2439"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208043"/>
              </p:ext>
            </p:extLst>
          </p:nvPr>
        </p:nvGraphicFramePr>
        <p:xfrm>
          <a:off x="4262511" y="2771600"/>
          <a:ext cx="3657600" cy="34290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55984" y="2830158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878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0640" y="60325"/>
            <a:ext cx="922851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9.6.2 Collaboration: Transformation Matching Cards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667746" y="1386025"/>
            <a:ext cx="102136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match the transformation cards with the descriptions of the transformations. Record your matches in the table using the letter shown on the cards.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104804"/>
              </p:ext>
            </p:extLst>
          </p:nvPr>
        </p:nvGraphicFramePr>
        <p:xfrm>
          <a:off x="2505037" y="2604653"/>
          <a:ext cx="6839716" cy="37033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7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1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 Card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Description Card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62708" y="520394"/>
            <a:ext cx="110572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brief summary of what you noticed about the location and orientation of the image in comparison to the preimage for each type of transformation.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804272"/>
              </p:ext>
            </p:extLst>
          </p:nvPr>
        </p:nvGraphicFramePr>
        <p:xfrm>
          <a:off x="2280597" y="1756100"/>
          <a:ext cx="7621428" cy="39166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54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</a:t>
                      </a:r>
                    </a:p>
                  </a:txBody>
                  <a:tcPr marT="91440" marB="9144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Location</a:t>
                      </a:r>
                    </a:p>
                  </a:txBody>
                  <a:tcPr marT="91440" marB="9144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Orientation</a:t>
                      </a:r>
                    </a:p>
                  </a:txBody>
                  <a:tcPr marT="91440" marB="9144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53550" y="520393"/>
                <a:ext cx="990365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Nigel and Elena are discussing what single transformation took place to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𝐵𝑁𝐿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𝑃𝑊𝐾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550" y="520393"/>
                <a:ext cx="9903655" cy="707886"/>
              </a:xfrm>
              <a:prstGeom prst="rect">
                <a:avLst/>
              </a:prstGeom>
              <a:blipFill>
                <a:blip r:embed="rId4"/>
                <a:stretch>
                  <a:fillRect l="-640" t="-3509" r="-256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line chart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4099" y="1475273"/>
            <a:ext cx="5202555" cy="5053965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62708" y="520394"/>
            <a:ext cx="110712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Nigel claims that the transformation is a rotation about the origin. Elena says the transformation is a reflection. Which student do you agree with?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 agree with Nigel, what is the angle of rotation and direction? If you agree with Elena, what is the line of reflection?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1927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55984" y="2766150"/>
            <a:ext cx="57958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10640" y="-37211"/>
            <a:ext cx="103233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9.6.3 Guided Practice: Describing Transformations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2507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76775" y="1386025"/>
                <a:ext cx="1105720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coordinate grid shown,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𝑍𝐶𝑀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preimage,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𝑃𝐹𝑆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image after a single transformation.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75" y="1386025"/>
                <a:ext cx="11057207" cy="707886"/>
              </a:xfrm>
              <a:prstGeom prst="rect">
                <a:avLst/>
              </a:prstGeom>
              <a:blipFill>
                <a:blip r:embed="rId5"/>
                <a:stretch>
                  <a:fillRect l="-574" t="-3509" r="-126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2800" y="2191447"/>
            <a:ext cx="5486400" cy="436245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76774" y="520394"/>
                <a:ext cx="1105720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67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Select the statement that best describes the transformation. Then, complete the chosen statement.</a:t>
                </a:r>
              </a:p>
              <a:p>
                <a:pPr marL="4667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914400" indent="-454025">
                  <a:buFont typeface="Wingdings" pitchFamily="2" charset="2"/>
                  <a:buChar char="¨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𝑍𝐶𝑀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mapped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𝑃𝐹𝑆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translating it ____ units to the right.</a:t>
                </a:r>
              </a:p>
              <a:p>
                <a:pPr marL="914400" indent="-454025">
                  <a:buFont typeface="Wingdings" pitchFamily="2" charset="2"/>
                  <a:buChar char="¨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4025">
                  <a:buFont typeface="Wingdings" pitchFamily="2" charset="2"/>
                  <a:buChar char="¨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𝑍𝐶𝑀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mapped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𝑃𝐹𝑆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reflecting it over _______________.</a:t>
                </a:r>
              </a:p>
              <a:p>
                <a:pPr marL="914400" indent="-454025">
                  <a:buFont typeface="Wingdings" pitchFamily="2" charset="2"/>
                  <a:buChar char="¨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4025">
                  <a:buFont typeface="Wingdings" pitchFamily="2" charset="2"/>
                  <a:buChar char="¨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𝑍𝐶𝑀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mapped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𝑃𝐹𝑆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rotating it _____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clockwise about the origin.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74" y="520394"/>
                <a:ext cx="11057207" cy="2862322"/>
              </a:xfrm>
              <a:prstGeom prst="rect">
                <a:avLst/>
              </a:prstGeom>
              <a:blipFill>
                <a:blip r:embed="rId4"/>
                <a:stretch>
                  <a:fillRect t="-881" r="-459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4421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2339606" y="562596"/>
            <a:ext cx="7512788" cy="3592428"/>
          </a:xfrm>
          <a:prstGeom prst="roundRect">
            <a:avLst>
              <a:gd name="adj" fmla="val 16667"/>
            </a:avLst>
          </a:prstGeom>
          <a:solidFill>
            <a:srgbClr val="B8E6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742950">
              <a:spcAft>
                <a:spcPts val="2000"/>
              </a:spcAft>
            </a:pP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describing a transformation on the coordinate plane, the description should include the type of transformation as well as the following information.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089025" indent="-342900">
              <a:buClr>
                <a:srgbClr val="3465B0"/>
              </a:buClr>
              <a:buFont typeface="Symbol" panose="05050102010706020507" pitchFamily="18" charset="2"/>
              <a:buChar char=""/>
            </a:pPr>
            <a:r>
              <a:rPr lang="en-US" sz="2000" b="1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Translation</a:t>
            </a: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the direction and number of units moved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089025" indent="-342900">
              <a:buClr>
                <a:srgbClr val="3465B0"/>
              </a:buClr>
              <a:buFont typeface="Symbol" panose="05050102010706020507" pitchFamily="18" charset="2"/>
              <a:buChar char=""/>
            </a:pPr>
            <a:r>
              <a:rPr lang="en-US" sz="2000" b="1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Rotation</a:t>
            </a: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about the origin: the angle and direction of the rotation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089025" indent="-342900">
              <a:spcAft>
                <a:spcPts val="1000"/>
              </a:spcAft>
              <a:buClr>
                <a:srgbClr val="3465B0"/>
              </a:buClr>
              <a:buFont typeface="Symbol" panose="05050102010706020507" pitchFamily="18" charset="2"/>
              <a:buChar char=""/>
            </a:pPr>
            <a:r>
              <a:rPr lang="en-US" sz="2000" b="1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Reflection</a:t>
            </a: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the line of reflection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image15.png" descr="Icon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76427" y="825150"/>
            <a:ext cx="539750" cy="53970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0955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6820589"/>
                  </p:ext>
                </p:extLst>
              </p:nvPr>
            </p:nvGraphicFramePr>
            <p:xfrm>
              <a:off x="2438400" y="1103798"/>
              <a:ext cx="7315200" cy="54254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48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Transformation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Description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3776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∆</m:t>
                              </m:r>
                              <m:r>
                                <a:rPr lang="en-US" sz="2000" i="1" smtClean="0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𝐻𝐷𝑅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is the </a:t>
                          </a:r>
                          <a:r>
                            <a:rPr lang="en-US" sz="2000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preimage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∆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𝐻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𝐷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𝑅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is the image.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6820589"/>
                  </p:ext>
                </p:extLst>
              </p:nvPr>
            </p:nvGraphicFramePr>
            <p:xfrm>
              <a:off x="2438400" y="1103798"/>
              <a:ext cx="7315200" cy="54254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48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Transformation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Description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37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10256" r="-33796" b="-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4117" y="2276375"/>
            <a:ext cx="3449373" cy="4181300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62708" y="520393"/>
            <a:ext cx="9772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each transformation shown.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0179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341022"/>
                  </p:ext>
                </p:extLst>
              </p:nvPr>
            </p:nvGraphicFramePr>
            <p:xfrm>
              <a:off x="2438400" y="716280"/>
              <a:ext cx="7315200" cy="54254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48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Transformation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Description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37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Quadrilateral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𝑁𝑌𝑊𝑃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is the </a:t>
                          </a:r>
                          <a:r>
                            <a:rPr lang="en-US" sz="2000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preimage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and quadrilateral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𝑁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𝑌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𝑊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𝑃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is the image.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341022"/>
                  </p:ext>
                </p:extLst>
              </p:nvPr>
            </p:nvGraphicFramePr>
            <p:xfrm>
              <a:off x="2438400" y="716280"/>
              <a:ext cx="7315200" cy="54254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48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Transformation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Description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37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10000" r="-33796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0779" y="2316211"/>
            <a:ext cx="4572000" cy="335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79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26280" y="2785157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7520" y="2916936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13148" y="187913"/>
            <a:ext cx="9226002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9.6.4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76775" y="1199415"/>
                <a:ext cx="110572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coordinate grid, 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result of a transformation on 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75" y="1199415"/>
                <a:ext cx="11057207" cy="400110"/>
              </a:xfrm>
              <a:prstGeom prst="rect">
                <a:avLst/>
              </a:prstGeom>
              <a:blipFill>
                <a:blip r:embed="rId5"/>
                <a:stretch>
                  <a:fillRect l="-574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4646" y="1958457"/>
            <a:ext cx="5802708" cy="4242143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8640" y="520393"/>
                <a:ext cx="1107127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67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Select the statement that best describes the transformation. Then, complete the chosen statement.</a:t>
                </a: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Wingdings" pitchFamily="2" charset="2"/>
                  <a:buChar char="¨"/>
                  <a:tabLst>
                    <a:tab pos="2971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was translated ____ units 	     and ____ units		       </a:t>
                </a:r>
              </a:p>
              <a:p>
                <a:pPr marL="466725">
                  <a:tabLst>
                    <a:tab pos="29718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>
                  <a:tabLst>
                    <a:tab pos="2971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map 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809625" indent="-342900">
                  <a:buFont typeface="Wingdings" pitchFamily="2" charset="2"/>
                  <a:buChar char="¨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9625" indent="-342900">
                  <a:buFont typeface="Wingdings" pitchFamily="2" charset="2"/>
                  <a:buChar char="¨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0850">
                  <a:buFont typeface="Wingdings" pitchFamily="2" charset="2"/>
                  <a:buChar char="¨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was reflected to map to 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line of reflection is _______________.</a:t>
                </a:r>
              </a:p>
              <a:p>
                <a:pPr marL="858838" indent="-342900">
                  <a:buFont typeface="Wingdings" pitchFamily="2" charset="2"/>
                  <a:buChar char="¨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0850">
                  <a:buFont typeface="Wingdings" pitchFamily="2" charset="2"/>
                  <a:buChar char="¨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was rotated about the origin to map to figure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angle of rotation was _____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counterclockwise.</a:t>
                </a:r>
              </a:p>
              <a:p>
                <a:pPr marL="858838" indent="-342900">
                  <a:buFont typeface="Wingdings" pitchFamily="2" charset="2"/>
                  <a:buChar char="¨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58838" indent="-342900">
                  <a:buFont typeface="Wingdings" pitchFamily="2" charset="2"/>
                  <a:buChar char="¨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8788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each transformation. Include the units of translation, line of reflection, or angle and direction of rotation as needed.</a:t>
                </a:r>
              </a:p>
              <a:p>
                <a:pPr marL="809625" indent="-342900">
                  <a:buFont typeface="Wingdings" panose="05000000000000000000" pitchFamily="2" charset="2"/>
                  <a:buChar char="q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520393"/>
                <a:ext cx="11071274" cy="5632311"/>
              </a:xfrm>
              <a:prstGeom prst="rect">
                <a:avLst/>
              </a:prstGeom>
              <a:blipFill>
                <a:blip r:embed="rId4"/>
                <a:stretch>
                  <a:fillRect l="-606" t="-541" r="-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80192" y="1288176"/>
            <a:ext cx="1188720" cy="783193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ClrTx/>
              <a:buFont typeface="Courier New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right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28600" indent="-228600">
              <a:spcAft>
                <a:spcPts val="1000"/>
              </a:spcAft>
              <a:buClrTx/>
              <a:buFont typeface="Courier New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left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519168" y="1288175"/>
            <a:ext cx="1280160" cy="783193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ClrTx/>
              <a:buFont typeface="Courier New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up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28600" indent="-228600">
              <a:spcAft>
                <a:spcPts val="1000"/>
              </a:spcAft>
              <a:buClrTx/>
              <a:buFont typeface="Courier New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down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922846"/>
                  </p:ext>
                </p:extLst>
              </p:nvPr>
            </p:nvGraphicFramePr>
            <p:xfrm>
              <a:off x="2438400" y="555158"/>
              <a:ext cx="7315200" cy="59740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48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Transformation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Description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Quadrilateral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𝑁𝐷𝑌𝐹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is the </a:t>
                          </a:r>
                          <a:r>
                            <a:rPr lang="en-US" sz="2000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preimage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and quadrilateral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𝑁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𝐷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𝑌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𝐹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is the image.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922846"/>
                  </p:ext>
                </p:extLst>
              </p:nvPr>
            </p:nvGraphicFramePr>
            <p:xfrm>
              <a:off x="2438400" y="555158"/>
              <a:ext cx="7315200" cy="59740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48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Transformation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Description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1" t="-9238" r="-33796" b="-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9265" y="2069297"/>
            <a:ext cx="4017645" cy="423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36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614586"/>
                  </p:ext>
                </p:extLst>
              </p:nvPr>
            </p:nvGraphicFramePr>
            <p:xfrm>
              <a:off x="2438400" y="555158"/>
              <a:ext cx="7315200" cy="59740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48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Transformation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Description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Quadrilateral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𝑉𝑀𝐶𝑋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is the </a:t>
                          </a:r>
                          <a:r>
                            <a:rPr lang="en-US" sz="2000" dirty="0" err="1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preimage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and quadrilateral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𝑉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𝑀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𝐶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𝑋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is the image.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614586"/>
                  </p:ext>
                </p:extLst>
              </p:nvPr>
            </p:nvGraphicFramePr>
            <p:xfrm>
              <a:off x="2438400" y="555158"/>
              <a:ext cx="7315200" cy="59740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48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Transformation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Description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1" t="-9238" r="-33796" b="-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546" y="2192137"/>
            <a:ext cx="3819525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53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12139" y="2762342"/>
            <a:ext cx="378788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7520" y="2916936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13148" y="-82571"/>
            <a:ext cx="93081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9.6.5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76775" y="1386025"/>
                <a:ext cx="103256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PH" sz="2000" dirty="0">
                    <a:latin typeface="Verdana" pitchFamily="34" charset="0"/>
                    <a:ea typeface="Verdana" pitchFamily="34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𝑀𝑇𝑅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preimage,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image, are shown on the coordinate plane.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75" y="1386025"/>
                <a:ext cx="10325687" cy="707886"/>
              </a:xfrm>
              <a:prstGeom prst="rect">
                <a:avLst/>
              </a:prstGeom>
              <a:blipFill>
                <a:blip r:embed="rId5"/>
                <a:stretch>
                  <a:fillRect l="-614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7845" y="2675593"/>
            <a:ext cx="6036310" cy="320040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76774" y="520394"/>
                <a:ext cx="1105720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67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Select and complete one statement to describe the transformation. </a:t>
                </a:r>
              </a:p>
              <a:p>
                <a:pPr marL="4667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7675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create the image, the preimage was translated _____ units right.</a:t>
                </a:r>
              </a:p>
              <a:p>
                <a:pPr marL="914400" indent="-447675">
                  <a:buFont typeface="Wingdings" panose="05000000000000000000" pitchFamily="2" charset="2"/>
                  <a:buChar char="q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create the image, the preimage was reflected across the _______________.</a:t>
                </a:r>
              </a:p>
              <a:p>
                <a:pPr marL="914400" indent="-447675">
                  <a:buFont typeface="Wingdings" panose="05000000000000000000" pitchFamily="2" charset="2"/>
                  <a:buChar char="q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7675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create the image, the preimage was rotated _____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clockwise about the origin.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74" y="520394"/>
                <a:ext cx="11057207" cy="2862322"/>
              </a:xfrm>
              <a:prstGeom prst="rect">
                <a:avLst/>
              </a:prstGeom>
              <a:blipFill>
                <a:blip r:embed="rId4"/>
                <a:stretch>
                  <a:fillRect t="-881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62402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7749</TotalTime>
  <Words>970</Words>
  <Application>Microsoft Office PowerPoint</Application>
  <PresentationFormat>Widescreen</PresentationFormat>
  <Paragraphs>162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Verdana</vt:lpstr>
      <vt:lpstr>Wingdings</vt:lpstr>
      <vt:lpstr>Century Gothic</vt:lpstr>
      <vt:lpstr>Calibri</vt:lpstr>
      <vt:lpstr>Arial Black</vt:lpstr>
      <vt:lpstr>Symbol</vt:lpstr>
      <vt:lpstr>Cambria Math</vt:lpstr>
      <vt:lpstr>Courier New</vt:lpstr>
      <vt:lpstr>Arial</vt:lpstr>
      <vt:lpstr>1_Office Theme</vt:lpstr>
      <vt:lpstr>8th Grade Math: Pre-Algebra  Unit 9, Lesson 6  Describing Rigid Transformations  Volume 2, pg. 87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35</cp:revision>
  <dcterms:created xsi:type="dcterms:W3CDTF">2015-03-17T18:51:18Z</dcterms:created>
  <dcterms:modified xsi:type="dcterms:W3CDTF">2022-06-17T17:30:03Z</dcterms:modified>
</cp:coreProperties>
</file>