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23" r:id="rId8"/>
    <p:sldId id="324" r:id="rId9"/>
    <p:sldId id="288" r:id="rId10"/>
    <p:sldId id="357" r:id="rId11"/>
    <p:sldId id="362" r:id="rId12"/>
    <p:sldId id="363" r:id="rId13"/>
    <p:sldId id="314" r:id="rId14"/>
    <p:sldId id="315" r:id="rId15"/>
    <p:sldId id="352" r:id="rId16"/>
    <p:sldId id="364" r:id="rId17"/>
    <p:sldId id="365" r:id="rId18"/>
    <p:sldId id="366" r:id="rId19"/>
    <p:sldId id="306" r:id="rId20"/>
    <p:sldId id="307" r:id="rId21"/>
    <p:sldId id="361" r:id="rId22"/>
  </p:sldIdLst>
  <p:sldSz cx="12192000" cy="6858000"/>
  <p:notesSz cx="6858000" cy="9144000"/>
  <p:embeddedFontLst>
    <p:embeddedFont>
      <p:font typeface="Arial Black" panose="020B0A04020102020204" pitchFamily="34" charset="0"/>
      <p:bold r:id="rId24"/>
    </p:embeddedFont>
    <p:embeddedFont>
      <p:font typeface="Calibri" panose="020F0502020204030204" pitchFamily="34" charset="0"/>
      <p:regular r:id="rId25"/>
      <p:bold r:id="rId26"/>
      <p:italic r:id="rId27"/>
      <p:boldItalic r:id="rId28"/>
    </p:embeddedFont>
    <p:embeddedFont>
      <p:font typeface="Cambria Math" panose="02040503050406030204" pitchFamily="18" charset="0"/>
      <p:regular r:id="rId29"/>
    </p:embeddedFont>
    <p:embeddedFont>
      <p:font typeface="Century Gothic" panose="020B0502020202020204" pitchFamily="34" charset="0"/>
      <p:regular r:id="rId30"/>
      <p:bold r:id="rId31"/>
      <p:italic r:id="rId32"/>
      <p:boldItalic r:id="rId33"/>
    </p:embeddedFont>
    <p:embeddedFont>
      <p:font typeface="Verdana" panose="020B060403050404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904" autoAdjust="0"/>
    <p:restoredTop sz="94694"/>
  </p:normalViewPr>
  <p:slideViewPr>
    <p:cSldViewPr snapToGrid="0">
      <p:cViewPr varScale="1">
        <p:scale>
          <a:sx n="86" d="100"/>
          <a:sy n="86" d="100"/>
        </p:scale>
        <p:origin x="104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469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4394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669854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990907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50632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114504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30557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234066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11230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3172367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2164392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hyperlink" Target="https://pt.wikipedia.org/wiki/Ficheiro:Louvre_Museum_Wikimedia_Commons_2.jpg" TargetMode="External"/><Relationship Id="rId5" Type="http://schemas.openxmlformats.org/officeDocument/2006/relationships/image" Target="../media/image21.jpe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2.jpeg"/><Relationship Id="rId4" Type="http://schemas.openxmlformats.org/officeDocument/2006/relationships/image" Target="../media/image20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9, Lesson 10</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Similar Triangles and Dilations in the Real World</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2205274"/>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36525"/>
            <a:ext cx="886725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89547" y="1600200"/>
            <a:ext cx="11032958"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MA.8.GR.2.4</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mathematical and </a:t>
            </a:r>
            <a:br>
              <a:rPr lang="en-US" sz="3500" dirty="0">
                <a:latin typeface="Verdana" panose="020B0604030504040204" pitchFamily="34" charset="0"/>
                <a:ea typeface="Verdana" panose="020B0604030504040204" pitchFamily="34" charset="0"/>
                <a:cs typeface="Verdana" panose="020B0604030504040204" pitchFamily="34" charset="0"/>
              </a:rPr>
            </a:br>
            <a:r>
              <a:rPr lang="en-US" sz="3500" dirty="0">
                <a:latin typeface="Verdana" panose="020B0604030504040204" pitchFamily="34" charset="0"/>
                <a:ea typeface="Verdana" panose="020B0604030504040204" pitchFamily="34" charset="0"/>
                <a:cs typeface="Verdana" panose="020B0604030504040204" pitchFamily="34" charset="0"/>
              </a:rPr>
              <a:t>real-world problems involving proportional relationships between similar triangles.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72087"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68274" y="129667"/>
            <a:ext cx="103422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89547" y="1596390"/>
            <a:ext cx="1102092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30660"/>
            <a:ext cx="93050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89547" y="1600200"/>
            <a:ext cx="1102092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solve real-world problems that involve similar triangles.</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17520" y="2916936"/>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35590"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Chart, line chart&#10;&#10;Description automatically generated"/>
          <p:cNvPicPr/>
          <p:nvPr/>
        </p:nvPicPr>
        <p:blipFill rotWithShape="1">
          <a:blip r:embed="rId3" cstate="screen">
            <a:extLst>
              <a:ext uri="{28A0092B-C50C-407E-A947-70E740481C1C}">
                <a14:useLocalDpi xmlns:a14="http://schemas.microsoft.com/office/drawing/2010/main"/>
              </a:ext>
            </a:extLst>
          </a:blip>
          <a:srcRect r="8794"/>
          <a:stretch/>
        </p:blipFill>
        <p:spPr>
          <a:xfrm>
            <a:off x="5636528" y="1926564"/>
            <a:ext cx="4870041" cy="2996522"/>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3147" y="26391"/>
            <a:ext cx="10273263" cy="10894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9.10.1 Warm-Up: Relationships in Triangles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5">
            <a:alphaModFix/>
          </a:blip>
          <a:stretch>
            <a:fillRect/>
          </a:stretch>
        </p:blipFill>
        <p:spPr>
          <a:xfrm>
            <a:off x="394524"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77516" y="1262123"/>
            <a:ext cx="10273263" cy="4093428"/>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figure is shown. Side lengths and distances, in units, are labeled using variables and known quantities.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right triangles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do you see in the figure?</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Write at least two equations that relate some of the side lengths or distances marked in the figure.</a:t>
            </a:r>
          </a:p>
        </p:txBody>
      </p:sp>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111</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830158"/>
            <a:ext cx="5869116"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A picture containing diagram&#10;&#10;Description automatically generated"/>
          <p:cNvPicPr/>
          <p:nvPr/>
        </p:nvPicPr>
        <p:blipFill rotWithShape="1">
          <a:blip r:embed="rId3" cstate="screen">
            <a:extLst>
              <a:ext uri="{28A0092B-C50C-407E-A947-70E740481C1C}">
                <a14:useLocalDpi xmlns:a14="http://schemas.microsoft.com/office/drawing/2010/main"/>
              </a:ext>
            </a:extLst>
          </a:blip>
          <a:srcRect l="3320" t="14664" r="8431" b="14093"/>
          <a:stretch/>
        </p:blipFill>
        <p:spPr bwMode="auto">
          <a:xfrm>
            <a:off x="5744250" y="2301048"/>
            <a:ext cx="4794900" cy="2247555"/>
          </a:xfrm>
          <a:prstGeom prst="rect">
            <a:avLst/>
          </a:prstGeom>
          <a:noFill/>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640" y="69774"/>
            <a:ext cx="10287802" cy="8678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9.10.2 Guided Practice: Dilations and Similar Triangles in the Real World</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2016"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1D40250-DEDD-2C41-8538-3D4DD18CCC4A}"/>
                  </a:ext>
                </a:extLst>
              </p:cNvPr>
              <p:cNvSpPr txBox="1"/>
              <p:nvPr/>
            </p:nvSpPr>
            <p:spPr>
              <a:xfrm>
                <a:off x="589547" y="1281174"/>
                <a:ext cx="10583975"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Waddell “A” Truss Bridge was built in 1898 and connects Parkville, MO to Trimble, MO. Built using steel rods, the bridge was originally used by the railway but is currently a pedestrian bridge.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scale drawing of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bridge is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2438"/>
                <a:r>
                  <a:rPr lang="en-US" sz="2000" dirty="0">
                    <a:latin typeface="Verdana" panose="020B0604030504040204" pitchFamily="34" charset="0"/>
                    <a:ea typeface="Verdana" panose="020B0604030504040204" pitchFamily="34" charset="0"/>
                    <a:cs typeface="Verdana" panose="020B0604030504040204" pitchFamily="34" charset="0"/>
                  </a:rPr>
                  <a:t>The total span of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bridge is </a:t>
                </a:r>
                <a14:m>
                  <m:oMath xmlns:m="http://schemas.openxmlformats.org/officeDocument/2006/math">
                    <m:r>
                      <a:rPr lang="en-US" sz="2000" i="1">
                        <a:latin typeface="Cambria Math" panose="02040503050406030204" pitchFamily="18" charset="0"/>
                        <a:ea typeface="Cambria Math" panose="02040503050406030204" pitchFamily="18" charset="0"/>
                      </a:rPr>
                      <m:t>30.5</m:t>
                    </m:r>
                  </m:oMath>
                </a14:m>
                <a:r>
                  <a:rPr lang="en-US" sz="2000" dirty="0">
                    <a:latin typeface="Verdana" panose="020B0604030504040204" pitchFamily="34" charset="0"/>
                    <a:ea typeface="Verdana" panose="020B0604030504040204" pitchFamily="34" charset="0"/>
                    <a:cs typeface="Verdana" panose="020B0604030504040204" pitchFamily="34" charset="0"/>
                  </a:rPr>
                  <a:t> meters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(m), and the height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its highest point is </a:t>
                </a:r>
                <a14:m>
                  <m:oMath xmlns:m="http://schemas.openxmlformats.org/officeDocument/2006/math">
                    <m:r>
                      <a:rPr lang="en-US" sz="2000" i="1">
                        <a:latin typeface="Cambria Math" panose="02040503050406030204" pitchFamily="18" charset="0"/>
                        <a:ea typeface="Cambria Math" panose="02040503050406030204" pitchFamily="18" charset="0"/>
                      </a:rPr>
                      <m:t>12.2</m:t>
                    </m:r>
                  </m:oMath>
                </a14:m>
                <a:r>
                  <a:rPr lang="en-US" sz="2000" dirty="0">
                    <a:latin typeface="Verdana" panose="020B0604030504040204" pitchFamily="34" charset="0"/>
                    <a:ea typeface="Verdana" panose="020B0604030504040204" pitchFamily="34" charset="0"/>
                    <a:cs typeface="Verdana" panose="020B0604030504040204" pitchFamily="34" charset="0"/>
                  </a:rPr>
                  <a:t> m. The span of a bridge is the length of the bridge.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Label the given measurements on the figure.</a:t>
                </a:r>
              </a:p>
            </p:txBody>
          </p:sp>
        </mc:Choice>
        <mc:Fallback>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89547" y="1281174"/>
                <a:ext cx="10583975" cy="4093428"/>
              </a:xfrm>
              <a:prstGeom prst="rect">
                <a:avLst/>
              </a:prstGeom>
              <a:blipFill>
                <a:blip r:embed="rId6"/>
                <a:stretch>
                  <a:fillRect l="-634" t="-744" r="-691" b="-1786"/>
                </a:stretch>
              </a:blipFill>
            </p:spPr>
            <p:txBody>
              <a:bodyPr/>
              <a:lstStyle/>
              <a:p>
                <a:r>
                  <a:rPr lang="en-US">
                    <a:noFill/>
                  </a:rPr>
                  <a:t> </a:t>
                </a:r>
              </a:p>
            </p:txBody>
          </p:sp>
        </mc:Fallback>
      </mc:AlternateContent>
      <p:sp>
        <p:nvSpPr>
          <p:cNvPr id="11"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77516" y="373249"/>
            <a:ext cx="11044989" cy="2184509"/>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using the given information. </a:t>
            </a:r>
          </a:p>
          <a:p>
            <a:pPr marL="914400">
              <a:lnSpc>
                <a:spcPct val="1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The span of the bridge is represented by line segment _____.</a:t>
            </a:r>
          </a:p>
          <a:p>
            <a:pPr marL="914400">
              <a:lnSpc>
                <a:spcPct val="150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lnSpc>
                <a:spcPct val="150000"/>
              </a:lnSpc>
            </a:pPr>
            <a:r>
              <a:rPr lang="en-US" sz="2000" dirty="0">
                <a:latin typeface="Verdana" panose="020B0604030504040204" pitchFamily="34" charset="0"/>
                <a:ea typeface="Verdana" panose="020B0604030504040204" pitchFamily="34" charset="0"/>
                <a:cs typeface="Verdana" panose="020B0604030504040204" pitchFamily="34" charset="0"/>
              </a:rPr>
              <a:t>The height of the bridge is represented by line segment _____.</a:t>
            </a:r>
          </a:p>
        </p:txBody>
      </p:sp>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65484" y="373247"/>
            <a:ext cx="11044990"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images and statements below give additional information about the bridge design.</a:t>
            </a:r>
          </a:p>
        </p:txBody>
      </p:sp>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pic>
        <p:nvPicPr>
          <p:cNvPr id="4" name="Picture 3">
            <a:extLst>
              <a:ext uri="{FF2B5EF4-FFF2-40B4-BE49-F238E27FC236}">
                <a16:creationId xmlns:a16="http://schemas.microsoft.com/office/drawing/2014/main" id="{D7197AEA-DBEF-82C3-00F5-9A97EE416B4A}"/>
              </a:ext>
            </a:extLst>
          </p:cNvPr>
          <p:cNvPicPr>
            <a:picLocks noChangeAspect="1"/>
          </p:cNvPicPr>
          <p:nvPr/>
        </p:nvPicPr>
        <p:blipFill>
          <a:blip r:embed="rId4"/>
          <a:stretch>
            <a:fillRect/>
          </a:stretch>
        </p:blipFill>
        <p:spPr>
          <a:xfrm>
            <a:off x="2284880" y="881575"/>
            <a:ext cx="7020485" cy="5710565"/>
          </a:xfrm>
          <a:prstGeom prst="rect">
            <a:avLst/>
          </a:prstGeom>
        </p:spPr>
      </p:pic>
    </p:spTree>
    <p:extLst>
      <p:ext uri="{BB962C8B-B14F-4D97-AF65-F5344CB8AC3E}">
        <p14:creationId xmlns:p14="http://schemas.microsoft.com/office/powerpoint/2010/main" val="1774421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89547" y="520393"/>
            <a:ext cx="11032958" cy="1107996"/>
          </a:xfrm>
          <a:prstGeom prst="rect">
            <a:avLst/>
          </a:prstGeom>
          <a:noFill/>
        </p:spPr>
        <p:txBody>
          <a:bodyPr wrap="square" rtlCol="0">
            <a:spAutoFit/>
          </a:bodyPr>
          <a:lstStyle/>
          <a:p>
            <a:pPr marL="914400" indent="-457200">
              <a:buFont typeface="+mj-lt"/>
              <a:buAutoNum type="alphaLcPeriod" startAt="3"/>
            </a:pPr>
            <a:r>
              <a:rPr lang="en-US" sz="2200" dirty="0">
                <a:latin typeface="Verdana" panose="020B0604030504040204" pitchFamily="34" charset="0"/>
                <a:ea typeface="Verdana" panose="020B0604030504040204" pitchFamily="34" charset="0"/>
                <a:cs typeface="Verdana" panose="020B0604030504040204" pitchFamily="34" charset="0"/>
              </a:rPr>
              <a:t>Use the Pythagorean Theorem, properties of similar triangles, and other reasoning to find the lengths of the line segments. Round to the nearest thousandth of a meter.</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32958796"/>
                  </p:ext>
                </p:extLst>
              </p:nvPr>
            </p:nvGraphicFramePr>
            <p:xfrm>
              <a:off x="2487813" y="2177899"/>
              <a:ext cx="7565163" cy="4022698"/>
            </p:xfrm>
            <a:graphic>
              <a:graphicData uri="http://schemas.openxmlformats.org/drawingml/2006/table">
                <a:tbl>
                  <a:tblPr firstRow="1" firstCol="1" bandRow="1">
                    <a:tableStyleId>{5940675A-B579-460E-94D1-54222C63F5DA}</a:tableStyleId>
                  </a:tblPr>
                  <a:tblGrid>
                    <a:gridCol w="1391552">
                      <a:extLst>
                        <a:ext uri="{9D8B030D-6E8A-4147-A177-3AD203B41FA5}">
                          <a16:colId xmlns:a16="http://schemas.microsoft.com/office/drawing/2014/main" val="20000"/>
                        </a:ext>
                      </a:extLst>
                    </a:gridCol>
                    <a:gridCol w="3740498">
                      <a:extLst>
                        <a:ext uri="{9D8B030D-6E8A-4147-A177-3AD203B41FA5}">
                          <a16:colId xmlns:a16="http://schemas.microsoft.com/office/drawing/2014/main" val="20001"/>
                        </a:ext>
                      </a:extLst>
                    </a:gridCol>
                    <a:gridCol w="2433113">
                      <a:extLst>
                        <a:ext uri="{9D8B030D-6E8A-4147-A177-3AD203B41FA5}">
                          <a16:colId xmlns:a16="http://schemas.microsoft.com/office/drawing/2014/main" val="20002"/>
                        </a:ext>
                      </a:extLst>
                    </a:gridCol>
                  </a:tblGrid>
                  <a:tr h="77825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p>
                      </a:txBody>
                      <a:tcPr marL="44945" marR="44945"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Work/Reasoning</a:t>
                          </a:r>
                        </a:p>
                      </a:txBody>
                      <a:tcPr marL="44945" marR="44945"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(m)</a:t>
                          </a:r>
                        </a:p>
                      </a:txBody>
                      <a:tcPr marL="44945" marR="44945" marT="0" marB="0" anchor="ctr">
                        <a:solidFill>
                          <a:schemeClr val="bg1">
                            <a:lumMod val="65000"/>
                          </a:schemeClr>
                        </a:solidFill>
                      </a:tcPr>
                    </a:tc>
                    <a:extLst>
                      <a:ext uri="{0D108BD9-81ED-4DB2-BD59-A6C34878D82A}">
                        <a16:rowId xmlns:a16="http://schemas.microsoft.com/office/drawing/2014/main" val="10000"/>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𝐾𝑅</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Given</a:t>
                          </a:r>
                        </a:p>
                      </a:txBody>
                      <a:tcPr marL="44945" marR="44945"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30.5</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extLst>
                      <a:ext uri="{0D108BD9-81ED-4DB2-BD59-A6C34878D82A}">
                        <a16:rowId xmlns:a16="http://schemas.microsoft.com/office/drawing/2014/main" val="10001"/>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𝑌𝑀</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Given</a:t>
                          </a:r>
                        </a:p>
                      </a:txBody>
                      <a:tcPr marL="44945" marR="44945" marT="0" marB="0" anchor="ct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12.2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extLst>
                      <a:ext uri="{0D108BD9-81ED-4DB2-BD59-A6C34878D82A}">
                        <a16:rowId xmlns:a16="http://schemas.microsoft.com/office/drawing/2014/main" val="10002"/>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𝑆𝐿</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3"/>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𝑈𝑃</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4"/>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𝑌𝐾</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5"/>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𝑌𝑅</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6"/>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𝑆𝑀</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7"/>
                      </a:ext>
                    </a:extLst>
                  </a:tr>
                  <a:tr h="40555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000" i="1">
                                        <a:effectLst/>
                                        <a:latin typeface="Cambria Math" panose="02040503050406030204" pitchFamily="18" charset="0"/>
                                        <a:ea typeface="Cambria Math" panose="02040503050406030204" pitchFamily="18" charset="0"/>
                                      </a:rPr>
                                    </m:ctrlPr>
                                  </m:accPr>
                                  <m:e>
                                    <m:r>
                                      <a:rPr lang="en-US" sz="2000">
                                        <a:effectLst/>
                                        <a:latin typeface="Cambria Math" panose="02040503050406030204" pitchFamily="18" charset="0"/>
                                        <a:ea typeface="Cambria Math" panose="02040503050406030204" pitchFamily="18" charset="0"/>
                                      </a:rPr>
                                      <m:t>𝑈𝑀</m:t>
                                    </m:r>
                                  </m:e>
                                </m:acc>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L="44945" marR="44945" marT="0" marB="0" anchor="ct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32958796"/>
                  </p:ext>
                </p:extLst>
              </p:nvPr>
            </p:nvGraphicFramePr>
            <p:xfrm>
              <a:off x="2487813" y="2177899"/>
              <a:ext cx="7565163" cy="4022698"/>
            </p:xfrm>
            <a:graphic>
              <a:graphicData uri="http://schemas.openxmlformats.org/drawingml/2006/table">
                <a:tbl>
                  <a:tblPr firstRow="1" firstCol="1" bandRow="1">
                    <a:tableStyleId>{5940675A-B579-460E-94D1-54222C63F5DA}</a:tableStyleId>
                  </a:tblPr>
                  <a:tblGrid>
                    <a:gridCol w="1391552">
                      <a:extLst>
                        <a:ext uri="{9D8B030D-6E8A-4147-A177-3AD203B41FA5}">
                          <a16:colId xmlns:a16="http://schemas.microsoft.com/office/drawing/2014/main" val="20000"/>
                        </a:ext>
                      </a:extLst>
                    </a:gridCol>
                    <a:gridCol w="3740498">
                      <a:extLst>
                        <a:ext uri="{9D8B030D-6E8A-4147-A177-3AD203B41FA5}">
                          <a16:colId xmlns:a16="http://schemas.microsoft.com/office/drawing/2014/main" val="20001"/>
                        </a:ext>
                      </a:extLst>
                    </a:gridCol>
                    <a:gridCol w="2433113">
                      <a:extLst>
                        <a:ext uri="{9D8B030D-6E8A-4147-A177-3AD203B41FA5}">
                          <a16:colId xmlns:a16="http://schemas.microsoft.com/office/drawing/2014/main" val="20002"/>
                        </a:ext>
                      </a:extLst>
                    </a:gridCol>
                  </a:tblGrid>
                  <a:tr h="77825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Line Segment</a:t>
                          </a:r>
                        </a:p>
                      </a:txBody>
                      <a:tcPr marL="44945" marR="44945"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Work/Reasoning</a:t>
                          </a:r>
                        </a:p>
                      </a:txBody>
                      <a:tcPr marL="44945" marR="44945"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(m)</a:t>
                          </a:r>
                        </a:p>
                      </a:txBody>
                      <a:tcPr marL="44945" marR="44945" marT="0" marB="0" anchor="ctr">
                        <a:solidFill>
                          <a:schemeClr val="bg1">
                            <a:lumMod val="65000"/>
                          </a:schemeClr>
                        </a:solidFill>
                      </a:tcPr>
                    </a:tc>
                    <a:extLst>
                      <a:ext uri="{0D108BD9-81ED-4DB2-BD59-A6C34878D82A}">
                        <a16:rowId xmlns:a16="http://schemas.microsoft.com/office/drawing/2014/main" val="10000"/>
                      </a:ext>
                    </a:extLst>
                  </a:tr>
                  <a:tr h="405555">
                    <a:tc>
                      <a:txBody>
                        <a:bodyPr/>
                        <a:lstStyle/>
                        <a:p>
                          <a:endParaRPr lang="en-US"/>
                        </a:p>
                      </a:txBody>
                      <a:tcPr marL="44945" marR="44945" marT="0" marB="0" anchor="ctr">
                        <a:blipFill>
                          <a:blip r:embed="rId4"/>
                          <a:stretch>
                            <a:fillRect t="-196875" r="-443636" b="-703125"/>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Given</a:t>
                          </a:r>
                        </a:p>
                      </a:txBody>
                      <a:tcPr marL="44945" marR="44945" marT="0" marB="0" anchor="ctr"/>
                    </a:tc>
                    <a:tc>
                      <a:txBody>
                        <a:bodyPr/>
                        <a:lstStyle/>
                        <a:p>
                          <a:endParaRPr lang="en-US"/>
                        </a:p>
                      </a:txBody>
                      <a:tcPr marL="44945" marR="44945" marT="0" marB="0" anchor="ctr">
                        <a:blipFill>
                          <a:blip r:embed="rId4"/>
                          <a:stretch>
                            <a:fillRect l="-210938" t="-196875" r="-521" b="-703125"/>
                          </a:stretch>
                        </a:blipFill>
                      </a:tcPr>
                    </a:tc>
                    <a:extLst>
                      <a:ext uri="{0D108BD9-81ED-4DB2-BD59-A6C34878D82A}">
                        <a16:rowId xmlns:a16="http://schemas.microsoft.com/office/drawing/2014/main" val="10001"/>
                      </a:ext>
                    </a:extLst>
                  </a:tr>
                  <a:tr h="405555">
                    <a:tc>
                      <a:txBody>
                        <a:bodyPr/>
                        <a:lstStyle/>
                        <a:p>
                          <a:endParaRPr lang="en-US"/>
                        </a:p>
                      </a:txBody>
                      <a:tcPr marL="44945" marR="44945" marT="0" marB="0" anchor="ctr">
                        <a:blipFill>
                          <a:blip r:embed="rId4"/>
                          <a:stretch>
                            <a:fillRect t="-296875" r="-443636" b="-6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Given</a:t>
                          </a:r>
                        </a:p>
                      </a:txBody>
                      <a:tcPr marL="44945" marR="44945" marT="0" marB="0" anchor="ctr"/>
                    </a:tc>
                    <a:tc>
                      <a:txBody>
                        <a:bodyPr/>
                        <a:lstStyle/>
                        <a:p>
                          <a:endParaRPr lang="en-US"/>
                        </a:p>
                      </a:txBody>
                      <a:tcPr marL="44945" marR="44945" marT="0" marB="0" anchor="ctr">
                        <a:blipFill>
                          <a:blip r:embed="rId4"/>
                          <a:stretch>
                            <a:fillRect l="-210938" t="-296875" r="-521" b="-603125"/>
                          </a:stretch>
                        </a:blipFill>
                      </a:tcPr>
                    </a:tc>
                    <a:extLst>
                      <a:ext uri="{0D108BD9-81ED-4DB2-BD59-A6C34878D82A}">
                        <a16:rowId xmlns:a16="http://schemas.microsoft.com/office/drawing/2014/main" val="10002"/>
                      </a:ext>
                    </a:extLst>
                  </a:tr>
                  <a:tr h="405555">
                    <a:tc>
                      <a:txBody>
                        <a:bodyPr/>
                        <a:lstStyle/>
                        <a:p>
                          <a:endParaRPr lang="en-US"/>
                        </a:p>
                      </a:txBody>
                      <a:tcPr marL="44945" marR="44945" marT="0" marB="0" anchor="ctr">
                        <a:blipFill>
                          <a:blip r:embed="rId4"/>
                          <a:stretch>
                            <a:fillRect t="-396875" r="-443636" b="-5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3"/>
                      </a:ext>
                    </a:extLst>
                  </a:tr>
                  <a:tr h="405555">
                    <a:tc>
                      <a:txBody>
                        <a:bodyPr/>
                        <a:lstStyle/>
                        <a:p>
                          <a:endParaRPr lang="en-US"/>
                        </a:p>
                      </a:txBody>
                      <a:tcPr marL="44945" marR="44945" marT="0" marB="0" anchor="ctr">
                        <a:blipFill>
                          <a:blip r:embed="rId4"/>
                          <a:stretch>
                            <a:fillRect t="-496875" r="-443636" b="-4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4"/>
                      </a:ext>
                    </a:extLst>
                  </a:tr>
                  <a:tr h="405555">
                    <a:tc>
                      <a:txBody>
                        <a:bodyPr/>
                        <a:lstStyle/>
                        <a:p>
                          <a:endParaRPr lang="en-US"/>
                        </a:p>
                      </a:txBody>
                      <a:tcPr marL="44945" marR="44945" marT="0" marB="0" anchor="ctr">
                        <a:blipFill>
                          <a:blip r:embed="rId4"/>
                          <a:stretch>
                            <a:fillRect t="-596875" r="-443636" b="-3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5"/>
                      </a:ext>
                    </a:extLst>
                  </a:tr>
                  <a:tr h="405555">
                    <a:tc>
                      <a:txBody>
                        <a:bodyPr/>
                        <a:lstStyle/>
                        <a:p>
                          <a:endParaRPr lang="en-US"/>
                        </a:p>
                      </a:txBody>
                      <a:tcPr marL="44945" marR="44945" marT="0" marB="0" anchor="ctr">
                        <a:blipFill>
                          <a:blip r:embed="rId4"/>
                          <a:stretch>
                            <a:fillRect t="-696875" r="-443636" b="-2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6"/>
                      </a:ext>
                    </a:extLst>
                  </a:tr>
                  <a:tr h="405555">
                    <a:tc>
                      <a:txBody>
                        <a:bodyPr/>
                        <a:lstStyle/>
                        <a:p>
                          <a:endParaRPr lang="en-US"/>
                        </a:p>
                      </a:txBody>
                      <a:tcPr marL="44945" marR="44945" marT="0" marB="0" anchor="ctr">
                        <a:blipFill>
                          <a:blip r:embed="rId4"/>
                          <a:stretch>
                            <a:fillRect t="-796875" r="-443636" b="-10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7"/>
                      </a:ext>
                    </a:extLst>
                  </a:tr>
                  <a:tr h="405555">
                    <a:tc>
                      <a:txBody>
                        <a:bodyPr/>
                        <a:lstStyle/>
                        <a:p>
                          <a:endParaRPr lang="en-US"/>
                        </a:p>
                      </a:txBody>
                      <a:tcPr marL="44945" marR="44945" marT="0" marB="0" anchor="ctr">
                        <a:blipFill>
                          <a:blip r:embed="rId4"/>
                          <a:stretch>
                            <a:fillRect t="-896875" r="-443636" b="-3125"/>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44945" marR="44945" marT="0" marB="0" anchor="ctr"/>
                    </a:tc>
                    <a:extLst>
                      <a:ext uri="{0D108BD9-81ED-4DB2-BD59-A6C34878D82A}">
                        <a16:rowId xmlns:a16="http://schemas.microsoft.com/office/drawing/2014/main" val="10008"/>
                      </a:ext>
                    </a:extLst>
                  </a:tr>
                </a:tbl>
              </a:graphicData>
            </a:graphic>
          </p:graphicFrame>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spTree>
    <p:extLst>
      <p:ext uri="{BB962C8B-B14F-4D97-AF65-F5344CB8AC3E}">
        <p14:creationId xmlns:p14="http://schemas.microsoft.com/office/powerpoint/2010/main" val="2411246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77516" y="520394"/>
            <a:ext cx="11020926" cy="769441"/>
          </a:xfrm>
          <a:prstGeom prst="rect">
            <a:avLst/>
          </a:prstGeom>
          <a:noFill/>
        </p:spPr>
        <p:txBody>
          <a:bodyPr wrap="square" rtlCol="0">
            <a:spAutoFit/>
          </a:bodyPr>
          <a:lstStyle/>
          <a:p>
            <a:pPr marL="914400" indent="-457200">
              <a:buFont typeface="+mj-lt"/>
              <a:buAutoNum type="alphaLcPeriod" startAt="4"/>
              <a:tabLst>
                <a:tab pos="806450" algn="l"/>
              </a:tabLst>
            </a:pPr>
            <a:r>
              <a:rPr lang="en-US" sz="2200" dirty="0">
                <a:latin typeface="Verdana" panose="020B0604030504040204" pitchFamily="34" charset="0"/>
                <a:ea typeface="Verdana" panose="020B0604030504040204" pitchFamily="34" charset="0"/>
                <a:cs typeface="Verdana" panose="020B0604030504040204" pitchFamily="34" charset="0"/>
              </a:rPr>
              <a:t>How many total meters of steel were used to create one side of this bridge?</a:t>
            </a:r>
          </a:p>
        </p:txBody>
      </p:sp>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spTree>
    <p:extLst>
      <p:ext uri="{BB962C8B-B14F-4D97-AF65-F5344CB8AC3E}">
        <p14:creationId xmlns:p14="http://schemas.microsoft.com/office/powerpoint/2010/main" val="165516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830158"/>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0896" y="60325"/>
            <a:ext cx="1028957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9.10.3 Collaboration: Dilations &amp; Similar Triangles in the Real World</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7144"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589547" y="1386026"/>
            <a:ext cx="11020927" cy="1785104"/>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The Louvre in Paris is a famous museum that houses artwork like the </a:t>
            </a:r>
            <a:r>
              <a:rPr lang="en-US" sz="2200" i="1" dirty="0">
                <a:latin typeface="Verdana" panose="020B0604030504040204" pitchFamily="34" charset="0"/>
                <a:ea typeface="Verdana" panose="020B0604030504040204" pitchFamily="34" charset="0"/>
                <a:cs typeface="Verdana" panose="020B0604030504040204" pitchFamily="34" charset="0"/>
              </a:rPr>
              <a:t>Mona Lisa</a:t>
            </a:r>
            <a:r>
              <a:rPr lang="en-US" sz="2200" dirty="0">
                <a:latin typeface="Verdana" panose="020B0604030504040204" pitchFamily="34" charset="0"/>
                <a:ea typeface="Verdana" panose="020B0604030504040204" pitchFamily="34" charset="0"/>
                <a:cs typeface="Verdana" panose="020B0604030504040204" pitchFamily="34" charset="0"/>
              </a:rPr>
              <a:t>. Though the Louvre building was originally built in 1190 to serve as a fortress, four glass pyramids were built in the courtyard of the Louvre in 1989. These pyramids – one large one in the center, with three smaller ones along the sides – are now the defining structures of the Louvre Museum.</a:t>
            </a:r>
          </a:p>
        </p:txBody>
      </p:sp>
      <p:pic>
        <p:nvPicPr>
          <p:cNvPr id="11" name="Picture 10" descr="Ficheiro:Louvre Museum Wikimedia Commons 2.jpg – Wikipédia ..."/>
          <p:cNvPicPr/>
          <p:nvPr/>
        </p:nvPicPr>
        <p:blipFill>
          <a:blip r:embed="rId5" cstate="screen">
            <a:extLst>
              <a:ext uri="{28A0092B-C50C-407E-A947-70E740481C1C}">
                <a14:useLocalDpi xmlns:a14="http://schemas.microsoft.com/office/drawing/2010/main"/>
              </a:ext>
              <a:ext uri="{837473B0-CC2E-450A-ABE3-18F120FF3D39}">
                <a1611:picAttrSrcUrl xmlns:a1611="http://schemas.microsoft.com/office/drawing/2016/11/main" r:id="rId6"/>
              </a:ext>
            </a:extLst>
          </a:blip>
          <a:stretch>
            <a:fillRect/>
          </a:stretch>
        </p:blipFill>
        <p:spPr>
          <a:xfrm>
            <a:off x="3044825" y="3686871"/>
            <a:ext cx="6102350" cy="2286000"/>
          </a:xfrm>
          <a:prstGeom prst="rect">
            <a:avLst/>
          </a:prstGeom>
        </p:spPr>
      </p:pic>
      <p:sp>
        <p:nvSpPr>
          <p:cNvPr id="1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89546" y="520394"/>
                <a:ext cx="11020927" cy="769441"/>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Each panel of the pyramids is built from numerous pieces of glass. The diagram shows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𝑅𝑋𝐾</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𝑉𝑋𝐿</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89546" y="520394"/>
                <a:ext cx="11020927" cy="769441"/>
              </a:xfrm>
              <a:prstGeom prst="rect">
                <a:avLst/>
              </a:prstGeom>
              <a:blipFill>
                <a:blip r:embed="rId4"/>
                <a:stretch>
                  <a:fillRect l="-690" t="-4839" b="-14516"/>
                </a:stretch>
              </a:blipFill>
            </p:spPr>
            <p:txBody>
              <a:bodyPr/>
              <a:lstStyle/>
              <a:p>
                <a:r>
                  <a:rPr lang="en-US">
                    <a:noFill/>
                  </a:rPr>
                  <a:t> </a:t>
                </a:r>
              </a:p>
            </p:txBody>
          </p:sp>
        </mc:Fallback>
      </mc:AlternateContent>
      <p:pic>
        <p:nvPicPr>
          <p:cNvPr id="6" name="Picture 5" descr="A picture containing text, sky, outdoor&#10;&#10;Description automatically generated"/>
          <p:cNvPicPr/>
          <p:nvPr/>
        </p:nvPicPr>
        <p:blipFill rotWithShape="1">
          <a:blip r:embed="rId5" cstate="screen">
            <a:extLst>
              <a:ext uri="{28A0092B-C50C-407E-A947-70E740481C1C}">
                <a14:useLocalDpi xmlns:a14="http://schemas.microsoft.com/office/drawing/2010/main"/>
              </a:ext>
            </a:extLst>
          </a:blip>
          <a:srcRect/>
          <a:stretch/>
        </p:blipFill>
        <p:spPr bwMode="auto">
          <a:xfrm>
            <a:off x="3416617" y="1633475"/>
            <a:ext cx="5358765" cy="4480560"/>
          </a:xfrm>
          <a:prstGeom prst="rect">
            <a:avLst/>
          </a:prstGeom>
          <a:ln>
            <a:noFill/>
          </a:ln>
          <a:extLst>
            <a:ext uri="{53640926-AAD7-44D8-BBD7-CCE9431645EC}">
              <a14:shadowObscured xmlns:a14="http://schemas.microsoft.com/office/drawing/2010/main"/>
            </a:ext>
          </a:extLst>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113</a:t>
            </a:r>
            <a:endParaRPr i="1" dirty="0">
              <a:latin typeface="Calibri"/>
              <a:ea typeface="Calibri"/>
              <a:cs typeface="Calibri"/>
              <a:sym typeface="Calibri"/>
            </a:endParaRPr>
          </a:p>
        </p:txBody>
      </p:sp>
    </p:spTree>
    <p:extLst>
      <p:ext uri="{BB962C8B-B14F-4D97-AF65-F5344CB8AC3E}">
        <p14:creationId xmlns:p14="http://schemas.microsoft.com/office/powerpoint/2010/main" val="1841022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89546" y="520393"/>
                <a:ext cx="11020927" cy="5311903"/>
              </a:xfrm>
              <a:prstGeom prst="rect">
                <a:avLst/>
              </a:prstGeom>
              <a:noFill/>
            </p:spPr>
            <p:txBody>
              <a:bodyPr wrap="square" rtlCol="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A scale drawing of one side panel of the large pyramid,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𝑅𝑋𝐾</m:t>
                    </m:r>
                  </m:oMath>
                </a14:m>
                <a:r>
                  <a:rPr lang="en-US" sz="2200" dirty="0">
                    <a:latin typeface="Verdana" panose="020B0604030504040204" pitchFamily="34" charset="0"/>
                    <a:ea typeface="Verdana" panose="020B0604030504040204" pitchFamily="34" charset="0"/>
                    <a:cs typeface="Verdana" panose="020B0604030504040204" pitchFamily="34" charset="0"/>
                  </a:rPr>
                  <a:t>, is shown, including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𝑉𝑋𝐿</m:t>
                    </m:r>
                  </m:oMath>
                </a14:m>
                <a:r>
                  <a:rPr lang="en-US" sz="22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𝑅𝐾</m:t>
                    </m:r>
                    <m:r>
                      <a:rPr lang="en-US" sz="2200" i="1">
                        <a:latin typeface="Cambria Math" panose="02040503050406030204" pitchFamily="18" charset="0"/>
                        <a:ea typeface="Cambria Math" panose="02040503050406030204" pitchFamily="18" charset="0"/>
                      </a:rPr>
                      <m:t>=106</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feet (</a:t>
                </a:r>
                <a:r>
                  <a:rPr lang="en-US" sz="2200" dirty="0" err="1">
                    <a:latin typeface="Verdana" panose="020B0604030504040204" pitchFamily="34" charset="0"/>
                    <a:ea typeface="Verdana" panose="020B0604030504040204" pitchFamily="34" charset="0"/>
                    <a:cs typeface="Verdana" panose="020B0604030504040204" pitchFamily="34" charset="0"/>
                  </a:rPr>
                  <a:t>ft</a:t>
                </a:r>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panose="02040503050406030204" pitchFamily="18" charset="0"/>
                        <a:ea typeface="Cambria Math" panose="02040503050406030204" pitchFamily="18" charset="0"/>
                      </a:rPr>
                      <m:t>𝐿𝑋</m:t>
                    </m:r>
                    <m:r>
                      <a:rPr lang="en-US" sz="2200" i="1">
                        <a:latin typeface="Cambria Math" panose="02040503050406030204" pitchFamily="18" charset="0"/>
                        <a:ea typeface="Cambria Math" panose="02040503050406030204" pitchFamily="18" charset="0"/>
                      </a:rPr>
                      <m:t>=37</m:t>
                    </m:r>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1</m:t>
                        </m:r>
                      </m:num>
                      <m:den>
                        <m:r>
                          <a:rPr lang="en-US" sz="2200" i="1">
                            <a:latin typeface="Cambria Math" panose="02040503050406030204" pitchFamily="18" charset="0"/>
                            <a:ea typeface="Cambria Math" panose="02040503050406030204" pitchFamily="18" charset="0"/>
                          </a:rPr>
                          <m:t>3</m:t>
                        </m:r>
                      </m:den>
                    </m:f>
                  </m:oMath>
                </a14:m>
                <a:r>
                  <a:rPr lang="en-US" sz="2200" dirty="0">
                    <a:latin typeface="Verdana" panose="020B0604030504040204" pitchFamily="34" charset="0"/>
                    <a:ea typeface="Verdana" panose="020B0604030504040204" pitchFamily="34" charset="0"/>
                    <a:cs typeface="Verdana" panose="020B0604030504040204" pitchFamily="34" charset="0"/>
                  </a:rPr>
                  <a:t> ft.</a:t>
                </a: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In this design, the full panel,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𝑅𝑋𝐾</m:t>
                    </m:r>
                  </m:oMath>
                </a14:m>
                <a:r>
                  <a:rPr lang="en-US" sz="2200" dirty="0">
                    <a:latin typeface="Verdana" panose="020B0604030504040204" pitchFamily="34" charset="0"/>
                    <a:ea typeface="Verdana" panose="020B0604030504040204" pitchFamily="34" charset="0"/>
                    <a:cs typeface="Verdana" panose="020B0604030504040204" pitchFamily="34" charset="0"/>
                  </a:rPr>
                  <a:t> can be determined by dilating the piece,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𝑉𝑋𝐿</m:t>
                    </m:r>
                  </m:oMath>
                </a14:m>
                <a:r>
                  <a:rPr lang="en-US" sz="2200" dirty="0">
                    <a:latin typeface="Verdana" panose="020B0604030504040204" pitchFamily="34" charset="0"/>
                    <a:ea typeface="Verdana" panose="020B0604030504040204" pitchFamily="34" charset="0"/>
                    <a:cs typeface="Verdana" panose="020B0604030504040204" pitchFamily="34" charset="0"/>
                  </a:rPr>
                  <a:t>. Explain which point is the center of dilation.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89546" y="520393"/>
                <a:ext cx="11020927" cy="5311903"/>
              </a:xfrm>
              <a:prstGeom prst="rect">
                <a:avLst/>
              </a:prstGeom>
              <a:blipFill>
                <a:blip r:embed="rId4"/>
                <a:stretch>
                  <a:fillRect l="-806" t="-714" b="-1190"/>
                </a:stretch>
              </a:blipFill>
            </p:spPr>
            <p:txBody>
              <a:bodyPr/>
              <a:lstStyle/>
              <a:p>
                <a:r>
                  <a:rPr lang="en-US">
                    <a:noFill/>
                  </a:rPr>
                  <a:t> </a:t>
                </a:r>
              </a:p>
            </p:txBody>
          </p:sp>
        </mc:Fallback>
      </mc:AlternateContent>
      <p:pic>
        <p:nvPicPr>
          <p:cNvPr id="6" name="Picture 5"/>
          <p:cNvPicPr/>
          <p:nvPr/>
        </p:nvPicPr>
        <p:blipFill>
          <a:blip r:embed="rId5" cstate="screen">
            <a:extLst>
              <a:ext uri="{28A0092B-C50C-407E-A947-70E740481C1C}">
                <a14:useLocalDpi xmlns:a14="http://schemas.microsoft.com/office/drawing/2010/main"/>
              </a:ext>
            </a:extLst>
          </a:blip>
          <a:stretch>
            <a:fillRect/>
          </a:stretch>
        </p:blipFill>
        <p:spPr>
          <a:xfrm>
            <a:off x="3673271" y="2343356"/>
            <a:ext cx="4845458" cy="2534420"/>
          </a:xfrm>
          <a:prstGeom prst="rect">
            <a:avLst/>
          </a:prstGeom>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114</a:t>
            </a:r>
            <a:endParaRPr i="1" dirty="0">
              <a:latin typeface="Calibri"/>
              <a:ea typeface="Calibri"/>
              <a:cs typeface="Calibri"/>
              <a:sym typeface="Calibri"/>
            </a:endParaRPr>
          </a:p>
        </p:txBody>
      </p:sp>
    </p:spTree>
    <p:extLst>
      <p:ext uri="{BB962C8B-B14F-4D97-AF65-F5344CB8AC3E}">
        <p14:creationId xmlns:p14="http://schemas.microsoft.com/office/powerpoint/2010/main" val="2518396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77516" y="520394"/>
                <a:ext cx="11044989" cy="4185761"/>
              </a:xfrm>
              <a:prstGeom prst="rect">
                <a:avLst/>
              </a:prstGeom>
              <a:noFill/>
            </p:spPr>
            <p:txBody>
              <a:bodyPr wrap="square" rtlCol="0">
                <a:spAutoFit/>
              </a:bodyPr>
              <a:lstStyle/>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Given the scale factor of dilation is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find the side lengths of the full panel,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𝑅𝑋𝐾</m:t>
                    </m:r>
                  </m:oMath>
                </a14:m>
                <a:r>
                  <a:rPr lang="en-US" sz="22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200" dirty="0">
                    <a:latin typeface="Verdana" panose="020B0604030504040204" pitchFamily="34" charset="0"/>
                    <a:ea typeface="Verdana" panose="020B0604030504040204" pitchFamily="34" charset="0"/>
                    <a:cs typeface="Verdana" panose="020B0604030504040204" pitchFamily="34" charset="0"/>
                  </a:rPr>
                  <a:t>Label the side lengths of </a:t>
                </a:r>
                <a14:m>
                  <m:oMath xmlns:m="http://schemas.openxmlformats.org/officeDocument/2006/math">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𝑅𝑋𝐾</m:t>
                    </m:r>
                  </m:oMath>
                </a14:m>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endParaRPr lang="en-US" sz="22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77516" y="520394"/>
                <a:ext cx="11044989" cy="4185761"/>
              </a:xfrm>
              <a:prstGeom prst="rect">
                <a:avLst/>
              </a:prstGeom>
              <a:blipFill>
                <a:blip r:embed="rId4"/>
                <a:stretch>
                  <a:fillRect t="-9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183920539"/>
                  </p:ext>
                </p:extLst>
              </p:nvPr>
            </p:nvGraphicFramePr>
            <p:xfrm>
              <a:off x="2804855" y="1447800"/>
              <a:ext cx="6582287" cy="1981200"/>
            </p:xfrm>
            <a:graphic>
              <a:graphicData uri="http://schemas.openxmlformats.org/drawingml/2006/table">
                <a:tbl>
                  <a:tblPr firstRow="1" firstCol="1" bandRow="1">
                    <a:tableStyleId>{5940675A-B579-460E-94D1-54222C63F5DA}</a:tableStyleId>
                  </a:tblPr>
                  <a:tblGrid>
                    <a:gridCol w="929899">
                      <a:extLst>
                        <a:ext uri="{9D8B030D-6E8A-4147-A177-3AD203B41FA5}">
                          <a16:colId xmlns:a16="http://schemas.microsoft.com/office/drawing/2014/main" val="20000"/>
                        </a:ext>
                      </a:extLst>
                    </a:gridCol>
                    <a:gridCol w="3320815">
                      <a:extLst>
                        <a:ext uri="{9D8B030D-6E8A-4147-A177-3AD203B41FA5}">
                          <a16:colId xmlns:a16="http://schemas.microsoft.com/office/drawing/2014/main" val="20001"/>
                        </a:ext>
                      </a:extLst>
                    </a:gridCol>
                    <a:gridCol w="2331573">
                      <a:extLst>
                        <a:ext uri="{9D8B030D-6E8A-4147-A177-3AD203B41FA5}">
                          <a16:colId xmlns:a16="http://schemas.microsoft.com/office/drawing/2014/main" val="20002"/>
                        </a:ext>
                      </a:extLst>
                    </a:gridCol>
                  </a:tblGrid>
                  <a:tr h="112395">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Side</a:t>
                          </a:r>
                        </a:p>
                      </a:txBody>
                      <a:tcPr marL="68580" marR="68580"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68580" marR="68580"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(in feet)</a:t>
                          </a:r>
                        </a:p>
                      </a:txBody>
                      <a:tcPr marL="68580" marR="68580" marT="0" marB="0" anchor="ctr">
                        <a:solidFill>
                          <a:schemeClr val="bg1">
                            <a:lumMod val="65000"/>
                          </a:schemeClr>
                        </a:solidFill>
                      </a:tcPr>
                    </a:tc>
                    <a:extLst>
                      <a:ext uri="{0D108BD9-81ED-4DB2-BD59-A6C34878D82A}">
                        <a16:rowId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𝑅𝐾</m:t>
                                </m:r>
                              </m:oMath>
                            </m:oMathPara>
                          </a14:m>
                          <a:endParaRPr lang="en-US" sz="2000" dirty="0">
                            <a:effectLst/>
                            <a:latin typeface="Cambria Math" panose="02040503050406030204" pitchFamily="18" charset="0"/>
                            <a:ea typeface="Cambria Math"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1"/>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𝑅𝑋</m:t>
                                </m:r>
                              </m:oMath>
                            </m:oMathPara>
                          </a14:m>
                          <a:endParaRPr lang="en-US" sz="2000">
                            <a:effectLst/>
                            <a:latin typeface="Cambria Math" panose="02040503050406030204" pitchFamily="18" charset="0"/>
                            <a:ea typeface="Cambria Math" panose="02040503050406030204" pitchFamily="18" charset="0"/>
                          </a:endParaRP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𝐾𝑋</m:t>
                                </m:r>
                              </m:oMath>
                            </m:oMathPara>
                          </a14:m>
                          <a:endParaRPr lang="en-US" sz="2000">
                            <a:effectLst/>
                            <a:latin typeface="Cambria Math" panose="02040503050406030204" pitchFamily="18" charset="0"/>
                            <a:ea typeface="Cambria Math" panose="02040503050406030204" pitchFamily="18" charset="0"/>
                          </a:endParaRPr>
                        </a:p>
                      </a:txBody>
                      <a:tcPr marL="68580" marR="68580" marT="0" marB="0" anchor="ct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183920539"/>
                  </p:ext>
                </p:extLst>
              </p:nvPr>
            </p:nvGraphicFramePr>
            <p:xfrm>
              <a:off x="2804855" y="1447800"/>
              <a:ext cx="6582287" cy="1981200"/>
            </p:xfrm>
            <a:graphic>
              <a:graphicData uri="http://schemas.openxmlformats.org/drawingml/2006/table">
                <a:tbl>
                  <a:tblPr firstRow="1" firstCol="1" bandRow="1">
                    <a:tableStyleId>{5940675A-B579-460E-94D1-54222C63F5DA}</a:tableStyleId>
                  </a:tblPr>
                  <a:tblGrid>
                    <a:gridCol w="929899">
                      <a:extLst>
                        <a:ext uri="{9D8B030D-6E8A-4147-A177-3AD203B41FA5}">
                          <a16:colId xmlns:a16="http://schemas.microsoft.com/office/drawing/2014/main" val="20000"/>
                        </a:ext>
                      </a:extLst>
                    </a:gridCol>
                    <a:gridCol w="3320815">
                      <a:extLst>
                        <a:ext uri="{9D8B030D-6E8A-4147-A177-3AD203B41FA5}">
                          <a16:colId xmlns:a16="http://schemas.microsoft.com/office/drawing/2014/main" val="20001"/>
                        </a:ext>
                      </a:extLst>
                    </a:gridCol>
                    <a:gridCol w="2331573">
                      <a:extLst>
                        <a:ext uri="{9D8B030D-6E8A-4147-A177-3AD203B41FA5}">
                          <a16:colId xmlns:a16="http://schemas.microsoft.com/office/drawing/2014/main" val="20002"/>
                        </a:ext>
                      </a:extLst>
                    </a:gridCol>
                  </a:tblGrid>
                  <a:tr h="6096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Side</a:t>
                          </a:r>
                        </a:p>
                      </a:txBody>
                      <a:tcPr marL="68580" marR="68580"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a:t>
                          </a:r>
                        </a:p>
                      </a:txBody>
                      <a:tcPr marL="68580" marR="68580" marT="0" marB="0" anchor="ctr">
                        <a:solidFill>
                          <a:schemeClr val="bg1">
                            <a:lumMod val="6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Length (in feet)</a:t>
                          </a:r>
                        </a:p>
                      </a:txBody>
                      <a:tcPr marL="68580" marR="68580" marT="0" marB="0" anchor="ctr">
                        <a:solidFill>
                          <a:schemeClr val="bg1">
                            <a:lumMod val="65000"/>
                          </a:schemeClr>
                        </a:solidFill>
                      </a:tcPr>
                    </a:tc>
                    <a:extLst>
                      <a:ext uri="{0D108BD9-81ED-4DB2-BD59-A6C34878D82A}">
                        <a16:rowId xmlns:a16="http://schemas.microsoft.com/office/drawing/2014/main" val="10000"/>
                      </a:ext>
                    </a:extLst>
                  </a:tr>
                  <a:tr h="457200">
                    <a:tc>
                      <a:txBody>
                        <a:bodyPr/>
                        <a:lstStyle/>
                        <a:p>
                          <a:endParaRPr lang="en-US"/>
                        </a:p>
                      </a:txBody>
                      <a:tcPr marL="68580" marR="68580" marT="0" marB="0" anchor="ctr">
                        <a:blipFill>
                          <a:blip r:embed="rId5"/>
                          <a:stretch>
                            <a:fillRect t="-150000" r="-613699" b="-205556"/>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1"/>
                      </a:ext>
                    </a:extLst>
                  </a:tr>
                  <a:tr h="457200">
                    <a:tc>
                      <a:txBody>
                        <a:bodyPr/>
                        <a:lstStyle/>
                        <a:p>
                          <a:endParaRPr lang="en-US"/>
                        </a:p>
                      </a:txBody>
                      <a:tcPr marL="68580" marR="68580" marT="0" marB="0" anchor="ctr">
                        <a:blipFill>
                          <a:blip r:embed="rId5"/>
                          <a:stretch>
                            <a:fillRect t="-250000" r="-613699" b="-105556"/>
                          </a:stretch>
                        </a:blipFill>
                      </a:tcP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2"/>
                      </a:ext>
                    </a:extLst>
                  </a:tr>
                  <a:tr h="457200">
                    <a:tc>
                      <a:txBody>
                        <a:bodyPr/>
                        <a:lstStyle/>
                        <a:p>
                          <a:endParaRPr lang="en-US"/>
                        </a:p>
                      </a:txBody>
                      <a:tcPr marL="68580" marR="68580" marT="0" marB="0" anchor="ctr">
                        <a:blipFill>
                          <a:blip r:embed="rId5"/>
                          <a:stretch>
                            <a:fillRect t="-350000" r="-613699" b="-5556"/>
                          </a:stretch>
                        </a:blipFill>
                      </a:tcPr>
                    </a:tc>
                    <a:tc>
                      <a:txBody>
                        <a:bodyPr/>
                        <a:lstStyle/>
                        <a:p>
                          <a:pPr marL="0" marR="0" algn="ctr">
                            <a:spcBef>
                              <a:spcPts val="0"/>
                            </a:spcBef>
                            <a:spcAft>
                              <a:spcPts val="0"/>
                            </a:spcAft>
                          </a:pPr>
                          <a:r>
                            <a:rPr lang="en-US" sz="2000">
                              <a:effectLst/>
                              <a:latin typeface="Cambria Math" panose="02040503050406030204" pitchFamily="18" charset="0"/>
                              <a:ea typeface="Cambria Math" panose="02040503050406030204" pitchFamily="18" charset="0"/>
                            </a:rPr>
                            <a:t> </a:t>
                          </a:r>
                        </a:p>
                      </a:txBody>
                      <a:tcPr marL="68580" marR="68580" marT="0" marB="0" anchor="ctr"/>
                    </a:tc>
                    <a:tc>
                      <a:txBody>
                        <a:bodyPr/>
                        <a:lstStyle/>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rPr>
                            <a:t> </a:t>
                          </a:r>
                        </a:p>
                      </a:txBody>
                      <a:tcPr marL="68580" marR="68580" marT="0" marB="0" anchor="ctr"/>
                    </a:tc>
                    <a:extLst>
                      <a:ext uri="{0D108BD9-81ED-4DB2-BD59-A6C34878D82A}">
                        <a16:rowId xmlns:a16="http://schemas.microsoft.com/office/drawing/2014/main" val="10003"/>
                      </a:ext>
                    </a:extLst>
                  </a:tr>
                </a:tbl>
              </a:graphicData>
            </a:graphic>
          </p:graphicFrame>
        </mc:Fallback>
      </mc:AlternateContent>
      <p:pic>
        <p:nvPicPr>
          <p:cNvPr id="7" name="Picture 6"/>
          <p:cNvPicPr/>
          <p:nvPr/>
        </p:nvPicPr>
        <p:blipFill>
          <a:blip r:embed="rId6" cstate="screen">
            <a:extLst>
              <a:ext uri="{28A0092B-C50C-407E-A947-70E740481C1C}">
                <a14:useLocalDpi xmlns:a14="http://schemas.microsoft.com/office/drawing/2010/main"/>
              </a:ext>
            </a:extLst>
          </a:blip>
          <a:stretch>
            <a:fillRect/>
          </a:stretch>
        </p:blipFill>
        <p:spPr>
          <a:xfrm>
            <a:off x="4002579" y="4428137"/>
            <a:ext cx="4186841" cy="2216938"/>
          </a:xfrm>
          <a:prstGeom prst="rect">
            <a:avLst/>
          </a:prstGeom>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114</a:t>
            </a:r>
            <a:endParaRPr i="1" dirty="0">
              <a:latin typeface="Calibri"/>
              <a:ea typeface="Calibri"/>
              <a:cs typeface="Calibri"/>
              <a:sym typeface="Calibri"/>
            </a:endParaRPr>
          </a:p>
        </p:txBody>
      </p:sp>
    </p:spTree>
    <p:extLst>
      <p:ext uri="{BB962C8B-B14F-4D97-AF65-F5344CB8AC3E}">
        <p14:creationId xmlns:p14="http://schemas.microsoft.com/office/powerpoint/2010/main" val="493776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89546" y="520394"/>
                <a:ext cx="11020927" cy="3139321"/>
              </a:xfrm>
              <a:prstGeom prst="rect">
                <a:avLst/>
              </a:prstGeom>
              <a:noFill/>
            </p:spPr>
            <p:txBody>
              <a:bodyPr wrap="square" rtlCol="0">
                <a:spAutoFit/>
              </a:bodyPr>
              <a:lstStyle/>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Use the Pythagorean Theorem to find the height of the panel. Round your answer to the nearest thousandth of a foot.</a:t>
                </a: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200" dirty="0">
                    <a:latin typeface="Verdana" panose="020B0604030504040204" pitchFamily="34" charset="0"/>
                    <a:ea typeface="Verdana" panose="020B0604030504040204" pitchFamily="34" charset="0"/>
                    <a:cs typeface="Verdana" panose="020B0604030504040204" pitchFamily="34" charset="0"/>
                  </a:rPr>
                  <a:t>Find the area of the panel, in square feet</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latin typeface="Verdana" panose="020B0604030504040204" pitchFamily="34" charset="0"/>
                    <a:ea typeface="Verdana" panose="020B0604030504040204" pitchFamily="34" charset="0"/>
                    <a:cs typeface="Verdana" panose="020B0604030504040204" pitchFamily="34" charset="0"/>
                  </a:rPr>
                  <a:t> Round your answer to the nearest hundredth of a square foot.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89546" y="520394"/>
                <a:ext cx="11020927" cy="3139321"/>
              </a:xfrm>
              <a:prstGeom prst="rect">
                <a:avLst/>
              </a:prstGeom>
              <a:blipFill>
                <a:blip r:embed="rId4"/>
                <a:stretch>
                  <a:fillRect t="-1210" b="-3226"/>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114</a:t>
            </a:r>
            <a:endParaRPr i="1" dirty="0">
              <a:latin typeface="Calibri"/>
              <a:ea typeface="Calibri"/>
              <a:cs typeface="Calibri"/>
              <a:sym typeface="Calibri"/>
            </a:endParaRPr>
          </a:p>
        </p:txBody>
      </p:sp>
    </p:spTree>
    <p:extLst>
      <p:ext uri="{BB962C8B-B14F-4D97-AF65-F5344CB8AC3E}">
        <p14:creationId xmlns:p14="http://schemas.microsoft.com/office/powerpoint/2010/main" val="3717478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5194" y="2762342"/>
            <a:ext cx="385098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17520" y="2916936"/>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13148" y="-82571"/>
            <a:ext cx="93081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9.10.4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89547" y="1386026"/>
            <a:ext cx="10996864" cy="430887"/>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Complete the table.</a:t>
            </a:r>
          </a:p>
        </p:txBody>
      </p:sp>
      <p:pic>
        <p:nvPicPr>
          <p:cNvPr id="3" name="Picture 2"/>
          <p:cNvPicPr>
            <a:picLocks noChangeAspect="1"/>
          </p:cNvPicPr>
          <p:nvPr/>
        </p:nvPicPr>
        <p:blipFill>
          <a:blip r:embed="rId5"/>
          <a:stretch>
            <a:fillRect/>
          </a:stretch>
        </p:blipFill>
        <p:spPr>
          <a:xfrm>
            <a:off x="2673113" y="1828064"/>
            <a:ext cx="6588221" cy="4714507"/>
          </a:xfrm>
          <a:prstGeom prst="rect">
            <a:avLst/>
          </a:prstGeom>
        </p:spPr>
      </p:pic>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pic>
        <p:nvPicPr>
          <p:cNvPr id="2" name="Picture 1"/>
          <p:cNvPicPr>
            <a:picLocks noChangeAspect="1"/>
          </p:cNvPicPr>
          <p:nvPr/>
        </p:nvPicPr>
        <p:blipFill>
          <a:blip r:embed="rId4"/>
          <a:stretch>
            <a:fillRect/>
          </a:stretch>
        </p:blipFill>
        <p:spPr>
          <a:xfrm>
            <a:off x="2262592" y="417164"/>
            <a:ext cx="7666816" cy="5480758"/>
          </a:xfrm>
          <a:prstGeom prst="rect">
            <a:avLst/>
          </a:prstGeom>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115</a:t>
            </a:r>
            <a:endParaRPr i="1" dirty="0">
              <a:latin typeface="Calibri"/>
              <a:ea typeface="Calibri"/>
              <a:cs typeface="Calibri"/>
              <a:sym typeface="Calibri"/>
            </a:endParaRPr>
          </a:p>
        </p:txBody>
      </p:sp>
    </p:spTree>
    <p:extLst>
      <p:ext uri="{BB962C8B-B14F-4D97-AF65-F5344CB8AC3E}">
        <p14:creationId xmlns:p14="http://schemas.microsoft.com/office/powerpoint/2010/main" val="302624026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3514</TotalTime>
  <Words>873</Words>
  <Application>Microsoft Office PowerPoint</Application>
  <PresentationFormat>Widescreen</PresentationFormat>
  <Paragraphs>162</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Verdana</vt:lpstr>
      <vt:lpstr>Century Gothic</vt:lpstr>
      <vt:lpstr>Calibri</vt:lpstr>
      <vt:lpstr>Arial Black</vt:lpstr>
      <vt:lpstr>Cambria Math</vt:lpstr>
      <vt:lpstr>Arial</vt:lpstr>
      <vt:lpstr>1_Office Theme</vt:lpstr>
      <vt:lpstr>8th Grade Math: Pre-Algebra  Unit 9, Lesson 10  Similar Triangles and Dilations in the Real World  Volume 2, pg. 111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31</cp:revision>
  <dcterms:created xsi:type="dcterms:W3CDTF">2015-03-17T18:51:18Z</dcterms:created>
  <dcterms:modified xsi:type="dcterms:W3CDTF">2022-06-17T19:16:23Z</dcterms:modified>
</cp:coreProperties>
</file>