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63" r:id="rId10"/>
    <p:sldId id="353" r:id="rId11"/>
    <p:sldId id="288" r:id="rId12"/>
    <p:sldId id="362" r:id="rId13"/>
    <p:sldId id="364" r:id="rId14"/>
    <p:sldId id="329" r:id="rId15"/>
    <p:sldId id="330" r:id="rId16"/>
    <p:sldId id="359" r:id="rId17"/>
    <p:sldId id="365" r:id="rId18"/>
    <p:sldId id="323" r:id="rId19"/>
    <p:sldId id="324" r:id="rId20"/>
    <p:sldId id="357" r:id="rId21"/>
    <p:sldId id="367" r:id="rId22"/>
    <p:sldId id="302" r:id="rId23"/>
    <p:sldId id="303" r:id="rId24"/>
    <p:sldId id="360" r:id="rId25"/>
    <p:sldId id="306" r:id="rId26"/>
    <p:sldId id="307" r:id="rId27"/>
  </p:sldIdLst>
  <p:sldSz cx="12192000" cy="6858000"/>
  <p:notesSz cx="6858000" cy="9144000"/>
  <p:embeddedFontLst>
    <p:embeddedFont>
      <p:font typeface="Arial Black" panose="020B0A04020102020204" pitchFamily="34" charset="0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Century Gothic" panose="020B0502020202020204" pitchFamily="34" charset="0"/>
      <p:regular r:id="rId35"/>
      <p:bold r:id="rId36"/>
      <p:italic r:id="rId37"/>
      <p:boldItalic r:id="rId38"/>
    </p:embeddedFont>
    <p:embeddedFont>
      <p:font typeface="Verdana" panose="020B060403050404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01" autoAdjust="0"/>
    <p:restoredTop sz="94694"/>
  </p:normalViewPr>
  <p:slideViewPr>
    <p:cSldViewPr snapToGrid="0">
      <p:cViewPr varScale="1">
        <p:scale>
          <a:sx n="86" d="100"/>
          <a:sy n="86" d="100"/>
        </p:scale>
        <p:origin x="100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51050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4713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7371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966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2253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650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376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4217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3329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48197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17479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tiff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tiff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tiff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0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Dilations on the Coordinate Plane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99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2205274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3900" y="136525"/>
            <a:ext cx="88672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622300" y="1600200"/>
            <a:ext cx="109728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MA.8.GR.2.2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preimage and image generated by a single dilation, identify the scale factor that describes the relationship.</a:t>
            </a:r>
          </a:p>
          <a:p>
            <a:pPr indent="0">
              <a:buNone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MA.8.GR.2.3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and apply the effect of a single transformation on two-dimensional figures using coordinates and the coordinate plane.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15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316400" y="129667"/>
            <a:ext cx="9300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601579" y="1596390"/>
            <a:ext cx="1100889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3900" y="30660"/>
            <a:ext cx="930507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77516" y="1600200"/>
            <a:ext cx="98298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describe how an image and preimage generated by a single dilation are related.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apply the effect of a dilation on the coordinate plane.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7520" y="2916936"/>
            <a:ext cx="1031749" cy="103174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35589" y="2766150"/>
            <a:ext cx="39514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3148" y="182198"/>
            <a:ext cx="10294652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9.8.1 Warm-Up: Which One Doesn’t Belong?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21277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676816" y="1542437"/>
            <a:ext cx="1093098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Four triangles are shown.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one doesn’t belong?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reasoning.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 descr="Chart, scatter chart&#10;&#10;Description automatically generated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57800" y="1386025"/>
            <a:ext cx="5129784" cy="428185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60068" y="283220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7520" y="2916936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08194" y="60325"/>
            <a:ext cx="923095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9.8.2 Exploration: Dilations on the Coordinate Plane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570" y="34704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89547" y="1386026"/>
                <a:ext cx="10996864" cy="836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coordinate plane,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𝐷𝐿𝐻𝐹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was dilated with a scale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centered at the origin.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7" y="1386026"/>
                <a:ext cx="10996864" cy="836319"/>
              </a:xfrm>
              <a:prstGeom prst="rect">
                <a:avLst/>
              </a:prstGeom>
              <a:blipFill>
                <a:blip r:embed="rId5"/>
                <a:stretch>
                  <a:fillRect l="-577" b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 descr="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3304" y="2333147"/>
            <a:ext cx="6321425" cy="41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89547" y="373248"/>
                <a:ext cx="1099686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side lengths of quadrilateral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𝐷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𝐿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𝐻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           times the length of the 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side of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𝐷𝐿𝐻𝐹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7" y="373248"/>
                <a:ext cx="10996864" cy="5632311"/>
              </a:xfrm>
              <a:prstGeom prst="rect">
                <a:avLst/>
              </a:prstGeom>
              <a:blipFill>
                <a:blip r:embed="rId4"/>
                <a:stretch>
                  <a:fillRect t="-676" b="-1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5494941"/>
                  </p:ext>
                </p:extLst>
              </p:nvPr>
            </p:nvGraphicFramePr>
            <p:xfrm>
              <a:off x="3012598" y="864355"/>
              <a:ext cx="7146480" cy="2592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0418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313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4185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3138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Sides of the Preimage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Length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Sides of the Image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Length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𝐿𝐷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𝐷𝐹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𝐻𝐹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𝐿𝐻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5494941"/>
                  </p:ext>
                </p:extLst>
              </p:nvPr>
            </p:nvGraphicFramePr>
            <p:xfrm>
              <a:off x="3012598" y="864355"/>
              <a:ext cx="7146480" cy="2592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0418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313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4185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3138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Sides of the Preimage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Length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Sides of the Image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Length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21" t="-159459" r="-250932" b="-3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6875" t="-159459" r="-76875" b="-3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21" t="-259459" r="-250932" b="-2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6875" t="-259459" r="-76875" b="-2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21" t="-359459" r="-250932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6875" t="-359459" r="-76875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21" t="-459459" r="-250932" b="-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6875" t="-459459" r="-76875" b="-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9974" y="4242031"/>
            <a:ext cx="899787" cy="1240699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787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89547" y="376016"/>
            <a:ext cx="1099686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with the coordinates of the vertices of the preimage and image.</a:t>
            </a: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relationship between the coordinates of the corresponding points on the preimage and image?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8937106"/>
                  </p:ext>
                </p:extLst>
              </p:nvPr>
            </p:nvGraphicFramePr>
            <p:xfrm>
              <a:off x="3098901" y="1214527"/>
              <a:ext cx="7236000" cy="324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Vertices 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the Preimage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Vertices of the Image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8937106"/>
                  </p:ext>
                </p:extLst>
              </p:nvPr>
            </p:nvGraphicFramePr>
            <p:xfrm>
              <a:off x="3098901" y="1214527"/>
              <a:ext cx="7236000" cy="324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Vertices 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the Preimage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Vertices of the Image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63" t="-200000" r="-346875" b="-3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7183" t="-200000" r="-107042" b="-3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63" t="-300000" r="-346875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7183" t="-300000" r="-107042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63" t="-409524" r="-346875" b="-1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7183" t="-409524" r="-107042" b="-1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63" t="-497674" r="-346875" b="-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7183" t="-497674" r="-107042" b="-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2285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89546" y="362738"/>
                <a:ext cx="1100889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coordinate plane,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result of a dilation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𝐵𝐾𝑁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centered at the origin. The scale factor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6" y="362738"/>
                <a:ext cx="11008895" cy="707886"/>
              </a:xfrm>
              <a:prstGeom prst="rect">
                <a:avLst/>
              </a:prstGeom>
              <a:blipFill>
                <a:blip r:embed="rId4"/>
                <a:stretch>
                  <a:fillRect l="-576" t="-526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line chart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4168" y="1282263"/>
            <a:ext cx="6636928" cy="4918338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89546" y="362738"/>
            <a:ext cx="1100889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with the coordinates of the vertices of the preimage and image.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the relationship between the coordinates is related to the scale factor. Summarize your discussion.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1753145"/>
                  </p:ext>
                </p:extLst>
              </p:nvPr>
            </p:nvGraphicFramePr>
            <p:xfrm>
              <a:off x="3098901" y="1144349"/>
              <a:ext cx="7236000" cy="270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Vertices of the Preimage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Vertices of the Image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1753145"/>
                  </p:ext>
                </p:extLst>
              </p:nvPr>
            </p:nvGraphicFramePr>
            <p:xfrm>
              <a:off x="3098901" y="1144349"/>
              <a:ext cx="7236000" cy="270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Vertices of the Preimage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Vertices of the Image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63" t="-200000" r="-346875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7183" t="-200000" r="-107042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63" t="-307143" r="-346875" b="-1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7183" t="-307143" r="-107042" b="-1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63" t="-397674" r="-346875" b="-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7183" t="-397674" r="-107042" b="-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51296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89546" y="373249"/>
                <a:ext cx="11020927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Suppose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vertex of a polygon and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2, 10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this polygon were dilated by a scale factor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centered at the origin, discuss with your partner how you could determine the coordinates of the image of point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coordinates of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6" y="373249"/>
                <a:ext cx="11020927" cy="4093428"/>
              </a:xfrm>
              <a:prstGeom prst="rect">
                <a:avLst/>
              </a:prstGeom>
              <a:blipFill>
                <a:blip r:embed="rId4"/>
                <a:stretch>
                  <a:fillRect l="-575" t="-929" b="-1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6345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55984" y="2830158"/>
            <a:ext cx="640251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7520" y="2916936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79236" y="117245"/>
            <a:ext cx="925991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9.8.3 Bring It Together: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Dilations on the Coordinate Plane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89547" y="2764794"/>
                <a:ext cx="5398126" cy="2683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𝑁𝑅𝑆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plotted on the coordinate plane.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the image of the dilation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𝑁𝑅𝑆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compares to the preimage,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𝑁𝑅𝑆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a scale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centered at the origin.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7" y="2764794"/>
                <a:ext cx="5398126" cy="2683620"/>
              </a:xfrm>
              <a:prstGeom prst="rect">
                <a:avLst/>
              </a:prstGeom>
              <a:blipFill>
                <a:blip r:embed="rId4"/>
                <a:stretch>
                  <a:fillRect l="-1174" t="-939" r="-939"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BEDB11D9-D450-754F-8CDF-2076D1E96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6314" y="28663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2027672" y="1036444"/>
            <a:ext cx="7920000" cy="1582994"/>
            <a:chOff x="1541036" y="3275735"/>
            <a:chExt cx="7920000" cy="1583229"/>
          </a:xfrm>
        </p:grpSpPr>
        <p:grpSp>
          <p:nvGrpSpPr>
            <p:cNvPr id="11" name="Group 10"/>
            <p:cNvGrpSpPr/>
            <p:nvPr/>
          </p:nvGrpSpPr>
          <p:grpSpPr>
            <a:xfrm>
              <a:off x="1541036" y="3275735"/>
              <a:ext cx="7920000" cy="1583229"/>
              <a:chOff x="1541036" y="3275735"/>
              <a:chExt cx="7920000" cy="1583229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2031300" y="3275735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1541036" y="3275735"/>
                <a:ext cx="7920000" cy="1583229"/>
                <a:chOff x="1541036" y="3275735"/>
                <a:chExt cx="7920000" cy="1583229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2031300" y="3275735"/>
                  <a:ext cx="6629400" cy="10085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6" name="Group 15"/>
                <p:cNvGrpSpPr/>
                <p:nvPr/>
              </p:nvGrpSpPr>
              <p:grpSpPr>
                <a:xfrm>
                  <a:off x="1541036" y="3275735"/>
                  <a:ext cx="7920000" cy="1583229"/>
                  <a:chOff x="1541036" y="3275735"/>
                  <a:chExt cx="7920000" cy="1583229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>
                    <a:off x="2031300" y="3275735"/>
                    <a:ext cx="6629400" cy="1008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8" name="Group 17"/>
                  <p:cNvGrpSpPr/>
                  <p:nvPr/>
                </p:nvGrpSpPr>
                <p:grpSpPr>
                  <a:xfrm>
                    <a:off x="1541036" y="3275735"/>
                    <a:ext cx="7920000" cy="1583229"/>
                    <a:chOff x="-490264" y="0"/>
                    <a:chExt cx="7920000" cy="1583229"/>
                  </a:xfrm>
                </p:grpSpPr>
                <p:sp>
                  <p:nvSpPr>
                    <p:cNvPr id="19" name="Rectangle 18"/>
                    <p:cNvSpPr/>
                    <p:nvPr/>
                  </p:nvSpPr>
                  <p:spPr>
                    <a:xfrm>
                      <a:off x="0" y="0"/>
                      <a:ext cx="6629400" cy="10085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20" name="Group 19"/>
                    <p:cNvGrpSpPr/>
                    <p:nvPr/>
                  </p:nvGrpSpPr>
                  <p:grpSpPr>
                    <a:xfrm>
                      <a:off x="-490264" y="0"/>
                      <a:ext cx="7920000" cy="1583229"/>
                      <a:chOff x="-490264" y="0"/>
                      <a:chExt cx="7920000" cy="1583229"/>
                    </a:xfrm>
                  </p:grpSpPr>
                  <p:sp>
                    <p:nvSpPr>
                      <p:cNvPr id="22" name="Rectangle 21"/>
                      <p:cNvSpPr/>
                      <p:nvPr/>
                    </p:nvSpPr>
                    <p:spPr>
                      <a:xfrm>
                        <a:off x="0" y="0"/>
                        <a:ext cx="6629400" cy="78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r>
                          <a:rPr lang="en-US" sz="1200"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sp>
                    <p:nvSpPr>
                      <p:cNvPr id="23" name="Rectangle 22"/>
                      <p:cNvSpPr/>
                      <p:nvPr/>
                    </p:nvSpPr>
                    <p:spPr>
                      <a:xfrm>
                        <a:off x="0" y="0"/>
                        <a:ext cx="6629400" cy="78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r>
                          <a:rPr lang="en-US" sz="1200"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sp>
                    <p:nvSpPr>
                      <p:cNvPr id="24" name="Rounded Rectangle 23"/>
                      <p:cNvSpPr/>
                      <p:nvPr/>
                    </p:nvSpPr>
                    <p:spPr>
                      <a:xfrm>
                        <a:off x="-490264" y="118825"/>
                        <a:ext cx="7920000" cy="1464404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rgbClr val="B8E6F5"/>
                      </a:solidFill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txBody>
                      <a:bodyPr spcFirstLastPara="1" wrap="square" lIns="91425" tIns="45700" rIns="91425" bIns="45700" anchor="ctr" anchorCtr="0">
                        <a:spAutoFit/>
                      </a:bodyPr>
                      <a:lstStyle/>
                      <a:p>
                        <a:pPr marL="627063"/>
                        <a:r>
                          <a:rPr lang="en-US" sz="2000" dirty="0">
                            <a:solidFill>
                              <a:srgbClr val="00619E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When a dilation is performed on a figure on the coordinate plane with its center at the origin, the coordinates of the image are equal to the coordinates of the preimage multiplied by the scale factor.</a:t>
                        </a:r>
                        <a:r>
                          <a:rPr lang="en-US" sz="2000" dirty="0"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</p:grpSp>
                <p:pic>
                  <p:nvPicPr>
                    <p:cNvPr id="21" name="Shape 27" descr="Icon&#10;&#10;Description automatically generated"/>
                    <p:cNvPicPr preferRelativeResize="0"/>
                    <p:nvPr/>
                  </p:nvPicPr>
                  <p:blipFill rotWithShape="1">
                    <a:blip r:embed="rId6" cstate="screen">
                      <a:alphaModFix/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-327372" y="246625"/>
                      <a:ext cx="539750" cy="5397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</p:grpSp>
            </p:grpSp>
          </p:grpSp>
        </p:grpSp>
      </p:grpSp>
      <p:pic>
        <p:nvPicPr>
          <p:cNvPr id="25" name="Picture 24"/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1030" y="2764793"/>
            <a:ext cx="3706643" cy="363977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89547" y="376015"/>
                <a:ext cx="10996864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and label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∆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𝑁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𝑅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7" y="376015"/>
                <a:ext cx="10996864" cy="4093428"/>
              </a:xfrm>
              <a:prstGeom prst="rect">
                <a:avLst/>
              </a:prstGeom>
              <a:blipFill>
                <a:blip r:embed="rId4"/>
                <a:stretch>
                  <a:fillRect t="-929" b="-1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8963330"/>
                  </p:ext>
                </p:extLst>
              </p:nvPr>
            </p:nvGraphicFramePr>
            <p:xfrm>
              <a:off x="3098901" y="870710"/>
              <a:ext cx="7236000" cy="279626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05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Vertices of the Preimage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Vertices of the Image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8142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𝑁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𝑁</m:t>
                              </m:r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8142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𝑅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𝑅</m:t>
                              </m:r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8142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𝑆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𝑆</m:t>
                              </m:r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8963330"/>
                  </p:ext>
                </p:extLst>
              </p:nvPr>
            </p:nvGraphicFramePr>
            <p:xfrm>
              <a:off x="3098901" y="870710"/>
              <a:ext cx="7236000" cy="279626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05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Vertices of the Preimage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Vertices of the Image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814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63" t="-182609" r="-346875" b="-2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183" t="-182609" r="-107042" b="-2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814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63" t="-282609" r="-346875" b="-1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183" t="-282609" r="-107042" b="-1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814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63" t="-382609" r="-346875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183" t="-382609" r="-107042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6433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53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1579" y="383046"/>
                <a:ext cx="10732168" cy="4530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patty paper to verify corresponding angles on the preimage and image have the same measure.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𝑁𝑅𝑆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triangle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𝑁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𝑅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		 triangles. The side 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lengths of       	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times the side lengths of	           The 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corresponding angles of the triangles are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79" y="383046"/>
                <a:ext cx="10732168" cy="4530279"/>
              </a:xfrm>
              <a:prstGeom prst="rect">
                <a:avLst/>
              </a:prstGeom>
              <a:blipFill>
                <a:blip r:embed="rId4"/>
                <a:stretch>
                  <a:fillRect t="-840" r="-1182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3151" y="2280944"/>
            <a:ext cx="1719692" cy="82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357" y="3319800"/>
            <a:ext cx="1263059" cy="79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8580" y="3283800"/>
            <a:ext cx="1400073" cy="82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8963" y="4218715"/>
            <a:ext cx="1879999" cy="90000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0552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55984" y="2830158"/>
            <a:ext cx="578021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7520" y="2916936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10640" y="-37211"/>
            <a:ext cx="1027176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9.8.4 Guided Practice: Describe the Relationship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2507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649705" y="1332640"/>
                <a:ext cx="1093269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Triangles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figures on the coordinate plane.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05" y="1332640"/>
                <a:ext cx="10932695" cy="1015663"/>
              </a:xfrm>
              <a:prstGeom prst="rect">
                <a:avLst/>
              </a:prstGeom>
              <a:blipFill>
                <a:blip r:embed="rId5"/>
                <a:stretch>
                  <a:fillRect l="-580" t="-375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24097" y="2375716"/>
            <a:ext cx="4999839" cy="415352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77516" y="362738"/>
                <a:ext cx="11032957" cy="6392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Discuss with your partner which triangles are similar or congruent. Then, complete the table.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Complete the statement.</a:t>
                </a:r>
              </a:p>
              <a:p>
                <a:pPr marL="922338" indent="-28575">
                  <a:lnSpc>
                    <a:spcPct val="200000"/>
                  </a:lnSpc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Triangle ____ is the image of triangle ____ after a dilation using a scale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centered at the origin.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16" y="362738"/>
                <a:ext cx="11032957" cy="6392904"/>
              </a:xfrm>
              <a:prstGeom prst="rect">
                <a:avLst/>
              </a:prstGeom>
              <a:blipFill>
                <a:blip r:embed="rId4"/>
                <a:stretch>
                  <a:fillRect t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6380659"/>
                  </p:ext>
                </p:extLst>
              </p:nvPr>
            </p:nvGraphicFramePr>
            <p:xfrm>
              <a:off x="3074230" y="1171421"/>
              <a:ext cx="6120000" cy="35052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93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Triangle Pair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they similar?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they congruent?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6380659"/>
                  </p:ext>
                </p:extLst>
              </p:nvPr>
            </p:nvGraphicFramePr>
            <p:xfrm>
              <a:off x="3074230" y="1171421"/>
              <a:ext cx="6120000" cy="35052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Triangle Pair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they similar?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 they congruent?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08" t="-103571" r="-240845" b="-3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08" t="-207273" r="-240845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08" t="-301786" r="-240845" b="-1160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08" t="-409091" r="-240845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890588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4421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53452" y="362738"/>
            <a:ext cx="1104498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you determined your answer to Part B.</a:t>
            </a: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describe at least three characteristics of the relationship between the triangles selected in Part B.</a:t>
            </a:r>
          </a:p>
          <a:p>
            <a:pPr lvl="2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492250" lvl="2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1492250" lvl="2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492250" lvl="2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492250" lvl="2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492250" lvl="2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1492250" lvl="2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492250" lvl="2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492250" lvl="2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492250" lvl="2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9714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26280" y="2785157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7520" y="2916936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13148" y="60325"/>
            <a:ext cx="9226002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9.8.5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11878" y="1011489"/>
                <a:ext cx="1109859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𝐴𝐶𝐹𝐿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plotted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coordinate grid.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figure were dilated by a </a:t>
                </a:r>
              </a:p>
              <a:p>
                <a:pPr marL="9223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scale factor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with the origin as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center of dilation, what are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coordinates of the vertices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78" y="1011489"/>
                <a:ext cx="11098596" cy="2246769"/>
              </a:xfrm>
              <a:prstGeom prst="rect">
                <a:avLst/>
              </a:prstGeom>
              <a:blipFill>
                <a:blip r:embed="rId5"/>
                <a:stretch>
                  <a:fillRect l="-571" t="-1685" b="-3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08528" y="1011489"/>
            <a:ext cx="4099092" cy="416321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7376073"/>
                  </p:ext>
                </p:extLst>
              </p:nvPr>
            </p:nvGraphicFramePr>
            <p:xfrm>
              <a:off x="2519850" y="4297675"/>
              <a:ext cx="3600000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7376073"/>
                  </p:ext>
                </p:extLst>
              </p:nvPr>
            </p:nvGraphicFramePr>
            <p:xfrm>
              <a:off x="2519850" y="4297675"/>
              <a:ext cx="3600000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77" t="-105882" r="-150877" b="-3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77" t="-200000" r="-15087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77" t="-308824" r="-150877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77" t="-408824" r="-150877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65484" y="373248"/>
                <a:ext cx="1104499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Dilate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𝐴𝐶𝐹𝐿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a scale factor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centered at the origin. Label the image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whether the figures are congruent, similar, or neither.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84" y="373248"/>
                <a:ext cx="11044990" cy="3477875"/>
              </a:xfrm>
              <a:prstGeom prst="rect">
                <a:avLst/>
              </a:prstGeom>
              <a:blipFill>
                <a:blip r:embed="rId4"/>
                <a:stretch>
                  <a:fillRect t="-1091" b="-2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12139" y="2762342"/>
            <a:ext cx="39906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7520" y="2916936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13148" y="138530"/>
            <a:ext cx="9226002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9.8.6 Wrap-Up: Growth Mindset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625642" y="1123268"/>
            <a:ext cx="10972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based on today’s lesson. 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Today I am still unsure about …</a:t>
            </a:r>
          </a:p>
          <a:p>
            <a:pPr marL="457200" indent="-457200" fontAlgn="base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will try to build my confidence by … 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2736</TotalTime>
  <Words>1210</Words>
  <Application>Microsoft Office PowerPoint</Application>
  <PresentationFormat>Widescreen</PresentationFormat>
  <Paragraphs>348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Verdana</vt:lpstr>
      <vt:lpstr>Times New Roman</vt:lpstr>
      <vt:lpstr>Wingdings</vt:lpstr>
      <vt:lpstr>Century Gothic</vt:lpstr>
      <vt:lpstr>Calibri</vt:lpstr>
      <vt:lpstr>Arial Black</vt:lpstr>
      <vt:lpstr>Cambria Math</vt:lpstr>
      <vt:lpstr>Courier New</vt:lpstr>
      <vt:lpstr>Arial</vt:lpstr>
      <vt:lpstr>1_Office Theme</vt:lpstr>
      <vt:lpstr>8th Grade Math: Pre-Algebra  Unit 9, Lesson 8  Dilations on the Coordinate Plane  Volume 2, pg. 99  </vt:lpstr>
      <vt:lpstr>Benchmarks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39</cp:revision>
  <dcterms:created xsi:type="dcterms:W3CDTF">2015-03-17T18:51:18Z</dcterms:created>
  <dcterms:modified xsi:type="dcterms:W3CDTF">2022-06-17T18:07:19Z</dcterms:modified>
</cp:coreProperties>
</file>