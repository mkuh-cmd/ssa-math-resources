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52" r:id="rId11"/>
    <p:sldId id="362" r:id="rId12"/>
    <p:sldId id="311" r:id="rId13"/>
    <p:sldId id="312" r:id="rId14"/>
    <p:sldId id="353" r:id="rId15"/>
    <p:sldId id="363" r:id="rId16"/>
    <p:sldId id="364" r:id="rId17"/>
    <p:sldId id="365" r:id="rId18"/>
    <p:sldId id="373" r:id="rId19"/>
    <p:sldId id="367" r:id="rId20"/>
    <p:sldId id="368" r:id="rId21"/>
    <p:sldId id="369" r:id="rId22"/>
    <p:sldId id="370" r:id="rId23"/>
    <p:sldId id="329" r:id="rId24"/>
    <p:sldId id="330" r:id="rId25"/>
    <p:sldId id="359" r:id="rId26"/>
    <p:sldId id="371" r:id="rId27"/>
    <p:sldId id="372" r:id="rId28"/>
    <p:sldId id="306" r:id="rId29"/>
    <p:sldId id="307" r:id="rId30"/>
  </p:sldIdLst>
  <p:sldSz cx="12192000" cy="6858000"/>
  <p:notesSz cx="6858000" cy="9144000"/>
  <p:embeddedFontLst>
    <p:embeddedFont>
      <p:font typeface="Arial Black" panose="020B0604020202020204" pitchFamily="34" charset="0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Century Gothic" panose="020B0502020202020204" pitchFamily="34" charset="0"/>
      <p:regular r:id="rId42"/>
      <p:bold r:id="rId43"/>
      <p:italic r:id="rId44"/>
      <p:boldItalic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3465B0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76" autoAdjust="0"/>
    <p:restoredTop sz="94694"/>
  </p:normalViewPr>
  <p:slideViewPr>
    <p:cSldViewPr snapToGrid="0">
      <p:cViewPr varScale="1">
        <p:scale>
          <a:sx n="128" d="100"/>
          <a:sy n="128" d="100"/>
        </p:scale>
        <p:origin x="9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47208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21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2303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227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4211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968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9624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3414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3414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8153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124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834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45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3329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9351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190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mathoverflow.net/questions/50872/how-might-m-c-escher-have-designed-his-patterns" TargetMode="Externa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6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tiff"/><Relationship Id="rId5" Type="http://schemas.openxmlformats.org/officeDocument/2006/relationships/image" Target="../media/image24.tiff"/><Relationship Id="rId4" Type="http://schemas.openxmlformats.org/officeDocument/2006/relationships/image" Target="../media/image23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8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tiff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tiff"/><Relationship Id="rId5" Type="http://schemas.openxmlformats.org/officeDocument/2006/relationships/image" Target="../media/image29.tiff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tiff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tiff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Dilations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2205274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136525"/>
            <a:ext cx="8867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92427" y="1600201"/>
            <a:ext cx="11037195" cy="184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preimage and image generated by a single dilation, identify the scale factor that describes the relationship.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087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68274" y="129667"/>
            <a:ext cx="93485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89547" y="1596390"/>
            <a:ext cx="110088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30660"/>
            <a:ext cx="93050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89547" y="1600200"/>
            <a:ext cx="110088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the effect on an image given the scale factor.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dilations to proportions. 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520" y="2916936"/>
            <a:ext cx="1031749" cy="10317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5589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353648"/>
            <a:ext cx="9226002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Points on a Ray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77515" y="1224223"/>
                <a:ext cx="11044989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ray is shown with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labeled.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a point on the ray whose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twice the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Label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2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a point on the ray whose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half the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Label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15" y="1224223"/>
                <a:ext cx="11044989" cy="4708981"/>
              </a:xfrm>
              <a:prstGeom prst="rect">
                <a:avLst/>
              </a:prstGeom>
              <a:blipFill>
                <a:blip r:embed="rId5"/>
                <a:stretch>
                  <a:fillRect l="-574" t="-806" r="-574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" descr="Shape&#10;&#10;Description automatically generated with medium confidence"/>
          <p:cNvPicPr/>
          <p:nvPr/>
        </p:nvPicPr>
        <p:blipFill>
          <a:blip r:embed="rId6"/>
          <a:stretch>
            <a:fillRect/>
          </a:stretch>
        </p:blipFill>
        <p:spPr bwMode="auto">
          <a:xfrm>
            <a:off x="4237264" y="1770377"/>
            <a:ext cx="3657600" cy="21348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53452" y="373249"/>
                <a:ext cx="1104498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2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emoji scale to rate your confidence in your placement of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ray.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52" y="373249"/>
                <a:ext cx="11044989" cy="830997"/>
              </a:xfrm>
              <a:prstGeom prst="rect">
                <a:avLst/>
              </a:prstGeom>
              <a:blipFill>
                <a:blip r:embed="rId4"/>
                <a:stretch>
                  <a:fillRect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0785" y="1366826"/>
            <a:ext cx="7222866" cy="188735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5137" y="60325"/>
            <a:ext cx="89924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9.7.2 Collaboration: Artwork of M.C. Escher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265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89547" y="1311381"/>
            <a:ext cx="110088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M.C. Escher (1898-1972) was a Dutch artist whose work was inspired by mathematics. Though initially trained as an architect, he became one of the most famous and influential graphic artists in the world.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 are two examples of Escher’s work.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99007"/>
              </p:ext>
            </p:extLst>
          </p:nvPr>
        </p:nvGraphicFramePr>
        <p:xfrm>
          <a:off x="2144946" y="3349626"/>
          <a:ext cx="7680960" cy="3146425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Example 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Example B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225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12" descr="ho.history overview - How might M.C. Escher have designed ...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867025" y="3920173"/>
            <a:ext cx="2462288" cy="24466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A04822-6EBA-CAFD-1A82-A21E026C8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056" y="3920173"/>
            <a:ext cx="2322245" cy="24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1580" y="373250"/>
            <a:ext cx="10996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how the two example pieces shown are similar and different. Then, record at least two in each column.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518848"/>
              </p:ext>
            </p:extLst>
          </p:nvPr>
        </p:nvGraphicFramePr>
        <p:xfrm>
          <a:off x="2445651" y="1696765"/>
          <a:ext cx="7300698" cy="41452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0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0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1578" y="383758"/>
            <a:ext cx="109968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how the figures used to make the artwork were transformed.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of the art pieces could be created using only rigid transformations of the shapes used?</a:t>
            </a: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know the other example could not be created from rigid transformations.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584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60068" y="283220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8194" y="60325"/>
            <a:ext cx="92309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9.7.3 Exploration: Properties of Dilations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579" y="1623087"/>
                <a:ext cx="1099686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Another type of transformation is called a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dilation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Dilations are not rigid transformations because the size of the image can change from the preimage.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dilate a figure, both a center and a scale factor must be given. Work with your partner to complete the following as you explore the properties of dilations.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transformations shown is a dilation of the preimage,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𝐹𝑋𝐿𝐻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using the same scale factor, but a different center of dilation. The center of dilation is indicated by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9" y="1623087"/>
                <a:ext cx="10996863" cy="2862322"/>
              </a:xfrm>
              <a:prstGeom prst="rect">
                <a:avLst/>
              </a:prstGeom>
              <a:blipFill>
                <a:blip r:embed="rId5"/>
                <a:stretch>
                  <a:fillRect l="-577" t="-881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235683"/>
              </p:ext>
            </p:extLst>
          </p:nvPr>
        </p:nvGraphicFramePr>
        <p:xfrm>
          <a:off x="2535750" y="520393"/>
          <a:ext cx="7132320" cy="5943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Transformation 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Transformation B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Transformation C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Transformation D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3343"/>
          <a:stretch/>
        </p:blipFill>
        <p:spPr bwMode="auto">
          <a:xfrm>
            <a:off x="2991104" y="1054608"/>
            <a:ext cx="2523744" cy="2331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142"/>
          <a:stretch/>
        </p:blipFill>
        <p:spPr bwMode="auto">
          <a:xfrm>
            <a:off x="3050540" y="4049755"/>
            <a:ext cx="2523744" cy="2331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60" y="1197102"/>
            <a:ext cx="3255264" cy="2084832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9164" y="4102333"/>
            <a:ext cx="2734056" cy="222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6" y="373247"/>
                <a:ext cx="1100889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each dilation.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what happens to the image,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the center of dilation,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changes.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which transformation is the center of dilation a point on the preimage?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this dilation appears to be different from the others.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6" y="373247"/>
                <a:ext cx="11008895" cy="5016758"/>
              </a:xfrm>
              <a:prstGeom prst="rect">
                <a:avLst/>
              </a:prstGeom>
              <a:blipFill>
                <a:blip r:embed="rId4"/>
                <a:stretch>
                  <a:fillRect t="-758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043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1579" y="379334"/>
                <a:ext cx="1098483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transformations shown is a dilation of the preimage,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𝐹𝑋𝐿𝐻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using the same center of dilation, but a different scale factor. The center of dilation is indicated by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scale factor is given in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9" y="379334"/>
                <a:ext cx="10984831" cy="1015663"/>
              </a:xfrm>
              <a:prstGeom prst="rect">
                <a:avLst/>
              </a:prstGeom>
              <a:blipFill>
                <a:blip r:embed="rId4"/>
                <a:stretch>
                  <a:fillRect l="-577" t="-2469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06841"/>
                  </p:ext>
                </p:extLst>
              </p:nvPr>
            </p:nvGraphicFramePr>
            <p:xfrm>
              <a:off x="2581275" y="2122716"/>
              <a:ext cx="7132320" cy="41148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F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Scale Factor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2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Scale Factor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0.5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06841"/>
                  </p:ext>
                </p:extLst>
              </p:nvPr>
            </p:nvGraphicFramePr>
            <p:xfrm>
              <a:off x="2581275" y="2122716"/>
              <a:ext cx="7132320" cy="41148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F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6" t="-12803" r="-100712" b="-2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6" t="-12803" r="-712" b="-27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67965" y="2735492"/>
            <a:ext cx="3139073" cy="3096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12280" y="3039771"/>
            <a:ext cx="2377440" cy="2487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54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0326595"/>
                  </p:ext>
                </p:extLst>
              </p:nvPr>
            </p:nvGraphicFramePr>
            <p:xfrm>
              <a:off x="2581275" y="425799"/>
              <a:ext cx="7132320" cy="41148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G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Scale Factor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1.4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Scale Factor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0326595"/>
                  </p:ext>
                </p:extLst>
              </p:nvPr>
            </p:nvGraphicFramePr>
            <p:xfrm>
              <a:off x="2581275" y="425799"/>
              <a:ext cx="7132320" cy="41148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G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6" t="-12803" r="-100712" b="-3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56" t="-12803" r="-712" b="-3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53690" y="1069044"/>
            <a:ext cx="3017520" cy="3006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95123" y="1391940"/>
            <a:ext cx="2687955" cy="2360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8832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7" y="425801"/>
                <a:ext cx="1103295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happens to the image,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𝐹𝑋𝐿𝐻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the scale factor changes.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425801"/>
                <a:ext cx="11032957" cy="4401205"/>
              </a:xfrm>
              <a:prstGeom prst="rect">
                <a:avLst/>
              </a:prstGeom>
              <a:blipFill>
                <a:blip r:embed="rId3"/>
                <a:stretch>
                  <a:fillRect r="-575" b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4648173"/>
                  </p:ext>
                </p:extLst>
              </p:nvPr>
            </p:nvGraphicFramePr>
            <p:xfrm>
              <a:off x="2581275" y="425800"/>
              <a:ext cx="7132320" cy="3383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7132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I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26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Scale Factor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0.25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4648173"/>
                  </p:ext>
                </p:extLst>
              </p:nvPr>
            </p:nvGraphicFramePr>
            <p:xfrm>
              <a:off x="2581275" y="425800"/>
              <a:ext cx="7132320" cy="3383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7132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Transformation I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26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8" t="-16017" r="-356" b="-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67156" y="1206770"/>
            <a:ext cx="2404745" cy="2151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2652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77516" y="373249"/>
            <a:ext cx="11020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01132"/>
                  </p:ext>
                </p:extLst>
              </p:nvPr>
            </p:nvGraphicFramePr>
            <p:xfrm>
              <a:off x="3018014" y="928964"/>
              <a:ext cx="7132320" cy="33086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517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48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of the Scale Factor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Greater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61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does the image compare to the preimage?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01132"/>
                  </p:ext>
                </p:extLst>
              </p:nvPr>
            </p:nvGraphicFramePr>
            <p:xfrm>
              <a:off x="3018014" y="928964"/>
              <a:ext cx="7132320" cy="33086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517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of the Scale Factor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034" t="-1587" r="-206897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7956" t="-1587" r="-75182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58416" t="-1587" r="-1980" b="-3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61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does the image compare to the preimage?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758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69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6" y="373250"/>
                <a:ext cx="1102092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transformation shows a dilation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𝐹𝑋𝐿𝐻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the center of dilation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a scale factor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6" y="373250"/>
                <a:ext cx="11020927" cy="1015663"/>
              </a:xfrm>
              <a:prstGeom prst="rect">
                <a:avLst/>
              </a:prstGeom>
              <a:blipFill>
                <a:blip r:embed="rId4"/>
                <a:stretch>
                  <a:fillRect l="-575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radar chart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63860" y="1546957"/>
            <a:ext cx="4405120" cy="47740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8014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5484" y="362739"/>
                <a:ext cx="1102092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distance, in units, between the center of dilation,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each of the vertices of the preimage and image are given in the table. Work with your partner to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4" y="362739"/>
                <a:ext cx="11020927" cy="1015663"/>
              </a:xfrm>
              <a:prstGeom prst="rect">
                <a:avLst/>
              </a:prstGeom>
              <a:blipFill>
                <a:blip r:embed="rId4"/>
                <a:stretch>
                  <a:fillRect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2332735"/>
                  </p:ext>
                </p:extLst>
              </p:nvPr>
            </p:nvGraphicFramePr>
            <p:xfrm>
              <a:off x="3048000" y="1801321"/>
              <a:ext cx="6858000" cy="4541457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Vertex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𝑫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Ratio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𝐢𝐦𝐚𝐠𝐞</m:t>
                                      </m:r>
                                    </m:num>
                                    <m:den>
                                      <m:r>
                                        <a:rPr lang="en-US" sz="2000" b="1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𝐩𝐫𝐞𝐢𝐦𝐚𝐠𝐞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of the Distances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𝐻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11.25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4.5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𝐹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10.25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12.5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𝐿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2332735"/>
                  </p:ext>
                </p:extLst>
              </p:nvPr>
            </p:nvGraphicFramePr>
            <p:xfrm>
              <a:off x="3048000" y="1801321"/>
              <a:ext cx="6858000" cy="4541457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838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Vertex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1429" r="-141111" b="-4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4683" t="-1429" r="-794" b="-4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197222" r="-401852" b="-7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197222" r="-141111" b="-708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297222" r="-401852" b="-6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297222" r="-141111" b="-60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397222" r="-401852" b="-5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397222" r="-141111" b="-508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497222" r="-401852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497222" r="-141111" b="-40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581081" r="-401852" b="-297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581081" r="-141111" b="-29729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700000" r="-401852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700000" r="-141111" b="-20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800000" r="-401852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800000" r="-141111" b="-105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900000" r="-40185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556" t="-900000" r="-141111" b="-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50321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9546" y="373248"/>
            <a:ext cx="110209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ratio in the table using your calculator. What do you notice?</a:t>
            </a: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the ratios of the distances compare to the scale factor of the dilation.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185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651030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223" y="29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05092" y="-12827"/>
            <a:ext cx="92340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9.7.4 Bring It Together: Properties of Dilations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601579" y="1446856"/>
            <a:ext cx="10984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Every dilation has a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center of dilation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a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scale factor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EDB11D9-D450-754F-8CDF-2076D1E96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206" y="27511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054901" y="2331744"/>
            <a:ext cx="8280000" cy="1646493"/>
            <a:chOff x="2031300" y="3275735"/>
            <a:chExt cx="8280000" cy="1646738"/>
          </a:xfrm>
        </p:grpSpPr>
        <p:grpSp>
          <p:nvGrpSpPr>
            <p:cNvPr id="11" name="Group 10"/>
            <p:cNvGrpSpPr/>
            <p:nvPr/>
          </p:nvGrpSpPr>
          <p:grpSpPr>
            <a:xfrm>
              <a:off x="2031300" y="3275735"/>
              <a:ext cx="8280000" cy="1646738"/>
              <a:chOff x="2031300" y="3275735"/>
              <a:chExt cx="8280000" cy="1646738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300" y="3275735"/>
                <a:ext cx="8280000" cy="1646738"/>
                <a:chOff x="2031300" y="3275735"/>
                <a:chExt cx="8280000" cy="1646738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2031300" y="3275735"/>
                  <a:ext cx="8280000" cy="1646738"/>
                  <a:chOff x="2031300" y="3275735"/>
                  <a:chExt cx="8280000" cy="1646738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2031300" y="3275735"/>
                    <a:ext cx="8280000" cy="1646738"/>
                    <a:chOff x="0" y="0"/>
                    <a:chExt cx="8280000" cy="1646738"/>
                  </a:xfrm>
                </p:grpSpPr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0" y="0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0" name="Group 19"/>
                    <p:cNvGrpSpPr/>
                    <p:nvPr/>
                  </p:nvGrpSpPr>
                  <p:grpSpPr>
                    <a:xfrm>
                      <a:off x="0" y="0"/>
                      <a:ext cx="8280000" cy="1646738"/>
                      <a:chOff x="0" y="0"/>
                      <a:chExt cx="8280000" cy="1646738"/>
                    </a:xfrm>
                  </p:grpSpPr>
                  <p:sp>
                    <p:nvSpPr>
                      <p:cNvPr id="22" name="Rectangle 21"/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3" name="Rectangle 22"/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4" name="Rounded Rectangle 23"/>
                      <p:cNvSpPr/>
                      <p:nvPr/>
                    </p:nvSpPr>
                    <p:spPr>
                      <a:xfrm>
                        <a:off x="0" y="182334"/>
                        <a:ext cx="8280000" cy="1464404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B8E6F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spAutoFit/>
                      </a:bodyPr>
                      <a:lstStyle/>
                      <a:p>
                        <a:pPr marL="627063"/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In a dilation, the distance of the image to the center of dilation is </a:t>
                        </a:r>
                        <a:r>
                          <a:rPr lang="en-US" sz="2000" b="1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proportional</a:t>
                        </a: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 to the distance of the preimage to the center of dilation. The constant of proportionality is equal to the </a:t>
                        </a:r>
                        <a:r>
                          <a:rPr lang="en-US" sz="2000" b="1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scale factor</a:t>
                        </a: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.</a:t>
                        </a:r>
                        <a:r>
                          <a:rPr lang="en-US" sz="20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</p:grpSp>
                <p:pic>
                  <p:nvPicPr>
                    <p:cNvPr id="21" name="Shape 27" descr="Icon&#10;&#10;Description automatically generated"/>
                    <p:cNvPicPr preferRelativeResize="0"/>
                    <p:nvPr/>
                  </p:nvPicPr>
                  <p:blipFill rotWithShape="1">
                    <a:blip r:embed="rId5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05962" y="644661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sp>
        <p:nvSpPr>
          <p:cNvPr id="25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29203" y="1573405"/>
            <a:ext cx="5774169" cy="34926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6" y="377501"/>
                <a:ext cx="10360952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dilated using a 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1.75 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centered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side lengths, in units, of each triangle are shown.</a:t>
                </a:r>
              </a:p>
              <a:p>
                <a:pPr marL="457200" lvl="4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914400" lvl="4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patty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paper, labeling each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vertex on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patty paper.</a:t>
                </a: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Overlay the patty paper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each vertex to compare the size of each corresponding angle. What do you notice? 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6" y="377501"/>
                <a:ext cx="10360952" cy="5693866"/>
              </a:xfrm>
              <a:prstGeom prst="rect">
                <a:avLst/>
              </a:prstGeom>
              <a:blipFill>
                <a:blip r:embed="rId5"/>
                <a:stretch>
                  <a:fillRect l="-647" t="-749" b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433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1578" y="383758"/>
            <a:ext cx="1104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5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using the side lengths of the image and preimage.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485741"/>
                  </p:ext>
                </p:extLst>
              </p:nvPr>
            </p:nvGraphicFramePr>
            <p:xfrm>
              <a:off x="3037489" y="1186795"/>
              <a:ext cx="7200000" cy="279900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Side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Side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Ratio of the Side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Lengths,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1" i="1" baseline="0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1" i="0" baseline="0" smtClean="0">
                                      <a:latin typeface="Cambria Math"/>
                                      <a:ea typeface="Verdana" pitchFamily="34" charset="0"/>
                                    </a:rPr>
                                    <m:t>𝐈𝐦𝐚𝐠𝐞</m:t>
                                  </m:r>
                                </m:num>
                                <m:den>
                                  <m:r>
                                    <a:rPr lang="en-PH" sz="2000" b="1" i="0" baseline="0" smtClean="0">
                                      <a:latin typeface="Cambria Math"/>
                                      <a:ea typeface="Verdana" pitchFamily="34" charset="0"/>
                                    </a:rPr>
                                    <m:t>𝐏𝐫𝐞𝐢𝐦𝐚𝐠𝐞</m:t>
                                  </m:r>
                                </m:den>
                              </m:f>
                            </m:oMath>
                          </a14:m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𝑁𝑅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𝑁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𝑅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𝑅𝑆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𝑅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𝑆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𝑆𝑁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𝑆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𝑁</m:t>
                                </m:r>
                                <m:r>
                                  <a:rPr lang="en-PH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485741"/>
                  </p:ext>
                </p:extLst>
              </p:nvPr>
            </p:nvGraphicFramePr>
            <p:xfrm>
              <a:off x="3037489" y="1186795"/>
              <a:ext cx="7200000" cy="279900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1790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Side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Side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706" t="-3226" r="-588" b="-1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223256" r="-569412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5294" t="-223256" r="-335294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330952" r="-56941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5294" t="-330952" r="-335294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420930" r="-569412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5294" t="-420930" r="-335294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01578" y="4305741"/>
                <a:ext cx="11044989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2" indent="-457200">
                  <a:buFont typeface="+mj-lt"/>
                  <a:buAutoNum type="alphaLcPeriod" startAt="4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side lengths of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8" y="4305741"/>
                <a:ext cx="11044989" cy="415498"/>
              </a:xfrm>
              <a:prstGeom prst="rect">
                <a:avLst/>
              </a:prstGeom>
              <a:blipFill>
                <a:blip r:embed="rId5"/>
                <a:stretch>
                  <a:fillRect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686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5642" y="383760"/>
            <a:ext cx="11008895" cy="280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57200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 using words from the bank.</a:t>
            </a:r>
          </a:p>
          <a:p>
            <a:pPr marL="914400" lvl="2" indent="-457200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57200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>
              <a:lnSpc>
                <a:spcPct val="150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After a dilation, the corresponding side lengths of the preimage and image are _____________ and the corresponding angles are _____________. Therefore, the preimage and image are _____________ figures.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082248" y="4452277"/>
            <a:ext cx="5760000" cy="841913"/>
            <a:chOff x="1201316" y="5533849"/>
            <a:chExt cx="5760000" cy="841913"/>
          </a:xfrm>
        </p:grpSpPr>
        <p:sp>
          <p:nvSpPr>
            <p:cNvPr id="11" name="Rounded Rectangle 10"/>
            <p:cNvSpPr/>
            <p:nvPr/>
          </p:nvSpPr>
          <p:spPr>
            <a:xfrm>
              <a:off x="1201316" y="5533849"/>
              <a:ext cx="5760000" cy="841913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72000" rIns="91425" bIns="72000" anchor="ctr" anchorCtr="0">
              <a:spAutoFit/>
            </a:bodyPr>
            <a:lstStyle/>
            <a:p>
              <a:pPr marL="711200"/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dilation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proportional increase or decrease in size in all directions.</a:t>
              </a:r>
              <a:r>
                <a:rPr lang="en-US" sz="12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13" name="Shape 7" descr="Icon&#10;&#10;Description automatically generated">
              <a:extLst>
                <a:ext uri="{FF2B5EF4-FFF2-40B4-BE49-F238E27FC236}">
                  <a16:creationId xmlns:a16="http://schemas.microsoft.com/office/drawing/2014/main" id="{2270B51B-8055-964F-9300-25A2E9158A7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37157" y="5684930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63240" y="1059605"/>
            <a:ext cx="7163326" cy="50139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72000" bIns="72000" numCol="3" rtlCol="0" anchor="ctr">
            <a:spAutoFit/>
          </a:bodyPr>
          <a:lstStyle/>
          <a:p>
            <a:pPr algn="ctr"/>
            <a:r>
              <a:rPr lang="en-PH" sz="2000" dirty="0">
                <a:latin typeface="Verdana" pitchFamily="34" charset="0"/>
                <a:ea typeface="Verdana" pitchFamily="34" charset="0"/>
              </a:rPr>
              <a:t>congruent</a:t>
            </a:r>
          </a:p>
          <a:p>
            <a:pPr algn="ctr"/>
            <a:r>
              <a:rPr lang="en-PH" sz="2000" dirty="0">
                <a:latin typeface="Verdana" pitchFamily="34" charset="0"/>
                <a:ea typeface="Verdana" pitchFamily="34" charset="0"/>
              </a:rPr>
              <a:t>proportional</a:t>
            </a:r>
          </a:p>
          <a:p>
            <a:pPr algn="ctr"/>
            <a:r>
              <a:rPr lang="en-PH" sz="2000" dirty="0">
                <a:latin typeface="Verdana" pitchFamily="34" charset="0"/>
                <a:ea typeface="Verdana" pitchFamily="34" charset="0"/>
              </a:rPr>
              <a:t>similar</a:t>
            </a:r>
          </a:p>
        </p:txBody>
      </p:sp>
    </p:spTree>
    <p:extLst>
      <p:ext uri="{BB962C8B-B14F-4D97-AF65-F5344CB8AC3E}">
        <p14:creationId xmlns:p14="http://schemas.microsoft.com/office/powerpoint/2010/main" val="3010135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2139" y="2762342"/>
            <a:ext cx="37424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21673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385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01579" y="996620"/>
            <a:ext cx="11020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49726" y="1900337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DF832AA6-A432-421E-574B-0F90145E8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317686"/>
              </p:ext>
            </p:extLst>
          </p:nvPr>
        </p:nvGraphicFramePr>
        <p:xfrm>
          <a:off x="2150089" y="1836298"/>
          <a:ext cx="8337802" cy="3835703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60453">
                  <a:extLst>
                    <a:ext uri="{9D8B030D-6E8A-4147-A177-3AD203B41FA5}">
                      <a16:colId xmlns:a16="http://schemas.microsoft.com/office/drawing/2014/main" val="4242894791"/>
                    </a:ext>
                  </a:extLst>
                </a:gridCol>
                <a:gridCol w="2649252">
                  <a:extLst>
                    <a:ext uri="{9D8B030D-6E8A-4147-A177-3AD203B41FA5}">
                      <a16:colId xmlns:a16="http://schemas.microsoft.com/office/drawing/2014/main" val="5423695"/>
                    </a:ext>
                  </a:extLst>
                </a:gridCol>
                <a:gridCol w="2628097">
                  <a:extLst>
                    <a:ext uri="{9D8B030D-6E8A-4147-A177-3AD203B41FA5}">
                      <a16:colId xmlns:a16="http://schemas.microsoft.com/office/drawing/2014/main" val="856129134"/>
                    </a:ext>
                  </a:extLst>
                </a:gridCol>
              </a:tblGrid>
              <a:tr h="139181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baseline="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The terms and information in the Exploration and Bring It Together that I knew were … </a:t>
                      </a:r>
                      <a:endParaRPr lang="en-US" sz="1800" b="0" i="0" u="none" strike="noStrike" cap="none" baseline="0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baseline="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Something I wondered during the Exploration or Bring It Together was … </a:t>
                      </a:r>
                      <a:endParaRPr lang="en-US" sz="1800" b="0" i="0" u="none" strike="noStrike" cap="none" baseline="0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baseline="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Something I learned during the Exploration or Bring It Together was … </a:t>
                      </a:r>
                      <a:endParaRPr lang="en-US" sz="1800" b="0" i="0" u="none" strike="noStrike" cap="none" baseline="0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981182"/>
                  </a:ext>
                </a:extLst>
              </a:tr>
              <a:tr h="2372663">
                <a:tc>
                  <a:txBody>
                    <a:bodyPr/>
                    <a:lstStyle/>
                    <a:p>
                      <a:pPr algn="ctr"/>
                      <a:endParaRPr lang="en-PH" sz="1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94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4722</TotalTime>
  <Words>1312</Words>
  <Application>Microsoft Macintosh PowerPoint</Application>
  <PresentationFormat>Widescreen</PresentationFormat>
  <Paragraphs>249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Wingdings</vt:lpstr>
      <vt:lpstr>Verdana</vt:lpstr>
      <vt:lpstr>Arial</vt:lpstr>
      <vt:lpstr>Cambria</vt:lpstr>
      <vt:lpstr>Century Gothic</vt:lpstr>
      <vt:lpstr>Times New Roman</vt:lpstr>
      <vt:lpstr>Calibri</vt:lpstr>
      <vt:lpstr>Arial Black</vt:lpstr>
      <vt:lpstr>Cambria Math</vt:lpstr>
      <vt:lpstr>1_Office Theme</vt:lpstr>
      <vt:lpstr>8th Grade Math: Pre-Algebra  Unit 9, Lesson 7  Dilations  Volume 2, pg. 92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50</cp:revision>
  <dcterms:created xsi:type="dcterms:W3CDTF">2015-03-17T18:51:18Z</dcterms:created>
  <dcterms:modified xsi:type="dcterms:W3CDTF">2023-02-09T17:53:59Z</dcterms:modified>
</cp:coreProperties>
</file>