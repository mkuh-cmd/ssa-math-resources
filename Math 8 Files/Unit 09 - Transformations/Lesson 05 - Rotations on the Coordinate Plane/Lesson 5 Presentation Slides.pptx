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311" r:id="rId9"/>
    <p:sldId id="312" r:id="rId10"/>
    <p:sldId id="353" r:id="rId11"/>
    <p:sldId id="362" r:id="rId12"/>
    <p:sldId id="289" r:id="rId13"/>
    <p:sldId id="290" r:id="rId14"/>
    <p:sldId id="371" r:id="rId15"/>
    <p:sldId id="363" r:id="rId16"/>
    <p:sldId id="364" r:id="rId17"/>
    <p:sldId id="356" r:id="rId18"/>
    <p:sldId id="365" r:id="rId19"/>
    <p:sldId id="314" r:id="rId20"/>
    <p:sldId id="367" r:id="rId21"/>
    <p:sldId id="368" r:id="rId22"/>
    <p:sldId id="369" r:id="rId23"/>
    <p:sldId id="370" r:id="rId24"/>
    <p:sldId id="323" r:id="rId25"/>
    <p:sldId id="324" r:id="rId26"/>
    <p:sldId id="352" r:id="rId27"/>
    <p:sldId id="306" r:id="rId28"/>
    <p:sldId id="307" r:id="rId29"/>
  </p:sldIdLst>
  <p:sldSz cx="12192000" cy="6858000"/>
  <p:notesSz cx="6858000" cy="9144000"/>
  <p:embeddedFontLst>
    <p:embeddedFont>
      <p:font typeface="Arial Black" panose="020B0604020202020204" pitchFamily="34" charset="0"/>
      <p:bold r:id="rId31"/>
    </p:embeddedFont>
    <p:embeddedFont>
      <p:font typeface="Calibri" panose="020F0502020204030204" pitchFamily="34" charset="0"/>
      <p:regular r:id="rId32"/>
      <p:bold r:id="rId33"/>
      <p:italic r:id="rId34"/>
      <p:boldItalic r:id="rId35"/>
    </p:embeddedFont>
    <p:embeddedFont>
      <p:font typeface="Cambria Math" panose="02040503050406030204" pitchFamily="18" charset="0"/>
      <p:regular r:id="rId36"/>
    </p:embeddedFont>
    <p:embeddedFont>
      <p:font typeface="Century Gothic" panose="020B0502020202020204" pitchFamily="34" charset="0"/>
      <p:regular r:id="rId37"/>
      <p:bold r:id="rId38"/>
      <p:italic r:id="rId39"/>
      <p:boldItalic r:id="rId40"/>
    </p:embeddedFont>
    <p:embeddedFont>
      <p:font typeface="Verdana" panose="020B0604030504040204"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23"/>
    <p:restoredTop sz="94694"/>
  </p:normalViewPr>
  <p:slideViewPr>
    <p:cSldViewPr snapToGrid="0">
      <p:cViewPr varScale="1">
        <p:scale>
          <a:sx n="121" d="100"/>
          <a:sy n="121" d="100"/>
        </p:scale>
        <p:origin x="1024" y="17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9383343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002984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1105246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591637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28516506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3214815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2190176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219017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2983491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5477802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7128053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258038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77836065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761450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4061377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332582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hyperlink" Target="https://en.wikipedia.org/wiki/Tania_(artist)" TargetMode="Externa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image" Target="../media/image13.jp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notesSlide" Target="../notesSlides/notesSlide10.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tiff"/><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28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30.tiff"/><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tiff"/></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42.png"/><Relationship Id="rId5" Type="http://schemas.openxmlformats.org/officeDocument/2006/relationships/image" Target="../media/image43.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45.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6.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lvl="0" algn="ctr">
              <a:lnSpc>
                <a:spcPct val="100000"/>
              </a:lnSpc>
            </a:pPr>
            <a:r>
              <a:rPr lang="en-US" sz="3600" b="1">
                <a:solidFill>
                  <a:srgbClr val="417DBF"/>
                </a:solidFill>
                <a:latin typeface="Verdana"/>
                <a:ea typeface="Verdana"/>
                <a:cs typeface="Verdana"/>
                <a:sym typeface="Verdana"/>
              </a:rPr>
              <a:t>8</a:t>
            </a:r>
            <a:r>
              <a:rPr lang="en-US" sz="3600" b="1" baseline="30000">
                <a:solidFill>
                  <a:srgbClr val="417DBF"/>
                </a:solidFill>
                <a:latin typeface="Verdana"/>
                <a:ea typeface="Verdana"/>
                <a:cs typeface="Verdana"/>
                <a:sym typeface="Verdana"/>
              </a:rPr>
              <a:t>th</a:t>
            </a:r>
            <a:r>
              <a:rPr lang="en-US" sz="3600" b="1">
                <a:solidFill>
                  <a:srgbClr val="417DBF"/>
                </a:solidFill>
                <a:latin typeface="Verdana"/>
                <a:ea typeface="Verdana"/>
                <a:cs typeface="Verdana"/>
                <a:sym typeface="Verdana"/>
              </a:rPr>
              <a:t> Grade Math:</a:t>
            </a:r>
            <a:br>
              <a:rPr lang="en-US" sz="3600" b="1">
                <a:solidFill>
                  <a:srgbClr val="417DBF"/>
                </a:solidFill>
                <a:latin typeface="Verdana"/>
                <a:ea typeface="Verdana"/>
                <a:cs typeface="Verdana"/>
                <a:sym typeface="Verdana"/>
              </a:rPr>
            </a:br>
            <a:r>
              <a:rPr lang="en-US" sz="3600" b="1">
                <a:solidFill>
                  <a:srgbClr val="417DBF"/>
                </a:solidFill>
                <a:latin typeface="Verdana"/>
                <a:ea typeface="Verdana"/>
                <a:cs typeface="Verdana"/>
                <a:sym typeface="Verdana"/>
              </a:rPr>
              <a:t>Pre-Algebra</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5</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Rotations on the Coordinate Plane</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82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60503" y="2205274"/>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23390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4900"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92428" y="1600200"/>
            <a:ext cx="11024316"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MA.8.GR.2.3</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Describe and apply the effect </a:t>
            </a:r>
            <a:br>
              <a:rPr lang="en-US" sz="3500" dirty="0">
                <a:latin typeface="Verdana" panose="020B0604030504040204" pitchFamily="34" charset="0"/>
                <a:ea typeface="Verdana" panose="020B0604030504040204" pitchFamily="34" charset="0"/>
                <a:cs typeface="Verdana" panose="020B0604030504040204" pitchFamily="34" charset="0"/>
              </a:rPr>
            </a:br>
            <a:r>
              <a:rPr lang="en-US" sz="3500" dirty="0">
                <a:latin typeface="Verdana" panose="020B0604030504040204" pitchFamily="34" charset="0"/>
                <a:ea typeface="Verdana" panose="020B0604030504040204" pitchFamily="34" charset="0"/>
                <a:cs typeface="Verdana" panose="020B0604030504040204" pitchFamily="34" charset="0"/>
              </a:rPr>
              <a:t>of a single transformation on two-dimensional figures using coordinates and the coordinate plane.</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89711"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303521" y="129667"/>
            <a:ext cx="1030034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592428" y="1596390"/>
            <a:ext cx="11011436"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233900" y="30660"/>
            <a:ext cx="9305075"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4900"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79549" y="1600200"/>
            <a:ext cx="1103719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perform a rotation on the coordinate plane.</a:t>
            </a:r>
          </a:p>
          <a:p>
            <a:pPr marL="463550" indent="-463550">
              <a:buFont typeface="Wingdings" panose="05000000000000000000" pitchFamily="2" charset="2"/>
              <a:buChar char="q"/>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anose="05000000000000000000"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describe relationships between figures after a rotation.</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17520" y="2916936"/>
            <a:ext cx="1031749" cy="1031749"/>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335589"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47960" y="60325"/>
            <a:ext cx="1023444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9.5.1 Warm-Up: Geometry in Art</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411930" y="3495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45910" y="1386026"/>
                <a:ext cx="6128588" cy="317009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Tania was a Jewish American artist who was born in Poland and based in New York City. She was an abstract painter, sculptor, and collage artist. She was famous for painting wall art throughout the city.</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One of her most well-known pieces of wall art was a </a:t>
                </a:r>
                <a14:m>
                  <m:oMath xmlns:m="http://schemas.openxmlformats.org/officeDocument/2006/math">
                    <m:r>
                      <a:rPr lang="en-US" sz="2000" i="1">
                        <a:latin typeface="Cambria Math" panose="02040503050406030204" pitchFamily="18" charset="0"/>
                        <a:ea typeface="Cambria Math" panose="02040503050406030204" pitchFamily="18" charset="0"/>
                      </a:rPr>
                      <m:t>13</m:t>
                    </m:r>
                  </m:oMath>
                </a14:m>
                <a:r>
                  <a:rPr lang="en-US" sz="2000" dirty="0">
                    <a:latin typeface="Verdana" panose="020B0604030504040204" pitchFamily="34" charset="0"/>
                    <a:ea typeface="Verdana" panose="020B0604030504040204" pitchFamily="34" charset="0"/>
                    <a:cs typeface="Verdana" panose="020B0604030504040204" pitchFamily="34" charset="0"/>
                  </a:rPr>
                  <a:t>-story geometric wall painting she created in 1970 that still stands today. It is shown in the picture to the right.</a:t>
                </a: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45910" y="1386026"/>
                <a:ext cx="6128588" cy="3170099"/>
              </a:xfrm>
              <a:prstGeom prst="rect">
                <a:avLst/>
              </a:prstGeom>
              <a:blipFill>
                <a:blip r:embed="rId5"/>
                <a:stretch>
                  <a:fillRect l="-1242" t="-797" r="-1035" b="-2390"/>
                </a:stretch>
              </a:blipFill>
            </p:spPr>
            <p:txBody>
              <a:bodyPr/>
              <a:lstStyle/>
              <a:p>
                <a:r>
                  <a:rPr lang="en-US">
                    <a:noFill/>
                  </a:rPr>
                  <a:t> </a:t>
                </a:r>
              </a:p>
            </p:txBody>
          </p:sp>
        </mc:Fallback>
      </mc:AlternateContent>
      <p:pic>
        <p:nvPicPr>
          <p:cNvPr id="9" name="Picture 8" descr="Tania (artist) - Wikipedia"/>
          <p:cNvPicPr/>
          <p:nvPr/>
        </p:nvPicPr>
        <p:blipFill>
          <a:blip r:embed="rId6">
            <a:extLst>
              <a:ext uri="{837473B0-CC2E-450A-ABE3-18F120FF3D39}">
                <a1611:picAttrSrcUrl xmlns:a1611="http://schemas.microsoft.com/office/drawing/2016/11/main" r:id="rId7"/>
              </a:ext>
            </a:extLst>
          </a:blip>
          <a:stretch>
            <a:fillRect/>
          </a:stretch>
        </p:blipFill>
        <p:spPr>
          <a:xfrm>
            <a:off x="6810210" y="1386025"/>
            <a:ext cx="3107055" cy="4660900"/>
          </a:xfrm>
          <a:prstGeom prst="rect">
            <a:avLst/>
          </a:prstGeom>
        </p:spPr>
      </p:pic>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5910" y="520394"/>
            <a:ext cx="11095630" cy="4524315"/>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Consider the yellow and green triangles shown in the artwork.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whether you think a single transformation could map the yellow triangle to the green triangle.</a:t>
            </a:r>
          </a:p>
          <a:p>
            <a:pPr marL="914400" lvl="1" indent="-45720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Which two transformations do you think could map the yellow triangle to the green triangle if one was performed followed by the other?</a:t>
            </a:r>
          </a:p>
        </p:txBody>
      </p:sp>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82</a:t>
            </a:r>
            <a:endParaRPr i="1" dirty="0">
              <a:latin typeface="Calibri"/>
              <a:ea typeface="Calibri"/>
              <a:cs typeface="Calibri"/>
              <a:sym typeface="Calibri"/>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60068" y="2832200"/>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2" name="Picture 11" descr="Chart, radar chart&#10;&#10;Description automatically generated"/>
          <p:cNvPicPr/>
          <p:nvPr/>
        </p:nvPicPr>
        <p:blipFill rotWithShape="1">
          <a:blip r:embed="rId3"/>
          <a:srcRect l="16477" t="5385" r="22727" b="5429"/>
          <a:stretch/>
        </p:blipFill>
        <p:spPr>
          <a:xfrm>
            <a:off x="7637154" y="1386025"/>
            <a:ext cx="2806896" cy="5071650"/>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37746" y="60325"/>
            <a:ext cx="1029014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9.5.2 Exploration: Determining the Degree of Rotation</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04346" y="347048"/>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83</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152D1D4D-DCB8-A246-B186-D40316579D77}"/>
                  </a:ext>
                </a:extLst>
              </p:cNvPr>
              <p:cNvSpPr txBox="1"/>
              <p:nvPr/>
            </p:nvSpPr>
            <p:spPr>
              <a:xfrm>
                <a:off x="545603" y="1386026"/>
                <a:ext cx="11082289" cy="440120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following.</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The diagram shows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𝑅𝐾𝑋</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𝐾</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after a rotation about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point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a straightedge to draw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𝑋𝑀𝑋</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𝑅𝑀𝑅</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𝐾𝑀𝐾</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how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degree of rotation can be determined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using the angles that connect the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vertices and the center of rotation.</a:t>
                </a:r>
              </a:p>
            </p:txBody>
          </p:sp>
        </mc:Choice>
        <mc:Fallback>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45603" y="1386026"/>
                <a:ext cx="11082289" cy="4401205"/>
              </a:xfrm>
              <a:prstGeom prst="rect">
                <a:avLst/>
              </a:prstGeom>
              <a:blipFill>
                <a:blip r:embed="rId6"/>
                <a:stretch>
                  <a:fillRect l="-687" t="-575" b="-1437"/>
                </a:stretch>
              </a:blipFill>
            </p:spPr>
            <p:txBody>
              <a:bodyPr/>
              <a:lstStyle/>
              <a:p>
                <a:r>
                  <a:rPr lang="en-US">
                    <a:noFill/>
                  </a:rPr>
                  <a:t> </a:t>
                </a:r>
              </a:p>
            </p:txBody>
          </p:sp>
        </mc:Fallback>
      </mc:AlternateContent>
    </p:spTree>
    <p:extLst>
      <p:ext uri="{BB962C8B-B14F-4D97-AF65-F5344CB8AC3E}">
        <p14:creationId xmlns:p14="http://schemas.microsoft.com/office/powerpoint/2010/main" val="2235248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descr="Chart, radar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001965" y="1872407"/>
            <a:ext cx="6338737" cy="4871093"/>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A392D8-3ED3-7940-83A8-1451AA8A08D4}"/>
                  </a:ext>
                </a:extLst>
              </p:cNvPr>
              <p:cNvSpPr txBox="1"/>
              <p:nvPr/>
            </p:nvSpPr>
            <p:spPr>
              <a:xfrm>
                <a:off x="545910" y="520394"/>
                <a:ext cx="11081983" cy="1015663"/>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diagram shows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𝐺𝐹𝐿</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𝐹</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after a rotation about point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66725"/>
                <a:endParaRPr lang="en-US" sz="2000" dirty="0">
                  <a:latin typeface="Verdana" panose="020B0604030504040204" pitchFamily="34" charset="0"/>
                  <a:ea typeface="Verdana" panose="020B0604030504040204" pitchFamily="34" charset="0"/>
                  <a:cs typeface="Verdana" panose="020B0604030504040204" pitchFamily="34" charset="0"/>
                </a:endParaRPr>
              </a:p>
              <a:p>
                <a:pPr marL="466725"/>
                <a:r>
                  <a:rPr lang="en-US" sz="2000" dirty="0">
                    <a:latin typeface="Verdana" panose="020B0604030504040204" pitchFamily="34" charset="0"/>
                    <a:ea typeface="Verdana" panose="020B0604030504040204" pitchFamily="34" charset="0"/>
                    <a:cs typeface="Verdana" panose="020B0604030504040204" pitchFamily="34" charset="0"/>
                  </a:rPr>
                  <a:t>Use a straightedge to draw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𝐺𝑅𝐺</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𝐹𝑅𝐹</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𝐿𝑅𝐿</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5910" y="520394"/>
                <a:ext cx="11081983" cy="1015663"/>
              </a:xfrm>
              <a:prstGeom prst="rect">
                <a:avLst/>
              </a:prstGeom>
              <a:blipFill>
                <a:blip r:embed="rId5"/>
                <a:stretch>
                  <a:fillRect l="-687" t="-2469" b="-9877"/>
                </a:stretch>
              </a:blipFill>
            </p:spPr>
            <p:txBody>
              <a:bodyPr/>
              <a:lstStyle/>
              <a:p>
                <a:r>
                  <a:rPr lang="en-US">
                    <a:noFill/>
                  </a:rPr>
                  <a:t> </a:t>
                </a:r>
              </a:p>
            </p:txBody>
          </p:sp>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83</a:t>
            </a:r>
            <a:endParaRPr i="1" dirty="0">
              <a:latin typeface="Calibri"/>
              <a:ea typeface="Calibri"/>
              <a:cs typeface="Calibri"/>
              <a:sym typeface="Calibri"/>
            </a:endParaRPr>
          </a:p>
        </p:txBody>
      </p:sp>
    </p:spTree>
    <p:extLst>
      <p:ext uri="{BB962C8B-B14F-4D97-AF65-F5344CB8AC3E}">
        <p14:creationId xmlns:p14="http://schemas.microsoft.com/office/powerpoint/2010/main" val="2102285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5910" y="520393"/>
                <a:ext cx="11095630" cy="2862322"/>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each statement using the angles formed by the corresponding vertices of each preimage and image and the center of rotation.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𝑅</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𝐾</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𝑋</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the result of rotating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𝑅𝐾𝑋</m:t>
                    </m:r>
                  </m:oMath>
                </a14:m>
                <a:r>
                  <a:rPr lang="en-US" sz="2000" dirty="0">
                    <a:latin typeface="Verdana" panose="020B0604030504040204" pitchFamily="34" charset="0"/>
                    <a:ea typeface="Verdana" panose="020B0604030504040204" pitchFamily="34" charset="0"/>
                    <a:cs typeface="Verdana" panose="020B0604030504040204" pitchFamily="34" charset="0"/>
                  </a:rPr>
                  <a:t> ____</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counterclockwise about point </a:t>
                </a:r>
                <a14:m>
                  <m:oMath xmlns:m="http://schemas.openxmlformats.org/officeDocument/2006/math">
                    <m:r>
                      <a:rPr lang="en-US" sz="2000" i="1">
                        <a:latin typeface="Cambria Math" panose="02040503050406030204" pitchFamily="18" charset="0"/>
                        <a:ea typeface="Cambria Math" panose="02040503050406030204" pitchFamily="18" charset="0"/>
                      </a:rPr>
                      <m:t>𝑀</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lvl="1"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1"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𝐺𝐹𝐿</m:t>
                    </m:r>
                  </m:oMath>
                </a14:m>
                <a:r>
                  <a:rPr lang="en-US" sz="2000" dirty="0">
                    <a:latin typeface="Verdana" panose="020B0604030504040204" pitchFamily="34" charset="0"/>
                    <a:ea typeface="Verdana" panose="020B0604030504040204" pitchFamily="34" charset="0"/>
                    <a:cs typeface="Verdana" panose="020B0604030504040204" pitchFamily="34" charset="0"/>
                  </a:rPr>
                  <a:t> was rotated ____</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counterclockwise about point </a:t>
                </a:r>
                <a14:m>
                  <m:oMath xmlns:m="http://schemas.openxmlformats.org/officeDocument/2006/math">
                    <m:r>
                      <a:rPr lang="en-US" sz="2000" i="1">
                        <a:latin typeface="Cambria Math" panose="02040503050406030204" pitchFamily="18" charset="0"/>
                        <a:ea typeface="Cambria Math" panose="020405030504060302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to create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𝐺</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𝐹</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𝐿</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5910" y="520393"/>
                <a:ext cx="11095630" cy="2862322"/>
              </a:xfrm>
              <a:prstGeom prst="rect">
                <a:avLst/>
              </a:prstGeom>
              <a:blipFill>
                <a:blip r:embed="rId4"/>
                <a:stretch>
                  <a:fillRect l="-686" t="-881" b="-2643"/>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83</a:t>
            </a:r>
            <a:endParaRPr i="1" dirty="0">
              <a:latin typeface="Calibri"/>
              <a:ea typeface="Calibri"/>
              <a:cs typeface="Calibri"/>
              <a:sym typeface="Calibri"/>
            </a:endParaRPr>
          </a:p>
        </p:txBody>
      </p:sp>
    </p:spTree>
    <p:extLst>
      <p:ext uri="{BB962C8B-B14F-4D97-AF65-F5344CB8AC3E}">
        <p14:creationId xmlns:p14="http://schemas.microsoft.com/office/powerpoint/2010/main" val="3277406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49632" y="2833161"/>
            <a:ext cx="692150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17520" y="2916936"/>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84</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descr="Chart, line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3657312" y="1979612"/>
            <a:ext cx="5133409" cy="4563864"/>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30036" y="-85979"/>
            <a:ext cx="1029785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9.5.3 Guided Instruction: Rotations on the Coordinate Plane</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5">
            <a:alphaModFix/>
          </a:blip>
          <a:srcRect/>
          <a:stretch/>
        </p:blipFill>
        <p:spPr>
          <a:xfrm>
            <a:off x="394524" y="20322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59558" y="1254146"/>
                <a:ext cx="1106833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On the coordinate grid below,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𝑆𝑇𝑈</m:t>
                    </m:r>
                  </m:oMath>
                </a14:m>
                <a:r>
                  <a:rPr lang="en-US" sz="2000" dirty="0">
                    <a:latin typeface="Verdana" panose="020B0604030504040204" pitchFamily="34" charset="0"/>
                    <a:ea typeface="Verdana" panose="020B0604030504040204" pitchFamily="34" charset="0"/>
                    <a:cs typeface="Verdana" panose="020B0604030504040204" pitchFamily="34" charset="0"/>
                  </a:rPr>
                  <a:t> is rotated to create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𝑇</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𝑈</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59558" y="1254146"/>
                <a:ext cx="11068334" cy="400110"/>
              </a:xfrm>
              <a:prstGeom prst="rect">
                <a:avLst/>
              </a:prstGeom>
              <a:blipFill>
                <a:blip r:embed="rId6"/>
                <a:stretch>
                  <a:fillRect l="-688" t="-6061" b="-24242"/>
                </a:stretch>
              </a:blipFill>
            </p:spPr>
            <p:txBody>
              <a:bodyPr/>
              <a:lstStyle/>
              <a:p>
                <a:r>
                  <a:rPr lang="en-US">
                    <a:noFill/>
                  </a:rPr>
                  <a:t> </a:t>
                </a:r>
              </a:p>
            </p:txBody>
          </p:sp>
        </mc:Fallback>
      </mc:AlternateContent>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84</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9558" y="289029"/>
                <a:ext cx="11068335" cy="2246769"/>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There are two ways to describe the rotation.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Complete both statements using the information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given in the figure.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𝑆𝑇𝑈</m:t>
                    </m:r>
                  </m:oMath>
                </a14:m>
                <a:r>
                  <a:rPr lang="en-US" sz="2000" dirty="0">
                    <a:latin typeface="Verdana" panose="020B0604030504040204" pitchFamily="34" charset="0"/>
                    <a:ea typeface="Verdana" panose="020B0604030504040204" pitchFamily="34" charset="0"/>
                    <a:cs typeface="Verdana" panose="020B0604030504040204" pitchFamily="34" charset="0"/>
                  </a:rPr>
                  <a:t> was rotated ____</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clockwise about the origin to create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𝑇</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𝑈</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𝑆𝑇𝑈</m:t>
                    </m:r>
                  </m:oMath>
                </a14:m>
                <a:r>
                  <a:rPr lang="en-US" sz="2000" dirty="0">
                    <a:latin typeface="Verdana" panose="020B0604030504040204" pitchFamily="34" charset="0"/>
                    <a:ea typeface="Verdana" panose="020B0604030504040204" pitchFamily="34" charset="0"/>
                    <a:cs typeface="Verdana" panose="020B0604030504040204" pitchFamily="34" charset="0"/>
                  </a:rPr>
                  <a:t> was rotated ____</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counterclockwise about the origin to create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𝑆</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𝑇</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𝑈</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59558" y="289029"/>
                <a:ext cx="11068335" cy="2246769"/>
              </a:xfrm>
              <a:prstGeom prst="rect">
                <a:avLst/>
              </a:prstGeom>
              <a:blipFill>
                <a:blip r:embed="rId4"/>
                <a:stretch>
                  <a:fillRect t="-1124" b="-3933"/>
                </a:stretch>
              </a:blipFill>
            </p:spPr>
            <p:txBody>
              <a:bodyPr/>
              <a:lstStyle/>
              <a:p>
                <a:r>
                  <a:rPr lang="en-US">
                    <a:noFill/>
                  </a:rPr>
                  <a:t> </a:t>
                </a:r>
              </a:p>
            </p:txBody>
          </p:sp>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84</a:t>
            </a:r>
            <a:endParaRPr i="1" dirty="0">
              <a:latin typeface="Calibri"/>
              <a:ea typeface="Calibri"/>
              <a:cs typeface="Calibri"/>
              <a:sym typeface="Calibri"/>
            </a:endParaRPr>
          </a:p>
        </p:txBody>
      </p:sp>
    </p:spTree>
    <p:extLst>
      <p:ext uri="{BB962C8B-B14F-4D97-AF65-F5344CB8AC3E}">
        <p14:creationId xmlns:p14="http://schemas.microsoft.com/office/powerpoint/2010/main" val="703093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5910" y="289030"/>
                <a:ext cx="11081983" cy="5016758"/>
              </a:xfrm>
              <a:prstGeom prst="rect">
                <a:avLst/>
              </a:prstGeom>
              <a:noFill/>
            </p:spPr>
            <p:txBody>
              <a:bodyPr wrap="square" rtlCol="0">
                <a:spAutoFit/>
              </a:bodyPr>
              <a:lstStyle/>
              <a:p>
                <a:pPr marL="923925"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For every rotation clockwise, there is a rotation counterclockwise that would create the same image. Complete the table.</a:t>
                </a: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3925"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Explain what would happen if a figure were rotated </a:t>
                </a:r>
                <a14:m>
                  <m:oMath xmlns:m="http://schemas.openxmlformats.org/officeDocument/2006/math">
                    <m:r>
                      <a:rPr lang="en-US" sz="2000" i="1">
                        <a:latin typeface="Cambria Math" panose="02040503050406030204" pitchFamily="18" charset="0"/>
                        <a:ea typeface="Cambria Math" panose="02040503050406030204" pitchFamily="18" charset="0"/>
                      </a:rPr>
                      <m:t>360°</m:t>
                    </m:r>
                  </m:oMath>
                </a14:m>
                <a:r>
                  <a:rPr lang="en-US" sz="2000" dirty="0">
                    <a:latin typeface="Verdana" panose="020B0604030504040204" pitchFamily="34" charset="0"/>
                    <a:ea typeface="Verdana" panose="020B0604030504040204" pitchFamily="34" charset="0"/>
                    <a:cs typeface="Verdana" panose="020B0604030504040204" pitchFamily="34" charset="0"/>
                  </a:rPr>
                  <a:t> with the origin as the center of rotation.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5910" y="289030"/>
                <a:ext cx="11081983" cy="5016758"/>
              </a:xfrm>
              <a:prstGeom prst="rect">
                <a:avLst/>
              </a:prstGeom>
              <a:blipFill>
                <a:blip r:embed="rId4"/>
                <a:stretch>
                  <a:fillRect t="-505" r="-1145" b="-12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530506563"/>
                  </p:ext>
                </p:extLst>
              </p:nvPr>
            </p:nvGraphicFramePr>
            <p:xfrm>
              <a:off x="3052792" y="1448757"/>
              <a:ext cx="7125732" cy="2560320"/>
            </p:xfrm>
            <a:graphic>
              <a:graphicData uri="http://schemas.openxmlformats.org/drawingml/2006/table">
                <a:tbl>
                  <a:tblPr firstRow="1" firstCol="1" bandRow="1">
                    <a:tableStyleId>{5940675A-B579-460E-94D1-54222C63F5DA}</a:tableStyleId>
                  </a:tblPr>
                  <a:tblGrid>
                    <a:gridCol w="1660104">
                      <a:extLst>
                        <a:ext uri="{9D8B030D-6E8A-4147-A177-3AD203B41FA5}">
                          <a16:colId xmlns:a16="http://schemas.microsoft.com/office/drawing/2014/main" val="20000"/>
                        </a:ext>
                      </a:extLst>
                    </a:gridCol>
                    <a:gridCol w="2722428">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827822">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Clockwise Rotation</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Counterclockwise Rotation</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Clockwise &amp; Counterclockwise</a:t>
                          </a:r>
                        </a:p>
                      </a:txBody>
                      <a:tcPr marT="91440" marB="91440" anchor="ctr">
                        <a:solidFill>
                          <a:schemeClr val="bg1">
                            <a:lumMod val="75000"/>
                          </a:schemeClr>
                        </a:solidFill>
                      </a:tcPr>
                    </a:tc>
                    <a:extLst>
                      <a:ext uri="{0D108BD9-81ED-4DB2-BD59-A6C34878D82A}">
                        <a16:rowId xmlns:a16="http://schemas.microsoft.com/office/drawing/2014/main" val="10000"/>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90°</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1"/>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180°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270°</m:t>
                                </m:r>
                              </m:oMath>
                            </m:oMathPara>
                          </a14:m>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530506563"/>
                  </p:ext>
                </p:extLst>
              </p:nvPr>
            </p:nvGraphicFramePr>
            <p:xfrm>
              <a:off x="3052792" y="1448757"/>
              <a:ext cx="7125732" cy="2560320"/>
            </p:xfrm>
            <a:graphic>
              <a:graphicData uri="http://schemas.openxmlformats.org/drawingml/2006/table">
                <a:tbl>
                  <a:tblPr firstRow="1" firstCol="1" bandRow="1">
                    <a:tableStyleId>{5940675A-B579-460E-94D1-54222C63F5DA}</a:tableStyleId>
                  </a:tblPr>
                  <a:tblGrid>
                    <a:gridCol w="1660104">
                      <a:extLst>
                        <a:ext uri="{9D8B030D-6E8A-4147-A177-3AD203B41FA5}">
                          <a16:colId xmlns:a16="http://schemas.microsoft.com/office/drawing/2014/main" val="20000"/>
                        </a:ext>
                      </a:extLst>
                    </a:gridCol>
                    <a:gridCol w="2722428">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10972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Clockwise Rotation</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Counterclockwise Rotation</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Sum of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Clockwise &amp; Counterclockwise</a:t>
                          </a:r>
                        </a:p>
                      </a:txBody>
                      <a:tcPr marT="91440" marB="91440" anchor="ctr">
                        <a:solidFill>
                          <a:schemeClr val="bg1">
                            <a:lumMod val="75000"/>
                          </a:schemeClr>
                        </a:solidFill>
                      </a:tcPr>
                    </a:tc>
                    <a:extLst>
                      <a:ext uri="{0D108BD9-81ED-4DB2-BD59-A6C34878D82A}">
                        <a16:rowId xmlns:a16="http://schemas.microsoft.com/office/drawing/2014/main" val="10000"/>
                      </a:ext>
                    </a:extLst>
                  </a:tr>
                  <a:tr h="487680">
                    <a:tc>
                      <a:txBody>
                        <a:bodyPr/>
                        <a:lstStyle/>
                        <a:p>
                          <a:endParaRPr lang="en-US"/>
                        </a:p>
                      </a:txBody>
                      <a:tcPr marT="91440" marB="91440" anchor="ctr">
                        <a:blipFill>
                          <a:blip r:embed="rId5"/>
                          <a:stretch>
                            <a:fillRect l="-763" t="-231579" r="-329771" b="-205263"/>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1"/>
                      </a:ext>
                    </a:extLst>
                  </a:tr>
                  <a:tr h="487680">
                    <a:tc>
                      <a:txBody>
                        <a:bodyPr/>
                        <a:lstStyle/>
                        <a:p>
                          <a:endParaRPr lang="en-US"/>
                        </a:p>
                      </a:txBody>
                      <a:tcPr marT="91440" marB="91440" anchor="ctr">
                        <a:blipFill>
                          <a:blip r:embed="rId5"/>
                          <a:stretch>
                            <a:fillRect l="-763" t="-323077" r="-329771" b="-100000"/>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2"/>
                      </a:ext>
                    </a:extLst>
                  </a:tr>
                  <a:tr h="487680">
                    <a:tc>
                      <a:txBody>
                        <a:bodyPr/>
                        <a:lstStyle/>
                        <a:p>
                          <a:endParaRPr lang="en-US"/>
                        </a:p>
                      </a:txBody>
                      <a:tcPr marT="91440" marB="91440" anchor="ctr">
                        <a:blipFill>
                          <a:blip r:embed="rId5"/>
                          <a:stretch>
                            <a:fillRect l="-763" t="-434211" r="-329771" b="-2632"/>
                          </a:stretch>
                        </a:blipFill>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tc>
                    <a:extLst>
                      <a:ext uri="{0D108BD9-81ED-4DB2-BD59-A6C34878D82A}">
                        <a16:rowId xmlns:a16="http://schemas.microsoft.com/office/drawing/2014/main" val="10003"/>
                      </a:ext>
                    </a:extLst>
                  </a:tr>
                </a:tbl>
              </a:graphicData>
            </a:graphic>
          </p:graphicFrame>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84</a:t>
            </a:r>
            <a:endParaRPr i="1" dirty="0">
              <a:latin typeface="Calibri"/>
              <a:ea typeface="Calibri"/>
              <a:cs typeface="Calibri"/>
              <a:sym typeface="Calibri"/>
            </a:endParaRPr>
          </a:p>
        </p:txBody>
      </p:sp>
    </p:spTree>
    <p:extLst>
      <p:ext uri="{BB962C8B-B14F-4D97-AF65-F5344CB8AC3E}">
        <p14:creationId xmlns:p14="http://schemas.microsoft.com/office/powerpoint/2010/main" val="1873956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5910" y="520393"/>
                <a:ext cx="11095630" cy="40011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𝐴𝐶𝐻</m:t>
                    </m:r>
                  </m:oMath>
                </a14:m>
                <a:r>
                  <a:rPr lang="en-US" sz="2000" dirty="0">
                    <a:latin typeface="Verdana" panose="020B0604030504040204" pitchFamily="34" charset="0"/>
                    <a:ea typeface="Verdana" panose="020B0604030504040204" pitchFamily="34" charset="0"/>
                    <a:cs typeface="Verdana" panose="020B0604030504040204" pitchFamily="34" charset="0"/>
                  </a:rPr>
                  <a:t> is shown on the coordinate grid.</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5910" y="520393"/>
                <a:ext cx="11095630" cy="400110"/>
              </a:xfrm>
              <a:prstGeom prst="rect">
                <a:avLst/>
              </a:prstGeom>
              <a:blipFill>
                <a:blip r:embed="rId4"/>
                <a:stretch>
                  <a:fillRect l="-686" t="-6061" b="-24242"/>
                </a:stretch>
              </a:blipFill>
            </p:spPr>
            <p:txBody>
              <a:bodyPr/>
              <a:lstStyle/>
              <a:p>
                <a:r>
                  <a:rPr lang="en-US">
                    <a:noFill/>
                  </a:rPr>
                  <a:t> </a:t>
                </a:r>
              </a:p>
            </p:txBody>
          </p:sp>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84</a:t>
            </a:r>
            <a:endParaRPr i="1" dirty="0">
              <a:latin typeface="Calibri"/>
              <a:ea typeface="Calibri"/>
              <a:cs typeface="Calibri"/>
              <a:sym typeface="Calibri"/>
            </a:endParaRPr>
          </a:p>
        </p:txBody>
      </p:sp>
      <p:pic>
        <p:nvPicPr>
          <p:cNvPr id="8" name="Picture 7"/>
          <p:cNvPicPr/>
          <p:nvPr/>
        </p:nvPicPr>
        <p:blipFill>
          <a:blip r:embed="rId5" cstate="screen">
            <a:extLst>
              <a:ext uri="{28A0092B-C50C-407E-A947-70E740481C1C}">
                <a14:useLocalDpi xmlns:a14="http://schemas.microsoft.com/office/drawing/2010/main"/>
              </a:ext>
            </a:extLst>
          </a:blip>
          <a:srcRect/>
          <a:stretch>
            <a:fillRect/>
          </a:stretch>
        </p:blipFill>
        <p:spPr bwMode="auto">
          <a:xfrm>
            <a:off x="3199533" y="1174476"/>
            <a:ext cx="5943600" cy="5216525"/>
          </a:xfrm>
          <a:prstGeom prst="rect">
            <a:avLst/>
          </a:prstGeom>
          <a:noFill/>
          <a:ln>
            <a:noFill/>
          </a:ln>
        </p:spPr>
      </p:pic>
    </p:spTree>
    <p:extLst>
      <p:ext uri="{BB962C8B-B14F-4D97-AF65-F5344CB8AC3E}">
        <p14:creationId xmlns:p14="http://schemas.microsoft.com/office/powerpoint/2010/main" val="35752264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5911" y="520393"/>
                <a:ext cx="11081982" cy="4449551"/>
              </a:xfrm>
              <a:prstGeom prst="rect">
                <a:avLst/>
              </a:prstGeom>
              <a:noFill/>
            </p:spPr>
            <p:txBody>
              <a:bodyPr wrap="square" rtlCol="0">
                <a:spAutoFit/>
              </a:bodyPr>
              <a:lstStyle/>
              <a:p>
                <a:pPr marL="466725"/>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the image created by rotating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𝐴𝐶𝐻</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clockwise about the origin.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To show the rotation, follow these steps.</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77950" indent="-463550">
                  <a:spcAft>
                    <a:spcPts val="1200"/>
                  </a:spcAft>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Because a </a:t>
                </a:r>
                <a14:m>
                  <m:oMath xmlns:m="http://schemas.openxmlformats.org/officeDocument/2006/math">
                    <m:r>
                      <a:rPr lang="en-US" sz="2000" i="1">
                        <a:latin typeface="Cambria Math" panose="02040503050406030204" pitchFamily="18" charset="0"/>
                        <a:ea typeface="Cambria Math" panose="02040503050406030204" pitchFamily="18" charset="0"/>
                      </a:rPr>
                      <m:t>180°</m:t>
                    </m:r>
                  </m:oMath>
                </a14:m>
                <a:r>
                  <a:rPr lang="en-US" sz="2000" dirty="0">
                    <a:latin typeface="Verdana" panose="020B0604030504040204" pitchFamily="34" charset="0"/>
                    <a:ea typeface="Verdana" panose="020B0604030504040204" pitchFamily="34" charset="0"/>
                    <a:cs typeface="Verdana" panose="020B0604030504040204" pitchFamily="34" charset="0"/>
                  </a:rPr>
                  <a:t> angle is a straight line, use a straightedge to draw a dotted line from </a:t>
                </a:r>
                <a14:m>
                  <m:oMath xmlns:m="http://schemas.openxmlformats.org/officeDocument/2006/math">
                    <m:r>
                      <a:rPr lang="en-US" sz="2000" i="1">
                        <a:latin typeface="Cambria Math" panose="02040503050406030204" pitchFamily="18" charset="0"/>
                        <a:ea typeface="Cambria Math" panose="02040503050406030204" pitchFamily="18" charset="0"/>
                      </a:rPr>
                      <m:t>𝐶</m:t>
                    </m:r>
                  </m:oMath>
                </a14:m>
                <a:r>
                  <a:rPr lang="en-US" sz="2000" dirty="0">
                    <a:latin typeface="Verdana" panose="020B0604030504040204" pitchFamily="34" charset="0"/>
                    <a:ea typeface="Verdana" panose="020B0604030504040204" pitchFamily="34" charset="0"/>
                    <a:cs typeface="Verdana" panose="020B0604030504040204" pitchFamily="34" charset="0"/>
                  </a:rPr>
                  <a:t> through the origin that extends to the end of the grid. </a:t>
                </a:r>
              </a:p>
              <a:p>
                <a:pPr marL="1377950" indent="-463550">
                  <a:spcAft>
                    <a:spcPts val="1200"/>
                  </a:spcAft>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Plot and label point </a:t>
                </a:r>
                <a14:m>
                  <m:oMath xmlns:m="http://schemas.openxmlformats.org/officeDocument/2006/math">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on the dotted line so that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is congruent to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𝐴𝐶</m:t>
                        </m:r>
                      </m:e>
                    </m:acc>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1377950" indent="-463550">
                  <a:spcAft>
                    <a:spcPts val="1200"/>
                  </a:spcAft>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Use a straightedge to draw a dotted line from </a:t>
                </a:r>
                <a14:m>
                  <m:oMath xmlns:m="http://schemas.openxmlformats.org/officeDocument/2006/math">
                    <m:r>
                      <a:rPr lang="en-US" sz="2000" i="1">
                        <a:latin typeface="Cambria Math" panose="02040503050406030204" pitchFamily="18" charset="0"/>
                        <a:ea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through the origin that extends to the end of the grid.</a:t>
                </a:r>
              </a:p>
              <a:p>
                <a:pPr marL="1377950" indent="-463550">
                  <a:spcAft>
                    <a:spcPts val="1200"/>
                  </a:spcAft>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Plot and label point </a:t>
                </a:r>
                <a14:m>
                  <m:oMath xmlns:m="http://schemas.openxmlformats.org/officeDocument/2006/math">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on the dotted line so that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e>
                    </m:acc>
                  </m:oMath>
                </a14:m>
                <a:r>
                  <a:rPr lang="en-US" sz="2000" dirty="0">
                    <a:latin typeface="Verdana" panose="020B0604030504040204" pitchFamily="34" charset="0"/>
                    <a:ea typeface="Verdana" panose="020B0604030504040204" pitchFamily="34" charset="0"/>
                    <a:cs typeface="Verdana" panose="020B0604030504040204" pitchFamily="34" charset="0"/>
                  </a:rPr>
                  <a:t> is congruent to </a:t>
                </a:r>
                <a14:m>
                  <m:oMath xmlns:m="http://schemas.openxmlformats.org/officeDocument/2006/math">
                    <m:acc>
                      <m:accPr>
                        <m:chr m:val="̅"/>
                        <m:ctrlPr>
                          <a:rPr lang="en-US" sz="2000" i="1">
                            <a:latin typeface="Cambria Math" panose="02040503050406030204" pitchFamily="18" charset="0"/>
                            <a:ea typeface="Cambria Math" panose="02040503050406030204" pitchFamily="18" charset="0"/>
                          </a:rPr>
                        </m:ctrlPr>
                      </m:accPr>
                      <m:e>
                        <m:r>
                          <a:rPr lang="en-US" sz="2000" i="1">
                            <a:latin typeface="Cambria Math" panose="02040503050406030204" pitchFamily="18" charset="0"/>
                            <a:ea typeface="Cambria Math" panose="02040503050406030204" pitchFamily="18" charset="0"/>
                          </a:rPr>
                          <m:t>𝐻𝐴</m:t>
                        </m:r>
                      </m:e>
                    </m:acc>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1377950" indent="-463550">
                  <a:buFont typeface="Arial" panose="020B0604020202020204" pitchFamily="34" charset="0"/>
                  <a:buChar char="•"/>
                </a:pPr>
                <a:r>
                  <a:rPr lang="en-US" sz="2000" dirty="0">
                    <a:latin typeface="Verdana" panose="020B0604030504040204" pitchFamily="34" charset="0"/>
                    <a:ea typeface="Verdana" panose="020B0604030504040204" pitchFamily="34" charset="0"/>
                    <a:cs typeface="Verdana" panose="020B0604030504040204" pitchFamily="34" charset="0"/>
                  </a:rPr>
                  <a:t>Connect the vertices to create </a:t>
                </a:r>
                <a14:m>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5911" y="520393"/>
                <a:ext cx="11081982" cy="4449551"/>
              </a:xfrm>
              <a:prstGeom prst="rect">
                <a:avLst/>
              </a:prstGeom>
              <a:blipFill>
                <a:blip r:embed="rId4"/>
                <a:stretch>
                  <a:fillRect t="-685" b="-1507"/>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Tree>
    <p:extLst>
      <p:ext uri="{BB962C8B-B14F-4D97-AF65-F5344CB8AC3E}">
        <p14:creationId xmlns:p14="http://schemas.microsoft.com/office/powerpoint/2010/main" val="3761598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34390" y="520394"/>
                <a:ext cx="11093504" cy="5324535"/>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Describe how point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relate to each other.  </a:t>
                </a: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table with the coordinates of each point.</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coordinates of the corresponding points in the preimage and the image after this rotation?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34390" y="520394"/>
                <a:ext cx="11093504" cy="5324535"/>
              </a:xfrm>
              <a:prstGeom prst="rect">
                <a:avLst/>
              </a:prstGeom>
              <a:blipFill>
                <a:blip r:embed="rId4"/>
                <a:stretch>
                  <a:fillRect t="-686" b="-10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950515911"/>
                  </p:ext>
                </p:extLst>
              </p:nvPr>
            </p:nvGraphicFramePr>
            <p:xfrm>
              <a:off x="3027913" y="2274205"/>
              <a:ext cx="6827156" cy="2545080"/>
            </p:xfrm>
            <a:graphic>
              <a:graphicData uri="http://schemas.openxmlformats.org/drawingml/2006/table">
                <a:tbl>
                  <a:tblPr firstRow="1" firstCol="1" bandRow="1">
                    <a:tableStyleId>{5940675A-B579-460E-94D1-54222C63F5DA}</a:tableStyleId>
                  </a:tblPr>
                  <a:tblGrid>
                    <a:gridCol w="1341581">
                      <a:extLst>
                        <a:ext uri="{9D8B030D-6E8A-4147-A177-3AD203B41FA5}">
                          <a16:colId xmlns:a16="http://schemas.microsoft.com/office/drawing/2014/main" val="20000"/>
                        </a:ext>
                      </a:extLst>
                    </a:gridCol>
                    <a:gridCol w="2071997">
                      <a:extLst>
                        <a:ext uri="{9D8B030D-6E8A-4147-A177-3AD203B41FA5}">
                          <a16:colId xmlns:a16="http://schemas.microsoft.com/office/drawing/2014/main" val="20001"/>
                        </a:ext>
                      </a:extLst>
                    </a:gridCol>
                    <a:gridCol w="1341581">
                      <a:extLst>
                        <a:ext uri="{9D8B030D-6E8A-4147-A177-3AD203B41FA5}">
                          <a16:colId xmlns:a16="http://schemas.microsoft.com/office/drawing/2014/main" val="20002"/>
                        </a:ext>
                      </a:extLst>
                    </a:gridCol>
                    <a:gridCol w="2071997">
                      <a:extLst>
                        <a:ext uri="{9D8B030D-6E8A-4147-A177-3AD203B41FA5}">
                          <a16:colId xmlns:a16="http://schemas.microsoft.com/office/drawing/2014/main" val="20003"/>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marT="91440" marB="91440" anchor="ctr">
                        <a:solidFill>
                          <a:schemeClr val="bg1">
                            <a:lumMod val="75000"/>
                          </a:schemeClr>
                        </a:solidFill>
                      </a:tcPr>
                    </a:tc>
                    <a:extLst>
                      <a:ext uri="{0D108BD9-81ED-4DB2-BD59-A6C34878D82A}">
                        <a16:rowId xmlns:a16="http://schemas.microsoft.com/office/drawing/2014/main" val="10000"/>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𝑨</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𝑨</m:t>
                              </m:r>
                              <m:r>
                                <a:rPr lang="en-US" sz="2000">
                                  <a:effectLst/>
                                  <a:latin typeface="Cambria Math" panose="02040503050406030204" pitchFamily="18" charset="0"/>
                                  <a:ea typeface="Cambria Math" panose="02040503050406030204" pitchFamily="18" charset="0"/>
                                </a:rPr>
                                <m:t>′</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1"/>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𝑪</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𝑪</m:t>
                              </m:r>
                              <m:r>
                                <a:rPr lang="en-US" sz="2000">
                                  <a:effectLst/>
                                  <a:latin typeface="Cambria Math" panose="02040503050406030204" pitchFamily="18" charset="0"/>
                                  <a:ea typeface="Cambria Math" panose="02040503050406030204" pitchFamily="18" charset="0"/>
                                </a:rPr>
                                <m:t>′</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2"/>
                      </a:ext>
                    </a:extLst>
                  </a:tr>
                  <a:tr h="685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𝑯</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Point</a:t>
                          </a:r>
                          <a:r>
                            <a:rPr lang="en-US" sz="2000" dirty="0">
                              <a:effectLst/>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𝑯</m:t>
                              </m:r>
                              <m:r>
                                <a:rPr lang="en-US" sz="2000">
                                  <a:effectLst/>
                                  <a:latin typeface="Cambria Math" panose="02040503050406030204" pitchFamily="18" charset="0"/>
                                  <a:ea typeface="Cambria Math" panose="02040503050406030204" pitchFamily="18" charset="0"/>
                                </a:rPr>
                                <m:t>′</m:t>
                              </m:r>
                            </m:oMath>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solidFill>
                          <a:schemeClr val="bg1">
                            <a:lumMod val="75000"/>
                          </a:schemeClr>
                        </a:solid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3"/>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950515911"/>
                  </p:ext>
                </p:extLst>
              </p:nvPr>
            </p:nvGraphicFramePr>
            <p:xfrm>
              <a:off x="3027913" y="2274205"/>
              <a:ext cx="6827156" cy="2545080"/>
            </p:xfrm>
            <a:graphic>
              <a:graphicData uri="http://schemas.openxmlformats.org/drawingml/2006/table">
                <a:tbl>
                  <a:tblPr firstRow="1" firstCol="1" bandRow="1">
                    <a:tableStyleId>{5940675A-B579-460E-94D1-54222C63F5DA}</a:tableStyleId>
                  </a:tblPr>
                  <a:tblGrid>
                    <a:gridCol w="1341581">
                      <a:extLst>
                        <a:ext uri="{9D8B030D-6E8A-4147-A177-3AD203B41FA5}">
                          <a16:colId xmlns:a16="http://schemas.microsoft.com/office/drawing/2014/main" val="20000"/>
                        </a:ext>
                      </a:extLst>
                    </a:gridCol>
                    <a:gridCol w="2071997">
                      <a:extLst>
                        <a:ext uri="{9D8B030D-6E8A-4147-A177-3AD203B41FA5}">
                          <a16:colId xmlns:a16="http://schemas.microsoft.com/office/drawing/2014/main" val="20001"/>
                        </a:ext>
                      </a:extLst>
                    </a:gridCol>
                    <a:gridCol w="1341581">
                      <a:extLst>
                        <a:ext uri="{9D8B030D-6E8A-4147-A177-3AD203B41FA5}">
                          <a16:colId xmlns:a16="http://schemas.microsoft.com/office/drawing/2014/main" val="20002"/>
                        </a:ext>
                      </a:extLst>
                    </a:gridCol>
                    <a:gridCol w="2071997">
                      <a:extLst>
                        <a:ext uri="{9D8B030D-6E8A-4147-A177-3AD203B41FA5}">
                          <a16:colId xmlns:a16="http://schemas.microsoft.com/office/drawing/2014/main" val="20003"/>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 </a:t>
                          </a:r>
                        </a:p>
                      </a:txBody>
                      <a:tcPr marT="91440" marB="91440" anchor="c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Coordinates</a:t>
                          </a:r>
                        </a:p>
                      </a:txBody>
                      <a:tcPr marT="91440" marB="91440" anchor="ctr">
                        <a:solidFill>
                          <a:schemeClr val="bg1">
                            <a:lumMod val="75000"/>
                          </a:schemeClr>
                        </a:solidFill>
                      </a:tcPr>
                    </a:tc>
                    <a:extLst>
                      <a:ext uri="{0D108BD9-81ED-4DB2-BD59-A6C34878D82A}">
                        <a16:rowId xmlns:a16="http://schemas.microsoft.com/office/drawing/2014/main" val="10000"/>
                      </a:ext>
                    </a:extLst>
                  </a:tr>
                  <a:tr h="685800">
                    <a:tc>
                      <a:txBody>
                        <a:bodyPr/>
                        <a:lstStyle/>
                        <a:p>
                          <a:endParaRPr lang="en-US"/>
                        </a:p>
                      </a:txBody>
                      <a:tcPr marT="91440" marB="91440" anchor="ctr">
                        <a:blipFill>
                          <a:blip r:embed="rId5"/>
                          <a:stretch>
                            <a:fillRect l="-943" t="-74074" r="-409434" b="-20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endParaRPr lang="en-US"/>
                        </a:p>
                      </a:txBody>
                      <a:tcPr marT="91440" marB="91440" anchor="ctr">
                        <a:blipFill>
                          <a:blip r:embed="rId5"/>
                          <a:stretch>
                            <a:fillRect l="-254717" t="-74074" r="-155660" b="-20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1"/>
                      </a:ext>
                    </a:extLst>
                  </a:tr>
                  <a:tr h="685800">
                    <a:tc>
                      <a:txBody>
                        <a:bodyPr/>
                        <a:lstStyle/>
                        <a:p>
                          <a:endParaRPr lang="en-US"/>
                        </a:p>
                      </a:txBody>
                      <a:tcPr marT="91440" marB="91440" anchor="ctr">
                        <a:blipFill>
                          <a:blip r:embed="rId5"/>
                          <a:stretch>
                            <a:fillRect l="-943" t="-174074" r="-409434" b="-10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endParaRPr lang="en-US"/>
                        </a:p>
                      </a:txBody>
                      <a:tcPr marT="91440" marB="91440" anchor="ctr">
                        <a:blipFill>
                          <a:blip r:embed="rId5"/>
                          <a:stretch>
                            <a:fillRect l="-254717" t="-174074" r="-155660" b="-10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2"/>
                      </a:ext>
                    </a:extLst>
                  </a:tr>
                  <a:tr h="685800">
                    <a:tc>
                      <a:txBody>
                        <a:bodyPr/>
                        <a:lstStyle/>
                        <a:p>
                          <a:endParaRPr lang="en-US"/>
                        </a:p>
                      </a:txBody>
                      <a:tcPr marT="91440" marB="91440" anchor="ctr">
                        <a:blipFill>
                          <a:blip r:embed="rId5"/>
                          <a:stretch>
                            <a:fillRect l="-943" t="-274074" r="-409434" b="-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tc>
                      <a:txBody>
                        <a:bodyPr/>
                        <a:lstStyle/>
                        <a:p>
                          <a:endParaRPr lang="en-US"/>
                        </a:p>
                      </a:txBody>
                      <a:tcPr marT="91440" marB="91440" anchor="ctr">
                        <a:blipFill>
                          <a:blip r:embed="rId5"/>
                          <a:stretch>
                            <a:fillRect l="-254717" t="-274074" r="-155660" b="-1852"/>
                          </a:stretch>
                        </a:blipFill>
                      </a:tcPr>
                    </a:tc>
                    <a:tc>
                      <a:txBody>
                        <a:bodyPr/>
                        <a:lstStyle/>
                        <a:p>
                          <a:pPr marL="0" marR="0" algn="ctr">
                            <a:spcBef>
                              <a:spcPts val="0"/>
                            </a:spcBef>
                            <a:spcAft>
                              <a:spcPts val="0"/>
                            </a:spcAft>
                          </a:pP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tc>
                    <a:extLst>
                      <a:ext uri="{0D108BD9-81ED-4DB2-BD59-A6C34878D82A}">
                        <a16:rowId xmlns:a16="http://schemas.microsoft.com/office/drawing/2014/main" val="10003"/>
                      </a:ext>
                    </a:extLst>
                  </a:tr>
                </a:tbl>
              </a:graphicData>
            </a:graphic>
          </p:graphicFrame>
        </mc:Fallback>
      </mc:AlternateContent>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Tree>
    <p:extLst>
      <p:ext uri="{BB962C8B-B14F-4D97-AF65-F5344CB8AC3E}">
        <p14:creationId xmlns:p14="http://schemas.microsoft.com/office/powerpoint/2010/main" val="4121190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830158"/>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Tree>
    <p:extLst>
      <p:ext uri="{BB962C8B-B14F-4D97-AF65-F5344CB8AC3E}">
        <p14:creationId xmlns:p14="http://schemas.microsoft.com/office/powerpoint/2010/main" val="3560788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1" name="Picture 10" descr="Chart, line chart, scatter chart&#10;&#10;Description automatically generated"/>
          <p:cNvPicPr/>
          <p:nvPr/>
        </p:nvPicPr>
        <p:blipFill>
          <a:blip r:embed="rId3" cstate="screen">
            <a:extLst>
              <a:ext uri="{28A0092B-C50C-407E-A947-70E740481C1C}">
                <a14:useLocalDpi xmlns:a14="http://schemas.microsoft.com/office/drawing/2010/main"/>
              </a:ext>
            </a:extLst>
          </a:blip>
          <a:stretch>
            <a:fillRect/>
          </a:stretch>
        </p:blipFill>
        <p:spPr>
          <a:xfrm>
            <a:off x="5853684" y="1386026"/>
            <a:ext cx="4572000" cy="4048125"/>
          </a:xfrm>
          <a:prstGeom prst="rect">
            <a:avLst/>
          </a:prstGeom>
        </p:spPr>
      </p:pic>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10639" y="24700"/>
            <a:ext cx="100659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9.5.4 Collaboration: Which Quadrant?</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2016" y="3007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558140" y="1386024"/>
                <a:ext cx="4928260" cy="286232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triangle is shown on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the coordinate plane.</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Without performing the transformation, discuss with your partner what the image of the triangle would look like after a rotation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90</m:t>
                    </m:r>
                    <m:r>
                      <a:rPr lang="en-US" sz="2000" i="1">
                        <a:latin typeface="Cambria Math" panose="02040503050406030204" pitchFamily="18" charset="0"/>
                        <a:ea typeface="Cambria Math" panose="02040503050406030204" pitchFamily="18"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clockwise about the origin.</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558140" y="1386024"/>
                <a:ext cx="4928260" cy="2862322"/>
              </a:xfrm>
              <a:prstGeom prst="rect">
                <a:avLst/>
              </a:prstGeom>
              <a:blipFill>
                <a:blip r:embed="rId6"/>
                <a:stretch>
                  <a:fillRect l="-1361" t="-1277" r="-2228" b="-2766"/>
                </a:stretch>
              </a:blipFill>
            </p:spPr>
            <p:txBody>
              <a:bodyPr/>
              <a:lstStyle/>
              <a:p>
                <a:r>
                  <a:rPr lang="en-US">
                    <a:noFill/>
                  </a:rPr>
                  <a:t> </a:t>
                </a:r>
              </a:p>
            </p:txBody>
          </p:sp>
        </mc:Fallback>
      </mc:AlternateContent>
      <p:sp>
        <p:nvSpPr>
          <p:cNvPr id="14"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p:spTree>
    <p:extLst>
      <p:ext uri="{BB962C8B-B14F-4D97-AF65-F5344CB8AC3E}">
        <p14:creationId xmlns:p14="http://schemas.microsoft.com/office/powerpoint/2010/main" val="36508621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59558" y="520393"/>
                <a:ext cx="11068335" cy="2380011"/>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a:lnSpc>
                    <a:spcPct val="300000"/>
                  </a:lnSpc>
                </a:pPr>
                <a:r>
                  <a:rPr lang="en-US" sz="2000" dirty="0">
                    <a:latin typeface="Verdana" panose="020B0604030504040204" pitchFamily="34" charset="0"/>
                    <a:ea typeface="Verdana" panose="020B0604030504040204" pitchFamily="34" charset="0"/>
                    <a:cs typeface="Verdana" panose="020B0604030504040204" pitchFamily="34" charset="0"/>
                  </a:rPr>
                  <a:t>The preimage of the triangle is in quadrant	   The image of the triangle after a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90</m:t>
                    </m:r>
                    <m:r>
                      <a:rPr lang="en-US" sz="2000" i="1">
                        <a:latin typeface="Cambria Math" panose="02040503050406030204" pitchFamily="18" charset="0"/>
                        <a:ea typeface="Cambria Math" panose="02040503050406030204" pitchFamily="18"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clockwise rotation about the origin would lie in quadrant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59558" y="520393"/>
                <a:ext cx="11068335" cy="2380011"/>
              </a:xfrm>
              <a:prstGeom prst="rect">
                <a:avLst/>
              </a:prstGeom>
              <a:blipFill>
                <a:blip r:embed="rId4"/>
                <a:stretch>
                  <a:fillRect t="-1535" r="-716" b="-3581"/>
                </a:stretch>
              </a:blipFill>
            </p:spPr>
            <p:txBody>
              <a:bodyPr/>
              <a:lstStyle/>
              <a:p>
                <a:r>
                  <a:rPr lang="en-US">
                    <a:noFill/>
                  </a:rPr>
                  <a:t> </a:t>
                </a:r>
              </a:p>
            </p:txBody>
          </p:sp>
        </mc:Fallback>
      </mc:AlternateContent>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85</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Rounded Rectangle 7"/>
              <p:cNvSpPr/>
              <p:nvPr/>
            </p:nvSpPr>
            <p:spPr>
              <a:xfrm>
                <a:off x="7201786" y="1050083"/>
                <a:ext cx="914400" cy="14002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1</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spcAft>
                    <a:spcPts val="1000"/>
                  </a:spcAft>
                  <a:buFont typeface="Courier New"/>
                  <a:buChar char="o"/>
                </a:pPr>
                <a14:m>
                  <m:oMath xmlns:m="http://schemas.openxmlformats.org/officeDocument/2006/math">
                    <m:r>
                      <a:rPr lang="en-US" sz="2000" i="1">
                        <a:solidFill>
                          <a:srgbClr val="000000"/>
                        </a:solidFill>
                        <a:latin typeface="Cambria Math"/>
                        <a:ea typeface="MS Mincho"/>
                        <a:cs typeface="Times New Roman"/>
                      </a:rPr>
                      <m:t>4</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p:txBody>
          </p:sp>
        </mc:Choice>
        <mc:Fallback xmlns="">
          <p:sp>
            <p:nvSpPr>
              <p:cNvPr id="8" name="Rounded Rectangle 7"/>
              <p:cNvSpPr>
                <a:spLocks noRot="1" noChangeAspect="1" noMove="1" noResize="1" noEditPoints="1" noAdjustHandles="1" noChangeArrowheads="1" noChangeShapeType="1" noTextEdit="1"/>
              </p:cNvSpPr>
              <p:nvPr/>
            </p:nvSpPr>
            <p:spPr>
              <a:xfrm>
                <a:off x="7201786" y="1050083"/>
                <a:ext cx="914400" cy="1400235"/>
              </a:xfrm>
              <a:prstGeom prst="roundRect">
                <a:avLst/>
              </a:prstGeom>
              <a:blipFill>
                <a:blip r:embed="rId5"/>
                <a:stretch>
                  <a:fillRect l="-658" b="-5603"/>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p:cNvSpPr/>
              <p:nvPr/>
            </p:nvSpPr>
            <p:spPr>
              <a:xfrm>
                <a:off x="10286933" y="2050160"/>
                <a:ext cx="914400" cy="14002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1</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spcAft>
                    <a:spcPts val="1000"/>
                  </a:spcAft>
                  <a:buFont typeface="Courier New"/>
                  <a:buChar char="o"/>
                </a:pPr>
                <a14:m>
                  <m:oMath xmlns:m="http://schemas.openxmlformats.org/officeDocument/2006/math">
                    <m:r>
                      <a:rPr lang="en-US" sz="2000" i="1">
                        <a:solidFill>
                          <a:srgbClr val="000000"/>
                        </a:solidFill>
                        <a:latin typeface="Cambria Math"/>
                        <a:ea typeface="MS Mincho"/>
                        <a:cs typeface="Times New Roman"/>
                      </a:rPr>
                      <m:t>4</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p:txBody>
          </p:sp>
        </mc:Choice>
        <mc:Fallback xmlns="">
          <p:sp>
            <p:nvSpPr>
              <p:cNvPr id="10" name="Rounded Rectangle 9"/>
              <p:cNvSpPr>
                <a:spLocks noRot="1" noChangeAspect="1" noMove="1" noResize="1" noEditPoints="1" noAdjustHandles="1" noChangeArrowheads="1" noChangeShapeType="1" noTextEdit="1"/>
              </p:cNvSpPr>
              <p:nvPr/>
            </p:nvSpPr>
            <p:spPr>
              <a:xfrm>
                <a:off x="10286933" y="2050160"/>
                <a:ext cx="914400" cy="1400235"/>
              </a:xfrm>
              <a:prstGeom prst="roundRect">
                <a:avLst/>
              </a:prstGeom>
              <a:blipFill>
                <a:blip r:embed="rId6"/>
                <a:stretch>
                  <a:fillRect l="-658" b="-5603"/>
                </a:stretch>
              </a:blipFill>
              <a:ln>
                <a:solidFill>
                  <a:schemeClr val="tx1"/>
                </a:solidFill>
              </a:ln>
              <a:effectLst/>
            </p:spPr>
            <p:txBody>
              <a:bodyPr/>
              <a:lstStyle/>
              <a:p>
                <a:r>
                  <a:rPr lang="en-US">
                    <a:noFill/>
                  </a:rPr>
                  <a:t> </a:t>
                </a:r>
              </a:p>
            </p:txBody>
          </p:sp>
        </mc:Fallback>
      </mc:AlternateContent>
    </p:spTree>
    <p:extLst>
      <p:ext uri="{BB962C8B-B14F-4D97-AF65-F5344CB8AC3E}">
        <p14:creationId xmlns:p14="http://schemas.microsoft.com/office/powerpoint/2010/main" val="720343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609600" y="520393"/>
            <a:ext cx="10972800" cy="40011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A quadrilateral is shown on the coordinate plane.</a:t>
            </a:r>
          </a:p>
        </p:txBody>
      </p:sp>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pic>
        <p:nvPicPr>
          <p:cNvPr id="7" name="Picture 6" descr="Chart, line chart&#10;&#10;Description automatically generated"/>
          <p:cNvPicPr/>
          <p:nvPr/>
        </p:nvPicPr>
        <p:blipFill>
          <a:blip r:embed="rId4" cstate="screen">
            <a:extLst>
              <a:ext uri="{28A0092B-C50C-407E-A947-70E740481C1C}">
                <a14:useLocalDpi xmlns:a14="http://schemas.microsoft.com/office/drawing/2010/main"/>
              </a:ext>
            </a:extLst>
          </a:blip>
          <a:stretch>
            <a:fillRect/>
          </a:stretch>
        </p:blipFill>
        <p:spPr>
          <a:xfrm>
            <a:off x="3885333" y="1166813"/>
            <a:ext cx="4572000" cy="4048125"/>
          </a:xfrm>
          <a:prstGeom prst="rect">
            <a:avLst/>
          </a:prstGeom>
        </p:spPr>
      </p:pic>
    </p:spTree>
    <p:extLst>
      <p:ext uri="{BB962C8B-B14F-4D97-AF65-F5344CB8AC3E}">
        <p14:creationId xmlns:p14="http://schemas.microsoft.com/office/powerpoint/2010/main" val="6474252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09600" y="520393"/>
                <a:ext cx="10972800" cy="3204019"/>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Without performing the transformation, complete the statement.</a:t>
                </a:r>
              </a:p>
              <a:p>
                <a:pPr marL="457200">
                  <a:lnSpc>
                    <a:spcPct val="325000"/>
                  </a:lnSpc>
                </a:pPr>
                <a:r>
                  <a:rPr lang="en-US" sz="2000" dirty="0">
                    <a:latin typeface="Verdana" panose="020B0604030504040204" pitchFamily="34" charset="0"/>
                    <a:ea typeface="Verdana" panose="020B0604030504040204" pitchFamily="34" charset="0"/>
                    <a:cs typeface="Verdana" panose="020B0604030504040204" pitchFamily="34" charset="0"/>
                  </a:rPr>
                  <a:t>The preimage of the quadrilateral is in quadrant	     The image of the quadrilateral after a </a:t>
                </a:r>
                <a14:m>
                  <m:oMath xmlns:m="http://schemas.openxmlformats.org/officeDocument/2006/math">
                    <m:r>
                      <a:rPr lang="en-US" sz="2000" i="1">
                        <a:latin typeface="Cambria Math" panose="02040503050406030204" pitchFamily="18" charset="0"/>
                        <a:ea typeface="Verdana" panose="020B0604030504040204" pitchFamily="34" charset="0"/>
                        <a:cs typeface="Verdana" panose="020B0604030504040204" pitchFamily="34" charset="0"/>
                      </a:rPr>
                      <m:t>270</m:t>
                    </m:r>
                    <m:r>
                      <a:rPr lang="en-US" sz="2000" i="1">
                        <a:latin typeface="Cambria Math" panose="02040503050406030204" pitchFamily="18" charset="0"/>
                        <a:ea typeface="Cambria Math" panose="02040503050406030204" pitchFamily="18"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counterclockwise rotation about the origin would lie in quadrant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09600" y="520393"/>
                <a:ext cx="10972800" cy="3204019"/>
              </a:xfrm>
              <a:prstGeom prst="rect">
                <a:avLst/>
              </a:prstGeom>
              <a:blipFill>
                <a:blip r:embed="rId4"/>
                <a:stretch>
                  <a:fillRect t="-951" b="-2471"/>
                </a:stretch>
              </a:blipFill>
            </p:spPr>
            <p:txBody>
              <a:bodyPr/>
              <a:lstStyle/>
              <a:p>
                <a:r>
                  <a:rPr lang="en-US">
                    <a:noFill/>
                  </a:rPr>
                  <a:t> </a:t>
                </a:r>
              </a:p>
            </p:txBody>
          </p:sp>
        </mc:Fallback>
      </mc:AlternateContent>
      <p:sp>
        <p:nvSpPr>
          <p:cNvPr id="9"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Rounded Rectangle 7"/>
              <p:cNvSpPr/>
              <p:nvPr/>
            </p:nvSpPr>
            <p:spPr>
              <a:xfrm>
                <a:off x="7413375" y="956393"/>
                <a:ext cx="914400" cy="14002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1</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spcAft>
                    <a:spcPts val="1000"/>
                  </a:spcAft>
                  <a:buFont typeface="Courier New"/>
                  <a:buChar char="o"/>
                </a:pPr>
                <a14:m>
                  <m:oMath xmlns:m="http://schemas.openxmlformats.org/officeDocument/2006/math">
                    <m:r>
                      <a:rPr lang="en-US" sz="2000" i="1">
                        <a:solidFill>
                          <a:srgbClr val="000000"/>
                        </a:solidFill>
                        <a:latin typeface="Cambria Math"/>
                        <a:ea typeface="MS Mincho"/>
                        <a:cs typeface="Times New Roman"/>
                      </a:rPr>
                      <m:t>4</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p:txBody>
          </p:sp>
        </mc:Choice>
        <mc:Fallback xmlns="">
          <p:sp>
            <p:nvSpPr>
              <p:cNvPr id="8" name="Rounded Rectangle 7"/>
              <p:cNvSpPr>
                <a:spLocks noRot="1" noChangeAspect="1" noMove="1" noResize="1" noEditPoints="1" noAdjustHandles="1" noChangeArrowheads="1" noChangeShapeType="1" noTextEdit="1"/>
              </p:cNvSpPr>
              <p:nvPr/>
            </p:nvSpPr>
            <p:spPr>
              <a:xfrm>
                <a:off x="7413375" y="956393"/>
                <a:ext cx="914400" cy="1400235"/>
              </a:xfrm>
              <a:prstGeom prst="roundRect">
                <a:avLst/>
              </a:prstGeom>
              <a:blipFill>
                <a:blip r:embed="rId5"/>
                <a:stretch>
                  <a:fillRect l="-658" b="-5172"/>
                </a:stretch>
              </a:blipFill>
              <a:ln>
                <a:solidFill>
                  <a:schemeClr val="tx1"/>
                </a:solid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ounded Rectangle 9"/>
              <p:cNvSpPr/>
              <p:nvPr/>
            </p:nvSpPr>
            <p:spPr>
              <a:xfrm>
                <a:off x="2463096" y="2893757"/>
                <a:ext cx="914400" cy="1400235"/>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spAutoFit/>
              </a:bodyPr>
              <a:lstStyle/>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1</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2</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buFont typeface="Courier New"/>
                  <a:buChar char="o"/>
                </a:pPr>
                <a14:m>
                  <m:oMath xmlns:m="http://schemas.openxmlformats.org/officeDocument/2006/math">
                    <m:r>
                      <a:rPr lang="en-US" sz="2000" i="1">
                        <a:solidFill>
                          <a:srgbClr val="000000"/>
                        </a:solidFill>
                        <a:latin typeface="Cambria Math"/>
                        <a:ea typeface="MS Mincho"/>
                        <a:cs typeface="Times New Roman"/>
                      </a:rPr>
                      <m:t>3</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a:p>
                <a:pPr marL="342900" indent="-342900">
                  <a:spcAft>
                    <a:spcPts val="1000"/>
                  </a:spcAft>
                  <a:buFont typeface="Courier New"/>
                  <a:buChar char="o"/>
                </a:pPr>
                <a14:m>
                  <m:oMath xmlns:m="http://schemas.openxmlformats.org/officeDocument/2006/math">
                    <m:r>
                      <a:rPr lang="en-US" sz="2000" i="1">
                        <a:solidFill>
                          <a:srgbClr val="000000"/>
                        </a:solidFill>
                        <a:latin typeface="Cambria Math"/>
                        <a:ea typeface="MS Mincho"/>
                        <a:cs typeface="Times New Roman"/>
                      </a:rPr>
                      <m:t>4</m:t>
                    </m:r>
                  </m:oMath>
                </a14:m>
                <a:r>
                  <a:rPr lang="en-US" sz="2000" dirty="0">
                    <a:solidFill>
                      <a:srgbClr val="000000"/>
                    </a:solidFill>
                    <a:latin typeface="Verdana" pitchFamily="34" charset="0"/>
                    <a:ea typeface="Verdana" pitchFamily="34" charset="0"/>
                    <a:cs typeface="Times New Roman"/>
                  </a:rPr>
                  <a:t>.</a:t>
                </a:r>
                <a:endParaRPr lang="en-US" sz="2000" dirty="0">
                  <a:latin typeface="Verdana" pitchFamily="34" charset="0"/>
                  <a:ea typeface="Verdana" pitchFamily="34" charset="0"/>
                  <a:cs typeface="Times New Roman"/>
                </a:endParaRPr>
              </a:p>
            </p:txBody>
          </p:sp>
        </mc:Choice>
        <mc:Fallback xmlns="">
          <p:sp>
            <p:nvSpPr>
              <p:cNvPr id="10" name="Rounded Rectangle 9"/>
              <p:cNvSpPr>
                <a:spLocks noRot="1" noChangeAspect="1" noMove="1" noResize="1" noEditPoints="1" noAdjustHandles="1" noChangeArrowheads="1" noChangeShapeType="1" noTextEdit="1"/>
              </p:cNvSpPr>
              <p:nvPr/>
            </p:nvSpPr>
            <p:spPr>
              <a:xfrm>
                <a:off x="2463096" y="2893757"/>
                <a:ext cx="914400" cy="1400235"/>
              </a:xfrm>
              <a:prstGeom prst="roundRect">
                <a:avLst/>
              </a:prstGeom>
              <a:blipFill>
                <a:blip r:embed="rId6"/>
                <a:stretch>
                  <a:fillRect l="-658" b="-5628"/>
                </a:stretch>
              </a:blipFill>
              <a:ln>
                <a:solidFill>
                  <a:schemeClr val="tx1"/>
                </a:solidFill>
              </a:ln>
              <a:effectLst/>
            </p:spPr>
            <p:txBody>
              <a:bodyPr/>
              <a:lstStyle/>
              <a:p>
                <a:r>
                  <a:rPr lang="en-US">
                    <a:noFill/>
                  </a:rPr>
                  <a:t> </a:t>
                </a:r>
              </a:p>
            </p:txBody>
          </p:sp>
        </mc:Fallback>
      </mc:AlternateContent>
    </p:spTree>
    <p:extLst>
      <p:ext uri="{BB962C8B-B14F-4D97-AF65-F5344CB8AC3E}">
        <p14:creationId xmlns:p14="http://schemas.microsoft.com/office/powerpoint/2010/main" val="17011238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455984" y="2830158"/>
            <a:ext cx="5805616"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17520" y="2916936"/>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310639" y="-37211"/>
            <a:ext cx="1031725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9.5.5 Guided Practice: Rotations on the Coordinate Plane</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92016" y="25073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59558" y="1386025"/>
                <a:ext cx="1106833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Triangle </a:t>
                </a:r>
                <a14:m>
                  <m:oMath xmlns:m="http://schemas.openxmlformats.org/officeDocument/2006/math">
                    <m:r>
                      <a:rPr lang="en-US" sz="2000" i="1">
                        <a:latin typeface="Cambria Math" panose="02040503050406030204" pitchFamily="18" charset="0"/>
                        <a:ea typeface="Cambria Math" panose="02040503050406030204" pitchFamily="18" charset="0"/>
                      </a:rPr>
                      <m:t>𝑃𝑅𝑉</m:t>
                    </m:r>
                  </m:oMath>
                </a14:m>
                <a:r>
                  <a:rPr lang="en-US" sz="2000" dirty="0">
                    <a:latin typeface="Verdana" panose="020B0604030504040204" pitchFamily="34" charset="0"/>
                    <a:ea typeface="Verdana" panose="020B0604030504040204" pitchFamily="34" charset="0"/>
                    <a:cs typeface="Verdana" panose="020B0604030504040204" pitchFamily="34" charset="0"/>
                  </a:rPr>
                  <a:t> is plotted on the coordinate grid.</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59558" y="1386025"/>
                <a:ext cx="11068334" cy="400110"/>
              </a:xfrm>
              <a:prstGeom prst="rect">
                <a:avLst/>
              </a:prstGeom>
              <a:blipFill>
                <a:blip r:embed="rId5"/>
                <a:stretch>
                  <a:fillRect l="-688" t="-6061" b="-24242"/>
                </a:stretch>
              </a:blipFill>
            </p:spPr>
            <p:txBody>
              <a:bodyPr/>
              <a:lstStyle/>
              <a:p>
                <a:r>
                  <a:rPr lang="en-US">
                    <a:noFill/>
                  </a:rPr>
                  <a:t> </a:t>
                </a:r>
              </a:p>
            </p:txBody>
          </p:sp>
        </mc:Fallback>
      </mc:AlternateContent>
      <p:pic>
        <p:nvPicPr>
          <p:cNvPr id="9" name="Picture 8"/>
          <p:cNvPicPr/>
          <p:nvPr/>
        </p:nvPicPr>
        <p:blipFill>
          <a:blip r:embed="rId6" cstate="screen">
            <a:extLst>
              <a:ext uri="{28A0092B-C50C-407E-A947-70E740481C1C}">
                <a14:useLocalDpi xmlns:a14="http://schemas.microsoft.com/office/drawing/2010/main"/>
              </a:ext>
            </a:extLst>
          </a:blip>
          <a:srcRect/>
          <a:stretch>
            <a:fillRect/>
          </a:stretch>
        </p:blipFill>
        <p:spPr bwMode="auto">
          <a:xfrm>
            <a:off x="3634836" y="2052965"/>
            <a:ext cx="5178360" cy="4404709"/>
          </a:xfrm>
          <a:prstGeom prst="rect">
            <a:avLst/>
          </a:prstGeom>
          <a:noFill/>
          <a:ln>
            <a:noFill/>
          </a:ln>
        </p:spPr>
      </p:pic>
      <p:sp>
        <p:nvSpPr>
          <p:cNvPr id="11"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622300" y="520393"/>
                <a:ext cx="10972800" cy="3046988"/>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Rotate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𝑃𝑅𝑉</m:t>
                    </m:r>
                  </m:oMath>
                </a14:m>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270°</m:t>
                    </m:r>
                  </m:oMath>
                </a14:m>
                <a:r>
                  <a:rPr lang="en-US" sz="2400" dirty="0">
                    <a:latin typeface="Verdana" panose="020B0604030504040204" pitchFamily="34" charset="0"/>
                    <a:ea typeface="Verdana" panose="020B0604030504040204" pitchFamily="34" charset="0"/>
                    <a:cs typeface="Verdana" panose="020B0604030504040204" pitchFamily="34" charset="0"/>
                  </a:rPr>
                  <a:t> counterclockwise with the origin as the center of rotation. Label the image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𝑃</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𝑅</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𝑉</m:t>
                    </m:r>
                    <m:r>
                      <a:rPr lang="en-US" sz="2400" i="1">
                        <a:latin typeface="Cambria Math" panose="02040503050406030204" pitchFamily="18" charset="0"/>
                        <a:ea typeface="Cambria Math" panose="02040503050406030204" pitchFamily="18" charset="0"/>
                      </a:rPr>
                      <m:t>′</m:t>
                    </m:r>
                  </m:oMath>
                </a14:m>
                <a:r>
                  <a:rPr lang="en-US" sz="24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What is another way to describe the rotation performed in Part A?</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622300" y="520393"/>
                <a:ext cx="10972800" cy="3046988"/>
              </a:xfrm>
              <a:prstGeom prst="rect">
                <a:avLst/>
              </a:prstGeom>
              <a:blipFill>
                <a:blip r:embed="rId4"/>
                <a:stretch>
                  <a:fillRect t="-1800" r="-1000" b="-3600"/>
                </a:stretch>
              </a:blipFill>
            </p:spPr>
            <p:txBody>
              <a:bodyPr/>
              <a:lstStyle/>
              <a:p>
                <a:r>
                  <a:rPr lang="en-US">
                    <a:noFill/>
                  </a:rPr>
                  <a:t> </a:t>
                </a:r>
              </a:p>
            </p:txBody>
          </p:sp>
        </mc:Fallback>
      </mc:AlternateContent>
      <p:sp>
        <p:nvSpPr>
          <p:cNvPr id="6"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86</a:t>
            </a:r>
            <a:endParaRPr i="1" dirty="0">
              <a:latin typeface="Calibri"/>
              <a:ea typeface="Calibri"/>
              <a:cs typeface="Calibri"/>
              <a:sym typeface="Calibri"/>
            </a:endParaRPr>
          </a:p>
        </p:txBody>
      </p:sp>
    </p:spTree>
    <p:extLst>
      <p:ext uri="{BB962C8B-B14F-4D97-AF65-F5344CB8AC3E}">
        <p14:creationId xmlns:p14="http://schemas.microsoft.com/office/powerpoint/2010/main" val="18410228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312139" y="2762342"/>
            <a:ext cx="3941489"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17520" y="2916936"/>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475720"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308674" y="291079"/>
            <a:ext cx="9308152" cy="51654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9.5.6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94524" y="175702"/>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609600" y="1008137"/>
            <a:ext cx="9777984" cy="70788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Take a </a:t>
            </a:r>
            <a:r>
              <a:rPr lang="en-US" sz="2000" b="1" dirty="0">
                <a:latin typeface="Verdana" panose="020B0604030504040204" pitchFamily="34" charset="0"/>
                <a:ea typeface="Verdana" panose="020B0604030504040204" pitchFamily="34" charset="0"/>
                <a:cs typeface="Verdana" panose="020B0604030504040204" pitchFamily="34" charset="0"/>
              </a:rPr>
              <a:t>SELFIE </a:t>
            </a:r>
            <a:r>
              <a:rPr lang="en-US" sz="2000" dirty="0">
                <a:latin typeface="Verdana" panose="020B0604030504040204" pitchFamily="34" charset="0"/>
                <a:ea typeface="Verdana" panose="020B0604030504040204" pitchFamily="34" charset="0"/>
                <a:cs typeface="Verdana" panose="020B0604030504040204" pitchFamily="34" charset="0"/>
              </a:rPr>
              <a:t>by checking the box that best matches what you did today.</a:t>
            </a:r>
          </a:p>
        </p:txBody>
      </p:sp>
      <p:sp>
        <p:nvSpPr>
          <p:cNvPr id="10" name="Google Shape;282;g104476d1465_1_17"/>
          <p:cNvSpPr txBox="1"/>
          <p:nvPr/>
        </p:nvSpPr>
        <p:spPr>
          <a:xfrm>
            <a:off x="884224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87</a:t>
            </a:r>
            <a:endParaRPr i="1" dirty="0">
              <a:latin typeface="Calibri"/>
              <a:ea typeface="Calibri"/>
              <a:cs typeface="Calibri"/>
              <a:sym typeface="Calibri"/>
            </a:endParaRPr>
          </a:p>
        </p:txBody>
      </p:sp>
      <p:graphicFrame>
        <p:nvGraphicFramePr>
          <p:cNvPr id="5" name="Table 4"/>
          <p:cNvGraphicFramePr>
            <a:graphicFrameLocks noGrp="1"/>
          </p:cNvGraphicFramePr>
          <p:nvPr>
            <p:extLst>
              <p:ext uri="{D42A27DB-BD31-4B8C-83A1-F6EECF244321}">
                <p14:modId xmlns:p14="http://schemas.microsoft.com/office/powerpoint/2010/main" val="4269446976"/>
              </p:ext>
            </p:extLst>
          </p:nvPr>
        </p:nvGraphicFramePr>
        <p:xfrm>
          <a:off x="2649626" y="1851320"/>
          <a:ext cx="7196545" cy="4114800"/>
        </p:xfrm>
        <a:graphic>
          <a:graphicData uri="http://schemas.openxmlformats.org/drawingml/2006/table">
            <a:tbl>
              <a:tblPr bandRow="1"/>
              <a:tblGrid>
                <a:gridCol w="4572000">
                  <a:extLst>
                    <a:ext uri="{9D8B030D-6E8A-4147-A177-3AD203B41FA5}">
                      <a16:colId xmlns:a16="http://schemas.microsoft.com/office/drawing/2014/main" val="20000"/>
                    </a:ext>
                  </a:extLst>
                </a:gridCol>
                <a:gridCol w="2624545">
                  <a:extLst>
                    <a:ext uri="{9D8B030D-6E8A-4147-A177-3AD203B41FA5}">
                      <a16:colId xmlns:a16="http://schemas.microsoft.com/office/drawing/2014/main" val="20001"/>
                    </a:ext>
                  </a:extLst>
                </a:gridCol>
              </a:tblGrid>
              <a:tr h="685800">
                <a:tc>
                  <a:txBody>
                    <a:bodyPr/>
                    <a:lstStyle/>
                    <a:p>
                      <a:pPr>
                        <a:spcAft>
                          <a:spcPts val="0"/>
                        </a:spcAft>
                      </a:pPr>
                      <a:r>
                        <a:rPr lang="en-US" sz="2000" b="1" dirty="0">
                          <a:effectLst/>
                          <a:latin typeface="Verdana"/>
                          <a:ea typeface="Verdana"/>
                          <a:cs typeface="Verdana"/>
                        </a:rPr>
                        <a:t>S</a:t>
                      </a:r>
                      <a:r>
                        <a:rPr lang="en-US" sz="2000" dirty="0">
                          <a:effectLst/>
                          <a:latin typeface="Verdana"/>
                          <a:ea typeface="Verdana"/>
                          <a:cs typeface="Verdana"/>
                        </a:rPr>
                        <a:t>howed my work</a:t>
                      </a:r>
                      <a:endParaRPr lang="en-US" sz="2000" dirty="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dirty="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685800">
                <a:tc>
                  <a:txBody>
                    <a:bodyPr/>
                    <a:lstStyle/>
                    <a:p>
                      <a:pPr>
                        <a:spcAft>
                          <a:spcPts val="0"/>
                        </a:spcAft>
                      </a:pPr>
                      <a:r>
                        <a:rPr lang="en-US" sz="2000" b="1" dirty="0">
                          <a:effectLst/>
                          <a:latin typeface="Verdana"/>
                          <a:ea typeface="Verdana"/>
                          <a:cs typeface="Verdana"/>
                        </a:rPr>
                        <a:t>E</a:t>
                      </a:r>
                      <a:r>
                        <a:rPr lang="en-US" sz="2000" dirty="0">
                          <a:effectLst/>
                          <a:latin typeface="Verdana"/>
                          <a:ea typeface="Verdana"/>
                          <a:cs typeface="Verdana"/>
                        </a:rPr>
                        <a:t>xplained my answers</a:t>
                      </a:r>
                      <a:endParaRPr lang="en-US" sz="2000" dirty="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685800">
                <a:tc>
                  <a:txBody>
                    <a:bodyPr/>
                    <a:lstStyle/>
                    <a:p>
                      <a:pPr>
                        <a:spcAft>
                          <a:spcPts val="0"/>
                        </a:spcAft>
                      </a:pPr>
                      <a:r>
                        <a:rPr lang="en-US" sz="2000" b="1" dirty="0">
                          <a:effectLst/>
                          <a:latin typeface="Verdana"/>
                          <a:ea typeface="Verdana"/>
                          <a:cs typeface="Verdana"/>
                        </a:rPr>
                        <a:t>L</a:t>
                      </a:r>
                      <a:r>
                        <a:rPr lang="en-US" sz="2000" dirty="0">
                          <a:effectLst/>
                          <a:latin typeface="Verdana"/>
                          <a:ea typeface="Verdana"/>
                          <a:cs typeface="Verdana"/>
                        </a:rPr>
                        <a:t>ots of math vocabulary used</a:t>
                      </a:r>
                      <a:endParaRPr lang="en-US" sz="2000" dirty="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dirty="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685800">
                <a:tc>
                  <a:txBody>
                    <a:bodyPr/>
                    <a:lstStyle/>
                    <a:p>
                      <a:pPr>
                        <a:spcAft>
                          <a:spcPts val="0"/>
                        </a:spcAft>
                      </a:pPr>
                      <a:r>
                        <a:rPr lang="en-US" sz="2000" b="1" dirty="0">
                          <a:effectLst/>
                          <a:latin typeface="Verdana"/>
                          <a:ea typeface="Verdana"/>
                          <a:cs typeface="Verdana"/>
                        </a:rPr>
                        <a:t>F</a:t>
                      </a:r>
                      <a:r>
                        <a:rPr lang="en-US" sz="2000" dirty="0">
                          <a:effectLst/>
                          <a:latin typeface="Verdana"/>
                          <a:ea typeface="Verdana"/>
                          <a:cs typeface="Verdana"/>
                        </a:rPr>
                        <a:t>ound multiple solutions</a:t>
                      </a:r>
                      <a:endParaRPr lang="en-US" sz="2000" dirty="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dirty="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685800">
                <a:tc>
                  <a:txBody>
                    <a:bodyPr/>
                    <a:lstStyle/>
                    <a:p>
                      <a:pPr>
                        <a:spcAft>
                          <a:spcPts val="0"/>
                        </a:spcAft>
                      </a:pPr>
                      <a:r>
                        <a:rPr lang="en-US" sz="2000" b="1" dirty="0">
                          <a:effectLst/>
                          <a:latin typeface="Verdana"/>
                          <a:ea typeface="Verdana"/>
                          <a:cs typeface="Verdana"/>
                        </a:rPr>
                        <a:t>I</a:t>
                      </a:r>
                      <a:r>
                        <a:rPr lang="en-US" sz="2000" dirty="0">
                          <a:effectLst/>
                          <a:latin typeface="Verdana"/>
                          <a:ea typeface="Verdana"/>
                          <a:cs typeface="Verdana"/>
                        </a:rPr>
                        <a:t> persevered through the problem</a:t>
                      </a:r>
                      <a:endParaRPr lang="en-US" sz="2000" dirty="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dirty="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85800">
                <a:tc>
                  <a:txBody>
                    <a:bodyPr/>
                    <a:lstStyle/>
                    <a:p>
                      <a:pPr>
                        <a:spcAft>
                          <a:spcPts val="0"/>
                        </a:spcAft>
                      </a:pPr>
                      <a:r>
                        <a:rPr lang="en-US" sz="2000" b="1">
                          <a:effectLst/>
                          <a:latin typeface="Verdana"/>
                          <a:ea typeface="Verdana"/>
                          <a:cs typeface="Verdana"/>
                        </a:rPr>
                        <a:t>E</a:t>
                      </a:r>
                      <a:r>
                        <a:rPr lang="en-US" sz="2000">
                          <a:effectLst/>
                          <a:latin typeface="Verdana"/>
                          <a:ea typeface="Verdana"/>
                          <a:cs typeface="Verdana"/>
                        </a:rPr>
                        <a:t>liminated careless errors</a:t>
                      </a:r>
                      <a:endParaRPr lang="en-US" sz="2000">
                        <a:effectLst/>
                        <a:latin typeface="Times New Roman"/>
                        <a:ea typeface="Times New Roman"/>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endParaRPr lang="en-US" sz="2000" dirty="0">
                        <a:effectLst/>
                        <a:latin typeface="Verdana"/>
                        <a:ea typeface="Verdana"/>
                        <a:cs typeface="Verdana"/>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pic>
        <p:nvPicPr>
          <p:cNvPr id="1042"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1968598"/>
            <a:ext cx="1798638" cy="45720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2654398"/>
            <a:ext cx="1798638" cy="45720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3349723"/>
            <a:ext cx="1798638" cy="457200"/>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4025998"/>
            <a:ext cx="1798638" cy="457200"/>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4702273"/>
            <a:ext cx="1798638" cy="45720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18" descr="Description: A picture containing shape&#10;&#10;Description automatically generated"/>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665756" y="5416648"/>
            <a:ext cx="1798638" cy="45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2266</TotalTime>
  <Words>1264</Words>
  <Application>Microsoft Macintosh PowerPoint</Application>
  <PresentationFormat>Widescreen</PresentationFormat>
  <Paragraphs>215</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Wingdings</vt:lpstr>
      <vt:lpstr>Verdana</vt:lpstr>
      <vt:lpstr>Courier New</vt:lpstr>
      <vt:lpstr>Arial</vt:lpstr>
      <vt:lpstr>Century Gothic</vt:lpstr>
      <vt:lpstr>Times New Roman</vt:lpstr>
      <vt:lpstr>Calibri</vt:lpstr>
      <vt:lpstr>Arial Black</vt:lpstr>
      <vt:lpstr>Cambria Math</vt:lpstr>
      <vt:lpstr>1_Office Theme</vt:lpstr>
      <vt:lpstr>8th Grade Math: Pre-Algebra  Unit 9, Lesson 5  Rotations on the Coordinate Plane  Volume 2, pg. 82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Guided Practice</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Diana Barnett</cp:lastModifiedBy>
  <cp:revision>44</cp:revision>
  <dcterms:created xsi:type="dcterms:W3CDTF">2015-03-17T18:51:18Z</dcterms:created>
  <dcterms:modified xsi:type="dcterms:W3CDTF">2023-02-09T17:43:23Z</dcterms:modified>
</cp:coreProperties>
</file>