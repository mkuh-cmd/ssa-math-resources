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6"/>
  </p:notesMasterIdLst>
  <p:sldIdLst>
    <p:sldId id="256" r:id="rId2"/>
    <p:sldId id="257" r:id="rId3"/>
    <p:sldId id="285" r:id="rId4"/>
    <p:sldId id="286" r:id="rId5"/>
    <p:sldId id="261" r:id="rId6"/>
    <p:sldId id="287" r:id="rId7"/>
    <p:sldId id="311" r:id="rId8"/>
    <p:sldId id="312" r:id="rId9"/>
    <p:sldId id="288" r:id="rId10"/>
    <p:sldId id="353" r:id="rId11"/>
    <p:sldId id="363" r:id="rId12"/>
    <p:sldId id="364" r:id="rId13"/>
    <p:sldId id="365" r:id="rId14"/>
    <p:sldId id="314" r:id="rId15"/>
    <p:sldId id="315" r:id="rId16"/>
    <p:sldId id="352" r:id="rId17"/>
    <p:sldId id="366" r:id="rId18"/>
    <p:sldId id="367" r:id="rId19"/>
    <p:sldId id="323" r:id="rId20"/>
    <p:sldId id="324" r:id="rId21"/>
    <p:sldId id="357" r:id="rId22"/>
    <p:sldId id="368" r:id="rId23"/>
    <p:sldId id="306" r:id="rId24"/>
    <p:sldId id="307" r:id="rId25"/>
  </p:sldIdLst>
  <p:sldSz cx="12192000" cy="6858000"/>
  <p:notesSz cx="6858000" cy="9144000"/>
  <p:embeddedFontLst>
    <p:embeddedFont>
      <p:font typeface="Arial Black" panose="020B0A04020102020204" pitchFamily="34" charset="0"/>
      <p:bold r:id="rId27"/>
    </p:embeddedFont>
    <p:embeddedFont>
      <p:font typeface="Calibri" panose="020F0502020204030204" pitchFamily="34" charset="0"/>
      <p:regular r:id="rId28"/>
      <p:bold r:id="rId29"/>
      <p:italic r:id="rId30"/>
      <p:boldItalic r:id="rId31"/>
    </p:embeddedFont>
    <p:embeddedFont>
      <p:font typeface="Cambria Math" panose="02040503050406030204" pitchFamily="18" charset="0"/>
      <p:regular r:id="rId32"/>
    </p:embeddedFont>
    <p:embeddedFont>
      <p:font typeface="Century Gothic" panose="020B0502020202020204" pitchFamily="34" charset="0"/>
      <p:regular r:id="rId33"/>
      <p:bold r:id="rId34"/>
      <p:italic r:id="rId35"/>
      <p:boldItalic r:id="rId36"/>
    </p:embeddedFont>
    <p:embeddedFont>
      <p:font typeface="Verdana" panose="020B0604030504040204" pitchFamily="34" charset="0"/>
      <p:regular r:id="rId37"/>
      <p:bold r:id="rId38"/>
      <p:italic r:id="rId39"/>
      <p:boldItalic r:id="rId4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5" roundtripDataSignature="AMtx7miXGu+iP6Z2M0kNO/4dLqrShsAMT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465B0"/>
    <a:srgbClr val="DA4487"/>
    <a:srgbClr val="276C46"/>
    <a:srgbClr val="C9DF6F"/>
    <a:srgbClr val="417DBF"/>
    <a:srgbClr val="3F2A67"/>
    <a:srgbClr val="E24E5F"/>
    <a:srgbClr val="26B7D4"/>
    <a:srgbClr val="54B5D1"/>
    <a:srgbClr val="33BEA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A91F0D33-8C57-4600-99A7-42BC86742BE1}">
  <a:tblStyle styleId="{A91F0D33-8C57-4600-99A7-42BC86742BE1}"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7392" autoAdjust="0"/>
    <p:restoredTop sz="94707" autoAdjust="0"/>
  </p:normalViewPr>
  <p:slideViewPr>
    <p:cSldViewPr snapToGrid="0">
      <p:cViewPr varScale="1">
        <p:scale>
          <a:sx n="86" d="100"/>
          <a:sy n="86" d="100"/>
        </p:scale>
        <p:origin x="1020" y="78"/>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9" Type="http://schemas.openxmlformats.org/officeDocument/2006/relationships/font" Target="fonts/font13.fntdata"/><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font" Target="fonts/font8.fntdata"/><Relationship Id="rId55" Type="http://customschemas.google.com/relationships/presentationmetadata" Target="meta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7.fntdata"/><Relationship Id="rId38" Type="http://schemas.openxmlformats.org/officeDocument/2006/relationships/font" Target="fonts/font12.fntdata"/><Relationship Id="rId59"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3.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6.fntdata"/><Relationship Id="rId37" Type="http://schemas.openxmlformats.org/officeDocument/2006/relationships/font" Target="fonts/font11.fntdata"/><Relationship Id="rId40" Type="http://schemas.openxmlformats.org/officeDocument/2006/relationships/font" Target="fonts/font14.fntdata"/><Relationship Id="rId58"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2.fntdata"/><Relationship Id="rId36" Type="http://schemas.openxmlformats.org/officeDocument/2006/relationships/font" Target="fonts/font10.fntdata"/><Relationship Id="rId57"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5.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1.fntdata"/><Relationship Id="rId30" Type="http://schemas.openxmlformats.org/officeDocument/2006/relationships/font" Target="fonts/font4.fntdata"/><Relationship Id="rId35" Type="http://schemas.openxmlformats.org/officeDocument/2006/relationships/font" Target="fonts/font9.fntdata"/><Relationship Id="rId56"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342639898"/>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
        <p:cNvGrpSpPr/>
        <p:nvPr/>
      </p:nvGrpSpPr>
      <p:grpSpPr>
        <a:xfrm>
          <a:off x="0" y="0"/>
          <a:ext cx="0" cy="0"/>
          <a:chOff x="0" y="0"/>
          <a:chExt cx="0" cy="0"/>
        </a:xfrm>
      </p:grpSpPr>
      <p:sp>
        <p:nvSpPr>
          <p:cNvPr id="257" name="Google Shape;257;g104476d146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8" name="Google Shape;258;g104476d1465_0_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60714582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a:t>
            </a:fld>
            <a:endParaRPr/>
          </a:p>
        </p:txBody>
      </p:sp>
    </p:spTree>
    <p:extLst>
      <p:ext uri="{BB962C8B-B14F-4D97-AF65-F5344CB8AC3E}">
        <p14:creationId xmlns:p14="http://schemas.microsoft.com/office/powerpoint/2010/main" val="301995709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3</a:t>
            </a:fld>
            <a:endParaRPr/>
          </a:p>
        </p:txBody>
      </p:sp>
    </p:spTree>
    <p:extLst>
      <p:ext uri="{BB962C8B-B14F-4D97-AF65-F5344CB8AC3E}">
        <p14:creationId xmlns:p14="http://schemas.microsoft.com/office/powerpoint/2010/main" val="23286833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4</a:t>
            </a:fld>
            <a:endParaRPr/>
          </a:p>
        </p:txBody>
      </p:sp>
    </p:spTree>
    <p:extLst>
      <p:ext uri="{BB962C8B-B14F-4D97-AF65-F5344CB8AC3E}">
        <p14:creationId xmlns:p14="http://schemas.microsoft.com/office/powerpoint/2010/main" val="174684046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extLst>
      <p:ext uri="{BB962C8B-B14F-4D97-AF65-F5344CB8AC3E}">
        <p14:creationId xmlns:p14="http://schemas.microsoft.com/office/powerpoint/2010/main" val="114119627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6</a:t>
            </a:fld>
            <a:endParaRPr/>
          </a:p>
        </p:txBody>
      </p:sp>
    </p:spTree>
    <p:extLst>
      <p:ext uri="{BB962C8B-B14F-4D97-AF65-F5344CB8AC3E}">
        <p14:creationId xmlns:p14="http://schemas.microsoft.com/office/powerpoint/2010/main" val="158337895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7</a:t>
            </a:fld>
            <a:endParaRPr/>
          </a:p>
        </p:txBody>
      </p:sp>
    </p:spTree>
    <p:extLst>
      <p:ext uri="{BB962C8B-B14F-4D97-AF65-F5344CB8AC3E}">
        <p14:creationId xmlns:p14="http://schemas.microsoft.com/office/powerpoint/2010/main" val="250524138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8</a:t>
            </a:fld>
            <a:endParaRPr/>
          </a:p>
        </p:txBody>
      </p:sp>
    </p:spTree>
    <p:extLst>
      <p:ext uri="{BB962C8B-B14F-4D97-AF65-F5344CB8AC3E}">
        <p14:creationId xmlns:p14="http://schemas.microsoft.com/office/powerpoint/2010/main" val="112050934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9</a:t>
            </a:fld>
            <a:endParaRPr/>
          </a:p>
        </p:txBody>
      </p:sp>
    </p:spTree>
    <p:extLst>
      <p:ext uri="{BB962C8B-B14F-4D97-AF65-F5344CB8AC3E}">
        <p14:creationId xmlns:p14="http://schemas.microsoft.com/office/powerpoint/2010/main" val="306399360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10</a:t>
            </a:fld>
            <a:endParaRPr/>
          </a:p>
        </p:txBody>
      </p:sp>
    </p:spTree>
    <p:extLst>
      <p:ext uri="{BB962C8B-B14F-4D97-AF65-F5344CB8AC3E}">
        <p14:creationId xmlns:p14="http://schemas.microsoft.com/office/powerpoint/2010/main" val="285165060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11</a:t>
            </a:fld>
            <a:endParaRPr/>
          </a:p>
        </p:txBody>
      </p:sp>
    </p:spTree>
    <p:extLst>
      <p:ext uri="{BB962C8B-B14F-4D97-AF65-F5344CB8AC3E}">
        <p14:creationId xmlns:p14="http://schemas.microsoft.com/office/powerpoint/2010/main" val="199908682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12</a:t>
            </a:fld>
            <a:endParaRPr/>
          </a:p>
        </p:txBody>
      </p:sp>
    </p:spTree>
    <p:extLst>
      <p:ext uri="{BB962C8B-B14F-4D97-AF65-F5344CB8AC3E}">
        <p14:creationId xmlns:p14="http://schemas.microsoft.com/office/powerpoint/2010/main" val="405618535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13</a:t>
            </a:fld>
            <a:endParaRPr/>
          </a:p>
        </p:txBody>
      </p:sp>
    </p:spTree>
    <p:extLst>
      <p:ext uri="{BB962C8B-B14F-4D97-AF65-F5344CB8AC3E}">
        <p14:creationId xmlns:p14="http://schemas.microsoft.com/office/powerpoint/2010/main" val="311467366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14</a:t>
            </a:fld>
            <a:endParaRPr/>
          </a:p>
        </p:txBody>
      </p:sp>
    </p:spTree>
    <p:extLst>
      <p:ext uri="{BB962C8B-B14F-4D97-AF65-F5344CB8AC3E}">
        <p14:creationId xmlns:p14="http://schemas.microsoft.com/office/powerpoint/2010/main" val="25803800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15</a:t>
            </a:fld>
            <a:endParaRPr/>
          </a:p>
        </p:txBody>
      </p:sp>
    </p:spTree>
    <p:extLst>
      <p:ext uri="{BB962C8B-B14F-4D97-AF65-F5344CB8AC3E}">
        <p14:creationId xmlns:p14="http://schemas.microsoft.com/office/powerpoint/2010/main" val="263999061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16</a:t>
            </a:fld>
            <a:endParaRPr/>
          </a:p>
        </p:txBody>
      </p:sp>
    </p:spTree>
    <p:extLst>
      <p:ext uri="{BB962C8B-B14F-4D97-AF65-F5344CB8AC3E}">
        <p14:creationId xmlns:p14="http://schemas.microsoft.com/office/powerpoint/2010/main" val="208931687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17</a:t>
            </a:fld>
            <a:endParaRPr/>
          </a:p>
        </p:txBody>
      </p:sp>
    </p:spTree>
    <p:extLst>
      <p:ext uri="{BB962C8B-B14F-4D97-AF65-F5344CB8AC3E}">
        <p14:creationId xmlns:p14="http://schemas.microsoft.com/office/powerpoint/2010/main" val="76384159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18</a:t>
            </a:fld>
            <a:endParaRPr/>
          </a:p>
        </p:txBody>
      </p:sp>
    </p:spTree>
    <p:extLst>
      <p:ext uri="{BB962C8B-B14F-4D97-AF65-F5344CB8AC3E}">
        <p14:creationId xmlns:p14="http://schemas.microsoft.com/office/powerpoint/2010/main" val="410476058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19</a:t>
            </a:fld>
            <a:endParaRPr/>
          </a:p>
        </p:txBody>
      </p:sp>
    </p:spTree>
    <p:extLst>
      <p:ext uri="{BB962C8B-B14F-4D97-AF65-F5344CB8AC3E}">
        <p14:creationId xmlns:p14="http://schemas.microsoft.com/office/powerpoint/2010/main" val="122880882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20</a:t>
            </a:fld>
            <a:endParaRPr/>
          </a:p>
        </p:txBody>
      </p:sp>
    </p:spTree>
    <p:extLst>
      <p:ext uri="{BB962C8B-B14F-4D97-AF65-F5344CB8AC3E}">
        <p14:creationId xmlns:p14="http://schemas.microsoft.com/office/powerpoint/2010/main" val="193539210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21</a:t>
            </a:fld>
            <a:endParaRPr/>
          </a:p>
        </p:txBody>
      </p:sp>
    </p:spTree>
    <p:extLst>
      <p:ext uri="{BB962C8B-B14F-4D97-AF65-F5344CB8AC3E}">
        <p14:creationId xmlns:p14="http://schemas.microsoft.com/office/powerpoint/2010/main" val="285063218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22</a:t>
            </a:fld>
            <a:endParaRPr/>
          </a:p>
        </p:txBody>
      </p:sp>
    </p:spTree>
    <p:extLst>
      <p:ext uri="{BB962C8B-B14F-4D97-AF65-F5344CB8AC3E}">
        <p14:creationId xmlns:p14="http://schemas.microsoft.com/office/powerpoint/2010/main" val="153144718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23</a:t>
            </a:fld>
            <a:endParaRPr/>
          </a:p>
        </p:txBody>
      </p:sp>
    </p:spTree>
    <p:extLst>
      <p:ext uri="{BB962C8B-B14F-4D97-AF65-F5344CB8AC3E}">
        <p14:creationId xmlns:p14="http://schemas.microsoft.com/office/powerpoint/2010/main" val="71668810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24</a:t>
            </a:fld>
            <a:endParaRPr/>
          </a:p>
        </p:txBody>
      </p:sp>
    </p:spTree>
    <p:extLst>
      <p:ext uri="{BB962C8B-B14F-4D97-AF65-F5344CB8AC3E}">
        <p14:creationId xmlns:p14="http://schemas.microsoft.com/office/powerpoint/2010/main" val="193732810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1_Title Slide">
  <p:cSld name="1_Title Slide">
    <p:bg>
      <p:bgPr>
        <a:blipFill>
          <a:blip r:embed="rId2" cstate="screen">
            <a:alphaModFix/>
            <a:extLst>
              <a:ext uri="{28A0092B-C50C-407E-A947-70E740481C1C}">
                <a14:useLocalDpi xmlns:a14="http://schemas.microsoft.com/office/drawing/2010/main"/>
              </a:ext>
            </a:extLst>
          </a:blip>
          <a:stretch>
            <a:fillRect/>
          </a:stretch>
        </a:blipFill>
        <a:effectLst/>
      </p:bgPr>
    </p:bg>
    <p:spTree>
      <p:nvGrpSpPr>
        <p:cNvPr id="1" name="Shape 15"/>
        <p:cNvGrpSpPr/>
        <p:nvPr/>
      </p:nvGrpSpPr>
      <p:grpSpPr>
        <a:xfrm>
          <a:off x="0" y="0"/>
          <a:ext cx="0" cy="0"/>
          <a:chOff x="0" y="0"/>
          <a:chExt cx="0" cy="0"/>
        </a:xfrm>
      </p:grpSpPr>
      <p:sp>
        <p:nvSpPr>
          <p:cNvPr id="16" name="Google Shape;16;p56"/>
          <p:cNvSpPr txBox="1">
            <a:spLocks noGrp="1"/>
          </p:cNvSpPr>
          <p:nvPr>
            <p:ph type="ctrTitle"/>
          </p:nvPr>
        </p:nvSpPr>
        <p:spPr>
          <a:xfrm>
            <a:off x="5299677" y="1070919"/>
            <a:ext cx="6526000" cy="3618000"/>
          </a:xfrm>
          <a:prstGeom prst="rect">
            <a:avLst/>
          </a:prstGeom>
          <a:noFill/>
          <a:ln>
            <a:noFill/>
          </a:ln>
        </p:spPr>
        <p:txBody>
          <a:bodyPr spcFirstLastPara="1" wrap="square" lIns="91425" tIns="91425" rIns="91425" bIns="91425" anchor="b" anchorCtr="0">
            <a:normAutofit/>
          </a:bodyPr>
          <a:lstStyle>
            <a:lvl1pPr lvl="0" algn="l" rtl="0">
              <a:lnSpc>
                <a:spcPct val="90000"/>
              </a:lnSpc>
              <a:spcBef>
                <a:spcPts val="0"/>
              </a:spcBef>
              <a:spcAft>
                <a:spcPts val="0"/>
              </a:spcAft>
              <a:buClr>
                <a:srgbClr val="FFFFFF"/>
              </a:buClr>
              <a:buSzPts val="3000"/>
              <a:buFont typeface="Arial Black"/>
              <a:buNone/>
              <a:defRPr sz="3000">
                <a:solidFill>
                  <a:srgbClr val="FFFFFF"/>
                </a:solidFill>
                <a:latin typeface="Arial Black"/>
                <a:ea typeface="Arial Black"/>
                <a:cs typeface="Arial Black"/>
                <a:sym typeface="Arial Black"/>
              </a:defRPr>
            </a:lvl1pPr>
            <a:lvl2pPr lvl="1" rtl="0">
              <a:spcBef>
                <a:spcPts val="0"/>
              </a:spcBef>
              <a:spcAft>
                <a:spcPts val="0"/>
              </a:spcAft>
              <a:buSzPts val="1400"/>
              <a:buNone/>
              <a:defRPr sz="7200"/>
            </a:lvl2pPr>
            <a:lvl3pPr lvl="2" rtl="0">
              <a:spcBef>
                <a:spcPts val="0"/>
              </a:spcBef>
              <a:spcAft>
                <a:spcPts val="0"/>
              </a:spcAft>
              <a:buSzPts val="1400"/>
              <a:buNone/>
              <a:defRPr sz="7200"/>
            </a:lvl3pPr>
            <a:lvl4pPr lvl="3" rtl="0">
              <a:spcBef>
                <a:spcPts val="0"/>
              </a:spcBef>
              <a:spcAft>
                <a:spcPts val="0"/>
              </a:spcAft>
              <a:buSzPts val="1400"/>
              <a:buNone/>
              <a:defRPr sz="7200"/>
            </a:lvl4pPr>
            <a:lvl5pPr lvl="4" rtl="0">
              <a:spcBef>
                <a:spcPts val="0"/>
              </a:spcBef>
              <a:spcAft>
                <a:spcPts val="0"/>
              </a:spcAft>
              <a:buSzPts val="1400"/>
              <a:buNone/>
              <a:defRPr sz="7200"/>
            </a:lvl5pPr>
            <a:lvl6pPr lvl="5" rtl="0">
              <a:spcBef>
                <a:spcPts val="0"/>
              </a:spcBef>
              <a:spcAft>
                <a:spcPts val="0"/>
              </a:spcAft>
              <a:buSzPts val="1400"/>
              <a:buNone/>
              <a:defRPr sz="7200"/>
            </a:lvl6pPr>
            <a:lvl7pPr lvl="6" rtl="0">
              <a:spcBef>
                <a:spcPts val="0"/>
              </a:spcBef>
              <a:spcAft>
                <a:spcPts val="0"/>
              </a:spcAft>
              <a:buSzPts val="1400"/>
              <a:buNone/>
              <a:defRPr sz="7200"/>
            </a:lvl7pPr>
            <a:lvl8pPr lvl="7" rtl="0">
              <a:spcBef>
                <a:spcPts val="0"/>
              </a:spcBef>
              <a:spcAft>
                <a:spcPts val="0"/>
              </a:spcAft>
              <a:buSzPts val="1400"/>
              <a:buNone/>
              <a:defRPr sz="7200"/>
            </a:lvl8pPr>
            <a:lvl9pPr lvl="8" rtl="0">
              <a:spcBef>
                <a:spcPts val="0"/>
              </a:spcBef>
              <a:spcAft>
                <a:spcPts val="0"/>
              </a:spcAft>
              <a:buSzPts val="1400"/>
              <a:buNone/>
              <a:defRPr sz="72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7"/>
        <p:cNvGrpSpPr/>
        <p:nvPr/>
      </p:nvGrpSpPr>
      <p:grpSpPr>
        <a:xfrm>
          <a:off x="0" y="0"/>
          <a:ext cx="0" cy="0"/>
          <a:chOff x="0" y="0"/>
          <a:chExt cx="0" cy="0"/>
        </a:xfrm>
      </p:grpSpPr>
      <p:sp>
        <p:nvSpPr>
          <p:cNvPr id="18" name="Google Shape;18;p77"/>
          <p:cNvSpPr txBox="1">
            <a:spLocks noGrp="1"/>
          </p:cNvSpPr>
          <p:nvPr>
            <p:ph type="ctrTitle"/>
          </p:nvPr>
        </p:nvSpPr>
        <p:spPr>
          <a:xfrm>
            <a:off x="1524000" y="1122363"/>
            <a:ext cx="9144000" cy="2387700"/>
          </a:xfrm>
          <a:prstGeom prst="rect">
            <a:avLst/>
          </a:prstGeom>
          <a:noFill/>
          <a:ln>
            <a:noFill/>
          </a:ln>
        </p:spPr>
        <p:txBody>
          <a:bodyPr spcFirstLastPara="1" wrap="square" lIns="91425" tIns="45700" rIns="91425" bIns="45700" anchor="b" anchorCtr="0">
            <a:normAutofit/>
          </a:bodyPr>
          <a:lstStyle>
            <a:lvl1pPr lvl="0" algn="ctr"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9" name="Google Shape;19;p77"/>
          <p:cNvSpPr txBox="1">
            <a:spLocks noGrp="1"/>
          </p:cNvSpPr>
          <p:nvPr>
            <p:ph type="subTitle" idx="1"/>
          </p:nvPr>
        </p:nvSpPr>
        <p:spPr>
          <a:xfrm>
            <a:off x="1524000" y="3602038"/>
            <a:ext cx="9144000" cy="1655700"/>
          </a:xfrm>
          <a:prstGeom prst="rect">
            <a:avLst/>
          </a:prstGeom>
          <a:noFill/>
          <a:ln>
            <a:noFill/>
          </a:ln>
        </p:spPr>
        <p:txBody>
          <a:bodyPr spcFirstLastPara="1" wrap="square" lIns="91425" tIns="45700" rIns="91425" bIns="45700" anchor="t" anchorCtr="0">
            <a:normAutofit/>
          </a:bodyPr>
          <a:lstStyle>
            <a:lvl1pPr lvl="0" algn="ctr" rtl="0">
              <a:lnSpc>
                <a:spcPct val="90000"/>
              </a:lnSpc>
              <a:spcBef>
                <a:spcPts val="750"/>
              </a:spcBef>
              <a:spcAft>
                <a:spcPts val="0"/>
              </a:spcAft>
              <a:buClr>
                <a:schemeClr val="dk1"/>
              </a:buClr>
              <a:buSzPts val="1800"/>
              <a:buNone/>
              <a:defRPr sz="1800"/>
            </a:lvl1pPr>
            <a:lvl2pPr lvl="1" algn="ctr" rtl="0">
              <a:lnSpc>
                <a:spcPct val="90000"/>
              </a:lnSpc>
              <a:spcBef>
                <a:spcPts val="375"/>
              </a:spcBef>
              <a:spcAft>
                <a:spcPts val="0"/>
              </a:spcAft>
              <a:buClr>
                <a:schemeClr val="dk1"/>
              </a:buClr>
              <a:buSzPts val="1500"/>
              <a:buNone/>
              <a:defRPr sz="1500"/>
            </a:lvl2pPr>
            <a:lvl3pPr lvl="2" algn="ctr" rtl="0">
              <a:lnSpc>
                <a:spcPct val="90000"/>
              </a:lnSpc>
              <a:spcBef>
                <a:spcPts val="375"/>
              </a:spcBef>
              <a:spcAft>
                <a:spcPts val="0"/>
              </a:spcAft>
              <a:buClr>
                <a:schemeClr val="dk1"/>
              </a:buClr>
              <a:buSzPts val="1350"/>
              <a:buNone/>
              <a:defRPr sz="1350"/>
            </a:lvl3pPr>
            <a:lvl4pPr lvl="3" algn="ctr" rtl="0">
              <a:lnSpc>
                <a:spcPct val="90000"/>
              </a:lnSpc>
              <a:spcBef>
                <a:spcPts val="375"/>
              </a:spcBef>
              <a:spcAft>
                <a:spcPts val="0"/>
              </a:spcAft>
              <a:buClr>
                <a:schemeClr val="dk1"/>
              </a:buClr>
              <a:buSzPts val="1200"/>
              <a:buNone/>
              <a:defRPr sz="1200"/>
            </a:lvl4pPr>
            <a:lvl5pPr lvl="4" algn="ctr" rtl="0">
              <a:lnSpc>
                <a:spcPct val="90000"/>
              </a:lnSpc>
              <a:spcBef>
                <a:spcPts val="375"/>
              </a:spcBef>
              <a:spcAft>
                <a:spcPts val="0"/>
              </a:spcAft>
              <a:buClr>
                <a:schemeClr val="dk1"/>
              </a:buClr>
              <a:buSzPts val="1200"/>
              <a:buNone/>
              <a:defRPr sz="1200"/>
            </a:lvl5pPr>
            <a:lvl6pPr lvl="5" algn="ctr" rtl="0">
              <a:lnSpc>
                <a:spcPct val="90000"/>
              </a:lnSpc>
              <a:spcBef>
                <a:spcPts val="375"/>
              </a:spcBef>
              <a:spcAft>
                <a:spcPts val="0"/>
              </a:spcAft>
              <a:buClr>
                <a:schemeClr val="dk1"/>
              </a:buClr>
              <a:buSzPts val="1200"/>
              <a:buNone/>
              <a:defRPr sz="1200"/>
            </a:lvl6pPr>
            <a:lvl7pPr lvl="6" algn="ctr" rtl="0">
              <a:lnSpc>
                <a:spcPct val="90000"/>
              </a:lnSpc>
              <a:spcBef>
                <a:spcPts val="375"/>
              </a:spcBef>
              <a:spcAft>
                <a:spcPts val="0"/>
              </a:spcAft>
              <a:buClr>
                <a:schemeClr val="dk1"/>
              </a:buClr>
              <a:buSzPts val="1200"/>
              <a:buNone/>
              <a:defRPr sz="1200"/>
            </a:lvl7pPr>
            <a:lvl8pPr lvl="7" algn="ctr" rtl="0">
              <a:lnSpc>
                <a:spcPct val="90000"/>
              </a:lnSpc>
              <a:spcBef>
                <a:spcPts val="375"/>
              </a:spcBef>
              <a:spcAft>
                <a:spcPts val="0"/>
              </a:spcAft>
              <a:buClr>
                <a:schemeClr val="dk1"/>
              </a:buClr>
              <a:buSzPts val="1200"/>
              <a:buNone/>
              <a:defRPr sz="1200"/>
            </a:lvl8pPr>
            <a:lvl9pPr lvl="8" algn="ctr" rtl="0">
              <a:lnSpc>
                <a:spcPct val="90000"/>
              </a:lnSpc>
              <a:spcBef>
                <a:spcPts val="375"/>
              </a:spcBef>
              <a:spcAft>
                <a:spcPts val="0"/>
              </a:spcAft>
              <a:buClr>
                <a:schemeClr val="dk1"/>
              </a:buClr>
              <a:buSzPts val="1200"/>
              <a:buNone/>
              <a:defRPr sz="1200"/>
            </a:lvl9pPr>
          </a:lstStyle>
          <a:p>
            <a:endParaRPr/>
          </a:p>
        </p:txBody>
      </p:sp>
      <p:sp>
        <p:nvSpPr>
          <p:cNvPr id="20" name="Google Shape;20;p7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1" name="Google Shape;21;p7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2" name="Google Shape;22;p7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3"/>
        <p:cNvGrpSpPr/>
        <p:nvPr/>
      </p:nvGrpSpPr>
      <p:grpSpPr>
        <a:xfrm>
          <a:off x="0" y="0"/>
          <a:ext cx="0" cy="0"/>
          <a:chOff x="0" y="0"/>
          <a:chExt cx="0" cy="0"/>
        </a:xfrm>
      </p:grpSpPr>
      <p:sp>
        <p:nvSpPr>
          <p:cNvPr id="24" name="Google Shape;24;p78"/>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5" name="Google Shape;25;p78"/>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26" name="Google Shape;26;p78"/>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7" name="Google Shape;27;p78"/>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8" name="Google Shape;28;p78"/>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9"/>
        <p:cNvGrpSpPr/>
        <p:nvPr/>
      </p:nvGrpSpPr>
      <p:grpSpPr>
        <a:xfrm>
          <a:off x="0" y="0"/>
          <a:ext cx="0" cy="0"/>
          <a:chOff x="0" y="0"/>
          <a:chExt cx="0" cy="0"/>
        </a:xfrm>
      </p:grpSpPr>
      <p:sp>
        <p:nvSpPr>
          <p:cNvPr id="30" name="Google Shape;30;p79"/>
          <p:cNvSpPr txBox="1">
            <a:spLocks noGrp="1"/>
          </p:cNvSpPr>
          <p:nvPr>
            <p:ph type="title"/>
          </p:nvPr>
        </p:nvSpPr>
        <p:spPr>
          <a:xfrm>
            <a:off x="831851" y="1709739"/>
            <a:ext cx="10515600" cy="28527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1" name="Google Shape;31;p79"/>
          <p:cNvSpPr txBox="1">
            <a:spLocks noGrp="1"/>
          </p:cNvSpPr>
          <p:nvPr>
            <p:ph type="body" idx="1"/>
          </p:nvPr>
        </p:nvSpPr>
        <p:spPr>
          <a:xfrm>
            <a:off x="831851" y="4589464"/>
            <a:ext cx="10515600" cy="15003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rgbClr val="888888"/>
              </a:buClr>
              <a:buSzPts val="1800"/>
              <a:buNone/>
              <a:defRPr sz="1800">
                <a:solidFill>
                  <a:srgbClr val="888888"/>
                </a:solidFill>
              </a:defRPr>
            </a:lvl1pPr>
            <a:lvl2pPr marL="914400" lvl="1" indent="-228600" algn="l" rtl="0">
              <a:lnSpc>
                <a:spcPct val="90000"/>
              </a:lnSpc>
              <a:spcBef>
                <a:spcPts val="375"/>
              </a:spcBef>
              <a:spcAft>
                <a:spcPts val="0"/>
              </a:spcAft>
              <a:buClr>
                <a:srgbClr val="888888"/>
              </a:buClr>
              <a:buSzPts val="1500"/>
              <a:buNone/>
              <a:defRPr sz="1500">
                <a:solidFill>
                  <a:srgbClr val="888888"/>
                </a:solidFill>
              </a:defRPr>
            </a:lvl2pPr>
            <a:lvl3pPr marL="1371600" lvl="2" indent="-228600" algn="l" rtl="0">
              <a:lnSpc>
                <a:spcPct val="90000"/>
              </a:lnSpc>
              <a:spcBef>
                <a:spcPts val="375"/>
              </a:spcBef>
              <a:spcAft>
                <a:spcPts val="0"/>
              </a:spcAft>
              <a:buClr>
                <a:srgbClr val="888888"/>
              </a:buClr>
              <a:buSzPts val="1350"/>
              <a:buNone/>
              <a:defRPr sz="1350">
                <a:solidFill>
                  <a:srgbClr val="888888"/>
                </a:solidFill>
              </a:defRPr>
            </a:lvl3pPr>
            <a:lvl4pPr marL="1828800" lvl="3" indent="-228600" algn="l" rtl="0">
              <a:lnSpc>
                <a:spcPct val="90000"/>
              </a:lnSpc>
              <a:spcBef>
                <a:spcPts val="375"/>
              </a:spcBef>
              <a:spcAft>
                <a:spcPts val="0"/>
              </a:spcAft>
              <a:buClr>
                <a:srgbClr val="888888"/>
              </a:buClr>
              <a:buSzPts val="1200"/>
              <a:buNone/>
              <a:defRPr sz="1200">
                <a:solidFill>
                  <a:srgbClr val="888888"/>
                </a:solidFill>
              </a:defRPr>
            </a:lvl4pPr>
            <a:lvl5pPr marL="2286000" lvl="4" indent="-228600" algn="l" rtl="0">
              <a:lnSpc>
                <a:spcPct val="90000"/>
              </a:lnSpc>
              <a:spcBef>
                <a:spcPts val="375"/>
              </a:spcBef>
              <a:spcAft>
                <a:spcPts val="0"/>
              </a:spcAft>
              <a:buClr>
                <a:srgbClr val="888888"/>
              </a:buClr>
              <a:buSzPts val="1200"/>
              <a:buNone/>
              <a:defRPr sz="1200">
                <a:solidFill>
                  <a:srgbClr val="888888"/>
                </a:solidFill>
              </a:defRPr>
            </a:lvl5pPr>
            <a:lvl6pPr marL="2743200" lvl="5" indent="-228600" algn="l" rtl="0">
              <a:lnSpc>
                <a:spcPct val="90000"/>
              </a:lnSpc>
              <a:spcBef>
                <a:spcPts val="375"/>
              </a:spcBef>
              <a:spcAft>
                <a:spcPts val="0"/>
              </a:spcAft>
              <a:buClr>
                <a:srgbClr val="888888"/>
              </a:buClr>
              <a:buSzPts val="1200"/>
              <a:buNone/>
              <a:defRPr sz="1200">
                <a:solidFill>
                  <a:srgbClr val="888888"/>
                </a:solidFill>
              </a:defRPr>
            </a:lvl6pPr>
            <a:lvl7pPr marL="3200400" lvl="6" indent="-228600" algn="l" rtl="0">
              <a:lnSpc>
                <a:spcPct val="90000"/>
              </a:lnSpc>
              <a:spcBef>
                <a:spcPts val="375"/>
              </a:spcBef>
              <a:spcAft>
                <a:spcPts val="0"/>
              </a:spcAft>
              <a:buClr>
                <a:srgbClr val="888888"/>
              </a:buClr>
              <a:buSzPts val="1200"/>
              <a:buNone/>
              <a:defRPr sz="1200">
                <a:solidFill>
                  <a:srgbClr val="888888"/>
                </a:solidFill>
              </a:defRPr>
            </a:lvl7pPr>
            <a:lvl8pPr marL="3657600" lvl="7" indent="-228600" algn="l" rtl="0">
              <a:lnSpc>
                <a:spcPct val="90000"/>
              </a:lnSpc>
              <a:spcBef>
                <a:spcPts val="375"/>
              </a:spcBef>
              <a:spcAft>
                <a:spcPts val="0"/>
              </a:spcAft>
              <a:buClr>
                <a:srgbClr val="888888"/>
              </a:buClr>
              <a:buSzPts val="1200"/>
              <a:buNone/>
              <a:defRPr sz="1200">
                <a:solidFill>
                  <a:srgbClr val="888888"/>
                </a:solidFill>
              </a:defRPr>
            </a:lvl8pPr>
            <a:lvl9pPr marL="4114800" lvl="8" indent="-228600" algn="l" rtl="0">
              <a:lnSpc>
                <a:spcPct val="90000"/>
              </a:lnSpc>
              <a:spcBef>
                <a:spcPts val="375"/>
              </a:spcBef>
              <a:spcAft>
                <a:spcPts val="0"/>
              </a:spcAft>
              <a:buClr>
                <a:srgbClr val="888888"/>
              </a:buClr>
              <a:buSzPts val="1200"/>
              <a:buNone/>
              <a:defRPr sz="1200">
                <a:solidFill>
                  <a:srgbClr val="888888"/>
                </a:solidFill>
              </a:defRPr>
            </a:lvl9pPr>
          </a:lstStyle>
          <a:p>
            <a:endParaRPr/>
          </a:p>
        </p:txBody>
      </p:sp>
      <p:sp>
        <p:nvSpPr>
          <p:cNvPr id="32" name="Google Shape;32;p79"/>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3" name="Google Shape;33;p79"/>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4" name="Google Shape;34;p79"/>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5"/>
        <p:cNvGrpSpPr/>
        <p:nvPr/>
      </p:nvGrpSpPr>
      <p:grpSpPr>
        <a:xfrm>
          <a:off x="0" y="0"/>
          <a:ext cx="0" cy="0"/>
          <a:chOff x="0" y="0"/>
          <a:chExt cx="0" cy="0"/>
        </a:xfrm>
      </p:grpSpPr>
      <p:sp>
        <p:nvSpPr>
          <p:cNvPr id="36" name="Google Shape;36;p80"/>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7" name="Google Shape;37;p80"/>
          <p:cNvSpPr txBox="1">
            <a:spLocks noGrp="1"/>
          </p:cNvSpPr>
          <p:nvPr>
            <p:ph type="body" idx="1"/>
          </p:nvPr>
        </p:nvSpPr>
        <p:spPr>
          <a:xfrm>
            <a:off x="838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8" name="Google Shape;38;p80"/>
          <p:cNvSpPr txBox="1">
            <a:spLocks noGrp="1"/>
          </p:cNvSpPr>
          <p:nvPr>
            <p:ph type="body" idx="2"/>
          </p:nvPr>
        </p:nvSpPr>
        <p:spPr>
          <a:xfrm>
            <a:off x="6172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9" name="Google Shape;39;p80"/>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0" name="Google Shape;40;p80"/>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1" name="Google Shape;41;p80"/>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2"/>
        <p:cNvGrpSpPr/>
        <p:nvPr/>
      </p:nvGrpSpPr>
      <p:grpSpPr>
        <a:xfrm>
          <a:off x="0" y="0"/>
          <a:ext cx="0" cy="0"/>
          <a:chOff x="0" y="0"/>
          <a:chExt cx="0" cy="0"/>
        </a:xfrm>
      </p:grpSpPr>
      <p:sp>
        <p:nvSpPr>
          <p:cNvPr id="43" name="Google Shape;43;p81"/>
          <p:cNvSpPr txBox="1">
            <a:spLocks noGrp="1"/>
          </p:cNvSpPr>
          <p:nvPr>
            <p:ph type="title"/>
          </p:nvPr>
        </p:nvSpPr>
        <p:spPr>
          <a:xfrm>
            <a:off x="839788"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4" name="Google Shape;44;p81"/>
          <p:cNvSpPr txBox="1">
            <a:spLocks noGrp="1"/>
          </p:cNvSpPr>
          <p:nvPr>
            <p:ph type="body" idx="1"/>
          </p:nvPr>
        </p:nvSpPr>
        <p:spPr>
          <a:xfrm>
            <a:off x="839789" y="1681163"/>
            <a:ext cx="51576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5" name="Google Shape;45;p81"/>
          <p:cNvSpPr txBox="1">
            <a:spLocks noGrp="1"/>
          </p:cNvSpPr>
          <p:nvPr>
            <p:ph type="body" idx="2"/>
          </p:nvPr>
        </p:nvSpPr>
        <p:spPr>
          <a:xfrm>
            <a:off x="839789" y="2505075"/>
            <a:ext cx="51576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6" name="Google Shape;46;p81"/>
          <p:cNvSpPr txBox="1">
            <a:spLocks noGrp="1"/>
          </p:cNvSpPr>
          <p:nvPr>
            <p:ph type="body" idx="3"/>
          </p:nvPr>
        </p:nvSpPr>
        <p:spPr>
          <a:xfrm>
            <a:off x="6172200" y="1681163"/>
            <a:ext cx="51832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7" name="Google Shape;47;p81"/>
          <p:cNvSpPr txBox="1">
            <a:spLocks noGrp="1"/>
          </p:cNvSpPr>
          <p:nvPr>
            <p:ph type="body" idx="4"/>
          </p:nvPr>
        </p:nvSpPr>
        <p:spPr>
          <a:xfrm>
            <a:off x="6172200" y="2505075"/>
            <a:ext cx="51832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8" name="Google Shape;48;p81"/>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9" name="Google Shape;49;p81"/>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0" name="Google Shape;50;p81"/>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1"/>
        <p:cNvGrpSpPr/>
        <p:nvPr/>
      </p:nvGrpSpPr>
      <p:grpSpPr>
        <a:xfrm>
          <a:off x="0" y="0"/>
          <a:ext cx="0" cy="0"/>
          <a:chOff x="0" y="0"/>
          <a:chExt cx="0" cy="0"/>
        </a:xfrm>
      </p:grpSpPr>
      <p:sp>
        <p:nvSpPr>
          <p:cNvPr id="52" name="Google Shape;52;p82"/>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3" name="Google Shape;53;p82"/>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4" name="Google Shape;54;p82"/>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5" name="Google Shape;55;p82"/>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6"/>
        <p:cNvGrpSpPr/>
        <p:nvPr/>
      </p:nvGrpSpPr>
      <p:grpSpPr>
        <a:xfrm>
          <a:off x="0" y="0"/>
          <a:ext cx="0" cy="0"/>
          <a:chOff x="0" y="0"/>
          <a:chExt cx="0" cy="0"/>
        </a:xfrm>
      </p:grpSpPr>
      <p:sp>
        <p:nvSpPr>
          <p:cNvPr id="57" name="Google Shape;57;p83"/>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8" name="Google Shape;58;p83"/>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9" name="Google Shape;59;p83"/>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0"/>
        <p:cNvGrpSpPr/>
        <p:nvPr/>
      </p:nvGrpSpPr>
      <p:grpSpPr>
        <a:xfrm>
          <a:off x="0" y="0"/>
          <a:ext cx="0" cy="0"/>
          <a:chOff x="0" y="0"/>
          <a:chExt cx="0" cy="0"/>
        </a:xfrm>
      </p:grpSpPr>
      <p:sp>
        <p:nvSpPr>
          <p:cNvPr id="61" name="Google Shape;61;p84"/>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2" name="Google Shape;62;p84"/>
          <p:cNvSpPr txBox="1">
            <a:spLocks noGrp="1"/>
          </p:cNvSpPr>
          <p:nvPr>
            <p:ph type="body" idx="1"/>
          </p:nvPr>
        </p:nvSpPr>
        <p:spPr>
          <a:xfrm>
            <a:off x="5183188" y="987426"/>
            <a:ext cx="6172400" cy="4873500"/>
          </a:xfrm>
          <a:prstGeom prst="rect">
            <a:avLst/>
          </a:prstGeom>
          <a:noFill/>
          <a:ln>
            <a:noFill/>
          </a:ln>
        </p:spPr>
        <p:txBody>
          <a:bodyPr spcFirstLastPara="1" wrap="square" lIns="91425" tIns="45700" rIns="91425" bIns="45700" anchor="t" anchorCtr="0">
            <a:normAutofit/>
          </a:bodyPr>
          <a:lstStyle>
            <a:lvl1pPr marL="457200" lvl="0" indent="-381000" algn="l" rtl="0">
              <a:lnSpc>
                <a:spcPct val="90000"/>
              </a:lnSpc>
              <a:spcBef>
                <a:spcPts val="750"/>
              </a:spcBef>
              <a:spcAft>
                <a:spcPts val="0"/>
              </a:spcAft>
              <a:buClr>
                <a:schemeClr val="dk1"/>
              </a:buClr>
              <a:buSzPts val="2400"/>
              <a:buChar char="•"/>
              <a:defRPr sz="2400"/>
            </a:lvl1pPr>
            <a:lvl2pPr marL="914400" lvl="1" indent="-361950" algn="l" rtl="0">
              <a:lnSpc>
                <a:spcPct val="90000"/>
              </a:lnSpc>
              <a:spcBef>
                <a:spcPts val="375"/>
              </a:spcBef>
              <a:spcAft>
                <a:spcPts val="0"/>
              </a:spcAft>
              <a:buClr>
                <a:schemeClr val="dk1"/>
              </a:buClr>
              <a:buSzPts val="2100"/>
              <a:buChar char="•"/>
              <a:defRPr sz="2100"/>
            </a:lvl2pPr>
            <a:lvl3pPr marL="1371600" lvl="2" indent="-342900" algn="l" rtl="0">
              <a:lnSpc>
                <a:spcPct val="90000"/>
              </a:lnSpc>
              <a:spcBef>
                <a:spcPts val="375"/>
              </a:spcBef>
              <a:spcAft>
                <a:spcPts val="0"/>
              </a:spcAft>
              <a:buClr>
                <a:schemeClr val="dk1"/>
              </a:buClr>
              <a:buSzPts val="1800"/>
              <a:buChar char="•"/>
              <a:defRPr sz="1800"/>
            </a:lvl3pPr>
            <a:lvl4pPr marL="1828800" lvl="3" indent="-323850" algn="l" rtl="0">
              <a:lnSpc>
                <a:spcPct val="90000"/>
              </a:lnSpc>
              <a:spcBef>
                <a:spcPts val="375"/>
              </a:spcBef>
              <a:spcAft>
                <a:spcPts val="0"/>
              </a:spcAft>
              <a:buClr>
                <a:schemeClr val="dk1"/>
              </a:buClr>
              <a:buSzPts val="1500"/>
              <a:buChar char="•"/>
              <a:defRPr sz="1500"/>
            </a:lvl4pPr>
            <a:lvl5pPr marL="2286000" lvl="4" indent="-323850" algn="l" rtl="0">
              <a:lnSpc>
                <a:spcPct val="90000"/>
              </a:lnSpc>
              <a:spcBef>
                <a:spcPts val="375"/>
              </a:spcBef>
              <a:spcAft>
                <a:spcPts val="0"/>
              </a:spcAft>
              <a:buClr>
                <a:schemeClr val="dk1"/>
              </a:buClr>
              <a:buSzPts val="1500"/>
              <a:buChar char="•"/>
              <a:defRPr sz="1500"/>
            </a:lvl5pPr>
            <a:lvl6pPr marL="2743200" lvl="5" indent="-323850" algn="l" rtl="0">
              <a:lnSpc>
                <a:spcPct val="90000"/>
              </a:lnSpc>
              <a:spcBef>
                <a:spcPts val="375"/>
              </a:spcBef>
              <a:spcAft>
                <a:spcPts val="0"/>
              </a:spcAft>
              <a:buClr>
                <a:schemeClr val="dk1"/>
              </a:buClr>
              <a:buSzPts val="1500"/>
              <a:buChar char="•"/>
              <a:defRPr sz="1500"/>
            </a:lvl6pPr>
            <a:lvl7pPr marL="3200400" lvl="6" indent="-323850" algn="l" rtl="0">
              <a:lnSpc>
                <a:spcPct val="90000"/>
              </a:lnSpc>
              <a:spcBef>
                <a:spcPts val="375"/>
              </a:spcBef>
              <a:spcAft>
                <a:spcPts val="0"/>
              </a:spcAft>
              <a:buClr>
                <a:schemeClr val="dk1"/>
              </a:buClr>
              <a:buSzPts val="1500"/>
              <a:buChar char="•"/>
              <a:defRPr sz="1500"/>
            </a:lvl7pPr>
            <a:lvl8pPr marL="3657600" lvl="7" indent="-323850" algn="l" rtl="0">
              <a:lnSpc>
                <a:spcPct val="90000"/>
              </a:lnSpc>
              <a:spcBef>
                <a:spcPts val="375"/>
              </a:spcBef>
              <a:spcAft>
                <a:spcPts val="0"/>
              </a:spcAft>
              <a:buClr>
                <a:schemeClr val="dk1"/>
              </a:buClr>
              <a:buSzPts val="1500"/>
              <a:buChar char="•"/>
              <a:defRPr sz="1500"/>
            </a:lvl8pPr>
            <a:lvl9pPr marL="4114800" lvl="8" indent="-323850" algn="l" rtl="0">
              <a:lnSpc>
                <a:spcPct val="90000"/>
              </a:lnSpc>
              <a:spcBef>
                <a:spcPts val="375"/>
              </a:spcBef>
              <a:spcAft>
                <a:spcPts val="0"/>
              </a:spcAft>
              <a:buClr>
                <a:schemeClr val="dk1"/>
              </a:buClr>
              <a:buSzPts val="1500"/>
              <a:buChar char="•"/>
              <a:defRPr sz="1500"/>
            </a:lvl9pPr>
          </a:lstStyle>
          <a:p>
            <a:endParaRPr/>
          </a:p>
        </p:txBody>
      </p:sp>
      <p:sp>
        <p:nvSpPr>
          <p:cNvPr id="63" name="Google Shape;63;p84"/>
          <p:cNvSpPr txBox="1">
            <a:spLocks noGrp="1"/>
          </p:cNvSpPr>
          <p:nvPr>
            <p:ph type="body" idx="2"/>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64" name="Google Shape;64;p84"/>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5" name="Google Shape;65;p84"/>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6" name="Google Shape;66;p84"/>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7"/>
        <p:cNvGrpSpPr/>
        <p:nvPr/>
      </p:nvGrpSpPr>
      <p:grpSpPr>
        <a:xfrm>
          <a:off x="0" y="0"/>
          <a:ext cx="0" cy="0"/>
          <a:chOff x="0" y="0"/>
          <a:chExt cx="0" cy="0"/>
        </a:xfrm>
      </p:grpSpPr>
      <p:sp>
        <p:nvSpPr>
          <p:cNvPr id="68" name="Google Shape;68;p85"/>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9" name="Google Shape;69;p85"/>
          <p:cNvSpPr>
            <a:spLocks noGrp="1"/>
          </p:cNvSpPr>
          <p:nvPr>
            <p:ph type="pic" idx="2"/>
          </p:nvPr>
        </p:nvSpPr>
        <p:spPr>
          <a:xfrm>
            <a:off x="5183188" y="987426"/>
            <a:ext cx="6172400" cy="4873500"/>
          </a:xfrm>
          <a:prstGeom prst="rect">
            <a:avLst/>
          </a:prstGeom>
          <a:noFill/>
          <a:ln>
            <a:noFill/>
          </a:ln>
        </p:spPr>
      </p:sp>
      <p:sp>
        <p:nvSpPr>
          <p:cNvPr id="70" name="Google Shape;70;p85"/>
          <p:cNvSpPr txBox="1">
            <a:spLocks noGrp="1"/>
          </p:cNvSpPr>
          <p:nvPr>
            <p:ph type="body" idx="1"/>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71" name="Google Shape;71;p8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2" name="Google Shape;72;p8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3" name="Google Shape;73;p8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4"/>
        <p:cNvGrpSpPr/>
        <p:nvPr/>
      </p:nvGrpSpPr>
      <p:grpSpPr>
        <a:xfrm>
          <a:off x="0" y="0"/>
          <a:ext cx="0" cy="0"/>
          <a:chOff x="0" y="0"/>
          <a:chExt cx="0" cy="0"/>
        </a:xfrm>
      </p:grpSpPr>
      <p:sp>
        <p:nvSpPr>
          <p:cNvPr id="75" name="Google Shape;75;p86"/>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6" name="Google Shape;76;p86"/>
          <p:cNvSpPr txBox="1">
            <a:spLocks noGrp="1"/>
          </p:cNvSpPr>
          <p:nvPr>
            <p:ph type="body" idx="1"/>
          </p:nvPr>
        </p:nvSpPr>
        <p:spPr>
          <a:xfrm rot="5400000">
            <a:off x="3920400" y="-1256575"/>
            <a:ext cx="4351200" cy="10515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77" name="Google Shape;77;p86"/>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8" name="Google Shape;78;p86"/>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9" name="Google Shape;79;p86"/>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0"/>
        <p:cNvGrpSpPr/>
        <p:nvPr/>
      </p:nvGrpSpPr>
      <p:grpSpPr>
        <a:xfrm>
          <a:off x="0" y="0"/>
          <a:ext cx="0" cy="0"/>
          <a:chOff x="0" y="0"/>
          <a:chExt cx="0" cy="0"/>
        </a:xfrm>
      </p:grpSpPr>
      <p:sp>
        <p:nvSpPr>
          <p:cNvPr id="81" name="Google Shape;81;p87"/>
          <p:cNvSpPr txBox="1">
            <a:spLocks noGrp="1"/>
          </p:cNvSpPr>
          <p:nvPr>
            <p:ph type="title"/>
          </p:nvPr>
        </p:nvSpPr>
        <p:spPr>
          <a:xfrm rot="5400000">
            <a:off x="7133450" y="1956675"/>
            <a:ext cx="5811900" cy="26288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82" name="Google Shape;82;p87"/>
          <p:cNvSpPr txBox="1">
            <a:spLocks noGrp="1"/>
          </p:cNvSpPr>
          <p:nvPr>
            <p:ph type="body" idx="1"/>
          </p:nvPr>
        </p:nvSpPr>
        <p:spPr>
          <a:xfrm rot="5400000">
            <a:off x="1799350" y="-596125"/>
            <a:ext cx="5811900" cy="77344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83" name="Google Shape;83;p8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4" name="Google Shape;84;p8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5" name="Google Shape;85;p8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ext Slide">
  <p:cSld name="Text Slide">
    <p:bg>
      <p:bgPr>
        <a:solidFill>
          <a:schemeClr val="lt1"/>
        </a:solidFill>
        <a:effectLst/>
      </p:bgPr>
    </p:bg>
    <p:spTree>
      <p:nvGrpSpPr>
        <p:cNvPr id="1" name="Shape 86"/>
        <p:cNvGrpSpPr/>
        <p:nvPr/>
      </p:nvGrpSpPr>
      <p:grpSpPr>
        <a:xfrm>
          <a:off x="0" y="0"/>
          <a:ext cx="0" cy="0"/>
          <a:chOff x="0" y="0"/>
          <a:chExt cx="0" cy="0"/>
        </a:xfrm>
      </p:grpSpPr>
      <p:pic>
        <p:nvPicPr>
          <p:cNvPr id="87" name="Google Shape;87;p88" descr="A picture containing text, sign, seat&#10;&#10;Description automatically generated"/>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8576869" y="5603082"/>
            <a:ext cx="3413760" cy="1828800"/>
          </a:xfrm>
          <a:prstGeom prst="rect">
            <a:avLst/>
          </a:prstGeom>
          <a:noFill/>
          <a:ln>
            <a:noFill/>
          </a:ln>
        </p:spPr>
      </p:pic>
      <p:sp>
        <p:nvSpPr>
          <p:cNvPr id="88" name="Google Shape;88;p88"/>
          <p:cNvSpPr/>
          <p:nvPr/>
        </p:nvSpPr>
        <p:spPr>
          <a:xfrm>
            <a:off x="0" y="0"/>
            <a:ext cx="198000" cy="6858000"/>
          </a:xfrm>
          <a:prstGeom prst="rect">
            <a:avLst/>
          </a:prstGeom>
          <a:solidFill>
            <a:srgbClr val="2776B6"/>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Divider 2">
  <p:cSld name="Divider 2">
    <p:spTree>
      <p:nvGrpSpPr>
        <p:cNvPr id="1" name="Shape 89"/>
        <p:cNvGrpSpPr/>
        <p:nvPr/>
      </p:nvGrpSpPr>
      <p:grpSpPr>
        <a:xfrm>
          <a:off x="0" y="0"/>
          <a:ext cx="0" cy="0"/>
          <a:chOff x="0" y="0"/>
          <a:chExt cx="0" cy="0"/>
        </a:xfrm>
      </p:grpSpPr>
      <p:pic>
        <p:nvPicPr>
          <p:cNvPr id="90" name="Google Shape;90;p89" descr="ANation-PPT22_5.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1" name="Google Shape;91;p89"/>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2" name="Google Shape;92;p89"/>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3" name="Google Shape;93;p89"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Divider 3">
  <p:cSld name="Divider 3">
    <p:spTree>
      <p:nvGrpSpPr>
        <p:cNvPr id="1" name="Shape 94"/>
        <p:cNvGrpSpPr/>
        <p:nvPr/>
      </p:nvGrpSpPr>
      <p:grpSpPr>
        <a:xfrm>
          <a:off x="0" y="0"/>
          <a:ext cx="0" cy="0"/>
          <a:chOff x="0" y="0"/>
          <a:chExt cx="0" cy="0"/>
        </a:xfrm>
      </p:grpSpPr>
      <p:pic>
        <p:nvPicPr>
          <p:cNvPr id="95" name="Google Shape;95;p90" descr="ANation-PPT22_6.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6" name="Google Shape;96;p90"/>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7" name="Google Shape;97;p90"/>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8" name="Google Shape;98;p90"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Divider 1">
  <p:cSld name="Divider 1">
    <p:spTree>
      <p:nvGrpSpPr>
        <p:cNvPr id="1" name="Shape 99"/>
        <p:cNvGrpSpPr/>
        <p:nvPr/>
      </p:nvGrpSpPr>
      <p:grpSpPr>
        <a:xfrm>
          <a:off x="0" y="0"/>
          <a:ext cx="0" cy="0"/>
          <a:chOff x="0" y="0"/>
          <a:chExt cx="0" cy="0"/>
        </a:xfrm>
      </p:grpSpPr>
      <p:pic>
        <p:nvPicPr>
          <p:cNvPr id="100" name="Google Shape;100;p91" descr="ANation-PPT22_2.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1" name="Google Shape;101;p91"/>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2" name="Google Shape;102;p91"/>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3" name="Google Shape;103;p91"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Divider 4">
  <p:cSld name="Divider 4">
    <p:spTree>
      <p:nvGrpSpPr>
        <p:cNvPr id="1" name="Shape 104"/>
        <p:cNvGrpSpPr/>
        <p:nvPr/>
      </p:nvGrpSpPr>
      <p:grpSpPr>
        <a:xfrm>
          <a:off x="0" y="0"/>
          <a:ext cx="0" cy="0"/>
          <a:chOff x="0" y="0"/>
          <a:chExt cx="0" cy="0"/>
        </a:xfrm>
      </p:grpSpPr>
      <p:pic>
        <p:nvPicPr>
          <p:cNvPr id="105" name="Google Shape;105;p92" descr="ANation-PPT2_7.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6" name="Google Shape;106;p92"/>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7" name="Google Shape;107;p92"/>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8" name="Google Shape;108;p92"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55"/>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11" name="Google Shape;11;p55"/>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12" name="Google Shape;12;p5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5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5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900" b="0" i="0" u="none" strike="noStrike" cap="none">
                <a:solidFill>
                  <a:srgbClr val="888888"/>
                </a:solidFill>
                <a:latin typeface="Calibri"/>
                <a:ea typeface="Calibri"/>
                <a:cs typeface="Calibri"/>
                <a:sym typeface="Calibri"/>
              </a:defRPr>
            </a:lvl1pPr>
            <a:lvl2pPr marL="0" marR="0" lvl="1" indent="0" algn="r" rtl="0">
              <a:spcBef>
                <a:spcPts val="0"/>
              </a:spcBef>
              <a:buNone/>
              <a:defRPr sz="900" b="0" i="0" u="none" strike="noStrike" cap="none">
                <a:solidFill>
                  <a:srgbClr val="888888"/>
                </a:solidFill>
                <a:latin typeface="Calibri"/>
                <a:ea typeface="Calibri"/>
                <a:cs typeface="Calibri"/>
                <a:sym typeface="Calibri"/>
              </a:defRPr>
            </a:lvl2pPr>
            <a:lvl3pPr marL="0" marR="0" lvl="2" indent="0" algn="r" rtl="0">
              <a:spcBef>
                <a:spcPts val="0"/>
              </a:spcBef>
              <a:buNone/>
              <a:defRPr sz="900" b="0" i="0" u="none" strike="noStrike" cap="none">
                <a:solidFill>
                  <a:srgbClr val="888888"/>
                </a:solidFill>
                <a:latin typeface="Calibri"/>
                <a:ea typeface="Calibri"/>
                <a:cs typeface="Calibri"/>
                <a:sym typeface="Calibri"/>
              </a:defRPr>
            </a:lvl3pPr>
            <a:lvl4pPr marL="0" marR="0" lvl="3" indent="0" algn="r" rtl="0">
              <a:spcBef>
                <a:spcPts val="0"/>
              </a:spcBef>
              <a:buNone/>
              <a:defRPr sz="900" b="0" i="0" u="none" strike="noStrike" cap="none">
                <a:solidFill>
                  <a:srgbClr val="888888"/>
                </a:solidFill>
                <a:latin typeface="Calibri"/>
                <a:ea typeface="Calibri"/>
                <a:cs typeface="Calibri"/>
                <a:sym typeface="Calibri"/>
              </a:defRPr>
            </a:lvl4pPr>
            <a:lvl5pPr marL="0" marR="0" lvl="4" indent="0" algn="r" rtl="0">
              <a:spcBef>
                <a:spcPts val="0"/>
              </a:spcBef>
              <a:buNone/>
              <a:defRPr sz="900" b="0" i="0" u="none" strike="noStrike" cap="none">
                <a:solidFill>
                  <a:srgbClr val="888888"/>
                </a:solidFill>
                <a:latin typeface="Calibri"/>
                <a:ea typeface="Calibri"/>
                <a:cs typeface="Calibri"/>
                <a:sym typeface="Calibri"/>
              </a:defRPr>
            </a:lvl5pPr>
            <a:lvl6pPr marL="0" marR="0" lvl="5" indent="0" algn="r" rtl="0">
              <a:spcBef>
                <a:spcPts val="0"/>
              </a:spcBef>
              <a:buNone/>
              <a:defRPr sz="900" b="0" i="0" u="none" strike="noStrike" cap="none">
                <a:solidFill>
                  <a:srgbClr val="888888"/>
                </a:solidFill>
                <a:latin typeface="Calibri"/>
                <a:ea typeface="Calibri"/>
                <a:cs typeface="Calibri"/>
                <a:sym typeface="Calibri"/>
              </a:defRPr>
            </a:lvl6pPr>
            <a:lvl7pPr marL="0" marR="0" lvl="6" indent="0" algn="r" rtl="0">
              <a:spcBef>
                <a:spcPts val="0"/>
              </a:spcBef>
              <a:buNone/>
              <a:defRPr sz="900" b="0" i="0" u="none" strike="noStrike" cap="none">
                <a:solidFill>
                  <a:srgbClr val="888888"/>
                </a:solidFill>
                <a:latin typeface="Calibri"/>
                <a:ea typeface="Calibri"/>
                <a:cs typeface="Calibri"/>
                <a:sym typeface="Calibri"/>
              </a:defRPr>
            </a:lvl7pPr>
            <a:lvl8pPr marL="0" marR="0" lvl="7" indent="0" algn="r" rtl="0">
              <a:spcBef>
                <a:spcPts val="0"/>
              </a:spcBef>
              <a:buNone/>
              <a:defRPr sz="900" b="0" i="0" u="none" strike="noStrike" cap="none">
                <a:solidFill>
                  <a:srgbClr val="888888"/>
                </a:solidFill>
                <a:latin typeface="Calibri"/>
                <a:ea typeface="Calibri"/>
                <a:cs typeface="Calibri"/>
                <a:sym typeface="Calibri"/>
              </a:defRPr>
            </a:lvl8pPr>
            <a:lvl9pPr marL="0" marR="0" lvl="8" indent="0" algn="r" rtl="0">
              <a:spcBef>
                <a:spcPts val="0"/>
              </a:spcBef>
              <a:buNone/>
              <a:defRPr sz="90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8.xml"/><Relationship Id="rId4" Type="http://schemas.openxmlformats.org/officeDocument/2006/relationships/image" Target="../media/image11.png"/></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8.xml"/><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8.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8.xml"/><Relationship Id="rId4" Type="http://schemas.openxmlformats.org/officeDocument/2006/relationships/image" Target="../media/image15.png"/></Relationships>
</file>

<file path=ppt/slides/_rels/slide8.xml.rels><?xml version="1.0" encoding="UTF-8" standalone="yes"?>
<Relationships xmlns="http://schemas.openxmlformats.org/package/2006/relationships"><Relationship Id="rId3" Type="http://schemas.openxmlformats.org/officeDocument/2006/relationships/image" Target="../media/image16.tiff"/><Relationship Id="rId7" Type="http://schemas.openxmlformats.org/officeDocument/2006/relationships/image" Target="../media/image19.png"/><Relationship Id="rId2" Type="http://schemas.openxmlformats.org/officeDocument/2006/relationships/notesSlide" Target="../notesSlides/notesSlide8.xml"/><Relationship Id="rId1" Type="http://schemas.openxmlformats.org/officeDocument/2006/relationships/slideLayout" Target="../slideLayouts/slideLayout8.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3" Type="http://schemas.openxmlformats.org/officeDocument/2006/relationships/image" Target="../media/image20.tiff"/><Relationship Id="rId2" Type="http://schemas.openxmlformats.org/officeDocument/2006/relationships/notesSlide" Target="../notesSlides/notesSlide9.xml"/><Relationship Id="rId1" Type="http://schemas.openxmlformats.org/officeDocument/2006/relationships/slideLayout" Target="../slideLayouts/slideLayout8.xml"/><Relationship Id="rId5" Type="http://schemas.openxmlformats.org/officeDocument/2006/relationships/image" Target="../media/image20.png"/><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8.xml"/><Relationship Id="rId5" Type="http://schemas.openxmlformats.org/officeDocument/2006/relationships/image" Target="../media/image21.tiff"/><Relationship Id="rId4" Type="http://schemas.openxmlformats.org/officeDocument/2006/relationships/image" Target="../media/image21.png"/></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8.xml"/><Relationship Id="rId5" Type="http://schemas.openxmlformats.org/officeDocument/2006/relationships/image" Target="../media/image22.png"/><Relationship Id="rId4" Type="http://schemas.openxmlformats.org/officeDocument/2006/relationships/image" Target="../media/image23.png"/></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8.xml"/><Relationship Id="rId5" Type="http://schemas.openxmlformats.org/officeDocument/2006/relationships/image" Target="../media/image23.tiff"/><Relationship Id="rId4" Type="http://schemas.openxmlformats.org/officeDocument/2006/relationships/image" Target="../media/image25.png"/></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8.xml"/><Relationship Id="rId4" Type="http://schemas.openxmlformats.org/officeDocument/2006/relationships/image" Target="../media/image27.png"/></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8.xml"/><Relationship Id="rId4" Type="http://schemas.openxmlformats.org/officeDocument/2006/relationships/image" Target="../media/image24.png"/></Relationships>
</file>

<file path=ppt/slides/_rels/slide15.xml.rels><?xml version="1.0" encoding="UTF-8" standalone="yes"?>
<Relationships xmlns="http://schemas.openxmlformats.org/package/2006/relationships"><Relationship Id="rId3" Type="http://schemas.openxmlformats.org/officeDocument/2006/relationships/image" Target="../media/image25.tiff"/><Relationship Id="rId2" Type="http://schemas.openxmlformats.org/officeDocument/2006/relationships/notesSlide" Target="../notesSlides/notesSlide15.xml"/><Relationship Id="rId1" Type="http://schemas.openxmlformats.org/officeDocument/2006/relationships/slideLayout" Target="../slideLayouts/slideLayout8.xml"/><Relationship Id="rId6" Type="http://schemas.openxmlformats.org/officeDocument/2006/relationships/image" Target="../media/image30.png"/><Relationship Id="rId5" Type="http://schemas.openxmlformats.org/officeDocument/2006/relationships/image" Target="../media/image26.png"/><Relationship Id="rId4" Type="http://schemas.openxmlformats.org/officeDocument/2006/relationships/image" Target="../media/image10.png"/></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6.xml"/><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7.xml"/><Relationship Id="rId1" Type="http://schemas.openxmlformats.org/officeDocument/2006/relationships/slideLayout" Target="../slideLayouts/slideLayout8.xml"/><Relationship Id="rId5" Type="http://schemas.openxmlformats.org/officeDocument/2006/relationships/image" Target="../media/image28.png"/><Relationship Id="rId4" Type="http://schemas.openxmlformats.org/officeDocument/2006/relationships/image" Target="../media/image31.png"/></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8.xml"/><Relationship Id="rId1" Type="http://schemas.openxmlformats.org/officeDocument/2006/relationships/slideLayout" Target="../slideLayouts/slideLayout8.xml"/><Relationship Id="rId4" Type="http://schemas.openxmlformats.org/officeDocument/2006/relationships/image" Target="../media/image33.png"/></Relationships>
</file>

<file path=ppt/slides/_rels/slide1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9.xml"/><Relationship Id="rId1" Type="http://schemas.openxmlformats.org/officeDocument/2006/relationships/slideLayout" Target="../slideLayouts/slideLayout8.xml"/><Relationship Id="rId4" Type="http://schemas.openxmlformats.org/officeDocument/2006/relationships/image" Target="../media/image29.png"/></Relationships>
</file>

<file path=ppt/slides/_rels/slide2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0.xml"/><Relationship Id="rId1" Type="http://schemas.openxmlformats.org/officeDocument/2006/relationships/slideLayout" Target="../slideLayouts/slideLayout8.xml"/><Relationship Id="rId5" Type="http://schemas.openxmlformats.org/officeDocument/2006/relationships/image" Target="../media/image33.tiff"/><Relationship Id="rId4" Type="http://schemas.openxmlformats.org/officeDocument/2006/relationships/image" Target="../media/image32.png"/></Relationships>
</file>

<file path=ppt/slides/_rels/slide2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1.xml"/><Relationship Id="rId1" Type="http://schemas.openxmlformats.org/officeDocument/2006/relationships/slideLayout" Target="../slideLayouts/slideLayout8.xml"/><Relationship Id="rId4" Type="http://schemas.openxmlformats.org/officeDocument/2006/relationships/image" Target="../media/image34.png"/></Relationships>
</file>

<file path=ppt/slides/_rels/slide2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2.xml"/><Relationship Id="rId1" Type="http://schemas.openxmlformats.org/officeDocument/2006/relationships/slideLayout" Target="../slideLayouts/slideLayout8.xml"/><Relationship Id="rId5" Type="http://schemas.openxmlformats.org/officeDocument/2006/relationships/image" Target="../media/image38.png"/><Relationship Id="rId4" Type="http://schemas.openxmlformats.org/officeDocument/2006/relationships/image" Target="../media/image37.png"/></Relationships>
</file>

<file path=ppt/slides/_rels/slide2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3.xml"/><Relationship Id="rId1" Type="http://schemas.openxmlformats.org/officeDocument/2006/relationships/slideLayout" Target="../slideLayouts/slideLayout8.xml"/><Relationship Id="rId4" Type="http://schemas.openxmlformats.org/officeDocument/2006/relationships/image" Target="../media/image35.png"/></Relationships>
</file>

<file path=ppt/slides/_rels/slide24.xml.rels><?xml version="1.0" encoding="UTF-8" standalone="yes"?>
<Relationships xmlns="http://schemas.openxmlformats.org/package/2006/relationships"><Relationship Id="rId3" Type="http://schemas.openxmlformats.org/officeDocument/2006/relationships/image" Target="../media/image36.tiff"/><Relationship Id="rId2" Type="http://schemas.openxmlformats.org/officeDocument/2006/relationships/notesSlide" Target="../notesSlides/notesSlide24.xml"/><Relationship Id="rId1" Type="http://schemas.openxmlformats.org/officeDocument/2006/relationships/slideLayout" Target="../slideLayouts/slideLayout8.xml"/><Relationship Id="rId6" Type="http://schemas.openxmlformats.org/officeDocument/2006/relationships/image" Target="../media/image41.png"/><Relationship Id="rId5" Type="http://schemas.openxmlformats.org/officeDocument/2006/relationships/image" Target="../media/image35.png"/><Relationship Id="rId4" Type="http://schemas.openxmlformats.org/officeDocument/2006/relationships/image" Target="../media/image1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59"/>
        <p:cNvGrpSpPr/>
        <p:nvPr/>
      </p:nvGrpSpPr>
      <p:grpSpPr>
        <a:xfrm>
          <a:off x="0" y="0"/>
          <a:ext cx="0" cy="0"/>
          <a:chOff x="0" y="0"/>
          <a:chExt cx="0" cy="0"/>
        </a:xfrm>
      </p:grpSpPr>
      <p:sp>
        <p:nvSpPr>
          <p:cNvPr id="261" name="Google Shape;261;g104476d1465_0_0"/>
          <p:cNvSpPr txBox="1">
            <a:spLocks noGrp="1"/>
          </p:cNvSpPr>
          <p:nvPr>
            <p:ph type="ctrTitle" idx="4294967295"/>
          </p:nvPr>
        </p:nvSpPr>
        <p:spPr>
          <a:xfrm>
            <a:off x="5590352" y="2054277"/>
            <a:ext cx="5077649" cy="3194455"/>
          </a:xfrm>
          <a:prstGeom prst="rect">
            <a:avLst/>
          </a:prstGeom>
        </p:spPr>
        <p:txBody>
          <a:bodyPr spcFirstLastPara="1" wrap="square" lIns="91425" tIns="45700" rIns="91425" bIns="45700" anchor="ctr" anchorCtr="0">
            <a:noAutofit/>
          </a:bodyPr>
          <a:lstStyle/>
          <a:p>
            <a:pPr algn="ctr">
              <a:lnSpc>
                <a:spcPct val="100000"/>
              </a:lnSpc>
            </a:pPr>
            <a:r>
              <a:rPr lang="en-US" sz="3800" b="1" dirty="0">
                <a:solidFill>
                  <a:srgbClr val="417DBF"/>
                </a:solidFill>
                <a:latin typeface="Verdana"/>
                <a:ea typeface="Verdana"/>
                <a:cs typeface="Verdana"/>
                <a:sym typeface="Verdana"/>
              </a:rPr>
              <a:t>8</a:t>
            </a:r>
            <a:r>
              <a:rPr lang="en-US" sz="3800" b="1" baseline="30000" dirty="0">
                <a:solidFill>
                  <a:srgbClr val="417DBF"/>
                </a:solidFill>
                <a:latin typeface="Verdana"/>
                <a:ea typeface="Verdana"/>
                <a:cs typeface="Verdana"/>
                <a:sym typeface="Verdana"/>
              </a:rPr>
              <a:t>th</a:t>
            </a:r>
            <a:r>
              <a:rPr lang="en-US" sz="3800" b="1" dirty="0">
                <a:solidFill>
                  <a:srgbClr val="417DBF"/>
                </a:solidFill>
                <a:latin typeface="Verdana"/>
                <a:ea typeface="Verdana"/>
                <a:cs typeface="Verdana"/>
                <a:sym typeface="Verdana"/>
              </a:rPr>
              <a:t> Grade Math: Pre-Algebra</a:t>
            </a:r>
            <a:br>
              <a:rPr lang="en-US" sz="3800" b="1" dirty="0">
                <a:solidFill>
                  <a:srgbClr val="417DBF"/>
                </a:solidFill>
                <a:latin typeface="Verdana"/>
                <a:ea typeface="Verdana"/>
                <a:cs typeface="Verdana"/>
                <a:sym typeface="Verdana"/>
              </a:rPr>
            </a:br>
            <a:endParaRPr lang="en-US" sz="3800" b="1" dirty="0">
              <a:solidFill>
                <a:srgbClr val="417DBF"/>
              </a:solidFill>
              <a:latin typeface="Verdana"/>
              <a:ea typeface="Verdana"/>
              <a:cs typeface="Verdana"/>
              <a:sym typeface="Verdana"/>
            </a:endParaRPr>
          </a:p>
          <a:p>
            <a:pPr algn="ctr">
              <a:lnSpc>
                <a:spcPct val="100000"/>
              </a:lnSpc>
              <a:buClr>
                <a:srgbClr val="000000"/>
              </a:buClr>
            </a:pPr>
            <a:r>
              <a:rPr lang="en-US" sz="3800" b="1" dirty="0">
                <a:solidFill>
                  <a:srgbClr val="417DBF"/>
                </a:solidFill>
                <a:latin typeface="Verdana"/>
                <a:ea typeface="Verdana"/>
                <a:cs typeface="Verdana"/>
                <a:sym typeface="Verdana"/>
              </a:rPr>
              <a:t>Unit 9, Lesson 9</a:t>
            </a:r>
            <a:br>
              <a:rPr lang="en-US" sz="3800" b="1" dirty="0">
                <a:solidFill>
                  <a:srgbClr val="417DBF"/>
                </a:solidFill>
                <a:latin typeface="Verdana"/>
                <a:ea typeface="Verdana"/>
                <a:cs typeface="Verdana"/>
                <a:sym typeface="Verdana"/>
              </a:rPr>
            </a:br>
            <a:br>
              <a:rPr lang="en-US" sz="3800" b="1" dirty="0">
                <a:solidFill>
                  <a:srgbClr val="417DBF"/>
                </a:solidFill>
                <a:latin typeface="Verdana"/>
                <a:ea typeface="Verdana"/>
                <a:cs typeface="Verdana"/>
                <a:sym typeface="Verdana"/>
              </a:rPr>
            </a:br>
            <a:r>
              <a:rPr lang="en-US" sz="3800" b="1" dirty="0">
                <a:solidFill>
                  <a:srgbClr val="417DBF"/>
                </a:solidFill>
                <a:latin typeface="Verdana"/>
                <a:ea typeface="Verdana"/>
                <a:cs typeface="Verdana"/>
                <a:sym typeface="Verdana"/>
              </a:rPr>
              <a:t>Scale Factors of Dilations</a:t>
            </a:r>
            <a:br>
              <a:rPr lang="en-US" sz="3800" b="1" dirty="0">
                <a:solidFill>
                  <a:srgbClr val="417DBF"/>
                </a:solidFill>
                <a:latin typeface="Verdana"/>
                <a:ea typeface="Verdana"/>
                <a:cs typeface="Verdana"/>
                <a:sym typeface="Verdana"/>
              </a:rPr>
            </a:br>
            <a:br>
              <a:rPr lang="en-US" sz="3800" b="1" dirty="0">
                <a:solidFill>
                  <a:srgbClr val="417DBF"/>
                </a:solidFill>
                <a:latin typeface="Verdana"/>
                <a:ea typeface="Verdana"/>
                <a:cs typeface="Verdana"/>
                <a:sym typeface="Verdana"/>
              </a:rPr>
            </a:br>
            <a:r>
              <a:rPr lang="en-US" sz="2800" b="1" dirty="0">
                <a:solidFill>
                  <a:srgbClr val="417DBF"/>
                </a:solidFill>
                <a:latin typeface="Verdana"/>
                <a:ea typeface="Verdana"/>
                <a:cs typeface="Verdana"/>
                <a:sym typeface="Verdana"/>
              </a:rPr>
              <a:t>Volume 2, pg. 105</a:t>
            </a:r>
          </a:p>
          <a:p>
            <a:pPr algn="ctr">
              <a:lnSpc>
                <a:spcPct val="100000"/>
              </a:lnSpc>
              <a:buClr>
                <a:srgbClr val="000000"/>
              </a:buClr>
            </a:pPr>
            <a:endParaRPr lang="en-US" sz="3400" b="1" dirty="0">
              <a:solidFill>
                <a:srgbClr val="417DBF"/>
              </a:solidFill>
              <a:latin typeface="Verdana"/>
              <a:ea typeface="Verdana"/>
              <a:cs typeface="Verdana"/>
              <a:sym typeface="Verdana"/>
            </a:endParaRPr>
          </a:p>
          <a:p>
            <a:pPr algn="ctr">
              <a:lnSpc>
                <a:spcPct val="75000"/>
              </a:lnSpc>
            </a:pPr>
            <a:endParaRPr sz="3100" dirty="0">
              <a:solidFill>
                <a:srgbClr val="417DBF"/>
              </a:solidFill>
            </a:endParaRPr>
          </a:p>
        </p:txBody>
      </p:sp>
      <p:cxnSp>
        <p:nvCxnSpPr>
          <p:cNvPr id="262" name="Google Shape;262;g104476d1465_0_0"/>
          <p:cNvCxnSpPr/>
          <p:nvPr/>
        </p:nvCxnSpPr>
        <p:spPr>
          <a:xfrm>
            <a:off x="-1573225" y="3938167"/>
            <a:ext cx="1152600" cy="0"/>
          </a:xfrm>
          <a:prstGeom prst="straightConnector1">
            <a:avLst/>
          </a:prstGeom>
          <a:noFill/>
          <a:ln w="9525" cap="flat" cmpd="sng">
            <a:solidFill>
              <a:schemeClr val="lt1"/>
            </a:solidFill>
            <a:prstDash val="solid"/>
            <a:round/>
            <a:headEnd type="none" w="med" len="med"/>
            <a:tailEnd type="none" w="med" len="med"/>
          </a:ln>
        </p:spPr>
      </p:cxnSp>
      <p:sp>
        <p:nvSpPr>
          <p:cNvPr id="20" name="Google Shape;309;g104476d1465_1_39">
            <a:extLst>
              <a:ext uri="{FF2B5EF4-FFF2-40B4-BE49-F238E27FC236}">
                <a16:creationId xmlns:a16="http://schemas.microsoft.com/office/drawing/2014/main" id="{566F1422-A32C-7745-9E85-5AF7B9DBC697}"/>
              </a:ext>
            </a:extLst>
          </p:cNvPr>
          <p:cNvSpPr/>
          <p:nvPr/>
        </p:nvSpPr>
        <p:spPr>
          <a:xfrm>
            <a:off x="0" y="0"/>
            <a:ext cx="4094106" cy="6866100"/>
          </a:xfrm>
          <a:prstGeom prst="rect">
            <a:avLst/>
          </a:prstGeom>
          <a:solidFill>
            <a:srgbClr val="3465B0"/>
          </a:solidFill>
          <a:ln w="9525" cap="flat" cmpd="sng">
            <a:solidFill>
              <a:srgbClr val="3465B0"/>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4" name="Picture 3" descr="Logo&#10;&#10;Description automatically generated">
            <a:extLst>
              <a:ext uri="{FF2B5EF4-FFF2-40B4-BE49-F238E27FC236}">
                <a16:creationId xmlns:a16="http://schemas.microsoft.com/office/drawing/2014/main" id="{52C00464-EFA3-6346-BE43-A03DFF537B32}"/>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560503" y="1918611"/>
            <a:ext cx="2973100" cy="3465785"/>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279" name="Google Shape;279;g104476d1465_1_17"/>
          <p:cNvSpPr txBox="1">
            <a:spLocks noGrp="1"/>
          </p:cNvSpPr>
          <p:nvPr>
            <p:ph type="title" idx="4294967295"/>
          </p:nvPr>
        </p:nvSpPr>
        <p:spPr>
          <a:xfrm>
            <a:off x="1233900" y="136525"/>
            <a:ext cx="8867250" cy="1325700"/>
          </a:xfrm>
          <a:prstGeom prst="rect">
            <a:avLst/>
          </a:prstGeom>
          <a:noFill/>
          <a:ln>
            <a:noFill/>
          </a:ln>
        </p:spPr>
        <p:txBody>
          <a:bodyPr spcFirstLastPara="1" wrap="square" lIns="91425" tIns="45700" rIns="91425" bIns="45700" anchor="ctr" anchorCtr="0">
            <a:normAutofit/>
          </a:bodyPr>
          <a:lstStyle/>
          <a:p>
            <a:pPr>
              <a:buSzPts val="5400"/>
            </a:pPr>
            <a:r>
              <a:rPr lang="en-US" sz="4700" b="1" dirty="0">
                <a:solidFill>
                  <a:srgbClr val="54B5D1"/>
                </a:solidFill>
                <a:latin typeface="Verdana"/>
                <a:ea typeface="Verdana"/>
                <a:cs typeface="Verdana"/>
                <a:sym typeface="Verdana"/>
              </a:rPr>
              <a:t>Benchmarks</a:t>
            </a:r>
            <a:endParaRPr sz="3700" b="1" dirty="0">
              <a:solidFill>
                <a:srgbClr val="54B5D1"/>
              </a:solidFill>
              <a:latin typeface="Verdana"/>
              <a:ea typeface="Verdana"/>
              <a:cs typeface="Verdana"/>
              <a:sym typeface="Verdana"/>
            </a:endParaRPr>
          </a:p>
        </p:txBody>
      </p:sp>
      <p:pic>
        <p:nvPicPr>
          <p:cNvPr id="281" name="Google Shape;281;g104476d1465_1_17"/>
          <p:cNvPicPr preferRelativeResize="0"/>
          <p:nvPr/>
        </p:nvPicPr>
        <p:blipFill>
          <a:blip r:embed="rId3">
            <a:alphaModFix/>
          </a:blip>
          <a:stretch>
            <a:fillRect/>
          </a:stretch>
        </p:blipFill>
        <p:spPr>
          <a:xfrm>
            <a:off x="354900" y="425725"/>
            <a:ext cx="747300" cy="747300"/>
          </a:xfrm>
          <a:prstGeom prst="rect">
            <a:avLst/>
          </a:prstGeom>
          <a:noFill/>
          <a:ln>
            <a:noFill/>
          </a:ln>
          <a:effectLst>
            <a:outerShdw blurRad="57150" dist="19050" dir="5400000" algn="bl" rotWithShape="0">
              <a:srgbClr val="000000">
                <a:alpha val="50000"/>
              </a:srgbClr>
            </a:outerShdw>
          </a:effectLst>
        </p:spPr>
      </p:pic>
      <p:sp>
        <p:nvSpPr>
          <p:cNvPr id="282" name="Google Shape;282;g104476d1465_1_17"/>
          <p:cNvSpPr txBox="1"/>
          <p:nvPr/>
        </p:nvSpPr>
        <p:spPr>
          <a:xfrm>
            <a:off x="8842248"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105</a:t>
            </a:r>
            <a:endParaRPr i="1" dirty="0">
              <a:latin typeface="Calibri"/>
              <a:ea typeface="Calibri"/>
              <a:cs typeface="Calibri"/>
              <a:sym typeface="Calibri"/>
            </a:endParaRPr>
          </a:p>
        </p:txBody>
      </p:sp>
      <p:pic>
        <p:nvPicPr>
          <p:cNvPr id="28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75720" y="6200600"/>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80;g104476d1465_1_17">
            <a:extLst>
              <a:ext uri="{FF2B5EF4-FFF2-40B4-BE49-F238E27FC236}">
                <a16:creationId xmlns:a16="http://schemas.microsoft.com/office/drawing/2014/main" id="{527A9F9F-07B8-ED47-B967-E5507C67DBC5}"/>
              </a:ext>
            </a:extLst>
          </p:cNvPr>
          <p:cNvSpPr txBox="1">
            <a:spLocks/>
          </p:cNvSpPr>
          <p:nvPr/>
        </p:nvSpPr>
        <p:spPr>
          <a:xfrm>
            <a:off x="584200" y="1375612"/>
            <a:ext cx="11010900"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pPr marL="0" indent="0">
              <a:lnSpc>
                <a:spcPct val="100000"/>
              </a:lnSpc>
              <a:spcBef>
                <a:spcPts val="0"/>
              </a:spcBef>
              <a:buSzPts val="1100"/>
              <a:buNone/>
            </a:pPr>
            <a:r>
              <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MA.8.GR.2.2</a:t>
            </a:r>
          </a:p>
          <a:p>
            <a:pPr indent="0">
              <a:lnSpc>
                <a:spcPct val="100000"/>
              </a:lnSpc>
              <a:spcBef>
                <a:spcPts val="0"/>
              </a:spcBef>
              <a:buNone/>
            </a:pPr>
            <a:r>
              <a:rPr lang="en-US" sz="2400" dirty="0">
                <a:latin typeface="Verdana" panose="020B0604030504040204" pitchFamily="34" charset="0"/>
                <a:ea typeface="Verdana" panose="020B0604030504040204" pitchFamily="34" charset="0"/>
                <a:cs typeface="Verdana" panose="020B0604030504040204" pitchFamily="34" charset="0"/>
              </a:rPr>
              <a:t>Given a preimage and image generated by a single dilation, identify the scale factor that describes the relationship.</a:t>
            </a:r>
            <a:endPar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marL="0" indent="0">
              <a:lnSpc>
                <a:spcPct val="100000"/>
              </a:lnSpc>
              <a:spcBef>
                <a:spcPts val="0"/>
              </a:spcBef>
              <a:buSzPts val="1100"/>
              <a:buNone/>
            </a:pPr>
            <a:endPar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marL="0" indent="0">
              <a:lnSpc>
                <a:spcPct val="100000"/>
              </a:lnSpc>
              <a:spcBef>
                <a:spcPts val="0"/>
              </a:spcBef>
              <a:buSzPts val="1100"/>
              <a:buNone/>
            </a:pPr>
            <a:r>
              <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MA.8.GR.2.3</a:t>
            </a:r>
          </a:p>
          <a:p>
            <a:pPr indent="0">
              <a:lnSpc>
                <a:spcPct val="100000"/>
              </a:lnSpc>
              <a:spcBef>
                <a:spcPts val="0"/>
              </a:spcBef>
              <a:buNone/>
            </a:pPr>
            <a:r>
              <a:rPr lang="en-US" sz="2400" dirty="0">
                <a:latin typeface="Verdana" panose="020B0604030504040204" pitchFamily="34" charset="0"/>
                <a:ea typeface="Verdana" panose="020B0604030504040204" pitchFamily="34" charset="0"/>
                <a:cs typeface="Verdana" panose="020B0604030504040204" pitchFamily="34" charset="0"/>
              </a:rPr>
              <a:t>Describe and apply the effect of a single transformation on two-dimensional figures using coordinates and the coordinate plane.</a:t>
            </a:r>
            <a:endPar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marL="0" indent="0">
              <a:lnSpc>
                <a:spcPct val="100000"/>
              </a:lnSpc>
              <a:spcBef>
                <a:spcPts val="0"/>
              </a:spcBef>
              <a:buSzPts val="1100"/>
              <a:buNone/>
            </a:pPr>
            <a:endPar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marL="0" indent="0">
              <a:lnSpc>
                <a:spcPct val="100000"/>
              </a:lnSpc>
              <a:spcBef>
                <a:spcPts val="0"/>
              </a:spcBef>
              <a:buSzPts val="1100"/>
              <a:buNone/>
            </a:pPr>
            <a:r>
              <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MA.8.GR.2.4</a:t>
            </a:r>
          </a:p>
          <a:p>
            <a:pPr indent="0">
              <a:lnSpc>
                <a:spcPct val="100000"/>
              </a:lnSpc>
              <a:spcBef>
                <a:spcPts val="0"/>
              </a:spcBef>
              <a:buNone/>
            </a:pPr>
            <a:r>
              <a:rPr lang="en-US" sz="2400" dirty="0">
                <a:latin typeface="Verdana" panose="020B0604030504040204" pitchFamily="34" charset="0"/>
                <a:ea typeface="Verdana" panose="020B0604030504040204" pitchFamily="34" charset="0"/>
                <a:cs typeface="Verdana" panose="020B0604030504040204" pitchFamily="34" charset="0"/>
              </a:rPr>
              <a:t>Solve mathematical and real-world problems involving proportional relationships between similar triangles.</a:t>
            </a:r>
            <a:endPar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Century Gothic"/>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1" name="Google Shape;281;g104476d1465_1_17"/>
          <p:cNvPicPr preferRelativeResize="0"/>
          <p:nvPr/>
        </p:nvPicPr>
        <p:blipFill>
          <a:blip r:embed="rId3">
            <a:alphaModFix/>
          </a:blip>
          <a:stretch>
            <a:fillRect/>
          </a:stretch>
        </p:blipFill>
        <p:spPr>
          <a:xfrm>
            <a:off x="384118" y="418867"/>
            <a:ext cx="747300" cy="747300"/>
          </a:xfrm>
          <a:prstGeom prst="rect">
            <a:avLst/>
          </a:prstGeom>
          <a:noFill/>
          <a:ln>
            <a:noFill/>
          </a:ln>
          <a:effectLst>
            <a:outerShdw blurRad="57150" dist="19050" dir="5400000" algn="bl" rotWithShape="0">
              <a:srgbClr val="000000">
                <a:alpha val="50000"/>
              </a:srgbClr>
            </a:outerShdw>
          </a:effectLst>
        </p:spPr>
      </p:pic>
      <p:pic>
        <p:nvPicPr>
          <p:cNvPr id="28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75720" y="6200600"/>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95;g103996e1364_0_10">
            <a:extLst>
              <a:ext uri="{FF2B5EF4-FFF2-40B4-BE49-F238E27FC236}">
                <a16:creationId xmlns:a16="http://schemas.microsoft.com/office/drawing/2014/main" id="{08B3C7FF-E6D0-2145-9A84-003D15672764}"/>
              </a:ext>
            </a:extLst>
          </p:cNvPr>
          <p:cNvSpPr txBox="1">
            <a:spLocks/>
          </p:cNvSpPr>
          <p:nvPr/>
        </p:nvSpPr>
        <p:spPr>
          <a:xfrm>
            <a:off x="1292336" y="129667"/>
            <a:ext cx="932449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200" b="1" dirty="0">
                <a:solidFill>
                  <a:srgbClr val="54B5D1"/>
                </a:solidFill>
                <a:latin typeface="Verdana"/>
                <a:ea typeface="Verdana"/>
                <a:cs typeface="Verdana"/>
                <a:sym typeface="Verdana"/>
              </a:rPr>
              <a:t>Integrated Mathematical Thinking and Reasoning Standards</a:t>
            </a:r>
          </a:p>
        </p:txBody>
      </p:sp>
      <p:sp>
        <p:nvSpPr>
          <p:cNvPr id="11" name="Google Shape;296;g103996e1364_0_10">
            <a:extLst>
              <a:ext uri="{FF2B5EF4-FFF2-40B4-BE49-F238E27FC236}">
                <a16:creationId xmlns:a16="http://schemas.microsoft.com/office/drawing/2014/main" id="{A6E18E39-B007-D647-9935-55A748533A45}"/>
              </a:ext>
            </a:extLst>
          </p:cNvPr>
          <p:cNvSpPr txBox="1">
            <a:spLocks/>
          </p:cNvSpPr>
          <p:nvPr/>
        </p:nvSpPr>
        <p:spPr>
          <a:xfrm>
            <a:off x="647700" y="1596390"/>
            <a:ext cx="10947400"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SzPts val="523"/>
            </a:pPr>
            <a:r>
              <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MA.K12.MTR.1.1 Actively participate in effortful learning both individually and collectively.</a:t>
            </a:r>
          </a:p>
          <a:p>
            <a:pPr marL="457200">
              <a:buSzPts val="523"/>
            </a:pPr>
            <a:endPar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MA.K12.MTR.2.1 Demonstrate understanding by representing problems in multiple ways.</a:t>
            </a:r>
          </a:p>
          <a:p>
            <a:pPr marL="457200">
              <a:buSzPts val="523"/>
            </a:pPr>
            <a:endPar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MA.K12.MTR.4.1 Engage in discussions that reflect on the mathematical thinking of self and others.</a:t>
            </a:r>
          </a:p>
          <a:p>
            <a:pPr marL="457200">
              <a:buSzPts val="523"/>
            </a:pPr>
            <a:endPar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MA.K12.MTR.5.1 Use patterns and structure to help understand and connect mathematical concepts.</a:t>
            </a:r>
          </a:p>
          <a:p>
            <a:pPr>
              <a:buSzPts val="523"/>
            </a:pPr>
            <a:endPar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MA.K12.MTR.7.1 </a:t>
            </a:r>
            <a:r>
              <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rPr>
              <a:t>Apply mathematics to real-world contexts.</a:t>
            </a:r>
            <a:endPar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p:txBody>
      </p:sp>
      <p:sp>
        <p:nvSpPr>
          <p:cNvPr id="9" name="Google Shape;282;g104476d1465_1_17"/>
          <p:cNvSpPr txBox="1"/>
          <p:nvPr/>
        </p:nvSpPr>
        <p:spPr>
          <a:xfrm>
            <a:off x="8842248"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105</a:t>
            </a:r>
            <a:endParaRPr i="1" dirty="0">
              <a:latin typeface="Calibri"/>
              <a:ea typeface="Calibri"/>
              <a:cs typeface="Calibri"/>
              <a:sym typeface="Calibri"/>
            </a:endParaRPr>
          </a:p>
        </p:txBody>
      </p:sp>
    </p:spTree>
    <p:extLst>
      <p:ext uri="{BB962C8B-B14F-4D97-AF65-F5344CB8AC3E}">
        <p14:creationId xmlns:p14="http://schemas.microsoft.com/office/powerpoint/2010/main" val="20808422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1">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highlight>
                <a:srgbClr val="FFFF00"/>
              </a:highlight>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475720" y="6200600"/>
            <a:ext cx="563850" cy="657276"/>
          </a:xfrm>
          <a:prstGeom prst="rect">
            <a:avLst/>
          </a:prstGeom>
          <a:noFill/>
          <a:ln>
            <a:noFill/>
          </a:ln>
          <a:effectLst>
            <a:outerShdw blurRad="57150" dist="19050" dir="5400000" algn="bl" rotWithShape="0">
              <a:srgbClr val="000000">
                <a:alpha val="50000"/>
              </a:srgbClr>
            </a:outerShdw>
          </a:effectLst>
        </p:spPr>
      </p:pic>
      <p:sp>
        <p:nvSpPr>
          <p:cNvPr id="10" name="Google Shape;301;g103996e1364_0_16">
            <a:extLst>
              <a:ext uri="{FF2B5EF4-FFF2-40B4-BE49-F238E27FC236}">
                <a16:creationId xmlns:a16="http://schemas.microsoft.com/office/drawing/2014/main" id="{5771FBFA-7311-BB45-8AFF-04B380531EE6}"/>
              </a:ext>
            </a:extLst>
          </p:cNvPr>
          <p:cNvSpPr txBox="1">
            <a:spLocks/>
          </p:cNvSpPr>
          <p:nvPr/>
        </p:nvSpPr>
        <p:spPr>
          <a:xfrm>
            <a:off x="1233900" y="30660"/>
            <a:ext cx="9305075"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4700" b="1" dirty="0">
                <a:solidFill>
                  <a:srgbClr val="52BDA6"/>
                </a:solidFill>
                <a:latin typeface="Verdana"/>
                <a:ea typeface="Verdana"/>
                <a:cs typeface="Verdana"/>
                <a:sym typeface="Verdana"/>
              </a:rPr>
              <a:t>Learning Targets</a:t>
            </a:r>
          </a:p>
        </p:txBody>
      </p:sp>
      <p:pic>
        <p:nvPicPr>
          <p:cNvPr id="12" name="Google Shape;303;g103996e1364_0_16">
            <a:extLst>
              <a:ext uri="{FF2B5EF4-FFF2-40B4-BE49-F238E27FC236}">
                <a16:creationId xmlns:a16="http://schemas.microsoft.com/office/drawing/2014/main" id="{81DC7EB0-4FED-FC45-BAEC-D699ED5C2169}"/>
              </a:ext>
            </a:extLst>
          </p:cNvPr>
          <p:cNvPicPr preferRelativeResize="0"/>
          <p:nvPr/>
        </p:nvPicPr>
        <p:blipFill>
          <a:blip r:embed="rId4">
            <a:alphaModFix/>
          </a:blip>
          <a:stretch>
            <a:fillRect/>
          </a:stretch>
        </p:blipFill>
        <p:spPr>
          <a:xfrm>
            <a:off x="354900" y="319860"/>
            <a:ext cx="747300" cy="747300"/>
          </a:xfrm>
          <a:prstGeom prst="rect">
            <a:avLst/>
          </a:prstGeom>
          <a:noFill/>
          <a:ln>
            <a:noFill/>
          </a:ln>
          <a:effectLst>
            <a:outerShdw blurRad="50800" dist="38100" dir="2700000" algn="tl" rotWithShape="0">
              <a:prstClr val="black">
                <a:alpha val="40000"/>
              </a:prstClr>
            </a:outerShdw>
          </a:effectLst>
        </p:spPr>
      </p:pic>
      <p:sp>
        <p:nvSpPr>
          <p:cNvPr id="14" name="Google Shape;302;g103996e1364_0_16">
            <a:extLst>
              <a:ext uri="{FF2B5EF4-FFF2-40B4-BE49-F238E27FC236}">
                <a16:creationId xmlns:a16="http://schemas.microsoft.com/office/drawing/2014/main" id="{9B7C98EC-F13C-9146-B728-D7044DB4247D}"/>
              </a:ext>
            </a:extLst>
          </p:cNvPr>
          <p:cNvSpPr txBox="1">
            <a:spLocks/>
          </p:cNvSpPr>
          <p:nvPr/>
        </p:nvSpPr>
        <p:spPr>
          <a:xfrm>
            <a:off x="622300" y="1600200"/>
            <a:ext cx="10972800"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457200" indent="-457200">
              <a:buFont typeface="Wingdings" panose="05000000000000000000" pitchFamily="2" charset="2"/>
              <a:buChar char="q"/>
            </a:pPr>
            <a:r>
              <a:rPr lang="en-US" sz="3500" dirty="0">
                <a:latin typeface="Verdana" panose="020B0604030504040204" pitchFamily="34" charset="0"/>
                <a:ea typeface="Verdana" panose="020B0604030504040204" pitchFamily="34" charset="0"/>
                <a:cs typeface="Verdana" panose="020B0604030504040204" pitchFamily="34" charset="0"/>
              </a:rPr>
              <a:t>I can determine the scale factor of a given dilation.</a:t>
            </a:r>
          </a:p>
          <a:p>
            <a:pPr marL="457200" indent="-457200">
              <a:buFont typeface="Wingdings" panose="05000000000000000000" pitchFamily="2" charset="2"/>
              <a:buChar char="q"/>
            </a:pPr>
            <a:endParaRPr lang="en-US" sz="35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Wingdings" panose="05000000000000000000" pitchFamily="2" charset="2"/>
              <a:buChar char="q"/>
            </a:pPr>
            <a:r>
              <a:rPr lang="en-US" sz="3500" dirty="0">
                <a:latin typeface="Verdana" panose="020B0604030504040204" pitchFamily="34" charset="0"/>
                <a:ea typeface="Verdana" panose="020B0604030504040204" pitchFamily="34" charset="0"/>
                <a:cs typeface="Verdana" panose="020B0604030504040204" pitchFamily="34" charset="0"/>
              </a:rPr>
              <a:t>I can solve real-world problems that involve similar triangles. </a:t>
            </a:r>
            <a:endParaRPr lang="en-US" sz="35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p:txBody>
      </p:sp>
      <p:sp>
        <p:nvSpPr>
          <p:cNvPr id="8" name="Google Shape;282;g104476d1465_1_17"/>
          <p:cNvSpPr txBox="1"/>
          <p:nvPr/>
        </p:nvSpPr>
        <p:spPr>
          <a:xfrm>
            <a:off x="8842248"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105</a:t>
            </a:r>
            <a:endParaRPr i="1" dirty="0">
              <a:latin typeface="Calibri"/>
              <a:ea typeface="Calibri"/>
              <a:cs typeface="Calibri"/>
              <a:sym typeface="Calibri"/>
            </a:endParaRPr>
          </a:p>
        </p:txBody>
      </p:sp>
    </p:spTree>
    <p:extLst>
      <p:ext uri="{BB962C8B-B14F-4D97-AF65-F5344CB8AC3E}">
        <p14:creationId xmlns:p14="http://schemas.microsoft.com/office/powerpoint/2010/main" val="20714203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4">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475720" y="6200600"/>
            <a:ext cx="563850" cy="657276"/>
          </a:xfrm>
          <a:prstGeom prst="rect">
            <a:avLst/>
          </a:prstGeom>
          <a:noFill/>
          <a:ln>
            <a:noFill/>
          </a:ln>
          <a:effectLst>
            <a:outerShdw blurRad="57150" dist="19050" dir="5400000" algn="bl" rotWithShape="0">
              <a:srgbClr val="000000">
                <a:alpha val="50000"/>
              </a:srgbClr>
            </a:outerShdw>
          </a:effectLst>
        </p:spPr>
      </p:pic>
      <p:pic>
        <p:nvPicPr>
          <p:cNvPr id="312" name="Google Shape;312;g104476d1465_1_39"/>
          <p:cNvPicPr preferRelativeResize="0"/>
          <p:nvPr/>
        </p:nvPicPr>
        <p:blipFill>
          <a:blip r:embed="rId4">
            <a:alphaModFix/>
          </a:blip>
          <a:stretch>
            <a:fillRect/>
          </a:stretch>
        </p:blipFill>
        <p:spPr>
          <a:xfrm>
            <a:off x="3017520" y="2916936"/>
            <a:ext cx="1031750" cy="1031750"/>
          </a:xfrm>
          <a:prstGeom prst="rect">
            <a:avLst/>
          </a:prstGeom>
          <a:noFill/>
          <a:ln>
            <a:noFill/>
          </a:ln>
          <a:effectLst>
            <a:outerShdw blurRad="50800" dist="38100" dir="2700000" algn="tl" rotWithShape="0">
              <a:prstClr val="black">
                <a:alpha val="40000"/>
              </a:prstClr>
            </a:outerShdw>
          </a:effectLst>
        </p:spPr>
      </p:pic>
      <p:sp>
        <p:nvSpPr>
          <p:cNvPr id="313" name="Google Shape;313;g104476d1465_1_39"/>
          <p:cNvSpPr txBox="1">
            <a:spLocks noGrp="1"/>
          </p:cNvSpPr>
          <p:nvPr>
            <p:ph type="title" idx="4294967295"/>
          </p:nvPr>
        </p:nvSpPr>
        <p:spPr>
          <a:xfrm>
            <a:off x="4335590" y="2766150"/>
            <a:ext cx="404820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Warm-Up</a:t>
            </a:r>
            <a:endParaRPr sz="5100" b="1" dirty="0">
              <a:solidFill>
                <a:srgbClr val="3F2A67"/>
              </a:solidFill>
              <a:latin typeface="Verdana"/>
              <a:ea typeface="Verdana"/>
              <a:cs typeface="Verdana"/>
              <a:sym typeface="Verdana"/>
            </a:endParaRPr>
          </a:p>
        </p:txBody>
      </p:sp>
      <p:sp>
        <p:nvSpPr>
          <p:cNvPr id="8" name="Google Shape;282;g104476d1465_1_17"/>
          <p:cNvSpPr txBox="1"/>
          <p:nvPr/>
        </p:nvSpPr>
        <p:spPr>
          <a:xfrm>
            <a:off x="8842248"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106</a:t>
            </a:r>
            <a:endParaRPr i="1" dirty="0">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475720" y="6200600"/>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324;g103996e1364_0_25">
            <a:extLst>
              <a:ext uri="{FF2B5EF4-FFF2-40B4-BE49-F238E27FC236}">
                <a16:creationId xmlns:a16="http://schemas.microsoft.com/office/drawing/2014/main" id="{DB5796CA-12EB-BB4C-8338-B127D750A026}"/>
              </a:ext>
            </a:extLst>
          </p:cNvPr>
          <p:cNvSpPr txBox="1">
            <a:spLocks/>
          </p:cNvSpPr>
          <p:nvPr/>
        </p:nvSpPr>
        <p:spPr>
          <a:xfrm>
            <a:off x="1313148" y="275690"/>
            <a:ext cx="9208926" cy="590891"/>
          </a:xfrm>
          <a:prstGeom prst="rect">
            <a:avLst/>
          </a:prstGeom>
          <a:noFill/>
          <a:ln>
            <a:noFill/>
          </a:ln>
        </p:spPr>
        <p:txBody>
          <a:bodyPr spcFirstLastPara="1" wrap="square" lIns="91425" tIns="45700" rIns="91425" bIns="45700" anchor="ctr"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F2A67"/>
                </a:solidFill>
                <a:latin typeface="Verdana"/>
                <a:ea typeface="Verdana"/>
                <a:cs typeface="Verdana"/>
                <a:sym typeface="Verdana"/>
              </a:rPr>
              <a:t>9.9.1 Warm-Up: Bell Work</a:t>
            </a:r>
          </a:p>
        </p:txBody>
      </p:sp>
      <p:pic>
        <p:nvPicPr>
          <p:cNvPr id="13" name="Google Shape;326;g103996e1364_0_25">
            <a:extLst>
              <a:ext uri="{FF2B5EF4-FFF2-40B4-BE49-F238E27FC236}">
                <a16:creationId xmlns:a16="http://schemas.microsoft.com/office/drawing/2014/main" id="{0B25478F-1F7B-DF44-A9BD-898178E878B3}"/>
              </a:ext>
            </a:extLst>
          </p:cNvPr>
          <p:cNvPicPr preferRelativeResize="0"/>
          <p:nvPr/>
        </p:nvPicPr>
        <p:blipFill>
          <a:blip r:embed="rId4">
            <a:alphaModFix/>
          </a:blip>
          <a:stretch>
            <a:fillRect/>
          </a:stretch>
        </p:blipFill>
        <p:spPr>
          <a:xfrm>
            <a:off x="394524" y="197485"/>
            <a:ext cx="747300" cy="747300"/>
          </a:xfrm>
          <a:prstGeom prst="rect">
            <a:avLst/>
          </a:prstGeom>
          <a:noFill/>
          <a:ln>
            <a:noFill/>
          </a:ln>
          <a:effectLst>
            <a:outerShdw blurRad="50800" dist="38100" dir="2700000" algn="tl" rotWithShape="0">
              <a:prstClr val="black">
                <a:alpha val="40000"/>
              </a:prstClr>
            </a:outerShdw>
          </a:effectLst>
        </p:spPr>
      </p:pic>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E1D7562E-134F-D14B-AF1A-DF40E11EF758}"/>
                  </a:ext>
                </a:extLst>
              </p:cNvPr>
              <p:cNvSpPr txBox="1"/>
              <p:nvPr/>
            </p:nvSpPr>
            <p:spPr>
              <a:xfrm>
                <a:off x="596900" y="1183842"/>
                <a:ext cx="10998200" cy="5016758"/>
              </a:xfrm>
              <a:prstGeom prst="rect">
                <a:avLst/>
              </a:prstGeom>
              <a:noFill/>
            </p:spPr>
            <p:txBody>
              <a:bodyPr wrap="square" rtlCol="0">
                <a:spAutoFit/>
              </a:bodyPr>
              <a:lstStyle/>
              <a:p>
                <a:pPr marL="457200" indent="-457200">
                  <a:buFont typeface="+mj-lt"/>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All of the triangles shown are dilations of Triangle </a:t>
                </a:r>
                <a14:m>
                  <m:oMath xmlns:m="http://schemas.openxmlformats.org/officeDocument/2006/math">
                    <m:r>
                      <a:rPr lang="en-US" sz="2000" i="1">
                        <a:latin typeface="Cambria Math" panose="02040503050406030204" pitchFamily="18" charset="0"/>
                        <a:ea typeface="Cambria Math" panose="02040503050406030204" pitchFamily="18" charset="0"/>
                      </a:rPr>
                      <m:t>𝐷</m:t>
                    </m:r>
                  </m:oMath>
                </a14:m>
                <a:r>
                  <a:rPr lang="en-US" sz="2000" dirty="0">
                    <a:latin typeface="Verdana" panose="020B0604030504040204" pitchFamily="34" charset="0"/>
                    <a:ea typeface="Verdana" panose="020B0604030504040204" pitchFamily="34" charset="0"/>
                    <a:cs typeface="Verdana" panose="020B0604030504040204" pitchFamily="34" charset="0"/>
                  </a:rPr>
                  <a:t>. </a:t>
                </a:r>
                <a:br>
                  <a:rPr lang="en-US" sz="2000" dirty="0">
                    <a:latin typeface="Verdana" panose="020B0604030504040204" pitchFamily="34" charset="0"/>
                    <a:ea typeface="Verdana" panose="020B0604030504040204" pitchFamily="34" charset="0"/>
                    <a:cs typeface="Verdana" panose="020B0604030504040204" pitchFamily="34" charset="0"/>
                  </a:rPr>
                </a:br>
                <a:r>
                  <a:rPr lang="en-US" sz="2000" dirty="0">
                    <a:latin typeface="Verdana" panose="020B0604030504040204" pitchFamily="34" charset="0"/>
                    <a:ea typeface="Verdana" panose="020B0604030504040204" pitchFamily="34" charset="0"/>
                    <a:cs typeface="Verdana" panose="020B0604030504040204" pitchFamily="34" charset="0"/>
                  </a:rPr>
                  <a:t>The dilations use the same center, point </a:t>
                </a:r>
                <a14:m>
                  <m:oMath xmlns:m="http://schemas.openxmlformats.org/officeDocument/2006/math">
                    <m:r>
                      <a:rPr lang="en-US" sz="2000" i="1">
                        <a:latin typeface="Cambria Math" panose="02040503050406030204" pitchFamily="18" charset="0"/>
                        <a:ea typeface="Cambria Math" panose="02040503050406030204" pitchFamily="18" charset="0"/>
                      </a:rPr>
                      <m:t>𝑃</m:t>
                    </m:r>
                  </m:oMath>
                </a14:m>
                <a:r>
                  <a:rPr lang="en-US" sz="2000" dirty="0">
                    <a:latin typeface="Verdana" panose="020B0604030504040204" pitchFamily="34" charset="0"/>
                    <a:ea typeface="Verdana" panose="020B0604030504040204" pitchFamily="34" charset="0"/>
                    <a:cs typeface="Verdana" panose="020B0604030504040204" pitchFamily="34" charset="0"/>
                  </a:rPr>
                  <a:t>, but different scale factors.</a:t>
                </a:r>
              </a:p>
              <a:p>
                <a:pPr lvl="0"/>
                <a:endParaRPr lang="en-US" sz="2000" dirty="0">
                  <a:latin typeface="Verdana" panose="020B0604030504040204" pitchFamily="34" charset="0"/>
                  <a:ea typeface="Verdana" panose="020B0604030504040204" pitchFamily="34" charset="0"/>
                  <a:cs typeface="Verdana" panose="020B0604030504040204" pitchFamily="34" charset="0"/>
                </a:endParaRPr>
              </a:p>
              <a:p>
                <a:pPr lvl="0"/>
                <a:endParaRPr lang="en-US" sz="2000" dirty="0">
                  <a:latin typeface="Verdana" panose="020B0604030504040204" pitchFamily="34" charset="0"/>
                  <a:ea typeface="Verdana" panose="020B0604030504040204" pitchFamily="34" charset="0"/>
                  <a:cs typeface="Verdana" panose="020B0604030504040204" pitchFamily="34" charset="0"/>
                </a:endParaRPr>
              </a:p>
              <a:p>
                <a:pPr lvl="0"/>
                <a:endParaRPr lang="en-US" sz="2000" dirty="0">
                  <a:latin typeface="Verdana" panose="020B0604030504040204" pitchFamily="34" charset="0"/>
                  <a:ea typeface="Verdana" panose="020B0604030504040204" pitchFamily="34" charset="0"/>
                  <a:cs typeface="Verdana" panose="020B0604030504040204" pitchFamily="34" charset="0"/>
                </a:endParaRPr>
              </a:p>
              <a:p>
                <a:pPr lvl="0"/>
                <a:endParaRPr lang="en-US" sz="2000" dirty="0">
                  <a:latin typeface="Verdana" panose="020B0604030504040204" pitchFamily="34" charset="0"/>
                  <a:ea typeface="Verdana" panose="020B0604030504040204" pitchFamily="34" charset="0"/>
                  <a:cs typeface="Verdana" panose="020B0604030504040204" pitchFamily="34" charset="0"/>
                </a:endParaRPr>
              </a:p>
              <a:p>
                <a:pPr lvl="0"/>
                <a:endParaRPr lang="en-US" sz="2000" dirty="0">
                  <a:latin typeface="Verdana" panose="020B0604030504040204" pitchFamily="34" charset="0"/>
                  <a:ea typeface="Verdana" panose="020B0604030504040204" pitchFamily="34" charset="0"/>
                  <a:cs typeface="Verdana" panose="020B0604030504040204" pitchFamily="34" charset="0"/>
                </a:endParaRPr>
              </a:p>
              <a:p>
                <a:pPr lvl="0"/>
                <a:endParaRPr lang="en-US" sz="2000" dirty="0">
                  <a:latin typeface="Verdana" panose="020B0604030504040204" pitchFamily="34" charset="0"/>
                  <a:ea typeface="Verdana" panose="020B0604030504040204" pitchFamily="34" charset="0"/>
                  <a:cs typeface="Verdana" panose="020B0604030504040204" pitchFamily="34" charset="0"/>
                </a:endParaRPr>
              </a:p>
              <a:p>
                <a:pPr lvl="0"/>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r>
                  <a:rPr lang="en-US" sz="2000" dirty="0">
                    <a:latin typeface="Verdana" panose="020B0604030504040204" pitchFamily="34" charset="0"/>
                    <a:ea typeface="Verdana" panose="020B0604030504040204" pitchFamily="34" charset="0"/>
                    <a:cs typeface="Verdana" panose="020B0604030504040204" pitchFamily="34" charset="0"/>
                  </a:rPr>
                  <a:t>How do Triangles </a:t>
                </a:r>
                <a14:m>
                  <m:oMath xmlns:m="http://schemas.openxmlformats.org/officeDocument/2006/math">
                    <m:r>
                      <a:rPr lang="en-US" sz="2000" i="1">
                        <a:latin typeface="Cambria Math" panose="02040503050406030204" pitchFamily="18" charset="0"/>
                        <a:ea typeface="Cambria Math" panose="02040503050406030204" pitchFamily="18" charset="0"/>
                      </a:rPr>
                      <m:t>𝐴</m:t>
                    </m:r>
                  </m:oMath>
                </a14:m>
                <a:r>
                  <a:rPr lang="en-US" sz="2000" dirty="0">
                    <a:latin typeface="Verdana" panose="020B0604030504040204" pitchFamily="34" charset="0"/>
                    <a:ea typeface="Verdana" panose="020B0604030504040204" pitchFamily="34" charset="0"/>
                    <a:cs typeface="Verdana" panose="020B0604030504040204" pitchFamily="34" charset="0"/>
                  </a:rPr>
                  <a:t>, </a:t>
                </a:r>
                <a14:m>
                  <m:oMath xmlns:m="http://schemas.openxmlformats.org/officeDocument/2006/math">
                    <m:r>
                      <a:rPr lang="en-US" sz="2000" i="1">
                        <a:latin typeface="Cambria Math" panose="02040503050406030204" pitchFamily="18" charset="0"/>
                        <a:ea typeface="Cambria Math" panose="02040503050406030204" pitchFamily="18" charset="0"/>
                      </a:rPr>
                      <m:t>𝐵</m:t>
                    </m:r>
                  </m:oMath>
                </a14:m>
                <a:r>
                  <a:rPr lang="en-US" sz="2000" dirty="0">
                    <a:latin typeface="Verdana" panose="020B0604030504040204" pitchFamily="34" charset="0"/>
                    <a:ea typeface="Verdana" panose="020B0604030504040204" pitchFamily="34" charset="0"/>
                    <a:cs typeface="Verdana" panose="020B0604030504040204" pitchFamily="34" charset="0"/>
                  </a:rPr>
                  <a:t>, and </a:t>
                </a:r>
                <a14:m>
                  <m:oMath xmlns:m="http://schemas.openxmlformats.org/officeDocument/2006/math">
                    <m:r>
                      <a:rPr lang="en-US" sz="2000" i="1">
                        <a:latin typeface="Cambria Math" panose="02040503050406030204" pitchFamily="18" charset="0"/>
                        <a:ea typeface="Cambria Math" panose="02040503050406030204" pitchFamily="18" charset="0"/>
                      </a:rPr>
                      <m:t>𝐶</m:t>
                    </m:r>
                  </m:oMath>
                </a14:m>
                <a:r>
                  <a:rPr lang="en-US" sz="2000" dirty="0">
                    <a:latin typeface="Verdana" panose="020B0604030504040204" pitchFamily="34" charset="0"/>
                    <a:ea typeface="Verdana" panose="020B0604030504040204" pitchFamily="34" charset="0"/>
                    <a:cs typeface="Verdana" panose="020B0604030504040204" pitchFamily="34" charset="0"/>
                  </a:rPr>
                  <a:t> compare to the preimage? </a:t>
                </a:r>
              </a:p>
              <a:p>
                <a:pPr marL="914400" indent="-457200">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r>
                  <a:rPr lang="en-US" sz="2000" dirty="0">
                    <a:latin typeface="Verdana" panose="020B0604030504040204" pitchFamily="34" charset="0"/>
                    <a:ea typeface="Verdana" panose="020B0604030504040204" pitchFamily="34" charset="0"/>
                    <a:cs typeface="Verdana" panose="020B0604030504040204" pitchFamily="34" charset="0"/>
                  </a:rPr>
                  <a:t>How do Triangles </a:t>
                </a:r>
                <a14:m>
                  <m:oMath xmlns:m="http://schemas.openxmlformats.org/officeDocument/2006/math">
                    <m:r>
                      <a:rPr lang="en-US" sz="2000" i="1">
                        <a:latin typeface="Cambria Math" panose="02040503050406030204" pitchFamily="18" charset="0"/>
                        <a:ea typeface="Cambria Math" panose="02040503050406030204" pitchFamily="18" charset="0"/>
                      </a:rPr>
                      <m:t>𝐸</m:t>
                    </m:r>
                  </m:oMath>
                </a14:m>
                <a:r>
                  <a:rPr lang="en-US" sz="2000" dirty="0">
                    <a:latin typeface="Verdana" panose="020B0604030504040204" pitchFamily="34" charset="0"/>
                    <a:ea typeface="Verdana" panose="020B0604030504040204" pitchFamily="34" charset="0"/>
                    <a:cs typeface="Verdana" panose="020B0604030504040204" pitchFamily="34" charset="0"/>
                  </a:rPr>
                  <a:t>, </a:t>
                </a:r>
                <a14:m>
                  <m:oMath xmlns:m="http://schemas.openxmlformats.org/officeDocument/2006/math">
                    <m:r>
                      <a:rPr lang="en-US" sz="2000" i="1">
                        <a:latin typeface="Cambria Math" panose="02040503050406030204" pitchFamily="18" charset="0"/>
                        <a:ea typeface="Cambria Math" panose="02040503050406030204" pitchFamily="18" charset="0"/>
                      </a:rPr>
                      <m:t>𝐹</m:t>
                    </m:r>
                  </m:oMath>
                </a14:m>
                <a:r>
                  <a:rPr lang="en-US" sz="2000" dirty="0">
                    <a:latin typeface="Verdana" panose="020B0604030504040204" pitchFamily="34" charset="0"/>
                    <a:ea typeface="Verdana" panose="020B0604030504040204" pitchFamily="34" charset="0"/>
                    <a:cs typeface="Verdana" panose="020B0604030504040204" pitchFamily="34" charset="0"/>
                  </a:rPr>
                  <a:t>, and </a:t>
                </a:r>
                <a14:m>
                  <m:oMath xmlns:m="http://schemas.openxmlformats.org/officeDocument/2006/math">
                    <m:r>
                      <a:rPr lang="en-US" sz="2000" i="1">
                        <a:latin typeface="Cambria Math" panose="02040503050406030204" pitchFamily="18" charset="0"/>
                        <a:ea typeface="Cambria Math" panose="02040503050406030204" pitchFamily="18" charset="0"/>
                      </a:rPr>
                      <m:t>𝐺</m:t>
                    </m:r>
                  </m:oMath>
                </a14:m>
                <a:r>
                  <a:rPr lang="en-US" sz="2000" dirty="0">
                    <a:latin typeface="Verdana" panose="020B0604030504040204" pitchFamily="34" charset="0"/>
                    <a:ea typeface="Verdana" panose="020B0604030504040204" pitchFamily="34" charset="0"/>
                    <a:cs typeface="Verdana" panose="020B0604030504040204" pitchFamily="34" charset="0"/>
                  </a:rPr>
                  <a:t> compare to the preimage? </a:t>
                </a:r>
              </a:p>
              <a:p>
                <a:pPr marL="914400" indent="-457200">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r>
                  <a:rPr lang="en-US" sz="2000" dirty="0">
                    <a:latin typeface="Verdana" panose="020B0604030504040204" pitchFamily="34" charset="0"/>
                    <a:ea typeface="Verdana" panose="020B0604030504040204" pitchFamily="34" charset="0"/>
                    <a:cs typeface="Verdana" panose="020B0604030504040204" pitchFamily="34" charset="0"/>
                  </a:rPr>
                  <a:t>What do you know about the different scale factors used based on your answers to Parts A and B?</a:t>
                </a:r>
              </a:p>
            </p:txBody>
          </p:sp>
        </mc:Choice>
        <mc:Fallback xmlns="">
          <p:sp>
            <p:nvSpPr>
              <p:cNvPr id="2" name="TextBox 1">
                <a:extLst>
                  <a:ext uri="{FF2B5EF4-FFF2-40B4-BE49-F238E27FC236}">
                    <a16:creationId xmlns:a16="http://schemas.microsoft.com/office/drawing/2014/main" id="{E1D7562E-134F-D14B-AF1A-DF40E11EF758}"/>
                  </a:ext>
                </a:extLst>
              </p:cNvPr>
              <p:cNvSpPr txBox="1">
                <a:spLocks noRot="1" noChangeAspect="1" noMove="1" noResize="1" noEditPoints="1" noAdjustHandles="1" noChangeArrowheads="1" noChangeShapeType="1" noTextEdit="1"/>
              </p:cNvSpPr>
              <p:nvPr/>
            </p:nvSpPr>
            <p:spPr>
              <a:xfrm>
                <a:off x="596900" y="1183842"/>
                <a:ext cx="10998200" cy="5016758"/>
              </a:xfrm>
              <a:prstGeom prst="rect">
                <a:avLst/>
              </a:prstGeom>
              <a:blipFill>
                <a:blip r:embed="rId5"/>
                <a:stretch>
                  <a:fillRect l="-693" t="-758" b="-1010"/>
                </a:stretch>
              </a:blipFill>
            </p:spPr>
            <p:txBody>
              <a:bodyPr/>
              <a:lstStyle/>
              <a:p>
                <a:r>
                  <a:rPr lang="en-US">
                    <a:noFill/>
                  </a:rPr>
                  <a:t> </a:t>
                </a:r>
              </a:p>
            </p:txBody>
          </p:sp>
        </mc:Fallback>
      </mc:AlternateContent>
      <p:pic>
        <p:nvPicPr>
          <p:cNvPr id="9" name="Picture" descr="A picture containing dark, black, night sky&#10;&#10;Description automatically generated"/>
          <p:cNvPicPr/>
          <p:nvPr/>
        </p:nvPicPr>
        <p:blipFill>
          <a:blip r:embed="rId6" cstate="screen">
            <a:extLst>
              <a:ext uri="{28A0092B-C50C-407E-A947-70E740481C1C}">
                <a14:useLocalDpi xmlns:a14="http://schemas.microsoft.com/office/drawing/2010/main"/>
              </a:ext>
            </a:extLst>
          </a:blip>
          <a:stretch>
            <a:fillRect/>
          </a:stretch>
        </p:blipFill>
        <p:spPr bwMode="auto">
          <a:xfrm>
            <a:off x="3445293" y="2133199"/>
            <a:ext cx="5691936" cy="1934358"/>
          </a:xfrm>
          <a:prstGeom prst="rect">
            <a:avLst/>
          </a:prstGeom>
          <a:noFill/>
          <a:ln w="9525">
            <a:noFill/>
            <a:headEnd/>
            <a:tailEnd/>
          </a:ln>
        </p:spPr>
      </p:pic>
      <p:sp>
        <p:nvSpPr>
          <p:cNvPr id="10" name="Google Shape;282;g104476d1465_1_17"/>
          <p:cNvSpPr txBox="1"/>
          <p:nvPr/>
        </p:nvSpPr>
        <p:spPr>
          <a:xfrm>
            <a:off x="8842248"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106</a:t>
            </a:r>
            <a:endParaRPr i="1" dirty="0">
              <a:latin typeface="Calibri"/>
              <a:ea typeface="Calibri"/>
              <a:cs typeface="Calibri"/>
              <a:sym typeface="Calibri"/>
            </a:endParaRPr>
          </a:p>
        </p:txBody>
      </p:sp>
    </p:spTree>
    <p:extLst>
      <p:ext uri="{BB962C8B-B14F-4D97-AF65-F5344CB8AC3E}">
        <p14:creationId xmlns:p14="http://schemas.microsoft.com/office/powerpoint/2010/main" val="29490299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475720" y="6200600"/>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4460068" y="2832200"/>
            <a:ext cx="4396930"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33BEA6"/>
                </a:solidFill>
                <a:latin typeface="Verdana"/>
                <a:ea typeface="Verdana"/>
                <a:cs typeface="Verdana"/>
                <a:sym typeface="Verdana"/>
              </a:rPr>
              <a:t>Exploration</a:t>
            </a:r>
            <a:endParaRPr sz="5100" b="1" dirty="0">
              <a:solidFill>
                <a:srgbClr val="33BEA6"/>
              </a:solidFill>
              <a:latin typeface="Verdana"/>
              <a:ea typeface="Verdana"/>
              <a:cs typeface="Verdana"/>
              <a:sym typeface="Verdana"/>
            </a:endParaRPr>
          </a:p>
        </p:txBody>
      </p:sp>
      <p:pic>
        <p:nvPicPr>
          <p:cNvPr id="1026" name="Picture 2" descr="Icon&#10;&#10;Description automatically generated">
            <a:extLst>
              <a:ext uri="{FF2B5EF4-FFF2-40B4-BE49-F238E27FC236}">
                <a16:creationId xmlns:a16="http://schemas.microsoft.com/office/drawing/2014/main" id="{467567E5-BEAF-E24A-A492-D25759172D77}"/>
              </a:ext>
            </a:extLst>
          </p:cNvPr>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3017520" y="2916936"/>
            <a:ext cx="1156228" cy="115622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8" name="Google Shape;282;g104476d1465_1_17"/>
          <p:cNvSpPr txBox="1"/>
          <p:nvPr/>
        </p:nvSpPr>
        <p:spPr>
          <a:xfrm>
            <a:off x="8842248"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106</a:t>
            </a:r>
            <a:endParaRPr i="1" dirty="0">
              <a:latin typeface="Calibri"/>
              <a:ea typeface="Calibri"/>
              <a:cs typeface="Calibri"/>
              <a:sym typeface="Calibri"/>
            </a:endParaRPr>
          </a:p>
        </p:txBody>
      </p:sp>
    </p:spTree>
    <p:extLst>
      <p:ext uri="{BB962C8B-B14F-4D97-AF65-F5344CB8AC3E}">
        <p14:creationId xmlns:p14="http://schemas.microsoft.com/office/powerpoint/2010/main" val="419697153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9" name="Picture 8" descr="Chart, line chart&#10;&#10;Description automatically generated"/>
          <p:cNvPicPr/>
          <p:nvPr/>
        </p:nvPicPr>
        <p:blipFill rotWithShape="1">
          <a:blip r:embed="rId3" cstate="screen">
            <a:extLst>
              <a:ext uri="{28A0092B-C50C-407E-A947-70E740481C1C}">
                <a14:useLocalDpi xmlns:a14="http://schemas.microsoft.com/office/drawing/2010/main"/>
              </a:ext>
            </a:extLst>
          </a:blip>
          <a:srcRect/>
          <a:stretch/>
        </p:blipFill>
        <p:spPr bwMode="auto">
          <a:xfrm>
            <a:off x="5101938" y="1942706"/>
            <a:ext cx="5437212" cy="3249194"/>
          </a:xfrm>
          <a:prstGeom prst="rect">
            <a:avLst/>
          </a:prstGeom>
          <a:ln>
            <a:noFill/>
          </a:ln>
          <a:extLst>
            <a:ext uri="{53640926-AAD7-44D8-BBD7-CCE9431645EC}">
              <a14:shadowObscured xmlns:a14="http://schemas.microsoft.com/office/drawing/2010/main"/>
            </a:ext>
          </a:extLst>
        </p:spPr>
      </p:pic>
      <p:sp>
        <p:nvSpPr>
          <p:cNvPr id="278" name="Google Shape;278;g104476d1465_1_17"/>
          <p:cNvSpPr/>
          <p:nvPr/>
        </p:nvSpPr>
        <p:spPr>
          <a:xfrm>
            <a:off x="0" y="0"/>
            <a:ext cx="223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75720" y="6200600"/>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324;g103996e1364_0_25">
            <a:extLst>
              <a:ext uri="{FF2B5EF4-FFF2-40B4-BE49-F238E27FC236}">
                <a16:creationId xmlns:a16="http://schemas.microsoft.com/office/drawing/2014/main" id="{DB5796CA-12EB-BB4C-8338-B127D750A026}"/>
              </a:ext>
            </a:extLst>
          </p:cNvPr>
          <p:cNvSpPr txBox="1">
            <a:spLocks/>
          </p:cNvSpPr>
          <p:nvPr/>
        </p:nvSpPr>
        <p:spPr>
          <a:xfrm>
            <a:off x="1308194" y="60325"/>
            <a:ext cx="10274206"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3BEA6"/>
                </a:solidFill>
                <a:latin typeface="Verdana"/>
                <a:ea typeface="Verdana"/>
                <a:cs typeface="Verdana"/>
                <a:sym typeface="Verdana"/>
              </a:rPr>
              <a:t>9.9.2 Exploration: Identifying the Scale Factor of Dilations</a:t>
            </a:r>
          </a:p>
        </p:txBody>
      </p:sp>
      <p:pic>
        <p:nvPicPr>
          <p:cNvPr id="7" name="Picture 2" descr="Icon&#10;&#10;Description automatically generated">
            <a:extLst>
              <a:ext uri="{FF2B5EF4-FFF2-40B4-BE49-F238E27FC236}">
                <a16:creationId xmlns:a16="http://schemas.microsoft.com/office/drawing/2014/main" id="{A741EC39-D81C-A945-833B-CFC11AA40AE2}"/>
              </a:ext>
            </a:extLst>
          </p:cNvPr>
          <p:cNvPicPr>
            <a:picLocks noChangeAspect="1" noChangeArrowheads="1"/>
          </p:cNvPicPr>
          <p:nvPr/>
        </p:nvPicPr>
        <p:blipFill>
          <a:blip r:embed="rId5" cstate="screen">
            <a:extLst>
              <a:ext uri="{28A0092B-C50C-407E-A947-70E740481C1C}">
                <a14:useLocalDpi xmlns:a14="http://schemas.microsoft.com/office/drawing/2010/main"/>
              </a:ext>
            </a:extLst>
          </a:blip>
          <a:srcRect/>
          <a:stretch>
            <a:fillRect/>
          </a:stretch>
        </p:blipFill>
        <p:spPr bwMode="auto">
          <a:xfrm>
            <a:off x="389570" y="347048"/>
            <a:ext cx="752254" cy="75225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mc:AlternateContent xmlns:mc="http://schemas.openxmlformats.org/markup-compatibility/2006">
        <mc:Choice xmlns:a14="http://schemas.microsoft.com/office/drawing/2010/main" Requires="a14">
          <p:sp>
            <p:nvSpPr>
              <p:cNvPr id="10" name="TextBox 9">
                <a:extLst>
                  <a:ext uri="{FF2B5EF4-FFF2-40B4-BE49-F238E27FC236}">
                    <a16:creationId xmlns:a16="http://schemas.microsoft.com/office/drawing/2014/main" id="{152D1D4D-DCB8-A246-B186-D40316579D77}"/>
                  </a:ext>
                </a:extLst>
              </p:cNvPr>
              <p:cNvSpPr txBox="1"/>
              <p:nvPr/>
            </p:nvSpPr>
            <p:spPr>
              <a:xfrm>
                <a:off x="609600" y="1386025"/>
                <a:ext cx="8712820" cy="5016758"/>
              </a:xfrm>
              <a:prstGeom prst="rect">
                <a:avLst/>
              </a:prstGeom>
              <a:noFill/>
            </p:spPr>
            <p:txBody>
              <a:bodyPr wrap="square" rtlCol="0">
                <a:spAutoFit/>
              </a:bodyPr>
              <a:lstStyle/>
              <a:p>
                <a:r>
                  <a:rPr lang="en-US" sz="2000" dirty="0">
                    <a:latin typeface="Verdana" panose="020B0604030504040204" pitchFamily="34" charset="0"/>
                    <a:ea typeface="Verdana" panose="020B0604030504040204" pitchFamily="34" charset="0"/>
                    <a:cs typeface="Verdana" panose="020B0604030504040204" pitchFamily="34" charset="0"/>
                  </a:rPr>
                  <a:t>Work with your partner to complete the following.</a:t>
                </a:r>
              </a:p>
              <a:p>
                <a:pPr marL="457200" indent="-457200">
                  <a:buFont typeface="+mj-lt"/>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Triangle </a:t>
                </a:r>
                <a14:m>
                  <m:oMath xmlns:m="http://schemas.openxmlformats.org/officeDocument/2006/math">
                    <m:r>
                      <a:rPr lang="en-US" sz="2000" i="1">
                        <a:latin typeface="Cambria Math" panose="02040503050406030204" pitchFamily="18" charset="0"/>
                        <a:ea typeface="Cambria Math" panose="02040503050406030204" pitchFamily="18" charset="0"/>
                      </a:rPr>
                      <m:t>𝐵𝐻𝑀</m:t>
                    </m:r>
                  </m:oMath>
                </a14:m>
                <a:r>
                  <a:rPr lang="en-US" sz="2000" dirty="0">
                    <a:latin typeface="Verdana" panose="020B0604030504040204" pitchFamily="34" charset="0"/>
                    <a:ea typeface="Verdana" panose="020B0604030504040204" pitchFamily="34" charset="0"/>
                    <a:cs typeface="Verdana" panose="020B0604030504040204" pitchFamily="34" charset="0"/>
                  </a:rPr>
                  <a:t> is dilated using </a:t>
                </a:r>
                <a:br>
                  <a:rPr lang="en-US" sz="2000" dirty="0">
                    <a:latin typeface="Verdana" panose="020B0604030504040204" pitchFamily="34" charset="0"/>
                    <a:ea typeface="Verdana" panose="020B0604030504040204" pitchFamily="34" charset="0"/>
                    <a:cs typeface="Verdana" panose="020B0604030504040204" pitchFamily="34" charset="0"/>
                  </a:rPr>
                </a:br>
                <a:r>
                  <a:rPr lang="en-US" sz="2000" dirty="0">
                    <a:latin typeface="Verdana" panose="020B0604030504040204" pitchFamily="34" charset="0"/>
                    <a:ea typeface="Verdana" panose="020B0604030504040204" pitchFamily="34" charset="0"/>
                    <a:cs typeface="Verdana" panose="020B0604030504040204" pitchFamily="34" charset="0"/>
                  </a:rPr>
                  <a:t>point </a:t>
                </a:r>
                <a14:m>
                  <m:oMath xmlns:m="http://schemas.openxmlformats.org/officeDocument/2006/math">
                    <m:r>
                      <a:rPr lang="en-US" sz="2000" i="1">
                        <a:latin typeface="Cambria Math" panose="02040503050406030204" pitchFamily="18" charset="0"/>
                        <a:ea typeface="Cambria Math" panose="02040503050406030204" pitchFamily="18" charset="0"/>
                      </a:rPr>
                      <m:t>𝑌</m:t>
                    </m:r>
                  </m:oMath>
                </a14:m>
                <a:r>
                  <a:rPr lang="en-US" sz="2000" dirty="0">
                    <a:latin typeface="Verdana" panose="020B0604030504040204" pitchFamily="34" charset="0"/>
                    <a:ea typeface="Verdana" panose="020B0604030504040204" pitchFamily="34" charset="0"/>
                    <a:cs typeface="Verdana" panose="020B0604030504040204" pitchFamily="34" charset="0"/>
                  </a:rPr>
                  <a:t> as the center, as shown.</a:t>
                </a:r>
              </a:p>
              <a:p>
                <a:pPr marL="457200" indent="-457200">
                  <a:buFont typeface="+mj-lt"/>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r>
                  <a:rPr lang="en-US" sz="2000" dirty="0">
                    <a:latin typeface="Verdana" panose="020B0604030504040204" pitchFamily="34" charset="0"/>
                    <a:ea typeface="Verdana" panose="020B0604030504040204" pitchFamily="34" charset="0"/>
                    <a:cs typeface="Verdana" panose="020B0604030504040204" pitchFamily="34" charset="0"/>
                  </a:rPr>
                  <a:t>Complete the statement.</a:t>
                </a:r>
              </a:p>
              <a:p>
                <a:pPr marL="914400">
                  <a:lnSpc>
                    <a:spcPct val="200000"/>
                  </a:lnSpc>
                </a:pPr>
                <a:r>
                  <a:rPr lang="en-US" sz="2000" dirty="0">
                    <a:latin typeface="Verdana" panose="020B0604030504040204" pitchFamily="34" charset="0"/>
                    <a:ea typeface="Verdana" panose="020B0604030504040204" pitchFamily="34" charset="0"/>
                    <a:cs typeface="Verdana" panose="020B0604030504040204" pitchFamily="34" charset="0"/>
                  </a:rPr>
                  <a:t>The scale factor of this dilation is</a:t>
                </a:r>
              </a:p>
              <a:p>
                <a:pPr marL="914400" indent="-457200"/>
                <a:endParaRPr lang="en-US" sz="2000" dirty="0">
                  <a:latin typeface="Verdana" panose="020B0604030504040204" pitchFamily="34" charset="0"/>
                  <a:ea typeface="Verdana" panose="020B0604030504040204" pitchFamily="34" charset="0"/>
                  <a:cs typeface="Verdana" panose="020B0604030504040204" pitchFamily="34" charset="0"/>
                </a:endParaRPr>
              </a:p>
            </p:txBody>
          </p:sp>
        </mc:Choice>
        <mc:Fallback>
          <p:sp>
            <p:nvSpPr>
              <p:cNvPr id="10" name="TextBox 9">
                <a:extLst>
                  <a:ext uri="{FF2B5EF4-FFF2-40B4-BE49-F238E27FC236}">
                    <a16:creationId xmlns:a16="http://schemas.microsoft.com/office/drawing/2014/main" id="{152D1D4D-DCB8-A246-B186-D40316579D77}"/>
                  </a:ext>
                </a:extLst>
              </p:cNvPr>
              <p:cNvSpPr txBox="1">
                <a:spLocks noRot="1" noChangeAspect="1" noMove="1" noResize="1" noEditPoints="1" noAdjustHandles="1" noChangeArrowheads="1" noChangeShapeType="1" noTextEdit="1"/>
              </p:cNvSpPr>
              <p:nvPr/>
            </p:nvSpPr>
            <p:spPr>
              <a:xfrm>
                <a:off x="609600" y="1386025"/>
                <a:ext cx="8712820" cy="5016758"/>
              </a:xfrm>
              <a:prstGeom prst="rect">
                <a:avLst/>
              </a:prstGeom>
              <a:blipFill>
                <a:blip r:embed="rId6"/>
                <a:stretch>
                  <a:fillRect l="-770" t="-608"/>
                </a:stretch>
              </a:blipFill>
            </p:spPr>
            <p:txBody>
              <a:bodyPr/>
              <a:lstStyle/>
              <a:p>
                <a:r>
                  <a:rPr lang="en-US">
                    <a:noFill/>
                  </a:rPr>
                  <a:t> </a:t>
                </a:r>
              </a:p>
            </p:txBody>
          </p:sp>
        </mc:Fallback>
      </mc:AlternateContent>
      <p:pic>
        <p:nvPicPr>
          <p:cNvPr id="2" name="Picture 1"/>
          <p:cNvPicPr>
            <a:picLocks noChangeAspect="1"/>
          </p:cNvPicPr>
          <p:nvPr/>
        </p:nvPicPr>
        <p:blipFill>
          <a:blip r:embed="rId7" cstate="screen">
            <a:extLst>
              <a:ext uri="{28A0092B-C50C-407E-A947-70E740481C1C}">
                <a14:useLocalDpi xmlns:a14="http://schemas.microsoft.com/office/drawing/2010/main"/>
              </a:ext>
            </a:extLst>
          </a:blip>
          <a:stretch>
            <a:fillRect/>
          </a:stretch>
        </p:blipFill>
        <p:spPr>
          <a:xfrm>
            <a:off x="5905793" y="5208581"/>
            <a:ext cx="2559376" cy="1080000"/>
          </a:xfrm>
          <a:prstGeom prst="rect">
            <a:avLst/>
          </a:prstGeom>
        </p:spPr>
      </p:pic>
      <p:sp>
        <p:nvSpPr>
          <p:cNvPr id="11" name="Google Shape;282;g104476d1465_1_17"/>
          <p:cNvSpPr txBox="1"/>
          <p:nvPr/>
        </p:nvSpPr>
        <p:spPr>
          <a:xfrm>
            <a:off x="8842248"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106</a:t>
            </a:r>
            <a:endParaRPr i="1" dirty="0">
              <a:latin typeface="Calibri"/>
              <a:ea typeface="Calibri"/>
              <a:cs typeface="Calibri"/>
              <a:sym typeface="Calibri"/>
            </a:endParaRPr>
          </a:p>
        </p:txBody>
      </p:sp>
    </p:spTree>
    <p:extLst>
      <p:ext uri="{BB962C8B-B14F-4D97-AF65-F5344CB8AC3E}">
        <p14:creationId xmlns:p14="http://schemas.microsoft.com/office/powerpoint/2010/main" val="223524808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6" name="Picture 5" descr="Chart&#10;&#10;Description automatically generated"/>
          <p:cNvPicPr/>
          <p:nvPr/>
        </p:nvPicPr>
        <p:blipFill rotWithShape="1">
          <a:blip r:embed="rId3" cstate="screen">
            <a:extLst>
              <a:ext uri="{28A0092B-C50C-407E-A947-70E740481C1C}">
                <a14:useLocalDpi xmlns:a14="http://schemas.microsoft.com/office/drawing/2010/main"/>
              </a:ext>
            </a:extLst>
          </a:blip>
          <a:srcRect/>
          <a:stretch/>
        </p:blipFill>
        <p:spPr bwMode="auto">
          <a:xfrm>
            <a:off x="5634353" y="1987020"/>
            <a:ext cx="5668274" cy="3965339"/>
          </a:xfrm>
          <a:prstGeom prst="rect">
            <a:avLst/>
          </a:prstGeom>
          <a:ln>
            <a:noFill/>
          </a:ln>
          <a:extLst>
            <a:ext uri="{53640926-AAD7-44D8-BBD7-CCE9431645EC}">
              <a14:shadowObscured xmlns:a14="http://schemas.microsoft.com/office/drawing/2010/main"/>
            </a:ext>
          </a:extLst>
        </p:spPr>
      </p:pic>
      <p:sp>
        <p:nvSpPr>
          <p:cNvPr id="278" name="Google Shape;278;g104476d1465_1_17"/>
          <p:cNvSpPr/>
          <p:nvPr/>
        </p:nvSpPr>
        <p:spPr>
          <a:xfrm>
            <a:off x="0" y="0"/>
            <a:ext cx="223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75720" y="6200600"/>
            <a:ext cx="563850" cy="657276"/>
          </a:xfrm>
          <a:prstGeom prst="rect">
            <a:avLst/>
          </a:prstGeom>
          <a:noFill/>
          <a:ln>
            <a:noFill/>
          </a:ln>
          <a:effectLst>
            <a:outerShdw blurRad="57150" dist="19050" dir="5400000" algn="bl" rotWithShape="0">
              <a:srgbClr val="000000">
                <a:alpha val="50000"/>
              </a:srgbClr>
            </a:outerShdw>
          </a:effectLst>
        </p:spPr>
      </p:pic>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2FA392D8-3ED3-7940-83A8-1451AA8A08D4}"/>
                  </a:ext>
                </a:extLst>
              </p:cNvPr>
              <p:cNvSpPr txBox="1"/>
              <p:nvPr/>
            </p:nvSpPr>
            <p:spPr>
              <a:xfrm>
                <a:off x="635000" y="382181"/>
                <a:ext cx="10947400" cy="4837415"/>
              </a:xfrm>
              <a:prstGeom prst="rect">
                <a:avLst/>
              </a:prstGeom>
              <a:noFill/>
            </p:spPr>
            <p:txBody>
              <a:bodyPr wrap="square" rtlCol="0">
                <a:spAutoFit/>
              </a:bodyPr>
              <a:lstStyle/>
              <a:p>
                <a:pPr marL="914400" indent="-457200">
                  <a:buFont typeface="+mj-lt"/>
                  <a:buAutoNum type="alphaLcPeriod" startAt="2"/>
                </a:pPr>
                <a:r>
                  <a:rPr lang="en-US" sz="2000" dirty="0">
                    <a:latin typeface="Verdana" panose="020B0604030504040204" pitchFamily="34" charset="0"/>
                    <a:ea typeface="Verdana" panose="020B0604030504040204" pitchFamily="34" charset="0"/>
                    <a:cs typeface="Verdana" panose="020B0604030504040204" pitchFamily="34" charset="0"/>
                  </a:rPr>
                  <a:t>Explain your reasoning.</a:t>
                </a:r>
              </a:p>
              <a:p>
                <a:pPr marL="914400" indent="-457200">
                  <a:buFont typeface="+mj-lt"/>
                  <a:buAutoNum type="alphaL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startAt="2"/>
                </a:pPr>
                <a:r>
                  <a:rPr lang="en-US" sz="2000" dirty="0">
                    <a:latin typeface="Verdana" panose="020B0604030504040204" pitchFamily="34" charset="0"/>
                    <a:ea typeface="Verdana" panose="020B0604030504040204" pitchFamily="34" charset="0"/>
                    <a:cs typeface="Verdana" panose="020B0604030504040204" pitchFamily="34" charset="0"/>
                  </a:rPr>
                  <a:t>The measurements, in units, </a:t>
                </a:r>
                <a:br>
                  <a:rPr lang="en-US" sz="2000" dirty="0">
                    <a:latin typeface="Verdana" panose="020B0604030504040204" pitchFamily="34" charset="0"/>
                    <a:ea typeface="Verdana" panose="020B0604030504040204" pitchFamily="34" charset="0"/>
                    <a:cs typeface="Verdana" panose="020B0604030504040204" pitchFamily="34" charset="0"/>
                  </a:rPr>
                </a:br>
                <a:r>
                  <a:rPr lang="en-US" sz="2000" dirty="0">
                    <a:latin typeface="Verdana" panose="020B0604030504040204" pitchFamily="34" charset="0"/>
                    <a:ea typeface="Verdana" panose="020B0604030504040204" pitchFamily="34" charset="0"/>
                    <a:cs typeface="Verdana" panose="020B0604030504040204" pitchFamily="34" charset="0"/>
                  </a:rPr>
                  <a:t>of the side lengths of each </a:t>
                </a:r>
                <a:br>
                  <a:rPr lang="en-US" sz="2000" dirty="0">
                    <a:latin typeface="Verdana" panose="020B0604030504040204" pitchFamily="34" charset="0"/>
                    <a:ea typeface="Verdana" panose="020B0604030504040204" pitchFamily="34" charset="0"/>
                    <a:cs typeface="Verdana" panose="020B0604030504040204" pitchFamily="34" charset="0"/>
                  </a:rPr>
                </a:br>
                <a:r>
                  <a:rPr lang="en-US" sz="2000" dirty="0">
                    <a:latin typeface="Verdana" panose="020B0604030504040204" pitchFamily="34" charset="0"/>
                    <a:ea typeface="Verdana" panose="020B0604030504040204" pitchFamily="34" charset="0"/>
                    <a:cs typeface="Verdana" panose="020B0604030504040204" pitchFamily="34" charset="0"/>
                  </a:rPr>
                  <a:t>triangle have been added </a:t>
                </a:r>
                <a:br>
                  <a:rPr lang="en-US" sz="2000" dirty="0">
                    <a:latin typeface="Verdana" panose="020B0604030504040204" pitchFamily="34" charset="0"/>
                    <a:ea typeface="Verdana" panose="020B0604030504040204" pitchFamily="34" charset="0"/>
                    <a:cs typeface="Verdana" panose="020B0604030504040204" pitchFamily="34" charset="0"/>
                  </a:rPr>
                </a:br>
                <a:r>
                  <a:rPr lang="en-US" sz="2000" dirty="0">
                    <a:latin typeface="Verdana" panose="020B0604030504040204" pitchFamily="34" charset="0"/>
                    <a:ea typeface="Verdana" panose="020B0604030504040204" pitchFamily="34" charset="0"/>
                    <a:cs typeface="Verdana" panose="020B0604030504040204" pitchFamily="34" charset="0"/>
                  </a:rPr>
                  <a:t>to the figure.</a:t>
                </a:r>
              </a:p>
              <a:p>
                <a:pPr marL="457200"/>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a:r>
                  <a:rPr lang="en-US" sz="2000" dirty="0" err="1">
                    <a:latin typeface="Verdana" panose="020B0604030504040204" pitchFamily="34" charset="0"/>
                    <a:ea typeface="Verdana" panose="020B0604030504040204" pitchFamily="34" charset="0"/>
                    <a:cs typeface="Verdana" panose="020B0604030504040204" pitchFamily="34" charset="0"/>
                  </a:rPr>
                  <a:t>Myrical</a:t>
                </a:r>
                <a:r>
                  <a:rPr lang="en-US" sz="2000" dirty="0">
                    <a:latin typeface="Verdana" panose="020B0604030504040204" pitchFamily="34" charset="0"/>
                    <a:ea typeface="Verdana" panose="020B0604030504040204" pitchFamily="34" charset="0"/>
                    <a:cs typeface="Verdana" panose="020B0604030504040204" pitchFamily="34" charset="0"/>
                  </a:rPr>
                  <a:t> said the </a:t>
                </a:r>
                <a:br>
                  <a:rPr lang="en-US" sz="2000" dirty="0">
                    <a:latin typeface="Verdana" panose="020B0604030504040204" pitchFamily="34" charset="0"/>
                    <a:ea typeface="Verdana" panose="020B0604030504040204" pitchFamily="34" charset="0"/>
                    <a:cs typeface="Verdana" panose="020B0604030504040204" pitchFamily="34" charset="0"/>
                  </a:rPr>
                </a:br>
                <a:r>
                  <a:rPr lang="en-US" sz="2000" dirty="0">
                    <a:latin typeface="Verdana" panose="020B0604030504040204" pitchFamily="34" charset="0"/>
                    <a:ea typeface="Verdana" panose="020B0604030504040204" pitchFamily="34" charset="0"/>
                    <a:cs typeface="Verdana" panose="020B0604030504040204" pitchFamily="34" charset="0"/>
                  </a:rPr>
                  <a:t>scale factor used </a:t>
                </a:r>
                <a:br>
                  <a:rPr lang="en-US" sz="2000" dirty="0">
                    <a:latin typeface="Verdana" panose="020B0604030504040204" pitchFamily="34" charset="0"/>
                    <a:ea typeface="Verdana" panose="020B0604030504040204" pitchFamily="34" charset="0"/>
                    <a:cs typeface="Verdana" panose="020B0604030504040204" pitchFamily="34" charset="0"/>
                  </a:rPr>
                </a:br>
                <a:r>
                  <a:rPr lang="en-US" sz="2000" dirty="0">
                    <a:latin typeface="Verdana" panose="020B0604030504040204" pitchFamily="34" charset="0"/>
                    <a:ea typeface="Verdana" panose="020B0604030504040204" pitchFamily="34" charset="0"/>
                    <a:cs typeface="Verdana" panose="020B0604030504040204" pitchFamily="34" charset="0"/>
                  </a:rPr>
                  <a:t>is </a:t>
                </a:r>
                <a14:m>
                  <m:oMath xmlns:m="http://schemas.openxmlformats.org/officeDocument/2006/math">
                    <m:f>
                      <m:fPr>
                        <m:ctrlPr>
                          <a:rPr lang="en-US" sz="2000" i="1">
                            <a:latin typeface="Cambria Math" panose="02040503050406030204" pitchFamily="18" charset="0"/>
                            <a:ea typeface="Cambria Math" panose="02040503050406030204" pitchFamily="18" charset="0"/>
                          </a:rPr>
                        </m:ctrlPr>
                      </m:fPr>
                      <m:num>
                        <m:r>
                          <a:rPr lang="en-US" sz="2000" i="1">
                            <a:latin typeface="Cambria Math" panose="02040503050406030204" pitchFamily="18" charset="0"/>
                            <a:ea typeface="Cambria Math" panose="02040503050406030204" pitchFamily="18" charset="0"/>
                          </a:rPr>
                          <m:t>1</m:t>
                        </m:r>
                      </m:num>
                      <m:den>
                        <m:r>
                          <a:rPr lang="en-US" sz="2000" i="1">
                            <a:latin typeface="Cambria Math" panose="02040503050406030204" pitchFamily="18" charset="0"/>
                            <a:ea typeface="Cambria Math" panose="02040503050406030204" pitchFamily="18" charset="0"/>
                          </a:rPr>
                          <m:t>3</m:t>
                        </m:r>
                      </m:den>
                    </m:f>
                  </m:oMath>
                </a14:m>
                <a:r>
                  <a:rPr lang="en-US" sz="2000" dirty="0">
                    <a:latin typeface="Verdana" panose="020B0604030504040204" pitchFamily="34" charset="0"/>
                    <a:ea typeface="Verdana" panose="020B0604030504040204" pitchFamily="34" charset="0"/>
                    <a:cs typeface="Verdana" panose="020B0604030504040204" pitchFamily="34" charset="0"/>
                  </a:rPr>
                  <a:t>, while Joshua said </a:t>
                </a:r>
                <a:br>
                  <a:rPr lang="en-US" sz="2000" dirty="0">
                    <a:latin typeface="Verdana" panose="020B0604030504040204" pitchFamily="34" charset="0"/>
                    <a:ea typeface="Verdana" panose="020B0604030504040204" pitchFamily="34" charset="0"/>
                    <a:cs typeface="Verdana" panose="020B0604030504040204" pitchFamily="34" charset="0"/>
                  </a:rPr>
                </a:br>
                <a:r>
                  <a:rPr lang="en-US" sz="2000" dirty="0">
                    <a:latin typeface="Verdana" panose="020B0604030504040204" pitchFamily="34" charset="0"/>
                    <a:ea typeface="Verdana" panose="020B0604030504040204" pitchFamily="34" charset="0"/>
                    <a:cs typeface="Verdana" panose="020B0604030504040204" pitchFamily="34" charset="0"/>
                  </a:rPr>
                  <a:t>it is </a:t>
                </a:r>
                <a14:m>
                  <m:oMath xmlns:m="http://schemas.openxmlformats.org/officeDocument/2006/math">
                    <m:r>
                      <a:rPr lang="en-US" sz="2000" i="1">
                        <a:latin typeface="Cambria Math" panose="02040503050406030204" pitchFamily="18" charset="0"/>
                        <a:ea typeface="Cambria Math" panose="02040503050406030204" pitchFamily="18" charset="0"/>
                      </a:rPr>
                      <m:t>3</m:t>
                    </m:r>
                  </m:oMath>
                </a14:m>
                <a:r>
                  <a:rPr lang="en-US" sz="2000" dirty="0">
                    <a:latin typeface="Verdana" panose="020B0604030504040204" pitchFamily="34" charset="0"/>
                    <a:ea typeface="Verdana" panose="020B0604030504040204" pitchFamily="34" charset="0"/>
                    <a:cs typeface="Verdana" panose="020B0604030504040204" pitchFamily="34" charset="0"/>
                  </a:rPr>
                  <a:t>. Explain who is correct.</a:t>
                </a:r>
              </a:p>
            </p:txBody>
          </p:sp>
        </mc:Choice>
        <mc:Fallback xmlns="">
          <p:sp>
            <p:nvSpPr>
              <p:cNvPr id="14" name="TextBox 13">
                <a:extLst>
                  <a:ext uri="{FF2B5EF4-FFF2-40B4-BE49-F238E27FC236}">
                    <a16:creationId xmlns:a16="http://schemas.microsoft.com/office/drawing/2014/main" id="{2FA392D8-3ED3-7940-83A8-1451AA8A08D4}"/>
                  </a:ext>
                </a:extLst>
              </p:cNvPr>
              <p:cNvSpPr txBox="1">
                <a:spLocks noRot="1" noChangeAspect="1" noMove="1" noResize="1" noEditPoints="1" noAdjustHandles="1" noChangeArrowheads="1" noChangeShapeType="1" noTextEdit="1"/>
              </p:cNvSpPr>
              <p:nvPr/>
            </p:nvSpPr>
            <p:spPr>
              <a:xfrm>
                <a:off x="635000" y="382181"/>
                <a:ext cx="10947400" cy="4837415"/>
              </a:xfrm>
              <a:prstGeom prst="rect">
                <a:avLst/>
              </a:prstGeom>
              <a:blipFill>
                <a:blip r:embed="rId5"/>
                <a:stretch>
                  <a:fillRect t="-787" b="-1575"/>
                </a:stretch>
              </a:blipFill>
            </p:spPr>
            <p:txBody>
              <a:bodyPr/>
              <a:lstStyle/>
              <a:p>
                <a:r>
                  <a:rPr lang="en-US">
                    <a:noFill/>
                  </a:rPr>
                  <a:t> </a:t>
                </a:r>
              </a:p>
            </p:txBody>
          </p:sp>
        </mc:Fallback>
      </mc:AlternateContent>
      <p:sp>
        <p:nvSpPr>
          <p:cNvPr id="7" name="Google Shape;282;g104476d1465_1_17"/>
          <p:cNvSpPr txBox="1"/>
          <p:nvPr/>
        </p:nvSpPr>
        <p:spPr>
          <a:xfrm>
            <a:off x="8842248"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107</a:t>
            </a:r>
            <a:endParaRPr i="1" dirty="0">
              <a:latin typeface="Calibri"/>
              <a:ea typeface="Calibri"/>
              <a:cs typeface="Calibri"/>
              <a:sym typeface="Calibri"/>
            </a:endParaRPr>
          </a:p>
        </p:txBody>
      </p:sp>
    </p:spTree>
    <p:extLst>
      <p:ext uri="{BB962C8B-B14F-4D97-AF65-F5344CB8AC3E}">
        <p14:creationId xmlns:p14="http://schemas.microsoft.com/office/powerpoint/2010/main" val="259823303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475720" y="6200600"/>
            <a:ext cx="563850" cy="657276"/>
          </a:xfrm>
          <a:prstGeom prst="rect">
            <a:avLst/>
          </a:prstGeom>
          <a:noFill/>
          <a:ln>
            <a:noFill/>
          </a:ln>
          <a:effectLst>
            <a:outerShdw blurRad="57150" dist="19050" dir="5400000" algn="bl" rotWithShape="0">
              <a:srgbClr val="000000">
                <a:alpha val="50000"/>
              </a:srgbClr>
            </a:outerShdw>
          </a:effectLst>
        </p:spPr>
      </p:pic>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2FA392D8-3ED3-7940-83A8-1451AA8A08D4}"/>
                  </a:ext>
                </a:extLst>
              </p:cNvPr>
              <p:cNvSpPr txBox="1"/>
              <p:nvPr/>
            </p:nvSpPr>
            <p:spPr>
              <a:xfrm>
                <a:off x="609600" y="373249"/>
                <a:ext cx="10960100" cy="1938992"/>
              </a:xfrm>
              <a:prstGeom prst="rect">
                <a:avLst/>
              </a:prstGeom>
              <a:noFill/>
            </p:spPr>
            <p:txBody>
              <a:bodyPr wrap="square" rtlCol="0">
                <a:spAutoFit/>
              </a:bodyPr>
              <a:lstStyle/>
              <a:p>
                <a:pPr marL="898525" indent="-457200">
                  <a:buFont typeface="+mj-lt"/>
                  <a:buAutoNum type="alphaLcPeriod" startAt="4"/>
                </a:pPr>
                <a:r>
                  <a:rPr lang="en-US" sz="2000" dirty="0">
                    <a:latin typeface="Verdana" panose="020B0604030504040204" pitchFamily="34" charset="0"/>
                    <a:ea typeface="Verdana" panose="020B0604030504040204" pitchFamily="34" charset="0"/>
                    <a:cs typeface="Verdana" panose="020B0604030504040204" pitchFamily="34" charset="0"/>
                  </a:rPr>
                  <a:t>Discuss with your partner how the distance between points </a:t>
                </a:r>
                <a14:m>
                  <m:oMath xmlns:m="http://schemas.openxmlformats.org/officeDocument/2006/math">
                    <m:r>
                      <a:rPr lang="en-US" sz="2000" i="1">
                        <a:latin typeface="Cambria Math" panose="02040503050406030204" pitchFamily="18" charset="0"/>
                        <a:ea typeface="Cambria Math" panose="02040503050406030204" pitchFamily="18" charset="0"/>
                      </a:rPr>
                      <m:t>𝑌</m:t>
                    </m:r>
                  </m:oMath>
                </a14:m>
                <a:r>
                  <a:rPr lang="en-US" sz="2000" dirty="0">
                    <a:latin typeface="Verdana" panose="020B0604030504040204" pitchFamily="34" charset="0"/>
                    <a:ea typeface="Verdana" panose="020B0604030504040204" pitchFamily="34" charset="0"/>
                    <a:cs typeface="Verdana" panose="020B0604030504040204" pitchFamily="34" charset="0"/>
                  </a:rPr>
                  <a:t> and </a:t>
                </a:r>
                <a14:m>
                  <m:oMath xmlns:m="http://schemas.openxmlformats.org/officeDocument/2006/math">
                    <m:r>
                      <a:rPr lang="en-US" sz="2000" i="1">
                        <a:latin typeface="Cambria Math" panose="02040503050406030204" pitchFamily="18" charset="0"/>
                        <a:ea typeface="Cambria Math" panose="02040503050406030204" pitchFamily="18" charset="0"/>
                      </a:rPr>
                      <m:t>𝑀</m:t>
                    </m:r>
                  </m:oMath>
                </a14:m>
                <a:r>
                  <a:rPr lang="en-US" sz="2000" dirty="0">
                    <a:latin typeface="Verdana" panose="020B0604030504040204" pitchFamily="34" charset="0"/>
                    <a:ea typeface="Verdana" panose="020B0604030504040204" pitchFamily="34" charset="0"/>
                    <a:cs typeface="Verdana" panose="020B0604030504040204" pitchFamily="34" charset="0"/>
                  </a:rPr>
                  <a:t> should compare to the distance between points </a:t>
                </a:r>
                <a14:m>
                  <m:oMath xmlns:m="http://schemas.openxmlformats.org/officeDocument/2006/math">
                    <m:r>
                      <a:rPr lang="en-US" sz="2000" i="1">
                        <a:latin typeface="Cambria Math" panose="02040503050406030204" pitchFamily="18" charset="0"/>
                        <a:ea typeface="Cambria Math" panose="02040503050406030204" pitchFamily="18" charset="0"/>
                      </a:rPr>
                      <m:t>𝑌</m:t>
                    </m:r>
                  </m:oMath>
                </a14:m>
                <a:r>
                  <a:rPr lang="en-US" sz="2000" dirty="0">
                    <a:latin typeface="Verdana" panose="020B0604030504040204" pitchFamily="34" charset="0"/>
                    <a:ea typeface="Verdana" panose="020B0604030504040204" pitchFamily="34" charset="0"/>
                    <a:cs typeface="Verdana" panose="020B0604030504040204" pitchFamily="34" charset="0"/>
                  </a:rPr>
                  <a:t> and </a:t>
                </a:r>
                <a14:m>
                  <m:oMath xmlns:m="http://schemas.openxmlformats.org/officeDocument/2006/math">
                    <m:r>
                      <a:rPr lang="en-US" sz="2000" i="1">
                        <a:latin typeface="Cambria Math" panose="02040503050406030204" pitchFamily="18" charset="0"/>
                        <a:ea typeface="Cambria Math" panose="02040503050406030204" pitchFamily="18" charset="0"/>
                      </a:rPr>
                      <m:t>𝑀</m:t>
                    </m:r>
                    <m:r>
                      <a:rPr lang="en-US" sz="2000" i="1">
                        <a:latin typeface="Cambria Math" panose="02040503050406030204" pitchFamily="18" charset="0"/>
                        <a:ea typeface="Cambria Math" panose="02040503050406030204" pitchFamily="18" charset="0"/>
                      </a:rPr>
                      <m:t>′</m:t>
                    </m:r>
                  </m:oMath>
                </a14:m>
                <a:r>
                  <a:rPr lang="en-US" sz="2000" dirty="0">
                    <a:latin typeface="Verdana" panose="020B0604030504040204" pitchFamily="34" charset="0"/>
                    <a:ea typeface="Verdana" panose="020B0604030504040204" pitchFamily="34" charset="0"/>
                    <a:cs typeface="Verdana" panose="020B0604030504040204" pitchFamily="34" charset="0"/>
                  </a:rPr>
                  <a:t>. Then, complete the statement.</a:t>
                </a:r>
              </a:p>
              <a:p>
                <a:pPr marL="457200" indent="-457200">
                  <a:buFont typeface="+mj-lt"/>
                  <a:buAutoNum type="alphaLcPeriod" startAt="4"/>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896938"/>
                <a:r>
                  <a:rPr lang="en-US" sz="2000" dirty="0">
                    <a:latin typeface="Verdana" panose="020B0604030504040204" pitchFamily="34" charset="0"/>
                    <a:ea typeface="Verdana" panose="020B0604030504040204" pitchFamily="34" charset="0"/>
                    <a:cs typeface="Verdana" panose="020B0604030504040204" pitchFamily="34" charset="0"/>
                  </a:rPr>
                  <a:t>The distance between points </a:t>
                </a:r>
                <a14:m>
                  <m:oMath xmlns:m="http://schemas.openxmlformats.org/officeDocument/2006/math">
                    <m:r>
                      <a:rPr lang="en-US" sz="2000" i="1">
                        <a:latin typeface="Cambria Math" panose="02040503050406030204" pitchFamily="18" charset="0"/>
                        <a:ea typeface="Cambria Math" panose="02040503050406030204" pitchFamily="18" charset="0"/>
                      </a:rPr>
                      <m:t>𝑌</m:t>
                    </m:r>
                  </m:oMath>
                </a14:m>
                <a:r>
                  <a:rPr lang="en-US" sz="2000" dirty="0">
                    <a:latin typeface="Verdana" panose="020B0604030504040204" pitchFamily="34" charset="0"/>
                    <a:ea typeface="Verdana" panose="020B0604030504040204" pitchFamily="34" charset="0"/>
                    <a:cs typeface="Verdana" panose="020B0604030504040204" pitchFamily="34" charset="0"/>
                  </a:rPr>
                  <a:t> and </a:t>
                </a:r>
                <a14:m>
                  <m:oMath xmlns:m="http://schemas.openxmlformats.org/officeDocument/2006/math">
                    <m:r>
                      <a:rPr lang="en-US" sz="2000" i="1">
                        <a:latin typeface="Cambria Math" panose="02040503050406030204" pitchFamily="18" charset="0"/>
                        <a:ea typeface="Cambria Math" panose="02040503050406030204" pitchFamily="18" charset="0"/>
                      </a:rPr>
                      <m:t>𝑀</m:t>
                    </m:r>
                  </m:oMath>
                </a14:m>
                <a:r>
                  <a:rPr lang="en-US" sz="2000" dirty="0">
                    <a:latin typeface="Verdana" panose="020B0604030504040204" pitchFamily="34" charset="0"/>
                    <a:ea typeface="Verdana" panose="020B0604030504040204" pitchFamily="34" charset="0"/>
                    <a:cs typeface="Verdana" panose="020B0604030504040204" pitchFamily="34" charset="0"/>
                  </a:rPr>
                  <a:t> should be ______ times the distance between </a:t>
                </a:r>
                <a14:m>
                  <m:oMath xmlns:m="http://schemas.openxmlformats.org/officeDocument/2006/math">
                    <m:r>
                      <a:rPr lang="en-US" sz="2000" i="1">
                        <a:latin typeface="Cambria Math" panose="02040503050406030204" pitchFamily="18" charset="0"/>
                        <a:ea typeface="Cambria Math" panose="02040503050406030204" pitchFamily="18" charset="0"/>
                      </a:rPr>
                      <m:t>𝑌</m:t>
                    </m:r>
                  </m:oMath>
                </a14:m>
                <a:r>
                  <a:rPr lang="en-US" sz="2000" dirty="0">
                    <a:latin typeface="Verdana" panose="020B0604030504040204" pitchFamily="34" charset="0"/>
                    <a:ea typeface="Verdana" panose="020B0604030504040204" pitchFamily="34" charset="0"/>
                    <a:cs typeface="Verdana" panose="020B0604030504040204" pitchFamily="34" charset="0"/>
                  </a:rPr>
                  <a:t> and </a:t>
                </a:r>
                <a14:m>
                  <m:oMath xmlns:m="http://schemas.openxmlformats.org/officeDocument/2006/math">
                    <m:r>
                      <a:rPr lang="en-US" sz="2000" i="1">
                        <a:latin typeface="Cambria Math" panose="02040503050406030204" pitchFamily="18" charset="0"/>
                        <a:ea typeface="Cambria Math" panose="02040503050406030204" pitchFamily="18" charset="0"/>
                      </a:rPr>
                      <m:t>𝑀</m:t>
                    </m:r>
                    <m:r>
                      <a:rPr lang="en-US" sz="2000" i="1">
                        <a:latin typeface="Cambria Math" panose="02040503050406030204" pitchFamily="18" charset="0"/>
                        <a:ea typeface="Cambria Math" panose="02040503050406030204" pitchFamily="18" charset="0"/>
                      </a:rPr>
                      <m:t>′</m:t>
                    </m:r>
                  </m:oMath>
                </a14:m>
                <a:r>
                  <a:rPr lang="en-US" sz="2000" dirty="0">
                    <a:latin typeface="Verdana" panose="020B0604030504040204" pitchFamily="34" charset="0"/>
                    <a:ea typeface="Verdana" panose="020B0604030504040204" pitchFamily="34" charset="0"/>
                    <a:cs typeface="Verdana" panose="020B0604030504040204" pitchFamily="34" charset="0"/>
                  </a:rPr>
                  <a:t>.</a:t>
                </a:r>
              </a:p>
            </p:txBody>
          </p:sp>
        </mc:Choice>
        <mc:Fallback xmlns="">
          <p:sp>
            <p:nvSpPr>
              <p:cNvPr id="14" name="TextBox 13">
                <a:extLst>
                  <a:ext uri="{FF2B5EF4-FFF2-40B4-BE49-F238E27FC236}">
                    <a16:creationId xmlns:a16="http://schemas.microsoft.com/office/drawing/2014/main" id="{2FA392D8-3ED3-7940-83A8-1451AA8A08D4}"/>
                  </a:ext>
                </a:extLst>
              </p:cNvPr>
              <p:cNvSpPr txBox="1">
                <a:spLocks noRot="1" noChangeAspect="1" noMove="1" noResize="1" noEditPoints="1" noAdjustHandles="1" noChangeArrowheads="1" noChangeShapeType="1" noTextEdit="1"/>
              </p:cNvSpPr>
              <p:nvPr/>
            </p:nvSpPr>
            <p:spPr>
              <a:xfrm>
                <a:off x="609600" y="373249"/>
                <a:ext cx="10960100" cy="1938992"/>
              </a:xfrm>
              <a:prstGeom prst="rect">
                <a:avLst/>
              </a:prstGeom>
              <a:blipFill>
                <a:blip r:embed="rId4"/>
                <a:stretch>
                  <a:fillRect t="-1961" b="-5229"/>
                </a:stretch>
              </a:blipFill>
            </p:spPr>
            <p:txBody>
              <a:bodyPr/>
              <a:lstStyle/>
              <a:p>
                <a:r>
                  <a:rPr lang="en-US">
                    <a:noFill/>
                  </a:rPr>
                  <a:t> </a:t>
                </a:r>
              </a:p>
            </p:txBody>
          </p:sp>
        </mc:Fallback>
      </mc:AlternateContent>
      <p:sp>
        <p:nvSpPr>
          <p:cNvPr id="6" name="Google Shape;282;g104476d1465_1_17"/>
          <p:cNvSpPr txBox="1"/>
          <p:nvPr/>
        </p:nvSpPr>
        <p:spPr>
          <a:xfrm>
            <a:off x="8842248"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107</a:t>
            </a:r>
            <a:endParaRPr i="1" dirty="0">
              <a:latin typeface="Calibri"/>
              <a:ea typeface="Calibri"/>
              <a:cs typeface="Calibri"/>
              <a:sym typeface="Calibri"/>
            </a:endParaRPr>
          </a:p>
        </p:txBody>
      </p:sp>
      <p:pic>
        <p:nvPicPr>
          <p:cNvPr id="7" name="Picture 6" descr="Chart&#10;&#10;Description automatically generated"/>
          <p:cNvPicPr/>
          <p:nvPr/>
        </p:nvPicPr>
        <p:blipFill rotWithShape="1">
          <a:blip r:embed="rId5" cstate="screen">
            <a:extLst>
              <a:ext uri="{28A0092B-C50C-407E-A947-70E740481C1C}">
                <a14:useLocalDpi xmlns:a14="http://schemas.microsoft.com/office/drawing/2010/main"/>
              </a:ext>
            </a:extLst>
          </a:blip>
          <a:srcRect t="2975"/>
          <a:stretch/>
        </p:blipFill>
        <p:spPr bwMode="auto">
          <a:xfrm>
            <a:off x="5770180" y="2669592"/>
            <a:ext cx="4815117" cy="2996450"/>
          </a:xfrm>
          <a:prstGeom prst="rect">
            <a:avLst/>
          </a:prstGeom>
          <a:ln>
            <a:noFill/>
          </a:ln>
          <a:extLst>
            <a:ext uri="{53640926-AAD7-44D8-BBD7-CCE9431645EC}">
              <a14:shadowObscured xmlns:a14="http://schemas.microsoft.com/office/drawing/2010/main"/>
            </a:ext>
          </a:extLst>
        </p:spPr>
      </p:pic>
      <p:sp>
        <p:nvSpPr>
          <p:cNvPr id="8" name="TextBox 7">
            <a:extLst>
              <a:ext uri="{FF2B5EF4-FFF2-40B4-BE49-F238E27FC236}">
                <a16:creationId xmlns:a16="http://schemas.microsoft.com/office/drawing/2014/main" id="{2FA392D8-3ED3-7940-83A8-1451AA8A08D4}"/>
              </a:ext>
            </a:extLst>
          </p:cNvPr>
          <p:cNvSpPr txBox="1"/>
          <p:nvPr/>
        </p:nvSpPr>
        <p:spPr>
          <a:xfrm>
            <a:off x="609600" y="2647290"/>
            <a:ext cx="10960100" cy="3477875"/>
          </a:xfrm>
          <a:prstGeom prst="rect">
            <a:avLst/>
          </a:prstGeom>
          <a:noFill/>
        </p:spPr>
        <p:txBody>
          <a:bodyPr wrap="square" rtlCol="0">
            <a:spAutoFit/>
          </a:bodyPr>
          <a:lstStyle/>
          <a:p>
            <a:pPr marL="893763" indent="-452438">
              <a:buFont typeface="+mj-lt"/>
              <a:buAutoNum type="alphaLcPeriod" startAt="5"/>
            </a:pPr>
            <a:r>
              <a:rPr lang="en-US" sz="2000" dirty="0">
                <a:solidFill>
                  <a:srgbClr val="7030A0"/>
                </a:solidFill>
                <a:latin typeface="Verdana" panose="020B0604030504040204" pitchFamily="34" charset="0"/>
                <a:ea typeface="Verdana" panose="020B0604030504040204" pitchFamily="34" charset="0"/>
                <a:cs typeface="Verdana" panose="020B0604030504040204" pitchFamily="34" charset="0"/>
              </a:rPr>
              <a:t>The distances, in units, between </a:t>
            </a:r>
            <a:br>
              <a:rPr lang="en-US" sz="2000" dirty="0">
                <a:solidFill>
                  <a:srgbClr val="7030A0"/>
                </a:solidFill>
                <a:latin typeface="Verdana" panose="020B0604030504040204" pitchFamily="34" charset="0"/>
                <a:ea typeface="Verdana" panose="020B0604030504040204" pitchFamily="34" charset="0"/>
                <a:cs typeface="Verdana" panose="020B0604030504040204" pitchFamily="34" charset="0"/>
              </a:rPr>
            </a:br>
            <a:r>
              <a:rPr lang="en-US" sz="2000" dirty="0">
                <a:solidFill>
                  <a:srgbClr val="7030A0"/>
                </a:solidFill>
                <a:latin typeface="Verdana" panose="020B0604030504040204" pitchFamily="34" charset="0"/>
                <a:ea typeface="Verdana" panose="020B0604030504040204" pitchFamily="34" charset="0"/>
                <a:cs typeface="Verdana" panose="020B0604030504040204" pitchFamily="34" charset="0"/>
              </a:rPr>
              <a:t>the center of dilation and each </a:t>
            </a:r>
            <a:br>
              <a:rPr lang="en-US" sz="2000" dirty="0">
                <a:solidFill>
                  <a:srgbClr val="7030A0"/>
                </a:solidFill>
                <a:latin typeface="Verdana" panose="020B0604030504040204" pitchFamily="34" charset="0"/>
                <a:ea typeface="Verdana" panose="020B0604030504040204" pitchFamily="34" charset="0"/>
                <a:cs typeface="Verdana" panose="020B0604030504040204" pitchFamily="34" charset="0"/>
              </a:rPr>
            </a:br>
            <a:r>
              <a:rPr lang="en-US" sz="2000" dirty="0">
                <a:solidFill>
                  <a:srgbClr val="7030A0"/>
                </a:solidFill>
                <a:latin typeface="Verdana" panose="020B0604030504040204" pitchFamily="34" charset="0"/>
                <a:ea typeface="Verdana" panose="020B0604030504040204" pitchFamily="34" charset="0"/>
                <a:cs typeface="Verdana" panose="020B0604030504040204" pitchFamily="34" charset="0"/>
              </a:rPr>
              <a:t>vertex on the preimage are </a:t>
            </a:r>
            <a:br>
              <a:rPr lang="en-US" sz="2000" dirty="0">
                <a:solidFill>
                  <a:srgbClr val="7030A0"/>
                </a:solidFill>
                <a:latin typeface="Verdana" panose="020B0604030504040204" pitchFamily="34" charset="0"/>
                <a:ea typeface="Verdana" panose="020B0604030504040204" pitchFamily="34" charset="0"/>
                <a:cs typeface="Verdana" panose="020B0604030504040204" pitchFamily="34" charset="0"/>
              </a:rPr>
            </a:br>
            <a:r>
              <a:rPr lang="en-US" sz="2000" dirty="0">
                <a:solidFill>
                  <a:srgbClr val="7030A0"/>
                </a:solidFill>
                <a:latin typeface="Verdana" panose="020B0604030504040204" pitchFamily="34" charset="0"/>
                <a:ea typeface="Verdana" panose="020B0604030504040204" pitchFamily="34" charset="0"/>
                <a:cs typeface="Verdana" panose="020B0604030504040204" pitchFamily="34" charset="0"/>
              </a:rPr>
              <a:t>shown in purple. </a:t>
            </a:r>
            <a:br>
              <a:rPr lang="en-US" sz="2000" dirty="0">
                <a:solidFill>
                  <a:srgbClr val="7030A0"/>
                </a:solidFill>
                <a:latin typeface="Verdana" panose="020B0604030504040204" pitchFamily="34" charset="0"/>
                <a:ea typeface="Verdana" panose="020B0604030504040204" pitchFamily="34" charset="0"/>
                <a:cs typeface="Verdana" panose="020B0604030504040204" pitchFamily="34" charset="0"/>
              </a:rPr>
            </a:br>
            <a:r>
              <a:rPr lang="en-US" sz="2000" dirty="0">
                <a:solidFill>
                  <a:schemeClr val="accent2"/>
                </a:solidFill>
                <a:latin typeface="Verdana" panose="020B0604030504040204" pitchFamily="34" charset="0"/>
                <a:ea typeface="Verdana" panose="020B0604030504040204" pitchFamily="34" charset="0"/>
                <a:cs typeface="Verdana" panose="020B0604030504040204" pitchFamily="34" charset="0"/>
              </a:rPr>
              <a:t>The distances, in units, </a:t>
            </a:r>
            <a:br>
              <a:rPr lang="en-US" sz="2000" dirty="0">
                <a:solidFill>
                  <a:schemeClr val="accent2"/>
                </a:solidFill>
                <a:latin typeface="Verdana" panose="020B0604030504040204" pitchFamily="34" charset="0"/>
                <a:ea typeface="Verdana" panose="020B0604030504040204" pitchFamily="34" charset="0"/>
                <a:cs typeface="Verdana" panose="020B0604030504040204" pitchFamily="34" charset="0"/>
              </a:rPr>
            </a:br>
            <a:r>
              <a:rPr lang="en-US" sz="2000" dirty="0">
                <a:solidFill>
                  <a:schemeClr val="accent2"/>
                </a:solidFill>
                <a:latin typeface="Verdana" panose="020B0604030504040204" pitchFamily="34" charset="0"/>
                <a:ea typeface="Verdana" panose="020B0604030504040204" pitchFamily="34" charset="0"/>
                <a:cs typeface="Verdana" panose="020B0604030504040204" pitchFamily="34" charset="0"/>
              </a:rPr>
              <a:t>between the center </a:t>
            </a:r>
            <a:br>
              <a:rPr lang="en-US" sz="2000" dirty="0">
                <a:solidFill>
                  <a:schemeClr val="accent2"/>
                </a:solidFill>
                <a:latin typeface="Verdana" panose="020B0604030504040204" pitchFamily="34" charset="0"/>
                <a:ea typeface="Verdana" panose="020B0604030504040204" pitchFamily="34" charset="0"/>
                <a:cs typeface="Verdana" panose="020B0604030504040204" pitchFamily="34" charset="0"/>
              </a:rPr>
            </a:br>
            <a:r>
              <a:rPr lang="en-US" sz="2000" dirty="0">
                <a:solidFill>
                  <a:schemeClr val="accent2"/>
                </a:solidFill>
                <a:latin typeface="Verdana" panose="020B0604030504040204" pitchFamily="34" charset="0"/>
                <a:ea typeface="Verdana" panose="020B0604030504040204" pitchFamily="34" charset="0"/>
                <a:cs typeface="Verdana" panose="020B0604030504040204" pitchFamily="34" charset="0"/>
              </a:rPr>
              <a:t>of dilation and each </a:t>
            </a:r>
            <a:br>
              <a:rPr lang="en-US" sz="2000" dirty="0">
                <a:solidFill>
                  <a:schemeClr val="accent2"/>
                </a:solidFill>
                <a:latin typeface="Verdana" panose="020B0604030504040204" pitchFamily="34" charset="0"/>
                <a:ea typeface="Verdana" panose="020B0604030504040204" pitchFamily="34" charset="0"/>
                <a:cs typeface="Verdana" panose="020B0604030504040204" pitchFamily="34" charset="0"/>
              </a:rPr>
            </a:br>
            <a:r>
              <a:rPr lang="en-US" sz="2000" dirty="0">
                <a:solidFill>
                  <a:schemeClr val="accent2"/>
                </a:solidFill>
                <a:latin typeface="Verdana" panose="020B0604030504040204" pitchFamily="34" charset="0"/>
                <a:ea typeface="Verdana" panose="020B0604030504040204" pitchFamily="34" charset="0"/>
                <a:cs typeface="Verdana" panose="020B0604030504040204" pitchFamily="34" charset="0"/>
              </a:rPr>
              <a:t>vertex on the image </a:t>
            </a:r>
            <a:br>
              <a:rPr lang="en-US" sz="2000" dirty="0">
                <a:solidFill>
                  <a:schemeClr val="accent2"/>
                </a:solidFill>
                <a:latin typeface="Verdana" panose="020B0604030504040204" pitchFamily="34" charset="0"/>
                <a:ea typeface="Verdana" panose="020B0604030504040204" pitchFamily="34" charset="0"/>
                <a:cs typeface="Verdana" panose="020B0604030504040204" pitchFamily="34" charset="0"/>
              </a:rPr>
            </a:br>
            <a:r>
              <a:rPr lang="en-US" sz="2000" dirty="0">
                <a:solidFill>
                  <a:schemeClr val="accent2"/>
                </a:solidFill>
                <a:latin typeface="Verdana" panose="020B0604030504040204" pitchFamily="34" charset="0"/>
                <a:ea typeface="Verdana" panose="020B0604030504040204" pitchFamily="34" charset="0"/>
                <a:cs typeface="Verdana" panose="020B0604030504040204" pitchFamily="34" charset="0"/>
              </a:rPr>
              <a:t>are shown in orange. </a:t>
            </a:r>
          </a:p>
          <a:p>
            <a:pPr marL="457200" indent="-457200">
              <a:buFont typeface="+mj-lt"/>
              <a:buAutoNum type="alphaLcPeriod" startAt="5"/>
            </a:pPr>
            <a:endParaRPr lang="en-US" sz="2000" dirty="0">
              <a:solidFill>
                <a:schemeClr val="accent2"/>
              </a:solidFill>
              <a:latin typeface="Verdana" panose="020B0604030504040204" pitchFamily="34" charset="0"/>
              <a:ea typeface="Verdana" panose="020B0604030504040204" pitchFamily="34" charset="0"/>
              <a:cs typeface="Verdana" panose="020B0604030504040204" pitchFamily="34" charset="0"/>
            </a:endParaRPr>
          </a:p>
          <a:p>
            <a:pPr marL="896938"/>
            <a:r>
              <a:rPr lang="en-US" sz="2000" dirty="0">
                <a:latin typeface="Verdana" panose="020B0604030504040204" pitchFamily="34" charset="0"/>
                <a:ea typeface="Verdana" panose="020B0604030504040204" pitchFamily="34" charset="0"/>
                <a:cs typeface="Verdana" panose="020B0604030504040204" pitchFamily="34" charset="0"/>
              </a:rPr>
              <a:t>Explain whether the information given confirms your answer to Part D.</a:t>
            </a:r>
            <a:endParaRPr lang="en-US" sz="2000" dirty="0">
              <a:solidFill>
                <a:schemeClr val="accent2"/>
              </a:solidFill>
              <a:latin typeface="Verdana" panose="020B0604030504040204" pitchFamily="34" charset="0"/>
              <a:ea typeface="Verdana" panose="020B0604030504040204" pitchFamily="34" charset="0"/>
              <a:cs typeface="Verdana" panose="020B0604030504040204" pitchFamily="34" charset="0"/>
            </a:endParaRPr>
          </a:p>
        </p:txBody>
      </p:sp>
    </p:spTree>
    <p:extLst>
      <p:ext uri="{BB962C8B-B14F-4D97-AF65-F5344CB8AC3E}">
        <p14:creationId xmlns:p14="http://schemas.microsoft.com/office/powerpoint/2010/main" val="210228570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475720" y="6200600"/>
            <a:ext cx="563850" cy="657276"/>
          </a:xfrm>
          <a:prstGeom prst="rect">
            <a:avLst/>
          </a:prstGeom>
          <a:noFill/>
          <a:ln>
            <a:noFill/>
          </a:ln>
          <a:effectLst>
            <a:outerShdw blurRad="57150" dist="19050" dir="5400000" algn="bl" rotWithShape="0">
              <a:srgbClr val="000000">
                <a:alpha val="50000"/>
              </a:srgbClr>
            </a:outerShdw>
          </a:effectLst>
        </p:spPr>
      </p:pic>
      <p:grpSp>
        <p:nvGrpSpPr>
          <p:cNvPr id="6" name="Group 5"/>
          <p:cNvGrpSpPr/>
          <p:nvPr/>
        </p:nvGrpSpPr>
        <p:grpSpPr>
          <a:xfrm>
            <a:off x="2042203" y="1664891"/>
            <a:ext cx="8292698" cy="3519868"/>
            <a:chOff x="0" y="-292099"/>
            <a:chExt cx="8292698" cy="3520517"/>
          </a:xfrm>
        </p:grpSpPr>
        <p:grpSp>
          <p:nvGrpSpPr>
            <p:cNvPr id="7" name="Group 6"/>
            <p:cNvGrpSpPr/>
            <p:nvPr/>
          </p:nvGrpSpPr>
          <p:grpSpPr>
            <a:xfrm>
              <a:off x="0" y="-292099"/>
              <a:ext cx="8292698" cy="3520517"/>
              <a:chOff x="2031300" y="3274749"/>
              <a:chExt cx="8292698" cy="1350582"/>
            </a:xfrm>
          </p:grpSpPr>
          <p:grpSp>
            <p:nvGrpSpPr>
              <p:cNvPr id="9" name="Group 8"/>
              <p:cNvGrpSpPr/>
              <p:nvPr/>
            </p:nvGrpSpPr>
            <p:grpSpPr>
              <a:xfrm>
                <a:off x="2031300" y="3274749"/>
                <a:ext cx="8292698" cy="1350582"/>
                <a:chOff x="0" y="-112059"/>
                <a:chExt cx="8292698" cy="1350582"/>
              </a:xfrm>
            </p:grpSpPr>
            <p:sp>
              <p:nvSpPr>
                <p:cNvPr id="10" name="Rectangle 9"/>
                <p:cNvSpPr/>
                <p:nvPr/>
              </p:nvSpPr>
              <p:spPr>
                <a:xfrm>
                  <a:off x="0" y="0"/>
                  <a:ext cx="6629400" cy="786375"/>
                </a:xfrm>
                <a:prstGeom prst="rect">
                  <a:avLst/>
                </a:prstGeom>
                <a:noFill/>
                <a:ln>
                  <a:noFill/>
                </a:ln>
              </p:spPr>
              <p:txBody>
                <a:bodyPr spcFirstLastPara="1" wrap="square" lIns="91425" tIns="91425" rIns="91425" bIns="91425" anchor="ctr" anchorCtr="0">
                  <a:noAutofit/>
                </a:bodyPr>
                <a:lstStyle/>
                <a:p>
                  <a:r>
                    <a:rPr lang="en-US" sz="1200">
                      <a:latin typeface="Times New Roman" panose="02020603050405020304" pitchFamily="18" charset="0"/>
                      <a:ea typeface="Times New Roman" panose="02020603050405020304" pitchFamily="18" charset="0"/>
                    </a:rPr>
                    <a:t> </a:t>
                  </a:r>
                </a:p>
              </p:txBody>
            </p:sp>
            <p:sp>
              <p:nvSpPr>
                <p:cNvPr id="11" name="Rectangle 10"/>
                <p:cNvSpPr/>
                <p:nvPr/>
              </p:nvSpPr>
              <p:spPr>
                <a:xfrm>
                  <a:off x="0" y="0"/>
                  <a:ext cx="6629400" cy="786375"/>
                </a:xfrm>
                <a:prstGeom prst="rect">
                  <a:avLst/>
                </a:prstGeom>
                <a:noFill/>
                <a:ln>
                  <a:noFill/>
                </a:ln>
              </p:spPr>
              <p:txBody>
                <a:bodyPr spcFirstLastPara="1" wrap="square" lIns="91425" tIns="91425" rIns="91425" bIns="91425" anchor="ctr" anchorCtr="0">
                  <a:noAutofit/>
                </a:bodyPr>
                <a:lstStyle/>
                <a:p>
                  <a:r>
                    <a:rPr lang="en-US" sz="1200">
                      <a:latin typeface="Times New Roman" panose="02020603050405020304" pitchFamily="18" charset="0"/>
                      <a:ea typeface="Times New Roman" panose="02020603050405020304" pitchFamily="18" charset="0"/>
                    </a:rPr>
                    <a:t> </a:t>
                  </a:r>
                </a:p>
              </p:txBody>
            </p:sp>
            <mc:AlternateContent xmlns:mc="http://schemas.openxmlformats.org/markup-compatibility/2006" xmlns:a14="http://schemas.microsoft.com/office/drawing/2010/main">
              <mc:Choice Requires="a14">
                <p:sp>
                  <p:nvSpPr>
                    <p:cNvPr id="13" name="Rounded Rectangle 12"/>
                    <p:cNvSpPr/>
                    <p:nvPr/>
                  </p:nvSpPr>
                  <p:spPr>
                    <a:xfrm>
                      <a:off x="12698" y="-112059"/>
                      <a:ext cx="8280000" cy="1350582"/>
                    </a:xfrm>
                    <a:prstGeom prst="roundRect">
                      <a:avLst>
                        <a:gd name="adj" fmla="val 16667"/>
                      </a:avLst>
                    </a:prstGeom>
                    <a:solidFill>
                      <a:srgbClr val="B8E6F5"/>
                    </a:solidFill>
                    <a:ln>
                      <a:noFill/>
                    </a:ln>
                    <a:effectLst>
                      <a:outerShdw blurRad="50800" dist="38100" dir="2700000" algn="tl" rotWithShape="0">
                        <a:prstClr val="black">
                          <a:alpha val="40000"/>
                        </a:prstClr>
                      </a:outerShdw>
                    </a:effectLst>
                  </p:spPr>
                  <p:txBody>
                    <a:bodyPr spcFirstLastPara="1" wrap="square" lIns="91425" tIns="0" rIns="91425" bIns="0" anchor="t" anchorCtr="0">
                      <a:spAutoFit/>
                    </a:bodyPr>
                    <a:lstStyle/>
                    <a:p>
                      <a:pPr marL="533400">
                        <a:spcAft>
                          <a:spcPts val="1200"/>
                        </a:spcAft>
                      </a:pPr>
                      <a:r>
                        <a:rPr lang="en-US" sz="2000" dirty="0">
                          <a:solidFill>
                            <a:srgbClr val="0075BF"/>
                          </a:solidFill>
                          <a:latin typeface="Verdana" panose="020B0604030504040204" pitchFamily="34" charset="0"/>
                          <a:ea typeface="Verdana" panose="020B0604030504040204" pitchFamily="34" charset="0"/>
                          <a:cs typeface="Verdana" panose="020B0604030504040204" pitchFamily="34" charset="0"/>
                        </a:rPr>
                        <a:t>The scale factor of a dilation can be determined using the lengths of the corresponding sides of the preimage or using the distances between the center of dilation and the vertices of the preimage and image. </a:t>
                      </a:r>
                      <a:endParaRPr lang="en-US" sz="2000" dirty="0">
                        <a:latin typeface="Verdana" panose="020B0604030504040204" pitchFamily="34" charset="0"/>
                        <a:ea typeface="Verdana" panose="020B0604030504040204" pitchFamily="34" charset="0"/>
                        <a:cs typeface="Verdana" panose="020B0604030504040204" pitchFamily="34" charset="0"/>
                      </a:endParaRPr>
                    </a:p>
                    <a:p>
                      <a:pPr marL="742950"/>
                      <a:r>
                        <a:rPr lang="en-US" sz="2000" dirty="0">
                          <a:solidFill>
                            <a:srgbClr val="0075BF"/>
                          </a:solidFill>
                          <a:latin typeface="Verdana" panose="020B0604030504040204" pitchFamily="34" charset="0"/>
                          <a:ea typeface="Verdana" panose="020B0604030504040204" pitchFamily="34" charset="0"/>
                          <a:cs typeface="Verdana" panose="020B0604030504040204" pitchFamily="34" charset="0"/>
                        </a:rPr>
                        <a:t> </a:t>
                      </a:r>
                      <a14:m>
                        <m:oMath xmlns:m="http://schemas.openxmlformats.org/officeDocument/2006/math">
                          <m:r>
                            <m:rPr>
                              <m:sty m:val="p"/>
                            </m:rPr>
                            <a:rPr lang="en-US" sz="2000">
                              <a:solidFill>
                                <a:srgbClr val="0075BF"/>
                              </a:solidFill>
                              <a:latin typeface="Cambria Math" panose="02040503050406030204" pitchFamily="18" charset="0"/>
                              <a:ea typeface="Verdana" panose="020B0604030504040204" pitchFamily="34" charset="0"/>
                              <a:cs typeface="Verdana" panose="020B0604030504040204" pitchFamily="34" charset="0"/>
                            </a:rPr>
                            <m:t>Scale</m:t>
                          </m:r>
                          <m:r>
                            <a:rPr lang="en-US" sz="2000">
                              <a:solidFill>
                                <a:srgbClr val="0075BF"/>
                              </a:solidFill>
                              <a:latin typeface="Cambria Math" panose="02040503050406030204" pitchFamily="18" charset="0"/>
                              <a:ea typeface="Verdana" panose="020B0604030504040204" pitchFamily="34" charset="0"/>
                              <a:cs typeface="Verdana" panose="020B0604030504040204" pitchFamily="34" charset="0"/>
                            </a:rPr>
                            <m:t> </m:t>
                          </m:r>
                          <m:r>
                            <m:rPr>
                              <m:sty m:val="p"/>
                            </m:rPr>
                            <a:rPr lang="en-US" sz="2000">
                              <a:solidFill>
                                <a:srgbClr val="0075BF"/>
                              </a:solidFill>
                              <a:latin typeface="Cambria Math" panose="02040503050406030204" pitchFamily="18" charset="0"/>
                              <a:ea typeface="Verdana" panose="020B0604030504040204" pitchFamily="34" charset="0"/>
                              <a:cs typeface="Verdana" panose="020B0604030504040204" pitchFamily="34" charset="0"/>
                            </a:rPr>
                            <m:t>factor</m:t>
                          </m:r>
                          <m:r>
                            <a:rPr lang="en-US" sz="2000" i="1">
                              <a:solidFill>
                                <a:srgbClr val="0075BF"/>
                              </a:solidFill>
                              <a:latin typeface="Cambria Math" panose="02040503050406030204" pitchFamily="18" charset="0"/>
                              <a:ea typeface="Verdana" panose="020B0604030504040204" pitchFamily="34" charset="0"/>
                              <a:cs typeface="Verdana" panose="020B0604030504040204" pitchFamily="34" charset="0"/>
                            </a:rPr>
                            <m:t> =</m:t>
                          </m:r>
                        </m:oMath>
                      </a14:m>
                      <a:r>
                        <a:rPr lang="en-US" sz="2000" baseline="-25000" dirty="0">
                          <a:solidFill>
                            <a:srgbClr val="0075BF"/>
                          </a:solidFill>
                          <a:latin typeface="Verdana" panose="020B0604030504040204" pitchFamily="34" charset="0"/>
                          <a:ea typeface="Verdana" panose="020B0604030504040204" pitchFamily="34" charset="0"/>
                          <a:cs typeface="Verdana" panose="020B0604030504040204" pitchFamily="34" charset="0"/>
                        </a:rPr>
                        <a:t>  </a:t>
                      </a:r>
                      <a14:m>
                        <m:oMath xmlns:m="http://schemas.openxmlformats.org/officeDocument/2006/math">
                          <m:f>
                            <m:fPr>
                              <m:ctrlPr>
                                <a:rPr lang="en-US" sz="3200" i="1" baseline="-25000">
                                  <a:solidFill>
                                    <a:srgbClr val="0075BF"/>
                                  </a:solidFill>
                                  <a:latin typeface="Cambria Math" panose="02040503050406030204" pitchFamily="18" charset="0"/>
                                  <a:ea typeface="Verdana" panose="020B0604030504040204" pitchFamily="34" charset="0"/>
                                  <a:cs typeface="Verdana" panose="020B0604030504040204" pitchFamily="34" charset="0"/>
                                </a:rPr>
                              </m:ctrlPr>
                            </m:fPr>
                            <m:num>
                              <m:r>
                                <m:rPr>
                                  <m:sty m:val="p"/>
                                </m:rPr>
                                <a:rPr lang="en-US" sz="3200" baseline="-25000">
                                  <a:solidFill>
                                    <a:srgbClr val="0075BF"/>
                                  </a:solidFill>
                                  <a:latin typeface="Cambria Math" panose="02040503050406030204" pitchFamily="18" charset="0"/>
                                  <a:ea typeface="Verdana" panose="020B0604030504040204" pitchFamily="34" charset="0"/>
                                  <a:cs typeface="Verdana" panose="020B0604030504040204" pitchFamily="34" charset="0"/>
                                </a:rPr>
                                <m:t>corresponding</m:t>
                              </m:r>
                              <m:r>
                                <a:rPr lang="en-US" sz="3200" baseline="-25000">
                                  <a:solidFill>
                                    <a:srgbClr val="0075BF"/>
                                  </a:solidFill>
                                  <a:latin typeface="Cambria Math" panose="02040503050406030204" pitchFamily="18" charset="0"/>
                                  <a:ea typeface="Verdana" panose="020B0604030504040204" pitchFamily="34" charset="0"/>
                                  <a:cs typeface="Verdana" panose="020B0604030504040204" pitchFamily="34" charset="0"/>
                                </a:rPr>
                                <m:t> </m:t>
                              </m:r>
                              <m:r>
                                <m:rPr>
                                  <m:sty m:val="p"/>
                                </m:rPr>
                                <a:rPr lang="en-US" sz="3200" baseline="-25000">
                                  <a:solidFill>
                                    <a:srgbClr val="0075BF"/>
                                  </a:solidFill>
                                  <a:latin typeface="Cambria Math" panose="02040503050406030204" pitchFamily="18" charset="0"/>
                                  <a:ea typeface="Verdana" panose="020B0604030504040204" pitchFamily="34" charset="0"/>
                                  <a:cs typeface="Verdana" panose="020B0604030504040204" pitchFamily="34" charset="0"/>
                                </a:rPr>
                                <m:t>side</m:t>
                              </m:r>
                              <m:r>
                                <a:rPr lang="en-US" sz="3200" baseline="-25000">
                                  <a:solidFill>
                                    <a:srgbClr val="0075BF"/>
                                  </a:solidFill>
                                  <a:latin typeface="Cambria Math" panose="02040503050406030204" pitchFamily="18" charset="0"/>
                                  <a:ea typeface="Verdana" panose="020B0604030504040204" pitchFamily="34" charset="0"/>
                                  <a:cs typeface="Verdana" panose="020B0604030504040204" pitchFamily="34" charset="0"/>
                                </a:rPr>
                                <m:t> </m:t>
                              </m:r>
                              <m:r>
                                <m:rPr>
                                  <m:sty m:val="p"/>
                                </m:rPr>
                                <a:rPr lang="en-US" sz="3200" baseline="-25000">
                                  <a:solidFill>
                                    <a:srgbClr val="0075BF"/>
                                  </a:solidFill>
                                  <a:latin typeface="Cambria Math" panose="02040503050406030204" pitchFamily="18" charset="0"/>
                                  <a:ea typeface="Verdana" panose="020B0604030504040204" pitchFamily="34" charset="0"/>
                                  <a:cs typeface="Verdana" panose="020B0604030504040204" pitchFamily="34" charset="0"/>
                                </a:rPr>
                                <m:t>length</m:t>
                              </m:r>
                              <m:r>
                                <a:rPr lang="en-US" sz="3200" baseline="-25000">
                                  <a:solidFill>
                                    <a:srgbClr val="0075BF"/>
                                  </a:solidFill>
                                  <a:latin typeface="Cambria Math" panose="02040503050406030204" pitchFamily="18" charset="0"/>
                                  <a:ea typeface="Verdana" panose="020B0604030504040204" pitchFamily="34" charset="0"/>
                                  <a:cs typeface="Verdana" panose="020B0604030504040204" pitchFamily="34" charset="0"/>
                                </a:rPr>
                                <m:t> </m:t>
                              </m:r>
                              <m:r>
                                <m:rPr>
                                  <m:sty m:val="p"/>
                                </m:rPr>
                                <a:rPr lang="en-US" sz="3200" baseline="-25000">
                                  <a:solidFill>
                                    <a:srgbClr val="0075BF"/>
                                  </a:solidFill>
                                  <a:latin typeface="Cambria Math" panose="02040503050406030204" pitchFamily="18" charset="0"/>
                                  <a:ea typeface="Verdana" panose="020B0604030504040204" pitchFamily="34" charset="0"/>
                                  <a:cs typeface="Verdana" panose="020B0604030504040204" pitchFamily="34" charset="0"/>
                                </a:rPr>
                                <m:t>of</m:t>
                              </m:r>
                              <m:r>
                                <a:rPr lang="en-US" sz="3200" baseline="-25000">
                                  <a:solidFill>
                                    <a:srgbClr val="0075BF"/>
                                  </a:solidFill>
                                  <a:latin typeface="Cambria Math" panose="02040503050406030204" pitchFamily="18" charset="0"/>
                                  <a:ea typeface="Verdana" panose="020B0604030504040204" pitchFamily="34" charset="0"/>
                                  <a:cs typeface="Verdana" panose="020B0604030504040204" pitchFamily="34" charset="0"/>
                                </a:rPr>
                                <m:t> </m:t>
                              </m:r>
                              <m:r>
                                <m:rPr>
                                  <m:sty m:val="p"/>
                                </m:rPr>
                                <a:rPr lang="en-US" sz="3200" baseline="-25000">
                                  <a:solidFill>
                                    <a:srgbClr val="0075BF"/>
                                  </a:solidFill>
                                  <a:latin typeface="Cambria Math" panose="02040503050406030204" pitchFamily="18" charset="0"/>
                                  <a:ea typeface="Verdana" panose="020B0604030504040204" pitchFamily="34" charset="0"/>
                                  <a:cs typeface="Verdana" panose="020B0604030504040204" pitchFamily="34" charset="0"/>
                                </a:rPr>
                                <m:t>image</m:t>
                              </m:r>
                            </m:num>
                            <m:den>
                              <m:r>
                                <m:rPr>
                                  <m:sty m:val="p"/>
                                </m:rPr>
                                <a:rPr lang="en-US" sz="3200" baseline="-25000">
                                  <a:solidFill>
                                    <a:srgbClr val="0075BF"/>
                                  </a:solidFill>
                                  <a:latin typeface="Cambria Math" panose="02040503050406030204" pitchFamily="18" charset="0"/>
                                  <a:ea typeface="Verdana" panose="020B0604030504040204" pitchFamily="34" charset="0"/>
                                  <a:cs typeface="Verdana" panose="020B0604030504040204" pitchFamily="34" charset="0"/>
                                </a:rPr>
                                <m:t>corresponding</m:t>
                              </m:r>
                              <m:r>
                                <a:rPr lang="en-US" sz="3200" baseline="-25000">
                                  <a:solidFill>
                                    <a:srgbClr val="0075BF"/>
                                  </a:solidFill>
                                  <a:latin typeface="Cambria Math" panose="02040503050406030204" pitchFamily="18" charset="0"/>
                                  <a:ea typeface="Verdana" panose="020B0604030504040204" pitchFamily="34" charset="0"/>
                                  <a:cs typeface="Verdana" panose="020B0604030504040204" pitchFamily="34" charset="0"/>
                                </a:rPr>
                                <m:t> </m:t>
                              </m:r>
                              <m:r>
                                <m:rPr>
                                  <m:sty m:val="p"/>
                                </m:rPr>
                                <a:rPr lang="en-US" sz="3200" baseline="-25000">
                                  <a:solidFill>
                                    <a:srgbClr val="0075BF"/>
                                  </a:solidFill>
                                  <a:latin typeface="Cambria Math" panose="02040503050406030204" pitchFamily="18" charset="0"/>
                                  <a:ea typeface="Verdana" panose="020B0604030504040204" pitchFamily="34" charset="0"/>
                                  <a:cs typeface="Verdana" panose="020B0604030504040204" pitchFamily="34" charset="0"/>
                                </a:rPr>
                                <m:t>side</m:t>
                              </m:r>
                              <m:r>
                                <a:rPr lang="en-US" sz="3200" baseline="-25000">
                                  <a:solidFill>
                                    <a:srgbClr val="0075BF"/>
                                  </a:solidFill>
                                  <a:latin typeface="Cambria Math" panose="02040503050406030204" pitchFamily="18" charset="0"/>
                                  <a:ea typeface="Verdana" panose="020B0604030504040204" pitchFamily="34" charset="0"/>
                                  <a:cs typeface="Verdana" panose="020B0604030504040204" pitchFamily="34" charset="0"/>
                                </a:rPr>
                                <m:t> </m:t>
                              </m:r>
                              <m:r>
                                <m:rPr>
                                  <m:sty m:val="p"/>
                                </m:rPr>
                                <a:rPr lang="en-US" sz="3200" baseline="-25000">
                                  <a:solidFill>
                                    <a:srgbClr val="0075BF"/>
                                  </a:solidFill>
                                  <a:latin typeface="Cambria Math" panose="02040503050406030204" pitchFamily="18" charset="0"/>
                                  <a:ea typeface="Verdana" panose="020B0604030504040204" pitchFamily="34" charset="0"/>
                                  <a:cs typeface="Verdana" panose="020B0604030504040204" pitchFamily="34" charset="0"/>
                                </a:rPr>
                                <m:t>length</m:t>
                              </m:r>
                              <m:r>
                                <a:rPr lang="en-US" sz="3200" baseline="-25000">
                                  <a:solidFill>
                                    <a:srgbClr val="0075BF"/>
                                  </a:solidFill>
                                  <a:latin typeface="Cambria Math" panose="02040503050406030204" pitchFamily="18" charset="0"/>
                                  <a:ea typeface="Verdana" panose="020B0604030504040204" pitchFamily="34" charset="0"/>
                                  <a:cs typeface="Verdana" panose="020B0604030504040204" pitchFamily="34" charset="0"/>
                                </a:rPr>
                                <m:t> </m:t>
                              </m:r>
                              <m:r>
                                <m:rPr>
                                  <m:sty m:val="p"/>
                                </m:rPr>
                                <a:rPr lang="en-US" sz="3200" baseline="-25000">
                                  <a:solidFill>
                                    <a:srgbClr val="0075BF"/>
                                  </a:solidFill>
                                  <a:latin typeface="Cambria Math" panose="02040503050406030204" pitchFamily="18" charset="0"/>
                                  <a:ea typeface="Verdana" panose="020B0604030504040204" pitchFamily="34" charset="0"/>
                                  <a:cs typeface="Verdana" panose="020B0604030504040204" pitchFamily="34" charset="0"/>
                                </a:rPr>
                                <m:t>of</m:t>
                              </m:r>
                              <m:r>
                                <a:rPr lang="en-US" sz="3200" baseline="-25000">
                                  <a:solidFill>
                                    <a:srgbClr val="0075BF"/>
                                  </a:solidFill>
                                  <a:latin typeface="Cambria Math" panose="02040503050406030204" pitchFamily="18" charset="0"/>
                                  <a:ea typeface="Verdana" panose="020B0604030504040204" pitchFamily="34" charset="0"/>
                                  <a:cs typeface="Verdana" panose="020B0604030504040204" pitchFamily="34" charset="0"/>
                                </a:rPr>
                                <m:t> </m:t>
                              </m:r>
                              <m:r>
                                <m:rPr>
                                  <m:sty m:val="p"/>
                                </m:rPr>
                                <a:rPr lang="en-US" sz="3200" baseline="-25000">
                                  <a:solidFill>
                                    <a:srgbClr val="0075BF"/>
                                  </a:solidFill>
                                  <a:latin typeface="Cambria Math" panose="02040503050406030204" pitchFamily="18" charset="0"/>
                                  <a:ea typeface="Verdana" panose="020B0604030504040204" pitchFamily="34" charset="0"/>
                                  <a:cs typeface="Verdana" panose="020B0604030504040204" pitchFamily="34" charset="0"/>
                                </a:rPr>
                                <m:t>preimage</m:t>
                              </m:r>
                            </m:den>
                          </m:f>
                        </m:oMath>
                      </a14:m>
                      <a:endParaRPr lang="en-US" sz="3200" dirty="0">
                        <a:latin typeface="Verdana" panose="020B0604030504040204" pitchFamily="34" charset="0"/>
                        <a:ea typeface="Verdana" panose="020B0604030504040204" pitchFamily="34" charset="0"/>
                        <a:cs typeface="Verdana" panose="020B0604030504040204" pitchFamily="34" charset="0"/>
                      </a:endParaRPr>
                    </a:p>
                    <a:p>
                      <a:pPr algn="ctr"/>
                      <a:endParaRPr lang="en-US" sz="3200" dirty="0">
                        <a:solidFill>
                          <a:srgbClr val="0075BF"/>
                        </a:solidFill>
                        <a:latin typeface="Verdana" panose="020B0604030504040204" pitchFamily="34" charset="0"/>
                        <a:ea typeface="Verdana" panose="020B0604030504040204" pitchFamily="34" charset="0"/>
                        <a:cs typeface="Verdana" panose="020B0604030504040204" pitchFamily="34" charset="0"/>
                      </a:endParaRPr>
                    </a:p>
                    <a:p>
                      <a:pPr algn="ctr"/>
                      <a14:m>
                        <m:oMath xmlns:m="http://schemas.openxmlformats.org/officeDocument/2006/math">
                          <m:r>
                            <m:rPr>
                              <m:sty m:val="p"/>
                            </m:rPr>
                            <a:rPr lang="en-US" sz="2000">
                              <a:solidFill>
                                <a:srgbClr val="0075BF"/>
                              </a:solidFill>
                              <a:latin typeface="Cambria Math" panose="02040503050406030204" pitchFamily="18" charset="0"/>
                              <a:ea typeface="Verdana" panose="020B0604030504040204" pitchFamily="34" charset="0"/>
                              <a:cs typeface="Verdana" panose="020B0604030504040204" pitchFamily="34" charset="0"/>
                            </a:rPr>
                            <m:t>Scale</m:t>
                          </m:r>
                          <m:r>
                            <a:rPr lang="en-US" sz="2000">
                              <a:solidFill>
                                <a:srgbClr val="0075BF"/>
                              </a:solidFill>
                              <a:latin typeface="Cambria Math" panose="02040503050406030204" pitchFamily="18" charset="0"/>
                              <a:ea typeface="Verdana" panose="020B0604030504040204" pitchFamily="34" charset="0"/>
                              <a:cs typeface="Verdana" panose="020B0604030504040204" pitchFamily="34" charset="0"/>
                            </a:rPr>
                            <m:t> </m:t>
                          </m:r>
                          <m:r>
                            <m:rPr>
                              <m:sty m:val="p"/>
                            </m:rPr>
                            <a:rPr lang="en-US" sz="2000">
                              <a:solidFill>
                                <a:srgbClr val="0075BF"/>
                              </a:solidFill>
                              <a:latin typeface="Cambria Math" panose="02040503050406030204" pitchFamily="18" charset="0"/>
                              <a:ea typeface="Verdana" panose="020B0604030504040204" pitchFamily="34" charset="0"/>
                              <a:cs typeface="Verdana" panose="020B0604030504040204" pitchFamily="34" charset="0"/>
                            </a:rPr>
                            <m:t>factor</m:t>
                          </m:r>
                          <m:r>
                            <a:rPr lang="en-US" sz="2000" i="1">
                              <a:solidFill>
                                <a:srgbClr val="0075BF"/>
                              </a:solidFill>
                              <a:latin typeface="Cambria Math" panose="02040503050406030204" pitchFamily="18" charset="0"/>
                              <a:ea typeface="Verdana" panose="020B0604030504040204" pitchFamily="34" charset="0"/>
                              <a:cs typeface="Verdana" panose="020B0604030504040204" pitchFamily="34" charset="0"/>
                            </a:rPr>
                            <m:t>=</m:t>
                          </m:r>
                          <m:r>
                            <a:rPr lang="en-US" sz="2000" i="1">
                              <a:solidFill>
                                <a:srgbClr val="00619E"/>
                              </a:solidFill>
                              <a:latin typeface="Cambria Math" panose="02040503050406030204" pitchFamily="18" charset="0"/>
                              <a:ea typeface="Verdana" panose="020B0604030504040204" pitchFamily="34" charset="0"/>
                              <a:cs typeface="Verdana" panose="020B0604030504040204" pitchFamily="34" charset="0"/>
                            </a:rPr>
                            <m:t> </m:t>
                          </m:r>
                          <m:f>
                            <m:fPr>
                              <m:ctrlPr>
                                <a:rPr lang="en-US" sz="2000" i="1">
                                  <a:solidFill>
                                    <a:srgbClr val="0075BF"/>
                                  </a:solidFill>
                                  <a:latin typeface="Cambria Math" panose="02040503050406030204" pitchFamily="18" charset="0"/>
                                  <a:ea typeface="Verdana" panose="020B0604030504040204" pitchFamily="34" charset="0"/>
                                  <a:cs typeface="Verdana" panose="020B0604030504040204" pitchFamily="34" charset="0"/>
                                </a:rPr>
                              </m:ctrlPr>
                            </m:fPr>
                            <m:num>
                              <m:r>
                                <m:rPr>
                                  <m:sty m:val="p"/>
                                </m:rPr>
                                <a:rPr lang="en-US" sz="2000">
                                  <a:solidFill>
                                    <a:srgbClr val="0075BF"/>
                                  </a:solidFill>
                                  <a:latin typeface="Cambria Math" panose="02040503050406030204" pitchFamily="18" charset="0"/>
                                  <a:ea typeface="Verdana" panose="020B0604030504040204" pitchFamily="34" charset="0"/>
                                  <a:cs typeface="Verdana" panose="020B0604030504040204" pitchFamily="34" charset="0"/>
                                </a:rPr>
                                <m:t>distance</m:t>
                              </m:r>
                              <m:r>
                                <a:rPr lang="en-US" sz="2000">
                                  <a:solidFill>
                                    <a:srgbClr val="0075BF"/>
                                  </a:solidFill>
                                  <a:latin typeface="Cambria Math" panose="02040503050406030204" pitchFamily="18" charset="0"/>
                                  <a:ea typeface="Verdana" panose="020B0604030504040204" pitchFamily="34" charset="0"/>
                                  <a:cs typeface="Verdana" panose="020B0604030504040204" pitchFamily="34" charset="0"/>
                                </a:rPr>
                                <m:t> </m:t>
                              </m:r>
                              <m:r>
                                <m:rPr>
                                  <m:sty m:val="p"/>
                                </m:rPr>
                                <a:rPr lang="en-US" sz="2000">
                                  <a:solidFill>
                                    <a:srgbClr val="0075BF"/>
                                  </a:solidFill>
                                  <a:latin typeface="Cambria Math" panose="02040503050406030204" pitchFamily="18" charset="0"/>
                                  <a:ea typeface="Verdana" panose="020B0604030504040204" pitchFamily="34" charset="0"/>
                                  <a:cs typeface="Verdana" panose="020B0604030504040204" pitchFamily="34" charset="0"/>
                                </a:rPr>
                                <m:t>from</m:t>
                              </m:r>
                              <m:r>
                                <a:rPr lang="en-US" sz="2000">
                                  <a:solidFill>
                                    <a:srgbClr val="0075BF"/>
                                  </a:solidFill>
                                  <a:latin typeface="Cambria Math" panose="02040503050406030204" pitchFamily="18" charset="0"/>
                                  <a:ea typeface="Verdana" panose="020B0604030504040204" pitchFamily="34" charset="0"/>
                                  <a:cs typeface="Verdana" panose="020B0604030504040204" pitchFamily="34" charset="0"/>
                                </a:rPr>
                                <m:t> </m:t>
                              </m:r>
                              <m:r>
                                <m:rPr>
                                  <m:sty m:val="p"/>
                                </m:rPr>
                                <a:rPr lang="en-US" sz="2000">
                                  <a:solidFill>
                                    <a:srgbClr val="0075BF"/>
                                  </a:solidFill>
                                  <a:latin typeface="Cambria Math" panose="02040503050406030204" pitchFamily="18" charset="0"/>
                                  <a:ea typeface="Verdana" panose="020B0604030504040204" pitchFamily="34" charset="0"/>
                                  <a:cs typeface="Verdana" panose="020B0604030504040204" pitchFamily="34" charset="0"/>
                                </a:rPr>
                                <m:t>center</m:t>
                              </m:r>
                              <m:r>
                                <a:rPr lang="en-US" sz="2000">
                                  <a:solidFill>
                                    <a:srgbClr val="0075BF"/>
                                  </a:solidFill>
                                  <a:latin typeface="Cambria Math" panose="02040503050406030204" pitchFamily="18" charset="0"/>
                                  <a:ea typeface="Verdana" panose="020B0604030504040204" pitchFamily="34" charset="0"/>
                                  <a:cs typeface="Verdana" panose="020B0604030504040204" pitchFamily="34" charset="0"/>
                                </a:rPr>
                                <m:t> </m:t>
                              </m:r>
                              <m:r>
                                <m:rPr>
                                  <m:sty m:val="p"/>
                                </m:rPr>
                                <a:rPr lang="en-US" sz="2000">
                                  <a:solidFill>
                                    <a:srgbClr val="0075BF"/>
                                  </a:solidFill>
                                  <a:latin typeface="Cambria Math" panose="02040503050406030204" pitchFamily="18" charset="0"/>
                                  <a:ea typeface="Verdana" panose="020B0604030504040204" pitchFamily="34" charset="0"/>
                                  <a:cs typeface="Verdana" panose="020B0604030504040204" pitchFamily="34" charset="0"/>
                                </a:rPr>
                                <m:t>to</m:t>
                              </m:r>
                              <m:r>
                                <a:rPr lang="en-US" sz="2000">
                                  <a:solidFill>
                                    <a:srgbClr val="0075BF"/>
                                  </a:solidFill>
                                  <a:latin typeface="Cambria Math" panose="02040503050406030204" pitchFamily="18" charset="0"/>
                                  <a:ea typeface="Verdana" panose="020B0604030504040204" pitchFamily="34" charset="0"/>
                                  <a:cs typeface="Verdana" panose="020B0604030504040204" pitchFamily="34" charset="0"/>
                                </a:rPr>
                                <m:t> </m:t>
                              </m:r>
                              <m:r>
                                <m:rPr>
                                  <m:sty m:val="p"/>
                                </m:rPr>
                                <a:rPr lang="en-US" sz="2000">
                                  <a:solidFill>
                                    <a:srgbClr val="0075BF"/>
                                  </a:solidFill>
                                  <a:latin typeface="Cambria Math" panose="02040503050406030204" pitchFamily="18" charset="0"/>
                                  <a:ea typeface="Verdana" panose="020B0604030504040204" pitchFamily="34" charset="0"/>
                                  <a:cs typeface="Verdana" panose="020B0604030504040204" pitchFamily="34" charset="0"/>
                                </a:rPr>
                                <m:t>vertex</m:t>
                              </m:r>
                              <m:r>
                                <a:rPr lang="en-US" sz="2000">
                                  <a:solidFill>
                                    <a:srgbClr val="0075BF"/>
                                  </a:solidFill>
                                  <a:latin typeface="Cambria Math" panose="02040503050406030204" pitchFamily="18" charset="0"/>
                                  <a:ea typeface="Verdana" panose="020B0604030504040204" pitchFamily="34" charset="0"/>
                                  <a:cs typeface="Verdana" panose="020B0604030504040204" pitchFamily="34" charset="0"/>
                                </a:rPr>
                                <m:t> </m:t>
                              </m:r>
                              <m:r>
                                <m:rPr>
                                  <m:sty m:val="p"/>
                                </m:rPr>
                                <a:rPr lang="en-US" sz="2000">
                                  <a:solidFill>
                                    <a:srgbClr val="0075BF"/>
                                  </a:solidFill>
                                  <a:latin typeface="Cambria Math" panose="02040503050406030204" pitchFamily="18" charset="0"/>
                                  <a:ea typeface="Verdana" panose="020B0604030504040204" pitchFamily="34" charset="0"/>
                                  <a:cs typeface="Verdana" panose="020B0604030504040204" pitchFamily="34" charset="0"/>
                                </a:rPr>
                                <m:t>on</m:t>
                              </m:r>
                              <m:r>
                                <a:rPr lang="en-US" sz="2000">
                                  <a:solidFill>
                                    <a:srgbClr val="0075BF"/>
                                  </a:solidFill>
                                  <a:latin typeface="Cambria Math" panose="02040503050406030204" pitchFamily="18" charset="0"/>
                                  <a:ea typeface="Verdana" panose="020B0604030504040204" pitchFamily="34" charset="0"/>
                                  <a:cs typeface="Verdana" panose="020B0604030504040204" pitchFamily="34" charset="0"/>
                                </a:rPr>
                                <m:t> </m:t>
                              </m:r>
                              <m:r>
                                <m:rPr>
                                  <m:sty m:val="p"/>
                                </m:rPr>
                                <a:rPr lang="en-US" sz="2000">
                                  <a:solidFill>
                                    <a:srgbClr val="0075BF"/>
                                  </a:solidFill>
                                  <a:latin typeface="Cambria Math" panose="02040503050406030204" pitchFamily="18" charset="0"/>
                                  <a:ea typeface="Verdana" panose="020B0604030504040204" pitchFamily="34" charset="0"/>
                                  <a:cs typeface="Verdana" panose="020B0604030504040204" pitchFamily="34" charset="0"/>
                                </a:rPr>
                                <m:t>the</m:t>
                              </m:r>
                              <m:r>
                                <a:rPr lang="en-US" sz="2000">
                                  <a:solidFill>
                                    <a:srgbClr val="0075BF"/>
                                  </a:solidFill>
                                  <a:latin typeface="Cambria Math" panose="02040503050406030204" pitchFamily="18" charset="0"/>
                                  <a:ea typeface="Verdana" panose="020B0604030504040204" pitchFamily="34" charset="0"/>
                                  <a:cs typeface="Verdana" panose="020B0604030504040204" pitchFamily="34" charset="0"/>
                                </a:rPr>
                                <m:t> </m:t>
                              </m:r>
                              <m:r>
                                <m:rPr>
                                  <m:sty m:val="p"/>
                                </m:rPr>
                                <a:rPr lang="en-US" sz="2000">
                                  <a:solidFill>
                                    <a:srgbClr val="0075BF"/>
                                  </a:solidFill>
                                  <a:latin typeface="Cambria Math" panose="02040503050406030204" pitchFamily="18" charset="0"/>
                                  <a:ea typeface="Verdana" panose="020B0604030504040204" pitchFamily="34" charset="0"/>
                                  <a:cs typeface="Verdana" panose="020B0604030504040204" pitchFamily="34" charset="0"/>
                                </a:rPr>
                                <m:t>image</m:t>
                              </m:r>
                            </m:num>
                            <m:den>
                              <m:r>
                                <m:rPr>
                                  <m:sty m:val="p"/>
                                </m:rPr>
                                <a:rPr lang="en-US" sz="2000">
                                  <a:solidFill>
                                    <a:srgbClr val="0075BF"/>
                                  </a:solidFill>
                                  <a:latin typeface="Cambria Math" panose="02040503050406030204" pitchFamily="18" charset="0"/>
                                  <a:ea typeface="Verdana" panose="020B0604030504040204" pitchFamily="34" charset="0"/>
                                  <a:cs typeface="Verdana" panose="020B0604030504040204" pitchFamily="34" charset="0"/>
                                </a:rPr>
                                <m:t>distance</m:t>
                              </m:r>
                              <m:r>
                                <a:rPr lang="en-US" sz="2000">
                                  <a:solidFill>
                                    <a:srgbClr val="0075BF"/>
                                  </a:solidFill>
                                  <a:latin typeface="Cambria Math" panose="02040503050406030204" pitchFamily="18" charset="0"/>
                                  <a:ea typeface="Verdana" panose="020B0604030504040204" pitchFamily="34" charset="0"/>
                                  <a:cs typeface="Verdana" panose="020B0604030504040204" pitchFamily="34" charset="0"/>
                                </a:rPr>
                                <m:t> </m:t>
                              </m:r>
                              <m:r>
                                <m:rPr>
                                  <m:sty m:val="p"/>
                                </m:rPr>
                                <a:rPr lang="en-US" sz="2000">
                                  <a:solidFill>
                                    <a:srgbClr val="0075BF"/>
                                  </a:solidFill>
                                  <a:latin typeface="Cambria Math" panose="02040503050406030204" pitchFamily="18" charset="0"/>
                                  <a:ea typeface="Verdana" panose="020B0604030504040204" pitchFamily="34" charset="0"/>
                                  <a:cs typeface="Verdana" panose="020B0604030504040204" pitchFamily="34" charset="0"/>
                                </a:rPr>
                                <m:t>from</m:t>
                              </m:r>
                              <m:r>
                                <a:rPr lang="en-US" sz="2000">
                                  <a:solidFill>
                                    <a:srgbClr val="0075BF"/>
                                  </a:solidFill>
                                  <a:latin typeface="Cambria Math" panose="02040503050406030204" pitchFamily="18" charset="0"/>
                                  <a:ea typeface="Verdana" panose="020B0604030504040204" pitchFamily="34" charset="0"/>
                                  <a:cs typeface="Verdana" panose="020B0604030504040204" pitchFamily="34" charset="0"/>
                                </a:rPr>
                                <m:t> </m:t>
                              </m:r>
                              <m:r>
                                <m:rPr>
                                  <m:sty m:val="p"/>
                                </m:rPr>
                                <a:rPr lang="en-US" sz="2000">
                                  <a:solidFill>
                                    <a:srgbClr val="0075BF"/>
                                  </a:solidFill>
                                  <a:latin typeface="Cambria Math" panose="02040503050406030204" pitchFamily="18" charset="0"/>
                                  <a:ea typeface="Verdana" panose="020B0604030504040204" pitchFamily="34" charset="0"/>
                                  <a:cs typeface="Verdana" panose="020B0604030504040204" pitchFamily="34" charset="0"/>
                                </a:rPr>
                                <m:t>center</m:t>
                              </m:r>
                              <m:r>
                                <a:rPr lang="en-US" sz="2000">
                                  <a:solidFill>
                                    <a:srgbClr val="0075BF"/>
                                  </a:solidFill>
                                  <a:latin typeface="Cambria Math" panose="02040503050406030204" pitchFamily="18" charset="0"/>
                                  <a:ea typeface="Verdana" panose="020B0604030504040204" pitchFamily="34" charset="0"/>
                                  <a:cs typeface="Verdana" panose="020B0604030504040204" pitchFamily="34" charset="0"/>
                                </a:rPr>
                                <m:t> </m:t>
                              </m:r>
                              <m:r>
                                <m:rPr>
                                  <m:sty m:val="p"/>
                                </m:rPr>
                                <a:rPr lang="en-US" sz="2000">
                                  <a:solidFill>
                                    <a:srgbClr val="0075BF"/>
                                  </a:solidFill>
                                  <a:latin typeface="Cambria Math" panose="02040503050406030204" pitchFamily="18" charset="0"/>
                                  <a:ea typeface="Verdana" panose="020B0604030504040204" pitchFamily="34" charset="0"/>
                                  <a:cs typeface="Verdana" panose="020B0604030504040204" pitchFamily="34" charset="0"/>
                                </a:rPr>
                                <m:t>to</m:t>
                              </m:r>
                              <m:r>
                                <a:rPr lang="en-US" sz="2000">
                                  <a:solidFill>
                                    <a:srgbClr val="0075BF"/>
                                  </a:solidFill>
                                  <a:latin typeface="Cambria Math" panose="02040503050406030204" pitchFamily="18" charset="0"/>
                                  <a:ea typeface="Verdana" panose="020B0604030504040204" pitchFamily="34" charset="0"/>
                                  <a:cs typeface="Verdana" panose="020B0604030504040204" pitchFamily="34" charset="0"/>
                                </a:rPr>
                                <m:t> </m:t>
                              </m:r>
                              <m:r>
                                <m:rPr>
                                  <m:sty m:val="p"/>
                                </m:rPr>
                                <a:rPr lang="en-US" sz="2000">
                                  <a:solidFill>
                                    <a:srgbClr val="0075BF"/>
                                  </a:solidFill>
                                  <a:latin typeface="Cambria Math" panose="02040503050406030204" pitchFamily="18" charset="0"/>
                                  <a:ea typeface="Verdana" panose="020B0604030504040204" pitchFamily="34" charset="0"/>
                                  <a:cs typeface="Verdana" panose="020B0604030504040204" pitchFamily="34" charset="0"/>
                                </a:rPr>
                                <m:t>corresponding</m:t>
                              </m:r>
                              <m:r>
                                <a:rPr lang="en-US" sz="2000">
                                  <a:solidFill>
                                    <a:srgbClr val="0075BF"/>
                                  </a:solidFill>
                                  <a:latin typeface="Cambria Math" panose="02040503050406030204" pitchFamily="18" charset="0"/>
                                  <a:ea typeface="Verdana" panose="020B0604030504040204" pitchFamily="34" charset="0"/>
                                  <a:cs typeface="Verdana" panose="020B0604030504040204" pitchFamily="34" charset="0"/>
                                </a:rPr>
                                <m:t> </m:t>
                              </m:r>
                              <m:r>
                                <m:rPr>
                                  <m:sty m:val="p"/>
                                </m:rPr>
                                <a:rPr lang="en-US" sz="2000">
                                  <a:solidFill>
                                    <a:srgbClr val="0075BF"/>
                                  </a:solidFill>
                                  <a:latin typeface="Cambria Math" panose="02040503050406030204" pitchFamily="18" charset="0"/>
                                  <a:ea typeface="Verdana" panose="020B0604030504040204" pitchFamily="34" charset="0"/>
                                  <a:cs typeface="Verdana" panose="020B0604030504040204" pitchFamily="34" charset="0"/>
                                </a:rPr>
                                <m:t>preimage</m:t>
                              </m:r>
                              <m:r>
                                <a:rPr lang="en-US" sz="2000">
                                  <a:solidFill>
                                    <a:srgbClr val="0075BF"/>
                                  </a:solidFill>
                                  <a:latin typeface="Cambria Math" panose="02040503050406030204" pitchFamily="18" charset="0"/>
                                  <a:ea typeface="Verdana" panose="020B0604030504040204" pitchFamily="34" charset="0"/>
                                  <a:cs typeface="Verdana" panose="020B0604030504040204" pitchFamily="34" charset="0"/>
                                </a:rPr>
                                <m:t> </m:t>
                              </m:r>
                              <m:r>
                                <m:rPr>
                                  <m:sty m:val="p"/>
                                </m:rPr>
                                <a:rPr lang="en-US" sz="2000">
                                  <a:solidFill>
                                    <a:srgbClr val="0075BF"/>
                                  </a:solidFill>
                                  <a:latin typeface="Cambria Math" panose="02040503050406030204" pitchFamily="18" charset="0"/>
                                  <a:ea typeface="Verdana" panose="020B0604030504040204" pitchFamily="34" charset="0"/>
                                  <a:cs typeface="Verdana" panose="020B0604030504040204" pitchFamily="34" charset="0"/>
                                </a:rPr>
                                <m:t>vertex</m:t>
                              </m:r>
                            </m:den>
                          </m:f>
                        </m:oMath>
                      </a14:m>
                      <a:r>
                        <a:rPr lang="en-US" sz="1800" dirty="0">
                          <a:solidFill>
                            <a:srgbClr val="00619E"/>
                          </a:solidFill>
                          <a:latin typeface="Times New Roman" panose="02020603050405020304" pitchFamily="18" charset="0"/>
                          <a:ea typeface="Times New Roman" panose="02020603050405020304" pitchFamily="18" charset="0"/>
                        </a:rPr>
                        <a:t> </a:t>
                      </a:r>
                      <a:endParaRPr lang="en-US" sz="1200" dirty="0">
                        <a:latin typeface="Times New Roman" panose="02020603050405020304" pitchFamily="18" charset="0"/>
                        <a:ea typeface="Times New Roman" panose="02020603050405020304" pitchFamily="18" charset="0"/>
                      </a:endParaRPr>
                    </a:p>
                  </p:txBody>
                </p:sp>
              </mc:Choice>
              <mc:Fallback xmlns="">
                <p:sp>
                  <p:nvSpPr>
                    <p:cNvPr id="13" name="Rounded Rectangle 12"/>
                    <p:cNvSpPr>
                      <a:spLocks noRot="1" noChangeAspect="1" noMove="1" noResize="1" noEditPoints="1" noAdjustHandles="1" noChangeArrowheads="1" noChangeShapeType="1" noTextEdit="1"/>
                    </p:cNvSpPr>
                    <p:nvPr/>
                  </p:nvSpPr>
                  <p:spPr>
                    <a:xfrm>
                      <a:off x="12698" y="-112059"/>
                      <a:ext cx="8280000" cy="1350582"/>
                    </a:xfrm>
                    <a:prstGeom prst="roundRect">
                      <a:avLst>
                        <a:gd name="adj" fmla="val 16667"/>
                      </a:avLst>
                    </a:prstGeom>
                    <a:blipFill rotWithShape="1">
                      <a:blip r:embed="rId4"/>
                      <a:stretch>
                        <a:fillRect/>
                      </a:stretch>
                    </a:blipFill>
                    <a:ln>
                      <a:noFill/>
                    </a:ln>
                    <a:effectLst>
                      <a:outerShdw blurRad="50800" dist="38100" dir="2700000" algn="tl" rotWithShape="0">
                        <a:prstClr val="black">
                          <a:alpha val="40000"/>
                        </a:prstClr>
                      </a:outerShdw>
                    </a:effectLst>
                  </p:spPr>
                  <p:txBody>
                    <a:bodyPr/>
                    <a:lstStyle/>
                    <a:p>
                      <a:r>
                        <a:rPr lang="en-PH">
                          <a:noFill/>
                        </a:rPr>
                        <a:t> </a:t>
                      </a:r>
                    </a:p>
                  </p:txBody>
                </p:sp>
              </mc:Fallback>
            </mc:AlternateContent>
          </p:grpSp>
        </p:grpSp>
        <p:pic>
          <p:nvPicPr>
            <p:cNvPr id="8" name="image15.png" descr="Icon&#10;&#10;Description automatically generated"/>
            <p:cNvPicPr/>
            <p:nvPr/>
          </p:nvPicPr>
          <p:blipFill>
            <a:blip r:embed="rId5" cstate="screen">
              <a:extLst>
                <a:ext uri="{28A0092B-C50C-407E-A947-70E740481C1C}">
                  <a14:useLocalDpi xmlns:a14="http://schemas.microsoft.com/office/drawing/2010/main"/>
                </a:ext>
              </a:extLst>
            </a:blip>
            <a:srcRect/>
            <a:stretch>
              <a:fillRect/>
            </a:stretch>
          </p:blipFill>
          <p:spPr>
            <a:xfrm>
              <a:off x="133944" y="1"/>
              <a:ext cx="539750" cy="539750"/>
            </a:xfrm>
            <a:prstGeom prst="rect">
              <a:avLst/>
            </a:prstGeom>
            <a:ln/>
            <a:effectLst>
              <a:outerShdw blurRad="50800" dist="38100" dir="2700000" algn="tl" rotWithShape="0">
                <a:prstClr val="black">
                  <a:alpha val="40000"/>
                </a:prstClr>
              </a:outerShdw>
            </a:effectLst>
          </p:spPr>
        </p:pic>
      </p:grpSp>
      <p:sp>
        <p:nvSpPr>
          <p:cNvPr id="15" name="Google Shape;282;g104476d1465_1_17"/>
          <p:cNvSpPr txBox="1"/>
          <p:nvPr/>
        </p:nvSpPr>
        <p:spPr>
          <a:xfrm>
            <a:off x="8842248"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107</a:t>
            </a:r>
            <a:endParaRPr i="1" dirty="0">
              <a:latin typeface="Calibri"/>
              <a:ea typeface="Calibri"/>
              <a:cs typeface="Calibri"/>
              <a:sym typeface="Calibri"/>
            </a:endParaRPr>
          </a:p>
        </p:txBody>
      </p:sp>
    </p:spTree>
    <p:extLst>
      <p:ext uri="{BB962C8B-B14F-4D97-AF65-F5344CB8AC3E}">
        <p14:creationId xmlns:p14="http://schemas.microsoft.com/office/powerpoint/2010/main" val="238549011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475720" y="6200600"/>
            <a:ext cx="563850" cy="657276"/>
          </a:xfrm>
          <a:prstGeom prst="rect">
            <a:avLst/>
          </a:prstGeom>
          <a:noFill/>
          <a:ln>
            <a:noFill/>
          </a:ln>
          <a:effectLst>
            <a:outerShdw blurRad="57150" dist="19050" dir="5400000" algn="bl" rotWithShape="0">
              <a:srgbClr val="000000">
                <a:alpha val="50000"/>
              </a:srgbClr>
            </a:outerShdw>
          </a:effectLst>
        </p:spPr>
      </p:pic>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2FA392D8-3ED3-7940-83A8-1451AA8A08D4}"/>
                  </a:ext>
                </a:extLst>
              </p:cNvPr>
              <p:cNvSpPr txBox="1"/>
              <p:nvPr/>
            </p:nvSpPr>
            <p:spPr>
              <a:xfrm>
                <a:off x="622300" y="373248"/>
                <a:ext cx="10960100" cy="400110"/>
              </a:xfrm>
              <a:prstGeom prst="rect">
                <a:avLst/>
              </a:prstGeom>
              <a:noFill/>
            </p:spPr>
            <p:txBody>
              <a:bodyPr wrap="square" rtlCol="0">
                <a:spAutoFit/>
              </a:bodyPr>
              <a:lstStyle/>
              <a:p>
                <a:pPr marL="457200" indent="-457200">
                  <a:buFont typeface="+mj-lt"/>
                  <a:buAutoNum type="arabicPeriod" startAt="2"/>
                </a:pPr>
                <a:r>
                  <a:rPr lang="en-US" sz="2000" dirty="0">
                    <a:latin typeface="Verdana" panose="020B0604030504040204" pitchFamily="34" charset="0"/>
                    <a:ea typeface="Verdana" panose="020B0604030504040204" pitchFamily="34" charset="0"/>
                    <a:cs typeface="Verdana" panose="020B0604030504040204" pitchFamily="34" charset="0"/>
                  </a:rPr>
                  <a:t>Quadrilateral </a:t>
                </a:r>
                <a14:m>
                  <m:oMath xmlns:m="http://schemas.openxmlformats.org/officeDocument/2006/math">
                    <m:r>
                      <a:rPr lang="en-US" sz="2000" i="1">
                        <a:latin typeface="Cambria Math" panose="02040503050406030204" pitchFamily="18" charset="0"/>
                        <a:ea typeface="Cambria Math" panose="02040503050406030204" pitchFamily="18" charset="0"/>
                      </a:rPr>
                      <m:t>𝐶𝐻𝑁𝑆</m:t>
                    </m:r>
                  </m:oMath>
                </a14:m>
                <a:r>
                  <a:rPr lang="en-US" sz="2000" dirty="0">
                    <a:latin typeface="Verdana" panose="020B0604030504040204" pitchFamily="34" charset="0"/>
                    <a:ea typeface="Verdana" panose="020B0604030504040204" pitchFamily="34" charset="0"/>
                    <a:cs typeface="Verdana" panose="020B0604030504040204" pitchFamily="34" charset="0"/>
                  </a:rPr>
                  <a:t> is dilated using the origin as the center, as shown.</a:t>
                </a:r>
              </a:p>
            </p:txBody>
          </p:sp>
        </mc:Choice>
        <mc:Fallback xmlns="">
          <p:sp>
            <p:nvSpPr>
              <p:cNvPr id="14" name="TextBox 13">
                <a:extLst>
                  <a:ext uri="{FF2B5EF4-FFF2-40B4-BE49-F238E27FC236}">
                    <a16:creationId xmlns:a16="http://schemas.microsoft.com/office/drawing/2014/main" id="{2FA392D8-3ED3-7940-83A8-1451AA8A08D4}"/>
                  </a:ext>
                </a:extLst>
              </p:cNvPr>
              <p:cNvSpPr txBox="1">
                <a:spLocks noRot="1" noChangeAspect="1" noMove="1" noResize="1" noEditPoints="1" noAdjustHandles="1" noChangeArrowheads="1" noChangeShapeType="1" noTextEdit="1"/>
              </p:cNvSpPr>
              <p:nvPr/>
            </p:nvSpPr>
            <p:spPr>
              <a:xfrm>
                <a:off x="622300" y="373248"/>
                <a:ext cx="10960100" cy="400110"/>
              </a:xfrm>
              <a:prstGeom prst="rect">
                <a:avLst/>
              </a:prstGeom>
              <a:blipFill>
                <a:blip r:embed="rId4"/>
                <a:stretch>
                  <a:fillRect l="-462" t="-9375" b="-28125"/>
                </a:stretch>
              </a:blipFill>
            </p:spPr>
            <p:txBody>
              <a:bodyPr/>
              <a:lstStyle/>
              <a:p>
                <a:r>
                  <a:rPr lang="en-US">
                    <a:noFill/>
                  </a:rPr>
                  <a:t> </a:t>
                </a:r>
              </a:p>
            </p:txBody>
          </p:sp>
        </mc:Fallback>
      </mc:AlternateContent>
      <p:pic>
        <p:nvPicPr>
          <p:cNvPr id="6" name="Picture 5" descr="Chart, line chart&#10;&#10;Description automatically generated"/>
          <p:cNvPicPr/>
          <p:nvPr/>
        </p:nvPicPr>
        <p:blipFill>
          <a:blip r:embed="rId5" cstate="screen">
            <a:extLst>
              <a:ext uri="{28A0092B-C50C-407E-A947-70E740481C1C}">
                <a14:useLocalDpi xmlns:a14="http://schemas.microsoft.com/office/drawing/2010/main"/>
              </a:ext>
            </a:extLst>
          </a:blip>
          <a:stretch>
            <a:fillRect/>
          </a:stretch>
        </p:blipFill>
        <p:spPr>
          <a:xfrm>
            <a:off x="3154883" y="1180049"/>
            <a:ext cx="6032900" cy="5277626"/>
          </a:xfrm>
          <a:prstGeom prst="rect">
            <a:avLst/>
          </a:prstGeom>
        </p:spPr>
      </p:pic>
      <p:sp>
        <p:nvSpPr>
          <p:cNvPr id="8" name="Google Shape;282;g104476d1465_1_17"/>
          <p:cNvSpPr txBox="1"/>
          <p:nvPr/>
        </p:nvSpPr>
        <p:spPr>
          <a:xfrm>
            <a:off x="8842248"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108</a:t>
            </a:r>
            <a:endParaRPr i="1" dirty="0">
              <a:latin typeface="Calibri"/>
              <a:ea typeface="Calibri"/>
              <a:cs typeface="Calibri"/>
              <a:sym typeface="Calibri"/>
            </a:endParaRPr>
          </a:p>
        </p:txBody>
      </p:sp>
    </p:spTree>
    <p:extLst>
      <p:ext uri="{BB962C8B-B14F-4D97-AF65-F5344CB8AC3E}">
        <p14:creationId xmlns:p14="http://schemas.microsoft.com/office/powerpoint/2010/main" val="214113988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475720" y="6200600"/>
            <a:ext cx="563850" cy="657276"/>
          </a:xfrm>
          <a:prstGeom prst="rect">
            <a:avLst/>
          </a:prstGeom>
          <a:noFill/>
          <a:ln>
            <a:noFill/>
          </a:ln>
          <a:effectLst>
            <a:outerShdw blurRad="57150" dist="19050" dir="5400000" algn="bl" rotWithShape="0">
              <a:srgbClr val="000000">
                <a:alpha val="50000"/>
              </a:srgbClr>
            </a:outerShdw>
          </a:effectLst>
        </p:spPr>
      </p:pic>
      <p:sp>
        <p:nvSpPr>
          <p:cNvPr id="14" name="TextBox 13">
            <a:extLst>
              <a:ext uri="{FF2B5EF4-FFF2-40B4-BE49-F238E27FC236}">
                <a16:creationId xmlns:a16="http://schemas.microsoft.com/office/drawing/2014/main" id="{2FA392D8-3ED3-7940-83A8-1451AA8A08D4}"/>
              </a:ext>
            </a:extLst>
          </p:cNvPr>
          <p:cNvSpPr txBox="1"/>
          <p:nvPr/>
        </p:nvSpPr>
        <p:spPr>
          <a:xfrm>
            <a:off x="622300" y="373249"/>
            <a:ext cx="10985500" cy="5632311"/>
          </a:xfrm>
          <a:prstGeom prst="rect">
            <a:avLst/>
          </a:prstGeom>
          <a:noFill/>
        </p:spPr>
        <p:txBody>
          <a:bodyPr wrap="square" rtlCol="0">
            <a:spAutoFit/>
          </a:bodyPr>
          <a:lstStyle/>
          <a:p>
            <a:pPr marL="914400" indent="-457200">
              <a:buFont typeface="+mj-lt"/>
              <a:buAutoNum type="alphaLcPeriod"/>
            </a:pPr>
            <a:r>
              <a:rPr lang="en-US" sz="2000" dirty="0">
                <a:latin typeface="Verdana" panose="020B0604030504040204" pitchFamily="34" charset="0"/>
                <a:ea typeface="Verdana" panose="020B0604030504040204" pitchFamily="34" charset="0"/>
                <a:cs typeface="Verdana" panose="020B0604030504040204" pitchFamily="34" charset="0"/>
              </a:rPr>
              <a:t>Complete the table.</a:t>
            </a:r>
          </a:p>
          <a:p>
            <a:pPr marL="914400" indent="-457200">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r>
              <a:rPr lang="en-US" sz="2000" dirty="0">
                <a:latin typeface="Verdana" panose="020B0604030504040204" pitchFamily="34" charset="0"/>
                <a:ea typeface="Verdana" panose="020B0604030504040204" pitchFamily="34" charset="0"/>
                <a:cs typeface="Verdana" panose="020B0604030504040204" pitchFamily="34" charset="0"/>
              </a:rPr>
              <a:t>Describe the relationship between the coordinates of the vertices on the preimage and the corresponding coordinates on the image.</a:t>
            </a:r>
          </a:p>
          <a:p>
            <a:pPr marL="914400" indent="-457200">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r>
              <a:rPr lang="en-US" sz="2000" dirty="0">
                <a:latin typeface="Verdana" panose="020B0604030504040204" pitchFamily="34" charset="0"/>
                <a:ea typeface="Verdana" panose="020B0604030504040204" pitchFamily="34" charset="0"/>
                <a:cs typeface="Verdana" panose="020B0604030504040204" pitchFamily="34" charset="0"/>
              </a:rPr>
              <a:t>What is the scale factor of the dilation?</a:t>
            </a:r>
          </a:p>
        </p:txBody>
      </p:sp>
      <p:sp>
        <p:nvSpPr>
          <p:cNvPr id="6" name="Google Shape;282;g104476d1465_1_17"/>
          <p:cNvSpPr txBox="1"/>
          <p:nvPr/>
        </p:nvSpPr>
        <p:spPr>
          <a:xfrm>
            <a:off x="8842248"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108</a:t>
            </a:r>
            <a:endParaRPr i="1" dirty="0">
              <a:latin typeface="Calibri"/>
              <a:ea typeface="Calibri"/>
              <a:cs typeface="Calibri"/>
              <a:sym typeface="Calibri"/>
            </a:endParaRPr>
          </a:p>
        </p:txBody>
      </p:sp>
      <mc:AlternateContent xmlns:mc="http://schemas.openxmlformats.org/markup-compatibility/2006" xmlns:a14="http://schemas.microsoft.com/office/drawing/2010/main">
        <mc:Choice Requires="a14">
          <p:graphicFrame>
            <p:nvGraphicFramePr>
              <p:cNvPr id="7" name="Table 6"/>
              <p:cNvGraphicFramePr>
                <a:graphicFrameLocks noGrp="1"/>
              </p:cNvGraphicFramePr>
              <p:nvPr>
                <p:extLst>
                  <p:ext uri="{D42A27DB-BD31-4B8C-83A1-F6EECF244321}">
                    <p14:modId xmlns:p14="http://schemas.microsoft.com/office/powerpoint/2010/main" val="3439309912"/>
                  </p:ext>
                </p:extLst>
              </p:nvPr>
            </p:nvGraphicFramePr>
            <p:xfrm>
              <a:off x="2497050" y="1031944"/>
              <a:ext cx="7236000" cy="2877840"/>
            </p:xfrm>
            <a:graphic>
              <a:graphicData uri="http://schemas.openxmlformats.org/drawingml/2006/table">
                <a:tbl>
                  <a:tblPr firstRow="1" firstCol="1" bandRow="1">
                    <a:tableStyleId>{5940675A-B579-460E-94D1-54222C63F5DA}</a:tableStyleId>
                  </a:tblPr>
                  <a:tblGrid>
                    <a:gridCol w="1620000">
                      <a:extLst>
                        <a:ext uri="{9D8B030D-6E8A-4147-A177-3AD203B41FA5}">
                          <a16:colId xmlns:a16="http://schemas.microsoft.com/office/drawing/2014/main" val="20000"/>
                        </a:ext>
                      </a:extLst>
                    </a:gridCol>
                    <a:gridCol w="1908000">
                      <a:extLst>
                        <a:ext uri="{9D8B030D-6E8A-4147-A177-3AD203B41FA5}">
                          <a16:colId xmlns:a16="http://schemas.microsoft.com/office/drawing/2014/main" val="20001"/>
                        </a:ext>
                      </a:extLst>
                    </a:gridCol>
                    <a:gridCol w="1800000">
                      <a:extLst>
                        <a:ext uri="{9D8B030D-6E8A-4147-A177-3AD203B41FA5}">
                          <a16:colId xmlns:a16="http://schemas.microsoft.com/office/drawing/2014/main" val="20002"/>
                        </a:ext>
                      </a:extLst>
                    </a:gridCol>
                    <a:gridCol w="1908000">
                      <a:extLst>
                        <a:ext uri="{9D8B030D-6E8A-4147-A177-3AD203B41FA5}">
                          <a16:colId xmlns:a16="http://schemas.microsoft.com/office/drawing/2014/main" val="20003"/>
                        </a:ext>
                      </a:extLst>
                    </a:gridCol>
                  </a:tblGrid>
                  <a:tr h="720000">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Vertices of the Preimage</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Coordinates</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Vertices of the Image</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Coordinates</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10000"/>
                      </a:ext>
                    </a:extLst>
                  </a:tr>
                  <a:tr h="468000">
                    <a:tc>
                      <a:txBody>
                        <a:bodyPr/>
                        <a:lstStyle/>
                        <a:p>
                          <a:pPr marL="0" marR="0" algn="ctr">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Point </a:t>
                          </a:r>
                          <a14:m>
                            <m:oMath xmlns:m="http://schemas.openxmlformats.org/officeDocument/2006/math">
                              <m:r>
                                <a:rPr lang="en-US" sz="2000">
                                  <a:effectLst/>
                                  <a:latin typeface="Cambria Math" panose="02040503050406030204" pitchFamily="18" charset="0"/>
                                  <a:ea typeface="Cambria Math" panose="02040503050406030204" pitchFamily="18" charset="0"/>
                                </a:rPr>
                                <m:t>𝐶</m:t>
                              </m:r>
                            </m:oMath>
                          </a14:m>
                          <a:endParaRPr lang="en-US" sz="2000">
                            <a:effectLst/>
                            <a:latin typeface="Verdana" panose="020B0604030504040204" pitchFamily="34" charset="0"/>
                            <a:ea typeface="Verdana" panose="020B0604030504040204" pitchFamily="34" charset="0"/>
                            <a:cs typeface="Verdana" panose="020B0604030504040204"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Point </a:t>
                          </a:r>
                          <a14:m>
                            <m:oMath xmlns:m="http://schemas.openxmlformats.org/officeDocument/2006/math">
                              <m:r>
                                <a:rPr lang="en-US" sz="2000">
                                  <a:effectLst/>
                                  <a:latin typeface="Cambria Math" panose="02040503050406030204" pitchFamily="18" charset="0"/>
                                  <a:ea typeface="Cambria Math" panose="02040503050406030204" pitchFamily="18" charset="0"/>
                                </a:rPr>
                                <m:t>𝐶</m:t>
                              </m:r>
                              <m:r>
                                <a:rPr lang="en-US" sz="2000">
                                  <a:effectLst/>
                                  <a:latin typeface="Cambria Math" panose="02040503050406030204" pitchFamily="18" charset="0"/>
                                  <a:ea typeface="Cambria Math" panose="02040503050406030204" pitchFamily="18" charset="0"/>
                                </a:rPr>
                                <m:t>′</m:t>
                              </m:r>
                            </m:oMath>
                          </a14:m>
                          <a:endParaRPr lang="en-US" sz="2000">
                            <a:effectLst/>
                            <a:latin typeface="Verdana" panose="020B0604030504040204" pitchFamily="34" charset="0"/>
                            <a:ea typeface="Verdana" panose="020B0604030504040204" pitchFamily="34" charset="0"/>
                            <a:cs typeface="Verdana" panose="020B0604030504040204"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468000">
                    <a:tc>
                      <a:txBody>
                        <a:bodyPr/>
                        <a:lstStyle/>
                        <a:p>
                          <a:pPr marL="0" marR="0" algn="ctr">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Point </a:t>
                          </a:r>
                          <a14:m>
                            <m:oMath xmlns:m="http://schemas.openxmlformats.org/officeDocument/2006/math">
                              <m:r>
                                <a:rPr lang="en-US" sz="2000">
                                  <a:effectLst/>
                                  <a:latin typeface="Cambria Math" panose="02040503050406030204" pitchFamily="18" charset="0"/>
                                  <a:ea typeface="Cambria Math" panose="02040503050406030204" pitchFamily="18" charset="0"/>
                                </a:rPr>
                                <m:t>𝐻</m:t>
                              </m:r>
                            </m:oMath>
                          </a14:m>
                          <a:endParaRPr lang="en-US" sz="2000">
                            <a:effectLst/>
                            <a:latin typeface="Verdana" panose="020B0604030504040204" pitchFamily="34" charset="0"/>
                            <a:ea typeface="Verdana" panose="020B0604030504040204" pitchFamily="34" charset="0"/>
                            <a:cs typeface="Verdana" panose="020B0604030504040204"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Point </a:t>
                          </a:r>
                          <a14:m>
                            <m:oMath xmlns:m="http://schemas.openxmlformats.org/officeDocument/2006/math">
                              <m:r>
                                <a:rPr lang="en-US" sz="2000">
                                  <a:effectLst/>
                                  <a:latin typeface="Cambria Math" panose="02040503050406030204" pitchFamily="18" charset="0"/>
                                  <a:ea typeface="Cambria Math" panose="02040503050406030204" pitchFamily="18" charset="0"/>
                                </a:rPr>
                                <m:t>𝐻</m:t>
                              </m:r>
                              <m:r>
                                <a:rPr lang="en-US" sz="2000">
                                  <a:effectLst/>
                                  <a:latin typeface="Cambria Math" panose="02040503050406030204" pitchFamily="18" charset="0"/>
                                  <a:ea typeface="Cambria Math" panose="02040503050406030204" pitchFamily="18" charset="0"/>
                                </a:rPr>
                                <m:t>′</m:t>
                              </m:r>
                            </m:oMath>
                          </a14:m>
                          <a:endParaRPr lang="en-US" sz="2000">
                            <a:effectLst/>
                            <a:latin typeface="Verdana" panose="020B0604030504040204" pitchFamily="34" charset="0"/>
                            <a:ea typeface="Verdana" panose="020B0604030504040204" pitchFamily="34" charset="0"/>
                            <a:cs typeface="Verdana" panose="020B0604030504040204"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468000">
                    <a:tc>
                      <a:txBody>
                        <a:bodyPr/>
                        <a:lstStyle/>
                        <a:p>
                          <a:pPr marL="0" marR="0" algn="ctr">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Point </a:t>
                          </a:r>
                          <a14:m>
                            <m:oMath xmlns:m="http://schemas.openxmlformats.org/officeDocument/2006/math">
                              <m:r>
                                <a:rPr lang="en-US" sz="2000">
                                  <a:effectLst/>
                                  <a:latin typeface="Cambria Math" panose="02040503050406030204" pitchFamily="18" charset="0"/>
                                  <a:ea typeface="Cambria Math" panose="02040503050406030204" pitchFamily="18" charset="0"/>
                                </a:rPr>
                                <m:t>𝑁</m:t>
                              </m:r>
                            </m:oMath>
                          </a14:m>
                          <a:endParaRPr lang="en-US" sz="2000">
                            <a:effectLst/>
                            <a:latin typeface="Verdana" panose="020B0604030504040204" pitchFamily="34" charset="0"/>
                            <a:ea typeface="Verdana" panose="020B0604030504040204" pitchFamily="34" charset="0"/>
                            <a:cs typeface="Verdana" panose="020B0604030504040204"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Point </a:t>
                          </a:r>
                          <a14:m>
                            <m:oMath xmlns:m="http://schemas.openxmlformats.org/officeDocument/2006/math">
                              <m:r>
                                <a:rPr lang="en-US" sz="2000">
                                  <a:effectLst/>
                                  <a:latin typeface="Cambria Math" panose="02040503050406030204" pitchFamily="18" charset="0"/>
                                  <a:ea typeface="Cambria Math" panose="02040503050406030204" pitchFamily="18" charset="0"/>
                                </a:rPr>
                                <m:t>𝑁</m:t>
                              </m:r>
                              <m:r>
                                <a:rPr lang="en-US" sz="2000">
                                  <a:effectLst/>
                                  <a:latin typeface="Cambria Math" panose="02040503050406030204" pitchFamily="18" charset="0"/>
                                  <a:ea typeface="Cambria Math" panose="02040503050406030204" pitchFamily="18" charset="0"/>
                                </a:rPr>
                                <m:t>′</m:t>
                              </m:r>
                            </m:oMath>
                          </a14:m>
                          <a:endParaRPr lang="en-US" sz="2000">
                            <a:effectLst/>
                            <a:latin typeface="Verdana" panose="020B0604030504040204" pitchFamily="34" charset="0"/>
                            <a:ea typeface="Verdana" panose="020B0604030504040204" pitchFamily="34" charset="0"/>
                            <a:cs typeface="Verdana" panose="020B0604030504040204"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468000">
                    <a:tc>
                      <a:txBody>
                        <a:bodyPr/>
                        <a:lstStyle/>
                        <a:p>
                          <a:pPr marL="0" marR="0" algn="ctr">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Point </a:t>
                          </a:r>
                          <a14:m>
                            <m:oMath xmlns:m="http://schemas.openxmlformats.org/officeDocument/2006/math">
                              <m:r>
                                <a:rPr lang="en-US" sz="2000">
                                  <a:effectLst/>
                                  <a:latin typeface="Cambria Math" panose="02040503050406030204" pitchFamily="18" charset="0"/>
                                  <a:ea typeface="Cambria Math" panose="02040503050406030204" pitchFamily="18" charset="0"/>
                                </a:rPr>
                                <m:t>𝑆</m:t>
                              </m:r>
                            </m:oMath>
                          </a14:m>
                          <a:endParaRPr lang="en-US" sz="2000">
                            <a:effectLst/>
                            <a:latin typeface="Verdana" panose="020B0604030504040204" pitchFamily="34" charset="0"/>
                            <a:ea typeface="Verdana" panose="020B0604030504040204" pitchFamily="34" charset="0"/>
                            <a:cs typeface="Verdana" panose="020B0604030504040204"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Point </a:t>
                          </a:r>
                          <a14:m>
                            <m:oMath xmlns:m="http://schemas.openxmlformats.org/officeDocument/2006/math">
                              <m:r>
                                <a:rPr lang="en-US" sz="2000">
                                  <a:effectLst/>
                                  <a:latin typeface="Cambria Math" panose="02040503050406030204" pitchFamily="18" charset="0"/>
                                  <a:ea typeface="Cambria Math" panose="02040503050406030204" pitchFamily="18" charset="0"/>
                                </a:rPr>
                                <m:t>𝑆</m:t>
                              </m:r>
                              <m:r>
                                <a:rPr lang="en-US" sz="2000">
                                  <a:effectLst/>
                                  <a:latin typeface="Cambria Math" panose="02040503050406030204" pitchFamily="18" charset="0"/>
                                  <a:ea typeface="Cambria Math" panose="02040503050406030204" pitchFamily="18" charset="0"/>
                                </a:rPr>
                                <m:t>′</m:t>
                              </m:r>
                            </m:oMath>
                          </a14:m>
                          <a:endParaRPr lang="en-US" sz="2000">
                            <a:effectLst/>
                            <a:latin typeface="Verdana" panose="020B0604030504040204" pitchFamily="34" charset="0"/>
                            <a:ea typeface="Verdana" panose="020B0604030504040204" pitchFamily="34" charset="0"/>
                            <a:cs typeface="Verdana" panose="020B0604030504040204"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mc:Choice>
        <mc:Fallback xmlns="">
          <p:graphicFrame>
            <p:nvGraphicFramePr>
              <p:cNvPr id="7" name="Table 6"/>
              <p:cNvGraphicFramePr>
                <a:graphicFrameLocks noGrp="1"/>
              </p:cNvGraphicFramePr>
              <p:nvPr>
                <p:extLst>
                  <p:ext uri="{D42A27DB-BD31-4B8C-83A1-F6EECF244321}">
                    <p14:modId xmlns:p14="http://schemas.microsoft.com/office/powerpoint/2010/main" val="3439309912"/>
                  </p:ext>
                </p:extLst>
              </p:nvPr>
            </p:nvGraphicFramePr>
            <p:xfrm>
              <a:off x="2497050" y="1031944"/>
              <a:ext cx="7236000" cy="2877840"/>
            </p:xfrm>
            <a:graphic>
              <a:graphicData uri="http://schemas.openxmlformats.org/drawingml/2006/table">
                <a:tbl>
                  <a:tblPr firstRow="1" firstCol="1" bandRow="1">
                    <a:tableStyleId>{5940675A-B579-460E-94D1-54222C63F5DA}</a:tableStyleId>
                  </a:tblPr>
                  <a:tblGrid>
                    <a:gridCol w="1620000">
                      <a:extLst>
                        <a:ext uri="{9D8B030D-6E8A-4147-A177-3AD203B41FA5}">
                          <a16:colId xmlns:a16="http://schemas.microsoft.com/office/drawing/2014/main" val="20000"/>
                        </a:ext>
                      </a:extLst>
                    </a:gridCol>
                    <a:gridCol w="1908000">
                      <a:extLst>
                        <a:ext uri="{9D8B030D-6E8A-4147-A177-3AD203B41FA5}">
                          <a16:colId xmlns:a16="http://schemas.microsoft.com/office/drawing/2014/main" val="20001"/>
                        </a:ext>
                      </a:extLst>
                    </a:gridCol>
                    <a:gridCol w="1800000">
                      <a:extLst>
                        <a:ext uri="{9D8B030D-6E8A-4147-A177-3AD203B41FA5}">
                          <a16:colId xmlns:a16="http://schemas.microsoft.com/office/drawing/2014/main" val="20002"/>
                        </a:ext>
                      </a:extLst>
                    </a:gridCol>
                    <a:gridCol w="1908000">
                      <a:extLst>
                        <a:ext uri="{9D8B030D-6E8A-4147-A177-3AD203B41FA5}">
                          <a16:colId xmlns:a16="http://schemas.microsoft.com/office/drawing/2014/main" val="20003"/>
                        </a:ext>
                      </a:extLst>
                    </a:gridCol>
                  </a:tblGrid>
                  <a:tr h="1005840">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Vertices of the Preimage</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Coordinates</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Vertices of the Image</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Coordinates</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10000"/>
                      </a:ext>
                    </a:extLst>
                  </a:tr>
                  <a:tr h="468000">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a:blip r:embed="rId4"/>
                          <a:stretch>
                            <a:fillRect l="-781" t="-221622" r="-346875" b="-316216"/>
                          </a:stretch>
                        </a:blipFill>
                      </a:tcPr>
                    </a:tc>
                    <a:tc>
                      <a:txBody>
                        <a:bodyPr/>
                        <a:lstStyle/>
                        <a:p>
                          <a:pPr marL="0" marR="0">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a:blip r:embed="rId4"/>
                          <a:stretch>
                            <a:fillRect l="-196479" t="-221622" r="-107042" b="-316216"/>
                          </a:stretch>
                        </a:blipFill>
                      </a:tcPr>
                    </a:tc>
                    <a:tc>
                      <a:txBody>
                        <a:bodyPr/>
                        <a:lstStyle/>
                        <a:p>
                          <a:pPr marL="0" marR="0">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468000">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a:blip r:embed="rId4"/>
                          <a:stretch>
                            <a:fillRect l="-781" t="-321622" r="-346875" b="-216216"/>
                          </a:stretch>
                        </a:blipFill>
                      </a:tcPr>
                    </a:tc>
                    <a:tc>
                      <a:txBody>
                        <a:bodyPr/>
                        <a:lstStyle/>
                        <a:p>
                          <a:pPr marL="0" marR="0">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a:blip r:embed="rId4"/>
                          <a:stretch>
                            <a:fillRect l="-196479" t="-321622" r="-107042" b="-216216"/>
                          </a:stretch>
                        </a:blipFill>
                      </a:tcPr>
                    </a:tc>
                    <a:tc>
                      <a:txBody>
                        <a:bodyPr/>
                        <a:lstStyle/>
                        <a:p>
                          <a:pPr marL="0" marR="0">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468000">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a:blip r:embed="rId4"/>
                          <a:stretch>
                            <a:fillRect l="-781" t="-421622" r="-346875" b="-116216"/>
                          </a:stretch>
                        </a:blipFill>
                      </a:tcPr>
                    </a:tc>
                    <a:tc>
                      <a:txBody>
                        <a:bodyPr/>
                        <a:lstStyle/>
                        <a:p>
                          <a:pPr marL="0" marR="0">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a:blip r:embed="rId4"/>
                          <a:stretch>
                            <a:fillRect l="-196479" t="-421622" r="-107042" b="-116216"/>
                          </a:stretch>
                        </a:blipFill>
                      </a:tcPr>
                    </a:tc>
                    <a:tc>
                      <a:txBody>
                        <a:bodyPr/>
                        <a:lstStyle/>
                        <a:p>
                          <a:pPr marL="0" marR="0">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468000">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a:blip r:embed="rId4"/>
                          <a:stretch>
                            <a:fillRect l="-781" t="-521622" r="-346875" b="-16216"/>
                          </a:stretch>
                        </a:blipFill>
                      </a:tcPr>
                    </a:tc>
                    <a:tc>
                      <a:txBody>
                        <a:bodyPr/>
                        <a:lstStyle/>
                        <a:p>
                          <a:pPr marL="0" marR="0">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a:blip r:embed="rId4"/>
                          <a:stretch>
                            <a:fillRect l="-196479" t="-521622" r="-107042" b="-16216"/>
                          </a:stretch>
                        </a:blipFill>
                      </a:tcPr>
                    </a:tc>
                    <a:tc>
                      <a:txBody>
                        <a:bodyPr/>
                        <a:lstStyle/>
                        <a:p>
                          <a:pPr marL="0" marR="0">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mc:Fallback>
      </mc:AlternateContent>
    </p:spTree>
    <p:extLst>
      <p:ext uri="{BB962C8B-B14F-4D97-AF65-F5344CB8AC3E}">
        <p14:creationId xmlns:p14="http://schemas.microsoft.com/office/powerpoint/2010/main" val="277178528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475720" y="6200600"/>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4455984" y="2883916"/>
            <a:ext cx="5002742"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33BEA6"/>
                </a:solidFill>
                <a:latin typeface="Verdana"/>
                <a:ea typeface="Verdana"/>
                <a:cs typeface="Verdana"/>
                <a:sym typeface="Verdana"/>
              </a:rPr>
              <a:t>Collaboration</a:t>
            </a:r>
            <a:endParaRPr sz="5100" b="1" dirty="0">
              <a:solidFill>
                <a:srgbClr val="33BEA6"/>
              </a:solidFill>
              <a:latin typeface="Verdana"/>
              <a:ea typeface="Verdana"/>
              <a:cs typeface="Verdana"/>
              <a:sym typeface="Verdana"/>
            </a:endParaRPr>
          </a:p>
        </p:txBody>
      </p:sp>
      <p:pic>
        <p:nvPicPr>
          <p:cNvPr id="3074" name="Picture 2">
            <a:extLst>
              <a:ext uri="{FF2B5EF4-FFF2-40B4-BE49-F238E27FC236}">
                <a16:creationId xmlns:a16="http://schemas.microsoft.com/office/drawing/2014/main" id="{D0821C8B-4657-A74D-94B5-D6CF373A1741}"/>
              </a:ext>
            </a:extLst>
          </p:cNvPr>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3017520" y="2916936"/>
            <a:ext cx="1152144" cy="115214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8" name="Google Shape;282;g104476d1465_1_17"/>
          <p:cNvSpPr txBox="1"/>
          <p:nvPr/>
        </p:nvSpPr>
        <p:spPr>
          <a:xfrm>
            <a:off x="8842248"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108</a:t>
            </a:r>
            <a:endParaRPr i="1" dirty="0">
              <a:latin typeface="Calibri"/>
              <a:ea typeface="Calibri"/>
              <a:cs typeface="Calibri"/>
              <a:sym typeface="Calibri"/>
            </a:endParaRPr>
          </a:p>
        </p:txBody>
      </p:sp>
    </p:spTree>
    <p:extLst>
      <p:ext uri="{BB962C8B-B14F-4D97-AF65-F5344CB8AC3E}">
        <p14:creationId xmlns:p14="http://schemas.microsoft.com/office/powerpoint/2010/main" val="356078870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11" name="Picture 10" descr="Chart, radar chart&#10;&#10;Description automatically generated"/>
          <p:cNvPicPr/>
          <p:nvPr/>
        </p:nvPicPr>
        <p:blipFill rotWithShape="1">
          <a:blip r:embed="rId3" cstate="screen">
            <a:extLst>
              <a:ext uri="{28A0092B-C50C-407E-A947-70E740481C1C}">
                <a14:useLocalDpi xmlns:a14="http://schemas.microsoft.com/office/drawing/2010/main"/>
              </a:ext>
            </a:extLst>
          </a:blip>
          <a:srcRect/>
          <a:stretch/>
        </p:blipFill>
        <p:spPr bwMode="auto">
          <a:xfrm>
            <a:off x="5276193" y="2016563"/>
            <a:ext cx="5486400" cy="3669030"/>
          </a:xfrm>
          <a:prstGeom prst="rect">
            <a:avLst/>
          </a:prstGeom>
          <a:ln>
            <a:noFill/>
          </a:ln>
          <a:extLst>
            <a:ext uri="{53640926-AAD7-44D8-BBD7-CCE9431645EC}">
              <a14:shadowObscured xmlns:a14="http://schemas.microsoft.com/office/drawing/2010/main"/>
            </a:ext>
          </a:extLst>
        </p:spPr>
      </p:pic>
      <p:sp>
        <p:nvSpPr>
          <p:cNvPr id="278" name="Google Shape;278;g104476d1465_1_17"/>
          <p:cNvSpPr/>
          <p:nvPr/>
        </p:nvSpPr>
        <p:spPr>
          <a:xfrm>
            <a:off x="0" y="0"/>
            <a:ext cx="223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75720" y="6200600"/>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324;g103996e1364_0_25">
            <a:extLst>
              <a:ext uri="{FF2B5EF4-FFF2-40B4-BE49-F238E27FC236}">
                <a16:creationId xmlns:a16="http://schemas.microsoft.com/office/drawing/2014/main" id="{DB5796CA-12EB-BB4C-8338-B127D750A026}"/>
              </a:ext>
            </a:extLst>
          </p:cNvPr>
          <p:cNvSpPr txBox="1">
            <a:spLocks/>
          </p:cNvSpPr>
          <p:nvPr/>
        </p:nvSpPr>
        <p:spPr>
          <a:xfrm>
            <a:off x="1226426" y="367748"/>
            <a:ext cx="8148150" cy="535491"/>
          </a:xfrm>
          <a:prstGeom prst="rect">
            <a:avLst/>
          </a:prstGeom>
          <a:noFill/>
          <a:ln>
            <a:noFill/>
          </a:ln>
        </p:spPr>
        <p:txBody>
          <a:bodyPr spcFirstLastPara="1" wrap="square" lIns="91425" tIns="45700" rIns="91425" bIns="45700" anchor="ctr"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200" b="1" dirty="0">
                <a:solidFill>
                  <a:srgbClr val="33BEA6"/>
                </a:solidFill>
                <a:latin typeface="Verdana"/>
                <a:ea typeface="Verdana"/>
                <a:cs typeface="Verdana"/>
                <a:sym typeface="Verdana"/>
              </a:rPr>
              <a:t>9.9.3 Collaboration: Error Analysis</a:t>
            </a:r>
          </a:p>
        </p:txBody>
      </p:sp>
      <p:pic>
        <p:nvPicPr>
          <p:cNvPr id="9" name="Picture 2">
            <a:extLst>
              <a:ext uri="{FF2B5EF4-FFF2-40B4-BE49-F238E27FC236}">
                <a16:creationId xmlns:a16="http://schemas.microsoft.com/office/drawing/2014/main" id="{A80EBD0F-404F-0B4B-AC09-DA5A6DF6026E}"/>
              </a:ext>
            </a:extLst>
          </p:cNvPr>
          <p:cNvPicPr>
            <a:picLocks noChangeAspect="1" noChangeArrowheads="1"/>
          </p:cNvPicPr>
          <p:nvPr/>
        </p:nvPicPr>
        <p:blipFill>
          <a:blip r:embed="rId5" cstate="screen">
            <a:extLst>
              <a:ext uri="{28A0092B-C50C-407E-A947-70E740481C1C}">
                <a14:useLocalDpi xmlns:a14="http://schemas.microsoft.com/office/drawing/2010/main"/>
              </a:ext>
            </a:extLst>
          </a:blip>
          <a:srcRect/>
          <a:stretch>
            <a:fillRect/>
          </a:stretch>
        </p:blipFill>
        <p:spPr bwMode="auto">
          <a:xfrm>
            <a:off x="349909" y="262132"/>
            <a:ext cx="749808" cy="74980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E44DF7DE-9172-3E4E-B74A-7A51585FB6EA}"/>
                  </a:ext>
                </a:extLst>
              </p:cNvPr>
              <p:cNvSpPr txBox="1"/>
              <p:nvPr/>
            </p:nvSpPr>
            <p:spPr>
              <a:xfrm>
                <a:off x="622300" y="1095850"/>
                <a:ext cx="10960100" cy="3261855"/>
              </a:xfrm>
              <a:prstGeom prst="rect">
                <a:avLst/>
              </a:prstGeom>
              <a:noFill/>
            </p:spPr>
            <p:txBody>
              <a:bodyPr wrap="square" rtlCol="0">
                <a:spAutoFit/>
              </a:bodyPr>
              <a:lstStyle/>
              <a:p>
                <a:r>
                  <a:rPr lang="en-US" sz="2000" dirty="0">
                    <a:latin typeface="Verdana" panose="020B0604030504040204" pitchFamily="34" charset="0"/>
                    <a:ea typeface="Verdana" panose="020B0604030504040204" pitchFamily="34" charset="0"/>
                    <a:cs typeface="Verdana" panose="020B0604030504040204" pitchFamily="34" charset="0"/>
                  </a:rPr>
                  <a:t>Work with your partner to complete the following.</a:t>
                </a:r>
              </a:p>
              <a:p>
                <a:r>
                  <a:rPr lang="en-US" sz="2000" dirty="0">
                    <a:latin typeface="Verdana" panose="020B0604030504040204" pitchFamily="34" charset="0"/>
                    <a:ea typeface="Verdana" panose="020B0604030504040204" pitchFamily="34" charset="0"/>
                    <a:cs typeface="Verdana" panose="020B0604030504040204" pitchFamily="34" charset="0"/>
                  </a:rPr>
                  <a:t> </a:t>
                </a:r>
              </a:p>
              <a:p>
                <a:pPr marL="457200" indent="-457200">
                  <a:buFont typeface="+mj-lt"/>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Quadrilateral </a:t>
                </a:r>
                <a14:m>
                  <m:oMath xmlns:m="http://schemas.openxmlformats.org/officeDocument/2006/math">
                    <m:r>
                      <a:rPr lang="en-US" sz="2000" i="1">
                        <a:latin typeface="Cambria Math" panose="02040503050406030204" pitchFamily="18" charset="0"/>
                        <a:ea typeface="Cambria Math" panose="02040503050406030204" pitchFamily="18" charset="0"/>
                      </a:rPr>
                      <m:t>𝑁𝑅𝑆𝑇</m:t>
                    </m:r>
                  </m:oMath>
                </a14:m>
                <a:r>
                  <a:rPr lang="en-US" sz="2000" dirty="0">
                    <a:latin typeface="Verdana" panose="020B0604030504040204" pitchFamily="34" charset="0"/>
                    <a:ea typeface="Verdana" panose="020B0604030504040204" pitchFamily="34" charset="0"/>
                    <a:cs typeface="Verdana" panose="020B0604030504040204" pitchFamily="34" charset="0"/>
                  </a:rPr>
                  <a:t> is dilated using point </a:t>
                </a:r>
                <a14:m>
                  <m:oMath xmlns:m="http://schemas.openxmlformats.org/officeDocument/2006/math">
                    <m:r>
                      <a:rPr lang="en-US" sz="2000" i="1">
                        <a:latin typeface="Cambria Math" panose="02040503050406030204" pitchFamily="18" charset="0"/>
                        <a:ea typeface="Cambria Math" panose="02040503050406030204" pitchFamily="18" charset="0"/>
                      </a:rPr>
                      <m:t>𝐺</m:t>
                    </m:r>
                  </m:oMath>
                </a14:m>
                <a:r>
                  <a:rPr lang="en-US" sz="2000" dirty="0">
                    <a:latin typeface="Verdana" panose="020B0604030504040204" pitchFamily="34" charset="0"/>
                    <a:ea typeface="Verdana" panose="020B0604030504040204" pitchFamily="34" charset="0"/>
                    <a:cs typeface="Verdana" panose="020B0604030504040204" pitchFamily="34" charset="0"/>
                  </a:rPr>
                  <a:t> as the center of dilation.</a:t>
                </a:r>
              </a:p>
              <a:p>
                <a:pPr marL="457200" indent="-457200">
                  <a:buFont typeface="+mj-lt"/>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0850"/>
                <a:r>
                  <a:rPr lang="en-US" sz="2000" dirty="0">
                    <a:latin typeface="Verdana" panose="020B0604030504040204" pitchFamily="34" charset="0"/>
                    <a:ea typeface="Verdana" panose="020B0604030504040204" pitchFamily="34" charset="0"/>
                    <a:cs typeface="Verdana" panose="020B0604030504040204" pitchFamily="34" charset="0"/>
                  </a:rPr>
                  <a:t>Latonya found the </a:t>
                </a:r>
                <a:br>
                  <a:rPr lang="en-US" sz="2000" dirty="0">
                    <a:latin typeface="Verdana" panose="020B0604030504040204" pitchFamily="34" charset="0"/>
                    <a:ea typeface="Verdana" panose="020B0604030504040204" pitchFamily="34" charset="0"/>
                    <a:cs typeface="Verdana" panose="020B0604030504040204" pitchFamily="34" charset="0"/>
                  </a:rPr>
                </a:br>
                <a:r>
                  <a:rPr lang="en-US" sz="2000" dirty="0">
                    <a:latin typeface="Verdana" panose="020B0604030504040204" pitchFamily="34" charset="0"/>
                    <a:ea typeface="Verdana" panose="020B0604030504040204" pitchFamily="34" charset="0"/>
                    <a:cs typeface="Verdana" panose="020B0604030504040204" pitchFamily="34" charset="0"/>
                  </a:rPr>
                  <a:t>scale factor of dilation </a:t>
                </a:r>
                <a:br>
                  <a:rPr lang="en-US" sz="2000" dirty="0">
                    <a:latin typeface="Verdana" panose="020B0604030504040204" pitchFamily="34" charset="0"/>
                    <a:ea typeface="Verdana" panose="020B0604030504040204" pitchFamily="34" charset="0"/>
                    <a:cs typeface="Verdana" panose="020B0604030504040204" pitchFamily="34" charset="0"/>
                  </a:rPr>
                </a:br>
                <a:r>
                  <a:rPr lang="en-US" sz="2000" dirty="0">
                    <a:latin typeface="Verdana" panose="020B0604030504040204" pitchFamily="34" charset="0"/>
                    <a:ea typeface="Verdana" panose="020B0604030504040204" pitchFamily="34" charset="0"/>
                    <a:cs typeface="Verdana" panose="020B0604030504040204" pitchFamily="34" charset="0"/>
                  </a:rPr>
                  <a:t>to be </a:t>
                </a:r>
                <a14:m>
                  <m:oMath xmlns:m="http://schemas.openxmlformats.org/officeDocument/2006/math">
                    <m:f>
                      <m:fPr>
                        <m:ctrlPr>
                          <a:rPr lang="en-US" sz="2000" i="1">
                            <a:latin typeface="Cambria Math" panose="02040503050406030204" pitchFamily="18" charset="0"/>
                            <a:ea typeface="Cambria Math" panose="02040503050406030204" pitchFamily="18" charset="0"/>
                          </a:rPr>
                        </m:ctrlPr>
                      </m:fPr>
                      <m:num>
                        <m:r>
                          <a:rPr lang="en-US" sz="2000" i="1">
                            <a:latin typeface="Cambria Math" panose="02040503050406030204" pitchFamily="18" charset="0"/>
                            <a:ea typeface="Cambria Math" panose="02040503050406030204" pitchFamily="18" charset="0"/>
                          </a:rPr>
                          <m:t>8</m:t>
                        </m:r>
                      </m:num>
                      <m:den>
                        <m:r>
                          <a:rPr lang="en-US" sz="2000" i="1">
                            <a:latin typeface="Cambria Math" panose="02040503050406030204" pitchFamily="18" charset="0"/>
                            <a:ea typeface="Cambria Math" panose="02040503050406030204" pitchFamily="18" charset="0"/>
                          </a:rPr>
                          <m:t>3</m:t>
                        </m:r>
                      </m:den>
                    </m:f>
                  </m:oMath>
                </a14:m>
                <a:r>
                  <a:rPr lang="en-US" sz="2000" dirty="0">
                    <a:latin typeface="Verdana" panose="020B0604030504040204" pitchFamily="34" charset="0"/>
                    <a:ea typeface="Verdana" panose="020B0604030504040204" pitchFamily="34" charset="0"/>
                    <a:cs typeface="Verdana" panose="020B0604030504040204" pitchFamily="34" charset="0"/>
                  </a:rPr>
                  <a:t>. Her work is shown.</a:t>
                </a:r>
              </a:p>
              <a:p>
                <a:endParaRPr lang="en-US" sz="2000" dirty="0">
                  <a:latin typeface="Cambria Math" panose="02040503050406030204" pitchFamily="18" charset="0"/>
                  <a:ea typeface="Cambria Math" panose="02040503050406030204" pitchFamily="18" charset="0"/>
                </a:endParaRPr>
              </a:p>
              <a:p>
                <a:pPr marL="452438"/>
                <a14:m>
                  <m:oMathPara xmlns:m="http://schemas.openxmlformats.org/officeDocument/2006/math">
                    <m:oMathParaPr>
                      <m:jc m:val="left"/>
                    </m:oMathParaPr>
                    <m:oMath xmlns:m="http://schemas.openxmlformats.org/officeDocument/2006/math">
                      <m:r>
                        <m:rPr>
                          <m:sty m:val="p"/>
                        </m:rPr>
                        <a:rPr lang="en-US" sz="2000">
                          <a:latin typeface="Cambria Math" panose="02040503050406030204" pitchFamily="18" charset="0"/>
                          <a:ea typeface="Cambria Math" panose="02040503050406030204" pitchFamily="18" charset="0"/>
                        </a:rPr>
                        <m:t>Scale</m:t>
                      </m:r>
                      <m:r>
                        <a:rPr lang="en-US" sz="2000">
                          <a:latin typeface="Cambria Math" panose="02040503050406030204" pitchFamily="18" charset="0"/>
                          <a:ea typeface="Cambria Math" panose="02040503050406030204" pitchFamily="18" charset="0"/>
                        </a:rPr>
                        <m:t> </m:t>
                      </m:r>
                      <m:r>
                        <m:rPr>
                          <m:sty m:val="p"/>
                        </m:rPr>
                        <a:rPr lang="en-US" sz="2000">
                          <a:latin typeface="Cambria Math" panose="02040503050406030204" pitchFamily="18" charset="0"/>
                          <a:ea typeface="Cambria Math" panose="02040503050406030204" pitchFamily="18" charset="0"/>
                        </a:rPr>
                        <m:t>Factor</m:t>
                      </m:r>
                      <m:r>
                        <a:rPr lang="en-US" sz="2000" i="1">
                          <a:latin typeface="Cambria Math" panose="02040503050406030204" pitchFamily="18" charset="0"/>
                          <a:ea typeface="Cambria Math" panose="02040503050406030204" pitchFamily="18" charset="0"/>
                        </a:rPr>
                        <m:t>= </m:t>
                      </m:r>
                      <m:f>
                        <m:fPr>
                          <m:ctrlPr>
                            <a:rPr lang="en-US" sz="2000" i="1">
                              <a:latin typeface="Cambria Math" panose="02040503050406030204" pitchFamily="18" charset="0"/>
                              <a:ea typeface="Cambria Math" panose="02040503050406030204" pitchFamily="18" charset="0"/>
                            </a:rPr>
                          </m:ctrlPr>
                        </m:fPr>
                        <m:num>
                          <m:r>
                            <a:rPr lang="en-US" sz="2000" i="1">
                              <a:latin typeface="Cambria Math" panose="02040503050406030204" pitchFamily="18" charset="0"/>
                              <a:ea typeface="Cambria Math" panose="02040503050406030204" pitchFamily="18" charset="0"/>
                            </a:rPr>
                            <m:t>12.8</m:t>
                          </m:r>
                        </m:num>
                        <m:den>
                          <m:r>
                            <a:rPr lang="en-US" sz="2000" i="1">
                              <a:latin typeface="Cambria Math" panose="02040503050406030204" pitchFamily="18" charset="0"/>
                              <a:ea typeface="Cambria Math" panose="02040503050406030204" pitchFamily="18" charset="0"/>
                            </a:rPr>
                            <m:t>4.8</m:t>
                          </m:r>
                        </m:den>
                      </m:f>
                      <m:r>
                        <a:rPr lang="en-US" sz="2000" i="1">
                          <a:latin typeface="Cambria Math" panose="02040503050406030204" pitchFamily="18" charset="0"/>
                          <a:ea typeface="Cambria Math" panose="02040503050406030204" pitchFamily="18" charset="0"/>
                        </a:rPr>
                        <m:t>=</m:t>
                      </m:r>
                      <m:f>
                        <m:fPr>
                          <m:ctrlPr>
                            <a:rPr lang="en-US" sz="2000" i="1">
                              <a:latin typeface="Cambria Math" panose="02040503050406030204" pitchFamily="18" charset="0"/>
                              <a:ea typeface="Cambria Math" panose="02040503050406030204" pitchFamily="18" charset="0"/>
                            </a:rPr>
                          </m:ctrlPr>
                        </m:fPr>
                        <m:num>
                          <m:r>
                            <a:rPr lang="en-US" sz="2000" i="1">
                              <a:latin typeface="Cambria Math" panose="02040503050406030204" pitchFamily="18" charset="0"/>
                              <a:ea typeface="Cambria Math" panose="02040503050406030204" pitchFamily="18" charset="0"/>
                            </a:rPr>
                            <m:t>8</m:t>
                          </m:r>
                        </m:num>
                        <m:den>
                          <m:r>
                            <a:rPr lang="en-US" sz="2000" i="1">
                              <a:latin typeface="Cambria Math" panose="02040503050406030204" pitchFamily="18" charset="0"/>
                              <a:ea typeface="Cambria Math" panose="02040503050406030204" pitchFamily="18" charset="0"/>
                            </a:rPr>
                            <m:t>3</m:t>
                          </m:r>
                        </m:den>
                      </m:f>
                    </m:oMath>
                  </m:oMathPara>
                </a14:m>
                <a:endParaRPr lang="en-US" sz="2000" dirty="0">
                  <a:latin typeface="Verdana" panose="020B0604030504040204" pitchFamily="34" charset="0"/>
                  <a:ea typeface="Verdana" panose="020B0604030504040204" pitchFamily="34" charset="0"/>
                  <a:cs typeface="Verdana" panose="020B0604030504040204" pitchFamily="34" charset="0"/>
                </a:endParaRPr>
              </a:p>
            </p:txBody>
          </p:sp>
        </mc:Choice>
        <mc:Fallback xmlns="">
          <p:sp>
            <p:nvSpPr>
              <p:cNvPr id="10" name="TextBox 9">
                <a:extLst>
                  <a:ext uri="{FF2B5EF4-FFF2-40B4-BE49-F238E27FC236}">
                    <a16:creationId xmlns:a16="http://schemas.microsoft.com/office/drawing/2014/main" id="{E44DF7DE-9172-3E4E-B74A-7A51585FB6EA}"/>
                  </a:ext>
                </a:extLst>
              </p:cNvPr>
              <p:cNvSpPr txBox="1">
                <a:spLocks noRot="1" noChangeAspect="1" noMove="1" noResize="1" noEditPoints="1" noAdjustHandles="1" noChangeArrowheads="1" noChangeShapeType="1" noTextEdit="1"/>
              </p:cNvSpPr>
              <p:nvPr/>
            </p:nvSpPr>
            <p:spPr>
              <a:xfrm>
                <a:off x="622300" y="1095850"/>
                <a:ext cx="10960100" cy="3261855"/>
              </a:xfrm>
              <a:prstGeom prst="rect">
                <a:avLst/>
              </a:prstGeom>
              <a:blipFill>
                <a:blip r:embed="rId6"/>
                <a:stretch>
                  <a:fillRect l="-462" t="-1163" b="-388"/>
                </a:stretch>
              </a:blipFill>
            </p:spPr>
            <p:txBody>
              <a:bodyPr/>
              <a:lstStyle/>
              <a:p>
                <a:r>
                  <a:rPr lang="en-US">
                    <a:noFill/>
                  </a:rPr>
                  <a:t> </a:t>
                </a:r>
              </a:p>
            </p:txBody>
          </p:sp>
        </mc:Fallback>
      </mc:AlternateContent>
      <p:sp>
        <p:nvSpPr>
          <p:cNvPr id="12" name="Google Shape;282;g104476d1465_1_17"/>
          <p:cNvSpPr txBox="1"/>
          <p:nvPr/>
        </p:nvSpPr>
        <p:spPr>
          <a:xfrm>
            <a:off x="8842248"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108</a:t>
            </a:r>
            <a:endParaRPr i="1" dirty="0">
              <a:latin typeface="Calibri"/>
              <a:ea typeface="Calibri"/>
              <a:cs typeface="Calibri"/>
              <a:sym typeface="Calibri"/>
            </a:endParaRPr>
          </a:p>
        </p:txBody>
      </p:sp>
    </p:spTree>
    <p:extLst>
      <p:ext uri="{BB962C8B-B14F-4D97-AF65-F5344CB8AC3E}">
        <p14:creationId xmlns:p14="http://schemas.microsoft.com/office/powerpoint/2010/main" val="167443704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475720" y="6200600"/>
            <a:ext cx="563850" cy="657276"/>
          </a:xfrm>
          <a:prstGeom prst="rect">
            <a:avLst/>
          </a:prstGeom>
          <a:noFill/>
          <a:ln>
            <a:noFill/>
          </a:ln>
          <a:effectLst>
            <a:outerShdw blurRad="57150" dist="19050" dir="5400000" algn="bl" rotWithShape="0">
              <a:srgbClr val="000000">
                <a:alpha val="50000"/>
              </a:srgbClr>
            </a:outerShdw>
          </a:effectLst>
        </p:spPr>
      </p:pic>
      <p:sp>
        <p:nvSpPr>
          <p:cNvPr id="6" name="Google Shape;282;g104476d1465_1_17"/>
          <p:cNvSpPr txBox="1"/>
          <p:nvPr/>
        </p:nvSpPr>
        <p:spPr>
          <a:xfrm>
            <a:off x="8842248"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108</a:t>
            </a:r>
            <a:endParaRPr i="1" dirty="0">
              <a:latin typeface="Calibri"/>
              <a:ea typeface="Calibri"/>
              <a:cs typeface="Calibri"/>
              <a:sym typeface="Calibri"/>
            </a:endParaRPr>
          </a:p>
        </p:txBody>
      </p:sp>
      <p:sp>
        <p:nvSpPr>
          <p:cNvPr id="3" name="Rectangle 2"/>
          <p:cNvSpPr/>
          <p:nvPr/>
        </p:nvSpPr>
        <p:spPr>
          <a:xfrm>
            <a:off x="635000" y="381433"/>
            <a:ext cx="10934700" cy="3416320"/>
          </a:xfrm>
          <a:prstGeom prst="rect">
            <a:avLst/>
          </a:prstGeom>
        </p:spPr>
        <p:txBody>
          <a:bodyPr wrap="square">
            <a:spAutoFit/>
          </a:bodyPr>
          <a:lstStyle/>
          <a:p>
            <a:pPr marL="914400" indent="-457200">
              <a:buFont typeface="+mj-lt"/>
              <a:buAutoNum type="alphaLcPeriod"/>
            </a:pPr>
            <a:r>
              <a:rPr lang="en-US" sz="2400" dirty="0">
                <a:latin typeface="Verdana" panose="020B0604030504040204" pitchFamily="34" charset="0"/>
                <a:ea typeface="Verdana" panose="020B0604030504040204" pitchFamily="34" charset="0"/>
                <a:cs typeface="Verdana" panose="020B0604030504040204" pitchFamily="34" charset="0"/>
              </a:rPr>
              <a:t>Is Latonya correct?</a:t>
            </a:r>
          </a:p>
          <a:p>
            <a:pPr marL="914400" indent="-457200">
              <a:buFont typeface="+mj-lt"/>
              <a:buAutoNum type="alphaL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r>
              <a:rPr lang="en-US" sz="2400" dirty="0">
                <a:latin typeface="Verdana" panose="020B0604030504040204" pitchFamily="34" charset="0"/>
                <a:ea typeface="Verdana" panose="020B0604030504040204" pitchFamily="34" charset="0"/>
                <a:cs typeface="Verdana" panose="020B0604030504040204" pitchFamily="34" charset="0"/>
              </a:rPr>
              <a:t>Explain your reasoning.</a:t>
            </a:r>
          </a:p>
        </p:txBody>
      </p:sp>
    </p:spTree>
    <p:extLst>
      <p:ext uri="{BB962C8B-B14F-4D97-AF65-F5344CB8AC3E}">
        <p14:creationId xmlns:p14="http://schemas.microsoft.com/office/powerpoint/2010/main" val="184102286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475720" y="6200600"/>
            <a:ext cx="563850" cy="657276"/>
          </a:xfrm>
          <a:prstGeom prst="rect">
            <a:avLst/>
          </a:prstGeom>
          <a:noFill/>
          <a:ln>
            <a:noFill/>
          </a:ln>
          <a:effectLst>
            <a:outerShdw blurRad="57150" dist="19050" dir="5400000" algn="bl" rotWithShape="0">
              <a:srgbClr val="000000">
                <a:alpha val="50000"/>
              </a:srgbClr>
            </a:outerShdw>
          </a:effectLst>
        </p:spPr>
      </p:pic>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2FA392D8-3ED3-7940-83A8-1451AA8A08D4}"/>
                  </a:ext>
                </a:extLst>
              </p:cNvPr>
              <p:cNvSpPr txBox="1"/>
              <p:nvPr/>
            </p:nvSpPr>
            <p:spPr>
              <a:xfrm>
                <a:off x="609600" y="373249"/>
                <a:ext cx="10985500" cy="5940088"/>
              </a:xfrm>
              <a:prstGeom prst="rect">
                <a:avLst/>
              </a:prstGeom>
              <a:noFill/>
            </p:spPr>
            <p:txBody>
              <a:bodyPr wrap="square" rtlCol="0">
                <a:spAutoFit/>
              </a:bodyPr>
              <a:lstStyle/>
              <a:p>
                <a:pPr marL="457200" indent="-457200">
                  <a:buFont typeface="+mj-lt"/>
                  <a:buAutoNum type="arabicPeriod" startAt="2"/>
                </a:pPr>
                <a:r>
                  <a:rPr lang="en-US" sz="2000" dirty="0">
                    <a:latin typeface="Verdana" panose="020B0604030504040204" pitchFamily="34" charset="0"/>
                    <a:ea typeface="Verdana" panose="020B0604030504040204" pitchFamily="34" charset="0"/>
                    <a:cs typeface="Verdana" panose="020B0604030504040204" pitchFamily="34" charset="0"/>
                  </a:rPr>
                  <a:t>On the coordinate grid, </a:t>
                </a:r>
                <a14:m>
                  <m:oMath xmlns:m="http://schemas.openxmlformats.org/officeDocument/2006/math">
                    <m:r>
                      <a:rPr lang="en-US" sz="2000" i="1">
                        <a:latin typeface="Cambria Math" panose="02040503050406030204" pitchFamily="18" charset="0"/>
                        <a:ea typeface="Cambria Math" panose="02040503050406030204" pitchFamily="18" charset="0"/>
                      </a:rPr>
                      <m:t>∆</m:t>
                    </m:r>
                    <m:r>
                      <a:rPr lang="en-US" sz="2000" i="1">
                        <a:latin typeface="Cambria Math" panose="02040503050406030204" pitchFamily="18" charset="0"/>
                        <a:ea typeface="Cambria Math" panose="02040503050406030204" pitchFamily="18" charset="0"/>
                      </a:rPr>
                      <m:t>𝐻𝐾𝑁</m:t>
                    </m:r>
                  </m:oMath>
                </a14:m>
                <a:r>
                  <a:rPr lang="en-US" sz="2000" dirty="0">
                    <a:latin typeface="Verdana" panose="020B0604030504040204" pitchFamily="34" charset="0"/>
                    <a:ea typeface="Verdana" panose="020B0604030504040204" pitchFamily="34" charset="0"/>
                    <a:cs typeface="Verdana" panose="020B0604030504040204" pitchFamily="34" charset="0"/>
                  </a:rPr>
                  <a:t> is the result of dilating </a:t>
                </a:r>
                <a14:m>
                  <m:oMath xmlns:m="http://schemas.openxmlformats.org/officeDocument/2006/math">
                    <m:r>
                      <a:rPr lang="en-US" sz="2000" i="1">
                        <a:latin typeface="Cambria Math" panose="02040503050406030204" pitchFamily="18" charset="0"/>
                        <a:ea typeface="Cambria Math" panose="02040503050406030204" pitchFamily="18" charset="0"/>
                      </a:rPr>
                      <m:t>∆</m:t>
                    </m:r>
                    <m:r>
                      <a:rPr lang="en-US" sz="2000" i="1">
                        <a:latin typeface="Cambria Math" panose="02040503050406030204" pitchFamily="18" charset="0"/>
                        <a:ea typeface="Cambria Math" panose="02040503050406030204" pitchFamily="18" charset="0"/>
                      </a:rPr>
                      <m:t>𝐴𝐷𝐹</m:t>
                    </m:r>
                  </m:oMath>
                </a14:m>
                <a:r>
                  <a:rPr lang="en-US" sz="2000" dirty="0">
                    <a:latin typeface="Verdana" panose="020B0604030504040204" pitchFamily="34" charset="0"/>
                    <a:ea typeface="Verdana" panose="020B0604030504040204" pitchFamily="34" charset="0"/>
                    <a:cs typeface="Verdana" panose="020B0604030504040204" pitchFamily="34" charset="0"/>
                  </a:rPr>
                  <a:t> using the origin as the center of dilation.</a:t>
                </a:r>
              </a:p>
              <a:p>
                <a:pPr marL="457200" indent="-457200">
                  <a:buFont typeface="+mj-lt"/>
                  <a:buAutoNum type="arabi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65138"/>
                <a:r>
                  <a:rPr lang="en-US" sz="2000" dirty="0">
                    <a:latin typeface="Verdana" panose="020B0604030504040204" pitchFamily="34" charset="0"/>
                    <a:ea typeface="Verdana" panose="020B0604030504040204" pitchFamily="34" charset="0"/>
                    <a:cs typeface="Verdana" panose="020B0604030504040204" pitchFamily="34" charset="0"/>
                  </a:rPr>
                  <a:t>Martell says, ”The scale factor of this dilation is </a:t>
                </a:r>
                <a14:m>
                  <m:oMath xmlns:m="http://schemas.openxmlformats.org/officeDocument/2006/math">
                    <m:r>
                      <a:rPr lang="en-US" sz="2000" i="1">
                        <a:latin typeface="Cambria Math" panose="02040503050406030204" pitchFamily="18" charset="0"/>
                        <a:ea typeface="Cambria Math" panose="02040503050406030204" pitchFamily="18" charset="0"/>
                      </a:rPr>
                      <m:t>3</m:t>
                    </m:r>
                  </m:oMath>
                </a14:m>
                <a:r>
                  <a:rPr lang="en-US" sz="2000" dirty="0">
                    <a:latin typeface="Verdana" panose="020B0604030504040204" pitchFamily="34" charset="0"/>
                    <a:ea typeface="Verdana" panose="020B0604030504040204" pitchFamily="34" charset="0"/>
                    <a:cs typeface="Verdana" panose="020B0604030504040204" pitchFamily="34" charset="0"/>
                  </a:rPr>
                  <a:t>. To find the scale factor, I found the coordinates of point </a:t>
                </a:r>
                <a14:m>
                  <m:oMath xmlns:m="http://schemas.openxmlformats.org/officeDocument/2006/math">
                    <m:r>
                      <a:rPr lang="en-US" sz="2000" i="1">
                        <a:latin typeface="Cambria Math" panose="02040503050406030204" pitchFamily="18" charset="0"/>
                        <a:ea typeface="Cambria Math" panose="02040503050406030204" pitchFamily="18" charset="0"/>
                      </a:rPr>
                      <m:t>𝐴</m:t>
                    </m:r>
                  </m:oMath>
                </a14:m>
                <a:r>
                  <a:rPr lang="en-US" sz="2000" dirty="0">
                    <a:latin typeface="Verdana" panose="020B0604030504040204" pitchFamily="34" charset="0"/>
                    <a:ea typeface="Verdana" panose="020B0604030504040204" pitchFamily="34" charset="0"/>
                    <a:cs typeface="Verdana" panose="020B0604030504040204" pitchFamily="34" charset="0"/>
                  </a:rPr>
                  <a:t> which were </a:t>
                </a:r>
                <a14:m>
                  <m:oMath xmlns:m="http://schemas.openxmlformats.org/officeDocument/2006/math">
                    <m:d>
                      <m:dPr>
                        <m:ctrlPr>
                          <a:rPr lang="en-US" sz="2000" i="1">
                            <a:latin typeface="Cambria Math" panose="02040503050406030204" pitchFamily="18" charset="0"/>
                            <a:ea typeface="Cambria Math" panose="02040503050406030204" pitchFamily="18" charset="0"/>
                          </a:rPr>
                        </m:ctrlPr>
                      </m:dPr>
                      <m:e>
                        <m:r>
                          <a:rPr lang="en-US" sz="2000" i="1">
                            <a:latin typeface="Cambria Math" panose="02040503050406030204" pitchFamily="18" charset="0"/>
                            <a:ea typeface="Cambria Math" panose="02040503050406030204" pitchFamily="18" charset="0"/>
                          </a:rPr>
                          <m:t>4, 2</m:t>
                        </m:r>
                      </m:e>
                    </m:d>
                  </m:oMath>
                </a14:m>
                <a:r>
                  <a:rPr lang="en-US" sz="2000" dirty="0">
                    <a:latin typeface="Verdana" panose="020B0604030504040204" pitchFamily="34" charset="0"/>
                    <a:ea typeface="Verdana" panose="020B0604030504040204" pitchFamily="34" charset="0"/>
                    <a:cs typeface="Verdana" panose="020B0604030504040204" pitchFamily="34" charset="0"/>
                  </a:rPr>
                  <a:t>, and then I found the coordinates of point </a:t>
                </a:r>
                <a14:m>
                  <m:oMath xmlns:m="http://schemas.openxmlformats.org/officeDocument/2006/math">
                    <m:r>
                      <a:rPr lang="en-US" sz="2000" i="1">
                        <a:latin typeface="Cambria Math" panose="02040503050406030204" pitchFamily="18" charset="0"/>
                        <a:ea typeface="Cambria Math" panose="02040503050406030204" pitchFamily="18" charset="0"/>
                      </a:rPr>
                      <m:t>𝐾</m:t>
                    </m:r>
                  </m:oMath>
                </a14:m>
                <a:r>
                  <a:rPr lang="en-US" sz="2000" dirty="0">
                    <a:latin typeface="Verdana" panose="020B0604030504040204" pitchFamily="34" charset="0"/>
                    <a:ea typeface="Verdana" panose="020B0604030504040204" pitchFamily="34" charset="0"/>
                    <a:cs typeface="Verdana" panose="020B0604030504040204" pitchFamily="34" charset="0"/>
                  </a:rPr>
                  <a:t> which were </a:t>
                </a:r>
                <a14:m>
                  <m:oMath xmlns:m="http://schemas.openxmlformats.org/officeDocument/2006/math">
                    <m:r>
                      <a:rPr lang="en-US" sz="2000" i="1">
                        <a:latin typeface="Cambria Math" panose="02040503050406030204" pitchFamily="18" charset="0"/>
                        <a:ea typeface="Cambria Math" panose="02040503050406030204" pitchFamily="18" charset="0"/>
                      </a:rPr>
                      <m:t>(12, 6)</m:t>
                    </m:r>
                  </m:oMath>
                </a14:m>
                <a:r>
                  <a:rPr lang="en-US" sz="2000" dirty="0">
                    <a:latin typeface="Verdana" panose="020B0604030504040204" pitchFamily="34" charset="0"/>
                    <a:ea typeface="Verdana" panose="020B0604030504040204" pitchFamily="34" charset="0"/>
                    <a:cs typeface="Verdana" panose="020B0604030504040204" pitchFamily="34" charset="0"/>
                  </a:rPr>
                  <a:t>. I know the scale factor is </a:t>
                </a:r>
                <a14:m>
                  <m:oMath xmlns:m="http://schemas.openxmlformats.org/officeDocument/2006/math">
                    <m:r>
                      <a:rPr lang="en-US" sz="2000" i="1">
                        <a:latin typeface="Cambria Math" panose="02040503050406030204" pitchFamily="18" charset="0"/>
                        <a:ea typeface="Cambria Math" panose="02040503050406030204" pitchFamily="18" charset="0"/>
                      </a:rPr>
                      <m:t>3</m:t>
                    </m:r>
                  </m:oMath>
                </a14:m>
                <a:r>
                  <a:rPr lang="en-US" sz="2000" dirty="0">
                    <a:latin typeface="Verdana" panose="020B0604030504040204" pitchFamily="34" charset="0"/>
                    <a:ea typeface="Verdana" panose="020B0604030504040204" pitchFamily="34" charset="0"/>
                    <a:cs typeface="Verdana" panose="020B0604030504040204" pitchFamily="34" charset="0"/>
                  </a:rPr>
                  <a:t> because </a:t>
                </a:r>
                <a14:m>
                  <m:oMath xmlns:m="http://schemas.openxmlformats.org/officeDocument/2006/math">
                    <m:r>
                      <a:rPr lang="en-US" sz="2000" i="1">
                        <a:latin typeface="Cambria Math" panose="02040503050406030204" pitchFamily="18" charset="0"/>
                        <a:ea typeface="Cambria Math" panose="02040503050406030204" pitchFamily="18" charset="0"/>
                      </a:rPr>
                      <m:t>4×3=12</m:t>
                    </m:r>
                  </m:oMath>
                </a14:m>
                <a:r>
                  <a:rPr lang="en-US" sz="2000" dirty="0">
                    <a:latin typeface="Verdana" panose="020B0604030504040204" pitchFamily="34" charset="0"/>
                    <a:ea typeface="Verdana" panose="020B0604030504040204" pitchFamily="34" charset="0"/>
                    <a:cs typeface="Verdana" panose="020B0604030504040204" pitchFamily="34" charset="0"/>
                  </a:rPr>
                  <a:t> and </a:t>
                </a:r>
                <a14:m>
                  <m:oMath xmlns:m="http://schemas.openxmlformats.org/officeDocument/2006/math">
                    <m:r>
                      <a:rPr lang="en-US" sz="2000" i="1">
                        <a:latin typeface="Cambria Math" panose="02040503050406030204" pitchFamily="18" charset="0"/>
                        <a:ea typeface="Cambria Math" panose="02040503050406030204" pitchFamily="18" charset="0"/>
                      </a:rPr>
                      <m:t>2×3=6</m:t>
                    </m:r>
                  </m:oMath>
                </a14:m>
                <a:r>
                  <a:rPr lang="en-US" sz="2000" dirty="0">
                    <a:latin typeface="Verdana" panose="020B0604030504040204" pitchFamily="34" charset="0"/>
                    <a:ea typeface="Verdana" panose="020B0604030504040204" pitchFamily="34" charset="0"/>
                    <a:cs typeface="Verdana" panose="020B0604030504040204" pitchFamily="34" charset="0"/>
                  </a:rPr>
                  <a:t>.”</a:t>
                </a:r>
              </a:p>
            </p:txBody>
          </p:sp>
        </mc:Choice>
        <mc:Fallback xmlns="">
          <p:sp>
            <p:nvSpPr>
              <p:cNvPr id="14" name="TextBox 13">
                <a:extLst>
                  <a:ext uri="{FF2B5EF4-FFF2-40B4-BE49-F238E27FC236}">
                    <a16:creationId xmlns:a16="http://schemas.microsoft.com/office/drawing/2014/main" id="{2FA392D8-3ED3-7940-83A8-1451AA8A08D4}"/>
                  </a:ext>
                </a:extLst>
              </p:cNvPr>
              <p:cNvSpPr txBox="1">
                <a:spLocks noRot="1" noChangeAspect="1" noMove="1" noResize="1" noEditPoints="1" noAdjustHandles="1" noChangeArrowheads="1" noChangeShapeType="1" noTextEdit="1"/>
              </p:cNvSpPr>
              <p:nvPr/>
            </p:nvSpPr>
            <p:spPr>
              <a:xfrm>
                <a:off x="609600" y="373249"/>
                <a:ext cx="10985500" cy="5940088"/>
              </a:xfrm>
              <a:prstGeom prst="rect">
                <a:avLst/>
              </a:prstGeom>
              <a:blipFill>
                <a:blip r:embed="rId4"/>
                <a:stretch>
                  <a:fillRect l="-578" t="-640" b="-853"/>
                </a:stretch>
              </a:blipFill>
            </p:spPr>
            <p:txBody>
              <a:bodyPr/>
              <a:lstStyle/>
              <a:p>
                <a:r>
                  <a:rPr lang="en-US">
                    <a:noFill/>
                  </a:rPr>
                  <a:t> </a:t>
                </a:r>
              </a:p>
            </p:txBody>
          </p:sp>
        </mc:Fallback>
      </mc:AlternateContent>
      <p:pic>
        <p:nvPicPr>
          <p:cNvPr id="6" name="Picture 5"/>
          <p:cNvPicPr/>
          <p:nvPr/>
        </p:nvPicPr>
        <p:blipFill>
          <a:blip r:embed="rId5" cstate="screen">
            <a:extLst>
              <a:ext uri="{28A0092B-C50C-407E-A947-70E740481C1C}">
                <a14:useLocalDpi xmlns:a14="http://schemas.microsoft.com/office/drawing/2010/main"/>
              </a:ext>
            </a:extLst>
          </a:blip>
          <a:srcRect/>
          <a:stretch>
            <a:fillRect/>
          </a:stretch>
        </p:blipFill>
        <p:spPr bwMode="auto">
          <a:xfrm>
            <a:off x="2950781" y="1129993"/>
            <a:ext cx="6378044" cy="3715277"/>
          </a:xfrm>
          <a:prstGeom prst="rect">
            <a:avLst/>
          </a:prstGeom>
          <a:noFill/>
          <a:ln>
            <a:noFill/>
          </a:ln>
        </p:spPr>
      </p:pic>
      <p:sp>
        <p:nvSpPr>
          <p:cNvPr id="7" name="Google Shape;282;g104476d1465_1_17"/>
          <p:cNvSpPr txBox="1"/>
          <p:nvPr/>
        </p:nvSpPr>
        <p:spPr>
          <a:xfrm>
            <a:off x="8842248"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109</a:t>
            </a:r>
            <a:endParaRPr i="1" dirty="0">
              <a:latin typeface="Calibri"/>
              <a:ea typeface="Calibri"/>
              <a:cs typeface="Calibri"/>
              <a:sym typeface="Calibri"/>
            </a:endParaRPr>
          </a:p>
        </p:txBody>
      </p:sp>
    </p:spTree>
    <p:extLst>
      <p:ext uri="{BB962C8B-B14F-4D97-AF65-F5344CB8AC3E}">
        <p14:creationId xmlns:p14="http://schemas.microsoft.com/office/powerpoint/2010/main" val="343729753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475720" y="6200600"/>
            <a:ext cx="563850" cy="657276"/>
          </a:xfrm>
          <a:prstGeom prst="rect">
            <a:avLst/>
          </a:prstGeom>
          <a:noFill/>
          <a:ln>
            <a:noFill/>
          </a:ln>
          <a:effectLst>
            <a:outerShdw blurRad="57150" dist="19050" dir="5400000" algn="bl" rotWithShape="0">
              <a:srgbClr val="000000">
                <a:alpha val="50000"/>
              </a:srgbClr>
            </a:outerShdw>
          </a:effectLst>
        </p:spPr>
      </p:pic>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2FA392D8-3ED3-7940-83A8-1451AA8A08D4}"/>
                  </a:ext>
                </a:extLst>
              </p:cNvPr>
              <p:cNvSpPr txBox="1"/>
              <p:nvPr/>
            </p:nvSpPr>
            <p:spPr>
              <a:xfrm>
                <a:off x="635000" y="362738"/>
                <a:ext cx="10934700" cy="3416320"/>
              </a:xfrm>
              <a:prstGeom prst="rect">
                <a:avLst/>
              </a:prstGeom>
              <a:noFill/>
            </p:spPr>
            <p:txBody>
              <a:bodyPr wrap="square" rtlCol="0">
                <a:spAutoFit/>
              </a:bodyPr>
              <a:lstStyle/>
              <a:p>
                <a:pPr marL="914400" indent="-457200">
                  <a:buFont typeface="+mj-lt"/>
                  <a:buAutoNum type="alphaLcPeriod"/>
                </a:pPr>
                <a:r>
                  <a:rPr lang="en-US" sz="2400" dirty="0">
                    <a:latin typeface="Verdana" panose="020B0604030504040204" pitchFamily="34" charset="0"/>
                    <a:ea typeface="Verdana" panose="020B0604030504040204" pitchFamily="34" charset="0"/>
                    <a:cs typeface="Verdana" panose="020B0604030504040204" pitchFamily="34" charset="0"/>
                  </a:rPr>
                  <a:t>Explain the error Martell made.</a:t>
                </a:r>
              </a:p>
              <a:p>
                <a:pPr marL="914400" indent="-457200">
                  <a:buFont typeface="+mj-lt"/>
                  <a:buAutoNum type="alphaL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r>
                  <a:rPr lang="en-US" sz="2400" dirty="0">
                    <a:latin typeface="Verdana" panose="020B0604030504040204" pitchFamily="34" charset="0"/>
                    <a:ea typeface="Verdana" panose="020B0604030504040204" pitchFamily="34" charset="0"/>
                    <a:cs typeface="Verdana" panose="020B0604030504040204" pitchFamily="34" charset="0"/>
                  </a:rPr>
                  <a:t>What scale factor was used to dilate </a:t>
                </a:r>
                <a14:m>
                  <m:oMath xmlns:m="http://schemas.openxmlformats.org/officeDocument/2006/math">
                    <m:r>
                      <a:rPr lang="en-US" sz="2400" i="1">
                        <a:latin typeface="Cambria Math" panose="02040503050406030204" pitchFamily="18" charset="0"/>
                        <a:ea typeface="Cambria Math" panose="02040503050406030204" pitchFamily="18" charset="0"/>
                      </a:rPr>
                      <m:t>∆</m:t>
                    </m:r>
                    <m:r>
                      <a:rPr lang="en-US" sz="2400" i="1">
                        <a:latin typeface="Cambria Math" panose="02040503050406030204" pitchFamily="18" charset="0"/>
                        <a:ea typeface="Cambria Math" panose="02040503050406030204" pitchFamily="18" charset="0"/>
                      </a:rPr>
                      <m:t>𝐴𝐷𝐹</m:t>
                    </m:r>
                  </m:oMath>
                </a14:m>
                <a:r>
                  <a:rPr lang="en-US" sz="2400" dirty="0">
                    <a:latin typeface="Verdana" panose="020B0604030504040204" pitchFamily="34" charset="0"/>
                    <a:ea typeface="Verdana" panose="020B0604030504040204" pitchFamily="34" charset="0"/>
                    <a:cs typeface="Verdana" panose="020B0604030504040204" pitchFamily="34" charset="0"/>
                  </a:rPr>
                  <a:t>?</a:t>
                </a:r>
              </a:p>
            </p:txBody>
          </p:sp>
        </mc:Choice>
        <mc:Fallback xmlns="">
          <p:sp>
            <p:nvSpPr>
              <p:cNvPr id="14" name="TextBox 13">
                <a:extLst>
                  <a:ext uri="{FF2B5EF4-FFF2-40B4-BE49-F238E27FC236}">
                    <a16:creationId xmlns:a16="http://schemas.microsoft.com/office/drawing/2014/main" id="{2FA392D8-3ED3-7940-83A8-1451AA8A08D4}"/>
                  </a:ext>
                </a:extLst>
              </p:cNvPr>
              <p:cNvSpPr txBox="1">
                <a:spLocks noRot="1" noChangeAspect="1" noMove="1" noResize="1" noEditPoints="1" noAdjustHandles="1" noChangeArrowheads="1" noChangeShapeType="1" noTextEdit="1"/>
              </p:cNvSpPr>
              <p:nvPr/>
            </p:nvSpPr>
            <p:spPr>
              <a:xfrm>
                <a:off x="635000" y="362738"/>
                <a:ext cx="10934700" cy="3416320"/>
              </a:xfrm>
              <a:prstGeom prst="rect">
                <a:avLst/>
              </a:prstGeom>
              <a:blipFill>
                <a:blip r:embed="rId4"/>
                <a:stretch>
                  <a:fillRect t="-1481" b="-2963"/>
                </a:stretch>
              </a:blipFill>
            </p:spPr>
            <p:txBody>
              <a:bodyPr/>
              <a:lstStyle/>
              <a:p>
                <a:r>
                  <a:rPr lang="en-US">
                    <a:noFill/>
                  </a:rPr>
                  <a:t> </a:t>
                </a:r>
              </a:p>
            </p:txBody>
          </p:sp>
        </mc:Fallback>
      </mc:AlternateContent>
      <p:sp>
        <p:nvSpPr>
          <p:cNvPr id="6" name="Google Shape;282;g104476d1465_1_17"/>
          <p:cNvSpPr txBox="1"/>
          <p:nvPr/>
        </p:nvSpPr>
        <p:spPr>
          <a:xfrm>
            <a:off x="8842248"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109</a:t>
            </a:r>
            <a:endParaRPr i="1" dirty="0">
              <a:latin typeface="Calibri"/>
              <a:ea typeface="Calibri"/>
              <a:cs typeface="Calibri"/>
              <a:sym typeface="Calibri"/>
            </a:endParaRPr>
          </a:p>
        </p:txBody>
      </p:sp>
    </p:spTree>
    <p:extLst>
      <p:ext uri="{BB962C8B-B14F-4D97-AF65-F5344CB8AC3E}">
        <p14:creationId xmlns:p14="http://schemas.microsoft.com/office/powerpoint/2010/main" val="408538167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475720" y="6200600"/>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4455984" y="2766150"/>
            <a:ext cx="5810345"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54B5D1"/>
                </a:solidFill>
                <a:latin typeface="Verdana"/>
                <a:ea typeface="Verdana"/>
                <a:cs typeface="Verdana"/>
                <a:sym typeface="Verdana"/>
              </a:rPr>
              <a:t>Guided Practice</a:t>
            </a:r>
            <a:endParaRPr sz="5100" b="1" dirty="0">
              <a:solidFill>
                <a:srgbClr val="54B5D1"/>
              </a:solidFill>
              <a:latin typeface="Verdana"/>
              <a:ea typeface="Verdana"/>
              <a:cs typeface="Verdana"/>
              <a:sym typeface="Verdana"/>
            </a:endParaRPr>
          </a:p>
        </p:txBody>
      </p:sp>
      <p:pic>
        <p:nvPicPr>
          <p:cNvPr id="9218" name="Picture 2" descr="Icon&#10;&#10;Description automatically generated">
            <a:extLst>
              <a:ext uri="{FF2B5EF4-FFF2-40B4-BE49-F238E27FC236}">
                <a16:creationId xmlns:a16="http://schemas.microsoft.com/office/drawing/2014/main" id="{B02E8C6A-53AD-AA4E-A4ED-406F3B0E3707}"/>
              </a:ext>
            </a:extLst>
          </p:cNvPr>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3017520" y="2916936"/>
            <a:ext cx="1152144" cy="115214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7" name="Google Shape;282;g104476d1465_1_17"/>
          <p:cNvSpPr txBox="1"/>
          <p:nvPr/>
        </p:nvSpPr>
        <p:spPr>
          <a:xfrm>
            <a:off x="8842248"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109</a:t>
            </a:r>
            <a:endParaRPr i="1" dirty="0">
              <a:latin typeface="Calibri"/>
              <a:ea typeface="Calibri"/>
              <a:cs typeface="Calibri"/>
              <a:sym typeface="Calibri"/>
            </a:endParaRPr>
          </a:p>
        </p:txBody>
      </p:sp>
    </p:spTree>
    <p:extLst>
      <p:ext uri="{BB962C8B-B14F-4D97-AF65-F5344CB8AC3E}">
        <p14:creationId xmlns:p14="http://schemas.microsoft.com/office/powerpoint/2010/main" val="169301461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5494" y="0"/>
            <a:ext cx="223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475720" y="6200600"/>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343;g103996e1364_0_321">
            <a:extLst>
              <a:ext uri="{FF2B5EF4-FFF2-40B4-BE49-F238E27FC236}">
                <a16:creationId xmlns:a16="http://schemas.microsoft.com/office/drawing/2014/main" id="{21B1DF8E-16A0-FA4E-8CEB-434668DFA68D}"/>
              </a:ext>
            </a:extLst>
          </p:cNvPr>
          <p:cNvSpPr txBox="1">
            <a:spLocks/>
          </p:cNvSpPr>
          <p:nvPr/>
        </p:nvSpPr>
        <p:spPr>
          <a:xfrm>
            <a:off x="1310640" y="-37211"/>
            <a:ext cx="1027176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54B5D1"/>
                </a:solidFill>
                <a:latin typeface="Verdana"/>
                <a:ea typeface="Verdana"/>
                <a:cs typeface="Verdana"/>
                <a:sym typeface="Verdana"/>
              </a:rPr>
              <a:t>9.9.4 Guided Practice: Dilations in the Real World</a:t>
            </a:r>
          </a:p>
        </p:txBody>
      </p:sp>
      <p:pic>
        <p:nvPicPr>
          <p:cNvPr id="8" name="Picture 2" descr="Icon&#10;&#10;Description automatically generated">
            <a:extLst>
              <a:ext uri="{FF2B5EF4-FFF2-40B4-BE49-F238E27FC236}">
                <a16:creationId xmlns:a16="http://schemas.microsoft.com/office/drawing/2014/main" id="{B3C42596-1BDF-794D-A82A-7C54635CB812}"/>
              </a:ext>
            </a:extLst>
          </p:cNvPr>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394763" y="250735"/>
            <a:ext cx="749808" cy="74980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31D40250-DEDD-2C41-8538-3D4DD18CCC4A}"/>
              </a:ext>
            </a:extLst>
          </p:cNvPr>
          <p:cNvSpPr txBox="1"/>
          <p:nvPr/>
        </p:nvSpPr>
        <p:spPr>
          <a:xfrm>
            <a:off x="622300" y="1386025"/>
            <a:ext cx="10960100" cy="1323439"/>
          </a:xfrm>
          <a:prstGeom prst="rect">
            <a:avLst/>
          </a:prstGeom>
          <a:noFill/>
        </p:spPr>
        <p:txBody>
          <a:bodyPr wrap="square" rtlCol="0">
            <a:spAutoFit/>
          </a:bodyPr>
          <a:lstStyle/>
          <a:p>
            <a:pPr marL="457200" indent="-457200">
              <a:buFont typeface="+mj-lt"/>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Archaeologists have begun using LiDAR (light detection and ranging) technology to map the shape of the ground underneath dense rainforests and jungles. Using this technology, they have discovered numerous ancient cities that have been hidden for thousands of years.</a:t>
            </a:r>
          </a:p>
        </p:txBody>
      </p:sp>
      <p:pic>
        <p:nvPicPr>
          <p:cNvPr id="9" name="Picture 8"/>
          <p:cNvPicPr/>
          <p:nvPr/>
        </p:nvPicPr>
        <p:blipFill rotWithShape="1">
          <a:blip r:embed="rId5"/>
          <a:srcRect l="20591" t="18458" r="21334" b="17187"/>
          <a:stretch/>
        </p:blipFill>
        <p:spPr bwMode="auto">
          <a:xfrm>
            <a:off x="3728810" y="3090814"/>
            <a:ext cx="4380812" cy="3640534"/>
          </a:xfrm>
          <a:prstGeom prst="rect">
            <a:avLst/>
          </a:prstGeom>
          <a:ln>
            <a:noFill/>
          </a:ln>
          <a:extLst>
            <a:ext uri="{53640926-AAD7-44D8-BBD7-CCE9431645EC}">
              <a14:shadowObscured xmlns:a14="http://schemas.microsoft.com/office/drawing/2010/main"/>
            </a:ext>
          </a:extLst>
        </p:spPr>
      </p:pic>
      <p:sp>
        <p:nvSpPr>
          <p:cNvPr id="11" name="Google Shape;282;g104476d1465_1_17"/>
          <p:cNvSpPr txBox="1"/>
          <p:nvPr/>
        </p:nvSpPr>
        <p:spPr>
          <a:xfrm>
            <a:off x="8842248"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109</a:t>
            </a:r>
            <a:endParaRPr i="1" dirty="0">
              <a:latin typeface="Calibri"/>
              <a:ea typeface="Calibri"/>
              <a:cs typeface="Calibri"/>
              <a:sym typeface="Calibri"/>
            </a:endParaRPr>
          </a:p>
        </p:txBody>
      </p:sp>
    </p:spTree>
    <p:extLst>
      <p:ext uri="{BB962C8B-B14F-4D97-AF65-F5344CB8AC3E}">
        <p14:creationId xmlns:p14="http://schemas.microsoft.com/office/powerpoint/2010/main" val="74552332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475720" y="6200600"/>
            <a:ext cx="563850" cy="657276"/>
          </a:xfrm>
          <a:prstGeom prst="rect">
            <a:avLst/>
          </a:prstGeom>
          <a:noFill/>
          <a:ln>
            <a:noFill/>
          </a:ln>
          <a:effectLst>
            <a:outerShdw blurRad="57150" dist="19050" dir="5400000" algn="bl" rotWithShape="0">
              <a:srgbClr val="000000">
                <a:alpha val="50000"/>
              </a:srgbClr>
            </a:outerShdw>
          </a:effectLst>
        </p:spPr>
      </p:pic>
      <p:sp>
        <p:nvSpPr>
          <p:cNvPr id="14" name="TextBox 13">
            <a:extLst>
              <a:ext uri="{FF2B5EF4-FFF2-40B4-BE49-F238E27FC236}">
                <a16:creationId xmlns:a16="http://schemas.microsoft.com/office/drawing/2014/main" id="{2FA392D8-3ED3-7940-83A8-1451AA8A08D4}"/>
              </a:ext>
            </a:extLst>
          </p:cNvPr>
          <p:cNvSpPr txBox="1"/>
          <p:nvPr/>
        </p:nvSpPr>
        <p:spPr>
          <a:xfrm>
            <a:off x="609600" y="373249"/>
            <a:ext cx="10985500" cy="1015663"/>
          </a:xfrm>
          <a:prstGeom prst="rect">
            <a:avLst/>
          </a:prstGeom>
          <a:noFill/>
        </p:spPr>
        <p:txBody>
          <a:bodyPr wrap="square" rtlCol="0">
            <a:spAutoFit/>
          </a:bodyPr>
          <a:lstStyle/>
          <a:p>
            <a:pPr marL="452438"/>
            <a:r>
              <a:rPr lang="en-US" sz="2000" dirty="0">
                <a:latin typeface="Verdana" panose="020B0604030504040204" pitchFamily="34" charset="0"/>
                <a:ea typeface="Verdana" panose="020B0604030504040204" pitchFamily="34" charset="0"/>
                <a:cs typeface="Verdana" panose="020B0604030504040204" pitchFamily="34" charset="0"/>
              </a:rPr>
              <a:t>An archaeologist discovered two triangular structures using LiDAR. She overlaid her image on a coordinate grid to analyze the relationship between the structures.</a:t>
            </a:r>
          </a:p>
        </p:txBody>
      </p:sp>
      <p:pic>
        <p:nvPicPr>
          <p:cNvPr id="6" name="Picture 5"/>
          <p:cNvPicPr/>
          <p:nvPr/>
        </p:nvPicPr>
        <p:blipFill>
          <a:blip r:embed="rId4" cstate="screen">
            <a:extLst>
              <a:ext uri="{28A0092B-C50C-407E-A947-70E740481C1C}">
                <a14:useLocalDpi xmlns:a14="http://schemas.microsoft.com/office/drawing/2010/main"/>
              </a:ext>
            </a:extLst>
          </a:blip>
          <a:srcRect/>
          <a:stretch>
            <a:fillRect/>
          </a:stretch>
        </p:blipFill>
        <p:spPr bwMode="auto">
          <a:xfrm>
            <a:off x="2550022" y="1544602"/>
            <a:ext cx="7599974" cy="4414261"/>
          </a:xfrm>
          <a:prstGeom prst="rect">
            <a:avLst/>
          </a:prstGeom>
          <a:noFill/>
          <a:ln>
            <a:noFill/>
          </a:ln>
        </p:spPr>
      </p:pic>
      <p:sp>
        <p:nvSpPr>
          <p:cNvPr id="7" name="Google Shape;282;g104476d1465_1_17"/>
          <p:cNvSpPr txBox="1"/>
          <p:nvPr/>
        </p:nvSpPr>
        <p:spPr>
          <a:xfrm>
            <a:off x="8842248"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109</a:t>
            </a:r>
            <a:endParaRPr i="1" dirty="0">
              <a:latin typeface="Calibri"/>
              <a:ea typeface="Calibri"/>
              <a:cs typeface="Calibri"/>
              <a:sym typeface="Calibri"/>
            </a:endParaRPr>
          </a:p>
        </p:txBody>
      </p:sp>
    </p:spTree>
    <p:extLst>
      <p:ext uri="{BB962C8B-B14F-4D97-AF65-F5344CB8AC3E}">
        <p14:creationId xmlns:p14="http://schemas.microsoft.com/office/powerpoint/2010/main" val="177442177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475720" y="6200600"/>
            <a:ext cx="563850" cy="657276"/>
          </a:xfrm>
          <a:prstGeom prst="rect">
            <a:avLst/>
          </a:prstGeom>
          <a:noFill/>
          <a:ln>
            <a:noFill/>
          </a:ln>
          <a:effectLst>
            <a:outerShdw blurRad="57150" dist="19050" dir="5400000" algn="bl" rotWithShape="0">
              <a:srgbClr val="000000">
                <a:alpha val="50000"/>
              </a:srgbClr>
            </a:outerShdw>
          </a:effectLst>
        </p:spPr>
      </p:pic>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2FA392D8-3ED3-7940-83A8-1451AA8A08D4}"/>
                  </a:ext>
                </a:extLst>
              </p:cNvPr>
              <p:cNvSpPr txBox="1"/>
              <p:nvPr/>
            </p:nvSpPr>
            <p:spPr>
              <a:xfrm>
                <a:off x="609600" y="373249"/>
                <a:ext cx="10972800" cy="2554545"/>
              </a:xfrm>
              <a:prstGeom prst="rect">
                <a:avLst/>
              </a:prstGeom>
              <a:noFill/>
            </p:spPr>
            <p:txBody>
              <a:bodyPr wrap="square" rtlCol="0">
                <a:spAutoFit/>
              </a:bodyPr>
              <a:lstStyle/>
              <a:p>
                <a:pPr marL="914400" indent="-457200">
                  <a:buFont typeface="+mj-lt"/>
                  <a:buAutoNum type="alphaLcPeriod"/>
                </a:pPr>
                <a:r>
                  <a:rPr lang="en-US" sz="2000" dirty="0">
                    <a:latin typeface="Verdana" panose="020B0604030504040204" pitchFamily="34" charset="0"/>
                    <a:ea typeface="Verdana" panose="020B0604030504040204" pitchFamily="34" charset="0"/>
                    <a:cs typeface="Verdana" panose="020B0604030504040204" pitchFamily="34" charset="0"/>
                  </a:rPr>
                  <a:t>The archaeologist found that the larger triangle, </a:t>
                </a:r>
                <a14:m>
                  <m:oMath xmlns:m="http://schemas.openxmlformats.org/officeDocument/2006/math">
                    <m:r>
                      <a:rPr lang="en-US" sz="2000" i="1">
                        <a:latin typeface="Cambria Math" panose="02040503050406030204" pitchFamily="18" charset="0"/>
                        <a:ea typeface="Cambria Math" panose="02040503050406030204" pitchFamily="18" charset="0"/>
                      </a:rPr>
                      <m:t>∆</m:t>
                    </m:r>
                    <m:r>
                      <a:rPr lang="en-US" sz="2000" i="1">
                        <a:latin typeface="Cambria Math" panose="02040503050406030204" pitchFamily="18" charset="0"/>
                        <a:ea typeface="Cambria Math" panose="02040503050406030204" pitchFamily="18" charset="0"/>
                      </a:rPr>
                      <m:t>𝑅𝑈𝑍</m:t>
                    </m:r>
                  </m:oMath>
                </a14:m>
                <a:r>
                  <a:rPr lang="en-US" sz="2000" dirty="0">
                    <a:latin typeface="Verdana" panose="020B0604030504040204" pitchFamily="34" charset="0"/>
                    <a:ea typeface="Verdana" panose="020B0604030504040204" pitchFamily="34" charset="0"/>
                    <a:cs typeface="Verdana" panose="020B0604030504040204" pitchFamily="34" charset="0"/>
                  </a:rPr>
                  <a:t>, could be obtained by dilating the smaller triangle, </a:t>
                </a:r>
                <a14:m>
                  <m:oMath xmlns:m="http://schemas.openxmlformats.org/officeDocument/2006/math">
                    <m:r>
                      <a:rPr lang="en-US" sz="2000" i="1">
                        <a:latin typeface="Cambria Math" panose="02040503050406030204" pitchFamily="18" charset="0"/>
                        <a:ea typeface="Cambria Math" panose="02040503050406030204" pitchFamily="18" charset="0"/>
                      </a:rPr>
                      <m:t>∆</m:t>
                    </m:r>
                    <m:r>
                      <a:rPr lang="en-US" sz="2000" i="1">
                        <a:latin typeface="Cambria Math" panose="02040503050406030204" pitchFamily="18" charset="0"/>
                        <a:ea typeface="Cambria Math" panose="02040503050406030204" pitchFamily="18" charset="0"/>
                      </a:rPr>
                      <m:t>𝑁𝑃𝑆</m:t>
                    </m:r>
                  </m:oMath>
                </a14:m>
                <a:r>
                  <a:rPr lang="en-US" sz="2000" dirty="0">
                    <a:latin typeface="Verdana" panose="020B0604030504040204" pitchFamily="34" charset="0"/>
                    <a:ea typeface="Verdana" panose="020B0604030504040204" pitchFamily="34" charset="0"/>
                    <a:cs typeface="Verdana" panose="020B0604030504040204" pitchFamily="34" charset="0"/>
                  </a:rPr>
                  <a:t>, using the origin as the center of dilation. Identify the scale factor of the dilation. </a:t>
                </a:r>
              </a:p>
              <a:p>
                <a:pPr marL="914400" indent="-457200">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r>
                  <a:rPr lang="en-US" sz="2000" dirty="0">
                    <a:latin typeface="Verdana" panose="020B0604030504040204" pitchFamily="34" charset="0"/>
                    <a:ea typeface="Verdana" panose="020B0604030504040204" pitchFamily="34" charset="0"/>
                    <a:cs typeface="Verdana" panose="020B0604030504040204" pitchFamily="34" charset="0"/>
                  </a:rPr>
                  <a:t>Suppose the archaeologist found a third structure that is a dilation of </a:t>
                </a:r>
                <a14:m>
                  <m:oMath xmlns:m="http://schemas.openxmlformats.org/officeDocument/2006/math">
                    <m:r>
                      <a:rPr lang="en-US" sz="2000" i="1">
                        <a:latin typeface="Cambria Math" panose="02040503050406030204" pitchFamily="18" charset="0"/>
                        <a:ea typeface="Cambria Math" panose="02040503050406030204" pitchFamily="18" charset="0"/>
                      </a:rPr>
                      <m:t>∆</m:t>
                    </m:r>
                    <m:r>
                      <a:rPr lang="en-US" sz="2000" i="1">
                        <a:latin typeface="Cambria Math" panose="02040503050406030204" pitchFamily="18" charset="0"/>
                        <a:ea typeface="Cambria Math" panose="02040503050406030204" pitchFamily="18" charset="0"/>
                      </a:rPr>
                      <m:t>𝑁𝑃𝑆</m:t>
                    </m:r>
                  </m:oMath>
                </a14:m>
                <a:r>
                  <a:rPr lang="en-US" sz="2000" dirty="0">
                    <a:latin typeface="Verdana" panose="020B0604030504040204" pitchFamily="34" charset="0"/>
                    <a:ea typeface="Verdana" panose="020B0604030504040204" pitchFamily="34" charset="0"/>
                    <a:cs typeface="Verdana" panose="020B0604030504040204" pitchFamily="34" charset="0"/>
                  </a:rPr>
                  <a:t> using a scale factor of </a:t>
                </a:r>
                <a14:m>
                  <m:oMath xmlns:m="http://schemas.openxmlformats.org/officeDocument/2006/math">
                    <m:r>
                      <a:rPr lang="en-US" sz="2000" i="1">
                        <a:latin typeface="Cambria Math" panose="02040503050406030204" pitchFamily="18" charset="0"/>
                        <a:ea typeface="Cambria Math" panose="02040503050406030204" pitchFamily="18" charset="0"/>
                      </a:rPr>
                      <m:t>11.5</m:t>
                    </m:r>
                  </m:oMath>
                </a14:m>
                <a:r>
                  <a:rPr lang="en-US" sz="2000" dirty="0">
                    <a:latin typeface="Verdana" panose="020B0604030504040204" pitchFamily="34" charset="0"/>
                    <a:ea typeface="Verdana" panose="020B0604030504040204" pitchFamily="34" charset="0"/>
                    <a:cs typeface="Verdana" panose="020B0604030504040204" pitchFamily="34" charset="0"/>
                  </a:rPr>
                  <a:t>  centered at the origin. Determine what the coordinates of the third structure, </a:t>
                </a:r>
                <a14:m>
                  <m:oMath xmlns:m="http://schemas.openxmlformats.org/officeDocument/2006/math">
                    <m:r>
                      <a:rPr lang="en-US" sz="2000" i="1">
                        <a:latin typeface="Cambria Math" panose="02040503050406030204" pitchFamily="18" charset="0"/>
                        <a:ea typeface="Cambria Math" panose="02040503050406030204" pitchFamily="18" charset="0"/>
                      </a:rPr>
                      <m:t>∆</m:t>
                    </m:r>
                    <m:r>
                      <a:rPr lang="en-US" sz="2000" i="1">
                        <a:latin typeface="Cambria Math" panose="02040503050406030204" pitchFamily="18" charset="0"/>
                        <a:ea typeface="Cambria Math" panose="02040503050406030204" pitchFamily="18" charset="0"/>
                      </a:rPr>
                      <m:t>𝑁</m:t>
                    </m:r>
                    <m:r>
                      <a:rPr lang="en-US" sz="2000" i="1">
                        <a:latin typeface="Cambria Math" panose="02040503050406030204" pitchFamily="18" charset="0"/>
                        <a:ea typeface="Cambria Math" panose="02040503050406030204" pitchFamily="18" charset="0"/>
                      </a:rPr>
                      <m:t>′</m:t>
                    </m:r>
                    <m:r>
                      <a:rPr lang="en-US" sz="2000" i="1">
                        <a:latin typeface="Cambria Math" panose="02040503050406030204" pitchFamily="18" charset="0"/>
                        <a:ea typeface="Cambria Math" panose="02040503050406030204" pitchFamily="18" charset="0"/>
                      </a:rPr>
                      <m:t>𝑃</m:t>
                    </m:r>
                    <m:r>
                      <a:rPr lang="en-US" sz="2000" i="1">
                        <a:latin typeface="Cambria Math" panose="02040503050406030204" pitchFamily="18" charset="0"/>
                        <a:ea typeface="Cambria Math" panose="02040503050406030204" pitchFamily="18" charset="0"/>
                      </a:rPr>
                      <m:t>′</m:t>
                    </m:r>
                    <m:r>
                      <a:rPr lang="en-US" sz="2000" i="1">
                        <a:latin typeface="Cambria Math" panose="02040503050406030204" pitchFamily="18" charset="0"/>
                        <a:ea typeface="Cambria Math" panose="02040503050406030204" pitchFamily="18" charset="0"/>
                      </a:rPr>
                      <m:t>𝑆</m:t>
                    </m:r>
                    <m:r>
                      <a:rPr lang="en-US" sz="2000" i="1">
                        <a:latin typeface="Cambria Math" panose="02040503050406030204" pitchFamily="18" charset="0"/>
                        <a:ea typeface="Cambria Math" panose="02040503050406030204" pitchFamily="18" charset="0"/>
                      </a:rPr>
                      <m:t>′</m:t>
                    </m:r>
                  </m:oMath>
                </a14:m>
                <a:r>
                  <a:rPr lang="en-US" sz="2000" dirty="0">
                    <a:latin typeface="Verdana" panose="020B0604030504040204" pitchFamily="34" charset="0"/>
                    <a:ea typeface="Verdana" panose="020B0604030504040204" pitchFamily="34" charset="0"/>
                    <a:cs typeface="Verdana" panose="020B0604030504040204" pitchFamily="34" charset="0"/>
                  </a:rPr>
                  <a:t>, would be.</a:t>
                </a:r>
              </a:p>
            </p:txBody>
          </p:sp>
        </mc:Choice>
        <mc:Fallback xmlns="">
          <p:sp>
            <p:nvSpPr>
              <p:cNvPr id="14" name="TextBox 13">
                <a:extLst>
                  <a:ext uri="{FF2B5EF4-FFF2-40B4-BE49-F238E27FC236}">
                    <a16:creationId xmlns:a16="http://schemas.microsoft.com/office/drawing/2014/main" id="{2FA392D8-3ED3-7940-83A8-1451AA8A08D4}"/>
                  </a:ext>
                </a:extLst>
              </p:cNvPr>
              <p:cNvSpPr txBox="1">
                <a:spLocks noRot="1" noChangeAspect="1" noMove="1" noResize="1" noEditPoints="1" noAdjustHandles="1" noChangeArrowheads="1" noChangeShapeType="1" noTextEdit="1"/>
              </p:cNvSpPr>
              <p:nvPr/>
            </p:nvSpPr>
            <p:spPr>
              <a:xfrm>
                <a:off x="609600" y="373249"/>
                <a:ext cx="10972800" cy="2554545"/>
              </a:xfrm>
              <a:prstGeom prst="rect">
                <a:avLst/>
              </a:prstGeom>
              <a:blipFill>
                <a:blip r:embed="rId4"/>
                <a:stretch>
                  <a:fillRect t="-1485" b="-346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2" name="Table 1"/>
              <p:cNvGraphicFramePr>
                <a:graphicFrameLocks noGrp="1"/>
              </p:cNvGraphicFramePr>
              <p:nvPr>
                <p:extLst>
                  <p:ext uri="{D42A27DB-BD31-4B8C-83A1-F6EECF244321}">
                    <p14:modId xmlns:p14="http://schemas.microsoft.com/office/powerpoint/2010/main" val="1240841025"/>
                  </p:ext>
                </p:extLst>
              </p:nvPr>
            </p:nvGraphicFramePr>
            <p:xfrm>
              <a:off x="3026682" y="3653649"/>
              <a:ext cx="5400000" cy="2628000"/>
            </p:xfrm>
            <a:graphic>
              <a:graphicData uri="http://schemas.openxmlformats.org/drawingml/2006/table">
                <a:tbl>
                  <a:tblPr firstRow="1" firstCol="1" bandRow="1">
                    <a:tableStyleId>{5940675A-B579-460E-94D1-54222C63F5DA}</a:tableStyleId>
                  </a:tblPr>
                  <a:tblGrid>
                    <a:gridCol w="1800000">
                      <a:extLst>
                        <a:ext uri="{9D8B030D-6E8A-4147-A177-3AD203B41FA5}">
                          <a16:colId xmlns:a16="http://schemas.microsoft.com/office/drawing/2014/main" val="20000"/>
                        </a:ext>
                      </a:extLst>
                    </a:gridCol>
                    <a:gridCol w="3600000">
                      <a:extLst>
                        <a:ext uri="{9D8B030D-6E8A-4147-A177-3AD203B41FA5}">
                          <a16:colId xmlns:a16="http://schemas.microsoft.com/office/drawing/2014/main" val="20001"/>
                        </a:ext>
                      </a:extLst>
                    </a:gridCol>
                  </a:tblGrid>
                  <a:tr h="468000">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Vertex</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Coordinates</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10000"/>
                      </a:ext>
                    </a:extLst>
                  </a:tr>
                  <a:tr h="720000">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𝑁</m:t>
                                </m:r>
                                <m:r>
                                  <a:rPr lang="en-US" sz="2000">
                                    <a:effectLst/>
                                    <a:latin typeface="Cambria Math" panose="02040503050406030204" pitchFamily="18" charset="0"/>
                                    <a:ea typeface="Cambria Math" panose="02040503050406030204" pitchFamily="18" charset="0"/>
                                  </a:rPr>
                                  <m:t>′</m:t>
                                </m:r>
                              </m:oMath>
                            </m:oMathPara>
                          </a14:m>
                          <a:endParaRPr lang="en-US" sz="2000" dirty="0">
                            <a:effectLst/>
                            <a:latin typeface="Cambria Math" panose="02040503050406030204" pitchFamily="18" charset="0"/>
                            <a:ea typeface="Cambria Math" panose="02040503050406030204" pitchFamily="18"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dirty="0">
                              <a:effectLst/>
                              <a:latin typeface="Cambria Math" panose="02040503050406030204" pitchFamily="18" charset="0"/>
                              <a:ea typeface="Cambria Math" panose="02040503050406030204" pitchFamily="18" charset="0"/>
                            </a:rPr>
                            <a:t>  </a:t>
                          </a:r>
                        </a:p>
                        <a:p>
                          <a:pPr marL="0" marR="0" algn="ctr">
                            <a:spcBef>
                              <a:spcPts val="0"/>
                            </a:spcBef>
                            <a:spcAft>
                              <a:spcPts val="0"/>
                            </a:spcAft>
                          </a:pPr>
                          <a:r>
                            <a:rPr lang="en-US" sz="2000" dirty="0">
                              <a:effectLst/>
                              <a:latin typeface="Cambria Math" panose="02040503050406030204" pitchFamily="18" charset="0"/>
                              <a:ea typeface="Cambria Math" panose="02040503050406030204" pitchFamily="18" charset="0"/>
                            </a:rPr>
                            <a:t> </a:t>
                          </a:r>
                          <a:endParaRPr lang="en-US" sz="2000" dirty="0">
                            <a:effectLst/>
                            <a:latin typeface="Cambria Math" panose="02040503050406030204" pitchFamily="18" charset="0"/>
                            <a:ea typeface="Cambria Math" panose="02040503050406030204" pitchFamily="18"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720000">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𝑃</m:t>
                                </m:r>
                                <m:r>
                                  <a:rPr lang="en-US" sz="2000">
                                    <a:effectLst/>
                                    <a:latin typeface="Cambria Math" panose="02040503050406030204" pitchFamily="18" charset="0"/>
                                    <a:ea typeface="Cambria Math" panose="02040503050406030204" pitchFamily="18" charset="0"/>
                                  </a:rPr>
                                  <m:t>′</m:t>
                                </m:r>
                              </m:oMath>
                            </m:oMathPara>
                          </a14:m>
                          <a:endParaRPr lang="en-US" sz="2000">
                            <a:effectLst/>
                            <a:latin typeface="Cambria Math" panose="02040503050406030204" pitchFamily="18" charset="0"/>
                            <a:ea typeface="Cambria Math" panose="02040503050406030204" pitchFamily="18"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dirty="0">
                              <a:effectLst/>
                              <a:latin typeface="Cambria Math" panose="02040503050406030204" pitchFamily="18" charset="0"/>
                              <a:ea typeface="Cambria Math" panose="02040503050406030204" pitchFamily="18" charset="0"/>
                            </a:rPr>
                            <a:t>  </a:t>
                          </a:r>
                        </a:p>
                        <a:p>
                          <a:pPr marL="0" marR="0" algn="ctr">
                            <a:spcBef>
                              <a:spcPts val="0"/>
                            </a:spcBef>
                            <a:spcAft>
                              <a:spcPts val="0"/>
                            </a:spcAft>
                          </a:pPr>
                          <a:r>
                            <a:rPr lang="en-US" sz="2000" dirty="0">
                              <a:effectLst/>
                              <a:latin typeface="Cambria Math" panose="02040503050406030204" pitchFamily="18" charset="0"/>
                              <a:ea typeface="Cambria Math" panose="02040503050406030204" pitchFamily="18" charset="0"/>
                            </a:rPr>
                            <a:t> </a:t>
                          </a:r>
                          <a:endParaRPr lang="en-US" sz="2000" dirty="0">
                            <a:effectLst/>
                            <a:latin typeface="Cambria Math" panose="02040503050406030204" pitchFamily="18" charset="0"/>
                            <a:ea typeface="Cambria Math" panose="02040503050406030204" pitchFamily="18"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720000">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𝑆</m:t>
                                </m:r>
                                <m:r>
                                  <a:rPr lang="en-US" sz="2000">
                                    <a:effectLst/>
                                    <a:latin typeface="Cambria Math" panose="02040503050406030204" pitchFamily="18" charset="0"/>
                                    <a:ea typeface="Cambria Math" panose="02040503050406030204" pitchFamily="18" charset="0"/>
                                  </a:rPr>
                                  <m:t>′</m:t>
                                </m:r>
                              </m:oMath>
                            </m:oMathPara>
                          </a14:m>
                          <a:endParaRPr lang="en-US" sz="2000">
                            <a:effectLst/>
                            <a:latin typeface="Cambria Math" panose="02040503050406030204" pitchFamily="18" charset="0"/>
                            <a:ea typeface="Cambria Math" panose="02040503050406030204" pitchFamily="18"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dirty="0">
                              <a:effectLst/>
                              <a:latin typeface="Cambria Math" panose="02040503050406030204" pitchFamily="18" charset="0"/>
                              <a:ea typeface="Cambria Math" panose="02040503050406030204" pitchFamily="18" charset="0"/>
                            </a:rPr>
                            <a:t> </a:t>
                          </a:r>
                        </a:p>
                        <a:p>
                          <a:pPr marL="0" marR="0" algn="ctr">
                            <a:spcBef>
                              <a:spcPts val="0"/>
                            </a:spcBef>
                            <a:spcAft>
                              <a:spcPts val="0"/>
                            </a:spcAft>
                          </a:pPr>
                          <a:r>
                            <a:rPr lang="en-US" sz="2000" dirty="0">
                              <a:effectLst/>
                              <a:latin typeface="Cambria Math" panose="02040503050406030204" pitchFamily="18" charset="0"/>
                              <a:ea typeface="Cambria Math" panose="02040503050406030204" pitchFamily="18" charset="0"/>
                            </a:rPr>
                            <a:t>  </a:t>
                          </a:r>
                          <a:endParaRPr lang="en-US" sz="2000" dirty="0">
                            <a:effectLst/>
                            <a:latin typeface="Cambria Math" panose="02040503050406030204" pitchFamily="18" charset="0"/>
                            <a:ea typeface="Cambria Math" panose="02040503050406030204" pitchFamily="18"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mc:Choice>
        <mc:Fallback xmlns="">
          <p:graphicFrame>
            <p:nvGraphicFramePr>
              <p:cNvPr id="2" name="Table 1"/>
              <p:cNvGraphicFramePr>
                <a:graphicFrameLocks noGrp="1"/>
              </p:cNvGraphicFramePr>
              <p:nvPr>
                <p:extLst>
                  <p:ext uri="{D42A27DB-BD31-4B8C-83A1-F6EECF244321}">
                    <p14:modId xmlns:p14="http://schemas.microsoft.com/office/powerpoint/2010/main" val="1240841025"/>
                  </p:ext>
                </p:extLst>
              </p:nvPr>
            </p:nvGraphicFramePr>
            <p:xfrm>
              <a:off x="3026682" y="3653649"/>
              <a:ext cx="5400000" cy="2628000"/>
            </p:xfrm>
            <a:graphic>
              <a:graphicData uri="http://schemas.openxmlformats.org/drawingml/2006/table">
                <a:tbl>
                  <a:tblPr firstRow="1" firstCol="1" bandRow="1">
                    <a:tableStyleId>{5940675A-B579-460E-94D1-54222C63F5DA}</a:tableStyleId>
                  </a:tblPr>
                  <a:tblGrid>
                    <a:gridCol w="1800000">
                      <a:extLst>
                        <a:ext uri="{9D8B030D-6E8A-4147-A177-3AD203B41FA5}">
                          <a16:colId xmlns:a16="http://schemas.microsoft.com/office/drawing/2014/main" val="20000"/>
                        </a:ext>
                      </a:extLst>
                    </a:gridCol>
                    <a:gridCol w="3600000">
                      <a:extLst>
                        <a:ext uri="{9D8B030D-6E8A-4147-A177-3AD203B41FA5}">
                          <a16:colId xmlns:a16="http://schemas.microsoft.com/office/drawing/2014/main" val="20001"/>
                        </a:ext>
                      </a:extLst>
                    </a:gridCol>
                  </a:tblGrid>
                  <a:tr h="468000">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Vertex</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Coordinates</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10000"/>
                      </a:ext>
                    </a:extLst>
                  </a:tr>
                  <a:tr h="720000">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a:blip r:embed="rId5"/>
                          <a:stretch>
                            <a:fillRect l="-704" t="-66667" r="-201408" b="-203509"/>
                          </a:stretch>
                        </a:blipFill>
                      </a:tcPr>
                    </a:tc>
                    <a:tc>
                      <a:txBody>
                        <a:bodyPr/>
                        <a:lstStyle/>
                        <a:p>
                          <a:pPr marL="0" marR="0" algn="ctr">
                            <a:spcBef>
                              <a:spcPts val="0"/>
                            </a:spcBef>
                            <a:spcAft>
                              <a:spcPts val="0"/>
                            </a:spcAft>
                          </a:pPr>
                          <a:r>
                            <a:rPr lang="en-US" sz="2000" dirty="0">
                              <a:effectLst/>
                              <a:latin typeface="Cambria Math" panose="02040503050406030204" pitchFamily="18" charset="0"/>
                              <a:ea typeface="Cambria Math" panose="02040503050406030204" pitchFamily="18" charset="0"/>
                            </a:rPr>
                            <a:t>  </a:t>
                          </a:r>
                        </a:p>
                        <a:p>
                          <a:pPr marL="0" marR="0" algn="ctr">
                            <a:spcBef>
                              <a:spcPts val="0"/>
                            </a:spcBef>
                            <a:spcAft>
                              <a:spcPts val="0"/>
                            </a:spcAft>
                          </a:pPr>
                          <a:r>
                            <a:rPr lang="en-US" sz="2000" dirty="0">
                              <a:effectLst/>
                              <a:latin typeface="Cambria Math" panose="02040503050406030204" pitchFamily="18" charset="0"/>
                              <a:ea typeface="Cambria Math" panose="02040503050406030204" pitchFamily="18" charset="0"/>
                            </a:rPr>
                            <a:t> </a:t>
                          </a:r>
                          <a:endParaRPr lang="en-US" sz="2000" dirty="0">
                            <a:effectLst/>
                            <a:latin typeface="Cambria Math" panose="02040503050406030204" pitchFamily="18" charset="0"/>
                            <a:ea typeface="Cambria Math" panose="02040503050406030204" pitchFamily="18"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720000">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a:blip r:embed="rId5"/>
                          <a:stretch>
                            <a:fillRect l="-704" t="-166667" r="-201408" b="-103509"/>
                          </a:stretch>
                        </a:blipFill>
                      </a:tcPr>
                    </a:tc>
                    <a:tc>
                      <a:txBody>
                        <a:bodyPr/>
                        <a:lstStyle/>
                        <a:p>
                          <a:pPr marL="0" marR="0" algn="ctr">
                            <a:spcBef>
                              <a:spcPts val="0"/>
                            </a:spcBef>
                            <a:spcAft>
                              <a:spcPts val="0"/>
                            </a:spcAft>
                          </a:pPr>
                          <a:r>
                            <a:rPr lang="en-US" sz="2000" dirty="0">
                              <a:effectLst/>
                              <a:latin typeface="Cambria Math" panose="02040503050406030204" pitchFamily="18" charset="0"/>
                              <a:ea typeface="Cambria Math" panose="02040503050406030204" pitchFamily="18" charset="0"/>
                            </a:rPr>
                            <a:t>  </a:t>
                          </a:r>
                        </a:p>
                        <a:p>
                          <a:pPr marL="0" marR="0" algn="ctr">
                            <a:spcBef>
                              <a:spcPts val="0"/>
                            </a:spcBef>
                            <a:spcAft>
                              <a:spcPts val="0"/>
                            </a:spcAft>
                          </a:pPr>
                          <a:r>
                            <a:rPr lang="en-US" sz="2000" dirty="0">
                              <a:effectLst/>
                              <a:latin typeface="Cambria Math" panose="02040503050406030204" pitchFamily="18" charset="0"/>
                              <a:ea typeface="Cambria Math" panose="02040503050406030204" pitchFamily="18" charset="0"/>
                            </a:rPr>
                            <a:t> </a:t>
                          </a:r>
                          <a:endParaRPr lang="en-US" sz="2000" dirty="0">
                            <a:effectLst/>
                            <a:latin typeface="Cambria Math" panose="02040503050406030204" pitchFamily="18" charset="0"/>
                            <a:ea typeface="Cambria Math" panose="02040503050406030204" pitchFamily="18"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720000">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a:blip r:embed="rId5"/>
                          <a:stretch>
                            <a:fillRect l="-704" t="-266667" r="-201408" b="-3509"/>
                          </a:stretch>
                        </a:blipFill>
                      </a:tcPr>
                    </a:tc>
                    <a:tc>
                      <a:txBody>
                        <a:bodyPr/>
                        <a:lstStyle/>
                        <a:p>
                          <a:pPr marL="0" marR="0" algn="ctr">
                            <a:spcBef>
                              <a:spcPts val="0"/>
                            </a:spcBef>
                            <a:spcAft>
                              <a:spcPts val="0"/>
                            </a:spcAft>
                          </a:pPr>
                          <a:r>
                            <a:rPr lang="en-US" sz="2000" dirty="0">
                              <a:effectLst/>
                              <a:latin typeface="Cambria Math" panose="02040503050406030204" pitchFamily="18" charset="0"/>
                              <a:ea typeface="Cambria Math" panose="02040503050406030204" pitchFamily="18" charset="0"/>
                            </a:rPr>
                            <a:t> </a:t>
                          </a:r>
                        </a:p>
                        <a:p>
                          <a:pPr marL="0" marR="0" algn="ctr">
                            <a:spcBef>
                              <a:spcPts val="0"/>
                            </a:spcBef>
                            <a:spcAft>
                              <a:spcPts val="0"/>
                            </a:spcAft>
                          </a:pPr>
                          <a:r>
                            <a:rPr lang="en-US" sz="2000" dirty="0">
                              <a:effectLst/>
                              <a:latin typeface="Cambria Math" panose="02040503050406030204" pitchFamily="18" charset="0"/>
                              <a:ea typeface="Cambria Math" panose="02040503050406030204" pitchFamily="18" charset="0"/>
                            </a:rPr>
                            <a:t>  </a:t>
                          </a:r>
                          <a:endParaRPr lang="en-US" sz="2000" dirty="0">
                            <a:effectLst/>
                            <a:latin typeface="Cambria Math" panose="02040503050406030204" pitchFamily="18" charset="0"/>
                            <a:ea typeface="Cambria Math" panose="02040503050406030204" pitchFamily="18"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mc:Fallback>
      </mc:AlternateContent>
      <p:sp>
        <p:nvSpPr>
          <p:cNvPr id="7" name="Google Shape;282;g104476d1465_1_17"/>
          <p:cNvSpPr txBox="1"/>
          <p:nvPr/>
        </p:nvSpPr>
        <p:spPr>
          <a:xfrm>
            <a:off x="8842248"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110</a:t>
            </a:r>
            <a:endParaRPr i="1" dirty="0">
              <a:latin typeface="Calibri"/>
              <a:ea typeface="Calibri"/>
              <a:cs typeface="Calibri"/>
              <a:sym typeface="Calibri"/>
            </a:endParaRPr>
          </a:p>
        </p:txBody>
      </p:sp>
    </p:spTree>
    <p:extLst>
      <p:ext uri="{BB962C8B-B14F-4D97-AF65-F5344CB8AC3E}">
        <p14:creationId xmlns:p14="http://schemas.microsoft.com/office/powerpoint/2010/main" val="222594735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4050"/>
            <a:ext cx="2731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475720" y="6200600"/>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4312139" y="2762342"/>
            <a:ext cx="4028789"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Wrap-Up</a:t>
            </a:r>
            <a:endParaRPr sz="5100" b="1" dirty="0">
              <a:solidFill>
                <a:srgbClr val="3F2A67"/>
              </a:solidFill>
              <a:latin typeface="Verdana"/>
              <a:ea typeface="Verdana"/>
              <a:cs typeface="Verdana"/>
              <a:sym typeface="Verdana"/>
            </a:endParaRPr>
          </a:p>
        </p:txBody>
      </p:sp>
      <p:pic>
        <p:nvPicPr>
          <p:cNvPr id="7" name="Google Shape;450;g103996e1364_0_457">
            <a:extLst>
              <a:ext uri="{FF2B5EF4-FFF2-40B4-BE49-F238E27FC236}">
                <a16:creationId xmlns:a16="http://schemas.microsoft.com/office/drawing/2014/main" id="{DE95225C-59B5-E847-AFA2-B83DCFFA10D8}"/>
              </a:ext>
            </a:extLst>
          </p:cNvPr>
          <p:cNvPicPr preferRelativeResize="0"/>
          <p:nvPr/>
        </p:nvPicPr>
        <p:blipFill rotWithShape="1">
          <a:blip r:embed="rId4">
            <a:alphaModFix/>
          </a:blip>
          <a:srcRect/>
          <a:stretch/>
        </p:blipFill>
        <p:spPr>
          <a:xfrm>
            <a:off x="3017520" y="2916936"/>
            <a:ext cx="1008299" cy="1016513"/>
          </a:xfrm>
          <a:prstGeom prst="rect">
            <a:avLst/>
          </a:prstGeom>
          <a:noFill/>
          <a:ln>
            <a:noFill/>
          </a:ln>
          <a:effectLst>
            <a:outerShdw blurRad="50800" dist="38100" dir="2700000" algn="tl" rotWithShape="0">
              <a:prstClr val="black">
                <a:alpha val="40000"/>
              </a:prstClr>
            </a:outerShdw>
          </a:effectLst>
        </p:spPr>
      </p:pic>
      <p:sp>
        <p:nvSpPr>
          <p:cNvPr id="8" name="Google Shape;282;g104476d1465_1_17"/>
          <p:cNvSpPr txBox="1"/>
          <p:nvPr/>
        </p:nvSpPr>
        <p:spPr>
          <a:xfrm>
            <a:off x="8842248"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110</a:t>
            </a:r>
            <a:endParaRPr i="1" dirty="0">
              <a:latin typeface="Calibri"/>
              <a:ea typeface="Calibri"/>
              <a:cs typeface="Calibri"/>
              <a:sym typeface="Calibri"/>
            </a:endParaRPr>
          </a:p>
        </p:txBody>
      </p:sp>
    </p:spTree>
    <p:extLst>
      <p:ext uri="{BB962C8B-B14F-4D97-AF65-F5344CB8AC3E}">
        <p14:creationId xmlns:p14="http://schemas.microsoft.com/office/powerpoint/2010/main" val="67690871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8" name="Picture 7" descr="Chart&#10;&#10;Description automatically generated"/>
          <p:cNvPicPr/>
          <p:nvPr/>
        </p:nvPicPr>
        <p:blipFill rotWithShape="1">
          <a:blip r:embed="rId3" cstate="screen">
            <a:extLst>
              <a:ext uri="{28A0092B-C50C-407E-A947-70E740481C1C}">
                <a14:useLocalDpi xmlns:a14="http://schemas.microsoft.com/office/drawing/2010/main"/>
              </a:ext>
            </a:extLst>
          </a:blip>
          <a:srcRect r="7693"/>
          <a:stretch/>
        </p:blipFill>
        <p:spPr>
          <a:xfrm>
            <a:off x="6090818" y="2638138"/>
            <a:ext cx="4530483" cy="3562462"/>
          </a:xfrm>
          <a:prstGeom prst="rect">
            <a:avLst/>
          </a:prstGeom>
        </p:spPr>
      </p:pic>
      <p:sp>
        <p:nvSpPr>
          <p:cNvPr id="278" name="Google Shape;278;g104476d1465_1_17"/>
          <p:cNvSpPr/>
          <p:nvPr/>
        </p:nvSpPr>
        <p:spPr>
          <a:xfrm>
            <a:off x="0" y="0"/>
            <a:ext cx="223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75720" y="6200600"/>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456;g103996e1364_0_463">
            <a:extLst>
              <a:ext uri="{FF2B5EF4-FFF2-40B4-BE49-F238E27FC236}">
                <a16:creationId xmlns:a16="http://schemas.microsoft.com/office/drawing/2014/main" id="{68C03D65-F0BF-3F41-B52A-024F47388982}"/>
              </a:ext>
            </a:extLst>
          </p:cNvPr>
          <p:cNvSpPr txBox="1">
            <a:spLocks/>
          </p:cNvSpPr>
          <p:nvPr/>
        </p:nvSpPr>
        <p:spPr>
          <a:xfrm>
            <a:off x="1313148" y="-82571"/>
            <a:ext cx="10281952"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F2A67"/>
                </a:solidFill>
                <a:latin typeface="Verdana"/>
                <a:ea typeface="Verdana"/>
                <a:cs typeface="Verdana"/>
                <a:sym typeface="Verdana"/>
              </a:rPr>
              <a:t>9.9.5 Wrap-Up: Ticket Out the Door</a:t>
            </a:r>
          </a:p>
        </p:txBody>
      </p:sp>
      <p:pic>
        <p:nvPicPr>
          <p:cNvPr id="9" name="Google Shape;458;g103996e1364_0_463">
            <a:extLst>
              <a:ext uri="{FF2B5EF4-FFF2-40B4-BE49-F238E27FC236}">
                <a16:creationId xmlns:a16="http://schemas.microsoft.com/office/drawing/2014/main" id="{EEA44D6C-2366-AC41-B1B5-EDDC34786A66}"/>
              </a:ext>
            </a:extLst>
          </p:cNvPr>
          <p:cNvPicPr preferRelativeResize="0"/>
          <p:nvPr/>
        </p:nvPicPr>
        <p:blipFill rotWithShape="1">
          <a:blip r:embed="rId5">
            <a:alphaModFix/>
          </a:blip>
          <a:srcRect/>
          <a:stretch/>
        </p:blipFill>
        <p:spPr>
          <a:xfrm>
            <a:off x="394524" y="206629"/>
            <a:ext cx="747300" cy="747300"/>
          </a:xfrm>
          <a:prstGeom prst="rect">
            <a:avLst/>
          </a:prstGeom>
          <a:noFill/>
          <a:ln>
            <a:noFill/>
          </a:ln>
          <a:effectLst>
            <a:outerShdw blurRad="50800" dist="38100" dir="2700000" algn="tl" rotWithShape="0">
              <a:prstClr val="black">
                <a:alpha val="40000"/>
              </a:prstClr>
            </a:outerShdw>
          </a:effectLst>
        </p:spPr>
      </p:pic>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0370EDB7-6994-3D43-ABF9-E04CBAFB9CD9}"/>
                  </a:ext>
                </a:extLst>
              </p:cNvPr>
              <p:cNvSpPr txBox="1"/>
              <p:nvPr/>
            </p:nvSpPr>
            <p:spPr>
              <a:xfrm>
                <a:off x="609600" y="1386025"/>
                <a:ext cx="10985500" cy="1631216"/>
              </a:xfrm>
              <a:prstGeom prst="rect">
                <a:avLst/>
              </a:prstGeom>
              <a:noFill/>
            </p:spPr>
            <p:txBody>
              <a:bodyPr wrap="square" rtlCol="0">
                <a:spAutoFit/>
              </a:bodyPr>
              <a:lstStyle/>
              <a:p>
                <a:pPr marL="457200" indent="-457200">
                  <a:buFont typeface="+mj-lt"/>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The figure shows the result of dilating </a:t>
                </a:r>
                <a14:m>
                  <m:oMath xmlns:m="http://schemas.openxmlformats.org/officeDocument/2006/math">
                    <m:r>
                      <a:rPr lang="en-US" sz="2000" i="1">
                        <a:latin typeface="Cambria Math" panose="02040503050406030204" pitchFamily="18" charset="0"/>
                        <a:ea typeface="Cambria Math" panose="02040503050406030204" pitchFamily="18" charset="0"/>
                      </a:rPr>
                      <m:t>∆</m:t>
                    </m:r>
                    <m:r>
                      <a:rPr lang="en-US" sz="2000" i="1">
                        <a:latin typeface="Cambria Math" panose="02040503050406030204" pitchFamily="18" charset="0"/>
                        <a:ea typeface="Cambria Math" panose="02040503050406030204" pitchFamily="18" charset="0"/>
                      </a:rPr>
                      <m:t>𝐹𝐿𝑆</m:t>
                    </m:r>
                  </m:oMath>
                </a14:m>
                <a:r>
                  <a:rPr lang="en-US" sz="2000" dirty="0">
                    <a:latin typeface="Verdana" panose="020B0604030504040204" pitchFamily="34" charset="0"/>
                    <a:ea typeface="Verdana" panose="020B0604030504040204" pitchFamily="34" charset="0"/>
                    <a:cs typeface="Verdana" panose="020B0604030504040204" pitchFamily="34" charset="0"/>
                  </a:rPr>
                  <a:t> using point </a:t>
                </a:r>
                <a14:m>
                  <m:oMath xmlns:m="http://schemas.openxmlformats.org/officeDocument/2006/math">
                    <m:r>
                      <a:rPr lang="en-US" sz="2000" i="1">
                        <a:latin typeface="Cambria Math" panose="02040503050406030204" pitchFamily="18" charset="0"/>
                        <a:ea typeface="Cambria Math" panose="02040503050406030204" pitchFamily="18" charset="0"/>
                      </a:rPr>
                      <m:t>𝑅</m:t>
                    </m:r>
                  </m:oMath>
                </a14:m>
                <a:r>
                  <a:rPr lang="en-US" sz="2000" dirty="0">
                    <a:latin typeface="Verdana" panose="020B0604030504040204" pitchFamily="34" charset="0"/>
                    <a:ea typeface="Verdana" panose="020B0604030504040204" pitchFamily="34" charset="0"/>
                    <a:cs typeface="Verdana" panose="020B0604030504040204" pitchFamily="34" charset="0"/>
                  </a:rPr>
                  <a:t> as the center of dilation. Measurements, in units, of each side are given.</a:t>
                </a:r>
              </a:p>
              <a:p>
                <a:pPr marL="457200" indent="-457200">
                  <a:buFont typeface="+mj-lt"/>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65138"/>
                <a:r>
                  <a:rPr lang="en-US" sz="2000" dirty="0">
                    <a:latin typeface="Verdana" panose="020B0604030504040204" pitchFamily="34" charset="0"/>
                    <a:ea typeface="Verdana" panose="020B0604030504040204" pitchFamily="34" charset="0"/>
                    <a:cs typeface="Verdana" panose="020B0604030504040204" pitchFamily="34" charset="0"/>
                  </a:rPr>
                  <a:t>Determine the scale factor of the dilation. </a:t>
                </a:r>
                <a:br>
                  <a:rPr lang="en-US" sz="2000" dirty="0">
                    <a:latin typeface="Verdana" panose="020B0604030504040204" pitchFamily="34" charset="0"/>
                    <a:ea typeface="Verdana" panose="020B0604030504040204" pitchFamily="34" charset="0"/>
                    <a:cs typeface="Verdana" panose="020B0604030504040204" pitchFamily="34" charset="0"/>
                  </a:rPr>
                </a:br>
                <a:r>
                  <a:rPr lang="en-US" sz="2000" dirty="0">
                    <a:latin typeface="Verdana" panose="020B0604030504040204" pitchFamily="34" charset="0"/>
                    <a:ea typeface="Verdana" panose="020B0604030504040204" pitchFamily="34" charset="0"/>
                    <a:cs typeface="Verdana" panose="020B0604030504040204" pitchFamily="34" charset="0"/>
                  </a:rPr>
                  <a:t>Show your work.</a:t>
                </a:r>
              </a:p>
            </p:txBody>
          </p:sp>
        </mc:Choice>
        <mc:Fallback xmlns="">
          <p:sp>
            <p:nvSpPr>
              <p:cNvPr id="12" name="TextBox 11">
                <a:extLst>
                  <a:ext uri="{FF2B5EF4-FFF2-40B4-BE49-F238E27FC236}">
                    <a16:creationId xmlns:a16="http://schemas.microsoft.com/office/drawing/2014/main" id="{0370EDB7-6994-3D43-ABF9-E04CBAFB9CD9}"/>
                  </a:ext>
                </a:extLst>
              </p:cNvPr>
              <p:cNvSpPr txBox="1">
                <a:spLocks noRot="1" noChangeAspect="1" noMove="1" noResize="1" noEditPoints="1" noAdjustHandles="1" noChangeArrowheads="1" noChangeShapeType="1" noTextEdit="1"/>
              </p:cNvSpPr>
              <p:nvPr/>
            </p:nvSpPr>
            <p:spPr>
              <a:xfrm>
                <a:off x="609600" y="1386025"/>
                <a:ext cx="10985500" cy="1631216"/>
              </a:xfrm>
              <a:prstGeom prst="rect">
                <a:avLst/>
              </a:prstGeom>
              <a:blipFill>
                <a:blip r:embed="rId6"/>
                <a:stretch>
                  <a:fillRect l="-578" t="-1538" b="-5385"/>
                </a:stretch>
              </a:blipFill>
            </p:spPr>
            <p:txBody>
              <a:bodyPr/>
              <a:lstStyle/>
              <a:p>
                <a:r>
                  <a:rPr lang="en-US">
                    <a:noFill/>
                  </a:rPr>
                  <a:t> </a:t>
                </a:r>
              </a:p>
            </p:txBody>
          </p:sp>
        </mc:Fallback>
      </mc:AlternateContent>
      <p:sp>
        <p:nvSpPr>
          <p:cNvPr id="10" name="Google Shape;282;g104476d1465_1_17"/>
          <p:cNvSpPr txBox="1"/>
          <p:nvPr/>
        </p:nvSpPr>
        <p:spPr>
          <a:xfrm>
            <a:off x="8842248"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110</a:t>
            </a:r>
            <a:endParaRPr i="1" dirty="0">
              <a:latin typeface="Calibri"/>
              <a:ea typeface="Calibri"/>
              <a:cs typeface="Calibri"/>
              <a:sym typeface="Calibri"/>
            </a:endParaRPr>
          </a:p>
        </p:txBody>
      </p:sp>
    </p:spTree>
    <p:extLst>
      <p:ext uri="{BB962C8B-B14F-4D97-AF65-F5344CB8AC3E}">
        <p14:creationId xmlns:p14="http://schemas.microsoft.com/office/powerpoint/2010/main" val="553995615"/>
      </p:ext>
    </p:extLst>
  </p:cSld>
  <p:clrMapOvr>
    <a:masterClrMapping/>
  </p:clrMapOvr>
</p:sld>
</file>

<file path=ppt/theme/theme1.xml><?xml version="1.0" encoding="utf-8"?>
<a:theme xmlns:a="http://schemas.openxmlformats.org/drawingml/2006/main" name="1_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1829</TotalTime>
  <Words>1181</Words>
  <Application>Microsoft Office PowerPoint</Application>
  <PresentationFormat>Widescreen</PresentationFormat>
  <Paragraphs>227</Paragraphs>
  <Slides>24</Slides>
  <Notes>24</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24</vt:i4>
      </vt:variant>
    </vt:vector>
  </HeadingPairs>
  <TitlesOfParts>
    <vt:vector size="33" baseType="lpstr">
      <vt:lpstr>Verdana</vt:lpstr>
      <vt:lpstr>Times New Roman</vt:lpstr>
      <vt:lpstr>Wingdings</vt:lpstr>
      <vt:lpstr>Century Gothic</vt:lpstr>
      <vt:lpstr>Calibri</vt:lpstr>
      <vt:lpstr>Arial Black</vt:lpstr>
      <vt:lpstr>Cambria Math</vt:lpstr>
      <vt:lpstr>Arial</vt:lpstr>
      <vt:lpstr>1_Office Theme</vt:lpstr>
      <vt:lpstr>8th Grade Math: Pre-Algebra  Unit 9, Lesson 9  Scale Factors of Dilations  Volume 2, pg. 105  </vt:lpstr>
      <vt:lpstr>Benchmarks</vt:lpstr>
      <vt:lpstr>PowerPoint Presentation</vt:lpstr>
      <vt:lpstr>PowerPoint Presentation</vt:lpstr>
      <vt:lpstr>Warm-Up</vt:lpstr>
      <vt:lpstr>PowerPoint Presentation</vt:lpstr>
      <vt:lpstr>Exploration</vt:lpstr>
      <vt:lpstr>PowerPoint Presentation</vt:lpstr>
      <vt:lpstr>PowerPoint Presentation</vt:lpstr>
      <vt:lpstr>PowerPoint Presentation</vt:lpstr>
      <vt:lpstr>PowerPoint Presentation</vt:lpstr>
      <vt:lpstr>PowerPoint Presentation</vt:lpstr>
      <vt:lpstr>PowerPoint Presentation</vt:lpstr>
      <vt:lpstr>Collaboration</vt:lpstr>
      <vt:lpstr>PowerPoint Presentation</vt:lpstr>
      <vt:lpstr>PowerPoint Presentation</vt:lpstr>
      <vt:lpstr>PowerPoint Presentation</vt:lpstr>
      <vt:lpstr>PowerPoint Presentation</vt:lpstr>
      <vt:lpstr>Guided Practice</vt:lpstr>
      <vt:lpstr>PowerPoint Presentation</vt:lpstr>
      <vt:lpstr>PowerPoint Presentation</vt:lpstr>
      <vt:lpstr>PowerPoint Presentation</vt:lpstr>
      <vt:lpstr>Wrap-Up</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Algebra 2 Unit 4 Lesson 4</dc:title>
  <dc:creator>Karen McKenzie</dc:creator>
  <cp:lastModifiedBy>Natasha Dease</cp:lastModifiedBy>
  <cp:revision>33</cp:revision>
  <dcterms:created xsi:type="dcterms:W3CDTF">2015-03-17T18:51:18Z</dcterms:created>
  <dcterms:modified xsi:type="dcterms:W3CDTF">2022-06-17T18:44:10Z</dcterms:modified>
</cp:coreProperties>
</file>