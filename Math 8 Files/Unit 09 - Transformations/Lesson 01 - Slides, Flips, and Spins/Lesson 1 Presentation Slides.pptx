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4" r:id="rId9"/>
    <p:sldId id="315" r:id="rId10"/>
    <p:sldId id="352" r:id="rId11"/>
    <p:sldId id="362" r:id="rId12"/>
    <p:sldId id="289" r:id="rId13"/>
    <p:sldId id="290" r:id="rId14"/>
    <p:sldId id="363" r:id="rId15"/>
    <p:sldId id="364" r:id="rId16"/>
    <p:sldId id="365" r:id="rId17"/>
    <p:sldId id="311" r:id="rId18"/>
    <p:sldId id="312" r:id="rId19"/>
    <p:sldId id="356" r:id="rId20"/>
    <p:sldId id="353" r:id="rId21"/>
    <p:sldId id="366" r:id="rId22"/>
    <p:sldId id="367" r:id="rId23"/>
    <p:sldId id="368" r:id="rId24"/>
    <p:sldId id="369" r:id="rId25"/>
    <p:sldId id="371" r:id="rId26"/>
    <p:sldId id="307" r:id="rId27"/>
    <p:sldId id="370" r:id="rId28"/>
    <p:sldId id="306" r:id="rId29"/>
    <p:sldId id="372" r:id="rId30"/>
  </p:sldIdLst>
  <p:sldSz cx="12192000" cy="6858000"/>
  <p:notesSz cx="6858000" cy="9144000"/>
  <p:embeddedFontLst>
    <p:embeddedFont>
      <p:font typeface="Arial Black" panose="020B0A04020102020204" pitchFamily="34" charset="0"/>
      <p:bold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mbria" panose="02040503050406030204" pitchFamily="18" charset="0"/>
      <p:regular r:id="rId37"/>
      <p:bold r:id="rId38"/>
      <p:italic r:id="rId39"/>
      <p:boldItalic r:id="rId40"/>
    </p:embeddedFont>
    <p:embeddedFont>
      <p:font typeface="Cambria Math" panose="02040503050406030204" pitchFamily="18" charset="0"/>
      <p:regular r:id="rId41"/>
    </p:embeddedFont>
    <p:embeddedFont>
      <p:font typeface="Century Gothic" panose="020B0502020202020204" pitchFamily="34" charset="0"/>
      <p:regular r:id="rId42"/>
      <p:bold r:id="rId43"/>
      <p:italic r:id="rId44"/>
      <p:boldItalic r:id="rId45"/>
    </p:embeddedFont>
    <p:embeddedFont>
      <p:font typeface="Verdana" panose="020B0604030504040204" pitchFamily="34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5B0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56" autoAdjust="0"/>
    <p:restoredTop sz="94687"/>
  </p:normalViewPr>
  <p:slideViewPr>
    <p:cSldViewPr snapToGrid="0">
      <p:cViewPr varScale="1">
        <p:scale>
          <a:sx n="60" d="100"/>
          <a:sy n="60" d="100"/>
        </p:scale>
        <p:origin x="102" y="4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font" Target="fonts/font1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016388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4596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3843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3220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93880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57751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16960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91678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16506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45755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34886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60279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2748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29624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82230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8842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hyperlink" Target="http://www.vecteezy.com/nature/54483-palm-tree-vector-free-vector-of-the-day-252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://www.vecteezy.com/nature/54483-palm-tree-vector-free-vector-of-the-day-252" TargetMode="Externa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www.vecteezy.com/nature/54483-palm-tree-vector-free-vector-of-the-day-252" TargetMode="External"/><Relationship Id="rId5" Type="http://schemas.openxmlformats.org/officeDocument/2006/relationships/image" Target="../media/image14.jpe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tiff"/><Relationship Id="rId4" Type="http://schemas.openxmlformats.org/officeDocument/2006/relationships/image" Target="../media/image17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if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0.png"/><Relationship Id="rId5" Type="http://schemas.openxmlformats.org/officeDocument/2006/relationships/image" Target="../media/image28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if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tiff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9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1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Slides, Flips, and Spins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57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696107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39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4257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609600" y="1462225"/>
            <a:ext cx="1092927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MA.8.GR.2.1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</a:t>
            </a:r>
            <a:r>
              <a:rPr lang="en-US" sz="35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preimage</a:t>
            </a: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and image generated by a single transformation, identify the transformation that describes the relationship.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550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3200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609600" y="1545590"/>
            <a:ext cx="1092927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42248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339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678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609599" y="1511300"/>
            <a:ext cx="1089049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show the mapping of a </a:t>
            </a:r>
            <a:r>
              <a:rPr lang="en-US" sz="35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preimage</a:t>
            </a: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to an image.</a:t>
            </a:r>
          </a:p>
          <a:p>
            <a:pPr marL="463550" indent="-463550">
              <a:buFont typeface="Wingdings" panose="05000000000000000000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describe relationships between figures after a slide, flip, or spin.</a:t>
            </a: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42248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7520" y="291312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3559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42248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1824" y="367935"/>
            <a:ext cx="80193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9.1.1 Warm-Up: Nutritionist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524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609600" y="1347333"/>
            <a:ext cx="109165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Sasha Bard is a registered dietitian nutritionist who works for the U.S. Department of Agriculture. A nutritionist, or dietitian, is an expert in food, health, and nutrition. Nutritionists are health professionals, so they work in a variety of settings. They work in hospitals helping patients, in grocery stores helping customers, and in gyms to help athletes perform their best.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something that surprised you about what a nutritionist does?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609600" y="583893"/>
            <a:ext cx="109165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Sasha recommends that students who may be interested in pursuing this field should get out and volunteer at a food pantry or soup kitchen.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do you think volunteering at a food pantry or soup kitchen would be helpful for someone interested in being a nutritionist?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455984" y="2830158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17520" y="2916936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42248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210956"/>
              </p:ext>
            </p:extLst>
          </p:nvPr>
        </p:nvGraphicFramePr>
        <p:xfrm>
          <a:off x="2288176" y="3711214"/>
          <a:ext cx="7061200" cy="22860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Movement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Description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A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227013">
                        <a:spcAft>
                          <a:spcPts val="1200"/>
                        </a:spcAft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slide</a:t>
                      </a:r>
                    </a:p>
                    <a:p>
                      <a:pPr marL="342900" indent="-227013">
                        <a:spcAft>
                          <a:spcPts val="1200"/>
                        </a:spcAft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flip</a:t>
                      </a:r>
                    </a:p>
                    <a:p>
                      <a:pPr marL="341313" indent="-225425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spin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3402601" y="4413524"/>
            <a:ext cx="3703320" cy="1371600"/>
            <a:chOff x="2247900" y="4290060"/>
            <a:chExt cx="3703320" cy="1371600"/>
          </a:xfrm>
        </p:grpSpPr>
        <p:sp>
          <p:nvSpPr>
            <p:cNvPr id="3" name="Rectangle 2"/>
            <p:cNvSpPr/>
            <p:nvPr/>
          </p:nvSpPr>
          <p:spPr>
            <a:xfrm>
              <a:off x="2247900" y="4290060"/>
              <a:ext cx="1371600" cy="137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dirty="0"/>
                <a:t>3</a:t>
              </a:r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579620" y="4290060"/>
              <a:ext cx="1371600" cy="137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dirty="0"/>
                <a:t>3</a:t>
              </a:r>
              <a:endParaRPr lang="en-US" dirty="0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3799840" y="4975860"/>
              <a:ext cx="685800" cy="0"/>
            </a:xfrm>
            <a:prstGeom prst="straightConnector1">
              <a:avLst/>
            </a:prstGeom>
            <a:ln cmpd="sng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622300" y="1348901"/>
            <a:ext cx="1090387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Felix is using palm tree wallpaper squares to create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design on his wall. He experiments with different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movements by sliding, flipping, and spinning squares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like the one shown.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movement shown in the table, identify the description of the movement Felix used.</a:t>
            </a:r>
          </a:p>
        </p:txBody>
      </p:sp>
      <p:pic>
        <p:nvPicPr>
          <p:cNvPr id="11" name="Picture 10" descr="Palm Tree Vector | Free Vector Art at Vecteezy!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434976" y="1464445"/>
            <a:ext cx="914400" cy="914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78" name="Google Shape;278;g104476d1465_1_17"/>
          <p:cNvSpPr/>
          <p:nvPr/>
        </p:nvSpPr>
        <p:spPr>
          <a:xfrm>
            <a:off x="0" y="111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80291" y="264298"/>
            <a:ext cx="10445886" cy="815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9.1.2 Collaboration: Describing Movements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5625" y="21492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Google Shape;282;g104476d1465_1_17"/>
          <p:cNvSpPr txBox="1"/>
          <p:nvPr/>
        </p:nvSpPr>
        <p:spPr>
          <a:xfrm>
            <a:off x="8842248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Picture 12" descr="Palm Tree Vector | Free Vector Art at Vecteezy!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31201" y="4642124"/>
            <a:ext cx="914400" cy="914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Picture 13" descr="Palm Tree Vector | Free Vector Art at Vecteezy!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rot="5400000">
            <a:off x="5962921" y="4664984"/>
            <a:ext cx="914400" cy="9144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96900" y="520393"/>
            <a:ext cx="109855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your responses with your partner and resolve any differences.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144758"/>
              </p:ext>
            </p:extLst>
          </p:nvPr>
        </p:nvGraphicFramePr>
        <p:xfrm>
          <a:off x="2301875" y="520393"/>
          <a:ext cx="7061200" cy="41148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Movement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Description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B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227013">
                        <a:spcAft>
                          <a:spcPts val="1200"/>
                        </a:spcAft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slide</a:t>
                      </a:r>
                    </a:p>
                    <a:p>
                      <a:pPr marL="342900" indent="-227013">
                        <a:spcAft>
                          <a:spcPts val="1200"/>
                        </a:spcAft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flip</a:t>
                      </a:r>
                    </a:p>
                    <a:p>
                      <a:pPr marL="341313" indent="-225425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spin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C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227013">
                        <a:spcAft>
                          <a:spcPts val="1200"/>
                        </a:spcAft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slide</a:t>
                      </a:r>
                    </a:p>
                    <a:p>
                      <a:pPr marL="342900" indent="-227013">
                        <a:spcAft>
                          <a:spcPts val="1200"/>
                        </a:spcAft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flip</a:t>
                      </a:r>
                    </a:p>
                    <a:p>
                      <a:pPr marL="341313" indent="-225425">
                        <a:buFont typeface="Courier New" pitchFamily="49" charset="0"/>
                        <a:buChar char="o"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spin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3446780" y="1203960"/>
            <a:ext cx="3703320" cy="1371600"/>
            <a:chOff x="2247900" y="4290060"/>
            <a:chExt cx="3703320" cy="1371600"/>
          </a:xfrm>
        </p:grpSpPr>
        <p:sp>
          <p:nvSpPr>
            <p:cNvPr id="12" name="Rectangle 11"/>
            <p:cNvSpPr/>
            <p:nvPr/>
          </p:nvSpPr>
          <p:spPr>
            <a:xfrm>
              <a:off x="2247900" y="4290060"/>
              <a:ext cx="1371600" cy="137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dirty="0"/>
                <a:t>3</a:t>
              </a:r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579620" y="4290060"/>
              <a:ext cx="1371600" cy="137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dirty="0"/>
                <a:t>3</a:t>
              </a:r>
              <a:endParaRPr lang="en-US" dirty="0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3799840" y="4975860"/>
              <a:ext cx="685800" cy="0"/>
            </a:xfrm>
            <a:prstGeom prst="straightConnector1">
              <a:avLst/>
            </a:prstGeom>
            <a:ln cmpd="sng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3446780" y="3063240"/>
            <a:ext cx="3703320" cy="1371600"/>
            <a:chOff x="2247900" y="4290060"/>
            <a:chExt cx="3703320" cy="1371600"/>
          </a:xfrm>
        </p:grpSpPr>
        <p:sp>
          <p:nvSpPr>
            <p:cNvPr id="17" name="Rectangle 16"/>
            <p:cNvSpPr/>
            <p:nvPr/>
          </p:nvSpPr>
          <p:spPr>
            <a:xfrm>
              <a:off x="2247900" y="4290060"/>
              <a:ext cx="1371600" cy="137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dirty="0"/>
                <a:t>3</a:t>
              </a:r>
              <a:endParaRPr lang="en-US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579620" y="4290060"/>
              <a:ext cx="1371600" cy="137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dirty="0"/>
                <a:t>3</a:t>
              </a:r>
              <a:endParaRPr lang="en-US" dirty="0"/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>
              <a:off x="3799840" y="4975860"/>
              <a:ext cx="685800" cy="0"/>
            </a:xfrm>
            <a:prstGeom prst="straightConnector1">
              <a:avLst/>
            </a:prstGeom>
            <a:ln cmpd="sng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0" name="Picture 19" descr="Palm Tree Vector | Free Vector Art at Vecteezy!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533140" y="1582420"/>
            <a:ext cx="914400" cy="914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1" name="Picture 20" descr="Palm Tree Vector | Free Vector Art at Vecteezy!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159500" y="1582420"/>
            <a:ext cx="914400" cy="914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2" name="Picture 21" descr="Palm Tree Vector | Free Vector Art at Vecteezy!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533140" y="3291840"/>
            <a:ext cx="914400" cy="914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3" name="Picture 22" descr="Palm Tree Vector | Free Vector Art at Vecteezy!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flipH="1">
            <a:off x="6159500" y="3291840"/>
            <a:ext cx="914400" cy="9144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41022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622300" y="545794"/>
            <a:ext cx="1090387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Choose one of the movements and describe how you determined its type.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5138">
              <a:lnSpc>
                <a:spcPct val="200000"/>
              </a:lnSpc>
              <a:tabLst>
                <a:tab pos="4632325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determined movement	showed a	</a:t>
            </a:r>
          </a:p>
          <a:p>
            <a:pPr marL="465138">
              <a:lnSpc>
                <a:spcPct val="20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because…</a:t>
            </a:r>
          </a:p>
          <a:p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which type(s) of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movements you think Felix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used to create the design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shown.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2710" y="3429000"/>
            <a:ext cx="2832048" cy="2832048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42248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39923" y="1337057"/>
            <a:ext cx="787400" cy="1084421"/>
          </a:xfrm>
          <a:prstGeom prst="round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lrTx/>
              <a:buFont typeface="Courier New" pitchFamily="49" charset="0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Cambria"/>
              </a:rPr>
              <a:t>A</a:t>
            </a:r>
            <a:endParaRPr lang="en-US" sz="2000" dirty="0">
              <a:solidFill>
                <a:sysClr val="window" lastClr="FFFFFF"/>
              </a:solidFill>
              <a:latin typeface="Verdana" pitchFamily="34" charset="0"/>
              <a:ea typeface="Verdana" pitchFamily="34" charset="0"/>
              <a:cs typeface="Cambria"/>
            </a:endParaRPr>
          </a:p>
          <a:p>
            <a:pPr marL="285750" indent="-285750">
              <a:buClrTx/>
              <a:buFont typeface="Courier New" pitchFamily="49" charset="0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Cambria"/>
              </a:rPr>
              <a:t>B</a:t>
            </a:r>
            <a:endParaRPr lang="en-US" sz="2000" dirty="0">
              <a:solidFill>
                <a:sysClr val="window" lastClr="FFFFFF"/>
              </a:solidFill>
              <a:latin typeface="Verdana" pitchFamily="34" charset="0"/>
              <a:ea typeface="Verdana" pitchFamily="34" charset="0"/>
              <a:cs typeface="Cambria"/>
            </a:endParaRPr>
          </a:p>
          <a:p>
            <a:pPr marL="285750" indent="-285750">
              <a:spcAft>
                <a:spcPts val="1000"/>
              </a:spcAft>
              <a:buClrTx/>
              <a:buFont typeface="Courier New" pitchFamily="49" charset="0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Cambria"/>
              </a:rPr>
              <a:t>C</a:t>
            </a:r>
            <a:endParaRPr lang="en-US" sz="2000" dirty="0">
              <a:solidFill>
                <a:sysClr val="window" lastClr="FFFFFF"/>
              </a:solidFill>
              <a:latin typeface="Verdana" pitchFamily="34" charset="0"/>
              <a:ea typeface="Verdana" pitchFamily="34" charset="0"/>
              <a:cs typeface="Cambria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710820" y="1341296"/>
            <a:ext cx="1188720" cy="1123712"/>
          </a:xfrm>
          <a:prstGeom prst="round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lrTx/>
              <a:buFont typeface="Courier New" pitchFamily="49" charset="0"/>
              <a:buChar char="o"/>
            </a:pPr>
            <a:r>
              <a:rPr lang="en-US" sz="2000" dirty="0">
                <a:latin typeface="Verdana"/>
                <a:ea typeface="MS Mincho"/>
                <a:cs typeface="Cambria"/>
              </a:rPr>
              <a:t>slide</a:t>
            </a:r>
            <a:endParaRPr lang="en-US" sz="2000" dirty="0">
              <a:solidFill>
                <a:sysClr val="window" lastClr="FFFFFF"/>
              </a:solidFill>
              <a:latin typeface="Verdana" pitchFamily="34" charset="0"/>
              <a:ea typeface="Verdana" pitchFamily="34" charset="0"/>
              <a:cs typeface="Cambria"/>
            </a:endParaRPr>
          </a:p>
          <a:p>
            <a:pPr marL="285750" indent="-285750">
              <a:buClrTx/>
              <a:buFont typeface="Courier New" pitchFamily="49" charset="0"/>
              <a:buChar char="o"/>
            </a:pPr>
            <a:r>
              <a:rPr lang="en-US" sz="2000" dirty="0">
                <a:latin typeface="Verdana"/>
                <a:ea typeface="MS Mincho"/>
                <a:cs typeface="Cambria"/>
              </a:rPr>
              <a:t>flip</a:t>
            </a:r>
            <a:endParaRPr lang="en-US" sz="2000" dirty="0">
              <a:solidFill>
                <a:sysClr val="window" lastClr="FFFFFF"/>
              </a:solidFill>
              <a:latin typeface="Verdana" pitchFamily="34" charset="0"/>
              <a:ea typeface="Verdana" pitchFamily="34" charset="0"/>
              <a:cs typeface="Cambria"/>
            </a:endParaRPr>
          </a:p>
          <a:p>
            <a:pPr marL="285750" indent="-285750">
              <a:spcAft>
                <a:spcPts val="1000"/>
              </a:spcAft>
              <a:buClrTx/>
              <a:buFont typeface="Courier New" pitchFamily="49" charset="0"/>
              <a:buChar char="o"/>
            </a:pPr>
            <a:r>
              <a:rPr lang="en-US" sz="2000" dirty="0">
                <a:latin typeface="Verdana"/>
                <a:ea typeface="MS Mincho"/>
                <a:cs typeface="Cambria"/>
              </a:rPr>
              <a:t>spin</a:t>
            </a:r>
            <a:endParaRPr lang="en-US" sz="2000" dirty="0">
              <a:solidFill>
                <a:sysClr val="window" lastClr="FFFFFF"/>
              </a:solidFill>
              <a:latin typeface="Verdana" pitchFamily="34" charset="0"/>
              <a:ea typeface="Verdana" pitchFamily="34" charset="0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878687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449485" y="2833161"/>
            <a:ext cx="702623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17520" y="2916936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42248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066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13148" y="91360"/>
            <a:ext cx="987340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9.1.3 Guided Instruction: Preimages, Images, and Mapping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105" y="2032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609599" y="1397965"/>
            <a:ext cx="10906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geometry, when a figure is transformed from one position to another, the original figure is called the </a:t>
            </a:r>
            <a:r>
              <a:rPr lang="en-US" sz="24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preimage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and the figure that results after some kind of movement is called the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image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938289" y="3045738"/>
            <a:ext cx="5943600" cy="2228910"/>
            <a:chOff x="1728216" y="3024715"/>
            <a:chExt cx="5943600" cy="2228910"/>
          </a:xfrm>
        </p:grpSpPr>
        <p:sp>
          <p:nvSpPr>
            <p:cNvPr id="12" name="Rectangle 11"/>
            <p:cNvSpPr/>
            <p:nvPr/>
          </p:nvSpPr>
          <p:spPr>
            <a:xfrm>
              <a:off x="1728216" y="3424825"/>
              <a:ext cx="2286000" cy="1828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dirty="0"/>
                <a:t>3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385816" y="3424825"/>
              <a:ext cx="2286000" cy="1828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dirty="0"/>
                <a:t>3</a:t>
              </a:r>
              <a:endParaRPr lang="en-US" dirty="0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4014216" y="4339225"/>
              <a:ext cx="1371600" cy="0"/>
            </a:xfrm>
            <a:prstGeom prst="straightConnector1">
              <a:avLst/>
            </a:prstGeom>
            <a:ln cmpd="sng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6" name="Picture 15" descr="Palm Tree Vector | Free Vector Art at Vecteezy!"/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tretch>
              <a:fillRect/>
            </a:stretch>
          </p:blipFill>
          <p:spPr>
            <a:xfrm>
              <a:off x="1838960" y="3882025"/>
              <a:ext cx="914400" cy="91440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17" name="Picture 16" descr="Palm Tree Vector | Free Vector Art at Vecteezy!"/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tretch>
              <a:fillRect/>
            </a:stretch>
          </p:blipFill>
          <p:spPr>
            <a:xfrm flipH="1">
              <a:off x="6650550" y="3882025"/>
              <a:ext cx="914400" cy="91440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4" name="Rectangle 3"/>
            <p:cNvSpPr/>
            <p:nvPr/>
          </p:nvSpPr>
          <p:spPr>
            <a:xfrm>
              <a:off x="2096004" y="3024715"/>
              <a:ext cx="155042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Preimage</a:t>
              </a:r>
              <a:endParaRPr lang="en-US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970810" y="3024715"/>
              <a:ext cx="111601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Image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09600" y="469593"/>
                <a:ext cx="10972800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𝑀𝐶𝑅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shown. Consider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𝑀𝐶𝑅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the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preimage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Imagine a copy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𝑀𝐶𝑅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slides along the dotted ray shown to create a new image,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𝑃𝐹𝑁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what you notice about the relationship between the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preimage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the image. Then, write a brief summary of your discussion.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69593"/>
                <a:ext cx="10972800" cy="5016758"/>
              </a:xfrm>
              <a:prstGeom prst="rect">
                <a:avLst/>
              </a:prstGeom>
              <a:blipFill>
                <a:blip r:embed="rId4"/>
                <a:stretch>
                  <a:fillRect l="-578" t="-504" r="-1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Line chart, polygon&#10;&#10;Description automatically generated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4200" y="1387592"/>
            <a:ext cx="5943600" cy="2265045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5783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405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19759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35290" y="520393"/>
                <a:ext cx="10489910" cy="5034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Notice that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preimage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resulted in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image. These are called </a:t>
                </a:r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corresponding points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each statement.</a:t>
                </a:r>
              </a:p>
              <a:p>
                <a:pPr marL="914400" indent="-457200">
                  <a:lnSpc>
                    <a:spcPct val="250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		 corresponds to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</a:t>
                </a:r>
              </a:p>
              <a:p>
                <a:pPr marL="914400" indent="-457200">
                  <a:lnSpc>
                    <a:spcPct val="250000"/>
                  </a:lnSpc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lnSpc>
                    <a:spcPct val="250000"/>
                  </a:lnSpc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𝐹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	        corresponds to point         on the </a:t>
                </a:r>
              </a:p>
              <a:p>
                <a:pPr marL="914400" indent="-457200">
                  <a:lnSpc>
                    <a:spcPct val="250000"/>
                  </a:lnSpc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lnSpc>
                    <a:spcPct val="250000"/>
                  </a:lnSpc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		 corresponds to point           on the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290" y="520393"/>
                <a:ext cx="10489910" cy="5034583"/>
              </a:xfrm>
              <a:prstGeom prst="rect">
                <a:avLst/>
              </a:prstGeom>
              <a:blipFill>
                <a:blip r:embed="rId4"/>
                <a:stretch>
                  <a:fillRect l="-483" t="-503" r="-966" b="-1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23440" y="1945846"/>
            <a:ext cx="1719396" cy="7829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7884" y="1945002"/>
            <a:ext cx="1727344" cy="7423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7266" y="3442742"/>
            <a:ext cx="678814" cy="7940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4804" y="4943240"/>
            <a:ext cx="741306" cy="8472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23440" y="4935112"/>
            <a:ext cx="1719396" cy="78293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4081" y="3509659"/>
            <a:ext cx="1537865" cy="70027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97856" y="3467428"/>
            <a:ext cx="1727344" cy="74237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9366" y="4995658"/>
            <a:ext cx="1727344" cy="742370"/>
          </a:xfrm>
          <a:prstGeom prst="rect">
            <a:avLst/>
          </a:prstGeom>
        </p:spPr>
      </p:pic>
      <p:sp>
        <p:nvSpPr>
          <p:cNvPr id="16" name="Google Shape;282;g104476d1465_1_17"/>
          <p:cNvSpPr txBox="1"/>
          <p:nvPr/>
        </p:nvSpPr>
        <p:spPr>
          <a:xfrm>
            <a:off x="8842248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1363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148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22300" y="520394"/>
                <a:ext cx="1096010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ray from point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point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shows the movement of the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preimage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the image. This is called a mapping and shows how one point is “mapped” onto another.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rays on the diagram to show the mapping of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their corresponding points in the image.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three rays together now show the mapping of the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preimage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𝑀𝐶𝑅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the image,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𝑃𝐹𝑁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because all of the vertices are shown to have the same movement.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00" y="520394"/>
                <a:ext cx="10960100" cy="3785652"/>
              </a:xfrm>
              <a:prstGeom prst="rect">
                <a:avLst/>
              </a:prstGeom>
              <a:blipFill>
                <a:blip r:embed="rId4"/>
                <a:stretch>
                  <a:fillRect l="-462" t="-669" r="-1272" b="-20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2130544" y="1488189"/>
            <a:ext cx="7930911" cy="925031"/>
            <a:chOff x="2031299" y="3411521"/>
            <a:chExt cx="7930911" cy="925748"/>
          </a:xfrm>
        </p:grpSpPr>
        <p:grpSp>
          <p:nvGrpSpPr>
            <p:cNvPr id="7" name="Group 6"/>
            <p:cNvGrpSpPr/>
            <p:nvPr/>
          </p:nvGrpSpPr>
          <p:grpSpPr>
            <a:xfrm>
              <a:off x="2031299" y="3411521"/>
              <a:ext cx="7930911" cy="925748"/>
              <a:chOff x="2031299" y="3411521"/>
              <a:chExt cx="7930911" cy="925748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2031300" y="3531034"/>
                <a:ext cx="6629400" cy="497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MS Mincho" panose="02020609040205080304" pitchFamily="49" charset="-128"/>
                    <a:cs typeface="Cambria" panose="02040503050406030204" pitchFamily="18" charset="0"/>
                  </a:rPr>
                  <a:t> </a:t>
                </a:r>
              </a:p>
            </p:txBody>
          </p:sp>
          <p:grpSp>
            <p:nvGrpSpPr>
              <p:cNvPr id="9" name="Group 8"/>
              <p:cNvGrpSpPr/>
              <p:nvPr/>
            </p:nvGrpSpPr>
            <p:grpSpPr>
              <a:xfrm>
                <a:off x="2031299" y="3411521"/>
                <a:ext cx="7930911" cy="925748"/>
                <a:chOff x="2031299" y="3411521"/>
                <a:chExt cx="7930911" cy="925748"/>
              </a:xfrm>
            </p:grpSpPr>
            <p:sp>
              <p:nvSpPr>
                <p:cNvPr id="10" name="Rectangle 9"/>
                <p:cNvSpPr/>
                <p:nvPr/>
              </p:nvSpPr>
              <p:spPr>
                <a:xfrm>
                  <a:off x="2031300" y="3531034"/>
                  <a:ext cx="6629400" cy="4979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sp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MS Mincho" panose="02020609040205080304" pitchFamily="49" charset="-128"/>
                      <a:cs typeface="Cambria" panose="02040503050406030204" pitchFamily="18" charset="0"/>
                    </a:rPr>
                    <a:t> </a:t>
                  </a:r>
                </a:p>
              </p:txBody>
            </p:sp>
            <p:grpSp>
              <p:nvGrpSpPr>
                <p:cNvPr id="11" name="Group 10"/>
                <p:cNvGrpSpPr/>
                <p:nvPr/>
              </p:nvGrpSpPr>
              <p:grpSpPr>
                <a:xfrm>
                  <a:off x="2031299" y="3411521"/>
                  <a:ext cx="7930911" cy="925748"/>
                  <a:chOff x="2031299" y="3411521"/>
                  <a:chExt cx="7930911" cy="925748"/>
                </a:xfrm>
              </p:grpSpPr>
              <p:sp>
                <p:nvSpPr>
                  <p:cNvPr id="13" name="Rectangle 12"/>
                  <p:cNvSpPr/>
                  <p:nvPr/>
                </p:nvSpPr>
                <p:spPr>
                  <a:xfrm>
                    <a:off x="2031300" y="3531034"/>
                    <a:ext cx="6629400" cy="4979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sp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MS Mincho" panose="02020609040205080304" pitchFamily="49" charset="-128"/>
                        <a:cs typeface="Cambria" panose="020405030504060302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15" name="Group 14"/>
                  <p:cNvGrpSpPr/>
                  <p:nvPr/>
                </p:nvGrpSpPr>
                <p:grpSpPr>
                  <a:xfrm>
                    <a:off x="2031299" y="3411521"/>
                    <a:ext cx="7930911" cy="925748"/>
                    <a:chOff x="-1" y="135786"/>
                    <a:chExt cx="7930911" cy="925748"/>
                  </a:xfrm>
                </p:grpSpPr>
                <p:sp>
                  <p:nvSpPr>
                    <p:cNvPr id="16" name="Rectangle 15"/>
                    <p:cNvSpPr/>
                    <p:nvPr/>
                  </p:nvSpPr>
                  <p:spPr>
                    <a:xfrm>
                      <a:off x="0" y="255299"/>
                      <a:ext cx="6629400" cy="4979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sp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 panose="02040503050406030204" pitchFamily="18" charset="0"/>
                          <a:ea typeface="MS Mincho" panose="02020609040205080304" pitchFamily="49" charset="-128"/>
                          <a:cs typeface="Cambria" panose="020405030504060302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17" name="Group 16"/>
                    <p:cNvGrpSpPr/>
                    <p:nvPr/>
                  </p:nvGrpSpPr>
                  <p:grpSpPr>
                    <a:xfrm>
                      <a:off x="-1" y="135786"/>
                      <a:ext cx="7930911" cy="925748"/>
                      <a:chOff x="-1" y="135786"/>
                      <a:chExt cx="7930911" cy="925748"/>
                    </a:xfrm>
                  </p:grpSpPr>
                  <p:sp>
                    <p:nvSpPr>
                      <p:cNvPr id="19" name="Rectangle 18"/>
                      <p:cNvSpPr/>
                      <p:nvPr/>
                    </p:nvSpPr>
                    <p:spPr>
                      <a:xfrm>
                        <a:off x="0" y="144224"/>
                        <a:ext cx="6629400" cy="497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sp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1200"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Cambria" panose="02040503050406030204" pitchFamily="18" charset="0"/>
                          </a:rPr>
                          <a:t> </a:t>
                        </a:r>
                      </a:p>
                    </p:txBody>
                  </p:sp>
                  <p:sp>
                    <p:nvSpPr>
                      <p:cNvPr id="20" name="Rectangle 19"/>
                      <p:cNvSpPr/>
                      <p:nvPr/>
                    </p:nvSpPr>
                    <p:spPr>
                      <a:xfrm>
                        <a:off x="0" y="144224"/>
                        <a:ext cx="6629400" cy="497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sp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1200"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Cambria" panose="02040503050406030204" pitchFamily="18" charset="0"/>
                          </a:rPr>
                          <a:t> </a:t>
                        </a:r>
                      </a:p>
                    </p:txBody>
                  </p:sp>
                  <p:sp>
                    <p:nvSpPr>
                      <p:cNvPr id="21" name="Rounded Rectangle 20"/>
                      <p:cNvSpPr/>
                      <p:nvPr/>
                    </p:nvSpPr>
                    <p:spPr>
                      <a:xfrm>
                        <a:off x="-1" y="135786"/>
                        <a:ext cx="7930911" cy="925748"/>
                      </a:xfrm>
                      <a:prstGeom prst="roundRect">
                        <a:avLst>
                          <a:gd name="adj" fmla="val 16667"/>
                        </a:avLst>
                      </a:prstGeom>
                      <a:solidFill>
                        <a:srgbClr val="B8E6F5"/>
                      </a:solidFill>
                      <a:ln>
                        <a:noFill/>
                      </a:ln>
                      <a:effectLst>
                        <a:outerShdw blurRad="50800" dist="38100" dir="2700000" algn="tl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txBody>
                      <a:bodyPr spcFirstLastPara="1" wrap="square" lIns="91425" tIns="45700" rIns="91425" bIns="45700" anchor="ctr" anchorCtr="0">
                        <a:spAutoFit/>
                      </a:bodyPr>
                      <a:lstStyle/>
                      <a:p>
                        <a:pPr marL="685800">
                          <a:spcAft>
                            <a:spcPts val="1000"/>
                          </a:spcAft>
                        </a:pPr>
                        <a:r>
                          <a:rPr lang="en-US" sz="2000" dirty="0">
                            <a:solidFill>
                              <a:srgbClr val="00619E"/>
                            </a:solidFill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a:t>A </a:t>
                        </a:r>
                        <a:r>
                          <a:rPr lang="en-US" sz="2000" b="1" dirty="0">
                            <a:solidFill>
                              <a:srgbClr val="00619E"/>
                            </a:solidFill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a:t>mapping </a:t>
                        </a:r>
                        <a:r>
                          <a:rPr lang="en-US" sz="2000" dirty="0">
                            <a:solidFill>
                              <a:srgbClr val="00619E"/>
                            </a:solidFill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a:t>is a standardized form of showing how the </a:t>
                        </a:r>
                        <a:r>
                          <a:rPr lang="en-US" sz="2000" dirty="0" err="1">
                            <a:solidFill>
                              <a:srgbClr val="00619E"/>
                            </a:solidFill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a:t>preimage</a:t>
                        </a:r>
                        <a:r>
                          <a:rPr lang="en-US" sz="2000" dirty="0">
                            <a:solidFill>
                              <a:srgbClr val="00619E"/>
                            </a:solidFill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a:t> moves, or transforms, to the image. </a:t>
                        </a:r>
                        <a:endParaRPr lang="en-US" sz="2000" dirty="0">
                          <a:latin typeface="Cambria" panose="02040503050406030204" pitchFamily="18" charset="0"/>
                          <a:ea typeface="MS Mincho" panose="02020609040205080304" pitchFamily="49" charset="-128"/>
                          <a:cs typeface="Cambria" panose="02040503050406030204" pitchFamily="18" charset="0"/>
                        </a:endParaRPr>
                      </a:p>
                    </p:txBody>
                  </p:sp>
                </p:grpSp>
                <p:pic>
                  <p:nvPicPr>
                    <p:cNvPr id="18" name="Shape 27" descr="Icon&#10;&#10;Description automatically generated"/>
                    <p:cNvPicPr preferRelativeResize="0"/>
                    <p:nvPr/>
                  </p:nvPicPr>
                  <p:blipFill rotWithShape="1">
                    <a:blip r:embed="rId5" cstate="screen">
                      <a:alphaModFix/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157827" y="249640"/>
                      <a:ext cx="539750" cy="5397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</p:pic>
              </p:grpSp>
            </p:grpSp>
          </p:grpSp>
        </p:grpSp>
      </p:grpSp>
      <p:sp>
        <p:nvSpPr>
          <p:cNvPr id="22" name="Google Shape;282;g104476d1465_1_17"/>
          <p:cNvSpPr txBox="1"/>
          <p:nvPr/>
        </p:nvSpPr>
        <p:spPr>
          <a:xfrm>
            <a:off x="8842248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1415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460068" y="283220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17520" y="2916936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hart, line chart&#10;&#10;Description automatically generated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58" t="2685" r="9861" b="3019"/>
          <a:stretch/>
        </p:blipFill>
        <p:spPr>
          <a:xfrm>
            <a:off x="7426288" y="1368065"/>
            <a:ext cx="2961296" cy="3596640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08193" y="69491"/>
            <a:ext cx="981898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9.1.4 Exploration: Images and Preimages in Slides, Flips, and Spins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9570" y="34704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609600" y="1386026"/>
                <a:ext cx="10891176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𝑀𝑅𝑆𝑇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flipped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across line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create quadrilateral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𝐻𝐾𝐿𝑋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so that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aligns with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dotted ray shows the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mapping of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mapping of the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vertices of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𝑀𝑅𝑆𝑇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the vertices of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𝐻𝐾𝐿𝑋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386026"/>
                <a:ext cx="10891176" cy="3477875"/>
              </a:xfrm>
              <a:prstGeom prst="rect">
                <a:avLst/>
              </a:prstGeom>
              <a:blipFill>
                <a:blip r:embed="rId6"/>
                <a:stretch>
                  <a:fillRect l="-583" t="-725" b="-1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42248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622300" y="520393"/>
            <a:ext cx="10891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by working with your partner to find each measure using rulers and protractors.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804269"/>
                  </p:ext>
                </p:extLst>
              </p:nvPr>
            </p:nvGraphicFramePr>
            <p:xfrm>
              <a:off x="3032829" y="1411557"/>
              <a:ext cx="6583680" cy="353568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Side Length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(cm)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Side Length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(cm)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𝑀𝑅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𝐻𝐾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𝑅𝑆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𝐾𝐿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𝑆𝑇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𝐿𝑋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𝑇𝑀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𝑋𝐻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804269"/>
                  </p:ext>
                </p:extLst>
              </p:nvPr>
            </p:nvGraphicFramePr>
            <p:xfrm>
              <a:off x="3032829" y="1411557"/>
              <a:ext cx="6583680" cy="353568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92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Side Length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(cm)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Side Length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(cm)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4" t="-120370" r="-261806" b="-3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1250" t="-120370" r="-81250" b="-3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4" t="-220370" r="-261806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1250" t="-220370" r="-81250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4" t="-320370" r="-261806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1250" t="-320370" r="-81250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4" t="-420370" r="-261806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1250" t="-420370" r="-81250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42248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1598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09600" y="4462242"/>
                <a:ext cx="1087847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 you notice about the side lengths and angle measures of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𝑀𝑅𝑆𝑇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𝐻𝐾𝐿𝑋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462242"/>
                <a:ext cx="10878476" cy="707886"/>
              </a:xfrm>
              <a:prstGeom prst="rect">
                <a:avLst/>
              </a:prstGeom>
              <a:blipFill>
                <a:blip r:embed="rId4"/>
                <a:stretch>
                  <a:fillRect t="-526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0317007"/>
                  </p:ext>
                </p:extLst>
              </p:nvPr>
            </p:nvGraphicFramePr>
            <p:xfrm>
              <a:off x="3016866" y="483203"/>
              <a:ext cx="6583680" cy="353568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6460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 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 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𝑀𝑅𝑆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𝐻𝐾𝐿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𝑅𝑆𝑇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𝐾𝐿𝑋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𝑆𝑇𝑀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𝐿𝑋𝐻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𝑇𝑀𝑅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𝑋𝐻𝐾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0317007"/>
                  </p:ext>
                </p:extLst>
              </p:nvPr>
            </p:nvGraphicFramePr>
            <p:xfrm>
              <a:off x="3016866" y="483203"/>
              <a:ext cx="6583680" cy="353568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6304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92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5000" t="-3175" r="-225000" b="-3460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</a:t>
                          </a: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52174" t="-3175" r="-1739" b="-3460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4" t="-120370" r="-261806" b="-3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250" t="-120370" r="-81250" b="-3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4" t="-220370" r="-261806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250" t="-220370" r="-81250" b="-2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4" t="-320370" r="-261806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250" t="-320370" r="-81250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4" t="-420370" r="-261806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250" t="-420370" r="-81250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42248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2285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hart, line chart&#10;&#10;Description automatically generated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042" t="7343" r="11589" b="8754"/>
          <a:stretch/>
        </p:blipFill>
        <p:spPr>
          <a:xfrm>
            <a:off x="3588153" y="1564243"/>
            <a:ext cx="5166360" cy="2621280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44062" y="651022"/>
                <a:ext cx="10903876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image,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𝑁𝐶𝐹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is shown after sliding the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preimage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𝑊𝑌𝑍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along the dotted ray.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mapping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𝑊𝑌𝑍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𝑁𝐶𝐹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062" y="651022"/>
                <a:ext cx="10903876" cy="5016758"/>
              </a:xfrm>
              <a:prstGeom prst="rect">
                <a:avLst/>
              </a:prstGeom>
              <a:blipFill>
                <a:blip r:embed="rId5"/>
                <a:stretch>
                  <a:fillRect l="-615" t="-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96982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09600" y="520393"/>
                <a:ext cx="10985500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by working with your partner to find each measure using rulers and protractors.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the relationship between the side lengths and angle measures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𝑊𝑌𝑍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𝑁𝐶𝐹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with your partner.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20393"/>
                <a:ext cx="10985500" cy="5940088"/>
              </a:xfrm>
              <a:prstGeom prst="rect">
                <a:avLst/>
              </a:prstGeom>
              <a:blipFill>
                <a:blip r:embed="rId4"/>
                <a:stretch>
                  <a:fillRect t="-426" r="-578" b="-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2263437"/>
                  </p:ext>
                </p:extLst>
              </p:nvPr>
            </p:nvGraphicFramePr>
            <p:xfrm>
              <a:off x="3045861" y="1340894"/>
              <a:ext cx="7132320" cy="42062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7373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373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Side Length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(cm)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Side Length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(cm)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𝑊𝑌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𝑁𝐶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𝑌𝑍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𝐶𝐹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𝑊𝑍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𝑁𝐹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 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 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𝑊𝑌𝑍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𝑁𝐶𝐹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𝑌𝑍𝑊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𝐶𝐹𝑁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𝑍𝑊𝑌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𝐹𝑁𝐶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2263437"/>
                  </p:ext>
                </p:extLst>
              </p:nvPr>
            </p:nvGraphicFramePr>
            <p:xfrm>
              <a:off x="3045861" y="1340894"/>
              <a:ext cx="7132320" cy="420624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7373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373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924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Side Length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(cm)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Side Length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(cm)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68421" r="-312409" b="-61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5839" t="-168421" r="-106569" b="-61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261538" r="-312409" b="-4974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5839" t="-261538" r="-106569" b="-4974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371053" r="-312409" b="-4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5839" t="-371053" r="-106569" b="-4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4483" t="-458974" r="-19517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0972" t="-458974" r="-1389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573684" r="-312409" b="-2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5839" t="-573684" r="-106569" b="-2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656410" r="-312409" b="-1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5839" t="-656410" r="-106569" b="-1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776316" r="-312409" b="-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5839" t="-776316" r="-106569" b="-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73252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02939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09600" y="520394"/>
                <a:ext cx="10985500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Trapezoid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𝐿𝐻𝐹𝐵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spun around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create trapezoid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𝑋𝑀𝑊𝑃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angle shown,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90°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provides a mapping of one set of vertices for the spin. Each point on trapezoid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𝐿𝐻𝐹𝐵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forms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90°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with the corresponding point on trapezoid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𝑋𝑀𝑊𝑃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with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its vertex.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20394"/>
                <a:ext cx="10985500" cy="5016758"/>
              </a:xfrm>
              <a:prstGeom prst="rect">
                <a:avLst/>
              </a:prstGeom>
              <a:blipFill>
                <a:blip r:embed="rId4"/>
                <a:stretch>
                  <a:fillRect l="-578" t="-505" b="-1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hart, line chart&#10;&#10;Description automatically generated"/>
          <p:cNvPicPr/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955635" y="1343277"/>
            <a:ext cx="4431396" cy="28704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32520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7897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96900" y="520393"/>
            <a:ext cx="10985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5138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by working with your partner to find each measure using rulers and protractors.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3466833"/>
                  </p:ext>
                </p:extLst>
              </p:nvPr>
            </p:nvGraphicFramePr>
            <p:xfrm>
              <a:off x="2626128" y="1376213"/>
              <a:ext cx="7132320" cy="487070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7373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373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Side Length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(cm)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Side Length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(cm)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𝐿𝐻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𝑋𝑀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𝐻𝐹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spc="-50" baseline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spc="-50" baseline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𝑀𝑊</m:t>
                              </m:r>
                            </m:oMath>
                          </a14:m>
                          <a:endParaRPr lang="en-US" sz="2000" spc="-50" baseline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𝐹𝐵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𝑊𝑃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𝐵𝐿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𝑃𝑋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 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 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𝐵𝐿𝐻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𝑃𝑋𝑀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𝐿𝐻𝐹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𝑋𝑀𝑊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𝐻𝐹𝐵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𝑀𝑊𝑃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𝐹𝐵𝐿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𝑊𝑃𝑋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3466833"/>
                  </p:ext>
                </p:extLst>
              </p:nvPr>
            </p:nvGraphicFramePr>
            <p:xfrm>
              <a:off x="2626128" y="1376213"/>
              <a:ext cx="7132320" cy="487070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7373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373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5590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Side Length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(cm)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Side Length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(cm)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0" t="-169444" r="-311679" b="-8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6569" t="-169444" r="-105839" b="-8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0" t="-269444" r="-311679" b="-7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6569" t="-269444" r="-105839" b="-7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0" t="-369444" r="-311679" b="-6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6569" t="-369444" r="-105839" b="-6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0" t="-469444" r="-311679" b="-5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6569" t="-469444" r="-105839" b="-5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5172" t="-569444" r="-194483" b="-4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1667" t="-569444" r="-694" b="-4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0" t="-669444" r="-311679" b="-3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6569" t="-669444" r="-105839" b="-3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0" t="-769444" r="-311679" b="-2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6569" t="-769444" r="-105839" b="-2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0" t="-869444" r="-311679" b="-1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6569" t="-869444" r="-105839" b="-1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0" t="-969444" r="-311679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6569" t="-969444" r="-105839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5720" marR="45720" marT="73152" marB="73152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732520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6766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455984" y="2830158"/>
            <a:ext cx="644334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17520" y="2916936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3547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622300" y="1355947"/>
            <a:ext cx="10947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Review the three movements explored in today’s lesson – slides, flips, and spins.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Identify whether each movement preserves distance (side length) and angle measure. Complete the table below by selecting “yes” or “no” based on your observations.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809011"/>
              </p:ext>
            </p:extLst>
          </p:nvPr>
        </p:nvGraphicFramePr>
        <p:xfrm>
          <a:off x="3149593" y="3325644"/>
          <a:ext cx="5943600" cy="31089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87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Movement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Is distance </a:t>
                      </a:r>
                      <a:b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(side length) preserved?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Are angle measures preserved?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73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Slide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Yes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No </a:t>
                      </a:r>
                    </a:p>
                  </a:txBody>
                  <a:tcPr marL="5486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Yes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No </a:t>
                      </a:r>
                    </a:p>
                  </a:txBody>
                  <a:tcPr marL="5486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73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Flip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Yes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No </a:t>
                      </a:r>
                    </a:p>
                  </a:txBody>
                  <a:tcPr marL="5486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Yes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No </a:t>
                      </a:r>
                    </a:p>
                  </a:txBody>
                  <a:tcPr marL="5486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73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Spin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Yes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No </a:t>
                      </a:r>
                    </a:p>
                  </a:txBody>
                  <a:tcPr marL="5486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Yes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No </a:t>
                      </a:r>
                    </a:p>
                  </a:txBody>
                  <a:tcPr marL="5486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Google Shape;282;g104476d1465_1_17"/>
          <p:cNvSpPr txBox="1"/>
          <p:nvPr/>
        </p:nvSpPr>
        <p:spPr>
          <a:xfrm>
            <a:off x="8842248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51524" y="10923"/>
            <a:ext cx="1063876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9.1.5 Bring It Together: Describing the Relationship Between Figures After a Slide, Flip, or Spin</a:t>
            </a:r>
          </a:p>
        </p:txBody>
      </p:sp>
      <p:pic>
        <p:nvPicPr>
          <p:cNvPr id="14" name="Picture 2" descr="Icon&#10;&#10;Description automatically generated">
            <a:extLst>
              <a:ext uri="{FF2B5EF4-FFF2-40B4-BE49-F238E27FC236}">
                <a16:creationId xmlns:a16="http://schemas.microsoft.com/office/drawing/2014/main" id="{649008E9-40B8-C74A-99EE-3168B937C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1716" y="27511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622300" y="343932"/>
            <a:ext cx="10947400" cy="4223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Figures are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congruent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if all corresponding parts of the figures are congruent.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statements.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When a slide, flip, or spin is performed on a figure, the </a:t>
            </a:r>
          </a:p>
          <a:p>
            <a:pPr marL="457200">
              <a:lnSpc>
                <a:spcPct val="300000"/>
              </a:lnSpc>
              <a:tabLst>
                <a:tab pos="2003425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corresponding side lengths of the preimage and image	          the same length and the angle measures 	                  the same measure. Therefore, the preimage and image are	                      figures.</a:t>
            </a: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32520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38050" y="2121611"/>
            <a:ext cx="1463040" cy="783193"/>
          </a:xfrm>
          <a:prstGeom prst="round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31775" indent="-231775">
              <a:buClrTx/>
              <a:buFont typeface="Courier New" pitchFamily="49" charset="0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Cambria"/>
              </a:rPr>
              <a:t>are</a:t>
            </a:r>
            <a:endParaRPr lang="en-US" sz="2000" dirty="0">
              <a:solidFill>
                <a:sysClr val="window" lastClr="FFFFFF"/>
              </a:solidFill>
              <a:latin typeface="Verdana" pitchFamily="34" charset="0"/>
              <a:ea typeface="Verdana" pitchFamily="34" charset="0"/>
              <a:cs typeface="Cambria"/>
            </a:endParaRPr>
          </a:p>
          <a:p>
            <a:pPr marL="231775" indent="-231775">
              <a:spcAft>
                <a:spcPts val="1000"/>
              </a:spcAft>
              <a:buClrTx/>
              <a:buFont typeface="Courier New" pitchFamily="49" charset="0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Cambria"/>
              </a:rPr>
              <a:t>are not</a:t>
            </a:r>
            <a:endParaRPr lang="en-US" sz="2000" dirty="0">
              <a:solidFill>
                <a:sysClr val="window" lastClr="FFFFFF"/>
              </a:solidFill>
              <a:latin typeface="Verdana" pitchFamily="34" charset="0"/>
              <a:ea typeface="Verdana" pitchFamily="34" charset="0"/>
              <a:cs typeface="Cambria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293360" y="3037403"/>
            <a:ext cx="1463040" cy="783193"/>
          </a:xfrm>
          <a:prstGeom prst="round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31775" indent="-231775">
              <a:buClrTx/>
              <a:buFont typeface="Courier New" pitchFamily="49" charset="0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Cambria"/>
              </a:rPr>
              <a:t>are</a:t>
            </a:r>
            <a:endParaRPr lang="en-US" sz="2000" dirty="0">
              <a:solidFill>
                <a:sysClr val="window" lastClr="FFFFFF"/>
              </a:solidFill>
              <a:latin typeface="Verdana" pitchFamily="34" charset="0"/>
              <a:ea typeface="Verdana" pitchFamily="34" charset="0"/>
              <a:cs typeface="Cambria"/>
            </a:endParaRPr>
          </a:p>
          <a:p>
            <a:pPr marL="231775" indent="-231775">
              <a:spcAft>
                <a:spcPts val="1000"/>
              </a:spcAft>
              <a:buClrTx/>
              <a:buFont typeface="Courier New" pitchFamily="49" charset="0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Cambria"/>
              </a:rPr>
              <a:t>are not</a:t>
            </a:r>
            <a:endParaRPr lang="en-US" sz="2000" dirty="0">
              <a:solidFill>
                <a:sysClr val="window" lastClr="FFFFFF"/>
              </a:solidFill>
              <a:latin typeface="Verdana" pitchFamily="34" charset="0"/>
              <a:ea typeface="Verdana" pitchFamily="34" charset="0"/>
              <a:cs typeface="Cambria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78960" y="3977333"/>
            <a:ext cx="1828800" cy="783193"/>
          </a:xfrm>
          <a:prstGeom prst="round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31775" indent="-231775">
              <a:buClrTx/>
              <a:buFont typeface="Courier New" pitchFamily="49" charset="0"/>
              <a:buChar char="o"/>
            </a:pPr>
            <a:r>
              <a:rPr lang="en-US" sz="2000" dirty="0">
                <a:latin typeface="Verdana"/>
                <a:ea typeface="MS Mincho"/>
                <a:cs typeface="Cambria"/>
              </a:rPr>
              <a:t>congruent</a:t>
            </a:r>
            <a:endParaRPr lang="en-US" sz="2000" dirty="0">
              <a:solidFill>
                <a:sysClr val="window" lastClr="FFFFFF"/>
              </a:solidFill>
              <a:latin typeface="Verdana" pitchFamily="34" charset="0"/>
              <a:ea typeface="Verdana" pitchFamily="34" charset="0"/>
              <a:cs typeface="Cambria"/>
            </a:endParaRPr>
          </a:p>
          <a:p>
            <a:pPr marL="231775" indent="-231775">
              <a:spcAft>
                <a:spcPts val="1000"/>
              </a:spcAft>
              <a:buClrTx/>
              <a:buFont typeface="Courier New" pitchFamily="49" charset="0"/>
              <a:buChar char="o"/>
            </a:pPr>
            <a:r>
              <a:rPr lang="en-US" sz="2000" dirty="0">
                <a:latin typeface="Verdana"/>
                <a:ea typeface="MS Mincho"/>
                <a:cs typeface="Cambria"/>
              </a:rPr>
              <a:t>similar</a:t>
            </a:r>
            <a:endParaRPr lang="en-US" sz="2000" dirty="0">
              <a:solidFill>
                <a:sysClr val="window" lastClr="FFFFFF"/>
              </a:solidFill>
              <a:latin typeface="Verdana" pitchFamily="34" charset="0"/>
              <a:ea typeface="Verdana" pitchFamily="34" charset="0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4045557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890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12139" y="2779100"/>
            <a:ext cx="406753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17520" y="2916936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42248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ird, plant&#10;&#10;Description automatically generated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7137" y="2143358"/>
            <a:ext cx="4871925" cy="438587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72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45112" y="144775"/>
            <a:ext cx="9479476" cy="66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9.1.6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4524" y="1025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609599" y="1097270"/>
            <a:ext cx="109007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a point on the grid below to indicate your level of interest and how much sense you made of today’s learning targets.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65138">
              <a:buFont typeface="Wingdings" panose="05000000000000000000" pitchFamily="2" charset="2"/>
              <a:buChar char="q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show the mapping of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preimage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to an image.</a:t>
            </a:r>
          </a:p>
          <a:p>
            <a:pPr marL="914400" indent="-465138">
              <a:buFont typeface="Wingdings" panose="05000000000000000000" pitchFamily="2" charset="2"/>
              <a:buChar char="q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65138">
              <a:buFont typeface="Wingdings" panose="05000000000000000000" pitchFamily="2" charset="2"/>
              <a:buChar char="q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describe relationships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between figures after a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slide, flip, or spin.</a:t>
            </a: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4224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256418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2468</TotalTime>
  <Words>1572</Words>
  <Application>Microsoft Office PowerPoint</Application>
  <PresentationFormat>Widescreen</PresentationFormat>
  <Paragraphs>392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Arial</vt:lpstr>
      <vt:lpstr>Cambria</vt:lpstr>
      <vt:lpstr>Verdana</vt:lpstr>
      <vt:lpstr>Wingdings</vt:lpstr>
      <vt:lpstr>Century Gothic</vt:lpstr>
      <vt:lpstr>Calibri</vt:lpstr>
      <vt:lpstr>Arial Black</vt:lpstr>
      <vt:lpstr>Courier New</vt:lpstr>
      <vt:lpstr>Cambria Math</vt:lpstr>
      <vt:lpstr>1_Office Theme</vt:lpstr>
      <vt:lpstr>8th Grade Math: Pre-Algebra  Unit 9, Lesson 1  Slides, Flips, and Spins  Volume 2, pg. 57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vaanmx</cp:lastModifiedBy>
  <cp:revision>57</cp:revision>
  <dcterms:created xsi:type="dcterms:W3CDTF">2015-03-17T18:51:18Z</dcterms:created>
  <dcterms:modified xsi:type="dcterms:W3CDTF">2022-06-17T22:19:37Z</dcterms:modified>
</cp:coreProperties>
</file>