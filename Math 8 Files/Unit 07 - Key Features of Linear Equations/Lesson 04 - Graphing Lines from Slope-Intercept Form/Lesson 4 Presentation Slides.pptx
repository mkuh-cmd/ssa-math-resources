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52" r:id="rId10"/>
    <p:sldId id="353" r:id="rId11"/>
    <p:sldId id="354" r:id="rId12"/>
    <p:sldId id="355" r:id="rId13"/>
    <p:sldId id="356" r:id="rId14"/>
    <p:sldId id="364" r:id="rId15"/>
    <p:sldId id="365" r:id="rId16"/>
    <p:sldId id="362" r:id="rId17"/>
    <p:sldId id="363" r:id="rId18"/>
    <p:sldId id="357" r:id="rId19"/>
    <p:sldId id="358" r:id="rId20"/>
    <p:sldId id="320" r:id="rId21"/>
    <p:sldId id="321" r:id="rId22"/>
    <p:sldId id="324" r:id="rId23"/>
    <p:sldId id="345" r:id="rId24"/>
    <p:sldId id="346" r:id="rId25"/>
    <p:sldId id="361" r:id="rId26"/>
    <p:sldId id="366" r:id="rId27"/>
    <p:sldId id="367" r:id="rId28"/>
    <p:sldId id="306" r:id="rId29"/>
    <p:sldId id="307" r:id="rId30"/>
  </p:sldIdLst>
  <p:sldSz cx="12192000" cy="6858000"/>
  <p:notesSz cx="6858000" cy="9144000"/>
  <p:embeddedFontLst>
    <p:embeddedFont>
      <p:font typeface="Arial Black" panose="020B0A04020102020204" pitchFamily="34" charset="0"/>
      <p:regular r:id="rId32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14BAAA"/>
    <a:srgbClr val="1F3165"/>
    <a:srgbClr val="C9DF6F"/>
    <a:srgbClr val="417DBF"/>
    <a:srgbClr val="3F2A67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/>
    <p:restoredTop sz="94719"/>
  </p:normalViewPr>
  <p:slideViewPr>
    <p:cSldViewPr snapToGrid="0">
      <p:cViewPr varScale="1">
        <p:scale>
          <a:sx n="81" d="100"/>
          <a:sy n="81" d="100"/>
        </p:scale>
        <p:origin x="81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4518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6012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415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8664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1048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9209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3565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6694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987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9900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9580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7727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9591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233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0862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6500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0068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tiff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3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61960" y="2196890"/>
            <a:ext cx="5071872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Graphing Lines from Slope-Intercept Form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71AFAF83-9491-ED48-B99D-B6112B969D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2031743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237668"/>
            <a:ext cx="1075267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MA.8.AR.3.4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graph a two-variable linear equation from a written description, a table, or an equation in slope-intercept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4" y="-88032"/>
            <a:ext cx="107095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616284"/>
            <a:ext cx="1098367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A0AD432-BE20-B448-A5A9-8CD773AADC0B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600200"/>
            <a:ext cx="112820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graph a two-variable linear equation from an equation in slope-intercept form. </a:t>
            </a:r>
          </a:p>
          <a:p>
            <a:pPr marL="463550" indent="-4635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graph a two-variable linear equation from a table of values.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C17A3E-E5EE-EC40-B29A-E421DAE5693D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88805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F31B6B4-B590-E041-8707-FCB8D7FBCF3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93435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7.4.1 Warm-Up: Maximizing Slope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/>
              <p:nvPr/>
            </p:nvSpPr>
            <p:spPr>
              <a:xfrm>
                <a:off x="730266" y="1493181"/>
                <a:ext cx="1091630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Place a digit in each blue box to find a point that creates the steepest slope for a line that passes through the point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(3, 5)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 Use only digits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, at most one time each. 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93181"/>
                <a:ext cx="10916302" cy="1200329"/>
              </a:xfrm>
              <a:prstGeom prst="rect">
                <a:avLst/>
              </a:prstGeom>
              <a:blipFill>
                <a:blip r:embed="rId5"/>
                <a:stretch>
                  <a:fillRect l="-929" t="-41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282;g104476d1465_1_17">
            <a:extLst>
              <a:ext uri="{FF2B5EF4-FFF2-40B4-BE49-F238E27FC236}">
                <a16:creationId xmlns:a16="http://schemas.microsoft.com/office/drawing/2014/main" id="{4FE30EAB-3CBF-6440-8C69-6613F661213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Shape, square&#10;&#10;Description automatically generated">
            <a:extLst>
              <a:ext uri="{FF2B5EF4-FFF2-40B4-BE49-F238E27FC236}">
                <a16:creationId xmlns:a16="http://schemas.microsoft.com/office/drawing/2014/main" id="{31AE7733-543D-8344-98E0-BB4A470921D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768" y="3555498"/>
            <a:ext cx="3131297" cy="121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71104" y="2766150"/>
            <a:ext cx="721730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12C2045-51C2-0247-977E-8C677D26B70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D07C26E5-0F4D-494C-BB66-C2CDC9FB07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4" y="0"/>
            <a:ext cx="102552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7.4.2 Guided Instruction: Graphing Two-Variable Linear Equations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7" y="1522670"/>
            <a:ext cx="111376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linear relationship can be created from a two-variable linear equation.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given the equation in slope-intercept form, start by determining the slope and the 𝑦-intercept of the line.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9494EAC6-486B-7E44-98E0-0513250FCD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2" cy="7473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5B41BBF-635B-2B48-91CC-2774B3099D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4451526"/>
                  </p:ext>
                </p:extLst>
              </p:nvPr>
            </p:nvGraphicFramePr>
            <p:xfrm>
              <a:off x="2964524" y="4674683"/>
              <a:ext cx="6800850" cy="10515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59330">
                      <a:extLst>
                        <a:ext uri="{9D8B030D-6E8A-4147-A177-3AD203B41FA5}">
                          <a16:colId xmlns:a16="http://schemas.microsoft.com/office/drawing/2014/main" val="3313761357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val="372587652"/>
                        </a:ext>
                      </a:extLst>
                    </a:gridCol>
                    <a:gridCol w="2228215">
                      <a:extLst>
                        <a:ext uri="{9D8B030D-6E8A-4147-A177-3AD203B41FA5}">
                          <a16:colId xmlns:a16="http://schemas.microsoft.com/office/drawing/2014/main" val="263174753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720436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= −</m:t>
                                </m:r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− 1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35820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5B41BBF-635B-2B48-91CC-2774B3099D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4451526"/>
                  </p:ext>
                </p:extLst>
              </p:nvPr>
            </p:nvGraphicFramePr>
            <p:xfrm>
              <a:off x="2964524" y="4674683"/>
              <a:ext cx="6800850" cy="10515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59330">
                      <a:extLst>
                        <a:ext uri="{9D8B030D-6E8A-4147-A177-3AD203B41FA5}">
                          <a16:colId xmlns:a16="http://schemas.microsoft.com/office/drawing/2014/main" val="3313761357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val="372587652"/>
                        </a:ext>
                      </a:extLst>
                    </a:gridCol>
                    <a:gridCol w="2228215">
                      <a:extLst>
                        <a:ext uri="{9D8B030D-6E8A-4147-A177-3AD203B41FA5}">
                          <a16:colId xmlns:a16="http://schemas.microsoft.com/office/drawing/2014/main" val="263174753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5114" t="-10345" r="-1136" b="-1931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720436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2" t="-59259" r="-202247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35820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9954A0-182F-D248-B9ED-DCC25CD81D0B}"/>
                  </a:ext>
                </a:extLst>
              </p:cNvPr>
              <p:cNvSpPr txBox="1"/>
              <p:nvPr/>
            </p:nvSpPr>
            <p:spPr>
              <a:xfrm>
                <a:off x="808288" y="431246"/>
                <a:ext cx="1086715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Recall that the 𝑦-intercept is the value of 𝑦 when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at the point where the line intersects the 𝑦-axis.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𝑦-intercept as a coordinate pair.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 _____ , _____ 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𝑦-intercept on the graph.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9954A0-182F-D248-B9ED-DCC25CD81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88" y="431246"/>
                <a:ext cx="10867156" cy="1938992"/>
              </a:xfrm>
              <a:prstGeom prst="rect">
                <a:avLst/>
              </a:prstGeom>
              <a:blipFill>
                <a:blip r:embed="rId4"/>
                <a:stretch>
                  <a:fillRect l="-583" t="-2614" r="-583" b="-4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B3DBBBBF-4C60-4C4C-BC2F-5FE2F40C927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2393" y="2524156"/>
            <a:ext cx="3927213" cy="392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7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A2A6-9DA9-8B48-AD63-98A2F0C5B480}"/>
              </a:ext>
            </a:extLst>
          </p:cNvPr>
          <p:cNvSpPr txBox="1"/>
          <p:nvPr/>
        </p:nvSpPr>
        <p:spPr>
          <a:xfrm>
            <a:off x="708354" y="343989"/>
            <a:ext cx="111307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slope to find two other points on the line.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a straightedge to draw the line that represents the linear relationship.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Two-variable linear relationships can also be written in other forms. When given the equation in another form, start graphing by determining points on the line using the equation. </a:t>
            </a:r>
          </a:p>
        </p:txBody>
      </p:sp>
    </p:spTree>
    <p:extLst>
      <p:ext uri="{BB962C8B-B14F-4D97-AF65-F5344CB8AC3E}">
        <p14:creationId xmlns:p14="http://schemas.microsoft.com/office/powerpoint/2010/main" val="321797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A2A6-9DA9-8B48-AD63-98A2F0C5B480}"/>
              </a:ext>
            </a:extLst>
          </p:cNvPr>
          <p:cNvSpPr txBox="1"/>
          <p:nvPr/>
        </p:nvSpPr>
        <p:spPr>
          <a:xfrm>
            <a:off x="814233" y="1148219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of values using the equation.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FAB20FD-B212-D64B-9E81-3F676A96C5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333731"/>
                  </p:ext>
                </p:extLst>
              </p:nvPr>
            </p:nvGraphicFramePr>
            <p:xfrm>
              <a:off x="1577376" y="2205838"/>
              <a:ext cx="6800850" cy="309796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55315">
                      <a:extLst>
                        <a:ext uri="{9D8B030D-6E8A-4147-A177-3AD203B41FA5}">
                          <a16:colId xmlns:a16="http://schemas.microsoft.com/office/drawing/2014/main" val="3526694402"/>
                        </a:ext>
                      </a:extLst>
                    </a:gridCol>
                    <a:gridCol w="3645535">
                      <a:extLst>
                        <a:ext uri="{9D8B030D-6E8A-4147-A177-3AD203B41FA5}">
                          <a16:colId xmlns:a16="http://schemas.microsoft.com/office/drawing/2014/main" val="91206364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7397031"/>
                      </a:ext>
                    </a:extLst>
                  </a:tr>
                  <a:tr h="282364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+ 3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= 9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8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FAB20FD-B212-D64B-9E81-3F676A96C5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0333731"/>
                  </p:ext>
                </p:extLst>
              </p:nvPr>
            </p:nvGraphicFramePr>
            <p:xfrm>
              <a:off x="1577376" y="2205838"/>
              <a:ext cx="6800850" cy="309796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55315">
                      <a:extLst>
                        <a:ext uri="{9D8B030D-6E8A-4147-A177-3AD203B41FA5}">
                          <a16:colId xmlns:a16="http://schemas.microsoft.com/office/drawing/2014/main" val="3526694402"/>
                        </a:ext>
                      </a:extLst>
                    </a:gridCol>
                    <a:gridCol w="3645535">
                      <a:extLst>
                        <a:ext uri="{9D8B030D-6E8A-4147-A177-3AD203B41FA5}">
                          <a16:colId xmlns:a16="http://schemas.microsoft.com/office/drawing/2014/main" val="91206364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of Values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7397031"/>
                      </a:ext>
                    </a:extLst>
                  </a:tr>
                  <a:tr h="28236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" t="-12108" r="-115663" b="-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88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5897D25-0E4B-7745-937F-F89F9F8E5A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8915379"/>
                  </p:ext>
                </p:extLst>
              </p:nvPr>
            </p:nvGraphicFramePr>
            <p:xfrm>
              <a:off x="5557007" y="2895562"/>
              <a:ext cx="2345690" cy="203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172845">
                      <a:extLst>
                        <a:ext uri="{9D8B030D-6E8A-4147-A177-3AD203B41FA5}">
                          <a16:colId xmlns:a16="http://schemas.microsoft.com/office/drawing/2014/main" val="612416375"/>
                        </a:ext>
                      </a:extLst>
                    </a:gridCol>
                    <a:gridCol w="1172845">
                      <a:extLst>
                        <a:ext uri="{9D8B030D-6E8A-4147-A177-3AD203B41FA5}">
                          <a16:colId xmlns:a16="http://schemas.microsoft.com/office/drawing/2014/main" val="947460255"/>
                        </a:ext>
                      </a:extLst>
                    </a:gridCol>
                  </a:tblGrid>
                  <a:tr h="3765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9469724"/>
                      </a:ext>
                    </a:extLst>
                  </a:tr>
                  <a:tr h="5518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4995348"/>
                      </a:ext>
                    </a:extLst>
                  </a:tr>
                  <a:tr h="5518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87050205"/>
                      </a:ext>
                    </a:extLst>
                  </a:tr>
                  <a:tr h="5518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8883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5897D25-0E4B-7745-937F-F89F9F8E5A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8915379"/>
                  </p:ext>
                </p:extLst>
              </p:nvPr>
            </p:nvGraphicFramePr>
            <p:xfrm>
              <a:off x="5557007" y="2895562"/>
              <a:ext cx="2345690" cy="203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172845">
                      <a:extLst>
                        <a:ext uri="{9D8B030D-6E8A-4147-A177-3AD203B41FA5}">
                          <a16:colId xmlns:a16="http://schemas.microsoft.com/office/drawing/2014/main" val="612416375"/>
                        </a:ext>
                      </a:extLst>
                    </a:gridCol>
                    <a:gridCol w="1172845">
                      <a:extLst>
                        <a:ext uri="{9D8B030D-6E8A-4147-A177-3AD203B41FA5}">
                          <a16:colId xmlns:a16="http://schemas.microsoft.com/office/drawing/2014/main" val="947460255"/>
                        </a:ext>
                      </a:extLst>
                    </a:gridCol>
                  </a:tblGrid>
                  <a:tr h="3765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75" r="-101075" b="-4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75" r="-1075" b="-4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9469724"/>
                      </a:ext>
                    </a:extLst>
                  </a:tr>
                  <a:tr h="5518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75" t="-68182" r="-1075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4995348"/>
                      </a:ext>
                    </a:extLst>
                  </a:tr>
                  <a:tr h="5518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75" t="-172093" r="-101075" b="-1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87050205"/>
                      </a:ext>
                    </a:extLst>
                  </a:tr>
                  <a:tr h="5518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75" t="-265909" r="-101075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8883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78304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A2A6-9DA9-8B48-AD63-98A2F0C5B480}"/>
              </a:ext>
            </a:extLst>
          </p:cNvPr>
          <p:cNvSpPr txBox="1"/>
          <p:nvPr/>
        </p:nvSpPr>
        <p:spPr>
          <a:xfrm>
            <a:off x="563976" y="382492"/>
            <a:ext cx="11198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the ordered pairs from the table of values on the graph. Then, use a straightedge to draw the line that represents the linear relationship.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F3A65EB-EBF1-8846-A359-BE9C975E09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7650" y="1911898"/>
            <a:ext cx="4216699" cy="421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45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A2A6-9DA9-8B48-AD63-98A2F0C5B480}"/>
              </a:ext>
            </a:extLst>
          </p:cNvPr>
          <p:cNvSpPr txBox="1"/>
          <p:nvPr/>
        </p:nvSpPr>
        <p:spPr>
          <a:xfrm>
            <a:off x="586018" y="397919"/>
            <a:ext cx="107525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 says that to graph a linear relationship, only two points on the line are needed.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402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whether you agree or disagree with Ana and explain why.</a:t>
            </a:r>
          </a:p>
        </p:txBody>
      </p:sp>
    </p:spTree>
    <p:extLst>
      <p:ext uri="{BB962C8B-B14F-4D97-AF65-F5344CB8AC3E}">
        <p14:creationId xmlns:p14="http://schemas.microsoft.com/office/powerpoint/2010/main" val="2738351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/>
              <p:nvPr/>
            </p:nvSpPr>
            <p:spPr>
              <a:xfrm>
                <a:off x="788148" y="428635"/>
                <a:ext cx="10396407" cy="3715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9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463550">
                  <a:lnSpc>
                    <a:spcPct val="2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slope of the line between any two points in a linear relationship                     because the rate of change,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𝑐h𝑎𝑛𝑔𝑒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𝑖𝑛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𝑐h𝑎𝑛𝑔𝑒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𝑖𝑛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     		     Therefore,			           are needed to graph the line using a straightedge.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48" y="428635"/>
                <a:ext cx="10396407" cy="3715697"/>
              </a:xfrm>
              <a:prstGeom prst="rect">
                <a:avLst/>
              </a:prstGeom>
              <a:blipFill>
                <a:blip r:embed="rId4"/>
                <a:stretch>
                  <a:fillRect l="-879" t="-1311" b="-2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F45821F4-B954-754A-92FD-5CA99236305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4322" y="1621657"/>
            <a:ext cx="1949824" cy="758823"/>
          </a:xfrm>
          <a:prstGeom prst="rect">
            <a:avLst/>
          </a:prstGeom>
        </p:spPr>
      </p:pic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FE8AD8B-314D-C64C-9463-3663C63D9F9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4322" y="2650668"/>
            <a:ext cx="2690904" cy="758823"/>
          </a:xfrm>
          <a:prstGeom prst="rect">
            <a:avLst/>
          </a:prstGeom>
        </p:spPr>
      </p:pic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AB4EE382-ECFC-AF43-A7BF-935DF45DFA1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021" y="2644886"/>
            <a:ext cx="2956678" cy="7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03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A2A6-9DA9-8B48-AD63-98A2F0C5B480}"/>
              </a:ext>
            </a:extLst>
          </p:cNvPr>
          <p:cNvSpPr txBox="1"/>
          <p:nvPr/>
        </p:nvSpPr>
        <p:spPr>
          <a:xfrm>
            <a:off x="566767" y="771747"/>
            <a:ext cx="110220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given the equation of a line in slope-intercept form, two points on the line can be determined using the 𝑦-intercept and slope. Start by graphing the 𝑦-intercept. Then, use the slope to determine a second point to graph from there.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given the equation of a line in a form other than slope-intercept, two points on the line can be determined by using substitution to create a table of values.</a:t>
            </a:r>
          </a:p>
        </p:txBody>
      </p:sp>
    </p:spTree>
    <p:extLst>
      <p:ext uri="{BB962C8B-B14F-4D97-AF65-F5344CB8AC3E}">
        <p14:creationId xmlns:p14="http://schemas.microsoft.com/office/powerpoint/2010/main" val="972501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296871" y="2766150"/>
            <a:ext cx="4615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E20F8D5-0DC7-8349-A94B-DCD9DB3026D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2.png">
            <a:extLst>
              <a:ext uri="{FF2B5EF4-FFF2-40B4-BE49-F238E27FC236}">
                <a16:creationId xmlns:a16="http://schemas.microsoft.com/office/drawing/2014/main" id="{62B96904-4CFB-1F4B-A944-BC58F75EC80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2144" cy="115214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38797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0733" y="-86332"/>
            <a:ext cx="1072346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7.4.3 Try It: Graphing Two-Variable Linear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731966" y="1386027"/>
                <a:ext cx="7888302" cy="619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= 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66" y="1386027"/>
                <a:ext cx="7888302" cy="619913"/>
              </a:xfrm>
              <a:prstGeom prst="rect">
                <a:avLst/>
              </a:prstGeom>
              <a:blipFill>
                <a:blip r:embed="rId4"/>
                <a:stretch>
                  <a:fillRect l="-1286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282;g104476d1465_1_17">
            <a:extLst>
              <a:ext uri="{FF2B5EF4-FFF2-40B4-BE49-F238E27FC236}">
                <a16:creationId xmlns:a16="http://schemas.microsoft.com/office/drawing/2014/main" id="{F0DF7E3D-D86D-3D42-AF6A-B6D79D34D30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2.png">
            <a:extLst>
              <a:ext uri="{FF2B5EF4-FFF2-40B4-BE49-F238E27FC236}">
                <a16:creationId xmlns:a16="http://schemas.microsoft.com/office/drawing/2014/main" id="{D10A20F6-FBF0-304B-BB35-C880068BD2E8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701" cy="750701"/>
          </a:xfrm>
          <a:prstGeom prst="rect">
            <a:avLst/>
          </a:prstGeom>
          <a:ln/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9C407E94-F377-2140-98B7-C5C199E6A24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4890" y="2100698"/>
            <a:ext cx="4262219" cy="426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2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/>
              <p:nvPr/>
            </p:nvSpPr>
            <p:spPr>
              <a:xfrm>
                <a:off x="691897" y="369042"/>
                <a:ext cx="7763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= 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97" y="369042"/>
                <a:ext cx="7763286" cy="461665"/>
              </a:xfrm>
              <a:prstGeom prst="rect">
                <a:avLst/>
              </a:prstGeom>
              <a:blipFill>
                <a:blip r:embed="rId4"/>
                <a:stretch>
                  <a:fillRect l="-1144" t="-1351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1023928A-D044-E64A-AE53-BAB932054DF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838" y="1246029"/>
            <a:ext cx="4796324" cy="479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99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/>
              <p:nvPr/>
            </p:nvSpPr>
            <p:spPr>
              <a:xfrm>
                <a:off x="810225" y="439243"/>
                <a:ext cx="8891915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=8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to complete the table of values.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table of values to graph the equation.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25" y="439243"/>
                <a:ext cx="8891915" cy="2462213"/>
              </a:xfrm>
              <a:prstGeom prst="rect">
                <a:avLst/>
              </a:prstGeom>
              <a:blipFill>
                <a:blip r:embed="rId4"/>
                <a:stretch>
                  <a:fillRect l="-960" t="-1980" b="-4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E0EF1D9-0D94-DB47-A1C6-BD3F3281AB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4655292"/>
                  </p:ext>
                </p:extLst>
              </p:nvPr>
            </p:nvGraphicFramePr>
            <p:xfrm>
              <a:off x="4134827" y="1579721"/>
              <a:ext cx="1546225" cy="9423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00100">
                      <a:extLst>
                        <a:ext uri="{9D8B030D-6E8A-4147-A177-3AD203B41FA5}">
                          <a16:colId xmlns:a16="http://schemas.microsoft.com/office/drawing/2014/main" val="1539868977"/>
                        </a:ext>
                      </a:extLst>
                    </a:gridCol>
                    <a:gridCol w="746125">
                      <a:extLst>
                        <a:ext uri="{9D8B030D-6E8A-4147-A177-3AD203B41FA5}">
                          <a16:colId xmlns:a16="http://schemas.microsoft.com/office/drawing/2014/main" val="184579183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4041153"/>
                      </a:ext>
                    </a:extLst>
                  </a:tr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00726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86964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E0EF1D9-0D94-DB47-A1C6-BD3F3281AB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4655292"/>
                  </p:ext>
                </p:extLst>
              </p:nvPr>
            </p:nvGraphicFramePr>
            <p:xfrm>
              <a:off x="4134827" y="1579721"/>
              <a:ext cx="1546225" cy="9423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00100">
                      <a:extLst>
                        <a:ext uri="{9D8B030D-6E8A-4147-A177-3AD203B41FA5}">
                          <a16:colId xmlns:a16="http://schemas.microsoft.com/office/drawing/2014/main" val="1539868977"/>
                        </a:ext>
                      </a:extLst>
                    </a:gridCol>
                    <a:gridCol w="746125">
                      <a:extLst>
                        <a:ext uri="{9D8B030D-6E8A-4147-A177-3AD203B41FA5}">
                          <a16:colId xmlns:a16="http://schemas.microsoft.com/office/drawing/2014/main" val="184579183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3" t="-2222" r="-96183" b="-24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7317" t="-2222" r="-2439" b="-24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4041153"/>
                      </a:ext>
                    </a:extLst>
                  </a:tr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00726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86964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7886B191-203E-C442-BED0-A9145D426D1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888" y="2954302"/>
            <a:ext cx="3708587" cy="370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31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4615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E20F8D5-0DC7-8349-A94B-DCD9DB3026D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5.png">
            <a:extLst>
              <a:ext uri="{FF2B5EF4-FFF2-40B4-BE49-F238E27FC236}">
                <a16:creationId xmlns:a16="http://schemas.microsoft.com/office/drawing/2014/main" id="{39E1A1A1-E99B-1F46-888D-D915FD8B893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7317" y="-91159"/>
            <a:ext cx="102197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7.4.4 Collaboration: Error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731966" y="1452131"/>
                <a:ext cx="6073095" cy="2985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5875" indent="-158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Nico graphed the equation </a:t>
                </a:r>
              </a:p>
              <a:p>
                <a:pPr marL="15875" indent="-15875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–6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His graph is shown.</a:t>
                </a:r>
              </a:p>
              <a:p>
                <a:pPr marL="15875" indent="-15875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Nico made an error when he graphed the line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–6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Work with your partner to find the error. </a:t>
                </a:r>
              </a:p>
              <a:p>
                <a:pPr marL="15875" indent="-15875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66" y="1452131"/>
                <a:ext cx="6073095" cy="2985176"/>
              </a:xfrm>
              <a:prstGeom prst="rect">
                <a:avLst/>
              </a:prstGeom>
              <a:blipFill>
                <a:blip r:embed="rId4"/>
                <a:stretch>
                  <a:fillRect l="-1670" t="-1695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282;g104476d1465_1_17">
            <a:extLst>
              <a:ext uri="{FF2B5EF4-FFF2-40B4-BE49-F238E27FC236}">
                <a16:creationId xmlns:a16="http://schemas.microsoft.com/office/drawing/2014/main" id="{F0DF7E3D-D86D-3D42-AF6A-B6D79D34D30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image5.png">
            <a:extLst>
              <a:ext uri="{FF2B5EF4-FFF2-40B4-BE49-F238E27FC236}">
                <a16:creationId xmlns:a16="http://schemas.microsoft.com/office/drawing/2014/main" id="{2C11B47C-F54D-104B-A137-73B13B3771D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701" cy="750701"/>
          </a:xfrm>
          <a:prstGeom prst="rect">
            <a:avLst/>
          </a:prstGeom>
          <a:ln/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8E7E5B29-C689-A649-9BD4-A909269FE94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7102" y="1561659"/>
            <a:ext cx="3906048" cy="39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CA3BD6-5823-324E-9895-4E1BE981A260}"/>
              </a:ext>
            </a:extLst>
          </p:cNvPr>
          <p:cNvSpPr txBox="1"/>
          <p:nvPr/>
        </p:nvSpPr>
        <p:spPr>
          <a:xfrm>
            <a:off x="635908" y="771343"/>
            <a:ext cx="11126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Help Nico understand how he can learn from his mistake. Write a brief note to Nico explaining what he did correctly, what his mistake was, and how he can learn from it.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FE7D871A-6978-C24A-A2B6-20C135140E1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1292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000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DA0EA8E-2638-534E-8203-6C9A442EA8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5262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4" y="-8597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7.4.5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30267" y="1123605"/>
                <a:ext cx="8327136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–2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7" y="1123605"/>
                <a:ext cx="8327136" cy="614655"/>
              </a:xfrm>
              <a:prstGeom prst="rect">
                <a:avLst/>
              </a:prstGeom>
              <a:blipFill>
                <a:blip r:embed="rId4"/>
                <a:stretch>
                  <a:fillRect l="-1218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B960D343-710A-634F-A7B3-EA3C3EC0957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2" cy="747302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C3C720A3-F933-C747-920B-67CC2AA1C95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8406" y="1910374"/>
            <a:ext cx="4375187" cy="437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34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843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E14EF9-9611-DE4E-B9A7-213C7691B193}"/>
                  </a:ext>
                </a:extLst>
              </p:cNvPr>
              <p:cNvSpPr txBox="1"/>
              <p:nvPr/>
            </p:nvSpPr>
            <p:spPr>
              <a:xfrm>
                <a:off x="877165" y="369042"/>
                <a:ext cx="9501869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to complete the table of values.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table of values to graph the equation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E14EF9-9611-DE4E-B9A7-213C7691B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65" y="369042"/>
                <a:ext cx="9501869" cy="2462213"/>
              </a:xfrm>
              <a:prstGeom prst="rect">
                <a:avLst/>
              </a:prstGeom>
              <a:blipFill>
                <a:blip r:embed="rId4"/>
                <a:stretch>
                  <a:fillRect l="-898" t="-1985" b="-4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A8FFC71-F110-DE41-9772-B2D94FC3B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5502703"/>
                  </p:ext>
                </p:extLst>
              </p:nvPr>
            </p:nvGraphicFramePr>
            <p:xfrm>
              <a:off x="4524015" y="1436366"/>
              <a:ext cx="1546225" cy="9423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00100">
                      <a:extLst>
                        <a:ext uri="{9D8B030D-6E8A-4147-A177-3AD203B41FA5}">
                          <a16:colId xmlns:a16="http://schemas.microsoft.com/office/drawing/2014/main" val="1539868977"/>
                        </a:ext>
                      </a:extLst>
                    </a:gridCol>
                    <a:gridCol w="746125">
                      <a:extLst>
                        <a:ext uri="{9D8B030D-6E8A-4147-A177-3AD203B41FA5}">
                          <a16:colId xmlns:a16="http://schemas.microsoft.com/office/drawing/2014/main" val="184579183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4041153"/>
                      </a:ext>
                    </a:extLst>
                  </a:tr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00726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86964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A8FFC71-F110-DE41-9772-B2D94FC3B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5502703"/>
                  </p:ext>
                </p:extLst>
              </p:nvPr>
            </p:nvGraphicFramePr>
            <p:xfrm>
              <a:off x="4524015" y="1436366"/>
              <a:ext cx="1546225" cy="9423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00100">
                      <a:extLst>
                        <a:ext uri="{9D8B030D-6E8A-4147-A177-3AD203B41FA5}">
                          <a16:colId xmlns:a16="http://schemas.microsoft.com/office/drawing/2014/main" val="1539868977"/>
                        </a:ext>
                      </a:extLst>
                    </a:gridCol>
                    <a:gridCol w="746125">
                      <a:extLst>
                        <a:ext uri="{9D8B030D-6E8A-4147-A177-3AD203B41FA5}">
                          <a16:colId xmlns:a16="http://schemas.microsoft.com/office/drawing/2014/main" val="184579183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3" t="-2222" r="-95420" b="-2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7317" t="-2222" r="-1626" b="-2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4041153"/>
                      </a:ext>
                    </a:extLst>
                  </a:tr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00726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86964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4D0B9848-1190-4E45-B49F-2D4595FB97A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4889" y="2807505"/>
            <a:ext cx="4004479" cy="40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57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14EF9-9611-DE4E-B9A7-213C7691B193}"/>
              </a:ext>
            </a:extLst>
          </p:cNvPr>
          <p:cNvSpPr txBox="1"/>
          <p:nvPr/>
        </p:nvSpPr>
        <p:spPr>
          <a:xfrm>
            <a:off x="810226" y="744995"/>
            <a:ext cx="5917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slope of the line?</a:t>
            </a:r>
          </a:p>
        </p:txBody>
      </p:sp>
    </p:spTree>
    <p:extLst>
      <p:ext uri="{BB962C8B-B14F-4D97-AF65-F5344CB8AC3E}">
        <p14:creationId xmlns:p14="http://schemas.microsoft.com/office/powerpoint/2010/main" val="4026528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40912" y="594262"/>
                <a:ext cx="8327136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Graph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12" y="594262"/>
                <a:ext cx="8327136" cy="613886"/>
              </a:xfrm>
              <a:prstGeom prst="rect">
                <a:avLst/>
              </a:prstGeom>
              <a:blipFill>
                <a:blip r:embed="rId4"/>
                <a:stretch>
                  <a:fillRect l="-1218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5EE66E5F-4D61-9C47-8AF7-61D08029870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341" y="1501282"/>
            <a:ext cx="4699318" cy="469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64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F60DB99-BF32-8E48-804D-E08F136BAB8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90348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730266" y="1116132"/>
            <a:ext cx="9886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learning pyramid based on today’s lesson.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42B02AA2-63EE-8541-95D9-38B736D2B86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CF304F-653A-F04A-B6F5-41D752671A0D}"/>
              </a:ext>
            </a:extLst>
          </p:cNvPr>
          <p:cNvGrpSpPr/>
          <p:nvPr/>
        </p:nvGrpSpPr>
        <p:grpSpPr>
          <a:xfrm>
            <a:off x="2261568" y="1794986"/>
            <a:ext cx="6986352" cy="4733284"/>
            <a:chOff x="2012250" y="318905"/>
            <a:chExt cx="6667500" cy="692219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B89DD25-95AB-C34B-B7EA-F556B99499BB}"/>
                </a:ext>
              </a:extLst>
            </p:cNvPr>
            <p:cNvGrpSpPr/>
            <p:nvPr/>
          </p:nvGrpSpPr>
          <p:grpSpPr>
            <a:xfrm>
              <a:off x="2012250" y="318905"/>
              <a:ext cx="6667500" cy="6922190"/>
              <a:chOff x="0" y="0"/>
              <a:chExt cx="6667500" cy="692219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DE274DF-F62F-204A-84D5-2AFA04B1CE4E}"/>
                  </a:ext>
                </a:extLst>
              </p:cNvPr>
              <p:cNvSpPr/>
              <p:nvPr/>
            </p:nvSpPr>
            <p:spPr>
              <a:xfrm>
                <a:off x="0" y="0"/>
                <a:ext cx="6667500" cy="6922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20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en-CO" sz="20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A2FAB30-1F10-574F-81C1-6313AA61156F}"/>
                  </a:ext>
                </a:extLst>
              </p:cNvPr>
              <p:cNvSpPr/>
              <p:nvPr/>
            </p:nvSpPr>
            <p:spPr>
              <a:xfrm>
                <a:off x="1630018" y="0"/>
                <a:ext cx="3333750" cy="2181225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question I would like to have answered …</a:t>
                </a:r>
                <a:endParaRPr lang="en-CO" sz="20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6479989-4E4F-9C48-98EA-85C3CB7E3BA9}"/>
                  </a:ext>
                </a:extLst>
              </p:cNvPr>
              <p:cNvSpPr/>
              <p:nvPr/>
            </p:nvSpPr>
            <p:spPr>
              <a:xfrm>
                <a:off x="0" y="2196548"/>
                <a:ext cx="3333750" cy="2533650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mistake I learned from today …</a:t>
                </a:r>
                <a:endParaRPr lang="en-CO" sz="20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90F9F7-6179-2E4B-BC79-037A3C9B5E10}"/>
                  </a:ext>
                </a:extLst>
              </p:cNvPr>
              <p:cNvSpPr/>
              <p:nvPr/>
            </p:nvSpPr>
            <p:spPr>
              <a:xfrm>
                <a:off x="3329609" y="2196548"/>
                <a:ext cx="3333750" cy="2524125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thing I am not sure about … YET!</a:t>
                </a:r>
                <a:endParaRPr lang="en-CO" sz="20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algn="ctr">
                  <a:spcAft>
                    <a:spcPts val="1000"/>
                  </a:spcAft>
                </a:pPr>
                <a:r>
                  <a:rPr lang="en-US" sz="20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en-CO" sz="20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0408CDD-693D-1448-B562-D656A928DAC4}"/>
                  </a:ext>
                </a:extLst>
              </p:cNvPr>
              <p:cNvSpPr/>
              <p:nvPr/>
            </p:nvSpPr>
            <p:spPr>
              <a:xfrm>
                <a:off x="0" y="4740965"/>
                <a:ext cx="6667500" cy="2181225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thing I am confident I know is …</a:t>
                </a:r>
                <a:endParaRPr lang="en-CO" sz="20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1039</Words>
  <Application>Microsoft Office PowerPoint</Application>
  <PresentationFormat>Widescreen</PresentationFormat>
  <Paragraphs>171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Cambria</vt:lpstr>
      <vt:lpstr>1_Office Theme</vt:lpstr>
      <vt:lpstr>8th Grade Math:  Pre-Algebra  Unit 7, Lesson 4  Graphing Lines from Slope-Intercept Form  Volume 1, pg. 298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25</cp:revision>
  <cp:lastPrinted>2022-04-19T17:26:48Z</cp:lastPrinted>
  <dcterms:created xsi:type="dcterms:W3CDTF">2015-03-17T18:51:18Z</dcterms:created>
  <dcterms:modified xsi:type="dcterms:W3CDTF">2022-06-16T16:50:24Z</dcterms:modified>
</cp:coreProperties>
</file>