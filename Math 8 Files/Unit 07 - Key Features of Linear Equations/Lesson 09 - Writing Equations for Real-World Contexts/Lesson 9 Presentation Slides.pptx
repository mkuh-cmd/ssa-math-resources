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366" r:id="rId8"/>
    <p:sldId id="362" r:id="rId9"/>
    <p:sldId id="363" r:id="rId10"/>
    <p:sldId id="364" r:id="rId11"/>
    <p:sldId id="365" r:id="rId12"/>
    <p:sldId id="367" r:id="rId13"/>
    <p:sldId id="371" r:id="rId14"/>
    <p:sldId id="372" r:id="rId15"/>
    <p:sldId id="373" r:id="rId16"/>
    <p:sldId id="374" r:id="rId17"/>
    <p:sldId id="375" r:id="rId18"/>
    <p:sldId id="345" r:id="rId19"/>
    <p:sldId id="346" r:id="rId20"/>
    <p:sldId id="361" r:id="rId21"/>
    <p:sldId id="306" r:id="rId22"/>
    <p:sldId id="307" r:id="rId23"/>
    <p:sldId id="370" r:id="rId24"/>
  </p:sldIdLst>
  <p:sldSz cx="12192000" cy="6858000"/>
  <p:notesSz cx="6858000" cy="9144000"/>
  <p:embeddedFontLst>
    <p:embeddedFont>
      <p:font typeface="Arial Black" panose="020B0A04020102020204" pitchFamily="34" charset="0"/>
      <p:regular r:id="rId26"/>
      <p:bold r:id="rId27"/>
    </p:embeddedFont>
    <p:embeddedFont>
      <p:font typeface="Calibri" panose="020F0502020204030204" pitchFamily="34" charset="0"/>
      <p:regular r:id="rId28"/>
      <p:bold r:id="rId29"/>
      <p:italic r:id="rId30"/>
      <p:boldItalic r:id="rId31"/>
    </p:embeddedFont>
    <p:embeddedFont>
      <p:font typeface="Cambria Math" panose="02040503050406030204" pitchFamily="18" charset="0"/>
      <p:regular r:id="rId32"/>
    </p:embeddedFont>
    <p:embeddedFont>
      <p:font typeface="Century Gothic" panose="020B0502020202020204" pitchFamily="34" charset="0"/>
      <p:regular r:id="rId33"/>
      <p:bold r:id="rId34"/>
      <p:italic r:id="rId35"/>
      <p:boldItalic r:id="rId36"/>
    </p:embeddedFont>
    <p:embeddedFont>
      <p:font typeface="Verdana" panose="020B060403050404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BEA6"/>
    <a:srgbClr val="2DA48F"/>
    <a:srgbClr val="E24E5F"/>
    <a:srgbClr val="14BAAA"/>
    <a:srgbClr val="1F3165"/>
    <a:srgbClr val="C9DF6F"/>
    <a:srgbClr val="417DBF"/>
    <a:srgbClr val="3F2A67"/>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23"/>
    <p:restoredTop sz="94719"/>
  </p:normalViewPr>
  <p:slideViewPr>
    <p:cSldViewPr snapToGrid="0">
      <p:cViewPr varScale="1">
        <p:scale>
          <a:sx n="81" d="100"/>
          <a:sy n="81" d="100"/>
        </p:scale>
        <p:origin x="32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440507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760789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397119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870950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1493983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49984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950584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511615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017418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4923106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9047686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859591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8002338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210862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41793679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2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hyperlink" Target="https://freesvg.org/1532452918" TargetMode="Externa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52693" y="2054275"/>
            <a:ext cx="5071872" cy="3194455"/>
          </a:xfrm>
          <a:prstGeom prst="rect">
            <a:avLst/>
          </a:prstGeom>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8</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Math: </a:t>
            </a: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Pre-Algebra</a:t>
            </a:r>
            <a:br>
              <a:rPr lang="en-US" sz="32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7, Lesson 9</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Writing Equations for Real-World Contexts</a:t>
            </a:r>
            <a:br>
              <a:rPr lang="en-US" sz="32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2400" b="1" dirty="0">
                <a:solidFill>
                  <a:srgbClr val="417DBF"/>
                </a:solidFill>
                <a:latin typeface="Verdana"/>
                <a:ea typeface="Verdana"/>
                <a:cs typeface="Verdana"/>
                <a:sym typeface="Verdana"/>
              </a:rPr>
              <a:t>Volume 1, pg. 326</a:t>
            </a:r>
          </a:p>
          <a:p>
            <a:pPr algn="ctr">
              <a:lnSpc>
                <a:spcPct val="100000"/>
              </a:lnSpc>
              <a:buClr>
                <a:srgbClr val="000000"/>
              </a:buClr>
            </a:pPr>
            <a:endParaRPr lang="en-US" sz="3200" b="1" dirty="0">
              <a:solidFill>
                <a:srgbClr val="417DBF"/>
              </a:solidFill>
              <a:latin typeface="Verdana"/>
              <a:ea typeface="Verdana"/>
              <a:cs typeface="Verdana"/>
              <a:sym typeface="Verdana"/>
            </a:endParaRPr>
          </a:p>
          <a:p>
            <a:pPr algn="ctr">
              <a:lnSpc>
                <a:spcPct val="75000"/>
              </a:lnSpc>
            </a:pPr>
            <a:endParaRPr sz="28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96A9044B-CF83-4B44-ACD0-5C8BEAB1C5C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81078"/>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30265" y="1326150"/>
            <a:ext cx="10705521"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MA.8.AR.3.3</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Given a table, graph or written description of a linear relationship, write an equation in slope-intercept form.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37331" y="0"/>
            <a:ext cx="1039522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730266" y="1527048"/>
            <a:ext cx="1124953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9" name="Google Shape;282;g104476d1465_1_17">
            <a:extLst>
              <a:ext uri="{FF2B5EF4-FFF2-40B4-BE49-F238E27FC236}">
                <a16:creationId xmlns:a16="http://schemas.microsoft.com/office/drawing/2014/main" id="{EA0AD432-BE20-B448-A5A9-8CD773AADC0B}"/>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326</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30266" y="1461304"/>
            <a:ext cx="1094859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write the equation of a linear relationship in slope‑intercept form given a graph, table of values, or written description for a real-world context.</a:t>
            </a:r>
          </a:p>
        </p:txBody>
      </p:sp>
      <p:sp>
        <p:nvSpPr>
          <p:cNvPr id="8" name="Google Shape;282;g104476d1465_1_17">
            <a:extLst>
              <a:ext uri="{FF2B5EF4-FFF2-40B4-BE49-F238E27FC236}">
                <a16:creationId xmlns:a16="http://schemas.microsoft.com/office/drawing/2014/main" id="{EDC17A3E-E5EE-EC40-B29A-E421DAE5693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326</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01592" y="2705953"/>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6F31B6B4-B590-E041-8707-FCB8D7FBCF3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61300" y="-88032"/>
            <a:ext cx="105980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7.9.1 Warm-Up: Whom Do You Agree With?</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87C5FEC-A86F-3B40-BDC7-FA3BB8FD6EBF}"/>
                  </a:ext>
                </a:extLst>
              </p:cNvPr>
              <p:cNvSpPr/>
              <p:nvPr/>
            </p:nvSpPr>
            <p:spPr>
              <a:xfrm>
                <a:off x="730266" y="1237668"/>
                <a:ext cx="10890716" cy="2123658"/>
              </a:xfrm>
              <a:prstGeom prst="rect">
                <a:avLst/>
              </a:prstGeom>
            </p:spPr>
            <p:txBody>
              <a:bodyPr wrap="square">
                <a:spAutoFit/>
              </a:bodyPr>
              <a:lstStyle/>
              <a:p>
                <a:pPr marL="457200" indent="-457200">
                  <a:buFont typeface="+mj-lt"/>
                  <a:buAutoNum type="arabicPeriod"/>
                </a:pPr>
                <a:r>
                  <a:rPr lang="en-US" sz="2200" dirty="0">
                    <a:latin typeface="Verdana" panose="020B0604030504040204" pitchFamily="34" charset="0"/>
                    <a:ea typeface="Times New Roman" panose="02020603050405020304" pitchFamily="18" charset="0"/>
                  </a:rPr>
                  <a:t>Danica pays for a live TV streaming service. The only costs associated with the service are a streaming fee of </a:t>
                </a:r>
                <a14:m>
                  <m:oMath xmlns:m="http://schemas.openxmlformats.org/officeDocument/2006/math">
                    <m:r>
                      <a:rPr lang="en-US" sz="2200" i="1" dirty="0">
                        <a:latin typeface="Cambria Math" panose="02040503050406030204" pitchFamily="18" charset="0"/>
                        <a:ea typeface="Times New Roman" panose="02020603050405020304" pitchFamily="18" charset="0"/>
                      </a:rPr>
                      <m:t>$50.72</m:t>
                    </m:r>
                  </m:oMath>
                </a14:m>
                <a:r>
                  <a:rPr lang="en-US" sz="2200" dirty="0">
                    <a:latin typeface="Verdana" panose="020B0604030504040204" pitchFamily="34" charset="0"/>
                    <a:ea typeface="Times New Roman" panose="02020603050405020304" pitchFamily="18" charset="0"/>
                  </a:rPr>
                  <a:t> per month. She also had to buy a streaming device to access the service. The streaming device cost her </a:t>
                </a:r>
                <a14:m>
                  <m:oMath xmlns:m="http://schemas.openxmlformats.org/officeDocument/2006/math">
                    <m:r>
                      <a:rPr lang="en-US" sz="2200" i="1" dirty="0">
                        <a:latin typeface="Cambria Math" panose="02040503050406030204" pitchFamily="18" charset="0"/>
                        <a:ea typeface="Times New Roman" panose="02020603050405020304" pitchFamily="18" charset="0"/>
                      </a:rPr>
                      <m:t>$29.99</m:t>
                    </m:r>
                  </m:oMath>
                </a14:m>
                <a:r>
                  <a:rPr lang="en-US" sz="2200" dirty="0">
                    <a:latin typeface="Verdana" panose="020B0604030504040204" pitchFamily="34" charset="0"/>
                    <a:ea typeface="Times New Roman" panose="02020603050405020304" pitchFamily="18" charset="0"/>
                  </a:rPr>
                  <a:t>.</a:t>
                </a:r>
              </a:p>
              <a:p>
                <a:r>
                  <a:rPr lang="en-US" sz="2200" dirty="0">
                    <a:latin typeface="Verdana" panose="020B0604030504040204" pitchFamily="34" charset="0"/>
                    <a:ea typeface="Times New Roman" panose="02020603050405020304" pitchFamily="18" charset="0"/>
                  </a:rPr>
                  <a:t> </a:t>
                </a:r>
              </a:p>
              <a:p>
                <a:pPr marL="449263"/>
                <a:r>
                  <a:rPr lang="en-US" sz="2200" dirty="0">
                    <a:latin typeface="Verdana" panose="020B0604030504040204" pitchFamily="34" charset="0"/>
                    <a:ea typeface="Times New Roman" panose="02020603050405020304" pitchFamily="18" charset="0"/>
                  </a:rPr>
                  <a:t>Two students wrote an equation to represent the linear relationship.</a:t>
                </a:r>
              </a:p>
            </p:txBody>
          </p:sp>
        </mc:Choice>
        <mc:Fallback xmlns="">
          <p:sp>
            <p:nvSpPr>
              <p:cNvPr id="3" name="Rectangle 2">
                <a:extLst>
                  <a:ext uri="{FF2B5EF4-FFF2-40B4-BE49-F238E27FC236}">
                    <a16:creationId xmlns:a16="http://schemas.microsoft.com/office/drawing/2014/main" id="{287C5FEC-A86F-3B40-BDC7-FA3BB8FD6EBF}"/>
                  </a:ext>
                </a:extLst>
              </p:cNvPr>
              <p:cNvSpPr>
                <a:spLocks noRot="1" noChangeAspect="1" noMove="1" noResize="1" noEditPoints="1" noAdjustHandles="1" noChangeArrowheads="1" noChangeShapeType="1" noTextEdit="1"/>
              </p:cNvSpPr>
              <p:nvPr/>
            </p:nvSpPr>
            <p:spPr>
              <a:xfrm>
                <a:off x="730266" y="1237668"/>
                <a:ext cx="10890716" cy="2123658"/>
              </a:xfrm>
              <a:prstGeom prst="rect">
                <a:avLst/>
              </a:prstGeom>
              <a:blipFill>
                <a:blip r:embed="rId5"/>
                <a:stretch>
                  <a:fillRect l="-816" t="-1786" b="-5357"/>
                </a:stretch>
              </a:blipFill>
            </p:spPr>
            <p:txBody>
              <a:bodyPr/>
              <a:lstStyle/>
              <a:p>
                <a:r>
                  <a:rPr lang="en-US">
                    <a:noFill/>
                  </a:rPr>
                  <a:t> </a:t>
                </a:r>
              </a:p>
            </p:txBody>
          </p:sp>
        </mc:Fallback>
      </mc:AlternateContent>
      <p:sp>
        <p:nvSpPr>
          <p:cNvPr id="21" name="Google Shape;282;g104476d1465_1_17">
            <a:extLst>
              <a:ext uri="{FF2B5EF4-FFF2-40B4-BE49-F238E27FC236}">
                <a16:creationId xmlns:a16="http://schemas.microsoft.com/office/drawing/2014/main" id="{4FE30EAB-3CBF-6440-8C69-6613F661213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004597B9-857C-6442-9CFB-1200C41A1FC9}"/>
                  </a:ext>
                </a:extLst>
              </p:cNvPr>
              <p:cNvGraphicFramePr>
                <a:graphicFrameLocks noGrp="1"/>
              </p:cNvGraphicFramePr>
              <p:nvPr>
                <p:extLst>
                  <p:ext uri="{D42A27DB-BD31-4B8C-83A1-F6EECF244321}">
                    <p14:modId xmlns:p14="http://schemas.microsoft.com/office/powerpoint/2010/main" val="3188494727"/>
                  </p:ext>
                </p:extLst>
              </p:nvPr>
            </p:nvGraphicFramePr>
            <p:xfrm>
              <a:off x="2695575" y="4147500"/>
              <a:ext cx="6800850" cy="762000"/>
            </p:xfrm>
            <a:graphic>
              <a:graphicData uri="http://schemas.openxmlformats.org/drawingml/2006/table">
                <a:tbl>
                  <a:tblPr firstRow="1" firstCol="1" bandRow="1">
                    <a:tableStyleId>{A91F0D33-8C57-4600-99A7-42BC86742BE1}</a:tableStyleId>
                  </a:tblPr>
                  <a:tblGrid>
                    <a:gridCol w="3416300">
                      <a:extLst>
                        <a:ext uri="{9D8B030D-6E8A-4147-A177-3AD203B41FA5}">
                          <a16:colId xmlns:a16="http://schemas.microsoft.com/office/drawing/2014/main" val="3121124840"/>
                        </a:ext>
                      </a:extLst>
                    </a:gridCol>
                    <a:gridCol w="3384550">
                      <a:extLst>
                        <a:ext uri="{9D8B030D-6E8A-4147-A177-3AD203B41FA5}">
                          <a16:colId xmlns:a16="http://schemas.microsoft.com/office/drawing/2014/main" val="4147218443"/>
                        </a:ext>
                      </a:extLst>
                    </a:gridCol>
                  </a:tblGrid>
                  <a:tr h="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Cameron’s Equation</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Imani’s Equation</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extLst>
                      <a:ext uri="{0D108BD9-81ED-4DB2-BD59-A6C34878D82A}">
                        <a16:rowId xmlns:a16="http://schemas.microsoft.com/office/drawing/2014/main" val="1704257552"/>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𝑟</m:t>
                                </m:r>
                                <m:r>
                                  <a:rPr lang="en-US" sz="2000">
                                    <a:effectLst/>
                                    <a:latin typeface="Cambria Math" panose="02040503050406030204" pitchFamily="18" charset="0"/>
                                  </a:rPr>
                                  <m:t> = 50.72</m:t>
                                </m:r>
                                <m:r>
                                  <a:rPr lang="en-US" sz="2000">
                                    <a:effectLst/>
                                    <a:latin typeface="Cambria Math" panose="02040503050406030204" pitchFamily="18" charset="0"/>
                                  </a:rPr>
                                  <m:t>𝑞</m:t>
                                </m:r>
                                <m:r>
                                  <a:rPr lang="en-US" sz="2000">
                                    <a:effectLst/>
                                    <a:latin typeface="Cambria Math" panose="02040503050406030204" pitchFamily="18" charset="0"/>
                                  </a:rPr>
                                  <m:t> + 29.99</m:t>
                                </m:r>
                              </m:oMath>
                            </m:oMathPara>
                          </a14:m>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𝑞</m:t>
                                </m:r>
                                <m:r>
                                  <a:rPr lang="en-US" sz="2000">
                                    <a:effectLst/>
                                    <a:latin typeface="Cambria Math" panose="02040503050406030204" pitchFamily="18" charset="0"/>
                                  </a:rPr>
                                  <m:t> = 50.72</m:t>
                                </m:r>
                                <m:r>
                                  <a:rPr lang="en-US" sz="2000">
                                    <a:effectLst/>
                                    <a:latin typeface="Cambria Math" panose="02040503050406030204" pitchFamily="18" charset="0"/>
                                  </a:rPr>
                                  <m:t>𝑟</m:t>
                                </m:r>
                                <m:r>
                                  <a:rPr lang="en-US" sz="2000">
                                    <a:effectLst/>
                                    <a:latin typeface="Cambria Math" panose="02040503050406030204" pitchFamily="18" charset="0"/>
                                  </a:rPr>
                                  <m:t> + 29.99</m:t>
                                </m:r>
                              </m:oMath>
                            </m:oMathPara>
                          </a14:m>
                          <a:endParaRPr lang="en-CO"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69986714"/>
                      </a:ext>
                    </a:extLst>
                  </a:tr>
                </a:tbl>
              </a:graphicData>
            </a:graphic>
          </p:graphicFrame>
        </mc:Choice>
        <mc:Fallback xmlns="">
          <p:graphicFrame>
            <p:nvGraphicFramePr>
              <p:cNvPr id="2" name="Table 1">
                <a:extLst>
                  <a:ext uri="{FF2B5EF4-FFF2-40B4-BE49-F238E27FC236}">
                    <a16:creationId xmlns:a16="http://schemas.microsoft.com/office/drawing/2014/main" id="{004597B9-857C-6442-9CFB-1200C41A1FC9}"/>
                  </a:ext>
                </a:extLst>
              </p:cNvPr>
              <p:cNvGraphicFramePr>
                <a:graphicFrameLocks noGrp="1"/>
              </p:cNvGraphicFramePr>
              <p:nvPr>
                <p:extLst>
                  <p:ext uri="{D42A27DB-BD31-4B8C-83A1-F6EECF244321}">
                    <p14:modId xmlns:p14="http://schemas.microsoft.com/office/powerpoint/2010/main" val="3188494727"/>
                  </p:ext>
                </p:extLst>
              </p:nvPr>
            </p:nvGraphicFramePr>
            <p:xfrm>
              <a:off x="2695575" y="4147500"/>
              <a:ext cx="6800850" cy="762000"/>
            </p:xfrm>
            <a:graphic>
              <a:graphicData uri="http://schemas.openxmlformats.org/drawingml/2006/table">
                <a:tbl>
                  <a:tblPr firstRow="1" firstCol="1" bandRow="1">
                    <a:tableStyleId>{A91F0D33-8C57-4600-99A7-42BC86742BE1}</a:tableStyleId>
                  </a:tblPr>
                  <a:tblGrid>
                    <a:gridCol w="3416300">
                      <a:extLst>
                        <a:ext uri="{9D8B030D-6E8A-4147-A177-3AD203B41FA5}">
                          <a16:colId xmlns:a16="http://schemas.microsoft.com/office/drawing/2014/main" val="3121124840"/>
                        </a:ext>
                      </a:extLst>
                    </a:gridCol>
                    <a:gridCol w="3384550">
                      <a:extLst>
                        <a:ext uri="{9D8B030D-6E8A-4147-A177-3AD203B41FA5}">
                          <a16:colId xmlns:a16="http://schemas.microsoft.com/office/drawing/2014/main" val="4147218443"/>
                        </a:ext>
                      </a:extLst>
                    </a:gridCol>
                  </a:tblGrid>
                  <a:tr h="304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Cameron’s Equation</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Imani’s Equation</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extLst>
                      <a:ext uri="{0D108BD9-81ED-4DB2-BD59-A6C34878D82A}">
                        <a16:rowId xmlns:a16="http://schemas.microsoft.com/office/drawing/2014/main" val="1704257552"/>
                      </a:ext>
                    </a:extLst>
                  </a:tr>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372" t="-81081" r="-99628" b="-1351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6"/>
                          <a:stretch>
                            <a:fillRect l="-101124" t="-81081" r="-375" b="-13514"/>
                          </a:stretch>
                        </a:blipFill>
                      </a:tcPr>
                    </a:tc>
                    <a:extLst>
                      <a:ext uri="{0D108BD9-81ED-4DB2-BD59-A6C34878D82A}">
                        <a16:rowId xmlns:a16="http://schemas.microsoft.com/office/drawing/2014/main" val="2569986714"/>
                      </a:ext>
                    </a:extLst>
                  </a:tr>
                </a:tbl>
              </a:graphicData>
            </a:graphic>
          </p:graphicFrame>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id="{287C5FEC-A86F-3B40-BDC7-FA3BB8FD6EBF}"/>
              </a:ext>
            </a:extLst>
          </p:cNvPr>
          <p:cNvSpPr/>
          <p:nvPr/>
        </p:nvSpPr>
        <p:spPr>
          <a:xfrm>
            <a:off x="1058179" y="955402"/>
            <a:ext cx="10747997" cy="3231654"/>
          </a:xfrm>
          <a:prstGeom prst="rect">
            <a:avLst/>
          </a:prstGeom>
        </p:spPr>
        <p:txBody>
          <a:bodyPr wrap="square">
            <a:spAutoFit/>
          </a:bodyPr>
          <a:lstStyle/>
          <a:p>
            <a:pPr>
              <a:lnSpc>
                <a:spcPct val="250000"/>
              </a:lnSpc>
            </a:pPr>
            <a:r>
              <a:rPr lang="en-US" sz="2400" dirty="0">
                <a:latin typeface="Verdana" panose="020B0604030504040204" pitchFamily="34" charset="0"/>
                <a:ea typeface="Verdana" panose="020B0604030504040204" pitchFamily="34" charset="0"/>
                <a:cs typeface="Verdana" panose="020B0604030504040204" pitchFamily="34" charset="0"/>
              </a:rPr>
              <a:t>			   wrote the correct equation because ___________________________________________________________________________________________________________.</a:t>
            </a: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21" name="Google Shape;282;g104476d1465_1_17">
            <a:extLst>
              <a:ext uri="{FF2B5EF4-FFF2-40B4-BE49-F238E27FC236}">
                <a16:creationId xmlns:a16="http://schemas.microsoft.com/office/drawing/2014/main" id="{4FE30EAB-3CBF-6440-8C69-6613F661213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327</a:t>
            </a:r>
            <a:endParaRPr i="1" dirty="0">
              <a:latin typeface="Calibri"/>
              <a:ea typeface="Calibri"/>
              <a:cs typeface="Calibri"/>
              <a:sym typeface="Calibri"/>
            </a:endParaRPr>
          </a:p>
        </p:txBody>
      </p:sp>
      <p:pic>
        <p:nvPicPr>
          <p:cNvPr id="4" name="Picture 3" descr="Graphical user interface, text, application&#10;&#10;Description automatically generated">
            <a:extLst>
              <a:ext uri="{FF2B5EF4-FFF2-40B4-BE49-F238E27FC236}">
                <a16:creationId xmlns:a16="http://schemas.microsoft.com/office/drawing/2014/main" id="{5EA67970-F2CA-6044-8F99-1204A5DDAF4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58179" y="852440"/>
            <a:ext cx="3066267" cy="1179996"/>
          </a:xfrm>
          <a:prstGeom prst="rect">
            <a:avLst/>
          </a:prstGeom>
        </p:spPr>
      </p:pic>
    </p:spTree>
    <p:extLst>
      <p:ext uri="{BB962C8B-B14F-4D97-AF65-F5344CB8AC3E}">
        <p14:creationId xmlns:p14="http://schemas.microsoft.com/office/powerpoint/2010/main" val="953642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23226" y="2766150"/>
            <a:ext cx="7944544"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012C2045-51C2-0247-977E-8C677D26B70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327</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516A1FCA-F9B2-7744-AFC7-856EB3CBC84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8155" cy="115815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598587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894"/>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4" y="0"/>
            <a:ext cx="1031419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7.9.2 Guided Instruction: Writing Equations for Real-World Contexts</a:t>
            </a:r>
          </a:p>
        </p:txBody>
      </p:sp>
      <p:sp>
        <p:nvSpPr>
          <p:cNvPr id="13" name="TextBox 12">
            <a:extLst>
              <a:ext uri="{FF2B5EF4-FFF2-40B4-BE49-F238E27FC236}">
                <a16:creationId xmlns:a16="http://schemas.microsoft.com/office/drawing/2014/main" id="{C01B13E8-EC8D-E443-A329-C5E3593DD13A}"/>
              </a:ext>
            </a:extLst>
          </p:cNvPr>
          <p:cNvSpPr txBox="1"/>
          <p:nvPr/>
        </p:nvSpPr>
        <p:spPr>
          <a:xfrm>
            <a:off x="730267" y="1583363"/>
            <a:ext cx="11203232" cy="193899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Consider the equations Cameron and Imani wrote to represent the situation in the Warm-Up.</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did both students do correctly when writing their equations?</a:t>
            </a:r>
          </a:p>
        </p:txBody>
      </p:sp>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327</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id="{B15A6FFF-07D4-7945-9441-52D7B756F69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47303" cy="747303"/>
          </a:xfrm>
          <a:prstGeom prst="rect">
            <a:avLst/>
          </a:prstGeom>
        </p:spPr>
      </p:pic>
    </p:spTree>
    <p:extLst>
      <p:ext uri="{BB962C8B-B14F-4D97-AF65-F5344CB8AC3E}">
        <p14:creationId xmlns:p14="http://schemas.microsoft.com/office/powerpoint/2010/main" val="141185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327</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99A7A47-32EC-4840-94E2-A5CD7E9D49E0}"/>
              </a:ext>
            </a:extLst>
          </p:cNvPr>
          <p:cNvSpPr txBox="1"/>
          <p:nvPr/>
        </p:nvSpPr>
        <p:spPr>
          <a:xfrm>
            <a:off x="829199" y="445527"/>
            <a:ext cx="10930679" cy="1200329"/>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Neither student defined the variables for the situation, which makes it difficult to determine which equation accurately represents the context. </a:t>
            </a:r>
          </a:p>
        </p:txBody>
      </p:sp>
      <p:sp>
        <p:nvSpPr>
          <p:cNvPr id="8" name="Text Box 8">
            <a:extLst>
              <a:ext uri="{FF2B5EF4-FFF2-40B4-BE49-F238E27FC236}">
                <a16:creationId xmlns:a16="http://schemas.microsoft.com/office/drawing/2014/main" id="{1B116F9C-A763-EC40-9F5D-D5C80F833CCE}"/>
              </a:ext>
            </a:extLst>
          </p:cNvPr>
          <p:cNvSpPr txBox="1"/>
          <p:nvPr/>
        </p:nvSpPr>
        <p:spPr>
          <a:xfrm>
            <a:off x="2531405" y="2162306"/>
            <a:ext cx="7167450" cy="2085128"/>
          </a:xfrm>
          <a:prstGeom prst="roundRect">
            <a:avLst/>
          </a:prstGeom>
          <a:solidFill>
            <a:srgbClr val="B8E6F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spcAft>
                <a:spcPts val="1000"/>
              </a:spcAft>
            </a:pPr>
            <a:r>
              <a:rPr lang="en-US" sz="2000" b="1" dirty="0">
                <a:solidFill>
                  <a:srgbClr val="0075BF"/>
                </a:solidFill>
                <a:latin typeface="Verdana" panose="020B0604030504040204" pitchFamily="34" charset="0"/>
                <a:ea typeface="Times New Roman" panose="02020603050405020304" pitchFamily="18" charset="0"/>
                <a:cs typeface="Times New Roman" panose="02020603050405020304" pitchFamily="18" charset="0"/>
              </a:rPr>
              <a:t>Defining Variables</a:t>
            </a:r>
            <a:endParaRPr lang="en-CO" sz="2000" dirty="0">
              <a:ea typeface="Times New Roman" panose="02020603050405020304" pitchFamily="18" charset="0"/>
              <a:cs typeface="Times New Roman" panose="02020603050405020304" pitchFamily="18" charset="0"/>
            </a:endParaRPr>
          </a:p>
          <a:p>
            <a:pPr marL="742950">
              <a:spcAft>
                <a:spcPts val="1000"/>
              </a:spcAft>
            </a:pPr>
            <a:r>
              <a:rPr lang="en-US" sz="2000" dirty="0">
                <a:solidFill>
                  <a:srgbClr val="0075BF"/>
                </a:solidFill>
                <a:latin typeface="Verdana" panose="020B0604030504040204" pitchFamily="34" charset="0"/>
                <a:ea typeface="Times New Roman" panose="02020603050405020304" pitchFamily="18" charset="0"/>
                <a:cs typeface="Times New Roman" panose="02020603050405020304" pitchFamily="18" charset="0"/>
              </a:rPr>
              <a:t>When writing equations to represent real-world contexts, </a:t>
            </a:r>
            <a:r>
              <a:rPr lang="en-US" sz="2000" b="1" dirty="0">
                <a:solidFill>
                  <a:srgbClr val="0075BF"/>
                </a:solidFill>
                <a:latin typeface="Verdana" panose="020B0604030504040204" pitchFamily="34" charset="0"/>
                <a:ea typeface="Times New Roman" panose="02020603050405020304" pitchFamily="18" charset="0"/>
                <a:cs typeface="Times New Roman" panose="02020603050405020304" pitchFamily="18" charset="0"/>
              </a:rPr>
              <a:t>any variables used must be defined</a:t>
            </a:r>
            <a:r>
              <a:rPr lang="en-US" sz="2000" dirty="0">
                <a:solidFill>
                  <a:srgbClr val="0075BF"/>
                </a:solidFill>
                <a:latin typeface="Verdana" panose="020B0604030504040204" pitchFamily="34" charset="0"/>
                <a:ea typeface="Times New Roman" panose="02020603050405020304" pitchFamily="18" charset="0"/>
                <a:cs typeface="Times New Roman" panose="02020603050405020304" pitchFamily="18" charset="0"/>
              </a:rPr>
              <a:t> to identify which quantity each variable in the equation represents.</a:t>
            </a:r>
            <a:r>
              <a:rPr lang="en-US" sz="2000" b="1" dirty="0">
                <a:solidFill>
                  <a:srgbClr val="0075BF"/>
                </a:solidFill>
                <a:ea typeface="Times New Roman" panose="02020603050405020304" pitchFamily="18" charset="0"/>
                <a:cs typeface="Times New Roman" panose="02020603050405020304" pitchFamily="18" charset="0"/>
              </a:rPr>
              <a:t> </a:t>
            </a:r>
            <a:endParaRPr lang="en-CO" sz="2000" dirty="0">
              <a:ea typeface="Times New Roman" panose="02020603050405020304" pitchFamily="18" charset="0"/>
              <a:cs typeface="Times New Roman" panose="02020603050405020304" pitchFamily="18" charset="0"/>
            </a:endParaRPr>
          </a:p>
        </p:txBody>
      </p:sp>
      <p:pic>
        <p:nvPicPr>
          <p:cNvPr id="9" name="Picture 8" descr="Icon&#10;&#10;Description automatically generated">
            <a:extLst>
              <a:ext uri="{FF2B5EF4-FFF2-40B4-BE49-F238E27FC236}">
                <a16:creationId xmlns:a16="http://schemas.microsoft.com/office/drawing/2014/main" id="{877BA4D9-4358-6F4B-A795-5AEE45C3FD6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733225" y="2302482"/>
            <a:ext cx="539750" cy="539750"/>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874782E9-B2BE-B24A-B47B-F1DF784136F1}"/>
              </a:ext>
            </a:extLst>
          </p:cNvPr>
          <p:cNvSpPr txBox="1"/>
          <p:nvPr/>
        </p:nvSpPr>
        <p:spPr>
          <a:xfrm>
            <a:off x="829198" y="4805297"/>
            <a:ext cx="10571863" cy="1200329"/>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If 𝑟 is the number of months Danica continues the streaming service and 𝑞 is the total cost to Danica, which student wrote the correct equation?</a:t>
            </a:r>
          </a:p>
        </p:txBody>
      </p:sp>
    </p:spTree>
    <p:extLst>
      <p:ext uri="{BB962C8B-B14F-4D97-AF65-F5344CB8AC3E}">
        <p14:creationId xmlns:p14="http://schemas.microsoft.com/office/powerpoint/2010/main" val="1649408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327</a:t>
            </a:r>
            <a:endParaRPr i="1" dirty="0">
              <a:latin typeface="Calibri"/>
              <a:ea typeface="Calibri"/>
              <a:cs typeface="Calibri"/>
              <a:sym typeface="Calibri"/>
            </a:endParaRPr>
          </a:p>
        </p:txBody>
      </p:sp>
      <p:sp>
        <p:nvSpPr>
          <p:cNvPr id="8" name="TextBox 7">
            <a:extLst>
              <a:ext uri="{FF2B5EF4-FFF2-40B4-BE49-F238E27FC236}">
                <a16:creationId xmlns:a16="http://schemas.microsoft.com/office/drawing/2014/main" id="{5EA3B3D7-DCE3-C046-8F7C-610DE546526F}"/>
              </a:ext>
            </a:extLst>
          </p:cNvPr>
          <p:cNvSpPr txBox="1"/>
          <p:nvPr/>
        </p:nvSpPr>
        <p:spPr>
          <a:xfrm>
            <a:off x="829199" y="417172"/>
            <a:ext cx="10502415" cy="3046988"/>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In this context, which quantity is the independent variable?</a:t>
            </a:r>
          </a:p>
          <a:p>
            <a:pPr marL="914400" lvl="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Which quantity is the dependent variable?</a:t>
            </a:r>
          </a:p>
        </p:txBody>
      </p:sp>
    </p:spTree>
    <p:extLst>
      <p:ext uri="{BB962C8B-B14F-4D97-AF65-F5344CB8AC3E}">
        <p14:creationId xmlns:p14="http://schemas.microsoft.com/office/powerpoint/2010/main" val="1299776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95E72D2-E843-6B4E-AD22-60F9B12C178D}"/>
                  </a:ext>
                </a:extLst>
              </p:cNvPr>
              <p:cNvSpPr txBox="1"/>
              <p:nvPr/>
            </p:nvSpPr>
            <p:spPr>
              <a:xfrm>
                <a:off x="829200" y="343361"/>
                <a:ext cx="10745484" cy="3816429"/>
              </a:xfrm>
              <a:prstGeom prst="rect">
                <a:avLst/>
              </a:prstGeom>
              <a:noFill/>
            </p:spPr>
            <p:txBody>
              <a:bodyPr wrap="square" rtlCol="0">
                <a:spAutoFit/>
              </a:bodyPr>
              <a:lstStyle/>
              <a:p>
                <a:pPr lvl="0"/>
                <a:r>
                  <a:rPr lang="en-US" sz="2200" dirty="0">
                    <a:latin typeface="Verdana" panose="020B0604030504040204" pitchFamily="34" charset="0"/>
                    <a:ea typeface="Verdana" panose="020B0604030504040204" pitchFamily="34" charset="0"/>
                    <a:cs typeface="Verdana" panose="020B0604030504040204" pitchFamily="34" charset="0"/>
                  </a:rPr>
                  <a:t>When writing equations in slope-intercept form,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𝑦</m:t>
                    </m:r>
                    <m:r>
                      <a:rPr lang="en-US" sz="2200" i="1" dirty="0">
                        <a:latin typeface="Cambria Math" panose="02040503050406030204" pitchFamily="18" charset="0"/>
                        <a:ea typeface="Verdana" panose="020B0604030504040204" pitchFamily="34" charset="0"/>
                        <a:cs typeface="Verdana" panose="020B0604030504040204" pitchFamily="34" charset="0"/>
                      </a:rPr>
                      <m:t>=</m:t>
                    </m:r>
                    <m:r>
                      <a:rPr lang="en-US" sz="2200" i="1" dirty="0">
                        <a:latin typeface="Cambria Math" panose="02040503050406030204" pitchFamily="18" charset="0"/>
                        <a:ea typeface="Verdana" panose="020B0604030504040204" pitchFamily="34" charset="0"/>
                        <a:cs typeface="Verdana" panose="020B0604030504040204" pitchFamily="34" charset="0"/>
                      </a:rPr>
                      <m:t>𝑚𝑥</m:t>
                    </m:r>
                    <m:r>
                      <a:rPr lang="en-US" sz="2200" i="1" dirty="0">
                        <a:latin typeface="Cambria Math" panose="02040503050406030204" pitchFamily="18" charset="0"/>
                        <a:ea typeface="Verdana" panose="020B0604030504040204" pitchFamily="34" charset="0"/>
                        <a:cs typeface="Verdana" panose="020B0604030504040204" pitchFamily="34" charset="0"/>
                      </a:rPr>
                      <m:t>+</m:t>
                    </m:r>
                    <m:r>
                      <a:rPr lang="en-US" sz="2200" i="1" dirty="0">
                        <a:latin typeface="Cambria Math" panose="02040503050406030204" pitchFamily="18" charset="0"/>
                        <a:ea typeface="Verdana" panose="020B0604030504040204" pitchFamily="34" charset="0"/>
                        <a:cs typeface="Verdana" panose="020B0604030504040204" pitchFamily="34" charset="0"/>
                      </a:rPr>
                      <m:t>𝑏</m:t>
                    </m:r>
                  </m:oMath>
                </a14:m>
                <a:r>
                  <a:rPr lang="en-US" sz="2200" dirty="0">
                    <a:latin typeface="Verdana" panose="020B0604030504040204" pitchFamily="34" charset="0"/>
                    <a:ea typeface="Verdana" panose="020B0604030504040204" pitchFamily="34" charset="0"/>
                    <a:cs typeface="Verdana" panose="020B0604030504040204" pitchFamily="34" charset="0"/>
                  </a:rPr>
                  <a:t>, 𝑥 is the independent variable and 𝑦 is the dependent variable. The value of 𝑦 changes depending on the value of 𝑥.</a:t>
                </a:r>
              </a:p>
              <a:p>
                <a:pPr lvl="0"/>
                <a:r>
                  <a:rPr lang="en-US" sz="22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The temperature at sea level near Mount Rainier in the state of Washington on a cloudless fall day was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14℃</m:t>
                    </m:r>
                  </m:oMath>
                </a14:m>
                <a:r>
                  <a:rPr lang="en-US" sz="2200" dirty="0">
                    <a:latin typeface="Verdana" panose="020B0604030504040204" pitchFamily="34" charset="0"/>
                    <a:ea typeface="Verdana" panose="020B0604030504040204" pitchFamily="34" charset="0"/>
                    <a:cs typeface="Verdana" panose="020B0604030504040204" pitchFamily="34" charset="0"/>
                  </a:rPr>
                  <a:t>. At the base of Mount Rainier,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0.5</m:t>
                    </m:r>
                  </m:oMath>
                </a14:m>
                <a:r>
                  <a:rPr lang="en-US" sz="2200" dirty="0">
                    <a:latin typeface="Verdana" panose="020B0604030504040204" pitchFamily="34" charset="0"/>
                    <a:ea typeface="Verdana" panose="020B0604030504040204" pitchFamily="34" charset="0"/>
                    <a:cs typeface="Verdana" panose="020B0604030504040204" pitchFamily="34" charset="0"/>
                  </a:rPr>
                  <a:t> kilometers (km) above sea level, the temperature was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11℃</m:t>
                    </m:r>
                  </m:oMath>
                </a14:m>
                <a:r>
                  <a:rPr lang="en-US" sz="2200" dirty="0">
                    <a:latin typeface="Verdana" panose="020B0604030504040204" pitchFamily="34" charset="0"/>
                    <a:ea typeface="Verdana" panose="020B0604030504040204" pitchFamily="34" charset="0"/>
                    <a:cs typeface="Verdana" panose="020B0604030504040204" pitchFamily="34" charset="0"/>
                  </a:rPr>
                  <a:t>. The temperature on the mountain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5</m:t>
                    </m:r>
                  </m:oMath>
                </a14:m>
                <a:r>
                  <a:rPr lang="en-US" sz="2200" dirty="0">
                    <a:latin typeface="Verdana" panose="020B0604030504040204" pitchFamily="34" charset="0"/>
                    <a:ea typeface="Verdana" panose="020B0604030504040204" pitchFamily="34" charset="0"/>
                    <a:cs typeface="Verdana" panose="020B0604030504040204" pitchFamily="34" charset="0"/>
                  </a:rPr>
                  <a:t> km above sea level was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−16℃</m:t>
                    </m:r>
                  </m:oMath>
                </a14:m>
                <a:r>
                  <a:rPr lang="en-US" sz="2200" dirty="0">
                    <a:latin typeface="Verdana" panose="020B0604030504040204" pitchFamily="34" charset="0"/>
                    <a:ea typeface="Verdana" panose="020B0604030504040204" pitchFamily="34" charset="0"/>
                    <a:cs typeface="Verdana" panose="020B0604030504040204" pitchFamily="34" charset="0"/>
                  </a:rPr>
                  <a:t>.</a:t>
                </a: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What are the two quantities being related in this context, including units?</a:t>
                </a:r>
              </a:p>
            </p:txBody>
          </p:sp>
        </mc:Choice>
        <mc:Fallback>
          <p:sp>
            <p:nvSpPr>
              <p:cNvPr id="6" name="TextBox 5">
                <a:extLst>
                  <a:ext uri="{FF2B5EF4-FFF2-40B4-BE49-F238E27FC236}">
                    <a16:creationId xmlns:a16="http://schemas.microsoft.com/office/drawing/2014/main" id="{395E72D2-E843-6B4E-AD22-60F9B12C178D}"/>
                  </a:ext>
                </a:extLst>
              </p:cNvPr>
              <p:cNvSpPr txBox="1">
                <a:spLocks noRot="1" noChangeAspect="1" noMove="1" noResize="1" noEditPoints="1" noAdjustHandles="1" noChangeArrowheads="1" noChangeShapeType="1" noTextEdit="1"/>
              </p:cNvSpPr>
              <p:nvPr/>
            </p:nvSpPr>
            <p:spPr>
              <a:xfrm>
                <a:off x="829200" y="343361"/>
                <a:ext cx="10745484" cy="3816429"/>
              </a:xfrm>
              <a:prstGeom prst="rect">
                <a:avLst/>
              </a:prstGeom>
              <a:blipFill>
                <a:blip r:embed="rId4"/>
                <a:stretch>
                  <a:fillRect l="-737" t="-958" r="-1305" b="-2556"/>
                </a:stretch>
              </a:blipFill>
            </p:spPr>
            <p:txBody>
              <a:bodyPr/>
              <a:lstStyle/>
              <a:p>
                <a:r>
                  <a:rPr lang="en-US">
                    <a:noFill/>
                  </a:rPr>
                  <a:t> </a:t>
                </a:r>
              </a:p>
            </p:txBody>
          </p:sp>
        </mc:Fallback>
      </mc:AlternateContent>
    </p:spTree>
    <p:extLst>
      <p:ext uri="{BB962C8B-B14F-4D97-AF65-F5344CB8AC3E}">
        <p14:creationId xmlns:p14="http://schemas.microsoft.com/office/powerpoint/2010/main" val="2424579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328</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A53A7286-3793-A042-921D-E4F3BA3F4C56}"/>
              </a:ext>
            </a:extLst>
          </p:cNvPr>
          <p:cNvSpPr txBox="1"/>
          <p:nvPr/>
        </p:nvSpPr>
        <p:spPr>
          <a:xfrm>
            <a:off x="829199" y="376623"/>
            <a:ext cx="10872805" cy="2800767"/>
          </a:xfrm>
          <a:prstGeom prst="rect">
            <a:avLst/>
          </a:prstGeom>
          <a:noFill/>
        </p:spPr>
        <p:txBody>
          <a:bodyPr wrap="square" rtlCol="0">
            <a:spAutoFit/>
          </a:bodyPr>
          <a:lstStyle/>
          <a:p>
            <a:pPr marL="914400" indent="-457200">
              <a:buFont typeface="+mj-lt"/>
              <a:buAutoNum type="alphaLcPeriod" startAt="2"/>
            </a:pPr>
            <a:r>
              <a:rPr lang="en-US" sz="2200" dirty="0">
                <a:latin typeface="Verdana" panose="020B0604030504040204" pitchFamily="34" charset="0"/>
                <a:ea typeface="Verdana" panose="020B0604030504040204" pitchFamily="34" charset="0"/>
                <a:cs typeface="Verdana" panose="020B0604030504040204" pitchFamily="34" charset="0"/>
              </a:rPr>
              <a:t>Define each quantity with a variable.</a:t>
            </a:r>
          </a:p>
          <a:p>
            <a:pPr marL="914400" lvl="0" indent="-457200"/>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lvl="0" indent="-457200"/>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lvl="0" indent="-457200"/>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Place an asterisk (*) next to the independent variable.</a:t>
            </a:r>
          </a:p>
          <a:p>
            <a:pPr marL="914400" lvl="0" indent="-457200"/>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4"/>
            </a:pPr>
            <a:r>
              <a:rPr lang="en-US" sz="2200" dirty="0">
                <a:latin typeface="Verdana" panose="020B0604030504040204" pitchFamily="34" charset="0"/>
                <a:ea typeface="Verdana" panose="020B0604030504040204" pitchFamily="34" charset="0"/>
                <a:cs typeface="Verdana" panose="020B0604030504040204" pitchFamily="34" charset="0"/>
              </a:rPr>
              <a:t>There is a linear relationship between the temperature and altitude. Find the slope and 𝑦-intercept for this relationship.</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170E71E-E4A5-1347-8D7B-77866FEAD9FE}"/>
                  </a:ext>
                </a:extLst>
              </p:cNvPr>
              <p:cNvGraphicFramePr>
                <a:graphicFrameLocks noGrp="1"/>
              </p:cNvGraphicFramePr>
              <p:nvPr>
                <p:extLst>
                  <p:ext uri="{D42A27DB-BD31-4B8C-83A1-F6EECF244321}">
                    <p14:modId xmlns:p14="http://schemas.microsoft.com/office/powerpoint/2010/main" val="3413511828"/>
                  </p:ext>
                </p:extLst>
              </p:nvPr>
            </p:nvGraphicFramePr>
            <p:xfrm>
              <a:off x="4267200" y="3696792"/>
              <a:ext cx="3657600" cy="829386"/>
            </p:xfrm>
            <a:graphic>
              <a:graphicData uri="http://schemas.openxmlformats.org/drawingml/2006/table">
                <a:tbl>
                  <a:tblPr firstRow="1" firstCol="1" bandRow="1">
                    <a:tableStyleId>{A91F0D33-8C57-4600-99A7-42BC86742BE1}</a:tableStyleId>
                  </a:tblPr>
                  <a:tblGrid>
                    <a:gridCol w="1828800">
                      <a:extLst>
                        <a:ext uri="{9D8B030D-6E8A-4147-A177-3AD203B41FA5}">
                          <a16:colId xmlns:a16="http://schemas.microsoft.com/office/drawing/2014/main" val="162870917"/>
                        </a:ext>
                      </a:extLst>
                    </a:gridCol>
                    <a:gridCol w="1828800">
                      <a:extLst>
                        <a:ext uri="{9D8B030D-6E8A-4147-A177-3AD203B41FA5}">
                          <a16:colId xmlns:a16="http://schemas.microsoft.com/office/drawing/2014/main" val="2422638881"/>
                        </a:ext>
                      </a:extLst>
                    </a:gridCol>
                  </a:tblGrid>
                  <a:tr h="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Slope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 xmlns:m="http://schemas.openxmlformats.org/officeDocument/2006/math">
                              <m:r>
                                <a:rPr lang="en-US" sz="2000" b="1" i="1">
                                  <a:effectLst/>
                                  <a:latin typeface="Cambria Math" panose="02040503050406030204" pitchFamily="18" charset="0"/>
                                </a:rPr>
                                <m:t>𝒚</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-intercept</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230351401"/>
                      </a:ext>
                    </a:extLst>
                  </a:tr>
                  <a:tr h="524586">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8261317"/>
                      </a:ext>
                    </a:extLst>
                  </a:tr>
                </a:tbl>
              </a:graphicData>
            </a:graphic>
          </p:graphicFrame>
        </mc:Choice>
        <mc:Fallback xmlns="">
          <p:graphicFrame>
            <p:nvGraphicFramePr>
              <p:cNvPr id="2" name="Table 1">
                <a:extLst>
                  <a:ext uri="{FF2B5EF4-FFF2-40B4-BE49-F238E27FC236}">
                    <a16:creationId xmlns:a16="http://schemas.microsoft.com/office/drawing/2014/main" id="{E170E71E-E4A5-1347-8D7B-77866FEAD9FE}"/>
                  </a:ext>
                </a:extLst>
              </p:cNvPr>
              <p:cNvGraphicFramePr>
                <a:graphicFrameLocks noGrp="1"/>
              </p:cNvGraphicFramePr>
              <p:nvPr>
                <p:extLst>
                  <p:ext uri="{D42A27DB-BD31-4B8C-83A1-F6EECF244321}">
                    <p14:modId xmlns:p14="http://schemas.microsoft.com/office/powerpoint/2010/main" val="3413511828"/>
                  </p:ext>
                </p:extLst>
              </p:nvPr>
            </p:nvGraphicFramePr>
            <p:xfrm>
              <a:off x="4267200" y="3696792"/>
              <a:ext cx="3657600" cy="829386"/>
            </p:xfrm>
            <a:graphic>
              <a:graphicData uri="http://schemas.openxmlformats.org/drawingml/2006/table">
                <a:tbl>
                  <a:tblPr firstRow="1" firstCol="1" bandRow="1">
                    <a:tableStyleId>{A91F0D33-8C57-4600-99A7-42BC86742BE1}</a:tableStyleId>
                  </a:tblPr>
                  <a:tblGrid>
                    <a:gridCol w="1828800">
                      <a:extLst>
                        <a:ext uri="{9D8B030D-6E8A-4147-A177-3AD203B41FA5}">
                          <a16:colId xmlns:a16="http://schemas.microsoft.com/office/drawing/2014/main" val="162870917"/>
                        </a:ext>
                      </a:extLst>
                    </a:gridCol>
                    <a:gridCol w="1828800">
                      <a:extLst>
                        <a:ext uri="{9D8B030D-6E8A-4147-A177-3AD203B41FA5}">
                          <a16:colId xmlns:a16="http://schemas.microsoft.com/office/drawing/2014/main" val="2422638881"/>
                        </a:ext>
                      </a:extLst>
                    </a:gridCol>
                  </a:tblGrid>
                  <a:tr h="304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Slope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94" t="-29167" r="-1389" b="-179167"/>
                          </a:stretch>
                        </a:blipFill>
                      </a:tcPr>
                    </a:tc>
                    <a:extLst>
                      <a:ext uri="{0D108BD9-81ED-4DB2-BD59-A6C34878D82A}">
                        <a16:rowId xmlns:a16="http://schemas.microsoft.com/office/drawing/2014/main" val="2230351401"/>
                      </a:ext>
                    </a:extLst>
                  </a:tr>
                  <a:tr h="524586">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8261317"/>
                      </a:ext>
                    </a:extLst>
                  </a:tr>
                </a:tbl>
              </a:graphicData>
            </a:graphic>
          </p:graphicFrame>
        </mc:Fallback>
      </mc:AlternateContent>
      <p:sp>
        <p:nvSpPr>
          <p:cNvPr id="8" name="TextBox 7">
            <a:extLst>
              <a:ext uri="{FF2B5EF4-FFF2-40B4-BE49-F238E27FC236}">
                <a16:creationId xmlns:a16="http://schemas.microsoft.com/office/drawing/2014/main" id="{7197B641-44D3-5F48-8742-774F963C6F85}"/>
              </a:ext>
            </a:extLst>
          </p:cNvPr>
          <p:cNvSpPr txBox="1"/>
          <p:nvPr/>
        </p:nvSpPr>
        <p:spPr>
          <a:xfrm>
            <a:off x="829200" y="5107206"/>
            <a:ext cx="11127448" cy="769441"/>
          </a:xfrm>
          <a:prstGeom prst="rect">
            <a:avLst/>
          </a:prstGeom>
          <a:noFill/>
        </p:spPr>
        <p:txBody>
          <a:bodyPr wrap="square" rtlCol="0">
            <a:spAutoFit/>
          </a:bodyPr>
          <a:lstStyle/>
          <a:p>
            <a:pPr marL="914400" indent="-457200">
              <a:buFont typeface="+mj-lt"/>
              <a:buAutoNum type="alphaLcPeriod" startAt="5"/>
            </a:pPr>
            <a:r>
              <a:rPr lang="en-US" sz="2200" dirty="0">
                <a:latin typeface="Verdana" panose="020B0604030504040204" pitchFamily="34" charset="0"/>
                <a:ea typeface="Verdana" panose="020B0604030504040204" pitchFamily="34" charset="0"/>
                <a:cs typeface="Verdana" panose="020B0604030504040204" pitchFamily="34" charset="0"/>
              </a:rPr>
              <a:t>Write the equation of the linear relationship using the defined variables.</a:t>
            </a:r>
          </a:p>
        </p:txBody>
      </p:sp>
    </p:spTree>
    <p:extLst>
      <p:ext uri="{BB962C8B-B14F-4D97-AF65-F5344CB8AC3E}">
        <p14:creationId xmlns:p14="http://schemas.microsoft.com/office/powerpoint/2010/main" val="501865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2246" y="2766150"/>
            <a:ext cx="6761201"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012C2045-51C2-0247-977E-8C677D26B70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328</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id="{EC70AD30-24CB-C642-BCC8-46F63D502D4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8150" cy="11581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87803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5" y="0"/>
            <a:ext cx="1027947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7.9.3 Guided Practice: Writing Equations for Real-World Contexts</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01B13E8-EC8D-E443-A329-C5E3593DD13A}"/>
                  </a:ext>
                </a:extLst>
              </p:cNvPr>
              <p:cNvSpPr txBox="1"/>
              <p:nvPr/>
            </p:nvSpPr>
            <p:spPr>
              <a:xfrm>
                <a:off x="730266" y="1520785"/>
                <a:ext cx="10948589" cy="2462213"/>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In 2015, the number of people with paid subscriptions to on-demand music streaming services was approximately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10.54</m:t>
                    </m:r>
                  </m:oMath>
                </a14:m>
                <a:r>
                  <a:rPr lang="en-US" sz="2200" dirty="0">
                    <a:latin typeface="Verdana" panose="020B0604030504040204" pitchFamily="34" charset="0"/>
                    <a:ea typeface="Verdana" panose="020B0604030504040204" pitchFamily="34" charset="0"/>
                    <a:cs typeface="Verdana" panose="020B0604030504040204" pitchFamily="34" charset="0"/>
                  </a:rPr>
                  <a:t> million. The number of people with paid subscriptions has been increasing at a constant rate since then. By 2019, the number of people with paid subscriptions to music streaming services increased to about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59.74</m:t>
                    </m:r>
                  </m:oMath>
                </a14:m>
                <a:r>
                  <a:rPr lang="en-US" sz="2200" dirty="0">
                    <a:latin typeface="Verdana" panose="020B0604030504040204" pitchFamily="34" charset="0"/>
                    <a:ea typeface="Verdana" panose="020B0604030504040204" pitchFamily="34" charset="0"/>
                    <a:cs typeface="Verdana" panose="020B0604030504040204" pitchFamily="34" charset="0"/>
                  </a:rPr>
                  <a:t> million.</a:t>
                </a: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Define the quantities in this relationship using variables.</a:t>
                </a:r>
              </a:p>
            </p:txBody>
          </p:sp>
        </mc:Choice>
        <mc:Fallback>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730266" y="1520785"/>
                <a:ext cx="10948589" cy="2462213"/>
              </a:xfrm>
              <a:prstGeom prst="rect">
                <a:avLst/>
              </a:prstGeom>
              <a:blipFill>
                <a:blip r:embed="rId4"/>
                <a:stretch>
                  <a:fillRect l="-780" t="-1733" b="-4455"/>
                </a:stretch>
              </a:blipFill>
            </p:spPr>
            <p:txBody>
              <a:bodyPr/>
              <a:lstStyle/>
              <a:p>
                <a:r>
                  <a:rPr lang="en-US">
                    <a:noFill/>
                  </a:rPr>
                  <a:t> </a:t>
                </a:r>
              </a:p>
            </p:txBody>
          </p:sp>
        </mc:Fallback>
      </mc:AlternateContent>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328</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858EEDB8-0F13-D144-A84D-AFB280A027D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7303" cy="747303"/>
          </a:xfrm>
          <a:prstGeom prst="rect">
            <a:avLst/>
          </a:prstGeom>
        </p:spPr>
      </p:pic>
    </p:spTree>
    <p:extLst>
      <p:ext uri="{BB962C8B-B14F-4D97-AF65-F5344CB8AC3E}">
        <p14:creationId xmlns:p14="http://schemas.microsoft.com/office/powerpoint/2010/main" val="82341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328</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EEFF033F-92A5-1A4E-93E9-63F5245D7F2E}"/>
              </a:ext>
            </a:extLst>
          </p:cNvPr>
          <p:cNvSpPr txBox="1"/>
          <p:nvPr/>
        </p:nvSpPr>
        <p:spPr>
          <a:xfrm>
            <a:off x="829200" y="552657"/>
            <a:ext cx="9894218" cy="430887"/>
          </a:xfrm>
          <a:prstGeom prst="rect">
            <a:avLst/>
          </a:prstGeom>
          <a:noFill/>
        </p:spPr>
        <p:txBody>
          <a:bodyPr wrap="square" rtlCol="0">
            <a:spAutoFit/>
          </a:bodyPr>
          <a:lstStyle/>
          <a:p>
            <a:pPr marL="914400" indent="-457200">
              <a:buFont typeface="+mj-lt"/>
              <a:buAutoNum type="alphaLcPeriod" startAt="2"/>
            </a:pPr>
            <a:r>
              <a:rPr lang="en-US" sz="2200" dirty="0">
                <a:latin typeface="Verdana" panose="020B0604030504040204" pitchFamily="34" charset="0"/>
                <a:ea typeface="Verdana" panose="020B0604030504040204" pitchFamily="34" charset="0"/>
                <a:cs typeface="Verdana" panose="020B0604030504040204" pitchFamily="34" charset="0"/>
              </a:rPr>
              <a:t>Find the slope and 𝑦-intercept for this relationship.</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BE250129-86D8-B841-973A-D34A51CF25B1}"/>
                  </a:ext>
                </a:extLst>
              </p:cNvPr>
              <p:cNvGraphicFramePr>
                <a:graphicFrameLocks noGrp="1"/>
              </p:cNvGraphicFramePr>
              <p:nvPr>
                <p:extLst>
                  <p:ext uri="{D42A27DB-BD31-4B8C-83A1-F6EECF244321}">
                    <p14:modId xmlns:p14="http://schemas.microsoft.com/office/powerpoint/2010/main" val="2219338226"/>
                  </p:ext>
                </p:extLst>
              </p:nvPr>
            </p:nvGraphicFramePr>
            <p:xfrm>
              <a:off x="4240033" y="2006428"/>
              <a:ext cx="3657600" cy="829386"/>
            </p:xfrm>
            <a:graphic>
              <a:graphicData uri="http://schemas.openxmlformats.org/drawingml/2006/table">
                <a:tbl>
                  <a:tblPr firstRow="1" firstCol="1" bandRow="1">
                    <a:tableStyleId>{A91F0D33-8C57-4600-99A7-42BC86742BE1}</a:tableStyleId>
                  </a:tblPr>
                  <a:tblGrid>
                    <a:gridCol w="1828800">
                      <a:extLst>
                        <a:ext uri="{9D8B030D-6E8A-4147-A177-3AD203B41FA5}">
                          <a16:colId xmlns:a16="http://schemas.microsoft.com/office/drawing/2014/main" val="162870917"/>
                        </a:ext>
                      </a:extLst>
                    </a:gridCol>
                    <a:gridCol w="1828800">
                      <a:extLst>
                        <a:ext uri="{9D8B030D-6E8A-4147-A177-3AD203B41FA5}">
                          <a16:colId xmlns:a16="http://schemas.microsoft.com/office/drawing/2014/main" val="2422638881"/>
                        </a:ext>
                      </a:extLst>
                    </a:gridCol>
                  </a:tblGrid>
                  <a:tr h="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Slope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 xmlns:m="http://schemas.openxmlformats.org/officeDocument/2006/math">
                              <m:r>
                                <a:rPr lang="en-US" sz="2000" b="1" i="1">
                                  <a:effectLst/>
                                  <a:latin typeface="Cambria Math" panose="02040503050406030204" pitchFamily="18" charset="0"/>
                                </a:rPr>
                                <m:t>𝒚</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-intercept</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230351401"/>
                      </a:ext>
                    </a:extLst>
                  </a:tr>
                  <a:tr h="524586">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8261317"/>
                      </a:ext>
                    </a:extLst>
                  </a:tr>
                </a:tbl>
              </a:graphicData>
            </a:graphic>
          </p:graphicFrame>
        </mc:Choice>
        <mc:Fallback xmlns="">
          <p:graphicFrame>
            <p:nvGraphicFramePr>
              <p:cNvPr id="8" name="Table 7">
                <a:extLst>
                  <a:ext uri="{FF2B5EF4-FFF2-40B4-BE49-F238E27FC236}">
                    <a16:creationId xmlns:a16="http://schemas.microsoft.com/office/drawing/2014/main" id="{BE250129-86D8-B841-973A-D34A51CF25B1}"/>
                  </a:ext>
                </a:extLst>
              </p:cNvPr>
              <p:cNvGraphicFramePr>
                <a:graphicFrameLocks noGrp="1"/>
              </p:cNvGraphicFramePr>
              <p:nvPr>
                <p:extLst>
                  <p:ext uri="{D42A27DB-BD31-4B8C-83A1-F6EECF244321}">
                    <p14:modId xmlns:p14="http://schemas.microsoft.com/office/powerpoint/2010/main" val="2219338226"/>
                  </p:ext>
                </p:extLst>
              </p:nvPr>
            </p:nvGraphicFramePr>
            <p:xfrm>
              <a:off x="4240033" y="2006428"/>
              <a:ext cx="3657600" cy="829386"/>
            </p:xfrm>
            <a:graphic>
              <a:graphicData uri="http://schemas.openxmlformats.org/drawingml/2006/table">
                <a:tbl>
                  <a:tblPr firstRow="1" firstCol="1" bandRow="1">
                    <a:tableStyleId>{A91F0D33-8C57-4600-99A7-42BC86742BE1}</a:tableStyleId>
                  </a:tblPr>
                  <a:tblGrid>
                    <a:gridCol w="1828800">
                      <a:extLst>
                        <a:ext uri="{9D8B030D-6E8A-4147-A177-3AD203B41FA5}">
                          <a16:colId xmlns:a16="http://schemas.microsoft.com/office/drawing/2014/main" val="162870917"/>
                        </a:ext>
                      </a:extLst>
                    </a:gridCol>
                    <a:gridCol w="1828800">
                      <a:extLst>
                        <a:ext uri="{9D8B030D-6E8A-4147-A177-3AD203B41FA5}">
                          <a16:colId xmlns:a16="http://schemas.microsoft.com/office/drawing/2014/main" val="2422638881"/>
                        </a:ext>
                      </a:extLst>
                    </a:gridCol>
                  </a:tblGrid>
                  <a:tr h="304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Slope</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94" t="-24000" r="-1389" b="-172000"/>
                          </a:stretch>
                        </a:blipFill>
                      </a:tcPr>
                    </a:tc>
                    <a:extLst>
                      <a:ext uri="{0D108BD9-81ED-4DB2-BD59-A6C34878D82A}">
                        <a16:rowId xmlns:a16="http://schemas.microsoft.com/office/drawing/2014/main" val="2230351401"/>
                      </a:ext>
                    </a:extLst>
                  </a:tr>
                  <a:tr h="524586">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8261317"/>
                      </a:ext>
                    </a:extLst>
                  </a:tr>
                </a:tbl>
              </a:graphicData>
            </a:graphic>
          </p:graphicFrame>
        </mc:Fallback>
      </mc:AlternateContent>
      <p:sp>
        <p:nvSpPr>
          <p:cNvPr id="9" name="TextBox 8">
            <a:extLst>
              <a:ext uri="{FF2B5EF4-FFF2-40B4-BE49-F238E27FC236}">
                <a16:creationId xmlns:a16="http://schemas.microsoft.com/office/drawing/2014/main" id="{CBD0784E-9815-DE46-95DC-CBE8A7C0132B}"/>
              </a:ext>
            </a:extLst>
          </p:cNvPr>
          <p:cNvSpPr txBox="1"/>
          <p:nvPr/>
        </p:nvSpPr>
        <p:spPr>
          <a:xfrm>
            <a:off x="829200" y="3885400"/>
            <a:ext cx="10479266" cy="1107996"/>
          </a:xfrm>
          <a:prstGeom prst="rect">
            <a:avLst/>
          </a:prstGeom>
          <a:noFill/>
        </p:spPr>
        <p:txBody>
          <a:bodyPr wrap="square" rtlCol="0">
            <a:spAutoFit/>
          </a:bodyPr>
          <a:lstStyle/>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Write an equation to represent the relationship between the number of people, in millions, with paid subscriptions to music streaming services, and the number of years since 2015.</a:t>
            </a:r>
          </a:p>
        </p:txBody>
      </p:sp>
    </p:spTree>
    <p:extLst>
      <p:ext uri="{BB962C8B-B14F-4D97-AF65-F5344CB8AC3E}">
        <p14:creationId xmlns:p14="http://schemas.microsoft.com/office/powerpoint/2010/main" val="503625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329</a:t>
            </a:r>
            <a:endParaRPr i="1" dirty="0">
              <a:latin typeface="Calibri"/>
              <a:ea typeface="Calibri"/>
              <a:cs typeface="Calibri"/>
              <a:sym typeface="Calibri"/>
            </a:endParaRPr>
          </a:p>
        </p:txBody>
      </p:sp>
      <p:sp>
        <p:nvSpPr>
          <p:cNvPr id="8" name="TextBox 7">
            <a:extLst>
              <a:ext uri="{FF2B5EF4-FFF2-40B4-BE49-F238E27FC236}">
                <a16:creationId xmlns:a16="http://schemas.microsoft.com/office/drawing/2014/main" id="{CD90E9DF-F519-7940-A5B4-5FF30DF1F16E}"/>
              </a:ext>
            </a:extLst>
          </p:cNvPr>
          <p:cNvSpPr txBox="1"/>
          <p:nvPr/>
        </p:nvSpPr>
        <p:spPr>
          <a:xfrm>
            <a:off x="583617" y="419108"/>
            <a:ext cx="11153111" cy="132343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Due to the increase in music streaming platforms, the revenue earned by the music industry from downloaded music content has decreased over the same period of time. The table shows the approximate revenues earned each year from 2015 to 2019, in millions of dollars.</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9CF2C97-6A5F-D54D-90C9-26871A2726AB}"/>
                  </a:ext>
                </a:extLst>
              </p:cNvPr>
              <p:cNvGraphicFramePr>
                <a:graphicFrameLocks noGrp="1"/>
              </p:cNvGraphicFramePr>
              <p:nvPr>
                <p:extLst>
                  <p:ext uri="{D42A27DB-BD31-4B8C-83A1-F6EECF244321}">
                    <p14:modId xmlns:p14="http://schemas.microsoft.com/office/powerpoint/2010/main" val="1740139017"/>
                  </p:ext>
                </p:extLst>
              </p:nvPr>
            </p:nvGraphicFramePr>
            <p:xfrm>
              <a:off x="4595812" y="2209800"/>
              <a:ext cx="3000375" cy="2438400"/>
            </p:xfrm>
            <a:graphic>
              <a:graphicData uri="http://schemas.openxmlformats.org/drawingml/2006/table">
                <a:tbl>
                  <a:tblPr firstRow="1" firstCol="1" bandRow="1">
                    <a:tableStyleId>{A91F0D33-8C57-4600-99A7-42BC86742BE1}</a:tableStyleId>
                  </a:tblPr>
                  <a:tblGrid>
                    <a:gridCol w="1156970">
                      <a:extLst>
                        <a:ext uri="{9D8B030D-6E8A-4147-A177-3AD203B41FA5}">
                          <a16:colId xmlns:a16="http://schemas.microsoft.com/office/drawing/2014/main" val="1719789269"/>
                        </a:ext>
                      </a:extLst>
                    </a:gridCol>
                    <a:gridCol w="1843405">
                      <a:extLst>
                        <a:ext uri="{9D8B030D-6E8A-4147-A177-3AD203B41FA5}">
                          <a16:colId xmlns:a16="http://schemas.microsoft.com/office/drawing/2014/main" val="3262853245"/>
                        </a:ext>
                      </a:extLst>
                    </a:gridCol>
                  </a:tblGrid>
                  <a:tr h="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Years since 2015</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Revenue in Millions of Dollars</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166777151"/>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2,238</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9369773"/>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1,865</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80713"/>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1,492</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5063504"/>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1,119</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3890372"/>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746</m:t>
                                </m:r>
                              </m:oMath>
                            </m:oMathPara>
                          </a14:m>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4191300"/>
                      </a:ext>
                    </a:extLst>
                  </a:tr>
                </a:tbl>
              </a:graphicData>
            </a:graphic>
          </p:graphicFrame>
        </mc:Choice>
        <mc:Fallback xmlns="">
          <p:graphicFrame>
            <p:nvGraphicFramePr>
              <p:cNvPr id="2" name="Table 1">
                <a:extLst>
                  <a:ext uri="{FF2B5EF4-FFF2-40B4-BE49-F238E27FC236}">
                    <a16:creationId xmlns:a16="http://schemas.microsoft.com/office/drawing/2014/main" id="{B9CF2C97-6A5F-D54D-90C9-26871A2726AB}"/>
                  </a:ext>
                </a:extLst>
              </p:cNvPr>
              <p:cNvGraphicFramePr>
                <a:graphicFrameLocks noGrp="1"/>
              </p:cNvGraphicFramePr>
              <p:nvPr>
                <p:extLst>
                  <p:ext uri="{D42A27DB-BD31-4B8C-83A1-F6EECF244321}">
                    <p14:modId xmlns:p14="http://schemas.microsoft.com/office/powerpoint/2010/main" val="1740139017"/>
                  </p:ext>
                </p:extLst>
              </p:nvPr>
            </p:nvGraphicFramePr>
            <p:xfrm>
              <a:off x="4595812" y="2209800"/>
              <a:ext cx="3000375" cy="2438400"/>
            </p:xfrm>
            <a:graphic>
              <a:graphicData uri="http://schemas.openxmlformats.org/drawingml/2006/table">
                <a:tbl>
                  <a:tblPr firstRow="1" firstCol="1" bandRow="1">
                    <a:tableStyleId>{A91F0D33-8C57-4600-99A7-42BC86742BE1}</a:tableStyleId>
                  </a:tblPr>
                  <a:tblGrid>
                    <a:gridCol w="1156970">
                      <a:extLst>
                        <a:ext uri="{9D8B030D-6E8A-4147-A177-3AD203B41FA5}">
                          <a16:colId xmlns:a16="http://schemas.microsoft.com/office/drawing/2014/main" val="1719789269"/>
                        </a:ext>
                      </a:extLst>
                    </a:gridCol>
                    <a:gridCol w="1843405">
                      <a:extLst>
                        <a:ext uri="{9D8B030D-6E8A-4147-A177-3AD203B41FA5}">
                          <a16:colId xmlns:a16="http://schemas.microsoft.com/office/drawing/2014/main" val="3262853245"/>
                        </a:ext>
                      </a:extLst>
                    </a:gridCol>
                  </a:tblGrid>
                  <a:tr h="9144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Years since 2015</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Revenue in Millions of Dollars</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166777151"/>
                      </a:ext>
                    </a:extLst>
                  </a:tr>
                  <a:tr h="304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7" t="-325000" r="-159783" b="-41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3699" t="-325000" r="-685" b="-412500"/>
                          </a:stretch>
                        </a:blipFill>
                      </a:tcPr>
                    </a:tc>
                    <a:extLst>
                      <a:ext uri="{0D108BD9-81ED-4DB2-BD59-A6C34878D82A}">
                        <a16:rowId xmlns:a16="http://schemas.microsoft.com/office/drawing/2014/main" val="3089369773"/>
                      </a:ext>
                    </a:extLst>
                  </a:tr>
                  <a:tr h="304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7" t="-425000" r="-159783" b="-31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3699" t="-425000" r="-685" b="-312500"/>
                          </a:stretch>
                        </a:blipFill>
                      </a:tcPr>
                    </a:tc>
                    <a:extLst>
                      <a:ext uri="{0D108BD9-81ED-4DB2-BD59-A6C34878D82A}">
                        <a16:rowId xmlns:a16="http://schemas.microsoft.com/office/drawing/2014/main" val="293380713"/>
                      </a:ext>
                    </a:extLst>
                  </a:tr>
                  <a:tr h="304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7" t="-525000" r="-159783" b="-21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3699" t="-525000" r="-685" b="-212500"/>
                          </a:stretch>
                        </a:blipFill>
                      </a:tcPr>
                    </a:tc>
                    <a:extLst>
                      <a:ext uri="{0D108BD9-81ED-4DB2-BD59-A6C34878D82A}">
                        <a16:rowId xmlns:a16="http://schemas.microsoft.com/office/drawing/2014/main" val="495063504"/>
                      </a:ext>
                    </a:extLst>
                  </a:tr>
                  <a:tr h="304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7" t="-625000" r="-159783" b="-11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3699" t="-625000" r="-685" b="-112500"/>
                          </a:stretch>
                        </a:blipFill>
                      </a:tcPr>
                    </a:tc>
                    <a:extLst>
                      <a:ext uri="{0D108BD9-81ED-4DB2-BD59-A6C34878D82A}">
                        <a16:rowId xmlns:a16="http://schemas.microsoft.com/office/drawing/2014/main" val="1483890372"/>
                      </a:ext>
                    </a:extLst>
                  </a:tr>
                  <a:tr h="304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87" t="-725000" r="-159783" b="-125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3699" t="-725000" r="-685" b="-12500"/>
                          </a:stretch>
                        </a:blipFill>
                      </a:tcPr>
                    </a:tc>
                    <a:extLst>
                      <a:ext uri="{0D108BD9-81ED-4DB2-BD59-A6C34878D82A}">
                        <a16:rowId xmlns:a16="http://schemas.microsoft.com/office/drawing/2014/main" val="3384191300"/>
                      </a:ext>
                    </a:extLst>
                  </a:tr>
                </a:tbl>
              </a:graphicData>
            </a:graphic>
          </p:graphicFrame>
        </mc:Fallback>
      </mc:AlternateContent>
      <p:sp>
        <p:nvSpPr>
          <p:cNvPr id="10" name="TextBox 9">
            <a:extLst>
              <a:ext uri="{FF2B5EF4-FFF2-40B4-BE49-F238E27FC236}">
                <a16:creationId xmlns:a16="http://schemas.microsoft.com/office/drawing/2014/main" id="{017A8531-5D02-224A-ADF3-B397313A834A}"/>
              </a:ext>
            </a:extLst>
          </p:cNvPr>
          <p:cNvSpPr txBox="1"/>
          <p:nvPr/>
        </p:nvSpPr>
        <p:spPr>
          <a:xfrm>
            <a:off x="694536" y="5045106"/>
            <a:ext cx="11042191" cy="707886"/>
          </a:xfrm>
          <a:prstGeom prst="rect">
            <a:avLst/>
          </a:prstGeom>
          <a:noFill/>
        </p:spPr>
        <p:txBody>
          <a:bodyPr wrap="square" rtlCol="0">
            <a:spAutoFit/>
          </a:bodyPr>
          <a:lstStyle/>
          <a:p>
            <a:pPr marL="449263"/>
            <a:r>
              <a:rPr lang="en-US" sz="2000" dirty="0">
                <a:latin typeface="Verdana" panose="020B0604030504040204" pitchFamily="34" charset="0"/>
                <a:ea typeface="Verdana" panose="020B0604030504040204" pitchFamily="34" charset="0"/>
                <a:cs typeface="Verdana" panose="020B0604030504040204" pitchFamily="34" charset="0"/>
              </a:rPr>
              <a:t>Work with your partner to write an equation that represents the relationship between the quantities in this context.</a:t>
            </a:r>
          </a:p>
        </p:txBody>
      </p:sp>
    </p:spTree>
    <p:extLst>
      <p:ext uri="{BB962C8B-B14F-4D97-AF65-F5344CB8AC3E}">
        <p14:creationId xmlns:p14="http://schemas.microsoft.com/office/powerpoint/2010/main" val="1765793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2894"/>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2246" y="277309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329</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FDA0EA8E-2638-534E-8203-6C9A442EA8A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8150" cy="11581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35262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4" y="-8803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7.9.4 Your Turn!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730266" y="1237669"/>
                <a:ext cx="10647647" cy="3046988"/>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When planes descend for landing, they descend at a slower rate once they reach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10,000</m:t>
                    </m:r>
                  </m:oMath>
                </a14:m>
                <a:r>
                  <a:rPr lang="en-US" sz="2400" dirty="0">
                    <a:latin typeface="Verdana" panose="020B0604030504040204" pitchFamily="34" charset="0"/>
                    <a:ea typeface="Verdana" panose="020B0604030504040204" pitchFamily="34" charset="0"/>
                    <a:cs typeface="Verdana" panose="020B0604030504040204" pitchFamily="34" charset="0"/>
                  </a:rPr>
                  <a:t> feet above the ground. Three minutes after starting the final descent, planes are approximately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5,530</m:t>
                    </m:r>
                  </m:oMath>
                </a14:m>
                <a:r>
                  <a:rPr lang="en-US" sz="2400" dirty="0">
                    <a:latin typeface="Verdana" panose="020B0604030504040204" pitchFamily="34" charset="0"/>
                    <a:ea typeface="Verdana" panose="020B0604030504040204" pitchFamily="34" charset="0"/>
                    <a:cs typeface="Verdana" panose="020B0604030504040204" pitchFamily="34" charset="0"/>
                  </a:rPr>
                  <a:t> feet above the ground.</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49263"/>
                <a:r>
                  <a:rPr lang="en-US" sz="2400" dirty="0">
                    <a:latin typeface="Verdana" panose="020B0604030504040204" pitchFamily="34" charset="0"/>
                    <a:ea typeface="Verdana" panose="020B0604030504040204" pitchFamily="34" charset="0"/>
                    <a:cs typeface="Verdana" panose="020B0604030504040204" pitchFamily="34" charset="0"/>
                  </a:rPr>
                  <a:t>Write a linear equation in slope-intercept form that represents the relationship between a plane’s height above the ground and time on its final descent.</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730266" y="1237669"/>
                <a:ext cx="10647647" cy="3046988"/>
              </a:xfrm>
              <a:prstGeom prst="rect">
                <a:avLst/>
              </a:prstGeom>
              <a:blipFill>
                <a:blip r:embed="rId4"/>
                <a:stretch>
                  <a:fillRect l="-954" t="-1660" r="-596" b="-3320"/>
                </a:stretch>
              </a:blipFill>
            </p:spPr>
            <p:txBody>
              <a:bodyPr/>
              <a:lstStyle/>
              <a:p>
                <a:r>
                  <a:rPr lang="en-US">
                    <a:noFill/>
                  </a:rPr>
                  <a:t> </a:t>
                </a:r>
              </a:p>
            </p:txBody>
          </p:sp>
        </mc:Fallback>
      </mc:AlternateContent>
      <p:sp>
        <p:nvSpPr>
          <p:cNvPr id="12" name="Google Shape;282;g104476d1465_1_17">
            <a:extLst>
              <a:ext uri="{FF2B5EF4-FFF2-40B4-BE49-F238E27FC236}">
                <a16:creationId xmlns:a16="http://schemas.microsoft.com/office/drawing/2014/main" id="{6DEF4616-35BD-5F4A-BFA0-7A1C3A76021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329</a:t>
            </a:r>
            <a:endParaRPr i="1" dirty="0">
              <a:latin typeface="Calibri"/>
              <a:ea typeface="Calibri"/>
              <a:cs typeface="Calibri"/>
              <a:sym typeface="Calibri"/>
            </a:endParaRPr>
          </a:p>
        </p:txBody>
      </p:sp>
      <p:pic>
        <p:nvPicPr>
          <p:cNvPr id="16" name="Picture 15" descr="Icon&#10;&#10;Description automatically generated">
            <a:extLst>
              <a:ext uri="{FF2B5EF4-FFF2-40B4-BE49-F238E27FC236}">
                <a16:creationId xmlns:a16="http://schemas.microsoft.com/office/drawing/2014/main" id="{B960D343-710A-634F-A7B3-EA3C3EC0957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47302" cy="747302"/>
          </a:xfrm>
          <a:prstGeom prst="rect">
            <a:avLst/>
          </a:prstGeom>
        </p:spPr>
      </p:pic>
    </p:spTree>
    <p:extLst>
      <p:ext uri="{BB962C8B-B14F-4D97-AF65-F5344CB8AC3E}">
        <p14:creationId xmlns:p14="http://schemas.microsoft.com/office/powerpoint/2010/main" val="3693434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DEF4616-35BD-5F4A-BFA0-7A1C3A76021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330</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22C39E91-90CF-2144-903F-B03CCBEAD88D}"/>
              </a:ext>
            </a:extLst>
          </p:cNvPr>
          <p:cNvSpPr txBox="1"/>
          <p:nvPr/>
        </p:nvSpPr>
        <p:spPr>
          <a:xfrm>
            <a:off x="724973" y="434402"/>
            <a:ext cx="10745537"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Tourism is a major industry for Florida. The graph shows the total number of visitors, in millions, who traveled to Florida from 2011 to 2017.</a:t>
            </a:r>
          </a:p>
        </p:txBody>
      </p:sp>
      <p:pic>
        <p:nvPicPr>
          <p:cNvPr id="7" name="Picture 6" descr="Chart&#10;&#10;Description automatically generated">
            <a:extLst>
              <a:ext uri="{FF2B5EF4-FFF2-40B4-BE49-F238E27FC236}">
                <a16:creationId xmlns:a16="http://schemas.microsoft.com/office/drawing/2014/main" id="{E07F8E91-4FFD-4441-B91A-A52AA7BE5956}"/>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b="10980"/>
          <a:stretch/>
        </p:blipFill>
        <p:spPr bwMode="auto">
          <a:xfrm>
            <a:off x="4063651" y="1601261"/>
            <a:ext cx="4064698" cy="3655478"/>
          </a:xfrm>
          <a:prstGeom prst="rect">
            <a:avLst/>
          </a:prstGeom>
          <a:ln>
            <a:no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052CE144-08B5-7249-AB8E-B7FB51DD97E4}"/>
              </a:ext>
            </a:extLst>
          </p:cNvPr>
          <p:cNvSpPr txBox="1"/>
          <p:nvPr/>
        </p:nvSpPr>
        <p:spPr>
          <a:xfrm>
            <a:off x="724974" y="5395011"/>
            <a:ext cx="11231674" cy="400110"/>
          </a:xfrm>
          <a:prstGeom prst="rect">
            <a:avLst/>
          </a:prstGeom>
          <a:noFill/>
        </p:spPr>
        <p:txBody>
          <a:bodyPr wrap="square" rtlCol="0">
            <a:spAutoFit/>
          </a:bodyPr>
          <a:lstStyle/>
          <a:p>
            <a:pPr marL="449263"/>
            <a:r>
              <a:rPr lang="en-US" sz="2000" dirty="0">
                <a:latin typeface="Verdana" panose="020B0604030504040204" pitchFamily="34" charset="0"/>
                <a:ea typeface="Verdana" panose="020B0604030504040204" pitchFamily="34" charset="0"/>
                <a:cs typeface="Verdana" panose="020B0604030504040204" pitchFamily="34" charset="0"/>
              </a:rPr>
              <a:t>Write a linear equation in slope-intercept form that represents this relationship.</a:t>
            </a:r>
          </a:p>
        </p:txBody>
      </p:sp>
    </p:spTree>
    <p:extLst>
      <p:ext uri="{BB962C8B-B14F-4D97-AF65-F5344CB8AC3E}">
        <p14:creationId xmlns:p14="http://schemas.microsoft.com/office/powerpoint/2010/main" val="2630457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0F60DB99-BF32-8E48-804D-E08F136BAB8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330</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37332"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7.9.5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C5015EC-6F43-1C4A-AD6C-B1BEBDFEE113}"/>
              </a:ext>
            </a:extLst>
          </p:cNvPr>
          <p:cNvSpPr/>
          <p:nvPr/>
        </p:nvSpPr>
        <p:spPr>
          <a:xfrm>
            <a:off x="730266" y="1351508"/>
            <a:ext cx="10693947" cy="3046988"/>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In this unit, you have learned multiple concepts about linear relationships, including those listed below.</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085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Finding the slope of a linear relationship</a:t>
            </a:r>
          </a:p>
          <a:p>
            <a:pPr marL="914400" indent="-45085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Finding the 𝑦-intercept of a linear relationship</a:t>
            </a:r>
          </a:p>
          <a:p>
            <a:pPr marL="914400" indent="-45085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Interpreting the slope and 𝑦-intercept in context</a:t>
            </a:r>
          </a:p>
          <a:p>
            <a:pPr marL="914400" indent="-45085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Graphing a linear relationship</a:t>
            </a:r>
          </a:p>
          <a:p>
            <a:pPr marL="914400" indent="-450850">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Writing the equation of a linear relationship</a:t>
            </a:r>
          </a:p>
        </p:txBody>
      </p:sp>
      <p:sp>
        <p:nvSpPr>
          <p:cNvPr id="11" name="Google Shape;282;g104476d1465_1_17">
            <a:extLst>
              <a:ext uri="{FF2B5EF4-FFF2-40B4-BE49-F238E27FC236}">
                <a16:creationId xmlns:a16="http://schemas.microsoft.com/office/drawing/2014/main" id="{42B02AA2-63EE-8541-95D9-38B736D2B86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330</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DEF4616-35BD-5F4A-BFA0-7A1C3A76021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330</a:t>
            </a:r>
            <a:endParaRPr i="1" dirty="0">
              <a:latin typeface="Calibri"/>
              <a:ea typeface="Calibri"/>
              <a:cs typeface="Calibri"/>
              <a:sym typeface="Calibri"/>
            </a:endParaRPr>
          </a:p>
        </p:txBody>
      </p:sp>
      <p:sp>
        <p:nvSpPr>
          <p:cNvPr id="7" name="TextBox 6">
            <a:extLst>
              <a:ext uri="{FF2B5EF4-FFF2-40B4-BE49-F238E27FC236}">
                <a16:creationId xmlns:a16="http://schemas.microsoft.com/office/drawing/2014/main" id="{52FC4591-14CA-DB4E-9D3B-4181EB293140}"/>
              </a:ext>
            </a:extLst>
          </p:cNvPr>
          <p:cNvSpPr txBox="1"/>
          <p:nvPr/>
        </p:nvSpPr>
        <p:spPr>
          <a:xfrm>
            <a:off x="566599" y="461805"/>
            <a:ext cx="10822889" cy="830997"/>
          </a:xfrm>
          <a:prstGeom prst="rect">
            <a:avLst/>
          </a:prstGeom>
          <a:noFill/>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the stoplight reflection below to share how you are feeling about each of these concepts at this point.</a:t>
            </a:r>
          </a:p>
        </p:txBody>
      </p:sp>
      <p:graphicFrame>
        <p:nvGraphicFramePr>
          <p:cNvPr id="4" name="Table 3">
            <a:extLst>
              <a:ext uri="{FF2B5EF4-FFF2-40B4-BE49-F238E27FC236}">
                <a16:creationId xmlns:a16="http://schemas.microsoft.com/office/drawing/2014/main" id="{18297DA2-143F-2C4D-8360-CA8BAA539DD5}"/>
              </a:ext>
            </a:extLst>
          </p:cNvPr>
          <p:cNvGraphicFramePr>
            <a:graphicFrameLocks noGrp="1"/>
          </p:cNvGraphicFramePr>
          <p:nvPr>
            <p:extLst>
              <p:ext uri="{D42A27DB-BD31-4B8C-83A1-F6EECF244321}">
                <p14:modId xmlns:p14="http://schemas.microsoft.com/office/powerpoint/2010/main" val="1737635367"/>
              </p:ext>
            </p:extLst>
          </p:nvPr>
        </p:nvGraphicFramePr>
        <p:xfrm>
          <a:off x="5514020" y="2215607"/>
          <a:ext cx="4991493" cy="4112041"/>
        </p:xfrm>
        <a:graphic>
          <a:graphicData uri="http://schemas.openxmlformats.org/drawingml/2006/table">
            <a:tbl>
              <a:tblPr firstRow="1" firstCol="1" bandRow="1">
                <a:tableStyleId>{A91F0D33-8C57-4600-99A7-42BC86742BE1}</a:tableStyleId>
              </a:tblPr>
              <a:tblGrid>
                <a:gridCol w="282842">
                  <a:extLst>
                    <a:ext uri="{9D8B030D-6E8A-4147-A177-3AD203B41FA5}">
                      <a16:colId xmlns:a16="http://schemas.microsoft.com/office/drawing/2014/main" val="1428304307"/>
                    </a:ext>
                  </a:extLst>
                </a:gridCol>
                <a:gridCol w="4708651">
                  <a:extLst>
                    <a:ext uri="{9D8B030D-6E8A-4147-A177-3AD203B41FA5}">
                      <a16:colId xmlns:a16="http://schemas.microsoft.com/office/drawing/2014/main" val="94017143"/>
                    </a:ext>
                  </a:extLst>
                </a:gridCol>
              </a:tblGrid>
              <a:tr h="1258874">
                <a:tc rowSpan="3">
                  <a:txBody>
                    <a:bodyPr/>
                    <a:lstStyle/>
                    <a:p>
                      <a:pPr marL="0" marR="0" algn="ctr">
                        <a:spcBef>
                          <a:spcPts val="0"/>
                        </a:spcBef>
                        <a:spcAft>
                          <a:spcPts val="0"/>
                        </a:spcAft>
                      </a:pPr>
                      <a:endParaRPr lang="en-US" sz="1000">
                        <a:effectLst/>
                        <a:latin typeface="Verdana" panose="020B0604030504040204" pitchFamily="34" charset="0"/>
                        <a:ea typeface="Verdana" panose="020B0604030504040204" pitchFamily="34" charset="0"/>
                        <a:cs typeface="Verdana" panose="020B0604030504040204" pitchFamily="34" charset="0"/>
                      </a:endParaRPr>
                    </a:p>
                  </a:txBody>
                  <a:tcPr marL="86411" marR="86411" marT="43206" marB="43206"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spcBef>
                          <a:spcPts val="0"/>
                        </a:spcBef>
                        <a:spcAft>
                          <a:spcPts val="0"/>
                        </a:spcAft>
                        <a:tabLst>
                          <a:tab pos="10414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 still feel stuck on how to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41212" marR="41212"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598484918"/>
                  </a:ext>
                </a:extLst>
              </a:tr>
              <a:tr h="1258874">
                <a:tc vMerge="1">
                  <a:txBody>
                    <a:bodyPr/>
                    <a:lstStyle/>
                    <a:p>
                      <a:endParaRPr lang="en-CO"/>
                    </a:p>
                  </a:txBody>
                  <a:tcPr/>
                </a:tc>
                <a:tc>
                  <a:txBody>
                    <a:bodyPr/>
                    <a:lstStyle/>
                    <a:p>
                      <a:pPr marL="0" marR="0">
                        <a:spcBef>
                          <a:spcPts val="0"/>
                        </a:spcBef>
                        <a:spcAft>
                          <a:spcPts val="0"/>
                        </a:spcAft>
                        <a:tabLst>
                          <a:tab pos="10414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I’m starting to get the hang of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41212" marR="41212"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106770694"/>
                  </a:ext>
                </a:extLst>
              </a:tr>
              <a:tr h="1594293">
                <a:tc vMerge="1">
                  <a:txBody>
                    <a:bodyPr/>
                    <a:lstStyle/>
                    <a:p>
                      <a:endParaRPr lang="en-CO"/>
                    </a:p>
                  </a:txBody>
                  <a:tcPr/>
                </a:tc>
                <a:tc>
                  <a:txBody>
                    <a:bodyPr/>
                    <a:lstStyle/>
                    <a:p>
                      <a:pPr marL="0" marR="0">
                        <a:spcBef>
                          <a:spcPts val="0"/>
                        </a:spcBef>
                        <a:spcAft>
                          <a:spcPts val="0"/>
                        </a:spcAft>
                        <a:tabLst>
                          <a:tab pos="1041400" algn="l"/>
                        </a:tabLst>
                      </a:pPr>
                      <a:r>
                        <a:rPr lang="en-US" sz="2000" dirty="0">
                          <a:effectLst/>
                          <a:latin typeface="Verdana" panose="020B0604030504040204" pitchFamily="34" charset="0"/>
                          <a:ea typeface="Verdana" panose="020B0604030504040204" pitchFamily="34" charset="0"/>
                          <a:cs typeface="Verdana" panose="020B0604030504040204" pitchFamily="34" charset="0"/>
                        </a:rPr>
                        <a:t>I feel confident and ready to go with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41212" marR="41212"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85718743"/>
                  </a:ext>
                </a:extLst>
              </a:tr>
            </a:tbl>
          </a:graphicData>
        </a:graphic>
      </p:graphicFrame>
      <p:pic>
        <p:nvPicPr>
          <p:cNvPr id="9" name="Picture 8" descr="Red/Yellow/Green traffic light indicator | Free SVG">
            <a:extLst>
              <a:ext uri="{FF2B5EF4-FFF2-40B4-BE49-F238E27FC236}">
                <a16:creationId xmlns:a16="http://schemas.microsoft.com/office/drawing/2014/main" id="{8C23DA48-2225-084A-896B-290513F814EC}"/>
              </a:ext>
            </a:extLst>
          </p:cNvPr>
          <p:cNvPicPr>
            <a:picLocks noChangeAspect="1"/>
          </p:cNvPicPr>
          <p:nvPr/>
        </p:nvPicPr>
        <p:blipFill rotWithShape="1">
          <a:blip r:embed="rId4">
            <a:extLst>
              <a:ext uri="{28A0092B-C50C-407E-A947-70E740481C1C}">
                <a14:useLocalDpi xmlns:a14="http://schemas.microsoft.com/office/drawing/2010/main"/>
              </a:ext>
              <a:ext uri="{837473B0-CC2E-450A-ABE3-18F120FF3D39}">
                <a1611:picAttrSrcUrl xmlns:a1611="http://schemas.microsoft.com/office/drawing/2016/11/main" r:id="rId5"/>
              </a:ext>
            </a:extLst>
          </a:blip>
          <a:srcRect l="24105" r="23740"/>
          <a:stretch/>
        </p:blipFill>
        <p:spPr bwMode="auto">
          <a:xfrm>
            <a:off x="3315635" y="1898524"/>
            <a:ext cx="2060660" cy="395141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26947544"/>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1852</TotalTime>
  <Words>1086</Words>
  <Application>Microsoft Office PowerPoint</Application>
  <PresentationFormat>Widescreen</PresentationFormat>
  <Paragraphs>142</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Verdana</vt:lpstr>
      <vt:lpstr>Wingdings</vt:lpstr>
      <vt:lpstr>Century Gothic</vt:lpstr>
      <vt:lpstr>Calibri</vt:lpstr>
      <vt:lpstr>Arial Black</vt:lpstr>
      <vt:lpstr>Cambria Math</vt:lpstr>
      <vt:lpstr>Arial</vt:lpstr>
      <vt:lpstr>1_Office Theme</vt:lpstr>
      <vt:lpstr>8th Grade Math:  Pre-Algebra  Unit 7, Lesson 9  Writing Equations for Real-World Contexts  Volume 1, pg. 326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30</cp:revision>
  <dcterms:created xsi:type="dcterms:W3CDTF">2015-03-17T18:51:18Z</dcterms:created>
  <dcterms:modified xsi:type="dcterms:W3CDTF">2022-06-16T20:55:21Z</dcterms:modified>
</cp:coreProperties>
</file>