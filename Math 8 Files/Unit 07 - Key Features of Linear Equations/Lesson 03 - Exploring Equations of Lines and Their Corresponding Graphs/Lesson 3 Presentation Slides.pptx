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52" r:id="rId10"/>
    <p:sldId id="353" r:id="rId11"/>
    <p:sldId id="354" r:id="rId12"/>
    <p:sldId id="355" r:id="rId13"/>
    <p:sldId id="356" r:id="rId14"/>
    <p:sldId id="343" r:id="rId15"/>
    <p:sldId id="344" r:id="rId16"/>
    <p:sldId id="347" r:id="rId17"/>
    <p:sldId id="348" r:id="rId18"/>
    <p:sldId id="345" r:id="rId19"/>
    <p:sldId id="346" r:id="rId20"/>
    <p:sldId id="361" r:id="rId21"/>
    <p:sldId id="306" r:id="rId22"/>
    <p:sldId id="307" r:id="rId23"/>
    <p:sldId id="362" r:id="rId24"/>
  </p:sldIdLst>
  <p:sldSz cx="12192000" cy="6858000"/>
  <p:notesSz cx="6858000" cy="9144000"/>
  <p:embeddedFontLst>
    <p:embeddedFont>
      <p:font typeface="Arial Black" panose="020B0A04020102020204" pitchFamily="3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14BAAA"/>
    <a:srgbClr val="1F3165"/>
    <a:srgbClr val="C9DF6F"/>
    <a:srgbClr val="417DBF"/>
    <a:srgbClr val="3F2A67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/>
    <p:restoredTop sz="94719"/>
  </p:normalViewPr>
  <p:slideViewPr>
    <p:cSldViewPr snapToGrid="0">
      <p:cViewPr varScale="1">
        <p:scale>
          <a:sx n="81" d="100"/>
          <a:sy n="81" d="100"/>
        </p:scale>
        <p:origin x="32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4518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6012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415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8664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1048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39490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09317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2142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587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9591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2338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0862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128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tif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0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94961" y="2054275"/>
            <a:ext cx="508531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Slope in Real-World Contexts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288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DBC3E4B2-772D-3D44-A27E-89E906A19B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0514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MA.8.AR.3.2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table, graph, or written description of a linear relationship, determine the slope.</a:t>
            </a:r>
          </a:p>
          <a:p>
            <a:pPr indent="0">
              <a:buNone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MA.8.AR.3.5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and interpret the slope and 𝑦-intercept of a two-variable linear equation from a written description, a table, a graph, or an equation in slope-intercept form.</a:t>
            </a:r>
          </a:p>
          <a:p>
            <a:pPr indent="0">
              <a:buNone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2981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30266" y="1490883"/>
            <a:ext cx="1107487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A0AD432-BE20-B448-A5A9-8CD773AADC0B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58888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6" y="1326150"/>
            <a:ext cx="1107487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the slope from a graph, table, or written description in a real-world context.</a:t>
            </a:r>
          </a:p>
          <a:p>
            <a:pPr marL="463550" indent="-463550">
              <a:buFont typeface="Wingdings" pitchFamily="2" charset="2"/>
              <a:buChar char="q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interpret the slope as the rate of change in a real-world context.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C17A3E-E5EE-EC40-B29A-E421DAE5693D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03119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F31B6B4-B590-E041-8707-FCB8D7FBCF3F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7332" y="-9269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7.2.1 Warm-Up: Graph the Story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7C5FEC-A86F-3B40-BDC7-FA3BB8FD6EBF}"/>
              </a:ext>
            </a:extLst>
          </p:cNvPr>
          <p:cNvSpPr/>
          <p:nvPr/>
        </p:nvSpPr>
        <p:spPr>
          <a:xfrm>
            <a:off x="730266" y="1244784"/>
            <a:ext cx="85263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Watch the video of the person stacking styrofoam cups. </a:t>
            </a:r>
          </a:p>
        </p:txBody>
      </p:sp>
      <p:sp>
        <p:nvSpPr>
          <p:cNvPr id="21" name="Google Shape;282;g104476d1465_1_17">
            <a:extLst>
              <a:ext uri="{FF2B5EF4-FFF2-40B4-BE49-F238E27FC236}">
                <a16:creationId xmlns:a16="http://schemas.microsoft.com/office/drawing/2014/main" id="{4FE30EAB-3CBF-6440-8C69-6613F661213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Qr code&#10;&#10;Description automatically generated">
            <a:extLst>
              <a:ext uri="{FF2B5EF4-FFF2-40B4-BE49-F238E27FC236}">
                <a16:creationId xmlns:a16="http://schemas.microsoft.com/office/drawing/2014/main" id="{A64063E6-0891-E340-9659-1DA887F9852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62272" y="1206835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89AF3D0-2E52-6348-B93E-502DFC210452}"/>
              </a:ext>
            </a:extLst>
          </p:cNvPr>
          <p:cNvSpPr/>
          <p:nvPr/>
        </p:nvSpPr>
        <p:spPr>
          <a:xfrm>
            <a:off x="730266" y="2523571"/>
            <a:ext cx="107583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Create a sketch of the graph to represent the height of the stack, in centimeters, over time.</a:t>
            </a:r>
          </a:p>
        </p:txBody>
      </p:sp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44CE6B7E-D40E-5343-BD16-002A67C5F0A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6536" y="3346096"/>
            <a:ext cx="3978929" cy="3183143"/>
          </a:xfrm>
          <a:prstGeom prst="rect">
            <a:avLst/>
          </a:prstGeom>
        </p:spPr>
      </p:pic>
      <p:sp>
        <p:nvSpPr>
          <p:cNvPr id="12" name="Text Box 18">
            <a:extLst>
              <a:ext uri="{FF2B5EF4-FFF2-40B4-BE49-F238E27FC236}">
                <a16:creationId xmlns:a16="http://schemas.microsoft.com/office/drawing/2014/main" id="{D00340DC-A3DA-414F-A145-0212660E382A}"/>
              </a:ext>
            </a:extLst>
          </p:cNvPr>
          <p:cNvSpPr txBox="1"/>
          <p:nvPr/>
        </p:nvSpPr>
        <p:spPr>
          <a:xfrm>
            <a:off x="4973637" y="6467910"/>
            <a:ext cx="2244725" cy="37973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(seconds)</a:t>
            </a:r>
            <a:endParaRPr lang="en-CO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97A452AD-37F6-9944-BDD4-4DD2FC42D5E5}"/>
              </a:ext>
            </a:extLst>
          </p:cNvPr>
          <p:cNvSpPr txBox="1"/>
          <p:nvPr/>
        </p:nvSpPr>
        <p:spPr>
          <a:xfrm rot="16200000">
            <a:off x="2538453" y="4326256"/>
            <a:ext cx="2117725" cy="76898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Height of Stack </a:t>
            </a:r>
            <a:endParaRPr lang="en-CO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</a:pPr>
            <a:r>
              <a:rPr lang="en-US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(centimeters)</a:t>
            </a:r>
            <a:endParaRPr lang="en-CO" sz="11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59996" y="2766150"/>
            <a:ext cx="701138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12C2045-51C2-0247-977E-8C677D26B70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D07C26E5-0F4D-494C-BB66-C2CDC9FB07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4" y="-88031"/>
            <a:ext cx="105980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7.2.2 Guided Instruction: Finding and Interpreting Slope in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7" y="1362746"/>
            <a:ext cx="108873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linear relationship is any relationship between two quantities, where one quantity has a constant rate of change with respect to the other. This means that one quantity is increasing or decreasing the same amount for every equal-sized interval of the other quantity.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Linear relationships can be used to model real-world contexts in which the quantities are changing at a constant rate. Three different representations of the same linear relationship are shown.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9494EAC6-486B-7E44-98E0-0513250FCDC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2" cy="74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CA6F18-9FF0-0F48-8800-9318C2564126}"/>
              </a:ext>
            </a:extLst>
          </p:cNvPr>
          <p:cNvSpPr txBox="1"/>
          <p:nvPr/>
        </p:nvSpPr>
        <p:spPr>
          <a:xfrm>
            <a:off x="782520" y="4429441"/>
            <a:ext cx="83271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graph to find the slope of the line.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table to find the slope of the line.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0D024-4FD7-204E-B2EF-9EE465559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387" y="299725"/>
            <a:ext cx="5875226" cy="397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74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868732" y="405937"/>
            <a:ext cx="1045575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written description of the relationship can also be used to find the slope.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written description to complete the statements describing how to find the slope. 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9525"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balance of </a:t>
            </a: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Lavar’s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lunch account is     		each school day, so the slope is 		  It changes by             each school day, so the slope is</a:t>
            </a:r>
          </a:p>
          <a:p>
            <a:pPr indent="454025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indent="4540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 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2618841C-8536-D045-B22C-9FD4C46ACC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1644" y="2053414"/>
            <a:ext cx="1645551" cy="737755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DCB5F90E-BC93-7D4D-ACD6-D939E2156C4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4863" y="2837372"/>
            <a:ext cx="1691030" cy="737754"/>
          </a:xfrm>
          <a:prstGeom prst="rect">
            <a:avLst/>
          </a:prstGeom>
        </p:spPr>
      </p:pic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6A9AB5-2736-214B-B3C8-5A3D759DE2B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5366" y="2875505"/>
            <a:ext cx="899884" cy="699621"/>
          </a:xfrm>
          <a:prstGeom prst="rect">
            <a:avLst/>
          </a:prstGeom>
        </p:spPr>
      </p:pic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BE0D9B8E-F33A-C844-8E3E-5A283D355C1C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9393" y="3619092"/>
            <a:ext cx="894312" cy="109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97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/>
              <p:nvPr/>
            </p:nvSpPr>
            <p:spPr>
              <a:xfrm>
                <a:off x="671333" y="452829"/>
                <a:ext cx="1096968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127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Tabitha earns money mowing lawns each weekend. She charges customers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$15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per hour to mow their lawn, in addition to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flat fee she charges them for gasoline and other supplies she’ll need.</a:t>
                </a:r>
              </a:p>
              <a:p>
                <a:pPr indent="45402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values are given in the context. Explain which value represents the rate of change.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whether the rate of change represents an increase or decrease in the amount of money Tabitha earns. Show your work or explain your answer.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73A2A6-9DA9-8B48-AD63-98A2F0C5B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33" y="452829"/>
                <a:ext cx="10969681" cy="4093428"/>
              </a:xfrm>
              <a:prstGeom prst="rect">
                <a:avLst/>
              </a:prstGeom>
              <a:blipFill>
                <a:blip r:embed="rId4"/>
                <a:stretch>
                  <a:fillRect l="-462" t="-617" r="-925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304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3A2A6-9DA9-8B48-AD63-98A2F0C5B480}"/>
              </a:ext>
            </a:extLst>
          </p:cNvPr>
          <p:cNvSpPr txBox="1"/>
          <p:nvPr/>
        </p:nvSpPr>
        <p:spPr>
          <a:xfrm>
            <a:off x="788565" y="394214"/>
            <a:ext cx="10453866" cy="503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on the answers to the previous questions, what is the slope in this linear relationship?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 to interpret the slope as the rate of change for this context.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9525"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this context, the slope means that the amount of money Tabitha earns		                 by                             for every                she mows a customer’s lawn.</a:t>
            </a:r>
          </a:p>
        </p:txBody>
      </p:sp>
      <p:pic>
        <p:nvPicPr>
          <p:cNvPr id="4" name="Picture 3" descr="Shape&#10;&#10;Description automatically generated with low confidence">
            <a:extLst>
              <a:ext uri="{FF2B5EF4-FFF2-40B4-BE49-F238E27FC236}">
                <a16:creationId xmlns:a16="http://schemas.microsoft.com/office/drawing/2014/main" id="{B075AC5D-08F2-3E4B-800F-82C043AFD22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2333" y="3993304"/>
            <a:ext cx="1728856" cy="778246"/>
          </a:xfrm>
          <a:prstGeom prst="rect">
            <a:avLst/>
          </a:prstGeom>
        </p:spPr>
      </p:pic>
      <p:pic>
        <p:nvPicPr>
          <p:cNvPr id="7" name="Picture 6" descr="Rectangle&#10;&#10;Description automatically generated with low confidence">
            <a:extLst>
              <a:ext uri="{FF2B5EF4-FFF2-40B4-BE49-F238E27FC236}">
                <a16:creationId xmlns:a16="http://schemas.microsoft.com/office/drawing/2014/main" id="{0D977E6F-BB73-ED4D-B33C-B4BE59F1A0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5370" y="3993088"/>
            <a:ext cx="824786" cy="778246"/>
          </a:xfrm>
          <a:prstGeom prst="rect">
            <a:avLst/>
          </a:prstGeom>
        </p:spPr>
      </p:pic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id="{0AC35F95-295E-AE4B-81AC-329F15167F1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876" y="3993088"/>
            <a:ext cx="1341622" cy="778246"/>
          </a:xfrm>
          <a:prstGeom prst="rect">
            <a:avLst/>
          </a:prstGeom>
        </p:spPr>
      </p:pic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D9A39904-F3C6-A344-87D9-F10CEFB85AA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3860" y="3996641"/>
            <a:ext cx="1199609" cy="7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4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4E77714-D386-274E-91D8-CCDC2ECC4A5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 Box 40">
            <a:extLst>
              <a:ext uri="{FF2B5EF4-FFF2-40B4-BE49-F238E27FC236}">
                <a16:creationId xmlns:a16="http://schemas.microsoft.com/office/drawing/2014/main" id="{B950FA47-7256-E448-9FAE-ADDD404B58D3}"/>
              </a:ext>
            </a:extLst>
          </p:cNvPr>
          <p:cNvSpPr txBox="1"/>
          <p:nvPr/>
        </p:nvSpPr>
        <p:spPr>
          <a:xfrm>
            <a:off x="2781300" y="2524442"/>
            <a:ext cx="6629400" cy="1809115"/>
          </a:xfrm>
          <a:prstGeom prst="roundRect">
            <a:avLst/>
          </a:prstGeom>
          <a:solidFill>
            <a:srgbClr val="B8E6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85800">
              <a:spcAft>
                <a:spcPts val="1000"/>
              </a:spcAft>
            </a:pP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slope 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rate of change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one quantity is changing by in terms of another quantity. When interpreting the rate of change in a real-world context, </a:t>
            </a: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units for both quantities</a:t>
            </a: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included.</a:t>
            </a:r>
            <a:endParaRPr lang="en-CO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EBDD580F-3DAF-A641-9161-250CB2D5E6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1391" y="2631872"/>
            <a:ext cx="539750" cy="539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8351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19747" y="2766150"/>
            <a:ext cx="70702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165D0B5-52D2-CC41-810E-FB38F4051ED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DDD927A-DC08-5A4D-94DC-71CFD43779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5" cy="11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7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8066" y="0"/>
            <a:ext cx="105973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7.2.3 Guided Practice: Relating Slope to Rate of Change in Real-World Context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632" y="1298404"/>
            <a:ext cx="11004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linear relationship, determine the rate of change and interpret its meaning in the given context.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50A99FA2-9290-2145-A01D-ABA0B73001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041B5CD4-CC42-0F4B-943E-884AD3405A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8034" cy="748034"/>
          </a:xfrm>
          <a:prstGeom prst="rect">
            <a:avLst/>
          </a:prstGeom>
        </p:spPr>
      </p:pic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81744D01-A8B6-1442-A5EA-D9938D0AA92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0241" y="2403766"/>
            <a:ext cx="6091518" cy="331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59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50A99FA2-9290-2145-A01D-ABA0B73001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8DF205D9-F205-394F-97D2-844713F023A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1741" y="1070178"/>
            <a:ext cx="6348519" cy="470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9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50A99FA2-9290-2145-A01D-ABA0B73001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D3917273-4CEA-0E4D-94F6-25BFF6B2DAA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1385" y="1689140"/>
            <a:ext cx="6409230" cy="347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16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51713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DA0EA8E-2638-534E-8203-6C9A442EA8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52928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5262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4" y="-8597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7.2.4 Your Turn!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7" y="1198486"/>
            <a:ext cx="11098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linear relationship, determine the rate of change and interpret its meaning in the given context.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B960D343-710A-634F-A7B3-EA3C3EC0957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616" y="201168"/>
            <a:ext cx="747302" cy="747302"/>
          </a:xfrm>
          <a:prstGeom prst="rect">
            <a:avLst/>
          </a:prstGeom>
        </p:spPr>
      </p:pic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8F906ECB-CD7D-1F4D-8952-FA35B33FA25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0753" y="2430140"/>
            <a:ext cx="5970494" cy="408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34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DEF4616-35BD-5F4A-BFA0-7A1C3A76021C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673D002-56C7-DA4B-B438-9388DB3A222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4532" y="1788514"/>
            <a:ext cx="6062936" cy="328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57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F60DB99-BF32-8E48-804D-E08F136BAB8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-90042"/>
            <a:ext cx="105912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730265" y="1457543"/>
            <a:ext cx="110983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Yingjie tracked the cost of purchasing gasoline and the number of gallons he bought. His table is shown where 𝑥 represents the number of gallons purchased, and 𝑦 represents the cost in dollars.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2B02AA2-63EE-8541-95D9-38B736D2B86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23D275B-DD80-9740-83EE-564DDBCB71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399812"/>
                  </p:ext>
                </p:extLst>
              </p:nvPr>
            </p:nvGraphicFramePr>
            <p:xfrm>
              <a:off x="5383513" y="3084069"/>
              <a:ext cx="1791822" cy="2232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95911">
                      <a:extLst>
                        <a:ext uri="{9D8B030D-6E8A-4147-A177-3AD203B41FA5}">
                          <a16:colId xmlns:a16="http://schemas.microsoft.com/office/drawing/2014/main" val="153923790"/>
                        </a:ext>
                      </a:extLst>
                    </a:gridCol>
                    <a:gridCol w="895911">
                      <a:extLst>
                        <a:ext uri="{9D8B030D-6E8A-4147-A177-3AD203B41FA5}">
                          <a16:colId xmlns:a16="http://schemas.microsoft.com/office/drawing/2014/main" val="2869301225"/>
                        </a:ext>
                      </a:extLst>
                    </a:gridCol>
                  </a:tblGrid>
                  <a:tr h="4410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CO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CO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0821551"/>
                      </a:ext>
                    </a:extLst>
                  </a:tr>
                  <a:tr h="4410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5.4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19.71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7254351"/>
                      </a:ext>
                    </a:extLst>
                  </a:tr>
                  <a:tr h="4410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21.90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8232114"/>
                      </a:ext>
                    </a:extLst>
                  </a:tr>
                  <a:tr h="4410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54.75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8822185"/>
                      </a:ext>
                    </a:extLst>
                  </a:tr>
                  <a:tr h="46786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CO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>
                                    <a:effectLst/>
                                    <a:latin typeface="Cambria Math" panose="02040503050406030204" pitchFamily="18" charset="0"/>
                                  </a:rPr>
                                  <m:t>62.05</m:t>
                                </m:r>
                              </m:oMath>
                            </m:oMathPara>
                          </a14:m>
                          <a:endParaRPr lang="en-CO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3471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23D275B-DD80-9740-83EE-564DDBCB71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399812"/>
                  </p:ext>
                </p:extLst>
              </p:nvPr>
            </p:nvGraphicFramePr>
            <p:xfrm>
              <a:off x="5383513" y="3084069"/>
              <a:ext cx="1791822" cy="22321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895911">
                      <a:extLst>
                        <a:ext uri="{9D8B030D-6E8A-4147-A177-3AD203B41FA5}">
                          <a16:colId xmlns:a16="http://schemas.microsoft.com/office/drawing/2014/main" val="153923790"/>
                        </a:ext>
                      </a:extLst>
                    </a:gridCol>
                    <a:gridCol w="895911">
                      <a:extLst>
                        <a:ext uri="{9D8B030D-6E8A-4147-A177-3AD203B41FA5}">
                          <a16:colId xmlns:a16="http://schemas.microsoft.com/office/drawing/2014/main" val="2869301225"/>
                        </a:ext>
                      </a:extLst>
                    </a:gridCol>
                  </a:tblGrid>
                  <a:tr h="441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857" r="-102817" b="-4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2857" r="-2817" b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0821551"/>
                      </a:ext>
                    </a:extLst>
                  </a:tr>
                  <a:tr h="441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2857" r="-102817" b="-3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102857" r="-2817" b="-3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7254351"/>
                      </a:ext>
                    </a:extLst>
                  </a:tr>
                  <a:tr h="441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2857" r="-102817" b="-2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202857" r="-2817" b="-2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8232114"/>
                      </a:ext>
                    </a:extLst>
                  </a:tr>
                  <a:tr h="441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2857" r="-102817" b="-1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302857" r="-2817" b="-1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8822185"/>
                      </a:ext>
                    </a:extLst>
                  </a:tr>
                  <a:tr h="4678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81081" r="-102817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699" marR="82699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00" t="-381081" r="-2817" b="-54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3471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4BAAA"/>
          </a:solidFill>
          <a:ln w="9525" cap="flat" cmpd="sng">
            <a:solidFill>
              <a:srgbClr val="14BAA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C5015EC-6F43-1C4A-AD6C-B1BEBDFEE113}"/>
              </a:ext>
            </a:extLst>
          </p:cNvPr>
          <p:cNvSpPr/>
          <p:nvPr/>
        </p:nvSpPr>
        <p:spPr>
          <a:xfrm>
            <a:off x="825564" y="704179"/>
            <a:ext cx="101941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rate of change?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rate of change.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42B02AA2-63EE-8541-95D9-38B736D2B86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26109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1842</TotalTime>
  <Words>843</Words>
  <Application>Microsoft Office PowerPoint</Application>
  <PresentationFormat>Widescreen</PresentationFormat>
  <Paragraphs>128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Cambria</vt:lpstr>
      <vt:lpstr>1_Office Theme</vt:lpstr>
      <vt:lpstr>8th Grade Math:  Pre-Algebra  Unit 7, Lesson 2  Slope in Real-World Contexts  Volume 1, pg. 288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26</cp:revision>
  <dcterms:created xsi:type="dcterms:W3CDTF">2015-03-17T18:51:18Z</dcterms:created>
  <dcterms:modified xsi:type="dcterms:W3CDTF">2022-06-16T15:20:22Z</dcterms:modified>
</cp:coreProperties>
</file>