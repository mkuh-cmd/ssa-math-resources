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85" r:id="rId4"/>
    <p:sldId id="286" r:id="rId5"/>
    <p:sldId id="261" r:id="rId6"/>
    <p:sldId id="287" r:id="rId7"/>
    <p:sldId id="366" r:id="rId8"/>
    <p:sldId id="362" r:id="rId9"/>
    <p:sldId id="363" r:id="rId10"/>
    <p:sldId id="364" r:id="rId11"/>
    <p:sldId id="365" r:id="rId12"/>
    <p:sldId id="367" r:id="rId13"/>
    <p:sldId id="371" r:id="rId14"/>
    <p:sldId id="289" r:id="rId15"/>
    <p:sldId id="290" r:id="rId16"/>
    <p:sldId id="353" r:id="rId17"/>
    <p:sldId id="345" r:id="rId18"/>
    <p:sldId id="346" r:id="rId19"/>
    <p:sldId id="361" r:id="rId20"/>
    <p:sldId id="306" r:id="rId21"/>
    <p:sldId id="307" r:id="rId22"/>
    <p:sldId id="370" r:id="rId23"/>
  </p:sldIdLst>
  <p:sldSz cx="12192000" cy="6858000"/>
  <p:notesSz cx="6858000" cy="9144000"/>
  <p:embeddedFontLst>
    <p:embeddedFont>
      <p:font typeface="Arial Black" panose="020B0A04020102020204" pitchFamily="34" charset="0"/>
      <p:regular r:id="rId25"/>
      <p:bold r:id="rId26"/>
    </p:embeddedFont>
    <p:embeddedFont>
      <p:font typeface="Calibri" panose="020F0502020204030204" pitchFamily="34" charset="0"/>
      <p:regular r:id="rId27"/>
      <p:bold r:id="rId28"/>
      <p:italic r:id="rId29"/>
      <p:boldItalic r:id="rId30"/>
    </p:embeddedFont>
    <p:embeddedFont>
      <p:font typeface="Cambria Math" panose="02040503050406030204" pitchFamily="18" charset="0"/>
      <p:regular r:id="rId31"/>
    </p:embeddedFont>
    <p:embeddedFont>
      <p:font typeface="Century Gothic" panose="020B0502020202020204" pitchFamily="34" charset="0"/>
      <p:regular r:id="rId32"/>
      <p:bold r:id="rId33"/>
      <p:italic r:id="rId34"/>
      <p:boldItalic r:id="rId35"/>
    </p:embeddedFont>
    <p:embeddedFont>
      <p:font typeface="Verdana" panose="020B0604030504040204" pitchFamily="34" charset="0"/>
      <p:regular r:id="rId36"/>
      <p:bold r:id="rId37"/>
      <p:italic r:id="rId38"/>
      <p:boldItalic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BEA6"/>
    <a:srgbClr val="2DA48F"/>
    <a:srgbClr val="E24E5F"/>
    <a:srgbClr val="14BAAA"/>
    <a:srgbClr val="1F3165"/>
    <a:srgbClr val="C9DF6F"/>
    <a:srgbClr val="417DBF"/>
    <a:srgbClr val="3F2A67"/>
    <a:srgbClr val="26B7D4"/>
    <a:srgbClr val="54B5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55"/>
    <p:restoredTop sz="94719"/>
  </p:normalViewPr>
  <p:slideViewPr>
    <p:cSldViewPr snapToGrid="0">
      <p:cViewPr varScale="1">
        <p:scale>
          <a:sx n="81" d="100"/>
          <a:sy n="81" d="100"/>
        </p:scale>
        <p:origin x="732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9" Type="http://schemas.openxmlformats.org/officeDocument/2006/relationships/font" Target="fonts/font15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10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38" Type="http://schemas.openxmlformats.org/officeDocument/2006/relationships/font" Target="fonts/font14.fntdata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37" Type="http://schemas.openxmlformats.org/officeDocument/2006/relationships/font" Target="fonts/font13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36" Type="http://schemas.openxmlformats.org/officeDocument/2006/relationships/font" Target="fonts/font12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font" Target="fonts/font11.fntdata"/><Relationship Id="rId56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405071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607895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971193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709508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493983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9984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5058403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88651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27792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9601224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5959177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0023388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108627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793679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2.png"/><Relationship Id="rId5" Type="http://schemas.openxmlformats.org/officeDocument/2006/relationships/image" Target="../media/image210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019659" y="2054275"/>
            <a:ext cx="5071872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8</a:t>
            </a:r>
            <a:r>
              <a:rPr lang="en-US" sz="32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Math: </a:t>
            </a:r>
            <a:b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Pre-Algebra</a:t>
            </a:r>
            <a:b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2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7, Lesson 8</a:t>
            </a:r>
            <a:b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Writing Equations of Linear Relationships</a:t>
            </a:r>
            <a:b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4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322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2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28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70701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6" name="Picture 5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2A3C5103-2A81-6549-8F91-96E646058367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640" y="1745080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237332" y="-88032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Benchmarks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322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730266" y="1326150"/>
            <a:ext cx="10560586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28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MA.8.AR.3.2</a:t>
            </a:r>
          </a:p>
          <a:p>
            <a:pPr indent="0">
              <a:buNone/>
            </a:pP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Given a table, graph, or written description of a linear relationship, determine the slope.</a:t>
            </a:r>
          </a:p>
          <a:p>
            <a:pPr indent="0">
              <a:buNone/>
            </a:pPr>
            <a:endParaRPr lang="en-US" sz="28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0" indent="0">
              <a:buSzPts val="1100"/>
              <a:buNone/>
            </a:pPr>
            <a:r>
              <a:rPr lang="en-US" sz="28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MA.8.AR.3.3</a:t>
            </a:r>
          </a:p>
          <a:p>
            <a:pPr indent="0">
              <a:buNone/>
            </a:pP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Given a table, graph or written description of a linear relationship, write an equation in slope-intercept form.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237331" y="12325"/>
            <a:ext cx="10689625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730265" y="1506938"/>
            <a:ext cx="10868699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>
              <a:buSzPts val="523"/>
            </a:pP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</p:txBody>
      </p:sp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EA0AD432-BE20-B448-A5A9-8CD773AADC0B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322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237332" y="-88032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Targets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730266" y="1451113"/>
            <a:ext cx="1103766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63550" indent="-463550">
              <a:buFont typeface="Wingdings" pitchFamily="2" charset="2"/>
              <a:buChar char="q"/>
            </a:pP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write the equation of a linear relationship in slope‑intercept form given a graph or a table of values.</a:t>
            </a:r>
          </a:p>
          <a:p>
            <a:pPr marL="463550" indent="-463550">
              <a:buFont typeface="Wingdings" pitchFamily="2" charset="2"/>
              <a:buChar char="q"/>
            </a:pPr>
            <a:endParaRPr lang="en-US" sz="28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63550" indent="-463550">
              <a:buFont typeface="Wingdings" pitchFamily="2" charset="2"/>
              <a:buChar char="q"/>
            </a:pP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determine the slope of a line from a graph or a table, given a mathematical context.</a:t>
            </a: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EDC17A3E-E5EE-EC40-B29A-E421DAE5693D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322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54096" y="2852928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264029" y="2766150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6F31B6B4-B590-E041-8707-FCB8D7FBCF3F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322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237332" y="-88809"/>
            <a:ext cx="9795103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7.8.1 Warm-Up: The Need for Speed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287C5FEC-A86F-3B40-BDC7-FA3BB8FD6EBF}"/>
                  </a:ext>
                </a:extLst>
              </p:cNvPr>
              <p:cNvSpPr/>
              <p:nvPr/>
            </p:nvSpPr>
            <p:spPr>
              <a:xfrm>
                <a:off x="730266" y="1271195"/>
                <a:ext cx="6008464" cy="34778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2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The fastest jet in the world is the Lockheed SR-71 Blackbird. On its last flight, March 6, 1990, a record speed was recorded by flying from Los Angeles, CA to Washington, D.C. in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 hour,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4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 minutes, and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20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 seconds. </a:t>
                </a:r>
              </a:p>
              <a:p>
                <a:endParaRPr lang="en-US" sz="2200" dirty="0">
                  <a:latin typeface="Verdana" panose="020B0604030504040204" pitchFamily="34" charset="0"/>
                  <a:ea typeface="Times New Roman" panose="02020603050405020304" pitchFamily="18" charset="0"/>
                </a:endParaRPr>
              </a:p>
              <a:p>
                <a:r>
                  <a:rPr lang="en-US" sz="22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A typical passenger airplane completed the same route in about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4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 hours and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45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 minutes. </a:t>
                </a: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287C5FEC-A86F-3B40-BDC7-FA3BB8FD6E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266" y="1271195"/>
                <a:ext cx="6008464" cy="3477875"/>
              </a:xfrm>
              <a:prstGeom prst="rect">
                <a:avLst/>
              </a:prstGeom>
              <a:blipFill>
                <a:blip r:embed="rId5"/>
                <a:stretch>
                  <a:fillRect l="-1266" t="-1460" r="-2532" b="-29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Google Shape;282;g104476d1465_1_17">
            <a:extLst>
              <a:ext uri="{FF2B5EF4-FFF2-40B4-BE49-F238E27FC236}">
                <a16:creationId xmlns:a16="http://schemas.microsoft.com/office/drawing/2014/main" id="{4FE30EAB-3CBF-6440-8C69-6613F661213A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322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9725F6C-38D2-9C48-995A-9FAD699D65D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314750" y="1286282"/>
            <a:ext cx="3739485" cy="2042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C91E5FA-7EDB-B34A-A0BD-4B0EEA4FA50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465103" y="3601418"/>
            <a:ext cx="2409825" cy="20548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287C5FEC-A86F-3B40-BDC7-FA3BB8FD6EBF}"/>
                  </a:ext>
                </a:extLst>
              </p:cNvPr>
              <p:cNvSpPr/>
              <p:nvPr/>
            </p:nvSpPr>
            <p:spPr>
              <a:xfrm>
                <a:off x="724973" y="410512"/>
                <a:ext cx="10784539" cy="230832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The flight distance between Los Angeles, CA and Washington, D.C. is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2,280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 miles. </a:t>
                </a:r>
              </a:p>
              <a:p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</a:endParaRPr>
              </a:p>
              <a:p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What was the Blackbird's average speed when it set the record speed? Round your answer to the hundredths place.</a:t>
                </a: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287C5FEC-A86F-3B40-BDC7-FA3BB8FD6E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973" y="410512"/>
                <a:ext cx="10784539" cy="2308324"/>
              </a:xfrm>
              <a:prstGeom prst="rect">
                <a:avLst/>
              </a:prstGeom>
              <a:blipFill>
                <a:blip r:embed="rId4"/>
                <a:stretch>
                  <a:fillRect l="-941" t="-2186" b="-4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Google Shape;282;g104476d1465_1_17">
            <a:extLst>
              <a:ext uri="{FF2B5EF4-FFF2-40B4-BE49-F238E27FC236}">
                <a16:creationId xmlns:a16="http://schemas.microsoft.com/office/drawing/2014/main" id="{4FE30EAB-3CBF-6440-8C69-6613F661213A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322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536424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212246" y="2766150"/>
            <a:ext cx="6134648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012C2045-51C2-0247-977E-8C677D26B70E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323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Picture 7" descr="Icon&#10;&#10;Description automatically generated">
            <a:extLst>
              <a:ext uri="{FF2B5EF4-FFF2-40B4-BE49-F238E27FC236}">
                <a16:creationId xmlns:a16="http://schemas.microsoft.com/office/drawing/2014/main" id="{EC70AD30-24CB-C642-BCC8-46F63D502D4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54096" y="2852928"/>
            <a:ext cx="1158150" cy="11581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5985870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237334" y="-56858"/>
            <a:ext cx="10212543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7.8.2 Guided Practice: Writing the Equation of a Linear Relationship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01B13E8-EC8D-E443-A329-C5E3593DD13A}"/>
              </a:ext>
            </a:extLst>
          </p:cNvPr>
          <p:cNvSpPr txBox="1"/>
          <p:nvPr/>
        </p:nvSpPr>
        <p:spPr>
          <a:xfrm>
            <a:off x="730266" y="1312395"/>
            <a:ext cx="109780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For each linear relationship shown, work with your partner to determine the slope and 𝑦-intercept of the line.</a:t>
            </a:r>
          </a:p>
        </p:txBody>
      </p:sp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F4E77714-D386-274E-91D8-CCDC2ECC4A5A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323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Picture 8" descr="Icon&#10;&#10;Description automatically generated">
            <a:extLst>
              <a:ext uri="{FF2B5EF4-FFF2-40B4-BE49-F238E27FC236}">
                <a16:creationId xmlns:a16="http://schemas.microsoft.com/office/drawing/2014/main" id="{858EEDB8-0F13-D144-A84D-AFB280A027D5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6616" y="201168"/>
            <a:ext cx="747303" cy="747303"/>
          </a:xfrm>
          <a:prstGeom prst="rect">
            <a:avLst/>
          </a:prstGeom>
        </p:spPr>
      </p:pic>
      <p:pic>
        <p:nvPicPr>
          <p:cNvPr id="3" name="Picture 2" descr="Chart, line chart&#10;&#10;Description automatically generated">
            <a:extLst>
              <a:ext uri="{FF2B5EF4-FFF2-40B4-BE49-F238E27FC236}">
                <a16:creationId xmlns:a16="http://schemas.microsoft.com/office/drawing/2014/main" id="{FA81A820-98F8-B64B-A061-A840595E176C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72678" y="2237681"/>
            <a:ext cx="5446643" cy="4002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1855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F4E77714-D386-274E-91D8-CCDC2ECC4A5A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323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Picture 6" descr="Table&#10;&#10;Description automatically generated">
            <a:extLst>
              <a:ext uri="{FF2B5EF4-FFF2-40B4-BE49-F238E27FC236}">
                <a16:creationId xmlns:a16="http://schemas.microsoft.com/office/drawing/2014/main" id="{63CE1B82-EB19-8F4D-B6DB-9B6A6E6A72A1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92593" y="2110489"/>
            <a:ext cx="7206814" cy="2637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4080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F4E77714-D386-274E-91D8-CCDC2ECC4A5A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323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Picture 6" descr="Chart, line chart&#10;&#10;Description automatically generated">
            <a:extLst>
              <a:ext uri="{FF2B5EF4-FFF2-40B4-BE49-F238E27FC236}">
                <a16:creationId xmlns:a16="http://schemas.microsoft.com/office/drawing/2014/main" id="{B8151D6F-67CE-2C40-B28F-56BA37496585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97730" y="348219"/>
            <a:ext cx="5796541" cy="420992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 Box 40">
                <a:extLst>
                  <a:ext uri="{FF2B5EF4-FFF2-40B4-BE49-F238E27FC236}">
                    <a16:creationId xmlns:a16="http://schemas.microsoft.com/office/drawing/2014/main" id="{73F95A78-5F07-E14A-98D6-A443D2105AD0}"/>
                  </a:ext>
                </a:extLst>
              </p:cNvPr>
              <p:cNvSpPr txBox="1"/>
              <p:nvPr/>
            </p:nvSpPr>
            <p:spPr>
              <a:xfrm>
                <a:off x="2781300" y="4947011"/>
                <a:ext cx="6629400" cy="1510665"/>
              </a:xfrm>
              <a:prstGeom prst="roundRect">
                <a:avLst/>
              </a:prstGeom>
              <a:solidFill>
                <a:srgbClr val="B8E6F5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685800"/>
                <a:r>
                  <a:rPr lang="en-US" sz="1800" b="1" dirty="0">
                    <a:solidFill>
                      <a:srgbClr val="0075BF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Slope-intercept form</a:t>
                </a:r>
                <a:r>
                  <a:rPr lang="en-US" sz="1800" dirty="0">
                    <a:solidFill>
                      <a:srgbClr val="0075BF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of linear equations is written in the form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rgbClr val="0075BF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𝑦</m:t>
                    </m:r>
                    <m:r>
                      <a:rPr lang="en-US" sz="1800" i="1">
                        <a:solidFill>
                          <a:srgbClr val="0075BF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</m:t>
                    </m:r>
                    <m:r>
                      <a:rPr lang="en-US" sz="1800" i="1">
                        <a:solidFill>
                          <a:srgbClr val="0075BF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𝑚𝑥</m:t>
                    </m:r>
                    <m:r>
                      <a:rPr lang="en-US" sz="1800" i="1">
                        <a:solidFill>
                          <a:srgbClr val="0075BF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+</m:t>
                    </m:r>
                    <m:r>
                      <a:rPr lang="en-US" sz="1800" i="1">
                        <a:solidFill>
                          <a:srgbClr val="0075BF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𝑏</m:t>
                    </m:r>
                  </m:oMath>
                </a14:m>
                <a:r>
                  <a:rPr lang="en-US" sz="1800" dirty="0">
                    <a:solidFill>
                      <a:srgbClr val="0075BF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where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rgbClr val="0075BF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𝑚</m:t>
                    </m:r>
                  </m:oMath>
                </a14:m>
                <a:r>
                  <a:rPr lang="en-US" sz="1800" dirty="0">
                    <a:solidFill>
                      <a:srgbClr val="0075BF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the slope, or rate of change, of the graph, </a:t>
                </a:r>
                <a:endParaRPr lang="en-CO" sz="1200" dirty="0"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685800">
                  <a:spcAft>
                    <a:spcPts val="1000"/>
                  </a:spcAft>
                </a:pPr>
                <a:r>
                  <a:rPr lang="en-US" sz="1800" dirty="0">
                    <a:solidFill>
                      <a:srgbClr val="0075BF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rgbClr val="0075BF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𝑏</m:t>
                    </m:r>
                  </m:oMath>
                </a14:m>
                <a:r>
                  <a:rPr lang="en-US" sz="1800" dirty="0">
                    <a:solidFill>
                      <a:srgbClr val="0075BF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the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rgbClr val="0075BF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𝑦</m:t>
                    </m:r>
                  </m:oMath>
                </a14:m>
                <a:r>
                  <a:rPr lang="en-US" sz="1800" dirty="0">
                    <a:solidFill>
                      <a:srgbClr val="0075BF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-intercept of the graph.</a:t>
                </a:r>
                <a:endParaRPr lang="en-CO" sz="1200" dirty="0"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Text Box 40">
                <a:extLst>
                  <a:ext uri="{FF2B5EF4-FFF2-40B4-BE49-F238E27FC236}">
                    <a16:creationId xmlns:a16="http://schemas.microsoft.com/office/drawing/2014/main" id="{73F95A78-5F07-E14A-98D6-A443D2105A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1300" y="4947011"/>
                <a:ext cx="6629400" cy="1510665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13" descr="Icon&#10;&#10;Description automatically generated">
            <a:extLst>
              <a:ext uri="{FF2B5EF4-FFF2-40B4-BE49-F238E27FC236}">
                <a16:creationId xmlns:a16="http://schemas.microsoft.com/office/drawing/2014/main" id="{3C15A8D4-35AA-4C45-99B7-2BEA35B46DC5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29916" y="5109584"/>
            <a:ext cx="539750" cy="5397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997761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F4E77714-D386-274E-91D8-CCDC2ECC4A5A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324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5E72D2-E843-6B4E-AD22-60F9B12C178D}"/>
              </a:ext>
            </a:extLst>
          </p:cNvPr>
          <p:cNvSpPr txBox="1"/>
          <p:nvPr/>
        </p:nvSpPr>
        <p:spPr>
          <a:xfrm>
            <a:off x="754721" y="331786"/>
            <a:ext cx="107150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Use the slope and 𝑦-intercept for each linear relationship to write the equation of each line in slope-intercept form.</a:t>
            </a:r>
          </a:p>
        </p:txBody>
      </p:sp>
      <p:pic>
        <p:nvPicPr>
          <p:cNvPr id="3" name="Picture 2" descr="Chart, line chart&#10;&#10;Description automatically generated">
            <a:extLst>
              <a:ext uri="{FF2B5EF4-FFF2-40B4-BE49-F238E27FC236}">
                <a16:creationId xmlns:a16="http://schemas.microsoft.com/office/drawing/2014/main" id="{C1055AF9-2DDC-0D4B-A35C-0371265F57B8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24586" y="1278298"/>
            <a:ext cx="4742827" cy="4940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5794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F4E77714-D386-274E-91D8-CCDC2ECC4A5A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324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Picture 3" descr="Chart, line chart&#10;&#10;Description automatically generated">
            <a:extLst>
              <a:ext uri="{FF2B5EF4-FFF2-40B4-BE49-F238E27FC236}">
                <a16:creationId xmlns:a16="http://schemas.microsoft.com/office/drawing/2014/main" id="{8179F921-78CD-1E45-9B56-585C0DF9E8BA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62766" y="1499130"/>
            <a:ext cx="6066468" cy="3859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18653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3723681" y="276615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Activity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012C2045-51C2-0247-977E-8C677D26B70E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325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Picture 7" descr="Icon&#10;&#10;Description automatically generated">
            <a:extLst>
              <a:ext uri="{FF2B5EF4-FFF2-40B4-BE49-F238E27FC236}">
                <a16:creationId xmlns:a16="http://schemas.microsoft.com/office/drawing/2014/main" id="{C666F637-4880-714C-8582-0A7E1B44327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54096" y="2852928"/>
            <a:ext cx="1158150" cy="11581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026124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238347" y="-87525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7.8.3 Activity: Gallery Walk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01B13E8-EC8D-E443-A329-C5E3593DD13A}"/>
              </a:ext>
            </a:extLst>
          </p:cNvPr>
          <p:cNvSpPr txBox="1"/>
          <p:nvPr/>
        </p:nvSpPr>
        <p:spPr>
          <a:xfrm>
            <a:off x="724973" y="1238175"/>
            <a:ext cx="1083423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Several students wrote equations to represent linear relationships given as tables or graphs, but each student made at least one error.</a:t>
            </a:r>
          </a:p>
          <a:p>
            <a:pPr lvl="0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lvl="0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With your partner or small group, complete the table by analyzing each student’s work to identify their error(s). Then write the correct equation for each linear relationship.</a:t>
            </a:r>
          </a:p>
        </p:txBody>
      </p:sp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F4E77714-D386-274E-91D8-CCDC2ECC4A5A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325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Picture 8" descr="Icon&#10;&#10;Description automatically generated">
            <a:extLst>
              <a:ext uri="{FF2B5EF4-FFF2-40B4-BE49-F238E27FC236}">
                <a16:creationId xmlns:a16="http://schemas.microsoft.com/office/drawing/2014/main" id="{6B34423E-C331-3741-A5F7-81D596AB2E21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6616" y="201168"/>
            <a:ext cx="748315" cy="748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4578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F4E77714-D386-274E-91D8-CCDC2ECC4A5A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325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72F23AF-E01A-AF49-BD5F-058A344BB2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7818144"/>
              </p:ext>
            </p:extLst>
          </p:nvPr>
        </p:nvGraphicFramePr>
        <p:xfrm>
          <a:off x="2716696" y="1129900"/>
          <a:ext cx="6758607" cy="4598200"/>
        </p:xfrm>
        <a:graphic>
          <a:graphicData uri="http://schemas.openxmlformats.org/drawingml/2006/table">
            <a:tbl>
              <a:tblPr bandRow="1">
                <a:tableStyleId>{A91F0D33-8C57-4600-99A7-42BC86742BE1}</a:tableStyleId>
              </a:tblPr>
              <a:tblGrid>
                <a:gridCol w="1962622">
                  <a:extLst>
                    <a:ext uri="{9D8B030D-6E8A-4147-A177-3AD203B41FA5}">
                      <a16:colId xmlns:a16="http://schemas.microsoft.com/office/drawing/2014/main" val="278810385"/>
                    </a:ext>
                  </a:extLst>
                </a:gridCol>
                <a:gridCol w="2692637">
                  <a:extLst>
                    <a:ext uri="{9D8B030D-6E8A-4147-A177-3AD203B41FA5}">
                      <a16:colId xmlns:a16="http://schemas.microsoft.com/office/drawing/2014/main" val="1335914987"/>
                    </a:ext>
                  </a:extLst>
                </a:gridCol>
                <a:gridCol w="2103348">
                  <a:extLst>
                    <a:ext uri="{9D8B030D-6E8A-4147-A177-3AD203B41FA5}">
                      <a16:colId xmlns:a16="http://schemas.microsoft.com/office/drawing/2014/main" val="3634654287"/>
                    </a:ext>
                  </a:extLst>
                </a:gridCol>
              </a:tblGrid>
              <a:tr h="34751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Student’s Name</a:t>
                      </a:r>
                      <a:endParaRPr lang="en-CO" sz="900" b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0836" marR="4083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What error(s) did they make?</a:t>
                      </a:r>
                      <a:endParaRPr lang="en-CO" sz="900" b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0836" marR="4083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Correct Equation</a:t>
                      </a:r>
                      <a:endParaRPr lang="en-CO" sz="900" b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0836" marR="4083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9915539"/>
                  </a:ext>
                </a:extLst>
              </a:tr>
              <a:tr h="104287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Sophia</a:t>
                      </a:r>
                      <a:endParaRPr lang="en-CO" sz="9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0836" marR="4083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en-CO" sz="9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0836" marR="4083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en-CO" sz="9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0836" marR="4083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6408158"/>
                  </a:ext>
                </a:extLst>
              </a:tr>
              <a:tr h="104287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Austin</a:t>
                      </a:r>
                      <a:endParaRPr lang="en-CO" sz="9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0836" marR="4083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en-CO" sz="9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0836" marR="4083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en-CO" sz="9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0836" marR="4083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2777591"/>
                  </a:ext>
                </a:extLst>
              </a:tr>
              <a:tr h="104287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Caleb</a:t>
                      </a:r>
                      <a:endParaRPr lang="en-CO" sz="9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0836" marR="4083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en-CO" sz="9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0836" marR="4083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en-CO" sz="9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0836" marR="4083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2791317"/>
                  </a:ext>
                </a:extLst>
              </a:tr>
              <a:tr h="104287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Hailey</a:t>
                      </a:r>
                      <a:endParaRPr lang="en-CO" sz="9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0836" marR="4083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en-CO" sz="9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0836" marR="4083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en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0836" marR="4083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95584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79748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212246" y="276615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3005AFD-D615-1344-BDC0-5A40F6454816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325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Picture 6" descr="Icon&#10;&#10;Description automatically generated">
            <a:extLst>
              <a:ext uri="{FF2B5EF4-FFF2-40B4-BE49-F238E27FC236}">
                <a16:creationId xmlns:a16="http://schemas.microsoft.com/office/drawing/2014/main" id="{FDA0EA8E-2638-534E-8203-6C9A442EA8A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54096" y="2852928"/>
            <a:ext cx="1158150" cy="11581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352628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128438" y="-73152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7.8.4 Your Turn!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01B13E8-EC8D-E443-A329-C5E3593DD13A}"/>
              </a:ext>
            </a:extLst>
          </p:cNvPr>
          <p:cNvSpPr txBox="1"/>
          <p:nvPr/>
        </p:nvSpPr>
        <p:spPr>
          <a:xfrm>
            <a:off x="730267" y="1215390"/>
            <a:ext cx="105009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Write the equation of each line in slope-intercept form.</a:t>
            </a:r>
          </a:p>
        </p:txBody>
      </p:sp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DEF4616-35BD-5F4A-BFA0-7A1C3A76021C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325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" name="Picture 15" descr="Icon&#10;&#10;Description automatically generated">
            <a:extLst>
              <a:ext uri="{FF2B5EF4-FFF2-40B4-BE49-F238E27FC236}">
                <a16:creationId xmlns:a16="http://schemas.microsoft.com/office/drawing/2014/main" id="{B960D343-710A-634F-A7B3-EA3C3EC09571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6616" y="201168"/>
            <a:ext cx="747302" cy="747302"/>
          </a:xfrm>
          <a:prstGeom prst="rect">
            <a:avLst/>
          </a:prstGeom>
        </p:spPr>
      </p:pic>
      <p:pic>
        <p:nvPicPr>
          <p:cNvPr id="3" name="Picture 2" descr="Table&#10;&#10;Description automatically generated">
            <a:extLst>
              <a:ext uri="{FF2B5EF4-FFF2-40B4-BE49-F238E27FC236}">
                <a16:creationId xmlns:a16="http://schemas.microsoft.com/office/drawing/2014/main" id="{6E7E80EC-1D90-C042-BF05-BCE21801D92E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98454" y="2125758"/>
            <a:ext cx="5595091" cy="390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4340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DEF4616-35BD-5F4A-BFA0-7A1C3A76021C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325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 descr="Chart, line chart&#10;&#10;Description automatically generated">
            <a:extLst>
              <a:ext uri="{FF2B5EF4-FFF2-40B4-BE49-F238E27FC236}">
                <a16:creationId xmlns:a16="http://schemas.microsoft.com/office/drawing/2014/main" id="{3757232E-ECCE-114D-8D8D-BD58888CA34F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7874" y="1394582"/>
            <a:ext cx="6176251" cy="4068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04572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3779348" y="2698334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4096" y="2852928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0F60DB99-BF32-8E48-804D-E08F136BAB82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326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190949" y="-88032"/>
            <a:ext cx="903370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4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7.8.5 Wrap-Up: Ticket Out the Door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C5015EC-6F43-1C4A-AD6C-B1BEBDFEE113}"/>
              </a:ext>
            </a:extLst>
          </p:cNvPr>
          <p:cNvSpPr/>
          <p:nvPr/>
        </p:nvSpPr>
        <p:spPr>
          <a:xfrm>
            <a:off x="601999" y="1272968"/>
            <a:ext cx="1114605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graph and table each represent linear relationships. Write the equation of each line in slope-intercept form.</a:t>
            </a:r>
          </a:p>
        </p:txBody>
      </p:sp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42B02AA2-63EE-8541-95D9-38B736D2B864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326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Picture 3" descr="Chart, line chart&#10;&#10;Description automatically generated">
            <a:extLst>
              <a:ext uri="{FF2B5EF4-FFF2-40B4-BE49-F238E27FC236}">
                <a16:creationId xmlns:a16="http://schemas.microsoft.com/office/drawing/2014/main" id="{F6E7A063-1E29-0848-AEF8-1AA9D79C6CDF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41638" y="2387056"/>
            <a:ext cx="5308724" cy="3812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DEF4616-35BD-5F4A-BFA0-7A1C3A76021C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326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 descr="Table&#10;&#10;Description automatically generated">
            <a:extLst>
              <a:ext uri="{FF2B5EF4-FFF2-40B4-BE49-F238E27FC236}">
                <a16:creationId xmlns:a16="http://schemas.microsoft.com/office/drawing/2014/main" id="{F3BD601C-495B-444B-995C-00C55D01D299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38061" y="1813610"/>
            <a:ext cx="6115878" cy="3230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947544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1847</TotalTime>
  <Words>663</Words>
  <Application>Microsoft Office PowerPoint</Application>
  <PresentationFormat>Widescreen</PresentationFormat>
  <Paragraphs>99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Verdana</vt:lpstr>
      <vt:lpstr>Wingdings</vt:lpstr>
      <vt:lpstr>Century Gothic</vt:lpstr>
      <vt:lpstr>Calibri</vt:lpstr>
      <vt:lpstr>Arial Black</vt:lpstr>
      <vt:lpstr>Cambria Math</vt:lpstr>
      <vt:lpstr>Arial</vt:lpstr>
      <vt:lpstr>1_Office Theme</vt:lpstr>
      <vt:lpstr>8th Grade Math:  Pre-Algebra  Unit 7, Lesson 8  Writing Equations of Linear Relationships  Volume 1, pg. 322  </vt:lpstr>
      <vt:lpstr>Benchmarks</vt:lpstr>
      <vt:lpstr>PowerPoint Presentation</vt:lpstr>
      <vt:lpstr>PowerPoint Presentation</vt:lpstr>
      <vt:lpstr>Warm-Up</vt:lpstr>
      <vt:lpstr>PowerPoint Presentation</vt:lpstr>
      <vt:lpstr>PowerPoint Presentation</vt:lpstr>
      <vt:lpstr>Guided Practice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Activity</vt:lpstr>
      <vt:lpstr>PowerPoint Presentation</vt:lpstr>
      <vt:lpstr>PowerPoint Presentation</vt:lpstr>
      <vt:lpstr>Your Turn</vt:lpstr>
      <vt:lpstr>PowerPoint Presentation</vt:lpstr>
      <vt:lpstr>PowerPoint Presentation</vt:lpstr>
      <vt:lpstr>Wrap-Up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Natasha Dease</cp:lastModifiedBy>
  <cp:revision>27</cp:revision>
  <dcterms:created xsi:type="dcterms:W3CDTF">2015-03-17T18:51:18Z</dcterms:created>
  <dcterms:modified xsi:type="dcterms:W3CDTF">2022-06-16T20:21:28Z</dcterms:modified>
</cp:coreProperties>
</file>