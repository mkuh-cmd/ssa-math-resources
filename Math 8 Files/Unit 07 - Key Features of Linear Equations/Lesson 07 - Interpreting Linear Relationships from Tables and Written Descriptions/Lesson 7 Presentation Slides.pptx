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fntdata" ContentType="application/x-fontdata"/>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slideLayouts/slideLayout9.xml" ContentType="application/vnd.openxmlformats-officedocument.presentationml.slideLayou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19.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66" r:id="rId8"/>
    <p:sldId id="289" r:id="rId9"/>
    <p:sldId id="290" r:id="rId10"/>
    <p:sldId id="353" r:id="rId11"/>
    <p:sldId id="354" r:id="rId12"/>
    <p:sldId id="355" r:id="rId13"/>
    <p:sldId id="356" r:id="rId14"/>
    <p:sldId id="357" r:id="rId15"/>
    <p:sldId id="362" r:id="rId16"/>
    <p:sldId id="363" r:id="rId17"/>
    <p:sldId id="364" r:id="rId18"/>
    <p:sldId id="365" r:id="rId19"/>
    <p:sldId id="367" r:id="rId20"/>
    <p:sldId id="345" r:id="rId21"/>
    <p:sldId id="346" r:id="rId22"/>
    <p:sldId id="361" r:id="rId23"/>
    <p:sldId id="368" r:id="rId24"/>
    <p:sldId id="369" r:id="rId25"/>
    <p:sldId id="306" r:id="rId26"/>
    <p:sldId id="307" r:id="rId27"/>
    <p:sldId id="370" r:id="rId28"/>
  </p:sldIdLst>
  <p:sldSz cx="12192000" cy="6858000"/>
  <p:notesSz cx="6858000" cy="9144000"/>
  <p:embeddedFontLst>
    <p:embeddedFont>
      <p:font typeface="Arial Black" panose="020B0604020202020204" pitchFamily="34" charset="0"/>
      <p:regular r:id="rId30"/>
      <p:bold r:id="rId31"/>
    </p:embeddedFon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Century Gothic" panose="020B0502020202020204" pitchFamily="34" charset="0"/>
      <p:regular r:id="rId37"/>
      <p:bold r:id="rId38"/>
      <p:italic r:id="rId39"/>
      <p:boldItalic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14BAAA"/>
    <a:srgbClr val="1F3165"/>
    <a:srgbClr val="C9DF6F"/>
    <a:srgbClr val="417DBF"/>
    <a:srgbClr val="3F2A67"/>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7"/>
    <p:restoredTop sz="94694"/>
  </p:normalViewPr>
  <p:slideViewPr>
    <p:cSldViewPr snapToGrid="0">
      <p:cViewPr varScale="1">
        <p:scale>
          <a:sx n="117" d="100"/>
          <a:sy n="117" d="100"/>
        </p:scale>
        <p:origin x="592"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61"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6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440507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79601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64159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268664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741048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049900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760789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397119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8709508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149398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4998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859591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8002338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210862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232696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069724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41793679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5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0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03182" y="2054275"/>
            <a:ext cx="5071872"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8</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 </a:t>
            </a: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Pre-Algebra</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7, Lesson 7</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Interpreting Linear Relationships from Tables and Written Descriptions</a:t>
            </a:r>
            <a:br>
              <a:rPr lang="en-US" sz="32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317</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7" name="Picture 6" descr="A blue sign with white text&#10;&#10;Description automatically generated with medium confidence">
            <a:extLst>
              <a:ext uri="{FF2B5EF4-FFF2-40B4-BE49-F238E27FC236}">
                <a16:creationId xmlns:a16="http://schemas.microsoft.com/office/drawing/2014/main" id="{1D9AF83E-1585-6042-A250-A7395321C4D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6" y="1326150"/>
            <a:ext cx="1069973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MA.8.AR.3.5</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 real-world context, determine and interpret the slope and 𝑦-intercept of a two-variable linear equation from a written description, a table, a graph or an equation in slope-intercept 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37332" y="0"/>
            <a:ext cx="104669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0266" y="1403350"/>
            <a:ext cx="1065909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9" name="Google Shape;282;g104476d1465_1_17">
            <a:extLst>
              <a:ext uri="{FF2B5EF4-FFF2-40B4-BE49-F238E27FC236}">
                <a16:creationId xmlns:a16="http://schemas.microsoft.com/office/drawing/2014/main" id="{EA0AD432-BE20-B448-A5A9-8CD773AADC0B}"/>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6" y="1326150"/>
            <a:ext cx="1052701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determine and interpret the slope and 𝑦-intercept of a two-variable linear equation from a table of values in a real-world context.</a:t>
            </a:r>
          </a:p>
          <a:p>
            <a:pPr marL="463550" indent="-46355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determine and interpret the slope and 𝑦-intercept of a two-variable linear equation from a written description in a real-world context.</a:t>
            </a:r>
          </a:p>
        </p:txBody>
      </p:sp>
      <p:sp>
        <p:nvSpPr>
          <p:cNvPr id="8" name="Google Shape;282;g104476d1465_1_17">
            <a:extLst>
              <a:ext uri="{FF2B5EF4-FFF2-40B4-BE49-F238E27FC236}">
                <a16:creationId xmlns:a16="http://schemas.microsoft.com/office/drawing/2014/main" id="{EDC17A3E-E5EE-EC40-B29A-E421DAE5693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59390"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F31B6B4-B590-E041-8707-FCB8D7FBCF3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2" y="7610"/>
            <a:ext cx="103145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7.7.1 Warm-Up: Languages Spoken in Florida</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87C5FEC-A86F-3B40-BDC7-FA3BB8FD6EBF}"/>
                  </a:ext>
                </a:extLst>
              </p:cNvPr>
              <p:cNvSpPr/>
              <p:nvPr/>
            </p:nvSpPr>
            <p:spPr>
              <a:xfrm>
                <a:off x="730266" y="1441816"/>
                <a:ext cx="10963894" cy="3279552"/>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rPr>
                  <a:t>Florida has the third largest population of all states within the U.S. While nearly </a:t>
                </a:r>
                <a14:m>
                  <m:oMath xmlns:m="http://schemas.openxmlformats.org/officeDocument/2006/math">
                    <m:f>
                      <m:fPr>
                        <m:ctrlPr>
                          <a:rPr lang="en-US" sz="2200" i="1" dirty="0">
                            <a:latin typeface="Cambria Math" panose="02040503050406030204" pitchFamily="18" charset="0"/>
                          </a:rPr>
                        </m:ctrlPr>
                      </m:fPr>
                      <m:num>
                        <m:r>
                          <a:rPr lang="es-ES" sz="2200" i="1" dirty="0">
                            <a:latin typeface="Cambria Math" panose="02040503050406030204" pitchFamily="18" charset="0"/>
                          </a:rPr>
                          <m:t>3</m:t>
                        </m:r>
                      </m:num>
                      <m:den>
                        <m:r>
                          <a:rPr lang="es-ES" sz="2200" i="1" dirty="0">
                            <a:latin typeface="Cambria Math" panose="02040503050406030204" pitchFamily="18" charset="0"/>
                          </a:rPr>
                          <m:t>4</m:t>
                        </m:r>
                      </m:den>
                    </m:f>
                  </m:oMath>
                </a14:m>
                <a:r>
                  <a:rPr lang="en-US" sz="2200" dirty="0">
                    <a:latin typeface="Verdana" panose="020B0604030504040204" pitchFamily="34" charset="0"/>
                    <a:ea typeface="Times New Roman" panose="02020603050405020304" pitchFamily="18" charset="0"/>
                  </a:rPr>
                  <a:t> of the population in Florida speaks English at home, there are actually more than 200 languages spoken in homes throughout the state. Some of these languages include Spanish, Haitian Creole, French, Portuguese, German, Tagalog, Arabic, and Mandarin.</a:t>
                </a:r>
              </a:p>
              <a:p>
                <a:endParaRPr lang="en-US" sz="2200" dirty="0">
                  <a:latin typeface="Verdana" panose="020B0604030504040204" pitchFamily="34" charset="0"/>
                  <a:ea typeface="Times New Roman" panose="02020603050405020304" pitchFamily="18" charset="0"/>
                </a:endParaRPr>
              </a:p>
              <a:p>
                <a:r>
                  <a:rPr lang="en-US" sz="2200" dirty="0">
                    <a:latin typeface="Verdana" panose="020B0604030504040204" pitchFamily="34" charset="0"/>
                    <a:ea typeface="Times New Roman" panose="02020603050405020304" pitchFamily="18" charset="0"/>
                  </a:rPr>
                  <a:t>The equation </a:t>
                </a:r>
                <a14:m>
                  <m:oMath xmlns:m="http://schemas.openxmlformats.org/officeDocument/2006/math">
                    <m:r>
                      <a:rPr lang="en-US" sz="2200" i="1" dirty="0">
                        <a:latin typeface="Cambria Math" panose="02040503050406030204" pitchFamily="18" charset="0"/>
                        <a:ea typeface="Times New Roman" panose="02020603050405020304" pitchFamily="18" charset="0"/>
                      </a:rPr>
                      <m:t>𝑦</m:t>
                    </m:r>
                    <m:r>
                      <a:rPr lang="en-US" sz="2200" i="1" dirty="0">
                        <a:latin typeface="Cambria Math" panose="02040503050406030204" pitchFamily="18" charset="0"/>
                        <a:ea typeface="Times New Roman" panose="02020603050405020304" pitchFamily="18" charset="0"/>
                      </a:rPr>
                      <m:t>=128</m:t>
                    </m:r>
                    <m:r>
                      <a:rPr lang="en-US" sz="2200" i="1" dirty="0">
                        <a:latin typeface="Cambria Math" panose="02040503050406030204" pitchFamily="18" charset="0"/>
                        <a:ea typeface="Times New Roman" panose="02020603050405020304" pitchFamily="18" charset="0"/>
                      </a:rPr>
                      <m:t>𝑥</m:t>
                    </m:r>
                    <m:r>
                      <a:rPr lang="en-US" sz="2200" i="1" dirty="0">
                        <a:latin typeface="Cambria Math" panose="02040503050406030204" pitchFamily="18" charset="0"/>
                        <a:ea typeface="Times New Roman" panose="02020603050405020304" pitchFamily="18" charset="0"/>
                      </a:rPr>
                      <m:t>+1018</m:t>
                    </m:r>
                  </m:oMath>
                </a14:m>
                <a:r>
                  <a:rPr lang="en-US" sz="2200" dirty="0">
                    <a:latin typeface="Verdana" panose="020B0604030504040204" pitchFamily="34" charset="0"/>
                    <a:ea typeface="Times New Roman" panose="02020603050405020304" pitchFamily="18" charset="0"/>
                  </a:rPr>
                  <a:t> can be used to model the relationship between the number of people in Florida who speak a language other than English at home, 𝑦, in thousands, and the number of years since 1980, 𝑥.</a:t>
                </a:r>
              </a:p>
            </p:txBody>
          </p:sp>
        </mc:Choice>
        <mc:Fallback xmlns="">
          <p:sp>
            <p:nvSpPr>
              <p:cNvPr id="3" name="Rectangle 2">
                <a:extLst>
                  <a:ext uri="{FF2B5EF4-FFF2-40B4-BE49-F238E27FC236}">
                    <a16:creationId xmlns:a16="http://schemas.microsoft.com/office/drawing/2014/main" id="{287C5FEC-A86F-3B40-BDC7-FA3BB8FD6EBF}"/>
                  </a:ext>
                </a:extLst>
              </p:cNvPr>
              <p:cNvSpPr>
                <a:spLocks noRot="1" noChangeAspect="1" noMove="1" noResize="1" noEditPoints="1" noAdjustHandles="1" noChangeArrowheads="1" noChangeShapeType="1" noTextEdit="1"/>
              </p:cNvSpPr>
              <p:nvPr/>
            </p:nvSpPr>
            <p:spPr>
              <a:xfrm>
                <a:off x="730266" y="1441816"/>
                <a:ext cx="10963894" cy="3279552"/>
              </a:xfrm>
              <a:prstGeom prst="rect">
                <a:avLst/>
              </a:prstGeom>
              <a:blipFill>
                <a:blip r:embed="rId5"/>
                <a:stretch>
                  <a:fillRect l="-694" t="-1158" r="-1042" b="-3089"/>
                </a:stretch>
              </a:blipFill>
            </p:spPr>
            <p:txBody>
              <a:bodyPr/>
              <a:lstStyle/>
              <a:p>
                <a:r>
                  <a:rPr lang="en-US">
                    <a:noFill/>
                  </a:rPr>
                  <a:t> </a:t>
                </a:r>
              </a:p>
            </p:txBody>
          </p:sp>
        </mc:Fallback>
      </mc:AlternateContent>
      <p:sp>
        <p:nvSpPr>
          <p:cNvPr id="21" name="Google Shape;282;g104476d1465_1_17">
            <a:extLst>
              <a:ext uri="{FF2B5EF4-FFF2-40B4-BE49-F238E27FC236}">
                <a16:creationId xmlns:a16="http://schemas.microsoft.com/office/drawing/2014/main" id="{4FE30EAB-3CBF-6440-8C69-6613F661213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317</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id="{287C5FEC-A86F-3B40-BDC7-FA3BB8FD6EBF}"/>
              </a:ext>
            </a:extLst>
          </p:cNvPr>
          <p:cNvSpPr/>
          <p:nvPr/>
        </p:nvSpPr>
        <p:spPr>
          <a:xfrm>
            <a:off x="724974" y="421334"/>
            <a:ext cx="9891852" cy="4001865"/>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rPr>
              <a:t>Complete the statement to interpret this relationship in context.</a:t>
            </a:r>
          </a:p>
          <a:p>
            <a:pPr marL="457200" indent="-457200">
              <a:buFont typeface="+mj-lt"/>
              <a:buAutoNum type="arabicPeriod"/>
            </a:pPr>
            <a:endParaRPr lang="en-US" sz="2200" dirty="0">
              <a:latin typeface="Verdana" panose="020B0604030504040204" pitchFamily="34" charset="0"/>
              <a:ea typeface="Times New Roman" panose="02020603050405020304" pitchFamily="18" charset="0"/>
            </a:endParaRPr>
          </a:p>
          <a:p>
            <a:pPr marL="454025">
              <a:lnSpc>
                <a:spcPct val="250000"/>
              </a:lnSpc>
            </a:pPr>
            <a:r>
              <a:rPr lang="en-US" sz="2200" dirty="0">
                <a:latin typeface="Verdana" panose="020B0604030504040204" pitchFamily="34" charset="0"/>
                <a:ea typeface="Times New Roman" panose="02020603050405020304" pitchFamily="18" charset="0"/>
              </a:rPr>
              <a:t>In 1980, approximately               Floridians spoke a language other than English at home. Since then, the number of Floridians speaking a language other than English at home has grown by approximately               people every year. </a:t>
            </a:r>
          </a:p>
        </p:txBody>
      </p:sp>
      <p:sp>
        <p:nvSpPr>
          <p:cNvPr id="21" name="Google Shape;282;g104476d1465_1_17">
            <a:extLst>
              <a:ext uri="{FF2B5EF4-FFF2-40B4-BE49-F238E27FC236}">
                <a16:creationId xmlns:a16="http://schemas.microsoft.com/office/drawing/2014/main" id="{4FE30EAB-3CBF-6440-8C69-6613F661213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317</a:t>
            </a:r>
            <a:endParaRPr i="1" dirty="0">
              <a:latin typeface="Calibri"/>
              <a:ea typeface="Calibri"/>
              <a:cs typeface="Calibri"/>
              <a:sym typeface="Calibri"/>
            </a:endParaRPr>
          </a:p>
        </p:txBody>
      </p:sp>
      <p:pic>
        <p:nvPicPr>
          <p:cNvPr id="5" name="Picture 4" descr="Text&#10;&#10;Description automatically generated">
            <a:extLst>
              <a:ext uri="{FF2B5EF4-FFF2-40B4-BE49-F238E27FC236}">
                <a16:creationId xmlns:a16="http://schemas.microsoft.com/office/drawing/2014/main" id="{4A27C2A4-1E26-DD4B-B950-48AE4E2ABB9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39090" y="1096657"/>
            <a:ext cx="1237802" cy="1131770"/>
          </a:xfrm>
          <a:prstGeom prst="rect">
            <a:avLst/>
          </a:prstGeom>
        </p:spPr>
      </p:pic>
      <p:pic>
        <p:nvPicPr>
          <p:cNvPr id="11" name="Picture 10" descr="Text&#10;&#10;Description automatically generated">
            <a:extLst>
              <a:ext uri="{FF2B5EF4-FFF2-40B4-BE49-F238E27FC236}">
                <a16:creationId xmlns:a16="http://schemas.microsoft.com/office/drawing/2014/main" id="{00B346B2-4C04-4F4E-A225-065F73D2A7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01288" y="3632535"/>
            <a:ext cx="1237802" cy="1131770"/>
          </a:xfrm>
          <a:prstGeom prst="rect">
            <a:avLst/>
          </a:prstGeom>
        </p:spPr>
      </p:pic>
    </p:spTree>
    <p:extLst>
      <p:ext uri="{BB962C8B-B14F-4D97-AF65-F5344CB8AC3E}">
        <p14:creationId xmlns:p14="http://schemas.microsoft.com/office/powerpoint/2010/main" val="953642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04506" y="2766150"/>
            <a:ext cx="7064533"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012C2045-51C2-0247-977E-8C677D26B70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318</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D07C26E5-0F4D-494C-BB66-C2CDC9FB07F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0" cy="11581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3" y="201167"/>
                <a:ext cx="10032349" cy="103650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7.7.2 Guided Instruction: Interpreting Slope and </a:t>
                </a:r>
                <a14:m>
                  <m:oMath xmlns:m="http://schemas.openxmlformats.org/officeDocument/2006/math">
                    <m:r>
                      <a:rPr lang="en-US" sz="3200" b="1" i="1" dirty="0">
                        <a:solidFill>
                          <a:srgbClr val="54B5D1"/>
                        </a:solidFill>
                        <a:latin typeface="Cambria Math" panose="02040503050406030204" pitchFamily="18" charset="0"/>
                        <a:ea typeface="Verdana"/>
                        <a:cs typeface="Verdana"/>
                        <a:sym typeface="Verdana"/>
                      </a:rPr>
                      <m:t>𝒚</m:t>
                    </m:r>
                  </m:oMath>
                </a14:m>
                <a:r>
                  <a:rPr lang="en-US" sz="3200" b="1" dirty="0">
                    <a:solidFill>
                      <a:srgbClr val="54B5D1"/>
                    </a:solidFill>
                    <a:latin typeface="Verdana"/>
                    <a:ea typeface="Verdana"/>
                    <a:cs typeface="Verdana"/>
                    <a:sym typeface="Verdana"/>
                  </a:rPr>
                  <a:t>-intercept from Tables and Descriptions</a:t>
                </a:r>
              </a:p>
            </p:txBody>
          </p:sp>
        </mc:Choice>
        <mc:Fallback xmlns="">
          <p:sp>
            <p:nvSpPr>
              <p:cNvPr id="7" name="Google Shape;343;g103996e1364_0_321">
                <a:extLst>
                  <a:ext uri="{FF2B5EF4-FFF2-40B4-BE49-F238E27FC236}">
                    <a16:creationId xmlns:a16="http://schemas.microsoft.com/office/drawing/2014/main" id="{21B1DF8E-16A0-FA4E-8CEB-434668DFA68D}"/>
                  </a:ext>
                </a:extLst>
              </p:cNvPr>
              <p:cNvSpPr txBox="1">
                <a:spLocks noRot="1" noChangeAspect="1" noMove="1" noResize="1" noEditPoints="1" noAdjustHandles="1" noChangeArrowheads="1" noChangeShapeType="1" noTextEdit="1"/>
              </p:cNvSpPr>
              <p:nvPr/>
            </p:nvSpPr>
            <p:spPr>
              <a:xfrm>
                <a:off x="1237333" y="201167"/>
                <a:ext cx="10032349" cy="1036501"/>
              </a:xfrm>
              <a:prstGeom prst="rect">
                <a:avLst/>
              </a:prstGeom>
              <a:blipFill>
                <a:blip r:embed="rId4"/>
                <a:stretch>
                  <a:fillRect l="-1580" t="-30000" b="-37647"/>
                </a:stretch>
              </a:blipFill>
              <a:ln>
                <a:noFill/>
              </a:ln>
            </p:spPr>
            <p:txBody>
              <a:bodyPr/>
              <a:lstStyle/>
              <a:p>
                <a:r>
                  <a:rPr lang="en-US">
                    <a:noFill/>
                  </a:rPr>
                  <a:t> </a:t>
                </a:r>
              </a:p>
            </p:txBody>
          </p:sp>
        </mc:Fallback>
      </mc:AlternateContent>
      <p:sp>
        <p:nvSpPr>
          <p:cNvPr id="13" name="TextBox 12">
            <a:extLst>
              <a:ext uri="{FF2B5EF4-FFF2-40B4-BE49-F238E27FC236}">
                <a16:creationId xmlns:a16="http://schemas.microsoft.com/office/drawing/2014/main" id="{C01B13E8-EC8D-E443-A329-C5E3593DD13A}"/>
              </a:ext>
            </a:extLst>
          </p:cNvPr>
          <p:cNvSpPr txBox="1"/>
          <p:nvPr/>
        </p:nvSpPr>
        <p:spPr>
          <a:xfrm>
            <a:off x="736270" y="1424617"/>
            <a:ext cx="11100129"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Econ Rental Car is a company that rents cars using a linear pricing plan. The company charges a daily rate in addition to maintenance fees. The total cost in dollars, 𝑦, to rent a car for 𝑥 days is shown in the table.</a:t>
            </a:r>
          </a:p>
        </p:txBody>
      </p:sp>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318</a:t>
            </a:r>
            <a:endParaRPr i="1" dirty="0">
              <a:latin typeface="Calibri"/>
              <a:ea typeface="Calibri"/>
              <a:cs typeface="Calibri"/>
              <a:sym typeface="Calibri"/>
            </a:endParaRPr>
          </a:p>
        </p:txBody>
      </p:sp>
      <p:pic>
        <p:nvPicPr>
          <p:cNvPr id="16" name="Picture 15" descr="Icon&#10;&#10;Description automatically generated">
            <a:extLst>
              <a:ext uri="{FF2B5EF4-FFF2-40B4-BE49-F238E27FC236}">
                <a16:creationId xmlns:a16="http://schemas.microsoft.com/office/drawing/2014/main" id="{9494EAC6-486B-7E44-98E0-0513250FCDC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2" cy="747302"/>
          </a:xfrm>
          <a:prstGeom prst="rect">
            <a:avLst/>
          </a:prstGeom>
        </p:spPr>
      </p:pic>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BCD65FFB-DD73-0748-B8FF-54F43B45F768}"/>
                  </a:ext>
                </a:extLst>
              </p:cNvPr>
              <p:cNvGraphicFramePr>
                <a:graphicFrameLocks noGrp="1"/>
              </p:cNvGraphicFramePr>
              <p:nvPr>
                <p:extLst>
                  <p:ext uri="{D42A27DB-BD31-4B8C-83A1-F6EECF244321}">
                    <p14:modId xmlns:p14="http://schemas.microsoft.com/office/powerpoint/2010/main" val="1416390595"/>
                  </p:ext>
                </p:extLst>
              </p:nvPr>
            </p:nvGraphicFramePr>
            <p:xfrm>
              <a:off x="4638675" y="3176759"/>
              <a:ext cx="2914650" cy="1828800"/>
            </p:xfrm>
            <a:graphic>
              <a:graphicData uri="http://schemas.openxmlformats.org/drawingml/2006/table">
                <a:tbl>
                  <a:tblPr firstRow="1" firstCol="1" bandRow="1">
                    <a:tableStyleId>{A91F0D33-8C57-4600-99A7-42BC86742BE1}</a:tableStyleId>
                  </a:tblPr>
                  <a:tblGrid>
                    <a:gridCol w="1457325">
                      <a:extLst>
                        <a:ext uri="{9D8B030D-6E8A-4147-A177-3AD203B41FA5}">
                          <a16:colId xmlns:a16="http://schemas.microsoft.com/office/drawing/2014/main" val="2113037504"/>
                        </a:ext>
                      </a:extLst>
                    </a:gridCol>
                    <a:gridCol w="1457325">
                      <a:extLst>
                        <a:ext uri="{9D8B030D-6E8A-4147-A177-3AD203B41FA5}">
                          <a16:colId xmlns:a16="http://schemas.microsoft.com/office/drawing/2014/main" val="83302586"/>
                        </a:ext>
                      </a:extLst>
                    </a:gridCol>
                  </a:tblGrid>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𝒙</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𝒚</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074719450"/>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97</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5754708"/>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187</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2870989"/>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277</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7316166"/>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effectLst/>
                                    <a:latin typeface="Cambria Math" panose="02040503050406030204" pitchFamily="18" charset="0"/>
                                  </a:rPr>
                                  <m:t>45</m:t>
                                </m:r>
                                <m:r>
                                  <a:rPr lang="en-US" sz="1800" b="0" i="0" smtClean="0">
                                    <a:effectLst/>
                                    <a:latin typeface="Cambria Math" panose="02040503050406030204" pitchFamily="18" charset="0"/>
                                  </a:rPr>
                                  <m:t>7</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3179999"/>
                      </a:ext>
                    </a:extLst>
                  </a:tr>
                </a:tbl>
              </a:graphicData>
            </a:graphic>
          </p:graphicFrame>
        </mc:Choice>
        <mc:Fallback>
          <p:graphicFrame>
            <p:nvGraphicFramePr>
              <p:cNvPr id="2" name="Table 1">
                <a:extLst>
                  <a:ext uri="{FF2B5EF4-FFF2-40B4-BE49-F238E27FC236}">
                    <a16:creationId xmlns:a16="http://schemas.microsoft.com/office/drawing/2014/main" id="{BCD65FFB-DD73-0748-B8FF-54F43B45F768}"/>
                  </a:ext>
                </a:extLst>
              </p:cNvPr>
              <p:cNvGraphicFramePr>
                <a:graphicFrameLocks noGrp="1"/>
              </p:cNvGraphicFramePr>
              <p:nvPr>
                <p:extLst>
                  <p:ext uri="{D42A27DB-BD31-4B8C-83A1-F6EECF244321}">
                    <p14:modId xmlns:p14="http://schemas.microsoft.com/office/powerpoint/2010/main" val="1416390595"/>
                  </p:ext>
                </p:extLst>
              </p:nvPr>
            </p:nvGraphicFramePr>
            <p:xfrm>
              <a:off x="4638675" y="3176759"/>
              <a:ext cx="2914650" cy="1828800"/>
            </p:xfrm>
            <a:graphic>
              <a:graphicData uri="http://schemas.openxmlformats.org/drawingml/2006/table">
                <a:tbl>
                  <a:tblPr firstRow="1" firstCol="1" bandRow="1">
                    <a:tableStyleId>{A91F0D33-8C57-4600-99A7-42BC86742BE1}</a:tableStyleId>
                  </a:tblPr>
                  <a:tblGrid>
                    <a:gridCol w="1457325">
                      <a:extLst>
                        <a:ext uri="{9D8B030D-6E8A-4147-A177-3AD203B41FA5}">
                          <a16:colId xmlns:a16="http://schemas.microsoft.com/office/drawing/2014/main" val="2113037504"/>
                        </a:ext>
                      </a:extLst>
                    </a:gridCol>
                    <a:gridCol w="1457325">
                      <a:extLst>
                        <a:ext uri="{9D8B030D-6E8A-4147-A177-3AD203B41FA5}">
                          <a16:colId xmlns:a16="http://schemas.microsoft.com/office/drawing/2014/main" val="83302586"/>
                        </a:ext>
                      </a:extLst>
                    </a:gridCol>
                  </a:tblGrid>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70" t="-3448" r="-101739" b="-40344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870" t="-3448" r="-1739" b="-403448"/>
                          </a:stretch>
                        </a:blipFill>
                      </a:tcPr>
                    </a:tc>
                    <a:extLst>
                      <a:ext uri="{0D108BD9-81ED-4DB2-BD59-A6C34878D82A}">
                        <a16:rowId xmlns:a16="http://schemas.microsoft.com/office/drawing/2014/main" val="4074719450"/>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70" t="-103448" r="-101739" b="-30344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870" t="-103448" r="-1739" b="-303448"/>
                          </a:stretch>
                        </a:blipFill>
                      </a:tcPr>
                    </a:tc>
                    <a:extLst>
                      <a:ext uri="{0D108BD9-81ED-4DB2-BD59-A6C34878D82A}">
                        <a16:rowId xmlns:a16="http://schemas.microsoft.com/office/drawing/2014/main" val="1505754708"/>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70" t="-203448" r="-101739" b="-20344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870" t="-203448" r="-1739" b="-203448"/>
                          </a:stretch>
                        </a:blipFill>
                      </a:tcPr>
                    </a:tc>
                    <a:extLst>
                      <a:ext uri="{0D108BD9-81ED-4DB2-BD59-A6C34878D82A}">
                        <a16:rowId xmlns:a16="http://schemas.microsoft.com/office/drawing/2014/main" val="2822870989"/>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70" t="-303448" r="-101739" b="-10344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870" t="-303448" r="-1739" b="-103448"/>
                          </a:stretch>
                        </a:blipFill>
                      </a:tcPr>
                    </a:tc>
                    <a:extLst>
                      <a:ext uri="{0D108BD9-81ED-4DB2-BD59-A6C34878D82A}">
                        <a16:rowId xmlns:a16="http://schemas.microsoft.com/office/drawing/2014/main" val="3907316166"/>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70" t="-403448" r="-101739" b="-344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870" t="-403448" r="-1739" b="-3448"/>
                          </a:stretch>
                        </a:blipFill>
                      </a:tcPr>
                    </a:tc>
                    <a:extLst>
                      <a:ext uri="{0D108BD9-81ED-4DB2-BD59-A6C34878D82A}">
                        <a16:rowId xmlns:a16="http://schemas.microsoft.com/office/drawing/2014/main" val="3423179999"/>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273A2A6-9DA9-8B48-AD63-98A2F0C5B480}"/>
                  </a:ext>
                </a:extLst>
              </p:cNvPr>
              <p:cNvSpPr txBox="1"/>
              <p:nvPr/>
            </p:nvSpPr>
            <p:spPr>
              <a:xfrm>
                <a:off x="736271" y="433291"/>
                <a:ext cx="11059490" cy="5016758"/>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slope for this relationship. Show your work.</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does the slope mean in this context?</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Zoey noticed that the table does not include a row where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 She said there is no way to know the 𝑦-intercept from the table. Discuss with your partner how the information in the table could be used to determine the 𝑦-intercept.</a:t>
                </a:r>
              </a:p>
            </p:txBody>
          </p:sp>
        </mc:Choice>
        <mc:Fallback xmlns="">
          <p:sp>
            <p:nvSpPr>
              <p:cNvPr id="6" name="TextBox 5">
                <a:extLst>
                  <a:ext uri="{FF2B5EF4-FFF2-40B4-BE49-F238E27FC236}">
                    <a16:creationId xmlns:a16="http://schemas.microsoft.com/office/drawing/2014/main" id="{F273A2A6-9DA9-8B48-AD63-98A2F0C5B480}"/>
                  </a:ext>
                </a:extLst>
              </p:cNvPr>
              <p:cNvSpPr txBox="1">
                <a:spLocks noRot="1" noChangeAspect="1" noMove="1" noResize="1" noEditPoints="1" noAdjustHandles="1" noChangeArrowheads="1" noChangeShapeType="1" noTextEdit="1"/>
              </p:cNvSpPr>
              <p:nvPr/>
            </p:nvSpPr>
            <p:spPr>
              <a:xfrm>
                <a:off x="736271" y="433291"/>
                <a:ext cx="11059490" cy="5016758"/>
              </a:xfrm>
              <a:prstGeom prst="rect">
                <a:avLst/>
              </a:prstGeom>
              <a:blipFill>
                <a:blip r:embed="rId4"/>
                <a:stretch>
                  <a:fillRect t="-851" b="-1215"/>
                </a:stretch>
              </a:blipFill>
            </p:spPr>
            <p:txBody>
              <a:bodyPr/>
              <a:lstStyle/>
              <a:p>
                <a:r>
                  <a:rPr lang="en-US">
                    <a:noFill/>
                  </a:rPr>
                  <a:t> </a:t>
                </a:r>
              </a:p>
            </p:txBody>
          </p:sp>
        </mc:Fallback>
      </mc:AlternateContent>
    </p:spTree>
    <p:extLst>
      <p:ext uri="{BB962C8B-B14F-4D97-AF65-F5344CB8AC3E}">
        <p14:creationId xmlns:p14="http://schemas.microsoft.com/office/powerpoint/2010/main" val="3217974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318</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748145" y="382490"/>
            <a:ext cx="10681854"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Carson and Jordyn determined the 𝑦-intercept using different reasoning. Their thinking is shared in the table below.</a:t>
            </a:r>
          </a:p>
        </p:txBody>
      </p:sp>
      <p:pic>
        <p:nvPicPr>
          <p:cNvPr id="5" name="Picture 4" descr="Table, calendar&#10;&#10;Description automatically generated">
            <a:extLst>
              <a:ext uri="{FF2B5EF4-FFF2-40B4-BE49-F238E27FC236}">
                <a16:creationId xmlns:a16="http://schemas.microsoft.com/office/drawing/2014/main" id="{979043E1-020C-6749-B8B7-C8FC1E82617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60093" y="1411356"/>
            <a:ext cx="4606935" cy="4890876"/>
          </a:xfrm>
          <a:prstGeom prst="rect">
            <a:avLst/>
          </a:prstGeom>
        </p:spPr>
      </p:pic>
    </p:spTree>
    <p:extLst>
      <p:ext uri="{BB962C8B-B14F-4D97-AF65-F5344CB8AC3E}">
        <p14:creationId xmlns:p14="http://schemas.microsoft.com/office/powerpoint/2010/main" val="2478304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318</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736270" y="443450"/>
            <a:ext cx="10764849" cy="2677656"/>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either student’s reasoning to determine the 𝑦-intercept.</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does this 𝑦-intercept represent in the context?</a:t>
            </a:r>
          </a:p>
        </p:txBody>
      </p:sp>
    </p:spTree>
    <p:extLst>
      <p:ext uri="{BB962C8B-B14F-4D97-AF65-F5344CB8AC3E}">
        <p14:creationId xmlns:p14="http://schemas.microsoft.com/office/powerpoint/2010/main" val="1104745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273A2A6-9DA9-8B48-AD63-98A2F0C5B480}"/>
                  </a:ext>
                </a:extLst>
              </p:cNvPr>
              <p:cNvSpPr txBox="1"/>
              <p:nvPr/>
            </p:nvSpPr>
            <p:spPr>
              <a:xfrm>
                <a:off x="736270" y="389363"/>
                <a:ext cx="10846129" cy="3816429"/>
              </a:xfrm>
              <a:prstGeom prst="rect">
                <a:avLst/>
              </a:prstGeom>
              <a:noFill/>
            </p:spPr>
            <p:txBody>
              <a:bodyPr wrap="square" rtlCol="0">
                <a:spAutoFit/>
              </a:bodyPr>
              <a:lstStyle/>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Madison planted a royal palm tree in her front yard in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2012</m:t>
                    </m:r>
                  </m:oMath>
                </a14:m>
                <a:r>
                  <a:rPr lang="en-US" sz="2200" dirty="0">
                    <a:latin typeface="Verdana" panose="020B0604030504040204" pitchFamily="34" charset="0"/>
                    <a:ea typeface="Verdana" panose="020B0604030504040204" pitchFamily="34" charset="0"/>
                    <a:cs typeface="Verdana" panose="020B0604030504040204" pitchFamily="34" charset="0"/>
                  </a:rPr>
                  <a:t>. The tree was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12</m:t>
                    </m:r>
                  </m:oMath>
                </a14:m>
                <a:r>
                  <a:rPr lang="en-US" sz="2200" dirty="0">
                    <a:latin typeface="Verdana" panose="020B0604030504040204" pitchFamily="34" charset="0"/>
                    <a:ea typeface="Verdana" panose="020B0604030504040204" pitchFamily="34" charset="0"/>
                    <a:cs typeface="Verdana" panose="020B0604030504040204" pitchFamily="34" charset="0"/>
                  </a:rPr>
                  <a:t> feet tall when she planted it and has been growing at a nearly constant rate. By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2020</m:t>
                    </m:r>
                  </m:oMath>
                </a14:m>
                <a:r>
                  <a:rPr lang="en-US" sz="2200" dirty="0">
                    <a:latin typeface="Verdana" panose="020B0604030504040204" pitchFamily="34" charset="0"/>
                    <a:ea typeface="Verdana" panose="020B0604030504040204" pitchFamily="34" charset="0"/>
                    <a:cs typeface="Verdana" panose="020B0604030504040204" pitchFamily="34" charset="0"/>
                  </a:rPr>
                  <a:t>, the royal palm measured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26</m:t>
                    </m:r>
                  </m:oMath>
                </a14:m>
                <a:r>
                  <a:rPr lang="en-US" sz="2200" dirty="0">
                    <a:latin typeface="Verdana" panose="020B0604030504040204" pitchFamily="34" charset="0"/>
                    <a:ea typeface="Verdana" panose="020B0604030504040204" pitchFamily="34" charset="0"/>
                    <a:cs typeface="Verdana" panose="020B0604030504040204" pitchFamily="34" charset="0"/>
                  </a:rPr>
                  <a:t> feet tall.</a:t>
                </a: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Which two quantities are being compared in this linear relationship?</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Use the information to determine the slope and 𝑦-intercept in this relationship. Then, interpret each value given the context.</a:t>
                </a:r>
              </a:p>
            </p:txBody>
          </p:sp>
        </mc:Choice>
        <mc:Fallback xmlns="">
          <p:sp>
            <p:nvSpPr>
              <p:cNvPr id="6" name="TextBox 5">
                <a:extLst>
                  <a:ext uri="{FF2B5EF4-FFF2-40B4-BE49-F238E27FC236}">
                    <a16:creationId xmlns:a16="http://schemas.microsoft.com/office/drawing/2014/main" id="{F273A2A6-9DA9-8B48-AD63-98A2F0C5B480}"/>
                  </a:ext>
                </a:extLst>
              </p:cNvPr>
              <p:cNvSpPr txBox="1">
                <a:spLocks noRot="1" noChangeAspect="1" noMove="1" noResize="1" noEditPoints="1" noAdjustHandles="1" noChangeArrowheads="1" noChangeShapeType="1" noTextEdit="1"/>
              </p:cNvSpPr>
              <p:nvPr/>
            </p:nvSpPr>
            <p:spPr>
              <a:xfrm>
                <a:off x="736270" y="389363"/>
                <a:ext cx="10846129" cy="3816429"/>
              </a:xfrm>
              <a:prstGeom prst="rect">
                <a:avLst/>
              </a:prstGeom>
              <a:blipFill>
                <a:blip r:embed="rId4"/>
                <a:stretch>
                  <a:fillRect l="-787" t="-1278" b="-2396"/>
                </a:stretch>
              </a:blipFill>
            </p:spPr>
            <p:txBody>
              <a:bodyPr/>
              <a:lstStyle/>
              <a:p>
                <a:r>
                  <a:rPr lang="en-US">
                    <a:noFill/>
                  </a:rPr>
                  <a:t> </a:t>
                </a:r>
              </a:p>
            </p:txBody>
          </p:sp>
        </mc:Fallback>
      </mc:AlternateContent>
    </p:spTree>
    <p:extLst>
      <p:ext uri="{BB962C8B-B14F-4D97-AF65-F5344CB8AC3E}">
        <p14:creationId xmlns:p14="http://schemas.microsoft.com/office/powerpoint/2010/main" val="2738351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7EFEACF-62E7-D944-9FFA-F040B2BF1C12}"/>
                  </a:ext>
                </a:extLst>
              </p:cNvPr>
              <p:cNvGraphicFramePr>
                <a:graphicFrameLocks noGrp="1"/>
              </p:cNvGraphicFramePr>
              <p:nvPr>
                <p:extLst>
                  <p:ext uri="{D42A27DB-BD31-4B8C-83A1-F6EECF244321}">
                    <p14:modId xmlns:p14="http://schemas.microsoft.com/office/powerpoint/2010/main" val="646340496"/>
                  </p:ext>
                </p:extLst>
              </p:nvPr>
            </p:nvGraphicFramePr>
            <p:xfrm>
              <a:off x="3048687" y="777588"/>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rate of change</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𝑦</m:t>
                              </m:r>
                            </m:oMath>
                          </a14:m>
                          <a:r>
                            <a:rPr lang="en-US" sz="1800">
                              <a:effectLst/>
                              <a:latin typeface="Verdana" panose="020B0604030504040204" pitchFamily="34" charset="0"/>
                              <a:ea typeface="Verdana" panose="020B0604030504040204" pitchFamily="34" charset="0"/>
                              <a:cs typeface="Verdana" panose="020B0604030504040204" pitchFamily="34" charset="0"/>
                            </a:rPr>
                            <a:t>-intercept</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Choice>
        <mc:Fallback xmlns="">
          <p:graphicFrame>
            <p:nvGraphicFramePr>
              <p:cNvPr id="2" name="Table 1">
                <a:extLst>
                  <a:ext uri="{FF2B5EF4-FFF2-40B4-BE49-F238E27FC236}">
                    <a16:creationId xmlns:a16="http://schemas.microsoft.com/office/drawing/2014/main" id="{B7EFEACF-62E7-D944-9FFA-F040B2BF1C12}"/>
                  </a:ext>
                </a:extLst>
              </p:cNvPr>
              <p:cNvGraphicFramePr>
                <a:graphicFrameLocks noGrp="1"/>
              </p:cNvGraphicFramePr>
              <p:nvPr>
                <p:extLst>
                  <p:ext uri="{D42A27DB-BD31-4B8C-83A1-F6EECF244321}">
                    <p14:modId xmlns:p14="http://schemas.microsoft.com/office/powerpoint/2010/main" val="646340496"/>
                  </p:ext>
                </p:extLst>
              </p:nvPr>
            </p:nvGraphicFramePr>
            <p:xfrm>
              <a:off x="3048687" y="777588"/>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rate of change</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endParaRPr lang="en-US"/>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115979" r="-307627" b="-1031"/>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Fallback>
      </mc:AlternateContent>
    </p:spTree>
    <p:extLst>
      <p:ext uri="{BB962C8B-B14F-4D97-AF65-F5344CB8AC3E}">
        <p14:creationId xmlns:p14="http://schemas.microsoft.com/office/powerpoint/2010/main" val="1640399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6" y="2754466"/>
            <a:ext cx="619362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012C2045-51C2-0247-977E-8C677D26B70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319</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EC70AD30-24CB-C642-BCC8-46F63D502D4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0" cy="11581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98587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5" y="201168"/>
                <a:ext cx="9901720" cy="107373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7.7.3 Guided Practice: Interpreting Slope and </a:t>
                </a:r>
                <a14:m>
                  <m:oMath xmlns:m="http://schemas.openxmlformats.org/officeDocument/2006/math">
                    <m:r>
                      <a:rPr lang="en-US" sz="3200" b="1" i="1" dirty="0">
                        <a:solidFill>
                          <a:srgbClr val="54B5D1"/>
                        </a:solidFill>
                        <a:latin typeface="Cambria Math" panose="02040503050406030204" pitchFamily="18" charset="0"/>
                        <a:ea typeface="Verdana"/>
                        <a:cs typeface="Verdana"/>
                        <a:sym typeface="Verdana"/>
                      </a:rPr>
                      <m:t>𝒚</m:t>
                    </m:r>
                  </m:oMath>
                </a14:m>
                <a:r>
                  <a:rPr lang="en-US" sz="3200" b="1" dirty="0">
                    <a:solidFill>
                      <a:srgbClr val="54B5D1"/>
                    </a:solidFill>
                    <a:latin typeface="Verdana"/>
                    <a:ea typeface="Verdana"/>
                    <a:cs typeface="Verdana"/>
                    <a:sym typeface="Verdana"/>
                  </a:rPr>
                  <a:t>-intercept from Tables and Descriptions</a:t>
                </a:r>
              </a:p>
            </p:txBody>
          </p:sp>
        </mc:Choice>
        <mc:Fallback xmlns="">
          <p:sp>
            <p:nvSpPr>
              <p:cNvPr id="7" name="Google Shape;343;g103996e1364_0_321">
                <a:extLst>
                  <a:ext uri="{FF2B5EF4-FFF2-40B4-BE49-F238E27FC236}">
                    <a16:creationId xmlns:a16="http://schemas.microsoft.com/office/drawing/2014/main" id="{21B1DF8E-16A0-FA4E-8CEB-434668DFA68D}"/>
                  </a:ext>
                </a:extLst>
              </p:cNvPr>
              <p:cNvSpPr txBox="1">
                <a:spLocks noRot="1" noChangeAspect="1" noMove="1" noResize="1" noEditPoints="1" noAdjustHandles="1" noChangeArrowheads="1" noChangeShapeType="1" noTextEdit="1"/>
              </p:cNvSpPr>
              <p:nvPr/>
            </p:nvSpPr>
            <p:spPr>
              <a:xfrm>
                <a:off x="1237335" y="201168"/>
                <a:ext cx="9901720" cy="1073732"/>
              </a:xfrm>
              <a:prstGeom prst="rect">
                <a:avLst/>
              </a:prstGeom>
              <a:blipFill>
                <a:blip r:embed="rId4"/>
                <a:stretch>
                  <a:fillRect l="-1601" t="-27273" b="-3465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736270" y="1404167"/>
                <a:ext cx="11008689"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When landing, airplanes typically begin their descent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37,000</m:t>
                    </m:r>
                  </m:oMath>
                </a14:m>
                <a:r>
                  <a:rPr lang="en-US" sz="2400" dirty="0">
                    <a:latin typeface="Verdana" panose="020B0604030504040204" pitchFamily="34" charset="0"/>
                    <a:ea typeface="Verdana" panose="020B0604030504040204" pitchFamily="34" charset="0"/>
                    <a:cs typeface="Verdana" panose="020B0604030504040204" pitchFamily="34" charset="0"/>
                  </a:rPr>
                  <a:t> feet above the ground and decrease altitude at a constant rate until they reach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10,000</m:t>
                    </m:r>
                  </m:oMath>
                </a14:m>
                <a:r>
                  <a:rPr lang="en-US" sz="2400" dirty="0">
                    <a:latin typeface="Verdana" panose="020B0604030504040204" pitchFamily="34" charset="0"/>
                    <a:ea typeface="Verdana" panose="020B0604030504040204" pitchFamily="34" charset="0"/>
                    <a:cs typeface="Verdana" panose="020B0604030504040204" pitchFamily="34" charset="0"/>
                  </a:rPr>
                  <a:t> feet above the ground. This initial descent takes about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9</m:t>
                    </m:r>
                  </m:oMath>
                </a14:m>
                <a:r>
                  <a:rPr lang="en-US" sz="2400" dirty="0">
                    <a:latin typeface="Verdana" panose="020B0604030504040204" pitchFamily="34" charset="0"/>
                    <a:ea typeface="Verdana" panose="020B0604030504040204" pitchFamily="34" charset="0"/>
                    <a:cs typeface="Verdana" panose="020B0604030504040204" pitchFamily="34" charset="0"/>
                  </a:rPr>
                  <a:t> minutes.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454025"/>
                <a:r>
                  <a:rPr lang="en-US" sz="2400" dirty="0">
                    <a:latin typeface="Verdana" panose="020B0604030504040204" pitchFamily="34" charset="0"/>
                    <a:ea typeface="Verdana" panose="020B0604030504040204" pitchFamily="34" charset="0"/>
                    <a:cs typeface="Verdana" panose="020B0604030504040204" pitchFamily="34" charset="0"/>
                  </a:rPr>
                  <a:t>Use the information to determine the slope and 𝑦‑intercept in this relationship. Then, interpret each value given the context.</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36270" y="1404167"/>
                <a:ext cx="11008689" cy="2677656"/>
              </a:xfrm>
              <a:prstGeom prst="rect">
                <a:avLst/>
              </a:prstGeom>
              <a:blipFill>
                <a:blip r:embed="rId5"/>
                <a:stretch>
                  <a:fillRect l="-886" t="-2045" r="-775" b="-4091"/>
                </a:stretch>
              </a:blipFill>
            </p:spPr>
            <p:txBody>
              <a:bodyPr/>
              <a:lstStyle/>
              <a:p>
                <a:r>
                  <a:rPr lang="en-US">
                    <a:noFill/>
                  </a:rPr>
                  <a:t> </a:t>
                </a:r>
              </a:p>
            </p:txBody>
          </p:sp>
        </mc:Fallback>
      </mc:AlternateContent>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319</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858EEDB8-0F13-D144-A84D-AFB280A027D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6616" y="201168"/>
            <a:ext cx="747303" cy="747303"/>
          </a:xfrm>
          <a:prstGeom prst="rect">
            <a:avLst/>
          </a:prstGeom>
        </p:spPr>
      </p:pic>
    </p:spTree>
    <p:extLst>
      <p:ext uri="{BB962C8B-B14F-4D97-AF65-F5344CB8AC3E}">
        <p14:creationId xmlns:p14="http://schemas.microsoft.com/office/powerpoint/2010/main" val="141185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0E66C120-2AFC-474A-8ACD-67AD4B6F847C}"/>
                  </a:ext>
                </a:extLst>
              </p:cNvPr>
              <p:cNvGraphicFramePr>
                <a:graphicFrameLocks noGrp="1"/>
              </p:cNvGraphicFramePr>
              <p:nvPr>
                <p:extLst>
                  <p:ext uri="{D42A27DB-BD31-4B8C-83A1-F6EECF244321}">
                    <p14:modId xmlns:p14="http://schemas.microsoft.com/office/powerpoint/2010/main" val="4285553547"/>
                  </p:ext>
                </p:extLst>
              </p:nvPr>
            </p:nvGraphicFramePr>
            <p:xfrm>
              <a:off x="3048687" y="777588"/>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slope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𝑦</m:t>
                              </m:r>
                            </m:oMath>
                          </a14:m>
                          <a:r>
                            <a:rPr lang="en-US" sz="1800">
                              <a:effectLst/>
                              <a:latin typeface="Verdana" panose="020B0604030504040204" pitchFamily="34" charset="0"/>
                              <a:ea typeface="Verdana" panose="020B0604030504040204" pitchFamily="34" charset="0"/>
                              <a:cs typeface="Verdana" panose="020B0604030504040204" pitchFamily="34" charset="0"/>
                            </a:rPr>
                            <a:t>-intercept</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Choice>
        <mc:Fallback xmlns="">
          <p:graphicFrame>
            <p:nvGraphicFramePr>
              <p:cNvPr id="6" name="Table 5">
                <a:extLst>
                  <a:ext uri="{FF2B5EF4-FFF2-40B4-BE49-F238E27FC236}">
                    <a16:creationId xmlns:a16="http://schemas.microsoft.com/office/drawing/2014/main" id="{0E66C120-2AFC-474A-8ACD-67AD4B6F847C}"/>
                  </a:ext>
                </a:extLst>
              </p:cNvPr>
              <p:cNvGraphicFramePr>
                <a:graphicFrameLocks noGrp="1"/>
              </p:cNvGraphicFramePr>
              <p:nvPr>
                <p:extLst>
                  <p:ext uri="{D42A27DB-BD31-4B8C-83A1-F6EECF244321}">
                    <p14:modId xmlns:p14="http://schemas.microsoft.com/office/powerpoint/2010/main" val="4285553547"/>
                  </p:ext>
                </p:extLst>
              </p:nvPr>
            </p:nvGraphicFramePr>
            <p:xfrm>
              <a:off x="3048687" y="777588"/>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slope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endParaRPr lang="en-US"/>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115979" r="-307627" b="-1031"/>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Fallback>
      </mc:AlternateContent>
    </p:spTree>
    <p:extLst>
      <p:ext uri="{BB962C8B-B14F-4D97-AF65-F5344CB8AC3E}">
        <p14:creationId xmlns:p14="http://schemas.microsoft.com/office/powerpoint/2010/main" val="1649408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320</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616069" y="425407"/>
            <a:ext cx="11098411" cy="156966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A scuba diver exploring a coral reef begins her ascent to the surface of the water. The table models the relationship between the depth of the diver, 𝑑, in feet and time in minutes, 𝑡, after she begins ascending to the surface.</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DDB62DF-CBD5-094F-9DD7-33701A973ECC}"/>
                  </a:ext>
                </a:extLst>
              </p:cNvPr>
              <p:cNvGraphicFramePr>
                <a:graphicFrameLocks noGrp="1"/>
              </p:cNvGraphicFramePr>
              <p:nvPr>
                <p:extLst>
                  <p:ext uri="{D42A27DB-BD31-4B8C-83A1-F6EECF244321}">
                    <p14:modId xmlns:p14="http://schemas.microsoft.com/office/powerpoint/2010/main" val="1479437756"/>
                  </p:ext>
                </p:extLst>
              </p:nvPr>
            </p:nvGraphicFramePr>
            <p:xfrm>
              <a:off x="4638675" y="2449465"/>
              <a:ext cx="2914650" cy="1463040"/>
            </p:xfrm>
            <a:graphic>
              <a:graphicData uri="http://schemas.openxmlformats.org/drawingml/2006/table">
                <a:tbl>
                  <a:tblPr firstRow="1" firstCol="1" bandRow="1">
                    <a:tableStyleId>{A91F0D33-8C57-4600-99A7-42BC86742BE1}</a:tableStyleId>
                  </a:tblPr>
                  <a:tblGrid>
                    <a:gridCol w="1457325">
                      <a:extLst>
                        <a:ext uri="{9D8B030D-6E8A-4147-A177-3AD203B41FA5}">
                          <a16:colId xmlns:a16="http://schemas.microsoft.com/office/drawing/2014/main" val="3663904851"/>
                        </a:ext>
                      </a:extLst>
                    </a:gridCol>
                    <a:gridCol w="1457325">
                      <a:extLst>
                        <a:ext uri="{9D8B030D-6E8A-4147-A177-3AD203B41FA5}">
                          <a16:colId xmlns:a16="http://schemas.microsoft.com/office/drawing/2014/main" val="381542907"/>
                        </a:ext>
                      </a:extLst>
                    </a:gridCol>
                  </a:tblGrid>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𝒕</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𝒅</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230733924"/>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−130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9514109"/>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−74</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233090"/>
                      </a:ext>
                    </a:extLst>
                  </a:tr>
                  <a:tr h="3657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−18</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208432"/>
                      </a:ext>
                    </a:extLst>
                  </a:tr>
                </a:tbl>
              </a:graphicData>
            </a:graphic>
          </p:graphicFrame>
        </mc:Choice>
        <mc:Fallback xmlns="">
          <p:graphicFrame>
            <p:nvGraphicFramePr>
              <p:cNvPr id="2" name="Table 1">
                <a:extLst>
                  <a:ext uri="{FF2B5EF4-FFF2-40B4-BE49-F238E27FC236}">
                    <a16:creationId xmlns:a16="http://schemas.microsoft.com/office/drawing/2014/main" id="{BDDB62DF-CBD5-094F-9DD7-33701A973ECC}"/>
                  </a:ext>
                </a:extLst>
              </p:cNvPr>
              <p:cNvGraphicFramePr>
                <a:graphicFrameLocks noGrp="1"/>
              </p:cNvGraphicFramePr>
              <p:nvPr>
                <p:extLst>
                  <p:ext uri="{D42A27DB-BD31-4B8C-83A1-F6EECF244321}">
                    <p14:modId xmlns:p14="http://schemas.microsoft.com/office/powerpoint/2010/main" val="1479437756"/>
                  </p:ext>
                </p:extLst>
              </p:nvPr>
            </p:nvGraphicFramePr>
            <p:xfrm>
              <a:off x="4638675" y="2449465"/>
              <a:ext cx="2914650" cy="1463040"/>
            </p:xfrm>
            <a:graphic>
              <a:graphicData uri="http://schemas.openxmlformats.org/drawingml/2006/table">
                <a:tbl>
                  <a:tblPr firstRow="1" firstCol="1" bandRow="1">
                    <a:tableStyleId>{A91F0D33-8C57-4600-99A7-42BC86742BE1}</a:tableStyleId>
                  </a:tblPr>
                  <a:tblGrid>
                    <a:gridCol w="1457325">
                      <a:extLst>
                        <a:ext uri="{9D8B030D-6E8A-4147-A177-3AD203B41FA5}">
                          <a16:colId xmlns:a16="http://schemas.microsoft.com/office/drawing/2014/main" val="3663904851"/>
                        </a:ext>
                      </a:extLst>
                    </a:gridCol>
                    <a:gridCol w="1457325">
                      <a:extLst>
                        <a:ext uri="{9D8B030D-6E8A-4147-A177-3AD203B41FA5}">
                          <a16:colId xmlns:a16="http://schemas.microsoft.com/office/drawing/2014/main" val="381542907"/>
                        </a:ext>
                      </a:extLst>
                    </a:gridCol>
                  </a:tblGrid>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70" r="-101739" b="-30689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870" r="-1739" b="-306897"/>
                          </a:stretch>
                        </a:blipFill>
                      </a:tcPr>
                    </a:tc>
                    <a:extLst>
                      <a:ext uri="{0D108BD9-81ED-4DB2-BD59-A6C34878D82A}">
                        <a16:rowId xmlns:a16="http://schemas.microsoft.com/office/drawing/2014/main" val="2230733924"/>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70" t="-96667" r="-101739" b="-19666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870" t="-96667" r="-1739" b="-196667"/>
                          </a:stretch>
                        </a:blipFill>
                      </a:tcPr>
                    </a:tc>
                    <a:extLst>
                      <a:ext uri="{0D108BD9-81ED-4DB2-BD59-A6C34878D82A}">
                        <a16:rowId xmlns:a16="http://schemas.microsoft.com/office/drawing/2014/main" val="4149514109"/>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70" t="-203448" r="-101739" b="-10344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870" t="-203448" r="-1739" b="-103448"/>
                          </a:stretch>
                        </a:blipFill>
                      </a:tcPr>
                    </a:tc>
                    <a:extLst>
                      <a:ext uri="{0D108BD9-81ED-4DB2-BD59-A6C34878D82A}">
                        <a16:rowId xmlns:a16="http://schemas.microsoft.com/office/drawing/2014/main" val="2098233090"/>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70" t="-303448" r="-101739" b="-344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870" t="-303448" r="-1739" b="-3448"/>
                          </a:stretch>
                        </a:blipFill>
                      </a:tcPr>
                    </a:tc>
                    <a:extLst>
                      <a:ext uri="{0D108BD9-81ED-4DB2-BD59-A6C34878D82A}">
                        <a16:rowId xmlns:a16="http://schemas.microsoft.com/office/drawing/2014/main" val="2446208432"/>
                      </a:ext>
                    </a:extLst>
                  </a:tr>
                </a:tbl>
              </a:graphicData>
            </a:graphic>
          </p:graphicFrame>
        </mc:Fallback>
      </mc:AlternateContent>
      <p:sp>
        <p:nvSpPr>
          <p:cNvPr id="10" name="TextBox 9">
            <a:extLst>
              <a:ext uri="{FF2B5EF4-FFF2-40B4-BE49-F238E27FC236}">
                <a16:creationId xmlns:a16="http://schemas.microsoft.com/office/drawing/2014/main" id="{CA5980CD-CD31-0549-AE84-36FA69E76444}"/>
              </a:ext>
            </a:extLst>
          </p:cNvPr>
          <p:cNvSpPr txBox="1"/>
          <p:nvPr/>
        </p:nvSpPr>
        <p:spPr>
          <a:xfrm>
            <a:off x="616069" y="4584925"/>
            <a:ext cx="10946011" cy="830997"/>
          </a:xfrm>
          <a:prstGeom prst="rect">
            <a:avLst/>
          </a:prstGeom>
          <a:noFill/>
        </p:spPr>
        <p:txBody>
          <a:bodyPr wrap="square" rtlCol="0">
            <a:spAutoFit/>
          </a:bodyPr>
          <a:lstStyle/>
          <a:p>
            <a:pPr marL="454025"/>
            <a:r>
              <a:rPr lang="en-US" sz="2400" dirty="0">
                <a:latin typeface="Verdana" panose="020B0604030504040204" pitchFamily="34" charset="0"/>
                <a:ea typeface="Verdana" panose="020B0604030504040204" pitchFamily="34" charset="0"/>
                <a:cs typeface="Verdana" panose="020B0604030504040204" pitchFamily="34" charset="0"/>
              </a:rPr>
              <a:t>Use the information to determine the slope and 𝑦-intercept in this relationship. Then, interpret each value given the context.</a:t>
            </a:r>
          </a:p>
        </p:txBody>
      </p:sp>
    </p:spTree>
    <p:extLst>
      <p:ext uri="{BB962C8B-B14F-4D97-AF65-F5344CB8AC3E}">
        <p14:creationId xmlns:p14="http://schemas.microsoft.com/office/powerpoint/2010/main" val="1299776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3A911D7D-A73F-C24D-B543-A33BB3721E7D}"/>
                  </a:ext>
                </a:extLst>
              </p:cNvPr>
              <p:cNvGraphicFramePr>
                <a:graphicFrameLocks noGrp="1"/>
              </p:cNvGraphicFramePr>
              <p:nvPr>
                <p:extLst>
                  <p:ext uri="{D42A27DB-BD31-4B8C-83A1-F6EECF244321}">
                    <p14:modId xmlns:p14="http://schemas.microsoft.com/office/powerpoint/2010/main" val="3888525838"/>
                  </p:ext>
                </p:extLst>
              </p:nvPr>
            </p:nvGraphicFramePr>
            <p:xfrm>
              <a:off x="3048687" y="773414"/>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slope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𝑦</m:t>
                              </m:r>
                            </m:oMath>
                          </a14:m>
                          <a:r>
                            <a:rPr lang="en-US" sz="1800">
                              <a:effectLst/>
                              <a:latin typeface="Verdana" panose="020B0604030504040204" pitchFamily="34" charset="0"/>
                              <a:ea typeface="Verdana" panose="020B0604030504040204" pitchFamily="34" charset="0"/>
                              <a:cs typeface="Verdana" panose="020B0604030504040204" pitchFamily="34" charset="0"/>
                            </a:rPr>
                            <a:t>-intercept</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Choice>
        <mc:Fallback xmlns="">
          <p:graphicFrame>
            <p:nvGraphicFramePr>
              <p:cNvPr id="8" name="Table 7">
                <a:extLst>
                  <a:ext uri="{FF2B5EF4-FFF2-40B4-BE49-F238E27FC236}">
                    <a16:creationId xmlns:a16="http://schemas.microsoft.com/office/drawing/2014/main" id="{3A911D7D-A73F-C24D-B543-A33BB3721E7D}"/>
                  </a:ext>
                </a:extLst>
              </p:cNvPr>
              <p:cNvGraphicFramePr>
                <a:graphicFrameLocks noGrp="1"/>
              </p:cNvGraphicFramePr>
              <p:nvPr>
                <p:extLst>
                  <p:ext uri="{D42A27DB-BD31-4B8C-83A1-F6EECF244321}">
                    <p14:modId xmlns:p14="http://schemas.microsoft.com/office/powerpoint/2010/main" val="3888525838"/>
                  </p:ext>
                </p:extLst>
              </p:nvPr>
            </p:nvGraphicFramePr>
            <p:xfrm>
              <a:off x="3048687" y="773414"/>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slope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endParaRPr lang="en-US"/>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115979" r="-307627" b="-515"/>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Fallback>
      </mc:AlternateContent>
    </p:spTree>
    <p:extLst>
      <p:ext uri="{BB962C8B-B14F-4D97-AF65-F5344CB8AC3E}">
        <p14:creationId xmlns:p14="http://schemas.microsoft.com/office/powerpoint/2010/main" val="2424579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6"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320</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FDA0EA8E-2638-534E-8203-6C9A442EA8A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0" cy="11581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35262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4" y="-8597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7.7.4 Your Turn!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730266" y="1239721"/>
                <a:ext cx="10923253" cy="304698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Visitors to </a:t>
                </a:r>
                <a:r>
                  <a:rPr lang="en-US" sz="2400" dirty="0" err="1">
                    <a:latin typeface="Verdana" panose="020B0604030504040204" pitchFamily="34" charset="0"/>
                    <a:ea typeface="Verdana" panose="020B0604030504040204" pitchFamily="34" charset="0"/>
                    <a:cs typeface="Verdana" panose="020B0604030504040204" pitchFamily="34" charset="0"/>
                  </a:rPr>
                  <a:t>Ichetucknee</a:t>
                </a:r>
                <a:r>
                  <a:rPr lang="en-US" sz="2400" dirty="0">
                    <a:latin typeface="Verdana" panose="020B0604030504040204" pitchFamily="34" charset="0"/>
                    <a:ea typeface="Verdana" panose="020B0604030504040204" pitchFamily="34" charset="0"/>
                    <a:cs typeface="Verdana" panose="020B0604030504040204" pitchFamily="34" charset="0"/>
                  </a:rPr>
                  <a:t> Springs State Park in Fort White, Florida can rent tubes to float along the spring toward the South Takeout Point. Grayson begins his float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3.5</m:t>
                    </m:r>
                  </m:oMath>
                </a14:m>
                <a:r>
                  <a:rPr lang="en-US" sz="2400" dirty="0">
                    <a:latin typeface="Verdana" panose="020B0604030504040204" pitchFamily="34" charset="0"/>
                    <a:ea typeface="Verdana" panose="020B0604030504040204" pitchFamily="34" charset="0"/>
                    <a:cs typeface="Verdana" panose="020B0604030504040204" pitchFamily="34" charset="0"/>
                  </a:rPr>
                  <a:t> miles from the South Takeout Point. After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hours, he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1.1</m:t>
                    </m:r>
                  </m:oMath>
                </a14:m>
                <a:r>
                  <a:rPr lang="en-US" sz="2400" dirty="0">
                    <a:latin typeface="Verdana" panose="020B0604030504040204" pitchFamily="34" charset="0"/>
                    <a:ea typeface="Verdana" panose="020B0604030504040204" pitchFamily="34" charset="0"/>
                    <a:cs typeface="Verdana" panose="020B0604030504040204" pitchFamily="34" charset="0"/>
                  </a:rPr>
                  <a:t> miles from the South Takeout Point.</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4025"/>
                <a:r>
                  <a:rPr lang="en-US" sz="2400" dirty="0">
                    <a:latin typeface="Verdana" panose="020B0604030504040204" pitchFamily="34" charset="0"/>
                    <a:ea typeface="Verdana" panose="020B0604030504040204" pitchFamily="34" charset="0"/>
                    <a:cs typeface="Verdana" panose="020B0604030504040204" pitchFamily="34" charset="0"/>
                  </a:rPr>
                  <a:t>Use the information to determine the rate of change and 𝑦-intercept in this relationship. Then, interpret each value in context.</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30266" y="1239721"/>
                <a:ext cx="10923253" cy="3046988"/>
              </a:xfrm>
              <a:prstGeom prst="rect">
                <a:avLst/>
              </a:prstGeom>
              <a:blipFill>
                <a:blip r:embed="rId4"/>
                <a:stretch>
                  <a:fillRect l="-929" t="-1660" r="-697" b="-3734"/>
                </a:stretch>
              </a:blipFill>
            </p:spPr>
            <p:txBody>
              <a:bodyPr/>
              <a:lstStyle/>
              <a:p>
                <a:r>
                  <a:rPr lang="en-US">
                    <a:noFill/>
                  </a:rPr>
                  <a:t> </a:t>
                </a:r>
              </a:p>
            </p:txBody>
          </p:sp>
        </mc:Fallback>
      </mc:AlternateContent>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320</a:t>
            </a:r>
            <a:endParaRPr i="1" dirty="0">
              <a:latin typeface="Calibri"/>
              <a:ea typeface="Calibri"/>
              <a:cs typeface="Calibri"/>
              <a:sym typeface="Calibri"/>
            </a:endParaRPr>
          </a:p>
        </p:txBody>
      </p:sp>
      <p:pic>
        <p:nvPicPr>
          <p:cNvPr id="16" name="Picture 15" descr="Icon&#10;&#10;Description automatically generated">
            <a:extLst>
              <a:ext uri="{FF2B5EF4-FFF2-40B4-BE49-F238E27FC236}">
                <a16:creationId xmlns:a16="http://schemas.microsoft.com/office/drawing/2014/main" id="{B960D343-710A-634F-A7B3-EA3C3EC0957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2" cy="747302"/>
          </a:xfrm>
          <a:prstGeom prst="rect">
            <a:avLst/>
          </a:prstGeom>
        </p:spPr>
      </p:pic>
    </p:spTree>
    <p:extLst>
      <p:ext uri="{BB962C8B-B14F-4D97-AF65-F5344CB8AC3E}">
        <p14:creationId xmlns:p14="http://schemas.microsoft.com/office/powerpoint/2010/main" val="3693434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733D138-0406-0043-BADD-5F6442E0DF0B}"/>
                  </a:ext>
                </a:extLst>
              </p:cNvPr>
              <p:cNvGraphicFramePr>
                <a:graphicFrameLocks noGrp="1"/>
              </p:cNvGraphicFramePr>
              <p:nvPr>
                <p:extLst>
                  <p:ext uri="{D42A27DB-BD31-4B8C-83A1-F6EECF244321}">
                    <p14:modId xmlns:p14="http://schemas.microsoft.com/office/powerpoint/2010/main" val="859525514"/>
                  </p:ext>
                </p:extLst>
              </p:nvPr>
            </p:nvGraphicFramePr>
            <p:xfrm>
              <a:off x="3048687" y="777588"/>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rate of change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𝑦</m:t>
                              </m:r>
                            </m:oMath>
                          </a14:m>
                          <a:r>
                            <a:rPr lang="en-US" sz="1800">
                              <a:effectLst/>
                              <a:latin typeface="Verdana" panose="020B0604030504040204" pitchFamily="34" charset="0"/>
                              <a:ea typeface="Verdana" panose="020B0604030504040204" pitchFamily="34" charset="0"/>
                              <a:cs typeface="Verdana" panose="020B0604030504040204" pitchFamily="34" charset="0"/>
                            </a:rPr>
                            <a:t>-intercept</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Choice>
        <mc:Fallback xmlns="">
          <p:graphicFrame>
            <p:nvGraphicFramePr>
              <p:cNvPr id="6" name="Table 5">
                <a:extLst>
                  <a:ext uri="{FF2B5EF4-FFF2-40B4-BE49-F238E27FC236}">
                    <a16:creationId xmlns:a16="http://schemas.microsoft.com/office/drawing/2014/main" id="{7733D138-0406-0043-BADD-5F6442E0DF0B}"/>
                  </a:ext>
                </a:extLst>
              </p:cNvPr>
              <p:cNvGraphicFramePr>
                <a:graphicFrameLocks noGrp="1"/>
              </p:cNvGraphicFramePr>
              <p:nvPr>
                <p:extLst>
                  <p:ext uri="{D42A27DB-BD31-4B8C-83A1-F6EECF244321}">
                    <p14:modId xmlns:p14="http://schemas.microsoft.com/office/powerpoint/2010/main" val="859525514"/>
                  </p:ext>
                </p:extLst>
              </p:nvPr>
            </p:nvGraphicFramePr>
            <p:xfrm>
              <a:off x="3048687" y="777588"/>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rate of change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endParaRPr lang="en-US"/>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115979" r="-307627" b="-1031"/>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Fallback>
      </mc:AlternateContent>
    </p:spTree>
    <p:extLst>
      <p:ext uri="{BB962C8B-B14F-4D97-AF65-F5344CB8AC3E}">
        <p14:creationId xmlns:p14="http://schemas.microsoft.com/office/powerpoint/2010/main" val="2630457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756528" y="551232"/>
            <a:ext cx="10663311" cy="193899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Elijah is saving money to buy a new PlayStation. He set some money he received for his birthday aside and then added more each week. The table shows the amount of money Elijah has saved at the end of each week, 𝑚, for the number of weeks he has been saving, 𝑤.</a:t>
            </a:r>
          </a:p>
        </p:txBody>
      </p:sp>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F71B6E8-B7BE-C04A-95CC-2FABFDE5CB6B}"/>
                  </a:ext>
                </a:extLst>
              </p:cNvPr>
              <p:cNvGraphicFramePr>
                <a:graphicFrameLocks noGrp="1"/>
              </p:cNvGraphicFramePr>
              <p:nvPr>
                <p:extLst>
                  <p:ext uri="{D42A27DB-BD31-4B8C-83A1-F6EECF244321}">
                    <p14:modId xmlns:p14="http://schemas.microsoft.com/office/powerpoint/2010/main" val="4103307043"/>
                  </p:ext>
                </p:extLst>
              </p:nvPr>
            </p:nvGraphicFramePr>
            <p:xfrm>
              <a:off x="3528695" y="3154680"/>
              <a:ext cx="5134610" cy="548640"/>
            </p:xfrm>
            <a:graphic>
              <a:graphicData uri="http://schemas.openxmlformats.org/drawingml/2006/table">
                <a:tbl>
                  <a:tblPr firstRow="1" firstCol="1" bandRow="1">
                    <a:tableStyleId>{A91F0D33-8C57-4600-99A7-42BC86742BE1}</a:tableStyleId>
                  </a:tblPr>
                  <a:tblGrid>
                    <a:gridCol w="1026795">
                      <a:extLst>
                        <a:ext uri="{9D8B030D-6E8A-4147-A177-3AD203B41FA5}">
                          <a16:colId xmlns:a16="http://schemas.microsoft.com/office/drawing/2014/main" val="1730294129"/>
                        </a:ext>
                      </a:extLst>
                    </a:gridCol>
                    <a:gridCol w="1026795">
                      <a:extLst>
                        <a:ext uri="{9D8B030D-6E8A-4147-A177-3AD203B41FA5}">
                          <a16:colId xmlns:a16="http://schemas.microsoft.com/office/drawing/2014/main" val="477445460"/>
                        </a:ext>
                      </a:extLst>
                    </a:gridCol>
                    <a:gridCol w="1026795">
                      <a:extLst>
                        <a:ext uri="{9D8B030D-6E8A-4147-A177-3AD203B41FA5}">
                          <a16:colId xmlns:a16="http://schemas.microsoft.com/office/drawing/2014/main" val="691283490"/>
                        </a:ext>
                      </a:extLst>
                    </a:gridCol>
                    <a:gridCol w="1026795">
                      <a:extLst>
                        <a:ext uri="{9D8B030D-6E8A-4147-A177-3AD203B41FA5}">
                          <a16:colId xmlns:a16="http://schemas.microsoft.com/office/drawing/2014/main" val="2120955688"/>
                        </a:ext>
                      </a:extLst>
                    </a:gridCol>
                    <a:gridCol w="1027430">
                      <a:extLst>
                        <a:ext uri="{9D8B030D-6E8A-4147-A177-3AD203B41FA5}">
                          <a16:colId xmlns:a16="http://schemas.microsoft.com/office/drawing/2014/main" val="3496767906"/>
                        </a:ext>
                      </a:extLst>
                    </a:gridCol>
                  </a:tblGrid>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𝒘</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8882482"/>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𝒎</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80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110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200</m:t>
                                </m:r>
                              </m:oMath>
                            </m:oMathPara>
                          </a14:m>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260</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5605139"/>
                      </a:ext>
                    </a:extLst>
                  </a:tr>
                </a:tbl>
              </a:graphicData>
            </a:graphic>
          </p:graphicFrame>
        </mc:Choice>
        <mc:Fallback xmlns="">
          <p:graphicFrame>
            <p:nvGraphicFramePr>
              <p:cNvPr id="2" name="Table 1">
                <a:extLst>
                  <a:ext uri="{FF2B5EF4-FFF2-40B4-BE49-F238E27FC236}">
                    <a16:creationId xmlns:a16="http://schemas.microsoft.com/office/drawing/2014/main" id="{EF71B6E8-B7BE-C04A-95CC-2FABFDE5CB6B}"/>
                  </a:ext>
                </a:extLst>
              </p:cNvPr>
              <p:cNvGraphicFramePr>
                <a:graphicFrameLocks noGrp="1"/>
              </p:cNvGraphicFramePr>
              <p:nvPr>
                <p:extLst>
                  <p:ext uri="{D42A27DB-BD31-4B8C-83A1-F6EECF244321}">
                    <p14:modId xmlns:p14="http://schemas.microsoft.com/office/powerpoint/2010/main" val="4103307043"/>
                  </p:ext>
                </p:extLst>
              </p:nvPr>
            </p:nvGraphicFramePr>
            <p:xfrm>
              <a:off x="3528695" y="3154680"/>
              <a:ext cx="5134610" cy="548640"/>
            </p:xfrm>
            <a:graphic>
              <a:graphicData uri="http://schemas.openxmlformats.org/drawingml/2006/table">
                <a:tbl>
                  <a:tblPr firstRow="1" firstCol="1" bandRow="1">
                    <a:tableStyleId>{A91F0D33-8C57-4600-99A7-42BC86742BE1}</a:tableStyleId>
                  </a:tblPr>
                  <a:tblGrid>
                    <a:gridCol w="1026795">
                      <a:extLst>
                        <a:ext uri="{9D8B030D-6E8A-4147-A177-3AD203B41FA5}">
                          <a16:colId xmlns:a16="http://schemas.microsoft.com/office/drawing/2014/main" val="1730294129"/>
                        </a:ext>
                      </a:extLst>
                    </a:gridCol>
                    <a:gridCol w="1026795">
                      <a:extLst>
                        <a:ext uri="{9D8B030D-6E8A-4147-A177-3AD203B41FA5}">
                          <a16:colId xmlns:a16="http://schemas.microsoft.com/office/drawing/2014/main" val="477445460"/>
                        </a:ext>
                      </a:extLst>
                    </a:gridCol>
                    <a:gridCol w="1026795">
                      <a:extLst>
                        <a:ext uri="{9D8B030D-6E8A-4147-A177-3AD203B41FA5}">
                          <a16:colId xmlns:a16="http://schemas.microsoft.com/office/drawing/2014/main" val="691283490"/>
                        </a:ext>
                      </a:extLst>
                    </a:gridCol>
                    <a:gridCol w="1026795">
                      <a:extLst>
                        <a:ext uri="{9D8B030D-6E8A-4147-A177-3AD203B41FA5}">
                          <a16:colId xmlns:a16="http://schemas.microsoft.com/office/drawing/2014/main" val="2120955688"/>
                        </a:ext>
                      </a:extLst>
                    </a:gridCol>
                    <a:gridCol w="1027430">
                      <a:extLst>
                        <a:ext uri="{9D8B030D-6E8A-4147-A177-3AD203B41FA5}">
                          <a16:colId xmlns:a16="http://schemas.microsoft.com/office/drawing/2014/main" val="3496767906"/>
                        </a:ext>
                      </a:extLst>
                    </a:gridCol>
                  </a:tblGrid>
                  <a:tr h="27432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35" t="-4545" r="-402469" b="-11363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235" t="-4545" r="-302469" b="-11363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8780" t="-4545" r="-198780" b="-11363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2469" t="-4545" r="-101235" b="-11363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469" t="-4545" r="-1235" b="-113636"/>
                          </a:stretch>
                        </a:blipFill>
                      </a:tcPr>
                    </a:tc>
                    <a:extLst>
                      <a:ext uri="{0D108BD9-81ED-4DB2-BD59-A6C34878D82A}">
                        <a16:rowId xmlns:a16="http://schemas.microsoft.com/office/drawing/2014/main" val="1378882482"/>
                      </a:ext>
                    </a:extLst>
                  </a:tr>
                  <a:tr h="27432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35" t="-104545" r="-402469" b="-1363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235" t="-104545" r="-302469" b="-1363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8780" t="-104545" r="-198780" b="-1363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2469" t="-104545" r="-101235" b="-1363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469" t="-104545" r="-1235" b="-13636"/>
                          </a:stretch>
                        </a:blipFill>
                      </a:tcPr>
                    </a:tc>
                    <a:extLst>
                      <a:ext uri="{0D108BD9-81ED-4DB2-BD59-A6C34878D82A}">
                        <a16:rowId xmlns:a16="http://schemas.microsoft.com/office/drawing/2014/main" val="1965605139"/>
                      </a:ext>
                    </a:extLst>
                  </a:tr>
                </a:tbl>
              </a:graphicData>
            </a:graphic>
          </p:graphicFrame>
        </mc:Fallback>
      </mc:AlternateContent>
      <p:sp>
        <p:nvSpPr>
          <p:cNvPr id="9" name="TextBox 8">
            <a:extLst>
              <a:ext uri="{FF2B5EF4-FFF2-40B4-BE49-F238E27FC236}">
                <a16:creationId xmlns:a16="http://schemas.microsoft.com/office/drawing/2014/main" id="{A4272AF0-8CAB-B048-BCDD-BF29D333C6BC}"/>
              </a:ext>
            </a:extLst>
          </p:cNvPr>
          <p:cNvSpPr txBox="1"/>
          <p:nvPr/>
        </p:nvSpPr>
        <p:spPr>
          <a:xfrm>
            <a:off x="756528" y="4480333"/>
            <a:ext cx="10815711" cy="1200329"/>
          </a:xfrm>
          <a:prstGeom prst="rect">
            <a:avLst/>
          </a:prstGeom>
          <a:noFill/>
        </p:spPr>
        <p:txBody>
          <a:bodyPr wrap="square" rtlCol="0">
            <a:spAutoFit/>
          </a:bodyPr>
          <a:lstStyle/>
          <a:p>
            <a:pPr marL="454025"/>
            <a:r>
              <a:rPr lang="en-US" sz="2400" dirty="0">
                <a:latin typeface="Verdana" panose="020B0604030504040204" pitchFamily="34" charset="0"/>
                <a:ea typeface="Verdana" panose="020B0604030504040204" pitchFamily="34" charset="0"/>
                <a:cs typeface="Verdana" panose="020B0604030504040204" pitchFamily="34" charset="0"/>
              </a:rPr>
              <a:t>Use the information to determine the rate of change and 𝑦-intercept in this relationship. Then, interpret each value in context.</a:t>
            </a:r>
          </a:p>
        </p:txBody>
      </p:sp>
    </p:spTree>
    <p:extLst>
      <p:ext uri="{BB962C8B-B14F-4D97-AF65-F5344CB8AC3E}">
        <p14:creationId xmlns:p14="http://schemas.microsoft.com/office/powerpoint/2010/main" val="227560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733D138-0406-0043-BADD-5F6442E0DF0B}"/>
                  </a:ext>
                </a:extLst>
              </p:cNvPr>
              <p:cNvGraphicFramePr>
                <a:graphicFrameLocks noGrp="1"/>
              </p:cNvGraphicFramePr>
              <p:nvPr/>
            </p:nvGraphicFramePr>
            <p:xfrm>
              <a:off x="3048687" y="773414"/>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rate of change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𝑦</m:t>
                              </m:r>
                            </m:oMath>
                          </a14:m>
                          <a:r>
                            <a:rPr lang="en-US" sz="1800">
                              <a:effectLst/>
                              <a:latin typeface="Verdana" panose="020B0604030504040204" pitchFamily="34" charset="0"/>
                              <a:ea typeface="Verdana" panose="020B0604030504040204" pitchFamily="34" charset="0"/>
                              <a:cs typeface="Verdana" panose="020B0604030504040204" pitchFamily="34" charset="0"/>
                            </a:rPr>
                            <a:t>-intercept</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Choice>
        <mc:Fallback xmlns="">
          <p:graphicFrame>
            <p:nvGraphicFramePr>
              <p:cNvPr id="6" name="Table 5">
                <a:extLst>
                  <a:ext uri="{FF2B5EF4-FFF2-40B4-BE49-F238E27FC236}">
                    <a16:creationId xmlns:a16="http://schemas.microsoft.com/office/drawing/2014/main" id="{7733D138-0406-0043-BADD-5F6442E0DF0B}"/>
                  </a:ext>
                </a:extLst>
              </p:cNvPr>
              <p:cNvGraphicFramePr>
                <a:graphicFrameLocks noGrp="1"/>
              </p:cNvGraphicFramePr>
              <p:nvPr/>
            </p:nvGraphicFramePr>
            <p:xfrm>
              <a:off x="3048687" y="773414"/>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rate of change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endParaRPr lang="en-US"/>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115979" r="-307627" b="-515"/>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Fallback>
      </mc:AlternateContent>
    </p:spTree>
    <p:extLst>
      <p:ext uri="{BB962C8B-B14F-4D97-AF65-F5344CB8AC3E}">
        <p14:creationId xmlns:p14="http://schemas.microsoft.com/office/powerpoint/2010/main" val="2833037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0F60DB99-BF32-8E48-804D-E08F136BAB8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7332" y="-9807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7.7.5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C5015EC-6F43-1C4A-AD6C-B1BEBDFEE113}"/>
                  </a:ext>
                </a:extLst>
              </p:cNvPr>
              <p:cNvSpPr/>
              <p:nvPr/>
            </p:nvSpPr>
            <p:spPr>
              <a:xfrm>
                <a:off x="730266" y="1460444"/>
                <a:ext cx="6381734" cy="2862322"/>
              </a:xfrm>
              <a:prstGeom prst="rect">
                <a:avLst/>
              </a:prstGeom>
            </p:spPr>
            <p:txBody>
              <a:bodyPr wrap="square">
                <a:spAutoFit/>
              </a:bodyPr>
              <a:lstStyle/>
              <a:p>
                <a:r>
                  <a:rPr lang="en-US" sz="1800" dirty="0">
                    <a:latin typeface="Verdana" panose="020B0604030504040204" pitchFamily="34" charset="0"/>
                    <a:ea typeface="Verdana" panose="020B0604030504040204" pitchFamily="34" charset="0"/>
                    <a:cs typeface="Verdana" panose="020B0604030504040204" pitchFamily="34" charset="0"/>
                  </a:rPr>
                  <a:t>In science class, Aliyah observed a linear relationship between the length a spring stretches and how it changes when different weights are attached to the end. </a:t>
                </a:r>
              </a:p>
              <a:p>
                <a:endParaRPr lang="en-US" sz="1800" dirty="0">
                  <a:latin typeface="Verdana" panose="020B0604030504040204" pitchFamily="34" charset="0"/>
                  <a:ea typeface="Verdana" panose="020B0604030504040204" pitchFamily="34" charset="0"/>
                  <a:cs typeface="Verdana" panose="020B0604030504040204" pitchFamily="34" charset="0"/>
                </a:endParaRPr>
              </a:p>
              <a:p>
                <a:r>
                  <a:rPr lang="en-US" sz="1800" dirty="0">
                    <a:latin typeface="Verdana" panose="020B0604030504040204" pitchFamily="34" charset="0"/>
                    <a:ea typeface="Verdana" panose="020B0604030504040204" pitchFamily="34" charset="0"/>
                    <a:cs typeface="Verdana" panose="020B0604030504040204" pitchFamily="34" charset="0"/>
                  </a:rPr>
                  <a:t>She observed the spring measures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3.7</m:t>
                    </m:r>
                  </m:oMath>
                </a14:m>
                <a:r>
                  <a:rPr lang="en-US" sz="1800" dirty="0">
                    <a:latin typeface="Verdana" panose="020B0604030504040204" pitchFamily="34" charset="0"/>
                    <a:ea typeface="Verdana" panose="020B0604030504040204" pitchFamily="34" charset="0"/>
                    <a:cs typeface="Verdana" panose="020B0604030504040204" pitchFamily="34" charset="0"/>
                  </a:rPr>
                  <a:t> centimeters (cm) when no weight is attached to it. When a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50</m:t>
                    </m:r>
                  </m:oMath>
                </a14:m>
                <a:r>
                  <a:rPr lang="en-US" sz="1800" dirty="0">
                    <a:latin typeface="Verdana" panose="020B0604030504040204" pitchFamily="34" charset="0"/>
                    <a:ea typeface="Verdana" panose="020B0604030504040204" pitchFamily="34" charset="0"/>
                    <a:cs typeface="Verdana" panose="020B0604030504040204" pitchFamily="34" charset="0"/>
                  </a:rPr>
                  <a:t> gram (g) weight is attached, the length of the spring measures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5.2</m:t>
                    </m:r>
                  </m:oMath>
                </a14:m>
                <a:r>
                  <a:rPr lang="en-US" sz="1800" dirty="0">
                    <a:latin typeface="Verdana" panose="020B0604030504040204" pitchFamily="34" charset="0"/>
                    <a:ea typeface="Verdana" panose="020B0604030504040204" pitchFamily="34" charset="0"/>
                    <a:cs typeface="Verdana" panose="020B0604030504040204" pitchFamily="34" charset="0"/>
                  </a:rPr>
                  <a:t> cm.</a:t>
                </a:r>
              </a:p>
              <a:p>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5C5015EC-6F43-1C4A-AD6C-B1BEBDFEE113}"/>
                  </a:ext>
                </a:extLst>
              </p:cNvPr>
              <p:cNvSpPr>
                <a:spLocks noRot="1" noChangeAspect="1" noMove="1" noResize="1" noEditPoints="1" noAdjustHandles="1" noChangeArrowheads="1" noChangeShapeType="1" noTextEdit="1"/>
              </p:cNvSpPr>
              <p:nvPr/>
            </p:nvSpPr>
            <p:spPr>
              <a:xfrm>
                <a:off x="730266" y="1460444"/>
                <a:ext cx="6381734" cy="2862322"/>
              </a:xfrm>
              <a:prstGeom prst="rect">
                <a:avLst/>
              </a:prstGeom>
              <a:blipFill>
                <a:blip r:embed="rId5"/>
                <a:stretch>
                  <a:fillRect l="-794" t="-1327" r="-1190"/>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42B02AA2-63EE-8541-95D9-38B736D2B86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321</a:t>
            </a:r>
            <a:endParaRPr i="1" dirty="0">
              <a:latin typeface="Calibri"/>
              <a:ea typeface="Calibri"/>
              <a:cs typeface="Calibri"/>
              <a:sym typeface="Calibri"/>
            </a:endParaRPr>
          </a:p>
        </p:txBody>
      </p:sp>
      <p:pic>
        <p:nvPicPr>
          <p:cNvPr id="16" name="Picture 15" descr="Diagram, schematic&#10;&#10;Description automatically generated">
            <a:extLst>
              <a:ext uri="{FF2B5EF4-FFF2-40B4-BE49-F238E27FC236}">
                <a16:creationId xmlns:a16="http://schemas.microsoft.com/office/drawing/2014/main" id="{37FCA18B-F882-C942-BDB5-8A5ABF60868A}"/>
              </a:ext>
            </a:extLst>
          </p:cNvPr>
          <p:cNvPicPr>
            <a:picLocks noChangeAspect="1"/>
          </p:cNvPicPr>
          <p:nvPr/>
        </p:nvPicPr>
        <p:blipFill>
          <a:blip r:embed="rId6">
            <a:extLst>
              <a:ext uri="{28A0092B-C50C-407E-A947-70E740481C1C}">
                <a14:useLocalDpi xmlns:a14="http://schemas.microsoft.com/office/drawing/2010/main"/>
              </a:ext>
            </a:extLst>
          </a:blip>
          <a:srcRect/>
          <a:stretch>
            <a:fillRect/>
          </a:stretch>
        </p:blipFill>
        <p:spPr bwMode="auto">
          <a:xfrm>
            <a:off x="7619066" y="1460444"/>
            <a:ext cx="3641383" cy="2291285"/>
          </a:xfrm>
          <a:prstGeom prst="rect">
            <a:avLst/>
          </a:prstGeom>
          <a:noFill/>
          <a:ln>
            <a:noFill/>
          </a:ln>
        </p:spPr>
      </p:pic>
      <p:sp>
        <p:nvSpPr>
          <p:cNvPr id="17" name="Rectangle 16">
            <a:extLst>
              <a:ext uri="{FF2B5EF4-FFF2-40B4-BE49-F238E27FC236}">
                <a16:creationId xmlns:a16="http://schemas.microsoft.com/office/drawing/2014/main" id="{ED0B049A-D64C-3449-AD98-BEFFF6DE95F8}"/>
              </a:ext>
            </a:extLst>
          </p:cNvPr>
          <p:cNvSpPr/>
          <p:nvPr/>
        </p:nvSpPr>
        <p:spPr>
          <a:xfrm>
            <a:off x="730266" y="4443663"/>
            <a:ext cx="10689574" cy="646331"/>
          </a:xfrm>
          <a:prstGeom prst="rect">
            <a:avLst/>
          </a:prstGeom>
        </p:spPr>
        <p:txBody>
          <a:bodyPr wrap="square">
            <a:spAutoFit/>
          </a:bodyPr>
          <a:lstStyle/>
          <a:p>
            <a:pPr marL="342900" indent="-3429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Use the information to determine the rate of change and 𝑦-intercept in this relationship. Then, interpret each value in context.</a:t>
            </a:r>
          </a:p>
        </p:txBody>
      </p:sp>
    </p:spTree>
    <p:extLst>
      <p:ext uri="{BB962C8B-B14F-4D97-AF65-F5344CB8AC3E}">
        <p14:creationId xmlns:p14="http://schemas.microsoft.com/office/powerpoint/2010/main" val="553995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733D138-0406-0043-BADD-5F6442E0DF0B}"/>
                  </a:ext>
                </a:extLst>
              </p:cNvPr>
              <p:cNvGraphicFramePr>
                <a:graphicFrameLocks noGrp="1"/>
              </p:cNvGraphicFramePr>
              <p:nvPr/>
            </p:nvGraphicFramePr>
            <p:xfrm>
              <a:off x="3048687" y="773414"/>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rate of change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𝑦</m:t>
                              </m:r>
                            </m:oMath>
                          </a14:m>
                          <a:r>
                            <a:rPr lang="en-US" sz="1800">
                              <a:effectLst/>
                              <a:latin typeface="Verdana" panose="020B0604030504040204" pitchFamily="34" charset="0"/>
                              <a:ea typeface="Verdana" panose="020B0604030504040204" pitchFamily="34" charset="0"/>
                              <a:cs typeface="Verdana" panose="020B0604030504040204" pitchFamily="34" charset="0"/>
                            </a:rPr>
                            <a:t>-intercept</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Choice>
        <mc:Fallback xmlns="">
          <p:graphicFrame>
            <p:nvGraphicFramePr>
              <p:cNvPr id="6" name="Table 5">
                <a:extLst>
                  <a:ext uri="{FF2B5EF4-FFF2-40B4-BE49-F238E27FC236}">
                    <a16:creationId xmlns:a16="http://schemas.microsoft.com/office/drawing/2014/main" id="{7733D138-0406-0043-BADD-5F6442E0DF0B}"/>
                  </a:ext>
                </a:extLst>
              </p:cNvPr>
              <p:cNvGraphicFramePr>
                <a:graphicFrameLocks noGrp="1"/>
              </p:cNvGraphicFramePr>
              <p:nvPr/>
            </p:nvGraphicFramePr>
            <p:xfrm>
              <a:off x="3048687" y="773414"/>
              <a:ext cx="6094626" cy="5302823"/>
            </p:xfrm>
            <a:graphic>
              <a:graphicData uri="http://schemas.openxmlformats.org/drawingml/2006/table">
                <a:tbl>
                  <a:tblPr firstRow="1" firstCol="1" bandRow="1">
                    <a:tableStyleId>{A91F0D33-8C57-4600-99A7-42BC86742BE1}</a:tableStyleId>
                  </a:tblPr>
                  <a:tblGrid>
                    <a:gridCol w="1502731">
                      <a:extLst>
                        <a:ext uri="{9D8B030D-6E8A-4147-A177-3AD203B41FA5}">
                          <a16:colId xmlns:a16="http://schemas.microsoft.com/office/drawing/2014/main" val="2738789734"/>
                        </a:ext>
                      </a:extLst>
                    </a:gridCol>
                    <a:gridCol w="1204107">
                      <a:extLst>
                        <a:ext uri="{9D8B030D-6E8A-4147-A177-3AD203B41FA5}">
                          <a16:colId xmlns:a16="http://schemas.microsoft.com/office/drawing/2014/main" val="3508649209"/>
                        </a:ext>
                      </a:extLst>
                    </a:gridCol>
                    <a:gridCol w="3387788">
                      <a:extLst>
                        <a:ext uri="{9D8B030D-6E8A-4147-A177-3AD203B41FA5}">
                          <a16:colId xmlns:a16="http://schemas.microsoft.com/office/drawing/2014/main" val="493707847"/>
                        </a:ext>
                      </a:extLst>
                    </a:gridCol>
                  </a:tblGrid>
                  <a:tr h="39137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Feature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Value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46550374"/>
                      </a:ext>
                    </a:extLst>
                  </a:tr>
                  <a:tr h="2455723">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rate of change</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196170"/>
                      </a:ext>
                    </a:extLst>
                  </a:tr>
                  <a:tr h="2455723">
                    <a:tc>
                      <a:txBody>
                        <a:bodyPr/>
                        <a:lstStyle/>
                        <a:p>
                          <a:endParaRPr lang="en-US"/>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115979" r="-307627" b="-515"/>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1082" marR="610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838156"/>
                      </a:ext>
                    </a:extLst>
                  </a:tr>
                </a:tbl>
              </a:graphicData>
            </a:graphic>
          </p:graphicFrame>
        </mc:Fallback>
      </mc:AlternateContent>
    </p:spTree>
    <p:extLst>
      <p:ext uri="{BB962C8B-B14F-4D97-AF65-F5344CB8AC3E}">
        <p14:creationId xmlns:p14="http://schemas.microsoft.com/office/powerpoint/2010/main" val="372694754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151034AC-CEE1-4B70-806D-EBC689B5F327}"/>
</file>

<file path=customXml/itemProps2.xml><?xml version="1.0" encoding="utf-8"?>
<ds:datastoreItem xmlns:ds="http://schemas.openxmlformats.org/officeDocument/2006/customXml" ds:itemID="{78B3835B-BCBE-4A9E-96EE-5770066BF48C}"/>
</file>

<file path=customXml/itemProps3.xml><?xml version="1.0" encoding="utf-8"?>
<ds:datastoreItem xmlns:ds="http://schemas.openxmlformats.org/officeDocument/2006/customXml" ds:itemID="{483D94F1-06E5-4EA1-B56A-7CA23335AE10}"/>
</file>

<file path=docProps/app.xml><?xml version="1.0" encoding="utf-8"?>
<Properties xmlns="http://schemas.openxmlformats.org/officeDocument/2006/extended-properties" xmlns:vt="http://schemas.openxmlformats.org/officeDocument/2006/docPropsVTypes">
  <TotalTime>1830</TotalTime>
  <Words>1293</Words>
  <Application>Microsoft Macintosh PowerPoint</Application>
  <PresentationFormat>Widescreen</PresentationFormat>
  <Paragraphs>207</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Century Gothic</vt:lpstr>
      <vt:lpstr>Calibri</vt:lpstr>
      <vt:lpstr>Arial Black</vt:lpstr>
      <vt:lpstr>Cambria Math</vt:lpstr>
      <vt:lpstr>Wingdings</vt:lpstr>
      <vt:lpstr>Verdana</vt:lpstr>
      <vt:lpstr>1_Office Theme</vt:lpstr>
      <vt:lpstr>8th Grade Math:  Pre-Algebra  Unit 7, Lesson 7  Interpreting Linear Relationships from Tables and Written Descriptions  Volume 1, pg. 317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Mary Freeman</cp:lastModifiedBy>
  <cp:revision>28</cp:revision>
  <dcterms:created xsi:type="dcterms:W3CDTF">2015-03-17T18:51:18Z</dcterms:created>
  <dcterms:modified xsi:type="dcterms:W3CDTF">2023-02-14T20:09:28Z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