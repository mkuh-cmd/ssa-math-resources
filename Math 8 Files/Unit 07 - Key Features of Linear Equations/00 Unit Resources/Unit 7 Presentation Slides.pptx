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5"/>
  </p:notesMasterIdLst>
  <p:sldIdLst>
    <p:sldId id="256" r:id="rId2"/>
    <p:sldId id="257" r:id="rId3"/>
    <p:sldId id="285" r:id="rId4"/>
    <p:sldId id="286" r:id="rId5"/>
    <p:sldId id="261" r:id="rId6"/>
    <p:sldId id="287" r:id="rId7"/>
    <p:sldId id="343" r:id="rId8"/>
    <p:sldId id="344" r:id="rId9"/>
    <p:sldId id="347" r:id="rId10"/>
    <p:sldId id="348" r:id="rId11"/>
    <p:sldId id="349" r:id="rId12"/>
    <p:sldId id="350" r:id="rId13"/>
    <p:sldId id="351" r:id="rId14"/>
    <p:sldId id="320" r:id="rId15"/>
    <p:sldId id="321" r:id="rId16"/>
    <p:sldId id="324" r:id="rId17"/>
    <p:sldId id="334" r:id="rId18"/>
    <p:sldId id="289" r:id="rId19"/>
    <p:sldId id="290" r:id="rId20"/>
    <p:sldId id="352" r:id="rId21"/>
    <p:sldId id="353" r:id="rId22"/>
    <p:sldId id="354" r:id="rId23"/>
    <p:sldId id="355" r:id="rId24"/>
    <p:sldId id="356" r:id="rId25"/>
    <p:sldId id="357" r:id="rId26"/>
    <p:sldId id="358" r:id="rId27"/>
    <p:sldId id="359" r:id="rId28"/>
    <p:sldId id="360" r:id="rId29"/>
    <p:sldId id="345" r:id="rId30"/>
    <p:sldId id="346" r:id="rId31"/>
    <p:sldId id="361" r:id="rId32"/>
    <p:sldId id="306" r:id="rId33"/>
    <p:sldId id="307" r:id="rId34"/>
  </p:sldIdLst>
  <p:sldSz cx="12192000" cy="6858000"/>
  <p:notesSz cx="6858000" cy="9144000"/>
  <p:embeddedFontLst>
    <p:embeddedFont>
      <p:font typeface="Arial Black" panose="020B0A04020102020204" pitchFamily="34" charset="0"/>
      <p:regular r:id="rId36"/>
      <p:bold r:id="rId37"/>
    </p:embeddedFont>
    <p:embeddedFont>
      <p:font typeface="Calibri" panose="020F0502020204030204" pitchFamily="34" charset="0"/>
      <p:regular r:id="rId38"/>
      <p:bold r:id="rId39"/>
      <p:italic r:id="rId40"/>
      <p:boldItalic r:id="rId41"/>
    </p:embeddedFont>
    <p:embeddedFont>
      <p:font typeface="Cambria Math" panose="02040503050406030204" pitchFamily="18" charset="0"/>
      <p:regular r:id="rId42"/>
    </p:embeddedFont>
    <p:embeddedFont>
      <p:font typeface="Century Gothic" panose="020B0502020202020204" pitchFamily="34" charset="0"/>
      <p:regular r:id="rId43"/>
      <p:bold r:id="rId44"/>
      <p:italic r:id="rId45"/>
      <p:boldItalic r:id="rId46"/>
    </p:embeddedFont>
    <p:embeddedFont>
      <p:font typeface="Verdana" panose="020B0604030504040204" pitchFamily="34"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4E5F"/>
    <a:srgbClr val="14BAAA"/>
    <a:srgbClr val="1F3165"/>
    <a:srgbClr val="C9DF6F"/>
    <a:srgbClr val="417DBF"/>
    <a:srgbClr val="3F2A67"/>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123"/>
    <p:restoredTop sz="94719"/>
  </p:normalViewPr>
  <p:slideViewPr>
    <p:cSldViewPr snapToGrid="0">
      <p:cViewPr varScale="1">
        <p:scale>
          <a:sx n="81" d="100"/>
          <a:sy n="81" d="100"/>
        </p:scale>
        <p:origin x="324"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font" Target="fonts/font15.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font" Target="fonts/font11.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openxmlformats.org/officeDocument/2006/relationships/font" Target="fonts/font14.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font" Target="fonts/font13.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5839490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5909317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6721426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8115878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3750585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9685345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1557633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0807727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41395011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5245187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7960122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4641597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22686646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27410489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40499008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20695805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29359892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13575992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38595917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38002338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Tree>
    <p:extLst>
      <p:ext uri="{BB962C8B-B14F-4D97-AF65-F5344CB8AC3E}">
        <p14:creationId xmlns:p14="http://schemas.microsoft.com/office/powerpoint/2010/main" val="1210862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33</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3.jpe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40.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27.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32.png"/><Relationship Id="rId5" Type="http://schemas.openxmlformats.org/officeDocument/2006/relationships/image" Target="../media/image30.png"/><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20.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5" Type="http://schemas.openxmlformats.org/officeDocument/2006/relationships/image" Target="../media/image330.png"/><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35.tiff"/><Relationship Id="rId5" Type="http://schemas.openxmlformats.org/officeDocument/2006/relationships/image" Target="https://img2.cgtrader.com/items/618333/c136f6e5a2/carousel-carrousel-merry-go-round-ride-3d-model-animated-max-obj-fbx-c4d-lwo-lw-lws-ma-mb.jpg" TargetMode="External"/><Relationship Id="rId4" Type="http://schemas.openxmlformats.org/officeDocument/2006/relationships/image" Target="../media/image34.jpeg"/></Relationships>
</file>

<file path=ppt/slides/_rels/slide27.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10.png"/><Relationship Id="rId7"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8.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41.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43.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8.xml"/><Relationship Id="rId5" Type="http://schemas.openxmlformats.org/officeDocument/2006/relationships/image" Target="../media/image45.png"/><Relationship Id="rId4" Type="http://schemas.openxmlformats.org/officeDocument/2006/relationships/image" Target="../media/image44.png"/></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8.xml"/><Relationship Id="rId4" Type="http://schemas.openxmlformats.org/officeDocument/2006/relationships/image" Target="../media/image46.png"/></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8.xml"/><Relationship Id="rId4" Type="http://schemas.openxmlformats.org/officeDocument/2006/relationships/image" Target="../media/image47.png"/></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8.xml"/><Relationship Id="rId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69205" y="2296417"/>
            <a:ext cx="548639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8</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Pre-Algebra</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7, Lesson 1</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Finding Slope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Using Graphs and Tables</a:t>
            </a:r>
            <a:br>
              <a:rPr lang="en-US" sz="36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281</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6351"/>
            <a:ext cx="4094106" cy="6870701"/>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id="{39A24404-2985-2443-8B00-78BAA6E5FE0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678025"/>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37332" y="-88032"/>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281</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730265" y="1189692"/>
            <a:ext cx="10688011"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800" dirty="0">
                <a:solidFill>
                  <a:schemeClr val="tx1"/>
                </a:solidFill>
                <a:latin typeface="Verdana"/>
                <a:ea typeface="Verdana"/>
                <a:cs typeface="Verdana"/>
                <a:sym typeface="Verdana"/>
              </a:rPr>
              <a:t>MA.8.AR.3.2</a:t>
            </a:r>
          </a:p>
          <a:p>
            <a:pPr indent="0">
              <a:buNone/>
            </a:pPr>
            <a:r>
              <a:rPr lang="en-US" sz="2800" dirty="0">
                <a:latin typeface="Verdana" panose="020B0604030504040204" pitchFamily="34" charset="0"/>
                <a:ea typeface="Verdana" panose="020B0604030504040204" pitchFamily="34" charset="0"/>
                <a:cs typeface="Verdana" panose="020B0604030504040204" pitchFamily="34" charset="0"/>
              </a:rPr>
              <a:t>Given a table, graph, or written description of a linear relationship, determine the slope.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237332" y="-88032"/>
            <a:ext cx="1040368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730265" y="1326150"/>
            <a:ext cx="10796493"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p:txBody>
      </p:sp>
      <p:sp>
        <p:nvSpPr>
          <p:cNvPr id="9" name="Google Shape;282;g104476d1465_1_17">
            <a:extLst>
              <a:ext uri="{FF2B5EF4-FFF2-40B4-BE49-F238E27FC236}">
                <a16:creationId xmlns:a16="http://schemas.microsoft.com/office/drawing/2014/main" id="{EA0AD432-BE20-B448-A5A9-8CD773AADC0B}"/>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281</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237332" y="-8803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730265" y="1326150"/>
            <a:ext cx="11192103"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3550" indent="-463550">
              <a:buFont typeface="Wingdings" pitchFamily="2" charset="2"/>
              <a:buChar char="q"/>
            </a:pPr>
            <a:r>
              <a:rPr lang="en-US" sz="2800" dirty="0">
                <a:latin typeface="Verdana" panose="020B0604030504040204" pitchFamily="34" charset="0"/>
                <a:ea typeface="Verdana" panose="020B0604030504040204" pitchFamily="34" charset="0"/>
                <a:cs typeface="Verdana" panose="020B0604030504040204" pitchFamily="34" charset="0"/>
              </a:rPr>
              <a:t>I can determine the slope of a line from a graph or a table, given a mathematical context.</a:t>
            </a:r>
          </a:p>
          <a:p>
            <a:pPr marL="463550" indent="-463550">
              <a:buFont typeface="Wingdings" pitchFamily="2" charset="2"/>
              <a:buChar char="q"/>
            </a:pPr>
            <a:endParaRPr lang="en-US" sz="2800" dirty="0">
              <a:latin typeface="Verdana" panose="020B0604030504040204" pitchFamily="34" charset="0"/>
              <a:ea typeface="Verdana" panose="020B0604030504040204" pitchFamily="34" charset="0"/>
              <a:cs typeface="Verdana" panose="020B0604030504040204" pitchFamily="34" charset="0"/>
            </a:endParaRPr>
          </a:p>
          <a:p>
            <a:pPr marL="463550" indent="-463550">
              <a:buFont typeface="Wingdings" pitchFamily="2" charset="2"/>
              <a:buChar char="q"/>
            </a:pPr>
            <a:r>
              <a:rPr lang="en-US" sz="2800" dirty="0">
                <a:latin typeface="Verdana" panose="020B0604030504040204" pitchFamily="34" charset="0"/>
                <a:ea typeface="Verdana" panose="020B0604030504040204" pitchFamily="34" charset="0"/>
                <a:cs typeface="Verdana" panose="020B0604030504040204" pitchFamily="34" charset="0"/>
              </a:rPr>
              <a:t>I can relate the slope as the rate of change of the relationship between variables.</a:t>
            </a:r>
          </a:p>
        </p:txBody>
      </p:sp>
      <p:sp>
        <p:nvSpPr>
          <p:cNvPr id="8" name="Google Shape;282;g104476d1465_1_17">
            <a:extLst>
              <a:ext uri="{FF2B5EF4-FFF2-40B4-BE49-F238E27FC236}">
                <a16:creationId xmlns:a16="http://schemas.microsoft.com/office/drawing/2014/main" id="{EDC17A3E-E5EE-EC40-B29A-E421DAE5693D}"/>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281</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367988" y="2766150"/>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6F31B6B4-B590-E041-8707-FCB8D7FBCF3F}"/>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281</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37332" y="-88032"/>
            <a:ext cx="958306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7.1.1 Warm-Up: Would You Rather?</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287C5FEC-A86F-3B40-BDC7-FA3BB8FD6EBF}"/>
                  </a:ext>
                </a:extLst>
              </p:cNvPr>
              <p:cNvSpPr/>
              <p:nvPr/>
            </p:nvSpPr>
            <p:spPr>
              <a:xfrm>
                <a:off x="730265" y="1283746"/>
                <a:ext cx="6584485" cy="2800767"/>
              </a:xfrm>
              <a:prstGeom prst="rect">
                <a:avLst/>
              </a:prstGeom>
            </p:spPr>
            <p:txBody>
              <a:bodyPr wrap="square">
                <a:spAutoFit/>
              </a:bodyPr>
              <a:lstStyle/>
              <a:p>
                <a:pPr marL="457200" indent="-457200">
                  <a:buFont typeface="+mj-lt"/>
                  <a:buAutoNum type="arabicPeriod"/>
                </a:pPr>
                <a:r>
                  <a:rPr lang="en-US" sz="2200" dirty="0">
                    <a:latin typeface="Verdana" panose="020B0604030504040204" pitchFamily="34" charset="0"/>
                    <a:ea typeface="Times New Roman" panose="02020603050405020304" pitchFamily="18" charset="0"/>
                  </a:rPr>
                  <a:t>Would you rather read </a:t>
                </a:r>
                <a14:m>
                  <m:oMath xmlns:m="http://schemas.openxmlformats.org/officeDocument/2006/math">
                    <m:r>
                      <a:rPr lang="en-US" sz="2200" i="1" dirty="0">
                        <a:latin typeface="Cambria Math" panose="02040503050406030204" pitchFamily="18" charset="0"/>
                        <a:ea typeface="Times New Roman" panose="02020603050405020304" pitchFamily="18" charset="0"/>
                      </a:rPr>
                      <m:t>12</m:t>
                    </m:r>
                  </m:oMath>
                </a14:m>
                <a:r>
                  <a:rPr lang="en-US" sz="2200" dirty="0">
                    <a:latin typeface="Verdana" panose="020B0604030504040204" pitchFamily="34" charset="0"/>
                    <a:ea typeface="Times New Roman" panose="02020603050405020304" pitchFamily="18" charset="0"/>
                  </a:rPr>
                  <a:t> pages each night in a book with </a:t>
                </a:r>
                <a14:m>
                  <m:oMath xmlns:m="http://schemas.openxmlformats.org/officeDocument/2006/math">
                    <m:r>
                      <a:rPr lang="en-US" sz="2200" i="1" dirty="0">
                        <a:latin typeface="Cambria Math" panose="02040503050406030204" pitchFamily="18" charset="0"/>
                        <a:ea typeface="Times New Roman" panose="02020603050405020304" pitchFamily="18" charset="0"/>
                      </a:rPr>
                      <m:t>144</m:t>
                    </m:r>
                  </m:oMath>
                </a14:m>
                <a:r>
                  <a:rPr lang="en-US" sz="2200" dirty="0">
                    <a:latin typeface="Verdana" panose="020B0604030504040204" pitchFamily="34" charset="0"/>
                    <a:ea typeface="Times New Roman" panose="02020603050405020304" pitchFamily="18" charset="0"/>
                  </a:rPr>
                  <a:t> total pages or read </a:t>
                </a:r>
                <a14:m>
                  <m:oMath xmlns:m="http://schemas.openxmlformats.org/officeDocument/2006/math">
                    <m:r>
                      <a:rPr lang="en-US" sz="2200" i="1" dirty="0">
                        <a:latin typeface="Cambria Math" panose="02040503050406030204" pitchFamily="18" charset="0"/>
                        <a:ea typeface="Times New Roman" panose="02020603050405020304" pitchFamily="18" charset="0"/>
                      </a:rPr>
                      <m:t>50</m:t>
                    </m:r>
                  </m:oMath>
                </a14:m>
                <a:r>
                  <a:rPr lang="en-US" sz="2200" dirty="0">
                    <a:latin typeface="Verdana" panose="020B0604030504040204" pitchFamily="34" charset="0"/>
                    <a:ea typeface="Times New Roman" panose="02020603050405020304" pitchFamily="18" charset="0"/>
                  </a:rPr>
                  <a:t> pages three times a week in a book with </a:t>
                </a:r>
                <a14:m>
                  <m:oMath xmlns:m="http://schemas.openxmlformats.org/officeDocument/2006/math">
                    <m:r>
                      <a:rPr lang="en-US" sz="2200" i="1" dirty="0">
                        <a:latin typeface="Cambria Math" panose="02040503050406030204" pitchFamily="18" charset="0"/>
                        <a:ea typeface="Times New Roman" panose="02020603050405020304" pitchFamily="18" charset="0"/>
                      </a:rPr>
                      <m:t>132</m:t>
                    </m:r>
                  </m:oMath>
                </a14:m>
                <a:r>
                  <a:rPr lang="en-US" sz="2200" dirty="0">
                    <a:latin typeface="Verdana" panose="020B0604030504040204" pitchFamily="34" charset="0"/>
                    <a:ea typeface="Times New Roman" panose="02020603050405020304" pitchFamily="18" charset="0"/>
                  </a:rPr>
                  <a:t> total pages? </a:t>
                </a:r>
              </a:p>
              <a:p>
                <a:pPr marL="457200" indent="-457200">
                  <a:buFont typeface="+mj-lt"/>
                  <a:buAutoNum type="arabicPeriod"/>
                </a:pPr>
                <a:endParaRPr lang="en-US" sz="2200" dirty="0">
                  <a:latin typeface="Verdana" panose="020B0604030504040204" pitchFamily="34" charset="0"/>
                  <a:ea typeface="Times New Roman" panose="02020603050405020304" pitchFamily="18" charset="0"/>
                </a:endParaRPr>
              </a:p>
              <a:p>
                <a:pPr marL="454025"/>
                <a:r>
                  <a:rPr lang="en-US" sz="2200" dirty="0">
                    <a:latin typeface="Verdana" panose="020B0604030504040204" pitchFamily="34" charset="0"/>
                    <a:ea typeface="Times New Roman" panose="02020603050405020304" pitchFamily="18" charset="0"/>
                  </a:rPr>
                  <a:t>Explain your reasoning using mathematics for whichever option you choose. </a:t>
                </a:r>
              </a:p>
            </p:txBody>
          </p:sp>
        </mc:Choice>
        <mc:Fallback xmlns="">
          <p:sp>
            <p:nvSpPr>
              <p:cNvPr id="3" name="Rectangle 2">
                <a:extLst>
                  <a:ext uri="{FF2B5EF4-FFF2-40B4-BE49-F238E27FC236}">
                    <a16:creationId xmlns:a16="http://schemas.microsoft.com/office/drawing/2014/main" id="{287C5FEC-A86F-3B40-BDC7-FA3BB8FD6EBF}"/>
                  </a:ext>
                </a:extLst>
              </p:cNvPr>
              <p:cNvSpPr>
                <a:spLocks noRot="1" noChangeAspect="1" noMove="1" noResize="1" noEditPoints="1" noAdjustHandles="1" noChangeArrowheads="1" noChangeShapeType="1" noTextEdit="1"/>
              </p:cNvSpPr>
              <p:nvPr/>
            </p:nvSpPr>
            <p:spPr>
              <a:xfrm>
                <a:off x="730265" y="1283746"/>
                <a:ext cx="6584485" cy="2800767"/>
              </a:xfrm>
              <a:prstGeom prst="rect">
                <a:avLst/>
              </a:prstGeom>
              <a:blipFill>
                <a:blip r:embed="rId5"/>
                <a:stretch>
                  <a:fillRect l="-1349" t="-1810" b="-3620"/>
                </a:stretch>
              </a:blipFill>
            </p:spPr>
            <p:txBody>
              <a:bodyPr/>
              <a:lstStyle/>
              <a:p>
                <a:r>
                  <a:rPr lang="en-US">
                    <a:noFill/>
                  </a:rPr>
                  <a:t> </a:t>
                </a:r>
              </a:p>
            </p:txBody>
          </p:sp>
        </mc:Fallback>
      </mc:AlternateContent>
      <p:sp>
        <p:nvSpPr>
          <p:cNvPr id="21" name="Google Shape;282;g104476d1465_1_17">
            <a:extLst>
              <a:ext uri="{FF2B5EF4-FFF2-40B4-BE49-F238E27FC236}">
                <a16:creationId xmlns:a16="http://schemas.microsoft.com/office/drawing/2014/main" id="{4FE30EAB-3CBF-6440-8C69-6613F661213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281</a:t>
            </a:r>
            <a:endParaRPr i="1" dirty="0">
              <a:latin typeface="Calibri"/>
              <a:ea typeface="Calibri"/>
              <a:cs typeface="Calibri"/>
              <a:sym typeface="Calibri"/>
            </a:endParaRPr>
          </a:p>
        </p:txBody>
      </p:sp>
      <p:pic>
        <p:nvPicPr>
          <p:cNvPr id="22" name="Picture 21" descr="Book Snake">
            <a:extLst>
              <a:ext uri="{FF2B5EF4-FFF2-40B4-BE49-F238E27FC236}">
                <a16:creationId xmlns:a16="http://schemas.microsoft.com/office/drawing/2014/main" id="{5C311954-DEAE-6E4E-BD9B-8201869C1B19}"/>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bwMode="auto">
          <a:xfrm>
            <a:off x="8242935" y="1237668"/>
            <a:ext cx="2577465" cy="3866515"/>
          </a:xfrm>
          <a:prstGeom prst="rect">
            <a:avLst/>
          </a:prstGeom>
          <a:noFill/>
          <a:ln>
            <a:noFill/>
          </a:ln>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346338" y="276615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Refresher</a:t>
            </a:r>
            <a:endParaRPr sz="5100" b="1" dirty="0">
              <a:solidFill>
                <a:srgbClr val="54B5D1"/>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F165D0B5-52D2-CC41-810E-FB38F4051EDC}"/>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282</a:t>
            </a:r>
            <a:endParaRPr i="1" dirty="0">
              <a:latin typeface="Calibri"/>
              <a:ea typeface="Calibri"/>
              <a:cs typeface="Calibri"/>
              <a:sym typeface="Calibri"/>
            </a:endParaRPr>
          </a:p>
        </p:txBody>
      </p:sp>
      <p:pic>
        <p:nvPicPr>
          <p:cNvPr id="10" name="Picture 9" descr="Icon&#10;&#10;Description automatically generated">
            <a:extLst>
              <a:ext uri="{FF2B5EF4-FFF2-40B4-BE49-F238E27FC236}">
                <a16:creationId xmlns:a16="http://schemas.microsoft.com/office/drawing/2014/main" id="{7CA2C675-E107-2545-B59B-F0CB7FC6901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58155" cy="1158155"/>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999671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37332" y="-88032"/>
            <a:ext cx="1039195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7.1.2 Refresher: Using Similar Triangles to Find the Slope of a Line</a:t>
            </a:r>
          </a:p>
        </p:txBody>
      </p:sp>
      <p:sp>
        <p:nvSpPr>
          <p:cNvPr id="13" name="TextBox 12">
            <a:extLst>
              <a:ext uri="{FF2B5EF4-FFF2-40B4-BE49-F238E27FC236}">
                <a16:creationId xmlns:a16="http://schemas.microsoft.com/office/drawing/2014/main" id="{C01B13E8-EC8D-E443-A329-C5E3593DD13A}"/>
              </a:ext>
            </a:extLst>
          </p:cNvPr>
          <p:cNvSpPr txBox="1"/>
          <p:nvPr/>
        </p:nvSpPr>
        <p:spPr>
          <a:xfrm>
            <a:off x="730265" y="1567298"/>
            <a:ext cx="5858103" cy="1446550"/>
          </a:xfrm>
          <a:prstGeom prst="rect">
            <a:avLst/>
          </a:prstGeom>
          <a:noFill/>
        </p:spPr>
        <p:txBody>
          <a:bodyPr wrap="square" rtlCol="0">
            <a:spAutoFit/>
          </a:bodyPr>
          <a:lstStyle/>
          <a:p>
            <a:pPr lvl="0"/>
            <a:r>
              <a:rPr lang="en-US" sz="2200" dirty="0">
                <a:latin typeface="Verdana" panose="020B0604030504040204" pitchFamily="34" charset="0"/>
                <a:ea typeface="Verdana" panose="020B0604030504040204" pitchFamily="34" charset="0"/>
                <a:cs typeface="Verdana" panose="020B0604030504040204" pitchFamily="34" charset="0"/>
              </a:rPr>
              <a:t>Similar triangles can be used to determine the slope of a line by comparing the ratio of vertical lengths to horizontal lengths of the triangles. </a:t>
            </a:r>
          </a:p>
        </p:txBody>
      </p:sp>
      <p:sp>
        <p:nvSpPr>
          <p:cNvPr id="12" name="Google Shape;282;g104476d1465_1_17">
            <a:extLst>
              <a:ext uri="{FF2B5EF4-FFF2-40B4-BE49-F238E27FC236}">
                <a16:creationId xmlns:a16="http://schemas.microsoft.com/office/drawing/2014/main" id="{50A99FA2-9290-2145-A01D-ABA0B73001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282</a:t>
            </a:r>
            <a:endParaRPr i="1" dirty="0">
              <a:latin typeface="Calibri"/>
              <a:ea typeface="Calibri"/>
              <a:cs typeface="Calibri"/>
              <a:sym typeface="Calibri"/>
            </a:endParaRPr>
          </a:p>
        </p:txBody>
      </p:sp>
      <p:pic>
        <p:nvPicPr>
          <p:cNvPr id="16" name="Picture 15" descr="Icon&#10;&#10;Description automatically generated">
            <a:extLst>
              <a:ext uri="{FF2B5EF4-FFF2-40B4-BE49-F238E27FC236}">
                <a16:creationId xmlns:a16="http://schemas.microsoft.com/office/drawing/2014/main" id="{E0EA086A-DC18-884C-8FB5-E20CF12599B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6616" y="201168"/>
            <a:ext cx="747301" cy="747301"/>
          </a:xfrm>
          <a:prstGeom prst="rect">
            <a:avLst/>
          </a:prstGeom>
        </p:spPr>
      </p:pic>
      <p:pic>
        <p:nvPicPr>
          <p:cNvPr id="17" name="Picture 16" descr="Chart, line chart&#10;&#10;Description automatically generated">
            <a:extLst>
              <a:ext uri="{FF2B5EF4-FFF2-40B4-BE49-F238E27FC236}">
                <a16:creationId xmlns:a16="http://schemas.microsoft.com/office/drawing/2014/main" id="{FE76A7A5-E029-F14D-94FB-D7BBCB427A9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685128" y="1567298"/>
            <a:ext cx="4190480" cy="3723404"/>
          </a:xfrm>
          <a:prstGeom prst="rect">
            <a:avLst/>
          </a:prstGeom>
        </p:spPr>
      </p:pic>
    </p:spTree>
    <p:extLst>
      <p:ext uri="{BB962C8B-B14F-4D97-AF65-F5344CB8AC3E}">
        <p14:creationId xmlns:p14="http://schemas.microsoft.com/office/powerpoint/2010/main" val="959959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3" name="TextBox 12">
            <a:extLst>
              <a:ext uri="{FF2B5EF4-FFF2-40B4-BE49-F238E27FC236}">
                <a16:creationId xmlns:a16="http://schemas.microsoft.com/office/drawing/2014/main" id="{C01B13E8-EC8D-E443-A329-C5E3593DD13A}"/>
              </a:ext>
            </a:extLst>
          </p:cNvPr>
          <p:cNvSpPr txBox="1"/>
          <p:nvPr/>
        </p:nvSpPr>
        <p:spPr>
          <a:xfrm>
            <a:off x="724973" y="481846"/>
            <a:ext cx="11044995" cy="4154984"/>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For each triangle, label the ordered pairs of each vertex.</a:t>
            </a:r>
          </a:p>
          <a:p>
            <a:pPr lvl="0"/>
            <a:r>
              <a:rPr lang="en-US" sz="2200" dirty="0">
                <a:latin typeface="Verdana" panose="020B0604030504040204" pitchFamily="34" charset="0"/>
                <a:ea typeface="Verdana" panose="020B0604030504040204" pitchFamily="34" charset="0"/>
                <a:cs typeface="Verdana" panose="020B0604030504040204" pitchFamily="34" charset="0"/>
              </a:rPr>
              <a:t> </a:t>
            </a:r>
          </a:p>
          <a:p>
            <a:pPr lvl="0"/>
            <a:endParaRPr lang="en-US" sz="2200" dirty="0">
              <a:latin typeface="Verdana" panose="020B0604030504040204" pitchFamily="34" charset="0"/>
              <a:ea typeface="Verdana" panose="020B0604030504040204" pitchFamily="34" charset="0"/>
              <a:cs typeface="Verdana" panose="020B0604030504040204" pitchFamily="34" charset="0"/>
            </a:endParaRPr>
          </a:p>
          <a:p>
            <a:pPr lvl="0"/>
            <a:endParaRPr lang="en-US" sz="2200" dirty="0">
              <a:latin typeface="Verdana" panose="020B0604030504040204" pitchFamily="34" charset="0"/>
              <a:ea typeface="Verdana" panose="020B0604030504040204" pitchFamily="34" charset="0"/>
              <a:cs typeface="Verdana" panose="020B0604030504040204" pitchFamily="34" charset="0"/>
            </a:endParaRPr>
          </a:p>
          <a:p>
            <a:pPr lvl="0"/>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What is the length of the vertical leg of the blue triangle?</a:t>
            </a:r>
          </a:p>
          <a:p>
            <a:pPr lvl="0"/>
            <a:r>
              <a:rPr lang="en-US" sz="2200" dirty="0">
                <a:latin typeface="Verdana" panose="020B0604030504040204" pitchFamily="34" charset="0"/>
                <a:ea typeface="Verdana" panose="020B0604030504040204" pitchFamily="34" charset="0"/>
                <a:cs typeface="Verdana" panose="020B0604030504040204" pitchFamily="34" charset="0"/>
              </a:rPr>
              <a:t> </a:t>
            </a:r>
          </a:p>
          <a:p>
            <a:pPr lvl="0"/>
            <a:r>
              <a:rPr lang="en-US" sz="2200" dirty="0">
                <a:latin typeface="Verdana" panose="020B0604030504040204" pitchFamily="34" charset="0"/>
                <a:ea typeface="Verdana" panose="020B0604030504040204" pitchFamily="34" charset="0"/>
                <a:cs typeface="Verdana" panose="020B0604030504040204" pitchFamily="34" charset="0"/>
              </a:rPr>
              <a:t> </a:t>
            </a:r>
          </a:p>
          <a:p>
            <a:pPr lvl="0"/>
            <a:r>
              <a:rPr lang="en-US" sz="2200" dirty="0">
                <a:latin typeface="Verdana" panose="020B0604030504040204" pitchFamily="34" charset="0"/>
                <a:ea typeface="Verdana" panose="020B0604030504040204" pitchFamily="34" charset="0"/>
                <a:cs typeface="Verdana" panose="020B0604030504040204" pitchFamily="34" charset="0"/>
              </a:rPr>
              <a:t> </a:t>
            </a:r>
          </a:p>
          <a:p>
            <a:pPr lvl="0"/>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200" dirty="0">
                <a:latin typeface="Verdana" panose="020B0604030504040204" pitchFamily="34" charset="0"/>
                <a:ea typeface="Verdana" panose="020B0604030504040204" pitchFamily="34" charset="0"/>
                <a:cs typeface="Verdana" panose="020B0604030504040204" pitchFamily="34" charset="0"/>
              </a:rPr>
              <a:t>How could you use the coordinates of the vertices of the vertical leg to find its length?</a:t>
            </a:r>
          </a:p>
        </p:txBody>
      </p:sp>
      <p:sp>
        <p:nvSpPr>
          <p:cNvPr id="12" name="Google Shape;282;g104476d1465_1_17">
            <a:extLst>
              <a:ext uri="{FF2B5EF4-FFF2-40B4-BE49-F238E27FC236}">
                <a16:creationId xmlns:a16="http://schemas.microsoft.com/office/drawing/2014/main" id="{50A99FA2-9290-2145-A01D-ABA0B73001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282</a:t>
            </a:r>
            <a:endParaRPr i="1" dirty="0">
              <a:latin typeface="Calibri"/>
              <a:ea typeface="Calibri"/>
              <a:cs typeface="Calibri"/>
              <a:sym typeface="Calibri"/>
            </a:endParaRPr>
          </a:p>
        </p:txBody>
      </p:sp>
    </p:spTree>
    <p:extLst>
      <p:ext uri="{BB962C8B-B14F-4D97-AF65-F5344CB8AC3E}">
        <p14:creationId xmlns:p14="http://schemas.microsoft.com/office/powerpoint/2010/main" val="75509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3" name="TextBox 12">
            <a:extLst>
              <a:ext uri="{FF2B5EF4-FFF2-40B4-BE49-F238E27FC236}">
                <a16:creationId xmlns:a16="http://schemas.microsoft.com/office/drawing/2014/main" id="{C01B13E8-EC8D-E443-A329-C5E3593DD13A}"/>
              </a:ext>
            </a:extLst>
          </p:cNvPr>
          <p:cNvSpPr txBox="1"/>
          <p:nvPr/>
        </p:nvSpPr>
        <p:spPr>
          <a:xfrm>
            <a:off x="724973" y="388062"/>
            <a:ext cx="11044995" cy="2462213"/>
          </a:xfrm>
          <a:prstGeom prst="rect">
            <a:avLst/>
          </a:prstGeom>
          <a:noFill/>
        </p:spPr>
        <p:txBody>
          <a:bodyPr wrap="square" rtlCol="0">
            <a:spAutoFit/>
          </a:bodyPr>
          <a:lstStyle/>
          <a:p>
            <a:pPr marL="457200" indent="-457200">
              <a:buFont typeface="+mj-lt"/>
              <a:buAutoNum type="arabicPeriod" startAt="4"/>
            </a:pPr>
            <a:r>
              <a:rPr lang="en-US" sz="2200" dirty="0">
                <a:latin typeface="Verdana" panose="020B0604030504040204" pitchFamily="34" charset="0"/>
                <a:ea typeface="Verdana" panose="020B0604030504040204" pitchFamily="34" charset="0"/>
                <a:cs typeface="Verdana" panose="020B0604030504040204" pitchFamily="34" charset="0"/>
              </a:rPr>
              <a:t>What is the length of the horizontal leg of the blue triangle?</a:t>
            </a:r>
          </a:p>
          <a:p>
            <a:pPr marL="457200" indent="-457200">
              <a:buFont typeface="+mj-lt"/>
              <a:buAutoNum type="arabi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r>
              <a:rPr lang="en-US" sz="2200" dirty="0">
                <a:latin typeface="Verdana" panose="020B0604030504040204" pitchFamily="34" charset="0"/>
                <a:ea typeface="Verdana" panose="020B0604030504040204" pitchFamily="34" charset="0"/>
                <a:cs typeface="Verdana" panose="020B0604030504040204" pitchFamily="34" charset="0"/>
              </a:rPr>
              <a:t>How could you use the coordinates of the vertices of the horizontal leg to find its length?</a:t>
            </a:r>
          </a:p>
        </p:txBody>
      </p:sp>
      <p:sp>
        <p:nvSpPr>
          <p:cNvPr id="12" name="Google Shape;282;g104476d1465_1_17">
            <a:extLst>
              <a:ext uri="{FF2B5EF4-FFF2-40B4-BE49-F238E27FC236}">
                <a16:creationId xmlns:a16="http://schemas.microsoft.com/office/drawing/2014/main" id="{50A99FA2-9290-2145-A01D-ABA0B73001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282</a:t>
            </a:r>
            <a:endParaRPr i="1" dirty="0">
              <a:latin typeface="Calibri"/>
              <a:ea typeface="Calibri"/>
              <a:cs typeface="Calibri"/>
              <a:sym typeface="Calibri"/>
            </a:endParaRPr>
          </a:p>
        </p:txBody>
      </p:sp>
      <p:grpSp>
        <p:nvGrpSpPr>
          <p:cNvPr id="6" name="Group 5">
            <a:extLst>
              <a:ext uri="{FF2B5EF4-FFF2-40B4-BE49-F238E27FC236}">
                <a16:creationId xmlns:a16="http://schemas.microsoft.com/office/drawing/2014/main" id="{093B7637-9132-914C-9A89-4478D2FF3758}"/>
              </a:ext>
            </a:extLst>
          </p:cNvPr>
          <p:cNvGrpSpPr/>
          <p:nvPr/>
        </p:nvGrpSpPr>
        <p:grpSpPr>
          <a:xfrm>
            <a:off x="2596403" y="3876174"/>
            <a:ext cx="6999194" cy="1870710"/>
            <a:chOff x="0" y="-442155"/>
            <a:chExt cx="6999194" cy="1871389"/>
          </a:xfrm>
        </p:grpSpPr>
        <mc:AlternateContent xmlns:mc="http://schemas.openxmlformats.org/markup-compatibility/2006" xmlns:a14="http://schemas.microsoft.com/office/drawing/2010/main">
          <mc:Choice Requires="a14">
            <p:sp>
              <p:nvSpPr>
                <p:cNvPr id="7" name="Text Box 28">
                  <a:extLst>
                    <a:ext uri="{FF2B5EF4-FFF2-40B4-BE49-F238E27FC236}">
                      <a16:creationId xmlns:a16="http://schemas.microsoft.com/office/drawing/2014/main" id="{B3B73936-F53F-D845-94D0-1E45BF475E86}"/>
                    </a:ext>
                  </a:extLst>
                </p:cNvPr>
                <p:cNvSpPr txBox="1"/>
                <p:nvPr/>
              </p:nvSpPr>
              <p:spPr>
                <a:xfrm>
                  <a:off x="0" y="-442155"/>
                  <a:ext cx="6999194" cy="1871389"/>
                </a:xfrm>
                <a:prstGeom prst="roundRect">
                  <a:avLst/>
                </a:prstGeom>
                <a:solidFill>
                  <a:srgbClr val="E2EED5"/>
                </a:solidFill>
                <a:ln>
                  <a:noFill/>
                </a:ln>
                <a:effectLst>
                  <a:outerShdw blurRad="50800" dist="381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685800">
                    <a:lnSpc>
                      <a:spcPct val="115000"/>
                    </a:lnSpc>
                  </a:pPr>
                  <a:r>
                    <a:rPr lang="en-US" sz="1800" dirty="0">
                      <a:solidFill>
                        <a:srgbClr val="6C993D"/>
                      </a:solidFill>
                      <a:latin typeface="Verdana" panose="020B0604030504040204" pitchFamily="34" charset="0"/>
                      <a:ea typeface="Times New Roman" panose="02020603050405020304" pitchFamily="18" charset="0"/>
                    </a:rPr>
                    <a:t>The </a:t>
                  </a:r>
                  <a:r>
                    <a:rPr lang="en-US" sz="1800" b="1" i="1" dirty="0">
                      <a:solidFill>
                        <a:srgbClr val="6C993D"/>
                      </a:solidFill>
                      <a:latin typeface="Verdana" panose="020B0604030504040204" pitchFamily="34" charset="0"/>
                      <a:ea typeface="Times New Roman" panose="02020603050405020304" pitchFamily="18" charset="0"/>
                    </a:rPr>
                    <a:t>slope</a:t>
                  </a:r>
                  <a:r>
                    <a:rPr lang="en-US" sz="1800" dirty="0">
                      <a:solidFill>
                        <a:srgbClr val="6C993D"/>
                      </a:solidFill>
                      <a:latin typeface="Verdana" panose="020B0604030504040204" pitchFamily="34" charset="0"/>
                      <a:ea typeface="Times New Roman" panose="02020603050405020304" pitchFamily="18" charset="0"/>
                    </a:rPr>
                    <a:t> of a line is the ratio of the change in the vertical direction to change in the horizontal direction, often expressed as the </a:t>
                  </a:r>
                  <a14:m>
                    <m:oMath xmlns:m="http://schemas.openxmlformats.org/officeDocument/2006/math">
                      <m:f>
                        <m:fPr>
                          <m:ctrlPr>
                            <a:rPr lang="en-CO"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solidFill>
                                <a:srgbClr val="6C993D"/>
                              </a:solidFill>
                              <a:latin typeface="Cambria Math" panose="02040503050406030204" pitchFamily="18" charset="0"/>
                              <a:ea typeface="Times New Roman" panose="02020603050405020304" pitchFamily="18" charset="0"/>
                            </a:rPr>
                            <m:t>𝑐h𝑎𝑛𝑔𝑒</m:t>
                          </m:r>
                          <m:r>
                            <a:rPr lang="en-US" sz="1800" i="1">
                              <a:solidFill>
                                <a:srgbClr val="6C993D"/>
                              </a:solidFill>
                              <a:latin typeface="Cambria Math" panose="02040503050406030204" pitchFamily="18" charset="0"/>
                              <a:ea typeface="Times New Roman" panose="02020603050405020304" pitchFamily="18" charset="0"/>
                            </a:rPr>
                            <m:t> </m:t>
                          </m:r>
                          <m:r>
                            <a:rPr lang="en-US" sz="1800" i="1">
                              <a:solidFill>
                                <a:srgbClr val="6C993D"/>
                              </a:solidFill>
                              <a:latin typeface="Cambria Math" panose="02040503050406030204" pitchFamily="18" charset="0"/>
                              <a:ea typeface="Times New Roman" panose="02020603050405020304" pitchFamily="18" charset="0"/>
                            </a:rPr>
                            <m:t>𝑖𝑛</m:t>
                          </m:r>
                          <m:r>
                            <a:rPr lang="en-US" sz="1800" i="1">
                              <a:solidFill>
                                <a:srgbClr val="6C993D"/>
                              </a:solidFill>
                              <a:latin typeface="Cambria Math" panose="02040503050406030204" pitchFamily="18" charset="0"/>
                              <a:ea typeface="Times New Roman" panose="02020603050405020304" pitchFamily="18" charset="0"/>
                            </a:rPr>
                            <m:t> </m:t>
                          </m:r>
                          <m:r>
                            <a:rPr lang="en-US" sz="1800" i="1">
                              <a:solidFill>
                                <a:srgbClr val="6C993D"/>
                              </a:solidFill>
                              <a:latin typeface="Cambria Math" panose="02040503050406030204" pitchFamily="18" charset="0"/>
                              <a:ea typeface="Times New Roman" panose="02020603050405020304" pitchFamily="18" charset="0"/>
                            </a:rPr>
                            <m:t>𝑦</m:t>
                          </m:r>
                        </m:num>
                        <m:den>
                          <m:r>
                            <a:rPr lang="en-US" sz="1800" i="1">
                              <a:solidFill>
                                <a:srgbClr val="6C993D"/>
                              </a:solidFill>
                              <a:latin typeface="Cambria Math" panose="02040503050406030204" pitchFamily="18" charset="0"/>
                              <a:ea typeface="Times New Roman" panose="02020603050405020304" pitchFamily="18" charset="0"/>
                            </a:rPr>
                            <m:t>𝑐h𝑎𝑛𝑔𝑒</m:t>
                          </m:r>
                          <m:r>
                            <a:rPr lang="en-US" sz="1800" i="1">
                              <a:solidFill>
                                <a:srgbClr val="6C993D"/>
                              </a:solidFill>
                              <a:latin typeface="Cambria Math" panose="02040503050406030204" pitchFamily="18" charset="0"/>
                              <a:ea typeface="Times New Roman" panose="02020603050405020304" pitchFamily="18" charset="0"/>
                            </a:rPr>
                            <m:t> </m:t>
                          </m:r>
                          <m:r>
                            <a:rPr lang="en-US" sz="1800" i="1">
                              <a:solidFill>
                                <a:srgbClr val="6C993D"/>
                              </a:solidFill>
                              <a:latin typeface="Cambria Math" panose="02040503050406030204" pitchFamily="18" charset="0"/>
                              <a:ea typeface="Times New Roman" panose="02020603050405020304" pitchFamily="18" charset="0"/>
                            </a:rPr>
                            <m:t>𝑖𝑛</m:t>
                          </m:r>
                          <m:r>
                            <a:rPr lang="en-US" sz="1800" i="1">
                              <a:solidFill>
                                <a:srgbClr val="6C993D"/>
                              </a:solidFill>
                              <a:latin typeface="Cambria Math" panose="02040503050406030204" pitchFamily="18" charset="0"/>
                              <a:ea typeface="Times New Roman" panose="02020603050405020304" pitchFamily="18" charset="0"/>
                            </a:rPr>
                            <m:t> </m:t>
                          </m:r>
                          <m:r>
                            <a:rPr lang="en-US" sz="1800" i="1">
                              <a:solidFill>
                                <a:srgbClr val="6C993D"/>
                              </a:solidFill>
                              <a:latin typeface="Cambria Math" panose="02040503050406030204" pitchFamily="18" charset="0"/>
                              <a:ea typeface="Times New Roman" panose="02020603050405020304" pitchFamily="18" charset="0"/>
                            </a:rPr>
                            <m:t>𝑥</m:t>
                          </m:r>
                        </m:den>
                      </m:f>
                    </m:oMath>
                  </a14:m>
                  <a:r>
                    <a:rPr lang="en-US" sz="1800" dirty="0">
                      <a:solidFill>
                        <a:srgbClr val="6C993D"/>
                      </a:solidFill>
                      <a:latin typeface="Verdana" panose="020B0604030504040204" pitchFamily="34" charset="0"/>
                      <a:ea typeface="Times New Roman" panose="02020603050405020304" pitchFamily="18" charset="0"/>
                    </a:rPr>
                    <a:t>, or </a:t>
                  </a:r>
                  <a14:m>
                    <m:oMath xmlns:m="http://schemas.openxmlformats.org/officeDocument/2006/math">
                      <m:f>
                        <m:fPr>
                          <m:ctrlPr>
                            <a:rPr lang="en-CO" sz="1800" i="1">
                              <a:solidFill>
                                <a:srgbClr val="6C993D"/>
                              </a:solidFill>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solidFill>
                                <a:srgbClr val="6C993D"/>
                              </a:solidFill>
                              <a:latin typeface="Cambria Math" panose="02040503050406030204" pitchFamily="18" charset="0"/>
                              <a:ea typeface="Times New Roman" panose="02020603050405020304" pitchFamily="18" charset="0"/>
                            </a:rPr>
                            <m:t>∆</m:t>
                          </m:r>
                          <m:r>
                            <a:rPr lang="en-US" sz="1800" i="1">
                              <a:solidFill>
                                <a:srgbClr val="6C993D"/>
                              </a:solidFill>
                              <a:latin typeface="Cambria Math" panose="02040503050406030204" pitchFamily="18" charset="0"/>
                              <a:ea typeface="Times New Roman" panose="02020603050405020304" pitchFamily="18" charset="0"/>
                            </a:rPr>
                            <m:t>𝑦</m:t>
                          </m:r>
                        </m:num>
                        <m:den>
                          <m:r>
                            <a:rPr lang="en-US" sz="1800" i="1">
                              <a:solidFill>
                                <a:srgbClr val="6C993D"/>
                              </a:solidFill>
                              <a:latin typeface="Cambria Math" panose="02040503050406030204" pitchFamily="18" charset="0"/>
                              <a:ea typeface="Times New Roman" panose="02020603050405020304" pitchFamily="18" charset="0"/>
                            </a:rPr>
                            <m:t>∆</m:t>
                          </m:r>
                          <m:r>
                            <a:rPr lang="en-US" sz="1800" i="1">
                              <a:solidFill>
                                <a:srgbClr val="6C993D"/>
                              </a:solidFill>
                              <a:latin typeface="Cambria Math" panose="02040503050406030204" pitchFamily="18" charset="0"/>
                              <a:ea typeface="Times New Roman" panose="02020603050405020304" pitchFamily="18" charset="0"/>
                            </a:rPr>
                            <m:t>𝑥</m:t>
                          </m:r>
                        </m:den>
                      </m:f>
                    </m:oMath>
                  </a14:m>
                  <a:r>
                    <a:rPr lang="en-US" sz="1800" dirty="0">
                      <a:solidFill>
                        <a:srgbClr val="6C993D"/>
                      </a:solidFill>
                      <a:latin typeface="Verdana" panose="020B0604030504040204" pitchFamily="34" charset="0"/>
                      <a:ea typeface="Times New Roman" panose="02020603050405020304" pitchFamily="18" charset="0"/>
                    </a:rPr>
                    <a:t>.</a:t>
                  </a:r>
                  <a:endParaRPr lang="en-CO" sz="1200" dirty="0">
                    <a:latin typeface="Times New Roman" panose="02020603050405020304" pitchFamily="18" charset="0"/>
                    <a:ea typeface="Times New Roman" panose="02020603050405020304" pitchFamily="18" charset="0"/>
                  </a:endParaRPr>
                </a:p>
              </p:txBody>
            </p:sp>
          </mc:Choice>
          <mc:Fallback xmlns="">
            <p:sp>
              <p:nvSpPr>
                <p:cNvPr id="7" name="Text Box 28">
                  <a:extLst>
                    <a:ext uri="{FF2B5EF4-FFF2-40B4-BE49-F238E27FC236}">
                      <a16:creationId xmlns:a16="http://schemas.microsoft.com/office/drawing/2014/main" id="{B3B73936-F53F-D845-94D0-1E45BF475E86}"/>
                    </a:ext>
                  </a:extLst>
                </p:cNvPr>
                <p:cNvSpPr txBox="1">
                  <a:spLocks noRot="1" noChangeAspect="1" noMove="1" noResize="1" noEditPoints="1" noAdjustHandles="1" noChangeArrowheads="1" noChangeShapeType="1" noTextEdit="1"/>
                </p:cNvSpPr>
                <p:nvPr/>
              </p:nvSpPr>
              <p:spPr>
                <a:xfrm>
                  <a:off x="0" y="-442155"/>
                  <a:ext cx="6999194" cy="1871389"/>
                </a:xfrm>
                <a:prstGeom prst="roundRect">
                  <a:avLst/>
                </a:prstGeom>
                <a:blipFill>
                  <a:blip r:embed="rId4"/>
                  <a:stretch>
                    <a:fillRect/>
                  </a:stretch>
                </a:blipFill>
                <a:ln>
                  <a:noFill/>
                </a:ln>
                <a:effectLst>
                  <a:outerShdw blurRad="50800" dist="38100" dir="2700000" algn="tl" rotWithShape="0">
                    <a:prstClr val="black">
                      <a:alpha val="40000"/>
                    </a:prstClr>
                  </a:outerShdw>
                </a:effectLst>
              </p:spPr>
              <p:txBody>
                <a:bodyPr/>
                <a:lstStyle/>
                <a:p>
                  <a:r>
                    <a:rPr lang="en-CO">
                      <a:noFill/>
                    </a:rPr>
                    <a:t> </a:t>
                  </a:r>
                </a:p>
              </p:txBody>
            </p:sp>
          </mc:Fallback>
        </mc:AlternateContent>
        <p:pic>
          <p:nvPicPr>
            <p:cNvPr id="8" name="Picture 7" descr="Icon&#10;&#10;Description automatically generated">
              <a:extLst>
                <a:ext uri="{FF2B5EF4-FFF2-40B4-BE49-F238E27FC236}">
                  <a16:creationId xmlns:a16="http://schemas.microsoft.com/office/drawing/2014/main" id="{90EA2EA7-A31B-E343-A8C2-7F8E7C1DC33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46121" y="-205037"/>
              <a:ext cx="539750" cy="539750"/>
            </a:xfrm>
            <a:prstGeom prst="rect">
              <a:avLst/>
            </a:prstGeom>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561116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C01B13E8-EC8D-E443-A329-C5E3593DD13A}"/>
                  </a:ext>
                </a:extLst>
              </p:cNvPr>
              <p:cNvSpPr txBox="1"/>
              <p:nvPr/>
            </p:nvSpPr>
            <p:spPr>
              <a:xfrm>
                <a:off x="724973" y="446677"/>
                <a:ext cx="10916041" cy="3298660"/>
              </a:xfrm>
              <a:prstGeom prst="rect">
                <a:avLst/>
              </a:prstGeom>
              <a:noFill/>
            </p:spPr>
            <p:txBody>
              <a:bodyPr wrap="square" rtlCol="0">
                <a:spAutoFit/>
              </a:bodyPr>
              <a:lstStyle/>
              <a:p>
                <a:pPr marL="457200" indent="-457200">
                  <a:buFont typeface="+mj-lt"/>
                  <a:buAutoNum type="arabicPeriod" startAt="6"/>
                </a:pPr>
                <a:r>
                  <a:rPr lang="en-US" sz="2200" dirty="0">
                    <a:latin typeface="Verdana" panose="020B0604030504040204" pitchFamily="34" charset="0"/>
                    <a:ea typeface="Verdana" panose="020B0604030504040204" pitchFamily="34" charset="0"/>
                    <a:cs typeface="Verdana" panose="020B0604030504040204" pitchFamily="34" charset="0"/>
                  </a:rPr>
                  <a:t>Complete the statement.</a:t>
                </a:r>
              </a:p>
              <a:p>
                <a:pPr marL="466725" lvl="2">
                  <a:lnSpc>
                    <a:spcPct val="250000"/>
                  </a:lnSpc>
                </a:pPr>
                <a:r>
                  <a:rPr lang="en-US" sz="2200" dirty="0">
                    <a:latin typeface="Verdana" panose="020B0604030504040204" pitchFamily="34" charset="0"/>
                    <a:ea typeface="Verdana" panose="020B0604030504040204" pitchFamily="34" charset="0"/>
                    <a:cs typeface="Verdana" panose="020B0604030504040204" pitchFamily="34" charset="0"/>
                  </a:rPr>
                  <a:t>In the equation </a:t>
                </a:r>
                <a14:m>
                  <m:oMath xmlns:m="http://schemas.openxmlformats.org/officeDocument/2006/math">
                    <m:r>
                      <a:rPr lang="en-US" sz="2200" i="1" dirty="0">
                        <a:latin typeface="Cambria Math" panose="02040503050406030204" pitchFamily="18" charset="0"/>
                        <a:ea typeface="Verdana" panose="020B0604030504040204" pitchFamily="34" charset="0"/>
                        <a:cs typeface="Verdana" panose="020B0604030504040204" pitchFamily="34" charset="0"/>
                      </a:rPr>
                      <m:t>𝑠𝑙𝑜𝑝𝑒</m:t>
                    </m:r>
                    <m:r>
                      <a:rPr lang="en-US" sz="2200" i="1" dirty="0">
                        <a:latin typeface="Cambria Math" panose="02040503050406030204" pitchFamily="18" charset="0"/>
                        <a:ea typeface="Verdana" panose="020B0604030504040204" pitchFamily="34" charset="0"/>
                        <a:cs typeface="Verdana" panose="020B0604030504040204" pitchFamily="34" charset="0"/>
                      </a:rPr>
                      <m:t>=</m:t>
                    </m:r>
                    <m:f>
                      <m:fPr>
                        <m:ctrlPr>
                          <a:rPr lang="en-US" sz="2200" i="1" dirty="0">
                            <a:latin typeface="Cambria Math" panose="02040503050406030204" pitchFamily="18" charset="0"/>
                            <a:ea typeface="Verdana" panose="020B0604030504040204" pitchFamily="34" charset="0"/>
                            <a:cs typeface="Verdana" panose="020B0604030504040204" pitchFamily="34" charset="0"/>
                          </a:rPr>
                        </m:ctrlPr>
                      </m:fPr>
                      <m:num>
                        <m:r>
                          <a:rPr lang="en-US" sz="2200" i="1" dirty="0">
                            <a:latin typeface="Cambria Math" panose="02040503050406030204" pitchFamily="18" charset="0"/>
                            <a:ea typeface="Verdana" panose="020B0604030504040204" pitchFamily="34" charset="0"/>
                            <a:cs typeface="Verdana" panose="020B0604030504040204" pitchFamily="34" charset="0"/>
                          </a:rPr>
                          <m:t>𝑐</m:t>
                        </m:r>
                        <m:r>
                          <a:rPr lang="en-US" sz="2200" i="1" dirty="0" err="1">
                            <a:latin typeface="Cambria Math" panose="02040503050406030204" pitchFamily="18" charset="0"/>
                            <a:ea typeface="Verdana" panose="020B0604030504040204" pitchFamily="34" charset="0"/>
                            <a:cs typeface="Verdana" panose="020B0604030504040204" pitchFamily="34" charset="0"/>
                          </a:rPr>
                          <m:t>h</m:t>
                        </m:r>
                        <m:r>
                          <a:rPr lang="en-US" sz="2200" i="1" dirty="0">
                            <a:latin typeface="Cambria Math" panose="02040503050406030204" pitchFamily="18" charset="0"/>
                            <a:ea typeface="Verdana" panose="020B0604030504040204" pitchFamily="34" charset="0"/>
                            <a:cs typeface="Verdana" panose="020B0604030504040204" pitchFamily="34" charset="0"/>
                          </a:rPr>
                          <m:t>𝑎𝑛𝑔𝑒</m:t>
                        </m:r>
                        <m:r>
                          <a:rPr lang="en-US" sz="2200" i="1" dirty="0">
                            <a:latin typeface="Cambria Math" panose="02040503050406030204" pitchFamily="18" charset="0"/>
                            <a:ea typeface="Verdana" panose="020B0604030504040204" pitchFamily="34" charset="0"/>
                            <a:cs typeface="Verdana" panose="020B0604030504040204" pitchFamily="34" charset="0"/>
                          </a:rPr>
                          <m:t> </m:t>
                        </m:r>
                        <m:r>
                          <a:rPr lang="en-US" sz="2200" i="1" dirty="0">
                            <a:latin typeface="Cambria Math" panose="02040503050406030204" pitchFamily="18" charset="0"/>
                            <a:ea typeface="Verdana" panose="020B0604030504040204" pitchFamily="34" charset="0"/>
                            <a:cs typeface="Verdana" panose="020B0604030504040204" pitchFamily="34" charset="0"/>
                          </a:rPr>
                          <m:t>𝑖𝑛</m:t>
                        </m:r>
                        <m:r>
                          <a:rPr lang="en-US" sz="2200" i="1" dirty="0">
                            <a:latin typeface="Cambria Math" panose="02040503050406030204" pitchFamily="18" charset="0"/>
                            <a:ea typeface="Verdana" panose="020B0604030504040204" pitchFamily="34" charset="0"/>
                            <a:cs typeface="Verdana" panose="020B0604030504040204" pitchFamily="34" charset="0"/>
                          </a:rPr>
                          <m:t> </m:t>
                        </m:r>
                        <m:r>
                          <a:rPr lang="en-US" sz="2200" i="1" dirty="0">
                            <a:latin typeface="Cambria Math" panose="02040503050406030204" pitchFamily="18" charset="0"/>
                            <a:ea typeface="Verdana" panose="020B0604030504040204" pitchFamily="34" charset="0"/>
                            <a:cs typeface="Verdana" panose="020B0604030504040204" pitchFamily="34" charset="0"/>
                          </a:rPr>
                          <m:t>𝑦</m:t>
                        </m:r>
                      </m:num>
                      <m:den>
                        <m:r>
                          <a:rPr lang="en-US" sz="2200" i="1" dirty="0">
                            <a:latin typeface="Cambria Math" panose="02040503050406030204" pitchFamily="18" charset="0"/>
                            <a:ea typeface="Verdana" panose="020B0604030504040204" pitchFamily="34" charset="0"/>
                            <a:cs typeface="Verdana" panose="020B0604030504040204" pitchFamily="34" charset="0"/>
                          </a:rPr>
                          <m:t>𝑐</m:t>
                        </m:r>
                        <m:r>
                          <a:rPr lang="en-US" sz="2200" i="1" dirty="0" err="1">
                            <a:latin typeface="Cambria Math" panose="02040503050406030204" pitchFamily="18" charset="0"/>
                            <a:ea typeface="Verdana" panose="020B0604030504040204" pitchFamily="34" charset="0"/>
                            <a:cs typeface="Verdana" panose="020B0604030504040204" pitchFamily="34" charset="0"/>
                          </a:rPr>
                          <m:t>h</m:t>
                        </m:r>
                        <m:r>
                          <a:rPr lang="en-US" sz="2200" i="1" dirty="0">
                            <a:latin typeface="Cambria Math" panose="02040503050406030204" pitchFamily="18" charset="0"/>
                            <a:ea typeface="Verdana" panose="020B0604030504040204" pitchFamily="34" charset="0"/>
                            <a:cs typeface="Verdana" panose="020B0604030504040204" pitchFamily="34" charset="0"/>
                          </a:rPr>
                          <m:t>𝑎𝑛𝑔𝑒</m:t>
                        </m:r>
                        <m:r>
                          <a:rPr lang="en-US" sz="2200" i="1" dirty="0">
                            <a:latin typeface="Cambria Math" panose="02040503050406030204" pitchFamily="18" charset="0"/>
                            <a:ea typeface="Verdana" panose="020B0604030504040204" pitchFamily="34" charset="0"/>
                            <a:cs typeface="Verdana" panose="020B0604030504040204" pitchFamily="34" charset="0"/>
                          </a:rPr>
                          <m:t> </m:t>
                        </m:r>
                        <m:r>
                          <a:rPr lang="en-US" sz="2200" i="1" dirty="0">
                            <a:latin typeface="Cambria Math" panose="02040503050406030204" pitchFamily="18" charset="0"/>
                            <a:ea typeface="Verdana" panose="020B0604030504040204" pitchFamily="34" charset="0"/>
                            <a:cs typeface="Verdana" panose="020B0604030504040204" pitchFamily="34" charset="0"/>
                          </a:rPr>
                          <m:t>𝑖𝑛</m:t>
                        </m:r>
                        <m:r>
                          <a:rPr lang="en-US" sz="2200" i="1" dirty="0">
                            <a:latin typeface="Cambria Math" panose="02040503050406030204" pitchFamily="18" charset="0"/>
                            <a:ea typeface="Verdana" panose="020B0604030504040204" pitchFamily="34" charset="0"/>
                            <a:cs typeface="Verdana" panose="020B0604030504040204" pitchFamily="34" charset="0"/>
                          </a:rPr>
                          <m:t> </m:t>
                        </m:r>
                        <m:r>
                          <a:rPr lang="en-US" sz="2200" i="1" dirty="0">
                            <a:latin typeface="Cambria Math" panose="02040503050406030204" pitchFamily="18" charset="0"/>
                            <a:ea typeface="Verdana" panose="020B0604030504040204" pitchFamily="34" charset="0"/>
                            <a:cs typeface="Verdana" panose="020B0604030504040204" pitchFamily="34" charset="0"/>
                          </a:rPr>
                          <m:t>𝑥</m:t>
                        </m:r>
                      </m:den>
                    </m:f>
                  </m:oMath>
                </a14:m>
                <a:r>
                  <a:rPr lang="en-US" sz="2200" dirty="0">
                    <a:latin typeface="Verdana" panose="020B0604030504040204" pitchFamily="34" charset="0"/>
                    <a:ea typeface="Verdana" panose="020B0604030504040204" pitchFamily="34" charset="0"/>
                    <a:cs typeface="Verdana" panose="020B0604030504040204" pitchFamily="34" charset="0"/>
                  </a:rPr>
                  <a:t>, the                    relates to finding the length of the vertical leg of the triangle and the                     relates to finding the length of the horizontal leg of the triangle.</a:t>
                </a:r>
              </a:p>
            </p:txBody>
          </p:sp>
        </mc:Choice>
        <mc:Fallback>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724973" y="446677"/>
                <a:ext cx="10916041" cy="3298660"/>
              </a:xfrm>
              <a:prstGeom prst="rect">
                <a:avLst/>
              </a:prstGeom>
              <a:blipFill>
                <a:blip r:embed="rId4"/>
                <a:stretch>
                  <a:fillRect l="-782" t="-1294" b="-2957"/>
                </a:stretch>
              </a:blipFill>
            </p:spPr>
            <p:txBody>
              <a:bodyPr/>
              <a:lstStyle/>
              <a:p>
                <a:r>
                  <a:rPr lang="en-US">
                    <a:noFill/>
                  </a:rPr>
                  <a:t> </a:t>
                </a:r>
              </a:p>
            </p:txBody>
          </p:sp>
        </mc:Fallback>
      </mc:AlternateContent>
      <p:sp>
        <p:nvSpPr>
          <p:cNvPr id="12" name="Google Shape;282;g104476d1465_1_17">
            <a:extLst>
              <a:ext uri="{FF2B5EF4-FFF2-40B4-BE49-F238E27FC236}">
                <a16:creationId xmlns:a16="http://schemas.microsoft.com/office/drawing/2014/main" id="{50A99FA2-9290-2145-A01D-ABA0B73001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282</a:t>
            </a:r>
            <a:endParaRPr i="1" dirty="0">
              <a:latin typeface="Calibri"/>
              <a:ea typeface="Calibri"/>
              <a:cs typeface="Calibri"/>
              <a:sym typeface="Calibri"/>
            </a:endParaRPr>
          </a:p>
        </p:txBody>
      </p:sp>
      <p:pic>
        <p:nvPicPr>
          <p:cNvPr id="3" name="Picture 2" descr="A picture containing graphical user interface&#10;&#10;Description automatically generated">
            <a:extLst>
              <a:ext uri="{FF2B5EF4-FFF2-40B4-BE49-F238E27FC236}">
                <a16:creationId xmlns:a16="http://schemas.microsoft.com/office/drawing/2014/main" id="{24C5839D-17A9-D644-8A2F-E3C144E6245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457134" y="1305745"/>
            <a:ext cx="1842994" cy="790262"/>
          </a:xfrm>
          <a:prstGeom prst="rect">
            <a:avLst/>
          </a:prstGeom>
        </p:spPr>
      </p:pic>
      <p:pic>
        <p:nvPicPr>
          <p:cNvPr id="11" name="Picture 10" descr="A picture containing graphical user interface&#10;&#10;Description automatically generated">
            <a:extLst>
              <a:ext uri="{FF2B5EF4-FFF2-40B4-BE49-F238E27FC236}">
                <a16:creationId xmlns:a16="http://schemas.microsoft.com/office/drawing/2014/main" id="{3ADED203-D602-B14E-B62B-C79565887E3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087947" y="2265777"/>
            <a:ext cx="1842994" cy="790262"/>
          </a:xfrm>
          <a:prstGeom prst="rect">
            <a:avLst/>
          </a:prstGeom>
        </p:spPr>
      </p:pic>
    </p:spTree>
    <p:extLst>
      <p:ext uri="{BB962C8B-B14F-4D97-AF65-F5344CB8AC3E}">
        <p14:creationId xmlns:p14="http://schemas.microsoft.com/office/powerpoint/2010/main" val="3764055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3" name="TextBox 12">
            <a:extLst>
              <a:ext uri="{FF2B5EF4-FFF2-40B4-BE49-F238E27FC236}">
                <a16:creationId xmlns:a16="http://schemas.microsoft.com/office/drawing/2014/main" id="{C01B13E8-EC8D-E443-A329-C5E3593DD13A}"/>
              </a:ext>
            </a:extLst>
          </p:cNvPr>
          <p:cNvSpPr txBox="1"/>
          <p:nvPr/>
        </p:nvSpPr>
        <p:spPr>
          <a:xfrm>
            <a:off x="724974" y="481846"/>
            <a:ext cx="10857426" cy="3477875"/>
          </a:xfrm>
          <a:prstGeom prst="rect">
            <a:avLst/>
          </a:prstGeom>
          <a:noFill/>
        </p:spPr>
        <p:txBody>
          <a:bodyPr wrap="square" rtlCol="0">
            <a:spAutoFit/>
          </a:bodyPr>
          <a:lstStyle/>
          <a:p>
            <a:pPr marL="457200" indent="-457200">
              <a:buFont typeface="+mj-lt"/>
              <a:buAutoNum type="arabicPeriod" startAt="7"/>
            </a:pPr>
            <a:r>
              <a:rPr lang="en-US" sz="2200" dirty="0">
                <a:latin typeface="Verdana" panose="020B0604030504040204" pitchFamily="34" charset="0"/>
                <a:ea typeface="Verdana" panose="020B0604030504040204" pitchFamily="34" charset="0"/>
                <a:cs typeface="Verdana" panose="020B0604030504040204" pitchFamily="34" charset="0"/>
              </a:rPr>
              <a:t>Use the coordinates of the vertices of the blue triangle to find the slope of the purple line. Show your work or explain what you did.</a:t>
            </a:r>
          </a:p>
          <a:p>
            <a:pPr marL="457200" indent="-457200">
              <a:buFont typeface="+mj-lt"/>
              <a:buAutoNum type="arabicPeriod" startAt="7"/>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7"/>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7"/>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7"/>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7"/>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7"/>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7"/>
            </a:pPr>
            <a:r>
              <a:rPr lang="en-US" sz="2200" dirty="0">
                <a:latin typeface="Verdana" panose="020B0604030504040204" pitchFamily="34" charset="0"/>
                <a:ea typeface="Verdana" panose="020B0604030504040204" pitchFamily="34" charset="0"/>
                <a:cs typeface="Verdana" panose="020B0604030504040204" pitchFamily="34" charset="0"/>
              </a:rPr>
              <a:t>Use the coordinates of the vertices of the orange triangle to find the slope of the purple line. Show your work or explain what you did.</a:t>
            </a:r>
          </a:p>
        </p:txBody>
      </p:sp>
      <p:sp>
        <p:nvSpPr>
          <p:cNvPr id="12" name="Google Shape;282;g104476d1465_1_17">
            <a:extLst>
              <a:ext uri="{FF2B5EF4-FFF2-40B4-BE49-F238E27FC236}">
                <a16:creationId xmlns:a16="http://schemas.microsoft.com/office/drawing/2014/main" id="{50A99FA2-9290-2145-A01D-ABA0B73001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283</a:t>
            </a:r>
            <a:endParaRPr i="1" dirty="0">
              <a:latin typeface="Calibri"/>
              <a:ea typeface="Calibri"/>
              <a:cs typeface="Calibri"/>
              <a:sym typeface="Calibri"/>
            </a:endParaRPr>
          </a:p>
        </p:txBody>
      </p:sp>
    </p:spTree>
    <p:extLst>
      <p:ext uri="{BB962C8B-B14F-4D97-AF65-F5344CB8AC3E}">
        <p14:creationId xmlns:p14="http://schemas.microsoft.com/office/powerpoint/2010/main" val="19586553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3" name="TextBox 12">
            <a:extLst>
              <a:ext uri="{FF2B5EF4-FFF2-40B4-BE49-F238E27FC236}">
                <a16:creationId xmlns:a16="http://schemas.microsoft.com/office/drawing/2014/main" id="{C01B13E8-EC8D-E443-A329-C5E3593DD13A}"/>
              </a:ext>
            </a:extLst>
          </p:cNvPr>
          <p:cNvSpPr txBox="1"/>
          <p:nvPr/>
        </p:nvSpPr>
        <p:spPr>
          <a:xfrm>
            <a:off x="724974" y="528740"/>
            <a:ext cx="11209118" cy="2800767"/>
          </a:xfrm>
          <a:prstGeom prst="rect">
            <a:avLst/>
          </a:prstGeom>
          <a:noFill/>
        </p:spPr>
        <p:txBody>
          <a:bodyPr wrap="square" rtlCol="0">
            <a:spAutoFit/>
          </a:bodyPr>
          <a:lstStyle/>
          <a:p>
            <a:pPr marL="587375" indent="-571500">
              <a:buFont typeface="+mj-lt"/>
              <a:buAutoNum type="arabicPeriod" startAt="9"/>
            </a:pPr>
            <a:r>
              <a:rPr lang="en-US" sz="2200" dirty="0">
                <a:latin typeface="Verdana" panose="020B0604030504040204" pitchFamily="34" charset="0"/>
                <a:ea typeface="Verdana" panose="020B0604030504040204" pitchFamily="34" charset="0"/>
                <a:cs typeface="Verdana" panose="020B0604030504040204" pitchFamily="34" charset="0"/>
              </a:rPr>
              <a:t>Check your answers with your partner.</a:t>
            </a:r>
          </a:p>
          <a:p>
            <a:pPr marL="587375" indent="-571500">
              <a:buFont typeface="+mj-lt"/>
              <a:buAutoNum type="arabicPeriod" startAt="9"/>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587375" indent="-571500">
              <a:buFont typeface="+mj-lt"/>
              <a:buAutoNum type="arabicPeriod" startAt="9"/>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587375" indent="-571500">
              <a:buFont typeface="+mj-lt"/>
              <a:buAutoNum type="arabicPeriod" startAt="9"/>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587375" indent="-571500">
              <a:buFont typeface="+mj-lt"/>
              <a:buAutoNum type="arabicPeriod" startAt="9"/>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587375" indent="-571500">
              <a:buFont typeface="+mj-lt"/>
              <a:buAutoNum type="arabicPeriod" startAt="9"/>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587375" indent="-571500">
              <a:buFont typeface="+mj-lt"/>
              <a:buAutoNum type="arabicPeriod" startAt="9"/>
            </a:pPr>
            <a:r>
              <a:rPr lang="en-US" sz="2200" dirty="0">
                <a:latin typeface="Verdana" panose="020B0604030504040204" pitchFamily="34" charset="0"/>
                <a:ea typeface="Verdana" panose="020B0604030504040204" pitchFamily="34" charset="0"/>
                <a:cs typeface="Verdana" panose="020B0604030504040204" pitchFamily="34" charset="0"/>
              </a:rPr>
              <a:t> Make a conjecture about whether the order in which you subtract to find the change in 𝑥 and change in 𝑦 matters.</a:t>
            </a:r>
          </a:p>
        </p:txBody>
      </p:sp>
      <p:sp>
        <p:nvSpPr>
          <p:cNvPr id="12" name="Google Shape;282;g104476d1465_1_17">
            <a:extLst>
              <a:ext uri="{FF2B5EF4-FFF2-40B4-BE49-F238E27FC236}">
                <a16:creationId xmlns:a16="http://schemas.microsoft.com/office/drawing/2014/main" id="{50A99FA2-9290-2145-A01D-ABA0B73001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283</a:t>
            </a:r>
            <a:endParaRPr i="1" dirty="0">
              <a:latin typeface="Calibri"/>
              <a:ea typeface="Calibri"/>
              <a:cs typeface="Calibri"/>
              <a:sym typeface="Calibri"/>
            </a:endParaRPr>
          </a:p>
        </p:txBody>
      </p:sp>
    </p:spTree>
    <p:extLst>
      <p:ext uri="{BB962C8B-B14F-4D97-AF65-F5344CB8AC3E}">
        <p14:creationId xmlns:p14="http://schemas.microsoft.com/office/powerpoint/2010/main" val="33520727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317880" y="2766150"/>
            <a:ext cx="4615100"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4400" b="1" dirty="0">
                <a:solidFill>
                  <a:srgbClr val="33BEA6"/>
                </a:solidFill>
                <a:latin typeface="Verdana"/>
                <a:ea typeface="Verdana"/>
                <a:cs typeface="Verdana"/>
                <a:sym typeface="Verdana"/>
              </a:rPr>
              <a:t>Collaboration</a:t>
            </a:r>
            <a:endParaRPr sz="4000" b="1" dirty="0">
              <a:solidFill>
                <a:srgbClr val="33BEA6"/>
              </a:solidFill>
              <a:latin typeface="Verdana"/>
              <a:ea typeface="Verdana"/>
              <a:cs typeface="Verdana"/>
              <a:sym typeface="Verdana"/>
            </a:endParaRPr>
          </a:p>
        </p:txBody>
      </p:sp>
      <p:sp>
        <p:nvSpPr>
          <p:cNvPr id="9" name="Google Shape;282;g104476d1465_1_17">
            <a:extLst>
              <a:ext uri="{FF2B5EF4-FFF2-40B4-BE49-F238E27FC236}">
                <a16:creationId xmlns:a16="http://schemas.microsoft.com/office/drawing/2014/main" id="{CE20F8D5-0DC7-8349-A94B-DCD9DB3026D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283</a:t>
            </a:r>
            <a:endParaRPr i="1" dirty="0">
              <a:latin typeface="Calibri"/>
              <a:ea typeface="Calibri"/>
              <a:cs typeface="Calibri"/>
              <a:sym typeface="Calibri"/>
            </a:endParaRPr>
          </a:p>
        </p:txBody>
      </p:sp>
      <p:pic>
        <p:nvPicPr>
          <p:cNvPr id="10" name="image5.png">
            <a:extLst>
              <a:ext uri="{FF2B5EF4-FFF2-40B4-BE49-F238E27FC236}">
                <a16:creationId xmlns:a16="http://schemas.microsoft.com/office/drawing/2014/main" id="{39E1A1A1-E99B-1F46-888D-D915FD8B893B}"/>
              </a:ext>
            </a:extLst>
          </p:cNvPr>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52144" cy="1152144"/>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006858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40733" y="-86332"/>
            <a:ext cx="1059465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7.1.3 Collaboration: Finding Slope from Graphs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AB6A3A1-5A0D-C84F-AC89-57E6782F43E5}"/>
                  </a:ext>
                </a:extLst>
              </p:cNvPr>
              <p:cNvSpPr txBox="1"/>
              <p:nvPr/>
            </p:nvSpPr>
            <p:spPr>
              <a:xfrm>
                <a:off x="731966" y="1386025"/>
                <a:ext cx="6477726" cy="2308324"/>
              </a:xfrm>
              <a:prstGeom prst="rect">
                <a:avLst/>
              </a:prstGeom>
              <a:noFill/>
            </p:spPr>
            <p:txBody>
              <a:bodyPr wrap="square" rtlCol="0">
                <a:spAutoFit/>
              </a:bodyPr>
              <a:lstStyle/>
              <a:p>
                <a:pPr marL="15875" indent="-15875"/>
                <a:r>
                  <a:rPr lang="en-US" sz="2400" dirty="0">
                    <a:latin typeface="Verdana" panose="020B0604030504040204" pitchFamily="34" charset="0"/>
                    <a:ea typeface="Verdana" panose="020B0604030504040204" pitchFamily="34" charset="0"/>
                    <a:cs typeface="Verdana" panose="020B0604030504040204" pitchFamily="34" charset="0"/>
                  </a:rPr>
                  <a:t>Fatima and Oliver both drew the same triangle using the points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(−6, −3)</m:t>
                    </m:r>
                  </m:oMath>
                </a14:m>
                <a:r>
                  <a:rPr lang="en-US" sz="24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 −8)</m:t>
                    </m:r>
                  </m:oMath>
                </a14:m>
                <a:r>
                  <a:rPr lang="en-US" sz="2400" dirty="0">
                    <a:latin typeface="Verdana" panose="020B0604030504040204" pitchFamily="34" charset="0"/>
                    <a:ea typeface="Verdana" panose="020B0604030504040204" pitchFamily="34" charset="0"/>
                    <a:cs typeface="Verdana" panose="020B0604030504040204" pitchFamily="34" charset="0"/>
                  </a:rPr>
                  <a:t> on the line to determine the slope, but they performed the calculations differently. Their partial work is shown. </a:t>
                </a:r>
              </a:p>
            </p:txBody>
          </p:sp>
        </mc:Choice>
        <mc:Fallback xmlns="">
          <p:sp>
            <p:nvSpPr>
              <p:cNvPr id="10" name="TextBox 9">
                <a:extLst>
                  <a:ext uri="{FF2B5EF4-FFF2-40B4-BE49-F238E27FC236}">
                    <a16:creationId xmlns:a16="http://schemas.microsoft.com/office/drawing/2014/main" id="{0AB6A3A1-5A0D-C84F-AC89-57E6782F43E5}"/>
                  </a:ext>
                </a:extLst>
              </p:cNvPr>
              <p:cNvSpPr txBox="1">
                <a:spLocks noRot="1" noChangeAspect="1" noMove="1" noResize="1" noEditPoints="1" noAdjustHandles="1" noChangeArrowheads="1" noChangeShapeType="1" noTextEdit="1"/>
              </p:cNvSpPr>
              <p:nvPr/>
            </p:nvSpPr>
            <p:spPr>
              <a:xfrm>
                <a:off x="731966" y="1386025"/>
                <a:ext cx="6477726" cy="2308324"/>
              </a:xfrm>
              <a:prstGeom prst="rect">
                <a:avLst/>
              </a:prstGeom>
              <a:blipFill>
                <a:blip r:embed="rId4"/>
                <a:stretch>
                  <a:fillRect l="-1566" t="-1639" b="-5464"/>
                </a:stretch>
              </a:blipFill>
            </p:spPr>
            <p:txBody>
              <a:bodyPr/>
              <a:lstStyle/>
              <a:p>
                <a:r>
                  <a:rPr lang="en-US">
                    <a:noFill/>
                  </a:rPr>
                  <a:t> </a:t>
                </a:r>
              </a:p>
            </p:txBody>
          </p:sp>
        </mc:Fallback>
      </mc:AlternateContent>
      <p:sp>
        <p:nvSpPr>
          <p:cNvPr id="20" name="Google Shape;282;g104476d1465_1_17">
            <a:extLst>
              <a:ext uri="{FF2B5EF4-FFF2-40B4-BE49-F238E27FC236}">
                <a16:creationId xmlns:a16="http://schemas.microsoft.com/office/drawing/2014/main" id="{F0DF7E3D-D86D-3D42-AF6A-B6D79D34D30C}"/>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283</a:t>
            </a:r>
            <a:endParaRPr i="1" dirty="0">
              <a:latin typeface="Calibri"/>
              <a:ea typeface="Calibri"/>
              <a:cs typeface="Calibri"/>
              <a:sym typeface="Calibri"/>
            </a:endParaRPr>
          </a:p>
        </p:txBody>
      </p:sp>
      <p:pic>
        <p:nvPicPr>
          <p:cNvPr id="21" name="image5.png">
            <a:extLst>
              <a:ext uri="{FF2B5EF4-FFF2-40B4-BE49-F238E27FC236}">
                <a16:creationId xmlns:a16="http://schemas.microsoft.com/office/drawing/2014/main" id="{2C11B47C-F54D-104B-A137-73B13B3771DE}"/>
              </a:ext>
            </a:extLst>
          </p:cNvPr>
          <p:cNvPicPr/>
          <p:nvPr/>
        </p:nvPicPr>
        <p:blipFill>
          <a:blip r:embed="rId5" cstate="screen">
            <a:extLst>
              <a:ext uri="{28A0092B-C50C-407E-A947-70E740481C1C}">
                <a14:useLocalDpi xmlns:a14="http://schemas.microsoft.com/office/drawing/2010/main"/>
              </a:ext>
            </a:extLst>
          </a:blip>
          <a:stretch>
            <a:fillRect/>
          </a:stretch>
        </p:blipFill>
        <p:spPr>
          <a:xfrm>
            <a:off x="356616" y="201168"/>
            <a:ext cx="750701" cy="750701"/>
          </a:xfrm>
          <a:prstGeom prst="rect">
            <a:avLst/>
          </a:prstGeom>
          <a:ln/>
        </p:spPr>
      </p:pic>
      <p:pic>
        <p:nvPicPr>
          <p:cNvPr id="22" name="Picture 21" descr="Chart, line chart&#10;&#10;Description automatically generated">
            <a:extLst>
              <a:ext uri="{FF2B5EF4-FFF2-40B4-BE49-F238E27FC236}">
                <a16:creationId xmlns:a16="http://schemas.microsoft.com/office/drawing/2014/main" id="{1B7EF71E-113B-4541-9BB5-49F763817D04}"/>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7314750" y="1521460"/>
            <a:ext cx="3815080" cy="3815080"/>
          </a:xfrm>
          <a:prstGeom prst="rect">
            <a:avLst/>
          </a:prstGeom>
        </p:spPr>
      </p:pic>
    </p:spTree>
    <p:extLst>
      <p:ext uri="{BB962C8B-B14F-4D97-AF65-F5344CB8AC3E}">
        <p14:creationId xmlns:p14="http://schemas.microsoft.com/office/powerpoint/2010/main" val="3840359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TextBox 5">
            <a:extLst>
              <a:ext uri="{FF2B5EF4-FFF2-40B4-BE49-F238E27FC236}">
                <a16:creationId xmlns:a16="http://schemas.microsoft.com/office/drawing/2014/main" id="{46CA3BD6-5823-324E-9895-4E1BE981A260}"/>
              </a:ext>
            </a:extLst>
          </p:cNvPr>
          <p:cNvSpPr txBox="1"/>
          <p:nvPr/>
        </p:nvSpPr>
        <p:spPr>
          <a:xfrm>
            <a:off x="630233" y="762449"/>
            <a:ext cx="11292136" cy="83099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With your partner, complete each student’s work and answer the questions that follow. </a:t>
            </a:r>
          </a:p>
        </p:txBody>
      </p:sp>
      <p:sp>
        <p:nvSpPr>
          <p:cNvPr id="10" name="Google Shape;282;g104476d1465_1_17">
            <a:extLst>
              <a:ext uri="{FF2B5EF4-FFF2-40B4-BE49-F238E27FC236}">
                <a16:creationId xmlns:a16="http://schemas.microsoft.com/office/drawing/2014/main" id="{FE7D871A-6978-C24A-A2B6-20C135140E17}"/>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283</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188B807E-6365-184E-A41F-AA0D11D9D12B}"/>
                  </a:ext>
                </a:extLst>
              </p:cNvPr>
              <p:cNvGraphicFramePr>
                <a:graphicFrameLocks noGrp="1"/>
              </p:cNvGraphicFramePr>
              <p:nvPr>
                <p:extLst>
                  <p:ext uri="{D42A27DB-BD31-4B8C-83A1-F6EECF244321}">
                    <p14:modId xmlns:p14="http://schemas.microsoft.com/office/powerpoint/2010/main" val="1130349432"/>
                  </p:ext>
                </p:extLst>
              </p:nvPr>
            </p:nvGraphicFramePr>
            <p:xfrm>
              <a:off x="2695575" y="2084320"/>
              <a:ext cx="6800850" cy="3625406"/>
            </p:xfrm>
            <a:graphic>
              <a:graphicData uri="http://schemas.openxmlformats.org/drawingml/2006/table">
                <a:tbl>
                  <a:tblPr firstRow="1" firstCol="1" bandRow="1">
                    <a:tableStyleId>{A91F0D33-8C57-4600-99A7-42BC86742BE1}</a:tableStyleId>
                  </a:tblPr>
                  <a:tblGrid>
                    <a:gridCol w="3416300">
                      <a:extLst>
                        <a:ext uri="{9D8B030D-6E8A-4147-A177-3AD203B41FA5}">
                          <a16:colId xmlns:a16="http://schemas.microsoft.com/office/drawing/2014/main" val="318947994"/>
                        </a:ext>
                      </a:extLst>
                    </a:gridCol>
                    <a:gridCol w="3384550">
                      <a:extLst>
                        <a:ext uri="{9D8B030D-6E8A-4147-A177-3AD203B41FA5}">
                          <a16:colId xmlns:a16="http://schemas.microsoft.com/office/drawing/2014/main" val="2392695995"/>
                        </a:ext>
                      </a:extLst>
                    </a:gridCol>
                  </a:tblGrid>
                  <a:tr h="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Fatima’s Work</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Oliver’s Work</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003291726"/>
                      </a:ext>
                    </a:extLst>
                  </a:tr>
                  <a:tr h="2919730">
                    <a:tc>
                      <a:txBody>
                        <a:bodyPr/>
                        <a:lstStyle/>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endParaRPr lang="en-CO" sz="24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 xmlns:m="http://schemas.openxmlformats.org/officeDocument/2006/math">
                              <m:r>
                                <a:rPr lang="en-US" sz="2400">
                                  <a:effectLst/>
                                  <a:latin typeface="Cambria Math" panose="02040503050406030204" pitchFamily="18" charset="0"/>
                                </a:rPr>
                                <m:t>𝑠𝑙𝑜𝑝𝑒</m:t>
                              </m:r>
                              <m:r>
                                <a:rPr lang="en-US" sz="2400">
                                  <a:effectLst/>
                                  <a:latin typeface="Cambria Math" panose="02040503050406030204" pitchFamily="18" charset="0"/>
                                </a:rPr>
                                <m:t>=</m:t>
                              </m:r>
                              <m:f>
                                <m:fPr>
                                  <m:ctrlPr>
                                    <a:rPr lang="en-CO" sz="2400" i="1">
                                      <a:effectLst/>
                                      <a:latin typeface="Cambria Math" panose="02040503050406030204" pitchFamily="18" charset="0"/>
                                    </a:rPr>
                                  </m:ctrlPr>
                                </m:fPr>
                                <m:num>
                                  <m:r>
                                    <a:rPr lang="en-US" sz="2400">
                                      <a:effectLst/>
                                      <a:latin typeface="Cambria Math" panose="02040503050406030204" pitchFamily="18" charset="0"/>
                                    </a:rPr>
                                    <m:t>𝑐h𝑎𝑛𝑔𝑒</m:t>
                                  </m:r>
                                  <m:r>
                                    <a:rPr lang="en-US" sz="2400">
                                      <a:effectLst/>
                                      <a:latin typeface="Cambria Math" panose="02040503050406030204" pitchFamily="18" charset="0"/>
                                    </a:rPr>
                                    <m:t> </m:t>
                                  </m:r>
                                  <m:r>
                                    <a:rPr lang="en-US" sz="2400">
                                      <a:effectLst/>
                                      <a:latin typeface="Cambria Math" panose="02040503050406030204" pitchFamily="18" charset="0"/>
                                    </a:rPr>
                                    <m:t>𝑖𝑛</m:t>
                                  </m:r>
                                  <m:r>
                                    <a:rPr lang="en-US" sz="2400">
                                      <a:effectLst/>
                                      <a:latin typeface="Cambria Math" panose="02040503050406030204" pitchFamily="18" charset="0"/>
                                    </a:rPr>
                                    <m:t> </m:t>
                                  </m:r>
                                  <m:r>
                                    <a:rPr lang="en-US" sz="2400">
                                      <a:effectLst/>
                                      <a:latin typeface="Cambria Math" panose="02040503050406030204" pitchFamily="18" charset="0"/>
                                    </a:rPr>
                                    <m:t>𝑦</m:t>
                                  </m:r>
                                </m:num>
                                <m:den>
                                  <m:r>
                                    <a:rPr lang="en-US" sz="2400">
                                      <a:effectLst/>
                                      <a:latin typeface="Cambria Math" panose="02040503050406030204" pitchFamily="18" charset="0"/>
                                    </a:rPr>
                                    <m:t>𝑐h𝑎𝑛𝑔𝑒</m:t>
                                  </m:r>
                                  <m:r>
                                    <a:rPr lang="en-US" sz="2400">
                                      <a:effectLst/>
                                      <a:latin typeface="Cambria Math" panose="02040503050406030204" pitchFamily="18" charset="0"/>
                                    </a:rPr>
                                    <m:t> </m:t>
                                  </m:r>
                                  <m:r>
                                    <a:rPr lang="en-US" sz="2400">
                                      <a:effectLst/>
                                      <a:latin typeface="Cambria Math" panose="02040503050406030204" pitchFamily="18" charset="0"/>
                                    </a:rPr>
                                    <m:t>𝑖𝑛</m:t>
                                  </m:r>
                                  <m:r>
                                    <a:rPr lang="en-US" sz="2400">
                                      <a:effectLst/>
                                      <a:latin typeface="Cambria Math" panose="02040503050406030204" pitchFamily="18" charset="0"/>
                                    </a:rPr>
                                    <m:t> </m:t>
                                  </m:r>
                                  <m:r>
                                    <a:rPr lang="en-US" sz="2400">
                                      <a:effectLst/>
                                      <a:latin typeface="Cambria Math" panose="02040503050406030204" pitchFamily="18" charset="0"/>
                                    </a:rPr>
                                    <m:t>𝑥</m:t>
                                  </m:r>
                                </m:den>
                              </m:f>
                            </m:oMath>
                          </a14:m>
                          <a:r>
                            <a:rPr lang="en-US" sz="2400" dirty="0">
                              <a:effectLst/>
                              <a:latin typeface="Verdana" panose="020B0604030504040204" pitchFamily="34" charset="0"/>
                              <a:ea typeface="Verdana" panose="020B0604030504040204" pitchFamily="34" charset="0"/>
                              <a:cs typeface="Verdana" panose="020B0604030504040204" pitchFamily="34" charset="0"/>
                            </a:rPr>
                            <a:t> </a:t>
                          </a:r>
                          <a:endParaRPr lang="en-CO" sz="24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endParaRPr lang="en-CO" sz="24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tabLst>
                              <a:tab pos="778510" algn="l"/>
                            </a:tabLst>
                          </a:pPr>
                          <a14:m>
                            <m:oMath xmlns:m="http://schemas.openxmlformats.org/officeDocument/2006/math">
                              <m:r>
                                <a:rPr lang="en-US" sz="2400">
                                  <a:effectLst/>
                                  <a:latin typeface="Cambria Math" panose="02040503050406030204" pitchFamily="18" charset="0"/>
                                </a:rPr>
                                <m:t>𝑠𝑙𝑜𝑝𝑒</m:t>
                              </m:r>
                              <m:r>
                                <a:rPr lang="en-US" sz="2400">
                                  <a:effectLst/>
                                  <a:latin typeface="Cambria Math" panose="02040503050406030204" pitchFamily="18" charset="0"/>
                                </a:rPr>
                                <m:t>=   </m:t>
                              </m:r>
                              <m:f>
                                <m:fPr>
                                  <m:ctrlPr>
                                    <a:rPr lang="en-CO" sz="2400" i="1">
                                      <a:effectLst/>
                                      <a:latin typeface="Cambria Math" panose="02040503050406030204" pitchFamily="18" charset="0"/>
                                    </a:rPr>
                                  </m:ctrlPr>
                                </m:fPr>
                                <m:num>
                                  <m:r>
                                    <a:rPr lang="en-US" sz="2400" smtClean="0">
                                      <a:solidFill>
                                        <a:schemeClr val="accent2"/>
                                      </a:solidFill>
                                      <a:effectLst/>
                                      <a:latin typeface="Cambria Math" panose="02040503050406030204" pitchFamily="18" charset="0"/>
                                    </a:rPr>
                                    <m:t>−3− (−8)</m:t>
                                  </m:r>
                                </m:num>
                                <m:den>
                                  <m:r>
                                    <a:rPr lang="en-US" sz="2400" smtClean="0">
                                      <a:solidFill>
                                        <a:schemeClr val="accent5"/>
                                      </a:solidFill>
                                      <a:effectLst/>
                                      <a:latin typeface="Cambria Math" panose="02040503050406030204" pitchFamily="18" charset="0"/>
                                    </a:rPr>
                                    <m:t>−6 − (−2)</m:t>
                                  </m:r>
                                </m:den>
                              </m:f>
                            </m:oMath>
                          </a14:m>
                          <a:r>
                            <a:rPr lang="en-US" sz="2400" dirty="0">
                              <a:effectLst/>
                              <a:latin typeface="Verdana" panose="020B0604030504040204" pitchFamily="34" charset="0"/>
                              <a:ea typeface="Verdana" panose="020B0604030504040204" pitchFamily="34" charset="0"/>
                              <a:cs typeface="Verdana" panose="020B0604030504040204" pitchFamily="34" charset="0"/>
                            </a:rPr>
                            <a:t>   </a:t>
                          </a:r>
                          <a:endParaRPr lang="en-CO" sz="24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endParaRPr lang="en-CO" sz="24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tabLst>
                              <a:tab pos="778510" algn="l"/>
                            </a:tabLst>
                          </a:pPr>
                          <a14:m>
                            <m:oMath xmlns:m="http://schemas.openxmlformats.org/officeDocument/2006/math">
                              <m:r>
                                <a:rPr lang="en-US" sz="2400">
                                  <a:effectLst/>
                                  <a:latin typeface="Cambria Math" panose="02040503050406030204" pitchFamily="18" charset="0"/>
                                </a:rPr>
                                <m:t>𝑠𝑙𝑜𝑝𝑒</m:t>
                              </m:r>
                              <m:r>
                                <a:rPr lang="en-US" sz="2400">
                                  <a:effectLst/>
                                  <a:latin typeface="Cambria Math" panose="02040503050406030204" pitchFamily="18" charset="0"/>
                                </a:rPr>
                                <m:t>=                   </m:t>
                              </m:r>
                            </m:oMath>
                          </a14:m>
                          <a:r>
                            <a:rPr lang="en-US" sz="2400" dirty="0">
                              <a:effectLst/>
                              <a:latin typeface="Verdana" panose="020B0604030504040204" pitchFamily="34" charset="0"/>
                              <a:ea typeface="Verdana" panose="020B0604030504040204" pitchFamily="34" charset="0"/>
                              <a:cs typeface="Verdana" panose="020B0604030504040204" pitchFamily="34" charset="0"/>
                            </a:rPr>
                            <a:t>  </a:t>
                          </a:r>
                          <a:endParaRPr lang="en-CO" sz="24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endParaRPr lang="en-CO" sz="24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endParaRPr lang="en-CO"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T w="12700" cap="flat" cmpd="sng" algn="ctr">
                          <a:solidFill>
                            <a:schemeClr val="tx1"/>
                          </a:solidFill>
                          <a:prstDash val="solid"/>
                          <a:round/>
                          <a:headEnd type="none" w="med" len="med"/>
                          <a:tailEnd type="none" w="med" len="med"/>
                        </a:lnT>
                      </a:tcPr>
                    </a:tc>
                    <a:tc>
                      <a:txBody>
                        <a:bodyPr/>
                        <a:lstStyle/>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endParaRPr lang="en-CO" sz="24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 xmlns:m="http://schemas.openxmlformats.org/officeDocument/2006/math">
                              <m:r>
                                <a:rPr lang="en-US" sz="2400">
                                  <a:effectLst/>
                                  <a:latin typeface="Cambria Math" panose="02040503050406030204" pitchFamily="18" charset="0"/>
                                </a:rPr>
                                <m:t>𝑠𝑙𝑜𝑝𝑒</m:t>
                              </m:r>
                              <m:r>
                                <a:rPr lang="en-US" sz="2400">
                                  <a:effectLst/>
                                  <a:latin typeface="Cambria Math" panose="02040503050406030204" pitchFamily="18" charset="0"/>
                                </a:rPr>
                                <m:t>=</m:t>
                              </m:r>
                              <m:f>
                                <m:fPr>
                                  <m:ctrlPr>
                                    <a:rPr lang="en-CO" sz="2400" i="1">
                                      <a:effectLst/>
                                      <a:latin typeface="Cambria Math" panose="02040503050406030204" pitchFamily="18" charset="0"/>
                                    </a:rPr>
                                  </m:ctrlPr>
                                </m:fPr>
                                <m:num>
                                  <m:r>
                                    <a:rPr lang="en-US" sz="2400">
                                      <a:effectLst/>
                                      <a:latin typeface="Cambria Math" panose="02040503050406030204" pitchFamily="18" charset="0"/>
                                    </a:rPr>
                                    <m:t>𝑐h𝑎𝑛𝑔𝑒</m:t>
                                  </m:r>
                                  <m:r>
                                    <a:rPr lang="en-US" sz="2400">
                                      <a:effectLst/>
                                      <a:latin typeface="Cambria Math" panose="02040503050406030204" pitchFamily="18" charset="0"/>
                                    </a:rPr>
                                    <m:t> </m:t>
                                  </m:r>
                                  <m:r>
                                    <a:rPr lang="en-US" sz="2400">
                                      <a:effectLst/>
                                      <a:latin typeface="Cambria Math" panose="02040503050406030204" pitchFamily="18" charset="0"/>
                                    </a:rPr>
                                    <m:t>𝑖𝑛</m:t>
                                  </m:r>
                                  <m:r>
                                    <a:rPr lang="en-US" sz="2400">
                                      <a:effectLst/>
                                      <a:latin typeface="Cambria Math" panose="02040503050406030204" pitchFamily="18" charset="0"/>
                                    </a:rPr>
                                    <m:t> </m:t>
                                  </m:r>
                                  <m:r>
                                    <a:rPr lang="en-US" sz="2400">
                                      <a:effectLst/>
                                      <a:latin typeface="Cambria Math" panose="02040503050406030204" pitchFamily="18" charset="0"/>
                                    </a:rPr>
                                    <m:t>𝑦</m:t>
                                  </m:r>
                                </m:num>
                                <m:den>
                                  <m:r>
                                    <a:rPr lang="en-US" sz="2400">
                                      <a:effectLst/>
                                      <a:latin typeface="Cambria Math" panose="02040503050406030204" pitchFamily="18" charset="0"/>
                                    </a:rPr>
                                    <m:t>𝑐h𝑎𝑛𝑔𝑒</m:t>
                                  </m:r>
                                  <m:r>
                                    <a:rPr lang="en-US" sz="2400">
                                      <a:effectLst/>
                                      <a:latin typeface="Cambria Math" panose="02040503050406030204" pitchFamily="18" charset="0"/>
                                    </a:rPr>
                                    <m:t> </m:t>
                                  </m:r>
                                  <m:r>
                                    <a:rPr lang="en-US" sz="2400">
                                      <a:effectLst/>
                                      <a:latin typeface="Cambria Math" panose="02040503050406030204" pitchFamily="18" charset="0"/>
                                    </a:rPr>
                                    <m:t>𝑖𝑛</m:t>
                                  </m:r>
                                  <m:r>
                                    <a:rPr lang="en-US" sz="2400">
                                      <a:effectLst/>
                                      <a:latin typeface="Cambria Math" panose="02040503050406030204" pitchFamily="18" charset="0"/>
                                    </a:rPr>
                                    <m:t> </m:t>
                                  </m:r>
                                  <m:r>
                                    <a:rPr lang="en-US" sz="2400">
                                      <a:effectLst/>
                                      <a:latin typeface="Cambria Math" panose="02040503050406030204" pitchFamily="18" charset="0"/>
                                    </a:rPr>
                                    <m:t>𝑥</m:t>
                                  </m:r>
                                </m:den>
                              </m:f>
                            </m:oMath>
                          </a14:m>
                          <a:r>
                            <a:rPr lang="en-US" sz="2400" dirty="0">
                              <a:effectLst/>
                              <a:latin typeface="Verdana" panose="020B0604030504040204" pitchFamily="34" charset="0"/>
                              <a:ea typeface="Verdana" panose="020B0604030504040204" pitchFamily="34" charset="0"/>
                              <a:cs typeface="Verdana" panose="020B0604030504040204" pitchFamily="34" charset="0"/>
                            </a:rPr>
                            <a:t> </a:t>
                          </a:r>
                          <a:endParaRPr lang="en-CO" sz="24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endParaRPr lang="en-CO" sz="24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 xmlns:m="http://schemas.openxmlformats.org/officeDocument/2006/math">
                              <m:r>
                                <a:rPr lang="en-US" sz="2400">
                                  <a:effectLst/>
                                  <a:latin typeface="Cambria Math" panose="02040503050406030204" pitchFamily="18" charset="0"/>
                                </a:rPr>
                                <m:t>𝑠𝑙𝑜𝑝𝑒</m:t>
                              </m:r>
                              <m:r>
                                <a:rPr lang="en-US" sz="2400">
                                  <a:effectLst/>
                                  <a:latin typeface="Cambria Math" panose="02040503050406030204" pitchFamily="18" charset="0"/>
                                </a:rPr>
                                <m:t>=     </m:t>
                              </m:r>
                              <m:f>
                                <m:fPr>
                                  <m:ctrlPr>
                                    <a:rPr lang="en-CO" sz="2400" i="1">
                                      <a:effectLst/>
                                      <a:latin typeface="Cambria Math" panose="02040503050406030204" pitchFamily="18" charset="0"/>
                                    </a:rPr>
                                  </m:ctrlPr>
                                </m:fPr>
                                <m:num>
                                  <m:r>
                                    <a:rPr lang="en-US" sz="2400" smtClean="0">
                                      <a:solidFill>
                                        <a:schemeClr val="accent2"/>
                                      </a:solidFill>
                                      <a:effectLst/>
                                      <a:latin typeface="Cambria Math" panose="02040503050406030204" pitchFamily="18" charset="0"/>
                                    </a:rPr>
                                    <m:t>−8− (−3)</m:t>
                                  </m:r>
                                </m:num>
                                <m:den>
                                  <m:r>
                                    <a:rPr lang="en-US" sz="2400" smtClean="0">
                                      <a:solidFill>
                                        <a:schemeClr val="accent5"/>
                                      </a:solidFill>
                                      <a:effectLst/>
                                      <a:latin typeface="Cambria Math" panose="02040503050406030204" pitchFamily="18" charset="0"/>
                                    </a:rPr>
                                    <m:t>−2 − (−6)</m:t>
                                  </m:r>
                                </m:den>
                              </m:f>
                            </m:oMath>
                          </a14:m>
                          <a:r>
                            <a:rPr lang="en-US" sz="2400" dirty="0">
                              <a:effectLst/>
                              <a:latin typeface="Verdana" panose="020B0604030504040204" pitchFamily="34" charset="0"/>
                              <a:ea typeface="Verdana" panose="020B0604030504040204" pitchFamily="34" charset="0"/>
                              <a:cs typeface="Verdana" panose="020B0604030504040204" pitchFamily="34" charset="0"/>
                            </a:rPr>
                            <a:t> </a:t>
                          </a:r>
                          <a:endParaRPr lang="en-CO" sz="24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endParaRPr lang="en-CO" sz="24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𝑠𝑙𝑜𝑝𝑒</m:t>
                                </m:r>
                                <m:r>
                                  <a:rPr lang="en-US" sz="2400">
                                    <a:effectLst/>
                                    <a:latin typeface="Cambria Math" panose="02040503050406030204" pitchFamily="18" charset="0"/>
                                  </a:rPr>
                                  <m:t>=                     </m:t>
                                </m:r>
                              </m:oMath>
                            </m:oMathPara>
                          </a14:m>
                          <a:endParaRPr lang="en-CO" sz="24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endParaRPr lang="en-CO" sz="24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endParaRPr lang="en-CO"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957779163"/>
                      </a:ext>
                    </a:extLst>
                  </a:tr>
                </a:tbl>
              </a:graphicData>
            </a:graphic>
          </p:graphicFrame>
        </mc:Choice>
        <mc:Fallback xmlns="">
          <p:graphicFrame>
            <p:nvGraphicFramePr>
              <p:cNvPr id="2" name="Table 1">
                <a:extLst>
                  <a:ext uri="{FF2B5EF4-FFF2-40B4-BE49-F238E27FC236}">
                    <a16:creationId xmlns:a16="http://schemas.microsoft.com/office/drawing/2014/main" id="{188B807E-6365-184E-A41F-AA0D11D9D12B}"/>
                  </a:ext>
                </a:extLst>
              </p:cNvPr>
              <p:cNvGraphicFramePr>
                <a:graphicFrameLocks noGrp="1"/>
              </p:cNvGraphicFramePr>
              <p:nvPr>
                <p:extLst>
                  <p:ext uri="{D42A27DB-BD31-4B8C-83A1-F6EECF244321}">
                    <p14:modId xmlns:p14="http://schemas.microsoft.com/office/powerpoint/2010/main" val="1130349432"/>
                  </p:ext>
                </p:extLst>
              </p:nvPr>
            </p:nvGraphicFramePr>
            <p:xfrm>
              <a:off x="2695575" y="2084320"/>
              <a:ext cx="6800850" cy="3625406"/>
            </p:xfrm>
            <a:graphic>
              <a:graphicData uri="http://schemas.openxmlformats.org/drawingml/2006/table">
                <a:tbl>
                  <a:tblPr firstRow="1" firstCol="1" bandRow="1">
                    <a:tableStyleId>{A91F0D33-8C57-4600-99A7-42BC86742BE1}</a:tableStyleId>
                  </a:tblPr>
                  <a:tblGrid>
                    <a:gridCol w="3416300">
                      <a:extLst>
                        <a:ext uri="{9D8B030D-6E8A-4147-A177-3AD203B41FA5}">
                          <a16:colId xmlns:a16="http://schemas.microsoft.com/office/drawing/2014/main" val="318947994"/>
                        </a:ext>
                      </a:extLst>
                    </a:gridCol>
                    <a:gridCol w="3384550">
                      <a:extLst>
                        <a:ext uri="{9D8B030D-6E8A-4147-A177-3AD203B41FA5}">
                          <a16:colId xmlns:a16="http://schemas.microsoft.com/office/drawing/2014/main" val="2392695995"/>
                        </a:ext>
                      </a:extLst>
                    </a:gridCol>
                  </a:tblGrid>
                  <a:tr h="274320">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Fatima’s Work</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Oliver’s Work</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003291726"/>
                      </a:ext>
                    </a:extLst>
                  </a:tr>
                  <a:tr h="3351086">
                    <a:tc>
                      <a:txBody>
                        <a:bodyPr/>
                        <a:lstStyle/>
                        <a:p>
                          <a:endParaRPr lang="en-US"/>
                        </a:p>
                      </a:txBody>
                      <a:tcPr marL="68580" marR="68580" marT="0" marB="0" anchor="ctr">
                        <a:lnT w="12700" cap="flat" cmpd="sng" algn="ctr">
                          <a:solidFill>
                            <a:schemeClr val="tx1"/>
                          </a:solidFill>
                          <a:prstDash val="solid"/>
                          <a:round/>
                          <a:headEnd type="none" w="med" len="med"/>
                          <a:tailEnd type="none" w="med" len="med"/>
                        </a:lnT>
                        <a:blipFill>
                          <a:blip r:embed="rId4"/>
                          <a:stretch>
                            <a:fillRect l="-372" t="-10606" r="-99628" b="-379"/>
                          </a:stretch>
                        </a:blipFill>
                      </a:tcPr>
                    </a:tc>
                    <a:tc>
                      <a:txBody>
                        <a:bodyPr/>
                        <a:lstStyle/>
                        <a:p>
                          <a:endParaRPr lang="en-US"/>
                        </a:p>
                      </a:txBody>
                      <a:tcPr marL="68580" marR="68580" marT="0" marB="0" anchor="ctr">
                        <a:lnT w="12700" cap="flat" cmpd="sng" algn="ctr">
                          <a:solidFill>
                            <a:schemeClr val="tx1"/>
                          </a:solidFill>
                          <a:prstDash val="solid"/>
                          <a:round/>
                          <a:headEnd type="none" w="med" len="med"/>
                          <a:tailEnd type="none" w="med" len="med"/>
                        </a:lnT>
                        <a:blipFill>
                          <a:blip r:embed="rId4"/>
                          <a:stretch>
                            <a:fillRect l="-101124" t="-10606" r="-375" b="-379"/>
                          </a:stretch>
                        </a:blipFill>
                      </a:tcPr>
                    </a:tc>
                    <a:extLst>
                      <a:ext uri="{0D108BD9-81ED-4DB2-BD59-A6C34878D82A}">
                        <a16:rowId xmlns:a16="http://schemas.microsoft.com/office/drawing/2014/main" val="2957779163"/>
                      </a:ext>
                    </a:extLst>
                  </a:tr>
                </a:tbl>
              </a:graphicData>
            </a:graphic>
          </p:graphicFrame>
        </mc:Fallback>
      </mc:AlternateContent>
    </p:spTree>
    <p:extLst>
      <p:ext uri="{BB962C8B-B14F-4D97-AF65-F5344CB8AC3E}">
        <p14:creationId xmlns:p14="http://schemas.microsoft.com/office/powerpoint/2010/main" val="8112922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TextBox 5">
            <a:extLst>
              <a:ext uri="{FF2B5EF4-FFF2-40B4-BE49-F238E27FC236}">
                <a16:creationId xmlns:a16="http://schemas.microsoft.com/office/drawing/2014/main" id="{46CA3BD6-5823-324E-9895-4E1BE981A260}"/>
              </a:ext>
            </a:extLst>
          </p:cNvPr>
          <p:cNvSpPr txBox="1"/>
          <p:nvPr/>
        </p:nvSpPr>
        <p:spPr>
          <a:xfrm>
            <a:off x="677124" y="460321"/>
            <a:ext cx="11081121" cy="6001643"/>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Fatima compared her work to Oliver’s and said, “It doesn’t matter which order we subtracted the values. We found the same slope.” Explain why you agree or disagree.</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 Oliver said, “It doesn’t matter which order you subtract, but whichever coordinate pair you start with to find the change in 𝑦, you have to also start with its 𝑥-value when finding the change in 𝑥.” What do you think Oliver meant?</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33" name="Google Shape;282;g104476d1465_1_17">
            <a:extLst>
              <a:ext uri="{FF2B5EF4-FFF2-40B4-BE49-F238E27FC236}">
                <a16:creationId xmlns:a16="http://schemas.microsoft.com/office/drawing/2014/main" id="{3F2D50B2-7ECB-D243-BC77-E9EFCD674A8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284</a:t>
            </a:r>
            <a:endParaRPr i="1" dirty="0">
              <a:latin typeface="Calibri"/>
              <a:ea typeface="Calibri"/>
              <a:cs typeface="Calibri"/>
              <a:sym typeface="Calibri"/>
            </a:endParaRPr>
          </a:p>
        </p:txBody>
      </p:sp>
    </p:spTree>
    <p:extLst>
      <p:ext uri="{BB962C8B-B14F-4D97-AF65-F5344CB8AC3E}">
        <p14:creationId xmlns:p14="http://schemas.microsoft.com/office/powerpoint/2010/main" val="35197236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2246" y="2766150"/>
            <a:ext cx="7234127"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012C2045-51C2-0247-977E-8C677D26B70E}"/>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284</a:t>
            </a:r>
            <a:endParaRPr i="1" dirty="0">
              <a:latin typeface="Calibri"/>
              <a:ea typeface="Calibri"/>
              <a:cs typeface="Calibri"/>
              <a:sym typeface="Calibri"/>
            </a:endParaRPr>
          </a:p>
        </p:txBody>
      </p:sp>
      <p:pic>
        <p:nvPicPr>
          <p:cNvPr id="10" name="Picture 9" descr="Icon&#10;&#10;Description automatically generated">
            <a:extLst>
              <a:ext uri="{FF2B5EF4-FFF2-40B4-BE49-F238E27FC236}">
                <a16:creationId xmlns:a16="http://schemas.microsoft.com/office/drawing/2014/main" id="{D07C26E5-0F4D-494C-BB66-C2CDC9FB07F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58150" cy="115815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026124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37334" y="-83151"/>
            <a:ext cx="1059805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7.1.4 Guided Instruction: Finding Slope from Graphs and Tables</a:t>
            </a:r>
          </a:p>
        </p:txBody>
      </p:sp>
      <p:sp>
        <p:nvSpPr>
          <p:cNvPr id="13" name="TextBox 12">
            <a:extLst>
              <a:ext uri="{FF2B5EF4-FFF2-40B4-BE49-F238E27FC236}">
                <a16:creationId xmlns:a16="http://schemas.microsoft.com/office/drawing/2014/main" id="{C01B13E8-EC8D-E443-A329-C5E3593DD13A}"/>
              </a:ext>
            </a:extLst>
          </p:cNvPr>
          <p:cNvSpPr txBox="1"/>
          <p:nvPr/>
        </p:nvSpPr>
        <p:spPr>
          <a:xfrm>
            <a:off x="730267" y="1352986"/>
            <a:ext cx="11274164" cy="1938992"/>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The slope of any line can be determined from a graph using any two points on the line.</a:t>
            </a:r>
          </a:p>
          <a:p>
            <a:pPr lvl="0"/>
            <a:r>
              <a:rPr lang="en-US" sz="2400" dirty="0">
                <a:latin typeface="Verdana" panose="020B0604030504040204" pitchFamily="34" charset="0"/>
                <a:ea typeface="Verdana" panose="020B0604030504040204" pitchFamily="34" charset="0"/>
                <a:cs typeface="Verdana" panose="020B0604030504040204" pitchFamily="34" charset="0"/>
              </a:rPr>
              <a:t> </a:t>
            </a:r>
          </a:p>
          <a:p>
            <a:pPr lvl="0"/>
            <a:r>
              <a:rPr lang="en-US" sz="2400" dirty="0">
                <a:latin typeface="Verdana" panose="020B0604030504040204" pitchFamily="34" charset="0"/>
                <a:ea typeface="Verdana" panose="020B0604030504040204" pitchFamily="34" charset="0"/>
                <a:cs typeface="Verdana" panose="020B0604030504040204" pitchFamily="34" charset="0"/>
              </a:rPr>
              <a:t>Three graphs and the calculations used to determine their slope are shown. </a:t>
            </a:r>
          </a:p>
        </p:txBody>
      </p:sp>
      <p:sp>
        <p:nvSpPr>
          <p:cNvPr id="12" name="Google Shape;282;g104476d1465_1_17">
            <a:extLst>
              <a:ext uri="{FF2B5EF4-FFF2-40B4-BE49-F238E27FC236}">
                <a16:creationId xmlns:a16="http://schemas.microsoft.com/office/drawing/2014/main" id="{F4E77714-D386-274E-91D8-CCDC2ECC4A5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284</a:t>
            </a:r>
            <a:endParaRPr i="1" dirty="0">
              <a:latin typeface="Calibri"/>
              <a:ea typeface="Calibri"/>
              <a:cs typeface="Calibri"/>
              <a:sym typeface="Calibri"/>
            </a:endParaRPr>
          </a:p>
        </p:txBody>
      </p:sp>
      <p:pic>
        <p:nvPicPr>
          <p:cNvPr id="16" name="Picture 15" descr="Icon&#10;&#10;Description automatically generated">
            <a:extLst>
              <a:ext uri="{FF2B5EF4-FFF2-40B4-BE49-F238E27FC236}">
                <a16:creationId xmlns:a16="http://schemas.microsoft.com/office/drawing/2014/main" id="{9494EAC6-486B-7E44-98E0-0513250FCDC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6616" y="201168"/>
            <a:ext cx="747302" cy="747302"/>
          </a:xfrm>
          <a:prstGeom prst="rect">
            <a:avLst/>
          </a:prstGeom>
        </p:spPr>
      </p:pic>
      <p:pic>
        <p:nvPicPr>
          <p:cNvPr id="4" name="Picture 3" descr="Chart, line chart, scatter chart&#10;&#10;Description automatically generated">
            <a:extLst>
              <a:ext uri="{FF2B5EF4-FFF2-40B4-BE49-F238E27FC236}">
                <a16:creationId xmlns:a16="http://schemas.microsoft.com/office/drawing/2014/main" id="{59468298-7C4D-724E-A8BB-F0819D5EEEE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043517" y="3548010"/>
            <a:ext cx="6104965" cy="2686185"/>
          </a:xfrm>
          <a:prstGeom prst="rect">
            <a:avLst/>
          </a:prstGeom>
        </p:spPr>
      </p:pic>
    </p:spTree>
    <p:extLst>
      <p:ext uri="{BB962C8B-B14F-4D97-AF65-F5344CB8AC3E}">
        <p14:creationId xmlns:p14="http://schemas.microsoft.com/office/powerpoint/2010/main" val="39024578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F4E77714-D386-274E-91D8-CCDC2ECC4A5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284</a:t>
            </a:r>
            <a:endParaRPr i="1" dirty="0">
              <a:latin typeface="Calibri"/>
              <a:ea typeface="Calibri"/>
              <a:cs typeface="Calibri"/>
              <a:sym typeface="Calibri"/>
            </a:endParaRPr>
          </a:p>
        </p:txBody>
      </p:sp>
      <p:pic>
        <p:nvPicPr>
          <p:cNvPr id="3" name="Picture 2" descr="Chart, scatter chart&#10;&#10;Description automatically generated">
            <a:extLst>
              <a:ext uri="{FF2B5EF4-FFF2-40B4-BE49-F238E27FC236}">
                <a16:creationId xmlns:a16="http://schemas.microsoft.com/office/drawing/2014/main" id="{106BD8BE-AE3E-CD4B-9F03-C42D728AB46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055438" y="1008530"/>
            <a:ext cx="6081123" cy="4840940"/>
          </a:xfrm>
          <a:prstGeom prst="rect">
            <a:avLst/>
          </a:prstGeom>
        </p:spPr>
      </p:pic>
    </p:spTree>
    <p:extLst>
      <p:ext uri="{BB962C8B-B14F-4D97-AF65-F5344CB8AC3E}">
        <p14:creationId xmlns:p14="http://schemas.microsoft.com/office/powerpoint/2010/main" val="8595748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F4E77714-D386-274E-91D8-CCDC2ECC4A5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285</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F273A2A6-9DA9-8B48-AD63-98A2F0C5B480}"/>
                  </a:ext>
                </a:extLst>
              </p:cNvPr>
              <p:cNvSpPr txBox="1"/>
              <p:nvPr/>
            </p:nvSpPr>
            <p:spPr>
              <a:xfrm>
                <a:off x="706502" y="587104"/>
                <a:ext cx="9993165" cy="4862870"/>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Use the graphs and their slopes to complete the summary.</a:t>
                </a:r>
              </a:p>
              <a:p>
                <a:pPr marL="463550">
                  <a:lnSpc>
                    <a:spcPct val="250000"/>
                  </a:lnSpc>
                </a:pPr>
                <a:r>
                  <a:rPr lang="en-US" sz="2000" dirty="0">
                    <a:latin typeface="Verdana" panose="020B0604030504040204" pitchFamily="34" charset="0"/>
                    <a:ea typeface="Verdana" panose="020B0604030504040204" pitchFamily="34" charset="0"/>
                    <a:cs typeface="Verdana" panose="020B0604030504040204" pitchFamily="34" charset="0"/>
                  </a:rPr>
                  <a:t>The slope of a line can be positive, negative, or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0</m:t>
                    </m:r>
                  </m:oMath>
                </a14:m>
                <a:r>
                  <a:rPr lang="en-US" sz="2000" dirty="0">
                    <a:latin typeface="Verdana" panose="020B0604030504040204" pitchFamily="34" charset="0"/>
                    <a:ea typeface="Verdana" panose="020B0604030504040204" pitchFamily="34" charset="0"/>
                    <a:cs typeface="Verdana" panose="020B0604030504040204" pitchFamily="34" charset="0"/>
                  </a:rPr>
                  <a:t>. The slope is positive when the line   				  from left to right. </a:t>
                </a:r>
              </a:p>
              <a:p>
                <a:pPr marL="463550">
                  <a:lnSpc>
                    <a:spcPct val="250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3550">
                  <a:lnSpc>
                    <a:spcPct val="250000"/>
                  </a:lnSpc>
                </a:pPr>
                <a:r>
                  <a:rPr lang="en-US" sz="2000" dirty="0">
                    <a:latin typeface="Verdana" panose="020B0604030504040204" pitchFamily="34" charset="0"/>
                    <a:ea typeface="Verdana" panose="020B0604030504040204" pitchFamily="34" charset="0"/>
                    <a:cs typeface="Verdana" panose="020B0604030504040204" pitchFamily="34" charset="0"/>
                  </a:rPr>
                  <a:t>The slope is negative when the line   				  from left to right. </a:t>
                </a:r>
              </a:p>
              <a:p>
                <a:pPr indent="454025"/>
                <a:endParaRPr lang="en-US" sz="2000" dirty="0">
                  <a:latin typeface="Verdana" panose="020B0604030504040204" pitchFamily="34" charset="0"/>
                  <a:ea typeface="Verdana" panose="020B0604030504040204" pitchFamily="34" charset="0"/>
                  <a:cs typeface="Verdana" panose="020B0604030504040204" pitchFamily="34" charset="0"/>
                </a:endParaRPr>
              </a:p>
              <a:p>
                <a:pPr indent="454025"/>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p:sp>
            <p:nvSpPr>
              <p:cNvPr id="6" name="TextBox 5">
                <a:extLst>
                  <a:ext uri="{FF2B5EF4-FFF2-40B4-BE49-F238E27FC236}">
                    <a16:creationId xmlns:a16="http://schemas.microsoft.com/office/drawing/2014/main" id="{F273A2A6-9DA9-8B48-AD63-98A2F0C5B480}"/>
                  </a:ext>
                </a:extLst>
              </p:cNvPr>
              <p:cNvSpPr txBox="1">
                <a:spLocks noRot="1" noChangeAspect="1" noMove="1" noResize="1" noEditPoints="1" noAdjustHandles="1" noChangeArrowheads="1" noChangeShapeType="1" noTextEdit="1"/>
              </p:cNvSpPr>
              <p:nvPr/>
            </p:nvSpPr>
            <p:spPr>
              <a:xfrm>
                <a:off x="706502" y="587104"/>
                <a:ext cx="9993165" cy="4862870"/>
              </a:xfrm>
              <a:prstGeom prst="rect">
                <a:avLst/>
              </a:prstGeom>
              <a:blipFill>
                <a:blip r:embed="rId4"/>
                <a:stretch>
                  <a:fillRect l="-671" t="-752"/>
                </a:stretch>
              </a:blipFill>
            </p:spPr>
            <p:txBody>
              <a:bodyPr/>
              <a:lstStyle/>
              <a:p>
                <a:r>
                  <a:rPr lang="en-US">
                    <a:noFill/>
                  </a:rPr>
                  <a:t> </a:t>
                </a:r>
              </a:p>
            </p:txBody>
          </p:sp>
        </mc:Fallback>
      </mc:AlternateContent>
      <p:pic>
        <p:nvPicPr>
          <p:cNvPr id="4" name="Picture 3" descr="Text&#10;&#10;Description automatically generated">
            <a:extLst>
              <a:ext uri="{FF2B5EF4-FFF2-40B4-BE49-F238E27FC236}">
                <a16:creationId xmlns:a16="http://schemas.microsoft.com/office/drawing/2014/main" id="{81A30F80-A76C-4A43-9C95-86968DE52C4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092856" y="1644885"/>
            <a:ext cx="3307976" cy="1086201"/>
          </a:xfrm>
          <a:prstGeom prst="rect">
            <a:avLst/>
          </a:prstGeom>
        </p:spPr>
      </p:pic>
      <p:pic>
        <p:nvPicPr>
          <p:cNvPr id="9" name="Picture 8" descr="Text&#10;&#10;Description automatically generated">
            <a:extLst>
              <a:ext uri="{FF2B5EF4-FFF2-40B4-BE49-F238E27FC236}">
                <a16:creationId xmlns:a16="http://schemas.microsoft.com/office/drawing/2014/main" id="{5F89DF3C-4FB6-4E4F-942F-4D0E8F0789C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812305" y="3193675"/>
            <a:ext cx="3307976" cy="1086201"/>
          </a:xfrm>
          <a:prstGeom prst="rect">
            <a:avLst/>
          </a:prstGeom>
        </p:spPr>
      </p:pic>
    </p:spTree>
    <p:extLst>
      <p:ext uri="{BB962C8B-B14F-4D97-AF65-F5344CB8AC3E}">
        <p14:creationId xmlns:p14="http://schemas.microsoft.com/office/powerpoint/2010/main" val="32179748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277"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F4E77714-D386-274E-91D8-CCDC2ECC4A5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285</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F273A2A6-9DA9-8B48-AD63-98A2F0C5B480}"/>
                  </a:ext>
                </a:extLst>
              </p:cNvPr>
              <p:cNvSpPr txBox="1"/>
              <p:nvPr/>
            </p:nvSpPr>
            <p:spPr>
              <a:xfrm>
                <a:off x="605641" y="461118"/>
                <a:ext cx="10485911" cy="707886"/>
              </a:xfrm>
              <a:prstGeom prst="rect">
                <a:avLst/>
              </a:prstGeom>
              <a:noFill/>
            </p:spPr>
            <p:txBody>
              <a:bodyPr wrap="square" rtlCol="0">
                <a:spAutoFit/>
              </a:bodyPr>
              <a:lstStyle/>
              <a:p>
                <a:pPr indent="454025"/>
                <a:r>
                  <a:rPr lang="en-US" sz="2000" dirty="0">
                    <a:latin typeface="Verdana" panose="020B0604030504040204" pitchFamily="34" charset="0"/>
                    <a:ea typeface="Verdana" panose="020B0604030504040204" pitchFamily="34" charset="0"/>
                    <a:cs typeface="Verdana" panose="020B0604030504040204" pitchFamily="34" charset="0"/>
                  </a:rPr>
                  <a:t>The slope is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0</m:t>
                    </m:r>
                  </m:oMath>
                </a14:m>
                <a:r>
                  <a:rPr lang="en-US" sz="2000" dirty="0">
                    <a:latin typeface="Verdana" panose="020B0604030504040204" pitchFamily="34" charset="0"/>
                    <a:ea typeface="Verdana" panose="020B0604030504040204" pitchFamily="34" charset="0"/>
                    <a:cs typeface="Verdana" panose="020B0604030504040204" pitchFamily="34" charset="0"/>
                  </a:rPr>
                  <a:t> when the line   				  from left to right. </a:t>
                </a:r>
              </a:p>
              <a:p>
                <a:pPr indent="454025"/>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p:sp>
            <p:nvSpPr>
              <p:cNvPr id="6" name="TextBox 5">
                <a:extLst>
                  <a:ext uri="{FF2B5EF4-FFF2-40B4-BE49-F238E27FC236}">
                    <a16:creationId xmlns:a16="http://schemas.microsoft.com/office/drawing/2014/main" id="{F273A2A6-9DA9-8B48-AD63-98A2F0C5B480}"/>
                  </a:ext>
                </a:extLst>
              </p:cNvPr>
              <p:cNvSpPr txBox="1">
                <a:spLocks noRot="1" noChangeAspect="1" noMove="1" noResize="1" noEditPoints="1" noAdjustHandles="1" noChangeArrowheads="1" noChangeShapeType="1" noTextEdit="1"/>
              </p:cNvSpPr>
              <p:nvPr/>
            </p:nvSpPr>
            <p:spPr>
              <a:xfrm>
                <a:off x="605641" y="461118"/>
                <a:ext cx="10485911" cy="707886"/>
              </a:xfrm>
              <a:prstGeom prst="rect">
                <a:avLst/>
              </a:prstGeom>
              <a:blipFill>
                <a:blip r:embed="rId4"/>
                <a:stretch>
                  <a:fillRect t="-5172"/>
                </a:stretch>
              </a:blipFill>
            </p:spPr>
            <p:txBody>
              <a:bodyPr/>
              <a:lstStyle/>
              <a:p>
                <a:r>
                  <a:rPr lang="en-US">
                    <a:noFill/>
                  </a:rPr>
                  <a:t> </a:t>
                </a:r>
              </a:p>
            </p:txBody>
          </p:sp>
        </mc:Fallback>
      </mc:AlternateContent>
      <p:pic>
        <p:nvPicPr>
          <p:cNvPr id="4" name="Picture 3" descr="Text&#10;&#10;Description automatically generated">
            <a:extLst>
              <a:ext uri="{FF2B5EF4-FFF2-40B4-BE49-F238E27FC236}">
                <a16:creationId xmlns:a16="http://schemas.microsoft.com/office/drawing/2014/main" id="{81A30F80-A76C-4A43-9C95-86968DE52C4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635291" y="202779"/>
            <a:ext cx="3307976" cy="1086201"/>
          </a:xfrm>
          <a:prstGeom prst="rect">
            <a:avLst/>
          </a:prstGeom>
        </p:spPr>
      </p:pic>
      <p:sp>
        <p:nvSpPr>
          <p:cNvPr id="8" name="TextBox 7">
            <a:extLst>
              <a:ext uri="{FF2B5EF4-FFF2-40B4-BE49-F238E27FC236}">
                <a16:creationId xmlns:a16="http://schemas.microsoft.com/office/drawing/2014/main" id="{9B1C820B-A4FB-C746-BBE7-B03330343B35}"/>
              </a:ext>
            </a:extLst>
          </p:cNvPr>
          <p:cNvSpPr txBox="1"/>
          <p:nvPr/>
        </p:nvSpPr>
        <p:spPr>
          <a:xfrm>
            <a:off x="1086604" y="1614449"/>
            <a:ext cx="7600196" cy="1323439"/>
          </a:xfrm>
          <a:prstGeom prst="rect">
            <a:avLst/>
          </a:prstGeom>
          <a:noFill/>
        </p:spPr>
        <p:txBody>
          <a:bodyPr wrap="square" rtlCol="0">
            <a:spAutoFit/>
          </a:bodyPr>
          <a:lstStyle/>
          <a:p>
            <a:pPr indent="12700"/>
            <a:r>
              <a:rPr lang="en-US" sz="2000" dirty="0">
                <a:latin typeface="Verdana" panose="020B0604030504040204" pitchFamily="34" charset="0"/>
                <a:ea typeface="Verdana" panose="020B0604030504040204" pitchFamily="34" charset="0"/>
                <a:cs typeface="Verdana" panose="020B0604030504040204" pitchFamily="34" charset="0"/>
              </a:rPr>
              <a:t>Recall that linear relationships can also be represented using tables of values. </a:t>
            </a:r>
          </a:p>
          <a:p>
            <a:pPr indent="12700"/>
            <a:r>
              <a:rPr lang="en-US" sz="2000" dirty="0">
                <a:latin typeface="Verdana" panose="020B0604030504040204" pitchFamily="34" charset="0"/>
                <a:ea typeface="Verdana" panose="020B0604030504040204" pitchFamily="34" charset="0"/>
                <a:cs typeface="Verdana" panose="020B0604030504040204" pitchFamily="34" charset="0"/>
              </a:rPr>
              <a:t> </a:t>
            </a:r>
          </a:p>
          <a:p>
            <a:pPr indent="12700"/>
            <a:r>
              <a:rPr lang="en-US" sz="2000" dirty="0">
                <a:latin typeface="Verdana" panose="020B0604030504040204" pitchFamily="34" charset="0"/>
                <a:ea typeface="Verdana" panose="020B0604030504040204" pitchFamily="34" charset="0"/>
                <a:cs typeface="Verdana" panose="020B0604030504040204" pitchFamily="34" charset="0"/>
              </a:rPr>
              <a:t>The table to the right represents a linear relationship. </a:t>
            </a:r>
          </a:p>
        </p:txBody>
      </p:sp>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44080E66-0747-9945-BF33-342B064C045E}"/>
                  </a:ext>
                </a:extLst>
              </p:cNvPr>
              <p:cNvGraphicFramePr>
                <a:graphicFrameLocks noGrp="1"/>
              </p:cNvGraphicFramePr>
              <p:nvPr>
                <p:extLst>
                  <p:ext uri="{D42A27DB-BD31-4B8C-83A1-F6EECF244321}">
                    <p14:modId xmlns:p14="http://schemas.microsoft.com/office/powerpoint/2010/main" val="1618957390"/>
                  </p:ext>
                </p:extLst>
              </p:nvPr>
            </p:nvGraphicFramePr>
            <p:xfrm>
              <a:off x="8897112" y="1600200"/>
              <a:ext cx="1485900" cy="1828800"/>
            </p:xfrm>
            <a:graphic>
              <a:graphicData uri="http://schemas.openxmlformats.org/drawingml/2006/table">
                <a:tbl>
                  <a:tblPr firstRow="1" firstCol="1" bandRow="1">
                    <a:tableStyleId>{A91F0D33-8C57-4600-99A7-42BC86742BE1}</a:tableStyleId>
                  </a:tblPr>
                  <a:tblGrid>
                    <a:gridCol w="742950">
                      <a:extLst>
                        <a:ext uri="{9D8B030D-6E8A-4147-A177-3AD203B41FA5}">
                          <a16:colId xmlns:a16="http://schemas.microsoft.com/office/drawing/2014/main" val="4201820929"/>
                        </a:ext>
                      </a:extLst>
                    </a:gridCol>
                    <a:gridCol w="742950">
                      <a:extLst>
                        <a:ext uri="{9D8B030D-6E8A-4147-A177-3AD203B41FA5}">
                          <a16:colId xmlns:a16="http://schemas.microsoft.com/office/drawing/2014/main" val="3469273568"/>
                        </a:ext>
                      </a:extLst>
                    </a:gridCol>
                  </a:tblGrid>
                  <a:tr h="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𝒙</m:t>
                                </m:r>
                              </m:oMath>
                            </m:oMathPara>
                          </a14:m>
                          <a:endParaRPr lang="en-CO"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𝒚</m:t>
                                </m:r>
                              </m:oMath>
                            </m:oMathPara>
                          </a14:m>
                          <a:endParaRPr lang="en-CO"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42026302"/>
                      </a:ext>
                    </a:extLst>
                  </a:tr>
                  <a:tr h="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−4</m:t>
                                </m:r>
                              </m:oMath>
                            </m:oMathPara>
                          </a14:m>
                          <a:endParaRPr lang="en-CO"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−9</m:t>
                                </m:r>
                              </m:oMath>
                            </m:oMathPara>
                          </a14:m>
                          <a:endParaRPr lang="en-CO"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2951303"/>
                      </a:ext>
                    </a:extLst>
                  </a:tr>
                  <a:tr h="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m:t>
                                </m:r>
                              </m:oMath>
                            </m:oMathPara>
                          </a14:m>
                          <a:endParaRPr lang="en-CO"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−4</m:t>
                                </m:r>
                              </m:oMath>
                            </m:oMathPara>
                          </a14:m>
                          <a:endParaRPr lang="en-CO"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194404"/>
                      </a:ext>
                    </a:extLst>
                  </a:tr>
                  <a:tr h="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0</m:t>
                                </m:r>
                              </m:oMath>
                            </m:oMathPara>
                          </a14:m>
                          <a:endParaRPr lang="en-CO"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m:t>
                                </m:r>
                              </m:oMath>
                            </m:oMathPara>
                          </a14:m>
                          <a:endParaRPr lang="en-CO"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7853631"/>
                      </a:ext>
                    </a:extLst>
                  </a:tr>
                  <a:tr h="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2</m:t>
                                </m:r>
                              </m:oMath>
                            </m:oMathPara>
                          </a14:m>
                          <a:endParaRPr lang="en-CO"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6</m:t>
                                </m:r>
                              </m:oMath>
                            </m:oMathPara>
                          </a14:m>
                          <a:endParaRPr lang="en-CO" sz="14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3552019"/>
                      </a:ext>
                    </a:extLst>
                  </a:tr>
                  <a:tr h="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4</m:t>
                                </m:r>
                              </m:oMath>
                            </m:oMathPara>
                          </a14:m>
                          <a:endParaRPr lang="en-CO" sz="1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11</m:t>
                                </m:r>
                              </m:oMath>
                            </m:oMathPara>
                          </a14:m>
                          <a:endParaRPr lang="en-CO" sz="14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8623392"/>
                      </a:ext>
                    </a:extLst>
                  </a:tr>
                </a:tbl>
              </a:graphicData>
            </a:graphic>
          </p:graphicFrame>
        </mc:Choice>
        <mc:Fallback>
          <p:graphicFrame>
            <p:nvGraphicFramePr>
              <p:cNvPr id="2" name="Table 1">
                <a:extLst>
                  <a:ext uri="{FF2B5EF4-FFF2-40B4-BE49-F238E27FC236}">
                    <a16:creationId xmlns:a16="http://schemas.microsoft.com/office/drawing/2014/main" id="{44080E66-0747-9945-BF33-342B064C045E}"/>
                  </a:ext>
                </a:extLst>
              </p:cNvPr>
              <p:cNvGraphicFramePr>
                <a:graphicFrameLocks noGrp="1"/>
              </p:cNvGraphicFramePr>
              <p:nvPr>
                <p:extLst>
                  <p:ext uri="{D42A27DB-BD31-4B8C-83A1-F6EECF244321}">
                    <p14:modId xmlns:p14="http://schemas.microsoft.com/office/powerpoint/2010/main" val="1618957390"/>
                  </p:ext>
                </p:extLst>
              </p:nvPr>
            </p:nvGraphicFramePr>
            <p:xfrm>
              <a:off x="8897112" y="1600200"/>
              <a:ext cx="1485900" cy="1828800"/>
            </p:xfrm>
            <a:graphic>
              <a:graphicData uri="http://schemas.openxmlformats.org/drawingml/2006/table">
                <a:tbl>
                  <a:tblPr firstRow="1" firstCol="1" bandRow="1">
                    <a:tableStyleId>{A91F0D33-8C57-4600-99A7-42BC86742BE1}</a:tableStyleId>
                  </a:tblPr>
                  <a:tblGrid>
                    <a:gridCol w="742950">
                      <a:extLst>
                        <a:ext uri="{9D8B030D-6E8A-4147-A177-3AD203B41FA5}">
                          <a16:colId xmlns:a16="http://schemas.microsoft.com/office/drawing/2014/main" val="4201820929"/>
                        </a:ext>
                      </a:extLst>
                    </a:gridCol>
                    <a:gridCol w="742950">
                      <a:extLst>
                        <a:ext uri="{9D8B030D-6E8A-4147-A177-3AD203B41FA5}">
                          <a16:colId xmlns:a16="http://schemas.microsoft.com/office/drawing/2014/main" val="3469273568"/>
                        </a:ext>
                      </a:extLst>
                    </a:gridCol>
                  </a:tblGrid>
                  <a:tr h="3048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13" t="-2000" r="-100813" b="-510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1639" t="-2000" r="-1639" b="-510000"/>
                          </a:stretch>
                        </a:blipFill>
                      </a:tcPr>
                    </a:tc>
                    <a:extLst>
                      <a:ext uri="{0D108BD9-81ED-4DB2-BD59-A6C34878D82A}">
                        <a16:rowId xmlns:a16="http://schemas.microsoft.com/office/drawing/2014/main" val="242026302"/>
                      </a:ext>
                    </a:extLst>
                  </a:tr>
                  <a:tr h="3048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13" t="-102000" r="-100813" b="-410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1639" t="-102000" r="-1639" b="-410000"/>
                          </a:stretch>
                        </a:blipFill>
                      </a:tcPr>
                    </a:tc>
                    <a:extLst>
                      <a:ext uri="{0D108BD9-81ED-4DB2-BD59-A6C34878D82A}">
                        <a16:rowId xmlns:a16="http://schemas.microsoft.com/office/drawing/2014/main" val="3402951303"/>
                      </a:ext>
                    </a:extLst>
                  </a:tr>
                  <a:tr h="3048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13" t="-198039" r="-100813" b="-30196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1639" t="-198039" r="-1639" b="-301961"/>
                          </a:stretch>
                        </a:blipFill>
                      </a:tcPr>
                    </a:tc>
                    <a:extLst>
                      <a:ext uri="{0D108BD9-81ED-4DB2-BD59-A6C34878D82A}">
                        <a16:rowId xmlns:a16="http://schemas.microsoft.com/office/drawing/2014/main" val="395194404"/>
                      </a:ext>
                    </a:extLst>
                  </a:tr>
                  <a:tr h="3048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13" t="-304000" r="-100813" b="-208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1639" t="-304000" r="-1639" b="-208000"/>
                          </a:stretch>
                        </a:blipFill>
                      </a:tcPr>
                    </a:tc>
                    <a:extLst>
                      <a:ext uri="{0D108BD9-81ED-4DB2-BD59-A6C34878D82A}">
                        <a16:rowId xmlns:a16="http://schemas.microsoft.com/office/drawing/2014/main" val="1477853631"/>
                      </a:ext>
                    </a:extLst>
                  </a:tr>
                  <a:tr h="3048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13" t="-404000" r="-100813" b="-108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1639" t="-404000" r="-1639" b="-108000"/>
                          </a:stretch>
                        </a:blipFill>
                      </a:tcPr>
                    </a:tc>
                    <a:extLst>
                      <a:ext uri="{0D108BD9-81ED-4DB2-BD59-A6C34878D82A}">
                        <a16:rowId xmlns:a16="http://schemas.microsoft.com/office/drawing/2014/main" val="1013552019"/>
                      </a:ext>
                    </a:extLst>
                  </a:tr>
                  <a:tr h="3048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813" t="-504000" r="-100813" b="-8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1639" t="-504000" r="-1639" b="-8000"/>
                          </a:stretch>
                        </a:blipFill>
                      </a:tcPr>
                    </a:tc>
                    <a:extLst>
                      <a:ext uri="{0D108BD9-81ED-4DB2-BD59-A6C34878D82A}">
                        <a16:rowId xmlns:a16="http://schemas.microsoft.com/office/drawing/2014/main" val="3708623392"/>
                      </a:ext>
                    </a:extLst>
                  </a:tr>
                </a:tbl>
              </a:graphicData>
            </a:graphic>
          </p:graphicFrame>
        </mc:Fallback>
      </mc:AlternateContent>
      <p:sp>
        <p:nvSpPr>
          <p:cNvPr id="10" name="TextBox 9">
            <a:extLst>
              <a:ext uri="{FF2B5EF4-FFF2-40B4-BE49-F238E27FC236}">
                <a16:creationId xmlns:a16="http://schemas.microsoft.com/office/drawing/2014/main" id="{B9E5687D-2757-D34E-B90C-5607E56B8630}"/>
              </a:ext>
            </a:extLst>
          </p:cNvPr>
          <p:cNvSpPr txBox="1"/>
          <p:nvPr/>
        </p:nvSpPr>
        <p:spPr>
          <a:xfrm>
            <a:off x="1086604" y="3792355"/>
            <a:ext cx="9428996" cy="707886"/>
          </a:xfrm>
          <a:prstGeom prst="rect">
            <a:avLst/>
          </a:prstGeom>
          <a:noFill/>
        </p:spPr>
        <p:txBody>
          <a:bodyPr wrap="square" rtlCol="0">
            <a:spAutoFit/>
          </a:bodyPr>
          <a:lstStyle/>
          <a:p>
            <a:pPr indent="12700"/>
            <a:r>
              <a:rPr lang="en-US" sz="2000" dirty="0">
                <a:latin typeface="Verdana" panose="020B0604030504040204" pitchFamily="34" charset="0"/>
                <a:ea typeface="Verdana" panose="020B0604030504040204" pitchFamily="34" charset="0"/>
                <a:cs typeface="Verdana" panose="020B0604030504040204" pitchFamily="34" charset="0"/>
              </a:rPr>
              <a:t>Notice that the 𝑥-values in the table are increasing by the same amount in each row.</a:t>
            </a:r>
          </a:p>
        </p:txBody>
      </p:sp>
    </p:spTree>
    <p:extLst>
      <p:ext uri="{BB962C8B-B14F-4D97-AF65-F5344CB8AC3E}">
        <p14:creationId xmlns:p14="http://schemas.microsoft.com/office/powerpoint/2010/main" val="24783049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F4E77714-D386-274E-91D8-CCDC2ECC4A5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285</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F273A2A6-9DA9-8B48-AD63-98A2F0C5B480}"/>
              </a:ext>
            </a:extLst>
          </p:cNvPr>
          <p:cNvSpPr txBox="1"/>
          <p:nvPr/>
        </p:nvSpPr>
        <p:spPr>
          <a:xfrm>
            <a:off x="659611" y="434931"/>
            <a:ext cx="11215866" cy="2246769"/>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How are the 𝑦-values in the table changing as the 𝑥-values increase by 2? </a:t>
            </a:r>
          </a:p>
          <a:p>
            <a:pPr indent="454025"/>
            <a:r>
              <a:rPr lang="en-US" sz="2000" dirty="0">
                <a:latin typeface="Verdana" panose="020B0604030504040204" pitchFamily="34" charset="0"/>
                <a:ea typeface="Verdana" panose="020B0604030504040204" pitchFamily="34" charset="0"/>
                <a:cs typeface="Verdana" panose="020B0604030504040204" pitchFamily="34" charset="0"/>
              </a:rPr>
              <a:t> </a:t>
            </a:r>
          </a:p>
          <a:p>
            <a:pPr indent="454025"/>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With your partner, decide who will be Partner A and who will be Partner B. Then, find the slope of the linear relationship using the ordered pairs indicated below.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085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Show your work in the space provided.</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6A0DB306-A1D4-5F48-95E0-8DC90777A8B7}"/>
                  </a:ext>
                </a:extLst>
              </p:cNvPr>
              <p:cNvGraphicFramePr>
                <a:graphicFrameLocks noGrp="1"/>
              </p:cNvGraphicFramePr>
              <p:nvPr>
                <p:extLst>
                  <p:ext uri="{D42A27DB-BD31-4B8C-83A1-F6EECF244321}">
                    <p14:modId xmlns:p14="http://schemas.microsoft.com/office/powerpoint/2010/main" val="1636581437"/>
                  </p:ext>
                </p:extLst>
              </p:nvPr>
            </p:nvGraphicFramePr>
            <p:xfrm>
              <a:off x="3361734" y="3180836"/>
              <a:ext cx="5468532" cy="2777703"/>
            </p:xfrm>
            <a:graphic>
              <a:graphicData uri="http://schemas.openxmlformats.org/drawingml/2006/table">
                <a:tbl>
                  <a:tblPr firstRow="1" firstCol="1" bandRow="1">
                    <a:tableStyleId>{A91F0D33-8C57-4600-99A7-42BC86742BE1}</a:tableStyleId>
                  </a:tblPr>
                  <a:tblGrid>
                    <a:gridCol w="2747031">
                      <a:extLst>
                        <a:ext uri="{9D8B030D-6E8A-4147-A177-3AD203B41FA5}">
                          <a16:colId xmlns:a16="http://schemas.microsoft.com/office/drawing/2014/main" val="1272544808"/>
                        </a:ext>
                      </a:extLst>
                    </a:gridCol>
                    <a:gridCol w="2721501">
                      <a:extLst>
                        <a:ext uri="{9D8B030D-6E8A-4147-A177-3AD203B41FA5}">
                          <a16:colId xmlns:a16="http://schemas.microsoft.com/office/drawing/2014/main" val="1900718773"/>
                        </a:ext>
                      </a:extLst>
                    </a:gridCol>
                  </a:tblGrid>
                  <a:tr h="220579">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Partner A</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55145" marR="5514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Partner B</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55145" marR="5514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851125821"/>
                      </a:ext>
                    </a:extLst>
                  </a:tr>
                  <a:tr h="2472903">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Find the slope using the ordered pairs </a:t>
                          </a:r>
                          <a14:m>
                            <m:oMath xmlns:m="http://schemas.openxmlformats.org/officeDocument/2006/math">
                              <m:r>
                                <a:rPr lang="en-US" sz="2000">
                                  <a:effectLst/>
                                  <a:latin typeface="Cambria Math" panose="02040503050406030204" pitchFamily="18" charset="0"/>
                                </a:rPr>
                                <m:t>(−2, −4)</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a:effectLst/>
                                  <a:latin typeface="Cambria Math" panose="02040503050406030204" pitchFamily="18" charset="0"/>
                                </a:rPr>
                                <m:t>(0, 1)</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from the table.</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55145" marR="5514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Find the slope using the ordered pairs </a:t>
                          </a:r>
                          <a14:m>
                            <m:oMath xmlns:m="http://schemas.openxmlformats.org/officeDocument/2006/math">
                              <m:r>
                                <a:rPr lang="en-US" sz="2000">
                                  <a:effectLst/>
                                  <a:latin typeface="Cambria Math" panose="02040503050406030204" pitchFamily="18" charset="0"/>
                                </a:rPr>
                                <m:t>(4, 11)</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a:effectLst/>
                                  <a:latin typeface="Cambria Math" panose="02040503050406030204" pitchFamily="18" charset="0"/>
                                </a:rPr>
                                <m:t>(2, 6)</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from the table.</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55145" marR="5514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6434411"/>
                      </a:ext>
                    </a:extLst>
                  </a:tr>
                </a:tbl>
              </a:graphicData>
            </a:graphic>
          </p:graphicFrame>
        </mc:Choice>
        <mc:Fallback xmlns="">
          <p:graphicFrame>
            <p:nvGraphicFramePr>
              <p:cNvPr id="3" name="Table 2">
                <a:extLst>
                  <a:ext uri="{FF2B5EF4-FFF2-40B4-BE49-F238E27FC236}">
                    <a16:creationId xmlns:a16="http://schemas.microsoft.com/office/drawing/2014/main" id="{6A0DB306-A1D4-5F48-95E0-8DC90777A8B7}"/>
                  </a:ext>
                </a:extLst>
              </p:cNvPr>
              <p:cNvGraphicFramePr>
                <a:graphicFrameLocks noGrp="1"/>
              </p:cNvGraphicFramePr>
              <p:nvPr>
                <p:extLst>
                  <p:ext uri="{D42A27DB-BD31-4B8C-83A1-F6EECF244321}">
                    <p14:modId xmlns:p14="http://schemas.microsoft.com/office/powerpoint/2010/main" val="1636581437"/>
                  </p:ext>
                </p:extLst>
              </p:nvPr>
            </p:nvGraphicFramePr>
            <p:xfrm>
              <a:off x="3361734" y="3180836"/>
              <a:ext cx="5468532" cy="2777703"/>
            </p:xfrm>
            <a:graphic>
              <a:graphicData uri="http://schemas.openxmlformats.org/drawingml/2006/table">
                <a:tbl>
                  <a:tblPr firstRow="1" firstCol="1" bandRow="1">
                    <a:tableStyleId>{A91F0D33-8C57-4600-99A7-42BC86742BE1}</a:tableStyleId>
                  </a:tblPr>
                  <a:tblGrid>
                    <a:gridCol w="2747031">
                      <a:extLst>
                        <a:ext uri="{9D8B030D-6E8A-4147-A177-3AD203B41FA5}">
                          <a16:colId xmlns:a16="http://schemas.microsoft.com/office/drawing/2014/main" val="1272544808"/>
                        </a:ext>
                      </a:extLst>
                    </a:gridCol>
                    <a:gridCol w="2721501">
                      <a:extLst>
                        <a:ext uri="{9D8B030D-6E8A-4147-A177-3AD203B41FA5}">
                          <a16:colId xmlns:a16="http://schemas.microsoft.com/office/drawing/2014/main" val="1900718773"/>
                        </a:ext>
                      </a:extLst>
                    </a:gridCol>
                  </a:tblGrid>
                  <a:tr h="3048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Partner A</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55145" marR="5514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Partner B</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55145" marR="5514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851125821"/>
                      </a:ext>
                    </a:extLst>
                  </a:tr>
                  <a:tr h="2472903">
                    <a:tc>
                      <a:txBody>
                        <a:bodyPr/>
                        <a:lstStyle/>
                        <a:p>
                          <a:endParaRPr lang="en-US"/>
                        </a:p>
                      </a:txBody>
                      <a:tcPr marL="55145" marR="5514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15306" r="-99539" b="-510"/>
                          </a:stretch>
                        </a:blipFill>
                      </a:tcPr>
                    </a:tc>
                    <a:tc>
                      <a:txBody>
                        <a:bodyPr/>
                        <a:lstStyle/>
                        <a:p>
                          <a:endParaRPr lang="en-US"/>
                        </a:p>
                      </a:txBody>
                      <a:tcPr marL="55145" marR="5514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930" t="-15306" r="-465" b="-510"/>
                          </a:stretch>
                        </a:blipFill>
                      </a:tcPr>
                    </a:tc>
                    <a:extLst>
                      <a:ext uri="{0D108BD9-81ED-4DB2-BD59-A6C34878D82A}">
                        <a16:rowId xmlns:a16="http://schemas.microsoft.com/office/drawing/2014/main" val="2486434411"/>
                      </a:ext>
                    </a:extLst>
                  </a:tr>
                </a:tbl>
              </a:graphicData>
            </a:graphic>
          </p:graphicFrame>
        </mc:Fallback>
      </mc:AlternateContent>
    </p:spTree>
    <p:extLst>
      <p:ext uri="{BB962C8B-B14F-4D97-AF65-F5344CB8AC3E}">
        <p14:creationId xmlns:p14="http://schemas.microsoft.com/office/powerpoint/2010/main" val="11047459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F4E77714-D386-274E-91D8-CCDC2ECC4A5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285</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F273A2A6-9DA9-8B48-AD63-98A2F0C5B480}"/>
              </a:ext>
            </a:extLst>
          </p:cNvPr>
          <p:cNvSpPr txBox="1"/>
          <p:nvPr/>
        </p:nvSpPr>
        <p:spPr>
          <a:xfrm>
            <a:off x="707074" y="392490"/>
            <a:ext cx="8327136" cy="461665"/>
          </a:xfrm>
          <a:prstGeom prst="rect">
            <a:avLst/>
          </a:prstGeom>
          <a:noFill/>
        </p:spPr>
        <p:txBody>
          <a:bodyPr wrap="square" rtlCol="0">
            <a:spAutoFit/>
          </a:bodyPr>
          <a:lstStyle/>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Check your work with your partner.</a:t>
            </a:r>
          </a:p>
        </p:txBody>
      </p:sp>
    </p:spTree>
    <p:extLst>
      <p:ext uri="{BB962C8B-B14F-4D97-AF65-F5344CB8AC3E}">
        <p14:creationId xmlns:p14="http://schemas.microsoft.com/office/powerpoint/2010/main" val="27383513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F4E77714-D386-274E-91D8-CCDC2ECC4A5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286</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F273A2A6-9DA9-8B48-AD63-98A2F0C5B480}"/>
              </a:ext>
            </a:extLst>
          </p:cNvPr>
          <p:cNvSpPr txBox="1"/>
          <p:nvPr/>
        </p:nvSpPr>
        <p:spPr>
          <a:xfrm>
            <a:off x="742243" y="388142"/>
            <a:ext cx="11004279" cy="1200329"/>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The slope of any line can be determined from a table of values using any two ordered pairs in the linear relationship because the </a:t>
            </a:r>
            <a:r>
              <a:rPr lang="en-US" sz="2400" b="1" i="1" dirty="0">
                <a:latin typeface="Verdana" panose="020B0604030504040204" pitchFamily="34" charset="0"/>
                <a:ea typeface="Verdana" panose="020B0604030504040204" pitchFamily="34" charset="0"/>
                <a:cs typeface="Verdana" panose="020B0604030504040204" pitchFamily="34" charset="0"/>
              </a:rPr>
              <a:t>rate of change</a:t>
            </a:r>
            <a:r>
              <a:rPr lang="en-US" sz="2400" dirty="0">
                <a:latin typeface="Verdana" panose="020B0604030504040204" pitchFamily="34" charset="0"/>
                <a:ea typeface="Verdana" panose="020B0604030504040204" pitchFamily="34" charset="0"/>
                <a:cs typeface="Verdana" panose="020B0604030504040204" pitchFamily="34" charset="0"/>
              </a:rPr>
              <a:t> in a linear relationship is constant.</a:t>
            </a:r>
          </a:p>
        </p:txBody>
      </p:sp>
      <p:grpSp>
        <p:nvGrpSpPr>
          <p:cNvPr id="7" name="Group 6">
            <a:extLst>
              <a:ext uri="{FF2B5EF4-FFF2-40B4-BE49-F238E27FC236}">
                <a16:creationId xmlns:a16="http://schemas.microsoft.com/office/drawing/2014/main" id="{ABEEB2B9-B604-964D-9198-D9DA162569E9}"/>
              </a:ext>
            </a:extLst>
          </p:cNvPr>
          <p:cNvGrpSpPr/>
          <p:nvPr/>
        </p:nvGrpSpPr>
        <p:grpSpPr>
          <a:xfrm>
            <a:off x="2781300" y="2003292"/>
            <a:ext cx="6629400" cy="1827201"/>
            <a:chOff x="0" y="-144518"/>
            <a:chExt cx="6629400" cy="1827461"/>
          </a:xfrm>
        </p:grpSpPr>
        <p:sp>
          <p:nvSpPr>
            <p:cNvPr id="8" name="Text Box 37">
              <a:extLst>
                <a:ext uri="{FF2B5EF4-FFF2-40B4-BE49-F238E27FC236}">
                  <a16:creationId xmlns:a16="http://schemas.microsoft.com/office/drawing/2014/main" id="{B58F202E-219C-1443-AFFA-7BF89C245D5A}"/>
                </a:ext>
              </a:extLst>
            </p:cNvPr>
            <p:cNvSpPr txBox="1"/>
            <p:nvPr/>
          </p:nvSpPr>
          <p:spPr>
            <a:xfrm>
              <a:off x="0" y="-144518"/>
              <a:ext cx="6629400" cy="1827461"/>
            </a:xfrm>
            <a:prstGeom prst="roundRect">
              <a:avLst/>
            </a:prstGeom>
            <a:solidFill>
              <a:srgbClr val="E2EED5"/>
            </a:solidFill>
            <a:ln>
              <a:noFill/>
            </a:ln>
            <a:effectLst>
              <a:outerShdw blurRad="50800" dist="381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685800"/>
              <a:r>
                <a:rPr lang="en-US" sz="2400" dirty="0">
                  <a:solidFill>
                    <a:srgbClr val="6C993D"/>
                  </a:solidFill>
                  <a:latin typeface="Verdana" panose="020B0604030504040204" pitchFamily="34" charset="0"/>
                  <a:ea typeface="Times New Roman" panose="02020603050405020304" pitchFamily="18" charset="0"/>
                </a:rPr>
                <a:t>The </a:t>
              </a:r>
              <a:r>
                <a:rPr lang="en-US" sz="2400" b="1" i="1" dirty="0">
                  <a:solidFill>
                    <a:srgbClr val="6C993D"/>
                  </a:solidFill>
                  <a:latin typeface="Verdana" panose="020B0604030504040204" pitchFamily="34" charset="0"/>
                  <a:ea typeface="Times New Roman" panose="02020603050405020304" pitchFamily="18" charset="0"/>
                </a:rPr>
                <a:t>rate of change</a:t>
              </a:r>
              <a:r>
                <a:rPr lang="en-US" sz="2400" dirty="0">
                  <a:solidFill>
                    <a:srgbClr val="6C993D"/>
                  </a:solidFill>
                  <a:latin typeface="Verdana" panose="020B0604030504040204" pitchFamily="34" charset="0"/>
                  <a:ea typeface="Times New Roman" panose="02020603050405020304" pitchFamily="18" charset="0"/>
                </a:rPr>
                <a:t> is the ratio of change in one quantity to the corresponding change in another quantity.</a:t>
              </a:r>
              <a:endParaRPr lang="en-CO" sz="2400" dirty="0">
                <a:latin typeface="Times New Roman" panose="02020603050405020304" pitchFamily="18" charset="0"/>
                <a:ea typeface="Times New Roman" panose="02020603050405020304" pitchFamily="18" charset="0"/>
              </a:endParaRPr>
            </a:p>
            <a:p>
              <a:pPr marL="685800"/>
              <a:r>
                <a:rPr lang="en-US" sz="1200" b="1" dirty="0">
                  <a:solidFill>
                    <a:srgbClr val="6C993D"/>
                  </a:solidFill>
                  <a:latin typeface="Times New Roman" panose="02020603050405020304" pitchFamily="18" charset="0"/>
                  <a:ea typeface="Times New Roman" panose="02020603050405020304" pitchFamily="18" charset="0"/>
                </a:rPr>
                <a:t> </a:t>
              </a:r>
              <a:endParaRPr lang="en-CO" sz="1200" dirty="0">
                <a:latin typeface="Times New Roman" panose="02020603050405020304" pitchFamily="18" charset="0"/>
                <a:ea typeface="Times New Roman" panose="02020603050405020304" pitchFamily="18" charset="0"/>
              </a:endParaRPr>
            </a:p>
          </p:txBody>
        </p:sp>
        <p:pic>
          <p:nvPicPr>
            <p:cNvPr id="9" name="Picture 8" descr="Icon&#10;&#10;Description automatically generated">
              <a:extLst>
                <a:ext uri="{FF2B5EF4-FFF2-40B4-BE49-F238E27FC236}">
                  <a16:creationId xmlns:a16="http://schemas.microsoft.com/office/drawing/2014/main" id="{8AD6A84F-33DD-C14C-8377-AD90CC60768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57762" y="-5883"/>
              <a:ext cx="622286" cy="622286"/>
            </a:xfrm>
            <a:prstGeom prst="rect">
              <a:avLst/>
            </a:prstGeom>
            <a:effectLst>
              <a:outerShdw blurRad="50800" dist="38100" dir="2700000" algn="tl" rotWithShape="0">
                <a:prstClr val="black">
                  <a:alpha val="40000"/>
                </a:prstClr>
              </a:outerShdw>
            </a:effectLst>
          </p:spPr>
        </p:pic>
      </p:gr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2EC14E2-9467-4F4A-8147-2EB01F9B341D}"/>
                  </a:ext>
                </a:extLst>
              </p:cNvPr>
              <p:cNvSpPr txBox="1"/>
              <p:nvPr/>
            </p:nvSpPr>
            <p:spPr>
              <a:xfrm>
                <a:off x="742242" y="4245314"/>
                <a:ext cx="10910495" cy="1200329"/>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A rate, such as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45</m:t>
                    </m:r>
                  </m:oMath>
                </a14:m>
                <a:r>
                  <a:rPr lang="en-US" sz="2400" dirty="0">
                    <a:latin typeface="Verdana" panose="020B0604030504040204" pitchFamily="34" charset="0"/>
                    <a:ea typeface="Verdana" panose="020B0604030504040204" pitchFamily="34" charset="0"/>
                    <a:cs typeface="Verdana" panose="020B0604030504040204" pitchFamily="34" charset="0"/>
                  </a:rPr>
                  <a:t> miles per hour, gives the speed of an object. The rate of change of a line tells us how fast or how slow a line is increasing or decreasing. </a:t>
                </a:r>
              </a:p>
            </p:txBody>
          </p:sp>
        </mc:Choice>
        <mc:Fallback xmlns="">
          <p:sp>
            <p:nvSpPr>
              <p:cNvPr id="10" name="TextBox 9">
                <a:extLst>
                  <a:ext uri="{FF2B5EF4-FFF2-40B4-BE49-F238E27FC236}">
                    <a16:creationId xmlns:a16="http://schemas.microsoft.com/office/drawing/2014/main" id="{D2EC14E2-9467-4F4A-8147-2EB01F9B341D}"/>
                  </a:ext>
                </a:extLst>
              </p:cNvPr>
              <p:cNvSpPr txBox="1">
                <a:spLocks noRot="1" noChangeAspect="1" noMove="1" noResize="1" noEditPoints="1" noAdjustHandles="1" noChangeArrowheads="1" noChangeShapeType="1" noTextEdit="1"/>
              </p:cNvSpPr>
              <p:nvPr/>
            </p:nvSpPr>
            <p:spPr>
              <a:xfrm>
                <a:off x="742242" y="4245314"/>
                <a:ext cx="10910495" cy="1200329"/>
              </a:xfrm>
              <a:prstGeom prst="rect">
                <a:avLst/>
              </a:prstGeom>
              <a:blipFill>
                <a:blip r:embed="rId5"/>
                <a:stretch>
                  <a:fillRect l="-930" t="-4211" b="-10526"/>
                </a:stretch>
              </a:blipFill>
            </p:spPr>
            <p:txBody>
              <a:bodyPr/>
              <a:lstStyle/>
              <a:p>
                <a:r>
                  <a:rPr lang="en-US">
                    <a:noFill/>
                  </a:rPr>
                  <a:t> </a:t>
                </a:r>
              </a:p>
            </p:txBody>
          </p:sp>
        </mc:Fallback>
      </mc:AlternateContent>
    </p:spTree>
    <p:extLst>
      <p:ext uri="{BB962C8B-B14F-4D97-AF65-F5344CB8AC3E}">
        <p14:creationId xmlns:p14="http://schemas.microsoft.com/office/powerpoint/2010/main" val="16403993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F4E77714-D386-274E-91D8-CCDC2ECC4A5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286</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F273A2A6-9DA9-8B48-AD63-98A2F0C5B480}"/>
              </a:ext>
            </a:extLst>
          </p:cNvPr>
          <p:cNvSpPr txBox="1"/>
          <p:nvPr/>
        </p:nvSpPr>
        <p:spPr>
          <a:xfrm>
            <a:off x="777413" y="392489"/>
            <a:ext cx="10511909" cy="1938992"/>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Rates can be constant. For example, the speed of a horse on a carousel is constant while the ride is in motion, but the speed of someone riding on a merry-go-round is not constant because it can change depending on how fast or slow the merry-go-round is being pushed.</a:t>
            </a:r>
          </a:p>
        </p:txBody>
      </p:sp>
      <p:pic>
        <p:nvPicPr>
          <p:cNvPr id="6145" name="Picture 10">
            <a:extLst>
              <a:ext uri="{FF2B5EF4-FFF2-40B4-BE49-F238E27FC236}">
                <a16:creationId xmlns:a16="http://schemas.microsoft.com/office/drawing/2014/main" id="{83D967E0-B45D-0B40-B34A-7E3D5BFA2633}"/>
              </a:ext>
            </a:extLst>
          </p:cNvPr>
          <p:cNvPicPr>
            <a:picLocks noChangeAspect="1" noChangeArrowheads="1"/>
          </p:cNvPicPr>
          <p:nvPr/>
        </p:nvPicPr>
        <p:blipFill>
          <a:blip r:embed="rId4" r:link="rId5">
            <a:extLst>
              <a:ext uri="{28A0092B-C50C-407E-A947-70E740481C1C}">
                <a14:useLocalDpi xmlns:a14="http://schemas.microsoft.com/office/drawing/2010/main"/>
              </a:ext>
            </a:extLst>
          </a:blip>
          <a:srcRect l="4102" r="-2"/>
          <a:stretch>
            <a:fillRect/>
          </a:stretch>
        </p:blipFill>
        <p:spPr bwMode="auto">
          <a:xfrm>
            <a:off x="2598899" y="3180732"/>
            <a:ext cx="3213100" cy="25146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F4A4BD3C-815F-D649-8D5B-496FE0DD492B}"/>
              </a:ext>
            </a:extLst>
          </p:cNvPr>
          <p:cNvPicPr>
            <a:picLocks noChangeAspect="1"/>
          </p:cNvPicPr>
          <p:nvPr/>
        </p:nvPicPr>
        <p:blipFill rotWithShape="1">
          <a:blip r:embed="rId6">
            <a:extLst>
              <a:ext uri="{28A0092B-C50C-407E-A947-70E740481C1C}">
                <a14:useLocalDpi xmlns:a14="http://schemas.microsoft.com/office/drawing/2010/main"/>
              </a:ext>
            </a:extLst>
          </a:blip>
          <a:srcRect l="24188" t="23444" r="22965" b="20316"/>
          <a:stretch/>
        </p:blipFill>
        <p:spPr bwMode="auto">
          <a:xfrm>
            <a:off x="6380002" y="3180732"/>
            <a:ext cx="3153410" cy="251650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9593316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F4E77714-D386-274E-91D8-CCDC2ECC4A5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286</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F273A2A6-9DA9-8B48-AD63-98A2F0C5B480}"/>
              </a:ext>
            </a:extLst>
          </p:cNvPr>
          <p:cNvSpPr txBox="1"/>
          <p:nvPr/>
        </p:nvSpPr>
        <p:spPr>
          <a:xfrm>
            <a:off x="995607" y="342929"/>
            <a:ext cx="10399223" cy="5525359"/>
          </a:xfrm>
          <a:prstGeom prst="rect">
            <a:avLst/>
          </a:prstGeom>
          <a:noFill/>
        </p:spPr>
        <p:txBody>
          <a:bodyPr wrap="square" rtlCol="0">
            <a:spAutoFit/>
          </a:bodyPr>
          <a:lstStyle/>
          <a:p>
            <a:pPr marL="457200" indent="-457200">
              <a:buFont typeface="+mj-lt"/>
              <a:buAutoNum type="arabicPeriod" startAt="4"/>
            </a:pPr>
            <a:r>
              <a:rPr lang="en-US" sz="2200" dirty="0">
                <a:latin typeface="Verdana" panose="020B0604030504040204" pitchFamily="34" charset="0"/>
                <a:ea typeface="Verdana" panose="020B0604030504040204" pitchFamily="34" charset="0"/>
                <a:cs typeface="Verdana" panose="020B0604030504040204" pitchFamily="34" charset="0"/>
              </a:rPr>
              <a:t>Complete the summary to describe the relationships between the quantities observed for the linear relationship represented by the table of values. </a:t>
            </a:r>
          </a:p>
          <a:p>
            <a:pPr marL="457200" indent="-457200">
              <a:buFont typeface="+mj-lt"/>
              <a:buAutoNum type="arabi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63550">
              <a:lnSpc>
                <a:spcPct val="250000"/>
              </a:lnSpc>
            </a:pPr>
            <a:r>
              <a:rPr lang="en-US" sz="2200" dirty="0">
                <a:latin typeface="Verdana" panose="020B0604030504040204" pitchFamily="34" charset="0"/>
                <a:ea typeface="Verdana" panose="020B0604030504040204" pitchFamily="34" charset="0"/>
                <a:cs typeface="Verdana" panose="020B0604030504040204" pitchFamily="34" charset="0"/>
              </a:rPr>
              <a:t>The 𝑦-values in the table                        each time the 𝑥-values    				Slope is the 			over the                        or        in this case. The slope, or rate of change, is constant for linear relationships, so the slope is 				     which two ordered pairs on the line are used to calculate it.</a:t>
            </a:r>
          </a:p>
        </p:txBody>
      </p:sp>
      <p:grpSp>
        <p:nvGrpSpPr>
          <p:cNvPr id="2" name="Group 1">
            <a:extLst>
              <a:ext uri="{FF2B5EF4-FFF2-40B4-BE49-F238E27FC236}">
                <a16:creationId xmlns:a16="http://schemas.microsoft.com/office/drawing/2014/main" id="{707CE693-1430-5B43-940E-281EC9E23650}"/>
              </a:ext>
            </a:extLst>
          </p:cNvPr>
          <p:cNvGrpSpPr/>
          <p:nvPr/>
        </p:nvGrpSpPr>
        <p:grpSpPr>
          <a:xfrm>
            <a:off x="1494226" y="1871657"/>
            <a:ext cx="9341510" cy="3295355"/>
            <a:chOff x="1601315" y="545788"/>
            <a:chExt cx="9341510" cy="3295355"/>
          </a:xfrm>
        </p:grpSpPr>
        <p:pic>
          <p:nvPicPr>
            <p:cNvPr id="3" name="Picture 2" descr="Text&#10;&#10;Description automatically generated with low confidence">
              <a:extLst>
                <a:ext uri="{FF2B5EF4-FFF2-40B4-BE49-F238E27FC236}">
                  <a16:creationId xmlns:a16="http://schemas.microsoft.com/office/drawing/2014/main" id="{086AB358-FE80-9E47-B8E8-08E4E29BE03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293959" y="545788"/>
              <a:ext cx="2043953" cy="747689"/>
            </a:xfrm>
            <a:prstGeom prst="rect">
              <a:avLst/>
            </a:prstGeom>
          </p:spPr>
        </p:pic>
        <p:pic>
          <p:nvPicPr>
            <p:cNvPr id="5" name="Picture 4" descr="Text&#10;&#10;Description automatically generated with low confidence">
              <a:extLst>
                <a:ext uri="{FF2B5EF4-FFF2-40B4-BE49-F238E27FC236}">
                  <a16:creationId xmlns:a16="http://schemas.microsoft.com/office/drawing/2014/main" id="{E76E3C54-127E-1442-A3C7-AA2EB0ED36A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601315" y="1386770"/>
              <a:ext cx="2138551" cy="747689"/>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6EF5FBD7-3252-464B-8C3E-9603B7A1B6BF}"/>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693607" y="1401382"/>
              <a:ext cx="1828061" cy="756714"/>
            </a:xfrm>
            <a:prstGeom prst="rect">
              <a:avLst/>
            </a:prstGeom>
          </p:spPr>
        </p:pic>
        <p:pic>
          <p:nvPicPr>
            <p:cNvPr id="10" name="Picture 9" descr="A picture containing shape&#10;&#10;Description automatically generated">
              <a:extLst>
                <a:ext uri="{FF2B5EF4-FFF2-40B4-BE49-F238E27FC236}">
                  <a16:creationId xmlns:a16="http://schemas.microsoft.com/office/drawing/2014/main" id="{FF789B18-D12B-DF46-BE29-60F2A4673ED1}"/>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8898872" y="1398029"/>
              <a:ext cx="2043953" cy="756715"/>
            </a:xfrm>
            <a:prstGeom prst="rect">
              <a:avLst/>
            </a:prstGeom>
          </p:spPr>
        </p:pic>
        <p:pic>
          <p:nvPicPr>
            <p:cNvPr id="14" name="Picture 13" descr="Shape, rectangle&#10;&#10;Description automatically generated">
              <a:extLst>
                <a:ext uri="{FF2B5EF4-FFF2-40B4-BE49-F238E27FC236}">
                  <a16:creationId xmlns:a16="http://schemas.microsoft.com/office/drawing/2014/main" id="{5A76ACD3-CCBA-0941-8405-AE58F5BC5FAC}"/>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091013" y="2262380"/>
              <a:ext cx="493545" cy="821448"/>
            </a:xfrm>
            <a:prstGeom prst="rect">
              <a:avLst/>
            </a:prstGeom>
          </p:spPr>
        </p:pic>
        <p:pic>
          <p:nvPicPr>
            <p:cNvPr id="16" name="Picture 15" descr="A picture containing text&#10;&#10;Description automatically generated">
              <a:extLst>
                <a:ext uri="{FF2B5EF4-FFF2-40B4-BE49-F238E27FC236}">
                  <a16:creationId xmlns:a16="http://schemas.microsoft.com/office/drawing/2014/main" id="{EE74BF20-0F61-464B-B202-F3FC2A331C21}"/>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6633372" y="3083828"/>
              <a:ext cx="3221659" cy="757315"/>
            </a:xfrm>
            <a:prstGeom prst="rect">
              <a:avLst/>
            </a:prstGeom>
          </p:spPr>
        </p:pic>
      </p:grpSp>
    </p:spTree>
    <p:extLst>
      <p:ext uri="{BB962C8B-B14F-4D97-AF65-F5344CB8AC3E}">
        <p14:creationId xmlns:p14="http://schemas.microsoft.com/office/powerpoint/2010/main" val="16861883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F4E77714-D386-274E-91D8-CCDC2ECC4A5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286</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F273A2A6-9DA9-8B48-AD63-98A2F0C5B480}"/>
              </a:ext>
            </a:extLst>
          </p:cNvPr>
          <p:cNvSpPr txBox="1"/>
          <p:nvPr/>
        </p:nvSpPr>
        <p:spPr>
          <a:xfrm>
            <a:off x="613290" y="454509"/>
            <a:ext cx="11051172" cy="1107996"/>
          </a:xfrm>
          <a:prstGeom prst="rect">
            <a:avLst/>
          </a:prstGeom>
          <a:noFill/>
        </p:spPr>
        <p:txBody>
          <a:bodyPr wrap="square" rtlCol="0">
            <a:spAutoFit/>
          </a:bodyPr>
          <a:lstStyle/>
          <a:p>
            <a:pPr lvl="0"/>
            <a:r>
              <a:rPr lang="en-US" sz="2200" dirty="0">
                <a:latin typeface="Verdana" panose="020B0604030504040204" pitchFamily="34" charset="0"/>
                <a:ea typeface="Verdana" panose="020B0604030504040204" pitchFamily="34" charset="0"/>
                <a:cs typeface="Verdana" panose="020B0604030504040204" pitchFamily="34" charset="0"/>
              </a:rPr>
              <a:t>This means that the line is increasing or decreasing at the same rate between every point along the line. That is why it forms a straight line, as shown on the graph.</a:t>
            </a:r>
          </a:p>
        </p:txBody>
      </p:sp>
      <p:pic>
        <p:nvPicPr>
          <p:cNvPr id="13" name="Picture 12" descr="Chart, line chart&#10;&#10;Description automatically generated">
            <a:extLst>
              <a:ext uri="{FF2B5EF4-FFF2-40B4-BE49-F238E27FC236}">
                <a16:creationId xmlns:a16="http://schemas.microsoft.com/office/drawing/2014/main" id="{5B894DC2-9A8B-7748-9E36-1012BA7BA53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844482" y="1859980"/>
            <a:ext cx="6503035" cy="4300220"/>
          </a:xfrm>
          <a:prstGeom prst="rect">
            <a:avLst/>
          </a:prstGeom>
        </p:spPr>
      </p:pic>
    </p:spTree>
    <p:extLst>
      <p:ext uri="{BB962C8B-B14F-4D97-AF65-F5344CB8AC3E}">
        <p14:creationId xmlns:p14="http://schemas.microsoft.com/office/powerpoint/2010/main" val="16467296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94411" y="276615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287</a:t>
            </a:r>
            <a:endParaRPr i="1" dirty="0">
              <a:latin typeface="Calibri"/>
              <a:ea typeface="Calibri"/>
              <a:cs typeface="Calibri"/>
              <a:sym typeface="Calibri"/>
            </a:endParaRPr>
          </a:p>
        </p:txBody>
      </p:sp>
      <p:pic>
        <p:nvPicPr>
          <p:cNvPr id="7" name="Picture 6" descr="Icon&#10;&#10;Description automatically generated">
            <a:extLst>
              <a:ext uri="{FF2B5EF4-FFF2-40B4-BE49-F238E27FC236}">
                <a16:creationId xmlns:a16="http://schemas.microsoft.com/office/drawing/2014/main" id="{FDA0EA8E-2638-534E-8203-6C9A442EA8A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58150" cy="115815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352628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37334" y="-4689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E24E5F"/>
                </a:solidFill>
                <a:latin typeface="Verdana"/>
                <a:ea typeface="Verdana"/>
                <a:cs typeface="Verdana"/>
                <a:sym typeface="Verdana"/>
              </a:rPr>
              <a:t>7.1.5 Your Turn!</a:t>
            </a:r>
          </a:p>
        </p:txBody>
      </p:sp>
      <p:sp>
        <p:nvSpPr>
          <p:cNvPr id="13" name="TextBox 12">
            <a:extLst>
              <a:ext uri="{FF2B5EF4-FFF2-40B4-BE49-F238E27FC236}">
                <a16:creationId xmlns:a16="http://schemas.microsoft.com/office/drawing/2014/main" id="{C01B13E8-EC8D-E443-A329-C5E3593DD13A}"/>
              </a:ext>
            </a:extLst>
          </p:cNvPr>
          <p:cNvSpPr txBox="1"/>
          <p:nvPr/>
        </p:nvSpPr>
        <p:spPr>
          <a:xfrm>
            <a:off x="730267" y="1241783"/>
            <a:ext cx="8327136" cy="461665"/>
          </a:xfrm>
          <a:prstGeom prst="rect">
            <a:avLst/>
          </a:prstGeom>
          <a:noFill/>
        </p:spPr>
        <p:txBody>
          <a:bodyPr wrap="square" rtlCol="0">
            <a:spAutoFit/>
          </a:bodyPr>
          <a:lstStyle/>
          <a:p>
            <a:pPr marL="342900" indent="-3429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Determine the slope of each linear relationship.</a:t>
            </a:r>
          </a:p>
        </p:txBody>
      </p:sp>
      <p:sp>
        <p:nvSpPr>
          <p:cNvPr id="12" name="Google Shape;282;g104476d1465_1_17">
            <a:extLst>
              <a:ext uri="{FF2B5EF4-FFF2-40B4-BE49-F238E27FC236}">
                <a16:creationId xmlns:a16="http://schemas.microsoft.com/office/drawing/2014/main" id="{6DEF4616-35BD-5F4A-BFA0-7A1C3A76021C}"/>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287</a:t>
            </a:r>
            <a:endParaRPr i="1" dirty="0">
              <a:latin typeface="Calibri"/>
              <a:ea typeface="Calibri"/>
              <a:cs typeface="Calibri"/>
              <a:sym typeface="Calibri"/>
            </a:endParaRPr>
          </a:p>
        </p:txBody>
      </p:sp>
      <p:pic>
        <p:nvPicPr>
          <p:cNvPr id="16" name="Picture 15" descr="Icon&#10;&#10;Description automatically generated">
            <a:extLst>
              <a:ext uri="{FF2B5EF4-FFF2-40B4-BE49-F238E27FC236}">
                <a16:creationId xmlns:a16="http://schemas.microsoft.com/office/drawing/2014/main" id="{B960D343-710A-634F-A7B3-EA3C3EC0957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6616" y="201168"/>
            <a:ext cx="747302" cy="747302"/>
          </a:xfrm>
          <a:prstGeom prst="rect">
            <a:avLst/>
          </a:prstGeom>
        </p:spPr>
      </p:pic>
      <p:pic>
        <p:nvPicPr>
          <p:cNvPr id="4" name="Picture 3" descr="Chart, line chart, scatter chart&#10;&#10;Description automatically generated">
            <a:extLst>
              <a:ext uri="{FF2B5EF4-FFF2-40B4-BE49-F238E27FC236}">
                <a16:creationId xmlns:a16="http://schemas.microsoft.com/office/drawing/2014/main" id="{3D45D1EE-5E6B-F344-9491-1792626192F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050241" y="1885108"/>
            <a:ext cx="6091518" cy="4442540"/>
          </a:xfrm>
          <a:prstGeom prst="rect">
            <a:avLst/>
          </a:prstGeom>
        </p:spPr>
      </p:pic>
    </p:spTree>
    <p:extLst>
      <p:ext uri="{BB962C8B-B14F-4D97-AF65-F5344CB8AC3E}">
        <p14:creationId xmlns:p14="http://schemas.microsoft.com/office/powerpoint/2010/main" val="36934340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DEF4616-35BD-5F4A-BFA0-7A1C3A76021C}"/>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287</a:t>
            </a:r>
            <a:endParaRPr i="1" dirty="0">
              <a:latin typeface="Calibri"/>
              <a:ea typeface="Calibri"/>
              <a:cs typeface="Calibri"/>
              <a:sym typeface="Calibri"/>
            </a:endParaRPr>
          </a:p>
        </p:txBody>
      </p:sp>
      <p:pic>
        <p:nvPicPr>
          <p:cNvPr id="3" name="Picture 2" descr="Chart, line chart&#10;&#10;Description automatically generated">
            <a:extLst>
              <a:ext uri="{FF2B5EF4-FFF2-40B4-BE49-F238E27FC236}">
                <a16:creationId xmlns:a16="http://schemas.microsoft.com/office/drawing/2014/main" id="{318CB727-8C5C-0147-A27E-D9F94D09610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044881" y="1381757"/>
            <a:ext cx="6096879" cy="4086137"/>
          </a:xfrm>
          <a:prstGeom prst="rect">
            <a:avLst/>
          </a:prstGeom>
        </p:spPr>
      </p:pic>
    </p:spTree>
    <p:extLst>
      <p:ext uri="{BB962C8B-B14F-4D97-AF65-F5344CB8AC3E}">
        <p14:creationId xmlns:p14="http://schemas.microsoft.com/office/powerpoint/2010/main" val="26304572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855625" y="276615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0F60DB99-BF32-8E48-804D-E08F136BAB8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287</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237332" y="-8803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3F2A67"/>
                </a:solidFill>
                <a:latin typeface="Verdana"/>
                <a:ea typeface="Verdana"/>
                <a:cs typeface="Verdana"/>
                <a:sym typeface="Verdana"/>
              </a:rPr>
              <a:t>7.1.6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id="{5C5015EC-6F43-1C4A-AD6C-B1BEBDFEE113}"/>
              </a:ext>
            </a:extLst>
          </p:cNvPr>
          <p:cNvSpPr/>
          <p:nvPr/>
        </p:nvSpPr>
        <p:spPr>
          <a:xfrm>
            <a:off x="730266" y="1179718"/>
            <a:ext cx="10969365" cy="1754326"/>
          </a:xfrm>
          <a:prstGeom prst="rect">
            <a:avLst/>
          </a:prstGeom>
        </p:spPr>
        <p:txBody>
          <a:bodyPr wrap="square">
            <a:spAutoFit/>
          </a:bodyPr>
          <a:lstStyle/>
          <a:p>
            <a:r>
              <a:rPr lang="en-US" sz="1800" dirty="0">
                <a:latin typeface="Verdana" panose="020B0604030504040204" pitchFamily="34" charset="0"/>
                <a:ea typeface="Verdana" panose="020B0604030504040204" pitchFamily="34" charset="0"/>
                <a:cs typeface="Verdana" panose="020B0604030504040204" pitchFamily="34" charset="0"/>
              </a:rPr>
              <a:t>Draw an </a:t>
            </a:r>
            <a:r>
              <a:rPr lang="en-US" sz="1800" b="1" dirty="0">
                <a:latin typeface="Verdana" panose="020B0604030504040204" pitchFamily="34" charset="0"/>
                <a:ea typeface="Verdana" panose="020B0604030504040204" pitchFamily="34" charset="0"/>
                <a:cs typeface="Verdana" panose="020B0604030504040204" pitchFamily="34" charset="0"/>
              </a:rPr>
              <a:t>X</a:t>
            </a:r>
            <a:r>
              <a:rPr lang="en-US" sz="1800" dirty="0">
                <a:latin typeface="Verdana" panose="020B0604030504040204" pitchFamily="34" charset="0"/>
                <a:ea typeface="Verdana" panose="020B0604030504040204" pitchFamily="34" charset="0"/>
                <a:cs typeface="Verdana" panose="020B0604030504040204" pitchFamily="34" charset="0"/>
              </a:rPr>
              <a:t> on each line to indicate where your current level of understanding is related to each target.</a:t>
            </a:r>
          </a:p>
          <a:p>
            <a:endParaRPr lang="en-US" sz="18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1800" dirty="0">
                <a:latin typeface="Verdana" panose="020B0604030504040204" pitchFamily="34" charset="0"/>
                <a:ea typeface="Verdana" panose="020B0604030504040204" pitchFamily="34" charset="0"/>
                <a:cs typeface="Verdana" panose="020B0604030504040204" pitchFamily="34" charset="0"/>
              </a:rPr>
              <a:t>I can determine the slope of a line from a graph or a table, given a mathematical context.</a:t>
            </a:r>
          </a:p>
          <a:p>
            <a:endParaRPr lang="en-US" sz="1800" dirty="0">
              <a:latin typeface="Verdana" panose="020B0604030504040204" pitchFamily="34" charset="0"/>
              <a:ea typeface="Verdana" panose="020B0604030504040204" pitchFamily="34" charset="0"/>
              <a:cs typeface="Verdana" panose="020B0604030504040204" pitchFamily="34" charset="0"/>
            </a:endParaRPr>
          </a:p>
        </p:txBody>
      </p:sp>
      <p:sp>
        <p:nvSpPr>
          <p:cNvPr id="11" name="Google Shape;282;g104476d1465_1_17">
            <a:extLst>
              <a:ext uri="{FF2B5EF4-FFF2-40B4-BE49-F238E27FC236}">
                <a16:creationId xmlns:a16="http://schemas.microsoft.com/office/drawing/2014/main" id="{42B02AA2-63EE-8541-95D9-38B736D2B86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287</a:t>
            </a:r>
            <a:endParaRPr i="1" dirty="0">
              <a:latin typeface="Calibri"/>
              <a:ea typeface="Calibri"/>
              <a:cs typeface="Calibri"/>
              <a:sym typeface="Calibri"/>
            </a:endParaRPr>
          </a:p>
        </p:txBody>
      </p:sp>
      <p:graphicFrame>
        <p:nvGraphicFramePr>
          <p:cNvPr id="3" name="Table 2">
            <a:extLst>
              <a:ext uri="{FF2B5EF4-FFF2-40B4-BE49-F238E27FC236}">
                <a16:creationId xmlns:a16="http://schemas.microsoft.com/office/drawing/2014/main" id="{B75EA996-8C5A-4A4F-AF2F-0C9042B1623F}"/>
              </a:ext>
            </a:extLst>
          </p:cNvPr>
          <p:cNvGraphicFramePr>
            <a:graphicFrameLocks noGrp="1"/>
          </p:cNvGraphicFramePr>
          <p:nvPr>
            <p:extLst>
              <p:ext uri="{D42A27DB-BD31-4B8C-83A1-F6EECF244321}">
                <p14:modId xmlns:p14="http://schemas.microsoft.com/office/powerpoint/2010/main" val="1091242906"/>
              </p:ext>
            </p:extLst>
          </p:nvPr>
        </p:nvGraphicFramePr>
        <p:xfrm>
          <a:off x="2709863" y="2876093"/>
          <a:ext cx="6772275" cy="426720"/>
        </p:xfrm>
        <a:graphic>
          <a:graphicData uri="http://schemas.openxmlformats.org/drawingml/2006/table">
            <a:tbl>
              <a:tblPr firstRow="1" firstCol="1" bandRow="1">
                <a:tableStyleId>{A91F0D33-8C57-4600-99A7-42BC86742BE1}</a:tableStyleId>
              </a:tblPr>
              <a:tblGrid>
                <a:gridCol w="2257425">
                  <a:extLst>
                    <a:ext uri="{9D8B030D-6E8A-4147-A177-3AD203B41FA5}">
                      <a16:colId xmlns:a16="http://schemas.microsoft.com/office/drawing/2014/main" val="2948034557"/>
                    </a:ext>
                  </a:extLst>
                </a:gridCol>
                <a:gridCol w="2257425">
                  <a:extLst>
                    <a:ext uri="{9D8B030D-6E8A-4147-A177-3AD203B41FA5}">
                      <a16:colId xmlns:a16="http://schemas.microsoft.com/office/drawing/2014/main" val="336650390"/>
                    </a:ext>
                  </a:extLst>
                </a:gridCol>
                <a:gridCol w="2257425">
                  <a:extLst>
                    <a:ext uri="{9D8B030D-6E8A-4147-A177-3AD203B41FA5}">
                      <a16:colId xmlns:a16="http://schemas.microsoft.com/office/drawing/2014/main" val="3873215987"/>
                    </a:ext>
                  </a:extLst>
                </a:gridCol>
              </a:tblGrid>
              <a:tr h="0">
                <a:tc>
                  <a:txBody>
                    <a:bodyPr/>
                    <a:lstStyle/>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need help.</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can’t get started.</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I’m getting there, but</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need more practice.</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understand this</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and I feel confident.</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197464674"/>
                  </a:ext>
                </a:extLst>
              </a:tr>
            </a:tbl>
          </a:graphicData>
        </a:graphic>
      </p:graphicFrame>
      <p:cxnSp>
        <p:nvCxnSpPr>
          <p:cNvPr id="12" name="Straight Arrow Connector 11">
            <a:extLst>
              <a:ext uri="{FF2B5EF4-FFF2-40B4-BE49-F238E27FC236}">
                <a16:creationId xmlns:a16="http://schemas.microsoft.com/office/drawing/2014/main" id="{6BB4FEDC-FC62-294E-AEB9-FF5225BC58F8}"/>
              </a:ext>
            </a:extLst>
          </p:cNvPr>
          <p:cNvCxnSpPr/>
          <p:nvPr/>
        </p:nvCxnSpPr>
        <p:spPr>
          <a:xfrm>
            <a:off x="2842490" y="3441447"/>
            <a:ext cx="6747510" cy="0"/>
          </a:xfrm>
          <a:prstGeom prst="straightConnector1">
            <a:avLst/>
          </a:prstGeom>
          <a:ln>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096A26DB-394A-B44F-82E9-DDCFB086C683}"/>
              </a:ext>
            </a:extLst>
          </p:cNvPr>
          <p:cNvSpPr/>
          <p:nvPr/>
        </p:nvSpPr>
        <p:spPr>
          <a:xfrm>
            <a:off x="730266" y="4033652"/>
            <a:ext cx="10805242" cy="369332"/>
          </a:xfrm>
          <a:prstGeom prst="rect">
            <a:avLst/>
          </a:prstGeom>
        </p:spPr>
        <p:txBody>
          <a:bodyPr wrap="square">
            <a:spAutoFit/>
          </a:bodyPr>
          <a:lstStyle/>
          <a:p>
            <a:pPr marL="342900" indent="-342900">
              <a:buFont typeface="+mj-lt"/>
              <a:buAutoNum type="arabicPeriod" startAt="2"/>
            </a:pPr>
            <a:r>
              <a:rPr lang="en-US" sz="1800" dirty="0">
                <a:latin typeface="Verdana" panose="020B0604030504040204" pitchFamily="34" charset="0"/>
                <a:ea typeface="Verdana" panose="020B0604030504040204" pitchFamily="34" charset="0"/>
                <a:cs typeface="Verdana" panose="020B0604030504040204" pitchFamily="34" charset="0"/>
              </a:rPr>
              <a:t>I can relate the slope to the rate of change of the relationship between variables.</a:t>
            </a:r>
          </a:p>
        </p:txBody>
      </p:sp>
      <p:graphicFrame>
        <p:nvGraphicFramePr>
          <p:cNvPr id="14" name="Table 13">
            <a:extLst>
              <a:ext uri="{FF2B5EF4-FFF2-40B4-BE49-F238E27FC236}">
                <a16:creationId xmlns:a16="http://schemas.microsoft.com/office/drawing/2014/main" id="{6E1284D1-F023-C34C-94B0-D1698501B49E}"/>
              </a:ext>
            </a:extLst>
          </p:cNvPr>
          <p:cNvGraphicFramePr>
            <a:graphicFrameLocks noGrp="1"/>
          </p:cNvGraphicFramePr>
          <p:nvPr>
            <p:extLst>
              <p:ext uri="{D42A27DB-BD31-4B8C-83A1-F6EECF244321}">
                <p14:modId xmlns:p14="http://schemas.microsoft.com/office/powerpoint/2010/main" val="2750477930"/>
              </p:ext>
            </p:extLst>
          </p:nvPr>
        </p:nvGraphicFramePr>
        <p:xfrm>
          <a:off x="2709863" y="5000728"/>
          <a:ext cx="6772275" cy="426720"/>
        </p:xfrm>
        <a:graphic>
          <a:graphicData uri="http://schemas.openxmlformats.org/drawingml/2006/table">
            <a:tbl>
              <a:tblPr firstRow="1" firstCol="1" bandRow="1">
                <a:tableStyleId>{A91F0D33-8C57-4600-99A7-42BC86742BE1}</a:tableStyleId>
              </a:tblPr>
              <a:tblGrid>
                <a:gridCol w="2257425">
                  <a:extLst>
                    <a:ext uri="{9D8B030D-6E8A-4147-A177-3AD203B41FA5}">
                      <a16:colId xmlns:a16="http://schemas.microsoft.com/office/drawing/2014/main" val="2948034557"/>
                    </a:ext>
                  </a:extLst>
                </a:gridCol>
                <a:gridCol w="2257425">
                  <a:extLst>
                    <a:ext uri="{9D8B030D-6E8A-4147-A177-3AD203B41FA5}">
                      <a16:colId xmlns:a16="http://schemas.microsoft.com/office/drawing/2014/main" val="336650390"/>
                    </a:ext>
                  </a:extLst>
                </a:gridCol>
                <a:gridCol w="2257425">
                  <a:extLst>
                    <a:ext uri="{9D8B030D-6E8A-4147-A177-3AD203B41FA5}">
                      <a16:colId xmlns:a16="http://schemas.microsoft.com/office/drawing/2014/main" val="3873215987"/>
                    </a:ext>
                  </a:extLst>
                </a:gridCol>
              </a:tblGrid>
              <a:tr h="0">
                <a:tc>
                  <a:txBody>
                    <a:bodyPr/>
                    <a:lstStyle/>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I need help.</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a:effectLst/>
                          <a:latin typeface="Verdana" panose="020B0604030504040204" pitchFamily="34" charset="0"/>
                          <a:ea typeface="Verdana" panose="020B0604030504040204" pitchFamily="34" charset="0"/>
                          <a:cs typeface="Verdana" panose="020B0604030504040204" pitchFamily="34" charset="0"/>
                        </a:rPr>
                        <a:t>I can’t get started.</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I’m getting there, but</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need more practice.</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I understand this</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400" dirty="0">
                          <a:effectLst/>
                          <a:latin typeface="Verdana" panose="020B0604030504040204" pitchFamily="34" charset="0"/>
                          <a:ea typeface="Verdana" panose="020B0604030504040204" pitchFamily="34" charset="0"/>
                          <a:cs typeface="Verdana" panose="020B0604030504040204" pitchFamily="34" charset="0"/>
                        </a:rPr>
                        <a:t>and I feel confident.</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197464674"/>
                  </a:ext>
                </a:extLst>
              </a:tr>
            </a:tbl>
          </a:graphicData>
        </a:graphic>
      </p:graphicFrame>
      <p:cxnSp>
        <p:nvCxnSpPr>
          <p:cNvPr id="15" name="Straight Arrow Connector 14">
            <a:extLst>
              <a:ext uri="{FF2B5EF4-FFF2-40B4-BE49-F238E27FC236}">
                <a16:creationId xmlns:a16="http://schemas.microsoft.com/office/drawing/2014/main" id="{CC6FE4C9-C23A-C34E-A654-C013717DD5A0}"/>
              </a:ext>
            </a:extLst>
          </p:cNvPr>
          <p:cNvCxnSpPr/>
          <p:nvPr/>
        </p:nvCxnSpPr>
        <p:spPr>
          <a:xfrm>
            <a:off x="2842490" y="5566082"/>
            <a:ext cx="6747510" cy="0"/>
          </a:xfrm>
          <a:prstGeom prst="straightConnector1">
            <a:avLst/>
          </a:prstGeom>
          <a:ln>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1869</TotalTime>
  <Words>1565</Words>
  <Application>Microsoft Office PowerPoint</Application>
  <PresentationFormat>Widescreen</PresentationFormat>
  <Paragraphs>221</Paragraphs>
  <Slides>33</Slides>
  <Notes>33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Verdana</vt:lpstr>
      <vt:lpstr>Times New Roman</vt:lpstr>
      <vt:lpstr>Wingdings</vt:lpstr>
      <vt:lpstr>Century Gothic</vt:lpstr>
      <vt:lpstr>Calibri</vt:lpstr>
      <vt:lpstr>Arial Black</vt:lpstr>
      <vt:lpstr>Cambria Math</vt:lpstr>
      <vt:lpstr>Arial</vt:lpstr>
      <vt:lpstr>1_Office Theme</vt:lpstr>
      <vt:lpstr>8th Grade Math:  Pre-Algebra  Unit 7, Lesson 1  Finding Slope  Using Graphs and Tables  Volume 1, pg. 281  </vt:lpstr>
      <vt:lpstr>Benchmark</vt:lpstr>
      <vt:lpstr>PowerPoint Presentation</vt:lpstr>
      <vt:lpstr>PowerPoint Presentation</vt:lpstr>
      <vt:lpstr>Warm-Up</vt:lpstr>
      <vt:lpstr>PowerPoint Presentation</vt:lpstr>
      <vt:lpstr>Refresher</vt:lpstr>
      <vt:lpstr>PowerPoint Presentation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24</cp:revision>
  <dcterms:created xsi:type="dcterms:W3CDTF">2015-03-17T18:51:18Z</dcterms:created>
  <dcterms:modified xsi:type="dcterms:W3CDTF">2022-06-16T14:29:25Z</dcterms:modified>
</cp:coreProperties>
</file>