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289" r:id="rId9"/>
    <p:sldId id="290" r:id="rId10"/>
    <p:sldId id="336" r:id="rId11"/>
    <p:sldId id="342" r:id="rId12"/>
    <p:sldId id="343" r:id="rId13"/>
    <p:sldId id="314" r:id="rId14"/>
    <p:sldId id="315" r:id="rId15"/>
    <p:sldId id="332" r:id="rId16"/>
    <p:sldId id="344" r:id="rId17"/>
    <p:sldId id="345" r:id="rId18"/>
    <p:sldId id="329" r:id="rId19"/>
    <p:sldId id="330" r:id="rId20"/>
    <p:sldId id="339" r:id="rId21"/>
    <p:sldId id="323" r:id="rId22"/>
    <p:sldId id="324" r:id="rId23"/>
    <p:sldId id="302" r:id="rId24"/>
    <p:sldId id="303" r:id="rId25"/>
    <p:sldId id="340"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32"/>
    <p:restoredTop sz="94719"/>
  </p:normalViewPr>
  <p:slideViewPr>
    <p:cSldViewPr snapToGrid="0">
      <p:cViewPr varScale="1">
        <p:scale>
          <a:sx n="56" d="100"/>
          <a:sy n="56" d="100"/>
        </p:scale>
        <p:origin x="78"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47407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879294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4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70.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571918" y="2054275"/>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500" b="1" dirty="0">
                <a:solidFill>
                  <a:srgbClr val="417DBF"/>
                </a:solidFill>
                <a:latin typeface="Verdana"/>
                <a:ea typeface="Verdana"/>
                <a:cs typeface="Verdana"/>
                <a:sym typeface="Verdana"/>
              </a:rPr>
              <a:t>8</a:t>
            </a:r>
            <a:r>
              <a:rPr lang="en-US" sz="3500" b="1" baseline="30000" dirty="0">
                <a:solidFill>
                  <a:srgbClr val="417DBF"/>
                </a:solidFill>
                <a:latin typeface="Verdana"/>
                <a:ea typeface="Verdana"/>
                <a:cs typeface="Verdana"/>
                <a:sym typeface="Verdana"/>
              </a:rPr>
              <a:t>th</a:t>
            </a:r>
            <a:r>
              <a:rPr lang="en-US" sz="3500" b="1" dirty="0">
                <a:solidFill>
                  <a:srgbClr val="417DBF"/>
                </a:solidFill>
                <a:latin typeface="Verdana"/>
                <a:ea typeface="Verdana"/>
                <a:cs typeface="Verdana"/>
                <a:sym typeface="Verdana"/>
              </a:rPr>
              <a:t> Grade Math: Pre-Algebra</a:t>
            </a:r>
            <a:br>
              <a:rPr lang="en-US" sz="3500" b="1" dirty="0">
                <a:solidFill>
                  <a:srgbClr val="417DBF"/>
                </a:solidFill>
                <a:latin typeface="Verdana"/>
                <a:ea typeface="Verdana"/>
                <a:cs typeface="Verdana"/>
                <a:sym typeface="Verdana"/>
              </a:rPr>
            </a:br>
            <a:endParaRPr lang="en-US" sz="3500" b="1" dirty="0">
              <a:solidFill>
                <a:srgbClr val="417DBF"/>
              </a:solidFill>
              <a:latin typeface="Verdana"/>
              <a:ea typeface="Verdana"/>
              <a:cs typeface="Verdana"/>
              <a:sym typeface="Verdana"/>
            </a:endParaRPr>
          </a:p>
          <a:p>
            <a:pPr lvl="0" algn="ctr">
              <a:lnSpc>
                <a:spcPct val="100000"/>
              </a:lnSpc>
              <a:buClr>
                <a:srgbClr val="000000"/>
              </a:buClr>
            </a:pPr>
            <a:r>
              <a:rPr lang="en-US" sz="3500" b="1" dirty="0">
                <a:solidFill>
                  <a:srgbClr val="417DBF"/>
                </a:solidFill>
                <a:latin typeface="Verdana"/>
                <a:ea typeface="Verdana"/>
                <a:cs typeface="Verdana"/>
                <a:sym typeface="Verdana"/>
              </a:rPr>
              <a:t>Unit 7, Lesson 6</a:t>
            </a:r>
            <a:br>
              <a:rPr lang="en-US" sz="3500" b="1" dirty="0">
                <a:solidFill>
                  <a:srgbClr val="417DBF"/>
                </a:solidFill>
                <a:latin typeface="Verdana"/>
                <a:ea typeface="Verdana"/>
                <a:cs typeface="Verdana"/>
                <a:sym typeface="Verdana"/>
              </a:rPr>
            </a:br>
            <a:br>
              <a:rPr lang="en-US" sz="3500" b="1" dirty="0">
                <a:solidFill>
                  <a:srgbClr val="417DBF"/>
                </a:solidFill>
                <a:latin typeface="Verdana"/>
                <a:ea typeface="Verdana"/>
                <a:cs typeface="Verdana"/>
                <a:sym typeface="Verdana"/>
              </a:rPr>
            </a:br>
            <a:r>
              <a:rPr lang="en-US" sz="3500" b="1" dirty="0">
                <a:solidFill>
                  <a:srgbClr val="417DBF"/>
                </a:solidFill>
                <a:latin typeface="Verdana"/>
                <a:ea typeface="Verdana"/>
                <a:cs typeface="Verdana"/>
                <a:sym typeface="Verdana"/>
              </a:rPr>
              <a:t>Interpreting Linear Relationships from Graphs and Equations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310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49661"/>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6" y="1326150"/>
            <a:ext cx="1078682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MA.8.AR.3.5 </a:t>
            </a:r>
          </a:p>
          <a:p>
            <a:pPr indent="0">
              <a:buNone/>
            </a:pPr>
            <a:r>
              <a:rPr lang="en-US" sz="2400" dirty="0">
                <a:solidFill>
                  <a:schemeClr val="tx1"/>
                </a:solidFill>
                <a:latin typeface="Verdana"/>
                <a:ea typeface="Verdana"/>
                <a:cs typeface="Verdana"/>
                <a:sym typeface="Verdana"/>
              </a:rPr>
              <a:t>Given a real-world context, determine and interpret the slope and 𝑦-intercept of a two-variable linear equation from a written description, a table, a graph, or an equation in slope-intercept form.</a:t>
            </a:r>
            <a:endParaRPr lang="en-US" sz="24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37332" y="0"/>
            <a:ext cx="108412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6" y="1465761"/>
            <a:ext cx="1084124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5" y="1436914"/>
                <a:ext cx="1096099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400" dirty="0">
                    <a:latin typeface="Verdana" pitchFamily="34" charset="0"/>
                    <a:ea typeface="Verdana" pitchFamily="34" charset="0"/>
                  </a:rPr>
                  <a:t>I can determine and interpret the slope and </a:t>
                </a:r>
                <a14:m>
                  <m:oMath xmlns:m="http://schemas.openxmlformats.org/officeDocument/2006/math">
                    <m:r>
                      <a:rPr lang="en-US" sz="2400" i="1">
                        <a:latin typeface="Cambria Math" panose="02040503050406030204" pitchFamily="18" charset="0"/>
                      </a:rPr>
                      <m:t>𝑦</m:t>
                    </m:r>
                  </m:oMath>
                </a14:m>
                <a:r>
                  <a:rPr lang="en-US" sz="2400" dirty="0">
                    <a:latin typeface="Verdana" pitchFamily="34" charset="0"/>
                    <a:ea typeface="Verdana" pitchFamily="34" charset="0"/>
                  </a:rPr>
                  <a:t>-intercept of a two-variable linear equation from a graph in a real‑world context.</a:t>
                </a:r>
              </a:p>
              <a:p>
                <a:pPr marL="463550" indent="-463550"/>
                <a:endParaRPr lang="en-PH" sz="2400" dirty="0">
                  <a:latin typeface="Verdana" pitchFamily="34" charset="0"/>
                  <a:ea typeface="Verdana" pitchFamily="34" charset="0"/>
                </a:endParaRPr>
              </a:p>
              <a:p>
                <a:pPr marL="463550" indent="-463550">
                  <a:buFont typeface="Wingdings" pitchFamily="2" charset="2"/>
                  <a:buChar char="q"/>
                </a:pPr>
                <a:r>
                  <a:rPr lang="en-US" sz="2400" dirty="0">
                    <a:latin typeface="Verdana" pitchFamily="34" charset="0"/>
                    <a:ea typeface="Verdana" pitchFamily="34" charset="0"/>
                  </a:rPr>
                  <a:t>I can determine and interpret the slope and </a:t>
                </a:r>
                <a14:m>
                  <m:oMath xmlns:m="http://schemas.openxmlformats.org/officeDocument/2006/math">
                    <m:r>
                      <a:rPr lang="en-US" sz="2400" i="1">
                        <a:latin typeface="Cambria Math" panose="02040503050406030204" pitchFamily="18" charset="0"/>
                      </a:rPr>
                      <m:t>𝑦</m:t>
                    </m:r>
                  </m:oMath>
                </a14:m>
                <a:r>
                  <a:rPr lang="en-US" sz="2400" dirty="0">
                    <a:latin typeface="Verdana" pitchFamily="34" charset="0"/>
                    <a:ea typeface="Verdana" pitchFamily="34" charset="0"/>
                  </a:rPr>
                  <a:t>-intercept of a two-variable linear equation from an equation in slope-intercept form in a real-world context.</a:t>
                </a:r>
                <a:endParaRPr lang="en-US" sz="2400" dirty="0">
                  <a:solidFill>
                    <a:schemeClr val="tx1"/>
                  </a:solidFill>
                  <a:latin typeface="Verdana" pitchFamily="34" charset="0"/>
                  <a:ea typeface="Verdana" pitchFamily="34" charset="0"/>
                  <a:cs typeface="Verdana"/>
                  <a:sym typeface="Verdana"/>
                </a:endParaRPr>
              </a:p>
            </p:txBody>
          </p:sp>
        </mc:Choice>
        <mc:Fallback xmlns="">
          <p:sp>
            <p:nvSpPr>
              <p:cNvPr id="14" name="Google Shape;302;g103996e1364_0_16">
                <a:extLst>
                  <a:ext uri="{FF2B5EF4-FFF2-40B4-BE49-F238E27FC236}">
                    <a16:creationId xmlns:a16="http://schemas.microsoft.com/office/drawing/2014/main" id="{9B7C98EC-F13C-9146-B728-D7044DB4247D}"/>
                  </a:ext>
                </a:extLst>
              </p:cNvPr>
              <p:cNvSpPr txBox="1">
                <a:spLocks noRot="1" noChangeAspect="1" noMove="1" noResize="1" noEditPoints="1" noAdjustHandles="1" noChangeArrowheads="1" noChangeShapeType="1" noTextEdit="1"/>
              </p:cNvSpPr>
              <p:nvPr/>
            </p:nvSpPr>
            <p:spPr>
              <a:xfrm>
                <a:off x="730265" y="1436914"/>
                <a:ext cx="10960991" cy="4205700"/>
              </a:xfrm>
              <a:prstGeom prst="rect">
                <a:avLst/>
              </a:prstGeom>
              <a:blipFill>
                <a:blip r:embed="rId5"/>
                <a:stretch>
                  <a:fillRect l="-779" t="-1304"/>
                </a:stretch>
              </a:blipFill>
              <a:ln>
                <a:noFill/>
              </a:ln>
            </p:spPr>
            <p:txBody>
              <a:bodyPr/>
              <a:lstStyle/>
              <a:p>
                <a:r>
                  <a:rPr lang="en-US">
                    <a:noFill/>
                  </a:rPr>
                  <a:t> </a:t>
                </a:r>
              </a:p>
            </p:txBody>
          </p:sp>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22379"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94213"/>
            <a:ext cx="98007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7.6.1 Warm-Up: Success vs. Failure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730265" y="1443696"/>
            <a:ext cx="6182163" cy="2677656"/>
          </a:xfrm>
          <a:prstGeom prst="rect">
            <a:avLst/>
          </a:prstGeom>
          <a:noFill/>
        </p:spPr>
        <p:txBody>
          <a:bodyPr wrap="square" rtlCol="0">
            <a:spAutoFit/>
          </a:bodyPr>
          <a:lstStyle/>
          <a:p>
            <a:pPr>
              <a:spcAft>
                <a:spcPts val="1000"/>
              </a:spcAft>
            </a:pPr>
            <a:r>
              <a:rPr lang="en-US" sz="2400" dirty="0">
                <a:latin typeface="Verdana" pitchFamily="34" charset="0"/>
                <a:ea typeface="Verdana" pitchFamily="34" charset="0"/>
                <a:cs typeface="Verdana"/>
              </a:rPr>
              <a:t>John Legend shares that even though he is seen as a successful musician, he actually tried to get a record deal for six years without any success. He explains that most successful people go through a lot of missteps</a:t>
            </a:r>
            <a:r>
              <a:rPr lang="en-US" sz="2400" dirty="0">
                <a:latin typeface="Verdana" pitchFamily="34" charset="0"/>
                <a:ea typeface="Verdana" pitchFamily="34" charset="0"/>
                <a:cs typeface="Cambria"/>
              </a:rPr>
              <a:t> </a:t>
            </a:r>
            <a:r>
              <a:rPr lang="en-US" sz="2400" dirty="0">
                <a:latin typeface="Verdana" pitchFamily="34" charset="0"/>
                <a:ea typeface="Verdana" pitchFamily="34" charset="0"/>
                <a:cs typeface="Verdana"/>
              </a:rPr>
              <a:t>before reaching their goal. </a:t>
            </a:r>
            <a:endParaRPr lang="en-PH" sz="2400" dirty="0">
              <a:latin typeface="Verdana" pitchFamily="34" charset="0"/>
              <a:ea typeface="Verdana" pitchFamily="34" charset="0"/>
              <a:cs typeface="Cambria"/>
            </a:endParaRP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 name="Picture 9" descr="A person holding a trophy&#10;&#10;Description automatically generated with medium confidence"/>
          <p:cNvPicPr/>
          <p:nvPr/>
        </p:nvPicPr>
        <p:blipFill rotWithShape="1">
          <a:blip r:embed="rId5" cstate="hqprint">
            <a:extLst>
              <a:ext uri="{28A0092B-C50C-407E-A947-70E740481C1C}">
                <a14:useLocalDpi xmlns:a14="http://schemas.microsoft.com/office/drawing/2010/main"/>
              </a:ext>
            </a:extLst>
          </a:blip>
          <a:srcRect/>
          <a:stretch/>
        </p:blipFill>
        <p:spPr bwMode="auto">
          <a:xfrm>
            <a:off x="7093351" y="1443696"/>
            <a:ext cx="3523475" cy="3527205"/>
          </a:xfrm>
          <a:prstGeom prst="rect">
            <a:avLst/>
          </a:prstGeom>
          <a:noFill/>
          <a:ln>
            <a:noFill/>
          </a:ln>
          <a:extLst>
            <a:ext uri="{53640926-AAD7-44D8-BBD7-CCE9431645EC}">
              <a14:shadowObscured xmlns:a14="http://schemas.microsoft.com/office/drawing/2010/main"/>
            </a:ext>
          </a:extLst>
        </p:spPr>
      </p:pic>
      <p:sp>
        <p:nvSpPr>
          <p:cNvPr id="5" name="Rectangle 4"/>
          <p:cNvSpPr/>
          <p:nvPr/>
        </p:nvSpPr>
        <p:spPr>
          <a:xfrm>
            <a:off x="730265" y="5114123"/>
            <a:ext cx="10732392" cy="830997"/>
          </a:xfrm>
          <a:prstGeom prst="rect">
            <a:avLst/>
          </a:prstGeom>
        </p:spPr>
        <p:txBody>
          <a:bodyPr wrap="square">
            <a:spAutoFit/>
          </a:bodyPr>
          <a:lstStyle/>
          <a:p>
            <a:pPr>
              <a:spcAft>
                <a:spcPts val="1000"/>
              </a:spcAft>
            </a:pPr>
            <a:r>
              <a:rPr lang="en-US" sz="2400" dirty="0">
                <a:latin typeface="Verdana" pitchFamily="34" charset="0"/>
                <a:ea typeface="Verdana" pitchFamily="34" charset="0"/>
                <a:cs typeface="Verdana"/>
              </a:rPr>
              <a:t>He said, “The great ones aren’t the ones who don’t fail, they’re the ones who learn from their failure, and they keep going.”</a:t>
            </a: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766794" y="520393"/>
            <a:ext cx="10728520" cy="2677656"/>
          </a:xfrm>
          <a:prstGeom prst="rect">
            <a:avLst/>
          </a:prstGeom>
          <a:noFill/>
        </p:spPr>
        <p:txBody>
          <a:bodyPr wrap="square" rtlCol="0">
            <a:spAutoFit/>
          </a:bodyPr>
          <a:lstStyle/>
          <a:p>
            <a:r>
              <a:rPr lang="en-US" sz="2400" dirty="0">
                <a:latin typeface="Verdana" pitchFamily="34" charset="0"/>
                <a:ea typeface="Verdana" pitchFamily="34" charset="0"/>
                <a:cs typeface="Verdana"/>
              </a:rPr>
              <a:t>John Legend explains that innate talent is not always enough. He only went to the next level in his career after hiring a voice coach and studying to get better.</a:t>
            </a:r>
            <a:endParaRPr lang="en-PH" sz="2400" dirty="0">
              <a:latin typeface="Verdana" pitchFamily="34" charset="0"/>
              <a:ea typeface="Verdana" pitchFamily="34" charset="0"/>
              <a:cs typeface="Cambria"/>
            </a:endParaRPr>
          </a:p>
          <a:p>
            <a:pPr lvl="0"/>
            <a:endParaRPr lang="en-US" sz="2400" dirty="0">
              <a:latin typeface="Verdana" pitchFamily="34" charset="0"/>
              <a:ea typeface="Verdana" pitchFamily="34" charset="0"/>
              <a:cs typeface="Verdana"/>
            </a:endParaRPr>
          </a:p>
          <a:p>
            <a:pPr lvl="0"/>
            <a:r>
              <a:rPr lang="en-US" sz="2400" dirty="0">
                <a:latin typeface="Verdana" pitchFamily="34" charset="0"/>
                <a:ea typeface="Verdana" pitchFamily="34" charset="0"/>
                <a:cs typeface="Verdana"/>
              </a:rPr>
              <a:t>Think of something in your life you are successful with. </a:t>
            </a:r>
          </a:p>
          <a:p>
            <a:pPr lvl="0"/>
            <a:endParaRPr lang="en-US" sz="2400" dirty="0">
              <a:latin typeface="Verdana" pitchFamily="34" charset="0"/>
              <a:ea typeface="Verdana" pitchFamily="34" charset="0"/>
              <a:cs typeface="Verdana"/>
            </a:endParaRPr>
          </a:p>
          <a:p>
            <a:pPr marL="457200" indent="-457200">
              <a:buFont typeface="+mj-lt"/>
              <a:buAutoNum type="arabicPeriod"/>
            </a:pPr>
            <a:r>
              <a:rPr lang="en-US" sz="2400" dirty="0">
                <a:latin typeface="Verdana" pitchFamily="34" charset="0"/>
                <a:ea typeface="Verdana" pitchFamily="34" charset="0"/>
                <a:cs typeface="Verdana"/>
              </a:rPr>
              <a:t>What have you done to grow and improve this talent?</a:t>
            </a:r>
            <a:endParaRPr lang="en-PH" sz="2400" dirty="0">
              <a:latin typeface="Verdana" pitchFamily="34" charset="0"/>
              <a:ea typeface="Verdana" pitchFamily="34" charset="0"/>
              <a:cs typeface="Cambria"/>
            </a:endParaRPr>
          </a:p>
        </p:txBody>
      </p:sp>
      <p:sp>
        <p:nvSpPr>
          <p:cNvPr id="6" name="Google Shape;278;g104476d1465_1_17">
            <a:extLst>
              <a:ext uri="{FF2B5EF4-FFF2-40B4-BE49-F238E27FC236}">
                <a16:creationId xmlns:a16="http://schemas.microsoft.com/office/drawing/2014/main" id="{15F1D98C-071D-7E4F-AC26-9D72783C5693}"/>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34018" y="2766150"/>
            <a:ext cx="7564067"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730266" y="1319192"/>
                <a:ext cx="11080734" cy="4401205"/>
              </a:xfrm>
              <a:prstGeom prst="rect">
                <a:avLst/>
              </a:prstGeom>
              <a:noFill/>
            </p:spPr>
            <p:txBody>
              <a:bodyPr wrap="square" rtlCol="0">
                <a:spAutoFit/>
              </a:bodyPr>
              <a:lstStyle/>
              <a:p>
                <a:r>
                  <a:rPr lang="en-US" sz="2000" dirty="0">
                    <a:latin typeface="Verdana" pitchFamily="34" charset="0"/>
                    <a:ea typeface="Verdana" pitchFamily="34" charset="0"/>
                    <a:cs typeface="Verdana"/>
                  </a:rPr>
                  <a:t>When linear relationships represent real-world contexts, the slope and </a:t>
                </a:r>
                <a14:m>
                  <m:oMath xmlns:m="http://schemas.openxmlformats.org/officeDocument/2006/math">
                    <m:r>
                      <a:rPr lang="en-US" sz="2000" i="1">
                        <a:latin typeface="Cambria Math"/>
                        <a:ea typeface="Cambria Math"/>
                        <a:cs typeface="Cambria Math"/>
                      </a:rPr>
                      <m:t>𝑦</m:t>
                    </m:r>
                  </m:oMath>
                </a14:m>
                <a:r>
                  <a:rPr lang="en-US" sz="2000" dirty="0">
                    <a:latin typeface="Verdana" pitchFamily="34" charset="0"/>
                    <a:ea typeface="Verdana" pitchFamily="34" charset="0"/>
                    <a:cs typeface="Verdana"/>
                  </a:rPr>
                  <a:t>-intercept of the relationship have meaning within the context.</a:t>
                </a:r>
              </a:p>
              <a:p>
                <a:endParaRPr lang="en-US" sz="2000" dirty="0">
                  <a:latin typeface="Verdana" pitchFamily="34" charset="0"/>
                  <a:ea typeface="Verdana" pitchFamily="34" charset="0"/>
                  <a:cs typeface="Verdana"/>
                </a:endParaRPr>
              </a:p>
              <a:p>
                <a:pPr marL="457200" indent="-457200">
                  <a:lnSpc>
                    <a:spcPct val="250000"/>
                  </a:lnSpc>
                  <a:buFont typeface="+mj-lt"/>
                  <a:buAutoNum type="arabicPeriod"/>
                </a:pPr>
                <a:r>
                  <a:rPr lang="en-US" sz="2000" dirty="0">
                    <a:latin typeface="Verdana" pitchFamily="34" charset="0"/>
                    <a:ea typeface="Verdana" pitchFamily="34" charset="0"/>
                  </a:rPr>
                  <a:t>The                         represents the			     </a:t>
                </a:r>
                <a:r>
                  <a:rPr lang="en-US" sz="2000" dirty="0">
                    <a:latin typeface="Verdana" pitchFamily="34" charset="0"/>
                    <a:ea typeface="Verdana" pitchFamily="34" charset="0"/>
                    <a:cs typeface="Verdana"/>
                  </a:rPr>
                  <a:t> or how one quantity changes in relationship to the other. </a:t>
                </a:r>
                <a:br>
                  <a:rPr lang="en-US" sz="2000" dirty="0">
                    <a:latin typeface="Verdana" pitchFamily="34" charset="0"/>
                    <a:ea typeface="Verdana" pitchFamily="34" charset="0"/>
                    <a:cs typeface="Verdana"/>
                  </a:rPr>
                </a:br>
                <a:r>
                  <a:rPr lang="en-US" sz="2000" dirty="0">
                    <a:latin typeface="Verdana" pitchFamily="34" charset="0"/>
                    <a:ea typeface="Verdana" pitchFamily="34" charset="0"/>
                  </a:rPr>
                  <a:t>The  		    represents the 			     or the value of </a:t>
                </a:r>
                <a14:m>
                  <m:oMath xmlns:m="http://schemas.openxmlformats.org/officeDocument/2006/math">
                    <m:r>
                      <a:rPr lang="en-US" sz="2000" i="1">
                        <a:latin typeface="Cambria Math" panose="02040503050406030204" pitchFamily="18" charset="0"/>
                      </a:rPr>
                      <m:t>𝑦</m:t>
                    </m:r>
                  </m:oMath>
                </a14:m>
                <a:r>
                  <a:rPr lang="en-US" sz="2000" dirty="0">
                    <a:latin typeface="Verdana" pitchFamily="34" charset="0"/>
                    <a:ea typeface="Verdana" pitchFamily="34" charset="0"/>
                  </a:rPr>
                  <a:t> when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=0</m:t>
                    </m:r>
                  </m:oMath>
                </a14:m>
                <a:r>
                  <a:rPr lang="en-US" sz="2000" dirty="0">
                    <a:latin typeface="Verdana" pitchFamily="34" charset="0"/>
                    <a:ea typeface="Verdana" pitchFamily="34" charset="0"/>
                  </a:rPr>
                  <a:t>.</a:t>
                </a:r>
                <a:endParaRPr lang="en-US" sz="2000" dirty="0">
                  <a:latin typeface="Verdana" pitchFamily="34" charset="0"/>
                  <a:ea typeface="Verdana" pitchFamily="34" charset="0"/>
                  <a:cs typeface="Verdana"/>
                </a:endParaRPr>
              </a:p>
              <a:p>
                <a:endParaRPr lang="en-PH" sz="2000" dirty="0">
                  <a:latin typeface="Verdana" pitchFamily="34" charset="0"/>
                  <a:ea typeface="Verdana" pitchFamily="34" charset="0"/>
                  <a:cs typeface="Cambria"/>
                </a:endParaRP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0266" y="1319192"/>
                <a:ext cx="11080734" cy="4401205"/>
              </a:xfrm>
              <a:prstGeom prst="rect">
                <a:avLst/>
              </a:prstGeom>
              <a:blipFill>
                <a:blip r:embed="rId3"/>
                <a:stretch>
                  <a:fillRect l="-605" t="-693" r="-550"/>
                </a:stretch>
              </a:blipFill>
            </p:spPr>
            <p:txBody>
              <a:bodyPr/>
              <a:lstStyle/>
              <a:p>
                <a:r>
                  <a:rPr lang="en-US">
                    <a:noFill/>
                  </a:rPr>
                  <a:t> </a:t>
                </a:r>
              </a:p>
            </p:txBody>
          </p:sp>
        </mc:Fallback>
      </mc:AlternateContent>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5155" y="-6508"/>
                <a:ext cx="1027975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7.6.2 Guided Instruction: </a:t>
                </a:r>
                <a:r>
                  <a:rPr lang="en-US" sz="3000" b="1" dirty="0">
                    <a:solidFill>
                      <a:srgbClr val="26B6D4"/>
                    </a:solidFill>
                    <a:latin typeface="Verdana"/>
                    <a:ea typeface="Verdana"/>
                    <a:cs typeface="Verdana"/>
                  </a:rPr>
                  <a:t>Interpreting Slope and </a:t>
                </a:r>
                <a14:m>
                  <m:oMath xmlns:m="http://schemas.openxmlformats.org/officeDocument/2006/math">
                    <m:r>
                      <a:rPr lang="en-US" sz="3000" b="1" i="1">
                        <a:solidFill>
                          <a:srgbClr val="26B6D4"/>
                        </a:solidFill>
                        <a:latin typeface="Cambria Math"/>
                        <a:ea typeface="Cambria Math"/>
                        <a:cs typeface="Cambria Math"/>
                      </a:rPr>
                      <m:t>𝒚</m:t>
                    </m:r>
                  </m:oMath>
                </a14:m>
                <a:r>
                  <a:rPr lang="en-US" sz="3000" b="1" dirty="0">
                    <a:solidFill>
                      <a:srgbClr val="26B6D4"/>
                    </a:solidFill>
                    <a:latin typeface="Verdana"/>
                    <a:ea typeface="Verdana"/>
                    <a:cs typeface="Verdana"/>
                  </a:rPr>
                  <a:t>-intercept from Equations and Graphs</a:t>
                </a:r>
                <a:endParaRPr lang="en-US" sz="3000" b="1" dirty="0">
                  <a:solidFill>
                    <a:srgbClr val="54B5D1"/>
                  </a:solidFill>
                  <a:latin typeface="Verdana"/>
                  <a:ea typeface="Verdana"/>
                  <a:cs typeface="Verdana"/>
                  <a:sym typeface="Verdana"/>
                </a:endParaRPr>
              </a:p>
            </p:txBody>
          </p:sp>
        </mc:Choice>
        <mc:Fallback xmlns="">
          <p:sp>
            <p:nvSpPr>
              <p:cNvPr id="7" name="Google Shape;343;g103996e1364_0_321">
                <a:extLst>
                  <a:ext uri="{FF2B5EF4-FFF2-40B4-BE49-F238E27FC236}">
                    <a16:creationId xmlns:a16="http://schemas.microsoft.com/office/drawing/2014/main" id="{21B1DF8E-16A0-FA4E-8CEB-434668DFA68D}"/>
                  </a:ext>
                </a:extLst>
              </p:cNvPr>
              <p:cNvSpPr txBox="1">
                <a:spLocks noRot="1" noChangeAspect="1" noMove="1" noResize="1" noEditPoints="1" noAdjustHandles="1" noChangeArrowheads="1" noChangeShapeType="1" noTextEdit="1"/>
              </p:cNvSpPr>
              <p:nvPr/>
            </p:nvSpPr>
            <p:spPr>
              <a:xfrm>
                <a:off x="1165155" y="-6508"/>
                <a:ext cx="10279754" cy="1325700"/>
              </a:xfrm>
              <a:prstGeom prst="rect">
                <a:avLst/>
              </a:prstGeom>
              <a:blipFill>
                <a:blip r:embed="rId5"/>
                <a:stretch>
                  <a:fillRect l="-1364"/>
                </a:stretch>
              </a:blipFill>
              <a:ln>
                <a:noFill/>
              </a:ln>
            </p:spPr>
            <p:txBody>
              <a:bodyPr/>
              <a:lstStyle/>
              <a:p>
                <a:r>
                  <a:rPr lang="en-US">
                    <a:noFill/>
                  </a:rPr>
                  <a:t> </a:t>
                </a:r>
              </a:p>
            </p:txBody>
          </p:sp>
        </mc:Fallback>
      </mc:AlternateContent>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8" name="Google Shape;278;g104476d1465_1_17">
            <a:extLst>
              <a:ext uri="{FF2B5EF4-FFF2-40B4-BE49-F238E27FC236}">
                <a16:creationId xmlns:a16="http://schemas.microsoft.com/office/drawing/2014/main" id="{2B75021C-9817-6449-B54A-E1D9EB71417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5"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A624AF77-08A3-DD42-81E0-50714ED43DE6}"/>
                  </a:ext>
                </a:extLst>
              </p:cNvPr>
              <p:cNvSpPr/>
              <p:nvPr/>
            </p:nvSpPr>
            <p:spPr>
              <a:xfrm>
                <a:off x="1844231" y="2374797"/>
                <a:ext cx="2022379" cy="7975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slope</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𝑦</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-intercept</a:t>
                </a:r>
                <a:endParaRPr lang="en-US" sz="2000" dirty="0">
                  <a:ea typeface="Times New Roman" panose="02020603050405020304" pitchFamily="18" charset="0"/>
                  <a:cs typeface="Cambria" panose="02040503050406030204" pitchFamily="18" charset="0"/>
                </a:endParaRPr>
              </a:p>
            </p:txBody>
          </p:sp>
        </mc:Choice>
        <mc:Fallback xmlns="">
          <p:sp>
            <p:nvSpPr>
              <p:cNvPr id="12" name="Rounded Rectangle 11">
                <a:extLst>
                  <a:ext uri="{FF2B5EF4-FFF2-40B4-BE49-F238E27FC236}">
                    <a16:creationId xmlns:a16="http://schemas.microsoft.com/office/drawing/2014/main" id="{A624AF77-08A3-DD42-81E0-50714ED43DE6}"/>
                  </a:ext>
                </a:extLst>
              </p:cNvPr>
              <p:cNvSpPr>
                <a:spLocks noRot="1" noChangeAspect="1" noMove="1" noResize="1" noEditPoints="1" noAdjustHandles="1" noChangeArrowheads="1" noChangeShapeType="1" noTextEdit="1"/>
              </p:cNvSpPr>
              <p:nvPr/>
            </p:nvSpPr>
            <p:spPr>
              <a:xfrm>
                <a:off x="1844231" y="2374797"/>
                <a:ext cx="2022379" cy="797560"/>
              </a:xfrm>
              <a:prstGeom prst="roundRect">
                <a:avLst/>
              </a:prstGeom>
              <a:blipFill>
                <a:blip r:embed="rId7"/>
                <a:stretch>
                  <a:fillRect l="-901" r="-300" b="-9091"/>
                </a:stretch>
              </a:blipFill>
              <a:ln>
                <a:solidFill>
                  <a:schemeClr val="tx1"/>
                </a:solidFill>
              </a:ln>
              <a:effectLst/>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6E648114-9435-0A4F-B703-B1C0775516A1}"/>
              </a:ext>
            </a:extLst>
          </p:cNvPr>
          <p:cNvSpPr/>
          <p:nvPr/>
        </p:nvSpPr>
        <p:spPr>
          <a:xfrm>
            <a:off x="5985709" y="2374797"/>
            <a:ext cx="2594146" cy="7975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initial value,</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rate of change,</a:t>
            </a:r>
            <a:endParaRPr lang="en-US" sz="2000" dirty="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C8C21E7B-4DBB-A543-A8CF-251790206F4B}"/>
                  </a:ext>
                </a:extLst>
              </p:cNvPr>
              <p:cNvSpPr/>
              <p:nvPr/>
            </p:nvSpPr>
            <p:spPr>
              <a:xfrm>
                <a:off x="1844232" y="3835207"/>
                <a:ext cx="2022379" cy="7975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slope</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𝑦</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-intercept</a:t>
                </a:r>
                <a:endParaRPr lang="en-US" sz="2000" dirty="0">
                  <a:ea typeface="Times New Roman" panose="02020603050405020304" pitchFamily="18" charset="0"/>
                  <a:cs typeface="Cambria" panose="02040503050406030204" pitchFamily="18" charset="0"/>
                </a:endParaRPr>
              </a:p>
            </p:txBody>
          </p:sp>
        </mc:Choice>
        <mc:Fallback xmlns="">
          <p:sp>
            <p:nvSpPr>
              <p:cNvPr id="17" name="Rounded Rectangle 16">
                <a:extLst>
                  <a:ext uri="{FF2B5EF4-FFF2-40B4-BE49-F238E27FC236}">
                    <a16:creationId xmlns:a16="http://schemas.microsoft.com/office/drawing/2014/main" id="{C8C21E7B-4DBB-A543-A8CF-251790206F4B}"/>
                  </a:ext>
                </a:extLst>
              </p:cNvPr>
              <p:cNvSpPr>
                <a:spLocks noRot="1" noChangeAspect="1" noMove="1" noResize="1" noEditPoints="1" noAdjustHandles="1" noChangeArrowheads="1" noChangeShapeType="1" noTextEdit="1"/>
              </p:cNvSpPr>
              <p:nvPr/>
            </p:nvSpPr>
            <p:spPr>
              <a:xfrm>
                <a:off x="1844232" y="3835207"/>
                <a:ext cx="2022379" cy="797560"/>
              </a:xfrm>
              <a:prstGeom prst="roundRect">
                <a:avLst/>
              </a:prstGeom>
              <a:blipFill>
                <a:blip r:embed="rId8"/>
                <a:stretch>
                  <a:fillRect l="-621" b="-9231"/>
                </a:stretch>
              </a:blipFill>
              <a:ln>
                <a:solidFill>
                  <a:schemeClr val="tx1"/>
                </a:solidFill>
              </a:ln>
              <a:effectLst/>
            </p:spPr>
            <p:txBody>
              <a:bodyPr/>
              <a:lstStyle/>
              <a:p>
                <a:r>
                  <a:rPr lang="en-US">
                    <a:noFill/>
                  </a:rPr>
                  <a:t> </a:t>
                </a:r>
              </a:p>
            </p:txBody>
          </p:sp>
        </mc:Fallback>
      </mc:AlternateContent>
      <p:sp>
        <p:nvSpPr>
          <p:cNvPr id="18" name="Rounded Rectangle 17">
            <a:extLst>
              <a:ext uri="{FF2B5EF4-FFF2-40B4-BE49-F238E27FC236}">
                <a16:creationId xmlns:a16="http://schemas.microsoft.com/office/drawing/2014/main" id="{1F66FE5D-58BC-F54C-AB92-5050B76D1704}"/>
              </a:ext>
            </a:extLst>
          </p:cNvPr>
          <p:cNvSpPr/>
          <p:nvPr/>
        </p:nvSpPr>
        <p:spPr>
          <a:xfrm>
            <a:off x="5878831" y="3848019"/>
            <a:ext cx="2594146" cy="7975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initial value,</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rate of change,</a:t>
            </a:r>
            <a:endParaRPr lang="en-US" sz="2000" dirty="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79707" y="563937"/>
                <a:ext cx="10924463" cy="3385542"/>
              </a:xfrm>
              <a:prstGeom prst="rect">
                <a:avLst/>
              </a:prstGeom>
              <a:noFill/>
            </p:spPr>
            <p:txBody>
              <a:bodyPr wrap="square" rtlCol="0">
                <a:spAutoFit/>
              </a:bodyPr>
              <a:lstStyle/>
              <a:p>
                <a:pPr marL="457200" indent="-457200">
                  <a:buFont typeface="+mj-lt"/>
                  <a:buAutoNum type="arabicPeriod" startAt="2"/>
                </a:pPr>
                <a:r>
                  <a:rPr lang="en-US" sz="2000" dirty="0">
                    <a:latin typeface="Verdana" pitchFamily="34" charset="0"/>
                    <a:ea typeface="Verdana" pitchFamily="34" charset="0"/>
                    <a:cs typeface="Verdana"/>
                  </a:rPr>
                  <a:t>Lyla notices that the level of the water in her swimming pool drops each week if she doesn’t regularly refill it, especially in the hot summer months. The equation</a:t>
                </a:r>
                <a14:m>
                  <m:oMath xmlns:m="http://schemas.openxmlformats.org/officeDocument/2006/math">
                    <m:r>
                      <a:rPr lang="en-PH" sz="2000">
                        <a:latin typeface="Cambria Math"/>
                        <a:ea typeface="Cambria Math"/>
                        <a:cs typeface="Cambria Math"/>
                      </a:rPr>
                      <m:t> </m:t>
                    </m:r>
                    <m:r>
                      <a:rPr lang="en-US" sz="2000" i="1">
                        <a:latin typeface="Cambria Math"/>
                        <a:ea typeface="Cambria Math"/>
                        <a:cs typeface="Cambria Math"/>
                      </a:rPr>
                      <m:t>𝑦</m:t>
                    </m:r>
                    <m:r>
                      <a:rPr lang="en-US" sz="2000" i="1">
                        <a:latin typeface="Cambria Math"/>
                        <a:ea typeface="Cambria Math"/>
                        <a:cs typeface="Cambria Math"/>
                      </a:rPr>
                      <m:t>=−1.6</m:t>
                    </m:r>
                    <m:r>
                      <a:rPr lang="en-US" sz="2000" i="1">
                        <a:latin typeface="Cambria Math"/>
                        <a:ea typeface="Cambria Math"/>
                        <a:cs typeface="Cambria Math"/>
                      </a:rPr>
                      <m:t>𝑥</m:t>
                    </m:r>
                    <m:r>
                      <a:rPr lang="en-US" sz="2000" i="1">
                        <a:latin typeface="Cambria Math"/>
                        <a:ea typeface="Cambria Math"/>
                        <a:cs typeface="Cambria Math"/>
                      </a:rPr>
                      <m:t>+42</m:t>
                    </m:r>
                  </m:oMath>
                </a14:m>
                <a:r>
                  <a:rPr lang="en-US" sz="2000" dirty="0">
                    <a:latin typeface="Verdana" pitchFamily="34" charset="0"/>
                    <a:ea typeface="Verdana" pitchFamily="34" charset="0"/>
                    <a:cs typeface="Verdana"/>
                  </a:rPr>
                  <a:t> represents the height of the water at the shallow end of the pool, </a:t>
                </a:r>
                <a14:m>
                  <m:oMath xmlns:m="http://schemas.openxmlformats.org/officeDocument/2006/math">
                    <m:r>
                      <a:rPr lang="en-US" sz="2000" i="1">
                        <a:latin typeface="Cambria Math"/>
                        <a:ea typeface="Cambria Math"/>
                        <a:cs typeface="Cambria Math"/>
                      </a:rPr>
                      <m:t>𝑦</m:t>
                    </m:r>
                  </m:oMath>
                </a14:m>
                <a:r>
                  <a:rPr lang="en-US" sz="2000" dirty="0">
                    <a:latin typeface="Verdana" pitchFamily="34" charset="0"/>
                    <a:ea typeface="Verdana" pitchFamily="34" charset="0"/>
                    <a:cs typeface="Verdana"/>
                  </a:rPr>
                  <a:t>, in inches after </a:t>
                </a:r>
                <a14:m>
                  <m:oMath xmlns:m="http://schemas.openxmlformats.org/officeDocument/2006/math">
                    <m:r>
                      <a:rPr lang="en-US" sz="2000" i="1">
                        <a:latin typeface="Cambria Math"/>
                        <a:ea typeface="Cambria Math"/>
                        <a:cs typeface="Cambria Math"/>
                      </a:rPr>
                      <m:t>𝑥</m:t>
                    </m:r>
                  </m:oMath>
                </a14:m>
                <a:r>
                  <a:rPr lang="en-US" sz="2000" dirty="0">
                    <a:latin typeface="Verdana" pitchFamily="34" charset="0"/>
                    <a:ea typeface="Verdana" pitchFamily="34" charset="0"/>
                    <a:cs typeface="Verdana"/>
                  </a:rPr>
                  <a:t> number of weeks beginning in June.</a:t>
                </a:r>
              </a:p>
              <a:p>
                <a:pPr marL="457200" indent="-457200">
                  <a:buFont typeface="+mj-lt"/>
                  <a:buAutoNum type="arabicPeriod" startAt="2"/>
                </a:pPr>
                <a:endParaRPr lang="en-US" sz="2000" dirty="0">
                  <a:latin typeface="Verdana" pitchFamily="34" charset="0"/>
                  <a:ea typeface="Verdana" pitchFamily="34" charset="0"/>
                  <a:cs typeface="Verdana"/>
                </a:endParaRPr>
              </a:p>
              <a:p>
                <a:pPr marL="914400" indent="-450850">
                  <a:buFont typeface="+mj-lt"/>
                  <a:buAutoNum type="alphaLcPeriod"/>
                </a:pPr>
                <a:r>
                  <a:rPr lang="en-US" sz="2000" dirty="0">
                    <a:latin typeface="Verdana" pitchFamily="34" charset="0"/>
                    <a:ea typeface="Verdana" pitchFamily="34" charset="0"/>
                    <a:cs typeface="Verdana"/>
                  </a:rPr>
                  <a:t>Which two quantities are being compared in this linear relationship?</a:t>
                </a:r>
              </a:p>
              <a:p>
                <a:pPr marL="914400" indent="-450850">
                  <a:buFont typeface="+mj-lt"/>
                  <a:buAutoNum type="alphaLcPeriod"/>
                </a:pPr>
                <a:endParaRPr lang="en-US" sz="2000" dirty="0">
                  <a:latin typeface="Verdana" pitchFamily="34" charset="0"/>
                  <a:ea typeface="Verdana" pitchFamily="34" charset="0"/>
                  <a:cs typeface="Cambria"/>
                </a:endParaRPr>
              </a:p>
              <a:p>
                <a:pPr marL="914400" indent="-450850">
                  <a:buFont typeface="+mj-lt"/>
                  <a:buAutoNum type="alphaLcPeriod"/>
                </a:pPr>
                <a:endParaRPr lang="en-US" sz="2000" dirty="0">
                  <a:latin typeface="Verdana" pitchFamily="34" charset="0"/>
                  <a:ea typeface="Verdana" pitchFamily="34" charset="0"/>
                  <a:cs typeface="Verdana"/>
                </a:endParaRPr>
              </a:p>
              <a:p>
                <a:pPr marL="914400" indent="-450850">
                  <a:buFont typeface="+mj-lt"/>
                  <a:buAutoNum type="alphaLcPeriod"/>
                </a:pPr>
                <a:r>
                  <a:rPr lang="en-US" sz="2000" dirty="0">
                    <a:latin typeface="Verdana" pitchFamily="34" charset="0"/>
                    <a:ea typeface="Verdana" pitchFamily="34" charset="0"/>
                    <a:cs typeface="Verdana"/>
                  </a:rPr>
                  <a:t>Use the equation to determine the slope and the </a:t>
                </a:r>
                <a:br>
                  <a:rPr lang="en-PH" sz="2000" i="1" dirty="0">
                    <a:latin typeface="Cambria Math"/>
                    <a:ea typeface="Cambria Math"/>
                    <a:cs typeface="Cambria Math"/>
                  </a:rPr>
                </a:br>
                <a14:m>
                  <m:oMath xmlns:m="http://schemas.openxmlformats.org/officeDocument/2006/math">
                    <m:r>
                      <a:rPr lang="en-US" sz="2000" i="1">
                        <a:latin typeface="Cambria Math"/>
                        <a:ea typeface="Cambria Math"/>
                        <a:cs typeface="Cambria Math"/>
                      </a:rPr>
                      <m:t>𝑦</m:t>
                    </m:r>
                  </m:oMath>
                </a14:m>
                <a:r>
                  <a:rPr lang="en-US" sz="2000" dirty="0">
                    <a:latin typeface="Verdana" pitchFamily="34" charset="0"/>
                    <a:ea typeface="Verdana" pitchFamily="34" charset="0"/>
                    <a:cs typeface="Verdana"/>
                  </a:rPr>
                  <a:t>-intercept in this relationship.</a:t>
                </a:r>
                <a:endParaRPr lang="en-PH" sz="2000" dirty="0">
                  <a:latin typeface="Verdana" pitchFamily="34" charset="0"/>
                  <a:ea typeface="Verdana" pitchFamily="34" charset="0"/>
                  <a:cs typeface="Cambria"/>
                </a:endParaRPr>
              </a:p>
              <a:p>
                <a:pPr marL="809625" indent="-360363">
                  <a:buFont typeface="+mj-lt"/>
                  <a:buAutoNum type="alphaLcPeriod"/>
                </a:pPr>
                <a:endParaRPr lang="en-PH" dirty="0">
                  <a:latin typeface="Verdana" pitchFamily="34" charset="0"/>
                  <a:ea typeface="Verdana" pitchFamily="34" charset="0"/>
                  <a:cs typeface="Cambria"/>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79707" y="563937"/>
                <a:ext cx="10924463" cy="3385542"/>
              </a:xfrm>
              <a:prstGeom prst="rect">
                <a:avLst/>
              </a:prstGeom>
              <a:blipFill>
                <a:blip r:embed="rId4"/>
                <a:stretch>
                  <a:fillRect l="-614" t="-1261" r="-100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26801744"/>
                  </p:ext>
                </p:extLst>
              </p:nvPr>
            </p:nvGraphicFramePr>
            <p:xfrm>
              <a:off x="3818925" y="3926692"/>
              <a:ext cx="4931763" cy="1236269"/>
            </p:xfrm>
            <a:graphic>
              <a:graphicData uri="http://schemas.openxmlformats.org/drawingml/2006/table">
                <a:tbl>
                  <a:tblPr bandRow="1">
                    <a:tableStyleId>{A91F0D33-8C57-4600-99A7-42BC86742BE1}</a:tableStyleId>
                  </a:tblPr>
                  <a:tblGrid>
                    <a:gridCol w="2353838">
                      <a:extLst>
                        <a:ext uri="{9D8B030D-6E8A-4147-A177-3AD203B41FA5}">
                          <a16:colId xmlns:a16="http://schemas.microsoft.com/office/drawing/2014/main" val="20000"/>
                        </a:ext>
                      </a:extLst>
                    </a:gridCol>
                    <a:gridCol w="2577925">
                      <a:extLst>
                        <a:ext uri="{9D8B030D-6E8A-4147-A177-3AD203B41FA5}">
                          <a16:colId xmlns:a16="http://schemas.microsoft.com/office/drawing/2014/main" val="20001"/>
                        </a:ext>
                      </a:extLst>
                    </a:gridCol>
                  </a:tblGrid>
                  <a:tr h="486761">
                    <a:tc>
                      <a:txBody>
                        <a:bodyPr/>
                        <a:lstStyle/>
                        <a:p>
                          <a:pPr algn="ctr">
                            <a:spcAft>
                              <a:spcPts val="1000"/>
                            </a:spcAft>
                          </a:pPr>
                          <a:r>
                            <a:rPr lang="en-US" sz="2000" b="1" dirty="0">
                              <a:effectLst/>
                              <a:latin typeface="Verdana" pitchFamily="34" charset="0"/>
                              <a:ea typeface="Verdana" pitchFamily="34" charset="0"/>
                            </a:rPr>
                            <a:t>Slope</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14:m>
                            <m:oMath xmlns:m="http://schemas.openxmlformats.org/officeDocument/2006/math">
                              <m:r>
                                <a:rPr lang="en-US" sz="2000" b="1" i="1">
                                  <a:effectLst/>
                                  <a:latin typeface="Cambria Math" pitchFamily="18" charset="0"/>
                                  <a:ea typeface="Cambria Math" pitchFamily="18" charset="0"/>
                                </a:rPr>
                                <m:t>𝒚</m:t>
                              </m:r>
                            </m:oMath>
                          </a14:m>
                          <a:r>
                            <a:rPr lang="en-US" sz="2000" b="1" dirty="0">
                              <a:effectLst/>
                              <a:latin typeface="Verdana" pitchFamily="34" charset="0"/>
                              <a:ea typeface="Verdana" pitchFamily="34" charset="0"/>
                            </a:rPr>
                            <a:t>-intercept</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49508">
                    <a:tc>
                      <a:txBody>
                        <a:bodyPr/>
                        <a:lstStyle/>
                        <a:p>
                          <a:pPr marL="457200">
                            <a:spcAft>
                              <a:spcPts val="1000"/>
                            </a:spcAft>
                          </a:pPr>
                          <a:r>
                            <a:rPr lang="en-US" sz="2000" b="1" dirty="0">
                              <a:effectLst/>
                              <a:latin typeface="Verdana" pitchFamily="34" charset="0"/>
                              <a:ea typeface="Verdana" pitchFamily="34" charset="0"/>
                            </a:rPr>
                            <a:t> </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b="1" dirty="0">
                              <a:effectLst/>
                              <a:latin typeface="Verdana" pitchFamily="34" charset="0"/>
                              <a:ea typeface="Verdana" pitchFamily="34" charset="0"/>
                            </a:rPr>
                            <a:t> </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26801744"/>
                  </p:ext>
                </p:extLst>
              </p:nvPr>
            </p:nvGraphicFramePr>
            <p:xfrm>
              <a:off x="3818925" y="3926692"/>
              <a:ext cx="4931763" cy="1236269"/>
            </p:xfrm>
            <a:graphic>
              <a:graphicData uri="http://schemas.openxmlformats.org/drawingml/2006/table">
                <a:tbl>
                  <a:tblPr bandRow="1">
                    <a:tableStyleId>{A91F0D33-8C57-4600-99A7-42BC86742BE1}</a:tableStyleId>
                  </a:tblPr>
                  <a:tblGrid>
                    <a:gridCol w="2353838">
                      <a:extLst>
                        <a:ext uri="{9D8B030D-6E8A-4147-A177-3AD203B41FA5}">
                          <a16:colId xmlns:a16="http://schemas.microsoft.com/office/drawing/2014/main" val="20000"/>
                        </a:ext>
                      </a:extLst>
                    </a:gridCol>
                    <a:gridCol w="2577925">
                      <a:extLst>
                        <a:ext uri="{9D8B030D-6E8A-4147-A177-3AD203B41FA5}">
                          <a16:colId xmlns:a16="http://schemas.microsoft.com/office/drawing/2014/main" val="20001"/>
                        </a:ext>
                      </a:extLst>
                    </a:gridCol>
                  </a:tblGrid>
                  <a:tr h="486761">
                    <a:tc>
                      <a:txBody>
                        <a:bodyPr/>
                        <a:lstStyle/>
                        <a:p>
                          <a:pPr algn="ctr">
                            <a:spcAft>
                              <a:spcPts val="1000"/>
                            </a:spcAft>
                          </a:pPr>
                          <a:r>
                            <a:rPr lang="en-US" sz="2000" b="1" dirty="0">
                              <a:effectLst/>
                              <a:latin typeface="Verdana" pitchFamily="34" charset="0"/>
                              <a:ea typeface="Verdana" pitchFamily="34" charset="0"/>
                            </a:rPr>
                            <a:t>Slope</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1176" t="-2564" r="-490" b="-156410"/>
                          </a:stretch>
                        </a:blipFill>
                      </a:tcPr>
                    </a:tc>
                    <a:extLst>
                      <a:ext uri="{0D108BD9-81ED-4DB2-BD59-A6C34878D82A}">
                        <a16:rowId xmlns:a16="http://schemas.microsoft.com/office/drawing/2014/main" val="10000"/>
                      </a:ext>
                    </a:extLst>
                  </a:tr>
                  <a:tr h="749508">
                    <a:tc>
                      <a:txBody>
                        <a:bodyPr/>
                        <a:lstStyle/>
                        <a:p>
                          <a:pPr marL="457200">
                            <a:spcAft>
                              <a:spcPts val="1000"/>
                            </a:spcAft>
                          </a:pPr>
                          <a:r>
                            <a:rPr lang="en-US" sz="2000" b="1" dirty="0">
                              <a:effectLst/>
                              <a:latin typeface="Verdana" pitchFamily="34" charset="0"/>
                              <a:ea typeface="Verdana" pitchFamily="34" charset="0"/>
                            </a:rPr>
                            <a:t> </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b="1" dirty="0">
                              <a:effectLst/>
                              <a:latin typeface="Verdana" pitchFamily="34" charset="0"/>
                              <a:ea typeface="Verdana" pitchFamily="34" charset="0"/>
                            </a:rPr>
                            <a:t> </a:t>
                          </a:r>
                          <a:endParaRPr lang="en-PH" sz="1400" b="1"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312</a:t>
            </a:r>
            <a:endParaRPr i="1" dirty="0">
              <a:latin typeface="Calibri"/>
              <a:ea typeface="Calibri"/>
              <a:cs typeface="Calibri"/>
              <a:sym typeface="Calibri"/>
            </a:endParaRPr>
          </a:p>
        </p:txBody>
      </p:sp>
    </p:spTree>
    <p:extLst>
      <p:ext uri="{BB962C8B-B14F-4D97-AF65-F5344CB8AC3E}">
        <p14:creationId xmlns:p14="http://schemas.microsoft.com/office/powerpoint/2010/main" val="161775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65633" y="266609"/>
                <a:ext cx="10994996" cy="5940088"/>
              </a:xfrm>
              <a:prstGeom prst="rect">
                <a:avLst/>
              </a:prstGeom>
              <a:noFill/>
            </p:spPr>
            <p:txBody>
              <a:bodyPr wrap="square" rtlCol="0">
                <a:spAutoFit/>
              </a:bodyPr>
              <a:lstStyle/>
              <a:p>
                <a:pPr marL="809625" indent="-449263">
                  <a:lnSpc>
                    <a:spcPct val="300000"/>
                  </a:lnSpc>
                  <a:buFont typeface="+mj-lt"/>
                  <a:buAutoNum type="alphaLcPeriod" startAt="3"/>
                </a:pPr>
                <a:r>
                  <a:rPr lang="en-US" sz="2000" dirty="0">
                    <a:latin typeface="Verdana" pitchFamily="34" charset="0"/>
                    <a:ea typeface="Verdana" pitchFamily="34" charset="0"/>
                    <a:cs typeface="Verdana"/>
                  </a:rPr>
                  <a:t>Complete each statement to interpret the meaning of each value in context.</a:t>
                </a:r>
                <a:br>
                  <a:rPr lang="en-PH" sz="2000" dirty="0">
                    <a:latin typeface="Verdana" pitchFamily="34" charset="0"/>
                    <a:ea typeface="Verdana" pitchFamily="34" charset="0"/>
                    <a:cs typeface="Verdana"/>
                  </a:rPr>
                </a:br>
                <a:r>
                  <a:rPr lang="en-US" sz="2000" dirty="0">
                    <a:latin typeface="Verdana" pitchFamily="34" charset="0"/>
                    <a:ea typeface="Verdana" pitchFamily="34" charset="0"/>
                    <a:cs typeface="Cambria"/>
                  </a:rPr>
                  <a:t>The slope means 						  is 		        			   by 	                    each 		   </a:t>
                </a:r>
                <a:r>
                  <a:rPr lang="en-US" sz="2000" dirty="0">
                    <a:latin typeface="Verdana" pitchFamily="34" charset="0"/>
                    <a:ea typeface="Verdana" pitchFamily="34" charset="0"/>
                  </a:rPr>
                  <a:t>beginning in June. </a:t>
                </a:r>
              </a:p>
              <a:p>
                <a:pPr marL="360362">
                  <a:lnSpc>
                    <a:spcPct val="300000"/>
                  </a:lnSpc>
                </a:pPr>
                <a:endParaRPr lang="en-US" sz="2000" dirty="0">
                  <a:latin typeface="Verdana" pitchFamily="34" charset="0"/>
                  <a:ea typeface="Verdana" pitchFamily="34" charset="0"/>
                </a:endParaRPr>
              </a:p>
              <a:p>
                <a:pPr marL="795338">
                  <a:lnSpc>
                    <a:spcPct val="300000"/>
                  </a:lnSpc>
                </a:pPr>
                <a:r>
                  <a:rPr lang="en-US" sz="2000" dirty="0">
                    <a:latin typeface="Verdana" pitchFamily="34" charset="0"/>
                    <a:ea typeface="Verdana" pitchFamily="34" charset="0"/>
                  </a:rPr>
                  <a:t>The </a:t>
                </a:r>
                <a14:m>
                  <m:oMath xmlns:m="http://schemas.openxmlformats.org/officeDocument/2006/math">
                    <m:r>
                      <a:rPr lang="en-US" sz="2000" i="1">
                        <a:latin typeface="Cambria Math" pitchFamily="18" charset="0"/>
                        <a:ea typeface="Cambria Math" pitchFamily="18" charset="0"/>
                      </a:rPr>
                      <m:t>𝑦</m:t>
                    </m:r>
                  </m:oMath>
                </a14:m>
                <a:r>
                  <a:rPr lang="en-US" sz="2000" dirty="0">
                    <a:latin typeface="Verdana" pitchFamily="34" charset="0"/>
                    <a:ea typeface="Verdana" pitchFamily="34" charset="0"/>
                  </a:rPr>
                  <a:t>-intercept means				   	          is 		         		 on ____________.</a:t>
                </a:r>
                <a:endParaRPr lang="en-PH" sz="2000" dirty="0">
                  <a:latin typeface="Verdana" pitchFamily="34" charset="0"/>
                  <a:ea typeface="Verdana" pitchFamily="34" charset="0"/>
                </a:endParaRPr>
              </a:p>
              <a:p>
                <a:pPr marL="809625" indent="-449263">
                  <a:buFont typeface="+mj-lt"/>
                  <a:buAutoNum type="alphaLcPeriod" startAt="3"/>
                </a:pPr>
                <a:endParaRPr lang="en-PH" sz="2000" dirty="0">
                  <a:latin typeface="Verdana" pitchFamily="34" charset="0"/>
                  <a:ea typeface="Verdana"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65633" y="266609"/>
                <a:ext cx="10994996" cy="5940088"/>
              </a:xfrm>
              <a:prstGeom prst="rect">
                <a:avLst/>
              </a:prstGeom>
              <a:blipFill>
                <a:blip r:embed="rId4"/>
                <a:stretch>
                  <a:fillRect/>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2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312</a:t>
            </a:r>
            <a:endParaRPr i="1" dirty="0">
              <a:latin typeface="Calibri"/>
              <a:ea typeface="Calibri"/>
              <a:cs typeface="Calibri"/>
              <a:sym typeface="Calibri"/>
            </a:endParaRPr>
          </a:p>
        </p:txBody>
      </p:sp>
      <p:sp>
        <p:nvSpPr>
          <p:cNvPr id="12" name="Rounded Rectangle 11">
            <a:extLst>
              <a:ext uri="{FF2B5EF4-FFF2-40B4-BE49-F238E27FC236}">
                <a16:creationId xmlns:a16="http://schemas.microsoft.com/office/drawing/2014/main" id="{38ACA18F-2320-C647-966A-0DC7A459FE53}"/>
              </a:ext>
            </a:extLst>
          </p:cNvPr>
          <p:cNvSpPr/>
          <p:nvPr/>
        </p:nvSpPr>
        <p:spPr>
          <a:xfrm>
            <a:off x="1470639" y="2342027"/>
            <a:ext cx="2103076" cy="7975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increasing</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decreasing</a:t>
            </a:r>
            <a:endParaRPr lang="en-US" sz="2000" dirty="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034EFC64-C5AC-384E-884F-1FB281BED5FD}"/>
                  </a:ext>
                </a:extLst>
              </p:cNvPr>
              <p:cNvSpPr/>
              <p:nvPr/>
            </p:nvSpPr>
            <p:spPr>
              <a:xfrm>
                <a:off x="4118576" y="2291575"/>
                <a:ext cx="1890338" cy="116699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1.6</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weeks</a:t>
                </a:r>
                <a:endParaRPr lang="en-US" sz="2000" dirty="0">
                  <a:ea typeface="Times New Roman" panose="02020603050405020304" pitchFamily="18" charset="0"/>
                  <a:cs typeface="Cambria" panose="02040503050406030204" pitchFamily="18"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1.6</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inches</a:t>
                </a:r>
                <a:endParaRPr lang="en-US" sz="2000" dirty="0">
                  <a:ea typeface="Times New Roman" panose="02020603050405020304" pitchFamily="18" charset="0"/>
                  <a:cs typeface="Cambria" panose="02040503050406030204" pitchFamily="18"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42</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weeks</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42</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inches</a:t>
                </a:r>
                <a:endParaRPr lang="en-US" sz="2000" dirty="0">
                  <a:ea typeface="Times New Roman" panose="02020603050405020304" pitchFamily="18" charset="0"/>
                  <a:cs typeface="Cambria" panose="02040503050406030204" pitchFamily="18" charset="0"/>
                </a:endParaRPr>
              </a:p>
            </p:txBody>
          </p:sp>
        </mc:Choice>
        <mc:Fallback xmlns="">
          <p:sp>
            <p:nvSpPr>
              <p:cNvPr id="13" name="Rounded Rectangle 12">
                <a:extLst>
                  <a:ext uri="{FF2B5EF4-FFF2-40B4-BE49-F238E27FC236}">
                    <a16:creationId xmlns:a16="http://schemas.microsoft.com/office/drawing/2014/main" id="{034EFC64-C5AC-384E-884F-1FB281BED5FD}"/>
                  </a:ext>
                </a:extLst>
              </p:cNvPr>
              <p:cNvSpPr>
                <a:spLocks noRot="1" noChangeAspect="1" noMove="1" noResize="1" noEditPoints="1" noAdjustHandles="1" noChangeArrowheads="1" noChangeShapeType="1" noTextEdit="1"/>
              </p:cNvSpPr>
              <p:nvPr/>
            </p:nvSpPr>
            <p:spPr>
              <a:xfrm>
                <a:off x="4118576" y="2291575"/>
                <a:ext cx="1890338" cy="1166999"/>
              </a:xfrm>
              <a:prstGeom prst="roundRect">
                <a:avLst/>
              </a:prstGeom>
              <a:blipFill>
                <a:blip r:embed="rId5"/>
                <a:stretch>
                  <a:fillRect t="-8290" b="-16580"/>
                </a:stretch>
              </a:blipFill>
              <a:ln>
                <a:solidFill>
                  <a:schemeClr val="tx1"/>
                </a:solidFill>
              </a:ln>
              <a:effectLst/>
            </p:spPr>
            <p:txBody>
              <a:bodyPr/>
              <a:lstStyle/>
              <a:p>
                <a:r>
                  <a:rPr lang="en-US">
                    <a:noFill/>
                  </a:rPr>
                  <a:t> </a:t>
                </a:r>
              </a:p>
            </p:txBody>
          </p:sp>
        </mc:Fallback>
      </mc:AlternateContent>
      <p:sp>
        <p:nvSpPr>
          <p:cNvPr id="15" name="Rounded Rectangle 14">
            <a:extLst>
              <a:ext uri="{FF2B5EF4-FFF2-40B4-BE49-F238E27FC236}">
                <a16:creationId xmlns:a16="http://schemas.microsoft.com/office/drawing/2014/main" id="{BE4B946F-EE2C-CB49-8E44-9A934ECEA9ED}"/>
              </a:ext>
            </a:extLst>
          </p:cNvPr>
          <p:cNvSpPr/>
          <p:nvPr/>
        </p:nvSpPr>
        <p:spPr>
          <a:xfrm>
            <a:off x="6773789" y="2328601"/>
            <a:ext cx="1358727" cy="7975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inch</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week</a:t>
            </a:r>
            <a:endParaRPr lang="en-US" sz="2000" dirty="0">
              <a:ea typeface="Times New Roman" panose="02020603050405020304" pitchFamily="18" charset="0"/>
              <a:cs typeface="Cambria" panose="02040503050406030204" pitchFamily="18" charset="0"/>
            </a:endParaRPr>
          </a:p>
        </p:txBody>
      </p:sp>
      <p:sp>
        <p:nvSpPr>
          <p:cNvPr id="16" name="Rounded Rectangle 15">
            <a:extLst>
              <a:ext uri="{FF2B5EF4-FFF2-40B4-BE49-F238E27FC236}">
                <a16:creationId xmlns:a16="http://schemas.microsoft.com/office/drawing/2014/main" id="{185DB08D-E949-EB46-BBC0-796EE1ED2D5D}"/>
              </a:ext>
            </a:extLst>
          </p:cNvPr>
          <p:cNvSpPr/>
          <p:nvPr/>
        </p:nvSpPr>
        <p:spPr>
          <a:xfrm>
            <a:off x="4410217" y="4108785"/>
            <a:ext cx="5174880" cy="839563"/>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the height of the water in the pool</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the number of weeks since June 1</a:t>
            </a:r>
            <a:r>
              <a:rPr lang="en-US" sz="2000" baseline="30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st</a:t>
            </a: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a:t>
            </a:r>
            <a:endParaRPr lang="en-US" sz="2000" dirty="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41E37A70-94DB-2F44-9106-388A1EADF200}"/>
                  </a:ext>
                </a:extLst>
              </p:cNvPr>
              <p:cNvSpPr/>
              <p:nvPr/>
            </p:nvSpPr>
            <p:spPr>
              <a:xfrm>
                <a:off x="1470639" y="4948348"/>
                <a:ext cx="1928092" cy="136144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1.6</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weeks</a:t>
                </a:r>
                <a:endParaRPr lang="en-US" sz="2000" dirty="0">
                  <a:ea typeface="Times New Roman" panose="02020603050405020304" pitchFamily="18" charset="0"/>
                  <a:cs typeface="Cambria" panose="02040503050406030204" pitchFamily="18"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1.6</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inches</a:t>
                </a:r>
                <a:endParaRPr lang="en-US" sz="2000" dirty="0">
                  <a:ea typeface="Times New Roman" panose="02020603050405020304" pitchFamily="18" charset="0"/>
                  <a:cs typeface="Cambria" panose="02040503050406030204" pitchFamily="18"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42</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weeks</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Cambria" panose="02040503050406030204" pitchFamily="18" charset="0"/>
                      </a:rPr>
                      <m:t>42</m:t>
                    </m:r>
                  </m:oMath>
                </a14:m>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inches</a:t>
                </a:r>
                <a:endParaRPr lang="en-US" sz="2000" dirty="0">
                  <a:ea typeface="Times New Roman" panose="02020603050405020304" pitchFamily="18" charset="0"/>
                  <a:cs typeface="Cambria" panose="02040503050406030204" pitchFamily="18" charset="0"/>
                </a:endParaRPr>
              </a:p>
            </p:txBody>
          </p:sp>
        </mc:Choice>
        <mc:Fallback xmlns="">
          <p:sp>
            <p:nvSpPr>
              <p:cNvPr id="17" name="Rounded Rectangle 16">
                <a:extLst>
                  <a:ext uri="{FF2B5EF4-FFF2-40B4-BE49-F238E27FC236}">
                    <a16:creationId xmlns:a16="http://schemas.microsoft.com/office/drawing/2014/main" id="{41E37A70-94DB-2F44-9106-388A1EADF200}"/>
                  </a:ext>
                </a:extLst>
              </p:cNvPr>
              <p:cNvSpPr>
                <a:spLocks noRot="1" noChangeAspect="1" noMove="1" noResize="1" noEditPoints="1" noAdjustHandles="1" noChangeArrowheads="1" noChangeShapeType="1" noTextEdit="1"/>
              </p:cNvSpPr>
              <p:nvPr/>
            </p:nvSpPr>
            <p:spPr>
              <a:xfrm>
                <a:off x="1470639" y="4948348"/>
                <a:ext cx="1928092" cy="1361440"/>
              </a:xfrm>
              <a:prstGeom prst="roundRect">
                <a:avLst/>
              </a:prstGeom>
              <a:blipFill>
                <a:blip r:embed="rId6"/>
                <a:stretch>
                  <a:fillRect t="-444" b="-7111"/>
                </a:stretch>
              </a:blipFill>
              <a:ln>
                <a:solidFill>
                  <a:schemeClr val="tx1"/>
                </a:solidFill>
              </a:ln>
              <a:effectLst/>
            </p:spPr>
            <p:txBody>
              <a:bodyPr/>
              <a:lstStyle/>
              <a:p>
                <a:r>
                  <a:rPr lang="en-US">
                    <a:noFill/>
                  </a:rPr>
                  <a:t> </a:t>
                </a:r>
              </a:p>
            </p:txBody>
          </p:sp>
        </mc:Fallback>
      </mc:AlternateContent>
      <p:sp>
        <p:nvSpPr>
          <p:cNvPr id="18" name="Rounded Rectangle 17">
            <a:extLst>
              <a:ext uri="{FF2B5EF4-FFF2-40B4-BE49-F238E27FC236}">
                <a16:creationId xmlns:a16="http://schemas.microsoft.com/office/drawing/2014/main" id="{9ACE99F4-77DE-3C4A-A9AD-30BB1A74AB3F}"/>
              </a:ext>
            </a:extLst>
          </p:cNvPr>
          <p:cNvSpPr/>
          <p:nvPr/>
        </p:nvSpPr>
        <p:spPr>
          <a:xfrm>
            <a:off x="3722232" y="1236485"/>
            <a:ext cx="5174880" cy="94630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the height of the water in the pool</a:t>
            </a:r>
            <a:endParaRPr lang="en-US" sz="2000" dirty="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the number of weeks since June 1</a:t>
            </a:r>
            <a:r>
              <a:rPr lang="en-US" sz="2000" baseline="30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st</a:t>
            </a: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 </a:t>
            </a:r>
            <a:endParaRPr lang="en-US" sz="2000" dirty="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2046624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22882" y="522467"/>
                <a:ext cx="6115375" cy="2862322"/>
              </a:xfrm>
              <a:prstGeom prst="rect">
                <a:avLst/>
              </a:prstGeom>
              <a:noFill/>
            </p:spPr>
            <p:txBody>
              <a:bodyPr wrap="square" rtlCol="0">
                <a:spAutoFit/>
              </a:bodyPr>
              <a:lstStyle/>
              <a:p>
                <a:pPr marL="457200" indent="-457200">
                  <a:buFont typeface="+mj-lt"/>
                  <a:buAutoNum type="arabicPeriod" startAt="3"/>
                </a:pPr>
                <a:r>
                  <a:rPr lang="en-US" sz="2000" dirty="0">
                    <a:latin typeface="Verdana" pitchFamily="34" charset="0"/>
                    <a:ea typeface="Verdana" pitchFamily="34" charset="0"/>
                    <a:cs typeface="Verdana"/>
                  </a:rPr>
                  <a:t>The graph models the relationship between the average height of a male infant in inches, </a:t>
                </a:r>
                <a14:m>
                  <m:oMath xmlns:m="http://schemas.openxmlformats.org/officeDocument/2006/math">
                    <m:r>
                      <a:rPr lang="en-US" sz="2000" i="1">
                        <a:latin typeface="Cambria Math"/>
                        <a:ea typeface="Cambria Math"/>
                        <a:cs typeface="Cambria Math"/>
                      </a:rPr>
                      <m:t>𝑦</m:t>
                    </m:r>
                  </m:oMath>
                </a14:m>
                <a:r>
                  <a:rPr lang="en-US" sz="2000" dirty="0">
                    <a:latin typeface="Verdana" pitchFamily="34" charset="0"/>
                    <a:ea typeface="Verdana" pitchFamily="34" charset="0"/>
                    <a:cs typeface="Verdana"/>
                  </a:rPr>
                  <a:t>, from birth to two years old, where </a:t>
                </a:r>
                <a14:m>
                  <m:oMath xmlns:m="http://schemas.openxmlformats.org/officeDocument/2006/math">
                    <m:r>
                      <a:rPr lang="en-US" sz="2000" i="1">
                        <a:latin typeface="Cambria Math"/>
                        <a:ea typeface="Cambria Math"/>
                        <a:cs typeface="Cambria Math"/>
                      </a:rPr>
                      <m:t>𝑥</m:t>
                    </m:r>
                  </m:oMath>
                </a14:m>
                <a:r>
                  <a:rPr lang="en-US" sz="2000" dirty="0">
                    <a:latin typeface="Verdana" pitchFamily="34" charset="0"/>
                    <a:ea typeface="Verdana" pitchFamily="34" charset="0"/>
                    <a:cs typeface="Verdana"/>
                  </a:rPr>
                  <a:t> is the number of months since birth. </a:t>
                </a: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Use the graph to determine the rate of change and </a:t>
                </a:r>
                <a14:m>
                  <m:oMath xmlns:m="http://schemas.openxmlformats.org/officeDocument/2006/math">
                    <m:r>
                      <a:rPr lang="en-US" sz="2000" i="1">
                        <a:latin typeface="Cambria Math"/>
                        <a:ea typeface="Cambria Math"/>
                        <a:cs typeface="Cambria Math"/>
                      </a:rPr>
                      <m:t>𝑦</m:t>
                    </m:r>
                  </m:oMath>
                </a14:m>
                <a:r>
                  <a:rPr lang="en-US" sz="2000" dirty="0">
                    <a:latin typeface="Verdana" pitchFamily="34" charset="0"/>
                    <a:ea typeface="Verdana" pitchFamily="34" charset="0"/>
                    <a:cs typeface="Verdana"/>
                  </a:rPr>
                  <a:t>-intercept. Then, interpret each value in context.</a:t>
                </a:r>
                <a:endParaRPr lang="en-PH" sz="2000" dirty="0">
                  <a:latin typeface="Verdana" pitchFamily="34" charset="0"/>
                  <a:ea typeface="Verdana" pitchFamily="34" charset="0"/>
                  <a:cs typeface="Cambria"/>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22882" y="522467"/>
                <a:ext cx="6115375" cy="2862322"/>
              </a:xfrm>
              <a:prstGeom prst="rect">
                <a:avLst/>
              </a:prstGeom>
              <a:blipFill>
                <a:blip r:embed="rId4"/>
                <a:stretch>
                  <a:fillRect l="-828" t="-1327" r="-1449" b="-309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532857621"/>
                  </p:ext>
                </p:extLst>
              </p:nvPr>
            </p:nvGraphicFramePr>
            <p:xfrm>
              <a:off x="2284186" y="4773835"/>
              <a:ext cx="7623628" cy="1561698"/>
            </p:xfrm>
            <a:graphic>
              <a:graphicData uri="http://schemas.openxmlformats.org/drawingml/2006/table">
                <a:tbl>
                  <a:tblPr bandRow="1">
                    <a:tableStyleId>{A91F0D33-8C57-4600-99A7-42BC86742BE1}</a:tableStyleId>
                  </a:tblPr>
                  <a:tblGrid>
                    <a:gridCol w="2311400">
                      <a:extLst>
                        <a:ext uri="{9D8B030D-6E8A-4147-A177-3AD203B41FA5}">
                          <a16:colId xmlns:a16="http://schemas.microsoft.com/office/drawing/2014/main" val="20000"/>
                        </a:ext>
                      </a:extLst>
                    </a:gridCol>
                    <a:gridCol w="1596571">
                      <a:extLst>
                        <a:ext uri="{9D8B030D-6E8A-4147-A177-3AD203B41FA5}">
                          <a16:colId xmlns:a16="http://schemas.microsoft.com/office/drawing/2014/main" val="20001"/>
                        </a:ext>
                      </a:extLst>
                    </a:gridCol>
                    <a:gridCol w="3715657">
                      <a:extLst>
                        <a:ext uri="{9D8B030D-6E8A-4147-A177-3AD203B41FA5}">
                          <a16:colId xmlns:a16="http://schemas.microsoft.com/office/drawing/2014/main" val="20002"/>
                        </a:ext>
                      </a:extLst>
                    </a:gridCol>
                  </a:tblGrid>
                  <a:tr h="407598">
                    <a:tc>
                      <a:txBody>
                        <a:bodyPr/>
                        <a:lstStyle/>
                        <a:p>
                          <a:pPr algn="ctr">
                            <a:spcAft>
                              <a:spcPts val="1000"/>
                            </a:spcAft>
                          </a:pPr>
                          <a:r>
                            <a:rPr lang="en-US" sz="2000" b="1" dirty="0">
                              <a:effectLst/>
                              <a:latin typeface="Verdana"/>
                              <a:ea typeface="Verdana"/>
                              <a:cs typeface="Verdana"/>
                            </a:rPr>
                            <a:t>Feature</a:t>
                          </a:r>
                          <a:endParaRPr lang="en-PH" sz="1400" b="1"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a:ea typeface="Verdana"/>
                              <a:cs typeface="Verdana"/>
                            </a:rPr>
                            <a:t>Value</a:t>
                          </a:r>
                          <a:endParaRPr lang="en-PH" sz="1400" b="1"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a:ea typeface="Verdana"/>
                              <a:cs typeface="Verdana"/>
                            </a:rPr>
                            <a:t>Interpretation</a:t>
                          </a:r>
                          <a:endParaRPr lang="en-PH" sz="1400" b="1"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88043">
                    <a:tc>
                      <a:txBody>
                        <a:bodyPr/>
                        <a:lstStyle/>
                        <a:p>
                          <a:pPr algn="ctr">
                            <a:spcAft>
                              <a:spcPts val="1000"/>
                            </a:spcAft>
                          </a:pPr>
                          <a:r>
                            <a:rPr lang="en-US" sz="2000" dirty="0">
                              <a:effectLst/>
                              <a:latin typeface="Verdana" pitchFamily="34" charset="0"/>
                              <a:ea typeface="Verdana" pitchFamily="34" charset="0"/>
                            </a:rPr>
                            <a:t>rate of change</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6057">
                    <a:tc>
                      <a:txBody>
                        <a:bodyPr/>
                        <a:lstStyle/>
                        <a:p>
                          <a:pPr algn="ctr">
                            <a:spcAft>
                              <a:spcPts val="1000"/>
                            </a:spcAft>
                          </a:pPr>
                          <a14:m>
                            <m:oMath xmlns:m="http://schemas.openxmlformats.org/officeDocument/2006/math">
                              <m:r>
                                <a:rPr lang="en-US" sz="2000" i="1">
                                  <a:effectLst/>
                                  <a:latin typeface="Cambria Math" pitchFamily="18" charset="0"/>
                                  <a:ea typeface="Cambria Math" pitchFamily="18" charset="0"/>
                                </a:rPr>
                                <m:t>𝑦</m:t>
                              </m:r>
                            </m:oMath>
                          </a14:m>
                          <a:r>
                            <a:rPr lang="en-US" sz="2000" dirty="0">
                              <a:effectLst/>
                              <a:latin typeface="Verdana" pitchFamily="34" charset="0"/>
                              <a:ea typeface="Verdana" pitchFamily="34" charset="0"/>
                            </a:rPr>
                            <a:t>-intercept</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a:effectLst/>
                              <a:latin typeface="Verdana" pitchFamily="34" charset="0"/>
                              <a:ea typeface="Verdana" pitchFamily="34" charset="0"/>
                            </a:rPr>
                            <a:t> </a:t>
                          </a:r>
                          <a:endParaRPr lang="en-PH" sz="140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532857621"/>
                  </p:ext>
                </p:extLst>
              </p:nvPr>
            </p:nvGraphicFramePr>
            <p:xfrm>
              <a:off x="2284186" y="4773835"/>
              <a:ext cx="7623628" cy="1561698"/>
            </p:xfrm>
            <a:graphic>
              <a:graphicData uri="http://schemas.openxmlformats.org/drawingml/2006/table">
                <a:tbl>
                  <a:tblPr bandRow="1">
                    <a:tableStyleId>{A91F0D33-8C57-4600-99A7-42BC86742BE1}</a:tableStyleId>
                  </a:tblPr>
                  <a:tblGrid>
                    <a:gridCol w="2311400">
                      <a:extLst>
                        <a:ext uri="{9D8B030D-6E8A-4147-A177-3AD203B41FA5}">
                          <a16:colId xmlns:a16="http://schemas.microsoft.com/office/drawing/2014/main" val="20000"/>
                        </a:ext>
                      </a:extLst>
                    </a:gridCol>
                    <a:gridCol w="1596571">
                      <a:extLst>
                        <a:ext uri="{9D8B030D-6E8A-4147-A177-3AD203B41FA5}">
                          <a16:colId xmlns:a16="http://schemas.microsoft.com/office/drawing/2014/main" val="20001"/>
                        </a:ext>
                      </a:extLst>
                    </a:gridCol>
                    <a:gridCol w="3715657">
                      <a:extLst>
                        <a:ext uri="{9D8B030D-6E8A-4147-A177-3AD203B41FA5}">
                          <a16:colId xmlns:a16="http://schemas.microsoft.com/office/drawing/2014/main" val="20002"/>
                        </a:ext>
                      </a:extLst>
                    </a:gridCol>
                  </a:tblGrid>
                  <a:tr h="407598">
                    <a:tc>
                      <a:txBody>
                        <a:bodyPr/>
                        <a:lstStyle/>
                        <a:p>
                          <a:pPr algn="ctr">
                            <a:spcAft>
                              <a:spcPts val="1000"/>
                            </a:spcAft>
                          </a:pPr>
                          <a:r>
                            <a:rPr lang="en-US" sz="2000" b="1" dirty="0">
                              <a:effectLst/>
                              <a:latin typeface="Verdana"/>
                              <a:ea typeface="Verdana"/>
                              <a:cs typeface="Verdana"/>
                            </a:rPr>
                            <a:t>Feature</a:t>
                          </a:r>
                          <a:endParaRPr lang="en-PH" sz="1400" b="1"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a:ea typeface="Verdana"/>
                              <a:cs typeface="Verdana"/>
                            </a:rPr>
                            <a:t>Value</a:t>
                          </a:r>
                          <a:endParaRPr lang="en-PH" sz="1400" b="1"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a:ea typeface="Verdana"/>
                              <a:cs typeface="Verdana"/>
                            </a:rPr>
                            <a:t>Interpretation</a:t>
                          </a:r>
                          <a:endParaRPr lang="en-PH" sz="1400" b="1"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88043">
                    <a:tc>
                      <a:txBody>
                        <a:bodyPr/>
                        <a:lstStyle/>
                        <a:p>
                          <a:pPr algn="ctr">
                            <a:spcAft>
                              <a:spcPts val="1000"/>
                            </a:spcAft>
                          </a:pPr>
                          <a:r>
                            <a:rPr lang="en-US" sz="2000" dirty="0">
                              <a:effectLst/>
                              <a:latin typeface="Verdana" pitchFamily="34" charset="0"/>
                              <a:ea typeface="Verdana" pitchFamily="34" charset="0"/>
                            </a:rPr>
                            <a:t>rate of change</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605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80000" r="-229508" b="-4444"/>
                          </a:stretch>
                        </a:blipFill>
                      </a:tcPr>
                    </a:tc>
                    <a:tc>
                      <a:txBody>
                        <a:bodyPr/>
                        <a:lstStyle/>
                        <a:p>
                          <a:pPr algn="ctr">
                            <a:spcAft>
                              <a:spcPts val="1000"/>
                            </a:spcAft>
                          </a:pPr>
                          <a:r>
                            <a:rPr lang="en-US" sz="2000">
                              <a:effectLst/>
                              <a:latin typeface="Verdana" pitchFamily="34" charset="0"/>
                              <a:ea typeface="Verdana" pitchFamily="34" charset="0"/>
                            </a:rPr>
                            <a:t> </a:t>
                          </a:r>
                          <a:endParaRPr lang="en-PH" sz="140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pic>
        <p:nvPicPr>
          <p:cNvPr id="4099" name="Picture 3"/>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867154" y="473158"/>
            <a:ext cx="4425690" cy="4076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312</a:t>
            </a:r>
            <a:endParaRPr i="1" dirty="0">
              <a:latin typeface="Calibri"/>
              <a:ea typeface="Calibri"/>
              <a:cs typeface="Calibri"/>
              <a:sym typeface="Calibri"/>
            </a:endParaRPr>
          </a:p>
        </p:txBody>
      </p:sp>
    </p:spTree>
    <p:extLst>
      <p:ext uri="{BB962C8B-B14F-4D97-AF65-F5344CB8AC3E}">
        <p14:creationId xmlns:p14="http://schemas.microsoft.com/office/powerpoint/2010/main" val="3714686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69858"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313</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3174" y="0"/>
            <a:ext cx="1080731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7.6.3 Collaboration: </a:t>
            </a:r>
            <a:r>
              <a:rPr lang="en-US" sz="3600" b="1" dirty="0">
                <a:solidFill>
                  <a:srgbClr val="40BFAB"/>
                </a:solidFill>
                <a:latin typeface="Verdana"/>
                <a:ea typeface="Verdana"/>
                <a:cs typeface="Verdana"/>
              </a:rPr>
              <a:t>Making Sense of Mathematical Models</a:t>
            </a:r>
            <a:endParaRPr lang="en-US" sz="36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731519" y="1386025"/>
                <a:ext cx="11112137" cy="1323439"/>
              </a:xfrm>
              <a:prstGeom prst="rect">
                <a:avLst/>
              </a:prstGeom>
              <a:noFill/>
            </p:spPr>
            <p:txBody>
              <a:bodyPr wrap="square" rtlCol="0">
                <a:spAutoFit/>
              </a:bodyPr>
              <a:lstStyle/>
              <a:p>
                <a:r>
                  <a:rPr lang="en-US" sz="2000" dirty="0">
                    <a:latin typeface="Verdana"/>
                    <a:ea typeface="Verdana"/>
                    <a:cs typeface="Verdana"/>
                  </a:rPr>
                  <a:t>The Ridgeview High School cross-country team ran a car wash on Saturday to raise money for their team’s new uniforms. The graph represents the relationship between the amount of money the team raised to buy uniforms, </a:t>
                </a:r>
                <a14:m>
                  <m:oMath xmlns:m="http://schemas.openxmlformats.org/officeDocument/2006/math">
                    <m:r>
                      <a:rPr lang="en-US" sz="2000" i="1">
                        <a:latin typeface="Cambria Math"/>
                        <a:ea typeface="Cambria Math"/>
                        <a:cs typeface="Cambria Math"/>
                      </a:rPr>
                      <m:t>𝑦</m:t>
                    </m:r>
                  </m:oMath>
                </a14:m>
                <a:r>
                  <a:rPr lang="en-US" sz="2000" dirty="0">
                    <a:latin typeface="Verdana"/>
                    <a:ea typeface="Verdana"/>
                    <a:cs typeface="Verdana"/>
                  </a:rPr>
                  <a:t>, and the number of cars they washed, </a:t>
                </a:r>
                <a14:m>
                  <m:oMath xmlns:m="http://schemas.openxmlformats.org/officeDocument/2006/math">
                    <m:r>
                      <a:rPr lang="en-US" sz="2000" i="1">
                        <a:latin typeface="Cambria Math"/>
                        <a:ea typeface="Cambria Math"/>
                        <a:cs typeface="Cambria Math"/>
                      </a:rPr>
                      <m:t>𝑥</m:t>
                    </m:r>
                  </m:oMath>
                </a14:m>
                <a:r>
                  <a:rPr lang="en-US" sz="2000" dirty="0">
                    <a:latin typeface="Verdana"/>
                    <a:ea typeface="Verdana"/>
                    <a:cs typeface="Verdana"/>
                  </a:rPr>
                  <a:t>.</a:t>
                </a:r>
                <a:endParaRPr lang="en-PH" dirty="0">
                  <a:latin typeface="Cambria"/>
                  <a:ea typeface="Times New Roman"/>
                  <a:cs typeface="Cambria"/>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731519" y="1386025"/>
                <a:ext cx="11112137" cy="1323439"/>
              </a:xfrm>
              <a:prstGeom prst="rect">
                <a:avLst/>
              </a:prstGeom>
              <a:blipFill>
                <a:blip r:embed="rId5"/>
                <a:stretch>
                  <a:fillRect l="-571" t="-1887" r="-1142" b="-6604"/>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0C37AA2-8B34-A044-9CF0-D6F9EE428461}"/>
              </a:ext>
            </a:extLst>
          </p:cNvPr>
          <p:cNvSpPr/>
          <p:nvPr/>
        </p:nvSpPr>
        <p:spPr>
          <a:xfrm>
            <a:off x="-3335"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5122"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672871" y="2709464"/>
            <a:ext cx="4846257" cy="3664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313</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832107" y="527595"/>
            <a:ext cx="11153063" cy="6001643"/>
          </a:xfrm>
          <a:prstGeom prst="rect">
            <a:avLst/>
          </a:prstGeom>
          <a:noFill/>
        </p:spPr>
        <p:txBody>
          <a:bodyPr wrap="square" rtlCol="0">
            <a:spAutoFit/>
          </a:bodyPr>
          <a:lstStyle/>
          <a:p>
            <a:r>
              <a:rPr lang="en-US" sz="2400" dirty="0">
                <a:latin typeface="Verdana" pitchFamily="34" charset="0"/>
                <a:ea typeface="Verdana" pitchFamily="34" charset="0"/>
                <a:cs typeface="Verdana"/>
              </a:rPr>
              <a:t>Work with your partner to answer the questions using the information given in the graph.</a:t>
            </a:r>
          </a:p>
          <a:p>
            <a:endParaRPr lang="en-US" sz="2400" dirty="0">
              <a:latin typeface="Verdana" pitchFamily="34" charset="0"/>
              <a:ea typeface="Verdana" pitchFamily="34" charset="0"/>
              <a:cs typeface="Verdana"/>
            </a:endParaRPr>
          </a:p>
          <a:p>
            <a:pPr marL="342900" indent="-342900">
              <a:buFont typeface="+mj-lt"/>
              <a:buAutoNum type="arabicPeriod"/>
            </a:pPr>
            <a:r>
              <a:rPr lang="en-US" sz="2400" dirty="0">
                <a:latin typeface="Verdana" pitchFamily="34" charset="0"/>
                <a:ea typeface="Verdana" pitchFamily="34" charset="0"/>
                <a:cs typeface="Verdana"/>
              </a:rPr>
              <a:t>What is the slope of the line? Show your work.</a:t>
            </a:r>
            <a:endParaRPr lang="en-PH" sz="2400" dirty="0">
              <a:latin typeface="Verdana" pitchFamily="34" charset="0"/>
              <a:ea typeface="Verdana" pitchFamily="34" charset="0"/>
              <a:cs typeface="Cambri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r>
              <a:rPr lang="en-US" sz="2400" dirty="0">
                <a:latin typeface="Verdana" pitchFamily="34" charset="0"/>
                <a:ea typeface="Verdana" pitchFamily="34" charset="0"/>
                <a:cs typeface="Verdana"/>
              </a:rPr>
              <a:t>What does the slope mean in this context?</a:t>
            </a:r>
            <a:endParaRPr lang="en-PH" sz="2400" dirty="0">
              <a:latin typeface="Verdana" pitchFamily="34" charset="0"/>
              <a:ea typeface="Verdana" pitchFamily="34" charset="0"/>
              <a:cs typeface="Cambri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endParaRPr lang="en-US" sz="2400" dirty="0">
              <a:latin typeface="Verdana" pitchFamily="34" charset="0"/>
              <a:ea typeface="Verdana" pitchFamily="34" charset="0"/>
              <a:cs typeface="Verdana"/>
            </a:endParaRPr>
          </a:p>
          <a:p>
            <a:pPr marL="342900" indent="-342900">
              <a:buFont typeface="+mj-lt"/>
              <a:buAutoNum type="arabicPeriod"/>
            </a:pPr>
            <a:r>
              <a:rPr lang="en-US" sz="2400" dirty="0">
                <a:latin typeface="Verdana" pitchFamily="34" charset="0"/>
                <a:ea typeface="Verdana" pitchFamily="34" charset="0"/>
                <a:cs typeface="Verdana"/>
              </a:rPr>
              <a:t>Explain whether the meaning of the slope makes sense in this context.</a:t>
            </a:r>
            <a:endParaRPr lang="en-PH" sz="2400" dirty="0">
              <a:latin typeface="Verdana" pitchFamily="34" charset="0"/>
              <a:ea typeface="Verdana" pitchFamily="34" charset="0"/>
              <a:cs typeface="Cambria"/>
            </a:endParaRPr>
          </a:p>
          <a:p>
            <a:endParaRPr lang="en-US" sz="2400" dirty="0">
              <a:latin typeface="Verdana" pitchFamily="34" charset="0"/>
              <a:ea typeface="Verdana" pitchFamily="34" charset="0"/>
              <a:cs typeface="Verdana"/>
            </a:endParaRP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313</a:t>
            </a:r>
            <a:endParaRPr i="1" dirty="0">
              <a:latin typeface="Calibri"/>
              <a:ea typeface="Calibri"/>
              <a:cs typeface="Calibri"/>
              <a:sym typeface="Calibri"/>
            </a:endParaRPr>
          </a:p>
        </p:txBody>
      </p:sp>
    </p:spTree>
    <p:extLst>
      <p:ext uri="{BB962C8B-B14F-4D97-AF65-F5344CB8AC3E}">
        <p14:creationId xmlns:p14="http://schemas.microsoft.com/office/powerpoint/2010/main" val="313484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734135" y="553051"/>
                <a:ext cx="10957121" cy="5262979"/>
              </a:xfrm>
              <a:prstGeom prst="rect">
                <a:avLst/>
              </a:prstGeom>
              <a:noFill/>
            </p:spPr>
            <p:txBody>
              <a:bodyPr wrap="square" rtlCol="0">
                <a:spAutoFit/>
              </a:bodyPr>
              <a:lstStyle/>
              <a:p>
                <a:pPr marL="457200" indent="-457200">
                  <a:buFont typeface="+mj-lt"/>
                  <a:buAutoNum type="arabicPeriod" startAt="4"/>
                </a:pPr>
                <a:r>
                  <a:rPr lang="en-US" sz="2400" dirty="0">
                    <a:latin typeface="Verdana" pitchFamily="34" charset="0"/>
                    <a:ea typeface="Verdana" pitchFamily="34" charset="0"/>
                    <a:cs typeface="Verdana"/>
                  </a:rPr>
                  <a:t>What is the </a:t>
                </a:r>
                <a14:m>
                  <m:oMath xmlns:m="http://schemas.openxmlformats.org/officeDocument/2006/math">
                    <m:r>
                      <a:rPr lang="en-US" sz="2400" i="1">
                        <a:latin typeface="Cambria Math"/>
                        <a:ea typeface="Cambria Math"/>
                        <a:cs typeface="Cambria Math"/>
                      </a:rPr>
                      <m:t>𝑦</m:t>
                    </m:r>
                  </m:oMath>
                </a14:m>
                <a:r>
                  <a:rPr lang="en-US" sz="2400" dirty="0">
                    <a:latin typeface="Verdana" pitchFamily="34" charset="0"/>
                    <a:ea typeface="Verdana" pitchFamily="34" charset="0"/>
                    <a:cs typeface="Verdana"/>
                  </a:rPr>
                  <a:t>-intercept of the line?</a:t>
                </a: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r>
                  <a:rPr lang="en-US" sz="2400" dirty="0">
                    <a:latin typeface="Verdana" pitchFamily="34" charset="0"/>
                    <a:ea typeface="Verdana" pitchFamily="34" charset="0"/>
                    <a:cs typeface="Verdana"/>
                  </a:rPr>
                  <a:t>What does the </a:t>
                </a:r>
                <a14:m>
                  <m:oMath xmlns:m="http://schemas.openxmlformats.org/officeDocument/2006/math">
                    <m:r>
                      <a:rPr lang="en-US" sz="2400" i="1">
                        <a:latin typeface="Cambria Math"/>
                        <a:ea typeface="Cambria Math"/>
                        <a:cs typeface="Cambria Math"/>
                      </a:rPr>
                      <m:t>𝑦</m:t>
                    </m:r>
                  </m:oMath>
                </a14:m>
                <a:r>
                  <a:rPr lang="en-US" sz="2400" dirty="0">
                    <a:latin typeface="Verdana" pitchFamily="34" charset="0"/>
                    <a:ea typeface="Verdana" pitchFamily="34" charset="0"/>
                    <a:cs typeface="Verdana"/>
                  </a:rPr>
                  <a:t>-intercept mean in this context?</a:t>
                </a: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US" sz="2400" dirty="0">
                  <a:latin typeface="Verdana" pitchFamily="34" charset="0"/>
                  <a:ea typeface="Verdana" pitchFamily="34" charset="0"/>
                  <a:cs typeface="Verdana"/>
                </a:endParaRPr>
              </a:p>
              <a:p>
                <a:pPr marL="457200" indent="-457200">
                  <a:buFont typeface="+mj-lt"/>
                  <a:buAutoNum type="arabicPeriod" startAt="4"/>
                </a:pPr>
                <a:endParaRPr lang="en-PH" sz="2400" dirty="0">
                  <a:latin typeface="Verdana" pitchFamily="34" charset="0"/>
                  <a:ea typeface="Verdana" pitchFamily="34" charset="0"/>
                  <a:cs typeface="Verdana"/>
                </a:endParaRPr>
              </a:p>
              <a:p>
                <a:pPr marL="457200" indent="-457200">
                  <a:buFont typeface="+mj-lt"/>
                  <a:buAutoNum type="arabicPeriod" startAt="4"/>
                </a:pPr>
                <a:r>
                  <a:rPr lang="en-US" sz="2400" dirty="0">
                    <a:latin typeface="Verdana" pitchFamily="34" charset="0"/>
                    <a:ea typeface="Verdana" pitchFamily="34" charset="0"/>
                    <a:cs typeface="Verdana"/>
                  </a:rPr>
                  <a:t>Explain whether the meaning of the </a:t>
                </a:r>
                <a14:m>
                  <m:oMath xmlns:m="http://schemas.openxmlformats.org/officeDocument/2006/math">
                    <m:r>
                      <a:rPr lang="en-US" sz="2400" i="1">
                        <a:latin typeface="Cambria Math"/>
                        <a:ea typeface="Cambria Math"/>
                        <a:cs typeface="Cambria Math"/>
                      </a:rPr>
                      <m:t>𝑦</m:t>
                    </m:r>
                  </m:oMath>
                </a14:m>
                <a:r>
                  <a:rPr lang="en-US" sz="2400" dirty="0">
                    <a:latin typeface="Verdana" pitchFamily="34" charset="0"/>
                    <a:ea typeface="Verdana" pitchFamily="34" charset="0"/>
                    <a:cs typeface="Verdana"/>
                  </a:rPr>
                  <a:t>-intercept makes sense in this context.</a:t>
                </a:r>
                <a:endParaRPr lang="en-PH" sz="2400" dirty="0">
                  <a:latin typeface="Verdana" pitchFamily="34" charset="0"/>
                  <a:ea typeface="Verdana" pitchFamily="34" charset="0"/>
                  <a:cs typeface="Cambria"/>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734135" y="553051"/>
                <a:ext cx="10957121" cy="5262979"/>
              </a:xfrm>
              <a:prstGeom prst="rect">
                <a:avLst/>
              </a:prstGeom>
              <a:blipFill>
                <a:blip r:embed="rId4"/>
                <a:stretch>
                  <a:fillRect l="-810" t="-964" b="-192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313</a:t>
            </a:r>
            <a:endParaRPr i="1" dirty="0">
              <a:latin typeface="Calibri"/>
              <a:ea typeface="Calibri"/>
              <a:cs typeface="Calibri"/>
              <a:sym typeface="Calibri"/>
            </a:endParaRPr>
          </a:p>
        </p:txBody>
      </p:sp>
    </p:spTree>
    <p:extLst>
      <p:ext uri="{BB962C8B-B14F-4D97-AF65-F5344CB8AC3E}">
        <p14:creationId xmlns:p14="http://schemas.microsoft.com/office/powerpoint/2010/main" val="1676482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30124" y="527595"/>
            <a:ext cx="10910762" cy="5262979"/>
          </a:xfrm>
          <a:prstGeom prst="rect">
            <a:avLst/>
          </a:prstGeom>
          <a:noFill/>
        </p:spPr>
        <p:txBody>
          <a:bodyPr wrap="square" rtlCol="0">
            <a:spAutoFit/>
          </a:bodyPr>
          <a:lstStyle/>
          <a:p>
            <a:pPr marL="457200" indent="-457200">
              <a:buFont typeface="+mj-lt"/>
              <a:buAutoNum type="arabicPeriod" startAt="7"/>
            </a:pPr>
            <a:r>
              <a:rPr lang="en-US" sz="2400" dirty="0">
                <a:latin typeface="Verdana"/>
                <a:ea typeface="Verdana"/>
                <a:cs typeface="Verdana"/>
              </a:rPr>
              <a:t>Complete the table.</a:t>
            </a: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a:ea typeface="Verdana"/>
            </a:endParaRPr>
          </a:p>
          <a:p>
            <a:pPr marL="457200" indent="-457200">
              <a:buFont typeface="+mj-lt"/>
              <a:buAutoNum type="arabicPeriod" startAt="7"/>
            </a:pPr>
            <a:endParaRPr lang="en-US" sz="2400" dirty="0">
              <a:latin typeface="Verdana" pitchFamily="34" charset="0"/>
              <a:ea typeface="Verdana" pitchFamily="34" charset="0"/>
            </a:endParaRPr>
          </a:p>
          <a:p>
            <a:pPr marL="457200" indent="-457200">
              <a:buFont typeface="+mj-lt"/>
              <a:buAutoNum type="arabicPeriod" startAt="8"/>
            </a:pPr>
            <a:r>
              <a:rPr lang="en-US" sz="2400" dirty="0">
                <a:latin typeface="Verdana" pitchFamily="34" charset="0"/>
                <a:ea typeface="Verdana" pitchFamily="34" charset="0"/>
              </a:rPr>
              <a:t>What parts of the graph do not make sense in this context?</a:t>
            </a:r>
          </a:p>
          <a:p>
            <a:pPr marL="457200" indent="-457200">
              <a:buFont typeface="+mj-lt"/>
              <a:buAutoNum type="arabicPeriod" startAt="8"/>
            </a:pPr>
            <a:endParaRPr lang="en-PH" sz="2400" dirty="0">
              <a:latin typeface="Verdana" pitchFamily="34" charset="0"/>
              <a:ea typeface="Verdana" pitchFamily="34" charset="0"/>
            </a:endParaRPr>
          </a:p>
          <a:p>
            <a:pPr marL="457200" indent="-457200">
              <a:buFont typeface="+mj-lt"/>
              <a:buAutoNum type="arabicPeriod" startAt="8"/>
            </a:pPr>
            <a:r>
              <a:rPr lang="en-US" sz="2400" dirty="0">
                <a:latin typeface="Verdana" pitchFamily="34" charset="0"/>
                <a:ea typeface="Verdana" pitchFamily="34" charset="0"/>
              </a:rPr>
              <a:t>Discuss with your partner whether the graph is useful for modeling this situation, even if there are parts of it that do not make sense given the context.</a:t>
            </a:r>
            <a:endParaRPr lang="en-PH" sz="2400" dirty="0">
              <a:latin typeface="Verdana" pitchFamily="34" charset="0"/>
              <a:ea typeface="Verdana" pitchFamily="34" charset="0"/>
              <a:cs typeface="Cambria"/>
            </a:endParaRP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519491235"/>
                  </p:ext>
                </p:extLst>
              </p:nvPr>
            </p:nvGraphicFramePr>
            <p:xfrm>
              <a:off x="2235866" y="1188727"/>
              <a:ext cx="7720268" cy="2432017"/>
            </p:xfrm>
            <a:graphic>
              <a:graphicData uri="http://schemas.openxmlformats.org/drawingml/2006/table">
                <a:tbl>
                  <a:tblPr bandRow="1">
                    <a:tableStyleId>{A91F0D33-8C57-4600-99A7-42BC86742BE1}</a:tableStyleId>
                  </a:tblPr>
                  <a:tblGrid>
                    <a:gridCol w="1216828">
                      <a:extLst>
                        <a:ext uri="{9D8B030D-6E8A-4147-A177-3AD203B41FA5}">
                          <a16:colId xmlns:a16="http://schemas.microsoft.com/office/drawing/2014/main" val="20000"/>
                        </a:ext>
                      </a:extLst>
                    </a:gridCol>
                    <a:gridCol w="3251359">
                      <a:extLst>
                        <a:ext uri="{9D8B030D-6E8A-4147-A177-3AD203B41FA5}">
                          <a16:colId xmlns:a16="http://schemas.microsoft.com/office/drawing/2014/main" val="20001"/>
                        </a:ext>
                      </a:extLst>
                    </a:gridCol>
                    <a:gridCol w="3252081">
                      <a:extLst>
                        <a:ext uri="{9D8B030D-6E8A-4147-A177-3AD203B41FA5}">
                          <a16:colId xmlns:a16="http://schemas.microsoft.com/office/drawing/2014/main" val="20002"/>
                        </a:ext>
                      </a:extLst>
                    </a:gridCol>
                  </a:tblGrid>
                  <a:tr h="842383">
                    <a:tc>
                      <a:txBody>
                        <a:bodyPr/>
                        <a:lstStyle/>
                        <a:p>
                          <a:pPr algn="ctr">
                            <a:spcAft>
                              <a:spcPts val="1000"/>
                            </a:spcAft>
                          </a:pPr>
                          <a:r>
                            <a:rPr lang="en-US" sz="1800" b="1" dirty="0">
                              <a:effectLst/>
                              <a:latin typeface="Verdana"/>
                              <a:ea typeface="Verdana"/>
                              <a:cs typeface="Verdana"/>
                            </a:rPr>
                            <a:t>Point</a:t>
                          </a:r>
                          <a:endParaRPr lang="en-PH" sz="1200" dirty="0">
                            <a:effectLst/>
                            <a:latin typeface="Cambria"/>
                            <a:ea typeface="Times New Roman"/>
                            <a:cs typeface="Cambria"/>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What does this point represent in this context?</a:t>
                          </a:r>
                          <a:endParaRPr lang="en-PH" sz="1200" dirty="0">
                            <a:effectLst/>
                            <a:latin typeface="Cambria"/>
                            <a:ea typeface="Times New Roman"/>
                            <a:cs typeface="Cambria"/>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Explain whether the meaning of the point makes sense in this context.</a:t>
                          </a:r>
                          <a:endParaRPr lang="en-PH" sz="1200" dirty="0">
                            <a:effectLst/>
                            <a:latin typeface="Cambria"/>
                            <a:ea typeface="Times New Roman"/>
                            <a:cs typeface="Cambria"/>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96679">
                    <a:tc>
                      <a:txBody>
                        <a:bodyPr/>
                        <a:lstStyle/>
                        <a:p>
                          <a:pPr algn="ctr">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(7.5, 0)</m:t>
                                </m:r>
                              </m:oMath>
                            </m:oMathPara>
                          </a14:m>
                          <a:endParaRPr lang="en-PH" sz="2000" dirty="0">
                            <a:effectLst/>
                            <a:latin typeface="Cambria Math" pitchFamily="18" charset="0"/>
                            <a:ea typeface="Cambria Math" pitchFamily="18"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6058">
                    <a:tc>
                      <a:txBody>
                        <a:bodyPr/>
                        <a:lstStyle/>
                        <a:p>
                          <a:pPr algn="ctr">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(22, 145)</m:t>
                                </m:r>
                              </m:oMath>
                            </m:oMathPara>
                          </a14:m>
                          <a:endParaRPr lang="en-PH" sz="2000" dirty="0">
                            <a:effectLst/>
                            <a:latin typeface="Cambria Math" pitchFamily="18" charset="0"/>
                            <a:ea typeface="Cambria Math" pitchFamily="18"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519491235"/>
                  </p:ext>
                </p:extLst>
              </p:nvPr>
            </p:nvGraphicFramePr>
            <p:xfrm>
              <a:off x="2235866" y="1188727"/>
              <a:ext cx="7720268" cy="2432017"/>
            </p:xfrm>
            <a:graphic>
              <a:graphicData uri="http://schemas.openxmlformats.org/drawingml/2006/table">
                <a:tbl>
                  <a:tblPr bandRow="1">
                    <a:tableStyleId>{A91F0D33-8C57-4600-99A7-42BC86742BE1}</a:tableStyleId>
                  </a:tblPr>
                  <a:tblGrid>
                    <a:gridCol w="1216828">
                      <a:extLst>
                        <a:ext uri="{9D8B030D-6E8A-4147-A177-3AD203B41FA5}">
                          <a16:colId xmlns:a16="http://schemas.microsoft.com/office/drawing/2014/main" val="20000"/>
                        </a:ext>
                      </a:extLst>
                    </a:gridCol>
                    <a:gridCol w="3251359">
                      <a:extLst>
                        <a:ext uri="{9D8B030D-6E8A-4147-A177-3AD203B41FA5}">
                          <a16:colId xmlns:a16="http://schemas.microsoft.com/office/drawing/2014/main" val="20001"/>
                        </a:ext>
                      </a:extLst>
                    </a:gridCol>
                    <a:gridCol w="3252081">
                      <a:extLst>
                        <a:ext uri="{9D8B030D-6E8A-4147-A177-3AD203B41FA5}">
                          <a16:colId xmlns:a16="http://schemas.microsoft.com/office/drawing/2014/main" val="20002"/>
                        </a:ext>
                      </a:extLst>
                    </a:gridCol>
                  </a:tblGrid>
                  <a:tr h="1169280">
                    <a:tc>
                      <a:txBody>
                        <a:bodyPr/>
                        <a:lstStyle/>
                        <a:p>
                          <a:pPr algn="ctr">
                            <a:spcAft>
                              <a:spcPts val="1000"/>
                            </a:spcAft>
                          </a:pPr>
                          <a:r>
                            <a:rPr lang="en-US" sz="1800" b="1" dirty="0">
                              <a:effectLst/>
                              <a:latin typeface="Verdana"/>
                              <a:ea typeface="Verdana"/>
                              <a:cs typeface="Verdana"/>
                            </a:rPr>
                            <a:t>Point</a:t>
                          </a:r>
                          <a:endParaRPr lang="en-PH" sz="1200" dirty="0">
                            <a:effectLst/>
                            <a:latin typeface="Cambria"/>
                            <a:ea typeface="Times New Roman"/>
                            <a:cs typeface="Cambria"/>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What does this point represent in this context?</a:t>
                          </a:r>
                          <a:endParaRPr lang="en-PH" sz="1200" dirty="0">
                            <a:effectLst/>
                            <a:latin typeface="Cambria"/>
                            <a:ea typeface="Times New Roman"/>
                            <a:cs typeface="Cambria"/>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Explain whether the meaning of the point makes sense in this context.</a:t>
                          </a:r>
                          <a:endParaRPr lang="en-PH" sz="1200" dirty="0">
                            <a:effectLst/>
                            <a:latin typeface="Cambria"/>
                            <a:ea typeface="Times New Roman"/>
                            <a:cs typeface="Cambria"/>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96679">
                    <a:tc>
                      <a:txBody>
                        <a:bodyPr/>
                        <a:lstStyle/>
                        <a:p>
                          <a:endParaRPr lang="en-US"/>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 t="-174545" r="-535417" b="-83636"/>
                          </a:stretch>
                        </a:blipFill>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6058">
                    <a:tc>
                      <a:txBody>
                        <a:bodyPr/>
                        <a:lstStyle/>
                        <a:p>
                          <a:endParaRPr lang="en-US"/>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 t="-335556" r="-535417" b="-2222"/>
                          </a:stretch>
                        </a:blipFill>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52649" marR="5264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spTree>
    <p:extLst>
      <p:ext uri="{BB962C8B-B14F-4D97-AF65-F5344CB8AC3E}">
        <p14:creationId xmlns:p14="http://schemas.microsoft.com/office/powerpoint/2010/main" val="2377077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47755" y="2766145"/>
            <a:ext cx="6410586"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spTree>
    <p:extLst>
      <p:ext uri="{BB962C8B-B14F-4D97-AF65-F5344CB8AC3E}">
        <p14:creationId xmlns:p14="http://schemas.microsoft.com/office/powerpoint/2010/main" val="2456065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a16="http://schemas.microsoft.com/office/drawing/2014/main" id="{669E00F9-F39F-5043-888E-B0A2D8C9AE0F}"/>
              </a:ext>
            </a:extLst>
          </p:cNvPr>
          <p:cNvSpPr txBox="1"/>
          <p:nvPr/>
        </p:nvSpPr>
        <p:spPr>
          <a:xfrm>
            <a:off x="731520" y="1269661"/>
            <a:ext cx="11103864" cy="4231928"/>
          </a:xfrm>
          <a:prstGeom prst="rect">
            <a:avLst/>
          </a:prstGeom>
          <a:noFill/>
        </p:spPr>
        <p:txBody>
          <a:bodyPr wrap="square" rtlCol="0">
            <a:spAutoFit/>
          </a:bodyPr>
          <a:lstStyle/>
          <a:p>
            <a:pPr>
              <a:spcAft>
                <a:spcPts val="600"/>
              </a:spcAft>
            </a:pPr>
            <a:r>
              <a:rPr lang="en-US" sz="2400" dirty="0">
                <a:latin typeface="Verdana" pitchFamily="34" charset="0"/>
                <a:ea typeface="Verdana" pitchFamily="34" charset="0"/>
                <a:cs typeface="Verdana"/>
              </a:rPr>
              <a:t>Mathematical modeling is a process that uses mathematics to represent, analyze, and make predictions about real-world phenomena.</a:t>
            </a:r>
          </a:p>
          <a:p>
            <a:endParaRPr lang="en-PH" sz="2400" dirty="0">
              <a:latin typeface="Verdana" pitchFamily="34" charset="0"/>
              <a:ea typeface="Verdana" pitchFamily="34" charset="0"/>
              <a:cs typeface="Verdana"/>
            </a:endParaRPr>
          </a:p>
          <a:p>
            <a:pPr>
              <a:lnSpc>
                <a:spcPct val="150000"/>
              </a:lnSpc>
            </a:pPr>
            <a:r>
              <a:rPr lang="en-US" sz="2400" dirty="0">
                <a:latin typeface="Verdana" pitchFamily="34" charset="0"/>
                <a:ea typeface="Verdana" pitchFamily="34" charset="0"/>
                <a:cs typeface="Cambria"/>
              </a:rPr>
              <a:t>Today’s lesson explores two mathematical models – _______________ and _______________.</a:t>
            </a:r>
          </a:p>
          <a:p>
            <a:endParaRPr lang="en-US" sz="2400" dirty="0">
              <a:latin typeface="Verdana" pitchFamily="34" charset="0"/>
              <a:ea typeface="Verdana" pitchFamily="34" charset="0"/>
              <a:cs typeface="Cambria"/>
            </a:endParaRPr>
          </a:p>
          <a:p>
            <a:r>
              <a:rPr lang="en-US" sz="2400" dirty="0">
                <a:latin typeface="Verdana" pitchFamily="34" charset="0"/>
                <a:ea typeface="Verdana" pitchFamily="34" charset="0"/>
                <a:cs typeface="Verdana"/>
              </a:rPr>
              <a:t>Mathematical models are helpful tools to use to understand a situation and make predictions. However, sometimes the mathematical model can include parts that do not make sense in a real-world context. </a:t>
            </a:r>
          </a:p>
        </p:txBody>
      </p:sp>
      <p:sp>
        <p:nvSpPr>
          <p:cNvPr id="10" name="Google Shape;278;g104476d1465_1_17">
            <a:extLst>
              <a:ext uri="{FF2B5EF4-FFF2-40B4-BE49-F238E27FC236}">
                <a16:creationId xmlns:a16="http://schemas.microsoft.com/office/drawing/2014/main" id="{ABEAAF31-51E2-ED47-BB74-BFBC5BD717B3}"/>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3"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4" name="Google Shape;343;g103996e1364_0_321">
            <a:extLst>
              <a:ext uri="{FF2B5EF4-FFF2-40B4-BE49-F238E27FC236}">
                <a16:creationId xmlns:a16="http://schemas.microsoft.com/office/drawing/2014/main" id="{21B1DF8E-16A0-FA4E-8CEB-434668DFA68D}"/>
              </a:ext>
            </a:extLst>
          </p:cNvPr>
          <p:cNvSpPr txBox="1">
            <a:spLocks/>
          </p:cNvSpPr>
          <p:nvPr/>
        </p:nvSpPr>
        <p:spPr>
          <a:xfrm>
            <a:off x="1239840" y="60689"/>
            <a:ext cx="10595544" cy="103076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7.6.4 </a:t>
            </a:r>
            <a:r>
              <a:rPr lang="en-US" sz="3200" b="1" dirty="0">
                <a:solidFill>
                  <a:srgbClr val="26B6D4"/>
                </a:solidFill>
                <a:latin typeface="Verdana"/>
                <a:ea typeface="Verdana"/>
                <a:cs typeface="Verdana"/>
              </a:rPr>
              <a:t>Bring It Together: Making Sense of Mathematical Models</a:t>
            </a:r>
            <a:endParaRPr lang="en-US" sz="3200" b="1" dirty="0">
              <a:solidFill>
                <a:srgbClr val="54B5D1"/>
              </a:solidFill>
              <a:latin typeface="Verdana"/>
              <a:ea typeface="Verdana"/>
              <a:cs typeface="Verdana"/>
              <a:sym typeface="Verdana"/>
            </a:endParaRPr>
          </a:p>
        </p:txBody>
      </p:sp>
      <p:sp>
        <p:nvSpPr>
          <p:cNvPr id="15"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788564" y="531279"/>
                <a:ext cx="11109521" cy="3526286"/>
              </a:xfrm>
              <a:prstGeom prst="rect">
                <a:avLst/>
              </a:prstGeom>
              <a:noFill/>
            </p:spPr>
            <p:txBody>
              <a:bodyPr wrap="square" rtlCol="0">
                <a:spAutoFit/>
              </a:bodyPr>
              <a:lstStyle/>
              <a:p>
                <a:r>
                  <a:rPr lang="en-US" sz="2400" dirty="0">
                    <a:latin typeface="Verdana" pitchFamily="34" charset="0"/>
                    <a:ea typeface="Verdana" pitchFamily="34" charset="0"/>
                    <a:cs typeface="Verdana"/>
                  </a:rPr>
                  <a:t>In the car wash example, washing part of a car or a negative number of cars does not make sense, but the model can still be a useful tool for answering questions such as, “After how many car washes will the team have covered their expenses?” or “After how many car washes will the team have raised </a:t>
                </a:r>
                <a14:m>
                  <m:oMath xmlns:m="http://schemas.openxmlformats.org/officeDocument/2006/math">
                    <m:r>
                      <a:rPr lang="en-US" sz="2400" i="1">
                        <a:latin typeface="Cambria Math"/>
                        <a:ea typeface="Cambria Math"/>
                        <a:cs typeface="Cambria Math"/>
                      </a:rPr>
                      <m:t>$100</m:t>
                    </m:r>
                  </m:oMath>
                </a14:m>
                <a:r>
                  <a:rPr lang="en-US" sz="2400" dirty="0">
                    <a:latin typeface="Verdana" pitchFamily="34" charset="0"/>
                    <a:ea typeface="Verdana" pitchFamily="34" charset="0"/>
                    <a:cs typeface="Verdana"/>
                  </a:rPr>
                  <a:t>?”</a:t>
                </a:r>
                <a:endParaRPr lang="en-PH" sz="2400" dirty="0">
                  <a:latin typeface="Verdana" pitchFamily="34" charset="0"/>
                  <a:ea typeface="Verdana" pitchFamily="34" charset="0"/>
                  <a:cs typeface="Cambria"/>
                </a:endParaRPr>
              </a:p>
              <a:p>
                <a:r>
                  <a:rPr lang="en-US" sz="2400" dirty="0">
                    <a:latin typeface="Verdana" pitchFamily="34" charset="0"/>
                    <a:ea typeface="Verdana" pitchFamily="34" charset="0"/>
                    <a:cs typeface="Verdana"/>
                  </a:rPr>
                  <a:t> </a:t>
                </a:r>
                <a:endParaRPr lang="en-PH" sz="2400" dirty="0">
                  <a:latin typeface="Verdana" pitchFamily="34" charset="0"/>
                  <a:ea typeface="Verdana" pitchFamily="34" charset="0"/>
                  <a:cs typeface="Cambria"/>
                </a:endParaRPr>
              </a:p>
              <a:p>
                <a:r>
                  <a:rPr lang="en-US" sz="2400" dirty="0">
                    <a:latin typeface="Verdana" pitchFamily="34" charset="0"/>
                    <a:ea typeface="Verdana" pitchFamily="34" charset="0"/>
                    <a:cs typeface="Verdana"/>
                  </a:rPr>
                  <a:t>When interpreting models, it is important to analyze whether aspects of the model make sense given the context.</a:t>
                </a:r>
                <a:endParaRPr lang="en-PH" sz="2400" dirty="0">
                  <a:latin typeface="Verdana" pitchFamily="34" charset="0"/>
                  <a:ea typeface="Verdana" pitchFamily="34" charset="0"/>
                  <a:cs typeface="Cambria"/>
                </a:endParaRPr>
              </a:p>
              <a:p>
                <a:pPr>
                  <a:lnSpc>
                    <a:spcPct val="150000"/>
                  </a:lnSpc>
                </a:pPr>
                <a:endParaRPr lang="en-US" sz="2400" dirty="0">
                  <a:latin typeface="Verdana" pitchFamily="34" charset="0"/>
                  <a:ea typeface="Verdana" pitchFamily="34" charset="0"/>
                  <a:cs typeface="Cambria"/>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788564" y="531279"/>
                <a:ext cx="11109521" cy="3526286"/>
              </a:xfrm>
              <a:prstGeom prst="rect">
                <a:avLst/>
              </a:prstGeom>
              <a:blipFill>
                <a:blip r:embed="rId4"/>
                <a:stretch>
                  <a:fillRect l="-799" t="-1434" r="-34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120F8B4-9DAA-6044-9655-B910D5ED001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spTree>
    <p:extLst>
      <p:ext uri="{BB962C8B-B14F-4D97-AF65-F5344CB8AC3E}">
        <p14:creationId xmlns:p14="http://schemas.microsoft.com/office/powerpoint/2010/main" val="2097385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76837" y="2766150"/>
            <a:ext cx="6780988"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315</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9840" y="-16546"/>
                <a:ext cx="105955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7.6.5 Guided Practice: </a:t>
                </a:r>
                <a:r>
                  <a:rPr lang="en-US" sz="3200" b="1" dirty="0">
                    <a:solidFill>
                      <a:srgbClr val="26B6D4"/>
                    </a:solidFill>
                    <a:latin typeface="Verdana"/>
                    <a:ea typeface="Verdana"/>
                    <a:cs typeface="Verdana"/>
                  </a:rPr>
                  <a:t>Interpreting Slope and </a:t>
                </a:r>
                <a14:m>
                  <m:oMath xmlns:m="http://schemas.openxmlformats.org/officeDocument/2006/math">
                    <m:r>
                      <a:rPr lang="en-US" sz="3200" b="1" i="1">
                        <a:solidFill>
                          <a:srgbClr val="26B6D4"/>
                        </a:solidFill>
                        <a:latin typeface="Cambria Math"/>
                        <a:ea typeface="Cambria Math"/>
                        <a:cs typeface="Cambria Math"/>
                      </a:rPr>
                      <m:t>𝒚</m:t>
                    </m:r>
                  </m:oMath>
                </a14:m>
                <a:r>
                  <a:rPr lang="en-US" sz="3200" b="1" dirty="0">
                    <a:solidFill>
                      <a:srgbClr val="26B6D4"/>
                    </a:solidFill>
                    <a:latin typeface="Verdana"/>
                    <a:ea typeface="Verdana"/>
                    <a:cs typeface="Verdana"/>
                  </a:rPr>
                  <a:t>-intercept in Real-World Contexts</a:t>
                </a:r>
                <a:endParaRPr lang="en-US" sz="3200" b="1" dirty="0">
                  <a:solidFill>
                    <a:srgbClr val="54B5D1"/>
                  </a:solidFill>
                  <a:latin typeface="Verdana"/>
                  <a:ea typeface="Verdana"/>
                  <a:cs typeface="Verdana"/>
                  <a:sym typeface="Verdana"/>
                </a:endParaRPr>
              </a:p>
            </p:txBody>
          </p:sp>
        </mc:Choice>
        <mc:Fallback xmlns="">
          <p:sp>
            <p:nvSpPr>
              <p:cNvPr id="7" name="Google Shape;343;g103996e1364_0_321">
                <a:extLst>
                  <a:ext uri="{FF2B5EF4-FFF2-40B4-BE49-F238E27FC236}">
                    <a16:creationId xmlns:a16="http://schemas.microsoft.com/office/drawing/2014/main" id="{21B1DF8E-16A0-FA4E-8CEB-434668DFA68D}"/>
                  </a:ext>
                </a:extLst>
              </p:cNvPr>
              <p:cNvSpPr txBox="1">
                <a:spLocks noRot="1" noChangeAspect="1" noMove="1" noResize="1" noEditPoints="1" noAdjustHandles="1" noChangeArrowheads="1" noChangeShapeType="1" noTextEdit="1"/>
              </p:cNvSpPr>
              <p:nvPr/>
            </p:nvSpPr>
            <p:spPr>
              <a:xfrm>
                <a:off x="1239840" y="-16546"/>
                <a:ext cx="10595544" cy="1325700"/>
              </a:xfrm>
              <a:prstGeom prst="rect">
                <a:avLst/>
              </a:prstGeom>
              <a:blipFill>
                <a:blip r:embed="rId4"/>
                <a:stretch>
                  <a:fillRect l="-1438" r="-2588" b="-1376"/>
                </a:stretch>
              </a:blipFill>
              <a:ln>
                <a:noFill/>
              </a:ln>
            </p:spPr>
            <p:txBody>
              <a:bodyPr/>
              <a:lstStyle/>
              <a:p>
                <a:r>
                  <a:rPr lang="en-US">
                    <a:noFill/>
                  </a:rPr>
                  <a:t> </a:t>
                </a:r>
              </a:p>
            </p:txBody>
          </p:sp>
        </mc:Fallback>
      </mc:AlternateContent>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731520" y="1325353"/>
                <a:ext cx="11103864" cy="2246769"/>
              </a:xfrm>
              <a:prstGeom prst="rect">
                <a:avLst/>
              </a:prstGeom>
              <a:noFill/>
            </p:spPr>
            <p:txBody>
              <a:bodyPr wrap="square" rtlCol="0">
                <a:spAutoFit/>
              </a:bodyPr>
              <a:lstStyle/>
              <a:p>
                <a:pPr marL="449263" indent="-449263">
                  <a:buFont typeface="+mj-lt"/>
                  <a:buAutoNum type="arabicPeriod"/>
                </a:pPr>
                <a:r>
                  <a:rPr lang="en-US" sz="2000" dirty="0">
                    <a:latin typeface="Verdana" pitchFamily="34" charset="0"/>
                    <a:ea typeface="Verdana" pitchFamily="34" charset="0"/>
                    <a:cs typeface="Verdana"/>
                  </a:rPr>
                  <a:t>Mila is doing an experiment where she fills a container with water a little bit at a time. Each time she adds water to the container, she measures both the height of the water, </a:t>
                </a:r>
                <a14:m>
                  <m:oMath xmlns:m="http://schemas.openxmlformats.org/officeDocument/2006/math">
                    <m:r>
                      <a:rPr lang="en-US" sz="2000" i="1">
                        <a:latin typeface="Cambria Math"/>
                        <a:ea typeface="Cambria Math"/>
                        <a:cs typeface="Cambria Math"/>
                      </a:rPr>
                      <m:t>h</m:t>
                    </m:r>
                  </m:oMath>
                </a14:m>
                <a:r>
                  <a:rPr lang="en-US" sz="2000" dirty="0">
                    <a:latin typeface="Verdana" pitchFamily="34" charset="0"/>
                    <a:ea typeface="Verdana" pitchFamily="34" charset="0"/>
                    <a:cs typeface="Verdana"/>
                  </a:rPr>
                  <a:t>, in inches and the weight of the container, </a:t>
                </a:r>
                <a14:m>
                  <m:oMath xmlns:m="http://schemas.openxmlformats.org/officeDocument/2006/math">
                    <m:r>
                      <a:rPr lang="en-US" sz="2000" i="1">
                        <a:latin typeface="Cambria Math"/>
                        <a:ea typeface="Cambria Math"/>
                        <a:cs typeface="Cambria Math"/>
                      </a:rPr>
                      <m:t>𝑤</m:t>
                    </m:r>
                  </m:oMath>
                </a14:m>
                <a:r>
                  <a:rPr lang="en-US" sz="2000" dirty="0">
                    <a:latin typeface="Verdana" pitchFamily="34" charset="0"/>
                    <a:ea typeface="Verdana" pitchFamily="34" charset="0"/>
                    <a:cs typeface="Verdana"/>
                  </a:rPr>
                  <a:t>, in ounces. The relationship she observes can be modeled with the equation </a:t>
                </a:r>
                <a14:m>
                  <m:oMath xmlns:m="http://schemas.openxmlformats.org/officeDocument/2006/math">
                    <m:r>
                      <a:rPr lang="en-US" sz="2000" i="1">
                        <a:latin typeface="Cambria Math"/>
                        <a:ea typeface="Cambria Math"/>
                        <a:cs typeface="Cambria Math"/>
                      </a:rPr>
                      <m:t>𝑤</m:t>
                    </m:r>
                    <m:r>
                      <a:rPr lang="en-US" sz="2000" i="1">
                        <a:latin typeface="Cambria Math"/>
                        <a:ea typeface="Cambria Math"/>
                        <a:cs typeface="Cambria Math"/>
                      </a:rPr>
                      <m:t> = 12.4</m:t>
                    </m:r>
                    <m:r>
                      <a:rPr lang="en-US" sz="2000" i="1">
                        <a:latin typeface="Cambria Math"/>
                        <a:ea typeface="Cambria Math"/>
                        <a:cs typeface="Cambria Math"/>
                      </a:rPr>
                      <m:t>h</m:t>
                    </m:r>
                    <m:r>
                      <a:rPr lang="en-US" sz="2000" i="1">
                        <a:latin typeface="Cambria Math"/>
                        <a:ea typeface="Cambria Math"/>
                        <a:cs typeface="Cambria Math"/>
                      </a:rPr>
                      <m:t>+2.5</m:t>
                    </m:r>
                  </m:oMath>
                </a14:m>
                <a:r>
                  <a:rPr lang="en-US" sz="2000" dirty="0">
                    <a:latin typeface="Verdana" pitchFamily="34" charset="0"/>
                    <a:ea typeface="Verdana" pitchFamily="34" charset="0"/>
                    <a:cs typeface="Verdana"/>
                  </a:rPr>
                  <a:t>.</a:t>
                </a: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r>
                  <a:rPr lang="en-US" sz="2000" dirty="0">
                    <a:latin typeface="Verdana" pitchFamily="34" charset="0"/>
                    <a:ea typeface="Verdana" pitchFamily="34" charset="0"/>
                  </a:rPr>
                  <a:t>Use the equation to determine the rate of change and </a:t>
                </a:r>
                <a:br>
                  <a:rPr lang="en-US" sz="2000" dirty="0">
                    <a:latin typeface="Verdana" pitchFamily="34" charset="0"/>
                    <a:ea typeface="Verdana" pitchFamily="34" charset="0"/>
                  </a:rPr>
                </a:br>
                <a14:m>
                  <m:oMath xmlns:m="http://schemas.openxmlformats.org/officeDocument/2006/math">
                    <m:r>
                      <a:rPr lang="en-US" sz="2000" i="1">
                        <a:latin typeface="Cambria Math" pitchFamily="18" charset="0"/>
                        <a:ea typeface="Cambria Math" pitchFamily="18" charset="0"/>
                      </a:rPr>
                      <m:t>𝑦</m:t>
                    </m:r>
                  </m:oMath>
                </a14:m>
                <a:r>
                  <a:rPr lang="en-US" sz="2000" dirty="0">
                    <a:latin typeface="Verdana" pitchFamily="34" charset="0"/>
                    <a:ea typeface="Verdana" pitchFamily="34" charset="0"/>
                  </a:rPr>
                  <a:t>-intercept. Then, interpret each value in context.</a:t>
                </a:r>
                <a:endParaRPr lang="en-PH" sz="2000" dirty="0">
                  <a:latin typeface="Verdana" pitchFamily="34" charset="0"/>
                  <a:ea typeface="Verdana" pitchFamily="34" charset="0"/>
                </a:endParaRP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731520" y="1325353"/>
                <a:ext cx="11103864" cy="2246769"/>
              </a:xfrm>
              <a:prstGeom prst="rect">
                <a:avLst/>
              </a:prstGeom>
              <a:blipFill>
                <a:blip r:embed="rId6"/>
                <a:stretch>
                  <a:fillRect l="-571" t="-1685" b="-3371"/>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101689495"/>
                  </p:ext>
                </p:extLst>
              </p:nvPr>
            </p:nvGraphicFramePr>
            <p:xfrm>
              <a:off x="2461899" y="3869691"/>
              <a:ext cx="7268202" cy="2033339"/>
            </p:xfrm>
            <a:graphic>
              <a:graphicData uri="http://schemas.openxmlformats.org/drawingml/2006/table">
                <a:tbl>
                  <a:tblPr bandRow="1">
                    <a:tableStyleId>{A91F0D33-8C57-4600-99A7-42BC86742BE1}</a:tableStyleId>
                  </a:tblPr>
                  <a:tblGrid>
                    <a:gridCol w="2209340">
                      <a:extLst>
                        <a:ext uri="{9D8B030D-6E8A-4147-A177-3AD203B41FA5}">
                          <a16:colId xmlns:a16="http://schemas.microsoft.com/office/drawing/2014/main" val="20000"/>
                        </a:ext>
                      </a:extLst>
                    </a:gridCol>
                    <a:gridCol w="1393371">
                      <a:extLst>
                        <a:ext uri="{9D8B030D-6E8A-4147-A177-3AD203B41FA5}">
                          <a16:colId xmlns:a16="http://schemas.microsoft.com/office/drawing/2014/main" val="20001"/>
                        </a:ext>
                      </a:extLst>
                    </a:gridCol>
                    <a:gridCol w="3665491">
                      <a:extLst>
                        <a:ext uri="{9D8B030D-6E8A-4147-A177-3AD203B41FA5}">
                          <a16:colId xmlns:a16="http://schemas.microsoft.com/office/drawing/2014/main" val="20002"/>
                        </a:ext>
                      </a:extLst>
                    </a:gridCol>
                  </a:tblGrid>
                  <a:tr h="674424">
                    <a:tc>
                      <a:txBody>
                        <a:bodyPr/>
                        <a:lstStyle/>
                        <a:p>
                          <a:pPr algn="ctr">
                            <a:spcAft>
                              <a:spcPts val="1000"/>
                            </a:spcAft>
                          </a:pPr>
                          <a:r>
                            <a:rPr lang="en-US" sz="1800" b="1" dirty="0">
                              <a:effectLst/>
                              <a:latin typeface="Verdana"/>
                              <a:ea typeface="Verdana"/>
                              <a:cs typeface="Verdana"/>
                            </a:rPr>
                            <a:t>Feature</a:t>
                          </a:r>
                          <a:endParaRPr lang="en-PH" sz="1200"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Value</a:t>
                          </a:r>
                          <a:endParaRPr lang="en-PH" sz="1200"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Interpretation</a:t>
                          </a:r>
                          <a:endParaRPr lang="en-PH" sz="1200"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91258">
                    <a:tc>
                      <a:txBody>
                        <a:bodyPr/>
                        <a:lstStyle/>
                        <a:p>
                          <a:pPr algn="ctr">
                            <a:spcAft>
                              <a:spcPts val="1000"/>
                            </a:spcAft>
                          </a:pPr>
                          <a:r>
                            <a:rPr lang="en-US" sz="2000" dirty="0">
                              <a:effectLst/>
                              <a:latin typeface="Verdana" pitchFamily="34" charset="0"/>
                              <a:ea typeface="Verdana" pitchFamily="34" charset="0"/>
                            </a:rPr>
                            <a:t>rate of change</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67657">
                    <a:tc>
                      <a:txBody>
                        <a:bodyPr/>
                        <a:lstStyle/>
                        <a:p>
                          <a:pPr algn="ctr">
                            <a:spcAft>
                              <a:spcPts val="1000"/>
                            </a:spcAft>
                          </a:pPr>
                          <a14:m>
                            <m:oMath xmlns:m="http://schemas.openxmlformats.org/officeDocument/2006/math">
                              <m:r>
                                <a:rPr lang="en-US" sz="2000">
                                  <a:effectLst/>
                                  <a:latin typeface="Cambria Math" pitchFamily="18" charset="0"/>
                                  <a:ea typeface="Cambria Math" pitchFamily="18" charset="0"/>
                                </a:rPr>
                                <m:t>𝑦</m:t>
                              </m:r>
                            </m:oMath>
                          </a14:m>
                          <a:r>
                            <a:rPr lang="en-US" sz="2000" dirty="0">
                              <a:effectLst/>
                              <a:latin typeface="Verdana" pitchFamily="34" charset="0"/>
                              <a:ea typeface="Verdana" pitchFamily="34" charset="0"/>
                            </a:rPr>
                            <a:t>-intercept</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101689495"/>
                  </p:ext>
                </p:extLst>
              </p:nvPr>
            </p:nvGraphicFramePr>
            <p:xfrm>
              <a:off x="2461899" y="3869691"/>
              <a:ext cx="7268202" cy="2033339"/>
            </p:xfrm>
            <a:graphic>
              <a:graphicData uri="http://schemas.openxmlformats.org/drawingml/2006/table">
                <a:tbl>
                  <a:tblPr bandRow="1">
                    <a:tableStyleId>{A91F0D33-8C57-4600-99A7-42BC86742BE1}</a:tableStyleId>
                  </a:tblPr>
                  <a:tblGrid>
                    <a:gridCol w="2209340">
                      <a:extLst>
                        <a:ext uri="{9D8B030D-6E8A-4147-A177-3AD203B41FA5}">
                          <a16:colId xmlns:a16="http://schemas.microsoft.com/office/drawing/2014/main" val="20000"/>
                        </a:ext>
                      </a:extLst>
                    </a:gridCol>
                    <a:gridCol w="1393371">
                      <a:extLst>
                        <a:ext uri="{9D8B030D-6E8A-4147-A177-3AD203B41FA5}">
                          <a16:colId xmlns:a16="http://schemas.microsoft.com/office/drawing/2014/main" val="20001"/>
                        </a:ext>
                      </a:extLst>
                    </a:gridCol>
                    <a:gridCol w="3665491">
                      <a:extLst>
                        <a:ext uri="{9D8B030D-6E8A-4147-A177-3AD203B41FA5}">
                          <a16:colId xmlns:a16="http://schemas.microsoft.com/office/drawing/2014/main" val="20002"/>
                        </a:ext>
                      </a:extLst>
                    </a:gridCol>
                  </a:tblGrid>
                  <a:tr h="674424">
                    <a:tc>
                      <a:txBody>
                        <a:bodyPr/>
                        <a:lstStyle/>
                        <a:p>
                          <a:pPr algn="ctr">
                            <a:spcAft>
                              <a:spcPts val="1000"/>
                            </a:spcAft>
                          </a:pPr>
                          <a:r>
                            <a:rPr lang="en-US" sz="1800" b="1" dirty="0">
                              <a:effectLst/>
                              <a:latin typeface="Verdana"/>
                              <a:ea typeface="Verdana"/>
                              <a:cs typeface="Verdana"/>
                            </a:rPr>
                            <a:t>Feature</a:t>
                          </a:r>
                          <a:endParaRPr lang="en-PH" sz="1200"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Value</a:t>
                          </a:r>
                          <a:endParaRPr lang="en-PH" sz="1200"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1800" b="1" dirty="0">
                              <a:effectLst/>
                              <a:latin typeface="Verdana"/>
                              <a:ea typeface="Verdana"/>
                              <a:cs typeface="Verdana"/>
                            </a:rPr>
                            <a:t>Interpretation</a:t>
                          </a:r>
                          <a:endParaRPr lang="en-PH" sz="1200" dirty="0">
                            <a:effectLst/>
                            <a:latin typeface="Cambria"/>
                            <a:ea typeface="Times New Roman"/>
                            <a:cs typeface="Cambri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91258">
                    <a:tc>
                      <a:txBody>
                        <a:bodyPr/>
                        <a:lstStyle/>
                        <a:p>
                          <a:pPr algn="ctr">
                            <a:spcAft>
                              <a:spcPts val="1000"/>
                            </a:spcAft>
                          </a:pPr>
                          <a:r>
                            <a:rPr lang="en-US" sz="2000" dirty="0">
                              <a:effectLst/>
                              <a:latin typeface="Verdana" pitchFamily="34" charset="0"/>
                              <a:ea typeface="Verdana" pitchFamily="34" charset="0"/>
                            </a:rPr>
                            <a:t>rate of change</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67657">
                    <a:tc>
                      <a:txBody>
                        <a:bodyPr/>
                        <a:lstStyle/>
                        <a:p>
                          <a:endParaRPr lang="en-US"/>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575" t="-205660" r="-230460" b="-3774"/>
                          </a:stretch>
                        </a:blipFill>
                      </a:tcPr>
                    </a:tc>
                    <a:tc>
                      <a:txBody>
                        <a:bodyPr/>
                        <a:lstStyle/>
                        <a:p>
                          <a:pPr algn="ctr">
                            <a:spcAft>
                              <a:spcPts val="1000"/>
                            </a:spcAft>
                          </a:pP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endParaRPr lang="en-PH" sz="2000" dirty="0">
                            <a:effectLst/>
                            <a:latin typeface="Verdana" pitchFamily="34" charset="0"/>
                            <a:ea typeface="Verdana" pitchFamily="34" charset="0"/>
                            <a:cs typeface="Cambria"/>
                          </a:endParaRPr>
                        </a:p>
                      </a:txBody>
                      <a:tcPr marL="40512" marR="4051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315</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76536" y="272114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315</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37332"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7.6.6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730265" y="1367793"/>
                <a:ext cx="5594335" cy="2554545"/>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Marcus collects rainwater in a </a:t>
                </a:r>
                <a:br>
                  <a:rPr lang="en-PH" sz="2000" i="1" dirty="0">
                    <a:latin typeface="Cambria Math"/>
                    <a:ea typeface="Cambria Math"/>
                    <a:cs typeface="Cambria Math"/>
                  </a:rPr>
                </a:br>
                <a14:m>
                  <m:oMath xmlns:m="http://schemas.openxmlformats.org/officeDocument/2006/math">
                    <m:r>
                      <a:rPr lang="en-US" sz="2000" i="1">
                        <a:latin typeface="Cambria Math"/>
                        <a:ea typeface="Cambria Math"/>
                        <a:cs typeface="Cambria Math"/>
                      </a:rPr>
                      <m:t>120</m:t>
                    </m:r>
                  </m:oMath>
                </a14:m>
                <a:r>
                  <a:rPr lang="en-US" sz="2000" dirty="0">
                    <a:latin typeface="Verdana"/>
                    <a:ea typeface="Verdana"/>
                    <a:cs typeface="Verdana"/>
                  </a:rPr>
                  <a:t>-gallon barrel to use for watering the plants in his garden during periods of time when it does not rain as much. The graph models the relationship between the number of gallons in the barrel, </a:t>
                </a:r>
                <a14:m>
                  <m:oMath xmlns:m="http://schemas.openxmlformats.org/officeDocument/2006/math">
                    <m:r>
                      <a:rPr lang="en-US" sz="2000" i="1">
                        <a:latin typeface="Cambria Math"/>
                        <a:ea typeface="Cambria Math"/>
                        <a:cs typeface="Cambria Math"/>
                      </a:rPr>
                      <m:t>𝑦</m:t>
                    </m:r>
                  </m:oMath>
                </a14:m>
                <a:r>
                  <a:rPr lang="en-US" sz="2000" dirty="0">
                    <a:latin typeface="Verdana"/>
                    <a:ea typeface="Verdana"/>
                    <a:cs typeface="Verdana"/>
                  </a:rPr>
                  <a:t>, and the number of days without rain, </a:t>
                </a:r>
                <a14:m>
                  <m:oMath xmlns:m="http://schemas.openxmlformats.org/officeDocument/2006/math">
                    <m:r>
                      <a:rPr lang="en-US" sz="2000" i="1">
                        <a:latin typeface="Cambria Math"/>
                        <a:ea typeface="Cambria Math"/>
                        <a:cs typeface="Cambria Math"/>
                      </a:rPr>
                      <m:t>𝑥</m:t>
                    </m:r>
                  </m:oMath>
                </a14:m>
                <a:r>
                  <a:rPr lang="en-US" sz="2000" dirty="0">
                    <a:latin typeface="Verdana"/>
                    <a:ea typeface="Verdana"/>
                    <a:cs typeface="Verdana"/>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0265" y="1367793"/>
                <a:ext cx="5594335" cy="2554545"/>
              </a:xfrm>
              <a:prstGeom prst="rect">
                <a:avLst/>
              </a:prstGeom>
              <a:blipFill>
                <a:blip r:embed="rId5"/>
                <a:stretch>
                  <a:fillRect l="-1131" t="-1485" r="-2489" b="-3465"/>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EDD7E546-9334-CD4B-9098-7FA33B42DB04}"/>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9218"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573434" y="1367793"/>
            <a:ext cx="4795611" cy="4566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315</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04613" y="551667"/>
                <a:ext cx="10548443" cy="707886"/>
              </a:xfrm>
              <a:prstGeom prst="rect">
                <a:avLst/>
              </a:prstGeom>
              <a:noFill/>
            </p:spPr>
            <p:txBody>
              <a:bodyPr wrap="square" rtlCol="0">
                <a:spAutoFit/>
              </a:bodyPr>
              <a:lstStyle/>
              <a:p>
                <a:pPr marL="449263" lvl="3"/>
                <a:r>
                  <a:rPr lang="en-US" sz="2000" dirty="0">
                    <a:latin typeface="Verdana" pitchFamily="34" charset="0"/>
                    <a:ea typeface="Verdana" pitchFamily="34" charset="0"/>
                  </a:rPr>
                  <a:t>Use the graph to determine the slope and </a:t>
                </a:r>
                <a14:m>
                  <m:oMath xmlns:m="http://schemas.openxmlformats.org/officeDocument/2006/math">
                    <m:r>
                      <a:rPr lang="en-US" sz="2000" i="1">
                        <a:latin typeface="Cambria Math" pitchFamily="18" charset="0"/>
                        <a:ea typeface="Cambria Math" pitchFamily="18" charset="0"/>
                      </a:rPr>
                      <m:t>𝑦</m:t>
                    </m:r>
                  </m:oMath>
                </a14:m>
                <a:r>
                  <a:rPr lang="en-US" sz="2000" dirty="0">
                    <a:latin typeface="Verdana" pitchFamily="34" charset="0"/>
                    <a:ea typeface="Verdana" pitchFamily="34" charset="0"/>
                  </a:rPr>
                  <a:t>-intercept. Then interpret each value in context.</a:t>
                </a:r>
                <a:endParaRPr lang="en-PH" sz="2000" dirty="0">
                  <a:latin typeface="Verdana" pitchFamily="34" charset="0"/>
                  <a:ea typeface="Verdana"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04613" y="551667"/>
                <a:ext cx="10548443" cy="707886"/>
              </a:xfrm>
              <a:prstGeom prst="rect">
                <a:avLst/>
              </a:prstGeom>
              <a:blipFill>
                <a:blip r:embed="rId4"/>
                <a:stretch>
                  <a:fillRect t="-5263" b="-1403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626DD4B-AF0E-B846-831C-21AC8FD45F48}"/>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639787166"/>
                  </p:ext>
                </p:extLst>
              </p:nvPr>
            </p:nvGraphicFramePr>
            <p:xfrm>
              <a:off x="2234835" y="1423420"/>
              <a:ext cx="7722330" cy="4011160"/>
            </p:xfrm>
            <a:graphic>
              <a:graphicData uri="http://schemas.openxmlformats.org/drawingml/2006/table">
                <a:tbl>
                  <a:tblPr bandRow="1">
                    <a:tableStyleId>{A91F0D33-8C57-4600-99A7-42BC86742BE1}</a:tableStyleId>
                  </a:tblPr>
                  <a:tblGrid>
                    <a:gridCol w="2322286">
                      <a:extLst>
                        <a:ext uri="{9D8B030D-6E8A-4147-A177-3AD203B41FA5}">
                          <a16:colId xmlns:a16="http://schemas.microsoft.com/office/drawing/2014/main" val="20000"/>
                        </a:ext>
                      </a:extLst>
                    </a:gridCol>
                    <a:gridCol w="2250444">
                      <a:extLst>
                        <a:ext uri="{9D8B030D-6E8A-4147-A177-3AD203B41FA5}">
                          <a16:colId xmlns:a16="http://schemas.microsoft.com/office/drawing/2014/main" val="20001"/>
                        </a:ext>
                      </a:extLst>
                    </a:gridCol>
                    <a:gridCol w="3149600">
                      <a:extLst>
                        <a:ext uri="{9D8B030D-6E8A-4147-A177-3AD203B41FA5}">
                          <a16:colId xmlns:a16="http://schemas.microsoft.com/office/drawing/2014/main" val="20002"/>
                        </a:ext>
                      </a:extLst>
                    </a:gridCol>
                  </a:tblGrid>
                  <a:tr h="141010">
                    <a:tc>
                      <a:txBody>
                        <a:bodyPr/>
                        <a:lstStyle/>
                        <a:p>
                          <a:pPr algn="ctr">
                            <a:spcAft>
                              <a:spcPts val="1000"/>
                            </a:spcAft>
                          </a:pPr>
                          <a:r>
                            <a:rPr lang="en-US" sz="2000" b="1" dirty="0">
                              <a:effectLst/>
                              <a:latin typeface="Verdana" pitchFamily="34" charset="0"/>
                              <a:ea typeface="Verdana" pitchFamily="34" charset="0"/>
                            </a:rPr>
                            <a:t>Feature</a:t>
                          </a:r>
                          <a:endParaRPr lang="en-PH" sz="2000" b="1"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pitchFamily="34" charset="0"/>
                              <a:ea typeface="Verdana" pitchFamily="34" charset="0"/>
                            </a:rPr>
                            <a:t>Value</a:t>
                          </a:r>
                          <a:endParaRPr lang="en-PH" sz="2000" b="1"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pitchFamily="34" charset="0"/>
                              <a:ea typeface="Verdana" pitchFamily="34" charset="0"/>
                            </a:rPr>
                            <a:t>Interpretation</a:t>
                          </a:r>
                          <a:endParaRPr lang="en-PH" sz="2000" b="1"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790474">
                    <a:tc>
                      <a:txBody>
                        <a:bodyPr/>
                        <a:lstStyle/>
                        <a:p>
                          <a:pPr algn="ctr">
                            <a:spcAft>
                              <a:spcPts val="1000"/>
                            </a:spcAft>
                          </a:pPr>
                          <a:r>
                            <a:rPr lang="en-US" sz="2000" dirty="0">
                              <a:effectLst/>
                              <a:latin typeface="Verdana" pitchFamily="34" charset="0"/>
                              <a:ea typeface="Verdana" pitchFamily="34" charset="0"/>
                            </a:rPr>
                            <a:t>slope</a:t>
                          </a: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15886">
                    <a:tc>
                      <a:txBody>
                        <a:bodyPr/>
                        <a:lstStyle/>
                        <a:p>
                          <a:pPr algn="ctr">
                            <a:spcAft>
                              <a:spcPts val="1000"/>
                            </a:spcAft>
                          </a:pPr>
                          <a14:m>
                            <m:oMath xmlns:m="http://schemas.openxmlformats.org/officeDocument/2006/math">
                              <m:r>
                                <a:rPr lang="en-US" sz="2000">
                                  <a:effectLst/>
                                  <a:latin typeface="Cambria Math" panose="02040503050406030204" pitchFamily="18" charset="0"/>
                                </a:rPr>
                                <m:t>𝑦</m:t>
                              </m:r>
                            </m:oMath>
                          </a14:m>
                          <a:r>
                            <a:rPr lang="en-US" sz="2000">
                              <a:effectLst/>
                              <a:latin typeface="Verdana" pitchFamily="34" charset="0"/>
                              <a:ea typeface="Verdana" pitchFamily="34" charset="0"/>
                            </a:rPr>
                            <a:t>-intercept</a:t>
                          </a:r>
                          <a:endParaRPr lang="en-PH" sz="200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endParaRPr lang="en-PH" sz="2000" dirty="0">
                            <a:effectLst/>
                            <a:latin typeface="Verdana" pitchFamily="34" charset="0"/>
                            <a:ea typeface="Verdana" pitchFamily="34" charset="0"/>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639787166"/>
                  </p:ext>
                </p:extLst>
              </p:nvPr>
            </p:nvGraphicFramePr>
            <p:xfrm>
              <a:off x="2234835" y="1423420"/>
              <a:ext cx="7722330" cy="4011160"/>
            </p:xfrm>
            <a:graphic>
              <a:graphicData uri="http://schemas.openxmlformats.org/drawingml/2006/table">
                <a:tbl>
                  <a:tblPr bandRow="1">
                    <a:tableStyleId>{A91F0D33-8C57-4600-99A7-42BC86742BE1}</a:tableStyleId>
                  </a:tblPr>
                  <a:tblGrid>
                    <a:gridCol w="2322286">
                      <a:extLst>
                        <a:ext uri="{9D8B030D-6E8A-4147-A177-3AD203B41FA5}">
                          <a16:colId xmlns:a16="http://schemas.microsoft.com/office/drawing/2014/main" val="20000"/>
                        </a:ext>
                      </a:extLst>
                    </a:gridCol>
                    <a:gridCol w="2250444">
                      <a:extLst>
                        <a:ext uri="{9D8B030D-6E8A-4147-A177-3AD203B41FA5}">
                          <a16:colId xmlns:a16="http://schemas.microsoft.com/office/drawing/2014/main" val="20001"/>
                        </a:ext>
                      </a:extLst>
                    </a:gridCol>
                    <a:gridCol w="3149600">
                      <a:extLst>
                        <a:ext uri="{9D8B030D-6E8A-4147-A177-3AD203B41FA5}">
                          <a16:colId xmlns:a16="http://schemas.microsoft.com/office/drawing/2014/main" val="20002"/>
                        </a:ext>
                      </a:extLst>
                    </a:gridCol>
                  </a:tblGrid>
                  <a:tr h="304800">
                    <a:tc>
                      <a:txBody>
                        <a:bodyPr/>
                        <a:lstStyle/>
                        <a:p>
                          <a:pPr algn="ctr">
                            <a:spcAft>
                              <a:spcPts val="1000"/>
                            </a:spcAft>
                          </a:pPr>
                          <a:r>
                            <a:rPr lang="en-US" sz="2000" b="1" dirty="0">
                              <a:effectLst/>
                              <a:latin typeface="Verdana" pitchFamily="34" charset="0"/>
                              <a:ea typeface="Verdana" pitchFamily="34" charset="0"/>
                            </a:rPr>
                            <a:t>Feature</a:t>
                          </a:r>
                          <a:endParaRPr lang="en-PH" sz="2000" b="1"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pitchFamily="34" charset="0"/>
                              <a:ea typeface="Verdana" pitchFamily="34" charset="0"/>
                            </a:rPr>
                            <a:t>Value</a:t>
                          </a:r>
                          <a:endParaRPr lang="en-PH" sz="2000" b="1"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1000"/>
                            </a:spcAft>
                          </a:pPr>
                          <a:r>
                            <a:rPr lang="en-US" sz="2000" b="1" dirty="0">
                              <a:effectLst/>
                              <a:latin typeface="Verdana" pitchFamily="34" charset="0"/>
                              <a:ea typeface="Verdana" pitchFamily="34" charset="0"/>
                            </a:rPr>
                            <a:t>Interpretation</a:t>
                          </a:r>
                          <a:endParaRPr lang="en-PH" sz="2000" b="1"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790474">
                    <a:tc>
                      <a:txBody>
                        <a:bodyPr/>
                        <a:lstStyle/>
                        <a:p>
                          <a:pPr algn="ctr">
                            <a:spcAft>
                              <a:spcPts val="1000"/>
                            </a:spcAft>
                          </a:pPr>
                          <a:r>
                            <a:rPr lang="en-US" sz="2000" dirty="0">
                              <a:effectLst/>
                              <a:latin typeface="Verdana" pitchFamily="34" charset="0"/>
                              <a:ea typeface="Verdana" pitchFamily="34" charset="0"/>
                            </a:rPr>
                            <a:t>slope</a:t>
                          </a: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15886">
                    <a:tc>
                      <a:txBody>
                        <a:bodyPr/>
                        <a:lstStyle/>
                        <a:p>
                          <a:endParaRPr lang="en-US"/>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13245" r="-233880" b="-1325"/>
                          </a:stretch>
                        </a:blipFill>
                      </a:tcPr>
                    </a:tc>
                    <a:tc>
                      <a:txBody>
                        <a:bodyPr/>
                        <a:lstStyle/>
                        <a:p>
                          <a:pPr algn="ctr">
                            <a:spcAft>
                              <a:spcPts val="1000"/>
                            </a:spcAft>
                          </a:pPr>
                          <a:endParaRPr lang="en-PH" sz="2000" dirty="0">
                            <a:effectLst/>
                            <a:latin typeface="Verdana" pitchFamily="34" charset="0"/>
                            <a:ea typeface="Verdana" pitchFamily="34" charset="0"/>
                            <a:cs typeface="Cambria"/>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1000"/>
                            </a:spcAft>
                          </a:pPr>
                          <a:endParaRPr lang="en-PH" sz="2000" dirty="0">
                            <a:effectLst/>
                            <a:latin typeface="Verdana" pitchFamily="34" charset="0"/>
                            <a:ea typeface="Verdana" pitchFamily="34" charset="0"/>
                          </a:endParaRPr>
                        </a:p>
                      </a:txBody>
                      <a:tcPr marL="31869" marR="318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315</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44522"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7.6.7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730266" y="1386024"/>
            <a:ext cx="5590706"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Plot a point on the grid to indicate your level of interest and understanding for today’s learning targets.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why you placed the point where you did.</a:t>
            </a: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1266"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320972" y="1386024"/>
            <a:ext cx="4798805" cy="418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1476</TotalTime>
  <Words>1498</Words>
  <Application>Microsoft Office PowerPoint</Application>
  <PresentationFormat>Widescreen</PresentationFormat>
  <Paragraphs>212</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Wingdings</vt:lpstr>
      <vt:lpstr>Cambria Math</vt:lpstr>
      <vt:lpstr>Calibri</vt:lpstr>
      <vt:lpstr>Cambria</vt:lpstr>
      <vt:lpstr>Arial Black</vt:lpstr>
      <vt:lpstr>Verdana</vt:lpstr>
      <vt:lpstr>Courier New</vt:lpstr>
      <vt:lpstr>Century Gothic</vt:lpstr>
      <vt:lpstr>1_Office Theme</vt:lpstr>
      <vt:lpstr>8th Grade Math: Pre-Algebra  Unit 7, Lesson 6  Interpreting Linear Relationships from Graphs and Equations  Volume 1, pg. 310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36</cp:revision>
  <dcterms:created xsi:type="dcterms:W3CDTF">2015-03-17T18:51:18Z</dcterms:created>
  <dcterms:modified xsi:type="dcterms:W3CDTF">2022-07-17T00:34:00Z</dcterms:modified>
</cp:coreProperties>
</file>