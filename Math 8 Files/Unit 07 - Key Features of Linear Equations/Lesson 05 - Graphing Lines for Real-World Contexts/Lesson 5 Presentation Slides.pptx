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33" r:id="rId10"/>
    <p:sldId id="342" r:id="rId11"/>
    <p:sldId id="343" r:id="rId12"/>
    <p:sldId id="349" r:id="rId13"/>
    <p:sldId id="344" r:id="rId14"/>
    <p:sldId id="345" r:id="rId15"/>
    <p:sldId id="329" r:id="rId16"/>
    <p:sldId id="330" r:id="rId17"/>
    <p:sldId id="323" r:id="rId18"/>
    <p:sldId id="324" r:id="rId19"/>
    <p:sldId id="337" r:id="rId20"/>
    <p:sldId id="346" r:id="rId21"/>
    <p:sldId id="347" r:id="rId22"/>
    <p:sldId id="302" r:id="rId23"/>
    <p:sldId id="303" r:id="rId24"/>
    <p:sldId id="340" r:id="rId25"/>
    <p:sldId id="348" r:id="rId26"/>
    <p:sldId id="306" r:id="rId27"/>
    <p:sldId id="307" r:id="rId28"/>
    <p:sldId id="341" r:id="rId29"/>
  </p:sldIdLst>
  <p:sldSz cx="12192000" cy="6858000"/>
  <p:notesSz cx="6858000" cy="9144000"/>
  <p:embeddedFontLst>
    <p:embeddedFont>
      <p:font typeface="Arial Black" panose="020B0A04020102020204" pitchFamily="34" charset="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49"/>
    <p:restoredTop sz="94719"/>
  </p:normalViewPr>
  <p:slideViewPr>
    <p:cSldViewPr snapToGrid="0">
      <p:cViewPr varScale="1">
        <p:scale>
          <a:sx n="49" d="100"/>
          <a:sy n="49" d="100"/>
        </p:scale>
        <p:origin x="72" y="5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20927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6950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56403" y="2054275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Graphing Lines for Real-World Contexts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305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532467"/>
            <a:ext cx="1081826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MA.8.AR.3.4</a:t>
            </a:r>
          </a:p>
          <a:p>
            <a:pPr indent="0"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or real-world context, graph a two-variable linear equation from a written description, a table, or an equation in slope-intercept form.</a:t>
            </a:r>
            <a:endParaRPr lang="en-US" sz="28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1009671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6" y="1483501"/>
            <a:ext cx="1046831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8888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096502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57200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graph a two-variable linear equation from an equation, table, or written description given a real-world context.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2833" y="2705953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102660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7.5.1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70355" y="1396248"/>
            <a:ext cx="4918167" cy="433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5" y="1396248"/>
            <a:ext cx="56400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graphs of four linear relationships are shown.</a:t>
            </a:r>
          </a:p>
          <a:p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graph that doesn’t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belong. Explain your reasoning.</a:t>
            </a: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99373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2286" y="0"/>
            <a:ext cx="1059309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7.5.2 Exploration: Graphing Linear Relationships for Real-World Contexts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732742" y="1325700"/>
                <a:ext cx="1084965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plugged into a USB charger, cell phones charge at a constant rate until they get closer to being fully charged.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Michaela plugged in her phone, the battery was at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After charging for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minutes, the battery level was at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41%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This linear relationship can be represented by a graph where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number of minutes the phone was plugged in, and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percentage of the battery charged.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42" y="1325700"/>
                <a:ext cx="10849657" cy="3416320"/>
              </a:xfrm>
              <a:prstGeom prst="rect">
                <a:avLst/>
              </a:prstGeom>
              <a:blipFill>
                <a:blip r:embed="rId5"/>
                <a:stretch>
                  <a:fillRect l="-935" t="-1481" r="-935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672544D-2ABA-1343-B9BB-B0296BB0511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17517" y="741625"/>
            <a:ext cx="10953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Harry said there is enough information from this context to find two points on the graph of this relationship.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determine the coordinates of the two points.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123784"/>
                  </p:ext>
                </p:extLst>
              </p:nvPr>
            </p:nvGraphicFramePr>
            <p:xfrm>
              <a:off x="2418915" y="2961536"/>
              <a:ext cx="7354169" cy="276496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394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147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411145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Which point represents the phone’s charge when Michaela plugged it in?</a:t>
                          </a:r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Which point represents the phone’s charge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𝟏𝟓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minutes after Michaela plugged it in?</a:t>
                          </a:r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538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( _____ , _____ )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( _____ , _____ )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123784"/>
                  </p:ext>
                </p:extLst>
              </p:nvPr>
            </p:nvGraphicFramePr>
            <p:xfrm>
              <a:off x="2418915" y="2961536"/>
              <a:ext cx="7354169" cy="276496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394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147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411145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Which point represents the phone’s charge when Michaela plugged it in?</a:t>
                          </a:r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9747" t="-5405" r="-361" b="-98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538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0" t="-109346" r="-91749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9747" t="-109346" r="-361" b="-1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29392" y="568289"/>
            <a:ext cx="1093043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the linear relationship.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information was used to graph the relationship?</a:t>
            </a: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0076" y="1026732"/>
            <a:ext cx="5653631" cy="40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7129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05642" y="644572"/>
            <a:ext cx="11586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why the slope was not needed to graph this relationship.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9640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93766" y="789481"/>
                <a:ext cx="1017715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body length,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of a milk snake in inches can be represented by the equation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𝐿</m:t>
                    </m:r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=6.5+2</m:t>
                    </m:r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age of the snake in months for the first two years of its life.</a:t>
                </a: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6" y="789481"/>
                <a:ext cx="10177153" cy="1200329"/>
              </a:xfrm>
              <a:prstGeom prst="rect">
                <a:avLst/>
              </a:prstGeom>
              <a:blipFill>
                <a:blip r:embed="rId4"/>
                <a:stretch>
                  <a:fillRect l="-898" t="-4592" r="-299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25932" y="3132582"/>
            <a:ext cx="4286250" cy="306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7406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17516" y="497816"/>
                <a:ext cx="7932819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relationship between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6" y="497816"/>
                <a:ext cx="7932819" cy="5262979"/>
              </a:xfrm>
              <a:prstGeom prst="rect">
                <a:avLst/>
              </a:prstGeom>
              <a:blipFill>
                <a:blip r:embed="rId4"/>
                <a:stretch>
                  <a:fillRect t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85337" y="1204083"/>
            <a:ext cx="5382531" cy="4720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2128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17517" y="542971"/>
                <a:ext cx="1053341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6355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information was used to graph the relationship?</a:t>
                </a: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to determine from the equation which value represents the slope and which value represents the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-intercept. Write a brief summary of your discussion.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7" y="542971"/>
                <a:ext cx="10533414" cy="3416320"/>
              </a:xfrm>
              <a:prstGeom prst="rect">
                <a:avLst/>
              </a:prstGeom>
              <a:blipFill>
                <a:blip r:embed="rId4"/>
                <a:stretch>
                  <a:fillRect t="-1429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5424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1941" y="2766145"/>
            <a:ext cx="714757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731519" y="1419891"/>
            <a:ext cx="10636391" cy="3433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context, different information was used to graph the linear relationships.</a:t>
            </a: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2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graph a linear relationship given a real-world context, the information that is necessary to know is either                                     or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39" y="0"/>
            <a:ext cx="108618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7.5.3 Bring It Together: Graphing Relationships from Real-World Contexts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ABEAAF31-51E2-ED47-BB74-BFBC5BD717B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7">
                <a:extLst>
                  <a:ext uri="{FF2B5EF4-FFF2-40B4-BE49-F238E27FC236}">
                    <a16:creationId xmlns:a16="http://schemas.microsoft.com/office/drawing/2014/main" id="{60AD023E-DC3C-E544-B0BE-52D985FACD52}"/>
                  </a:ext>
                </a:extLst>
              </p:cNvPr>
              <p:cNvSpPr/>
              <p:nvPr/>
            </p:nvSpPr>
            <p:spPr>
              <a:xfrm>
                <a:off x="8043354" y="3136867"/>
                <a:ext cx="3832875" cy="1161785"/>
              </a:xfrm>
              <a:prstGeom prst="roundRect">
                <a:avLst/>
              </a:prstGeom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slope only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-intercept</a:t>
                </a:r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only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slope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-intercept</a:t>
                </a:r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: Rounded Corners 17">
                <a:extLst>
                  <a:ext uri="{FF2B5EF4-FFF2-40B4-BE49-F238E27FC236}">
                    <a16:creationId xmlns:a16="http://schemas.microsoft.com/office/drawing/2014/main" id="{60AD023E-DC3C-E544-B0BE-52D985FACD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354" y="3136867"/>
                <a:ext cx="3832875" cy="1161785"/>
              </a:xfrm>
              <a:prstGeom prst="roundRect">
                <a:avLst/>
              </a:prstGeom>
              <a:blipFill>
                <a:blip r:embed="rId5"/>
                <a:stretch>
                  <a:fillRect r="-1270" b="-3665"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2">
            <a:extLst>
              <a:ext uri="{FF2B5EF4-FFF2-40B4-BE49-F238E27FC236}">
                <a16:creationId xmlns:a16="http://schemas.microsoft.com/office/drawing/2014/main" id="{DF6A3FB0-D9BD-A146-A424-2E7D84F095D2}"/>
              </a:ext>
            </a:extLst>
          </p:cNvPr>
          <p:cNvSpPr/>
          <p:nvPr/>
        </p:nvSpPr>
        <p:spPr>
          <a:xfrm>
            <a:off x="1257567" y="4060437"/>
            <a:ext cx="5782159" cy="1161785"/>
          </a:xfrm>
          <a:prstGeom prst="round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ordered pairs.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table of values with five </a:t>
            </a: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ordered pairs.</a:t>
            </a:r>
            <a:endParaRPr lang="en-US" sz="12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0" y="2766145"/>
            <a:ext cx="674026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40" y="0"/>
            <a:ext cx="105955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7.5.4 Guided Practice: Graphing Linear Relationships for Real-World Contexts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20" y="1325700"/>
                <a:ext cx="1059554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bathtub drains at a constant rate. There are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gallons of water in the tub when Camille opens the drain. The bathtub drains at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gallons per minute.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information about the relationship can be determined from the situation?</a:t>
                </a:r>
              </a:p>
              <a:p>
                <a:pPr marL="1200150" indent="-342900">
                  <a:lnSpc>
                    <a:spcPct val="200000"/>
                  </a:lnSpc>
                  <a:buFont typeface="Courier New" pitchFamily="49" charset="0"/>
                  <a:buChar char="o"/>
                  <a:tabLst>
                    <a:tab pos="108585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slope and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the graph</a:t>
                </a:r>
              </a:p>
              <a:p>
                <a:pPr marL="120015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 least two ordered pairs on the graph</a:t>
                </a:r>
              </a:p>
              <a:p>
                <a:pPr marL="85725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slope and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-intercept, or at least two of the ordered pairs?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25700"/>
                <a:ext cx="10595544" cy="4524315"/>
              </a:xfrm>
              <a:prstGeom prst="rect">
                <a:avLst/>
              </a:prstGeom>
              <a:blipFill>
                <a:blip r:embed="rId5"/>
                <a:stretch>
                  <a:fillRect l="-863" t="-1211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29392" y="580646"/>
                <a:ext cx="114158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linear relationship between time, in minutes,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number of gallons in the bathtub,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92" y="580646"/>
                <a:ext cx="11415852" cy="830997"/>
              </a:xfrm>
              <a:prstGeom prst="rect">
                <a:avLst/>
              </a:prstGeom>
              <a:blipFill>
                <a:blip r:embed="rId4"/>
                <a:stretch>
                  <a:fillRect t="-6569" r="-801" b="-1459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1138" y="1618975"/>
            <a:ext cx="5309724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788564" y="565547"/>
                <a:ext cx="1101961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Scuba divers wear protective equipment when diving because the pressure placed on the body increases as they dive, due to the weight of the water. At sea level, a diver experiences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atmosphere of pressure (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atm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 The table shows the pressure on a scuba diver at various diving depths.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64" y="565547"/>
                <a:ext cx="11019613" cy="1938992"/>
              </a:xfrm>
              <a:prstGeom prst="rect">
                <a:avLst/>
              </a:prstGeom>
              <a:blipFill>
                <a:blip r:embed="rId4"/>
                <a:stretch>
                  <a:fillRect l="-806" t="-2597" b="-5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0898761"/>
                  </p:ext>
                </p:extLst>
              </p:nvPr>
            </p:nvGraphicFramePr>
            <p:xfrm>
              <a:off x="2347119" y="3439062"/>
              <a:ext cx="7497761" cy="9144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9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45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054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182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419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Depth (feet)</a:t>
                          </a:r>
                          <a:endParaRPr lang="en-PH" sz="14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Pressure (</a:t>
                          </a:r>
                          <a:r>
                            <a:rPr lang="en-US" sz="2000" b="1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atm</a:t>
                          </a: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)</a:t>
                          </a:r>
                          <a:endParaRPr lang="en-PH" sz="14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1.6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2.8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0898761"/>
                  </p:ext>
                </p:extLst>
              </p:nvPr>
            </p:nvGraphicFramePr>
            <p:xfrm>
              <a:off x="2347119" y="3439062"/>
              <a:ext cx="7497761" cy="9144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9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45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054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182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419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Depth (feet)</a:t>
                          </a:r>
                          <a:endParaRPr lang="en-PH" sz="14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2143" r="-325000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4773" r="-210227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75581" r="-115116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5102" r="-1020" b="-1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Pressure (</a:t>
                          </a:r>
                          <a:r>
                            <a:rPr lang="en-US" sz="2000" b="1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atm</a:t>
                          </a: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)</a:t>
                          </a:r>
                          <a:endParaRPr lang="en-PH" sz="14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2143" t="-102778" r="-325000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4773" t="-102778" r="-210227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75581" t="-102778" r="-11511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5102" t="-102778" r="-102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2858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29392" y="527595"/>
                <a:ext cx="1112234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3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linear relationship between depth in feet,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pressure, in number of atmospheres of pressure (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atm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), exerted on the diver,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slope of the line?</a:t>
                </a: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92" y="527595"/>
                <a:ext cx="11122340" cy="5632311"/>
              </a:xfrm>
              <a:prstGeom prst="rect">
                <a:avLst/>
              </a:prstGeom>
              <a:blipFill>
                <a:blip r:embed="rId4"/>
                <a:stretch>
                  <a:fillRect t="-975" b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08322" y="1862848"/>
            <a:ext cx="7175356" cy="3598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6638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1000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37332" y="20707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7.5.5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5" y="1357536"/>
                <a:ext cx="110666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candle is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long.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Ximena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lights the candle and records the length of the candle,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inches (in.) over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hours (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hrs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 The table shows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Ximena’s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recordings.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357536"/>
                <a:ext cx="11066623" cy="1200329"/>
              </a:xfrm>
              <a:prstGeom prst="rect">
                <a:avLst/>
              </a:prstGeom>
              <a:blipFill>
                <a:blip r:embed="rId5"/>
                <a:stretch>
                  <a:fillRect l="-917" t="-421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8362089"/>
                  </p:ext>
                </p:extLst>
              </p:nvPr>
            </p:nvGraphicFramePr>
            <p:xfrm>
              <a:off x="2499388" y="3251864"/>
              <a:ext cx="7193223" cy="9144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0212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426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33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426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433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Time (</a:t>
                          </a:r>
                          <a:r>
                            <a:rPr lang="en-US" sz="2000" b="1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hrs</a:t>
                          </a: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)</a:t>
                          </a:r>
                          <a:endParaRPr lang="en-PH" sz="14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Candle height (in.)</a:t>
                          </a:r>
                          <a:endParaRPr lang="en-PH" sz="14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PH" sz="140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8.75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6.25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8362089"/>
                  </p:ext>
                </p:extLst>
              </p:nvPr>
            </p:nvGraphicFramePr>
            <p:xfrm>
              <a:off x="2499388" y="3251864"/>
              <a:ext cx="7193223" cy="9144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0212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426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33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426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433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Time (</a:t>
                          </a:r>
                          <a:r>
                            <a:rPr lang="en-US" sz="2000" b="1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hrs</a:t>
                          </a: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)</a:t>
                          </a:r>
                          <a:endParaRPr lang="en-PH" sz="14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92683" t="-2703" r="-302439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2683" t="-2703" r="-202439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86747" t="-2703" r="-100000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3902" t="-2703" r="-1220" b="-1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Candle height (in.)</a:t>
                          </a:r>
                          <a:endParaRPr lang="en-PH" sz="14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92683" t="-105556" r="-302439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2683" t="-105556" r="-202439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86747" t="-105556" r="-100000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3902" t="-105556" r="-122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04613" y="503965"/>
            <a:ext cx="10227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the relationship between candle height and time.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626DD4B-AF0E-B846-831C-21AC8FD45F4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2452" y="1343102"/>
            <a:ext cx="5365750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5567" y="340528"/>
            <a:ext cx="4952365" cy="6188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96654" y="576838"/>
                <a:ext cx="5558913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Gabriel planted a Leyland Cypress tree in his front yard. The tree was 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11.5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tall when he planted it. It reached a height of 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after 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months.</a:t>
                </a:r>
                <a:b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linear relationship between the height of the tree in feet, 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number of months since it was planted in Gabriel’s yard, 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54" y="576838"/>
                <a:ext cx="5558913" cy="3170099"/>
              </a:xfrm>
              <a:prstGeom prst="rect">
                <a:avLst/>
              </a:prstGeom>
              <a:blipFill>
                <a:blip r:embed="rId5"/>
                <a:stretch>
                  <a:fillRect l="-1370" t="-1195" r="-1142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626DD4B-AF0E-B846-831C-21AC8FD45F4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7785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102886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7.5.6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30266" y="1363447"/>
                <a:ext cx="1089729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Johnstons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turned their air conditioner off while they were out of town. When they returned home, the internal temperature of the house was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℉. They turned the air conditioner back on and after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hours, the temperature had dropped to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℉. The internal temperature of the house decreased at a constant rate until reaching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℉.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63447"/>
                <a:ext cx="10897290" cy="2308324"/>
              </a:xfrm>
              <a:prstGeom prst="rect">
                <a:avLst/>
              </a:prstGeom>
              <a:blipFill>
                <a:blip r:embed="rId5"/>
                <a:stretch>
                  <a:fillRect l="-931" t="-2198" r="-1281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19231" y="540757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the linear relationship.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513ABD8-4288-F244-A3F2-80C31058217B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61819" y="1196943"/>
            <a:ext cx="7468362" cy="4464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1137</Words>
  <Application>Microsoft Office PowerPoint</Application>
  <PresentationFormat>Widescreen</PresentationFormat>
  <Paragraphs>175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Courier New</vt:lpstr>
      <vt:lpstr>Arial</vt:lpstr>
      <vt:lpstr>Calibri</vt:lpstr>
      <vt:lpstr>Century Gothic</vt:lpstr>
      <vt:lpstr>Cambria Math</vt:lpstr>
      <vt:lpstr>Arial Black</vt:lpstr>
      <vt:lpstr>Verdana</vt:lpstr>
      <vt:lpstr>Wingdings</vt:lpstr>
      <vt:lpstr>1_Office Theme</vt:lpstr>
      <vt:lpstr>8th Grade Math: Pre-Algebra  Unit 7, Lesson 5  Graphing Lines for Real-World Contexts  Volume 1, pg. 305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45</cp:revision>
  <dcterms:created xsi:type="dcterms:W3CDTF">2015-03-17T18:51:18Z</dcterms:created>
  <dcterms:modified xsi:type="dcterms:W3CDTF">2023-07-16T14:20:13Z</dcterms:modified>
</cp:coreProperties>
</file>