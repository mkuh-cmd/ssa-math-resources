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43" r:id="rId11"/>
    <p:sldId id="355" r:id="rId12"/>
    <p:sldId id="323" r:id="rId13"/>
    <p:sldId id="324" r:id="rId14"/>
    <p:sldId id="347" r:id="rId15"/>
    <p:sldId id="356" r:id="rId16"/>
    <p:sldId id="314" r:id="rId17"/>
    <p:sldId id="315" r:id="rId18"/>
    <p:sldId id="342" r:id="rId19"/>
    <p:sldId id="357" r:id="rId20"/>
    <p:sldId id="358" r:id="rId21"/>
    <p:sldId id="354" r:id="rId22"/>
    <p:sldId id="352" r:id="rId23"/>
    <p:sldId id="353" r:id="rId24"/>
    <p:sldId id="359" r:id="rId25"/>
    <p:sldId id="351" r:id="rId26"/>
    <p:sldId id="306" r:id="rId27"/>
    <p:sldId id="307" r:id="rId28"/>
  </p:sldIdLst>
  <p:sldSz cx="12192000" cy="6858000"/>
  <p:notesSz cx="6858000" cy="9144000"/>
  <p:embeddedFontLst>
    <p:embeddedFont>
      <p:font typeface="Calibri" pitchFamily="34" charset="0"/>
      <p:regular r:id="rId30"/>
      <p:bold r:id="rId31"/>
      <p:italic r:id="rId32"/>
      <p:boldItalic r:id="rId33"/>
    </p:embeddedFont>
    <p:embeddedFont>
      <p:font typeface="Century Gothic" pitchFamily="34" charset="0"/>
      <p:regular r:id="rId34"/>
      <p:bold r:id="rId35"/>
      <p:italic r:id="rId36"/>
      <p:boldItalic r:id="rId37"/>
    </p:embeddedFont>
    <p:embeddedFont>
      <p:font typeface="Cambria Math" pitchFamily="18" charset="0"/>
      <p:regular r:id="rId38"/>
    </p:embeddedFont>
    <p:embeddedFont>
      <p:font typeface="Arial Black" pitchFamily="34" charset="0"/>
      <p:bold r:id="rId39"/>
    </p:embeddedFont>
    <p:embeddedFont>
      <p:font typeface="Verdana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A3EC"/>
    <a:srgbClr val="C69AEB"/>
    <a:srgbClr val="A961FF"/>
    <a:srgbClr val="D883FF"/>
    <a:srgbClr val="DA4487"/>
    <a:srgbClr val="276C46"/>
    <a:srgbClr val="C9DF6F"/>
    <a:srgbClr val="417DBF"/>
    <a:srgbClr val="3F2A67"/>
    <a:srgbClr val="E24E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5"/>
    <p:restoredTop sz="94719"/>
  </p:normalViewPr>
  <p:slideViewPr>
    <p:cSldViewPr snapToGrid="0">
      <p:cViewPr>
        <p:scale>
          <a:sx n="100" d="100"/>
          <a:sy n="100" d="100"/>
        </p:scale>
        <p:origin x="-660" y="-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font" Target="fonts/font13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font" Target="fonts/font14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04250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87459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0387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7733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57011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6543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84470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782478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04980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09819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810150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35113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10698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93448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48239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16937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0199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03802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64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oodsybond.com/how-to-make-a-dust-bag-for-miter-saw/" TargetMode="Externa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tiff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tiff"/><Relationship Id="rId5" Type="http://schemas.openxmlformats.org/officeDocument/2006/relationships/image" Target="../media/image29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tiff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8.tiff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36528" y="2054275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 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Angle Relationships in Triangles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279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37332" y="-8231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43834" y="1597452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MA.8.GR.1.5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problems involving the relationships of interior and exterior angles of a triangle. </a:t>
            </a:r>
          </a:p>
          <a:p>
            <a:pPr indent="0">
              <a:buNone/>
            </a:pP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34218" y="0"/>
            <a:ext cx="1060116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=""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279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43835" y="1582016"/>
            <a:ext cx="108000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=""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37332" y="-88032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=""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=""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279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43835" y="1592481"/>
            <a:ext cx="1061264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41338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identify the relationships of interior and exterior angles of a triangle.</a:t>
            </a:r>
          </a:p>
          <a:p>
            <a:pPr marL="541338" indent="-541338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41338" indent="-541338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and solve algebraic equations to solve mathematical problems involving angle relationships of triangles.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52928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493" y="2766150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2725" y="-7767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13.3.1 Warm-Up: Math Talks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=""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5915" y="2814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34958" y="1466238"/>
            <a:ext cx="10800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Angle measures are often used in construction projects.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Special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saws, like the miter saw shown, are used to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make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precise cuts into wood and other raw materials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504825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something you notice about the miter saw?</a:t>
            </a: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504825">
              <a:spcAft>
                <a:spcPts val="1000"/>
              </a:spcAft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something you wonder about the miter saw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?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9" name="Picture 8" descr="How to Make a Dust Bag for Miter Saw - WoodsyBond">
            <a:extLst>
              <a:ext uri="{FF2B5EF4-FFF2-40B4-BE49-F238E27FC236}">
                <a16:creationId xmlns="" xmlns:a16="http://schemas.microsoft.com/office/drawing/2014/main" id="{BD772C63-EE3C-4741-A1C2-25052547266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=""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550511" y="1466238"/>
            <a:ext cx="2784447" cy="2784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63893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154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0912" y="5433"/>
            <a:ext cx="1040542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13.3.2 Exploration: Interior Angles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of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 Triangle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5915" y="276479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34765" y="1468804"/>
                <a:ext cx="10800000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following using a piece of rectangular paper.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7575" lvl="1" indent="-45878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a straightedge to draw diagonals from the bottom two corners to intersect on the top side of the paper. Two possible examples are shown.</a:t>
                </a:r>
              </a:p>
              <a:p>
                <a:pPr marL="917575" lvl="1" indent="-45878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878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878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878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878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878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878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7575" lvl="1" indent="-458788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angle formed where the lines you drew intersect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Then, label the other angles in the 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as shown.</a:t>
                </a:r>
              </a:p>
              <a:p>
                <a:pPr marL="917575" lvl="1" indent="-458788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65" y="1468804"/>
                <a:ext cx="10800000" cy="4401205"/>
              </a:xfrm>
              <a:prstGeom prst="rect">
                <a:avLst/>
              </a:prstGeom>
              <a:blipFill rotWithShape="1">
                <a:blip r:embed="rId5"/>
                <a:stretch>
                  <a:fillRect l="-621" t="-83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Diagram, shape&#10;&#10;Description automatically generated">
            <a:extLst>
              <a:ext uri="{FF2B5EF4-FFF2-40B4-BE49-F238E27FC236}">
                <a16:creationId xmlns="" xmlns:a16="http://schemas.microsoft.com/office/drawing/2014/main" id="{6EA68EF9-2CCA-3645-A88A-B95B91938CD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516" b="11293"/>
          <a:stretch/>
        </p:blipFill>
        <p:spPr>
          <a:xfrm>
            <a:off x="3366120" y="2917419"/>
            <a:ext cx="5404660" cy="179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88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1955" y="378351"/>
            <a:ext cx="10800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These angles are called the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interior angles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of the triangle because they are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inside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the triangle.</a:t>
            </a:r>
          </a:p>
          <a:p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Cut out the triangle.</a:t>
            </a:r>
          </a:p>
          <a:p>
            <a:pPr marL="917575" indent="-45878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7575" indent="-458788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8788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Cut or tear the triangle so that each angle is separated. An example of where to cut is shown.</a:t>
            </a:r>
          </a:p>
        </p:txBody>
      </p:sp>
      <p:pic>
        <p:nvPicPr>
          <p:cNvPr id="6" name="Picture 5" descr="Shape&#10;&#10;Description automatically generated">
            <a:extLst>
              <a:ext uri="{FF2B5EF4-FFF2-40B4-BE49-F238E27FC236}">
                <a16:creationId xmlns="" xmlns:a16="http://schemas.microsoft.com/office/drawing/2014/main" id="{A6DA6493-A44C-7A4D-BC97-4014B8BE836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70178" y="3433050"/>
            <a:ext cx="5123553" cy="322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29112" y="384422"/>
            <a:ext cx="10800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7575" lvl="1" indent="-458788">
              <a:buFont typeface="+mj-lt"/>
              <a:buAutoNum type="alphaLcPeriod" startAt="5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Rotate and slide the labeled angles to form a set of three adjacent angles. The image shows the beginning of this process with arrows indicating where the angles should continue to slide.</a:t>
            </a:r>
          </a:p>
          <a:p>
            <a:pPr marL="917575" lvl="1" indent="-458788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8787"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5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</a:p>
          <a:p>
            <a:pPr marL="917575" indent="-45878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7575" indent="-45878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7575" indent="-458788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indent="-458788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7575" lvl="1" indent="-458788">
              <a:buFont typeface="+mj-lt"/>
              <a:buAutoNum type="alphaLcPeriod" startAt="7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findings with your partner. </a:t>
            </a:r>
          </a:p>
        </p:txBody>
      </p:sp>
      <p:pic>
        <p:nvPicPr>
          <p:cNvPr id="6" name="Picture 5" descr="Shape, polygon&#10;&#10;Description automatically generated">
            <a:extLst>
              <a:ext uri="{FF2B5EF4-FFF2-40B4-BE49-F238E27FC236}">
                <a16:creationId xmlns="" xmlns:a16="http://schemas.microsoft.com/office/drawing/2014/main" id="{8C8AD1F6-78A8-AA40-B7CC-73C5F047530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4803" y="1422991"/>
            <a:ext cx="4505782" cy="369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98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30635" y="387227"/>
            <a:ext cx="103711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conjecture about the relationship of the three interior angles of a triangle.</a:t>
            </a: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465138">
              <a:lnSpc>
                <a:spcPct val="300000"/>
              </a:lnSpc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Adjacent angles that form a straight line have a sum of </a:t>
            </a:r>
          </a:p>
          <a:p>
            <a:pPr marL="465138">
              <a:lnSpc>
                <a:spcPct val="300000"/>
              </a:lnSpc>
            </a:pP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Based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 the findings from the Exploration,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interior angles of 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triangle sum to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="" xmlns:a16="http://schemas.microsoft.com/office/drawing/2014/main" id="{453D7ED7-6579-E54D-B4A3-2C5D1E5EFE0F}"/>
                  </a:ext>
                </a:extLst>
              </p:cNvPr>
              <p:cNvSpPr/>
              <p:nvPr/>
            </p:nvSpPr>
            <p:spPr>
              <a:xfrm>
                <a:off x="8351248" y="1301137"/>
                <a:ext cx="1323976" cy="129086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180°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360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53D7ED7-6579-E54D-B4A3-2C5D1E5EFE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1248" y="1301137"/>
                <a:ext cx="1323976" cy="1290864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="" xmlns:a16="http://schemas.microsoft.com/office/drawing/2014/main" id="{8BA6B75C-5123-2641-8EA8-16226846EC06}"/>
                  </a:ext>
                </a:extLst>
              </p:cNvPr>
              <p:cNvSpPr/>
              <p:nvPr/>
            </p:nvSpPr>
            <p:spPr>
              <a:xfrm>
                <a:off x="3452964" y="3100615"/>
                <a:ext cx="1323976" cy="1290864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180°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360</m:t>
                    </m:r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BA6B75C-5123-2641-8EA8-16226846EC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964" y="3100615"/>
                <a:ext cx="1323976" cy="1290864"/>
              </a:xfrm>
              <a:prstGeom prst="round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52023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39942" y="2766145"/>
            <a:ext cx="614961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6938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48718" y="5854"/>
            <a:ext cx="105955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13.3.3 Guided Practice: Interior Angles of Triangles 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516" y="2810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35190" y="1458865"/>
            <a:ext cx="1080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relationship of the interior angles of a triangle can be used to solve for unknown angle measures in a triangle</a:t>
            </a:r>
            <a:r>
              <a:rPr lang="en-US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B8C5040E-007A-684B-B478-A49E448B22FB}"/>
              </a:ext>
            </a:extLst>
          </p:cNvPr>
          <p:cNvGrpSpPr/>
          <p:nvPr/>
        </p:nvGrpSpPr>
        <p:grpSpPr>
          <a:xfrm>
            <a:off x="2781300" y="2359795"/>
            <a:ext cx="6629400" cy="1144110"/>
            <a:chOff x="0" y="-531047"/>
            <a:chExt cx="6629400" cy="1144110"/>
          </a:xfrm>
        </p:grpSpPr>
        <p:grpSp>
          <p:nvGrpSpPr>
            <p:cNvPr id="11" name="Group 10">
              <a:extLst>
                <a:ext uri="{FF2B5EF4-FFF2-40B4-BE49-F238E27FC236}">
                  <a16:creationId xmlns="" xmlns:a16="http://schemas.microsoft.com/office/drawing/2014/main" id="{1B84CD04-1260-EC47-8920-16FEE1E28A05}"/>
                </a:ext>
              </a:extLst>
            </p:cNvPr>
            <p:cNvGrpSpPr/>
            <p:nvPr/>
          </p:nvGrpSpPr>
          <p:grpSpPr>
            <a:xfrm>
              <a:off x="0" y="-531047"/>
              <a:ext cx="6629400" cy="1144110"/>
              <a:chOff x="2031300" y="2705637"/>
              <a:chExt cx="6629400" cy="1467546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="" xmlns:a16="http://schemas.microsoft.com/office/drawing/2014/main" id="{FB57B0D1-9B9E-9F40-A500-603C914BD3BF}"/>
                  </a:ext>
                </a:extLst>
              </p:cNvPr>
              <p:cNvGrpSpPr/>
              <p:nvPr/>
            </p:nvGrpSpPr>
            <p:grpSpPr>
              <a:xfrm>
                <a:off x="2031300" y="2705637"/>
                <a:ext cx="6629400" cy="1467546"/>
                <a:chOff x="0" y="-681171"/>
                <a:chExt cx="6629400" cy="1467546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="" xmlns:a16="http://schemas.microsoft.com/office/drawing/2014/main" id="{BA06B80E-B959-7747-908F-52E63D51E86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="" xmlns:a16="http://schemas.microsoft.com/office/drawing/2014/main" id="{CE6E53BB-3A7A-1040-B7C0-1FF4C314CE7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Rounded Rectangle 16">
                      <a:extLst>
                        <a:ext uri="{FF2B5EF4-FFF2-40B4-BE49-F238E27FC236}">
                          <a16:creationId xmlns="" xmlns:a16="http://schemas.microsoft.com/office/drawing/2014/main" id="{36E05ED7-2777-A847-8328-6CBC623EDC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0" y="-681171"/>
                      <a:ext cx="6629400" cy="1449831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742950"/>
                      <a:r>
                        <a:rPr lang="en-US" sz="2000" b="1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Triangle Sum Theorem</a:t>
                      </a:r>
                      <a:endParaRPr lang="en-US" sz="20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742950"/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sum of the measures of the interior angles of a triangle is </a:t>
                      </a:r>
                      <a14:m>
                        <m:oMath xmlns:m="http://schemas.openxmlformats.org/officeDocument/2006/math">
                          <m:r>
                            <a:rPr lang="en-US" sz="2000">
                              <a:solidFill>
                                <a:srgbClr val="0075BF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180°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75BF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  <a:endParaRPr lang="en-US" sz="2000" dirty="0"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Rounded Rectangle 16">
                      <a:extLst>
                        <a:ext uri="{FF2B5EF4-FFF2-40B4-BE49-F238E27FC236}">
                          <a16:creationId xmlns:a16="http://schemas.microsoft.com/office/drawing/2014/main" id="{36E05ED7-2777-A847-8328-6CBC623EDC93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681171"/>
                      <a:ext cx="6629400" cy="1449831"/>
                    </a:xfrm>
                    <a:prstGeom prst="roundRect">
                      <a:avLst>
                        <a:gd name="adj" fmla="val 16667"/>
                      </a:avLst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3" name="image15.png" descr="Icon&#10;&#10;Description automatically generated">
              <a:extLst>
                <a:ext uri="{FF2B5EF4-FFF2-40B4-BE49-F238E27FC236}">
                  <a16:creationId xmlns="" xmlns:a16="http://schemas.microsoft.com/office/drawing/2014/main" id="{48EA3972-07F3-EA4D-AD79-46C69F6EEAC9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68729" y="-269876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548727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3114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6601" y="377789"/>
                <a:ext cx="11044207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𝐿𝐷𝐾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lvl="1" indent="-4508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an equation that can be used to find the measure of the unknown angle in the triangle. </a:t>
                </a:r>
              </a:p>
              <a:p>
                <a:pPr marL="915988" indent="-4508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5988" indent="-4508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5988" lvl="1" indent="-45085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 to find the measure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𝐾𝐿𝐷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01" y="377789"/>
                <a:ext cx="11044207" cy="5632311"/>
              </a:xfrm>
              <a:prstGeom prst="rect">
                <a:avLst/>
              </a:prstGeom>
              <a:blipFill rotWithShape="1">
                <a:blip r:embed="rId4"/>
                <a:stretch>
                  <a:fillRect l="-552" t="-64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An image of triangle LDK.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88604" y="878154"/>
            <a:ext cx="4140200" cy="2973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961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&#10;&#10;Description automatically generated">
            <a:extLst>
              <a:ext uri="{FF2B5EF4-FFF2-40B4-BE49-F238E27FC236}">
                <a16:creationId xmlns="" xmlns:a16="http://schemas.microsoft.com/office/drawing/2014/main" id="{A624F796-FDCF-CC4E-9781-F7A410FA851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122" t="4427" r="13010" b="3428"/>
          <a:stretch/>
        </p:blipFill>
        <p:spPr>
          <a:xfrm>
            <a:off x="7457374" y="384388"/>
            <a:ext cx="4073738" cy="3559702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4467" y="384388"/>
                <a:ext cx="10436972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𝑁𝐺𝑇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lvl="1" indent="-450850">
                  <a:buFont typeface="+mj-lt"/>
                  <a:buAutoNum type="alphaLcPeriod"/>
                </a:pP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equation that can be used to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5988" indent="-4508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5988" indent="-4508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/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lvl="1" indent="-45085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the equation.</a:t>
                </a:r>
              </a:p>
              <a:p>
                <a:pPr marL="915988" indent="-4508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/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5988" indent="-45085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pPr marL="915988" lvl="1" indent="-45085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measure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𝐺𝑇𝑁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67" y="384388"/>
                <a:ext cx="10436972" cy="5016758"/>
              </a:xfrm>
              <a:prstGeom prst="rect">
                <a:avLst/>
              </a:prstGeom>
              <a:blipFill rotWithShape="1">
                <a:blip r:embed="rId5"/>
                <a:stretch>
                  <a:fillRect l="-643" t="-729" b="-121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887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15429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=""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58890" y="4907"/>
            <a:ext cx="1059554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13.3.4 Collaboration: Exterior Angles </a:t>
            </a: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of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Triangles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=""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=""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516" y="29285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531876" y="1551294"/>
                <a:ext cx="1080000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the triangle shown,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∠4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</a:t>
                </a:r>
                <a:r>
                  <a:rPr lang="en-US" sz="20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exterior angle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BBA3EC"/>
                        </a:solidFill>
                        <a:latin typeface="Cambria Math" panose="02040503050406030204" pitchFamily="18" charset="0"/>
                      </a:rPr>
                      <m:t>∠3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its </a:t>
                </a:r>
                <a:r>
                  <a:rPr lang="en-US" sz="2000" dirty="0">
                    <a:solidFill>
                      <a:srgbClr val="BBA3EC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adjacent interior angle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76" y="1551294"/>
                <a:ext cx="10800000" cy="1754326"/>
              </a:xfrm>
              <a:prstGeom prst="rect">
                <a:avLst/>
              </a:prstGeom>
              <a:blipFill rotWithShape="1">
                <a:blip r:embed="rId5"/>
                <a:stretch>
                  <a:fillRect l="-564" b="-520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43D69DFA-26BB-A04A-A25D-F00681B97499}"/>
              </a:ext>
            </a:extLst>
          </p:cNvPr>
          <p:cNvGrpSpPr/>
          <p:nvPr/>
        </p:nvGrpSpPr>
        <p:grpSpPr>
          <a:xfrm>
            <a:off x="2060448" y="1551294"/>
            <a:ext cx="8071104" cy="1054100"/>
            <a:chOff x="2031300" y="3252950"/>
            <a:chExt cx="6629400" cy="1054100"/>
          </a:xfrm>
        </p:grpSpPr>
        <p:sp>
          <p:nvSpPr>
            <p:cNvPr id="12" name="Rectangle 11">
              <a:extLst>
                <a:ext uri="{FF2B5EF4-FFF2-40B4-BE49-F238E27FC236}">
                  <a16:creationId xmlns="" xmlns:a16="http://schemas.microsoft.com/office/drawing/2014/main" id="{0F33CC6D-ACFB-A241-9475-4DA24DDF84B4}"/>
                </a:ext>
              </a:extLst>
            </p:cNvPr>
            <p:cNvSpPr/>
            <p:nvPr/>
          </p:nvSpPr>
          <p:spPr>
            <a:xfrm>
              <a:off x="2031300" y="3252950"/>
              <a:ext cx="6629400" cy="10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="" xmlns:a16="http://schemas.microsoft.com/office/drawing/2014/main" id="{2E628CF8-AA82-094D-A9F8-F5217A27F330}"/>
                </a:ext>
              </a:extLst>
            </p:cNvPr>
            <p:cNvGrpSpPr/>
            <p:nvPr/>
          </p:nvGrpSpPr>
          <p:grpSpPr>
            <a:xfrm>
              <a:off x="2031300" y="3252950"/>
              <a:ext cx="6629400" cy="1054100"/>
              <a:chOff x="2031300" y="3252950"/>
              <a:chExt cx="6629400" cy="10541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="" xmlns:a16="http://schemas.microsoft.com/office/drawing/2014/main" id="{5A0FE59E-12FE-E54E-86C0-1A28D90BE3ED}"/>
                  </a:ext>
                </a:extLst>
              </p:cNvPr>
              <p:cNvSpPr/>
              <p:nvPr/>
            </p:nvSpPr>
            <p:spPr>
              <a:xfrm>
                <a:off x="2031300" y="3252950"/>
                <a:ext cx="6629400" cy="10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="" xmlns:a16="http://schemas.microsoft.com/office/drawing/2014/main" id="{B534D930-B642-1E44-B062-12847C216801}"/>
                  </a:ext>
                </a:extLst>
              </p:cNvPr>
              <p:cNvGrpSpPr/>
              <p:nvPr/>
            </p:nvGrpSpPr>
            <p:grpSpPr>
              <a:xfrm>
                <a:off x="2031300" y="3252950"/>
                <a:ext cx="6629400" cy="1054100"/>
                <a:chOff x="2031300" y="3252877"/>
                <a:chExt cx="6629400" cy="1054246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="" xmlns:a16="http://schemas.microsoft.com/office/drawing/2014/main" id="{A4AC82F3-2EB6-104F-A134-3E74311782DD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="" xmlns:a16="http://schemas.microsoft.com/office/drawing/2014/main" id="{0EBF827B-57BB-CD46-93D5-E9A08983B1DE}"/>
                    </a:ext>
                  </a:extLst>
                </p:cNvPr>
                <p:cNvGrpSpPr/>
                <p:nvPr/>
              </p:nvGrpSpPr>
              <p:grpSpPr>
                <a:xfrm>
                  <a:off x="2031300" y="3252877"/>
                  <a:ext cx="6629400" cy="1054246"/>
                  <a:chOff x="2031300" y="3252877"/>
                  <a:chExt cx="6629400" cy="1054246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="" xmlns:a16="http://schemas.microsoft.com/office/drawing/2014/main" id="{6418488F-33A8-8440-B2B6-251B5193EC63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="" xmlns:a16="http://schemas.microsoft.com/office/drawing/2014/main" id="{5969FA8B-566B-1E42-B2A7-56432393C5F1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3252877"/>
                    <a:ext cx="6629400" cy="1054246"/>
                    <a:chOff x="2031300" y="3252877"/>
                    <a:chExt cx="6629400" cy="1054246"/>
                  </a:xfrm>
                </p:grpSpPr>
                <p:sp>
                  <p:nvSpPr>
                    <p:cNvPr id="21" name="Rectangle 20">
                      <a:extLst>
                        <a:ext uri="{FF2B5EF4-FFF2-40B4-BE49-F238E27FC236}">
                          <a16:creationId xmlns="" xmlns:a16="http://schemas.microsoft.com/office/drawing/2014/main" id="{5E545456-CC2F-204B-80AC-D9EA0ADCAA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2" name="Group 21">
                      <a:extLst>
                        <a:ext uri="{FF2B5EF4-FFF2-40B4-BE49-F238E27FC236}">
                          <a16:creationId xmlns="" xmlns:a16="http://schemas.microsoft.com/office/drawing/2014/main" id="{34DC849B-AD83-D848-8B85-B68501B7A831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3252877"/>
                      <a:ext cx="6629400" cy="1054246"/>
                      <a:chOff x="2031300" y="3252877"/>
                      <a:chExt cx="6629400" cy="1054246"/>
                    </a:xfrm>
                  </p:grpSpPr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="" xmlns:a16="http://schemas.microsoft.com/office/drawing/2014/main" id="{C5DCDA26-3AD4-E840-BDC2-F1A70AEF77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52877"/>
                        <a:ext cx="6629400" cy="105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r>
                          <a:rPr lang="en-US" sz="120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="" xmlns:a16="http://schemas.microsoft.com/office/drawing/2014/main" id="{6A0FF90F-9B6F-C64A-BEA0-2C50402B317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3252877"/>
                        <a:ext cx="6629400" cy="1054246"/>
                        <a:chOff x="2031300" y="3252877"/>
                        <a:chExt cx="6629400" cy="1054246"/>
                      </a:xfrm>
                    </p:grpSpPr>
                    <p:sp>
                      <p:nvSpPr>
                        <p:cNvPr id="25" name="Rectangle 24">
                          <a:extLst>
                            <a:ext uri="{FF2B5EF4-FFF2-40B4-BE49-F238E27FC236}">
                              <a16:creationId xmlns="" xmlns:a16="http://schemas.microsoft.com/office/drawing/2014/main" id="{A8EBA775-EB7E-FB46-912D-CF67533F523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252877"/>
                          <a:ext cx="6629400" cy="1054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r>
                            <a:rPr lang="en-US" sz="120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6" name="Group 25">
                          <a:extLst>
                            <a:ext uri="{FF2B5EF4-FFF2-40B4-BE49-F238E27FC236}">
                              <a16:creationId xmlns="" xmlns:a16="http://schemas.microsoft.com/office/drawing/2014/main" id="{2DB8321B-32A3-2648-831D-6F256C52EA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31300" y="3252877"/>
                          <a:ext cx="6629400" cy="1054246"/>
                          <a:chOff x="2031300" y="3262288"/>
                          <a:chExt cx="6629400" cy="1035424"/>
                        </a:xfrm>
                      </p:grpSpPr>
                      <p:sp>
                        <p:nvSpPr>
                          <p:cNvPr id="27" name="Rectangle 26">
                            <a:extLst>
                              <a:ext uri="{FF2B5EF4-FFF2-40B4-BE49-F238E27FC236}">
                                <a16:creationId xmlns="" xmlns:a16="http://schemas.microsoft.com/office/drawing/2014/main" id="{42A2EBFA-E9E1-3D46-B93A-322ED28F782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262288"/>
                            <a:ext cx="6629400" cy="10354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r>
                              <a:rPr lang="en-US" sz="1200"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8" name="Group 27">
                            <a:extLst>
                              <a:ext uri="{FF2B5EF4-FFF2-40B4-BE49-F238E27FC236}">
                                <a16:creationId xmlns="" xmlns:a16="http://schemas.microsoft.com/office/drawing/2014/main" id="{85BEE927-F571-404B-A636-A39CB087132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31300" y="3262288"/>
                            <a:ext cx="6629400" cy="1035424"/>
                            <a:chOff x="2031300" y="3373600"/>
                            <a:chExt cx="6629400" cy="1035424"/>
                          </a:xfrm>
                        </p:grpSpPr>
                        <p:sp>
                          <p:nvSpPr>
                            <p:cNvPr id="29" name="Rectangle 28">
                              <a:extLst>
                                <a:ext uri="{FF2B5EF4-FFF2-40B4-BE49-F238E27FC236}">
                                  <a16:creationId xmlns="" xmlns:a16="http://schemas.microsoft.com/office/drawing/2014/main" id="{7BFDFBE1-AAFE-AC4B-82F3-39F4DF09AC8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2031300" y="3373600"/>
                              <a:ext cx="6629400" cy="10354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r>
                                <a:rPr lang="en-US" sz="120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p:grpSp>
                          <p:nvGrpSpPr>
                            <p:cNvPr id="30" name="Group 29">
                              <a:extLst>
                                <a:ext uri="{FF2B5EF4-FFF2-40B4-BE49-F238E27FC236}">
                                  <a16:creationId xmlns="" xmlns:a16="http://schemas.microsoft.com/office/drawing/2014/main" id="{FAB25341-560E-104E-B6C2-146D486DC2B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2031300" y="3373600"/>
                              <a:ext cx="6629400" cy="1035424"/>
                              <a:chOff x="2031300" y="3373600"/>
                              <a:chExt cx="6629400" cy="1035424"/>
                            </a:xfrm>
                          </p:grpSpPr>
                          <p:sp>
                            <p:nvSpPr>
                              <p:cNvPr id="31" name="Rectangle 30">
                                <a:extLst>
                                  <a:ext uri="{FF2B5EF4-FFF2-40B4-BE49-F238E27FC236}">
                                    <a16:creationId xmlns="" xmlns:a16="http://schemas.microsoft.com/office/drawing/2014/main" id="{7AC0E9DF-18DB-8040-8D6D-EB19662B608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2031300" y="3373600"/>
                                <a:ext cx="6629400" cy="812800"/>
                              </a:xfrm>
                              <a:prstGeom prst="rect">
                                <a:avLst/>
                              </a:prstGeom>
                              <a:noFill/>
                              <a:ln>
                                <a:noFill/>
                              </a:ln>
                            </p:spPr>
                            <p:txBody>
                              <a:bodyPr spcFirstLastPara="1" wrap="square" lIns="91425" tIns="91425" rIns="91425" bIns="91425" anchor="ctr" anchorCtr="0">
                                <a:noAutofit/>
                              </a:bodyPr>
                              <a:lstStyle/>
                              <a:p>
                                <a:r>
                                  <a:rPr lang="en-US" sz="1200">
                                    <a:latin typeface="Times New Roman" panose="02020603050405020304" pitchFamily="18" charset="0"/>
                                    <a:ea typeface="Times New Roman" panose="02020603050405020304" pitchFamily="18" charset="0"/>
                                  </a:rPr>
                                  <a:t> </a:t>
                                </a:r>
                              </a:p>
                            </p:txBody>
                          </p:sp>
                          <p:grpSp>
                            <p:nvGrpSpPr>
                              <p:cNvPr id="32" name="Group 31">
                                <a:extLst>
                                  <a:ext uri="{FF2B5EF4-FFF2-40B4-BE49-F238E27FC236}">
                                    <a16:creationId xmlns="" xmlns:a16="http://schemas.microsoft.com/office/drawing/2014/main" id="{C6824F85-1016-C64C-B70B-63B0CF9FD8C2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2031300" y="3373600"/>
                                <a:ext cx="6629400" cy="1035424"/>
                                <a:chOff x="0" y="0"/>
                                <a:chExt cx="6629400" cy="1035424"/>
                              </a:xfrm>
                            </p:grpSpPr>
                            <p:sp>
                              <p:nvSpPr>
                                <p:cNvPr id="33" name="Rectangle 32">
                                  <a:extLst>
                                    <a:ext uri="{FF2B5EF4-FFF2-40B4-BE49-F238E27FC236}">
                                      <a16:creationId xmlns="" xmlns:a16="http://schemas.microsoft.com/office/drawing/2014/main" id="{B4F8EDA5-AD29-4346-8A2F-5C282098ED40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0" y="0"/>
                                  <a:ext cx="6629400" cy="812800"/>
                                </a:xfrm>
                                <a:prstGeom prst="rect">
                                  <a:avLst/>
                                </a:prstGeom>
                                <a:noFill/>
                                <a:ln>
                                  <a:noFill/>
                                </a:ln>
                              </p:spPr>
                              <p:txBody>
                                <a:bodyPr spcFirstLastPara="1" wrap="square" lIns="91425" tIns="91425" rIns="91425" bIns="91425" anchor="ctr" anchorCtr="0">
                                  <a:noAutofit/>
                                </a:bodyPr>
                                <a:lstStyle/>
                                <a:p>
                                  <a:r>
                                    <a:rPr lang="en-US" sz="1200">
                                      <a:latin typeface="Times New Roman" panose="02020603050405020304" pitchFamily="18" charset="0"/>
                                      <a:ea typeface="Times New Roman" panose="02020603050405020304" pitchFamily="18" charset="0"/>
                                    </a:rPr>
                                    <a:t> </a:t>
                                  </a:r>
                                </a:p>
                              </p:txBody>
                            </p:sp>
                            <p:sp>
                              <p:nvSpPr>
                                <p:cNvPr id="34" name="Rounded Rectangle 33">
                                  <a:extLst>
                                    <a:ext uri="{FF2B5EF4-FFF2-40B4-BE49-F238E27FC236}">
                                      <a16:creationId xmlns="" xmlns:a16="http://schemas.microsoft.com/office/drawing/2014/main" id="{89219F2E-57D9-B645-8857-43A1AE851A57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0" y="0"/>
                                  <a:ext cx="6629400" cy="1035424"/>
                                </a:xfrm>
                                <a:prstGeom prst="roundRect">
                                  <a:avLst>
                                    <a:gd name="adj" fmla="val 16667"/>
                                  </a:avLst>
                                </a:prstGeom>
                                <a:solidFill>
                                  <a:srgbClr val="E2EED5"/>
                                </a:solidFill>
                                <a:ln>
                                  <a:noFill/>
                                </a:ln>
                                <a:effectLst>
                                  <a:outerShdw blurRad="50800" dist="38100" dir="2700000" algn="tl" rotWithShape="0">
                                    <a:prstClr val="black">
                                      <a:alpha val="40000"/>
                                    </a:prstClr>
                                  </a:outerShdw>
                                </a:effectLst>
                              </p:spPr>
                              <p:txBody>
                                <a:bodyPr spcFirstLastPara="1" wrap="square" lIns="91425" tIns="45700" rIns="91425" bIns="45700" anchor="ctr" anchorCtr="0">
                                  <a:noAutofit/>
                                </a:bodyPr>
                                <a:lstStyle/>
                                <a:p>
                                  <a:pPr>
                                    <a:lnSpc>
                                      <a:spcPct val="115000"/>
                                    </a:lnSpc>
                                  </a:pP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</a:rPr>
                                    <a:t>An </a:t>
                                  </a:r>
                                  <a:r>
                                    <a:rPr lang="en-US" sz="2000" b="1" i="1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</a:rPr>
                                    <a:t>exterior angle</a:t>
                                  </a:r>
                                  <a:r>
                                    <a:rPr lang="en-US" sz="2000" dirty="0">
                                      <a:solidFill>
                                        <a:srgbClr val="6C993D"/>
                                      </a:solidFill>
                                      <a:latin typeface="Verdana" panose="020B0604030504040204" pitchFamily="34" charset="0"/>
                                      <a:ea typeface="Times New Roman" panose="02020603050405020304" pitchFamily="18" charset="0"/>
                                    </a:rPr>
                                    <a:t> is an angle created by extending one leg of a triangle.</a:t>
                                  </a:r>
                                  <a:endParaRPr lang="en-US" sz="2000" dirty="0">
                                    <a:latin typeface="Times New Roman" panose="02020603050405020304" pitchFamily="18" charset="0"/>
                                    <a:ea typeface="Times New Roman" panose="02020603050405020304" pitchFamily="18" charset="0"/>
                                  </a:endParaRPr>
                                </a:p>
                              </p:txBody>
                            </p:sp>
                          </p:grpSp>
                        </p:grpSp>
                      </p:grpSp>
                    </p:grpSp>
                  </p:grpSp>
                </p:grpSp>
              </p:grpSp>
            </p:grpSp>
          </p:grpSp>
        </p:grpSp>
      </p:grpSp>
      <p:pic>
        <p:nvPicPr>
          <p:cNvPr id="35" name="Picture 34" descr="Chart, line chart&#10;&#10;Description automatically generated">
            <a:extLst>
              <a:ext uri="{FF2B5EF4-FFF2-40B4-BE49-F238E27FC236}">
                <a16:creationId xmlns="" xmlns:a16="http://schemas.microsoft.com/office/drawing/2014/main" id="{FAB7D546-4319-3B4D-90CC-A72E3CF75BA1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50566" y="3537825"/>
            <a:ext cx="69469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402" y="376708"/>
                <a:ext cx="10753361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following based on the given information.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</a:t>
                </a:r>
              </a:p>
              <a:p>
                <a:pPr marL="465138">
                  <a:lnSpc>
                    <a:spcPct val="3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exterior angle is                                  to its adjacent </a:t>
                </a:r>
                <a:endParaRPr lang="en-US" sz="20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>
                  <a:lnSpc>
                    <a:spcPct val="3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interior angle, so the sum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∠3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∠4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</a:p>
              <a:p>
                <a:pPr marL="465138">
                  <a:lnSpc>
                    <a:spcPct val="3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the                     angles of the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triangle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Their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sum is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02" y="376708"/>
                <a:ext cx="10753361" cy="4708981"/>
              </a:xfrm>
              <a:prstGeom prst="rect">
                <a:avLst/>
              </a:prstGeom>
              <a:blipFill rotWithShape="1">
                <a:blip r:embed="rId4"/>
                <a:stretch>
                  <a:fillRect l="-567" t="-648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="" xmlns:a16="http://schemas.microsoft.com/office/drawing/2014/main" id="{6C3F154B-0740-F14D-B1C4-671ABE6D50CE}"/>
              </a:ext>
            </a:extLst>
          </p:cNvPr>
          <p:cNvSpPr/>
          <p:nvPr/>
        </p:nvSpPr>
        <p:spPr>
          <a:xfrm>
            <a:off x="3654002" y="1416547"/>
            <a:ext cx="2853871" cy="10795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anose="02070309020205020404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supplementary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  <a:tabLst>
                <a:tab pos="266700" algn="l"/>
              </a:tabLst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>
                <a:extLst>
                  <a:ext uri="{FF2B5EF4-FFF2-40B4-BE49-F238E27FC236}">
                    <a16:creationId xmlns="" xmlns:a16="http://schemas.microsoft.com/office/drawing/2014/main" id="{667B3D87-3790-9949-AACE-1318D30E1F7C}"/>
                  </a:ext>
                </a:extLst>
              </p:cNvPr>
              <p:cNvSpPr/>
              <p:nvPr/>
            </p:nvSpPr>
            <p:spPr>
              <a:xfrm>
                <a:off x="6507873" y="2374022"/>
                <a:ext cx="1413467" cy="10795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66700" indent="-2667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6700" indent="-2667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180°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6700" indent="-2667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360°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7B3D87-3790-9949-AACE-1318D30E1F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7873" y="2374022"/>
                <a:ext cx="1413467" cy="1079500"/>
              </a:xfrm>
              <a:prstGeom prst="roundRect">
                <a:avLst/>
              </a:prstGeom>
              <a:blipFill rotWithShape="1">
                <a:blip r:embed="rId5"/>
                <a:stretch>
                  <a:fillRect b="-6630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BF894BE2-674C-F642-AB2D-1BBD54262BF4}"/>
              </a:ext>
            </a:extLst>
          </p:cNvPr>
          <p:cNvSpPr/>
          <p:nvPr/>
        </p:nvSpPr>
        <p:spPr>
          <a:xfrm>
            <a:off x="4481217" y="3357950"/>
            <a:ext cx="1691048" cy="8001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interior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exterior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>
                <a:extLst>
                  <a:ext uri="{FF2B5EF4-FFF2-40B4-BE49-F238E27FC236}">
                    <a16:creationId xmlns="" xmlns:a16="http://schemas.microsoft.com/office/drawing/2014/main" id="{38F2DCCD-4290-634E-A6BE-D4CBCFC7D3A0}"/>
                  </a:ext>
                </a:extLst>
              </p:cNvPr>
              <p:cNvSpPr/>
              <p:nvPr/>
            </p:nvSpPr>
            <p:spPr>
              <a:xfrm>
                <a:off x="2805338" y="4131265"/>
                <a:ext cx="1250951" cy="10795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66700" indent="-2667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6700" indent="-2667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180°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66700" indent="-266700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360°</m:t>
                    </m:r>
                  </m:oMath>
                </a14:m>
                <a:r>
                  <a:rPr lang="en-US" sz="2000" dirty="0">
                    <a:solidFill>
                      <a:srgbClr val="000000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sz="2000" dirty="0"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8F2DCCD-4290-634E-A6BE-D4CBCFC7D3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5338" y="4131265"/>
                <a:ext cx="1250951" cy="1079500"/>
              </a:xfrm>
              <a:prstGeom prst="roundRect">
                <a:avLst/>
              </a:prstGeom>
              <a:blipFill rotWithShape="1">
                <a:blip r:embed="rId6"/>
                <a:stretch>
                  <a:fillRect b="-7222"/>
                </a:stretch>
              </a:blipFill>
              <a:ln w="19050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0626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6378" y="381275"/>
                <a:ext cx="10792710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notation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∠1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read as “The measure of angle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.”</a:t>
                </a:r>
              </a:p>
              <a:p>
                <a:pPr>
                  <a:lnSpc>
                    <a:spcPct val="150000"/>
                  </a:lnSpc>
                </a:pPr>
                <a:endParaRPr lang="en-US" sz="8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Destiny wrote the following mathematical statements on her paper after looking at the triangle above.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∠4 + </m:t>
                      </m:r>
                      <m:r>
                        <a:rPr lang="en-US" sz="2000" i="1">
                          <a:solidFill>
                            <a:srgbClr val="BBA3E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solidFill>
                            <a:srgbClr val="BBA3E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∠3=180</m:t>
                      </m:r>
                      <m:r>
                        <a:rPr lang="en-US" sz="2000" i="1">
                          <a:solidFill>
                            <a:srgbClr val="BBA3E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∠1 + 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∠2 + </m:t>
                      </m:r>
                      <m:r>
                        <a:rPr lang="en-US" sz="2000" i="1">
                          <a:solidFill>
                            <a:srgbClr val="BBA3E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solidFill>
                            <a:srgbClr val="BBA3E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∠3=180</m:t>
                      </m:r>
                      <m:r>
                        <a:rPr lang="en-US" sz="2000" i="1">
                          <a:solidFill>
                            <a:srgbClr val="BBA3E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∠1 + 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∠2 =</m:t>
                      </m:r>
                      <m:r>
                        <a:rPr lang="en-US" sz="20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000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∠4</m:t>
                      </m:r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  <a:p>
                <a:pPr marL="915988" indent="-4508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discuss Destiny’s reasoning.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5988" indent="-45085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5988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Any exterior angle of a triangle is equal to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78" y="381275"/>
                <a:ext cx="10792710" cy="4893647"/>
              </a:xfrm>
              <a:prstGeom prst="rect">
                <a:avLst/>
              </a:prstGeom>
              <a:blipFill rotWithShape="1">
                <a:blip r:embed="rId4"/>
                <a:stretch>
                  <a:fillRect l="-621" t="-62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="" xmlns:a16="http://schemas.microsoft.com/office/drawing/2014/main" id="{DAC725D7-5E45-A646-BEDB-F1DA0669466F}"/>
              </a:ext>
            </a:extLst>
          </p:cNvPr>
          <p:cNvSpPr/>
          <p:nvPr/>
        </p:nvSpPr>
        <p:spPr>
          <a:xfrm>
            <a:off x="7088907" y="4195175"/>
            <a:ext cx="4836393" cy="146423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one of the interior angles of the triangle.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sum of the two non-adjacent interior angles of the triangle.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81280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751" y="378879"/>
                <a:ext cx="10761178" cy="5232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Every interior angle of a triangle has two possible exterior angles, depending on the side length that is extended. Consider the triangle shown with </a:t>
                </a:r>
                <a:r>
                  <a:rPr lang="en-US" sz="20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both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solidFill>
                      <a:schemeClr val="accent2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possible exterior angles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∠3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labeled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dirty="0"/>
              </a:p>
              <a:p>
                <a:pPr marL="915988" indent="-45085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the angle relationship between both possible exterior angles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∠3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51" y="378879"/>
                <a:ext cx="10761178" cy="5232202"/>
              </a:xfrm>
              <a:prstGeom prst="rect">
                <a:avLst/>
              </a:prstGeom>
              <a:blipFill rotWithShape="1">
                <a:blip r:embed="rId4"/>
                <a:stretch>
                  <a:fillRect l="-566" t="-69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A triangle with exterior angles.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57527" y="1457660"/>
            <a:ext cx="4111625" cy="307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14568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6975" y="438189"/>
                <a:ext cx="11397849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5988" indent="-45085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complete the statements.</a:t>
                </a:r>
              </a:p>
              <a:p>
                <a:pPr marL="915988">
                  <a:lnSpc>
                    <a:spcPct val="30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two possible exterior angles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∠3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       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		angles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they both have the same measure. Therefore, it does not matter which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/>
                </a:r>
                <a:b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side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length is extended to create an exterior angle because both are equivalent to each other and                </a:t>
                </a:r>
                <a:r>
                  <a:rPr lang="en-US" sz="2000" dirty="0" smtClean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	      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the adjacent interior angle.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75" y="438189"/>
                <a:ext cx="11397849" cy="4093428"/>
              </a:xfrm>
              <a:prstGeom prst="rect">
                <a:avLst/>
              </a:prstGeom>
              <a:blipFill rotWithShape="1">
                <a:blip r:embed="rId4"/>
                <a:stretch>
                  <a:fillRect t="-894" r="-53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ounded Rectangle 5">
            <a:extLst>
              <a:ext uri="{FF2B5EF4-FFF2-40B4-BE49-F238E27FC236}">
                <a16:creationId xmlns="" xmlns:a16="http://schemas.microsoft.com/office/drawing/2014/main" id="{CBDEDD03-A3BF-E542-B91D-4506CF2652ED}"/>
              </a:ext>
            </a:extLst>
          </p:cNvPr>
          <p:cNvSpPr/>
          <p:nvPr/>
        </p:nvSpPr>
        <p:spPr>
          <a:xfrm>
            <a:off x="7044873" y="873486"/>
            <a:ext cx="2633999" cy="10795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supplementary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="" xmlns:a16="http://schemas.microsoft.com/office/drawing/2014/main" id="{C9FF2115-C0A1-F64F-915F-EF94A2D1B0A9}"/>
              </a:ext>
            </a:extLst>
          </p:cNvPr>
          <p:cNvSpPr/>
          <p:nvPr/>
        </p:nvSpPr>
        <p:spPr>
          <a:xfrm>
            <a:off x="3963251" y="3590925"/>
            <a:ext cx="2633998" cy="10795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complementary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supplementary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6700" indent="-2667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  <a:endParaRPr lang="en-US" sz="200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70052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73296" y="2766150"/>
            <a:ext cx="620131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=""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4096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7044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=""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58889" y="0"/>
            <a:ext cx="1077798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13.3.5 Guided Practice: Exterior Angles of Triangles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=""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36516" y="274439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36589" y="1452768"/>
            <a:ext cx="10800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relationship of the exterior angles of a triangle can be used to solve for unknown angle measures in a triangle.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6093CF33-E379-2A4B-8FEA-858917AE7CF7}"/>
              </a:ext>
            </a:extLst>
          </p:cNvPr>
          <p:cNvGrpSpPr/>
          <p:nvPr/>
        </p:nvGrpSpPr>
        <p:grpSpPr>
          <a:xfrm>
            <a:off x="2493873" y="2486451"/>
            <a:ext cx="6885432" cy="1563689"/>
            <a:chOff x="-256032" y="-117625"/>
            <a:chExt cx="6885432" cy="1563689"/>
          </a:xfrm>
        </p:grpSpPr>
        <p:grpSp>
          <p:nvGrpSpPr>
            <p:cNvPr id="11" name="Group 10">
              <a:extLst>
                <a:ext uri="{FF2B5EF4-FFF2-40B4-BE49-F238E27FC236}">
                  <a16:creationId xmlns="" xmlns:a16="http://schemas.microsoft.com/office/drawing/2014/main" id="{261208F6-4752-554E-A6DB-EE6E53EB565D}"/>
                </a:ext>
              </a:extLst>
            </p:cNvPr>
            <p:cNvGrpSpPr/>
            <p:nvPr/>
          </p:nvGrpSpPr>
          <p:grpSpPr>
            <a:xfrm>
              <a:off x="-256032" y="-117625"/>
              <a:ext cx="6885432" cy="1563689"/>
              <a:chOff x="1775268" y="3235934"/>
              <a:chExt cx="6885432" cy="2005739"/>
            </a:xfrm>
          </p:grpSpPr>
          <p:grpSp>
            <p:nvGrpSpPr>
              <p:cNvPr id="14" name="Group 13">
                <a:extLst>
                  <a:ext uri="{FF2B5EF4-FFF2-40B4-BE49-F238E27FC236}">
                    <a16:creationId xmlns="" xmlns:a16="http://schemas.microsoft.com/office/drawing/2014/main" id="{8C160130-0BD4-9049-A97A-6C3212AE7FD7}"/>
                  </a:ext>
                </a:extLst>
              </p:cNvPr>
              <p:cNvGrpSpPr/>
              <p:nvPr/>
            </p:nvGrpSpPr>
            <p:grpSpPr>
              <a:xfrm>
                <a:off x="1775268" y="3235934"/>
                <a:ext cx="6885432" cy="2005739"/>
                <a:chOff x="-256032" y="-150874"/>
                <a:chExt cx="6885432" cy="2005739"/>
              </a:xfrm>
            </p:grpSpPr>
            <p:sp>
              <p:nvSpPr>
                <p:cNvPr id="15" name="Rectangle 14">
                  <a:extLst>
                    <a:ext uri="{FF2B5EF4-FFF2-40B4-BE49-F238E27FC236}">
                      <a16:creationId xmlns="" xmlns:a16="http://schemas.microsoft.com/office/drawing/2014/main" id="{A93CE5CC-9AB6-8C42-8871-D49FDF175D3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="" xmlns:a16="http://schemas.microsoft.com/office/drawing/2014/main" id="{8E0DDF81-2890-1446-B273-5E7F6AD8FE7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sp>
              <p:nvSpPr>
                <p:cNvPr id="17" name="Rounded Rectangle 16">
                  <a:extLst>
                    <a:ext uri="{FF2B5EF4-FFF2-40B4-BE49-F238E27FC236}">
                      <a16:creationId xmlns="" xmlns:a16="http://schemas.microsoft.com/office/drawing/2014/main" id="{D31D604E-48C1-E94A-8C3A-D1D1F2330332}"/>
                    </a:ext>
                  </a:extLst>
                </p:cNvPr>
                <p:cNvSpPr/>
                <p:nvPr/>
              </p:nvSpPr>
              <p:spPr>
                <a:xfrm>
                  <a:off x="-256032" y="-150874"/>
                  <a:ext cx="6885432" cy="200573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742950"/>
                  <a:r>
                    <a:rPr lang="en-US" sz="2000" dirty="0">
                      <a:solidFill>
                        <a:srgbClr val="0075BF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measure of an exterior angle of a triangle is equal to the sum of the measures of the two non-adjacent interior angles of the triangle.</a:t>
                  </a:r>
                  <a:endPara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endParaRPr>
                </a:p>
              </p:txBody>
            </p:sp>
          </p:grpSp>
        </p:grpSp>
        <p:pic>
          <p:nvPicPr>
            <p:cNvPr id="13" name="image15.png" descr="Icon&#10;&#10;Description automatically generated">
              <a:extLst>
                <a:ext uri="{FF2B5EF4-FFF2-40B4-BE49-F238E27FC236}">
                  <a16:creationId xmlns="" xmlns:a16="http://schemas.microsoft.com/office/drawing/2014/main" id="{8EF760A4-D37C-6343-B131-0A6723F1E6C3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-122918" y="306529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4228764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1390" y="382723"/>
                <a:ext cx="10772064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diagram shown.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65138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measure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𝑌𝑊𝑋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390" y="382723"/>
                <a:ext cx="10772064" cy="4832092"/>
              </a:xfrm>
              <a:prstGeom prst="rect">
                <a:avLst/>
              </a:prstGeom>
              <a:blipFill rotWithShape="1">
                <a:blip r:embed="rId4"/>
                <a:stretch>
                  <a:fillRect l="-849" t="-1010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Chart&#10;&#10;Description automatically generated with medium confidence">
            <a:extLst>
              <a:ext uri="{FF2B5EF4-FFF2-40B4-BE49-F238E27FC236}">
                <a16:creationId xmlns="" xmlns:a16="http://schemas.microsoft.com/office/drawing/2014/main" id="{6AB83A79-6E9C-0847-99BB-E4905BA836A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74161" y="1038647"/>
            <a:ext cx="6138928" cy="333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35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=""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=""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32708" y="379118"/>
                <a:ext cx="1074897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A figure is shown.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 smtClean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itchFamily="34" charset="0"/>
                  <a:ea typeface="Verdana" pitchFamily="34" charset="0"/>
                  <a:cs typeface="Verdana" pitchFamily="34" charset="0"/>
                </a:endParaRPr>
              </a:p>
              <a:p>
                <a:pPr marL="922338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Write an equation that can be used to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. </a:t>
                </a:r>
              </a:p>
              <a:p>
                <a:pPr marL="915988" indent="-450850"/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pPr marL="915988" indent="-450850"/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pPr marL="915988" indent="-450850"/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 </a:t>
                </a:r>
              </a:p>
              <a:p>
                <a:pPr marL="922338" lvl="1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</a:rPr>
                  <a:t>Solve the equation.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08" y="379118"/>
                <a:ext cx="10748974" cy="5632311"/>
              </a:xfrm>
              <a:prstGeom prst="rect">
                <a:avLst/>
              </a:prstGeom>
              <a:blipFill rotWithShape="1">
                <a:blip r:embed="rId4"/>
                <a:stretch>
                  <a:fillRect l="-567" t="-649" b="-97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Diagram, shape&#10;&#10;Description automatically generated">
            <a:extLst>
              <a:ext uri="{FF2B5EF4-FFF2-40B4-BE49-F238E27FC236}">
                <a16:creationId xmlns="" xmlns:a16="http://schemas.microsoft.com/office/drawing/2014/main" id="{23E758E6-6BA6-2444-95D2-2FEBBC0C9B6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9065" y="771148"/>
            <a:ext cx="5571919" cy="339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401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284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855625" y="2698334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852928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98800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DA4487"/>
          </a:solidFill>
          <a:ln w="9525" cap="flat" cmpd="sng">
            <a:solidFill>
              <a:srgbClr val="DA448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566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284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=""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59844" y="61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13.3.6 Wrap-Up: Reflection 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=""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024" y="29536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30241" y="1458884"/>
            <a:ext cx="10688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icon that best describes your understanding of each learning target listed in the table.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="" xmlns:a16="http://schemas.microsoft.com/office/drawing/2014/main" id="{7A5ADA3B-3913-4EBB-2387-94F5F75DEDB9}"/>
              </a:ext>
            </a:extLst>
          </p:cNvPr>
          <p:cNvGrpSpPr/>
          <p:nvPr/>
        </p:nvGrpSpPr>
        <p:grpSpPr>
          <a:xfrm>
            <a:off x="2155590" y="2544762"/>
            <a:ext cx="7438150" cy="770467"/>
            <a:chOff x="2602001" y="2401783"/>
            <a:chExt cx="7438150" cy="770467"/>
          </a:xfrm>
        </p:grpSpPr>
        <p:pic>
          <p:nvPicPr>
            <p:cNvPr id="8" name="image29.png" descr="Marketing">
              <a:extLst>
                <a:ext uri="{FF2B5EF4-FFF2-40B4-BE49-F238E27FC236}">
                  <a16:creationId xmlns="" xmlns:a16="http://schemas.microsoft.com/office/drawing/2014/main" id="{944C9A48-4617-374D-B100-8F9E87DCAF81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2602001" y="2412279"/>
              <a:ext cx="520065" cy="520065"/>
            </a:xfrm>
            <a:prstGeom prst="rect">
              <a:avLst/>
            </a:prstGeom>
            <a:ln/>
          </p:spPr>
        </p:pic>
        <p:sp>
          <p:nvSpPr>
            <p:cNvPr id="10" name="TextBox 9">
              <a:extLst>
                <a:ext uri="{FF2B5EF4-FFF2-40B4-BE49-F238E27FC236}">
                  <a16:creationId xmlns="" xmlns:a16="http://schemas.microsoft.com/office/drawing/2014/main" id="{4E34056F-EC89-F842-8835-73B519A4879C}"/>
                </a:ext>
              </a:extLst>
            </p:cNvPr>
            <p:cNvSpPr txBox="1"/>
            <p:nvPr/>
          </p:nvSpPr>
          <p:spPr>
            <a:xfrm>
              <a:off x="3122065" y="2547109"/>
              <a:ext cx="192677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 need help.</a:t>
              </a:r>
              <a:r>
                <a:rPr lang="en-US" sz="2000" dirty="0"/>
                <a:t> </a:t>
              </a:r>
            </a:p>
          </p:txBody>
        </p:sp>
        <p:pic>
          <p:nvPicPr>
            <p:cNvPr id="11" name="image28.png" descr="Thumbs up sign">
              <a:extLst>
                <a:ext uri="{FF2B5EF4-FFF2-40B4-BE49-F238E27FC236}">
                  <a16:creationId xmlns="" xmlns:a16="http://schemas.microsoft.com/office/drawing/2014/main" id="{8EC1B31E-E505-0B46-8FA8-3AFF8AF5488F}"/>
                </a:ext>
              </a:extLst>
            </p:cNvPr>
            <p:cNvPicPr/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5456741" y="2493829"/>
              <a:ext cx="453390" cy="453390"/>
            </a:xfrm>
            <a:prstGeom prst="rect">
              <a:avLst/>
            </a:prstGeom>
            <a:ln/>
          </p:spPr>
        </p:pic>
        <p:pic>
          <p:nvPicPr>
            <p:cNvPr id="13" name="image30.png" descr="Shooting star">
              <a:extLst>
                <a:ext uri="{FF2B5EF4-FFF2-40B4-BE49-F238E27FC236}">
                  <a16:creationId xmlns="" xmlns:a16="http://schemas.microsoft.com/office/drawing/2014/main" id="{ABAE215A-31B6-8843-8C42-94107692E1F9}"/>
                </a:ext>
              </a:extLst>
            </p:cNvPr>
            <p:cNvPicPr/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7792219" y="2471609"/>
              <a:ext cx="447040" cy="447040"/>
            </a:xfrm>
            <a:prstGeom prst="rect">
              <a:avLst/>
            </a:prstGeom>
            <a:ln/>
          </p:spPr>
        </p:pic>
        <p:sp>
          <p:nvSpPr>
            <p:cNvPr id="14" name="TextBox 13">
              <a:extLst>
                <a:ext uri="{FF2B5EF4-FFF2-40B4-BE49-F238E27FC236}">
                  <a16:creationId xmlns="" xmlns:a16="http://schemas.microsoft.com/office/drawing/2014/main" id="{56989979-F9FF-764B-BF2D-BAA99499ABE3}"/>
                </a:ext>
              </a:extLst>
            </p:cNvPr>
            <p:cNvSpPr txBox="1"/>
            <p:nvPr/>
          </p:nvSpPr>
          <p:spPr>
            <a:xfrm>
              <a:off x="5928149" y="2547109"/>
              <a:ext cx="13204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 got it.</a:t>
              </a:r>
              <a:r>
                <a:rPr lang="en-US" sz="2000" dirty="0"/>
                <a:t>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="" xmlns:a16="http://schemas.microsoft.com/office/drawing/2014/main" id="{F2E0A2F7-ADDC-1543-8A42-7007D58C92BD}"/>
                </a:ext>
              </a:extLst>
            </p:cNvPr>
            <p:cNvSpPr txBox="1"/>
            <p:nvPr/>
          </p:nvSpPr>
          <p:spPr>
            <a:xfrm>
              <a:off x="8113379" y="2401783"/>
              <a:ext cx="1926772" cy="7704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5000"/>
                </a:lnSpc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 could help </a:t>
              </a:r>
            </a:p>
            <a:p>
              <a:pPr algn="ctr">
                <a:lnSpc>
                  <a:spcPct val="115000"/>
                </a:lnSpc>
              </a:pPr>
              <a:r>
                <a: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someone.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250AD1A2-EFD6-5847-941A-F71345DA0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547479"/>
              </p:ext>
            </p:extLst>
          </p:nvPr>
        </p:nvGraphicFramePr>
        <p:xfrm>
          <a:off x="1951824" y="3450528"/>
          <a:ext cx="7888302" cy="277368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4824999">
                  <a:extLst>
                    <a:ext uri="{9D8B030D-6E8A-4147-A177-3AD203B41FA5}">
                      <a16:colId xmlns="" xmlns:a16="http://schemas.microsoft.com/office/drawing/2014/main" val="2628488849"/>
                    </a:ext>
                  </a:extLst>
                </a:gridCol>
                <a:gridCol w="3063303">
                  <a:extLst>
                    <a:ext uri="{9D8B030D-6E8A-4147-A177-3AD203B41FA5}">
                      <a16:colId xmlns="" xmlns:a16="http://schemas.microsoft.com/office/drawing/2014/main" val="3335298096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identify the relationship between interior and exterior angles of a triangle.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345014814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write and solve algebraic equations to solve mathematical problems involving angle relationships of triangles.</a:t>
                      </a: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          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822390812"/>
                  </a:ext>
                </a:extLst>
              </a:tr>
            </a:tbl>
          </a:graphicData>
        </a:graphic>
      </p:graphicFrame>
      <p:pic>
        <p:nvPicPr>
          <p:cNvPr id="24" name="image29.png" descr="Marketing">
            <a:extLst>
              <a:ext uri="{FF2B5EF4-FFF2-40B4-BE49-F238E27FC236}">
                <a16:creationId xmlns="" xmlns:a16="http://schemas.microsoft.com/office/drawing/2014/main" id="{8841926B-B823-1B4C-8FDD-68A4ED080F64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4449" y="3784303"/>
            <a:ext cx="520065" cy="520065"/>
          </a:xfrm>
          <a:prstGeom prst="rect">
            <a:avLst/>
          </a:prstGeom>
          <a:ln/>
        </p:spPr>
      </p:pic>
      <p:pic>
        <p:nvPicPr>
          <p:cNvPr id="26" name="image29.png" descr="Marketing">
            <a:extLst>
              <a:ext uri="{FF2B5EF4-FFF2-40B4-BE49-F238E27FC236}">
                <a16:creationId xmlns="" xmlns:a16="http://schemas.microsoft.com/office/drawing/2014/main" id="{2C3979AF-87CA-8446-91A7-E7AF65C709FB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04449" y="5197571"/>
            <a:ext cx="520065" cy="520065"/>
          </a:xfrm>
          <a:prstGeom prst="rect">
            <a:avLst/>
          </a:prstGeom>
          <a:ln/>
        </p:spPr>
      </p:pic>
      <p:pic>
        <p:nvPicPr>
          <p:cNvPr id="27" name="image28.png" descr="Thumbs up sign">
            <a:extLst>
              <a:ext uri="{FF2B5EF4-FFF2-40B4-BE49-F238E27FC236}">
                <a16:creationId xmlns="" xmlns:a16="http://schemas.microsoft.com/office/drawing/2014/main" id="{E073FF13-B469-A246-A931-7524CB761E9E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52247" y="3784303"/>
            <a:ext cx="453390" cy="453390"/>
          </a:xfrm>
          <a:prstGeom prst="rect">
            <a:avLst/>
          </a:prstGeom>
          <a:ln/>
        </p:spPr>
      </p:pic>
      <p:pic>
        <p:nvPicPr>
          <p:cNvPr id="28" name="image28.png" descr="Thumbs up sign">
            <a:extLst>
              <a:ext uri="{FF2B5EF4-FFF2-40B4-BE49-F238E27FC236}">
                <a16:creationId xmlns="" xmlns:a16="http://schemas.microsoft.com/office/drawing/2014/main" id="{CC1BDD7F-E0A3-7345-8570-BDD5FB646C56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191180" y="5197571"/>
            <a:ext cx="453390" cy="453390"/>
          </a:xfrm>
          <a:prstGeom prst="rect">
            <a:avLst/>
          </a:prstGeom>
          <a:ln/>
        </p:spPr>
      </p:pic>
      <p:pic>
        <p:nvPicPr>
          <p:cNvPr id="29" name="image30.png" descr="Shooting star">
            <a:extLst>
              <a:ext uri="{FF2B5EF4-FFF2-40B4-BE49-F238E27FC236}">
                <a16:creationId xmlns="" xmlns:a16="http://schemas.microsoft.com/office/drawing/2014/main" id="{BF0DACE1-C342-764D-9FF8-88F7159AA648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207981" y="3784303"/>
            <a:ext cx="447040" cy="447040"/>
          </a:xfrm>
          <a:prstGeom prst="rect">
            <a:avLst/>
          </a:prstGeom>
          <a:ln/>
        </p:spPr>
      </p:pic>
      <p:pic>
        <p:nvPicPr>
          <p:cNvPr id="30" name="image30.png" descr="Shooting star">
            <a:extLst>
              <a:ext uri="{FF2B5EF4-FFF2-40B4-BE49-F238E27FC236}">
                <a16:creationId xmlns="" xmlns:a16="http://schemas.microsoft.com/office/drawing/2014/main" id="{8C887DA2-F34E-2B4C-89D0-84FDB7AD3926}"/>
              </a:ext>
            </a:extLst>
          </p:cNvPr>
          <p:cNvPicPr/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207981" y="5234083"/>
            <a:ext cx="447040" cy="44704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44746440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3655</TotalTime>
  <Words>928</Words>
  <Application>Microsoft Office PowerPoint</Application>
  <PresentationFormat>Custom</PresentationFormat>
  <Paragraphs>286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Calibri</vt:lpstr>
      <vt:lpstr>Courier New</vt:lpstr>
      <vt:lpstr>Times New Roman</vt:lpstr>
      <vt:lpstr>Century Gothic</vt:lpstr>
      <vt:lpstr>Wingdings</vt:lpstr>
      <vt:lpstr>Cambria Math</vt:lpstr>
      <vt:lpstr>Arial Black</vt:lpstr>
      <vt:lpstr>Verdana</vt:lpstr>
      <vt:lpstr>1_Office Theme</vt:lpstr>
      <vt:lpstr>8th Grade Math: Pre-Algebra  Unit 13, Lesson 3  Angle Relationships in Triangles  Volume 2, pg. 279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24</cp:revision>
  <dcterms:created xsi:type="dcterms:W3CDTF">2015-03-17T18:51:18Z</dcterms:created>
  <dcterms:modified xsi:type="dcterms:W3CDTF">2022-06-21T01:44:06Z</dcterms:modified>
</cp:coreProperties>
</file>