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85" r:id="rId4"/>
    <p:sldId id="286" r:id="rId5"/>
    <p:sldId id="261" r:id="rId6"/>
    <p:sldId id="287" r:id="rId7"/>
    <p:sldId id="289" r:id="rId8"/>
    <p:sldId id="290" r:id="rId9"/>
    <p:sldId id="346" r:id="rId10"/>
    <p:sldId id="352" r:id="rId11"/>
    <p:sldId id="353" r:id="rId12"/>
    <p:sldId id="354" r:id="rId13"/>
    <p:sldId id="323" r:id="rId14"/>
    <p:sldId id="324" r:id="rId15"/>
    <p:sldId id="302" r:id="rId16"/>
    <p:sldId id="303" r:id="rId17"/>
    <p:sldId id="306" r:id="rId18"/>
    <p:sldId id="307"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4487"/>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661"/>
    <p:restoredTop sz="93878"/>
  </p:normalViewPr>
  <p:slideViewPr>
    <p:cSldViewPr snapToGrid="0">
      <p:cViewPr>
        <p:scale>
          <a:sx n="80" d="100"/>
          <a:sy n="80" d="100"/>
        </p:scale>
        <p:origin x="1776" y="9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55" Type="http://customschemas.google.com/relationships/presentationmetadata" Target="metadata"/><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5305303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179328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060995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231041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16.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7.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19.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20.png"/><Relationship Id="rId5" Type="http://schemas.openxmlformats.org/officeDocument/2006/relationships/image" Target="../media/image21.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24.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25.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28.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29.png"/><Relationship Id="rId5" Type="http://schemas.openxmlformats.org/officeDocument/2006/relationships/image" Target="../media/image28.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7" name="Google Shape;261;g104476d1465_0_0"/>
          <p:cNvSpPr txBox="1">
            <a:spLocks/>
          </p:cNvSpPr>
          <p:nvPr/>
        </p:nvSpPr>
        <p:spPr>
          <a:xfrm>
            <a:off x="5604721" y="2054275"/>
            <a:ext cx="5201391"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8</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Pre-Algebra</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13, Lesson 7</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Finding Missing Angles in Polygons</a:t>
            </a:r>
            <a:r>
              <a:rPr lang="en-US" sz="4400" b="1" dirty="0">
                <a:solidFill>
                  <a:srgbClr val="417DBF"/>
                </a:solidFill>
                <a:latin typeface="Verdana"/>
                <a:ea typeface="Verdana"/>
                <a:cs typeface="Verdana"/>
                <a:sym typeface="Verdana"/>
              </a:rPr>
              <a:t/>
            </a:r>
            <a:br>
              <a:rPr lang="en-US" sz="4400" b="1" dirty="0">
                <a:solidFill>
                  <a:srgbClr val="417DBF"/>
                </a:solidFill>
                <a:latin typeface="Verdana"/>
                <a:ea typeface="Verdana"/>
                <a:cs typeface="Verdana"/>
                <a:sym typeface="Verdana"/>
              </a:rPr>
            </a:br>
            <a:r>
              <a:rPr lang="en-US" sz="4400" b="1" dirty="0">
                <a:solidFill>
                  <a:srgbClr val="417DBF"/>
                </a:solidFill>
                <a:latin typeface="Verdana"/>
                <a:ea typeface="Verdana"/>
                <a:cs typeface="Verdana"/>
                <a:sym typeface="Verdana"/>
              </a:rPr>
              <a:t/>
            </a:r>
            <a:br>
              <a:rPr lang="en-US" sz="44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300</a:t>
            </a:r>
          </a:p>
          <a:p>
            <a:pPr algn="ctr">
              <a:lnSpc>
                <a:spcPct val="100000"/>
              </a:lnSpc>
              <a:buClr>
                <a:srgbClr val="000000"/>
              </a:buClr>
            </a:pPr>
            <a:endParaRPr lang="en-US" sz="40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300</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mc="http://schemas.openxmlformats.org/markup-compatibility/2006" xmlns:a14="http://schemas.microsoft.com/office/drawing/2010/main" xmlns:a16="http://schemas.microsoft.com/office/drawing/2014/main" xmlns=""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MA.8.GR.1.6</a:t>
            </a:r>
          </a:p>
          <a:p>
            <a:pPr indent="0">
              <a:buNone/>
            </a:pPr>
            <a:r>
              <a:rPr lang="en-US" sz="3600" dirty="0">
                <a:solidFill>
                  <a:srgbClr val="000000"/>
                </a:solidFill>
                <a:latin typeface="Verdana" panose="020B0604030504040204" pitchFamily="34" charset="0"/>
                <a:ea typeface="Verdana" panose="020B0604030504040204" pitchFamily="34" charset="0"/>
                <a:cs typeface="Verdana" panose="020B0604030504040204" pitchFamily="34" charset="0"/>
              </a:rPr>
              <a:t>Develop and use formulas for the sums of the interior angles of regular polygons by decomposing them into triangles.</a:t>
            </a:r>
            <a:r>
              <a:rPr lang="en-US" sz="3600" dirty="0">
                <a:latin typeface="Verdana" panose="020B0604030504040204" pitchFamily="34" charset="0"/>
                <a:ea typeface="Verdana" panose="020B0604030504040204" pitchFamily="34" charset="0"/>
                <a:cs typeface="Verdana" panose="020B0604030504040204" pitchFamily="34" charset="0"/>
              </a:rPr>
              <a:t> </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83457F86-A568-E14D-BAFB-80ABCB9998F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300</a:t>
            </a:r>
            <a:endParaRPr i="1" dirty="0">
              <a:latin typeface="Calibri"/>
              <a:ea typeface="Calibri"/>
              <a:cs typeface="Calibri"/>
              <a:sym typeface="Calibri"/>
            </a:endParaRPr>
          </a:p>
        </p:txBody>
      </p:sp>
      <p:pic>
        <p:nvPicPr>
          <p:cNvPr id="10"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2"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3"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2EE8660A-850E-C642-930A-8DC2915AA18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300</a:t>
            </a:r>
            <a:endParaRPr i="1" dirty="0">
              <a:latin typeface="Calibri"/>
              <a:ea typeface="Calibri"/>
              <a:cs typeface="Calibri"/>
              <a:sym typeface="Calibri"/>
            </a:endParaRPr>
          </a:p>
        </p:txBody>
      </p:sp>
      <p:sp>
        <p:nvSpPr>
          <p:cNvPr id="9"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a:t>
            </a:r>
            <a:endParaRPr lang="en-US" sz="4700" b="1" dirty="0">
              <a:solidFill>
                <a:srgbClr val="52BDA6"/>
              </a:solidFill>
              <a:latin typeface="Verdana"/>
              <a:ea typeface="Verdana"/>
              <a:cs typeface="Verdana"/>
              <a:sym typeface="Verdana"/>
            </a:endParaRPr>
          </a:p>
        </p:txBody>
      </p:sp>
      <p:pic>
        <p:nvPicPr>
          <p:cNvPr id="11"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600" dirty="0">
                    <a:latin typeface="Verdana" panose="020B0604030504040204" pitchFamily="34" charset="0"/>
                    <a:ea typeface="Times New Roman" panose="02020603050405020304" pitchFamily="18" charset="0"/>
                  </a:rPr>
                  <a:t>I can write and solve algebraic equations </a:t>
                </a:r>
                <a:r>
                  <a:rPr lang="en-US" sz="3600" dirty="0" smtClean="0">
                    <a:latin typeface="Verdana" panose="020B0604030504040204" pitchFamily="34" charset="0"/>
                    <a:ea typeface="Times New Roman" panose="02020603050405020304" pitchFamily="18" charset="0"/>
                  </a:rPr>
                  <a:t/>
                </a:r>
                <a:br>
                  <a:rPr lang="en-US" sz="3600" dirty="0" smtClean="0">
                    <a:latin typeface="Verdana" panose="020B0604030504040204" pitchFamily="34" charset="0"/>
                    <a:ea typeface="Times New Roman" panose="02020603050405020304" pitchFamily="18" charset="0"/>
                  </a:rPr>
                </a:br>
                <a:r>
                  <a:rPr lang="en-US" sz="3600" dirty="0" smtClean="0">
                    <a:latin typeface="Verdana" panose="020B0604030504040204" pitchFamily="34" charset="0"/>
                    <a:ea typeface="Times New Roman" panose="02020603050405020304" pitchFamily="18" charset="0"/>
                  </a:rPr>
                  <a:t>to </a:t>
                </a:r>
                <a:r>
                  <a:rPr lang="en-US" sz="3600" dirty="0">
                    <a:latin typeface="Verdana" panose="020B0604030504040204" pitchFamily="34" charset="0"/>
                    <a:ea typeface="Times New Roman" panose="02020603050405020304" pitchFamily="18" charset="0"/>
                  </a:rPr>
                  <a:t>find the measure of an interior angle of </a:t>
                </a:r>
                <a:r>
                  <a:rPr lang="en-US" sz="3600" dirty="0" smtClean="0">
                    <a:latin typeface="Verdana" panose="020B0604030504040204" pitchFamily="34" charset="0"/>
                    <a:ea typeface="Times New Roman" panose="02020603050405020304" pitchFamily="18" charset="0"/>
                  </a:rPr>
                  <a:t/>
                </a:r>
                <a:br>
                  <a:rPr lang="en-US" sz="3600" dirty="0" smtClean="0">
                    <a:latin typeface="Verdana" panose="020B0604030504040204" pitchFamily="34" charset="0"/>
                    <a:ea typeface="Times New Roman" panose="02020603050405020304" pitchFamily="18" charset="0"/>
                  </a:rPr>
                </a:br>
                <a:r>
                  <a:rPr lang="en-US" sz="3600" dirty="0" smtClean="0">
                    <a:latin typeface="Verdana" panose="020B0604030504040204" pitchFamily="34" charset="0"/>
                    <a:ea typeface="Times New Roman" panose="02020603050405020304" pitchFamily="18" charset="0"/>
                  </a:rPr>
                  <a:t>a </a:t>
                </a:r>
                <a14:m>
                  <m:oMath xmlns:m="http://schemas.openxmlformats.org/officeDocument/2006/math">
                    <m:r>
                      <a:rPr lang="en-US" sz="3600" i="1">
                        <a:latin typeface="Cambria Math" panose="02040503050406030204" pitchFamily="18" charset="0"/>
                        <a:ea typeface="Times New Roman" panose="02020603050405020304" pitchFamily="18" charset="0"/>
                      </a:rPr>
                      <m:t>𝑛</m:t>
                    </m:r>
                  </m:oMath>
                </a14:m>
                <a:r>
                  <a:rPr lang="en-US" sz="3600" dirty="0">
                    <a:latin typeface="Verdana" panose="020B0604030504040204" pitchFamily="34" charset="0"/>
                    <a:ea typeface="Times New Roman" panose="02020603050405020304" pitchFamily="18" charset="0"/>
                  </a:rPr>
                  <a:t>-</a:t>
                </a:r>
                <a:r>
                  <a:rPr lang="en-US" sz="3600" dirty="0" err="1">
                    <a:latin typeface="Verdana" panose="020B0604030504040204" pitchFamily="34" charset="0"/>
                    <a:ea typeface="Times New Roman" panose="02020603050405020304" pitchFamily="18" charset="0"/>
                  </a:rPr>
                  <a:t>gon</a:t>
                </a:r>
                <a:r>
                  <a:rPr lang="en-US" sz="3600" dirty="0" smtClean="0">
                    <a:latin typeface="Verdana" panose="020B0604030504040204" pitchFamily="34" charset="0"/>
                    <a:ea typeface="Times New Roman" panose="02020603050405020304" pitchFamily="18" charset="0"/>
                  </a:rPr>
                  <a:t>.</a:t>
                </a:r>
                <a:endParaRPr lang="en-US" sz="3600" dirty="0">
                  <a:latin typeface="Times New Roman" panose="02020603050405020304" pitchFamily="18" charset="0"/>
                  <a:ea typeface="Times New Roman" panose="02020603050405020304" pitchFamily="18" charset="0"/>
                </a:endParaRPr>
              </a:p>
            </p:txBody>
          </p:sp>
        </mc:Choice>
        <mc:Fallback xmlns="">
          <p:sp>
            <p:nvSpPr>
              <p:cNvPr id="13" name="Google Shape;302;g103996e1364_0_16">
                <a:extLst>
                  <a:ext uri="{FF2B5EF4-FFF2-40B4-BE49-F238E27FC236}">
                    <a16:creationId xmlns="" xmlns:a16="http://schemas.microsoft.com/office/drawing/2014/main" xmlns:a14="http://schemas.microsoft.com/office/drawing/2010/main" id="{9B7C98EC-F13C-9146-B728-D7044DB4247D}"/>
                  </a:ext>
                </a:extLst>
              </p:cNvPr>
              <p:cNvSpPr txBox="1">
                <a:spLocks noRot="1" noChangeAspect="1" noMove="1" noResize="1" noEditPoints="1" noAdjustHandles="1" noChangeArrowheads="1" noChangeShapeType="1" noTextEdit="1"/>
              </p:cNvSpPr>
              <p:nvPr/>
            </p:nvSpPr>
            <p:spPr>
              <a:xfrm>
                <a:off x="514000" y="1600200"/>
                <a:ext cx="11009924" cy="4205700"/>
              </a:xfrm>
              <a:prstGeom prst="rect">
                <a:avLst/>
              </a:prstGeom>
              <a:blipFill rotWithShape="1">
                <a:blip r:embed="rId5"/>
                <a:stretch>
                  <a:fillRect l="-1440" t="-232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BCB1D7CE-112D-3749-BB65-E5C4B616B7F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8"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9A0149FD-865F-3A45-BD83-6F040506B5A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sp>
        <p:nvSpPr>
          <p:cNvPr id="10"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13.7.1 Warm-Up: Fighting </a:t>
            </a:r>
            <a:r>
              <a:rPr lang="en-US" sz="3600" b="1">
                <a:solidFill>
                  <a:srgbClr val="3F2A67"/>
                </a:solidFill>
                <a:latin typeface="Verdana"/>
                <a:ea typeface="Verdana"/>
                <a:cs typeface="Verdana"/>
                <a:sym typeface="Verdana"/>
              </a:rPr>
              <a:t>Fire </a:t>
            </a:r>
            <a:r>
              <a:rPr lang="en-US" sz="3600" b="1" smtClean="0">
                <a:solidFill>
                  <a:srgbClr val="3F2A67"/>
                </a:solidFill>
                <a:latin typeface="Verdana"/>
                <a:ea typeface="Verdana"/>
                <a:cs typeface="Verdana"/>
                <a:sym typeface="Verdana"/>
              </a:rPr>
              <a:t>With </a:t>
            </a:r>
            <a:r>
              <a:rPr lang="en-US" sz="3600" b="1" dirty="0">
                <a:solidFill>
                  <a:srgbClr val="3F2A67"/>
                </a:solidFill>
                <a:latin typeface="Verdana"/>
                <a:ea typeface="Verdana"/>
                <a:cs typeface="Verdana"/>
                <a:sym typeface="Verdana"/>
              </a:rPr>
              <a:t>Math</a:t>
            </a:r>
          </a:p>
        </p:txBody>
      </p:sp>
      <p:pic>
        <p:nvPicPr>
          <p:cNvPr id="11"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E1D7562E-134F-D14B-AF1A-DF40E11EF758}"/>
              </a:ext>
            </a:extLst>
          </p:cNvPr>
          <p:cNvSpPr txBox="1"/>
          <p:nvPr/>
        </p:nvSpPr>
        <p:spPr>
          <a:xfrm>
            <a:off x="479008" y="1497535"/>
            <a:ext cx="11051576" cy="347787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Cassie </a:t>
            </a:r>
            <a:r>
              <a:rPr lang="en-US" sz="2000" dirty="0" err="1">
                <a:latin typeface="Verdana" panose="020B0604030504040204" pitchFamily="34" charset="0"/>
                <a:ea typeface="Verdana" panose="020B0604030504040204" pitchFamily="34" charset="0"/>
                <a:cs typeface="Verdana" panose="020B0604030504040204" pitchFamily="34" charset="0"/>
              </a:rPr>
              <a:t>Pennicuik</a:t>
            </a:r>
            <a:r>
              <a:rPr lang="en-US" sz="2000" dirty="0">
                <a:latin typeface="Verdana" panose="020B0604030504040204" pitchFamily="34" charset="0"/>
                <a:ea typeface="Verdana" panose="020B0604030504040204" pitchFamily="34" charset="0"/>
                <a:cs typeface="Verdana" panose="020B0604030504040204" pitchFamily="34" charset="0"/>
              </a:rPr>
              <a:t> fights fire with math. As a program manager at the County Fire Authority, her job is to lead the growth program. Part of her job is to create a bridge between the technical, strategic, and tactical teams in the organization. She says, “If you really want something in life, go for it and celebrate the effort. In the end, hard work definitely pays off.”</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think she means by “celebrate the effort”? </a:t>
            </a: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Describe a time you went for something that didn’t work out, but you still celebrated the effort.</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7009690E-27A0-674D-A0D6-623C79BB076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sp>
        <p:nvSpPr>
          <p:cNvPr id="8"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0"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00BB6F2E-801C-CE4F-9319-7E4F92A81264}"/>
                  </a:ext>
                </a:extLst>
              </p:cNvPr>
              <p:cNvGraphicFramePr>
                <a:graphicFrameLocks noGrp="1"/>
              </p:cNvGraphicFramePr>
              <p:nvPr>
                <p:extLst>
                  <p:ext uri="{D42A27DB-BD31-4B8C-83A1-F6EECF244321}">
                    <p14:modId xmlns:p14="http://schemas.microsoft.com/office/powerpoint/2010/main" val="1618056220"/>
                  </p:ext>
                </p:extLst>
              </p:nvPr>
            </p:nvGraphicFramePr>
            <p:xfrm>
              <a:off x="1163170" y="2934223"/>
              <a:ext cx="6257925" cy="1828800"/>
            </p:xfrm>
            <a:graphic>
              <a:graphicData uri="http://schemas.openxmlformats.org/drawingml/2006/table">
                <a:tbl>
                  <a:tblPr firstRow="1" firstCol="1" bandRow="1"/>
                  <a:tblGrid>
                    <a:gridCol w="4789955">
                      <a:extLst>
                        <a:ext uri="{9D8B030D-6E8A-4147-A177-3AD203B41FA5}">
                          <a16:colId xmlns="" xmlns:a16="http://schemas.microsoft.com/office/drawing/2014/main" val="1365151768"/>
                        </a:ext>
                      </a:extLst>
                    </a:gridCol>
                    <a:gridCol w="1467970">
                      <a:extLst>
                        <a:ext uri="{9D8B030D-6E8A-4147-A177-3AD203B41FA5}">
                          <a16:colId xmlns="" xmlns:a16="http://schemas.microsoft.com/office/drawing/2014/main" val="235718331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664610143"/>
                      </a:ext>
                    </a:extLst>
                  </a:tr>
                  <a:tr h="4572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Sum of the interior angles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434527595"/>
                      </a:ext>
                    </a:extLst>
                  </a:tr>
                  <a:tr h="4572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Measure of one interior angle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872545779"/>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rPr>
                                  <m:t>𝑥</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322774946"/>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00BB6F2E-801C-CE4F-9319-7E4F92A81264}"/>
                  </a:ext>
                </a:extLst>
              </p:cNvPr>
              <p:cNvGraphicFramePr>
                <a:graphicFrameLocks noGrp="1"/>
              </p:cNvGraphicFramePr>
              <p:nvPr>
                <p:extLst>
                  <p:ext uri="{D42A27DB-BD31-4B8C-83A1-F6EECF244321}">
                    <p14:modId xmlns:p14="http://schemas.microsoft.com/office/powerpoint/2010/main" val="1618056220"/>
                  </p:ext>
                </p:extLst>
              </p:nvPr>
            </p:nvGraphicFramePr>
            <p:xfrm>
              <a:off x="1163170" y="2934223"/>
              <a:ext cx="6257925" cy="1828800"/>
            </p:xfrm>
            <a:graphic>
              <a:graphicData uri="http://schemas.openxmlformats.org/drawingml/2006/table">
                <a:tbl>
                  <a:tblPr firstRow="1" firstCol="1" bandRow="1"/>
                  <a:tblGrid>
                    <a:gridCol w="4789955">
                      <a:extLst>
                        <a:ext uri="{9D8B030D-6E8A-4147-A177-3AD203B41FA5}">
                          <a16:colId xmlns:a16="http://schemas.microsoft.com/office/drawing/2014/main" xmlns:a14="http://schemas.microsoft.com/office/drawing/2010/main" xmlns="" val="1365151768"/>
                        </a:ext>
                      </a:extLst>
                    </a:gridCol>
                    <a:gridCol w="1467970">
                      <a:extLst>
                        <a:ext uri="{9D8B030D-6E8A-4147-A177-3AD203B41FA5}">
                          <a16:colId xmlns:a16="http://schemas.microsoft.com/office/drawing/2014/main" xmlns:a14="http://schemas.microsoft.com/office/drawing/2010/main" xmlns="" val="235718331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664610143"/>
                      </a:ext>
                    </a:extLst>
                  </a:tr>
                  <a:tr h="4572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Sum of the interior angles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434527595"/>
                      </a:ext>
                    </a:extLst>
                  </a:tr>
                  <a:tr h="4572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Measure of one interior angle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872545779"/>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27" t="-300000" r="-30828" b="-1333"/>
                          </a:stretch>
                        </a:blipFill>
                      </a:tcPr>
                    </a:tc>
                    <a:tc>
                      <a:txBody>
                        <a:bodyPr/>
                        <a:lstStyle/>
                        <a:p>
                          <a:pPr marL="0" marR="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322774946"/>
                      </a:ext>
                    </a:extLst>
                  </a:tr>
                </a:tbl>
              </a:graphicData>
            </a:graphic>
          </p:graphicFrame>
        </mc:Fallback>
      </mc:AlternateContent>
      <p:sp>
        <p:nvSpPr>
          <p:cNvPr id="10" name="Google Shape;282;g104476d1465_1_17">
            <a:extLst>
              <a:ext uri="{FF2B5EF4-FFF2-40B4-BE49-F238E27FC236}">
                <a16:creationId xmlns="" xmlns:a16="http://schemas.microsoft.com/office/drawing/2014/main" id="{6F344806-AC6C-654B-BF27-CE8D41F0588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sp>
        <p:nvSpPr>
          <p:cNvPr id="11"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62866"/>
            <a:ext cx="1095738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13.7.2 Guided Instruction: Measures of Interior Angles Using Equations</a:t>
            </a:r>
          </a:p>
        </p:txBody>
      </p:sp>
      <p:pic>
        <p:nvPicPr>
          <p:cNvPr id="12"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5">
            <a:alphaModFix/>
          </a:blip>
          <a:srcRect/>
          <a:stretch/>
        </p:blipFill>
        <p:spPr>
          <a:xfrm>
            <a:off x="305350" y="17856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C01B13E8-EC8D-E443-A329-C5E3593DD13A}"/>
                  </a:ext>
                </a:extLst>
              </p:cNvPr>
              <p:cNvSpPr txBox="1"/>
              <p:nvPr/>
            </p:nvSpPr>
            <p:spPr>
              <a:xfrm>
                <a:off x="545130" y="1386025"/>
                <a:ext cx="1115157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rPr>
                  <a:t>The measure of an angle in a regular </a:t>
                </a:r>
                <a14:m>
                  <m:oMath xmlns:m="http://schemas.openxmlformats.org/officeDocument/2006/math">
                    <m:r>
                      <a:rPr lang="en-US" sz="2400" i="1">
                        <a:latin typeface="Cambria Math" panose="02040503050406030204" pitchFamily="18" charset="0"/>
                        <a:ea typeface="Times New Roman" panose="02020603050405020304" pitchFamily="18" charset="0"/>
                      </a:rPr>
                      <m:t>24</m:t>
                    </m:r>
                  </m:oMath>
                </a14:m>
                <a:r>
                  <a:rPr lang="en-US" sz="2400" dirty="0">
                    <a:latin typeface="Verdana" panose="020B0604030504040204" pitchFamily="34" charset="0"/>
                    <a:ea typeface="Times New Roman" panose="02020603050405020304" pitchFamily="18" charset="0"/>
                  </a:rPr>
                  <a:t>-sided polygon is </a:t>
                </a:r>
                <a14:m>
                  <m:oMath xmlns:m="http://schemas.openxmlformats.org/officeDocument/2006/math">
                    <m:r>
                      <a:rPr lang="en-US" sz="2400" i="1">
                        <a:latin typeface="Cambria Math" panose="02040503050406030204" pitchFamily="18" charset="0"/>
                        <a:ea typeface="Times New Roman" panose="02020603050405020304" pitchFamily="18" charset="0"/>
                      </a:rPr>
                      <m:t>(12</m:t>
                    </m:r>
                    <m:r>
                      <a:rPr lang="en-US" sz="2400" i="1">
                        <a:latin typeface="Cambria Math" panose="02040503050406030204" pitchFamily="18" charset="0"/>
                        <a:ea typeface="Times New Roman" panose="02020603050405020304" pitchFamily="18" charset="0"/>
                      </a:rPr>
                      <m:t>𝑥</m:t>
                    </m:r>
                    <m:r>
                      <a:rPr lang="en-US" sz="2400" i="1">
                        <a:latin typeface="Cambria Math" panose="02040503050406030204" pitchFamily="18" charset="0"/>
                        <a:ea typeface="Times New Roman" panose="02020603050405020304" pitchFamily="18" charset="0"/>
                      </a:rPr>
                      <m:t>+6)°</m:t>
                    </m:r>
                  </m:oMath>
                </a14:m>
                <a:r>
                  <a:rPr lang="en-US" sz="2400" dirty="0">
                    <a:latin typeface="Verdana" panose="020B0604030504040204" pitchFamily="34" charset="0"/>
                    <a:ea typeface="Times New Roman" panose="02020603050405020304" pitchFamily="18" charset="0"/>
                  </a:rPr>
                  <a:t>. </a:t>
                </a:r>
                <a:endParaRPr lang="en-US" sz="2400" dirty="0">
                  <a:latin typeface="Times New Roman" panose="02020603050405020304" pitchFamily="18" charset="0"/>
                  <a:ea typeface="Times New Roman" panose="02020603050405020304" pitchFamily="18" charset="0"/>
                </a:endParaRPr>
              </a:p>
              <a:p>
                <a:r>
                  <a:rPr lang="en-US" sz="2400" dirty="0">
                    <a:latin typeface="Verdana" panose="020B0604030504040204" pitchFamily="34" charset="0"/>
                    <a:ea typeface="Times New Roman" panose="02020603050405020304" pitchFamily="18" charset="0"/>
                  </a:rPr>
                  <a:t> </a:t>
                </a:r>
                <a:endParaRPr lang="en-US" sz="2400" dirty="0">
                  <a:latin typeface="Times New Roman" panose="02020603050405020304" pitchFamily="18" charset="0"/>
                  <a:ea typeface="Times New Roman" panose="02020603050405020304" pitchFamily="18" charset="0"/>
                </a:endParaRPr>
              </a:p>
              <a:p>
                <a:pPr marL="457200"/>
                <a:r>
                  <a:rPr lang="en-US" sz="2400" dirty="0">
                    <a:latin typeface="Verdana" panose="020B0604030504040204" pitchFamily="34" charset="0"/>
                    <a:ea typeface="Times New Roman" panose="02020603050405020304" pitchFamily="18" charset="0"/>
                  </a:rPr>
                  <a:t>Find the value of each.</a:t>
                </a:r>
                <a:endParaRPr lang="en-US" sz="2400" dirty="0">
                  <a:latin typeface="Times New Roman" panose="02020603050405020304" pitchFamily="18" charset="0"/>
                  <a:ea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xmlns="" xmlns:a14="http://schemas.microsoft.com/office/drawing/2010/main" id="{C01B13E8-EC8D-E443-A329-C5E3593DD13A}"/>
                  </a:ext>
                </a:extLst>
              </p:cNvPr>
              <p:cNvSpPr txBox="1">
                <a:spLocks noRot="1" noChangeAspect="1" noMove="1" noResize="1" noEditPoints="1" noAdjustHandles="1" noChangeArrowheads="1" noChangeShapeType="1" noTextEdit="1"/>
              </p:cNvSpPr>
              <p:nvPr/>
            </p:nvSpPr>
            <p:spPr>
              <a:xfrm>
                <a:off x="545130" y="1386025"/>
                <a:ext cx="11151570" cy="1200329"/>
              </a:xfrm>
              <a:prstGeom prst="rect">
                <a:avLst/>
              </a:prstGeom>
              <a:blipFill rotWithShape="1">
                <a:blip r:embed="rId6"/>
                <a:stretch>
                  <a:fillRect l="-820" t="-4569" r="-601" b="-10152"/>
                </a:stretch>
              </a:blipFill>
            </p:spPr>
            <p:txBody>
              <a:bodyPr/>
              <a:lstStyle/>
              <a:p>
                <a:r>
                  <a:rPr lang="en-US">
                    <a:noFill/>
                  </a:rPr>
                  <a:t> </a:t>
                </a:r>
              </a:p>
            </p:txBody>
          </p:sp>
        </mc:Fallback>
      </mc:AlternateContent>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82;g104476d1465_1_17">
            <a:extLst>
              <a:ext uri="{FF2B5EF4-FFF2-40B4-BE49-F238E27FC236}">
                <a16:creationId xmlns="" xmlns:a16="http://schemas.microsoft.com/office/drawing/2014/main" id="{BA51FB48-EE17-C644-BC90-92AB6D7CA63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C8F82859-BA98-3646-BF3B-9E17E52A2E35}"/>
                  </a:ext>
                </a:extLst>
              </p:cNvPr>
              <p:cNvSpPr txBox="1"/>
              <p:nvPr/>
            </p:nvSpPr>
            <p:spPr>
              <a:xfrm>
                <a:off x="511205" y="533066"/>
                <a:ext cx="10953207" cy="4154984"/>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A regular polygon can be decomposed into </a:t>
                </a:r>
                <a14:m>
                  <m:oMath xmlns:m="http://schemas.openxmlformats.org/officeDocument/2006/math">
                    <m:r>
                      <a:rPr lang="en-US" sz="2400" i="1">
                        <a:latin typeface="Cambria Math" panose="02040503050406030204" pitchFamily="18" charset="0"/>
                        <a:ea typeface="Times New Roman" panose="02020603050405020304" pitchFamily="18" charset="0"/>
                      </a:rPr>
                      <m:t>43</m:t>
                    </m:r>
                  </m:oMath>
                </a14:m>
                <a:r>
                  <a:rPr lang="en-US" sz="2400" dirty="0">
                    <a:latin typeface="Verdana" panose="020B0604030504040204" pitchFamily="34" charset="0"/>
                    <a:ea typeface="Verdana" panose="020B0604030504040204" pitchFamily="34" charset="0"/>
                    <a:cs typeface="Verdana" panose="020B0604030504040204" pitchFamily="34" charset="0"/>
                  </a:rPr>
                  <a:t> triangles. The measure of one angle of the polygon is </a:t>
                </a:r>
                <a14:m>
                  <m:oMath xmlns:m="http://schemas.openxmlformats.org/officeDocument/2006/math">
                    <m:r>
                      <a:rPr lang="en-US" sz="2400" i="1">
                        <a:latin typeface="Cambria Math" panose="02040503050406030204" pitchFamily="18" charset="0"/>
                        <a:ea typeface="Times New Roman" panose="02020603050405020304" pitchFamily="18" charset="0"/>
                      </a:rPr>
                      <m:t>(17</m:t>
                    </m:r>
                    <m:r>
                      <a:rPr lang="en-US" sz="2400" i="1">
                        <a:latin typeface="Cambria Math" panose="02040503050406030204" pitchFamily="18" charset="0"/>
                        <a:ea typeface="Times New Roman" panose="02020603050405020304" pitchFamily="18" charset="0"/>
                      </a:rPr>
                      <m:t>𝑥</m:t>
                    </m:r>
                    <m:r>
                      <a:rPr lang="en-US" sz="2400" i="1">
                        <a:latin typeface="Cambria Math" panose="02040503050406030204" pitchFamily="18" charset="0"/>
                        <a:ea typeface="Times New Roman" panose="020206030504050203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Find the value of </a:t>
                </a:r>
                <a14:m>
                  <m:oMath xmlns:m="http://schemas.openxmlformats.org/officeDocument/2006/math">
                    <m:r>
                      <a:rPr lang="en-US" sz="2400" i="1">
                        <a:latin typeface="Cambria Math" panose="02040503050406030204" pitchFamily="18" charset="0"/>
                        <a:ea typeface="Times New Roman" panose="020206030504050203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measures of two interior angles of a regular polygon are (</a:t>
                </a:r>
                <a14:m>
                  <m:oMath xmlns:m="http://schemas.openxmlformats.org/officeDocument/2006/math">
                    <m:r>
                      <a:rPr lang="en-US" sz="2400" i="1">
                        <a:latin typeface="Cambria Math" panose="02040503050406030204" pitchFamily="18" charset="0"/>
                        <a:ea typeface="Times New Roman" panose="02020603050405020304" pitchFamily="18" charset="0"/>
                      </a:rPr>
                      <m:t>9</m:t>
                    </m:r>
                    <m:r>
                      <a:rPr lang="en-US" sz="2400" i="1">
                        <a:latin typeface="Cambria Math" panose="02040503050406030204" pitchFamily="18" charset="0"/>
                        <a:ea typeface="Times New Roman" panose="02020603050405020304" pitchFamily="18" charset="0"/>
                      </a:rPr>
                      <m:t>𝑥</m:t>
                    </m:r>
                    <m:r>
                      <a:rPr lang="en-US" sz="2400" i="1">
                        <a:latin typeface="Cambria Math" panose="02040503050406030204" pitchFamily="18" charset="0"/>
                        <a:ea typeface="Times New Roman" panose="02020603050405020304" pitchFamily="18" charset="0"/>
                      </a:rPr>
                      <m:t>+48)°</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rPr>
                      <m:t>15</m:t>
                    </m:r>
                    <m:r>
                      <a:rPr lang="en-US" sz="2400" i="1">
                        <a:latin typeface="Cambria Math" panose="02040503050406030204" pitchFamily="18" charset="0"/>
                        <a:ea typeface="Times New Roman" panose="02020603050405020304" pitchFamily="18" charset="0"/>
                      </a:rPr>
                      <m:t>𝑥</m:t>
                    </m:r>
                    <m:r>
                      <a:rPr lang="en-US" sz="2400" i="1">
                        <a:latin typeface="Cambria Math" panose="02040503050406030204" pitchFamily="18" charset="0"/>
                        <a:ea typeface="Times New Roman" panose="02020603050405020304" pitchFamily="18" charset="0"/>
                      </a:rPr>
                      <m:t>−24)°</m:t>
                    </m:r>
                  </m:oMath>
                </a14:m>
                <a:r>
                  <a:rPr lang="en-US" sz="2400" dirty="0">
                    <a:latin typeface="Verdana" panose="020B0604030504040204" pitchFamily="34" charset="0"/>
                    <a:ea typeface="Verdana" panose="020B0604030504040204" pitchFamily="34" charset="0"/>
                    <a:cs typeface="Verdana" panose="020B0604030504040204" pitchFamily="34" charset="0"/>
                  </a:rPr>
                  <a:t>, respectively.</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to use the given information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Write the equation that can be used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7" name="TextBox 6">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4154984"/>
              </a:xfrm>
              <a:prstGeom prst="rect">
                <a:avLst/>
              </a:prstGeom>
              <a:blipFill rotWithShape="1">
                <a:blip r:embed="rId4"/>
                <a:stretch>
                  <a:fillRect l="-890" t="-1320" b="-2199"/>
                </a:stretch>
              </a:blipFill>
            </p:spPr>
            <p:txBody>
              <a:bodyPr/>
              <a:lstStyle/>
              <a:p>
                <a:r>
                  <a:rPr lang="en-US">
                    <a:noFill/>
                  </a:rPr>
                  <a:t> </a:t>
                </a:r>
              </a:p>
            </p:txBody>
          </p:sp>
        </mc:Fallback>
      </mc:AlternateContent>
    </p:spTree>
    <p:extLst>
      <p:ext uri="{BB962C8B-B14F-4D97-AF65-F5344CB8AC3E}">
        <p14:creationId xmlns:p14="http://schemas.microsoft.com/office/powerpoint/2010/main" val="4194994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82;g104476d1465_1_17">
            <a:extLst>
              <a:ext uri="{FF2B5EF4-FFF2-40B4-BE49-F238E27FC236}">
                <a16:creationId xmlns="" xmlns:a16="http://schemas.microsoft.com/office/drawing/2014/main" id="{C248EFDF-45F5-034C-8EAA-F3E3597484F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sp>
        <p:nvSpPr>
          <p:cNvPr id="7" name="TextBox 6">
            <a:extLst>
              <a:ext uri="{FF2B5EF4-FFF2-40B4-BE49-F238E27FC236}">
                <a16:creationId xmlns:mc="http://schemas.openxmlformats.org/markup-compatibility/2006" xmlns:a14="http://schemas.microsoft.com/office/drawing/2010/main" xmlns="" xmlns:a16="http://schemas.microsoft.com/office/drawing/2014/main" id="{C8F82859-BA98-3646-BF3B-9E17E52A2E35}"/>
              </a:ext>
            </a:extLst>
          </p:cNvPr>
          <p:cNvSpPr txBox="1"/>
          <p:nvPr/>
        </p:nvSpPr>
        <p:spPr>
          <a:xfrm>
            <a:off x="511205" y="533066"/>
            <a:ext cx="10953207" cy="3416320"/>
          </a:xfrm>
          <a:prstGeom prst="rect">
            <a:avLst/>
          </a:prstGeom>
          <a:noFill/>
        </p:spPr>
        <p:txBody>
          <a:bodyPr wrap="square" rtlCol="0">
            <a:spAutoFit/>
          </a:bodyPr>
          <a:lstStyle/>
          <a:p>
            <a:pPr marL="914400" indent="-457200" fontAlgn="base">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Solve the equation.</a:t>
            </a:r>
          </a:p>
          <a:p>
            <a:pPr marL="914400" indent="-457200" fontAlgn="base">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fontAlgn="base">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fontAlgn="base">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fontAlgn="base">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fontAlgn="base">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fontAlgn="base">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fontAlgn="base">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angle measure for each interior angle in the polygon?</a:t>
            </a:r>
          </a:p>
        </p:txBody>
      </p:sp>
    </p:spTree>
    <p:extLst>
      <p:ext uri="{BB962C8B-B14F-4D97-AF65-F5344CB8AC3E}">
        <p14:creationId xmlns:p14="http://schemas.microsoft.com/office/powerpoint/2010/main" val="1098166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C8F82859-BA98-3646-BF3B-9E17E52A2E35}"/>
                  </a:ext>
                </a:extLst>
              </p:cNvPr>
              <p:cNvSpPr txBox="1"/>
              <p:nvPr/>
            </p:nvSpPr>
            <p:spPr>
              <a:xfrm>
                <a:off x="511205" y="533066"/>
                <a:ext cx="10953207" cy="5232202"/>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Times New Roman" panose="02020603050405020304" pitchFamily="18" charset="0"/>
                  </a:rPr>
                  <a:t>Discuss with your partner how to determine the </a:t>
                </a:r>
                <a:r>
                  <a:rPr lang="en-US" sz="2000" dirty="0">
                    <a:latin typeface="Verdana" panose="020B0604030504040204" pitchFamily="34" charset="0"/>
                    <a:ea typeface="Verdana" panose="020B0604030504040204" pitchFamily="34" charset="0"/>
                    <a:cs typeface="Verdana" panose="020B0604030504040204" pitchFamily="34" charset="0"/>
                  </a:rPr>
                  <a:t>number of sides that a regular polygon has if the sum of the interior angles is given.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table.</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sides does a regular polygon have if the sum of the interior angles is </a:t>
                </a:r>
                <a14:m>
                  <m:oMath xmlns:m="http://schemas.openxmlformats.org/officeDocument/2006/math">
                    <m:r>
                      <a:rPr lang="en-US" sz="2000" i="1">
                        <a:latin typeface="Cambria Math" panose="02040503050406030204" pitchFamily="18" charset="0"/>
                        <a:ea typeface="Times New Roman" panose="02020603050405020304" pitchFamily="18" charset="0"/>
                      </a:rPr>
                      <m:t>6,300°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US" dirty="0">
                  <a:latin typeface="Times New Roman" panose="02020603050405020304" pitchFamily="18" charset="0"/>
                  <a:ea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5232202"/>
              </a:xfrm>
              <a:prstGeom prst="rect">
                <a:avLst/>
              </a:prstGeom>
              <a:blipFill rotWithShape="1">
                <a:blip r:embed="rId3"/>
                <a:stretch>
                  <a:fillRect l="-612" t="-698"/>
                </a:stretch>
              </a:blipFill>
            </p:spPr>
            <p:txBody>
              <a:bodyPr/>
              <a:lstStyle/>
              <a:p>
                <a:r>
                  <a:rPr lang="en-US">
                    <a:noFill/>
                  </a:rPr>
                  <a:t> </a:t>
                </a:r>
              </a:p>
            </p:txBody>
          </p:sp>
        </mc:Fallback>
      </mc:AlternateContent>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7D404BB1-CF19-604E-8772-D80A6A21213B}"/>
                  </a:ext>
                </a:extLst>
              </p:cNvPr>
              <p:cNvGraphicFramePr>
                <a:graphicFrameLocks noGrp="1"/>
              </p:cNvGraphicFramePr>
              <p:nvPr>
                <p:extLst>
                  <p:ext uri="{D42A27DB-BD31-4B8C-83A1-F6EECF244321}">
                    <p14:modId xmlns:p14="http://schemas.microsoft.com/office/powerpoint/2010/main" val="3454321970"/>
                  </p:ext>
                </p:extLst>
              </p:nvPr>
            </p:nvGraphicFramePr>
            <p:xfrm>
              <a:off x="1514755" y="2054081"/>
              <a:ext cx="7047832" cy="2418368"/>
            </p:xfrm>
            <a:graphic>
              <a:graphicData uri="http://schemas.openxmlformats.org/drawingml/2006/table">
                <a:tbl>
                  <a:tblPr firstRow="1" firstCol="1" bandRow="1"/>
                  <a:tblGrid>
                    <a:gridCol w="3888459">
                      <a:extLst>
                        <a:ext uri="{9D8B030D-6E8A-4147-A177-3AD203B41FA5}">
                          <a16:colId xmlns="" xmlns:a16="http://schemas.microsoft.com/office/drawing/2014/main" val="3848485694"/>
                        </a:ext>
                      </a:extLst>
                    </a:gridCol>
                    <a:gridCol w="3159373">
                      <a:extLst>
                        <a:ext uri="{9D8B030D-6E8A-4147-A177-3AD203B41FA5}">
                          <a16:colId xmlns="" xmlns:a16="http://schemas.microsoft.com/office/drawing/2014/main" val="3906246530"/>
                        </a:ext>
                      </a:extLst>
                    </a:gridCol>
                  </a:tblGrid>
                  <a:tr h="45219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 of the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Interior </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Angles</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Sides</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3949973111"/>
                      </a:ext>
                    </a:extLst>
                  </a:tr>
                  <a:tr h="452192">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rPr>
                                  <m:t>360°</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120256777"/>
                      </a:ext>
                    </a:extLst>
                  </a:tr>
                  <a:tr h="452192">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rPr>
                                  <m:t>540°</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228215145"/>
                      </a:ext>
                    </a:extLst>
                  </a:tr>
                  <a:tr h="452192">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rPr>
                                  <m:t>720°</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801609491"/>
                      </a:ext>
                    </a:extLst>
                  </a:tr>
                  <a:tr h="452192">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rPr>
                                  <m:t>900°</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66782028"/>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7D404BB1-CF19-604E-8772-D80A6A21213B}"/>
                  </a:ext>
                </a:extLst>
              </p:cNvPr>
              <p:cNvGraphicFramePr>
                <a:graphicFrameLocks noGrp="1"/>
              </p:cNvGraphicFramePr>
              <p:nvPr>
                <p:extLst>
                  <p:ext uri="{D42A27DB-BD31-4B8C-83A1-F6EECF244321}">
                    <p14:modId xmlns:p14="http://schemas.microsoft.com/office/powerpoint/2010/main" val="3454321970"/>
                  </p:ext>
                </p:extLst>
              </p:nvPr>
            </p:nvGraphicFramePr>
            <p:xfrm>
              <a:off x="1514755" y="2054081"/>
              <a:ext cx="7047832" cy="2418368"/>
            </p:xfrm>
            <a:graphic>
              <a:graphicData uri="http://schemas.openxmlformats.org/drawingml/2006/table">
                <a:tbl>
                  <a:tblPr firstRow="1" firstCol="1" bandRow="1"/>
                  <a:tblGrid>
                    <a:gridCol w="3888459">
                      <a:extLst>
                        <a:ext uri="{9D8B030D-6E8A-4147-A177-3AD203B41FA5}">
                          <a16:colId xmlns:a16="http://schemas.microsoft.com/office/drawing/2014/main" xmlns:a14="http://schemas.microsoft.com/office/drawing/2010/main" xmlns="" val="3848485694"/>
                        </a:ext>
                      </a:extLst>
                    </a:gridCol>
                    <a:gridCol w="3159373">
                      <a:extLst>
                        <a:ext uri="{9D8B030D-6E8A-4147-A177-3AD203B41FA5}">
                          <a16:colId xmlns:a16="http://schemas.microsoft.com/office/drawing/2014/main" xmlns:a14="http://schemas.microsoft.com/office/drawing/2010/main" xmlns="" val="3906246530"/>
                        </a:ext>
                      </a:extLst>
                    </a:gridCol>
                  </a:tblGrid>
                  <a:tr h="609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 of the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solidFill>
                                <a:srgbClr val="000000"/>
                              </a:solidFill>
                              <a:effectLst/>
                              <a:latin typeface="Verdana" panose="020B0604030504040204" pitchFamily="34" charset="0"/>
                              <a:ea typeface="Verdana" panose="020B0604030504040204" pitchFamily="34" charset="0"/>
                              <a:cs typeface="Verdana" panose="020B0604030504040204" pitchFamily="34" charset="0"/>
                            </a:rPr>
                            <a:t>Interior </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Angles</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Sides</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3949973111"/>
                      </a:ext>
                    </a:extLst>
                  </a:tr>
                  <a:tr h="452192">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52703" r="-81348" b="-301351"/>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120256777"/>
                      </a:ext>
                    </a:extLst>
                  </a:tr>
                  <a:tr h="452192">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49333" r="-81348" b="-197333"/>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228215145"/>
                      </a:ext>
                    </a:extLst>
                  </a:tr>
                  <a:tr h="452192">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54054" r="-81348" b="-100000"/>
                          </a:stretch>
                        </a:blipFill>
                      </a:tcPr>
                    </a:tc>
                    <a:tc>
                      <a:txBody>
                        <a:bodyPr/>
                        <a:lstStyle/>
                        <a:p>
                          <a:pPr marL="0" marR="0">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801609491"/>
                      </a:ext>
                    </a:extLst>
                  </a:tr>
                  <a:tr h="452192">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454054" r="-81348"/>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566782028"/>
                      </a:ext>
                    </a:extLst>
                  </a:tr>
                </a:tbl>
              </a:graphicData>
            </a:graphic>
          </p:graphicFrame>
        </mc:Fallback>
      </mc:AlternateContent>
      <p:sp>
        <p:nvSpPr>
          <p:cNvPr id="8" name="Google Shape;282;g104476d1465_1_17">
            <a:extLst>
              <a:ext uri="{FF2B5EF4-FFF2-40B4-BE49-F238E27FC236}">
                <a16:creationId xmlns="" xmlns:a16="http://schemas.microsoft.com/office/drawing/2014/main" id="{287A546E-E9BE-A449-9944-BA864D718AE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spTree>
    <p:extLst>
      <p:ext uri="{BB962C8B-B14F-4D97-AF65-F5344CB8AC3E}">
        <p14:creationId xmlns:p14="http://schemas.microsoft.com/office/powerpoint/2010/main" val="2889038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42590" y="548724"/>
                <a:ext cx="11836100" cy="5021888"/>
              </a:xfrm>
              <a:prstGeom prst="rect">
                <a:avLst/>
              </a:prstGeom>
              <a:noFill/>
            </p:spPr>
            <p:txBody>
              <a:bodyPr wrap="square" rtlCol="0">
                <a:spAutoFit/>
              </a:bodyPr>
              <a:lstStyle/>
              <a:p>
                <a:pPr marL="457200" indent="-457200">
                  <a:spcAft>
                    <a:spcPts val="1000"/>
                  </a:spcAft>
                  <a:buFont typeface="+mj-lt"/>
                  <a:buAutoNum type="arabicPeriod" startAt="5"/>
                </a:pPr>
                <a:r>
                  <a:rPr lang="en-US" sz="2400" dirty="0">
                    <a:latin typeface="Verdana" panose="020B0604030504040204" pitchFamily="34" charset="0"/>
                    <a:ea typeface="Times New Roman" panose="02020603050405020304" pitchFamily="18" charset="0"/>
                  </a:rPr>
                  <a:t>Regular polygons </a:t>
                </a:r>
                <a14:m>
                  <m:oMath xmlns:m="http://schemas.openxmlformats.org/officeDocument/2006/math">
                    <m:r>
                      <a:rPr lang="en-US" sz="2400" i="1">
                        <a:latin typeface="Cambria Math" panose="02040503050406030204" pitchFamily="18" charset="0"/>
                        <a:ea typeface="Times New Roman" panose="02020603050405020304" pitchFamily="18" charset="0"/>
                      </a:rPr>
                      <m:t>𝑋𝑅𝐶𝐻𝐵</m:t>
                    </m:r>
                  </m:oMath>
                </a14:m>
                <a:r>
                  <a:rPr lang="en-US" sz="2400" dirty="0">
                    <a:latin typeface="Verdana" panose="020B0604030504040204" pitchFamily="34" charset="0"/>
                    <a:ea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rPr>
                      <m:t>𝐵𝐻𝑀𝐹</m:t>
                    </m:r>
                  </m:oMath>
                </a14:m>
                <a:r>
                  <a:rPr lang="en-US" sz="2400" dirty="0">
                    <a:latin typeface="Verdana" panose="020B0604030504040204" pitchFamily="34" charset="0"/>
                    <a:ea typeface="Times New Roman" panose="02020603050405020304" pitchFamily="18" charset="0"/>
                  </a:rPr>
                  <a:t>, and </a:t>
                </a:r>
                <a14:m>
                  <m:oMath xmlns:m="http://schemas.openxmlformats.org/officeDocument/2006/math">
                    <m:r>
                      <a:rPr lang="en-US" sz="2400" i="1">
                        <a:latin typeface="Cambria Math" panose="02040503050406030204" pitchFamily="18" charset="0"/>
                        <a:ea typeface="Times New Roman" panose="02020603050405020304" pitchFamily="18" charset="0"/>
                      </a:rPr>
                      <m:t>𝐻𝑊𝑀</m:t>
                    </m:r>
                  </m:oMath>
                </a14:m>
                <a:r>
                  <a:rPr lang="en-US" sz="2400" dirty="0">
                    <a:latin typeface="Verdana" panose="020B0604030504040204" pitchFamily="34" charset="0"/>
                    <a:ea typeface="Times New Roman" panose="02020603050405020304" pitchFamily="18" charset="0"/>
                  </a:rPr>
                  <a:t> are shown.</a:t>
                </a:r>
                <a:endParaRPr lang="en-US" sz="1600" dirty="0">
                  <a:latin typeface="Times New Roman" panose="02020603050405020304" pitchFamily="18" charset="0"/>
                  <a:ea typeface="Times New Roman" panose="02020603050405020304" pitchFamily="18" charset="0"/>
                </a:endParaRPr>
              </a:p>
              <a:p>
                <a:pPr algn="ctr"/>
                <a:endParaRPr lang="en-US" sz="2400" dirty="0">
                  <a:latin typeface="Verdana" panose="020B0604030504040204" pitchFamily="34" charset="0"/>
                  <a:ea typeface="Times New Roman" panose="02020603050405020304" pitchFamily="18" charset="0"/>
                </a:endParaRPr>
              </a:p>
              <a:p>
                <a:pPr algn="ctr"/>
                <a:endParaRPr lang="en-US" sz="2400" dirty="0">
                  <a:latin typeface="Verdana" panose="020B0604030504040204" pitchFamily="34" charset="0"/>
                  <a:ea typeface="Times New Roman" panose="02020603050405020304" pitchFamily="18" charset="0"/>
                </a:endParaRPr>
              </a:p>
              <a:p>
                <a:pPr algn="ctr"/>
                <a:endParaRPr lang="en-US" sz="2400" dirty="0">
                  <a:latin typeface="Verdana" panose="020B0604030504040204" pitchFamily="34" charset="0"/>
                  <a:ea typeface="Times New Roman" panose="02020603050405020304" pitchFamily="18" charset="0"/>
                </a:endParaRPr>
              </a:p>
              <a:p>
                <a:pPr algn="ctr"/>
                <a:endParaRPr lang="en-US" sz="2400" dirty="0">
                  <a:latin typeface="Verdana" panose="020B0604030504040204" pitchFamily="34" charset="0"/>
                  <a:ea typeface="Times New Roman" panose="02020603050405020304" pitchFamily="18" charset="0"/>
                </a:endParaRPr>
              </a:p>
              <a:p>
                <a:pPr algn="ctr"/>
                <a:endParaRPr lang="en-US" sz="2400" dirty="0">
                  <a:latin typeface="Verdana" panose="020B0604030504040204" pitchFamily="34" charset="0"/>
                  <a:ea typeface="Times New Roman" panose="02020603050405020304" pitchFamily="18" charset="0"/>
                </a:endParaRPr>
              </a:p>
              <a:p>
                <a:pPr algn="ctr"/>
                <a:endParaRPr lang="en-US" sz="2400" dirty="0">
                  <a:latin typeface="Verdana" panose="020B0604030504040204" pitchFamily="34" charset="0"/>
                  <a:ea typeface="Times New Roman" panose="02020603050405020304" pitchFamily="18" charset="0"/>
                </a:endParaRPr>
              </a:p>
              <a:p>
                <a:pPr algn="ctr"/>
                <a:endParaRPr lang="en-US" sz="2400" dirty="0">
                  <a:latin typeface="Verdana" panose="020B0604030504040204" pitchFamily="34" charset="0"/>
                  <a:ea typeface="Times New Roman" panose="02020603050405020304" pitchFamily="18" charset="0"/>
                </a:endParaRPr>
              </a:p>
              <a:p>
                <a:pPr algn="ctr"/>
                <a:endParaRPr lang="en-US" sz="2400" dirty="0">
                  <a:latin typeface="Verdana" panose="020B0604030504040204" pitchFamily="34" charset="0"/>
                  <a:ea typeface="Times New Roman" panose="02020603050405020304" pitchFamily="18" charset="0"/>
                </a:endParaRPr>
              </a:p>
              <a:p>
                <a:pPr algn="ctr"/>
                <a:endParaRPr lang="en-US" sz="2400" dirty="0">
                  <a:latin typeface="Verdana" panose="020B0604030504040204" pitchFamily="34" charset="0"/>
                  <a:ea typeface="Times New Roman" panose="02020603050405020304" pitchFamily="18" charset="0"/>
                </a:endParaRPr>
              </a:p>
              <a:p>
                <a:pPr algn="ctr"/>
                <a:endParaRPr lang="en-US" sz="2400" dirty="0">
                  <a:latin typeface="Verdana" panose="020B0604030504040204" pitchFamily="34" charset="0"/>
                  <a:ea typeface="Times New Roman" panose="02020603050405020304" pitchFamily="18" charset="0"/>
                </a:endParaRPr>
              </a:p>
              <a:p>
                <a:pPr algn="ctr"/>
                <a:r>
                  <a:rPr lang="en-US" sz="2400" dirty="0">
                    <a:latin typeface="Verdana" panose="020B0604030504040204" pitchFamily="34" charset="0"/>
                    <a:ea typeface="Times New Roman" panose="02020603050405020304" pitchFamily="18" charset="0"/>
                  </a:rPr>
                  <a:t> </a:t>
                </a:r>
                <a:endParaRPr lang="en-US" sz="1600" dirty="0">
                  <a:latin typeface="Times New Roman" panose="02020603050405020304" pitchFamily="18" charset="0"/>
                  <a:ea typeface="Times New Roman" panose="02020603050405020304" pitchFamily="18" charset="0"/>
                </a:endParaRPr>
              </a:p>
              <a:p>
                <a:pPr marL="457200"/>
                <a:r>
                  <a:rPr lang="en-US" sz="2400" dirty="0">
                    <a:latin typeface="Verdana" panose="020B0604030504040204" pitchFamily="34" charset="0"/>
                    <a:ea typeface="Times New Roman" panose="02020603050405020304" pitchFamily="18" charset="0"/>
                  </a:rPr>
                  <a:t>The measure of angle </a:t>
                </a:r>
                <a14:m>
                  <m:oMath xmlns:m="http://schemas.openxmlformats.org/officeDocument/2006/math">
                    <m:r>
                      <a:rPr lang="en-US" sz="2400" i="1">
                        <a:latin typeface="Cambria Math" panose="02040503050406030204" pitchFamily="18" charset="0"/>
                        <a:ea typeface="Times New Roman" panose="02020603050405020304" pitchFamily="18" charset="0"/>
                      </a:rPr>
                      <m:t>𝑊𝐻𝐶</m:t>
                    </m:r>
                  </m:oMath>
                </a14:m>
                <a:r>
                  <a:rPr lang="en-US" sz="2400" dirty="0">
                    <a:latin typeface="Verdana" panose="020B0604030504040204" pitchFamily="34" charset="0"/>
                    <a:ea typeface="Times New Roman" panose="02020603050405020304" pitchFamily="18" charset="0"/>
                  </a:rPr>
                  <a:t> is </a:t>
                </a:r>
                <a14:m>
                  <m:oMath xmlns:m="http://schemas.openxmlformats.org/officeDocument/2006/math">
                    <m:r>
                      <a:rPr lang="en-US" sz="2400" i="1">
                        <a:latin typeface="Cambria Math" panose="02040503050406030204" pitchFamily="18" charset="0"/>
                        <a:ea typeface="Times New Roman" panose="02020603050405020304" pitchFamily="18" charset="0"/>
                      </a:rPr>
                      <m:t>(19</m:t>
                    </m:r>
                    <m:r>
                      <a:rPr lang="en-US" sz="2400" i="1">
                        <a:latin typeface="Cambria Math" panose="02040503050406030204" pitchFamily="18" charset="0"/>
                        <a:ea typeface="Times New Roman" panose="02020603050405020304" pitchFamily="18" charset="0"/>
                      </a:rPr>
                      <m:t>𝑥</m:t>
                    </m:r>
                    <m:r>
                      <a:rPr lang="en-US" sz="2400" i="1">
                        <a:latin typeface="Cambria Math" panose="02040503050406030204" pitchFamily="18" charset="0"/>
                        <a:ea typeface="Times New Roman" panose="02020603050405020304" pitchFamily="18" charset="0"/>
                      </a:rPr>
                      <m:t>−27)°</m:t>
                    </m:r>
                  </m:oMath>
                </a14:m>
                <a:r>
                  <a:rPr lang="en-US" sz="2400" dirty="0">
                    <a:latin typeface="Verdana" panose="020B0604030504040204" pitchFamily="34" charset="0"/>
                    <a:ea typeface="Times New Roman" panose="02020603050405020304" pitchFamily="18" charset="0"/>
                  </a:rPr>
                  <a:t>. Determine the value of </a:t>
                </a:r>
                <a14:m>
                  <m:oMath xmlns:m="http://schemas.openxmlformats.org/officeDocument/2006/math">
                    <m:r>
                      <a:rPr lang="en-US" sz="2400" i="1">
                        <a:latin typeface="Cambria Math" panose="02040503050406030204" pitchFamily="18" charset="0"/>
                        <a:ea typeface="Times New Roman" panose="02020603050405020304" pitchFamily="18" charset="0"/>
                      </a:rPr>
                      <m:t>𝑥</m:t>
                    </m:r>
                  </m:oMath>
                </a14:m>
                <a:r>
                  <a:rPr lang="en-US" sz="2400" dirty="0">
                    <a:latin typeface="Verdana" panose="020B0604030504040204" pitchFamily="34" charset="0"/>
                    <a:ea typeface="Times New Roman" panose="02020603050405020304" pitchFamily="18" charset="0"/>
                  </a:rPr>
                  <a:t>.</a:t>
                </a:r>
                <a:endParaRPr lang="en-US" sz="1600" dirty="0">
                  <a:latin typeface="Times New Roman" panose="02020603050405020304" pitchFamily="18" charset="0"/>
                  <a:ea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2590" y="548724"/>
                <a:ext cx="11836100" cy="5021888"/>
              </a:xfrm>
              <a:prstGeom prst="rect">
                <a:avLst/>
              </a:prstGeom>
              <a:blipFill>
                <a:blip r:embed="rId4"/>
                <a:stretch>
                  <a:fillRect l="-750" t="-1263" b="-1768"/>
                </a:stretch>
              </a:blipFill>
            </p:spPr>
            <p:txBody>
              <a:bodyPr/>
              <a:lstStyle/>
              <a:p>
                <a:r>
                  <a:rPr lang="en-US">
                    <a:noFill/>
                  </a:rPr>
                  <a:t> </a:t>
                </a:r>
              </a:p>
            </p:txBody>
          </p:sp>
        </mc:Fallback>
      </mc:AlternateContent>
      <p:pic>
        <p:nvPicPr>
          <p:cNvPr id="6" name="Picture 5">
            <a:extLst>
              <a:ext uri="{FF2B5EF4-FFF2-40B4-BE49-F238E27FC236}">
                <a16:creationId xmlns="" xmlns:a16="http://schemas.microsoft.com/office/drawing/2014/main" id="{42B81E6B-6D48-7946-8F8B-A266AFE57770}"/>
              </a:ext>
            </a:extLst>
          </p:cNvPr>
          <p:cNvPicPr/>
          <p:nvPr/>
        </p:nvPicPr>
        <p:blipFill>
          <a:blip r:embed="rId5"/>
          <a:stretch>
            <a:fillRect/>
          </a:stretch>
        </p:blipFill>
        <p:spPr>
          <a:xfrm>
            <a:off x="4710580" y="1032113"/>
            <a:ext cx="3500120" cy="4055110"/>
          </a:xfrm>
          <a:prstGeom prst="rect">
            <a:avLst/>
          </a:prstGeom>
        </p:spPr>
      </p:pic>
      <p:sp>
        <p:nvSpPr>
          <p:cNvPr id="7" name="Google Shape;282;g104476d1465_1_17">
            <a:extLst>
              <a:ext uri="{FF2B5EF4-FFF2-40B4-BE49-F238E27FC236}">
                <a16:creationId xmlns="" xmlns:a16="http://schemas.microsoft.com/office/drawing/2014/main" id="{CECFC33C-13F2-A643-819B-10D726B5B69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spTree>
    <p:extLst>
      <p:ext uri="{BB962C8B-B14F-4D97-AF65-F5344CB8AC3E}">
        <p14:creationId xmlns:p14="http://schemas.microsoft.com/office/powerpoint/2010/main" val="1468995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 xmlns:a16="http://schemas.microsoft.com/office/drawing/2014/main" id="{D0DCF724-0B89-804E-AC75-471BA256631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303</a:t>
            </a:r>
            <a:endParaRPr i="1" dirty="0">
              <a:latin typeface="Calibri"/>
              <a:ea typeface="Calibri"/>
              <a:cs typeface="Calibri"/>
              <a:sym typeface="Calibri"/>
            </a:endParaRPr>
          </a:p>
        </p:txBody>
      </p:sp>
      <p:sp>
        <p:nvSpPr>
          <p:cNvPr id="8" name="Google Shape;313;g104476d1465_1_39"/>
          <p:cNvSpPr txBox="1">
            <a:spLocks/>
          </p:cNvSpPr>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Practice</a:t>
            </a:r>
            <a:endParaRPr lang="en-US" sz="5100" b="1" dirty="0">
              <a:solidFill>
                <a:srgbClr val="54B5D1"/>
              </a:solidFill>
              <a:latin typeface="Verdana"/>
              <a:ea typeface="Verdana"/>
              <a:cs typeface="Verdana"/>
              <a:sym typeface="Verdana"/>
            </a:endParaRPr>
          </a:p>
        </p:txBody>
      </p:sp>
      <p:pic>
        <p:nvPicPr>
          <p:cNvPr id="9" name="Picture 2" descr="Icon&#10;&#10;Description automatically generated">
            <a:extLst>
              <a:ext uri="{FF2B5EF4-FFF2-40B4-BE49-F238E27FC236}">
                <a16:creationId xmlns=""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697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0C2078EC-76EB-3943-B2B4-48CBE6BADAA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303</a:t>
            </a:r>
            <a:endParaRPr i="1" dirty="0">
              <a:latin typeface="Calibri"/>
              <a:ea typeface="Calibri"/>
              <a:cs typeface="Calibri"/>
              <a:sym typeface="Calibri"/>
            </a:endParaRPr>
          </a:p>
        </p:txBody>
      </p:sp>
      <p:sp>
        <p:nvSpPr>
          <p:cNvPr id="11"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136174"/>
            <a:ext cx="10477934"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13.7.3 Guided Practice: Measures of Interior Angles Using Equations</a:t>
            </a:r>
          </a:p>
        </p:txBody>
      </p:sp>
      <p:pic>
        <p:nvPicPr>
          <p:cNvPr id="12"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25061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31D40250-DEDD-2C41-8538-3D4DD18CCC4A}"/>
                  </a:ext>
                </a:extLst>
              </p:cNvPr>
              <p:cNvSpPr txBox="1"/>
              <p:nvPr/>
            </p:nvSpPr>
            <p:spPr>
              <a:xfrm>
                <a:off x="731519" y="1491419"/>
                <a:ext cx="10758527" cy="378565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How many sides does a regular polygon have if the sum of the interior angles is </a:t>
                </a:r>
                <a14:m>
                  <m:oMath xmlns:m="http://schemas.openxmlformats.org/officeDocument/2006/math">
                    <m:r>
                      <a:rPr lang="en-US" sz="2000" i="1">
                        <a:latin typeface="Cambria Math" panose="02040503050406030204" pitchFamily="18" charset="0"/>
                        <a:ea typeface="Times New Roman" panose="02020603050405020304" pitchFamily="18" charset="0"/>
                      </a:rPr>
                      <m:t>10,620°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measures of two interior angles of a regular polygon are (</a:t>
                </a:r>
                <a14:m>
                  <m:oMath xmlns:m="http://schemas.openxmlformats.org/officeDocument/2006/math">
                    <m:r>
                      <a:rPr lang="en-US" sz="2000" i="1">
                        <a:latin typeface="Cambria Math" panose="02040503050406030204" pitchFamily="18" charset="0"/>
                        <a:ea typeface="Times New Roman" panose="02020603050405020304" pitchFamily="18" charset="0"/>
                      </a:rPr>
                      <m:t>6</m:t>
                    </m:r>
                    <m:r>
                      <a:rPr lang="en-US" sz="2000" i="1">
                        <a:latin typeface="Cambria Math" panose="02040503050406030204" pitchFamily="18" charset="0"/>
                        <a:ea typeface="Times New Roman" panose="02020603050405020304" pitchFamily="18" charset="0"/>
                      </a:rPr>
                      <m:t>𝑥</m:t>
                    </m:r>
                    <m:r>
                      <a:rPr lang="en-US" sz="2000" i="1">
                        <a:latin typeface="Cambria Math" panose="02040503050406030204" pitchFamily="18" charset="0"/>
                        <a:ea typeface="Times New Roman" panose="02020603050405020304" pitchFamily="18" charset="0"/>
                      </a:rPr>
                      <m:t>+18)°</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rPr>
                      <m:t>10</m:t>
                    </m:r>
                    <m:r>
                      <a:rPr lang="en-US" sz="2000" i="1">
                        <a:latin typeface="Cambria Math" panose="02040503050406030204" pitchFamily="18" charset="0"/>
                        <a:ea typeface="Times New Roman" panose="02020603050405020304" pitchFamily="18" charset="0"/>
                      </a:rPr>
                      <m:t>𝑥</m:t>
                    </m:r>
                    <m:r>
                      <a:rPr lang="en-US" sz="2000" i="1">
                        <a:latin typeface="Cambria Math" panose="02040503050406030204" pitchFamily="18" charset="0"/>
                        <a:ea typeface="Times New Roman" panose="02020603050405020304" pitchFamily="18" charset="0"/>
                      </a:rPr>
                      <m:t>−86)°</m:t>
                    </m:r>
                  </m:oMath>
                </a14:m>
                <a:r>
                  <a:rPr lang="en-US" sz="2000" dirty="0">
                    <a:latin typeface="Verdana" panose="020B0604030504040204" pitchFamily="34" charset="0"/>
                    <a:ea typeface="Verdana" panose="020B0604030504040204" pitchFamily="34" charset="0"/>
                    <a:cs typeface="Verdana" panose="020B0604030504040204" pitchFamily="34" charset="0"/>
                  </a:rPr>
                  <a:t>, respectively. What is the angle measure for each interior angle?</a:t>
                </a:r>
              </a:p>
              <a:p>
                <a:pPr marL="457200" indent="-457200">
                  <a:buFont typeface="+mj-lt"/>
                  <a:buAutoNum type="arabicPeriod"/>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regular polygon can be decomposed into </a:t>
                </a:r>
                <a14:m>
                  <m:oMath xmlns:m="http://schemas.openxmlformats.org/officeDocument/2006/math">
                    <m:r>
                      <a:rPr lang="en-US" sz="2000" i="1">
                        <a:latin typeface="Cambria Math" panose="02040503050406030204" pitchFamily="18" charset="0"/>
                        <a:ea typeface="Times New Roman" panose="02020603050405020304" pitchFamily="18" charset="0"/>
                      </a:rPr>
                      <m:t>23</m:t>
                    </m:r>
                  </m:oMath>
                </a14:m>
                <a:r>
                  <a:rPr lang="en-US" sz="2000" dirty="0">
                    <a:latin typeface="Verdana" panose="020B0604030504040204" pitchFamily="34" charset="0"/>
                    <a:ea typeface="Verdana" panose="020B0604030504040204" pitchFamily="34" charset="0"/>
                    <a:cs typeface="Verdana" panose="020B0604030504040204" pitchFamily="34" charset="0"/>
                  </a:rPr>
                  <a:t> triangles. The measure of one angle of the polygon is </a:t>
                </a:r>
                <a14:m>
                  <m:oMath xmlns:m="http://schemas.openxmlformats.org/officeDocument/2006/math">
                    <m:r>
                      <a:rPr lang="en-US" sz="2000" i="1">
                        <a:latin typeface="Cambria Math" panose="02040503050406030204" pitchFamily="18" charset="0"/>
                        <a:ea typeface="Times New Roman" panose="02020603050405020304" pitchFamily="18" charset="0"/>
                      </a:rPr>
                      <m:t>4.5</m:t>
                    </m:r>
                    <m:r>
                      <a:rPr lang="en-US" sz="2000" i="1">
                        <a:latin typeface="Cambria Math" panose="02040503050406030204" pitchFamily="18" charset="0"/>
                        <a:ea typeface="Times New Roman" panose="02020603050405020304" pitchFamily="18" charset="0"/>
                      </a:rPr>
                      <m:t>𝑥</m:t>
                    </m:r>
                    <m:r>
                      <a:rPr lang="en-US" sz="2000" i="1">
                        <a:latin typeface="Cambria Math" panose="02040503050406030204" pitchFamily="18" charset="0"/>
                        <a:ea typeface="Times New Roman" panose="02020603050405020304" pitchFamily="18" charset="0"/>
                      </a:rPr>
                      <m:t>+36</m:t>
                    </m:r>
                  </m:oMath>
                </a14:m>
                <a:r>
                  <a:rPr lang="en-US" sz="2000" dirty="0">
                    <a:latin typeface="Verdana" panose="020B0604030504040204" pitchFamily="34" charset="0"/>
                    <a:ea typeface="Verdana" panose="020B0604030504040204" pitchFamily="34" charset="0"/>
                    <a:cs typeface="Verdana" panose="020B0604030504040204" pitchFamily="34" charset="0"/>
                  </a:rPr>
                  <a:t>. Find the value of </a:t>
                </a:r>
                <a14:m>
                  <m:oMath xmlns:m="http://schemas.openxmlformats.org/officeDocument/2006/math">
                    <m:r>
                      <a:rPr lang="en-US" sz="2000" i="1">
                        <a:latin typeface="Cambria Math" panose="02040503050406030204" pitchFamily="18" charset="0"/>
                        <a:ea typeface="Times New Roman" panose="020206030504050203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3" name="TextBox 12">
                <a:extLst>
                  <a:ext uri="{FF2B5EF4-FFF2-40B4-BE49-F238E27FC236}">
                    <a16:creationId xmlns:a16="http://schemas.microsoft.com/office/drawing/2014/main" xmlns="" xmlns:a14="http://schemas.microsoft.com/office/drawing/2010/main" id="{31D40250-DEDD-2C41-8538-3D4DD18CCC4A}"/>
                  </a:ext>
                </a:extLst>
              </p:cNvPr>
              <p:cNvSpPr txBox="1">
                <a:spLocks noRot="1" noChangeAspect="1" noMove="1" noResize="1" noEditPoints="1" noAdjustHandles="1" noChangeArrowheads="1" noChangeShapeType="1" noTextEdit="1"/>
              </p:cNvSpPr>
              <p:nvPr/>
            </p:nvSpPr>
            <p:spPr>
              <a:xfrm>
                <a:off x="731519" y="1491419"/>
                <a:ext cx="10758527" cy="3785652"/>
              </a:xfrm>
              <a:prstGeom prst="rect">
                <a:avLst/>
              </a:prstGeom>
              <a:blipFill rotWithShape="1">
                <a:blip r:embed="rId5"/>
                <a:stretch>
                  <a:fillRect l="-567" t="-966" b="-1932"/>
                </a:stretch>
              </a:blipFill>
            </p:spPr>
            <p:txBody>
              <a:bodyPr/>
              <a:lstStyle/>
              <a:p>
                <a:r>
                  <a:rPr lang="en-US">
                    <a:noFill/>
                  </a:rPr>
                  <a:t> </a:t>
                </a:r>
              </a:p>
            </p:txBody>
          </p:sp>
        </mc:Fallback>
      </mc:AlternateContent>
    </p:spTree>
    <p:extLst>
      <p:ext uri="{BB962C8B-B14F-4D97-AF65-F5344CB8AC3E}">
        <p14:creationId xmlns:p14="http://schemas.microsoft.com/office/powerpoint/2010/main" val="745523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 xmlns:a16="http://schemas.microsoft.com/office/drawing/2014/main" id="{A9A36059-5730-0D4C-B92B-10B10011DB9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303</a:t>
            </a:r>
            <a:endParaRPr i="1" dirty="0">
              <a:latin typeface="Calibri"/>
              <a:ea typeface="Calibri"/>
              <a:cs typeface="Calibri"/>
              <a:sym typeface="Calibri"/>
            </a:endParaRPr>
          </a:p>
        </p:txBody>
      </p:sp>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10" name="Google Shape;423;g103996e1364_0_416">
            <a:extLst>
              <a:ext uri="{FF2B5EF4-FFF2-40B4-BE49-F238E27FC236}">
                <a16:creationId xmlns=""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9" name="Google Shape;430;g103996e1364_0_428">
            <a:extLst>
              <a:ext uri="{FF2B5EF4-FFF2-40B4-BE49-F238E27FC236}">
                <a16:creationId xmlns=""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759C3E41-93EC-B84D-963F-86A3B15AC1C6}"/>
                  </a:ext>
                </a:extLst>
              </p:cNvPr>
              <p:cNvSpPr txBox="1"/>
              <p:nvPr/>
            </p:nvSpPr>
            <p:spPr>
              <a:xfrm>
                <a:off x="730266" y="1219768"/>
                <a:ext cx="11156934" cy="3477875"/>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measure of an angle in a regular </a:t>
                </a:r>
                <a14:m>
                  <m:oMath xmlns:m="http://schemas.openxmlformats.org/officeDocument/2006/math">
                    <m:r>
                      <a:rPr lang="en-US" sz="2200" i="1">
                        <a:latin typeface="Cambria Math" panose="02040503050406030204" pitchFamily="18" charset="0"/>
                        <a:ea typeface="Times New Roman" panose="02020603050405020304" pitchFamily="18" charset="0"/>
                      </a:rPr>
                      <m:t>50</m:t>
                    </m:r>
                  </m:oMath>
                </a14:m>
                <a:r>
                  <a:rPr lang="en-US" sz="2200" dirty="0">
                    <a:latin typeface="Verdana" panose="020B0604030504040204" pitchFamily="34" charset="0"/>
                    <a:ea typeface="Verdana" panose="020B0604030504040204" pitchFamily="34" charset="0"/>
                    <a:cs typeface="Verdana" panose="020B0604030504040204" pitchFamily="34" charset="0"/>
                  </a:rPr>
                  <a:t>-sided polygon is </a:t>
                </a:r>
                <a14:m>
                  <m:oMath xmlns:m="http://schemas.openxmlformats.org/officeDocument/2006/math">
                    <m:r>
                      <a:rPr lang="en-US" sz="2200" i="1">
                        <a:latin typeface="Cambria Math" panose="02040503050406030204" pitchFamily="18" charset="0"/>
                        <a:ea typeface="Times New Roman" panose="02020603050405020304" pitchFamily="18" charset="0"/>
                      </a:rPr>
                      <m:t>(12.8</m:t>
                    </m:r>
                    <m:r>
                      <a:rPr lang="en-US" sz="2200" i="1">
                        <a:latin typeface="Cambria Math" panose="02040503050406030204" pitchFamily="18" charset="0"/>
                        <a:ea typeface="Times New Roman" panose="02020603050405020304" pitchFamily="18" charset="0"/>
                      </a:rPr>
                      <m:t>𝑥</m:t>
                    </m:r>
                    <m:r>
                      <a:rPr lang="en-US" sz="2200" i="1">
                        <a:latin typeface="Cambria Math" panose="02040503050406030204" pitchFamily="18" charset="0"/>
                        <a:ea typeface="Times New Roman" panose="02020603050405020304" pitchFamily="18" charset="0"/>
                      </a:rPr>
                      <m:t>−22.4)°</m:t>
                    </m:r>
                  </m:oMath>
                </a14:m>
                <a:r>
                  <a:rPr lang="en-US" sz="2200" dirty="0">
                    <a:latin typeface="Verdana" panose="020B0604030504040204" pitchFamily="34" charset="0"/>
                    <a:ea typeface="Verdana" panose="020B0604030504040204" pitchFamily="34" charset="0"/>
                    <a:cs typeface="Verdana" panose="020B0604030504040204" pitchFamily="34" charset="0"/>
                  </a:rPr>
                  <a:t>. Find the value of </a:t>
                </a:r>
                <a14:m>
                  <m:oMath xmlns:m="http://schemas.openxmlformats.org/officeDocument/2006/math">
                    <m:r>
                      <a:rPr lang="en-US" sz="2200" i="1">
                        <a:latin typeface="Cambria Math" panose="02040503050406030204" pitchFamily="18" charset="0"/>
                        <a:ea typeface="Times New Roman" panose="020206030504050203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Five regular polygons are shown</a:t>
                </a:r>
                <a:r>
                  <a:rPr lang="en-US" sz="22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The measure of angle </a:t>
                </a:r>
                <a14:m>
                  <m:oMath xmlns:m="http://schemas.openxmlformats.org/officeDocument/2006/math">
                    <m:r>
                      <a:rPr lang="en-US" sz="2200" i="1">
                        <a:latin typeface="Cambria Math" panose="02040503050406030204" pitchFamily="18" charset="0"/>
                        <a:ea typeface="Times New Roman" panose="02020603050405020304" pitchFamily="18" charset="0"/>
                      </a:rPr>
                      <m:t>𝑀𝑅𝑊</m:t>
                    </m:r>
                  </m:oMath>
                </a14:m>
                <a:r>
                  <a:rPr lang="en-US" sz="22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2200" i="1">
                        <a:latin typeface="Cambria Math" panose="02040503050406030204" pitchFamily="18" charset="0"/>
                        <a:ea typeface="Times New Roman" panose="02020603050405020304" pitchFamily="18" charset="0"/>
                      </a:rPr>
                      <m:t>(16</m:t>
                    </m:r>
                    <m:r>
                      <a:rPr lang="en-US" sz="2200" i="1">
                        <a:latin typeface="Cambria Math" panose="02040503050406030204" pitchFamily="18" charset="0"/>
                        <a:ea typeface="Times New Roman" panose="02020603050405020304" pitchFamily="18" charset="0"/>
                      </a:rPr>
                      <m:t>𝑥</m:t>
                    </m:r>
                    <m:r>
                      <a:rPr lang="en-US" sz="2200" i="1">
                        <a:latin typeface="Cambria Math" panose="02040503050406030204" pitchFamily="18" charset="0"/>
                        <a:ea typeface="Times New Roman" panose="02020603050405020304" pitchFamily="18" charset="0"/>
                      </a:rPr>
                      <m:t>−44)°</m:t>
                    </m:r>
                  </m:oMath>
                </a14:m>
                <a:r>
                  <a:rPr lang="en-US" sz="2200" dirty="0">
                    <a:latin typeface="Verdana" panose="020B0604030504040204" pitchFamily="34" charset="0"/>
                    <a:ea typeface="Verdana" panose="020B0604030504040204" pitchFamily="34" charset="0"/>
                    <a:cs typeface="Verdana" panose="020B0604030504040204" pitchFamily="34" charset="0"/>
                  </a:rPr>
                  <a:t>. </a:t>
                </a:r>
                <a:r>
                  <a:rPr lang="en-US" sz="2200" dirty="0" smtClean="0">
                    <a:latin typeface="Verdana" panose="020B0604030504040204" pitchFamily="34" charset="0"/>
                    <a:ea typeface="Verdana" panose="020B0604030504040204" pitchFamily="34" charset="0"/>
                    <a:cs typeface="Verdana" panose="020B0604030504040204" pitchFamily="34" charset="0"/>
                  </a:rPr>
                  <a:t/>
                </a:r>
                <a:br>
                  <a:rPr lang="en-US" sz="2200" dirty="0" smtClean="0">
                    <a:latin typeface="Verdana" panose="020B0604030504040204" pitchFamily="34" charset="0"/>
                    <a:ea typeface="Verdana" panose="020B0604030504040204" pitchFamily="34" charset="0"/>
                    <a:cs typeface="Verdana" panose="020B0604030504040204" pitchFamily="34" charset="0"/>
                  </a:rPr>
                </a:br>
                <a:r>
                  <a:rPr lang="en-US" sz="2200" dirty="0" smtClean="0">
                    <a:latin typeface="Verdana" panose="020B0604030504040204" pitchFamily="34" charset="0"/>
                    <a:ea typeface="Verdana" panose="020B0604030504040204" pitchFamily="34" charset="0"/>
                    <a:cs typeface="Verdana" panose="020B0604030504040204" pitchFamily="34" charset="0"/>
                  </a:rPr>
                  <a:t>Determine </a:t>
                </a:r>
                <a:r>
                  <a:rPr lang="en-US" sz="2200" dirty="0">
                    <a:latin typeface="Verdana" panose="020B0604030504040204" pitchFamily="34" charset="0"/>
                    <a:ea typeface="Verdana" panose="020B0604030504040204" pitchFamily="34" charset="0"/>
                    <a:cs typeface="Verdana" panose="020B0604030504040204" pitchFamily="34" charset="0"/>
                  </a:rPr>
                  <a:t>the value of </a:t>
                </a:r>
                <a14:m>
                  <m:oMath xmlns:m="http://schemas.openxmlformats.org/officeDocument/2006/math">
                    <m:r>
                      <a:rPr lang="en-US" sz="2200" i="1">
                        <a:latin typeface="Cambria Math" panose="02040503050406030204" pitchFamily="18" charset="0"/>
                        <a:ea typeface="Times New Roman" panose="020206030504050203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The sum of the angles </a:t>
                </a:r>
                <a14:m>
                  <m:oMath xmlns:m="http://schemas.openxmlformats.org/officeDocument/2006/math">
                    <m:r>
                      <a:rPr lang="en-US" sz="2200" i="1">
                        <a:latin typeface="Cambria Math" panose="02040503050406030204" pitchFamily="18" charset="0"/>
                        <a:ea typeface="Times New Roman" panose="02020603050405020304" pitchFamily="18" charset="0"/>
                      </a:rPr>
                      <m:t>𝐿𝑇𝐺</m:t>
                    </m:r>
                  </m:oMath>
                </a14:m>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Times New Roman" panose="02020603050405020304" pitchFamily="18" charset="0"/>
                      </a:rPr>
                      <m:t>𝑇𝐵𝑁</m:t>
                    </m:r>
                  </m:oMath>
                </a14:m>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Times New Roman" panose="02020603050405020304" pitchFamily="18" charset="0"/>
                      </a:rPr>
                      <m:t>𝑁𝑌𝐷</m:t>
                    </m:r>
                  </m:oMath>
                </a14:m>
                <a:r>
                  <a:rPr lang="en-US" sz="2200" dirty="0">
                    <a:latin typeface="Verdana" panose="020B0604030504040204" pitchFamily="34" charset="0"/>
                    <a:ea typeface="Verdana" panose="020B0604030504040204" pitchFamily="34" charset="0"/>
                    <a:cs typeface="Verdana" panose="020B0604030504040204" pitchFamily="34" charset="0"/>
                  </a:rPr>
                  <a:t>, </a:t>
                </a:r>
                <a:r>
                  <a:rPr lang="en-US" sz="2200" dirty="0" smtClean="0">
                    <a:latin typeface="Verdana" panose="020B0604030504040204" pitchFamily="34" charset="0"/>
                    <a:ea typeface="Verdana" panose="020B0604030504040204" pitchFamily="34" charset="0"/>
                    <a:cs typeface="Verdana" panose="020B0604030504040204" pitchFamily="34" charset="0"/>
                  </a:rPr>
                  <a:t>and </a:t>
                </a:r>
                <a:br>
                  <a:rPr lang="en-US" sz="22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200" i="1">
                        <a:latin typeface="Cambria Math" panose="02040503050406030204" pitchFamily="18" charset="0"/>
                        <a:ea typeface="Times New Roman" panose="02020603050405020304" pitchFamily="18" charset="0"/>
                      </a:rPr>
                      <m:t>𝑊𝑅𝑌</m:t>
                    </m:r>
                  </m:oMath>
                </a14:m>
                <a:r>
                  <a:rPr lang="en-US" sz="22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2200" i="1">
                        <a:latin typeface="Cambria Math" panose="02040503050406030204" pitchFamily="18" charset="0"/>
                        <a:ea typeface="Times New Roman" panose="02020603050405020304" pitchFamily="18" charset="0"/>
                      </a:rPr>
                      <m:t>(8</m:t>
                    </m:r>
                    <m:r>
                      <a:rPr lang="en-US" sz="2200" i="1">
                        <a:latin typeface="Cambria Math" panose="02040503050406030204" pitchFamily="18" charset="0"/>
                        <a:ea typeface="Times New Roman" panose="02020603050405020304" pitchFamily="18" charset="0"/>
                      </a:rPr>
                      <m:t>𝑚</m:t>
                    </m:r>
                    <m:r>
                      <a:rPr lang="en-US" sz="2200" i="1">
                        <a:latin typeface="Cambria Math" panose="02040503050406030204" pitchFamily="18" charset="0"/>
                        <a:ea typeface="Times New Roman" panose="02020603050405020304" pitchFamily="18" charset="0"/>
                      </a:rPr>
                      <m:t>+52)°</m:t>
                    </m:r>
                  </m:oMath>
                </a14:m>
                <a:r>
                  <a:rPr lang="en-US" sz="2200" dirty="0">
                    <a:latin typeface="Verdana" panose="020B0604030504040204" pitchFamily="34" charset="0"/>
                    <a:ea typeface="Verdana" panose="020B0604030504040204" pitchFamily="34" charset="0"/>
                    <a:cs typeface="Verdana" panose="020B0604030504040204" pitchFamily="34" charset="0"/>
                  </a:rPr>
                  <a:t>. Find the value of </a:t>
                </a:r>
                <a14:m>
                  <m:oMath xmlns:m="http://schemas.openxmlformats.org/officeDocument/2006/math">
                    <m:r>
                      <a:rPr lang="en-US" sz="2200" i="1">
                        <a:latin typeface="Cambria Math" panose="02040503050406030204" pitchFamily="18" charset="0"/>
                        <a:ea typeface="Times New Roman" panose="02020603050405020304" pitchFamily="18" charset="0"/>
                      </a:rPr>
                      <m:t>𝑚</m:t>
                    </m:r>
                  </m:oMath>
                </a14:m>
                <a:r>
                  <a:rPr lang="en-US" sz="2200" dirty="0" smtClean="0">
                    <a:latin typeface="Verdana" panose="020B0604030504040204" pitchFamily="34" charset="0"/>
                    <a:ea typeface="Verdana" panose="020B0604030504040204" pitchFamily="34" charset="0"/>
                    <a:cs typeface="Verdana" panose="020B0604030504040204" pitchFamily="34" charset="0"/>
                  </a:rPr>
                  <a:t>.</a:t>
                </a:r>
                <a:endParaRPr lang="en-US" sz="22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730266" y="1219768"/>
                <a:ext cx="11156934" cy="3477875"/>
              </a:xfrm>
              <a:prstGeom prst="rect">
                <a:avLst/>
              </a:prstGeom>
              <a:blipFill rotWithShape="1">
                <a:blip r:embed="rId5"/>
                <a:stretch>
                  <a:fillRect l="-765" t="-1401" b="-2452"/>
                </a:stretch>
              </a:blipFill>
            </p:spPr>
            <p:txBody>
              <a:bodyPr/>
              <a:lstStyle/>
              <a:p>
                <a:r>
                  <a:rPr lang="en-US">
                    <a:noFill/>
                  </a:rPr>
                  <a:t> </a:t>
                </a:r>
              </a:p>
            </p:txBody>
          </p:sp>
        </mc:Fallback>
      </mc:AlternateContent>
      <p:pic>
        <p:nvPicPr>
          <p:cNvPr id="13" name="Picture 12">
            <a:extLst>
              <a:ext uri="{FF2B5EF4-FFF2-40B4-BE49-F238E27FC236}">
                <a16:creationId xmlns="" xmlns:a16="http://schemas.microsoft.com/office/drawing/2014/main" id="{2B8970ED-6C75-9147-8E5E-DC89EDA72E85}"/>
              </a:ext>
            </a:extLst>
          </p:cNvPr>
          <p:cNvPicPr/>
          <p:nvPr/>
        </p:nvPicPr>
        <p:blipFill rotWithShape="1">
          <a:blip r:embed="rId6" cstate="screen">
            <a:extLst>
              <a:ext uri="{28A0092B-C50C-407E-A947-70E740481C1C}">
                <a14:useLocalDpi xmlns:a14="http://schemas.microsoft.com/office/drawing/2010/main"/>
              </a:ext>
            </a:extLst>
          </a:blip>
          <a:srcRect l="20284" r="38832"/>
          <a:stretch/>
        </p:blipFill>
        <p:spPr>
          <a:xfrm>
            <a:off x="8690930" y="2252486"/>
            <a:ext cx="2840182" cy="3750945"/>
          </a:xfrm>
          <a:prstGeom prst="rect">
            <a:avLst/>
          </a:prstGeom>
        </p:spPr>
      </p:pic>
      <p:sp>
        <p:nvSpPr>
          <p:cNvPr id="14" name="Google Shape;282;g104476d1465_1_17">
            <a:extLst>
              <a:ext uri="{FF2B5EF4-FFF2-40B4-BE49-F238E27FC236}">
                <a16:creationId xmlns="" xmlns:a16="http://schemas.microsoft.com/office/drawing/2014/main" id="{B0FC358B-77A3-794A-86F0-7131F9EDD27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303</a:t>
            </a:r>
            <a:endParaRPr i="1" dirty="0">
              <a:latin typeface="Calibri"/>
              <a:ea typeface="Calibri"/>
              <a:cs typeface="Calibri"/>
              <a:sym typeface="Calibri"/>
            </a:endParaRPr>
          </a:p>
        </p:txBody>
      </p:sp>
      <p:sp>
        <p:nvSpPr>
          <p:cNvPr id="11"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13.7.4 Your Turn!</a:t>
            </a:r>
          </a:p>
        </p:txBody>
      </p:sp>
    </p:spTree>
    <p:extLst>
      <p:ext uri="{BB962C8B-B14F-4D97-AF65-F5344CB8AC3E}">
        <p14:creationId xmlns:p14="http://schemas.microsoft.com/office/powerpoint/2010/main" val="3101299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6D661EC1-3B67-E047-AA04-8BEC965F287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sp>
        <p:nvSpPr>
          <p:cNvPr id="9"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0"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TextBox 11">
            <a:extLst>
              <a:ext uri="{FF2B5EF4-FFF2-40B4-BE49-F238E27FC236}">
                <a16:creationId xmlns="" xmlns:a16="http://schemas.microsoft.com/office/drawing/2014/main" id="{0370EDB7-6994-3D43-ABF9-E04CBAFB9CD9}"/>
              </a:ext>
            </a:extLst>
          </p:cNvPr>
          <p:cNvSpPr txBox="1"/>
          <p:nvPr/>
        </p:nvSpPr>
        <p:spPr>
          <a:xfrm>
            <a:off x="655788" y="1280624"/>
            <a:ext cx="7299491"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rPr>
              <a:t>Reflect on your learning today by completing each sentence. Write your response on each finger.</a:t>
            </a:r>
            <a:endParaRPr lang="en-US" sz="1600" dirty="0">
              <a:latin typeface="Times New Roman" panose="02020603050405020304" pitchFamily="18" charset="0"/>
              <a:ea typeface="Times New Roman" panose="02020603050405020304" pitchFamily="18" charset="0"/>
            </a:endParaRPr>
          </a:p>
        </p:txBody>
      </p:sp>
      <p:pic>
        <p:nvPicPr>
          <p:cNvPr id="3" name="Picture 2" descr="Diagram&#10;&#10;Description automatically generated">
            <a:extLst>
              <a:ext uri="{FF2B5EF4-FFF2-40B4-BE49-F238E27FC236}">
                <a16:creationId xmlns="" xmlns:a16="http://schemas.microsoft.com/office/drawing/2014/main" id="{8BE1D537-1132-7348-96A5-0A3C6519B813}"/>
              </a:ext>
            </a:extLst>
          </p:cNvPr>
          <p:cNvPicPr>
            <a:picLocks noChangeAspect="1"/>
          </p:cNvPicPr>
          <p:nvPr/>
        </p:nvPicPr>
        <p:blipFill>
          <a:blip r:embed="rId4"/>
          <a:stretch>
            <a:fillRect/>
          </a:stretch>
        </p:blipFill>
        <p:spPr>
          <a:xfrm>
            <a:off x="7161201" y="1280624"/>
            <a:ext cx="4156354" cy="4801013"/>
          </a:xfrm>
          <a:prstGeom prst="rect">
            <a:avLst/>
          </a:prstGeom>
        </p:spPr>
      </p:pic>
      <p:sp>
        <p:nvSpPr>
          <p:cNvPr id="10" name="Google Shape;282;g104476d1465_1_17">
            <a:extLst>
              <a:ext uri="{FF2B5EF4-FFF2-40B4-BE49-F238E27FC236}">
                <a16:creationId xmlns="" xmlns:a16="http://schemas.microsoft.com/office/drawing/2014/main" id="{CA4029D3-5F04-CB47-B407-316E756AE41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sp>
        <p:nvSpPr>
          <p:cNvPr id="11"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13.7.5 Wrap-Up: Reflection</a:t>
            </a:r>
          </a:p>
        </p:txBody>
      </p:sp>
      <p:pic>
        <p:nvPicPr>
          <p:cNvPr id="13" name="Google Shape;469;p34"/>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1284</TotalTime>
  <Words>640</Words>
  <Application>Microsoft Macintosh PowerPoint</Application>
  <PresentationFormat>Widescreen</PresentationFormat>
  <Paragraphs>139</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Verdana</vt:lpstr>
      <vt:lpstr>Wingdings</vt:lpstr>
      <vt:lpstr>Arial</vt:lpstr>
      <vt:lpstr>Calibri</vt:lpstr>
      <vt:lpstr>Arial Black</vt:lpstr>
      <vt:lpstr>Century Gothic</vt:lpstr>
      <vt:lpstr>Times New Roman</vt:lpstr>
      <vt:lpstr>Cambria Math</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25</cp:revision>
  <dcterms:created xsi:type="dcterms:W3CDTF">2015-03-17T18:51:18Z</dcterms:created>
  <dcterms:modified xsi:type="dcterms:W3CDTF">2022-07-20T23:19:40Z</dcterms:modified>
</cp:coreProperties>
</file>