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314" r:id="rId8"/>
    <p:sldId id="315" r:id="rId9"/>
    <p:sldId id="288" r:id="rId10"/>
    <p:sldId id="289" r:id="rId11"/>
    <p:sldId id="290" r:id="rId12"/>
    <p:sldId id="342" r:id="rId13"/>
    <p:sldId id="355" r:id="rId14"/>
    <p:sldId id="346" r:id="rId15"/>
    <p:sldId id="356" r:id="rId16"/>
    <p:sldId id="352" r:id="rId17"/>
    <p:sldId id="353" r:id="rId18"/>
    <p:sldId id="354" r:id="rId19"/>
    <p:sldId id="350" r:id="rId20"/>
    <p:sldId id="359" r:id="rId21"/>
    <p:sldId id="358" r:id="rId22"/>
    <p:sldId id="360" r:id="rId23"/>
    <p:sldId id="361" r:id="rId24"/>
    <p:sldId id="302" r:id="rId25"/>
    <p:sldId id="303" r:id="rId26"/>
    <p:sldId id="306" r:id="rId27"/>
    <p:sldId id="307"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4487"/>
    <a:srgbClr val="276C46"/>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665" autoAdjust="0"/>
    <p:restoredTop sz="94840"/>
  </p:normalViewPr>
  <p:slideViewPr>
    <p:cSldViewPr snapToGrid="0">
      <p:cViewPr>
        <p:scale>
          <a:sx n="100" d="100"/>
          <a:sy n="100" d="100"/>
        </p:scale>
        <p:origin x="-520" y="3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55" Type="http://customschemas.google.com/relationships/presentationmetadata" Target="metadata"/><Relationship Id="rId56" Type="http://schemas.openxmlformats.org/officeDocument/2006/relationships/presProps" Target="presProps.xml"/><Relationship Id="rId57" Type="http://schemas.openxmlformats.org/officeDocument/2006/relationships/viewProps" Target="view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9" Type="http://schemas.openxmlformats.org/officeDocument/2006/relationships/slide" Target="slides/slide8.xml"/><Relationship Id="rId7" Type="http://schemas.openxmlformats.org/officeDocument/2006/relationships/slide" Target="slides/slide6.xml"/><Relationship Id="rId8" Type="http://schemas.openxmlformats.org/officeDocument/2006/relationships/slide" Target="slides/slide7.xml"/><Relationship Id="rId58" Type="http://schemas.openxmlformats.org/officeDocument/2006/relationships/theme" Target="theme/theme1.xml"/><Relationship Id="rId59"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4574164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7009819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7101559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0491899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2346223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8010839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837097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2627343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923020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1387152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2572401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332505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0997363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3.jpg"/><Relationship Id="rId6" Type="http://schemas.openxmlformats.org/officeDocument/2006/relationships/hyperlink" Target="https://en.wikipedia.org/wiki/National_Museum_of_Mathematics" TargetMode="External"/><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4.png"/><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3.png"/><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4.tiff"/><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6.png"/><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5.tiff"/><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0.png"/><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1.png"/><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4.png"/><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26.tiff"/><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3.png"/><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4.png"/><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5.png"/><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6.png"/><Relationship Id="rId5" Type="http://schemas.openxmlformats.org/officeDocument/2006/relationships/image" Target="../media/image27.tiff"/><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8.png"/><Relationship Id="rId5" Type="http://schemas.openxmlformats.org/officeDocument/2006/relationships/image" Target="../media/image39.png"/><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40.png"/><Relationship Id="rId5" Type="http://schemas.openxmlformats.org/officeDocument/2006/relationships/image" Target="../media/image41.png"/><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9.png"/><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9.png"/><Relationship Id="rId5" Type="http://schemas.openxmlformats.org/officeDocument/2006/relationships/image" Target="../media/image43.png"/><Relationship Id="rId6" Type="http://schemas.openxmlformats.org/officeDocument/2006/relationships/image" Target="../media/image32.png"/><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7.png"/><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7.png"/><Relationship Id="rId5" Type="http://schemas.openxmlformats.org/officeDocument/2006/relationships/image" Target="../media/image46.png"/><Relationship Id="rId6" Type="http://schemas.openxmlformats.org/officeDocument/2006/relationships/image" Target="../media/image38.tiff"/><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498073" y="2054275"/>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13, Lesson 4</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Solving for Unknown Angles in Triangles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285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7332"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534958" y="1593612"/>
            <a:ext cx="1060829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MA.8.GR.1.5</a:t>
            </a:r>
          </a:p>
          <a:p>
            <a:pPr indent="0">
              <a:buNone/>
            </a:pPr>
            <a:r>
              <a:rPr lang="en-US" sz="35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Solve problems involving the relationships of interior and exterior angles of a triangle.</a:t>
            </a:r>
            <a:r>
              <a:rPr lang="en-US" sz="3500" dirty="0"/>
              <a:t> </a:t>
            </a:r>
            <a:endParaRPr lang="en-US" sz="35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237331" y="0"/>
            <a:ext cx="1066728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730266" y="1601358"/>
            <a:ext cx="1087826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a:extLst>
              <a:ext uri="{FF2B5EF4-FFF2-40B4-BE49-F238E27FC236}">
                <a16:creationId xmlns="" xmlns:a16="http://schemas.microsoft.com/office/drawing/2014/main" id="{25F01A91-DFD9-1243-BEEC-5A13CE333E7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285</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237332"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534957" y="1574725"/>
            <a:ext cx="1080859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71500">
              <a:lnSpc>
                <a:spcPct val="115000"/>
              </a:lnSpc>
              <a:buFont typeface="Wingdings" pitchFamily="2" charset="2"/>
              <a:buChar char="q"/>
            </a:pPr>
            <a:r>
              <a:rPr lang="en-US" sz="3500" dirty="0">
                <a:latin typeface="Verdana" panose="020B0604030504040204" pitchFamily="34" charset="0"/>
                <a:ea typeface="Times New Roman" panose="02020603050405020304" pitchFamily="18" charset="0"/>
                <a:cs typeface="Times New Roman" panose="02020603050405020304" pitchFamily="18" charset="0"/>
              </a:rPr>
              <a:t>I can write and solve algebraic equations to solve mathematical problems involving angle relationships of triangles.</a:t>
            </a:r>
            <a:endParaRPr lang="en-US" sz="35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8" name="Google Shape;282;g104476d1465_1_17">
            <a:extLst>
              <a:ext uri="{FF2B5EF4-FFF2-40B4-BE49-F238E27FC236}">
                <a16:creationId xmlns="" xmlns:a16="http://schemas.microsoft.com/office/drawing/2014/main" id="{E894D2DF-F31D-F949-AF5D-9A81AD93AAC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285</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189721"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 xmlns:a16="http://schemas.microsoft.com/office/drawing/2014/main" id="{78890B36-A523-6C4C-B099-4C4D9CE224C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285</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55088" y="0"/>
            <a:ext cx="1034506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13.4.1 Warm-Up: Riding on </a:t>
            </a:r>
            <a:r>
              <a:rPr lang="en-US" sz="3600" b="1" dirty="0" smtClean="0">
                <a:solidFill>
                  <a:srgbClr val="3F2A67"/>
                </a:solidFill>
                <a:latin typeface="Verdana"/>
                <a:ea typeface="Verdana"/>
                <a:cs typeface="Verdana"/>
                <a:sym typeface="Verdana"/>
              </a:rPr>
              <a:t/>
            </a:r>
            <a:br>
              <a:rPr lang="en-US" sz="3600" b="1" dirty="0" smtClean="0">
                <a:solidFill>
                  <a:srgbClr val="3F2A67"/>
                </a:solidFill>
                <a:latin typeface="Verdana"/>
                <a:ea typeface="Verdana"/>
                <a:cs typeface="Verdana"/>
                <a:sym typeface="Verdana"/>
              </a:rPr>
            </a:br>
            <a:r>
              <a:rPr lang="en-US" sz="3600" b="1" dirty="0" smtClean="0">
                <a:solidFill>
                  <a:srgbClr val="3F2A67"/>
                </a:solidFill>
                <a:latin typeface="Verdana"/>
                <a:ea typeface="Verdana"/>
                <a:cs typeface="Verdana"/>
                <a:sym typeface="Verdana"/>
              </a:rPr>
              <a:t>Square </a:t>
            </a:r>
            <a:r>
              <a:rPr lang="en-US" sz="3600" b="1" dirty="0">
                <a:solidFill>
                  <a:srgbClr val="3F2A67"/>
                </a:solidFill>
                <a:latin typeface="Verdana"/>
                <a:ea typeface="Verdana"/>
                <a:cs typeface="Verdana"/>
                <a:sym typeface="Verdana"/>
              </a:rPr>
              <a:t>Wheels</a:t>
            </a: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4">
            <a:alphaModFix/>
          </a:blip>
          <a:stretch>
            <a:fillRect/>
          </a:stretch>
        </p:blipFill>
        <p:spPr>
          <a:xfrm>
            <a:off x="436515" y="289200"/>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 xmlns:a16="http://schemas.microsoft.com/office/drawing/2014/main" id="{E1D7562E-134F-D14B-AF1A-DF40E11EF758}"/>
              </a:ext>
            </a:extLst>
          </p:cNvPr>
          <p:cNvSpPr txBox="1"/>
          <p:nvPr/>
        </p:nvSpPr>
        <p:spPr>
          <a:xfrm>
            <a:off x="532942" y="1372235"/>
            <a:ext cx="11087265" cy="3816429"/>
          </a:xfrm>
          <a:prstGeom prst="rect">
            <a:avLst/>
          </a:prstGeom>
          <a:noFill/>
        </p:spPr>
        <p:txBody>
          <a:bodyPr wrap="square" rtlCol="0">
            <a:spAutoFit/>
          </a:bodyPr>
          <a:lstStyle/>
          <a:p>
            <a:r>
              <a:rPr lang="en-US" sz="2200" dirty="0">
                <a:latin typeface="Verdana" panose="020B0604030504040204" pitchFamily="34" charset="0"/>
                <a:ea typeface="Times New Roman" panose="02020603050405020304" pitchFamily="18" charset="0"/>
                <a:cs typeface="Times New Roman" panose="02020603050405020304" pitchFamily="18" charset="0"/>
              </a:rPr>
              <a:t>The National Museum of Mathematics has an exhibition called the Square-Wheel Trike. The exhibition is pictured below with two children riding on the square-wheeled tricycles. The exhibit’s description says, “Take a smooth ride on square wheels.”</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Describe any angles or </a:t>
            </a:r>
            <a:r>
              <a:rPr lang="en-US" sz="2200" dirty="0" smtClean="0">
                <a:latin typeface="Verdana" panose="020B0604030504040204" pitchFamily="34" charset="0"/>
                <a:ea typeface="Verdana" panose="020B0604030504040204" pitchFamily="34" charset="0"/>
                <a:cs typeface="Verdana" panose="020B0604030504040204" pitchFamily="34" charset="0"/>
              </a:rPr>
              <a:t>shapes </a:t>
            </a:r>
            <a:br>
              <a:rPr lang="en-US" sz="2200" dirty="0" smtClean="0">
                <a:latin typeface="Verdana" panose="020B0604030504040204" pitchFamily="34" charset="0"/>
                <a:ea typeface="Verdana" panose="020B0604030504040204" pitchFamily="34" charset="0"/>
                <a:cs typeface="Verdana" panose="020B0604030504040204" pitchFamily="34" charset="0"/>
              </a:rPr>
            </a:br>
            <a:r>
              <a:rPr lang="en-US" sz="2200" dirty="0" smtClean="0">
                <a:latin typeface="Verdana" panose="020B0604030504040204" pitchFamily="34" charset="0"/>
                <a:ea typeface="Verdana" panose="020B0604030504040204" pitchFamily="34" charset="0"/>
                <a:cs typeface="Verdana" panose="020B0604030504040204" pitchFamily="34" charset="0"/>
              </a:rPr>
              <a:t>observed </a:t>
            </a:r>
            <a:r>
              <a:rPr lang="en-US" sz="2200" dirty="0">
                <a:latin typeface="Verdana" panose="020B0604030504040204" pitchFamily="34" charset="0"/>
                <a:ea typeface="Verdana" panose="020B0604030504040204" pitchFamily="34" charset="0"/>
                <a:cs typeface="Verdana" panose="020B0604030504040204" pitchFamily="34" charset="0"/>
              </a:rPr>
              <a:t>in the </a:t>
            </a:r>
            <a:r>
              <a:rPr lang="en-US" sz="2200" dirty="0" smtClean="0">
                <a:latin typeface="Verdana" panose="020B0604030504040204" pitchFamily="34" charset="0"/>
                <a:ea typeface="Verdana" panose="020B0604030504040204" pitchFamily="34" charset="0"/>
                <a:cs typeface="Verdana" panose="020B0604030504040204" pitchFamily="34" charset="0"/>
              </a:rPr>
              <a:t>exhibition</a:t>
            </a:r>
            <a:r>
              <a:rPr lang="en-US" sz="22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Why do you think it’s </a:t>
            </a:r>
            <a:r>
              <a:rPr lang="en-US" sz="2200" dirty="0" smtClean="0">
                <a:latin typeface="Verdana" panose="020B0604030504040204" pitchFamily="34" charset="0"/>
                <a:ea typeface="Verdana" panose="020B0604030504040204" pitchFamily="34" charset="0"/>
                <a:cs typeface="Verdana" panose="020B0604030504040204" pitchFamily="34" charset="0"/>
              </a:rPr>
              <a:t>possible </a:t>
            </a:r>
            <a:br>
              <a:rPr lang="en-US" sz="2200" dirty="0" smtClean="0">
                <a:latin typeface="Verdana" panose="020B0604030504040204" pitchFamily="34" charset="0"/>
                <a:ea typeface="Verdana" panose="020B0604030504040204" pitchFamily="34" charset="0"/>
                <a:cs typeface="Verdana" panose="020B0604030504040204" pitchFamily="34" charset="0"/>
              </a:rPr>
            </a:br>
            <a:r>
              <a:rPr lang="en-US" sz="2200" dirty="0" smtClean="0">
                <a:latin typeface="Verdana" panose="020B0604030504040204" pitchFamily="34" charset="0"/>
                <a:ea typeface="Verdana" panose="020B0604030504040204" pitchFamily="34" charset="0"/>
                <a:cs typeface="Verdana" panose="020B0604030504040204" pitchFamily="34" charset="0"/>
              </a:rPr>
              <a:t>for </a:t>
            </a:r>
            <a:r>
              <a:rPr lang="en-US" sz="2200" dirty="0">
                <a:latin typeface="Verdana" panose="020B0604030504040204" pitchFamily="34" charset="0"/>
                <a:ea typeface="Verdana" panose="020B0604030504040204" pitchFamily="34" charset="0"/>
                <a:cs typeface="Verdana" panose="020B0604030504040204" pitchFamily="34" charset="0"/>
              </a:rPr>
              <a:t>the ride to </a:t>
            </a:r>
            <a:r>
              <a:rPr lang="en-US" sz="2200" dirty="0" smtClean="0">
                <a:latin typeface="Verdana" panose="020B0604030504040204" pitchFamily="34" charset="0"/>
                <a:ea typeface="Verdana" panose="020B0604030504040204" pitchFamily="34" charset="0"/>
                <a:cs typeface="Verdana" panose="020B0604030504040204" pitchFamily="34" charset="0"/>
              </a:rPr>
              <a:t>be </a:t>
            </a:r>
            <a:r>
              <a:rPr lang="en-US" sz="2200" dirty="0">
                <a:latin typeface="Verdana" panose="020B0604030504040204" pitchFamily="34" charset="0"/>
                <a:ea typeface="Verdana" panose="020B0604030504040204" pitchFamily="34" charset="0"/>
                <a:cs typeface="Verdana" panose="020B0604030504040204" pitchFamily="34" charset="0"/>
              </a:rPr>
              <a:t>smooth on </a:t>
            </a:r>
            <a:r>
              <a:rPr lang="en-US" sz="2200" dirty="0" smtClean="0">
                <a:latin typeface="Verdana" panose="020B0604030504040204" pitchFamily="34" charset="0"/>
                <a:ea typeface="Verdana" panose="020B0604030504040204" pitchFamily="34" charset="0"/>
                <a:cs typeface="Verdana" panose="020B0604030504040204" pitchFamily="34" charset="0"/>
              </a:rPr>
              <a:t/>
            </a:r>
            <a:br>
              <a:rPr lang="en-US" sz="2200" dirty="0" smtClean="0">
                <a:latin typeface="Verdana" panose="020B0604030504040204" pitchFamily="34" charset="0"/>
                <a:ea typeface="Verdana" panose="020B0604030504040204" pitchFamily="34" charset="0"/>
                <a:cs typeface="Verdana" panose="020B0604030504040204" pitchFamily="34" charset="0"/>
              </a:rPr>
            </a:br>
            <a:r>
              <a:rPr lang="en-US" sz="2200" dirty="0" smtClean="0">
                <a:latin typeface="Verdana" panose="020B0604030504040204" pitchFamily="34" charset="0"/>
                <a:ea typeface="Verdana" panose="020B0604030504040204" pitchFamily="34" charset="0"/>
                <a:cs typeface="Verdana" panose="020B0604030504040204" pitchFamily="34" charset="0"/>
              </a:rPr>
              <a:t>square wheels</a:t>
            </a:r>
            <a:r>
              <a:rPr lang="en-US" sz="2200" dirty="0">
                <a:latin typeface="Verdana" panose="020B0604030504040204" pitchFamily="34" charset="0"/>
                <a:ea typeface="Verdana" panose="020B0604030504040204" pitchFamily="34" charset="0"/>
                <a:cs typeface="Verdana" panose="020B0604030504040204" pitchFamily="34" charset="0"/>
              </a:rPr>
              <a:t>? </a:t>
            </a:r>
          </a:p>
        </p:txBody>
      </p:sp>
      <p:pic>
        <p:nvPicPr>
          <p:cNvPr id="9" name="Picture 8" descr="National Museum of Mathematics - Wikipedia">
            <a:extLst>
              <a:ext uri="{FF2B5EF4-FFF2-40B4-BE49-F238E27FC236}">
                <a16:creationId xmlns="" xmlns:a16="http://schemas.microsoft.com/office/drawing/2014/main" id="{4F6D13CE-D6E3-974B-AF5F-69EB9277477E}"/>
              </a:ext>
            </a:extLst>
          </p:cNvPr>
          <p:cNvPicPr/>
          <p:nvPr/>
        </p:nvPicPr>
        <p:blipFill>
          <a:blip r:embed="rId5">
            <a:extLst>
              <a:ext uri="{28A0092B-C50C-407E-A947-70E740481C1C}">
                <a14:useLocalDpi xmlns:a14="http://schemas.microsoft.com/office/drawing/2010/main"/>
              </a:ext>
              <a:ext uri="{837473B0-CC2E-450A-ABE3-18F120FF3D39}">
                <a1611:picAttrSrcUrl xmlns="" xmlns:a1611="http://schemas.microsoft.com/office/drawing/2016/11/main" r:id="rId6"/>
              </a:ext>
            </a:extLst>
          </a:blip>
          <a:stretch>
            <a:fillRect/>
          </a:stretch>
        </p:blipFill>
        <p:spPr>
          <a:xfrm>
            <a:off x="7639832" y="3013255"/>
            <a:ext cx="3891280" cy="2908300"/>
          </a:xfrm>
          <a:prstGeom prst="rect">
            <a:avLst/>
          </a:prstGeom>
        </p:spPr>
      </p:pic>
      <p:sp>
        <p:nvSpPr>
          <p:cNvPr id="10" name="Google Shape;282;g104476d1465_1_17">
            <a:extLst>
              <a:ext uri="{FF2B5EF4-FFF2-40B4-BE49-F238E27FC236}">
                <a16:creationId xmlns="" xmlns:a16="http://schemas.microsoft.com/office/drawing/2014/main" id="{299EF438-39AE-834E-89D1-1F58B4B88851}"/>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285</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15430" y="2766150"/>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 xmlns:a16="http://schemas.microsoft.com/office/drawing/2014/main" id="{BEE207D0-8215-DD45-BF2F-359F594FBA41}"/>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286</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53574" y="0"/>
            <a:ext cx="1006388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13.4.2 Collaboration: </a:t>
            </a:r>
            <a:r>
              <a:rPr lang="en-US" sz="3600" b="1">
                <a:solidFill>
                  <a:srgbClr val="33BEA6"/>
                </a:solidFill>
                <a:latin typeface="Verdana"/>
                <a:ea typeface="Verdana"/>
                <a:cs typeface="Verdana"/>
                <a:sym typeface="Verdana"/>
              </a:rPr>
              <a:t>Find </a:t>
            </a:r>
            <a:r>
              <a:rPr lang="en-US" sz="3600" b="1" smtClean="0">
                <a:solidFill>
                  <a:srgbClr val="33BEA6"/>
                </a:solidFill>
                <a:latin typeface="Verdana"/>
                <a:ea typeface="Verdana"/>
                <a:cs typeface="Verdana"/>
                <a:sym typeface="Verdana"/>
              </a:rPr>
              <a:t>That </a:t>
            </a:r>
            <a:r>
              <a:rPr lang="en-US" sz="3600" b="1" dirty="0">
                <a:solidFill>
                  <a:srgbClr val="33BEA6"/>
                </a:solidFill>
                <a:latin typeface="Verdana"/>
                <a:ea typeface="Verdana"/>
                <a:cs typeface="Verdana"/>
                <a:sym typeface="Verdana"/>
              </a:rPr>
              <a:t>Angle</a:t>
            </a:r>
          </a:p>
        </p:txBody>
      </p:sp>
      <p:pic>
        <p:nvPicPr>
          <p:cNvPr id="9" name="Picture 2">
            <a:extLst>
              <a:ext uri="{FF2B5EF4-FFF2-40B4-BE49-F238E27FC236}">
                <a16:creationId xmlns=""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36515" y="28669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E44DF7DE-9172-3E4E-B74A-7A51585FB6EA}"/>
              </a:ext>
            </a:extLst>
          </p:cNvPr>
          <p:cNvSpPr txBox="1"/>
          <p:nvPr/>
        </p:nvSpPr>
        <p:spPr>
          <a:xfrm>
            <a:off x="536210" y="1469253"/>
            <a:ext cx="10894423"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Arial" panose="020B0604020202020204" pitchFamily="34" charset="0"/>
              </a:rPr>
              <a:t>Use</a:t>
            </a:r>
            <a:r>
              <a:rPr lang="en-US" sz="2400" dirty="0">
                <a:latin typeface="Verdana" panose="020B0604030504040204" pitchFamily="34" charset="0"/>
                <a:ea typeface="Times New Roman" panose="02020603050405020304" pitchFamily="18" charset="0"/>
                <a:cs typeface="Times New Roman" panose="02020603050405020304" pitchFamily="18" charset="0"/>
              </a:rPr>
              <a:t> the words and angle measures from the bank to complete the table below.</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Rounded Rectangle 10">
                <a:extLst>
                  <a:ext uri="{FF2B5EF4-FFF2-40B4-BE49-F238E27FC236}">
                    <a16:creationId xmlns="" xmlns:a16="http://schemas.microsoft.com/office/drawing/2014/main" id="{0189E281-2810-8743-9B46-6E99B287C668}"/>
                  </a:ext>
                </a:extLst>
              </p:cNvPr>
              <p:cNvSpPr/>
              <p:nvPr/>
            </p:nvSpPr>
            <p:spPr>
              <a:xfrm>
                <a:off x="2281388" y="2552331"/>
                <a:ext cx="7794684" cy="1191620"/>
              </a:xfrm>
              <a:prstGeom prst="roundRect">
                <a:avLst>
                  <a:gd name="adj" fmla="val 16667"/>
                </a:avLst>
              </a:prstGeom>
              <a:ln w="19050">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91425" tIns="45700" rIns="91425" bIns="45700" anchor="ctr" anchorCtr="0">
                <a:noAutofit/>
              </a:bodyPr>
              <a:lstStyle/>
              <a:p>
                <a:pPr algn="ctr">
                  <a:spcAft>
                    <a:spcPts val="1000"/>
                  </a:spcAft>
                </a:pPr>
                <a:r>
                  <a:rPr lang="en-US" sz="2200" dirty="0">
                    <a:latin typeface="Verdana" panose="020B0604030504040204" pitchFamily="34" charset="0"/>
                    <a:ea typeface="Verdana" panose="020B0604030504040204" pitchFamily="34" charset="0"/>
                    <a:cs typeface="Verdana" panose="020B0604030504040204" pitchFamily="34" charset="0"/>
                  </a:rPr>
                  <a:t>adjacent        common        complementary        </a:t>
                </a:r>
                <a14:m>
                  <m:oMath xmlns:m="http://schemas.openxmlformats.org/officeDocument/2006/math">
                    <m:r>
                      <a:rPr lang="en-US" sz="2200" i="1">
                        <a:latin typeface="Cambria Math" panose="02040503050406030204" pitchFamily="18" charset="0"/>
                        <a:ea typeface="Times New Roman" panose="02020603050405020304" pitchFamily="18" charset="0"/>
                        <a:cs typeface="Times New Roman" panose="02020603050405020304" pitchFamily="18" charset="0"/>
                      </a:rPr>
                      <m:t>90°</m:t>
                    </m:r>
                  </m:oMath>
                </a14:m>
                <a:endParaRPr lang="en-US" sz="2200" dirty="0">
                  <a:latin typeface="Verdana" panose="020B0604030504040204" pitchFamily="34" charset="0"/>
                  <a:ea typeface="Verdana" panose="020B0604030504040204" pitchFamily="34" charset="0"/>
                  <a:cs typeface="Verdana" panose="020B0604030504040204" pitchFamily="34" charset="0"/>
                </a:endParaRPr>
              </a:p>
              <a:p>
                <a:pPr algn="ctr">
                  <a:spcAft>
                    <a:spcPts val="1000"/>
                  </a:spcAft>
                </a:pPr>
                <a:r>
                  <a:rPr lang="en-US" sz="2200" dirty="0">
                    <a:latin typeface="Verdana" panose="020B0604030504040204" pitchFamily="34" charset="0"/>
                    <a:ea typeface="Verdana" panose="020B0604030504040204" pitchFamily="34" charset="0"/>
                    <a:cs typeface="Verdana" panose="020B0604030504040204" pitchFamily="34" charset="0"/>
                  </a:rPr>
                  <a:t>equal        supplementary       vertical       </a:t>
                </a:r>
                <a14:m>
                  <m:oMath xmlns:m="http://schemas.openxmlformats.org/officeDocument/2006/math">
                    <m:r>
                      <a:rPr lang="en-US" sz="2200" i="1">
                        <a:latin typeface="Cambria Math" panose="02040503050406030204" pitchFamily="18" charset="0"/>
                        <a:ea typeface="Times New Roman" panose="02020603050405020304" pitchFamily="18" charset="0"/>
                        <a:cs typeface="Times New Roman" panose="02020603050405020304" pitchFamily="18" charset="0"/>
                      </a:rPr>
                      <m:t>180°</m:t>
                    </m:r>
                  </m:oMath>
                </a14:m>
                <a:endParaRPr lang="en-US" sz="22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1" name="Rounded Rectangle 10">
                <a:extLst>
                  <a:ext uri="{FF2B5EF4-FFF2-40B4-BE49-F238E27FC236}">
                    <a16:creationId xmlns:a16="http://schemas.microsoft.com/office/drawing/2014/main" xmlns:a14="http://schemas.microsoft.com/office/drawing/2010/main" xmlns="" id="{0189E281-2810-8743-9B46-6E99B287C668}"/>
                  </a:ext>
                </a:extLst>
              </p:cNvPr>
              <p:cNvSpPr>
                <a:spLocks noRot="1" noChangeAspect="1" noMove="1" noResize="1" noEditPoints="1" noAdjustHandles="1" noChangeArrowheads="1" noChangeShapeType="1" noTextEdit="1"/>
              </p:cNvSpPr>
              <p:nvPr/>
            </p:nvSpPr>
            <p:spPr>
              <a:xfrm>
                <a:off x="2281388" y="2552331"/>
                <a:ext cx="7794684" cy="1191620"/>
              </a:xfrm>
              <a:prstGeom prst="roundRect">
                <a:avLst>
                  <a:gd name="adj" fmla="val 16667"/>
                </a:avLst>
              </a:prstGeom>
              <a:blipFill rotWithShape="1">
                <a:blip r:embed="rId5"/>
                <a:stretch>
                  <a:fillRect/>
                </a:stretch>
              </a:blipFill>
              <a:ln w="19050">
                <a:headEnd type="none" w="sm" len="sm"/>
                <a:tailEnd type="none" w="sm" len="sm"/>
              </a:ln>
            </p:spPr>
            <p:txBody>
              <a:bodyPr/>
              <a:lstStyle/>
              <a:p>
                <a:r>
                  <a:rPr lang="en-PH">
                    <a:noFill/>
                  </a:rPr>
                  <a:t> </a:t>
                </a:r>
              </a:p>
            </p:txBody>
          </p:sp>
        </mc:Fallback>
      </mc:AlternateContent>
      <p:pic>
        <p:nvPicPr>
          <p:cNvPr id="12" name="Picture 11" descr="A picture containing diagram&#10;&#10;Description automatically generated">
            <a:extLst>
              <a:ext uri="{FF2B5EF4-FFF2-40B4-BE49-F238E27FC236}">
                <a16:creationId xmlns="" xmlns:a16="http://schemas.microsoft.com/office/drawing/2014/main" id="{A81DD126-A129-1241-9036-FCB4260D651B}"/>
              </a:ext>
            </a:extLst>
          </p:cNvPr>
          <p:cNvPicPr/>
          <p:nvPr/>
        </p:nvPicPr>
        <p:blipFill rotWithShape="1">
          <a:blip r:embed="rId6" cstate="screen">
            <a:extLst>
              <a:ext uri="{28A0092B-C50C-407E-A947-70E740481C1C}">
                <a14:useLocalDpi xmlns:a14="http://schemas.microsoft.com/office/drawing/2010/main"/>
              </a:ext>
            </a:extLst>
          </a:blip>
          <a:srcRect/>
          <a:stretch/>
        </p:blipFill>
        <p:spPr bwMode="auto">
          <a:xfrm>
            <a:off x="2183892" y="4647052"/>
            <a:ext cx="2286000" cy="1461770"/>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8CF10729-7E65-B74C-BB86-8617EDD8DAC3}"/>
                  </a:ext>
                </a:extLst>
              </p:cNvPr>
              <p:cNvGraphicFramePr>
                <a:graphicFrameLocks noGrp="1"/>
              </p:cNvGraphicFramePr>
              <p:nvPr>
                <p:extLst>
                  <p:ext uri="{D42A27DB-BD31-4B8C-83A1-F6EECF244321}">
                    <p14:modId xmlns:p14="http://schemas.microsoft.com/office/powerpoint/2010/main" val="3188779621"/>
                  </p:ext>
                </p:extLst>
              </p:nvPr>
            </p:nvGraphicFramePr>
            <p:xfrm>
              <a:off x="2091424" y="4059087"/>
              <a:ext cx="8174612" cy="2296800"/>
            </p:xfrm>
            <a:graphic>
              <a:graphicData uri="http://schemas.openxmlformats.org/drawingml/2006/table">
                <a:tbl>
                  <a:tblPr firstRow="1" firstCol="1" bandRow="1"/>
                  <a:tblGrid>
                    <a:gridCol w="2520000">
                      <a:extLst>
                        <a:ext uri="{9D8B030D-6E8A-4147-A177-3AD203B41FA5}">
                          <a16:colId xmlns="" xmlns:a16="http://schemas.microsoft.com/office/drawing/2014/main" val="3246955967"/>
                        </a:ext>
                      </a:extLst>
                    </a:gridCol>
                    <a:gridCol w="3134612">
                      <a:extLst>
                        <a:ext uri="{9D8B030D-6E8A-4147-A177-3AD203B41FA5}">
                          <a16:colId xmlns="" xmlns:a16="http://schemas.microsoft.com/office/drawing/2014/main" val="1477911042"/>
                        </a:ext>
                      </a:extLst>
                    </a:gridCol>
                    <a:gridCol w="2520000">
                      <a:extLst>
                        <a:ext uri="{9D8B030D-6E8A-4147-A177-3AD203B41FA5}">
                          <a16:colId xmlns="" xmlns:a16="http://schemas.microsoft.com/office/drawing/2014/main" val="640207363"/>
                        </a:ext>
                      </a:extLst>
                    </a:gridCol>
                  </a:tblGrid>
                  <a:tr h="468000">
                    <a:tc>
                      <a:txBody>
                        <a:bodyPr/>
                        <a:lstStyle/>
                        <a:p>
                          <a:pPr marL="0" marR="0" algn="ctr">
                            <a:lnSpc>
                              <a:spcPct val="115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Image</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22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Angle Relationship</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22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Description</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1319577678"/>
                      </a:ext>
                    </a:extLst>
                  </a:tr>
                  <a:tr h="1828800">
                    <a:tc>
                      <a:txBody>
                        <a:bodyPr/>
                        <a:lstStyle/>
                        <a:p>
                          <a:pPr marL="0" marR="0" algn="ctr">
                            <a:lnSpc>
                              <a:spcPct val="115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r>
                            <a:rPr lang="en-US" sz="2200" dirty="0" smtClean="0">
                              <a:effectLst/>
                              <a:latin typeface="Verdana" panose="020B0604030504040204" pitchFamily="34" charset="0"/>
                              <a:ea typeface="Verdana" panose="020B0604030504040204" pitchFamily="34" charset="0"/>
                              <a:cs typeface="Verdana" panose="020B0604030504040204" pitchFamily="34" charset="0"/>
                            </a:rPr>
                            <a:t>.</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______________ angles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14:m>
                            <m:oMath xmlns:m="http://schemas.openxmlformats.org/officeDocument/2006/math">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2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200" dirty="0">
                              <a:effectLst/>
                              <a:latin typeface="Verdana" panose="020B0604030504040204" pitchFamily="34" charset="0"/>
                              <a:ea typeface="Verdana" panose="020B0604030504040204" pitchFamily="34" charset="0"/>
                              <a:cs typeface="Verdana" panose="020B0604030504040204" pitchFamily="34" charset="0"/>
                            </a:rPr>
                            <a:t> have </a:t>
                          </a:r>
                          <a:r>
                            <a:rPr lang="en-US" sz="2200" dirty="0" smtClean="0">
                              <a:effectLst/>
                              <a:latin typeface="Verdana" panose="020B0604030504040204" pitchFamily="34" charset="0"/>
                              <a:ea typeface="Verdana" panose="020B0604030504040204" pitchFamily="34" charset="0"/>
                              <a:cs typeface="Verdana" panose="020B0604030504040204" pitchFamily="34" charset="0"/>
                            </a:rPr>
                            <a:t>___________ measures</a:t>
                          </a:r>
                          <a:r>
                            <a:rPr lang="en-US" sz="2200"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364855698"/>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8CF10729-7E65-B74C-BB86-8617EDD8DAC3}"/>
                  </a:ext>
                </a:extLst>
              </p:cNvPr>
              <p:cNvGraphicFramePr>
                <a:graphicFrameLocks noGrp="1"/>
              </p:cNvGraphicFramePr>
              <p:nvPr>
                <p:extLst>
                  <p:ext uri="{D42A27DB-BD31-4B8C-83A1-F6EECF244321}">
                    <p14:modId xmlns:p14="http://schemas.microsoft.com/office/powerpoint/2010/main" val="3188779621"/>
                  </p:ext>
                </p:extLst>
              </p:nvPr>
            </p:nvGraphicFramePr>
            <p:xfrm>
              <a:off x="2091424" y="4059087"/>
              <a:ext cx="8174612" cy="2296800"/>
            </p:xfrm>
            <a:graphic>
              <a:graphicData uri="http://schemas.openxmlformats.org/drawingml/2006/table">
                <a:tbl>
                  <a:tblPr firstRow="1" firstCol="1" bandRow="1"/>
                  <a:tblGrid>
                    <a:gridCol w="2520000">
                      <a:extLst>
                        <a:ext uri="{9D8B030D-6E8A-4147-A177-3AD203B41FA5}">
                          <a16:colId xmlns:a16="http://schemas.microsoft.com/office/drawing/2014/main" xmlns:a14="http://schemas.microsoft.com/office/drawing/2010/main" xmlns="" val="3246955967"/>
                        </a:ext>
                      </a:extLst>
                    </a:gridCol>
                    <a:gridCol w="3134612">
                      <a:extLst>
                        <a:ext uri="{9D8B030D-6E8A-4147-A177-3AD203B41FA5}">
                          <a16:colId xmlns:a16="http://schemas.microsoft.com/office/drawing/2014/main" xmlns:a14="http://schemas.microsoft.com/office/drawing/2010/main" xmlns="" val="1477911042"/>
                        </a:ext>
                      </a:extLst>
                    </a:gridCol>
                    <a:gridCol w="2520000">
                      <a:extLst>
                        <a:ext uri="{9D8B030D-6E8A-4147-A177-3AD203B41FA5}">
                          <a16:colId xmlns:a16="http://schemas.microsoft.com/office/drawing/2014/main" xmlns:a14="http://schemas.microsoft.com/office/drawing/2010/main" xmlns="" val="640207363"/>
                        </a:ext>
                      </a:extLst>
                    </a:gridCol>
                  </a:tblGrid>
                  <a:tr h="468000">
                    <a:tc>
                      <a:txBody>
                        <a:bodyPr/>
                        <a:lstStyle/>
                        <a:p>
                          <a:pPr marL="0" marR="0" algn="ctr">
                            <a:lnSpc>
                              <a:spcPct val="115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Image</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22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Angle Relationship</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22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Description</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319577678"/>
                      </a:ext>
                    </a:extLst>
                  </a:tr>
                  <a:tr h="1828800">
                    <a:tc>
                      <a:txBody>
                        <a:bodyPr/>
                        <a:lstStyle/>
                        <a:p>
                          <a:pPr marL="0" marR="0" algn="ctr">
                            <a:lnSpc>
                              <a:spcPct val="115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r>
                            <a:rPr lang="en-US" sz="2200" dirty="0" smtClean="0">
                              <a:effectLst/>
                              <a:latin typeface="Verdana" panose="020B0604030504040204" pitchFamily="34" charset="0"/>
                              <a:ea typeface="Verdana" panose="020B0604030504040204" pitchFamily="34" charset="0"/>
                              <a:cs typeface="Verdana" panose="020B0604030504040204" pitchFamily="34" charset="0"/>
                            </a:rPr>
                            <a:t>.</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______________ angles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7"/>
                          <a:stretch>
                            <a:fillRect l="-224697" t="-26333" r="-242"/>
                          </a:stretch>
                        </a:blipFill>
                      </a:tcPr>
                    </a:tc>
                    <a:extLst>
                      <a:ext uri="{0D108BD9-81ED-4DB2-BD59-A6C34878D82A}">
                        <a16:rowId xmlns:a16="http://schemas.microsoft.com/office/drawing/2014/main" xmlns:a14="http://schemas.microsoft.com/office/drawing/2010/main" xmlns="" val="2364855698"/>
                      </a:ext>
                    </a:extLst>
                  </a:tr>
                </a:tbl>
              </a:graphicData>
            </a:graphic>
          </p:graphicFrame>
        </mc:Fallback>
      </mc:AlternateContent>
      <p:sp>
        <p:nvSpPr>
          <p:cNvPr id="13" name="Google Shape;282;g104476d1465_1_17">
            <a:extLst>
              <a:ext uri="{FF2B5EF4-FFF2-40B4-BE49-F238E27FC236}">
                <a16:creationId xmlns="" xmlns:a16="http://schemas.microsoft.com/office/drawing/2014/main" id="{AB594951-8041-0643-B8D2-E0CCE444338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286</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F56CA0B6-F0EC-2C43-B6AD-03D9145CF710}"/>
                  </a:ext>
                </a:extLst>
              </p:cNvPr>
              <p:cNvGraphicFramePr>
                <a:graphicFrameLocks noGrp="1"/>
              </p:cNvGraphicFramePr>
              <p:nvPr>
                <p:extLst>
                  <p:ext uri="{D42A27DB-BD31-4B8C-83A1-F6EECF244321}">
                    <p14:modId xmlns:p14="http://schemas.microsoft.com/office/powerpoint/2010/main" val="4234289915"/>
                  </p:ext>
                </p:extLst>
              </p:nvPr>
            </p:nvGraphicFramePr>
            <p:xfrm>
              <a:off x="2093831" y="384129"/>
              <a:ext cx="8595992" cy="5868000"/>
            </p:xfrm>
            <a:graphic>
              <a:graphicData uri="http://schemas.openxmlformats.org/drawingml/2006/table">
                <a:tbl>
                  <a:tblPr firstRow="1" firstCol="1" bandRow="1"/>
                  <a:tblGrid>
                    <a:gridCol w="2940392">
                      <a:extLst>
                        <a:ext uri="{9D8B030D-6E8A-4147-A177-3AD203B41FA5}">
                          <a16:colId xmlns="" xmlns:a16="http://schemas.microsoft.com/office/drawing/2014/main" val="306144661"/>
                        </a:ext>
                      </a:extLst>
                    </a:gridCol>
                    <a:gridCol w="3135600">
                      <a:extLst>
                        <a:ext uri="{9D8B030D-6E8A-4147-A177-3AD203B41FA5}">
                          <a16:colId xmlns="" xmlns:a16="http://schemas.microsoft.com/office/drawing/2014/main" val="52564927"/>
                        </a:ext>
                      </a:extLst>
                    </a:gridCol>
                    <a:gridCol w="2520000">
                      <a:extLst>
                        <a:ext uri="{9D8B030D-6E8A-4147-A177-3AD203B41FA5}">
                          <a16:colId xmlns="" xmlns:a16="http://schemas.microsoft.com/office/drawing/2014/main" val="884152709"/>
                        </a:ext>
                      </a:extLst>
                    </a:gridCol>
                  </a:tblGrid>
                  <a:tr h="468000">
                    <a:tc>
                      <a:txBody>
                        <a:bodyPr/>
                        <a:lstStyle/>
                        <a:p>
                          <a:pPr marL="0" marR="0" algn="ctr">
                            <a:lnSpc>
                              <a:spcPct val="115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Image</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2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Angle Relationship</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2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Description</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r>
                  <a:tr h="1800000">
                    <a:tc>
                      <a:txBody>
                        <a:bodyPr/>
                        <a:lstStyle/>
                        <a:p>
                          <a:pPr marL="0" marR="0" algn="ctr">
                            <a:lnSpc>
                              <a:spcPct val="115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___________</a:t>
                          </a:r>
                        </a:p>
                        <a:p>
                          <a:pPr marL="0" marR="0" algn="ctr">
                            <a:lnSpc>
                              <a:spcPct val="115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angles</a:t>
                          </a:r>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14:m>
                            <m:oMath xmlns:m="http://schemas.openxmlformats.org/officeDocument/2006/math">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2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200" dirty="0">
                              <a:effectLst/>
                              <a:latin typeface="Verdana" panose="020B0604030504040204" pitchFamily="34" charset="0"/>
                              <a:ea typeface="Verdana" panose="020B0604030504040204" pitchFamily="34" charset="0"/>
                              <a:cs typeface="Verdana" panose="020B0604030504040204" pitchFamily="34" charset="0"/>
                            </a:rPr>
                            <a:t> sum to _______.</a:t>
                          </a:r>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023223191"/>
                      </a:ext>
                    </a:extLst>
                  </a:tr>
                  <a:tr h="1800000">
                    <a:tc>
                      <a:txBody>
                        <a:bodyPr/>
                        <a:lstStyle/>
                        <a:p>
                          <a:pPr marL="0" marR="0" algn="ctr">
                            <a:lnSpc>
                              <a:spcPct val="115000"/>
                            </a:lnSpc>
                            <a:spcBef>
                              <a:spcPts val="0"/>
                            </a:spcBef>
                            <a:spcAft>
                              <a:spcPts val="0"/>
                            </a:spcAft>
                          </a:pPr>
                          <a:r>
                            <a:rPr lang="en-US" sz="2200">
                              <a:effectLst/>
                              <a:latin typeface="Verdana" panose="020B0604030504040204" pitchFamily="34" charset="0"/>
                              <a:ea typeface="Verdana" panose="020B0604030504040204" pitchFamily="34" charset="0"/>
                              <a:cs typeface="Verdana" panose="020B0604030504040204" pitchFamily="34" charset="0"/>
                            </a:rPr>
                            <a:t> </a:t>
                          </a:r>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smtClean="0">
                              <a:effectLst/>
                              <a:latin typeface="Verdana" panose="020B0604030504040204" pitchFamily="34" charset="0"/>
                              <a:ea typeface="Verdana" panose="020B0604030504040204" pitchFamily="34" charset="0"/>
                              <a:cs typeface="Verdana" panose="020B0604030504040204" pitchFamily="34" charset="0"/>
                            </a:rPr>
                            <a:t>____________ angles</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14:m>
                            <m:oMath xmlns:m="http://schemas.openxmlformats.org/officeDocument/2006/math">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2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200" dirty="0">
                              <a:effectLst/>
                              <a:latin typeface="Verdana" panose="020B0604030504040204" pitchFamily="34" charset="0"/>
                              <a:ea typeface="Verdana" panose="020B0604030504040204" pitchFamily="34" charset="0"/>
                              <a:cs typeface="Verdana" panose="020B0604030504040204" pitchFamily="34" charset="0"/>
                            </a:rPr>
                            <a:t> sum to _______.</a:t>
                          </a:r>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895039786"/>
                      </a:ext>
                    </a:extLst>
                  </a:tr>
                  <a:tr h="1800000">
                    <a:tc>
                      <a:txBody>
                        <a:bodyPr/>
                        <a:lstStyle/>
                        <a:p>
                          <a:pPr marL="0" marR="0" algn="ctr">
                            <a:lnSpc>
                              <a:spcPct val="115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smtClean="0">
                              <a:effectLst/>
                              <a:latin typeface="Verdana" panose="020B0604030504040204" pitchFamily="34" charset="0"/>
                              <a:ea typeface="Verdana" panose="020B0604030504040204" pitchFamily="34" charset="0"/>
                              <a:cs typeface="Verdana" panose="020B0604030504040204" pitchFamily="34" charset="0"/>
                            </a:rPr>
                            <a:t>____________ angles</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14:m>
                            <m:oMath xmlns:m="http://schemas.openxmlformats.org/officeDocument/2006/math">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2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200" dirty="0">
                              <a:effectLst/>
                              <a:latin typeface="Verdana" panose="020B0604030504040204" pitchFamily="34" charset="0"/>
                              <a:ea typeface="Verdana" panose="020B0604030504040204" pitchFamily="34" charset="0"/>
                              <a:cs typeface="Verdana" panose="020B0604030504040204" pitchFamily="34" charset="0"/>
                            </a:rPr>
                            <a:t> have a __________</a:t>
                          </a:r>
                        </a:p>
                        <a:p>
                          <a:pPr marL="0" marR="0" algn="ctr">
                            <a:lnSpc>
                              <a:spcPct val="115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vertex and side.</a:t>
                          </a:r>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517652275"/>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F56CA0B6-F0EC-2C43-B6AD-03D9145CF710}"/>
                  </a:ext>
                </a:extLst>
              </p:cNvPr>
              <p:cNvGraphicFramePr>
                <a:graphicFrameLocks noGrp="1"/>
              </p:cNvGraphicFramePr>
              <p:nvPr>
                <p:extLst>
                  <p:ext uri="{D42A27DB-BD31-4B8C-83A1-F6EECF244321}">
                    <p14:modId xmlns:p14="http://schemas.microsoft.com/office/powerpoint/2010/main" val="4234289915"/>
                  </p:ext>
                </p:extLst>
              </p:nvPr>
            </p:nvGraphicFramePr>
            <p:xfrm>
              <a:off x="2093831" y="384129"/>
              <a:ext cx="8595992" cy="5868000"/>
            </p:xfrm>
            <a:graphic>
              <a:graphicData uri="http://schemas.openxmlformats.org/drawingml/2006/table">
                <a:tbl>
                  <a:tblPr firstRow="1" firstCol="1" bandRow="1"/>
                  <a:tblGrid>
                    <a:gridCol w="2940392">
                      <a:extLst>
                        <a:ext uri="{9D8B030D-6E8A-4147-A177-3AD203B41FA5}">
                          <a16:colId xmlns:a16="http://schemas.microsoft.com/office/drawing/2014/main" xmlns:a14="http://schemas.microsoft.com/office/drawing/2010/main" xmlns="" val="306144661"/>
                        </a:ext>
                      </a:extLst>
                    </a:gridCol>
                    <a:gridCol w="3135600">
                      <a:extLst>
                        <a:ext uri="{9D8B030D-6E8A-4147-A177-3AD203B41FA5}">
                          <a16:colId xmlns:a16="http://schemas.microsoft.com/office/drawing/2014/main" xmlns:a14="http://schemas.microsoft.com/office/drawing/2010/main" xmlns="" val="52564927"/>
                        </a:ext>
                      </a:extLst>
                    </a:gridCol>
                    <a:gridCol w="2520000">
                      <a:extLst>
                        <a:ext uri="{9D8B030D-6E8A-4147-A177-3AD203B41FA5}">
                          <a16:colId xmlns:a16="http://schemas.microsoft.com/office/drawing/2014/main" xmlns:a14="http://schemas.microsoft.com/office/drawing/2010/main" xmlns="" val="884152709"/>
                        </a:ext>
                      </a:extLst>
                    </a:gridCol>
                  </a:tblGrid>
                  <a:tr h="468000">
                    <a:tc>
                      <a:txBody>
                        <a:bodyPr/>
                        <a:lstStyle/>
                        <a:p>
                          <a:pPr marL="0" marR="0" algn="ctr">
                            <a:lnSpc>
                              <a:spcPct val="115000"/>
                            </a:lnSpc>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Image</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2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Angle Relationship</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15000"/>
                            </a:lnSpc>
                            <a:spcBef>
                              <a:spcPts val="0"/>
                            </a:spcBef>
                            <a:spcAft>
                              <a:spcPts val="0"/>
                            </a:spcAft>
                          </a:pPr>
                          <a:r>
                            <a:rPr lang="en-US" sz="22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Description</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r>
                  <a:tr h="1800000">
                    <a:tc>
                      <a:txBody>
                        <a:bodyPr/>
                        <a:lstStyle/>
                        <a:p>
                          <a:pPr marL="0" marR="0" algn="ctr">
                            <a:lnSpc>
                              <a:spcPct val="115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___________</a:t>
                          </a:r>
                        </a:p>
                        <a:p>
                          <a:pPr marL="0" marR="0" algn="ctr">
                            <a:lnSpc>
                              <a:spcPct val="115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angles</a:t>
                          </a:r>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40821" t="-27797" b="-200339"/>
                          </a:stretch>
                        </a:blipFill>
                      </a:tcPr>
                    </a:tc>
                    <a:extLst>
                      <a:ext uri="{0D108BD9-81ED-4DB2-BD59-A6C34878D82A}">
                        <a16:rowId xmlns:a16="http://schemas.microsoft.com/office/drawing/2014/main" xmlns:a14="http://schemas.microsoft.com/office/drawing/2010/main" xmlns="" val="4023223191"/>
                      </a:ext>
                    </a:extLst>
                  </a:tr>
                  <a:tr h="1800000">
                    <a:tc>
                      <a:txBody>
                        <a:bodyPr/>
                        <a:lstStyle/>
                        <a:p>
                          <a:pPr marL="0" marR="0" algn="ctr">
                            <a:lnSpc>
                              <a:spcPct val="115000"/>
                            </a:lnSpc>
                            <a:spcBef>
                              <a:spcPts val="0"/>
                            </a:spcBef>
                            <a:spcAft>
                              <a:spcPts val="0"/>
                            </a:spcAft>
                          </a:pPr>
                          <a:r>
                            <a:rPr lang="en-US" sz="2200">
                              <a:effectLst/>
                              <a:latin typeface="Verdana" panose="020B0604030504040204" pitchFamily="34" charset="0"/>
                              <a:ea typeface="Verdana" panose="020B0604030504040204" pitchFamily="34" charset="0"/>
                              <a:cs typeface="Verdana" panose="020B0604030504040204" pitchFamily="34" charset="0"/>
                            </a:rPr>
                            <a:t> </a:t>
                          </a:r>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smtClean="0">
                              <a:effectLst/>
                              <a:latin typeface="Verdana" panose="020B0604030504040204" pitchFamily="34" charset="0"/>
                              <a:ea typeface="Verdana" panose="020B0604030504040204" pitchFamily="34" charset="0"/>
                              <a:cs typeface="Verdana" panose="020B0604030504040204" pitchFamily="34" charset="0"/>
                            </a:rPr>
                            <a:t>____________ angles</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40821" t="-127365" b="-99662"/>
                          </a:stretch>
                        </a:blipFill>
                      </a:tcPr>
                    </a:tc>
                    <a:extLst>
                      <a:ext uri="{0D108BD9-81ED-4DB2-BD59-A6C34878D82A}">
                        <a16:rowId xmlns:a16="http://schemas.microsoft.com/office/drawing/2014/main" xmlns:a14="http://schemas.microsoft.com/office/drawing/2010/main" xmlns="" val="1895039786"/>
                      </a:ext>
                    </a:extLst>
                  </a:tr>
                  <a:tr h="1800000">
                    <a:tc>
                      <a:txBody>
                        <a:bodyPr/>
                        <a:lstStyle/>
                        <a:p>
                          <a:pPr marL="0" marR="0" algn="ctr">
                            <a:lnSpc>
                              <a:spcPct val="115000"/>
                            </a:lnSpc>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 </a:t>
                          </a:r>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smtClean="0">
                              <a:effectLst/>
                              <a:latin typeface="Verdana" panose="020B0604030504040204" pitchFamily="34" charset="0"/>
                              <a:ea typeface="Verdana" panose="020B0604030504040204" pitchFamily="34" charset="0"/>
                              <a:cs typeface="Verdana" panose="020B0604030504040204" pitchFamily="34" charset="0"/>
                            </a:rPr>
                            <a:t>____________ angles</a:t>
                          </a:r>
                          <a:endParaRPr lang="en-US" sz="2200" dirty="0">
                            <a:effectLst/>
                            <a:latin typeface="Verdana" panose="020B0604030504040204" pitchFamily="34" charset="0"/>
                            <a:ea typeface="Verdana" panose="020B0604030504040204" pitchFamily="34" charset="0"/>
                            <a:cs typeface="Verdana" panose="020B0604030504040204" pitchFamily="34" charset="0"/>
                          </a:endParaRPr>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54392" marR="54392"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40821" t="-228136"/>
                          </a:stretch>
                        </a:blipFill>
                      </a:tcPr>
                    </a:tc>
                    <a:extLst>
                      <a:ext uri="{0D108BD9-81ED-4DB2-BD59-A6C34878D82A}">
                        <a16:rowId xmlns:a16="http://schemas.microsoft.com/office/drawing/2014/main" xmlns:a14="http://schemas.microsoft.com/office/drawing/2010/main" xmlns="" val="1517652275"/>
                      </a:ext>
                    </a:extLst>
                  </a:tr>
                </a:tbl>
              </a:graphicData>
            </a:graphic>
          </p:graphicFrame>
        </mc:Fallback>
      </mc:AlternateContent>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6" name="Picture 5" descr="A picture containing line chart&#10;&#10;Description automatically generated">
            <a:extLst>
              <a:ext uri="{FF2B5EF4-FFF2-40B4-BE49-F238E27FC236}">
                <a16:creationId xmlns="" xmlns:a16="http://schemas.microsoft.com/office/drawing/2014/main" id="{9C58F403-8DD5-7144-9548-40C1CDD6BB8E}"/>
              </a:ext>
            </a:extLst>
          </p:cNvPr>
          <p:cNvPicPr/>
          <p:nvPr/>
        </p:nvPicPr>
        <p:blipFill rotWithShape="1">
          <a:blip r:embed="rId5" cstate="screen">
            <a:extLst>
              <a:ext uri="{28A0092B-C50C-407E-A947-70E740481C1C}">
                <a14:useLocalDpi xmlns:a14="http://schemas.microsoft.com/office/drawing/2010/main"/>
              </a:ext>
            </a:extLst>
          </a:blip>
          <a:srcRect/>
          <a:stretch/>
        </p:blipFill>
        <p:spPr bwMode="auto">
          <a:xfrm>
            <a:off x="2838935" y="956268"/>
            <a:ext cx="1464945" cy="1554480"/>
          </a:xfrm>
          <a:prstGeom prst="rect">
            <a:avLst/>
          </a:prstGeom>
          <a:ln>
            <a:noFill/>
          </a:ln>
          <a:extLst>
            <a:ext uri="{53640926-AAD7-44D8-BBD7-CCE9431645EC}">
              <a14:shadowObscured xmlns:a14="http://schemas.microsoft.com/office/drawing/2010/main"/>
            </a:ext>
          </a:extLst>
        </p:spPr>
      </p:pic>
      <p:pic>
        <p:nvPicPr>
          <p:cNvPr id="7" name="Picture 6">
            <a:extLst>
              <a:ext uri="{FF2B5EF4-FFF2-40B4-BE49-F238E27FC236}">
                <a16:creationId xmlns="" xmlns:a16="http://schemas.microsoft.com/office/drawing/2014/main" id="{58B88CFE-30B1-094E-9C9F-588CE1616B08}"/>
              </a:ext>
            </a:extLst>
          </p:cNvPr>
          <p:cNvPicPr/>
          <p:nvPr/>
        </p:nvPicPr>
        <p:blipFill rotWithShape="1">
          <a:blip r:embed="rId6" cstate="screen">
            <a:extLst>
              <a:ext uri="{28A0092B-C50C-407E-A947-70E740481C1C}">
                <a14:useLocalDpi xmlns:a14="http://schemas.microsoft.com/office/drawing/2010/main"/>
              </a:ext>
            </a:extLst>
          </a:blip>
          <a:srcRect/>
          <a:stretch/>
        </p:blipFill>
        <p:spPr bwMode="auto">
          <a:xfrm>
            <a:off x="2335062" y="2834695"/>
            <a:ext cx="2472690" cy="1463040"/>
          </a:xfrm>
          <a:prstGeom prst="rect">
            <a:avLst/>
          </a:prstGeom>
          <a:ln>
            <a:noFill/>
          </a:ln>
          <a:extLst>
            <a:ext uri="{53640926-AAD7-44D8-BBD7-CCE9431645EC}">
              <a14:shadowObscured xmlns:a14="http://schemas.microsoft.com/office/drawing/2010/main"/>
            </a:ext>
          </a:extLst>
        </p:spPr>
      </p:pic>
      <p:pic>
        <p:nvPicPr>
          <p:cNvPr id="8" name="Picture 7" descr="Shape&#10;&#10;Description automatically generated">
            <a:extLst>
              <a:ext uri="{FF2B5EF4-FFF2-40B4-BE49-F238E27FC236}">
                <a16:creationId xmlns="" xmlns:a16="http://schemas.microsoft.com/office/drawing/2014/main" id="{85637392-E664-4C4B-BF17-91AF71F18E6A}"/>
              </a:ext>
            </a:extLst>
          </p:cNvPr>
          <p:cNvPicPr/>
          <p:nvPr/>
        </p:nvPicPr>
        <p:blipFill rotWithShape="1">
          <a:blip r:embed="rId7" cstate="screen">
            <a:extLst>
              <a:ext uri="{28A0092B-C50C-407E-A947-70E740481C1C}">
                <a14:useLocalDpi xmlns:a14="http://schemas.microsoft.com/office/drawing/2010/main"/>
              </a:ext>
            </a:extLst>
          </a:blip>
          <a:srcRect/>
          <a:stretch/>
        </p:blipFill>
        <p:spPr bwMode="auto">
          <a:xfrm>
            <a:off x="2297597" y="4602881"/>
            <a:ext cx="2547620" cy="1463040"/>
          </a:xfrm>
          <a:prstGeom prst="rect">
            <a:avLst/>
          </a:prstGeom>
          <a:ln>
            <a:noFill/>
          </a:ln>
          <a:extLst>
            <a:ext uri="{53640926-AAD7-44D8-BBD7-CCE9431645EC}">
              <a14:shadowObscured xmlns:a14="http://schemas.microsoft.com/office/drawing/2010/main"/>
            </a:ext>
          </a:extLst>
        </p:spPr>
      </p:pic>
      <p:sp>
        <p:nvSpPr>
          <p:cNvPr id="11" name="Google Shape;282;g104476d1465_1_17">
            <a:extLst>
              <a:ext uri="{FF2B5EF4-FFF2-40B4-BE49-F238E27FC236}">
                <a16:creationId xmlns="" xmlns:a16="http://schemas.microsoft.com/office/drawing/2014/main" id="{96E79995-1777-A546-B0E8-763CB93E240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286</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32071" y="2766145"/>
            <a:ext cx="7581254"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 xmlns:a16="http://schemas.microsoft.com/office/drawing/2014/main" id="{2AC58C8F-2DD8-F347-9ECA-58EE9E1B7E9C}"/>
              </a:ext>
            </a:extLst>
          </p:cNvPr>
          <p:cNvPicPr preferRelativeResize="0"/>
          <p:nvPr/>
        </p:nvPicPr>
        <p:blipFill rotWithShape="1">
          <a:blip r:embed="rId4">
            <a:alphaModFix/>
          </a:blip>
          <a:srcRect/>
          <a:stretch/>
        </p:blipFill>
        <p:spPr>
          <a:xfrm>
            <a:off x="3054096" y="2852928"/>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 xmlns:a16="http://schemas.microsoft.com/office/drawing/2014/main" id="{1A099A9C-0CFF-8D43-B8A1-CB6329CBAA3B}"/>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286</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255088" y="-2508"/>
            <a:ext cx="1063815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13.4.3 Guided Instruction: Writing Equations to Find Missing Angles in Triangles</a:t>
            </a:r>
          </a:p>
        </p:txBody>
      </p:sp>
      <p:pic>
        <p:nvPicPr>
          <p:cNvPr id="9" name="Google Shape;345;g103996e1364_0_321">
            <a:extLst>
              <a:ext uri="{FF2B5EF4-FFF2-40B4-BE49-F238E27FC236}">
                <a16:creationId xmlns="" xmlns:a16="http://schemas.microsoft.com/office/drawing/2014/main" id="{CBDD45DF-949B-9F42-BFF6-A7167F0CF795}"/>
              </a:ext>
            </a:extLst>
          </p:cNvPr>
          <p:cNvPicPr preferRelativeResize="0"/>
          <p:nvPr/>
        </p:nvPicPr>
        <p:blipFill rotWithShape="1">
          <a:blip r:embed="rId4">
            <a:alphaModFix/>
          </a:blip>
          <a:srcRect/>
          <a:stretch/>
        </p:blipFill>
        <p:spPr>
          <a:xfrm>
            <a:off x="439023" y="286692"/>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 xmlns:a16="http://schemas.microsoft.com/office/drawing/2014/main" id="{C01B13E8-EC8D-E443-A329-C5E3593DD13A}"/>
                  </a:ext>
                </a:extLst>
              </p:cNvPr>
              <p:cNvSpPr txBox="1"/>
              <p:nvPr/>
            </p:nvSpPr>
            <p:spPr>
              <a:xfrm>
                <a:off x="538605" y="1461425"/>
                <a:ext cx="10965345" cy="1979516"/>
              </a:xfrm>
              <a:prstGeom prst="rect">
                <a:avLst/>
              </a:prstGeom>
              <a:noFill/>
            </p:spPr>
            <p:txBody>
              <a:bodyPr wrap="square" rtlCol="0">
                <a:spAutoFit/>
              </a:bodyPr>
              <a:lstStyle/>
              <a:p>
                <a:pPr>
                  <a:spcAft>
                    <a:spcPts val="1000"/>
                  </a:spcAft>
                </a:pPr>
                <a:r>
                  <a:rPr lang="en-US" sz="2200" dirty="0">
                    <a:latin typeface="Verdana" panose="020B0604030504040204" pitchFamily="34" charset="0"/>
                    <a:ea typeface="Verdana" panose="020B0604030504040204" pitchFamily="34" charset="0"/>
                    <a:cs typeface="Verdana" panose="020B0604030504040204" pitchFamily="34" charset="0"/>
                  </a:rPr>
                  <a:t>Algebraic equations can be written to express the relationship between the interior and exterior angles of triangles. The equations can then be solved to find the measures of unknown angles. </a:t>
                </a:r>
              </a:p>
              <a:p>
                <a:pPr>
                  <a:lnSpc>
                    <a:spcPct val="115000"/>
                  </a:lnSpc>
                </a:pPr>
                <a:r>
                  <a:rPr lang="en-US" sz="2200" dirty="0">
                    <a:latin typeface="Verdana" panose="020B0604030504040204" pitchFamily="34" charset="0"/>
                    <a:ea typeface="Verdana" panose="020B0604030504040204" pitchFamily="34" charset="0"/>
                    <a:cs typeface="Verdana" panose="020B0604030504040204" pitchFamily="34" charset="0"/>
                  </a:rPr>
                  <a:t> </a:t>
                </a:r>
              </a:p>
              <a:p>
                <a:pPr marL="457200" indent="-457200">
                  <a:lnSpc>
                    <a:spcPct val="115000"/>
                  </a:lnSpc>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Triangle </a:t>
                </a:r>
                <a14:m>
                  <m:oMath xmlns:m="http://schemas.openxmlformats.org/officeDocument/2006/math">
                    <m:r>
                      <a:rPr lang="en-US" sz="2200" i="1">
                        <a:latin typeface="Cambria Math" panose="02040503050406030204" pitchFamily="18" charset="0"/>
                        <a:ea typeface="Times New Roman" panose="02020603050405020304" pitchFamily="18" charset="0"/>
                        <a:cs typeface="Times New Roman" panose="02020603050405020304" pitchFamily="18" charset="0"/>
                      </a:rPr>
                      <m:t>𝑆𝑀𝐹</m:t>
                    </m:r>
                  </m:oMath>
                </a14:m>
                <a:r>
                  <a:rPr lang="en-US" sz="2200" dirty="0">
                    <a:latin typeface="Verdana" panose="020B0604030504040204" pitchFamily="34" charset="0"/>
                    <a:ea typeface="Verdana" panose="020B0604030504040204" pitchFamily="34" charset="0"/>
                    <a:cs typeface="Verdana" panose="020B0604030504040204" pitchFamily="34" charset="0"/>
                  </a:rPr>
                  <a:t> is shown.</a:t>
                </a: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538605" y="1461425"/>
                <a:ext cx="10965345" cy="1979516"/>
              </a:xfrm>
              <a:prstGeom prst="rect">
                <a:avLst/>
              </a:prstGeom>
              <a:blipFill rotWithShape="1">
                <a:blip r:embed="rId5"/>
                <a:stretch>
                  <a:fillRect l="-723" t="-1543" b="-5864"/>
                </a:stretch>
              </a:blipFill>
            </p:spPr>
            <p:txBody>
              <a:bodyPr/>
              <a:lstStyle/>
              <a:p>
                <a:r>
                  <a:rPr lang="en-PH">
                    <a:noFill/>
                  </a:rPr>
                  <a:t> </a:t>
                </a:r>
              </a:p>
            </p:txBody>
          </p:sp>
        </mc:Fallback>
      </mc:AlternateContent>
      <p:pic>
        <p:nvPicPr>
          <p:cNvPr id="8" name="Picture 7" descr="Chart&#10;&#10;Description automatically generated">
            <a:extLst>
              <a:ext uri="{FF2B5EF4-FFF2-40B4-BE49-F238E27FC236}">
                <a16:creationId xmlns="" xmlns:a16="http://schemas.microsoft.com/office/drawing/2014/main" id="{2B9ED53A-BADC-404F-9CB9-FC44B0DE30CF}"/>
              </a:ext>
            </a:extLst>
          </p:cNvPr>
          <p:cNvPicPr/>
          <p:nvPr/>
        </p:nvPicPr>
        <p:blipFill rotWithShape="1">
          <a:blip r:embed="rId6" cstate="screen">
            <a:extLst>
              <a:ext uri="{28A0092B-C50C-407E-A947-70E740481C1C}">
                <a14:useLocalDpi xmlns:a14="http://schemas.microsoft.com/office/drawing/2010/main"/>
              </a:ext>
            </a:extLst>
          </a:blip>
          <a:srcRect/>
          <a:stretch/>
        </p:blipFill>
        <p:spPr bwMode="auto">
          <a:xfrm>
            <a:off x="2650490" y="3510878"/>
            <a:ext cx="6891020" cy="2184400"/>
          </a:xfrm>
          <a:prstGeom prst="rect">
            <a:avLst/>
          </a:prstGeom>
          <a:ln>
            <a:noFill/>
          </a:ln>
          <a:extLst>
            <a:ext uri="{53640926-AAD7-44D8-BBD7-CCE9431645EC}">
              <a14:shadowObscured xmlns:a14="http://schemas.microsoft.com/office/drawing/2010/main"/>
            </a:ext>
          </a:extLst>
        </p:spPr>
      </p:pic>
      <p:sp>
        <p:nvSpPr>
          <p:cNvPr id="10" name="Google Shape;282;g104476d1465_1_17">
            <a:extLst>
              <a:ext uri="{FF2B5EF4-FFF2-40B4-BE49-F238E27FC236}">
                <a16:creationId xmlns="" xmlns:a16="http://schemas.microsoft.com/office/drawing/2014/main" id="{B57EF925-E4D0-9645-95B6-DE644708EB31}"/>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286</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3275" y="378350"/>
                <a:ext cx="10924464" cy="4893647"/>
              </a:xfrm>
              <a:prstGeom prst="rect">
                <a:avLst/>
              </a:prstGeom>
              <a:noFill/>
            </p:spPr>
            <p:txBody>
              <a:bodyPr wrap="square" rtlCol="0">
                <a:no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a:r>
                  <a:rPr lang="en-US" sz="2400" dirty="0">
                    <a:latin typeface="Verdana" panose="020B0604030504040204" pitchFamily="34" charset="0"/>
                    <a:ea typeface="Verdana" panose="020B0604030504040204" pitchFamily="34" charset="0"/>
                    <a:cs typeface="Verdana" panose="020B0604030504040204" pitchFamily="34" charset="0"/>
                  </a:rPr>
                  <a:t>The relationship of the                    angles </a:t>
                </a:r>
                <a:r>
                  <a:rPr lang="en-US" sz="2400" dirty="0" smtClean="0">
                    <a:latin typeface="Verdana" panose="020B0604030504040204" pitchFamily="34" charset="0"/>
                    <a:ea typeface="Verdana" panose="020B0604030504040204" pitchFamily="34" charset="0"/>
                    <a:cs typeface="Verdana" panose="020B0604030504040204" pitchFamily="34" charset="0"/>
                  </a:rPr>
                  <a:t>of the </a:t>
                </a:r>
                <a:r>
                  <a:rPr lang="en-US" sz="2400" dirty="0">
                    <a:latin typeface="Verdana" panose="020B0604030504040204" pitchFamily="34" charset="0"/>
                    <a:ea typeface="Verdana" panose="020B0604030504040204" pitchFamily="34" charset="0"/>
                    <a:cs typeface="Verdana" panose="020B0604030504040204" pitchFamily="34" charset="0"/>
                  </a:rPr>
                  <a:t>triangle can </a:t>
                </a: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be </a:t>
                </a:r>
                <a:r>
                  <a:rPr lang="en-US" sz="2400" dirty="0">
                    <a:latin typeface="Verdana" panose="020B0604030504040204" pitchFamily="34" charset="0"/>
                    <a:ea typeface="Verdana" panose="020B0604030504040204" pitchFamily="34" charset="0"/>
                    <a:cs typeface="Verdana" panose="020B0604030504040204" pitchFamily="34" charset="0"/>
                  </a:rPr>
                  <a:t>used to find the </a:t>
                </a:r>
                <a:r>
                  <a:rPr lang="en-US" sz="2400" dirty="0" smtClean="0">
                    <a:latin typeface="Verdana" panose="020B0604030504040204" pitchFamily="34" charset="0"/>
                    <a:ea typeface="Verdana" panose="020B0604030504040204" pitchFamily="34" charset="0"/>
                    <a:cs typeface="Verdana" panose="020B0604030504040204" pitchFamily="34" charset="0"/>
                  </a:rPr>
                  <a:t>measures of </a:t>
                </a:r>
                <a:r>
                  <a:rPr lang="en-US" sz="2400" dirty="0">
                    <a:latin typeface="Verdana" panose="020B0604030504040204" pitchFamily="34" charset="0"/>
                    <a:ea typeface="Verdana" panose="020B0604030504040204" pitchFamily="34" charset="0"/>
                    <a:cs typeface="Verdana" panose="020B0604030504040204" pitchFamily="34" charset="0"/>
                  </a:rPr>
                  <a:t>the missing angles.</a:t>
                </a:r>
              </a:p>
              <a:p>
                <a:pPr marL="9144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Write an equation that can be used to find the value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𝑐</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Solve the equation.</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3275" y="378350"/>
                <a:ext cx="10924464" cy="4893647"/>
              </a:xfrm>
              <a:prstGeom prst="rect">
                <a:avLst/>
              </a:prstGeom>
              <a:blipFill rotWithShape="1">
                <a:blip r:embed="rId4"/>
                <a:stretch>
                  <a:fillRect t="-996"/>
                </a:stretch>
              </a:blipFill>
            </p:spPr>
            <p:txBody>
              <a:bodyPr/>
              <a:lstStyle/>
              <a:p>
                <a:r>
                  <a:rPr lang="en-PH">
                    <a:noFill/>
                  </a:rPr>
                  <a:t> </a:t>
                </a:r>
              </a:p>
            </p:txBody>
          </p:sp>
        </mc:Fallback>
      </mc:AlternateContent>
      <p:sp>
        <p:nvSpPr>
          <p:cNvPr id="6" name="Rounded Rectangle 5">
            <a:extLst>
              <a:ext uri="{FF2B5EF4-FFF2-40B4-BE49-F238E27FC236}">
                <a16:creationId xmlns="" xmlns:a16="http://schemas.microsoft.com/office/drawing/2014/main" id="{8BB2EA2C-E695-4D4A-B090-6CF9BF6C3EF7}"/>
              </a:ext>
            </a:extLst>
          </p:cNvPr>
          <p:cNvSpPr/>
          <p:nvPr/>
        </p:nvSpPr>
        <p:spPr>
          <a:xfrm>
            <a:off x="5169601" y="922328"/>
            <a:ext cx="1861513" cy="865713"/>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66700" indent="-266700">
              <a:buFont typeface="Courier New"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exterior</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266700" indent="-266700">
              <a:spcAft>
                <a:spcPts val="1000"/>
              </a:spcAft>
              <a:buFont typeface="Courier New"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interior</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82;g104476d1465_1_17">
            <a:extLst>
              <a:ext uri="{FF2B5EF4-FFF2-40B4-BE49-F238E27FC236}">
                <a16:creationId xmlns="" xmlns:a16="http://schemas.microsoft.com/office/drawing/2014/main" id="{60205889-11EC-1948-A779-8D0028E9B22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286</a:t>
            </a:r>
            <a:endParaRPr i="1" dirty="0">
              <a:latin typeface="Calibri"/>
              <a:ea typeface="Calibri"/>
              <a:cs typeface="Calibri"/>
              <a:sym typeface="Calibri"/>
            </a:endParaRPr>
          </a:p>
        </p:txBody>
      </p:sp>
    </p:spTree>
    <p:extLst>
      <p:ext uri="{BB962C8B-B14F-4D97-AF65-F5344CB8AC3E}">
        <p14:creationId xmlns:p14="http://schemas.microsoft.com/office/powerpoint/2010/main" val="1320626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1509" y="388064"/>
                <a:ext cx="10489035" cy="3625608"/>
              </a:xfrm>
              <a:prstGeom prst="rect">
                <a:avLst/>
              </a:prstGeom>
              <a:noFill/>
            </p:spPr>
            <p:txBody>
              <a:bodyPr wrap="square" rtlCol="0">
                <a:spAutoFit/>
              </a:bodyPr>
              <a:lstStyle/>
              <a:p>
                <a:pPr marL="914400"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Use the solution to find the measure of each angle.</a:t>
                </a:r>
              </a:p>
              <a:p>
                <a:pPr marL="4572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15000"/>
                  </a:lnSpc>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15000"/>
                  </a:lnSpc>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lvl="0">
                  <a:lnSpc>
                    <a:spcPct val="115000"/>
                  </a:lnSpc>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15000"/>
                  </a:lnSpc>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15000"/>
                  </a:lnSpc>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15000"/>
                  </a:lnSpc>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Triangle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𝐶𝑌𝑁</m:t>
                    </m:r>
                  </m:oMath>
                </a14:m>
                <a:r>
                  <a:rPr lang="en-US" sz="2400" dirty="0">
                    <a:latin typeface="Verdana" panose="020B0604030504040204" pitchFamily="34" charset="0"/>
                    <a:ea typeface="Verdana" panose="020B0604030504040204" pitchFamily="34" charset="0"/>
                    <a:cs typeface="Verdana" panose="020B0604030504040204" pitchFamily="34" charset="0"/>
                  </a:rPr>
                  <a:t> is shown. </a:t>
                </a:r>
              </a:p>
              <a:p>
                <a:pPr marL="457200" indent="-457200">
                  <a:buFont typeface="+mj-lt"/>
                  <a:buAutoNum type="alphaLcPeriod" startAt="4"/>
                </a:pP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1509" y="388064"/>
                <a:ext cx="10489035" cy="3625608"/>
              </a:xfrm>
              <a:prstGeom prst="rect">
                <a:avLst/>
              </a:prstGeom>
              <a:blipFill rotWithShape="1">
                <a:blip r:embed="rId4"/>
                <a:stretch>
                  <a:fillRect l="-872" t="-1347"/>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72FD7AB0-5019-A24E-8F03-7A7783453B3B}"/>
                  </a:ext>
                </a:extLst>
              </p:cNvPr>
              <p:cNvGraphicFramePr>
                <a:graphicFrameLocks noGrp="1"/>
              </p:cNvGraphicFramePr>
              <p:nvPr>
                <p:extLst>
                  <p:ext uri="{D42A27DB-BD31-4B8C-83A1-F6EECF244321}">
                    <p14:modId xmlns:p14="http://schemas.microsoft.com/office/powerpoint/2010/main" val="1471903847"/>
                  </p:ext>
                </p:extLst>
              </p:nvPr>
            </p:nvGraphicFramePr>
            <p:xfrm>
              <a:off x="2983433" y="1029414"/>
              <a:ext cx="6234546" cy="1371600"/>
            </p:xfrm>
            <a:graphic>
              <a:graphicData uri="http://schemas.openxmlformats.org/drawingml/2006/table">
                <a:tbl>
                  <a:tblPr firstRow="1" firstCol="1" bandRow="1"/>
                  <a:tblGrid>
                    <a:gridCol w="3117273">
                      <a:extLst>
                        <a:ext uri="{9D8B030D-6E8A-4147-A177-3AD203B41FA5}">
                          <a16:colId xmlns="" xmlns:a16="http://schemas.microsoft.com/office/drawing/2014/main" val="1384142694"/>
                        </a:ext>
                      </a:extLst>
                    </a:gridCol>
                    <a:gridCol w="3117273">
                      <a:extLst>
                        <a:ext uri="{9D8B030D-6E8A-4147-A177-3AD203B41FA5}">
                          <a16:colId xmlns="" xmlns:a16="http://schemas.microsoft.com/office/drawing/2014/main" val="1699308742"/>
                        </a:ext>
                      </a:extLst>
                    </a:gridCol>
                  </a:tblGrid>
                  <a:tr h="457200">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Angle</a:t>
                          </a: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Measure</a:t>
                          </a: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2621238388"/>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𝐹𝑆𝑀</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937565349"/>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𝑆𝐹𝑀</m:t>
                                </m:r>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112119810"/>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72FD7AB0-5019-A24E-8F03-7A7783453B3B}"/>
                  </a:ext>
                </a:extLst>
              </p:cNvPr>
              <p:cNvGraphicFramePr>
                <a:graphicFrameLocks noGrp="1"/>
              </p:cNvGraphicFramePr>
              <p:nvPr>
                <p:extLst>
                  <p:ext uri="{D42A27DB-BD31-4B8C-83A1-F6EECF244321}">
                    <p14:modId xmlns:p14="http://schemas.microsoft.com/office/powerpoint/2010/main" val="1471903847"/>
                  </p:ext>
                </p:extLst>
              </p:nvPr>
            </p:nvGraphicFramePr>
            <p:xfrm>
              <a:off x="2983433" y="1029414"/>
              <a:ext cx="6234546" cy="1371600"/>
            </p:xfrm>
            <a:graphic>
              <a:graphicData uri="http://schemas.openxmlformats.org/drawingml/2006/table">
                <a:tbl>
                  <a:tblPr firstRow="1" firstCol="1" bandRow="1"/>
                  <a:tblGrid>
                    <a:gridCol w="3117273">
                      <a:extLst>
                        <a:ext uri="{9D8B030D-6E8A-4147-A177-3AD203B41FA5}">
                          <a16:colId xmlns:a16="http://schemas.microsoft.com/office/drawing/2014/main" xmlns:a14="http://schemas.microsoft.com/office/drawing/2010/main" xmlns="" val="1384142694"/>
                        </a:ext>
                      </a:extLst>
                    </a:gridCol>
                    <a:gridCol w="3117273">
                      <a:extLst>
                        <a:ext uri="{9D8B030D-6E8A-4147-A177-3AD203B41FA5}">
                          <a16:colId xmlns:a16="http://schemas.microsoft.com/office/drawing/2014/main" xmlns:a14="http://schemas.microsoft.com/office/drawing/2010/main" xmlns="" val="1699308742"/>
                        </a:ext>
                      </a:extLst>
                    </a:gridCol>
                  </a:tblGrid>
                  <a:tr h="457200">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Angle</a:t>
                          </a: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Measure</a:t>
                          </a: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2621238388"/>
                      </a:ext>
                    </a:extLst>
                  </a:tr>
                  <a:tr h="4572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10667" r="-100000" b="-100000"/>
                          </a:stretch>
                        </a:blipFill>
                      </a:tcPr>
                    </a:tc>
                    <a:tc>
                      <a:txBody>
                        <a:bodyPr/>
                        <a:lstStyle/>
                        <a:p>
                          <a:pPr marL="0" marR="0" algn="ctr">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937565349"/>
                      </a:ext>
                    </a:extLst>
                  </a:tr>
                  <a:tr h="4572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10667" r="-100000"/>
                          </a:stretch>
                        </a:blipFill>
                      </a:tcP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112119810"/>
                      </a:ext>
                    </a:extLst>
                  </a:tr>
                </a:tbl>
              </a:graphicData>
            </a:graphic>
          </p:graphicFrame>
        </mc:Fallback>
      </mc:AlternateContent>
      <p:pic>
        <p:nvPicPr>
          <p:cNvPr id="8" name="Picture 7" descr="Chart&#10;&#10;Description automatically generated with medium confidence">
            <a:extLst>
              <a:ext uri="{FF2B5EF4-FFF2-40B4-BE49-F238E27FC236}">
                <a16:creationId xmlns="" xmlns:a16="http://schemas.microsoft.com/office/drawing/2014/main" id="{AC0B00FC-1674-E748-95DB-7FEF89EE03F0}"/>
              </a:ext>
            </a:extLst>
          </p:cNvPr>
          <p:cNvPicPr/>
          <p:nvPr/>
        </p:nvPicPr>
        <p:blipFill>
          <a:blip r:embed="rId6" cstate="screen">
            <a:extLst>
              <a:ext uri="{28A0092B-C50C-407E-A947-70E740481C1C}">
                <a14:useLocalDpi xmlns:a14="http://schemas.microsoft.com/office/drawing/2010/main"/>
              </a:ext>
            </a:extLst>
          </a:blip>
          <a:stretch>
            <a:fillRect/>
          </a:stretch>
        </p:blipFill>
        <p:spPr>
          <a:xfrm>
            <a:off x="5814246" y="3017218"/>
            <a:ext cx="4802580" cy="2983689"/>
          </a:xfrm>
          <a:prstGeom prst="rect">
            <a:avLst/>
          </a:prstGeom>
        </p:spPr>
      </p:pic>
      <p:sp>
        <p:nvSpPr>
          <p:cNvPr id="9" name="Google Shape;282;g104476d1465_1_17">
            <a:extLst>
              <a:ext uri="{FF2B5EF4-FFF2-40B4-BE49-F238E27FC236}">
                <a16:creationId xmlns="" xmlns:a16="http://schemas.microsoft.com/office/drawing/2014/main" id="{F296F85D-90AE-AC45-BB14-D1E65E22774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287</a:t>
            </a:r>
            <a:endParaRPr i="1" dirty="0">
              <a:latin typeface="Calibri"/>
              <a:ea typeface="Calibri"/>
              <a:cs typeface="Calibri"/>
              <a:sym typeface="Calibri"/>
            </a:endParaRPr>
          </a:p>
        </p:txBody>
      </p:sp>
    </p:spTree>
    <p:extLst>
      <p:ext uri="{BB962C8B-B14F-4D97-AF65-F5344CB8AC3E}">
        <p14:creationId xmlns:p14="http://schemas.microsoft.com/office/powerpoint/2010/main" val="1423632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468" y="386721"/>
                <a:ext cx="11026306" cy="3816429"/>
              </a:xfrm>
              <a:prstGeom prst="rect">
                <a:avLst/>
              </a:prstGeom>
              <a:noFill/>
            </p:spPr>
            <p:txBody>
              <a:bodyPr wrap="square" rtlCol="0">
                <a:spAutoFit/>
              </a:bodyPr>
              <a:lstStyle/>
              <a:p>
                <a:pPr marL="914400" indent="-457200">
                  <a:lnSpc>
                    <a:spcPct val="115000"/>
                  </a:lnSpc>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a:p>
                <a:pPr marL="914400">
                  <a:lnSpc>
                    <a:spcPct val="115000"/>
                  </a:lnSpc>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a:lnSpc>
                    <a:spcPct val="115000"/>
                  </a:lnSpc>
                </a:pPr>
                <a:r>
                  <a:rPr lang="en-US" sz="2400" dirty="0" smtClean="0">
                    <a:latin typeface="Verdana" panose="020B0604030504040204" pitchFamily="34" charset="0"/>
                    <a:ea typeface="Times New Roman" panose="02020603050405020304" pitchFamily="18" charset="0"/>
                    <a:cs typeface="Times New Roman" panose="02020603050405020304" pitchFamily="18" charset="0"/>
                  </a:rPr>
                  <a:t>The </a:t>
                </a:r>
                <a:r>
                  <a:rPr lang="en-US" sz="2400" dirty="0">
                    <a:latin typeface="Verdana" panose="020B0604030504040204" pitchFamily="34" charset="0"/>
                    <a:ea typeface="Times New Roman" panose="02020603050405020304" pitchFamily="18" charset="0"/>
                    <a:cs typeface="Times New Roman" panose="02020603050405020304" pitchFamily="18" charset="0"/>
                  </a:rPr>
                  <a:t>relationship between the                    angles of the triangle </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cs typeface="Times New Roman" panose="02020603050405020304" pitchFamily="18" charset="0"/>
                  </a:rPr>
                </a:b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cs typeface="Times New Roman" panose="02020603050405020304" pitchFamily="18" charset="0"/>
                  </a:rPr>
                </a:br>
                <a:r>
                  <a:rPr lang="en-US" sz="2400" dirty="0" smtClean="0">
                    <a:latin typeface="Verdana" panose="020B0604030504040204" pitchFamily="34" charset="0"/>
                    <a:ea typeface="Times New Roman" panose="02020603050405020304" pitchFamily="18" charset="0"/>
                    <a:cs typeface="Times New Roman" panose="02020603050405020304" pitchFamily="18" charset="0"/>
                  </a:rPr>
                  <a:t>can </a:t>
                </a:r>
                <a:r>
                  <a:rPr lang="en-US" sz="2400" dirty="0">
                    <a:latin typeface="Verdana" panose="020B0604030504040204" pitchFamily="34" charset="0"/>
                    <a:ea typeface="Times New Roman" panose="02020603050405020304" pitchFamily="18" charset="0"/>
                    <a:cs typeface="Times New Roman" panose="02020603050405020304" pitchFamily="18" charset="0"/>
                  </a:rPr>
                  <a:t>be used to find the measures of the missing angles.</a:t>
                </a:r>
              </a:p>
              <a:p>
                <a:pPr marL="914400">
                  <a:lnSpc>
                    <a:spcPct val="250000"/>
                  </a:lnSpc>
                </a:pPr>
                <a:endParaRPr lang="en-US" sz="1600" dirty="0" smtClean="0">
                  <a:latin typeface="Cambria" panose="02040503050406030204" pitchFamily="18" charset="0"/>
                  <a:ea typeface="Times New Roman" panose="02020603050405020304" pitchFamily="18" charset="0"/>
                  <a:cs typeface="Times New Roman" panose="02020603050405020304" pitchFamily="18" charset="0"/>
                </a:endParaRPr>
              </a:p>
              <a:p>
                <a:pPr marL="914400">
                  <a:lnSpc>
                    <a:spcPct val="250000"/>
                  </a:lnSpc>
                </a:pP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an equation that can be used to find the value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468" y="386721"/>
                <a:ext cx="11026306" cy="3816429"/>
              </a:xfrm>
              <a:prstGeom prst="rect">
                <a:avLst/>
              </a:prstGeom>
              <a:blipFill rotWithShape="1">
                <a:blip r:embed="rId4"/>
                <a:stretch>
                  <a:fillRect t="-958" r="-1548" b="-2556"/>
                </a:stretch>
              </a:blipFill>
            </p:spPr>
            <p:txBody>
              <a:bodyPr/>
              <a:lstStyle/>
              <a:p>
                <a:r>
                  <a:rPr lang="en-PH">
                    <a:noFill/>
                  </a:rPr>
                  <a:t> </a:t>
                </a:r>
              </a:p>
            </p:txBody>
          </p:sp>
        </mc:Fallback>
      </mc:AlternateContent>
      <p:sp>
        <p:nvSpPr>
          <p:cNvPr id="7" name="Google Shape;282;g104476d1465_1_17">
            <a:extLst>
              <a:ext uri="{FF2B5EF4-FFF2-40B4-BE49-F238E27FC236}">
                <a16:creationId xmlns="" xmlns:a16="http://schemas.microsoft.com/office/drawing/2014/main" id="{D6FF56C1-7A8C-FA4F-BA97-ED9F8ABF79E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287</a:t>
            </a:r>
            <a:endParaRPr i="1" dirty="0">
              <a:latin typeface="Calibri"/>
              <a:ea typeface="Calibri"/>
              <a:cs typeface="Calibri"/>
              <a:sym typeface="Calibri"/>
            </a:endParaRPr>
          </a:p>
        </p:txBody>
      </p:sp>
      <p:sp>
        <p:nvSpPr>
          <p:cNvPr id="8" name="Rounded Rectangle 7">
            <a:extLst>
              <a:ext uri="{FF2B5EF4-FFF2-40B4-BE49-F238E27FC236}">
                <a16:creationId xmlns="" xmlns:a16="http://schemas.microsoft.com/office/drawing/2014/main" id="{8BB2EA2C-E695-4D4A-B090-6CF9BF6C3EF7}"/>
              </a:ext>
            </a:extLst>
          </p:cNvPr>
          <p:cNvSpPr/>
          <p:nvPr/>
        </p:nvSpPr>
        <p:spPr>
          <a:xfrm>
            <a:off x="6162680" y="974821"/>
            <a:ext cx="1861513" cy="865713"/>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66700" indent="-266700">
              <a:buFont typeface="Courier New"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exterior</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266700" indent="-266700">
              <a:spcAft>
                <a:spcPts val="1000"/>
              </a:spcAft>
              <a:buFont typeface="Courier New" pitchFamily="49" charset="0"/>
              <a:buChar char="o"/>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interior</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194994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 xmlns:a16="http://schemas.microsoft.com/office/drawing/2014/main" id="{2FA392D8-3ED3-7940-83A8-1451AA8A08D4}"/>
              </a:ext>
            </a:extLst>
          </p:cNvPr>
          <p:cNvSpPr txBox="1"/>
          <p:nvPr/>
        </p:nvSpPr>
        <p:spPr>
          <a:xfrm>
            <a:off x="533919" y="369472"/>
            <a:ext cx="10393626" cy="3416320"/>
          </a:xfrm>
          <a:prstGeom prst="rect">
            <a:avLst/>
          </a:prstGeom>
          <a:noFill/>
        </p:spPr>
        <p:txBody>
          <a:bodyPr wrap="square" rtlCol="0">
            <a:spAutoFit/>
          </a:bodyPr>
          <a:lstStyle/>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Solve the equation.</a:t>
            </a:r>
          </a:p>
          <a:p>
            <a:pPr marL="914400" indent="-457200">
              <a:buFont typeface="+mj-lt"/>
              <a:buAutoNum type="alphaLcPeriod" startAt="3"/>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Use the solution to find the measure of each angle.</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6B21919D-A496-4C40-B668-2280A0B7B241}"/>
                  </a:ext>
                </a:extLst>
              </p:cNvPr>
              <p:cNvGraphicFramePr>
                <a:graphicFrameLocks noGrp="1"/>
              </p:cNvGraphicFramePr>
              <p:nvPr>
                <p:extLst>
                  <p:ext uri="{D42A27DB-BD31-4B8C-83A1-F6EECF244321}">
                    <p14:modId xmlns:p14="http://schemas.microsoft.com/office/powerpoint/2010/main" val="2057012714"/>
                  </p:ext>
                </p:extLst>
              </p:nvPr>
            </p:nvGraphicFramePr>
            <p:xfrm>
              <a:off x="1595021" y="3911070"/>
              <a:ext cx="5486400" cy="2617200"/>
            </p:xfrm>
            <a:graphic>
              <a:graphicData uri="http://schemas.openxmlformats.org/drawingml/2006/table">
                <a:tbl>
                  <a:tblPr firstRow="1" firstCol="1" bandRow="1"/>
                  <a:tblGrid>
                    <a:gridCol w="2743200">
                      <a:extLst>
                        <a:ext uri="{9D8B030D-6E8A-4147-A177-3AD203B41FA5}">
                          <a16:colId xmlns="" xmlns:a16="http://schemas.microsoft.com/office/drawing/2014/main" val="645821852"/>
                        </a:ext>
                      </a:extLst>
                    </a:gridCol>
                    <a:gridCol w="2743200">
                      <a:extLst>
                        <a:ext uri="{9D8B030D-6E8A-4147-A177-3AD203B41FA5}">
                          <a16:colId xmlns="" xmlns:a16="http://schemas.microsoft.com/office/drawing/2014/main" val="2861094152"/>
                        </a:ext>
                      </a:extLst>
                    </a:gridCol>
                  </a:tblGrid>
                  <a:tr h="457200">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Angle</a:t>
                          </a: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b="1">
                              <a:solidFill>
                                <a:srgbClr val="000000"/>
                              </a:solidFill>
                              <a:effectLst/>
                              <a:latin typeface="Verdana" panose="020B0604030504040204" pitchFamily="34" charset="0"/>
                              <a:ea typeface="Verdana" panose="020B0604030504040204" pitchFamily="34" charset="0"/>
                              <a:cs typeface="Verdana" panose="020B0604030504040204" pitchFamily="34" charset="0"/>
                            </a:rPr>
                            <a:t>Measure</a:t>
                          </a:r>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3217655402"/>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𝑁𝐶𝑌</m:t>
                                </m:r>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980536120"/>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𝐶𝑌𝑁</m:t>
                                </m:r>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378445818"/>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𝐶𝑁𝐻</m:t>
                                </m:r>
                              </m:oMath>
                            </m:oMathPara>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159968122"/>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6B21919D-A496-4C40-B668-2280A0B7B241}"/>
                  </a:ext>
                </a:extLst>
              </p:cNvPr>
              <p:cNvGraphicFramePr>
                <a:graphicFrameLocks noGrp="1"/>
              </p:cNvGraphicFramePr>
              <p:nvPr>
                <p:extLst>
                  <p:ext uri="{D42A27DB-BD31-4B8C-83A1-F6EECF244321}">
                    <p14:modId xmlns:p14="http://schemas.microsoft.com/office/powerpoint/2010/main" val="2057012714"/>
                  </p:ext>
                </p:extLst>
              </p:nvPr>
            </p:nvGraphicFramePr>
            <p:xfrm>
              <a:off x="1595021" y="3911070"/>
              <a:ext cx="5486400" cy="2617200"/>
            </p:xfrm>
            <a:graphic>
              <a:graphicData uri="http://schemas.openxmlformats.org/drawingml/2006/table">
                <a:tbl>
                  <a:tblPr firstRow="1" firstCol="1" bandRow="1"/>
                  <a:tblGrid>
                    <a:gridCol w="2743200">
                      <a:extLst>
                        <a:ext uri="{9D8B030D-6E8A-4147-A177-3AD203B41FA5}">
                          <a16:colId xmlns:a16="http://schemas.microsoft.com/office/drawing/2014/main" xmlns:a14="http://schemas.microsoft.com/office/drawing/2010/main" xmlns="" val="645821852"/>
                        </a:ext>
                      </a:extLst>
                    </a:gridCol>
                    <a:gridCol w="2743200">
                      <a:extLst>
                        <a:ext uri="{9D8B030D-6E8A-4147-A177-3AD203B41FA5}">
                          <a16:colId xmlns:a16="http://schemas.microsoft.com/office/drawing/2014/main" xmlns:a14="http://schemas.microsoft.com/office/drawing/2010/main" xmlns="" val="2861094152"/>
                        </a:ext>
                      </a:extLst>
                    </a:gridCol>
                  </a:tblGrid>
                  <a:tr h="457200">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Angle</a:t>
                          </a: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b="1">
                              <a:solidFill>
                                <a:srgbClr val="000000"/>
                              </a:solidFill>
                              <a:effectLst/>
                              <a:latin typeface="Verdana" panose="020B0604030504040204" pitchFamily="34" charset="0"/>
                              <a:ea typeface="Verdana" panose="020B0604030504040204" pitchFamily="34" charset="0"/>
                              <a:cs typeface="Verdana" panose="020B0604030504040204" pitchFamily="34" charset="0"/>
                            </a:rPr>
                            <a:t>Measure</a:t>
                          </a:r>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3217655402"/>
                      </a:ext>
                    </a:extLst>
                  </a:tr>
                  <a:tr h="72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22" t="-70339" r="-100000" b="-200000"/>
                          </a:stretch>
                        </a:blipFill>
                      </a:tcPr>
                    </a:tc>
                    <a:tc>
                      <a:txBody>
                        <a:bodyPr/>
                        <a:lstStyle/>
                        <a:p>
                          <a:pPr marL="0" marR="0" algn="ctr">
                            <a:spcBef>
                              <a:spcPts val="0"/>
                            </a:spcBef>
                            <a:spcAft>
                              <a:spcPts val="0"/>
                            </a:spcAft>
                          </a:pP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980536120"/>
                      </a:ext>
                    </a:extLst>
                  </a:tr>
                  <a:tr h="72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22" t="-170339" r="-100000" b="-100000"/>
                          </a:stretch>
                        </a:blipFill>
                      </a:tcPr>
                    </a:tc>
                    <a:tc>
                      <a:txBody>
                        <a:bodyPr/>
                        <a:lstStyle/>
                        <a:p>
                          <a:pPr marL="0" marR="0" algn="ctr">
                            <a:spcBef>
                              <a:spcPts val="0"/>
                            </a:spcBef>
                            <a:spcAft>
                              <a:spcPts val="0"/>
                            </a:spcAft>
                          </a:pP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378445818"/>
                      </a:ext>
                    </a:extLst>
                  </a:tr>
                  <a:tr h="72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22" t="-270339" r="-100000"/>
                          </a:stretch>
                        </a:blipFill>
                      </a:tcPr>
                    </a:tc>
                    <a:tc>
                      <a:txBody>
                        <a:bodyPr/>
                        <a:lstStyle/>
                        <a:p>
                          <a:pPr marL="0" marR="0" algn="ctr">
                            <a:spcBef>
                              <a:spcPts val="0"/>
                            </a:spcBef>
                            <a:spcAft>
                              <a:spcPts val="0"/>
                            </a:spcAft>
                          </a:pP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159968122"/>
                      </a:ext>
                    </a:extLst>
                  </a:tr>
                </a:tbl>
              </a:graphicData>
            </a:graphic>
          </p:graphicFrame>
        </mc:Fallback>
      </mc:AlternateContent>
      <p:sp>
        <p:nvSpPr>
          <p:cNvPr id="8" name="Google Shape;282;g104476d1465_1_17">
            <a:extLst>
              <a:ext uri="{FF2B5EF4-FFF2-40B4-BE49-F238E27FC236}">
                <a16:creationId xmlns="" xmlns:a16="http://schemas.microsoft.com/office/drawing/2014/main" id="{62992302-6189-5C41-8D1B-368ADBB1D82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287</a:t>
            </a:r>
            <a:endParaRPr i="1" dirty="0">
              <a:latin typeface="Calibri"/>
              <a:ea typeface="Calibri"/>
              <a:cs typeface="Calibri"/>
              <a:sym typeface="Calibri"/>
            </a:endParaRPr>
          </a:p>
        </p:txBody>
      </p:sp>
    </p:spTree>
    <p:extLst>
      <p:ext uri="{BB962C8B-B14F-4D97-AF65-F5344CB8AC3E}">
        <p14:creationId xmlns:p14="http://schemas.microsoft.com/office/powerpoint/2010/main" val="1834539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32846" y="2766150"/>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 xmlns:a16="http://schemas.microsoft.com/office/drawing/2014/main" id="{C7149099-AA95-334A-B8B4-84D4A28868E9}"/>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288</a:t>
            </a:r>
            <a:endParaRPr i="1" dirty="0">
              <a:latin typeface="Calibri"/>
              <a:ea typeface="Calibri"/>
              <a:cs typeface="Calibri"/>
              <a:sym typeface="Calibri"/>
            </a:endParaRPr>
          </a:p>
        </p:txBody>
      </p:sp>
    </p:spTree>
    <p:extLst>
      <p:ext uri="{BB962C8B-B14F-4D97-AF65-F5344CB8AC3E}">
        <p14:creationId xmlns:p14="http://schemas.microsoft.com/office/powerpoint/2010/main" val="611375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48718" y="0"/>
            <a:ext cx="1016838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13.4.4 Collaboration: Using Multiple-Angle Relationships to Find Missing Angles</a:t>
            </a:r>
          </a:p>
        </p:txBody>
      </p:sp>
      <p:pic>
        <p:nvPicPr>
          <p:cNvPr id="9" name="Picture 2">
            <a:extLst>
              <a:ext uri="{FF2B5EF4-FFF2-40B4-BE49-F238E27FC236}">
                <a16:creationId xmlns=""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36515" y="28669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E44DF7DE-9172-3E4E-B74A-7A51585FB6EA}"/>
              </a:ext>
            </a:extLst>
          </p:cNvPr>
          <p:cNvSpPr txBox="1"/>
          <p:nvPr/>
        </p:nvSpPr>
        <p:spPr>
          <a:xfrm>
            <a:off x="535247" y="1464027"/>
            <a:ext cx="11295018" cy="479683"/>
          </a:xfrm>
          <a:prstGeom prst="rect">
            <a:avLst/>
          </a:prstGeom>
          <a:noFill/>
        </p:spPr>
        <p:txBody>
          <a:bodyPr wrap="square" rtlCol="0">
            <a:spAutoFit/>
          </a:bodyPr>
          <a:lstStyle/>
          <a:p>
            <a:pPr marL="457200" indent="-457200">
              <a:lnSpc>
                <a:spcPct val="115000"/>
              </a:lnSpc>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Use the figure shown to complete the following with your partner.</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1" name="Picture 10" descr="Diagram&#10;&#10;Description automatically generated">
            <a:extLst>
              <a:ext uri="{FF2B5EF4-FFF2-40B4-BE49-F238E27FC236}">
                <a16:creationId xmlns="" xmlns:a16="http://schemas.microsoft.com/office/drawing/2014/main" id="{68B06011-E8C5-B344-AB1F-23BAD581FF29}"/>
              </a:ext>
            </a:extLst>
          </p:cNvPr>
          <p:cNvPicPr/>
          <p:nvPr/>
        </p:nvPicPr>
        <p:blipFill rotWithShape="1">
          <a:blip r:embed="rId5" cstate="screen">
            <a:extLst>
              <a:ext uri="{28A0092B-C50C-407E-A947-70E740481C1C}">
                <a14:useLocalDpi xmlns:a14="http://schemas.microsoft.com/office/drawing/2010/main"/>
              </a:ext>
            </a:extLst>
          </a:blip>
          <a:srcRect b="4182"/>
          <a:stretch/>
        </p:blipFill>
        <p:spPr>
          <a:xfrm>
            <a:off x="2894468" y="1989750"/>
            <a:ext cx="6002644" cy="4730646"/>
          </a:xfrm>
          <a:prstGeom prst="rect">
            <a:avLst/>
          </a:prstGeom>
        </p:spPr>
      </p:pic>
      <p:sp>
        <p:nvSpPr>
          <p:cNvPr id="12" name="Google Shape;282;g104476d1465_1_17">
            <a:extLst>
              <a:ext uri="{FF2B5EF4-FFF2-40B4-BE49-F238E27FC236}">
                <a16:creationId xmlns="" xmlns:a16="http://schemas.microsoft.com/office/drawing/2014/main" id="{F749D413-A9A5-4F44-A9CC-3C8EE0B4E0E9}"/>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288</a:t>
            </a:r>
            <a:endParaRPr i="1" dirty="0">
              <a:latin typeface="Calibri"/>
              <a:ea typeface="Calibri"/>
              <a:cs typeface="Calibri"/>
              <a:sym typeface="Calibri"/>
            </a:endParaRPr>
          </a:p>
        </p:txBody>
      </p:sp>
    </p:spTree>
    <p:extLst>
      <p:ext uri="{BB962C8B-B14F-4D97-AF65-F5344CB8AC3E}">
        <p14:creationId xmlns:p14="http://schemas.microsoft.com/office/powerpoint/2010/main" val="2161970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 xmlns:a16="http://schemas.microsoft.com/office/drawing/2014/main" id="{2FA392D8-3ED3-7940-83A8-1451AA8A08D4}"/>
              </a:ext>
            </a:extLst>
          </p:cNvPr>
          <p:cNvSpPr txBox="1"/>
          <p:nvPr/>
        </p:nvSpPr>
        <p:spPr>
          <a:xfrm>
            <a:off x="529460" y="384866"/>
            <a:ext cx="10576505" cy="1791260"/>
          </a:xfrm>
          <a:prstGeom prst="rect">
            <a:avLst/>
          </a:prstGeom>
          <a:noFill/>
        </p:spPr>
        <p:txBody>
          <a:bodyPr wrap="square" rtlCol="0">
            <a:spAutoFit/>
          </a:bodyPr>
          <a:lstStyle/>
          <a:p>
            <a:pPr marL="914400" indent="-457200">
              <a:lnSpc>
                <a:spcPct val="115000"/>
              </a:lnSpc>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 by writing the angle relationship for each set of angles using one of the phrases from the bank below. Then, complete the description of the relationship between the angles.</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Rounded Rectangle 6">
                <a:extLst>
                  <a:ext uri="{FF2B5EF4-FFF2-40B4-BE49-F238E27FC236}">
                    <a16:creationId xmlns="" xmlns:a16="http://schemas.microsoft.com/office/drawing/2014/main" id="{E545F7BA-D58C-F346-857B-3AFAE4A806CD}"/>
                  </a:ext>
                </a:extLst>
              </p:cNvPr>
              <p:cNvSpPr/>
              <p:nvPr/>
            </p:nvSpPr>
            <p:spPr>
              <a:xfrm>
                <a:off x="1501586" y="2371767"/>
                <a:ext cx="9062842" cy="1061283"/>
              </a:xfrm>
              <a:prstGeom prst="roundRect">
                <a:avLst/>
              </a:prstGeom>
              <a:solidFill>
                <a:sysClr val="window" lastClr="FFFFFF"/>
              </a:solidFill>
              <a:ln w="2540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algn="ctr">
                  <a:spcAft>
                    <a:spcPts val="1000"/>
                  </a:spcAft>
                  <a:buClrTx/>
                  <a:defRPr/>
                </a:pPr>
                <a:r>
                  <a:rPr lang="en-US" sz="2400" dirty="0">
                    <a:latin typeface="Verdana" panose="020B0604030504040204" pitchFamily="34" charset="0"/>
                    <a:ea typeface="Times New Roman" panose="02020603050405020304" pitchFamily="18" charset="0"/>
                    <a:cs typeface="Times New Roman" panose="02020603050405020304" pitchFamily="18" charset="0"/>
                  </a:rPr>
                  <a:t>exterior angles to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m:t>
                    </m:r>
                    <m:r>
                      <a:rPr lang="en-US" sz="2400" i="1">
                        <a:latin typeface="Cambria Math" panose="02040503050406030204" pitchFamily="18" charset="0"/>
                        <a:ea typeface="Times New Roman" panose="02020603050405020304" pitchFamily="18" charset="0"/>
                        <a:cs typeface="Times New Roman" panose="02020603050405020304" pitchFamily="18" charset="0"/>
                      </a:rPr>
                      <m:t>𝐶𝐿𝑁</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supplementary angles</a:t>
                </a:r>
                <a:endParaRPr lang="en-US" sz="2400" dirty="0">
                  <a:solidFill>
                    <a:sysClr val="windowText" lastClr="000000"/>
                  </a:solidFill>
                  <a:latin typeface="Cambria"/>
                  <a:ea typeface="Times New Roman" panose="02020603050405020304" pitchFamily="18" charset="0"/>
                  <a:cs typeface="Times New Roman" panose="02020603050405020304" pitchFamily="18" charset="0"/>
                </a:endParaRPr>
              </a:p>
              <a:p>
                <a:pPr algn="ctr">
                  <a:spcAft>
                    <a:spcPts val="1000"/>
                  </a:spcAft>
                  <a:buClrTx/>
                  <a:defRPr/>
                </a:pPr>
                <a:r>
                  <a:rPr lang="en-US" sz="2400" dirty="0">
                    <a:latin typeface="Verdana" panose="020B0604030504040204" pitchFamily="34" charset="0"/>
                    <a:ea typeface="Times New Roman" panose="02020603050405020304" pitchFamily="18" charset="0"/>
                    <a:cs typeface="Times New Roman" panose="02020603050405020304" pitchFamily="18" charset="0"/>
                  </a:rPr>
                  <a:t>interior angles of triangle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𝐶𝐿𝑁</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vertical angles</a:t>
                </a:r>
                <a:endParaRPr lang="en-US" sz="2400" dirty="0">
                  <a:solidFill>
                    <a:sysClr val="windowText" lastClr="000000"/>
                  </a:solidFill>
                  <a:latin typeface="Cambria"/>
                  <a:ea typeface="Times New Roman" panose="02020603050405020304" pitchFamily="18" charset="0"/>
                  <a:cs typeface="Times New Roman" panose="02020603050405020304" pitchFamily="18" charset="0"/>
                </a:endParaRPr>
              </a:p>
            </p:txBody>
          </p:sp>
        </mc:Choice>
        <mc:Fallback xmlns="">
          <p:sp>
            <p:nvSpPr>
              <p:cNvPr id="7" name="Rounded Rectangle 6">
                <a:extLst>
                  <a:ext uri="{FF2B5EF4-FFF2-40B4-BE49-F238E27FC236}">
                    <a16:creationId xmlns:a16="http://schemas.microsoft.com/office/drawing/2014/main" xmlns:a14="http://schemas.microsoft.com/office/drawing/2010/main" xmlns="" id="{E545F7BA-D58C-F346-857B-3AFAE4A806CD}"/>
                  </a:ext>
                </a:extLst>
              </p:cNvPr>
              <p:cNvSpPr>
                <a:spLocks noRot="1" noChangeAspect="1" noMove="1" noResize="1" noEditPoints="1" noAdjustHandles="1" noChangeArrowheads="1" noChangeShapeType="1" noTextEdit="1"/>
              </p:cNvSpPr>
              <p:nvPr/>
            </p:nvSpPr>
            <p:spPr>
              <a:xfrm>
                <a:off x="1501586" y="2371767"/>
                <a:ext cx="9062842" cy="1061283"/>
              </a:xfrm>
              <a:prstGeom prst="roundRect">
                <a:avLst/>
              </a:prstGeom>
              <a:blipFill rotWithShape="1">
                <a:blip r:embed="rId4"/>
                <a:stretch>
                  <a:fillRect b="-6180"/>
                </a:stretch>
              </a:blipFill>
              <a:ln w="25400" cap="flat" cmpd="sng" algn="ctr">
                <a:solidFill>
                  <a:sysClr val="windowText" lastClr="000000"/>
                </a:solidFill>
                <a:prstDash val="solid"/>
              </a:ln>
              <a:effectLst/>
            </p:spPr>
            <p:txBody>
              <a:bodyPr/>
              <a:lstStyle/>
              <a:p>
                <a:r>
                  <a:rPr lang="en-PH">
                    <a:noFill/>
                  </a:rPr>
                  <a:t> </a:t>
                </a:r>
              </a:p>
            </p:txBody>
          </p:sp>
        </mc:Fallback>
      </mc:AlternateContent>
      <p:sp>
        <p:nvSpPr>
          <p:cNvPr id="8" name="Google Shape;282;g104476d1465_1_17">
            <a:extLst>
              <a:ext uri="{FF2B5EF4-FFF2-40B4-BE49-F238E27FC236}">
                <a16:creationId xmlns="" xmlns:a16="http://schemas.microsoft.com/office/drawing/2014/main" id="{8D46BCA2-F65E-4646-BA38-2B21FF47B4E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288</a:t>
            </a:r>
            <a:endParaRPr i="1" dirty="0">
              <a:latin typeface="Calibri"/>
              <a:ea typeface="Calibri"/>
              <a:cs typeface="Calibri"/>
              <a:sym typeface="Calibri"/>
            </a:endParaRPr>
          </a:p>
        </p:txBody>
      </p:sp>
    </p:spTree>
    <p:extLst>
      <p:ext uri="{BB962C8B-B14F-4D97-AF65-F5344CB8AC3E}">
        <p14:creationId xmlns:p14="http://schemas.microsoft.com/office/powerpoint/2010/main" val="3864998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42C166B3-CC20-464A-AD96-B5398E3AF499}"/>
                  </a:ext>
                </a:extLst>
              </p:cNvPr>
              <p:cNvGraphicFramePr>
                <a:graphicFrameLocks noGrp="1"/>
              </p:cNvGraphicFramePr>
              <p:nvPr>
                <p:extLst>
                  <p:ext uri="{D42A27DB-BD31-4B8C-83A1-F6EECF244321}">
                    <p14:modId xmlns:p14="http://schemas.microsoft.com/office/powerpoint/2010/main" val="3104180281"/>
                  </p:ext>
                </p:extLst>
              </p:nvPr>
            </p:nvGraphicFramePr>
            <p:xfrm>
              <a:off x="1669402" y="373966"/>
              <a:ext cx="9000000" cy="5257031"/>
            </p:xfrm>
            <a:graphic>
              <a:graphicData uri="http://schemas.openxmlformats.org/drawingml/2006/table">
                <a:tbl>
                  <a:tblPr firstRow="1" firstCol="1" bandRow="1"/>
                  <a:tblGrid>
                    <a:gridCol w="2880000">
                      <a:extLst>
                        <a:ext uri="{9D8B030D-6E8A-4147-A177-3AD203B41FA5}">
                          <a16:colId xmlns="" xmlns:a16="http://schemas.microsoft.com/office/drawing/2014/main" val="1246748930"/>
                        </a:ext>
                      </a:extLst>
                    </a:gridCol>
                    <a:gridCol w="2520000">
                      <a:extLst>
                        <a:ext uri="{9D8B030D-6E8A-4147-A177-3AD203B41FA5}">
                          <a16:colId xmlns="" xmlns:a16="http://schemas.microsoft.com/office/drawing/2014/main" val="1993085379"/>
                        </a:ext>
                      </a:extLst>
                    </a:gridCol>
                    <a:gridCol w="3600000">
                      <a:extLst>
                        <a:ext uri="{9D8B030D-6E8A-4147-A177-3AD203B41FA5}">
                          <a16:colId xmlns="" xmlns:a16="http://schemas.microsoft.com/office/drawing/2014/main" val="956875530"/>
                        </a:ext>
                      </a:extLst>
                    </a:gridCol>
                  </a:tblGrid>
                  <a:tr h="948070">
                    <a:tc>
                      <a:txBody>
                        <a:bodyPr/>
                        <a:lstStyle/>
                        <a:p>
                          <a:pPr marL="0" marR="0" algn="ctr">
                            <a:lnSpc>
                              <a:spcPct val="115000"/>
                            </a:lnSpc>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Angle</a:t>
                          </a: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a:t>
                          </a: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Angle Relationship </a:t>
                          </a: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Description of Relationship</a:t>
                          </a: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1321905558"/>
                      </a:ext>
                    </a:extLst>
                  </a:tr>
                  <a:tr h="952507">
                    <a:tc>
                      <a:txBody>
                        <a:bodyPr/>
                        <a:lstStyle/>
                        <a:p>
                          <a:pPr marL="0" marR="0">
                            <a:lnSpc>
                              <a:spcPct val="115000"/>
                            </a:lnSpc>
                            <a:spcBef>
                              <a:spcPts val="0"/>
                            </a:spcBef>
                            <a:spcAft>
                              <a:spcPts val="0"/>
                            </a:spcAft>
                          </a:pP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𝑅𝐿𝐸</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𝐶𝐿𝑁</m:t>
                              </m:r>
                            </m:oMath>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Angles measures are ____________.</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78145853"/>
                      </a:ext>
                    </a:extLst>
                  </a:tr>
                  <a:tr h="952507">
                    <a:tc>
                      <a:txBody>
                        <a:bodyPr/>
                        <a:lstStyle/>
                        <a:p>
                          <a:pPr marL="0" marR="0">
                            <a:lnSpc>
                              <a:spcPct val="115000"/>
                            </a:lnSpc>
                            <a:spcBef>
                              <a:spcPts val="0"/>
                            </a:spcBef>
                            <a:spcAft>
                              <a:spcPts val="0"/>
                            </a:spcAft>
                          </a:pP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𝑅𝐿𝐸</m:t>
                              </m:r>
                            </m:oMath>
                          </a14:m>
                          <a:r>
                            <a:rPr lang="en-US" sz="240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𝑅𝐿𝐶</m:t>
                              </m:r>
                            </m:oMath>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Angles sum to ________.</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70528446"/>
                      </a:ext>
                    </a:extLst>
                  </a:tr>
                  <a:tr h="1451440">
                    <a:tc>
                      <a:txBody>
                        <a:bodyPr/>
                        <a:lstStyle/>
                        <a:p>
                          <a:pPr marL="0" marR="0">
                            <a:lnSpc>
                              <a:spcPct val="115000"/>
                            </a:lnSpc>
                            <a:spcBef>
                              <a:spcPts val="0"/>
                            </a:spcBef>
                            <a:spcAft>
                              <a:spcPts val="0"/>
                            </a:spcAft>
                          </a:pP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𝑅𝐿𝐶</m:t>
                              </m:r>
                            </m:oMath>
                          </a14:m>
                          <a:r>
                            <a:rPr lang="en-US" sz="2400">
                              <a:effectLst/>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𝐸𝐿𝑁</m:t>
                              </m:r>
                            </m:oMath>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______________ to the sum of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𝑁𝐶𝐿</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𝐿𝑁𝐶</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744876424"/>
                      </a:ext>
                    </a:extLst>
                  </a:tr>
                  <a:tr h="952507">
                    <a:tc>
                      <a:txBody>
                        <a:bodyPr/>
                        <a:lstStyle/>
                        <a:p>
                          <a:pPr marL="0" marR="0">
                            <a:lnSpc>
                              <a:spcPct val="115000"/>
                            </a:lnSpc>
                            <a:spcBef>
                              <a:spcPts val="0"/>
                            </a:spcBef>
                            <a:spcAft>
                              <a:spcPts val="0"/>
                            </a:spcAft>
                          </a:pP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𝐶𝐿𝑁</m:t>
                              </m:r>
                            </m:oMath>
                          </a14:m>
                          <a:r>
                            <a:rPr lang="en-US" sz="240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𝐿𝑁𝐶</m:t>
                              </m:r>
                            </m:oMath>
                          </a14:m>
                          <a:r>
                            <a:rPr lang="en-US" sz="240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𝑁𝐶𝐿</m:t>
                              </m:r>
                            </m:oMath>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Angles sum to ________.</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722675075"/>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42C166B3-CC20-464A-AD96-B5398E3AF499}"/>
                  </a:ext>
                </a:extLst>
              </p:cNvPr>
              <p:cNvGraphicFramePr>
                <a:graphicFrameLocks noGrp="1"/>
              </p:cNvGraphicFramePr>
              <p:nvPr>
                <p:extLst>
                  <p:ext uri="{D42A27DB-BD31-4B8C-83A1-F6EECF244321}">
                    <p14:modId xmlns:p14="http://schemas.microsoft.com/office/powerpoint/2010/main" val="3104180281"/>
                  </p:ext>
                </p:extLst>
              </p:nvPr>
            </p:nvGraphicFramePr>
            <p:xfrm>
              <a:off x="1669402" y="373966"/>
              <a:ext cx="9000000" cy="5257031"/>
            </p:xfrm>
            <a:graphic>
              <a:graphicData uri="http://schemas.openxmlformats.org/drawingml/2006/table">
                <a:tbl>
                  <a:tblPr firstRow="1" firstCol="1" bandRow="1"/>
                  <a:tblGrid>
                    <a:gridCol w="2880000">
                      <a:extLst>
                        <a:ext uri="{9D8B030D-6E8A-4147-A177-3AD203B41FA5}">
                          <a16:colId xmlns:a16="http://schemas.microsoft.com/office/drawing/2014/main" xmlns:a14="http://schemas.microsoft.com/office/drawing/2010/main" xmlns="" val="1246748930"/>
                        </a:ext>
                      </a:extLst>
                    </a:gridCol>
                    <a:gridCol w="2520000">
                      <a:extLst>
                        <a:ext uri="{9D8B030D-6E8A-4147-A177-3AD203B41FA5}">
                          <a16:colId xmlns:a16="http://schemas.microsoft.com/office/drawing/2014/main" xmlns:a14="http://schemas.microsoft.com/office/drawing/2010/main" xmlns="" val="1993085379"/>
                        </a:ext>
                      </a:extLst>
                    </a:gridCol>
                    <a:gridCol w="3600000">
                      <a:extLst>
                        <a:ext uri="{9D8B030D-6E8A-4147-A177-3AD203B41FA5}">
                          <a16:colId xmlns:a16="http://schemas.microsoft.com/office/drawing/2014/main" xmlns:a14="http://schemas.microsoft.com/office/drawing/2010/main" xmlns="" val="956875530"/>
                        </a:ext>
                      </a:extLst>
                    </a:gridCol>
                  </a:tblGrid>
                  <a:tr h="948070">
                    <a:tc>
                      <a:txBody>
                        <a:bodyPr/>
                        <a:lstStyle/>
                        <a:p>
                          <a:pPr marL="0" marR="0" algn="ctr">
                            <a:lnSpc>
                              <a:spcPct val="115000"/>
                            </a:lnSpc>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Angle</a:t>
                          </a: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a:t>
                          </a: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Angle Relationship </a:t>
                          </a: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Description of Relationship</a:t>
                          </a: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321905558"/>
                      </a:ext>
                    </a:extLst>
                  </a:tr>
                  <a:tr h="952507">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12" t="-102564" r="-212924" b="-362179"/>
                          </a:stretch>
                        </a:blipFill>
                      </a:tcPr>
                    </a:tc>
                    <a:tc>
                      <a:txBody>
                        <a:bodyPr/>
                        <a:lstStyle/>
                        <a:p>
                          <a:pPr marL="0" marR="0">
                            <a:lnSpc>
                              <a:spcPct val="115000"/>
                            </a:lnSpc>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Angles measures are ____________.</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78145853"/>
                      </a:ext>
                    </a:extLst>
                  </a:tr>
                  <a:tr h="952507">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12" t="-202564" r="-212924" b="-262179"/>
                          </a:stretch>
                        </a:blipFill>
                      </a:tcPr>
                    </a:tc>
                    <a:tc>
                      <a:txBody>
                        <a:bodyPr/>
                        <a:lstStyle/>
                        <a:p>
                          <a:pPr marL="0" marR="0">
                            <a:lnSpc>
                              <a:spcPct val="115000"/>
                            </a:lnSpc>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Angles sum to ________.</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70528446"/>
                      </a:ext>
                    </a:extLst>
                  </a:tr>
                  <a:tr h="145144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12" t="-197490" r="-212924" b="-71130"/>
                          </a:stretch>
                        </a:blipFill>
                      </a:tcPr>
                    </a:tc>
                    <a:tc>
                      <a:txBody>
                        <a:bodyPr/>
                        <a:lstStyle/>
                        <a:p>
                          <a:pPr marL="0" marR="0">
                            <a:lnSpc>
                              <a:spcPct val="115000"/>
                            </a:lnSpc>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50339" t="-197490" r="-169" b="-71130"/>
                          </a:stretch>
                        </a:blipFill>
                      </a:tcPr>
                    </a:tc>
                    <a:extLst>
                      <a:ext uri="{0D108BD9-81ED-4DB2-BD59-A6C34878D82A}">
                        <a16:rowId xmlns:a16="http://schemas.microsoft.com/office/drawing/2014/main" xmlns:a14="http://schemas.microsoft.com/office/drawing/2010/main" xmlns="" val="1744876424"/>
                      </a:ext>
                    </a:extLst>
                  </a:tr>
                  <a:tr h="952507">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12" t="-455769" r="-212924" b="-8974"/>
                          </a:stretch>
                        </a:blipFill>
                      </a:tcPr>
                    </a:tc>
                    <a:tc>
                      <a:txBody>
                        <a:bodyPr/>
                        <a:lstStyle/>
                        <a:p>
                          <a:pPr marL="0" marR="0">
                            <a:lnSpc>
                              <a:spcPct val="115000"/>
                            </a:lnSpc>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Angles sum to ________.</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722675075"/>
                      </a:ext>
                    </a:extLst>
                  </a:tr>
                </a:tbl>
              </a:graphicData>
            </a:graphic>
          </p:graphicFrame>
        </mc:Fallback>
      </mc:AlternateContent>
      <p:sp>
        <p:nvSpPr>
          <p:cNvPr id="8" name="Google Shape;282;g104476d1465_1_17">
            <a:extLst>
              <a:ext uri="{FF2B5EF4-FFF2-40B4-BE49-F238E27FC236}">
                <a16:creationId xmlns="" xmlns:a16="http://schemas.microsoft.com/office/drawing/2014/main" id="{6B5D44A9-2AE2-6D49-8403-7AFB121A34AD}"/>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288</a:t>
            </a:r>
            <a:endParaRPr i="1" dirty="0">
              <a:latin typeface="Calibri"/>
              <a:ea typeface="Calibri"/>
              <a:cs typeface="Calibri"/>
              <a:sym typeface="Calibri"/>
            </a:endParaRPr>
          </a:p>
        </p:txBody>
      </p:sp>
    </p:spTree>
    <p:extLst>
      <p:ext uri="{BB962C8B-B14F-4D97-AF65-F5344CB8AC3E}">
        <p14:creationId xmlns:p14="http://schemas.microsoft.com/office/powerpoint/2010/main" val="678525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2818" y="378350"/>
                <a:ext cx="10800000" cy="5613845"/>
              </a:xfrm>
              <a:prstGeom prst="rect">
                <a:avLst/>
              </a:prstGeom>
              <a:noFill/>
            </p:spPr>
            <p:txBody>
              <a:bodyPr wrap="square" rtlCol="0">
                <a:spAutoFit/>
              </a:bodyPr>
              <a:lstStyle/>
              <a:p>
                <a:pPr marL="914400" indent="-457200">
                  <a:lnSpc>
                    <a:spcPct val="115000"/>
                  </a:lnSpc>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Different combinations of the relationships described in the table above can be used to find the value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Discuss with your partner which relationships you prefer to use to find the value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7200">
                  <a:lnSpc>
                    <a:spcPct val="115000"/>
                  </a:lnSpc>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15000"/>
                  </a:lnSpc>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Write and solve an equation to find the value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7200">
                  <a:lnSpc>
                    <a:spcPct val="115000"/>
                  </a:lnSpc>
                  <a:buFont typeface="+mj-lt"/>
                  <a:buAutoNum type="alphaLcPeriod" startAt="2"/>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15000"/>
                  </a:lnSpc>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15000"/>
                  </a:lnSpc>
                  <a:buFont typeface="+mj-lt"/>
                  <a:buAutoNum type="alphaLcPeriod" startAt="2"/>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15000"/>
                  </a:lnSpc>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15000"/>
                  </a:lnSpc>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Find the measure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m:t>
                    </m:r>
                    <m:r>
                      <a:rPr lang="en-US" sz="2400" i="1">
                        <a:latin typeface="Cambria Math" panose="02040503050406030204" pitchFamily="18" charset="0"/>
                        <a:ea typeface="Times New Roman" panose="02020603050405020304" pitchFamily="18" charset="0"/>
                        <a:cs typeface="Times New Roman" panose="02020603050405020304" pitchFamily="18" charset="0"/>
                      </a:rPr>
                      <m:t>𝐶𝐿𝑁</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a:lnSpc>
                    <a:spcPct val="115000"/>
                  </a:lnSpc>
                </a:pPr>
                <a:r>
                  <a:rPr lang="en-US" sz="2400" dirty="0">
                    <a:latin typeface="Verdana" panose="020B0604030504040204" pitchFamily="34" charset="0"/>
                    <a:ea typeface="Verdana" panose="020B0604030504040204" pitchFamily="34" charset="0"/>
                    <a:cs typeface="Verdana" panose="020B0604030504040204" pitchFamily="34" charset="0"/>
                  </a:rPr>
                  <a:t> </a:t>
                </a:r>
              </a:p>
              <a:p>
                <a:pPr>
                  <a:lnSpc>
                    <a:spcPct val="115000"/>
                  </a:lnSpc>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𝑚</m:t>
                      </m:r>
                      <m:r>
                        <a:rPr lang="en-US" sz="2400" i="1">
                          <a:latin typeface="Cambria Math" panose="02040503050406030204" pitchFamily="18" charset="0"/>
                          <a:ea typeface="Times New Roman" panose="02020603050405020304" pitchFamily="18" charset="0"/>
                          <a:cs typeface="Times New Roman" panose="02020603050405020304" pitchFamily="18" charset="0"/>
                        </a:rPr>
                        <m:t>∠</m:t>
                      </m:r>
                      <m:r>
                        <a:rPr lang="en-US" sz="2400" i="1">
                          <a:latin typeface="Cambria Math" panose="02040503050406030204" pitchFamily="18" charset="0"/>
                          <a:ea typeface="Times New Roman" panose="02020603050405020304" pitchFamily="18" charset="0"/>
                          <a:cs typeface="Times New Roman" panose="02020603050405020304" pitchFamily="18" charset="0"/>
                        </a:rPr>
                        <m:t>𝐶𝐿𝑁</m:t>
                      </m:r>
                      <m:r>
                        <a:rPr lang="en-US" sz="2400" i="1">
                          <a:latin typeface="Cambria Math" panose="02040503050406030204" pitchFamily="18" charset="0"/>
                          <a:ea typeface="Times New Roman" panose="02020603050405020304" pitchFamily="18" charset="0"/>
                          <a:cs typeface="Times New Roman" panose="02020603050405020304" pitchFamily="18" charset="0"/>
                        </a:rPr>
                        <m:t>=_______°</m:t>
                      </m:r>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2818" y="378350"/>
                <a:ext cx="10800000" cy="5613845"/>
              </a:xfrm>
              <a:prstGeom prst="rect">
                <a:avLst/>
              </a:prstGeom>
              <a:blipFill rotWithShape="1">
                <a:blip r:embed="rId4"/>
                <a:stretch>
                  <a:fillRect t="-651"/>
                </a:stretch>
              </a:blipFill>
            </p:spPr>
            <p:txBody>
              <a:bodyPr/>
              <a:lstStyle/>
              <a:p>
                <a:r>
                  <a:rPr lang="en-PH">
                    <a:noFill/>
                  </a:rPr>
                  <a:t> </a:t>
                </a:r>
              </a:p>
            </p:txBody>
          </p:sp>
        </mc:Fallback>
      </mc:AlternateContent>
      <p:sp>
        <p:nvSpPr>
          <p:cNvPr id="6" name="Google Shape;282;g104476d1465_1_17">
            <a:extLst>
              <a:ext uri="{FF2B5EF4-FFF2-40B4-BE49-F238E27FC236}">
                <a16:creationId xmlns="" xmlns:a16="http://schemas.microsoft.com/office/drawing/2014/main" id="{8286927C-FF2F-C84E-BD3A-660ADE6F658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288</a:t>
            </a:r>
            <a:endParaRPr i="1" dirty="0">
              <a:latin typeface="Calibri"/>
              <a:ea typeface="Calibri"/>
              <a:cs typeface="Calibri"/>
              <a:sym typeface="Calibri"/>
            </a:endParaRPr>
          </a:p>
        </p:txBody>
      </p:sp>
    </p:spTree>
    <p:extLst>
      <p:ext uri="{BB962C8B-B14F-4D97-AF65-F5344CB8AC3E}">
        <p14:creationId xmlns:p14="http://schemas.microsoft.com/office/powerpoint/2010/main" val="2109317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602311" y="378351"/>
                <a:ext cx="8327136" cy="479683"/>
              </a:xfrm>
              <a:prstGeom prst="rect">
                <a:avLst/>
              </a:prstGeom>
              <a:noFill/>
            </p:spPr>
            <p:txBody>
              <a:bodyPr wrap="square" rtlCol="0">
                <a:spAutoFit/>
              </a:bodyPr>
              <a:lstStyle/>
              <a:p>
                <a:pPr marL="457200" indent="-457200">
                  <a:lnSpc>
                    <a:spcPct val="115000"/>
                  </a:lnSpc>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A figure including triangle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𝐹𝐻𝑁</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is shown. </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602311" y="378351"/>
                <a:ext cx="8327136" cy="479683"/>
              </a:xfrm>
              <a:prstGeom prst="rect">
                <a:avLst/>
              </a:prstGeom>
              <a:blipFill rotWithShape="1">
                <a:blip r:embed="rId4"/>
                <a:stretch>
                  <a:fillRect l="-1171" t="-7595" b="-26582"/>
                </a:stretch>
              </a:blipFill>
            </p:spPr>
            <p:txBody>
              <a:bodyPr/>
              <a:lstStyle/>
              <a:p>
                <a:r>
                  <a:rPr lang="en-PH">
                    <a:noFill/>
                  </a:rPr>
                  <a:t> </a:t>
                </a:r>
              </a:p>
            </p:txBody>
          </p:sp>
        </mc:Fallback>
      </mc:AlternateContent>
      <p:pic>
        <p:nvPicPr>
          <p:cNvPr id="6" name="Picture 5" descr="Diagram&#10;&#10;Description automatically generated">
            <a:extLst>
              <a:ext uri="{FF2B5EF4-FFF2-40B4-BE49-F238E27FC236}">
                <a16:creationId xmlns="" xmlns:a16="http://schemas.microsoft.com/office/drawing/2014/main" id="{A9BD61A5-8C47-0F4D-BF22-A40B5D0BA327}"/>
              </a:ext>
            </a:extLst>
          </p:cNvPr>
          <p:cNvPicPr/>
          <p:nvPr/>
        </p:nvPicPr>
        <p:blipFill>
          <a:blip r:embed="rId5" cstate="screen">
            <a:extLst>
              <a:ext uri="{28A0092B-C50C-407E-A947-70E740481C1C}">
                <a14:useLocalDpi xmlns:a14="http://schemas.microsoft.com/office/drawing/2010/main"/>
              </a:ext>
            </a:extLst>
          </a:blip>
          <a:stretch>
            <a:fillRect/>
          </a:stretch>
        </p:blipFill>
        <p:spPr>
          <a:xfrm>
            <a:off x="3337885" y="1116807"/>
            <a:ext cx="5516227" cy="4358525"/>
          </a:xfrm>
          <a:prstGeom prst="rect">
            <a:avLst/>
          </a:prstGeom>
        </p:spPr>
      </p:pic>
      <p:sp>
        <p:nvSpPr>
          <p:cNvPr id="7" name="Google Shape;282;g104476d1465_1_17">
            <a:extLst>
              <a:ext uri="{FF2B5EF4-FFF2-40B4-BE49-F238E27FC236}">
                <a16:creationId xmlns="" xmlns:a16="http://schemas.microsoft.com/office/drawing/2014/main" id="{69EAD847-19ED-404D-865D-82BC7E81FF6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289</a:t>
            </a:r>
            <a:endParaRPr i="1" dirty="0">
              <a:latin typeface="Calibri"/>
              <a:ea typeface="Calibri"/>
              <a:cs typeface="Calibri"/>
              <a:sym typeface="Calibri"/>
            </a:endParaRPr>
          </a:p>
        </p:txBody>
      </p:sp>
    </p:spTree>
    <p:extLst>
      <p:ext uri="{BB962C8B-B14F-4D97-AF65-F5344CB8AC3E}">
        <p14:creationId xmlns:p14="http://schemas.microsoft.com/office/powerpoint/2010/main" val="1190526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26556" y="384538"/>
                <a:ext cx="10800000" cy="1226105"/>
              </a:xfrm>
              <a:prstGeom prst="rect">
                <a:avLst/>
              </a:prstGeom>
              <a:noFill/>
            </p:spPr>
            <p:txBody>
              <a:bodyPr wrap="square" rtlCol="0">
                <a:spAutoFit/>
              </a:bodyPr>
              <a:lstStyle/>
              <a:p>
                <a:pPr marL="914400" indent="-457200">
                  <a:lnSpc>
                    <a:spcPct val="115000"/>
                  </a:lnSpc>
                  <a:buFont typeface="+mj-lt"/>
                  <a:buAutoNum type="alphaL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The three given equations can be used to find the value of </a:t>
                </a:r>
                <a14:m>
                  <m:oMath xmlns:m="http://schemas.openxmlformats.org/officeDocument/2006/math">
                    <m:r>
                      <a:rPr lang="en-US" sz="2200" i="1">
                        <a:latin typeface="Cambria Math" panose="02040503050406030204" pitchFamily="18" charset="0"/>
                        <a:ea typeface="Times New Roman" panose="02020603050405020304" pitchFamily="18" charset="0"/>
                        <a:cs typeface="Times New Roman" panose="02020603050405020304" pitchFamily="18" charset="0"/>
                      </a:rPr>
                      <m:t>𝑦</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using the angle relationships in the figure. Identify which angle relationship was used to write each equation.</a:t>
                </a:r>
                <a:endParaRPr lang="en-US" sz="2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26556" y="384538"/>
                <a:ext cx="10800000" cy="1226105"/>
              </a:xfrm>
              <a:prstGeom prst="rect">
                <a:avLst/>
              </a:prstGeom>
              <a:blipFill rotWithShape="1">
                <a:blip r:embed="rId4"/>
                <a:stretch>
                  <a:fillRect t="-2985" b="-8955"/>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44DB0CF2-E139-CC47-9C65-F4FAF702DB28}"/>
                  </a:ext>
                </a:extLst>
              </p:cNvPr>
              <p:cNvGraphicFramePr>
                <a:graphicFrameLocks noGrp="1"/>
              </p:cNvGraphicFramePr>
              <p:nvPr>
                <p:extLst>
                  <p:ext uri="{D42A27DB-BD31-4B8C-83A1-F6EECF244321}">
                    <p14:modId xmlns:p14="http://schemas.microsoft.com/office/powerpoint/2010/main" val="1474838389"/>
                  </p:ext>
                </p:extLst>
              </p:nvPr>
            </p:nvGraphicFramePr>
            <p:xfrm>
              <a:off x="2486574" y="1796830"/>
              <a:ext cx="7462176" cy="4032000"/>
            </p:xfrm>
            <a:graphic>
              <a:graphicData uri="http://schemas.openxmlformats.org/drawingml/2006/table">
                <a:tbl>
                  <a:tblPr firstRow="1" firstCol="1" bandRow="1"/>
                  <a:tblGrid>
                    <a:gridCol w="3424202">
                      <a:extLst>
                        <a:ext uri="{9D8B030D-6E8A-4147-A177-3AD203B41FA5}">
                          <a16:colId xmlns="" xmlns:a16="http://schemas.microsoft.com/office/drawing/2014/main" val="3033325102"/>
                        </a:ext>
                      </a:extLst>
                    </a:gridCol>
                    <a:gridCol w="4037974">
                      <a:extLst>
                        <a:ext uri="{9D8B030D-6E8A-4147-A177-3AD203B41FA5}">
                          <a16:colId xmlns="" xmlns:a16="http://schemas.microsoft.com/office/drawing/2014/main" val="3465167361"/>
                        </a:ext>
                      </a:extLst>
                    </a:gridCol>
                  </a:tblGrid>
                  <a:tr h="468000">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Equation</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Angle Relationship</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1823511717"/>
                      </a:ext>
                    </a:extLst>
                  </a:tr>
                  <a:tr h="118800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13</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+6+9</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−2=180</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exterior angle of a triangle</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interior angles of a triangle</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supplementary angles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732461259"/>
                      </a:ext>
                    </a:extLst>
                  </a:tr>
                  <a:tr h="118800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12</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+14=9</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−2+5</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exterior angle of a triangle</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interior angles of a triangle</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supplementary angles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834361782"/>
                      </a:ext>
                    </a:extLst>
                  </a:tr>
                  <a:tr h="1188000">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+9</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−2+8</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+6=180</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exterior angle of a triangle</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interior angles of a triangle</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supplementary angles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220637835"/>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44DB0CF2-E139-CC47-9C65-F4FAF702DB28}"/>
                  </a:ext>
                </a:extLst>
              </p:cNvPr>
              <p:cNvGraphicFramePr>
                <a:graphicFrameLocks noGrp="1"/>
              </p:cNvGraphicFramePr>
              <p:nvPr>
                <p:extLst>
                  <p:ext uri="{D42A27DB-BD31-4B8C-83A1-F6EECF244321}">
                    <p14:modId xmlns:p14="http://schemas.microsoft.com/office/powerpoint/2010/main" val="1474838389"/>
                  </p:ext>
                </p:extLst>
              </p:nvPr>
            </p:nvGraphicFramePr>
            <p:xfrm>
              <a:off x="2486574" y="1796830"/>
              <a:ext cx="7462176" cy="4032000"/>
            </p:xfrm>
            <a:graphic>
              <a:graphicData uri="http://schemas.openxmlformats.org/drawingml/2006/table">
                <a:tbl>
                  <a:tblPr firstRow="1" firstCol="1" bandRow="1"/>
                  <a:tblGrid>
                    <a:gridCol w="3424202">
                      <a:extLst>
                        <a:ext uri="{9D8B030D-6E8A-4147-A177-3AD203B41FA5}">
                          <a16:colId xmlns:a16="http://schemas.microsoft.com/office/drawing/2014/main" xmlns:a14="http://schemas.microsoft.com/office/drawing/2010/main" xmlns="" val="3033325102"/>
                        </a:ext>
                      </a:extLst>
                    </a:gridCol>
                    <a:gridCol w="4037974">
                      <a:extLst>
                        <a:ext uri="{9D8B030D-6E8A-4147-A177-3AD203B41FA5}">
                          <a16:colId xmlns:a16="http://schemas.microsoft.com/office/drawing/2014/main" xmlns:a14="http://schemas.microsoft.com/office/drawing/2010/main" xmlns="" val="3465167361"/>
                        </a:ext>
                      </a:extLst>
                    </a:gridCol>
                  </a:tblGrid>
                  <a:tr h="468000">
                    <a:tc>
                      <a:txBody>
                        <a:bodyPr/>
                        <a:lstStyle/>
                        <a:p>
                          <a:pPr marL="0" marR="0" algn="ctr">
                            <a:lnSpc>
                              <a:spcPct val="115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Equation</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Angle Relationship</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823511717"/>
                      </a:ext>
                    </a:extLst>
                  </a:tr>
                  <a:tr h="118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78" t="-40206" r="-117972" b="-207216"/>
                          </a:stretch>
                        </a:blipFill>
                      </a:tcPr>
                    </a:tc>
                    <a:tc>
                      <a:txBody>
                        <a:bodyPr/>
                        <a:lstStyle/>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exterior angle of a triangle</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interior angles of a triangle</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supplementary angles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732461259"/>
                      </a:ext>
                    </a:extLst>
                  </a:tr>
                  <a:tr h="118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78" t="-139487" r="-117972" b="-106154"/>
                          </a:stretch>
                        </a:blipFill>
                      </a:tcPr>
                    </a:tc>
                    <a:tc>
                      <a:txBody>
                        <a:bodyPr/>
                        <a:lstStyle/>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exterior angle of a triangle</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interior angles of a triangle</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supplementary angles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834361782"/>
                      </a:ext>
                    </a:extLst>
                  </a:tr>
                  <a:tr h="118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78" t="-239487" r="-117972" b="-6154"/>
                          </a:stretch>
                        </a:blipFill>
                      </a:tcPr>
                    </a:tc>
                    <a:tc>
                      <a:txBody>
                        <a:bodyPr/>
                        <a:lstStyle/>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exterior angle of a triangle</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interior angles of a triangle</a:t>
                          </a:r>
                        </a:p>
                        <a:p>
                          <a:pPr marL="342900" marR="0" lvl="0" indent="-342900">
                            <a:lnSpc>
                              <a:spcPct val="115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supplementary angles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220637835"/>
                      </a:ext>
                    </a:extLst>
                  </a:tr>
                </a:tbl>
              </a:graphicData>
            </a:graphic>
          </p:graphicFrame>
        </mc:Fallback>
      </mc:AlternateContent>
      <p:sp>
        <p:nvSpPr>
          <p:cNvPr id="8" name="Google Shape;282;g104476d1465_1_17">
            <a:extLst>
              <a:ext uri="{FF2B5EF4-FFF2-40B4-BE49-F238E27FC236}">
                <a16:creationId xmlns="" xmlns:a16="http://schemas.microsoft.com/office/drawing/2014/main" id="{592BD608-DDA1-A541-93CD-73A28CE6FBED}"/>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289</a:t>
            </a:r>
            <a:endParaRPr i="1" dirty="0">
              <a:latin typeface="Calibri"/>
              <a:ea typeface="Calibri"/>
              <a:cs typeface="Calibri"/>
              <a:sym typeface="Calibri"/>
            </a:endParaRPr>
          </a:p>
        </p:txBody>
      </p:sp>
    </p:spTree>
    <p:extLst>
      <p:ext uri="{BB962C8B-B14F-4D97-AF65-F5344CB8AC3E}">
        <p14:creationId xmlns:p14="http://schemas.microsoft.com/office/powerpoint/2010/main" val="2906964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535434" y="383351"/>
                <a:ext cx="11094906" cy="1748877"/>
              </a:xfrm>
              <a:prstGeom prst="rect">
                <a:avLst/>
              </a:prstGeom>
              <a:noFill/>
            </p:spPr>
            <p:txBody>
              <a:bodyPr wrap="square" rtlCol="0">
                <a:spAutoFit/>
              </a:bodyPr>
              <a:lstStyle/>
              <a:p>
                <a:pPr marL="914400" indent="-457200">
                  <a:lnSpc>
                    <a:spcPct val="115000"/>
                  </a:lnSpc>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Choose one of the equations from Part A and use it to find the value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𝑦</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7200">
                  <a:lnSpc>
                    <a:spcPct val="115000"/>
                  </a:lnSpc>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15000"/>
                  </a:lnSpc>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Find the value of each angle measure in the table.</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5434" y="383351"/>
                <a:ext cx="11094906" cy="1748877"/>
              </a:xfrm>
              <a:prstGeom prst="rect">
                <a:avLst/>
              </a:prstGeom>
              <a:blipFill rotWithShape="1">
                <a:blip r:embed="rId4"/>
                <a:stretch>
                  <a:fillRect t="-2091" b="-6969"/>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9FA2E410-D953-F545-A6B2-C1A2E3985837}"/>
                  </a:ext>
                </a:extLst>
              </p:cNvPr>
              <p:cNvGraphicFramePr>
                <a:graphicFrameLocks noGrp="1"/>
              </p:cNvGraphicFramePr>
              <p:nvPr>
                <p:extLst>
                  <p:ext uri="{D42A27DB-BD31-4B8C-83A1-F6EECF244321}">
                    <p14:modId xmlns:p14="http://schemas.microsoft.com/office/powerpoint/2010/main" val="3526329551"/>
                  </p:ext>
                </p:extLst>
              </p:nvPr>
            </p:nvGraphicFramePr>
            <p:xfrm>
              <a:off x="1622966" y="2365625"/>
              <a:ext cx="5818910" cy="2941944"/>
            </p:xfrm>
            <a:graphic>
              <a:graphicData uri="http://schemas.openxmlformats.org/drawingml/2006/table">
                <a:tbl>
                  <a:tblPr firstRow="1" firstCol="1" bandRow="1"/>
                  <a:tblGrid>
                    <a:gridCol w="2909455">
                      <a:extLst>
                        <a:ext uri="{9D8B030D-6E8A-4147-A177-3AD203B41FA5}">
                          <a16:colId xmlns="" xmlns:a16="http://schemas.microsoft.com/office/drawing/2014/main" val="3765324980"/>
                        </a:ext>
                      </a:extLst>
                    </a:gridCol>
                    <a:gridCol w="2909455">
                      <a:extLst>
                        <a:ext uri="{9D8B030D-6E8A-4147-A177-3AD203B41FA5}">
                          <a16:colId xmlns="" xmlns:a16="http://schemas.microsoft.com/office/drawing/2014/main" val="182375983"/>
                        </a:ext>
                      </a:extLst>
                    </a:gridCol>
                  </a:tblGrid>
                  <a:tr h="468000">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Angle</a:t>
                          </a: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b="1">
                              <a:solidFill>
                                <a:srgbClr val="000000"/>
                              </a:solidFill>
                              <a:effectLst/>
                              <a:latin typeface="Verdana" panose="020B0604030504040204" pitchFamily="34" charset="0"/>
                              <a:ea typeface="Verdana" panose="020B0604030504040204" pitchFamily="34" charset="0"/>
                              <a:cs typeface="Verdana" panose="020B0604030504040204" pitchFamily="34" charset="0"/>
                            </a:rPr>
                            <a:t>Measure</a:t>
                          </a:r>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3801061055"/>
                      </a:ext>
                    </a:extLst>
                  </a:tr>
                  <a:tr h="824648">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𝐻𝐹𝑋</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195970688"/>
                      </a:ext>
                    </a:extLst>
                  </a:tr>
                  <a:tr h="824648">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𝐻𝑁𝐹</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221948647"/>
                      </a:ext>
                    </a:extLst>
                  </a:tr>
                  <a:tr h="824648">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𝑁𝐻𝐿</m:t>
                                </m:r>
                              </m:oMath>
                            </m:oMathPara>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069618587"/>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9FA2E410-D953-F545-A6B2-C1A2E3985837}"/>
                  </a:ext>
                </a:extLst>
              </p:cNvPr>
              <p:cNvGraphicFramePr>
                <a:graphicFrameLocks noGrp="1"/>
              </p:cNvGraphicFramePr>
              <p:nvPr>
                <p:extLst>
                  <p:ext uri="{D42A27DB-BD31-4B8C-83A1-F6EECF244321}">
                    <p14:modId xmlns:p14="http://schemas.microsoft.com/office/powerpoint/2010/main" val="3526329551"/>
                  </p:ext>
                </p:extLst>
              </p:nvPr>
            </p:nvGraphicFramePr>
            <p:xfrm>
              <a:off x="1622966" y="2365625"/>
              <a:ext cx="5818910" cy="2941944"/>
            </p:xfrm>
            <a:graphic>
              <a:graphicData uri="http://schemas.openxmlformats.org/drawingml/2006/table">
                <a:tbl>
                  <a:tblPr firstRow="1" firstCol="1" bandRow="1"/>
                  <a:tblGrid>
                    <a:gridCol w="2909455">
                      <a:extLst>
                        <a:ext uri="{9D8B030D-6E8A-4147-A177-3AD203B41FA5}">
                          <a16:colId xmlns:a16="http://schemas.microsoft.com/office/drawing/2014/main" xmlns:a14="http://schemas.microsoft.com/office/drawing/2010/main" xmlns="" val="3765324980"/>
                        </a:ext>
                      </a:extLst>
                    </a:gridCol>
                    <a:gridCol w="2909455">
                      <a:extLst>
                        <a:ext uri="{9D8B030D-6E8A-4147-A177-3AD203B41FA5}">
                          <a16:colId xmlns:a16="http://schemas.microsoft.com/office/drawing/2014/main" xmlns:a14="http://schemas.microsoft.com/office/drawing/2010/main" xmlns="" val="182375983"/>
                        </a:ext>
                      </a:extLst>
                    </a:gridCol>
                  </a:tblGrid>
                  <a:tr h="468000">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Angle</a:t>
                          </a:r>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b="1">
                              <a:solidFill>
                                <a:srgbClr val="000000"/>
                              </a:solidFill>
                              <a:effectLst/>
                              <a:latin typeface="Verdana" panose="020B0604030504040204" pitchFamily="34" charset="0"/>
                              <a:ea typeface="Verdana" panose="020B0604030504040204" pitchFamily="34" charset="0"/>
                              <a:cs typeface="Verdana" panose="020B0604030504040204" pitchFamily="34" charset="0"/>
                            </a:rPr>
                            <a:t>Measure</a:t>
                          </a:r>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3801061055"/>
                      </a:ext>
                    </a:extLst>
                  </a:tr>
                  <a:tr h="824648">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62222" r="-99791" b="-200741"/>
                          </a:stretch>
                        </a:blipFill>
                      </a:tcP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195970688"/>
                      </a:ext>
                    </a:extLst>
                  </a:tr>
                  <a:tr h="824648">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61029" r="-99791" b="-99265"/>
                          </a:stretch>
                        </a:blipFill>
                      </a:tcP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221948647"/>
                      </a:ext>
                    </a:extLst>
                  </a:tr>
                  <a:tr h="824648">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62963" r="-99791"/>
                          </a:stretch>
                        </a:blipFill>
                      </a:tcP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069618587"/>
                      </a:ext>
                    </a:extLst>
                  </a:tr>
                </a:tbl>
              </a:graphicData>
            </a:graphic>
          </p:graphicFrame>
        </mc:Fallback>
      </mc:AlternateContent>
      <p:sp>
        <p:nvSpPr>
          <p:cNvPr id="8" name="Google Shape;282;g104476d1465_1_17">
            <a:extLst>
              <a:ext uri="{FF2B5EF4-FFF2-40B4-BE49-F238E27FC236}">
                <a16:creationId xmlns="" xmlns:a16="http://schemas.microsoft.com/office/drawing/2014/main" id="{3DDD8A1E-6416-9645-BD82-2CBCA58E8B99}"/>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289</a:t>
            </a:r>
            <a:endParaRPr i="1" dirty="0">
              <a:latin typeface="Calibri"/>
              <a:ea typeface="Calibri"/>
              <a:cs typeface="Calibri"/>
              <a:sym typeface="Calibri"/>
            </a:endParaRPr>
          </a:p>
        </p:txBody>
      </p:sp>
    </p:spTree>
    <p:extLst>
      <p:ext uri="{BB962C8B-B14F-4D97-AF65-F5344CB8AC3E}">
        <p14:creationId xmlns:p14="http://schemas.microsoft.com/office/powerpoint/2010/main" val="1458328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76536"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 xmlns:a16="http://schemas.microsoft.com/office/drawing/2014/main" id="{93D338D9-F4F3-AC46-BAB5-0DC7D3916679}"/>
              </a:ext>
            </a:extLst>
          </p:cNvPr>
          <p:cNvPicPr preferRelativeResize="0"/>
          <p:nvPr/>
        </p:nvPicPr>
        <p:blipFill rotWithShape="1">
          <a:blip r:embed="rId4">
            <a:alphaModFix/>
          </a:blip>
          <a:srcRect/>
          <a:stretch/>
        </p:blipFill>
        <p:spPr>
          <a:xfrm>
            <a:off x="3054096" y="2852928"/>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 xmlns:a16="http://schemas.microsoft.com/office/drawing/2014/main" id="{062FD44C-202C-A844-9C77-1C2233FA9F9B}"/>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290</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 xmlns:a16="http://schemas.microsoft.com/office/drawing/2014/main" id="{07112538-C7A8-8B4A-B739-C3032B04086A}"/>
              </a:ext>
            </a:extLst>
          </p:cNvPr>
          <p:cNvSpPr txBox="1">
            <a:spLocks/>
          </p:cNvSpPr>
          <p:nvPr/>
        </p:nvSpPr>
        <p:spPr>
          <a:xfrm>
            <a:off x="1255088" y="286692"/>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13.4.5 Your Turn!</a:t>
            </a:r>
          </a:p>
        </p:txBody>
      </p:sp>
      <p:pic>
        <p:nvPicPr>
          <p:cNvPr id="9" name="Google Shape;430;g103996e1364_0_428">
            <a:extLst>
              <a:ext uri="{FF2B5EF4-FFF2-40B4-BE49-F238E27FC236}">
                <a16:creationId xmlns="" xmlns:a16="http://schemas.microsoft.com/office/drawing/2014/main" id="{032D5487-B5A9-DE4B-AE87-33198BE16145}"/>
              </a:ext>
            </a:extLst>
          </p:cNvPr>
          <p:cNvPicPr preferRelativeResize="0"/>
          <p:nvPr/>
        </p:nvPicPr>
        <p:blipFill rotWithShape="1">
          <a:blip r:embed="rId4">
            <a:alphaModFix/>
          </a:blip>
          <a:srcRect/>
          <a:stretch/>
        </p:blipFill>
        <p:spPr>
          <a:xfrm>
            <a:off x="439023" y="286692"/>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759C3E41-93EC-B84D-963F-86A3B15AC1C6}"/>
                  </a:ext>
                </a:extLst>
              </p:cNvPr>
              <p:cNvSpPr txBox="1"/>
              <p:nvPr/>
            </p:nvSpPr>
            <p:spPr>
              <a:xfrm>
                <a:off x="530240" y="1443093"/>
                <a:ext cx="5435403" cy="4622804"/>
              </a:xfrm>
              <a:prstGeom prst="rect">
                <a:avLst/>
              </a:prstGeom>
              <a:noFill/>
            </p:spPr>
            <p:txBody>
              <a:bodyPr wrap="square" rtlCol="0">
                <a:spAutoFit/>
              </a:bodyPr>
              <a:lstStyle/>
              <a:p>
                <a:pPr marL="457200" indent="-457200">
                  <a:lnSpc>
                    <a:spcPct val="115000"/>
                  </a:lnSpc>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Triangle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𝐵𝑇𝑀</m:t>
                    </m:r>
                  </m:oMath>
                </a14:m>
                <a:r>
                  <a:rPr lang="en-US" sz="2400" dirty="0">
                    <a:latin typeface="Verdana" panose="020B0604030504040204" pitchFamily="34" charset="0"/>
                    <a:ea typeface="Verdana" panose="020B0604030504040204" pitchFamily="34" charset="0"/>
                    <a:cs typeface="Verdana" panose="020B0604030504040204" pitchFamily="34" charset="0"/>
                  </a:rPr>
                  <a:t> is shown.</a:t>
                </a:r>
              </a:p>
              <a:p>
                <a:pPr marL="457200" indent="-457200">
                  <a:lnSpc>
                    <a:spcPct val="115000"/>
                  </a:lnSpc>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15000"/>
                  </a:lnSpc>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Write and solve an equation to find the value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𝑛</m:t>
                    </m:r>
                  </m:oMath>
                </a14:m>
                <a:r>
                  <a:rPr lang="en-US" sz="2400" dirty="0" smtClean="0">
                    <a:latin typeface="Verdana" panose="020B0604030504040204" pitchFamily="34" charset="0"/>
                    <a:ea typeface="Verdana" panose="020B0604030504040204" pitchFamily="34" charset="0"/>
                    <a:cs typeface="Verdana" panose="020B0604030504040204" pitchFamily="34" charset="0"/>
                  </a:rPr>
                  <a:t>.</a:t>
                </a:r>
              </a:p>
              <a:p>
                <a:pPr marL="914400" indent="-457200">
                  <a:lnSpc>
                    <a:spcPct val="115000"/>
                  </a:lnSpc>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15000"/>
                  </a:lnSpc>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Find the measure of angle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𝐵𝑇𝑀</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a:lnSpc>
                    <a:spcPct val="115000"/>
                  </a:lnSpc>
                </a:pPr>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a:lnSpc>
                    <a:spcPct val="115000"/>
                  </a:lnSpc>
                </a:pPr>
                <a:r>
                  <a:rPr lang="en-US" sz="2400" dirty="0">
                    <a:latin typeface="Verdana" panose="020B0604030504040204" pitchFamily="34" charset="0"/>
                    <a:ea typeface="Verdana" panose="020B0604030504040204" pitchFamily="34" charset="0"/>
                    <a:cs typeface="Verdana" panose="020B0604030504040204" pitchFamily="34" charset="0"/>
                  </a:rPr>
                  <a:t> </a:t>
                </a:r>
              </a:p>
              <a:p>
                <a:pPr>
                  <a:lnSpc>
                    <a:spcPct val="115000"/>
                  </a:lnSpc>
                </a:pPr>
                <a:r>
                  <a:rPr lang="en-US" sz="2400" dirty="0">
                    <a:ea typeface="Times New Roman" panose="02020603050405020304" pitchFamily="18" charset="0"/>
                    <a:cs typeface="Times New Roman" panose="02020603050405020304" pitchFamily="18" charset="0"/>
                  </a:rPr>
                  <a:t>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𝑚</m:t>
                    </m:r>
                    <m:r>
                      <a:rPr lang="en-US" sz="2400" i="1">
                        <a:latin typeface="Cambria Math" panose="02040503050406030204" pitchFamily="18" charset="0"/>
                        <a:ea typeface="Times New Roman" panose="02020603050405020304" pitchFamily="18" charset="0"/>
                        <a:cs typeface="Times New Roman" panose="02020603050405020304" pitchFamily="18" charset="0"/>
                      </a:rPr>
                      <m:t>∠</m:t>
                    </m:r>
                    <m:r>
                      <a:rPr lang="en-US" sz="2400" i="1">
                        <a:latin typeface="Cambria Math" panose="02040503050406030204" pitchFamily="18" charset="0"/>
                        <a:ea typeface="Times New Roman" panose="02020603050405020304" pitchFamily="18" charset="0"/>
                        <a:cs typeface="Times New Roman" panose="02020603050405020304" pitchFamily="18" charset="0"/>
                      </a:rPr>
                      <m:t>𝐵𝑇𝑀</m:t>
                    </m:r>
                    <m:r>
                      <a:rPr lang="en-US" sz="2400" i="1">
                        <a:latin typeface="Cambria Math" panose="02040503050406030204" pitchFamily="18" charset="0"/>
                        <a:ea typeface="Times New Roman" panose="02020603050405020304" pitchFamily="18" charset="0"/>
                        <a:cs typeface="Times New Roman" panose="02020603050405020304" pitchFamily="18" charset="0"/>
                      </a:rPr>
                      <m:t>=_______°</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15000"/>
                  </a:lnSpc>
                  <a:buFont typeface="+mj-lt"/>
                  <a:buAutoNum type="arabicPeriod"/>
                </a:pP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530240" y="1443093"/>
                <a:ext cx="5435403" cy="4622804"/>
              </a:xfrm>
              <a:prstGeom prst="rect">
                <a:avLst/>
              </a:prstGeom>
              <a:blipFill rotWithShape="1">
                <a:blip r:embed="rId5"/>
                <a:stretch>
                  <a:fillRect l="-1794" t="-792" r="-3251"/>
                </a:stretch>
              </a:blipFill>
            </p:spPr>
            <p:txBody>
              <a:bodyPr/>
              <a:lstStyle/>
              <a:p>
                <a:r>
                  <a:rPr lang="en-PH">
                    <a:noFill/>
                  </a:rPr>
                  <a:t> </a:t>
                </a:r>
              </a:p>
            </p:txBody>
          </p:sp>
        </mc:Fallback>
      </mc:AlternateContent>
      <p:sp>
        <p:nvSpPr>
          <p:cNvPr id="10" name="Google Shape;282;g104476d1465_1_17">
            <a:extLst>
              <a:ext uri="{FF2B5EF4-FFF2-40B4-BE49-F238E27FC236}">
                <a16:creationId xmlns="" xmlns:a16="http://schemas.microsoft.com/office/drawing/2014/main" id="{CE56A988-D665-4A41-AD2E-EE133084CBD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290</a:t>
            </a:r>
            <a:endParaRPr i="1" dirty="0">
              <a:latin typeface="Calibri"/>
              <a:ea typeface="Calibri"/>
              <a:cs typeface="Calibri"/>
              <a:sym typeface="Calibri"/>
            </a:endParaRPr>
          </a:p>
        </p:txBody>
      </p:sp>
      <p:pic>
        <p:nvPicPr>
          <p:cNvPr id="1026" name="Picture 2" descr="An image of triangle BTM."/>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978331" y="1443093"/>
            <a:ext cx="5352756"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1299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55625"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 xmlns:a16="http://schemas.microsoft.com/office/drawing/2014/main" id="{737EEB7D-E73A-A44E-88DC-76ED18C793A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290</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 xmlns:a16="http://schemas.microsoft.com/office/drawing/2014/main" id="{68C03D65-F0BF-3F41-B52A-024F47388982}"/>
              </a:ext>
            </a:extLst>
          </p:cNvPr>
          <p:cNvSpPr txBox="1">
            <a:spLocks/>
          </p:cNvSpPr>
          <p:nvPr/>
        </p:nvSpPr>
        <p:spPr>
          <a:xfrm>
            <a:off x="1258796" y="-2508"/>
            <a:ext cx="1019957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13.4.6 Wrap-Up: Ticket Out the Door</a:t>
            </a:r>
          </a:p>
        </p:txBody>
      </p:sp>
      <p:pic>
        <p:nvPicPr>
          <p:cNvPr id="9" name="Google Shape;458;g103996e1364_0_463">
            <a:extLst>
              <a:ext uri="{FF2B5EF4-FFF2-40B4-BE49-F238E27FC236}">
                <a16:creationId xmlns="" xmlns:a16="http://schemas.microsoft.com/office/drawing/2014/main" id="{EEA44D6C-2366-AC41-B1B5-EDDC34786A66}"/>
              </a:ext>
            </a:extLst>
          </p:cNvPr>
          <p:cNvPicPr preferRelativeResize="0"/>
          <p:nvPr/>
        </p:nvPicPr>
        <p:blipFill rotWithShape="1">
          <a:blip r:embed="rId4">
            <a:alphaModFix/>
          </a:blip>
          <a:srcRect/>
          <a:stretch/>
        </p:blipFill>
        <p:spPr>
          <a:xfrm>
            <a:off x="439023" y="286692"/>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0370EDB7-6994-3D43-ABF9-E04CBAFB9CD9}"/>
                  </a:ext>
                </a:extLst>
              </p:cNvPr>
              <p:cNvSpPr txBox="1"/>
              <p:nvPr/>
            </p:nvSpPr>
            <p:spPr>
              <a:xfrm>
                <a:off x="532565" y="1454420"/>
                <a:ext cx="11017597" cy="5153719"/>
              </a:xfrm>
              <a:prstGeom prst="rect">
                <a:avLst/>
              </a:prstGeom>
              <a:noFill/>
            </p:spPr>
            <p:txBody>
              <a:bodyPr wrap="square" rtlCol="0">
                <a:spAutoFit/>
              </a:bodyPr>
              <a:lstStyle/>
              <a:p>
                <a:pPr marL="457200" indent="-457200">
                  <a:lnSpc>
                    <a:spcPct val="115000"/>
                  </a:lnSpc>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Use the figure shown to complete the following.</a:t>
                </a:r>
              </a:p>
              <a:p>
                <a:pPr marL="457200" indent="-457200">
                  <a:lnSpc>
                    <a:spcPct val="115000"/>
                  </a:lnSpc>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15000"/>
                  </a:lnSpc>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15000"/>
                  </a:lnSpc>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15000"/>
                  </a:lnSpc>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15000"/>
                  </a:lnSpc>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lvl="0">
                  <a:lnSpc>
                    <a:spcPct val="115000"/>
                  </a:lnSpc>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15000"/>
                  </a:lnSpc>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15000"/>
                  </a:lnSpc>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15000"/>
                  </a:lnSpc>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Write and solve an equation to find the value of </a:t>
                </a:r>
                <a14:m>
                  <m:oMath xmlns:m="http://schemas.openxmlformats.org/officeDocument/2006/math">
                    <m:r>
                      <a:rPr lang="en-US" sz="22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200" dirty="0">
                    <a:latin typeface="Verdana" panose="020B0604030504040204" pitchFamily="34" charset="0"/>
                    <a:ea typeface="Verdana" panose="020B0604030504040204" pitchFamily="34" charset="0"/>
                    <a:cs typeface="Verdana" panose="020B0604030504040204" pitchFamily="34" charset="0"/>
                  </a:rPr>
                  <a:t>.</a:t>
                </a:r>
              </a:p>
              <a:p>
                <a:pPr marL="914400" indent="-457200">
                  <a:lnSpc>
                    <a:spcPct val="115000"/>
                  </a:lnSpc>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115000"/>
                  </a:lnSpc>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Find the measure of </a:t>
                </a:r>
                <a14:m>
                  <m:oMath xmlns:m="http://schemas.openxmlformats.org/officeDocument/2006/math">
                    <m:r>
                      <a:rPr lang="en-US" sz="2200" i="1">
                        <a:latin typeface="Cambria Math" panose="02040503050406030204" pitchFamily="18" charset="0"/>
                        <a:ea typeface="Times New Roman" panose="02020603050405020304" pitchFamily="18" charset="0"/>
                        <a:cs typeface="Times New Roman" panose="02020603050405020304" pitchFamily="18" charset="0"/>
                      </a:rPr>
                      <m:t>∠</m:t>
                    </m:r>
                    <m:r>
                      <a:rPr lang="en-US" sz="2200" i="1">
                        <a:latin typeface="Cambria Math" panose="02040503050406030204" pitchFamily="18" charset="0"/>
                        <a:ea typeface="Times New Roman" panose="02020603050405020304" pitchFamily="18" charset="0"/>
                        <a:cs typeface="Times New Roman" panose="02020603050405020304" pitchFamily="18" charset="0"/>
                      </a:rPr>
                      <m:t>𝐻𝑇𝑌</m:t>
                    </m:r>
                  </m:oMath>
                </a14:m>
                <a:r>
                  <a:rPr lang="en-US" sz="2200" dirty="0">
                    <a:latin typeface="Verdana" panose="020B0604030504040204" pitchFamily="34" charset="0"/>
                    <a:ea typeface="Verdana" panose="020B0604030504040204" pitchFamily="34" charset="0"/>
                    <a:cs typeface="Verdana" panose="020B0604030504040204" pitchFamily="34" charset="0"/>
                  </a:rPr>
                  <a:t>. </a:t>
                </a:r>
              </a:p>
              <a:p>
                <a:pPr>
                  <a:lnSpc>
                    <a:spcPct val="115000"/>
                  </a:lnSpc>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Times New Roman" panose="02020603050405020304" pitchFamily="18" charset="0"/>
                          <a:cs typeface="Times New Roman" panose="02020603050405020304" pitchFamily="18" charset="0"/>
                        </a:rPr>
                        <m:t>𝑚</m:t>
                      </m:r>
                      <m:r>
                        <a:rPr lang="en-US" sz="2200" i="1">
                          <a:latin typeface="Cambria Math" panose="02040503050406030204" pitchFamily="18" charset="0"/>
                          <a:ea typeface="Times New Roman" panose="02020603050405020304" pitchFamily="18" charset="0"/>
                          <a:cs typeface="Times New Roman" panose="02020603050405020304" pitchFamily="18" charset="0"/>
                        </a:rPr>
                        <m:t>∠</m:t>
                      </m:r>
                      <m:r>
                        <a:rPr lang="en-US" sz="2200" i="1">
                          <a:latin typeface="Cambria Math" panose="02040503050406030204" pitchFamily="18" charset="0"/>
                          <a:ea typeface="Times New Roman" panose="02020603050405020304" pitchFamily="18" charset="0"/>
                          <a:cs typeface="Times New Roman" panose="02020603050405020304" pitchFamily="18" charset="0"/>
                        </a:rPr>
                        <m:t>𝐻𝑇𝑌</m:t>
                      </m:r>
                      <m:r>
                        <a:rPr lang="en-US" sz="2200" i="1">
                          <a:latin typeface="Cambria Math" panose="02040503050406030204" pitchFamily="18" charset="0"/>
                          <a:ea typeface="Times New Roman" panose="02020603050405020304" pitchFamily="18" charset="0"/>
                          <a:cs typeface="Times New Roman" panose="02020603050405020304" pitchFamily="18" charset="0"/>
                        </a:rPr>
                        <m:t>=_______°</m:t>
                      </m:r>
                    </m:oMath>
                  </m:oMathPara>
                </a14:m>
                <a:endParaRPr lang="en-US" sz="22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xmlns:a14="http://schemas.microsoft.com/office/drawing/2010/main" xmlns="" id="{0370EDB7-6994-3D43-ABF9-E04CBAFB9CD9}"/>
                  </a:ext>
                </a:extLst>
              </p:cNvPr>
              <p:cNvSpPr txBox="1">
                <a:spLocks noRot="1" noChangeAspect="1" noMove="1" noResize="1" noEditPoints="1" noAdjustHandles="1" noChangeArrowheads="1" noChangeShapeType="1" noTextEdit="1"/>
              </p:cNvSpPr>
              <p:nvPr/>
            </p:nvSpPr>
            <p:spPr>
              <a:xfrm>
                <a:off x="532565" y="1454420"/>
                <a:ext cx="11017597" cy="5153719"/>
              </a:xfrm>
              <a:prstGeom prst="rect">
                <a:avLst/>
              </a:prstGeom>
              <a:blipFill rotWithShape="1">
                <a:blip r:embed="rId5"/>
                <a:stretch>
                  <a:fillRect l="-719" t="-710"/>
                </a:stretch>
              </a:blipFill>
            </p:spPr>
            <p:txBody>
              <a:bodyPr/>
              <a:lstStyle/>
              <a:p>
                <a:r>
                  <a:rPr lang="en-PH">
                    <a:noFill/>
                  </a:rPr>
                  <a:t> </a:t>
                </a:r>
              </a:p>
            </p:txBody>
          </p:sp>
        </mc:Fallback>
      </mc:AlternateContent>
      <p:pic>
        <p:nvPicPr>
          <p:cNvPr id="8" name="Picture 7" descr="Diagram&#10;&#10;Description automatically generated">
            <a:extLst>
              <a:ext uri="{FF2B5EF4-FFF2-40B4-BE49-F238E27FC236}">
                <a16:creationId xmlns="" xmlns:a16="http://schemas.microsoft.com/office/drawing/2014/main" id="{C9A99A75-CC68-E542-80C7-4C57FC4B1497}"/>
              </a:ext>
            </a:extLst>
          </p:cNvPr>
          <p:cNvPicPr/>
          <p:nvPr/>
        </p:nvPicPr>
        <p:blipFill>
          <a:blip r:embed="rId6" cstate="screen">
            <a:extLst>
              <a:ext uri="{28A0092B-C50C-407E-A947-70E740481C1C}">
                <a14:useLocalDpi xmlns:a14="http://schemas.microsoft.com/office/drawing/2010/main"/>
              </a:ext>
            </a:extLst>
          </a:blip>
          <a:stretch>
            <a:fillRect/>
          </a:stretch>
        </p:blipFill>
        <p:spPr>
          <a:xfrm>
            <a:off x="3505288" y="1983637"/>
            <a:ext cx="5072149" cy="2898821"/>
          </a:xfrm>
          <a:prstGeom prst="rect">
            <a:avLst/>
          </a:prstGeom>
        </p:spPr>
      </p:pic>
      <p:sp>
        <p:nvSpPr>
          <p:cNvPr id="13" name="Google Shape;282;g104476d1465_1_17">
            <a:extLst>
              <a:ext uri="{FF2B5EF4-FFF2-40B4-BE49-F238E27FC236}">
                <a16:creationId xmlns="" xmlns:a16="http://schemas.microsoft.com/office/drawing/2014/main" id="{31054F41-840F-B44E-A2E6-C5A8E7968C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290</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1316</TotalTime>
  <Words>911</Words>
  <Application>Microsoft Macintosh PowerPoint</Application>
  <PresentationFormat>Widescreen</PresentationFormat>
  <Paragraphs>235</Paragraphs>
  <Slides>27</Slides>
  <Notes>27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Verdana</vt:lpstr>
      <vt:lpstr>Cambria</vt:lpstr>
      <vt:lpstr>Wingdings</vt:lpstr>
      <vt:lpstr>Arial</vt:lpstr>
      <vt:lpstr>Calibri</vt:lpstr>
      <vt:lpstr>Arial Black</vt:lpstr>
      <vt:lpstr>Century Gothic</vt:lpstr>
      <vt:lpstr>Courier New</vt:lpstr>
      <vt:lpstr>Times New Roman</vt:lpstr>
      <vt:lpstr>Cambria Math</vt:lpstr>
      <vt:lpstr>1_Office Theme</vt:lpstr>
      <vt:lpstr>8th Grade Math: Pre-Algebra  Unit 13, Lesson 4  Solving for Unknown Angles in Triangles  Volume 2, pg. 285  </vt:lpstr>
      <vt:lpstr>Benchmark</vt:lpstr>
      <vt:lpstr>PowerPoint Presentation</vt:lpstr>
      <vt:lpstr>PowerPoint Presentation</vt:lpstr>
      <vt:lpstr>Warm-Up</vt:lpstr>
      <vt:lpstr>PowerPoint Presentation</vt:lpstr>
      <vt:lpstr>Collaboration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jslater9816@gmail.com</cp:lastModifiedBy>
  <cp:revision>23</cp:revision>
  <dcterms:created xsi:type="dcterms:W3CDTF">2015-03-17T18:51:18Z</dcterms:created>
  <dcterms:modified xsi:type="dcterms:W3CDTF">2022-07-20T22:08:53Z</dcterms:modified>
</cp:coreProperties>
</file>