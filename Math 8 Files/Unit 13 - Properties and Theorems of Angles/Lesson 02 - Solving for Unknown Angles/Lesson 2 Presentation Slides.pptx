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352" r:id="rId9"/>
    <p:sldId id="353" r:id="rId10"/>
    <p:sldId id="354" r:id="rId11"/>
    <p:sldId id="355" r:id="rId12"/>
    <p:sldId id="356" r:id="rId13"/>
    <p:sldId id="314" r:id="rId14"/>
    <p:sldId id="315" r:id="rId15"/>
    <p:sldId id="342" r:id="rId16"/>
    <p:sldId id="357" r:id="rId17"/>
    <p:sldId id="358" r:id="rId18"/>
    <p:sldId id="359" r:id="rId19"/>
    <p:sldId id="360" r:id="rId20"/>
    <p:sldId id="361" r:id="rId21"/>
    <p:sldId id="362" r:id="rId22"/>
    <p:sldId id="363" r:id="rId23"/>
    <p:sldId id="364" r:id="rId24"/>
    <p:sldId id="365" r:id="rId25"/>
    <p:sldId id="306" r:id="rId26"/>
    <p:sldId id="307" r:id="rId27"/>
    <p:sldId id="351" r:id="rId28"/>
  </p:sldIdLst>
  <p:sldSz cx="12192000" cy="6858000"/>
  <p:notesSz cx="6858000" cy="9144000"/>
  <p:embeddedFontLst>
    <p:embeddedFont>
      <p:font typeface="Arial Black" pitchFamily="34" charset="0"/>
      <p:bold r:id="rId30"/>
    </p:embeddedFont>
    <p:embeddedFont>
      <p:font typeface="Verdana" pitchFamily="34" charset="0"/>
      <p:regular r:id="rId31"/>
      <p:bold r:id="rId32"/>
      <p:italic r:id="rId33"/>
      <p:boldItalic r:id="rId34"/>
    </p:embeddedFont>
    <p:embeddedFont>
      <p:font typeface="Calibri" pitchFamily="34" charset="0"/>
      <p:regular r:id="rId35"/>
      <p:bold r:id="rId36"/>
      <p:italic r:id="rId37"/>
      <p:boldItalic r:id="rId38"/>
    </p:embeddedFont>
    <p:embeddedFont>
      <p:font typeface="Century Gothic" pitchFamily="34" charset="0"/>
      <p:regular r:id="rId39"/>
      <p:bold r:id="rId40"/>
      <p:italic r:id="rId41"/>
      <p:boldItalic r:id="rId42"/>
    </p:embeddedFont>
    <p:embeddedFont>
      <p:font typeface="Cambria Math" pitchFamily="18" charset="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autoAdjust="0"/>
    <p:restoredTop sz="94719"/>
  </p:normalViewPr>
  <p:slideViewPr>
    <p:cSldViewPr snapToGrid="0">
      <p:cViewPr varScale="1">
        <p:scale>
          <a:sx n="105" d="100"/>
          <a:sy n="105" d="100"/>
        </p:scale>
        <p:origin x="-96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63"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61"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6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583387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066755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555067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15708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17353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575177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819897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75389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109279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71210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45228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1615376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72965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503196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860949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3.tiff"/><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4.tiff"/><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https://lh5.googleusercontent.com/jlZSezoJ90YXXzpe5St2b1QEN4wS-MCH4gxSlF0zviwsNt4nmc30HnYa0l6fxDQ2d3OmkZmABYMq62iJHfJFskTqjVxBHmthzqGqm81yHsernk_-x2fJ6roX8AoRM4uMXGldfvI" TargetMode="Externa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8.tiff"/><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9.tiff"/><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45.tiff"/><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50.tiff"/><Relationship Id="rId5" Type="http://schemas.openxmlformats.org/officeDocument/2006/relationships/image" Target="../media/image4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72906" y="2054275"/>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13, Lesson 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for Unknown Angles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273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5085" y="3249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6515" y="28504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34957" y="1578442"/>
            <a:ext cx="10843169"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MA.8.GR.1.4</a:t>
            </a:r>
          </a:p>
          <a:p>
            <a:pPr indent="0">
              <a:buNone/>
            </a:pPr>
            <a:r>
              <a:rPr lang="en-US" sz="35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Solve mathematical problems involving the relationships between supplementary, complementary, vertical or adjacent angles.</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56130" y="-4152"/>
            <a:ext cx="1051927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 xmlns:a16="http://schemas.microsoft.com/office/drawing/2014/main"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273</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256130" y="1578775"/>
            <a:ext cx="1008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pic>
        <p:nvPicPr>
          <p:cNvPr id="9" name="Google Shape;281;g104476d1465_1_17"/>
          <p:cNvPicPr preferRelativeResize="0"/>
          <p:nvPr/>
        </p:nvPicPr>
        <p:blipFill>
          <a:blip r:embed="rId4">
            <a:alphaModFix/>
          </a:blip>
          <a:stretch>
            <a:fillRect/>
          </a:stretch>
        </p:blipFill>
        <p:spPr>
          <a:xfrm>
            <a:off x="436515" y="285048"/>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55088"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436515" y="28504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 xmlns:a16="http://schemas.microsoft.com/office/drawing/2014/main"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273</a:t>
            </a:r>
          </a:p>
        </p:txBody>
      </p:sp>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35622" y="1571566"/>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apply angle relationships to find missing angle measures</a:t>
            </a:r>
            <a:r>
              <a:rPr lang="en-US" sz="3500" dirty="0" smtClean="0">
                <a:latin typeface="Verdana" panose="020B0604030504040204" pitchFamily="34" charset="0"/>
                <a:ea typeface="Verdana" panose="020B0604030504040204" pitchFamily="34" charset="0"/>
                <a:cs typeface="Verdana" panose="020B0604030504040204" pitchFamily="34" charset="0"/>
              </a:rPr>
              <a:t>.</a:t>
            </a:r>
          </a:p>
          <a:p>
            <a:pPr marL="630238" indent="-623888">
              <a:buClr>
                <a:srgbClr val="434343"/>
              </a:buClr>
              <a:buSzPts val="3500"/>
              <a:buFont typeface="Wingdings" pitchFamily="2" charset="2"/>
              <a:buChar char="q"/>
            </a:pPr>
            <a:endParaRPr lang="en-US" sz="3500" dirty="0">
              <a:solidFill>
                <a:schemeClr val="tx1"/>
              </a:solidFill>
              <a:latin typeface="Verdana"/>
              <a:ea typeface="Verdana"/>
              <a:cs typeface="Verdana"/>
              <a:sym typeface="Verdana"/>
            </a:endParaRPr>
          </a:p>
          <a:p>
            <a:pPr marL="630238" indent="-623888">
              <a:buClr>
                <a:srgbClr val="434343"/>
              </a:buClr>
              <a:buSzPts val="3500"/>
              <a:buFont typeface="Wingdings" pitchFamily="2" charset="2"/>
              <a:buChar char="q"/>
            </a:pPr>
            <a:r>
              <a:rPr lang="en-US" sz="3600" dirty="0">
                <a:latin typeface="Verdana" panose="020B0604030504040204" pitchFamily="34" charset="0"/>
                <a:ea typeface="Times New Roman" panose="02020603050405020304" pitchFamily="18" charset="0"/>
                <a:cs typeface="Times New Roman" panose="02020603050405020304" pitchFamily="18" charset="0"/>
              </a:rPr>
              <a:t>I can write and solve algebraic equations to solve for unknown angles.</a:t>
            </a:r>
            <a:endParaRPr lang="en-US" sz="3500" dirty="0">
              <a:solidFill>
                <a:schemeClr val="tx1"/>
              </a:solidFill>
              <a:latin typeface="Verdana"/>
              <a:ea typeface="Verdana"/>
              <a:cs typeface="Verdana"/>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148599" y="270595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889711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5088" y="0"/>
            <a:ext cx="99954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13.2.1 Warm-Up: </a:t>
            </a:r>
            <a:r>
              <a:rPr lang="en-US" sz="3600" b="1" dirty="0">
                <a:solidFill>
                  <a:srgbClr val="42276B"/>
                </a:solidFill>
                <a:latin typeface="Verdana" panose="020B0604030504040204" pitchFamily="34" charset="0"/>
                <a:ea typeface="Verdana" panose="020B0604030504040204" pitchFamily="34" charset="0"/>
                <a:cs typeface="Verdana" panose="020B0604030504040204" pitchFamily="34" charset="0"/>
              </a:rPr>
              <a:t>Agree or Disagree</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436515" y="28504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E1D7562E-134F-D14B-AF1A-DF40E11EF758}"/>
                  </a:ext>
                </a:extLst>
              </p:cNvPr>
              <p:cNvSpPr txBox="1"/>
              <p:nvPr/>
            </p:nvSpPr>
            <p:spPr>
              <a:xfrm>
                <a:off x="543834" y="1465597"/>
                <a:ext cx="10179781" cy="461665"/>
              </a:xfrm>
              <a:prstGeom prst="rect">
                <a:avLst/>
              </a:prstGeom>
              <a:noFill/>
            </p:spPr>
            <p:txBody>
              <a:bodyPr wrap="square" rtlCol="0">
                <a:spAutoFit/>
              </a:bodyPr>
              <a:lstStyle/>
              <a:p>
                <a:pPr fontAlgn="base">
                  <a:spcBef>
                    <a:spcPts val="900"/>
                  </a:spcBef>
                  <a:spcAft>
                    <a:spcPts val="900"/>
                  </a:spcAft>
                </a:pPr>
                <a:r>
                  <a:rPr lang="en-US" sz="2400" dirty="0">
                    <a:latin typeface="Verdana" panose="020B0604030504040204" pitchFamily="34" charset="0"/>
                    <a:ea typeface="Verdana" panose="020B0604030504040204" pitchFamily="34" charset="0"/>
                  </a:rPr>
                  <a:t>1. Line segments </a:t>
                </a:r>
                <a14:m>
                  <m:oMath xmlns:m="http://schemas.openxmlformats.org/officeDocument/2006/math">
                    <m:r>
                      <a:rPr lang="en-US" sz="2400" i="1">
                        <a:latin typeface="Cambria Math" panose="02040503050406030204" pitchFamily="18" charset="0"/>
                        <a:ea typeface="Times New Roman" panose="02020603050405020304" pitchFamily="18" charset="0"/>
                      </a:rPr>
                      <m:t>𝑀𝐻</m:t>
                    </m:r>
                  </m:oMath>
                </a14:m>
                <a:r>
                  <a:rPr lang="en-US" sz="2400" dirty="0">
                    <a:latin typeface="Verdana" panose="020B0604030504040204" pitchFamily="34" charset="0"/>
                    <a:ea typeface="Verdana" panose="020B0604030504040204" pitchFamily="34"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rPr>
                      <m:t>𝑅𝑃</m:t>
                    </m:r>
                  </m:oMath>
                </a14:m>
                <a:r>
                  <a:rPr lang="en-US" sz="2400" dirty="0">
                    <a:latin typeface="Verdana" panose="020B0604030504040204" pitchFamily="34" charset="0"/>
                    <a:ea typeface="Verdana" panose="020B0604030504040204" pitchFamily="34" charset="0"/>
                  </a:rPr>
                  <a:t> intersect at point </a:t>
                </a:r>
                <a14:m>
                  <m:oMath xmlns:m="http://schemas.openxmlformats.org/officeDocument/2006/math">
                    <m:r>
                      <a:rPr lang="en-US" sz="2400" i="1">
                        <a:latin typeface="Cambria Math" panose="02040503050406030204" pitchFamily="18" charset="0"/>
                        <a:ea typeface="Times New Roman" panose="02020603050405020304" pitchFamily="18" charset="0"/>
                      </a:rPr>
                      <m:t>𝐵</m:t>
                    </m:r>
                  </m:oMath>
                </a14:m>
                <a:r>
                  <a:rPr lang="en-US" sz="2400" dirty="0">
                    <a:latin typeface="Verdana" panose="020B0604030504040204" pitchFamily="34" charset="0"/>
                    <a:ea typeface="Verdana" panose="020B0604030504040204" pitchFamily="34" charset="0"/>
                  </a:rPr>
                  <a:t>.</a:t>
                </a:r>
                <a:endParaRPr lang="en-US" sz="1600" dirty="0">
                  <a:latin typeface="Verdana" panose="020B0604030504040204" pitchFamily="34" charset="0"/>
                  <a:ea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43834" y="1465597"/>
                <a:ext cx="10179781" cy="461665"/>
              </a:xfrm>
              <a:prstGeom prst="rect">
                <a:avLst/>
              </a:prstGeom>
              <a:blipFill rotWithShape="1">
                <a:blip r:embed="rId5"/>
                <a:stretch>
                  <a:fillRect l="-898" t="-11842" b="-27632"/>
                </a:stretch>
              </a:blipFill>
            </p:spPr>
            <p:txBody>
              <a:bodyPr/>
              <a:lstStyle/>
              <a:p>
                <a:r>
                  <a:rPr lang="en-PH">
                    <a:noFill/>
                  </a:rPr>
                  <a:t> </a:t>
                </a:r>
              </a:p>
            </p:txBody>
          </p:sp>
        </mc:Fallback>
      </mc:AlternateContent>
      <p:pic>
        <p:nvPicPr>
          <p:cNvPr id="9" name="Picture 8" descr="A picture containing diagram&#10;&#10;Description automatically generated">
            <a:extLst>
              <a:ext uri="{FF2B5EF4-FFF2-40B4-BE49-F238E27FC236}">
                <a16:creationId xmlns="" xmlns:a16="http://schemas.microsoft.com/office/drawing/2014/main" id="{5A56EAF2-DAEF-44B7-9050-8F0B7A7F3E5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160274" y="2029449"/>
            <a:ext cx="6946900" cy="3527425"/>
          </a:xfrm>
          <a:prstGeom prst="rect">
            <a:avLst/>
          </a:prstGeom>
        </p:spPr>
      </p:pic>
      <p:pic>
        <p:nvPicPr>
          <p:cNvPr id="10"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273</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6129" y="2642760"/>
                <a:ext cx="10832858" cy="3477875"/>
              </a:xfrm>
              <a:prstGeom prst="rect">
                <a:avLst/>
              </a:prstGeom>
              <a:noFill/>
            </p:spPr>
            <p:txBody>
              <a:bodyPr wrap="square" rtlCol="0">
                <a:spAutoFit/>
              </a:bodyPr>
              <a:lstStyle/>
              <a:p>
                <a:pPr marL="900113" indent="-457200" fontAlgn="base">
                  <a:spcBef>
                    <a:spcPts val="1000"/>
                  </a:spcBef>
                  <a:spcAft>
                    <a:spcPts val="180"/>
                  </a:spcAft>
                  <a:buSzPct val="100000"/>
                  <a:buFont typeface="Verdana" panose="020B0604030504040204" pitchFamily="34" charset="0"/>
                  <a:buAutoNum type="alphaLcPeriod"/>
                  <a:tabLst>
                    <a:tab pos="2571750" algn="l"/>
                  </a:tabLst>
                </a:pPr>
                <a:r>
                  <a:rPr lang="en-US" sz="2000" dirty="0" err="1">
                    <a:latin typeface="Verdana" panose="020B0604030504040204" pitchFamily="34" charset="0"/>
                    <a:ea typeface="Times New Roman" panose="02020603050405020304" pitchFamily="18" charset="0"/>
                  </a:rPr>
                  <a:t>Jamessia</a:t>
                </a:r>
                <a:r>
                  <a:rPr lang="en-US" sz="2000" dirty="0">
                    <a:latin typeface="Verdana" panose="020B0604030504040204" pitchFamily="34" charset="0"/>
                    <a:ea typeface="Times New Roman" panose="02020603050405020304" pitchFamily="18" charset="0"/>
                  </a:rPr>
                  <a:t> says </a:t>
                </a:r>
                <a14:m>
                  <m:oMath xmlns:m="http://schemas.openxmlformats.org/officeDocument/2006/math">
                    <m:r>
                      <a:rPr lang="en-US" sz="2000" i="1">
                        <a:latin typeface="Cambria Math" panose="02040503050406030204" pitchFamily="18" charset="0"/>
                        <a:ea typeface="Times New Roman" panose="02020603050405020304" pitchFamily="18" charset="0"/>
                      </a:rPr>
                      <m:t>∠</m:t>
                    </m:r>
                    <m:r>
                      <a:rPr lang="en-US" sz="2000" i="1">
                        <a:latin typeface="Cambria Math" panose="02040503050406030204" pitchFamily="18" charset="0"/>
                        <a:ea typeface="Times New Roman" panose="02020603050405020304" pitchFamily="18" charset="0"/>
                      </a:rPr>
                      <m:t>𝑀𝐵𝑅</m:t>
                    </m:r>
                  </m:oMath>
                </a14:m>
                <a:r>
                  <a:rPr lang="en-US" sz="2000" dirty="0">
                    <a:latin typeface="Verdana" panose="020B0604030504040204" pitchFamily="34" charset="0"/>
                    <a:ea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rPr>
                      <m:t>∠</m:t>
                    </m:r>
                    <m:r>
                      <a:rPr lang="en-US" sz="2000" i="1">
                        <a:latin typeface="Cambria Math" panose="02040503050406030204" pitchFamily="18" charset="0"/>
                        <a:ea typeface="Times New Roman" panose="02020603050405020304" pitchFamily="18" charset="0"/>
                      </a:rPr>
                      <m:t>𝑃𝐵𝐻</m:t>
                    </m:r>
                  </m:oMath>
                </a14:m>
                <a:r>
                  <a:rPr lang="en-US" sz="2000" dirty="0">
                    <a:latin typeface="Verdana" panose="020B0604030504040204" pitchFamily="34" charset="0"/>
                    <a:ea typeface="Times New Roman" panose="02020603050405020304" pitchFamily="18" charset="0"/>
                  </a:rPr>
                  <a:t> have the same measure. Malik disagrees and says that obviously the measure of </a:t>
                </a:r>
                <a14:m>
                  <m:oMath xmlns:m="http://schemas.openxmlformats.org/officeDocument/2006/math">
                    <m:r>
                      <a:rPr lang="en-US" sz="2000" i="1">
                        <a:latin typeface="Cambria Math" panose="02040503050406030204" pitchFamily="18" charset="0"/>
                        <a:ea typeface="Times New Roman" panose="02020603050405020304" pitchFamily="18" charset="0"/>
                      </a:rPr>
                      <m:t>∠</m:t>
                    </m:r>
                    <m:r>
                      <a:rPr lang="en-US" sz="2000" i="1">
                        <a:latin typeface="Cambria Math" panose="02040503050406030204" pitchFamily="18" charset="0"/>
                        <a:ea typeface="Times New Roman" panose="02020603050405020304" pitchFamily="18" charset="0"/>
                      </a:rPr>
                      <m:t>𝑀𝐵𝑅</m:t>
                    </m:r>
                  </m:oMath>
                </a14:m>
                <a:r>
                  <a:rPr lang="en-US" sz="2000" dirty="0">
                    <a:latin typeface="Verdana" panose="020B0604030504040204" pitchFamily="34" charset="0"/>
                    <a:ea typeface="Times New Roman" panose="02020603050405020304" pitchFamily="18" charset="0"/>
                  </a:rPr>
                  <a:t> is larger.</a:t>
                </a:r>
                <a:endParaRPr lang="en-US" sz="2000" dirty="0">
                  <a:latin typeface="Times New Roman" panose="02020603050405020304" pitchFamily="18" charset="0"/>
                  <a:ea typeface="Times New Roman" panose="02020603050405020304" pitchFamily="18" charset="0"/>
                </a:endParaRPr>
              </a:p>
              <a:p>
                <a:pPr marL="1343025" indent="-457200" fontAlgn="base">
                  <a:spcBef>
                    <a:spcPts val="1000"/>
                  </a:spcBef>
                  <a:spcAft>
                    <a:spcPts val="180"/>
                  </a:spcAft>
                  <a:tabLst>
                    <a:tab pos="355600" algn="l"/>
                    <a:tab pos="2571750" algn="l"/>
                  </a:tabLst>
                </a:pPr>
                <a:r>
                  <a:rPr lang="en-US" sz="2000" dirty="0">
                    <a:latin typeface="Verdana" panose="020B0604030504040204" pitchFamily="34" charset="0"/>
                    <a:ea typeface="Times New Roman" panose="02020603050405020304" pitchFamily="18" charset="0"/>
                  </a:rPr>
                  <a:t>Where do you stand?</a:t>
                </a:r>
                <a:endParaRPr lang="en-US" sz="2000" dirty="0">
                  <a:latin typeface="Times New Roman" panose="02020603050405020304" pitchFamily="18" charset="0"/>
                  <a:ea typeface="Times New Roman" panose="02020603050405020304" pitchFamily="18" charset="0"/>
                </a:endParaRPr>
              </a:p>
              <a:p>
                <a:pPr marL="1252538" indent="-366713" fontAlgn="base">
                  <a:spcBef>
                    <a:spcPts val="1000"/>
                  </a:spcBef>
                  <a:spcAft>
                    <a:spcPts val="180"/>
                  </a:spcAft>
                  <a:buFont typeface="Courier New" panose="02070309020205020404" pitchFamily="49" charset="0"/>
                  <a:buChar char="o"/>
                  <a:tabLst>
                    <a:tab pos="2571750" algn="l"/>
                  </a:tabLst>
                </a:pPr>
                <a:r>
                  <a:rPr lang="en-US" sz="2000" dirty="0">
                    <a:latin typeface="Verdana" panose="020B0604030504040204" pitchFamily="34" charset="0"/>
                    <a:ea typeface="Times New Roman" panose="02020603050405020304" pitchFamily="18" charset="0"/>
                  </a:rPr>
                  <a:t>I agree with </a:t>
                </a:r>
                <a:r>
                  <a:rPr lang="en-US" sz="2000" dirty="0" err="1">
                    <a:latin typeface="Verdana" panose="020B0604030504040204" pitchFamily="34" charset="0"/>
                    <a:ea typeface="Times New Roman" panose="02020603050405020304" pitchFamily="18" charset="0"/>
                  </a:rPr>
                  <a:t>Jamessia</a:t>
                </a:r>
                <a:r>
                  <a:rPr lang="en-US" sz="2000" dirty="0">
                    <a:latin typeface="Verdana" panose="020B0604030504040204" pitchFamily="34" charset="0"/>
                    <a:ea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endParaRPr>
              </a:p>
              <a:p>
                <a:pPr marL="1252538" indent="-366713" fontAlgn="base">
                  <a:spcBef>
                    <a:spcPts val="1000"/>
                  </a:spcBef>
                  <a:spcAft>
                    <a:spcPts val="180"/>
                  </a:spcAft>
                  <a:buFont typeface="Courier New" panose="02070309020205020404" pitchFamily="49" charset="0"/>
                  <a:buChar char="o"/>
                  <a:tabLst>
                    <a:tab pos="2571750" algn="l"/>
                  </a:tabLst>
                </a:pPr>
                <a:r>
                  <a:rPr lang="en-US" sz="2000" dirty="0">
                    <a:latin typeface="Verdana" panose="020B0604030504040204" pitchFamily="34" charset="0"/>
                    <a:ea typeface="Times New Roman" panose="02020603050405020304" pitchFamily="18" charset="0"/>
                  </a:rPr>
                  <a:t>I agree with Malik.</a:t>
                </a:r>
                <a:endParaRPr lang="en-US" sz="2000" dirty="0">
                  <a:latin typeface="Times New Roman" panose="02020603050405020304" pitchFamily="18" charset="0"/>
                  <a:ea typeface="Times New Roman" panose="02020603050405020304" pitchFamily="18" charset="0"/>
                </a:endParaRPr>
              </a:p>
              <a:p>
                <a:pPr marL="1252538" indent="-366713" fontAlgn="base">
                  <a:spcBef>
                    <a:spcPts val="1000"/>
                  </a:spcBef>
                  <a:spcAft>
                    <a:spcPts val="180"/>
                  </a:spcAft>
                  <a:buFont typeface="Courier New" panose="02070309020205020404" pitchFamily="49" charset="0"/>
                  <a:buChar char="o"/>
                  <a:tabLst>
                    <a:tab pos="2571750" algn="l"/>
                  </a:tabLst>
                </a:pPr>
                <a:r>
                  <a:rPr lang="en-US" sz="2000" dirty="0">
                    <a:latin typeface="Verdana" panose="020B0604030504040204" pitchFamily="34" charset="0"/>
                    <a:ea typeface="Times New Roman" panose="02020603050405020304" pitchFamily="18" charset="0"/>
                  </a:rPr>
                  <a:t>I disagree with both students.</a:t>
                </a:r>
                <a:endParaRPr lang="en-US" sz="2000" dirty="0">
                  <a:latin typeface="Times New Roman" panose="02020603050405020304" pitchFamily="18" charset="0"/>
                  <a:ea typeface="Times New Roman" panose="02020603050405020304" pitchFamily="18" charset="0"/>
                </a:endParaRPr>
              </a:p>
              <a:p>
                <a:pPr marL="900113" indent="-457200" fontAlgn="base">
                  <a:spcBef>
                    <a:spcPts val="1000"/>
                  </a:spcBef>
                  <a:spcAft>
                    <a:spcPts val="180"/>
                  </a:spcAft>
                  <a:tabLst>
                    <a:tab pos="2571750" algn="l"/>
                  </a:tabLst>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a:p>
                <a:pPr marL="900113" indent="-457200" fontAlgn="base">
                  <a:spcBef>
                    <a:spcPts val="1000"/>
                  </a:spcBef>
                  <a:spcAft>
                    <a:spcPts val="180"/>
                  </a:spcAft>
                  <a:buSzPct val="100000"/>
                  <a:buFont typeface="+mj-lt"/>
                  <a:buAutoNum type="alphaLcPeriod" startAt="2"/>
                  <a:tabLst>
                    <a:tab pos="2571750" algn="l"/>
                  </a:tabLst>
                </a:pPr>
                <a:r>
                  <a:rPr lang="en-US" sz="2000" dirty="0">
                    <a:latin typeface="Verdana" panose="020B0604030504040204" pitchFamily="34" charset="0"/>
                    <a:ea typeface="Times New Roman" panose="02020603050405020304" pitchFamily="18" charset="0"/>
                  </a:rPr>
                  <a:t>Explain your choice for Part A.</a:t>
                </a:r>
                <a:endParaRPr lang="en-US" sz="2000" dirty="0">
                  <a:latin typeface="Times New Roman" panose="02020603050405020304" pitchFamily="18" charset="0"/>
                  <a:ea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129" y="2642760"/>
                <a:ext cx="10832858" cy="3477875"/>
              </a:xfrm>
              <a:prstGeom prst="rect">
                <a:avLst/>
              </a:prstGeom>
              <a:blipFill rotWithShape="1">
                <a:blip r:embed="rId4"/>
                <a:stretch>
                  <a:fillRect t="-1053" b="-2105"/>
                </a:stretch>
              </a:blipFill>
            </p:spPr>
            <p:txBody>
              <a:bodyPr/>
              <a:lstStyle/>
              <a:p>
                <a:r>
                  <a:rPr lang="en-PH">
                    <a:noFill/>
                  </a:rPr>
                  <a:t> </a:t>
                </a:r>
              </a:p>
            </p:txBody>
          </p:sp>
        </mc:Fallback>
      </mc:AlternateContent>
      <p:pic>
        <p:nvPicPr>
          <p:cNvPr id="6" name="Picture 5" descr="A picture containing diagram&#10;&#10;Description automatically generated">
            <a:extLst>
              <a:ext uri="{FF2B5EF4-FFF2-40B4-BE49-F238E27FC236}">
                <a16:creationId xmlns="" xmlns:a16="http://schemas.microsoft.com/office/drawing/2014/main" id="{AB53C0D5-B64E-4DF4-844C-9E543AFDF65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52783" y="126873"/>
            <a:ext cx="5199550" cy="2640174"/>
          </a:xfrm>
          <a:prstGeom prst="rect">
            <a:avLst/>
          </a:prstGeom>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02230" y="2766150"/>
            <a:ext cx="7217417"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274</a:t>
            </a:r>
          </a:p>
        </p:txBody>
      </p:sp>
    </p:spTree>
    <p:extLst>
      <p:ext uri="{BB962C8B-B14F-4D97-AF65-F5344CB8AC3E}">
        <p14:creationId xmlns:p14="http://schemas.microsoft.com/office/powerpoint/2010/main" val="395209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49969" y="0"/>
            <a:ext cx="105980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13.2.2 Guided Instruction: </a:t>
            </a:r>
            <a:r>
              <a:rPr lang="en-US" sz="3600" b="1" dirty="0">
                <a:solidFill>
                  <a:srgbClr val="26B6D4"/>
                </a:solidFill>
                <a:latin typeface="Verdana" panose="020B0604030504040204" pitchFamily="34" charset="0"/>
                <a:ea typeface="Verdana" panose="020B0604030504040204" pitchFamily="34" charset="0"/>
                <a:cs typeface="Verdana" panose="020B0604030504040204" pitchFamily="34" charset="0"/>
              </a:rPr>
              <a:t>Applying Relationships to Find Missing Angles</a:t>
            </a:r>
            <a:endParaRPr lang="en-US" sz="36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4">
            <a:alphaModFix/>
          </a:blip>
          <a:srcRect/>
          <a:stretch/>
        </p:blipFill>
        <p:spPr>
          <a:xfrm>
            <a:off x="436515" y="28504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274</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01B13E8-EC8D-E443-A329-C5E3593DD13A}"/>
                  </a:ext>
                </a:extLst>
              </p:cNvPr>
              <p:cNvSpPr txBox="1"/>
              <p:nvPr/>
            </p:nvSpPr>
            <p:spPr>
              <a:xfrm>
                <a:off x="534956" y="1463538"/>
                <a:ext cx="10663875" cy="5073184"/>
              </a:xfrm>
              <a:prstGeom prst="rect">
                <a:avLst/>
              </a:prstGeom>
              <a:noFill/>
            </p:spPr>
            <p:txBody>
              <a:bodyPr wrap="square" rtlCol="0">
                <a:spAutoFit/>
              </a:bodyPr>
              <a:lstStyle/>
              <a:p>
                <a:r>
                  <a:rPr lang="en-US" sz="2400" dirty="0">
                    <a:latin typeface="Verdana" panose="020B0604030504040204" pitchFamily="34" charset="0"/>
                    <a:ea typeface="Times New Roman" panose="02020603050405020304" pitchFamily="18" charset="0"/>
                  </a:rPr>
                  <a:t>Angle relationships can be used to solve mathematical problems and find missing angles.</a:t>
                </a:r>
                <a:endParaRPr lang="en-US" sz="1600" dirty="0">
                  <a:latin typeface="Times New Roman" panose="02020603050405020304" pitchFamily="18" charset="0"/>
                  <a:ea typeface="Times New Roman" panose="02020603050405020304" pitchFamily="18" charset="0"/>
                </a:endParaRPr>
              </a:p>
              <a:p>
                <a:pPr marL="444500" indent="-444500" fontAlgn="base">
                  <a:spcBef>
                    <a:spcPts val="1000"/>
                  </a:spcBef>
                  <a:spcAft>
                    <a:spcPts val="1000"/>
                  </a:spcAft>
                  <a:buSzPct val="100000"/>
                  <a:buFont typeface="+mj-lt"/>
                  <a:buAutoNum type="arabicPeriod"/>
                </a:pPr>
                <a:r>
                  <a:rPr lang="en-US" sz="2400" dirty="0">
                    <a:latin typeface="Verdana" panose="020B0604030504040204" pitchFamily="34" charset="0"/>
                    <a:ea typeface="Times New Roman" panose="02020603050405020304" pitchFamily="18" charset="0"/>
                  </a:rPr>
                  <a:t>Angles </a:t>
                </a:r>
                <a14:m>
                  <m:oMath xmlns:m="http://schemas.openxmlformats.org/officeDocument/2006/math">
                    <m:r>
                      <a:rPr lang="en-US" sz="2400" i="1">
                        <a:latin typeface="Cambria Math" panose="02040503050406030204" pitchFamily="18" charset="0"/>
                        <a:ea typeface="Times New Roman" panose="02020603050405020304" pitchFamily="18" charset="0"/>
                      </a:rPr>
                      <m:t>𝐸𝐴𝐵</m:t>
                    </m:r>
                  </m:oMath>
                </a14:m>
                <a:r>
                  <a:rPr lang="en-US" sz="2400" dirty="0">
                    <a:latin typeface="Verdana" panose="020B0604030504040204" pitchFamily="34" charset="0"/>
                    <a:ea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rPr>
                      <m:t>𝐹𝐶𝐷</m:t>
                    </m:r>
                  </m:oMath>
                </a14:m>
                <a:r>
                  <a:rPr lang="en-US" sz="2400" dirty="0">
                    <a:latin typeface="Verdana" panose="020B0604030504040204" pitchFamily="34" charset="0"/>
                    <a:ea typeface="Times New Roman" panose="02020603050405020304" pitchFamily="18" charset="0"/>
                  </a:rPr>
                  <a:t> are supplementary, and the measure of </a:t>
                </a:r>
                <a14:m>
                  <m:oMath xmlns:m="http://schemas.openxmlformats.org/officeDocument/2006/math">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𝐸𝐴𝐵</m:t>
                    </m:r>
                  </m:oMath>
                </a14:m>
                <a:r>
                  <a:rPr lang="en-US" sz="2400" dirty="0">
                    <a:latin typeface="Verdana" panose="020B0604030504040204" pitchFamily="34" charset="0"/>
                    <a:ea typeface="Times New Roman" panose="02020603050405020304" pitchFamily="18" charset="0"/>
                  </a:rPr>
                  <a:t> is </a:t>
                </a:r>
                <a14:m>
                  <m:oMath xmlns:m="http://schemas.openxmlformats.org/officeDocument/2006/math">
                    <m:r>
                      <a:rPr lang="en-US" sz="2400" i="1">
                        <a:latin typeface="Cambria Math" panose="02040503050406030204" pitchFamily="18" charset="0"/>
                        <a:ea typeface="Times New Roman" panose="02020603050405020304" pitchFamily="18" charset="0"/>
                      </a:rPr>
                      <m:t>74°</m:t>
                    </m:r>
                  </m:oMath>
                </a14:m>
                <a:r>
                  <a:rPr lang="en-US" sz="2400" dirty="0">
                    <a:latin typeface="Verdana" panose="020B0604030504040204" pitchFamily="34" charset="0"/>
                    <a:ea typeface="Times New Roman" panose="02020603050405020304" pitchFamily="18" charset="0"/>
                  </a:rPr>
                  <a:t>.</a:t>
                </a:r>
              </a:p>
              <a:p>
                <a:pPr marL="342900" indent="-342900" fontAlgn="base">
                  <a:spcBef>
                    <a:spcPts val="1000"/>
                  </a:spcBef>
                  <a:spcAft>
                    <a:spcPts val="1000"/>
                  </a:spcAft>
                  <a:buSzPts val="1800"/>
                  <a:buFont typeface="+mj-lt"/>
                  <a:buAutoNum type="arabicPeriod"/>
                </a:pPr>
                <a:endParaRPr lang="en-US" sz="2400" dirty="0">
                  <a:latin typeface="Verdana" panose="020B0604030504040204" pitchFamily="34" charset="0"/>
                  <a:ea typeface="Times New Roman" panose="02020603050405020304" pitchFamily="18" charset="0"/>
                </a:endParaRPr>
              </a:p>
              <a:p>
                <a:pPr marL="342900" indent="-342900" fontAlgn="base">
                  <a:spcBef>
                    <a:spcPts val="1000"/>
                  </a:spcBef>
                  <a:spcAft>
                    <a:spcPts val="1000"/>
                  </a:spcAft>
                  <a:buSzPts val="1800"/>
                  <a:buFont typeface="+mj-lt"/>
                  <a:buAutoNum type="arabicPeriod"/>
                </a:pPr>
                <a:endParaRPr lang="en-US" sz="2400" dirty="0">
                  <a:latin typeface="Verdana" panose="020B0604030504040204" pitchFamily="34" charset="0"/>
                  <a:ea typeface="Times New Roman" panose="02020603050405020304" pitchFamily="18" charset="0"/>
                </a:endParaRPr>
              </a:p>
              <a:p>
                <a:pPr marL="342900" indent="-342900" fontAlgn="base">
                  <a:spcBef>
                    <a:spcPts val="1000"/>
                  </a:spcBef>
                  <a:spcAft>
                    <a:spcPts val="1000"/>
                  </a:spcAft>
                  <a:buSzPts val="1800"/>
                  <a:buFont typeface="+mj-lt"/>
                  <a:buAutoNum type="arabicPeriod"/>
                </a:pPr>
                <a:endParaRPr lang="en-US" sz="2400" dirty="0">
                  <a:latin typeface="Verdana" panose="020B0604030504040204" pitchFamily="34" charset="0"/>
                  <a:ea typeface="Times New Roman" panose="02020603050405020304" pitchFamily="18" charset="0"/>
                </a:endParaRPr>
              </a:p>
              <a:p>
                <a:pPr marL="457200">
                  <a:spcAft>
                    <a:spcPts val="1000"/>
                  </a:spcAft>
                </a:pPr>
                <a:endParaRPr lang="en-US" sz="2400" dirty="0">
                  <a:latin typeface="Verdana" panose="020B0604030504040204" pitchFamily="34" charset="0"/>
                  <a:ea typeface="Verdana" panose="020B0604030504040204" pitchFamily="34" charset="0"/>
                </a:endParaRPr>
              </a:p>
              <a:p>
                <a:pPr marL="457200">
                  <a:spcAft>
                    <a:spcPts val="1000"/>
                  </a:spcAft>
                </a:pPr>
                <a:r>
                  <a:rPr lang="en-US" sz="2400" dirty="0">
                    <a:latin typeface="Verdana" panose="020B0604030504040204" pitchFamily="34" charset="0"/>
                    <a:ea typeface="Verdana" panose="020B0604030504040204" pitchFamily="34" charset="0"/>
                  </a:rPr>
                  <a:t>Find the measure of angle </a:t>
                </a:r>
                <a14:m>
                  <m:oMath xmlns:m="http://schemas.openxmlformats.org/officeDocument/2006/math">
                    <m:r>
                      <a:rPr lang="en-US" sz="2400" i="1">
                        <a:latin typeface="Cambria Math" panose="02040503050406030204" pitchFamily="18" charset="0"/>
                        <a:ea typeface="Times New Roman" panose="02020603050405020304" pitchFamily="18" charset="0"/>
                      </a:rPr>
                      <m:t>𝐹𝐶𝐷</m:t>
                    </m:r>
                  </m:oMath>
                </a14:m>
                <a:r>
                  <a:rPr lang="en-US" sz="2400" dirty="0">
                    <a:latin typeface="Verdana" panose="020B0604030504040204" pitchFamily="34" charset="0"/>
                    <a:ea typeface="Verdana" panose="020B0604030504040204" pitchFamily="34" charset="0"/>
                  </a:rPr>
                  <a:t>.</a:t>
                </a:r>
              </a:p>
              <a:p>
                <a:pPr fontAlgn="base">
                  <a:spcBef>
                    <a:spcPts val="1000"/>
                  </a:spcBef>
                  <a:spcAft>
                    <a:spcPts val="1000"/>
                  </a:spcAft>
                  <a:buSzPts val="1800"/>
                </a:pPr>
                <a:endParaRPr lang="en-US" sz="1600" dirty="0">
                  <a:latin typeface="Times New Roman" panose="02020603050405020304" pitchFamily="18" charset="0"/>
                  <a:ea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4956" y="1463538"/>
                <a:ext cx="10663875" cy="5073184"/>
              </a:xfrm>
              <a:prstGeom prst="rect">
                <a:avLst/>
              </a:prstGeom>
              <a:blipFill rotWithShape="1">
                <a:blip r:embed="rId5"/>
                <a:stretch>
                  <a:fillRect l="-915" t="-962"/>
                </a:stretch>
              </a:blipFill>
            </p:spPr>
            <p:txBody>
              <a:bodyPr/>
              <a:lstStyle/>
              <a:p>
                <a:r>
                  <a:rPr lang="en-PH">
                    <a:noFill/>
                  </a:rPr>
                  <a:t> </a:t>
                </a:r>
              </a:p>
            </p:txBody>
          </p:sp>
        </mc:Fallback>
      </mc:AlternateContent>
      <p:pic>
        <p:nvPicPr>
          <p:cNvPr id="8" name="Picture 7" descr="A screenshot of a video game&#10;&#10;Description automatically generated with medium confidence">
            <a:extLst>
              <a:ext uri="{FF2B5EF4-FFF2-40B4-BE49-F238E27FC236}">
                <a16:creationId xmlns="" xmlns:a16="http://schemas.microsoft.com/office/drawing/2014/main" id="{D4E6791D-7FC8-47FC-87DC-B53089296A8C}"/>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724837" y="3015069"/>
            <a:ext cx="4351707" cy="2149484"/>
          </a:xfrm>
          <a:prstGeom prst="rect">
            <a:avLst/>
          </a:prstGeom>
          <a:noFill/>
          <a:ln>
            <a:noFill/>
          </a:ln>
        </p:spPr>
      </p:pic>
    </p:spTree>
    <p:extLst>
      <p:ext uri="{BB962C8B-B14F-4D97-AF65-F5344CB8AC3E}">
        <p14:creationId xmlns:p14="http://schemas.microsoft.com/office/powerpoint/2010/main" val="2177781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274</a:t>
            </a: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5465" y="382812"/>
            <a:ext cx="10824905" cy="5350183"/>
          </a:xfrm>
          <a:prstGeom prst="rect">
            <a:avLst/>
          </a:prstGeom>
          <a:noFill/>
        </p:spPr>
        <p:txBody>
          <a:bodyPr wrap="square" rtlCol="0">
            <a:spAutoFit/>
          </a:bodyPr>
          <a:lstStyle/>
          <a:p>
            <a:pPr marL="457200" indent="-457200" fontAlgn="base">
              <a:spcBef>
                <a:spcPts val="1000"/>
              </a:spcBef>
              <a:spcAft>
                <a:spcPts val="1000"/>
              </a:spcAft>
              <a:buSzPct val="100000"/>
              <a:buFont typeface="+mj-lt"/>
              <a:buAutoNum type="arabicPeriod" startAt="2"/>
            </a:pPr>
            <a:r>
              <a:rPr lang="en-US" sz="2400" dirty="0">
                <a:latin typeface="Verdana" panose="020B0604030504040204" pitchFamily="34" charset="0"/>
                <a:ea typeface="Times New Roman" panose="02020603050405020304" pitchFamily="18" charset="0"/>
              </a:rPr>
              <a:t>Two line segments intersect, as shown.</a:t>
            </a:r>
          </a:p>
          <a:p>
            <a:pPr marL="342900" indent="-342900" fontAlgn="base">
              <a:spcBef>
                <a:spcPts val="1000"/>
              </a:spcBef>
              <a:spcAft>
                <a:spcPts val="1000"/>
              </a:spcAft>
              <a:buSzPts val="1800"/>
              <a:buFont typeface="+mj-lt"/>
              <a:buAutoNum type="arabicPeriod" startAt="2"/>
            </a:pPr>
            <a:endParaRPr lang="en-US" sz="2400" dirty="0">
              <a:latin typeface="Verdana" panose="020B0604030504040204" pitchFamily="34" charset="0"/>
              <a:ea typeface="Times New Roman" panose="02020603050405020304" pitchFamily="18" charset="0"/>
            </a:endParaRPr>
          </a:p>
          <a:p>
            <a:pPr marL="342900" indent="-342900" fontAlgn="base">
              <a:spcBef>
                <a:spcPts val="1000"/>
              </a:spcBef>
              <a:spcAft>
                <a:spcPts val="1000"/>
              </a:spcAft>
              <a:buSzPts val="1800"/>
              <a:buFont typeface="+mj-lt"/>
              <a:buAutoNum type="arabicPeriod" startAt="2"/>
            </a:pPr>
            <a:endParaRPr lang="en-US" sz="2400" dirty="0">
              <a:latin typeface="Verdana" panose="020B0604030504040204" pitchFamily="34" charset="0"/>
              <a:ea typeface="Times New Roman" panose="02020603050405020304" pitchFamily="18" charset="0"/>
            </a:endParaRPr>
          </a:p>
          <a:p>
            <a:pPr marL="342900" indent="-342900" fontAlgn="base">
              <a:spcBef>
                <a:spcPts val="1000"/>
              </a:spcBef>
              <a:spcAft>
                <a:spcPts val="1000"/>
              </a:spcAft>
              <a:buSzPts val="1800"/>
              <a:buFont typeface="+mj-lt"/>
              <a:buAutoNum type="arabicPeriod" startAt="2"/>
            </a:pPr>
            <a:endParaRPr lang="en-US" sz="2400" dirty="0">
              <a:latin typeface="Verdana" panose="020B0604030504040204" pitchFamily="34" charset="0"/>
              <a:ea typeface="Times New Roman" panose="02020603050405020304" pitchFamily="18" charset="0"/>
            </a:endParaRPr>
          </a:p>
          <a:p>
            <a:pPr marL="342900" indent="-342900" fontAlgn="base">
              <a:spcBef>
                <a:spcPts val="1000"/>
              </a:spcBef>
              <a:spcAft>
                <a:spcPts val="1000"/>
              </a:spcAft>
              <a:buSzPts val="1800"/>
              <a:buFont typeface="+mj-lt"/>
              <a:buAutoNum type="arabicPeriod" startAt="2"/>
            </a:pPr>
            <a:endParaRPr lang="en-US" sz="2400" dirty="0">
              <a:latin typeface="Verdana" panose="020B0604030504040204" pitchFamily="34" charset="0"/>
              <a:ea typeface="Times New Roman" panose="02020603050405020304" pitchFamily="18" charset="0"/>
            </a:endParaRPr>
          </a:p>
          <a:p>
            <a:pPr marL="342900" indent="-342900" fontAlgn="base">
              <a:spcBef>
                <a:spcPts val="1000"/>
              </a:spcBef>
              <a:spcAft>
                <a:spcPts val="1000"/>
              </a:spcAft>
              <a:buSzPts val="1800"/>
              <a:buFont typeface="+mj-lt"/>
              <a:buAutoNum type="arabicPeriod" startAt="2"/>
            </a:pPr>
            <a:endParaRPr lang="en-US" sz="2400" dirty="0">
              <a:latin typeface="Verdana" panose="020B0604030504040204" pitchFamily="34" charset="0"/>
              <a:ea typeface="Times New Roman" panose="02020603050405020304" pitchFamily="18" charset="0"/>
            </a:endParaRPr>
          </a:p>
          <a:p>
            <a:pPr marL="342900" indent="-342900">
              <a:spcAft>
                <a:spcPts val="1200"/>
              </a:spcAft>
              <a:buFont typeface="+mj-lt"/>
              <a:buAutoNum type="alphaLcPeriod"/>
            </a:pPr>
            <a:endParaRPr lang="en-US" sz="2400" dirty="0">
              <a:latin typeface="Verdana" panose="020B0604030504040204" pitchFamily="34" charset="0"/>
              <a:ea typeface="Verdana" panose="020B0604030504040204" pitchFamily="34" charset="0"/>
            </a:endParaRPr>
          </a:p>
          <a:p>
            <a:pPr marL="896938" indent="-434975">
              <a:spcAft>
                <a:spcPts val="1200"/>
              </a:spcAft>
              <a:buFont typeface="+mj-lt"/>
              <a:buAutoNum type="alphaLcPeriod"/>
            </a:pPr>
            <a:r>
              <a:rPr lang="en-US" sz="2400" dirty="0">
                <a:latin typeface="Verdana" panose="020B0604030504040204" pitchFamily="34" charset="0"/>
                <a:ea typeface="Verdana" panose="020B0604030504040204" pitchFamily="34" charset="0"/>
              </a:rPr>
              <a:t>Discuss with your partner the relationships between the angles marked in the diagram and how those relationships can be used to determine the missing angle measures.</a:t>
            </a:r>
          </a:p>
        </p:txBody>
      </p:sp>
      <p:pic>
        <p:nvPicPr>
          <p:cNvPr id="6" name="Picture 5" descr="Shape&#10;&#10;Description automatically generated">
            <a:extLst>
              <a:ext uri="{FF2B5EF4-FFF2-40B4-BE49-F238E27FC236}">
                <a16:creationId xmlns="" xmlns:a16="http://schemas.microsoft.com/office/drawing/2014/main" id="{CFC28441-0AE5-4D68-8F9A-585209FB6FE3}"/>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2968251" y="1153890"/>
            <a:ext cx="5959331" cy="2793085"/>
          </a:xfrm>
          <a:prstGeom prst="rect">
            <a:avLst/>
          </a:prstGeom>
          <a:noFill/>
          <a:ln>
            <a:noFill/>
          </a:ln>
        </p:spPr>
      </p:pic>
    </p:spTree>
    <p:extLst>
      <p:ext uri="{BB962C8B-B14F-4D97-AF65-F5344CB8AC3E}">
        <p14:creationId xmlns:p14="http://schemas.microsoft.com/office/powerpoint/2010/main" val="1117426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851318" y="385464"/>
                <a:ext cx="10800000" cy="5693866"/>
              </a:xfrm>
              <a:prstGeom prst="rect">
                <a:avLst/>
              </a:prstGeom>
              <a:noFill/>
            </p:spPr>
            <p:txBody>
              <a:bodyPr wrap="square" rtlCol="0">
                <a:noAutofit/>
              </a:bodyPr>
              <a:lstStyle/>
              <a:p>
                <a:pPr marL="457200" indent="-457200">
                  <a:spcAft>
                    <a:spcPts val="1200"/>
                  </a:spcAft>
                  <a:buFont typeface="+mj-lt"/>
                  <a:buAutoNum type="alphaLcPeriod" startAt="2"/>
                </a:pPr>
                <a:r>
                  <a:rPr lang="en-US" sz="2400" dirty="0">
                    <a:latin typeface="Verdana" panose="020B0604030504040204" pitchFamily="34" charset="0"/>
                    <a:ea typeface="Times New Roman" panose="02020603050405020304" pitchFamily="18" charset="0"/>
                  </a:rPr>
                  <a:t>Complete the statements.</a:t>
                </a:r>
              </a:p>
              <a:p>
                <a:pPr marL="342900" indent="-342900">
                  <a:spcAft>
                    <a:spcPts val="1200"/>
                  </a:spcAft>
                  <a:buFont typeface="+mj-lt"/>
                  <a:buAutoNum type="alphaLcPeriod" startAt="2"/>
                </a:pPr>
                <a:endParaRPr lang="en-US" sz="2400" dirty="0">
                  <a:latin typeface="Verdana" panose="020B0604030504040204" pitchFamily="34" charset="0"/>
                  <a:ea typeface="Times New Roman" panose="02020603050405020304" pitchFamily="18" charset="0"/>
                </a:endParaRPr>
              </a:p>
              <a:p>
                <a:pPr>
                  <a:spcAft>
                    <a:spcPts val="1200"/>
                  </a:spcAft>
                </a:pPr>
                <a:r>
                  <a:rPr lang="en-US" sz="2400" dirty="0">
                    <a:latin typeface="Verdana" panose="020B0604030504040204" pitchFamily="34" charset="0"/>
                    <a:ea typeface="Times New Roman" panose="02020603050405020304" pitchFamily="18" charset="0"/>
                    <a:cs typeface="Times New Roman" panose="02020603050405020304" pitchFamily="18" charset="0"/>
                  </a:rPr>
                  <a:t>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because				   angles </a:t>
                </a:r>
                <a:r>
                  <a:rPr lang="en-US" sz="2400" dirty="0">
                    <a:latin typeface="Verdana" panose="020B0604030504040204" pitchFamily="34" charset="0"/>
                    <a:ea typeface="Times New Roman" panose="02020603050405020304" pitchFamily="18" charset="0"/>
                    <a:cs typeface="Times New Roman" panose="02020603050405020304" pitchFamily="18" charset="0"/>
                  </a:rPr>
                  <a:t>have</a:t>
                </a:r>
              </a:p>
              <a:p>
                <a:pPr>
                  <a:spcAft>
                    <a:spcPts val="1200"/>
                  </a:spcAft>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spcAft>
                    <a:spcPts val="1200"/>
                  </a:spcAft>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spcAft>
                    <a:spcPts val="1200"/>
                  </a:spcAft>
                </a:pP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endParaRPr lang="en-US" sz="2400" dirty="0" smtClean="0">
                  <a:latin typeface="Verdana" panose="020B0604030504040204" pitchFamily="34" charset="0"/>
                  <a:ea typeface="Times New Roman" panose="02020603050405020304" pitchFamily="18" charset="0"/>
                  <a:cs typeface="Times New Roman" panose="02020603050405020304" pitchFamily="18" charset="0"/>
                </a:endParaRPr>
              </a:p>
              <a:p>
                <a:pPr>
                  <a:spcAft>
                    <a:spcPts val="1200"/>
                  </a:spcAft>
                </a:pPr>
                <a:r>
                  <a:rPr lang="en-US" sz="2400" dirty="0" smtClean="0">
                    <a:latin typeface="Verdana" panose="020B0604030504040204" pitchFamily="34" charset="0"/>
                    <a:ea typeface="Times New Roman" panose="02020603050405020304" pitchFamily="18" charset="0"/>
                    <a:cs typeface="Times New Roman" panose="02020603050405020304" pitchFamily="18" charset="0"/>
                  </a:rPr>
                  <a:t>The </a:t>
                </a:r>
                <a:r>
                  <a:rPr lang="en-US" sz="2400" dirty="0">
                    <a:latin typeface="Verdana" panose="020B0604030504040204" pitchFamily="34" charset="0"/>
                    <a:ea typeface="Times New Roman" panose="02020603050405020304" pitchFamily="18" charset="0"/>
                    <a:cs typeface="Times New Roman" panose="02020603050405020304" pitchFamily="18" charset="0"/>
                  </a:rPr>
                  <a:t>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because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angles </a:t>
                </a:r>
                <a:r>
                  <a:rPr lang="en-US" sz="2400" dirty="0">
                    <a:latin typeface="Verdana" panose="020B0604030504040204" pitchFamily="34" charset="0"/>
                    <a:ea typeface="Times New Roman" panose="02020603050405020304" pitchFamily="18" charset="0"/>
                    <a:cs typeface="Times New Roman" panose="02020603050405020304" pitchFamily="18" charset="0"/>
                  </a:rPr>
                  <a:t>have  </a:t>
                </a:r>
                <a:endParaRPr lang="en-US" sz="2400" dirty="0">
                  <a:latin typeface="Times New Roman" panose="02020603050405020304" pitchFamily="18" charset="0"/>
                  <a:ea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851318" y="385464"/>
                <a:ext cx="10800000" cy="5693866"/>
              </a:xfrm>
              <a:prstGeom prst="rect">
                <a:avLst/>
              </a:prstGeom>
              <a:blipFill rotWithShape="1">
                <a:blip r:embed="rId4"/>
                <a:stretch>
                  <a:fillRect l="-903" t="-857"/>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Rounded Rectangle 21">
                <a:extLst>
                  <a:ext uri="{FF2B5EF4-FFF2-40B4-BE49-F238E27FC236}">
                    <a16:creationId xmlns="" xmlns:a16="http://schemas.microsoft.com/office/drawing/2014/main" id="{1711AC1B-B6DE-4C6B-8E39-F37919AFE85B}"/>
                  </a:ext>
                </a:extLst>
              </p:cNvPr>
              <p:cNvSpPr/>
              <p:nvPr/>
            </p:nvSpPr>
            <p:spPr>
              <a:xfrm>
                <a:off x="3543663" y="853217"/>
                <a:ext cx="1372195" cy="1429946"/>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ClrTx/>
                  <a:buFont typeface="Courier New" panose="02070309020205020404" pitchFamily="49" charset="0"/>
                  <a:buChar char="o"/>
                  <a:defRPr/>
                </a:pPr>
                <a14:m>
                  <m:oMath xmlns:m="http://schemas.openxmlformats.org/officeDocument/2006/math">
                    <m:r>
                      <a:rPr lang="en-US" sz="2400" i="1">
                        <a:latin typeface="Cambria Math" panose="02040503050406030204" pitchFamily="18" charset="0"/>
                        <a:ea typeface="Times New Roman" panose="02020603050405020304" pitchFamily="18" charset="0"/>
                        <a:cs typeface="+mn-cs"/>
                      </a:rPr>
                      <m:t>42°</m:t>
                    </m:r>
                  </m:oMath>
                </a14:m>
                <a:endParaRPr lang="en-US" sz="2400" dirty="0">
                  <a:solidFill>
                    <a:sysClr val="window" lastClr="FFFFFF"/>
                  </a:solidFill>
                  <a:latin typeface="Verdana" panose="020B0604030504040204" pitchFamily="34" charset="0"/>
                  <a:ea typeface="Verdana" panose="020B0604030504040204" pitchFamily="34" charset="0"/>
                  <a:cs typeface="+mn-cs"/>
                </a:endParaRPr>
              </a:p>
              <a:p>
                <a:pPr marL="342900" indent="-342900">
                  <a:buClrTx/>
                  <a:buFont typeface="Courier New" panose="02070309020205020404" pitchFamily="49" charset="0"/>
                  <a:buChar char="o"/>
                  <a:defRPr/>
                </a:pPr>
                <a14:m>
                  <m:oMath xmlns:m="http://schemas.openxmlformats.org/officeDocument/2006/math">
                    <m:r>
                      <a:rPr lang="en-US" sz="2400" i="1">
                        <a:latin typeface="Cambria Math" panose="02040503050406030204" pitchFamily="18" charset="0"/>
                        <a:ea typeface="Times New Roman" panose="02020603050405020304" pitchFamily="18" charset="0"/>
                        <a:cs typeface="+mn-cs"/>
                      </a:rPr>
                      <m:t>48°</m:t>
                    </m:r>
                  </m:oMath>
                </a14:m>
                <a:endParaRPr lang="en-US" sz="2400" dirty="0">
                  <a:solidFill>
                    <a:sysClr val="window" lastClr="FFFFFF"/>
                  </a:solidFill>
                  <a:latin typeface="Verdana" panose="020B0604030504040204" pitchFamily="34" charset="0"/>
                  <a:ea typeface="Verdana" panose="020B0604030504040204" pitchFamily="34" charset="0"/>
                  <a:cs typeface="+mn-cs"/>
                </a:endParaRPr>
              </a:p>
              <a:p>
                <a:pPr marL="342900" indent="-342900">
                  <a:buClrTx/>
                  <a:buFont typeface="Courier New" panose="02070309020205020404" pitchFamily="49" charset="0"/>
                  <a:buChar char="o"/>
                  <a:defRPr/>
                </a:pPr>
                <a14:m>
                  <m:oMath xmlns:m="http://schemas.openxmlformats.org/officeDocument/2006/math">
                    <m:r>
                      <a:rPr lang="en-US" sz="2400" i="1">
                        <a:latin typeface="Cambria Math" panose="02040503050406030204" pitchFamily="18" charset="0"/>
                        <a:ea typeface="Times New Roman" panose="02020603050405020304" pitchFamily="18" charset="0"/>
                        <a:cs typeface="+mn-cs"/>
                      </a:rPr>
                      <m:t>138°</m:t>
                    </m:r>
                  </m:oMath>
                </a14:m>
                <a:endParaRPr lang="en-US" sz="2400" dirty="0">
                  <a:solidFill>
                    <a:sysClr val="window" lastClr="FFFFFF"/>
                  </a:solidFill>
                  <a:latin typeface="Verdana" panose="020B0604030504040204" pitchFamily="34" charset="0"/>
                  <a:ea typeface="Verdana" panose="020B0604030504040204" pitchFamily="34" charset="0"/>
                  <a:cs typeface="+mn-cs"/>
                </a:endParaRPr>
              </a:p>
            </p:txBody>
          </p:sp>
        </mc:Choice>
        <mc:Fallback xmlns="">
          <p:sp>
            <p:nvSpPr>
              <p:cNvPr id="13" name="Rounded Rectangle 21">
                <a:extLst>
                  <a:ext uri="{FF2B5EF4-FFF2-40B4-BE49-F238E27FC236}">
                    <a16:creationId xmlns:a16="http://schemas.microsoft.com/office/drawing/2014/main" xmlns:a14="http://schemas.microsoft.com/office/drawing/2010/main" xmlns="" id="{1711AC1B-B6DE-4C6B-8E39-F37919AFE85B}"/>
                  </a:ext>
                </a:extLst>
              </p:cNvPr>
              <p:cNvSpPr>
                <a:spLocks noRot="1" noChangeAspect="1" noMove="1" noResize="1" noEditPoints="1" noAdjustHandles="1" noChangeArrowheads="1" noChangeShapeType="1" noTextEdit="1"/>
              </p:cNvSpPr>
              <p:nvPr/>
            </p:nvSpPr>
            <p:spPr>
              <a:xfrm>
                <a:off x="3543663" y="853217"/>
                <a:ext cx="1372195" cy="1429946"/>
              </a:xfrm>
              <a:prstGeom prst="roundRect">
                <a:avLst/>
              </a:prstGeom>
              <a:blipFill rotWithShape="1">
                <a:blip r:embed="rId5"/>
                <a:stretch>
                  <a:fillRect l="-439" b="-1261"/>
                </a:stretch>
              </a:blipFill>
              <a:ln w="19050" cap="flat" cmpd="sng" algn="ctr">
                <a:solidFill>
                  <a:sysClr val="windowText" lastClr="000000"/>
                </a:solidFill>
                <a:prstDash val="solid"/>
              </a:ln>
              <a:effectLst/>
            </p:spPr>
            <p:txBody>
              <a:bodyPr/>
              <a:lstStyle/>
              <a:p>
                <a:r>
                  <a:rPr lang="en-PH">
                    <a:noFill/>
                  </a:rPr>
                  <a:t> </a:t>
                </a:r>
              </a:p>
            </p:txBody>
          </p:sp>
        </mc:Fallback>
      </mc:AlternateContent>
      <p:sp>
        <p:nvSpPr>
          <p:cNvPr id="15" name="Rounded Rectangle 23">
            <a:extLst>
              <a:ext uri="{FF2B5EF4-FFF2-40B4-BE49-F238E27FC236}">
                <a16:creationId xmlns="" xmlns:a16="http://schemas.microsoft.com/office/drawing/2014/main" id="{5309812A-2ABB-4130-A1E3-70CC1C80AC71}"/>
              </a:ext>
            </a:extLst>
          </p:cNvPr>
          <p:cNvSpPr/>
          <p:nvPr/>
        </p:nvSpPr>
        <p:spPr>
          <a:xfrm>
            <a:off x="6347262" y="853218"/>
            <a:ext cx="3033973" cy="1429945"/>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ClrTx/>
              <a:buFont typeface="Courier New" panose="02070309020205020404" pitchFamily="49" charset="0"/>
              <a:buChar char="o"/>
              <a:defRPr/>
            </a:pPr>
            <a:r>
              <a:rPr lang="en-US" sz="2300" dirty="0">
                <a:latin typeface="Verdana" panose="020B0604030504040204" pitchFamily="34" charset="0"/>
                <a:ea typeface="Times New Roman" panose="02020603050405020304" pitchFamily="18" charset="0"/>
                <a:cs typeface="+mn-cs"/>
              </a:rPr>
              <a:t>complementary</a:t>
            </a:r>
            <a:endParaRPr lang="en-US" sz="23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300" dirty="0">
                <a:latin typeface="Verdana" panose="020B0604030504040204" pitchFamily="34" charset="0"/>
                <a:ea typeface="Times New Roman" panose="02020603050405020304" pitchFamily="18" charset="0"/>
                <a:cs typeface="+mn-cs"/>
              </a:rPr>
              <a:t>supplementary</a:t>
            </a:r>
            <a:endParaRPr lang="en-US" sz="23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300" dirty="0">
                <a:latin typeface="Verdana" panose="020B0604030504040204" pitchFamily="34" charset="0"/>
                <a:ea typeface="Times New Roman" panose="02020603050405020304" pitchFamily="18" charset="0"/>
                <a:cs typeface="+mn-cs"/>
              </a:rPr>
              <a:t>vertical</a:t>
            </a:r>
            <a:endParaRPr lang="en-US" sz="2300" dirty="0">
              <a:solidFill>
                <a:sysClr val="window" lastClr="FFFFFF"/>
              </a:solidFill>
              <a:latin typeface="Times New Roman" panose="02020603050405020304" pitchFamily="18" charset="0"/>
              <a:ea typeface="Times New Roman" panose="02020603050405020304" pitchFamily="18" charset="0"/>
              <a:cs typeface="+mn-cs"/>
            </a:endParaRPr>
          </a:p>
        </p:txBody>
      </p:sp>
      <mc:AlternateContent xmlns:mc="http://schemas.openxmlformats.org/markup-compatibility/2006" xmlns:a14="http://schemas.microsoft.com/office/drawing/2010/main">
        <mc:Choice Requires="a14">
          <p:sp>
            <p:nvSpPr>
              <p:cNvPr id="16" name="Rounded Rectangle 24">
                <a:extLst>
                  <a:ext uri="{FF2B5EF4-FFF2-40B4-BE49-F238E27FC236}">
                    <a16:creationId xmlns="" xmlns:a16="http://schemas.microsoft.com/office/drawing/2014/main" id="{43868846-A2D0-4FEF-8321-4F019DA72D75}"/>
                  </a:ext>
                </a:extLst>
              </p:cNvPr>
              <p:cNvSpPr/>
              <p:nvPr/>
            </p:nvSpPr>
            <p:spPr>
              <a:xfrm>
                <a:off x="851318" y="2371496"/>
                <a:ext cx="3552757" cy="1429946"/>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ClrTx/>
                  <a:buFont typeface="Courier New" panose="02070309020205020404" pitchFamily="49" charset="0"/>
                  <a:buChar char="o"/>
                  <a:defRPr/>
                </a:pPr>
                <a:r>
                  <a:rPr lang="en-US" sz="2300" dirty="0">
                    <a:latin typeface="Verdana" panose="020B0604030504040204" pitchFamily="34" charset="0"/>
                    <a:ea typeface="Times New Roman" panose="02020603050405020304" pitchFamily="18" charset="0"/>
                    <a:cs typeface="+mn-cs"/>
                  </a:rPr>
                  <a:t>the same measure.</a:t>
                </a:r>
                <a:endParaRPr lang="en-US" sz="23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300" dirty="0">
                    <a:latin typeface="Verdana" panose="020B0604030504040204" pitchFamily="34" charset="0"/>
                    <a:ea typeface="Times New Roman" panose="02020603050405020304" pitchFamily="18" charset="0"/>
                    <a:cs typeface="+mn-cs"/>
                  </a:rPr>
                  <a:t>a sum of </a:t>
                </a:r>
                <a14:m>
                  <m:oMath xmlns:m="http://schemas.openxmlformats.org/officeDocument/2006/math">
                    <m:r>
                      <a:rPr lang="en-US" sz="2300" i="1">
                        <a:latin typeface="Cambria Math" panose="02040503050406030204" pitchFamily="18" charset="0"/>
                        <a:ea typeface="Times New Roman" panose="02020603050405020304" pitchFamily="18" charset="0"/>
                        <a:cs typeface="+mn-cs"/>
                      </a:rPr>
                      <m:t>90°</m:t>
                    </m:r>
                  </m:oMath>
                </a14:m>
                <a:r>
                  <a:rPr lang="en-US" sz="2300" dirty="0">
                    <a:latin typeface="Verdana" panose="020B0604030504040204" pitchFamily="34" charset="0"/>
                    <a:ea typeface="Times New Roman" panose="02020603050405020304" pitchFamily="18" charset="0"/>
                    <a:cs typeface="+mn-cs"/>
                  </a:rPr>
                  <a:t>.</a:t>
                </a:r>
                <a:endParaRPr lang="en-US" sz="23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300" dirty="0">
                    <a:latin typeface="Verdana" panose="020B0604030504040204" pitchFamily="34" charset="0"/>
                    <a:ea typeface="Times New Roman" panose="02020603050405020304" pitchFamily="18" charset="0"/>
                    <a:cs typeface="+mn-cs"/>
                  </a:rPr>
                  <a:t>a sum of </a:t>
                </a:r>
                <a14:m>
                  <m:oMath xmlns:m="http://schemas.openxmlformats.org/officeDocument/2006/math">
                    <m:r>
                      <a:rPr lang="en-US" sz="2300" i="1">
                        <a:latin typeface="Cambria Math" panose="02040503050406030204" pitchFamily="18" charset="0"/>
                        <a:ea typeface="Times New Roman" panose="02020603050405020304" pitchFamily="18" charset="0"/>
                        <a:cs typeface="+mn-cs"/>
                      </a:rPr>
                      <m:t>180°</m:t>
                    </m:r>
                  </m:oMath>
                </a14:m>
                <a:r>
                  <a:rPr lang="en-US" sz="2300" dirty="0">
                    <a:latin typeface="Verdana" panose="020B0604030504040204" pitchFamily="34" charset="0"/>
                    <a:ea typeface="Times New Roman" panose="02020603050405020304" pitchFamily="18" charset="0"/>
                    <a:cs typeface="+mn-cs"/>
                  </a:rPr>
                  <a:t>.</a:t>
                </a:r>
                <a:endParaRPr lang="en-US" sz="2300" dirty="0">
                  <a:solidFill>
                    <a:sysClr val="window" lastClr="FFFFFF"/>
                  </a:solidFill>
                  <a:latin typeface="Times New Roman" panose="02020603050405020304" pitchFamily="18" charset="0"/>
                  <a:ea typeface="Times New Roman" panose="02020603050405020304" pitchFamily="18" charset="0"/>
                  <a:cs typeface="+mn-cs"/>
                </a:endParaRPr>
              </a:p>
            </p:txBody>
          </p:sp>
        </mc:Choice>
        <mc:Fallback xmlns="">
          <p:sp>
            <p:nvSpPr>
              <p:cNvPr id="16" name="Rounded Rectangle 24">
                <a:extLst>
                  <a:ext uri="{FF2B5EF4-FFF2-40B4-BE49-F238E27FC236}">
                    <a16:creationId xmlns:a16="http://schemas.microsoft.com/office/drawing/2014/main" xmlns:a14="http://schemas.microsoft.com/office/drawing/2010/main" xmlns="" id="{43868846-A2D0-4FEF-8321-4F019DA72D75}"/>
                  </a:ext>
                </a:extLst>
              </p:cNvPr>
              <p:cNvSpPr>
                <a:spLocks noRot="1" noChangeAspect="1" noMove="1" noResize="1" noEditPoints="1" noAdjustHandles="1" noChangeArrowheads="1" noChangeShapeType="1" noTextEdit="1"/>
              </p:cNvSpPr>
              <p:nvPr/>
            </p:nvSpPr>
            <p:spPr>
              <a:xfrm>
                <a:off x="851318" y="2371496"/>
                <a:ext cx="3552757" cy="1429946"/>
              </a:xfrm>
              <a:prstGeom prst="roundRect">
                <a:avLst/>
              </a:prstGeom>
              <a:blipFill rotWithShape="1">
                <a:blip r:embed="rId6"/>
                <a:stretch>
                  <a:fillRect/>
                </a:stretch>
              </a:blipFill>
              <a:ln w="19050" cap="flat" cmpd="sng" algn="ctr">
                <a:solidFill>
                  <a:sysClr val="windowText" lastClr="000000"/>
                </a:solid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7" name="Rounded Rectangle 47">
                <a:extLst>
                  <a:ext uri="{FF2B5EF4-FFF2-40B4-BE49-F238E27FC236}">
                    <a16:creationId xmlns="" xmlns:a16="http://schemas.microsoft.com/office/drawing/2014/main" id="{339824C2-07C4-443C-8FC2-87EFDDF777EF}"/>
                  </a:ext>
                </a:extLst>
              </p:cNvPr>
              <p:cNvSpPr/>
              <p:nvPr/>
            </p:nvSpPr>
            <p:spPr>
              <a:xfrm>
                <a:off x="3614941" y="3943256"/>
                <a:ext cx="1229637" cy="1306489"/>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400" i="1">
                        <a:solidFill>
                          <a:srgbClr val="000000"/>
                        </a:solidFill>
                        <a:latin typeface="Cambria Math" panose="02040503050406030204" pitchFamily="18" charset="0"/>
                        <a:ea typeface="Times New Roman" panose="02020603050405020304" pitchFamily="18" charset="0"/>
                      </a:rPr>
                      <m:t>42°</m:t>
                    </m:r>
                  </m:oMath>
                </a14:m>
                <a:endParaRPr lang="en-US" sz="2400" dirty="0">
                  <a:latin typeface="Times New Roman" panose="02020603050405020304" pitchFamily="18" charset="0"/>
                  <a:ea typeface="Times New Roman" panose="02020603050405020304" pitchFamily="18" charset="0"/>
                </a:endParaRPr>
              </a:p>
              <a:p>
                <a:pPr marL="342900" indent="-342900">
                  <a:buFont typeface="Courier New" panose="02070309020205020404" pitchFamily="49" charset="0"/>
                  <a:buChar char="o"/>
                </a:pPr>
                <a14:m>
                  <m:oMath xmlns:m="http://schemas.openxmlformats.org/officeDocument/2006/math">
                    <m:r>
                      <a:rPr lang="en-US" sz="2400" i="1">
                        <a:solidFill>
                          <a:srgbClr val="000000"/>
                        </a:solidFill>
                        <a:latin typeface="Cambria Math" panose="02040503050406030204" pitchFamily="18" charset="0"/>
                        <a:ea typeface="Times New Roman" panose="02020603050405020304" pitchFamily="18" charset="0"/>
                      </a:rPr>
                      <m:t>48°</m:t>
                    </m:r>
                  </m:oMath>
                </a14:m>
                <a:endParaRPr lang="en-US" sz="2400" dirty="0">
                  <a:latin typeface="Times New Roman" panose="02020603050405020304" pitchFamily="18" charset="0"/>
                  <a:ea typeface="Times New Roman" panose="02020603050405020304" pitchFamily="18" charset="0"/>
                </a:endParaRPr>
              </a:p>
              <a:p>
                <a:pPr marL="342900" indent="-342900">
                  <a:buFont typeface="Courier New" panose="02070309020205020404" pitchFamily="49" charset="0"/>
                  <a:buChar char="o"/>
                </a:pPr>
                <a14:m>
                  <m:oMath xmlns:m="http://schemas.openxmlformats.org/officeDocument/2006/math">
                    <m:r>
                      <a:rPr lang="en-US" sz="2400" i="1">
                        <a:solidFill>
                          <a:srgbClr val="000000"/>
                        </a:solidFill>
                        <a:latin typeface="Cambria Math" panose="02040503050406030204" pitchFamily="18" charset="0"/>
                        <a:ea typeface="Times New Roman" panose="02020603050405020304" pitchFamily="18" charset="0"/>
                      </a:rPr>
                      <m:t>138°</m:t>
                    </m:r>
                  </m:oMath>
                </a14:m>
                <a:endParaRPr lang="en-US" sz="2400" dirty="0">
                  <a:latin typeface="Times New Roman" panose="02020603050405020304" pitchFamily="18" charset="0"/>
                  <a:ea typeface="Times New Roman" panose="02020603050405020304" pitchFamily="18" charset="0"/>
                </a:endParaRPr>
              </a:p>
            </p:txBody>
          </p:sp>
        </mc:Choice>
        <mc:Fallback xmlns="">
          <p:sp>
            <p:nvSpPr>
              <p:cNvPr id="17" name="Rounded Rectangle 47">
                <a:extLst>
                  <a:ext uri="{FF2B5EF4-FFF2-40B4-BE49-F238E27FC236}">
                    <a16:creationId xmlns:a16="http://schemas.microsoft.com/office/drawing/2014/main" xmlns:a14="http://schemas.microsoft.com/office/drawing/2010/main" xmlns="" id="{339824C2-07C4-443C-8FC2-87EFDDF777EF}"/>
                  </a:ext>
                </a:extLst>
              </p:cNvPr>
              <p:cNvSpPr>
                <a:spLocks noRot="1" noChangeAspect="1" noMove="1" noResize="1" noEditPoints="1" noAdjustHandles="1" noChangeArrowheads="1" noChangeShapeType="1" noTextEdit="1"/>
              </p:cNvSpPr>
              <p:nvPr/>
            </p:nvSpPr>
            <p:spPr>
              <a:xfrm>
                <a:off x="3614941" y="3943256"/>
                <a:ext cx="1229637" cy="1306489"/>
              </a:xfrm>
              <a:prstGeom prst="roundRect">
                <a:avLst/>
              </a:prstGeom>
              <a:blipFill rotWithShape="1">
                <a:blip r:embed="rId7"/>
                <a:stretch>
                  <a:fillRect l="-1463" b="-5991"/>
                </a:stretch>
              </a:blipFill>
              <a:ln w="19050">
                <a:solidFill>
                  <a:schemeClr val="tx1"/>
                </a:solidFill>
              </a:ln>
              <a:effectLst/>
            </p:spPr>
            <p:txBody>
              <a:bodyPr/>
              <a:lstStyle/>
              <a:p>
                <a:r>
                  <a:rPr lang="en-PH">
                    <a:noFill/>
                  </a:rPr>
                  <a:t> </a:t>
                </a:r>
              </a:p>
            </p:txBody>
          </p:sp>
        </mc:Fallback>
      </mc:AlternateContent>
      <p:sp>
        <p:nvSpPr>
          <p:cNvPr id="18" name="Rounded Rectangle 48">
            <a:extLst>
              <a:ext uri="{FF2B5EF4-FFF2-40B4-BE49-F238E27FC236}">
                <a16:creationId xmlns="" xmlns:a16="http://schemas.microsoft.com/office/drawing/2014/main" id="{EEAA7FF8-DF42-4769-A8CE-80CAE17028CC}"/>
              </a:ext>
            </a:extLst>
          </p:cNvPr>
          <p:cNvSpPr/>
          <p:nvPr/>
        </p:nvSpPr>
        <p:spPr>
          <a:xfrm>
            <a:off x="6430025" y="3945021"/>
            <a:ext cx="2797421" cy="1306488"/>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ClrTx/>
              <a:buFont typeface="Courier New" panose="02070309020205020404" pitchFamily="49" charset="0"/>
              <a:buChar char="o"/>
              <a:defRPr/>
            </a:pPr>
            <a:r>
              <a:rPr lang="en-US" sz="2100" dirty="0">
                <a:latin typeface="Verdana" panose="020B0604030504040204" pitchFamily="34" charset="0"/>
                <a:ea typeface="Times New Roman" panose="02020603050405020304" pitchFamily="18" charset="0"/>
                <a:cs typeface="+mn-cs"/>
              </a:rPr>
              <a:t>complementary</a:t>
            </a:r>
            <a:endParaRPr lang="en-US" sz="21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100" dirty="0">
                <a:latin typeface="Verdana" panose="020B0604030504040204" pitchFamily="34" charset="0"/>
                <a:ea typeface="Times New Roman" panose="02020603050405020304" pitchFamily="18" charset="0"/>
                <a:cs typeface="+mn-cs"/>
              </a:rPr>
              <a:t>supplementary</a:t>
            </a:r>
            <a:endParaRPr lang="en-US" sz="21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100" dirty="0">
                <a:latin typeface="Verdana" panose="020B0604030504040204" pitchFamily="34" charset="0"/>
                <a:ea typeface="Times New Roman" panose="02020603050405020304" pitchFamily="18" charset="0"/>
                <a:cs typeface="+mn-cs"/>
              </a:rPr>
              <a:t>vertical</a:t>
            </a:r>
            <a:endParaRPr lang="en-US" sz="2100" dirty="0">
              <a:solidFill>
                <a:sysClr val="window" lastClr="FFFFFF"/>
              </a:solidFill>
              <a:latin typeface="Times New Roman" panose="02020603050405020304" pitchFamily="18" charset="0"/>
              <a:ea typeface="Times New Roman" panose="02020603050405020304" pitchFamily="18" charset="0"/>
              <a:cs typeface="+mn-cs"/>
            </a:endParaRPr>
          </a:p>
        </p:txBody>
      </p:sp>
      <mc:AlternateContent xmlns:mc="http://schemas.openxmlformats.org/markup-compatibility/2006" xmlns:a14="http://schemas.microsoft.com/office/drawing/2010/main">
        <mc:Choice Requires="a14">
          <p:sp>
            <p:nvSpPr>
              <p:cNvPr id="20" name="Rounded Rectangle 41">
                <a:extLst>
                  <a:ext uri="{FF2B5EF4-FFF2-40B4-BE49-F238E27FC236}">
                    <a16:creationId xmlns="" xmlns:a16="http://schemas.microsoft.com/office/drawing/2014/main" id="{5EF9C4BD-59BB-4BFD-B2C5-6DAC3F675000}"/>
                  </a:ext>
                </a:extLst>
              </p:cNvPr>
              <p:cNvSpPr/>
              <p:nvPr/>
            </p:nvSpPr>
            <p:spPr>
              <a:xfrm>
                <a:off x="851318" y="5318457"/>
                <a:ext cx="3401761" cy="1266545"/>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ClrTx/>
                  <a:buFont typeface="Courier New" panose="02070309020205020404" pitchFamily="49" charset="0"/>
                  <a:buChar char="o"/>
                  <a:defRPr/>
                </a:pPr>
                <a:r>
                  <a:rPr lang="en-US" sz="2200" dirty="0">
                    <a:latin typeface="Verdana" panose="020B0604030504040204" pitchFamily="34" charset="0"/>
                    <a:ea typeface="Times New Roman" panose="02020603050405020304" pitchFamily="18" charset="0"/>
                    <a:cs typeface="+mn-cs"/>
                  </a:rPr>
                  <a:t>the same measure.</a:t>
                </a:r>
                <a:endParaRPr lang="en-US" sz="22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200" dirty="0">
                    <a:latin typeface="Verdana" panose="020B0604030504040204" pitchFamily="34" charset="0"/>
                    <a:ea typeface="Times New Roman" panose="02020603050405020304" pitchFamily="18" charset="0"/>
                    <a:cs typeface="+mn-cs"/>
                  </a:rPr>
                  <a:t>a sum of </a:t>
                </a:r>
                <a14:m>
                  <m:oMath xmlns:m="http://schemas.openxmlformats.org/officeDocument/2006/math">
                    <m:r>
                      <a:rPr lang="en-US" sz="2200" i="1">
                        <a:latin typeface="Cambria Math" panose="02040503050406030204" pitchFamily="18" charset="0"/>
                        <a:ea typeface="Times New Roman" panose="02020603050405020304" pitchFamily="18" charset="0"/>
                        <a:cs typeface="+mn-cs"/>
                      </a:rPr>
                      <m:t>90°</m:t>
                    </m:r>
                  </m:oMath>
                </a14:m>
                <a:r>
                  <a:rPr lang="en-US" sz="2200" dirty="0">
                    <a:latin typeface="Verdana" panose="020B0604030504040204" pitchFamily="34" charset="0"/>
                    <a:ea typeface="Times New Roman" panose="02020603050405020304" pitchFamily="18" charset="0"/>
                    <a:cs typeface="+mn-cs"/>
                  </a:rPr>
                  <a:t>.</a:t>
                </a:r>
                <a:endParaRPr lang="en-US" sz="2200" dirty="0">
                  <a:solidFill>
                    <a:sysClr val="window" lastClr="FFFFFF"/>
                  </a:solidFill>
                  <a:latin typeface="Times New Roman" panose="02020603050405020304" pitchFamily="18" charset="0"/>
                  <a:ea typeface="Times New Roman" panose="02020603050405020304" pitchFamily="18" charset="0"/>
                  <a:cs typeface="+mn-cs"/>
                </a:endParaRPr>
              </a:p>
              <a:p>
                <a:pPr marL="342900" indent="-342900">
                  <a:buClrTx/>
                  <a:buFont typeface="Courier New" panose="02070309020205020404" pitchFamily="49" charset="0"/>
                  <a:buChar char="o"/>
                  <a:defRPr/>
                </a:pPr>
                <a:r>
                  <a:rPr lang="en-US" sz="2200" dirty="0">
                    <a:latin typeface="Verdana" panose="020B0604030504040204" pitchFamily="34" charset="0"/>
                    <a:ea typeface="Times New Roman" panose="02020603050405020304" pitchFamily="18" charset="0"/>
                    <a:cs typeface="+mn-cs"/>
                  </a:rPr>
                  <a:t>a sum of </a:t>
                </a:r>
                <a14:m>
                  <m:oMath xmlns:m="http://schemas.openxmlformats.org/officeDocument/2006/math">
                    <m:r>
                      <a:rPr lang="en-US" sz="2200" i="1">
                        <a:latin typeface="Cambria Math" panose="02040503050406030204" pitchFamily="18" charset="0"/>
                        <a:ea typeface="Times New Roman" panose="02020603050405020304" pitchFamily="18" charset="0"/>
                        <a:cs typeface="+mn-cs"/>
                      </a:rPr>
                      <m:t>180°</m:t>
                    </m:r>
                  </m:oMath>
                </a14:m>
                <a:r>
                  <a:rPr lang="en-US" sz="2200" dirty="0">
                    <a:latin typeface="Verdana" panose="020B0604030504040204" pitchFamily="34" charset="0"/>
                    <a:ea typeface="Times New Roman" panose="02020603050405020304" pitchFamily="18" charset="0"/>
                    <a:cs typeface="+mn-cs"/>
                  </a:rPr>
                  <a:t>.</a:t>
                </a:r>
                <a:endParaRPr lang="en-US" sz="2200" dirty="0">
                  <a:solidFill>
                    <a:sysClr val="window" lastClr="FFFFFF"/>
                  </a:solidFill>
                  <a:latin typeface="Times New Roman" panose="02020603050405020304" pitchFamily="18" charset="0"/>
                  <a:ea typeface="Times New Roman" panose="02020603050405020304" pitchFamily="18" charset="0"/>
                  <a:cs typeface="+mn-cs"/>
                </a:endParaRPr>
              </a:p>
            </p:txBody>
          </p:sp>
        </mc:Choice>
        <mc:Fallback xmlns="">
          <p:sp>
            <p:nvSpPr>
              <p:cNvPr id="20" name="Rounded Rectangle 41">
                <a:extLst>
                  <a:ext uri="{FF2B5EF4-FFF2-40B4-BE49-F238E27FC236}">
                    <a16:creationId xmlns:a16="http://schemas.microsoft.com/office/drawing/2014/main" xmlns:a14="http://schemas.microsoft.com/office/drawing/2010/main" xmlns="" id="{5EF9C4BD-59BB-4BFD-B2C5-6DAC3F675000}"/>
                  </a:ext>
                </a:extLst>
              </p:cNvPr>
              <p:cNvSpPr>
                <a:spLocks noRot="1" noChangeAspect="1" noMove="1" noResize="1" noEditPoints="1" noAdjustHandles="1" noChangeArrowheads="1" noChangeShapeType="1" noTextEdit="1"/>
              </p:cNvSpPr>
              <p:nvPr/>
            </p:nvSpPr>
            <p:spPr>
              <a:xfrm>
                <a:off x="851318" y="5318457"/>
                <a:ext cx="3401761" cy="1266545"/>
              </a:xfrm>
              <a:prstGeom prst="roundRect">
                <a:avLst/>
              </a:prstGeom>
              <a:blipFill rotWithShape="1">
                <a:blip r:embed="rId8"/>
                <a:stretch>
                  <a:fillRect l="-178" b="-2844"/>
                </a:stretch>
              </a:blipFill>
              <a:ln w="19050" cap="flat" cmpd="sng" algn="ctr">
                <a:solidFill>
                  <a:sysClr val="windowText" lastClr="000000"/>
                </a:solidFill>
                <a:prstDash val="solid"/>
              </a:ln>
              <a:effectLst/>
            </p:spPr>
            <p:txBody>
              <a:bodyPr/>
              <a:lstStyle/>
              <a:p>
                <a:r>
                  <a:rPr lang="en-PH">
                    <a:noFill/>
                  </a:rPr>
                  <a:t> </a:t>
                </a:r>
              </a:p>
            </p:txBody>
          </p:sp>
        </mc:Fallback>
      </mc:AlternateContent>
    </p:spTree>
    <p:extLst>
      <p:ext uri="{BB962C8B-B14F-4D97-AF65-F5344CB8AC3E}">
        <p14:creationId xmlns:p14="http://schemas.microsoft.com/office/powerpoint/2010/main" val="2835082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274</a:t>
            </a:r>
          </a:p>
        </p:txBody>
      </p:sp>
      <p:sp>
        <p:nvSpPr>
          <p:cNvPr id="2" name="Rectangle 2">
            <a:extLst>
              <a:ext uri="{FF2B5EF4-FFF2-40B4-BE49-F238E27FC236}">
                <a16:creationId xmlns="" xmlns:a16="http://schemas.microsoft.com/office/drawing/2014/main" id="{E147FADE-72DD-4B32-BE80-790091E3A7BE}"/>
              </a:ext>
            </a:extLst>
          </p:cNvPr>
          <p:cNvSpPr>
            <a:spLocks noChangeArrowheads="1"/>
          </p:cNvSpPr>
          <p:nvPr/>
        </p:nvSpPr>
        <p:spPr bwMode="auto">
          <a:xfrm>
            <a:off x="534060" y="381991"/>
            <a:ext cx="1116525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3"/>
            </a:pPr>
            <a:r>
              <a:rPr lang="en-US" altLang="en-US" sz="2400" dirty="0">
                <a:latin typeface="Verdana" panose="020B0604030504040204" pitchFamily="34" charset="0"/>
                <a:ea typeface="Verdana" panose="020B0604030504040204" pitchFamily="34" charset="0"/>
              </a:rPr>
              <a:t>In the figure, angles </a:t>
            </a:r>
            <a:r>
              <a:rPr lang="en-US" altLang="en-US" sz="2400" i="1" dirty="0">
                <a:latin typeface="Verdana" panose="020B0604030504040204" pitchFamily="34" charset="0"/>
                <a:ea typeface="Verdana" panose="020B0604030504040204" pitchFamily="34" charset="0"/>
              </a:rPr>
              <a:t>QRS</a:t>
            </a:r>
            <a:r>
              <a:rPr lang="en-US" altLang="en-US" sz="2400" dirty="0">
                <a:latin typeface="Verdana" panose="020B0604030504040204" pitchFamily="34" charset="0"/>
                <a:ea typeface="Verdana" panose="020B0604030504040204" pitchFamily="34" charset="0"/>
              </a:rPr>
              <a:t> and </a:t>
            </a:r>
            <a:r>
              <a:rPr lang="en-US" altLang="en-US" sz="2400" i="1" dirty="0">
                <a:latin typeface="Verdana" panose="020B0604030504040204" pitchFamily="34" charset="0"/>
                <a:ea typeface="Verdana" panose="020B0604030504040204" pitchFamily="34" charset="0"/>
              </a:rPr>
              <a:t>RSQ</a:t>
            </a:r>
            <a:r>
              <a:rPr lang="en-US" altLang="en-US" sz="2400" dirty="0">
                <a:latin typeface="Verdana" panose="020B0604030504040204" pitchFamily="34" charset="0"/>
                <a:ea typeface="Verdana" panose="020B0604030504040204" pitchFamily="34" charset="0"/>
              </a:rPr>
              <a:t> are complementary</a:t>
            </a:r>
            <a:r>
              <a:rPr lang="en-US" altLang="en-US" sz="2400" dirty="0" smtClean="0">
                <a:latin typeface="Verdana" panose="020B0604030504040204" pitchFamily="34" charset="0"/>
                <a:ea typeface="Verdana" panose="020B0604030504040204" pitchFamily="34" charset="0"/>
              </a:rPr>
              <a:t>.</a:t>
            </a:r>
          </a:p>
          <a:p>
            <a:pPr marL="457200" indent="-457200" eaLnBrk="0" fontAlgn="base" hangingPunct="0">
              <a:spcBef>
                <a:spcPct val="0"/>
              </a:spcBef>
              <a:spcAft>
                <a:spcPct val="0"/>
              </a:spcAft>
              <a:buClrTx/>
              <a:buFont typeface="+mj-lt"/>
              <a:buAutoNum type="arabicPeriod" startAt="3"/>
            </a:pPr>
            <a:endParaRPr lang="en-US" altLang="en-US" sz="2400" dirty="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smtClean="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smtClean="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smtClean="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smtClean="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a:solidFill>
                <a:schemeClr val="tx1"/>
              </a:solidFill>
              <a:latin typeface="Verdana" panose="020B0604030504040204" pitchFamily="34" charset="0"/>
              <a:ea typeface="Verdana" panose="020B0604030504040204" pitchFamily="34" charset="0"/>
            </a:endParaRPr>
          </a:p>
          <a:p>
            <a:pPr marL="457200" indent="-457200" eaLnBrk="0" fontAlgn="base" hangingPunct="0">
              <a:spcBef>
                <a:spcPct val="0"/>
              </a:spcBef>
              <a:spcAft>
                <a:spcPct val="0"/>
              </a:spcAft>
              <a:buClrTx/>
              <a:buFont typeface="+mj-lt"/>
              <a:buAutoNum type="arabicPeriod" startAt="3"/>
            </a:pPr>
            <a:endParaRPr lang="en-US" altLang="en-US" sz="2400" dirty="0" smtClean="0">
              <a:solidFill>
                <a:schemeClr val="tx1"/>
              </a:solidFill>
              <a:latin typeface="Verdana" panose="020B0604030504040204" pitchFamily="34" charset="0"/>
              <a:ea typeface="Verdana" panose="020B0604030504040204" pitchFamily="34" charset="0"/>
            </a:endParaRPr>
          </a:p>
          <a:p>
            <a:pPr eaLnBrk="0" fontAlgn="base" hangingPunct="0">
              <a:spcBef>
                <a:spcPct val="0"/>
              </a:spcBef>
              <a:spcAft>
                <a:spcPct val="0"/>
              </a:spcAft>
              <a:buClrTx/>
            </a:pPr>
            <a:endParaRPr lang="en-US" altLang="en-US" sz="2400" dirty="0" smtClean="0">
              <a:latin typeface="Verdana" panose="020B0604030504040204" pitchFamily="34" charset="0"/>
              <a:ea typeface="Verdana" panose="020B0604030504040204" pitchFamily="34" charset="0"/>
            </a:endParaRPr>
          </a:p>
          <a:p>
            <a:pPr marL="444500" eaLnBrk="0" fontAlgn="base" hangingPunct="0">
              <a:spcBef>
                <a:spcPct val="0"/>
              </a:spcBef>
              <a:spcAft>
                <a:spcPct val="0"/>
              </a:spcAft>
              <a:buClrTx/>
            </a:pPr>
            <a:r>
              <a:rPr lang="en-US" altLang="en-US" sz="2400" dirty="0" smtClean="0">
                <a:latin typeface="Verdana" panose="020B0604030504040204" pitchFamily="34" charset="0"/>
                <a:ea typeface="Verdana" panose="020B0604030504040204" pitchFamily="34" charset="0"/>
              </a:rPr>
              <a:t>Find </a:t>
            </a:r>
            <a:r>
              <a:rPr lang="en-US" altLang="en-US" sz="2400" dirty="0">
                <a:latin typeface="Verdana" panose="020B0604030504040204" pitchFamily="34" charset="0"/>
                <a:ea typeface="Verdana" panose="020B0604030504040204" pitchFamily="34" charset="0"/>
              </a:rPr>
              <a:t>the measure of angle </a:t>
            </a:r>
            <a:r>
              <a:rPr lang="en-US" altLang="en-US" sz="2400" i="1" dirty="0">
                <a:latin typeface="Verdana" panose="020B0604030504040204" pitchFamily="34" charset="0"/>
                <a:ea typeface="Verdana" panose="020B0604030504040204" pitchFamily="34" charset="0"/>
              </a:rPr>
              <a:t>RSQ</a:t>
            </a:r>
            <a:r>
              <a:rPr lang="en-US" altLang="en-US" sz="2400" dirty="0" smtClean="0">
                <a:latin typeface="Verdana" panose="020B0604030504040204" pitchFamily="34" charset="0"/>
                <a:ea typeface="Verdana" panose="020B0604030504040204" pitchFamily="34" charset="0"/>
              </a:rPr>
              <a:t>.</a:t>
            </a:r>
            <a:endParaRPr lang="en-US" altLang="en-US" sz="2400" dirty="0">
              <a:solidFill>
                <a:schemeClr val="tx1"/>
              </a:solidFill>
              <a:latin typeface="Verdana" panose="020B0604030504040204" pitchFamily="34" charset="0"/>
              <a:ea typeface="Verdana" panose="020B0604030504040204" pitchFamily="34" charset="0"/>
            </a:endParaRPr>
          </a:p>
        </p:txBody>
      </p:sp>
      <p:pic>
        <p:nvPicPr>
          <p:cNvPr id="1025" name="Picture 20" descr="A picture containing background pattern&#10;&#10;Description automatically generated">
            <a:extLst>
              <a:ext uri="{FF2B5EF4-FFF2-40B4-BE49-F238E27FC236}">
                <a16:creationId xmlns="" xmlns:a16="http://schemas.microsoft.com/office/drawing/2014/main" id="{3415B984-153F-422E-812D-A9C41A487373}"/>
              </a:ext>
            </a:extLst>
          </p:cNvPr>
          <p:cNvPicPr>
            <a:picLocks noChangeAspect="1" noChangeArrowheads="1"/>
          </p:cNvPicPr>
          <p:nvPr/>
        </p:nvPicPr>
        <p:blipFill>
          <a:blip r:embed="rId4" r:link="rId5">
            <a:extLst>
              <a:ext uri="{28A0092B-C50C-407E-A947-70E740481C1C}">
                <a14:useLocalDpi xmlns:a14="http://schemas.microsoft.com/office/drawing/2010/main"/>
              </a:ext>
            </a:extLst>
          </a:blip>
          <a:srcRect/>
          <a:stretch>
            <a:fillRect/>
          </a:stretch>
        </p:blipFill>
        <p:spPr bwMode="auto">
          <a:xfrm>
            <a:off x="3792618" y="1219369"/>
            <a:ext cx="4735051" cy="2957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580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10199"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275</a:t>
            </a: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4839" y="-15002"/>
            <a:ext cx="107069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13.2.3 Collaboration: </a:t>
            </a:r>
            <a:r>
              <a:rPr lang="en-US" sz="3600" b="1" dirty="0">
                <a:solidFill>
                  <a:srgbClr val="49BEAA"/>
                </a:solidFill>
                <a:latin typeface="Verdana" panose="020B0604030504040204" pitchFamily="34" charset="0"/>
                <a:ea typeface="Verdana" panose="020B0604030504040204" pitchFamily="34" charset="0"/>
                <a:cs typeface="Verdana" panose="020B0604030504040204" pitchFamily="34" charset="0"/>
              </a:rPr>
              <a:t>Applying Relationships to Find Missing Angles</a:t>
            </a:r>
            <a:endParaRPr lang="en-US" sz="3600" b="1" dirty="0">
              <a:solidFill>
                <a:srgbClr val="33BEA6"/>
              </a:solidFill>
              <a:latin typeface="Verdana"/>
              <a:ea typeface="Verdana"/>
              <a:cs typeface="Verdana"/>
              <a:sym typeface="Verdana"/>
            </a:endParaRPr>
          </a:p>
        </p:txBody>
      </p:sp>
      <p:sp>
        <p:nvSpPr>
          <p:cNvPr id="15" name="Google Shape;282;g104476d1465_1_17">
            <a:extLst>
              <a:ext uri="{FF2B5EF4-FFF2-40B4-BE49-F238E27FC236}">
                <a16:creationId xmlns=""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275</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4007" y="28254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536442" y="1468687"/>
            <a:ext cx="10976386" cy="1015663"/>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rPr>
              <a:t>With your partner, determine who will be Partner A and who will be Partner B.</a:t>
            </a:r>
          </a:p>
          <a:p>
            <a:pPr marL="457200"/>
            <a:r>
              <a:rPr lang="en-US" sz="2000" dirty="0">
                <a:latin typeface="Verdana" panose="020B0604030504040204" pitchFamily="34" charset="0"/>
                <a:ea typeface="Verdana" panose="020B0604030504040204" pitchFamily="34" charset="0"/>
              </a:rPr>
              <a:t> </a:t>
            </a:r>
          </a:p>
          <a:p>
            <a:pPr marL="742950" lvl="1" indent="-285750">
              <a:buFont typeface="+mj-lt"/>
              <a:buAutoNum type="alphaLcPeriod"/>
            </a:pPr>
            <a:r>
              <a:rPr lang="en-US" sz="2000" dirty="0">
                <a:latin typeface="Verdana" panose="020B0604030504040204" pitchFamily="34" charset="0"/>
                <a:ea typeface="Verdana" panose="020B0604030504040204" pitchFamily="34" charset="0"/>
              </a:rPr>
              <a:t>Complete the problems in the appropriate column independently.</a:t>
            </a:r>
          </a:p>
        </p:txBody>
      </p:sp>
      <p:pic>
        <p:nvPicPr>
          <p:cNvPr id="3" name="Picture 2">
            <a:extLst>
              <a:ext uri="{FF2B5EF4-FFF2-40B4-BE49-F238E27FC236}">
                <a16:creationId xmlns="" xmlns:a16="http://schemas.microsoft.com/office/drawing/2014/main" id="{86EBA0A3-F86F-4D2A-AD03-B5A7CC6169D9}"/>
              </a:ext>
            </a:extLst>
          </p:cNvPr>
          <p:cNvPicPr>
            <a:picLocks noChangeAspect="1"/>
          </p:cNvPicPr>
          <p:nvPr/>
        </p:nvPicPr>
        <p:blipFill>
          <a:blip r:embed="rId5"/>
          <a:stretch>
            <a:fillRect/>
          </a:stretch>
        </p:blipFill>
        <p:spPr>
          <a:xfrm>
            <a:off x="3131137" y="2743782"/>
            <a:ext cx="5786995" cy="3796269"/>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275</a:t>
            </a:r>
          </a:p>
        </p:txBody>
      </p:sp>
      <p:grpSp>
        <p:nvGrpSpPr>
          <p:cNvPr id="2" name="Group 1">
            <a:extLst>
              <a:ext uri="{FF2B5EF4-FFF2-40B4-BE49-F238E27FC236}">
                <a16:creationId xmlns="" xmlns:a16="http://schemas.microsoft.com/office/drawing/2014/main" id="{A580F903-F8E1-C92A-E82D-BA125178E421}"/>
              </a:ext>
            </a:extLst>
          </p:cNvPr>
          <p:cNvGrpSpPr/>
          <p:nvPr/>
        </p:nvGrpSpPr>
        <p:grpSpPr>
          <a:xfrm>
            <a:off x="3386281" y="298465"/>
            <a:ext cx="5419438" cy="6230773"/>
            <a:chOff x="3161969" y="226902"/>
            <a:chExt cx="5419438" cy="6230773"/>
          </a:xfrm>
        </p:grpSpPr>
        <p:pic>
          <p:nvPicPr>
            <p:cNvPr id="5" name="Picture 4">
              <a:extLst>
                <a:ext uri="{FF2B5EF4-FFF2-40B4-BE49-F238E27FC236}">
                  <a16:creationId xmlns="" xmlns:a16="http://schemas.microsoft.com/office/drawing/2014/main" id="{F6FB58F2-7E7F-407A-8E18-2AD2F221B300}"/>
                </a:ext>
              </a:extLst>
            </p:cNvPr>
            <p:cNvPicPr>
              <a:picLocks noChangeAspect="1"/>
            </p:cNvPicPr>
            <p:nvPr/>
          </p:nvPicPr>
          <p:blipFill>
            <a:blip r:embed="rId4"/>
            <a:stretch>
              <a:fillRect/>
            </a:stretch>
          </p:blipFill>
          <p:spPr>
            <a:xfrm>
              <a:off x="3161969" y="226902"/>
              <a:ext cx="5419438" cy="346845"/>
            </a:xfrm>
            <a:prstGeom prst="rect">
              <a:avLst/>
            </a:prstGeom>
          </p:spPr>
        </p:pic>
        <p:pic>
          <p:nvPicPr>
            <p:cNvPr id="9" name="Picture 8">
              <a:extLst>
                <a:ext uri="{FF2B5EF4-FFF2-40B4-BE49-F238E27FC236}">
                  <a16:creationId xmlns="" xmlns:a16="http://schemas.microsoft.com/office/drawing/2014/main" id="{C9336AA6-59C6-457E-8714-EA83142AC9D9}"/>
                </a:ext>
              </a:extLst>
            </p:cNvPr>
            <p:cNvPicPr>
              <a:picLocks noChangeAspect="1"/>
            </p:cNvPicPr>
            <p:nvPr/>
          </p:nvPicPr>
          <p:blipFill>
            <a:blip r:embed="rId5"/>
            <a:stretch>
              <a:fillRect/>
            </a:stretch>
          </p:blipFill>
          <p:spPr>
            <a:xfrm>
              <a:off x="3161969" y="499149"/>
              <a:ext cx="5419438" cy="3197468"/>
            </a:xfrm>
            <a:prstGeom prst="rect">
              <a:avLst/>
            </a:prstGeom>
          </p:spPr>
        </p:pic>
        <p:pic>
          <p:nvPicPr>
            <p:cNvPr id="19" name="Picture 18">
              <a:extLst>
                <a:ext uri="{FF2B5EF4-FFF2-40B4-BE49-F238E27FC236}">
                  <a16:creationId xmlns="" xmlns:a16="http://schemas.microsoft.com/office/drawing/2014/main" id="{9EE27D6C-2343-41C5-BDEE-87E06CA41069}"/>
                </a:ext>
              </a:extLst>
            </p:cNvPr>
            <p:cNvPicPr>
              <a:picLocks noChangeAspect="1"/>
            </p:cNvPicPr>
            <p:nvPr/>
          </p:nvPicPr>
          <p:blipFill rotWithShape="1">
            <a:blip r:embed="rId6"/>
            <a:srcRect b="33959"/>
            <a:stretch/>
          </p:blipFill>
          <p:spPr>
            <a:xfrm>
              <a:off x="3161969" y="3696617"/>
              <a:ext cx="5419438" cy="2392536"/>
            </a:xfrm>
            <a:prstGeom prst="rect">
              <a:avLst/>
            </a:prstGeom>
          </p:spPr>
        </p:pic>
        <p:pic>
          <p:nvPicPr>
            <p:cNvPr id="21" name="Picture 20">
              <a:extLst>
                <a:ext uri="{FF2B5EF4-FFF2-40B4-BE49-F238E27FC236}">
                  <a16:creationId xmlns="" xmlns:a16="http://schemas.microsoft.com/office/drawing/2014/main" id="{00FA191B-A516-4941-B26A-31A473C12500}"/>
                </a:ext>
              </a:extLst>
            </p:cNvPr>
            <p:cNvPicPr>
              <a:picLocks noChangeAspect="1"/>
            </p:cNvPicPr>
            <p:nvPr/>
          </p:nvPicPr>
          <p:blipFill>
            <a:blip r:embed="rId7"/>
            <a:stretch>
              <a:fillRect/>
            </a:stretch>
          </p:blipFill>
          <p:spPr>
            <a:xfrm>
              <a:off x="3161969" y="6089153"/>
              <a:ext cx="5419438" cy="368522"/>
            </a:xfrm>
            <a:prstGeom prst="rect">
              <a:avLst/>
            </a:prstGeom>
          </p:spPr>
        </p:pic>
      </p:grpSp>
    </p:spTree>
    <p:extLst>
      <p:ext uri="{BB962C8B-B14F-4D97-AF65-F5344CB8AC3E}">
        <p14:creationId xmlns:p14="http://schemas.microsoft.com/office/powerpoint/2010/main" val="13206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275</a:t>
            </a: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4555" y="369561"/>
            <a:ext cx="10800000" cy="1330877"/>
          </a:xfrm>
          <a:prstGeom prst="rect">
            <a:avLst/>
          </a:prstGeom>
          <a:noFill/>
        </p:spPr>
        <p:txBody>
          <a:bodyPr wrap="square" rtlCol="0">
            <a:spAutoFit/>
          </a:bodyPr>
          <a:lstStyle/>
          <a:p>
            <a:pPr marL="914400" lvl="1" indent="-457200">
              <a:lnSpc>
                <a:spcPct val="115000"/>
              </a:lnSpc>
              <a:buFont typeface="+mj-lt"/>
              <a:buAutoNum type="alphaLcPeriod" startAt="2"/>
            </a:pPr>
            <a:r>
              <a:rPr lang="en-US" sz="2400" dirty="0">
                <a:latin typeface="Verdana" panose="020B0604030504040204" pitchFamily="34" charset="0"/>
                <a:ea typeface="Times New Roman" panose="02020603050405020304" pitchFamily="18" charset="0"/>
              </a:rPr>
              <a:t>The problems in each row have the same result. Check your work with your partner. If there are discrepancies in your answers, work together to find and correct any errors.</a:t>
            </a:r>
            <a:endParaRPr lang="en-US" sz="1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28429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 xmlns:a16="http://schemas.microsoft.com/office/drawing/2014/main" id="{2FA392D8-3ED3-7940-83A8-1451AA8A08D4}"/>
                  </a:ext>
                </a:extLst>
              </p:cNvPr>
              <p:cNvSpPr txBox="1"/>
              <p:nvPr/>
            </p:nvSpPr>
            <p:spPr>
              <a:xfrm>
                <a:off x="533046" y="380634"/>
                <a:ext cx="10800000" cy="830997"/>
              </a:xfrm>
              <a:prstGeom prst="rect">
                <a:avLst/>
              </a:prstGeom>
              <a:noFill/>
            </p:spPr>
            <p:txBody>
              <a:bodyPr wrap="square" rtlCol="0">
                <a:spAutoFit/>
              </a:bodyPr>
              <a:lstStyle/>
              <a:p>
                <a:pPr marL="457200" indent="-457200">
                  <a:spcBef>
                    <a:spcPts val="900"/>
                  </a:spcBef>
                  <a:buFont typeface="+mj-lt"/>
                  <a:buAutoNum type="arabicPeriod" startAt="2"/>
                </a:pPr>
                <a:r>
                  <a:rPr lang="en-US" sz="2400" dirty="0">
                    <a:latin typeface="Verdana" panose="020B0604030504040204" pitchFamily="34" charset="0"/>
                    <a:ea typeface="Times New Roman" panose="02020603050405020304" pitchFamily="18" charset="0"/>
                  </a:rPr>
                  <a:t>Three figures are shown with angles measuring </a:t>
                </a:r>
                <a14:m>
                  <m:oMath xmlns:m="http://schemas.openxmlformats.org/officeDocument/2006/math">
                    <m:r>
                      <a:rPr lang="en-US" sz="2400" i="1">
                        <a:latin typeface="Cambria Math" panose="02040503050406030204" pitchFamily="18" charset="0"/>
                        <a:ea typeface="Times New Roman" panose="02020603050405020304" pitchFamily="18" charset="0"/>
                      </a:rPr>
                      <m:t>𝑔</m:t>
                    </m:r>
                    <m:r>
                      <a:rPr lang="en-US" sz="2400" i="1">
                        <a:latin typeface="Cambria Math" panose="02040503050406030204" pitchFamily="18" charset="0"/>
                        <a:ea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rPr>
                      <m:t>h</m:t>
                    </m:r>
                    <m:r>
                      <a:rPr lang="en-US" sz="2400" i="1">
                        <a:latin typeface="Cambria Math" panose="02040503050406030204" pitchFamily="18" charset="0"/>
                        <a:ea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rPr>
                  <a:t> marked in each figure.</a:t>
                </a:r>
                <a:endParaRPr lang="en-US" sz="1600" dirty="0">
                  <a:latin typeface="Times New Roman" panose="02020603050405020304" pitchFamily="18" charset="0"/>
                  <a:ea typeface="Times New Roman" panose="02020603050405020304" pitchFamily="18" charset="0"/>
                </a:endParaRPr>
              </a:p>
            </p:txBody>
          </p:sp>
        </mc:Choice>
        <mc:Fallback>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33046" y="380634"/>
                <a:ext cx="10800000" cy="830997"/>
              </a:xfrm>
              <a:prstGeom prst="rect">
                <a:avLst/>
              </a:prstGeom>
              <a:blipFill rotWithShape="1">
                <a:blip r:embed="rId4"/>
                <a:stretch>
                  <a:fillRect l="-847" t="-6569" r="-734" b="-14599"/>
                </a:stretch>
              </a:blipFill>
            </p:spPr>
            <p:txBody>
              <a:bodyPr/>
              <a:lstStyle/>
              <a:p>
                <a:r>
                  <a:rPr lang="en-PH">
                    <a:noFill/>
                  </a:rPr>
                  <a:t> </a:t>
                </a:r>
              </a:p>
            </p:txBody>
          </p:sp>
        </mc:Fallback>
      </mc:AlternateContent>
      <p:pic>
        <p:nvPicPr>
          <p:cNvPr id="3" name="Picture 2">
            <a:extLst>
              <a:ext uri="{FF2B5EF4-FFF2-40B4-BE49-F238E27FC236}">
                <a16:creationId xmlns="" xmlns:a16="http://schemas.microsoft.com/office/drawing/2014/main" id="{BE73F6D7-2FCF-4688-8A46-FD33E4117AEA}"/>
              </a:ext>
            </a:extLst>
          </p:cNvPr>
          <p:cNvPicPr>
            <a:picLocks noChangeAspect="1"/>
          </p:cNvPicPr>
          <p:nvPr/>
        </p:nvPicPr>
        <p:blipFill>
          <a:blip r:embed="rId5"/>
          <a:stretch>
            <a:fillRect/>
          </a:stretch>
        </p:blipFill>
        <p:spPr>
          <a:xfrm>
            <a:off x="4151938" y="1149731"/>
            <a:ext cx="3932897" cy="5366273"/>
          </a:xfrm>
          <a:prstGeom prst="rect">
            <a:avLst/>
          </a:prstGeom>
        </p:spPr>
      </p:pic>
    </p:spTree>
    <p:extLst>
      <p:ext uri="{BB962C8B-B14F-4D97-AF65-F5344CB8AC3E}">
        <p14:creationId xmlns:p14="http://schemas.microsoft.com/office/powerpoint/2010/main" val="1527087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276</a:t>
            </a: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4160" y="378808"/>
            <a:ext cx="10800000" cy="1569660"/>
          </a:xfrm>
          <a:prstGeom prst="rect">
            <a:avLst/>
          </a:prstGeom>
          <a:noFill/>
        </p:spPr>
        <p:txBody>
          <a:bodyPr wrap="square" rtlCol="0">
            <a:spAutoFit/>
          </a:bodyPr>
          <a:lstStyle/>
          <a:p>
            <a:pPr marL="457200" fontAlgn="base">
              <a:spcBef>
                <a:spcPts val="180"/>
              </a:spcBef>
              <a:spcAft>
                <a:spcPts val="180"/>
              </a:spcAft>
            </a:pPr>
            <a:r>
              <a:rPr lang="en-US" sz="2400" dirty="0">
                <a:latin typeface="Verdana" panose="020B0604030504040204" pitchFamily="34" charset="0"/>
                <a:ea typeface="Times New Roman" panose="02020603050405020304" pitchFamily="18" charset="0"/>
              </a:rPr>
              <a:t>Work with your partner to complete the table by matching each figure to the equation that represents the relationships between the angles in the figure. For each match, explain how you know they are a match.</a:t>
            </a:r>
            <a:endParaRPr lang="en-US" sz="1600" dirty="0">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 xmlns:a16="http://schemas.microsoft.com/office/drawing/2014/main" id="{4725A288-E92A-4F64-A61E-3D9BBF711770}"/>
              </a:ext>
            </a:extLst>
          </p:cNvPr>
          <p:cNvPicPr>
            <a:picLocks noChangeAspect="1"/>
          </p:cNvPicPr>
          <p:nvPr/>
        </p:nvPicPr>
        <p:blipFill>
          <a:blip r:embed="rId4"/>
          <a:stretch>
            <a:fillRect/>
          </a:stretch>
        </p:blipFill>
        <p:spPr>
          <a:xfrm>
            <a:off x="4348821" y="2141490"/>
            <a:ext cx="4339478" cy="4314174"/>
          </a:xfrm>
          <a:prstGeom prst="rect">
            <a:avLst/>
          </a:prstGeom>
        </p:spPr>
      </p:pic>
    </p:spTree>
    <p:extLst>
      <p:ext uri="{BB962C8B-B14F-4D97-AF65-F5344CB8AC3E}">
        <p14:creationId xmlns:p14="http://schemas.microsoft.com/office/powerpoint/2010/main" val="3658249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93410" y="2766150"/>
            <a:ext cx="604268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p>
        </p:txBody>
      </p:sp>
      <p:pic>
        <p:nvPicPr>
          <p:cNvPr id="9218"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219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54839" y="0"/>
            <a:ext cx="105955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13.2.4 Guided Practice: </a:t>
            </a:r>
            <a:r>
              <a:rPr lang="en-US" sz="3600" b="1" dirty="0">
                <a:solidFill>
                  <a:srgbClr val="26B6D4"/>
                </a:solidFill>
                <a:latin typeface="Verdana" panose="020B0604030504040204" pitchFamily="34" charset="0"/>
                <a:ea typeface="Verdana" panose="020B0604030504040204" pitchFamily="34" charset="0"/>
                <a:cs typeface="Verdana" panose="020B0604030504040204" pitchFamily="34" charset="0"/>
              </a:rPr>
              <a:t>Writing Equations to Find Missing Angles</a:t>
            </a:r>
            <a:endParaRPr lang="en-US" sz="3600" b="1" dirty="0">
              <a:solidFill>
                <a:srgbClr val="54B5D1"/>
              </a:solidFill>
              <a:latin typeface="Verdana"/>
              <a:ea typeface="Verdana"/>
              <a:cs typeface="Verdana"/>
              <a:sym typeface="Verdana"/>
            </a:endParaRPr>
          </a:p>
        </p:txBody>
      </p:sp>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p>
        </p:txBody>
      </p:sp>
      <p:pic>
        <p:nvPicPr>
          <p:cNvPr id="8" name="Picture 2" descr="Icon&#10;&#10;Description automatically generated">
            <a:extLst>
              <a:ext uri="{FF2B5EF4-FFF2-40B4-BE49-F238E27FC236}">
                <a16:creationId xmlns=""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4007"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31D40250-DEDD-2C41-8538-3D4DD18CCC4A}"/>
              </a:ext>
            </a:extLst>
          </p:cNvPr>
          <p:cNvSpPr txBox="1"/>
          <p:nvPr/>
        </p:nvSpPr>
        <p:spPr>
          <a:xfrm>
            <a:off x="531665" y="1460670"/>
            <a:ext cx="10800000" cy="2000548"/>
          </a:xfrm>
          <a:prstGeom prst="rect">
            <a:avLst/>
          </a:prstGeom>
          <a:noFill/>
        </p:spPr>
        <p:txBody>
          <a:bodyPr wrap="square" rtlCol="0">
            <a:spAutoFit/>
          </a:bodyPr>
          <a:lstStyle/>
          <a:p>
            <a:r>
              <a:rPr lang="en-US" sz="2000" dirty="0">
                <a:latin typeface="Verdana" panose="020B0604030504040204" pitchFamily="34" charset="0"/>
                <a:ea typeface="Times New Roman" panose="02020603050405020304" pitchFamily="18" charset="0"/>
              </a:rPr>
              <a:t>Algebraic equations can be written to express the relationship between complementary, supplementary, and vertical angles. The equations can then be solved to find the measures of unknown angles. </a:t>
            </a:r>
          </a:p>
          <a:p>
            <a:endParaRPr lang="en-US" sz="20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a:pPr>
            <a:r>
              <a:rPr lang="en-US" sz="2000" dirty="0">
                <a:latin typeface="Verdana" panose="020B0604030504040204" pitchFamily="34" charset="0"/>
                <a:ea typeface="Times New Roman" panose="02020603050405020304" pitchFamily="18" charset="0"/>
              </a:rPr>
              <a:t>Two angles formed by intersecting lines are labeled. </a:t>
            </a:r>
            <a:endParaRPr lang="en-US" sz="2000" dirty="0">
              <a:latin typeface="Times New Roman" panose="02020603050405020304" pitchFamily="18" charset="0"/>
              <a:ea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endParaRPr>
          </a:p>
        </p:txBody>
      </p:sp>
      <p:pic>
        <p:nvPicPr>
          <p:cNvPr id="9" name="Picture 8" descr="Diagram&#10;&#10;Description automatically generated">
            <a:extLst>
              <a:ext uri="{FF2B5EF4-FFF2-40B4-BE49-F238E27FC236}">
                <a16:creationId xmlns="" xmlns:a16="http://schemas.microsoft.com/office/drawing/2014/main" id="{DD10D865-94E0-4584-851B-277FE2DB535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13250" y="3274469"/>
            <a:ext cx="5619404" cy="3247851"/>
          </a:xfrm>
          <a:prstGeom prst="rect">
            <a:avLst/>
          </a:prstGeom>
        </p:spPr>
      </p:pic>
    </p:spTree>
    <p:extLst>
      <p:ext uri="{BB962C8B-B14F-4D97-AF65-F5344CB8AC3E}">
        <p14:creationId xmlns:p14="http://schemas.microsoft.com/office/powerpoint/2010/main" val="2554882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descr="Diagram&#10;&#10;Description automatically generated">
            <a:extLst>
              <a:ext uri="{FF2B5EF4-FFF2-40B4-BE49-F238E27FC236}">
                <a16:creationId xmlns="" xmlns:a16="http://schemas.microsoft.com/office/drawing/2014/main" id="{6CA0A565-7ADB-4A9A-AD66-C6EB1F89F64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12598" y="367526"/>
            <a:ext cx="5145623" cy="2974019"/>
          </a:xfrm>
          <a:prstGeom prst="rect">
            <a:avLst/>
          </a:prstGeom>
        </p:spPr>
      </p:pic>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729" y="367526"/>
                <a:ext cx="11416614" cy="4770537"/>
              </a:xfrm>
              <a:prstGeom prst="rect">
                <a:avLst/>
              </a:prstGeom>
              <a:noFill/>
            </p:spPr>
            <p:txBody>
              <a:bodyPr wrap="square" rtlCol="0">
                <a:spAutoFit/>
              </a:bodyPr>
              <a:lstStyle/>
              <a:p>
                <a:pPr marL="900113" indent="-457200">
                  <a:buFont typeface="+mj-lt"/>
                  <a:buAutoNum type="alphaLcPeriod"/>
                </a:pPr>
                <a:r>
                  <a:rPr lang="en-US" sz="2400" dirty="0">
                    <a:latin typeface="Verdana" panose="020B0604030504040204" pitchFamily="34" charset="0"/>
                    <a:ea typeface="Times New Roman" panose="02020603050405020304" pitchFamily="18" charset="0"/>
                  </a:rPr>
                  <a:t>The angles marked </a:t>
                </a:r>
                <a:r>
                  <a:rPr lang="en-US" sz="2400" dirty="0" smtClean="0">
                    <a:latin typeface="Verdana" panose="020B0604030504040204" pitchFamily="34" charset="0"/>
                    <a:ea typeface="Times New Roman" panose="02020603050405020304" pitchFamily="18" charset="0"/>
                  </a:rPr>
                  <a:t>are					 </a:t>
                </a:r>
                <a:br>
                  <a:rPr lang="en-US" sz="2400" dirty="0" smtClean="0">
                    <a:latin typeface="Verdana" panose="020B0604030504040204" pitchFamily="34" charset="0"/>
                    <a:ea typeface="Times New Roman" panose="02020603050405020304" pitchFamily="18" charset="0"/>
                  </a:rPr>
                </a:br>
                <a:r>
                  <a:rPr lang="en-US" sz="2400" dirty="0" smtClean="0">
                    <a:latin typeface="Verdana" panose="020B0604030504040204" pitchFamily="34" charset="0"/>
                    <a:ea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rPr>
                </a:br>
                <a:r>
                  <a:rPr lang="en-US" sz="2400" dirty="0" smtClean="0">
                    <a:latin typeface="Verdana" panose="020B0604030504040204" pitchFamily="34" charset="0"/>
                    <a:ea typeface="Times New Roman" panose="02020603050405020304" pitchFamily="18" charset="0"/>
                  </a:rPr>
                  <a:t>					 </a:t>
                </a:r>
                <a:r>
                  <a:rPr lang="en-US" sz="2400" dirty="0" smtClean="0">
                    <a:latin typeface="Verdana" panose="020B0604030504040204" pitchFamily="34" charset="0"/>
                    <a:ea typeface="Verdana" panose="020B0604030504040204" pitchFamily="34" charset="0"/>
                  </a:rPr>
                  <a:t> </a:t>
                </a:r>
                <a:br>
                  <a:rPr lang="en-US" sz="2400" dirty="0" smtClean="0">
                    <a:latin typeface="Verdana" panose="020B0604030504040204" pitchFamily="34" charset="0"/>
                    <a:ea typeface="Verdana" panose="020B0604030504040204" pitchFamily="34" charset="0"/>
                  </a:rPr>
                </a:br>
                <a:r>
                  <a:rPr lang="en-US" sz="2400" dirty="0" smtClean="0">
                    <a:latin typeface="Verdana" panose="020B0604030504040204" pitchFamily="34" charset="0"/>
                    <a:ea typeface="Verdana" panose="020B0604030504040204" pitchFamily="34" charset="0"/>
                  </a:rPr>
                  <a:t/>
                </a:r>
                <a:br>
                  <a:rPr lang="en-US" sz="2400" dirty="0" smtClean="0">
                    <a:latin typeface="Verdana" panose="020B0604030504040204" pitchFamily="34" charset="0"/>
                    <a:ea typeface="Verdana" panose="020B0604030504040204" pitchFamily="34" charset="0"/>
                  </a:rPr>
                </a:br>
                <a:r>
                  <a:rPr lang="en-US" sz="2400" dirty="0" smtClean="0">
                    <a:latin typeface="Verdana" panose="020B0604030504040204" pitchFamily="34" charset="0"/>
                    <a:ea typeface="Verdana" panose="020B0604030504040204" pitchFamily="34" charset="0"/>
                  </a:rPr>
                  <a:t/>
                </a:r>
                <a:br>
                  <a:rPr lang="en-US" sz="2400" dirty="0" smtClean="0">
                    <a:latin typeface="Verdana" panose="020B0604030504040204" pitchFamily="34" charset="0"/>
                    <a:ea typeface="Verdana" panose="020B0604030504040204" pitchFamily="34" charset="0"/>
                  </a:rPr>
                </a:br>
                <a:r>
                  <a:rPr lang="en-US" sz="2400" dirty="0" smtClean="0">
                    <a:latin typeface="Verdana" panose="020B0604030504040204" pitchFamily="34" charset="0"/>
                    <a:ea typeface="Verdana" panose="020B0604030504040204" pitchFamily="34" charset="0"/>
                  </a:rPr>
                  <a:t/>
                </a:r>
                <a:br>
                  <a:rPr lang="en-US" sz="2400" dirty="0" smtClean="0">
                    <a:latin typeface="Verdana" panose="020B0604030504040204" pitchFamily="34" charset="0"/>
                    <a:ea typeface="Verdana" panose="020B0604030504040204" pitchFamily="34" charset="0"/>
                  </a:rPr>
                </a:br>
                <a:r>
                  <a:rPr lang="en-US" sz="2400" dirty="0" smtClean="0">
                    <a:latin typeface="Verdana" panose="020B0604030504040204" pitchFamily="34" charset="0"/>
                    <a:ea typeface="Verdana" panose="020B0604030504040204" pitchFamily="34" charset="0"/>
                  </a:rPr>
                  <a:t>so </a:t>
                </a:r>
                <a:r>
                  <a:rPr lang="en-US" sz="2400" dirty="0">
                    <a:latin typeface="Verdana" panose="020B0604030504040204" pitchFamily="34" charset="0"/>
                    <a:ea typeface="Verdana" panose="020B0604030504040204" pitchFamily="34" charset="0"/>
                  </a:rPr>
                  <a:t>they </a:t>
                </a:r>
                <a:r>
                  <a:rPr lang="en-US" sz="2400" dirty="0" smtClean="0">
                    <a:latin typeface="Verdana" panose="020B0604030504040204" pitchFamily="34" charset="0"/>
                    <a:ea typeface="Verdana" panose="020B0604030504040204" pitchFamily="34" charset="0"/>
                  </a:rPr>
                  <a:t>have</a:t>
                </a:r>
                <a:endParaRPr lang="en-US" sz="2400" dirty="0">
                  <a:latin typeface="Verdana" panose="020B0604030504040204" pitchFamily="34" charset="0"/>
                  <a:ea typeface="Verdana" panose="020B0604030504040204" pitchFamily="34" charset="0"/>
                </a:endParaRPr>
              </a:p>
              <a:p>
                <a:pPr marL="900113" indent="-457200"/>
                <a:endParaRPr lang="en-US" sz="2400" dirty="0">
                  <a:latin typeface="Verdana" panose="020B0604030504040204" pitchFamily="34" charset="0"/>
                  <a:ea typeface="Verdana" panose="020B0604030504040204" pitchFamily="34" charset="0"/>
                </a:endParaRPr>
              </a:p>
              <a:p>
                <a:pPr marL="900113" indent="-457200"/>
                <a:endParaRPr lang="en-US" sz="2400" dirty="0" smtClean="0">
                  <a:latin typeface="Verdana" panose="020B0604030504040204" pitchFamily="34" charset="0"/>
                  <a:ea typeface="Verdana" panose="020B0604030504040204" pitchFamily="34" charset="0"/>
                </a:endParaRPr>
              </a:p>
              <a:p>
                <a:pPr marL="900113" indent="-457200"/>
                <a:endParaRPr lang="en-US" sz="2400" dirty="0">
                  <a:latin typeface="Verdana" panose="020B0604030504040204" pitchFamily="34" charset="0"/>
                  <a:ea typeface="Verdana" panose="020B0604030504040204" pitchFamily="34" charset="0"/>
                </a:endParaRPr>
              </a:p>
              <a:p>
                <a:pPr marL="900113" indent="-457200"/>
                <a:endParaRPr lang="en-US" sz="2400" dirty="0">
                  <a:latin typeface="Verdana" panose="020B0604030504040204" pitchFamily="34" charset="0"/>
                  <a:ea typeface="Verdana" panose="020B0604030504040204" pitchFamily="34" charset="0"/>
                </a:endParaRPr>
              </a:p>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rPr>
                  <a:t>The equation                          </a:t>
                </a:r>
                <a:r>
                  <a:rPr lang="en-US" sz="2400" dirty="0" smtClean="0">
                    <a:latin typeface="Verdana" panose="020B0604030504040204" pitchFamily="34" charset="0"/>
                    <a:ea typeface="Times New Roman" panose="02020603050405020304" pitchFamily="18" charset="0"/>
                  </a:rPr>
                  <a:t> can </a:t>
                </a:r>
                <a:r>
                  <a:rPr lang="en-US" sz="2400" dirty="0">
                    <a:latin typeface="Verdana" panose="020B0604030504040204" pitchFamily="34" charset="0"/>
                    <a:ea typeface="Times New Roman" panose="02020603050405020304" pitchFamily="18" charset="0"/>
                  </a:rPr>
                  <a:t>be used </a:t>
                </a:r>
                <a:r>
                  <a:rPr lang="en-US" sz="2400" dirty="0" smtClean="0">
                    <a:latin typeface="Verdana" panose="020B0604030504040204" pitchFamily="34" charset="0"/>
                    <a:ea typeface="Times New Roman" panose="02020603050405020304" pitchFamily="18" charset="0"/>
                  </a:rPr>
                  <a:t>to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find </a:t>
                </a:r>
                <a:r>
                  <a:rPr lang="en-US" sz="2400" dirty="0">
                    <a:latin typeface="Verdana" panose="020B0604030504040204" pitchFamily="34" charset="0"/>
                    <a:ea typeface="Times New Roman" panose="02020603050405020304" pitchFamily="18" charset="0"/>
                    <a:cs typeface="Times New Roman" panose="02020603050405020304" pitchFamily="18" charset="0"/>
                  </a:rPr>
                  <a:t>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Verdana" panose="020B0604030504040204" pitchFamily="34" charset="0"/>
                  <a:ea typeface="Verdana" panose="020B0604030504040204" pitchFamily="34" charset="0"/>
                </a:endParaRPr>
              </a:p>
              <a:p>
                <a:endParaRPr lang="en-US" sz="1600" dirty="0">
                  <a:latin typeface="Times New Roman" panose="02020603050405020304" pitchFamily="18" charset="0"/>
                  <a:ea typeface="Times New Roman" panose="02020603050405020304" pitchFamily="18" charset="0"/>
                </a:endParaRPr>
              </a:p>
            </p:txBody>
          </p:sp>
        </mc:Choice>
        <mc:Fallback>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32729" y="367526"/>
                <a:ext cx="11416614" cy="4770537"/>
              </a:xfrm>
              <a:prstGeom prst="rect">
                <a:avLst/>
              </a:prstGeom>
              <a:blipFill rotWithShape="1">
                <a:blip r:embed="rId5"/>
                <a:stretch>
                  <a:fillRect t="-1022" r="-534"/>
                </a:stretch>
              </a:blipFill>
            </p:spPr>
            <p:txBody>
              <a:bodyPr/>
              <a:lstStyle/>
              <a:p>
                <a:r>
                  <a:rPr lang="en-PH">
                    <a:noFill/>
                  </a:rPr>
                  <a:t> </a:t>
                </a:r>
              </a:p>
            </p:txBody>
          </p:sp>
        </mc:Fallback>
      </mc:AlternateContent>
      <p:sp>
        <p:nvSpPr>
          <p:cNvPr id="6" name="Rounded Rectangle 63">
            <a:extLst>
              <a:ext uri="{FF2B5EF4-FFF2-40B4-BE49-F238E27FC236}">
                <a16:creationId xmlns="" xmlns:a16="http://schemas.microsoft.com/office/drawing/2014/main" id="{F1E8A60D-3C93-4F27-B377-CE4F490A6EC6}"/>
              </a:ext>
            </a:extLst>
          </p:cNvPr>
          <p:cNvSpPr/>
          <p:nvPr/>
        </p:nvSpPr>
        <p:spPr>
          <a:xfrm>
            <a:off x="1559751" y="947259"/>
            <a:ext cx="3777417" cy="1079500"/>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266700" indent="-266700">
              <a:buClrTx/>
              <a:buFont typeface="Courier New" panose="02070309020205020404" pitchFamily="49" charset="0"/>
              <a:buChar char="o"/>
              <a:defRPr/>
            </a:pPr>
            <a:r>
              <a:rPr lang="en-US" sz="2000" dirty="0">
                <a:latin typeface="Verdana" panose="020B0604030504040204" pitchFamily="34" charset="0"/>
                <a:ea typeface="Verdana" panose="020B0604030504040204" pitchFamily="34" charset="0"/>
                <a:cs typeface="+mn-cs"/>
              </a:rPr>
              <a:t>complementary angles,</a:t>
            </a:r>
            <a:endParaRPr lang="en-US" sz="2000" dirty="0">
              <a:solidFill>
                <a:sysClr val="window" lastClr="FFFFFF"/>
              </a:solidFill>
              <a:latin typeface="Verdana" panose="020B0604030504040204" pitchFamily="34" charset="0"/>
              <a:ea typeface="Verdana" panose="020B0604030504040204" pitchFamily="34" charset="0"/>
              <a:cs typeface="+mn-cs"/>
            </a:endParaRPr>
          </a:p>
          <a:p>
            <a:pPr marL="266700" indent="-266700">
              <a:buClrTx/>
              <a:buFont typeface="Courier New" panose="02070309020205020404" pitchFamily="49" charset="0"/>
              <a:buChar char="o"/>
              <a:defRPr/>
            </a:pPr>
            <a:r>
              <a:rPr lang="en-US" sz="2000" dirty="0">
                <a:latin typeface="Verdana" panose="020B0604030504040204" pitchFamily="34" charset="0"/>
                <a:ea typeface="Verdana" panose="020B0604030504040204" pitchFamily="34" charset="0"/>
                <a:cs typeface="+mn-cs"/>
              </a:rPr>
              <a:t>supplementary angles,</a:t>
            </a:r>
            <a:endParaRPr lang="en-US" sz="2000" dirty="0">
              <a:solidFill>
                <a:sysClr val="window" lastClr="FFFFFF"/>
              </a:solidFill>
              <a:latin typeface="Verdana" panose="020B0604030504040204" pitchFamily="34" charset="0"/>
              <a:ea typeface="Verdana" panose="020B0604030504040204" pitchFamily="34" charset="0"/>
              <a:cs typeface="+mn-cs"/>
            </a:endParaRPr>
          </a:p>
          <a:p>
            <a:pPr marL="266700" indent="-266700">
              <a:buClrTx/>
              <a:buFont typeface="Courier New" panose="02070309020205020404" pitchFamily="49" charset="0"/>
              <a:buChar char="o"/>
              <a:defRPr/>
            </a:pPr>
            <a:r>
              <a:rPr lang="en-US" sz="2000" dirty="0">
                <a:latin typeface="Verdana" panose="020B0604030504040204" pitchFamily="34" charset="0"/>
                <a:ea typeface="Verdana" panose="020B0604030504040204" pitchFamily="34" charset="0"/>
                <a:cs typeface="+mn-cs"/>
              </a:rPr>
              <a:t>vertical angles,</a:t>
            </a:r>
            <a:endParaRPr lang="en-US" sz="2000" dirty="0">
              <a:solidFill>
                <a:sysClr val="window" lastClr="FFFFFF"/>
              </a:solidFill>
              <a:latin typeface="Verdana" panose="020B0604030504040204" pitchFamily="34" charset="0"/>
              <a:ea typeface="Verdana" panose="020B0604030504040204" pitchFamily="34" charset="0"/>
              <a:cs typeface="+mn-cs"/>
            </a:endParaRPr>
          </a:p>
        </p:txBody>
      </p:sp>
      <mc:AlternateContent xmlns:mc="http://schemas.openxmlformats.org/markup-compatibility/2006">
        <mc:Choice xmlns:a14="http://schemas.microsoft.com/office/drawing/2010/main" Requires="a14">
          <p:sp>
            <p:nvSpPr>
              <p:cNvPr id="10" name="Rounded Rectangle 128">
                <a:extLst>
                  <a:ext uri="{FF2B5EF4-FFF2-40B4-BE49-F238E27FC236}">
                    <a16:creationId xmlns="" xmlns:a16="http://schemas.microsoft.com/office/drawing/2014/main" id="{605FD1BE-5CD3-43EE-8F5A-9EC7EA5A0306}"/>
                  </a:ext>
                </a:extLst>
              </p:cNvPr>
              <p:cNvSpPr/>
              <p:nvPr/>
            </p:nvSpPr>
            <p:spPr>
              <a:xfrm>
                <a:off x="3623356" y="2262045"/>
                <a:ext cx="3129973" cy="1079500"/>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266700" indent="-266700">
                  <a:buClrTx/>
                  <a:buFont typeface="Courier New" panose="02070309020205020404" pitchFamily="49" charset="0"/>
                  <a:buChar char="o"/>
                  <a:defRPr/>
                </a:pPr>
                <a:r>
                  <a:rPr lang="en-US" sz="2000" dirty="0">
                    <a:latin typeface="Verdana" panose="020B0604030504040204" pitchFamily="34" charset="0"/>
                    <a:ea typeface="Verdana" panose="020B0604030504040204" pitchFamily="34" charset="0"/>
                    <a:cs typeface="+mn-cs"/>
                  </a:rPr>
                  <a:t>the same measure.</a:t>
                </a:r>
                <a:endParaRPr lang="en-US" sz="2000" dirty="0">
                  <a:solidFill>
                    <a:sysClr val="window" lastClr="FFFFFF"/>
                  </a:solidFill>
                  <a:latin typeface="Verdana" panose="020B0604030504040204" pitchFamily="34" charset="0"/>
                  <a:ea typeface="Verdana" panose="020B0604030504040204" pitchFamily="34" charset="0"/>
                  <a:cs typeface="+mn-cs"/>
                </a:endParaRPr>
              </a:p>
              <a:p>
                <a:pPr marL="266700" indent="-266700">
                  <a:buClrTx/>
                  <a:buFont typeface="Courier New" panose="02070309020205020404" pitchFamily="49" charset="0"/>
                  <a:buChar char="o"/>
                  <a:defRPr/>
                </a:pPr>
                <a:r>
                  <a:rPr lang="en-US" sz="2000" dirty="0">
                    <a:latin typeface="Verdana" panose="020B0604030504040204" pitchFamily="34" charset="0"/>
                    <a:ea typeface="Verdana" panose="020B0604030504040204" pitchFamily="34" charset="0"/>
                    <a:cs typeface="+mn-cs"/>
                  </a:rPr>
                  <a:t>a sum of </a:t>
                </a:r>
                <a14:m>
                  <m:oMath xmlns:m="http://schemas.openxmlformats.org/officeDocument/2006/math">
                    <m:r>
                      <a:rPr lang="en-US" sz="2000" i="1">
                        <a:latin typeface="Cambria Math" panose="02040503050406030204" pitchFamily="18" charset="0"/>
                        <a:ea typeface="Times New Roman" panose="02020603050405020304" pitchFamily="18" charset="0"/>
                        <a:cs typeface="+mn-cs"/>
                      </a:rPr>
                      <m:t>90°</m:t>
                    </m:r>
                  </m:oMath>
                </a14:m>
                <a:r>
                  <a:rPr lang="en-US" sz="2000" dirty="0">
                    <a:latin typeface="Verdana" panose="020B0604030504040204" pitchFamily="34" charset="0"/>
                    <a:ea typeface="Verdana" panose="020B0604030504040204" pitchFamily="34" charset="0"/>
                    <a:cs typeface="+mn-cs"/>
                  </a:rPr>
                  <a:t>.</a:t>
                </a:r>
                <a:endParaRPr lang="en-US" sz="2000" dirty="0">
                  <a:solidFill>
                    <a:sysClr val="window" lastClr="FFFFFF"/>
                  </a:solidFill>
                  <a:latin typeface="Verdana" panose="020B0604030504040204" pitchFamily="34" charset="0"/>
                  <a:ea typeface="Verdana" panose="020B0604030504040204" pitchFamily="34" charset="0"/>
                  <a:cs typeface="+mn-cs"/>
                </a:endParaRPr>
              </a:p>
              <a:p>
                <a:pPr marL="266700" indent="-266700">
                  <a:buClrTx/>
                  <a:buFont typeface="Courier New" panose="02070309020205020404" pitchFamily="49" charset="0"/>
                  <a:buChar char="o"/>
                  <a:defRPr/>
                </a:pPr>
                <a:r>
                  <a:rPr lang="en-US" sz="2000" dirty="0">
                    <a:latin typeface="Verdana" panose="020B0604030504040204" pitchFamily="34" charset="0"/>
                    <a:ea typeface="Verdana" panose="020B0604030504040204" pitchFamily="34" charset="0"/>
                    <a:cs typeface="+mn-cs"/>
                  </a:rPr>
                  <a:t>a sum of </a:t>
                </a:r>
                <a14:m>
                  <m:oMath xmlns:m="http://schemas.openxmlformats.org/officeDocument/2006/math">
                    <m:r>
                      <a:rPr lang="en-US" sz="2000" i="1">
                        <a:latin typeface="Cambria Math" panose="02040503050406030204" pitchFamily="18" charset="0"/>
                        <a:ea typeface="Times New Roman" panose="02020603050405020304" pitchFamily="18" charset="0"/>
                        <a:cs typeface="+mn-cs"/>
                      </a:rPr>
                      <m:t>180°</m:t>
                    </m:r>
                  </m:oMath>
                </a14:m>
                <a:r>
                  <a:rPr lang="en-US" sz="2000" dirty="0">
                    <a:latin typeface="Verdana" panose="020B0604030504040204" pitchFamily="34" charset="0"/>
                    <a:ea typeface="Verdana" panose="020B0604030504040204" pitchFamily="34" charset="0"/>
                    <a:cs typeface="+mn-cs"/>
                  </a:rPr>
                  <a:t>.</a:t>
                </a:r>
                <a:endParaRPr lang="en-US" sz="2000" dirty="0">
                  <a:solidFill>
                    <a:sysClr val="window" lastClr="FFFFFF"/>
                  </a:solidFill>
                  <a:latin typeface="Verdana" panose="020B0604030504040204" pitchFamily="34" charset="0"/>
                  <a:ea typeface="Verdana" panose="020B0604030504040204" pitchFamily="34" charset="0"/>
                  <a:cs typeface="+mn-cs"/>
                </a:endParaRPr>
              </a:p>
            </p:txBody>
          </p:sp>
        </mc:Choice>
        <mc:Fallback>
          <p:sp>
            <p:nvSpPr>
              <p:cNvPr id="10" name="Rounded Rectangle 128">
                <a:extLst>
                  <a:ext uri="{FF2B5EF4-FFF2-40B4-BE49-F238E27FC236}">
                    <a16:creationId xmlns="" xmlns:a16="http://schemas.microsoft.com/office/drawing/2014/main" xmlns:a14="http://schemas.microsoft.com/office/drawing/2010/main" id="{605FD1BE-5CD3-43EE-8F5A-9EC7EA5A0306}"/>
                  </a:ext>
                </a:extLst>
              </p:cNvPr>
              <p:cNvSpPr>
                <a:spLocks noRot="1" noChangeAspect="1" noMove="1" noResize="1" noEditPoints="1" noAdjustHandles="1" noChangeArrowheads="1" noChangeShapeType="1" noTextEdit="1"/>
              </p:cNvSpPr>
              <p:nvPr/>
            </p:nvSpPr>
            <p:spPr>
              <a:xfrm>
                <a:off x="3623356" y="2262045"/>
                <a:ext cx="3129973" cy="1079500"/>
              </a:xfrm>
              <a:prstGeom prst="roundRect">
                <a:avLst/>
              </a:prstGeom>
              <a:blipFill rotWithShape="1">
                <a:blip r:embed="rId6"/>
                <a:stretch>
                  <a:fillRect b="-7222"/>
                </a:stretch>
              </a:blipFill>
              <a:ln w="19050" cap="flat" cmpd="sng" algn="ctr">
                <a:solidFill>
                  <a:sysClr val="windowText" lastClr="000000"/>
                </a:solidFill>
                <a:prstDash val="solid"/>
              </a:ln>
              <a:effectLst/>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1" name="Rounded Rectangle 129">
                <a:extLst>
                  <a:ext uri="{FF2B5EF4-FFF2-40B4-BE49-F238E27FC236}">
                    <a16:creationId xmlns="" xmlns:a16="http://schemas.microsoft.com/office/drawing/2014/main" id="{83986B2D-1962-40BA-8EB8-69AF57CFB581}"/>
                  </a:ext>
                </a:extLst>
              </p:cNvPr>
              <p:cNvSpPr/>
              <p:nvPr/>
            </p:nvSpPr>
            <p:spPr>
              <a:xfrm>
                <a:off x="3623356" y="4019525"/>
                <a:ext cx="2670912" cy="1123712"/>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66700" indent="-266700">
                  <a:buClrTx/>
                  <a:buFont typeface="Courier New" panose="02070309020205020404" pitchFamily="49" charset="0"/>
                  <a:buChar char="o"/>
                  <a:defRPr/>
                </a:pPr>
                <a14:m>
                  <m:oMath xmlns:m="http://schemas.openxmlformats.org/officeDocument/2006/math">
                    <m:r>
                      <a:rPr lang="en-US" sz="2000" i="1">
                        <a:latin typeface="Cambria Math" panose="02040503050406030204" pitchFamily="18" charset="0"/>
                        <a:ea typeface="Times New Roman" panose="02020603050405020304" pitchFamily="18" charset="0"/>
                        <a:cs typeface="+mn-cs"/>
                      </a:rPr>
                      <m:t>4</m:t>
                    </m:r>
                    <m:r>
                      <a:rPr lang="en-US" sz="2000" i="1">
                        <a:latin typeface="Cambria Math" panose="02040503050406030204" pitchFamily="18" charset="0"/>
                        <a:ea typeface="Times New Roman" panose="02020603050405020304" pitchFamily="18" charset="0"/>
                        <a:cs typeface="+mn-cs"/>
                      </a:rPr>
                      <m:t>𝑥</m:t>
                    </m:r>
                    <m:r>
                      <a:rPr lang="en-US" sz="2000" i="1">
                        <a:latin typeface="Cambria Math" panose="02040503050406030204" pitchFamily="18" charset="0"/>
                        <a:ea typeface="Times New Roman" panose="02020603050405020304" pitchFamily="18" charset="0"/>
                        <a:cs typeface="+mn-cs"/>
                      </a:rPr>
                      <m:t>+</m:t>
                    </m:r>
                    <m:r>
                      <a:rPr lang="en-US" sz="2000" i="1">
                        <a:latin typeface="Cambria Math" panose="02040503050406030204" pitchFamily="18" charset="0"/>
                        <a:ea typeface="Times New Roman" panose="02020603050405020304" pitchFamily="18" charset="0"/>
                        <a:cs typeface="+mn-cs"/>
                      </a:rPr>
                      <m:t>𝑥</m:t>
                    </m:r>
                    <m:r>
                      <a:rPr lang="en-US" sz="2000" i="1">
                        <a:latin typeface="Cambria Math" panose="02040503050406030204" pitchFamily="18" charset="0"/>
                        <a:ea typeface="Times New Roman" panose="02020603050405020304" pitchFamily="18" charset="0"/>
                        <a:cs typeface="+mn-cs"/>
                      </a:rPr>
                      <m:t>+57=180</m:t>
                    </m:r>
                  </m:oMath>
                </a14:m>
                <a:endParaRPr lang="en-US" sz="2000" dirty="0">
                  <a:solidFill>
                    <a:sysClr val="window" lastClr="FFFFFF"/>
                  </a:solidFill>
                  <a:latin typeface="Verdana" panose="020B0604030504040204" pitchFamily="34" charset="0"/>
                  <a:ea typeface="Verdana" panose="020B0604030504040204" pitchFamily="34" charset="0"/>
                  <a:cs typeface="+mn-cs"/>
                </a:endParaRPr>
              </a:p>
              <a:p>
                <a:pPr marL="266700" indent="-266700">
                  <a:buClrTx/>
                  <a:buFont typeface="Courier New" panose="02070309020205020404" pitchFamily="49" charset="0"/>
                  <a:buChar char="o"/>
                  <a:defRPr/>
                </a:pPr>
                <a14:m>
                  <m:oMath xmlns:m="http://schemas.openxmlformats.org/officeDocument/2006/math">
                    <m:r>
                      <a:rPr lang="en-US" sz="2000" i="1">
                        <a:latin typeface="Cambria Math" panose="02040503050406030204" pitchFamily="18" charset="0"/>
                        <a:ea typeface="Times New Roman" panose="02020603050405020304" pitchFamily="18" charset="0"/>
                        <a:cs typeface="+mn-cs"/>
                      </a:rPr>
                      <m:t>4</m:t>
                    </m:r>
                    <m:r>
                      <a:rPr lang="en-US" sz="2000" i="1">
                        <a:latin typeface="Cambria Math" panose="02040503050406030204" pitchFamily="18" charset="0"/>
                        <a:ea typeface="Times New Roman" panose="02020603050405020304" pitchFamily="18" charset="0"/>
                        <a:cs typeface="+mn-cs"/>
                      </a:rPr>
                      <m:t>𝑥</m:t>
                    </m:r>
                    <m:r>
                      <a:rPr lang="en-US" sz="2000" i="1">
                        <a:latin typeface="Cambria Math" panose="02040503050406030204" pitchFamily="18" charset="0"/>
                        <a:ea typeface="Times New Roman" panose="02020603050405020304" pitchFamily="18" charset="0"/>
                        <a:cs typeface="+mn-cs"/>
                      </a:rPr>
                      <m:t>+</m:t>
                    </m:r>
                    <m:r>
                      <a:rPr lang="en-US" sz="2000" i="1">
                        <a:latin typeface="Cambria Math" panose="02040503050406030204" pitchFamily="18" charset="0"/>
                        <a:ea typeface="Times New Roman" panose="02020603050405020304" pitchFamily="18" charset="0"/>
                        <a:cs typeface="+mn-cs"/>
                      </a:rPr>
                      <m:t>𝑥</m:t>
                    </m:r>
                    <m:r>
                      <a:rPr lang="en-US" sz="2000" i="1">
                        <a:latin typeface="Cambria Math" panose="02040503050406030204" pitchFamily="18" charset="0"/>
                        <a:ea typeface="Times New Roman" panose="02020603050405020304" pitchFamily="18" charset="0"/>
                        <a:cs typeface="+mn-cs"/>
                      </a:rPr>
                      <m:t>+57=90</m:t>
                    </m:r>
                  </m:oMath>
                </a14:m>
                <a:endParaRPr lang="en-US" sz="2000" dirty="0">
                  <a:solidFill>
                    <a:sysClr val="window" lastClr="FFFFFF"/>
                  </a:solidFill>
                  <a:latin typeface="Verdana" panose="020B0604030504040204" pitchFamily="34" charset="0"/>
                  <a:ea typeface="Verdana" panose="020B0604030504040204" pitchFamily="34" charset="0"/>
                  <a:cs typeface="+mn-cs"/>
                </a:endParaRPr>
              </a:p>
              <a:p>
                <a:pPr marL="266700" indent="-266700">
                  <a:buClrTx/>
                  <a:buFont typeface="Courier New" panose="02070309020205020404" pitchFamily="49" charset="0"/>
                  <a:buChar char="o"/>
                  <a:defRPr/>
                </a:pPr>
                <a14:m>
                  <m:oMath xmlns:m="http://schemas.openxmlformats.org/officeDocument/2006/math">
                    <m:r>
                      <a:rPr lang="en-US" sz="2000" i="1">
                        <a:latin typeface="Cambria Math" panose="02040503050406030204" pitchFamily="18" charset="0"/>
                        <a:ea typeface="Times New Roman" panose="02020603050405020304" pitchFamily="18" charset="0"/>
                        <a:cs typeface="+mn-cs"/>
                      </a:rPr>
                      <m:t>4</m:t>
                    </m:r>
                    <m:r>
                      <a:rPr lang="en-US" sz="2000" i="1">
                        <a:latin typeface="Cambria Math" panose="02040503050406030204" pitchFamily="18" charset="0"/>
                        <a:ea typeface="Times New Roman" panose="02020603050405020304" pitchFamily="18" charset="0"/>
                        <a:cs typeface="+mn-cs"/>
                      </a:rPr>
                      <m:t>𝑥</m:t>
                    </m:r>
                    <m:r>
                      <a:rPr lang="en-US" sz="2000" i="1">
                        <a:latin typeface="Cambria Math" panose="02040503050406030204" pitchFamily="18" charset="0"/>
                        <a:ea typeface="Times New Roman" panose="02020603050405020304" pitchFamily="18" charset="0"/>
                        <a:cs typeface="+mn-cs"/>
                      </a:rPr>
                      <m:t>=</m:t>
                    </m:r>
                    <m:r>
                      <a:rPr lang="en-US" sz="2000" i="1">
                        <a:latin typeface="Cambria Math" panose="02040503050406030204" pitchFamily="18" charset="0"/>
                        <a:ea typeface="Times New Roman" panose="02020603050405020304" pitchFamily="18" charset="0"/>
                        <a:cs typeface="+mn-cs"/>
                      </a:rPr>
                      <m:t>𝑥</m:t>
                    </m:r>
                    <m:r>
                      <a:rPr lang="en-US" sz="2000" i="1">
                        <a:latin typeface="Cambria Math" panose="02040503050406030204" pitchFamily="18" charset="0"/>
                        <a:ea typeface="Times New Roman" panose="02020603050405020304" pitchFamily="18" charset="0"/>
                        <a:cs typeface="+mn-cs"/>
                      </a:rPr>
                      <m:t>+57</m:t>
                    </m:r>
                  </m:oMath>
                </a14:m>
                <a:endParaRPr lang="en-US" sz="2000" dirty="0">
                  <a:solidFill>
                    <a:sysClr val="window" lastClr="FFFFFF"/>
                  </a:solidFill>
                  <a:latin typeface="Verdana" panose="020B0604030504040204" pitchFamily="34" charset="0"/>
                  <a:ea typeface="Verdana" panose="020B0604030504040204" pitchFamily="34" charset="0"/>
                  <a:cs typeface="+mn-cs"/>
                </a:endParaRPr>
              </a:p>
            </p:txBody>
          </p:sp>
        </mc:Choice>
        <mc:Fallback>
          <p:sp>
            <p:nvSpPr>
              <p:cNvPr id="11" name="Rounded Rectangle 129">
                <a:extLst>
                  <a:ext uri="{FF2B5EF4-FFF2-40B4-BE49-F238E27FC236}">
                    <a16:creationId xmlns="" xmlns:a16="http://schemas.microsoft.com/office/drawing/2014/main" xmlns:a14="http://schemas.microsoft.com/office/drawing/2010/main" id="{83986B2D-1962-40BA-8EB8-69AF57CFB581}"/>
                  </a:ext>
                </a:extLst>
              </p:cNvPr>
              <p:cNvSpPr>
                <a:spLocks noRot="1" noChangeAspect="1" noMove="1" noResize="1" noEditPoints="1" noAdjustHandles="1" noChangeArrowheads="1" noChangeShapeType="1" noTextEdit="1"/>
              </p:cNvSpPr>
              <p:nvPr/>
            </p:nvSpPr>
            <p:spPr>
              <a:xfrm>
                <a:off x="3623356" y="4019525"/>
                <a:ext cx="2670912" cy="1123712"/>
              </a:xfrm>
              <a:prstGeom prst="roundRect">
                <a:avLst/>
              </a:prstGeom>
              <a:blipFill rotWithShape="1">
                <a:blip r:embed="rId7"/>
                <a:stretch>
                  <a:fillRect b="-4787"/>
                </a:stretch>
              </a:blipFill>
              <a:ln w="19050" cap="flat" cmpd="sng" algn="ctr">
                <a:solidFill>
                  <a:sysClr val="windowText" lastClr="000000"/>
                </a:solidFill>
                <a:prstDash val="solid"/>
              </a:ln>
              <a:effectLst/>
            </p:spPr>
            <p:txBody>
              <a:bodyPr/>
              <a:lstStyle/>
              <a:p>
                <a:r>
                  <a:rPr lang="en-PH">
                    <a:noFill/>
                  </a:rPr>
                  <a:t> </a:t>
                </a:r>
              </a:p>
            </p:txBody>
          </p:sp>
        </mc:Fallback>
      </mc:AlternateContent>
    </p:spTree>
    <p:extLst>
      <p:ext uri="{BB962C8B-B14F-4D97-AF65-F5344CB8AC3E}">
        <p14:creationId xmlns:p14="http://schemas.microsoft.com/office/powerpoint/2010/main" val="2968234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 xmlns:a16="http://schemas.microsoft.com/office/drawing/2014/main" id="{2FA392D8-3ED3-7940-83A8-1451AA8A08D4}"/>
                  </a:ext>
                </a:extLst>
              </p:cNvPr>
              <p:cNvSpPr txBox="1"/>
              <p:nvPr/>
            </p:nvSpPr>
            <p:spPr>
              <a:xfrm>
                <a:off x="540075" y="378438"/>
                <a:ext cx="10838659" cy="4524315"/>
              </a:xfrm>
              <a:prstGeom prst="rect">
                <a:avLst/>
              </a:prstGeom>
              <a:noFill/>
            </p:spPr>
            <p:txBody>
              <a:bodyPr wrap="square" rtlCol="0">
                <a:spAutoFit/>
              </a:bodyPr>
              <a:lstStyle/>
              <a:p>
                <a:pPr marL="900113" indent="-457200">
                  <a:buFont typeface="+mj-lt"/>
                  <a:buAutoNum type="alphaLcPeriod" startAt="3"/>
                </a:pPr>
                <a:r>
                  <a:rPr lang="en-US" sz="2400" dirty="0">
                    <a:latin typeface="Verdana" panose="020B0604030504040204" pitchFamily="34" charset="0"/>
                    <a:ea typeface="Times New Roman" panose="02020603050405020304" pitchFamily="18" charset="0"/>
                  </a:rPr>
                  <a:t>Solve for </a:t>
                </a:r>
                <a14:m>
                  <m:oMath xmlns:m="http://schemas.openxmlformats.org/officeDocument/2006/math">
                    <m:r>
                      <a:rPr lang="en-US" sz="2400" i="1">
                        <a:latin typeface="Cambria Math" panose="02040503050406030204" pitchFamily="18" charset="0"/>
                        <a:ea typeface="Times New Roman" panose="02020603050405020304" pitchFamily="18" charset="0"/>
                      </a:rPr>
                      <m:t>𝑥</m:t>
                    </m:r>
                  </m:oMath>
                </a14:m>
                <a:r>
                  <a:rPr lang="en-US" sz="2400" dirty="0">
                    <a:latin typeface="Verdana" panose="020B0604030504040204" pitchFamily="34" charset="0"/>
                    <a:ea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buFont typeface="+mj-lt"/>
                  <a:buAutoNum type="alphaLcPeriod" startAt="4"/>
                </a:pPr>
                <a:r>
                  <a:rPr lang="en-US" sz="2400" dirty="0">
                    <a:latin typeface="Verdana" panose="020B0604030504040204" pitchFamily="34" charset="0"/>
                    <a:ea typeface="Times New Roman" panose="02020603050405020304" pitchFamily="18" charset="0"/>
                  </a:rPr>
                  <a:t>Find the measure of each angle using the solution to Part C.</a:t>
                </a:r>
                <a:endParaRPr lang="en-US" sz="1600" dirty="0">
                  <a:latin typeface="Times New Roman" panose="02020603050405020304" pitchFamily="18" charset="0"/>
                  <a:ea typeface="Times New Roman" panose="02020603050405020304" pitchFamily="18" charset="0"/>
                </a:endParaRPr>
              </a:p>
            </p:txBody>
          </p:sp>
        </mc:Choice>
        <mc:Fallback>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40075" y="378438"/>
                <a:ext cx="10838659" cy="4524315"/>
              </a:xfrm>
              <a:prstGeom prst="rect">
                <a:avLst/>
              </a:prstGeom>
              <a:blipFill rotWithShape="1">
                <a:blip r:embed="rId4"/>
                <a:stretch>
                  <a:fillRect t="-1213" b="-2022"/>
                </a:stretch>
              </a:blipFill>
            </p:spPr>
            <p:txBody>
              <a:bodyPr/>
              <a:lstStyle/>
              <a:p>
                <a:r>
                  <a:rPr lang="en-PH">
                    <a:noFill/>
                  </a:rPr>
                  <a:t> </a:t>
                </a:r>
              </a:p>
            </p:txBody>
          </p:sp>
        </mc:Fallback>
      </mc:AlternateContent>
    </p:spTree>
    <p:extLst>
      <p:ext uri="{BB962C8B-B14F-4D97-AF65-F5344CB8AC3E}">
        <p14:creationId xmlns:p14="http://schemas.microsoft.com/office/powerpoint/2010/main" val="754976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277</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 xmlns:a16="http://schemas.microsoft.com/office/drawing/2014/main" id="{2FA392D8-3ED3-7940-83A8-1451AA8A08D4}"/>
                  </a:ext>
                </a:extLst>
              </p:cNvPr>
              <p:cNvSpPr txBox="1"/>
              <p:nvPr/>
            </p:nvSpPr>
            <p:spPr>
              <a:xfrm>
                <a:off x="530723" y="386140"/>
                <a:ext cx="10779070" cy="4154984"/>
              </a:xfrm>
              <a:prstGeom prst="rect">
                <a:avLst/>
              </a:prstGeom>
              <a:noFill/>
            </p:spPr>
            <p:txBody>
              <a:bodyPr wrap="square" rtlCol="0">
                <a:spAutoFit/>
              </a:bodyPr>
              <a:lstStyle/>
              <a:p>
                <a:pPr marL="457200" indent="-457200">
                  <a:buSzPct val="100000"/>
                  <a:buFont typeface="+mj-lt"/>
                  <a:buAutoNum type="arabicPeriod" startAt="2"/>
                </a:pPr>
                <a:r>
                  <a:rPr lang="en-US" sz="2400" dirty="0">
                    <a:latin typeface="Verdana" panose="020B0604030504040204" pitchFamily="34" charset="0"/>
                    <a:ea typeface="Times New Roman" panose="02020603050405020304" pitchFamily="18" charset="0"/>
                  </a:rPr>
                  <a:t>Angle </a:t>
                </a:r>
                <a14:m>
                  <m:oMath xmlns:m="http://schemas.openxmlformats.org/officeDocument/2006/math">
                    <m:r>
                      <a:rPr lang="en-US" sz="2400" i="1">
                        <a:latin typeface="Cambria Math" panose="02040503050406030204" pitchFamily="18" charset="0"/>
                        <a:ea typeface="Times New Roman" panose="02020603050405020304" pitchFamily="18" charset="0"/>
                      </a:rPr>
                      <m:t>𝑀𝐵𝑌</m:t>
                    </m:r>
                  </m:oMath>
                </a14:m>
                <a:r>
                  <a:rPr lang="en-US" sz="2400" dirty="0">
                    <a:latin typeface="Verdana" panose="020B0604030504040204" pitchFamily="34" charset="0"/>
                    <a:ea typeface="Times New Roman" panose="02020603050405020304" pitchFamily="18" charset="0"/>
                  </a:rPr>
                  <a:t> is a right angle.</a:t>
                </a: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marL="342900" indent="-342900">
                  <a:buSzPts val="1800"/>
                  <a:buFont typeface="Verdana" panose="020B0604030504040204" pitchFamily="34" charset="0"/>
                  <a:buAutoNum type="arabicPeriod" startAt="2"/>
                </a:pPr>
                <a:endParaRPr lang="en-US" sz="2400" dirty="0">
                  <a:latin typeface="Verdana" panose="020B0604030504040204" pitchFamily="34" charset="0"/>
                  <a:ea typeface="Times New Roman" panose="02020603050405020304" pitchFamily="18" charset="0"/>
                </a:endParaRPr>
              </a:p>
              <a:p>
                <a:pPr>
                  <a:buSzPts val="1800"/>
                </a:pPr>
                <a:endParaRPr lang="en-US" sz="2400" dirty="0">
                  <a:latin typeface="Verdana" panose="020B0604030504040204" pitchFamily="34" charset="0"/>
                  <a:ea typeface="Times New Roman" panose="02020603050405020304" pitchFamily="18" charset="0"/>
                </a:endParaRPr>
              </a:p>
              <a:p>
                <a:pPr marL="893763" indent="-449263">
                  <a:buFont typeface="+mj-lt"/>
                  <a:buAutoNum type="alphaLcPeriod"/>
                </a:pPr>
                <a:r>
                  <a:rPr lang="en-US" sz="2400" dirty="0">
                    <a:latin typeface="Verdana" panose="020B0604030504040204" pitchFamily="34" charset="0"/>
                    <a:ea typeface="Verdana" panose="020B0604030504040204" pitchFamily="34" charset="0"/>
                  </a:rPr>
                  <a:t>Write an equation that can be used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rPr>
                      <m:t>𝑤</m:t>
                    </m:r>
                  </m:oMath>
                </a14:m>
                <a:r>
                  <a:rPr lang="en-US" sz="2400" dirty="0" smtClean="0">
                    <a:latin typeface="Verdana" panose="020B0604030504040204" pitchFamily="34" charset="0"/>
                    <a:ea typeface="Verdana" panose="020B0604030504040204" pitchFamily="34" charset="0"/>
                  </a:rPr>
                  <a:t>.</a:t>
                </a:r>
                <a:r>
                  <a:rPr lang="en-US" sz="2000" dirty="0">
                    <a:latin typeface="Verdana" panose="020B0604030504040204" pitchFamily="34" charset="0"/>
                    <a:ea typeface="Verdana" panose="020B0604030504040204" pitchFamily="34" charset="0"/>
                  </a:rPr>
                  <a:t> </a:t>
                </a:r>
              </a:p>
            </p:txBody>
          </p:sp>
        </mc:Choice>
        <mc:Fallback>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30723" y="386140"/>
                <a:ext cx="10779070" cy="4154984"/>
              </a:xfrm>
              <a:prstGeom prst="rect">
                <a:avLst/>
              </a:prstGeom>
              <a:blipFill rotWithShape="1">
                <a:blip r:embed="rId4"/>
                <a:stretch>
                  <a:fillRect l="-848" t="-1320" b="-2199"/>
                </a:stretch>
              </a:blipFill>
            </p:spPr>
            <p:txBody>
              <a:bodyPr/>
              <a:lstStyle/>
              <a:p>
                <a:r>
                  <a:rPr lang="en-PH">
                    <a:noFill/>
                  </a:rPr>
                  <a:t> </a:t>
                </a:r>
              </a:p>
            </p:txBody>
          </p:sp>
        </mc:Fallback>
      </mc:AlternateContent>
      <p:pic>
        <p:nvPicPr>
          <p:cNvPr id="6" name="Picture 5" descr="Diagram&#10;&#10;Description automatically generated">
            <a:extLst>
              <a:ext uri="{FF2B5EF4-FFF2-40B4-BE49-F238E27FC236}">
                <a16:creationId xmlns="" xmlns:a16="http://schemas.microsoft.com/office/drawing/2014/main" id="{BA4119B2-ADEB-41E6-AB8B-90192F3D0FF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3351" b="13002"/>
          <a:stretch/>
        </p:blipFill>
        <p:spPr>
          <a:xfrm>
            <a:off x="3855640" y="890571"/>
            <a:ext cx="4114800" cy="2876205"/>
          </a:xfrm>
          <a:prstGeom prst="rect">
            <a:avLst/>
          </a:prstGeom>
        </p:spPr>
      </p:pic>
    </p:spTree>
    <p:extLst>
      <p:ext uri="{BB962C8B-B14F-4D97-AF65-F5344CB8AC3E}">
        <p14:creationId xmlns:p14="http://schemas.microsoft.com/office/powerpoint/2010/main" val="3761288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278</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 xmlns:a16="http://schemas.microsoft.com/office/drawing/2014/main" id="{2FA392D8-3ED3-7940-83A8-1451AA8A08D4}"/>
                  </a:ext>
                </a:extLst>
              </p:cNvPr>
              <p:cNvSpPr txBox="1"/>
              <p:nvPr/>
            </p:nvSpPr>
            <p:spPr>
              <a:xfrm>
                <a:off x="531204" y="394430"/>
                <a:ext cx="11304824" cy="5262979"/>
              </a:xfrm>
              <a:prstGeom prst="rect">
                <a:avLst/>
              </a:prstGeom>
              <a:noFill/>
            </p:spPr>
            <p:txBody>
              <a:bodyPr wrap="square" rtlCol="0">
                <a:spAutoFit/>
              </a:bodyPr>
              <a:lstStyle/>
              <a:p>
                <a:pPr marL="900113" indent="-457200">
                  <a:buFont typeface="+mj-lt"/>
                  <a:buAutoNum type="alphaLcPeriod" startAt="2"/>
                </a:pPr>
                <a:r>
                  <a:rPr lang="en-US" sz="2400" dirty="0">
                    <a:latin typeface="Verdana" panose="020B0604030504040204" pitchFamily="34" charset="0"/>
                    <a:ea typeface="Verdana" panose="020B0604030504040204" pitchFamily="34" charset="0"/>
                    <a:cs typeface="Times New Roman" panose="02020603050405020304" pitchFamily="18" charset="0"/>
                  </a:rPr>
                  <a:t>Solve the equation.</a:t>
                </a:r>
              </a:p>
              <a:p>
                <a:pPr marL="900113" indent="-457200">
                  <a:buFont typeface="+mj-lt"/>
                  <a:buAutoNum type="alphaLcPeriod" startAt="2"/>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rPr>
                  <a:t>Use the solution to find the measure of each angle.</a:t>
                </a: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2"/>
                </a:pPr>
                <a:endParaRPr lang="en-US" sz="2400" dirty="0">
                  <a:latin typeface="Verdana" panose="020B0604030504040204" pitchFamily="34" charset="0"/>
                  <a:ea typeface="Times New Roman" panose="02020603050405020304" pitchFamily="18" charset="0"/>
                </a:endParaRPr>
              </a:p>
              <a:p>
                <a:pPr marL="900113" indent="-457200">
                  <a:buFont typeface="+mj-lt"/>
                  <a:buAutoNum type="alphaLcPeriod" startAt="4"/>
                </a:pPr>
                <a:r>
                  <a:rPr lang="en-US" sz="2400" dirty="0">
                    <a:latin typeface="Verdana" panose="020B0604030504040204" pitchFamily="34" charset="0"/>
                    <a:ea typeface="Verdana" panose="020B0604030504040204" pitchFamily="34" charset="0"/>
                  </a:rPr>
                  <a:t>Explain whether the angle measures determined in Part C make sense based on the relationship between </a:t>
                </a:r>
                <a14:m>
                  <m:oMath xmlns:m="http://schemas.openxmlformats.org/officeDocument/2006/math">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𝑀𝐵𝑆</m:t>
                    </m:r>
                  </m:oMath>
                </a14:m>
                <a:r>
                  <a:rPr lang="en-US" sz="2400" dirty="0">
                    <a:latin typeface="Verdana" panose="020B0604030504040204" pitchFamily="34" charset="0"/>
                    <a:ea typeface="Verdana" panose="020B0604030504040204" pitchFamily="34"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𝑆𝐵𝑌</m:t>
                    </m:r>
                  </m:oMath>
                </a14:m>
                <a:r>
                  <a:rPr lang="en-US" sz="2400" dirty="0">
                    <a:latin typeface="Verdana" panose="020B0604030504040204" pitchFamily="34" charset="0"/>
                    <a:ea typeface="Verdana" panose="020B0604030504040204" pitchFamily="34" charset="0"/>
                  </a:rPr>
                  <a:t>.</a:t>
                </a:r>
              </a:p>
            </p:txBody>
          </p:sp>
        </mc:Choice>
        <mc:Fallback>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31204" y="394430"/>
                <a:ext cx="11304824" cy="5262979"/>
              </a:xfrm>
              <a:prstGeom prst="rect">
                <a:avLst/>
              </a:prstGeom>
              <a:blipFill rotWithShape="1">
                <a:blip r:embed="rId4"/>
                <a:stretch>
                  <a:fillRect t="-927" b="-1622"/>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2" name="Table 1">
                <a:extLst>
                  <a:ext uri="{FF2B5EF4-FFF2-40B4-BE49-F238E27FC236}">
                    <a16:creationId xmlns="" xmlns:a16="http://schemas.microsoft.com/office/drawing/2014/main" id="{83E7B34F-DDCB-40C9-84D0-DC78A1522728}"/>
                  </a:ext>
                </a:extLst>
              </p:cNvPr>
              <p:cNvGraphicFramePr>
                <a:graphicFrameLocks noGrp="1"/>
              </p:cNvGraphicFramePr>
              <p:nvPr>
                <p:extLst>
                  <p:ext uri="{D42A27DB-BD31-4B8C-83A1-F6EECF244321}">
                    <p14:modId xmlns:p14="http://schemas.microsoft.com/office/powerpoint/2010/main" val="320233117"/>
                  </p:ext>
                </p:extLst>
              </p:nvPr>
            </p:nvGraphicFramePr>
            <p:xfrm>
              <a:off x="1573983" y="2855240"/>
              <a:ext cx="6827932" cy="1706982"/>
            </p:xfrm>
            <a:graphic>
              <a:graphicData uri="http://schemas.openxmlformats.org/drawingml/2006/table">
                <a:tbl>
                  <a:tblPr firstRow="1" firstCol="1" bandRow="1"/>
                  <a:tblGrid>
                    <a:gridCol w="3413966">
                      <a:extLst>
                        <a:ext uri="{9D8B030D-6E8A-4147-A177-3AD203B41FA5}">
                          <a16:colId xmlns="" xmlns:a16="http://schemas.microsoft.com/office/drawing/2014/main" val="610344300"/>
                        </a:ext>
                      </a:extLst>
                    </a:gridCol>
                    <a:gridCol w="3413966">
                      <a:extLst>
                        <a:ext uri="{9D8B030D-6E8A-4147-A177-3AD203B41FA5}">
                          <a16:colId xmlns="" xmlns:a16="http://schemas.microsoft.com/office/drawing/2014/main" val="1178461052"/>
                        </a:ext>
                      </a:extLst>
                    </a:gridCol>
                  </a:tblGrid>
                  <a:tr h="568994">
                    <a:tc>
                      <a:txBody>
                        <a:bodyPr/>
                        <a:lstStyle/>
                        <a:p>
                          <a:pPr marL="0" marR="0" algn="ctr">
                            <a:spcBef>
                              <a:spcPts val="0"/>
                            </a:spcBef>
                            <a:spcAft>
                              <a:spcPts val="0"/>
                            </a:spcAft>
                          </a:pPr>
                          <a:r>
                            <a:rPr lang="en-US" sz="2200" b="1" dirty="0">
                              <a:effectLst/>
                              <a:latin typeface="Verdana" panose="020B0604030504040204" pitchFamily="34" charset="0"/>
                              <a:ea typeface="Times New Roman" panose="02020603050405020304" pitchFamily="18" charset="0"/>
                            </a:rPr>
                            <a:t>Angle</a:t>
                          </a:r>
                          <a:endParaRPr lang="en-US" sz="1600" dirty="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200" b="1" dirty="0">
                              <a:solidFill>
                                <a:srgbClr val="000000"/>
                              </a:solidFill>
                              <a:effectLst/>
                              <a:latin typeface="Verdana" panose="020B0604030504040204" pitchFamily="34" charset="0"/>
                              <a:ea typeface="Times New Roman" panose="02020603050405020304" pitchFamily="18" charset="0"/>
                            </a:rPr>
                            <a:t>Measure</a:t>
                          </a:r>
                          <a:endParaRPr lang="en-US" sz="1600" dirty="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2948310632"/>
                      </a:ext>
                    </a:extLst>
                  </a:tr>
                  <a:tr h="568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effectLst/>
                                    <a:latin typeface="Cambria Math" panose="02040503050406030204" pitchFamily="18" charset="0"/>
                                    <a:ea typeface="Times New Roman" panose="02020603050405020304" pitchFamily="18" charset="0"/>
                                  </a:rPr>
                                  <m:t>∠</m:t>
                                </m:r>
                                <m:r>
                                  <a:rPr lang="en-US" sz="2200" i="1">
                                    <a:effectLst/>
                                    <a:latin typeface="Cambria Math" panose="02040503050406030204" pitchFamily="18" charset="0"/>
                                    <a:ea typeface="Times New Roman" panose="02020603050405020304" pitchFamily="18" charset="0"/>
                                  </a:rPr>
                                  <m:t>𝑀𝐵𝑆</m:t>
                                </m:r>
                              </m:oMath>
                            </m:oMathPara>
                          </a14:m>
                          <a:endParaRPr lang="en-US" sz="160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panose="020B0604030504040204" pitchFamily="34"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38881231"/>
                      </a:ext>
                    </a:extLst>
                  </a:tr>
                  <a:tr h="568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i="1">
                                    <a:effectLst/>
                                    <a:latin typeface="Cambria Math" panose="02040503050406030204" pitchFamily="18" charset="0"/>
                                    <a:ea typeface="Times New Roman" panose="02020603050405020304" pitchFamily="18" charset="0"/>
                                  </a:rPr>
                                  <m:t>∠</m:t>
                                </m:r>
                                <m:r>
                                  <a:rPr lang="en-US" sz="2200" i="1">
                                    <a:effectLst/>
                                    <a:latin typeface="Cambria Math" panose="02040503050406030204" pitchFamily="18" charset="0"/>
                                    <a:ea typeface="Times New Roman" panose="02020603050405020304" pitchFamily="18" charset="0"/>
                                  </a:rPr>
                                  <m:t>𝑆𝐵𝑌</m:t>
                                </m:r>
                              </m:oMath>
                            </m:oMathPara>
                          </a14:m>
                          <a:endParaRPr lang="en-US" sz="160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panose="020B0604030504040204" pitchFamily="34"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48350561"/>
                      </a:ext>
                    </a:extLst>
                  </a:tr>
                </a:tbl>
              </a:graphicData>
            </a:graphic>
          </p:graphicFrame>
        </mc:Choice>
        <mc:Fallback>
          <p:graphicFrame>
            <p:nvGraphicFramePr>
              <p:cNvPr id="2" name="Table 1">
                <a:extLst>
                  <a:ext uri="{FF2B5EF4-FFF2-40B4-BE49-F238E27FC236}">
                    <a16:creationId xmlns="" xmlns:a16="http://schemas.microsoft.com/office/drawing/2014/main" xmlns:a14="http://schemas.microsoft.com/office/drawing/2010/main" id="{83E7B34F-DDCB-40C9-84D0-DC78A1522728}"/>
                  </a:ext>
                </a:extLst>
              </p:cNvPr>
              <p:cNvGraphicFramePr>
                <a:graphicFrameLocks noGrp="1"/>
              </p:cNvGraphicFramePr>
              <p:nvPr>
                <p:extLst>
                  <p:ext uri="{D42A27DB-BD31-4B8C-83A1-F6EECF244321}">
                    <p14:modId xmlns:p14="http://schemas.microsoft.com/office/powerpoint/2010/main" val="320233117"/>
                  </p:ext>
                </p:extLst>
              </p:nvPr>
            </p:nvGraphicFramePr>
            <p:xfrm>
              <a:off x="1573983" y="2855240"/>
              <a:ext cx="6827932" cy="1706982"/>
            </p:xfrm>
            <a:graphic>
              <a:graphicData uri="http://schemas.openxmlformats.org/drawingml/2006/table">
                <a:tbl>
                  <a:tblPr firstRow="1" firstCol="1" bandRow="1"/>
                  <a:tblGrid>
                    <a:gridCol w="3413966">
                      <a:extLst>
                        <a:ext uri="{9D8B030D-6E8A-4147-A177-3AD203B41FA5}">
                          <a16:colId xmlns="" xmlns:a16="http://schemas.microsoft.com/office/drawing/2014/main" xmlns:a14="http://schemas.microsoft.com/office/drawing/2010/main" val="610344300"/>
                        </a:ext>
                      </a:extLst>
                    </a:gridCol>
                    <a:gridCol w="3413966">
                      <a:extLst>
                        <a:ext uri="{9D8B030D-6E8A-4147-A177-3AD203B41FA5}">
                          <a16:colId xmlns="" xmlns:a16="http://schemas.microsoft.com/office/drawing/2014/main" xmlns:a14="http://schemas.microsoft.com/office/drawing/2010/main" val="1178461052"/>
                        </a:ext>
                      </a:extLst>
                    </a:gridCol>
                  </a:tblGrid>
                  <a:tr h="568994">
                    <a:tc>
                      <a:txBody>
                        <a:bodyPr/>
                        <a:lstStyle/>
                        <a:p>
                          <a:pPr marL="0" marR="0" algn="ctr">
                            <a:spcBef>
                              <a:spcPts val="0"/>
                            </a:spcBef>
                            <a:spcAft>
                              <a:spcPts val="0"/>
                            </a:spcAft>
                          </a:pPr>
                          <a:r>
                            <a:rPr lang="en-US" sz="2200" b="1" dirty="0">
                              <a:effectLst/>
                              <a:latin typeface="Verdana" panose="020B0604030504040204" pitchFamily="34" charset="0"/>
                              <a:ea typeface="Times New Roman" panose="02020603050405020304" pitchFamily="18" charset="0"/>
                            </a:rPr>
                            <a:t>Angle</a:t>
                          </a:r>
                          <a:endParaRPr lang="en-US" sz="1600" dirty="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200" b="1" dirty="0">
                              <a:solidFill>
                                <a:srgbClr val="000000"/>
                              </a:solidFill>
                              <a:effectLst/>
                              <a:latin typeface="Verdana" panose="020B0604030504040204" pitchFamily="34" charset="0"/>
                              <a:ea typeface="Times New Roman" panose="02020603050405020304" pitchFamily="18" charset="0"/>
                            </a:rPr>
                            <a:t>Measure</a:t>
                          </a:r>
                          <a:endParaRPr lang="en-US" sz="1600" dirty="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2948310632"/>
                      </a:ext>
                    </a:extLst>
                  </a:tr>
                  <a:tr h="568994">
                    <a:tc>
                      <a:txBody>
                        <a:bodyPr/>
                        <a:lstStyle/>
                        <a:p>
                          <a:endParaRPr lang="en-US"/>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98936" r="-100179" b="-100000"/>
                          </a:stretch>
                        </a:blipFill>
                      </a:tcPr>
                    </a:tc>
                    <a:tc>
                      <a:txBody>
                        <a:bodyPr/>
                        <a:lstStyle/>
                        <a:p>
                          <a:pPr marL="0" marR="0" algn="ctr">
                            <a:spcBef>
                              <a:spcPts val="0"/>
                            </a:spcBef>
                            <a:spcAft>
                              <a:spcPts val="0"/>
                            </a:spcAft>
                          </a:pPr>
                          <a:r>
                            <a:rPr lang="en-US" sz="2200">
                              <a:effectLst/>
                              <a:latin typeface="Verdana" panose="020B0604030504040204" pitchFamily="34"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438881231"/>
                      </a:ext>
                    </a:extLst>
                  </a:tr>
                  <a:tr h="568994">
                    <a:tc>
                      <a:txBody>
                        <a:bodyPr/>
                        <a:lstStyle/>
                        <a:p>
                          <a:endParaRPr lang="en-US"/>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01075" r="-100179" b="-1075"/>
                          </a:stretch>
                        </a:blipFill>
                      </a:tcPr>
                    </a:tc>
                    <a:tc>
                      <a:txBody>
                        <a:bodyPr/>
                        <a:lstStyle/>
                        <a:p>
                          <a:pPr marL="0" marR="0" algn="ctr">
                            <a:spcBef>
                              <a:spcPts val="0"/>
                            </a:spcBef>
                            <a:spcAft>
                              <a:spcPts val="0"/>
                            </a:spcAft>
                          </a:pPr>
                          <a:r>
                            <a:rPr lang="en-US" sz="2200" dirty="0">
                              <a:effectLst/>
                              <a:latin typeface="Verdana" panose="020B0604030504040204" pitchFamily="34"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85349" marR="8534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448350561"/>
                      </a:ext>
                    </a:extLst>
                  </a:tr>
                </a:tbl>
              </a:graphicData>
            </a:graphic>
          </p:graphicFrame>
        </mc:Fallback>
      </mc:AlternateContent>
    </p:spTree>
    <p:extLst>
      <p:ext uri="{BB962C8B-B14F-4D97-AF65-F5344CB8AC3E}">
        <p14:creationId xmlns:p14="http://schemas.microsoft.com/office/powerpoint/2010/main" val="1112794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278</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278</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237332" y="-4152"/>
            <a:ext cx="1000440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13.2.5 Wrap-Up: </a:t>
            </a:r>
            <a:r>
              <a:rPr lang="en-US" sz="3600" b="1" dirty="0">
                <a:solidFill>
                  <a:srgbClr val="42276B"/>
                </a:solidFill>
                <a:latin typeface="Verdana" panose="020B0604030504040204" pitchFamily="34" charset="0"/>
                <a:ea typeface="Verdana" panose="020B0604030504040204" pitchFamily="34" charset="0"/>
                <a:cs typeface="Verdana" panose="020B0604030504040204" pitchFamily="34" charset="0"/>
              </a:rPr>
              <a:t>Ticket Out the Door</a:t>
            </a:r>
            <a:endParaRPr lang="en-US" sz="3600" b="1" dirty="0">
              <a:solidFill>
                <a:srgbClr val="3F2A67"/>
              </a:solidFill>
              <a:latin typeface="Verdana"/>
              <a:ea typeface="Verdana"/>
              <a:cs typeface="Verdana"/>
              <a:sym typeface="Verdana"/>
            </a:endParaRP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436515" y="28504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 xmlns:a16="http://schemas.microsoft.com/office/drawing/2014/main" id="{0370EDB7-6994-3D43-ABF9-E04CBAFB9CD9}"/>
                  </a:ext>
                </a:extLst>
              </p:cNvPr>
              <p:cNvSpPr txBox="1"/>
              <p:nvPr/>
            </p:nvSpPr>
            <p:spPr>
              <a:xfrm>
                <a:off x="543834" y="1474193"/>
                <a:ext cx="10887993" cy="415498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Two angles are labeled in the diagram of line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𝑁𝑍</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which intersects with line segment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𝑊𝐹</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49263">
                  <a:buFont typeface="+mj-lt"/>
                  <a:buAutoNum type="alphaLcPeriod"/>
                </a:pPr>
                <a:r>
                  <a:rPr lang="en-US" sz="2400" dirty="0">
                    <a:latin typeface="Verdana" panose="020B0604030504040204" pitchFamily="34" charset="0"/>
                    <a:ea typeface="Times New Roman" panose="02020603050405020304" pitchFamily="18" charset="0"/>
                  </a:rPr>
                  <a:t>Write an equation that can be used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rPr>
                      <m:t>𝑑</m:t>
                    </m:r>
                  </m:oMath>
                </a14:m>
                <a:r>
                  <a:rPr lang="en-US" sz="2400" dirty="0">
                    <a:latin typeface="Verdana" panose="020B0604030504040204" pitchFamily="34" charset="0"/>
                    <a:ea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 xmlns:a16="http://schemas.microsoft.com/office/drawing/2014/main" xmlns:a14="http://schemas.microsoft.com/office/drawing/2010/main" id="{0370EDB7-6994-3D43-ABF9-E04CBAFB9CD9}"/>
                  </a:ext>
                </a:extLst>
              </p:cNvPr>
              <p:cNvSpPr txBox="1">
                <a:spLocks noRot="1" noChangeAspect="1" noMove="1" noResize="1" noEditPoints="1" noAdjustHandles="1" noChangeArrowheads="1" noChangeShapeType="1" noTextEdit="1"/>
              </p:cNvSpPr>
              <p:nvPr/>
            </p:nvSpPr>
            <p:spPr>
              <a:xfrm>
                <a:off x="543834" y="1474193"/>
                <a:ext cx="10887993" cy="4154984"/>
              </a:xfrm>
              <a:prstGeom prst="rect">
                <a:avLst/>
              </a:prstGeom>
              <a:blipFill rotWithShape="1">
                <a:blip r:embed="rId5"/>
                <a:stretch>
                  <a:fillRect l="-840" t="-1322" r="-952"/>
                </a:stretch>
              </a:blipFill>
            </p:spPr>
            <p:txBody>
              <a:bodyPr/>
              <a:lstStyle/>
              <a:p>
                <a:r>
                  <a:rPr lang="en-PH">
                    <a:noFill/>
                  </a:rPr>
                  <a:t> </a:t>
                </a:r>
              </a:p>
            </p:txBody>
          </p:sp>
        </mc:Fallback>
      </mc:AlternateContent>
      <p:pic>
        <p:nvPicPr>
          <p:cNvPr id="8" name="Picture 7" descr="A picture containing text, antenna&#10;&#10;Description automatically generated">
            <a:extLst>
              <a:ext uri="{FF2B5EF4-FFF2-40B4-BE49-F238E27FC236}">
                <a16:creationId xmlns="" xmlns:a16="http://schemas.microsoft.com/office/drawing/2014/main" id="{F591741C-CB2C-4DB3-A36F-9CF4FDE2BDFE}"/>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bwMode="auto">
          <a:xfrm>
            <a:off x="3329272" y="2388365"/>
            <a:ext cx="5447665" cy="232664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5399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278</a:t>
            </a: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40773" y="386062"/>
            <a:ext cx="10157341" cy="3046988"/>
          </a:xfrm>
          <a:prstGeom prst="rect">
            <a:avLst/>
          </a:prstGeom>
          <a:noFill/>
        </p:spPr>
        <p:txBody>
          <a:bodyPr wrap="square" rtlCol="0">
            <a:spAutoFit/>
          </a:bodyPr>
          <a:lstStyle/>
          <a:p>
            <a:pPr marL="900113" indent="-457200">
              <a:buFont typeface="+mj-lt"/>
              <a:buAutoNum type="alphaLcPeriod" startAt="2"/>
            </a:pPr>
            <a:r>
              <a:rPr lang="en-US" sz="2400" dirty="0">
                <a:latin typeface="Verdana" panose="020B0604030504040204" pitchFamily="34" charset="0"/>
                <a:ea typeface="Times New Roman" panose="02020603050405020304" pitchFamily="18" charset="0"/>
              </a:rPr>
              <a:t>Solve the equation.</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900113" indent="-457200">
              <a:buFont typeface="+mj-lt"/>
              <a:buAutoNum type="alphaLcPeriod" startAt="3"/>
            </a:pPr>
            <a:r>
              <a:rPr lang="en-US" sz="2400" dirty="0">
                <a:latin typeface="Verdana" panose="020B0604030504040204" pitchFamily="34" charset="0"/>
                <a:ea typeface="Times New Roman" panose="02020603050405020304" pitchFamily="18" charset="0"/>
              </a:rPr>
              <a:t>Use the solution to find the measure of each angle.</a:t>
            </a:r>
            <a:endParaRPr lang="en-US" sz="1600" dirty="0">
              <a:latin typeface="Times New Roman" panose="02020603050405020304" pitchFamily="18" charset="0"/>
              <a:ea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 xmlns:a16="http://schemas.microsoft.com/office/drawing/2014/main" id="{73CB7621-EB37-417C-BB39-070CED2DAB05}"/>
                  </a:ext>
                </a:extLst>
              </p:cNvPr>
              <p:cNvGraphicFramePr>
                <a:graphicFrameLocks noGrp="1"/>
              </p:cNvGraphicFramePr>
              <p:nvPr>
                <p:extLst>
                  <p:ext uri="{D42A27DB-BD31-4B8C-83A1-F6EECF244321}">
                    <p14:modId xmlns:p14="http://schemas.microsoft.com/office/powerpoint/2010/main" val="1682159407"/>
                  </p:ext>
                </p:extLst>
              </p:nvPr>
            </p:nvGraphicFramePr>
            <p:xfrm>
              <a:off x="1553343" y="3553025"/>
              <a:ext cx="6866312" cy="1716579"/>
            </p:xfrm>
            <a:graphic>
              <a:graphicData uri="http://schemas.openxmlformats.org/drawingml/2006/table">
                <a:tbl>
                  <a:tblPr firstRow="1" firstCol="1" bandRow="1"/>
                  <a:tblGrid>
                    <a:gridCol w="3433156">
                      <a:extLst>
                        <a:ext uri="{9D8B030D-6E8A-4147-A177-3AD203B41FA5}">
                          <a16:colId xmlns="" xmlns:a16="http://schemas.microsoft.com/office/drawing/2014/main" val="3272797887"/>
                        </a:ext>
                      </a:extLst>
                    </a:gridCol>
                    <a:gridCol w="3433156">
                      <a:extLst>
                        <a:ext uri="{9D8B030D-6E8A-4147-A177-3AD203B41FA5}">
                          <a16:colId xmlns="" xmlns:a16="http://schemas.microsoft.com/office/drawing/2014/main" val="1605848155"/>
                        </a:ext>
                      </a:extLst>
                    </a:gridCol>
                  </a:tblGrid>
                  <a:tr h="572193">
                    <a:tc>
                      <a:txBody>
                        <a:bodyPr/>
                        <a:lstStyle/>
                        <a:p>
                          <a:pPr marL="0" marR="0" algn="ctr">
                            <a:spcBef>
                              <a:spcPts val="0"/>
                            </a:spcBef>
                            <a:spcAft>
                              <a:spcPts val="0"/>
                            </a:spcAft>
                          </a:pPr>
                          <a:r>
                            <a:rPr lang="en-US" sz="2300" b="1" dirty="0">
                              <a:effectLst/>
                              <a:latin typeface="Verdana" panose="020B0604030504040204" pitchFamily="34" charset="0"/>
                              <a:ea typeface="Times New Roman" panose="02020603050405020304" pitchFamily="18" charset="0"/>
                            </a:rPr>
                            <a:t>Angle</a:t>
                          </a:r>
                          <a:endParaRPr lang="en-US" sz="1500" dirty="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a:solidFill>
                                <a:srgbClr val="000000"/>
                              </a:solidFill>
                              <a:effectLst/>
                              <a:latin typeface="Verdana" panose="020B0604030504040204" pitchFamily="34" charset="0"/>
                              <a:ea typeface="Times New Roman" panose="02020603050405020304" pitchFamily="18" charset="0"/>
                            </a:rPr>
                            <a:t>Measure</a:t>
                          </a:r>
                          <a:endParaRPr lang="en-US" sz="150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351021833"/>
                      </a:ext>
                    </a:extLst>
                  </a:tr>
                  <a:tr h="572193">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panose="02040503050406030204" pitchFamily="18" charset="0"/>
                                    <a:ea typeface="Times New Roman" panose="02020603050405020304" pitchFamily="18" charset="0"/>
                                  </a:rPr>
                                  <m:t>∠</m:t>
                                </m:r>
                                <m:r>
                                  <a:rPr lang="en-US" sz="2300" i="1">
                                    <a:effectLst/>
                                    <a:latin typeface="Cambria Math" panose="02040503050406030204" pitchFamily="18" charset="0"/>
                                    <a:ea typeface="Times New Roman" panose="02020603050405020304" pitchFamily="18" charset="0"/>
                                  </a:rPr>
                                  <m:t>𝐹𝑊𝑁</m:t>
                                </m:r>
                              </m:oMath>
                            </m:oMathPara>
                          </a14:m>
                          <a:endParaRPr lang="en-US" sz="150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panose="020B0604030504040204" pitchFamily="34" charset="0"/>
                              <a:ea typeface="Times New Roman" panose="02020603050405020304" pitchFamily="18" charset="0"/>
                            </a:rPr>
                            <a:t> </a:t>
                          </a:r>
                          <a:endParaRPr lang="en-US" sz="150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59434627"/>
                      </a:ext>
                    </a:extLst>
                  </a:tr>
                  <a:tr h="572193">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panose="02040503050406030204" pitchFamily="18" charset="0"/>
                                    <a:ea typeface="Times New Roman" panose="02020603050405020304" pitchFamily="18" charset="0"/>
                                  </a:rPr>
                                  <m:t>∠</m:t>
                                </m:r>
                                <m:r>
                                  <a:rPr lang="en-US" sz="2300" i="1">
                                    <a:effectLst/>
                                    <a:latin typeface="Cambria Math" panose="02040503050406030204" pitchFamily="18" charset="0"/>
                                    <a:ea typeface="Times New Roman" panose="02020603050405020304" pitchFamily="18" charset="0"/>
                                  </a:rPr>
                                  <m:t>𝐹𝑊𝑍</m:t>
                                </m:r>
                              </m:oMath>
                            </m:oMathPara>
                          </a14:m>
                          <a:endParaRPr lang="en-US" sz="150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300" dirty="0">
                              <a:effectLst/>
                              <a:latin typeface="Verdana" panose="020B0604030504040204" pitchFamily="34" charset="0"/>
                              <a:ea typeface="Times New Roman" panose="02020603050405020304" pitchFamily="18" charset="0"/>
                            </a:rPr>
                            <a:t> </a:t>
                          </a:r>
                          <a:endParaRPr lang="en-US" sz="1500" dirty="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65856646"/>
                      </a:ext>
                    </a:extLst>
                  </a:tr>
                </a:tbl>
              </a:graphicData>
            </a:graphic>
          </p:graphicFrame>
        </mc:Choice>
        <mc:Fallback>
          <p:graphicFrame>
            <p:nvGraphicFramePr>
              <p:cNvPr id="2" name="Table 1">
                <a:extLst>
                  <a:ext uri="{FF2B5EF4-FFF2-40B4-BE49-F238E27FC236}">
                    <a16:creationId xmlns="" xmlns:a16="http://schemas.microsoft.com/office/drawing/2014/main" xmlns:a14="http://schemas.microsoft.com/office/drawing/2010/main" id="{73CB7621-EB37-417C-BB39-070CED2DAB05}"/>
                  </a:ext>
                </a:extLst>
              </p:cNvPr>
              <p:cNvGraphicFramePr>
                <a:graphicFrameLocks noGrp="1"/>
              </p:cNvGraphicFramePr>
              <p:nvPr>
                <p:extLst>
                  <p:ext uri="{D42A27DB-BD31-4B8C-83A1-F6EECF244321}">
                    <p14:modId xmlns:p14="http://schemas.microsoft.com/office/powerpoint/2010/main" val="1682159407"/>
                  </p:ext>
                </p:extLst>
              </p:nvPr>
            </p:nvGraphicFramePr>
            <p:xfrm>
              <a:off x="1553343" y="3553025"/>
              <a:ext cx="6866312" cy="1716579"/>
            </p:xfrm>
            <a:graphic>
              <a:graphicData uri="http://schemas.openxmlformats.org/drawingml/2006/table">
                <a:tbl>
                  <a:tblPr firstRow="1" firstCol="1" bandRow="1"/>
                  <a:tblGrid>
                    <a:gridCol w="3433156">
                      <a:extLst>
                        <a:ext uri="{9D8B030D-6E8A-4147-A177-3AD203B41FA5}">
                          <a16:colId xmlns="" xmlns:a16="http://schemas.microsoft.com/office/drawing/2014/main" xmlns:a14="http://schemas.microsoft.com/office/drawing/2010/main" val="3272797887"/>
                        </a:ext>
                      </a:extLst>
                    </a:gridCol>
                    <a:gridCol w="3433156">
                      <a:extLst>
                        <a:ext uri="{9D8B030D-6E8A-4147-A177-3AD203B41FA5}">
                          <a16:colId xmlns="" xmlns:a16="http://schemas.microsoft.com/office/drawing/2014/main" xmlns:a14="http://schemas.microsoft.com/office/drawing/2010/main" val="1605848155"/>
                        </a:ext>
                      </a:extLst>
                    </a:gridCol>
                  </a:tblGrid>
                  <a:tr h="572193">
                    <a:tc>
                      <a:txBody>
                        <a:bodyPr/>
                        <a:lstStyle/>
                        <a:p>
                          <a:pPr marL="0" marR="0" algn="ctr">
                            <a:spcBef>
                              <a:spcPts val="0"/>
                            </a:spcBef>
                            <a:spcAft>
                              <a:spcPts val="0"/>
                            </a:spcAft>
                          </a:pPr>
                          <a:r>
                            <a:rPr lang="en-US" sz="2300" b="1" dirty="0">
                              <a:effectLst/>
                              <a:latin typeface="Verdana" panose="020B0604030504040204" pitchFamily="34" charset="0"/>
                              <a:ea typeface="Times New Roman" panose="02020603050405020304" pitchFamily="18" charset="0"/>
                            </a:rPr>
                            <a:t>Angle</a:t>
                          </a:r>
                          <a:endParaRPr lang="en-US" sz="1500" dirty="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a:solidFill>
                                <a:srgbClr val="000000"/>
                              </a:solidFill>
                              <a:effectLst/>
                              <a:latin typeface="Verdana" panose="020B0604030504040204" pitchFamily="34" charset="0"/>
                              <a:ea typeface="Times New Roman" panose="02020603050405020304" pitchFamily="18" charset="0"/>
                            </a:rPr>
                            <a:t>Measure</a:t>
                          </a:r>
                          <a:endParaRPr lang="en-US" sz="150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xmlns:a14="http://schemas.microsoft.com/office/drawing/2010/main" val="1351021833"/>
                      </a:ext>
                    </a:extLst>
                  </a:tr>
                  <a:tr h="572193">
                    <a:tc>
                      <a:txBody>
                        <a:bodyPr/>
                        <a:lstStyle/>
                        <a:p>
                          <a:endParaRPr lang="en-US"/>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8" t="-102151" r="-100178" b="-102151"/>
                          </a:stretch>
                        </a:blipFill>
                      </a:tcPr>
                    </a:tc>
                    <a:tc>
                      <a:txBody>
                        <a:bodyPr/>
                        <a:lstStyle/>
                        <a:p>
                          <a:pPr marL="0" marR="0" algn="ctr">
                            <a:spcBef>
                              <a:spcPts val="0"/>
                            </a:spcBef>
                            <a:spcAft>
                              <a:spcPts val="0"/>
                            </a:spcAft>
                          </a:pPr>
                          <a:r>
                            <a:rPr lang="en-US" sz="2300">
                              <a:effectLst/>
                              <a:latin typeface="Verdana" panose="020B0604030504040204" pitchFamily="34" charset="0"/>
                              <a:ea typeface="Times New Roman" panose="02020603050405020304" pitchFamily="18" charset="0"/>
                            </a:rPr>
                            <a:t> </a:t>
                          </a:r>
                          <a:endParaRPr lang="en-US" sz="150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459434627"/>
                      </a:ext>
                    </a:extLst>
                  </a:tr>
                  <a:tr h="572193">
                    <a:tc>
                      <a:txBody>
                        <a:bodyPr/>
                        <a:lstStyle/>
                        <a:p>
                          <a:endParaRPr lang="en-US"/>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8" t="-200000" r="-100178" b="-1064"/>
                          </a:stretch>
                        </a:blipFill>
                      </a:tcPr>
                    </a:tc>
                    <a:tc>
                      <a:txBody>
                        <a:bodyPr/>
                        <a:lstStyle/>
                        <a:p>
                          <a:pPr marL="0" marR="0" algn="ctr">
                            <a:spcBef>
                              <a:spcPts val="0"/>
                            </a:spcBef>
                            <a:spcAft>
                              <a:spcPts val="0"/>
                            </a:spcAft>
                          </a:pPr>
                          <a:r>
                            <a:rPr lang="en-US" sz="2300" dirty="0">
                              <a:effectLst/>
                              <a:latin typeface="Verdana" panose="020B0604030504040204" pitchFamily="34" charset="0"/>
                              <a:ea typeface="Times New Roman" panose="02020603050405020304" pitchFamily="18" charset="0"/>
                            </a:rPr>
                            <a:t> </a:t>
                          </a:r>
                          <a:endParaRPr lang="en-US" sz="1500" dirty="0">
                            <a:effectLst/>
                            <a:latin typeface="Times New Roman" panose="02020603050405020304" pitchFamily="18" charset="0"/>
                            <a:ea typeface="Times New Roman" panose="02020603050405020304" pitchFamily="18" charset="0"/>
                          </a:endParaRPr>
                        </a:p>
                      </a:txBody>
                      <a:tcPr marL="85829" marR="8582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665856646"/>
                      </a:ext>
                    </a:extLst>
                  </a:tr>
                </a:tbl>
              </a:graphicData>
            </a:graphic>
          </p:graphicFrame>
        </mc:Fallback>
      </mc:AlternateContent>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1429</TotalTime>
  <Words>821</Words>
  <Application>Microsoft Office PowerPoint</Application>
  <PresentationFormat>Custom</PresentationFormat>
  <Paragraphs>225</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Arial Black</vt:lpstr>
      <vt:lpstr>Verdana</vt:lpstr>
      <vt:lpstr>Calibri</vt:lpstr>
      <vt:lpstr>Courier New</vt:lpstr>
      <vt:lpstr>Times New Roman</vt:lpstr>
      <vt:lpstr>Century Gothic</vt:lpstr>
      <vt:lpstr>Wingdings</vt:lpstr>
      <vt:lpstr>Cambria Math</vt:lpstr>
      <vt:lpstr>1_Office Theme</vt:lpstr>
      <vt:lpstr>8th Grade Math: Pre-Algebra  Unit 13, Lesson 2  Solving for Unknown Angles  Volume 2, pg. 273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28</cp:revision>
  <dcterms:created xsi:type="dcterms:W3CDTF">2015-03-17T18:51:18Z</dcterms:created>
  <dcterms:modified xsi:type="dcterms:W3CDTF">2022-06-20T07:30:25Z</dcterms:modified>
</cp:coreProperties>
</file>