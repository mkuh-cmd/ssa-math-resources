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289" r:id="rId9"/>
    <p:sldId id="290" r:id="rId10"/>
    <p:sldId id="346" r:id="rId11"/>
    <p:sldId id="352" r:id="rId12"/>
    <p:sldId id="353" r:id="rId13"/>
    <p:sldId id="311" r:id="rId14"/>
    <p:sldId id="312" r:id="rId15"/>
    <p:sldId id="354" r:id="rId16"/>
    <p:sldId id="343" r:id="rId17"/>
    <p:sldId id="349" r:id="rId18"/>
    <p:sldId id="358" r:id="rId19"/>
    <p:sldId id="356" r:id="rId20"/>
    <p:sldId id="357" r:id="rId21"/>
    <p:sldId id="359" r:id="rId22"/>
    <p:sldId id="329" r:id="rId23"/>
    <p:sldId id="330" r:id="rId24"/>
    <p:sldId id="355" r:id="rId25"/>
    <p:sldId id="360" r:id="rId26"/>
    <p:sldId id="361" r:id="rId27"/>
    <p:sldId id="362" r:id="rId28"/>
    <p:sldId id="365" r:id="rId29"/>
    <p:sldId id="306" r:id="rId30"/>
    <p:sldId id="307" r:id="rId31"/>
  </p:sldIdLst>
  <p:sldSz cx="12192000" cy="6858000"/>
  <p:notesSz cx="6858000" cy="9144000"/>
  <p:embeddedFontLst>
    <p:embeddedFont>
      <p:font typeface="Calibri" pitchFamily="34" charset="0"/>
      <p:regular r:id="rId33"/>
      <p:bold r:id="rId34"/>
      <p:italic r:id="rId35"/>
      <p:boldItalic r:id="rId36"/>
    </p:embeddedFont>
    <p:embeddedFont>
      <p:font typeface="Century Gothic" pitchFamily="34" charset="0"/>
      <p:regular r:id="rId37"/>
      <p:bold r:id="rId38"/>
      <p:italic r:id="rId39"/>
      <p:boldItalic r:id="rId40"/>
    </p:embeddedFont>
    <p:embeddedFont>
      <p:font typeface="Cambria Math" pitchFamily="18" charset="0"/>
      <p:regular r:id="rId41"/>
    </p:embeddedFont>
    <p:embeddedFont>
      <p:font typeface="Arial Black" pitchFamily="34" charset="0"/>
      <p:bold r:id="rId42"/>
    </p:embeddedFont>
    <p:embeddedFont>
      <p:font typeface="Verdana"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8" autoAdjust="0"/>
    <p:restoredTop sz="94719"/>
  </p:normalViewPr>
  <p:slideViewPr>
    <p:cSldViewPr snapToGrid="0">
      <p:cViewPr varScale="1">
        <p:scale>
          <a:sx n="105" d="100"/>
          <a:sy n="105" d="100"/>
        </p:scale>
        <p:origin x="-92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65998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403803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31741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916378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61036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813191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465499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960542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811519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801520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022302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191016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4225577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4054407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9305178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0.png"/><Relationship Id="rId7" Type="http://schemas.openxmlformats.org/officeDocument/2006/relationships/image" Target="../media/image37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50.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604229" y="2054275"/>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a:t>
            </a:r>
            <a:r>
              <a:rPr lang="en-US" sz="3800" b="1" dirty="0" smtClean="0">
                <a:solidFill>
                  <a:srgbClr val="417DBF"/>
                </a:solidFill>
                <a:latin typeface="Verdana"/>
                <a:ea typeface="Verdana"/>
                <a:cs typeface="Verdana"/>
                <a:sym typeface="Verdana"/>
              </a:rPr>
              <a:t>Grade Math: </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smtClean="0">
                <a:solidFill>
                  <a:srgbClr val="417DBF"/>
                </a:solidFill>
                <a:latin typeface="Verdana"/>
                <a:ea typeface="Verdana"/>
                <a:cs typeface="Verdana"/>
                <a:sym typeface="Verdana"/>
              </a:rPr>
              <a:t>Pre-Algebra</a:t>
            </a:r>
            <a:br>
              <a:rPr lang="en-US" sz="3800" b="1" dirty="0" smtClean="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13,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Angle Relationships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267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929"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0137" y="9647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6518" y="37872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4957" y="1590851"/>
            <a:ext cx="1070552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smtClean="0">
                <a:solidFill>
                  <a:schemeClr val="tx1"/>
                </a:solidFill>
                <a:latin typeface="Verdana"/>
                <a:ea typeface="Verdana"/>
                <a:cs typeface="Verdana"/>
                <a:sym typeface="Verdana"/>
              </a:rPr>
              <a:t>MA.8.GR.1.4</a:t>
            </a:r>
            <a:endParaRPr lang="en-US" sz="3500" dirty="0">
              <a:solidFill>
                <a:schemeClr val="tx1"/>
              </a:solidFill>
              <a:latin typeface="Verdana"/>
              <a:ea typeface="Verdana"/>
              <a:cs typeface="Verdana"/>
              <a:sym typeface="Verdana"/>
            </a:endParaRPr>
          </a:p>
          <a:p>
            <a:pPr marL="466725" indent="0">
              <a:buSzPts val="1100"/>
              <a:buNone/>
            </a:pPr>
            <a:r>
              <a:rPr lang="en-US" sz="3500" dirty="0">
                <a:solidFill>
                  <a:schemeClr val="tx1"/>
                </a:solidFill>
                <a:latin typeface="Verdana"/>
                <a:ea typeface="Verdana"/>
                <a:cs typeface="Verdana"/>
                <a:sym typeface="Verdana"/>
              </a:rPr>
              <a:t>Solve mathematical problems involving the relationships between supplementary, complementary, vertical, or adjacent angles. </a:t>
            </a:r>
            <a:endParaRPr lang="en-US" dirty="0">
              <a:solidFill>
                <a:schemeClr val="tx1"/>
              </a:solidFill>
              <a:latin typeface="Century Gothic"/>
              <a:ea typeface="Century Gothic"/>
              <a:cs typeface="Century Gothic"/>
              <a:sym typeface="Century Gothic"/>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5088" y="89521"/>
            <a:ext cx="103373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267</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255088" y="1575019"/>
            <a:ext cx="1008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pic>
        <p:nvPicPr>
          <p:cNvPr id="9" name="Google Shape;281;g104476d1465_1_17"/>
          <p:cNvPicPr preferRelativeResize="0"/>
          <p:nvPr/>
        </p:nvPicPr>
        <p:blipFill>
          <a:blip r:embed="rId4">
            <a:alphaModFix/>
          </a:blip>
          <a:stretch>
            <a:fillRect/>
          </a:stretch>
        </p:blipFill>
        <p:spPr>
          <a:xfrm>
            <a:off x="436518" y="378721"/>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55088" y="89521"/>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436518" y="378721"/>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43835" y="1463282"/>
            <a:ext cx="10612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identify adjacent, supplementary, complementary, and vertical angles.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58618"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6078" y="89521"/>
            <a:ext cx="982806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F2A67"/>
                </a:solidFill>
                <a:latin typeface="Verdana"/>
                <a:ea typeface="Verdana"/>
                <a:cs typeface="Verdana"/>
                <a:sym typeface="Verdana"/>
              </a:rPr>
              <a:t>13.1.1 Warm-Up: Sandy Beaches </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436518" y="378721"/>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xmlns="" id="{E1D7562E-134F-D14B-AF1A-DF40E11EF758}"/>
                  </a:ext>
                </a:extLst>
              </p:cNvPr>
              <p:cNvSpPr txBox="1"/>
              <p:nvPr/>
            </p:nvSpPr>
            <p:spPr>
              <a:xfrm>
                <a:off x="533127" y="1468489"/>
                <a:ext cx="11018038"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There are so many beaches around the world that most people can't tell whether they are natural or man-made. For example, the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7.5</m:t>
                    </m:r>
                  </m:oMath>
                </a14:m>
                <a:r>
                  <a:rPr lang="en-US" sz="2400" dirty="0">
                    <a:latin typeface="Verdana" panose="020B0604030504040204" pitchFamily="34" charset="0"/>
                    <a:ea typeface="Verdana" panose="020B0604030504040204" pitchFamily="34" charset="0"/>
                    <a:cs typeface="Verdana" panose="020B0604030504040204" pitchFamily="34" charset="0"/>
                  </a:rPr>
                  <a:t>-acre Crystal Lagoon in Wesley Chapel, FL includes a man-made beach. </a:t>
                </a:r>
              </a:p>
            </p:txBody>
          </p:sp>
        </mc:Choice>
        <mc:Fallback>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33127" y="1468489"/>
                <a:ext cx="11018038" cy="1200329"/>
              </a:xfrm>
              <a:prstGeom prst="rect">
                <a:avLst/>
              </a:prstGeom>
              <a:blipFill rotWithShape="1">
                <a:blip r:embed="rId5"/>
                <a:stretch>
                  <a:fillRect l="-830" t="-4061" r="-830" b="-10660"/>
                </a:stretch>
              </a:blipFill>
            </p:spPr>
            <p:txBody>
              <a:bodyPr/>
              <a:lstStyle/>
              <a:p>
                <a:r>
                  <a:rPr lang="en-PH">
                    <a:noFill/>
                  </a:rPr>
                  <a:t> </a:t>
                </a:r>
              </a:p>
            </p:txBody>
          </p:sp>
        </mc:Fallback>
      </mc:AlternateContent>
      <p:pic>
        <p:nvPicPr>
          <p:cNvPr id="4" name="Picture 3" descr="A sandy beach with palm trees and blue sky&#10;&#10;Description automatically generated with medium confidence">
            <a:extLst>
              <a:ext uri="{FF2B5EF4-FFF2-40B4-BE49-F238E27FC236}">
                <a16:creationId xmlns:a16="http://schemas.microsoft.com/office/drawing/2014/main" xmlns="" id="{6E9AB357-7747-B24A-BBF9-AB2520E0B2A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052104" y="2856567"/>
            <a:ext cx="3693512" cy="246704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2386" y="386441"/>
                <a:ext cx="10800000" cy="246054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To create a man-made beach, sand needs to be brought in to construct it. One cubic foot of sand weighs around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 pounds. One acre covers about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43,560</m:t>
                    </m:r>
                  </m:oMath>
                </a14:m>
                <a:r>
                  <a:rPr lang="en-US" sz="2400" dirty="0">
                    <a:latin typeface="Verdana" panose="020B0604030504040204" pitchFamily="34" charset="0"/>
                    <a:ea typeface="Verdana" panose="020B0604030504040204" pitchFamily="34" charset="0"/>
                    <a:cs typeface="Verdana" panose="020B0604030504040204" pitchFamily="34" charset="0"/>
                  </a:rPr>
                  <a:t> square feet.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What is the weight of the sand that needs to be brought in to cover a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-acre area with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inches, or </a:t>
                </a:r>
                <a14:m>
                  <m:oMath xmlns:m="http://schemas.openxmlformats.org/officeDocument/2006/math">
                    <m:f>
                      <m:fPr>
                        <m:ctrlPr>
                          <a:rPr lang="en-US" sz="2400" i="1" dirty="0">
                            <a:latin typeface="Cambria Math"/>
                            <a:ea typeface="Verdana" panose="020B0604030504040204" pitchFamily="34" charset="0"/>
                            <a:cs typeface="Verdana" panose="020B0604030504040204" pitchFamily="34" charset="0"/>
                          </a:rPr>
                        </m:ctrlPr>
                      </m:fPr>
                      <m:num>
                        <m:r>
                          <a:rPr lang="en-US" sz="2400" i="1" dirty="0">
                            <a:latin typeface="Cambria Math" panose="02040503050406030204" pitchFamily="18" charset="0"/>
                            <a:ea typeface="Verdana" panose="020B0604030504040204" pitchFamily="34" charset="0"/>
                            <a:cs typeface="Verdana" panose="020B0604030504040204" pitchFamily="34" charset="0"/>
                          </a:rPr>
                          <m:t>1</m:t>
                        </m:r>
                      </m:num>
                      <m:den>
                        <m:r>
                          <a:rPr lang="en-US" sz="2400" i="1" dirty="0">
                            <a:latin typeface="Cambria Math" panose="02040503050406030204" pitchFamily="18" charset="0"/>
                            <a:ea typeface="Verdana" panose="020B0604030504040204" pitchFamily="34" charset="0"/>
                            <a:cs typeface="Verdana" panose="020B0604030504040204" pitchFamily="34"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foot, of sand? </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386" y="386441"/>
                <a:ext cx="10800000" cy="2460545"/>
              </a:xfrm>
              <a:prstGeom prst="rect">
                <a:avLst/>
              </a:prstGeom>
              <a:blipFill rotWithShape="1">
                <a:blip r:embed="rId4"/>
                <a:stretch>
                  <a:fillRect l="-847" t="-1980" b="-990"/>
                </a:stretch>
              </a:blipFill>
            </p:spPr>
            <p:txBody>
              <a:bodyPr/>
              <a:lstStyle/>
              <a:p>
                <a:r>
                  <a:rPr lang="en-PH">
                    <a:noFill/>
                  </a:rPr>
                  <a:t> </a:t>
                </a:r>
              </a:p>
            </p:txBody>
          </p:sp>
        </mc:Fallback>
      </mc:AlternateContent>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22203" y="2766150"/>
            <a:ext cx="7113585"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55437" y="89521"/>
            <a:ext cx="1207917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13.1.2 Guided Instruction: </a:t>
            </a:r>
            <a:r>
              <a:rPr lang="en-US" sz="3600" b="1" dirty="0" smtClean="0">
                <a:solidFill>
                  <a:srgbClr val="54B5D1"/>
                </a:solidFill>
                <a:latin typeface="Verdana"/>
                <a:ea typeface="Verdana"/>
                <a:cs typeface="Verdana"/>
                <a:sym typeface="Verdana"/>
              </a:rPr>
              <a:t/>
            </a:r>
            <a:br>
              <a:rPr lang="en-US" sz="3600" b="1" dirty="0" smtClean="0">
                <a:solidFill>
                  <a:srgbClr val="54B5D1"/>
                </a:solidFill>
                <a:latin typeface="Verdana"/>
                <a:ea typeface="Verdana"/>
                <a:cs typeface="Verdana"/>
                <a:sym typeface="Verdana"/>
              </a:rPr>
            </a:br>
            <a:r>
              <a:rPr lang="en-US" sz="3600" b="1" dirty="0" smtClean="0">
                <a:solidFill>
                  <a:srgbClr val="54B5D1"/>
                </a:solidFill>
                <a:latin typeface="Verdana"/>
                <a:ea typeface="Verdana"/>
                <a:cs typeface="Verdana"/>
                <a:sym typeface="Verdana"/>
              </a:rPr>
              <a:t>Adjacent </a:t>
            </a:r>
            <a:r>
              <a:rPr lang="en-US" sz="3600" b="1" dirty="0">
                <a:solidFill>
                  <a:srgbClr val="54B5D1"/>
                </a:solidFill>
                <a:latin typeface="Verdana"/>
                <a:ea typeface="Verdana"/>
                <a:cs typeface="Verdana"/>
                <a:sym typeface="Verdana"/>
              </a:rPr>
              <a:t>Angles </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436518" y="378721"/>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01B13E8-EC8D-E443-A329-C5E3593DD13A}"/>
                  </a:ext>
                </a:extLst>
              </p:cNvPr>
              <p:cNvSpPr txBox="1"/>
              <p:nvPr/>
            </p:nvSpPr>
            <p:spPr>
              <a:xfrm>
                <a:off x="531091" y="1464520"/>
                <a:ext cx="10450878"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Angles are formed when lines, line segments, or rays intersect.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The figure shows an example of adjacent angles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𝑉𝑌𝑀</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𝑀𝑌𝐿</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1091" y="1464520"/>
                <a:ext cx="10450878" cy="2677656"/>
              </a:xfrm>
              <a:prstGeom prst="rect">
                <a:avLst/>
              </a:prstGeom>
              <a:blipFill rotWithShape="1">
                <a:blip r:embed="rId5"/>
                <a:stretch>
                  <a:fillRect l="-875" t="-1822"/>
                </a:stretch>
              </a:blipFill>
            </p:spPr>
            <p:txBody>
              <a:bodyPr/>
              <a:lstStyle/>
              <a:p>
                <a:r>
                  <a:rPr lang="en-PH">
                    <a:noFill/>
                  </a:rPr>
                  <a:t> </a:t>
                </a:r>
              </a:p>
            </p:txBody>
          </p:sp>
        </mc:Fallback>
      </mc:AlternateContent>
      <p:grpSp>
        <p:nvGrpSpPr>
          <p:cNvPr id="8" name="Group 7">
            <a:extLst>
              <a:ext uri="{FF2B5EF4-FFF2-40B4-BE49-F238E27FC236}">
                <a16:creationId xmlns:a16="http://schemas.microsoft.com/office/drawing/2014/main" xmlns="" id="{82D7752E-32A6-D14B-A58B-5AD38EC44C2C}"/>
              </a:ext>
            </a:extLst>
          </p:cNvPr>
          <p:cNvGrpSpPr/>
          <p:nvPr/>
        </p:nvGrpSpPr>
        <p:grpSpPr>
          <a:xfrm>
            <a:off x="2582125" y="2162343"/>
            <a:ext cx="6629400" cy="1270707"/>
            <a:chOff x="2031300" y="2687716"/>
            <a:chExt cx="6629400" cy="1619334"/>
          </a:xfrm>
        </p:grpSpPr>
        <p:sp>
          <p:nvSpPr>
            <p:cNvPr id="10" name="Rectangle 9">
              <a:extLst>
                <a:ext uri="{FF2B5EF4-FFF2-40B4-BE49-F238E27FC236}">
                  <a16:creationId xmlns:a16="http://schemas.microsoft.com/office/drawing/2014/main" xmlns="" id="{3432C308-C74A-7646-AA0D-FA868A4A615A}"/>
                </a:ext>
              </a:extLst>
            </p:cNvPr>
            <p:cNvSpPr/>
            <p:nvPr/>
          </p:nvSpPr>
          <p:spPr>
            <a:xfrm>
              <a:off x="2031300" y="3252950"/>
              <a:ext cx="6629400" cy="10541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1" name="Group 10">
              <a:extLst>
                <a:ext uri="{FF2B5EF4-FFF2-40B4-BE49-F238E27FC236}">
                  <a16:creationId xmlns:a16="http://schemas.microsoft.com/office/drawing/2014/main" xmlns="" id="{1DEFB501-45B0-7545-925C-8A05853C537B}"/>
                </a:ext>
              </a:extLst>
            </p:cNvPr>
            <p:cNvGrpSpPr/>
            <p:nvPr/>
          </p:nvGrpSpPr>
          <p:grpSpPr>
            <a:xfrm>
              <a:off x="2031300" y="2687716"/>
              <a:ext cx="6629400" cy="1619334"/>
              <a:chOff x="2031300" y="2687716"/>
              <a:chExt cx="6629400" cy="1619334"/>
            </a:xfrm>
          </p:grpSpPr>
          <p:sp>
            <p:nvSpPr>
              <p:cNvPr id="14" name="Rectangle 13">
                <a:extLst>
                  <a:ext uri="{FF2B5EF4-FFF2-40B4-BE49-F238E27FC236}">
                    <a16:creationId xmlns:a16="http://schemas.microsoft.com/office/drawing/2014/main" xmlns="" id="{8EBA3F42-CE88-0F42-B6D4-BC6A907EC8E3}"/>
                  </a:ext>
                </a:extLst>
              </p:cNvPr>
              <p:cNvSpPr/>
              <p:nvPr/>
            </p:nvSpPr>
            <p:spPr>
              <a:xfrm>
                <a:off x="2031300" y="3252950"/>
                <a:ext cx="6629400" cy="10541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5" name="Group 14">
                <a:extLst>
                  <a:ext uri="{FF2B5EF4-FFF2-40B4-BE49-F238E27FC236}">
                    <a16:creationId xmlns:a16="http://schemas.microsoft.com/office/drawing/2014/main" xmlns="" id="{52CAC72B-A484-3C45-99D6-2C0EDF5F5FB8}"/>
                  </a:ext>
                </a:extLst>
              </p:cNvPr>
              <p:cNvGrpSpPr/>
              <p:nvPr/>
            </p:nvGrpSpPr>
            <p:grpSpPr>
              <a:xfrm>
                <a:off x="2031300" y="2687716"/>
                <a:ext cx="6629400" cy="1619312"/>
                <a:chOff x="2031300" y="2687565"/>
                <a:chExt cx="6629400" cy="1619537"/>
              </a:xfrm>
            </p:grpSpPr>
            <p:sp>
              <p:nvSpPr>
                <p:cNvPr id="16" name="Rectangle 15">
                  <a:extLst>
                    <a:ext uri="{FF2B5EF4-FFF2-40B4-BE49-F238E27FC236}">
                      <a16:creationId xmlns:a16="http://schemas.microsoft.com/office/drawing/2014/main" xmlns="" id="{4DDB0649-C93D-8446-864A-E1F5E90478B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7" name="Group 16">
                  <a:extLst>
                    <a:ext uri="{FF2B5EF4-FFF2-40B4-BE49-F238E27FC236}">
                      <a16:creationId xmlns:a16="http://schemas.microsoft.com/office/drawing/2014/main" xmlns="" id="{C14D7D20-756F-A54A-BD5F-A4FA2B2FDD0F}"/>
                    </a:ext>
                  </a:extLst>
                </p:cNvPr>
                <p:cNvGrpSpPr/>
                <p:nvPr/>
              </p:nvGrpSpPr>
              <p:grpSpPr>
                <a:xfrm>
                  <a:off x="2031300" y="2687565"/>
                  <a:ext cx="6629400" cy="1619537"/>
                  <a:chOff x="2031300" y="2687565"/>
                  <a:chExt cx="6629400" cy="1619537"/>
                </a:xfrm>
              </p:grpSpPr>
              <p:sp>
                <p:nvSpPr>
                  <p:cNvPr id="18" name="Rectangle 17">
                    <a:extLst>
                      <a:ext uri="{FF2B5EF4-FFF2-40B4-BE49-F238E27FC236}">
                        <a16:creationId xmlns:a16="http://schemas.microsoft.com/office/drawing/2014/main" xmlns="" id="{01038CF2-BE17-7242-BBCC-383FEE9393A4}"/>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9" name="Group 18">
                    <a:extLst>
                      <a:ext uri="{FF2B5EF4-FFF2-40B4-BE49-F238E27FC236}">
                        <a16:creationId xmlns:a16="http://schemas.microsoft.com/office/drawing/2014/main" xmlns="" id="{3BEB52DC-2F95-7E4A-9D7C-77D5746982F8}"/>
                      </a:ext>
                    </a:extLst>
                  </p:cNvPr>
                  <p:cNvGrpSpPr/>
                  <p:nvPr/>
                </p:nvGrpSpPr>
                <p:grpSpPr>
                  <a:xfrm>
                    <a:off x="2031300" y="2687565"/>
                    <a:ext cx="6629400" cy="1619537"/>
                    <a:chOff x="2031300" y="2687565"/>
                    <a:chExt cx="6629400" cy="1619537"/>
                  </a:xfrm>
                </p:grpSpPr>
                <p:sp>
                  <p:nvSpPr>
                    <p:cNvPr id="20" name="Rectangle 19">
                      <a:extLst>
                        <a:ext uri="{FF2B5EF4-FFF2-40B4-BE49-F238E27FC236}">
                          <a16:creationId xmlns:a16="http://schemas.microsoft.com/office/drawing/2014/main" xmlns="" id="{A81C4B90-6EEE-D045-86BA-6B87A7E062CF}"/>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1" name="Group 20">
                      <a:extLst>
                        <a:ext uri="{FF2B5EF4-FFF2-40B4-BE49-F238E27FC236}">
                          <a16:creationId xmlns:a16="http://schemas.microsoft.com/office/drawing/2014/main" xmlns="" id="{41B90BC0-86A1-8840-A34B-D1BF475D15A7}"/>
                        </a:ext>
                      </a:extLst>
                    </p:cNvPr>
                    <p:cNvGrpSpPr/>
                    <p:nvPr/>
                  </p:nvGrpSpPr>
                  <p:grpSpPr>
                    <a:xfrm>
                      <a:off x="2031300" y="2687565"/>
                      <a:ext cx="6629400" cy="1619537"/>
                      <a:chOff x="2031300" y="2687565"/>
                      <a:chExt cx="6629400" cy="1619537"/>
                    </a:xfrm>
                  </p:grpSpPr>
                  <p:sp>
                    <p:nvSpPr>
                      <p:cNvPr id="22" name="Rectangle 21">
                        <a:extLst>
                          <a:ext uri="{FF2B5EF4-FFF2-40B4-BE49-F238E27FC236}">
                            <a16:creationId xmlns:a16="http://schemas.microsoft.com/office/drawing/2014/main" xmlns="" id="{5E6CE3B4-24A7-964E-9715-210A6CBE0225}"/>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3" name="Group 22">
                        <a:extLst>
                          <a:ext uri="{FF2B5EF4-FFF2-40B4-BE49-F238E27FC236}">
                            <a16:creationId xmlns:a16="http://schemas.microsoft.com/office/drawing/2014/main" xmlns="" id="{DD27F505-252F-2643-9BFD-6941D20D8F34}"/>
                          </a:ext>
                        </a:extLst>
                      </p:cNvPr>
                      <p:cNvGrpSpPr/>
                      <p:nvPr/>
                    </p:nvGrpSpPr>
                    <p:grpSpPr>
                      <a:xfrm>
                        <a:off x="2031300" y="2687565"/>
                        <a:ext cx="6629400" cy="1619537"/>
                        <a:chOff x="2031300" y="2687565"/>
                        <a:chExt cx="6629400" cy="1619537"/>
                      </a:xfrm>
                    </p:grpSpPr>
                    <p:sp>
                      <p:nvSpPr>
                        <p:cNvPr id="24" name="Rectangle 23">
                          <a:extLst>
                            <a:ext uri="{FF2B5EF4-FFF2-40B4-BE49-F238E27FC236}">
                              <a16:creationId xmlns:a16="http://schemas.microsoft.com/office/drawing/2014/main" xmlns="" id="{D39CEF85-0A0A-7047-B55F-165092DEAB3E}"/>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5" name="Group 24">
                          <a:extLst>
                            <a:ext uri="{FF2B5EF4-FFF2-40B4-BE49-F238E27FC236}">
                              <a16:creationId xmlns:a16="http://schemas.microsoft.com/office/drawing/2014/main" xmlns="" id="{491C741E-6BEC-A94E-89E6-2D15B78CB9BB}"/>
                            </a:ext>
                          </a:extLst>
                        </p:cNvPr>
                        <p:cNvGrpSpPr/>
                        <p:nvPr/>
                      </p:nvGrpSpPr>
                      <p:grpSpPr>
                        <a:xfrm>
                          <a:off x="2031300" y="2687565"/>
                          <a:ext cx="6629400" cy="1619536"/>
                          <a:chOff x="2031300" y="2707067"/>
                          <a:chExt cx="6629400" cy="1590621"/>
                        </a:xfrm>
                      </p:grpSpPr>
                      <p:sp>
                        <p:nvSpPr>
                          <p:cNvPr id="26" name="Rectangle 25">
                            <a:extLst>
                              <a:ext uri="{FF2B5EF4-FFF2-40B4-BE49-F238E27FC236}">
                                <a16:creationId xmlns:a16="http://schemas.microsoft.com/office/drawing/2014/main" xmlns="" id="{59A482A7-F64A-5A4D-9114-BA3F8519DC37}"/>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7" name="Group 26">
                            <a:extLst>
                              <a:ext uri="{FF2B5EF4-FFF2-40B4-BE49-F238E27FC236}">
                                <a16:creationId xmlns:a16="http://schemas.microsoft.com/office/drawing/2014/main" xmlns="" id="{48A73063-9E22-7144-AA63-B7F3379F4A03}"/>
                              </a:ext>
                            </a:extLst>
                          </p:cNvPr>
                          <p:cNvGrpSpPr/>
                          <p:nvPr/>
                        </p:nvGrpSpPr>
                        <p:grpSpPr>
                          <a:xfrm>
                            <a:off x="2031300" y="2707067"/>
                            <a:ext cx="6629400" cy="1590621"/>
                            <a:chOff x="2031300" y="2818379"/>
                            <a:chExt cx="6629400" cy="1590621"/>
                          </a:xfrm>
                        </p:grpSpPr>
                        <p:sp>
                          <p:nvSpPr>
                            <p:cNvPr id="28" name="Rectangle 27">
                              <a:extLst>
                                <a:ext uri="{FF2B5EF4-FFF2-40B4-BE49-F238E27FC236}">
                                  <a16:creationId xmlns:a16="http://schemas.microsoft.com/office/drawing/2014/main" xmlns="" id="{019DCAA3-9DEE-704C-ACE1-57C4391D420A}"/>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9" name="Group 28">
                              <a:extLst>
                                <a:ext uri="{FF2B5EF4-FFF2-40B4-BE49-F238E27FC236}">
                                  <a16:creationId xmlns:a16="http://schemas.microsoft.com/office/drawing/2014/main" xmlns="" id="{7F5977D5-AD46-6A4E-B6CF-E8A32F52A94C}"/>
                                </a:ext>
                              </a:extLst>
                            </p:cNvPr>
                            <p:cNvGrpSpPr/>
                            <p:nvPr/>
                          </p:nvGrpSpPr>
                          <p:grpSpPr>
                            <a:xfrm>
                              <a:off x="2031300" y="2818379"/>
                              <a:ext cx="6629400" cy="1368021"/>
                              <a:chOff x="2031300" y="2818379"/>
                              <a:chExt cx="6629400" cy="1368021"/>
                            </a:xfrm>
                          </p:grpSpPr>
                          <p:sp>
                            <p:nvSpPr>
                              <p:cNvPr id="30" name="Rectangle 29">
                                <a:extLst>
                                  <a:ext uri="{FF2B5EF4-FFF2-40B4-BE49-F238E27FC236}">
                                    <a16:creationId xmlns:a16="http://schemas.microsoft.com/office/drawing/2014/main" xmlns="" id="{B392C914-44CD-6B44-A281-A432E7D2B6A8}"/>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1" name="Group 30">
                                <a:extLst>
                                  <a:ext uri="{FF2B5EF4-FFF2-40B4-BE49-F238E27FC236}">
                                    <a16:creationId xmlns:a16="http://schemas.microsoft.com/office/drawing/2014/main" xmlns="" id="{3E9C2903-3C4F-EE4A-8C5E-FC37E32D0F3A}"/>
                                  </a:ext>
                                </a:extLst>
                              </p:cNvPr>
                              <p:cNvGrpSpPr/>
                              <p:nvPr/>
                            </p:nvGrpSpPr>
                            <p:grpSpPr>
                              <a:xfrm>
                                <a:off x="2031300" y="2818379"/>
                                <a:ext cx="6629400" cy="1368021"/>
                                <a:chOff x="0" y="-555221"/>
                                <a:chExt cx="6629400" cy="1368021"/>
                              </a:xfrm>
                            </p:grpSpPr>
                            <p:sp>
                              <p:nvSpPr>
                                <p:cNvPr id="32" name="Rectangle 31">
                                  <a:extLst>
                                    <a:ext uri="{FF2B5EF4-FFF2-40B4-BE49-F238E27FC236}">
                                      <a16:creationId xmlns:a16="http://schemas.microsoft.com/office/drawing/2014/main" xmlns="" id="{B5968652-676C-2541-B276-BC9EF35907D7}"/>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33" name="Rounded Rectangle 32">
                                  <a:extLst>
                                    <a:ext uri="{FF2B5EF4-FFF2-40B4-BE49-F238E27FC236}">
                                      <a16:creationId xmlns:a16="http://schemas.microsoft.com/office/drawing/2014/main" xmlns="" id="{DF324160-BC9F-C042-8CF9-6A61088278F7}"/>
                                    </a:ext>
                                  </a:extLst>
                                </p:cNvPr>
                                <p:cNvSpPr/>
                                <p:nvPr/>
                              </p:nvSpPr>
                              <p:spPr>
                                <a:xfrm>
                                  <a:off x="0" y="-555221"/>
                                  <a:ext cx="6629400" cy="1295651"/>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2286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Two angles that share a side and vertex and do not overlap are called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adjacent angles</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dirty="0">
                                    <a:latin typeface="Times New Roman" panose="02020603050405020304" pitchFamily="18" charset="0"/>
                                    <a:ea typeface="Times New Roman" panose="02020603050405020304" pitchFamily="18" charset="0"/>
                                  </a:endParaRPr>
                                </a:p>
                              </p:txBody>
                            </p:sp>
                          </p:grpSp>
                        </p:grpSp>
                      </p:grpSp>
                    </p:grpSp>
                  </p:grpSp>
                </p:grpSp>
              </p:grpSp>
            </p:grpSp>
          </p:grpSp>
        </p:grpSp>
      </p:grpSp>
      <p:pic>
        <p:nvPicPr>
          <p:cNvPr id="5" name="Picture 4" descr="Chart, line chart&#10;&#10;Description automatically generated">
            <a:extLst>
              <a:ext uri="{FF2B5EF4-FFF2-40B4-BE49-F238E27FC236}">
                <a16:creationId xmlns:a16="http://schemas.microsoft.com/office/drawing/2014/main" xmlns="" id="{D71CC945-B1D7-5D4A-A96A-204AFA5B273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45183" y="4046944"/>
            <a:ext cx="4222694" cy="2327259"/>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5964" y="383746"/>
                <a:ext cx="10800000" cy="512306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𝑌</m:t>
                    </m:r>
                  </m:oMath>
                </a14:m>
                <a:r>
                  <a:rPr lang="en-US" sz="2400" dirty="0">
                    <a:latin typeface="Verdana" panose="020B0604030504040204" pitchFamily="34" charset="0"/>
                    <a:ea typeface="Verdana" panose="020B0604030504040204" pitchFamily="34" charset="0"/>
                    <a:cs typeface="Verdana" panose="020B0604030504040204" pitchFamily="34" charset="0"/>
                  </a:rPr>
                  <a:t> is the common vertex.</a:t>
                </a:r>
              </a:p>
              <a:p>
                <a:r>
                  <a:rPr lang="en-US" sz="2400" dirty="0">
                    <a:latin typeface="Verdana" panose="020B0604030504040204" pitchFamily="34" charset="0"/>
                    <a:ea typeface="Verdana" panose="020B0604030504040204" pitchFamily="34" charset="0"/>
                    <a:cs typeface="Verdana" panose="020B0604030504040204" pitchFamily="34" charset="0"/>
                  </a:rPr>
                  <a:t>Ray </a:t>
                </a:r>
                <a14:m>
                  <m:oMath xmlns:m="http://schemas.openxmlformats.org/officeDocument/2006/math">
                    <m:acc>
                      <m:accPr>
                        <m:chr m:val="⃗"/>
                        <m:ctrlPr>
                          <a:rPr lang="en-US" sz="2400" i="1">
                            <a:latin typeface="Cambria Math"/>
                          </a:rPr>
                        </m:ctrlPr>
                      </m:accPr>
                      <m:e>
                        <m:r>
                          <a:rPr lang="en-US" sz="2400" i="1">
                            <a:latin typeface="Cambria Math" panose="02040503050406030204" pitchFamily="18" charset="0"/>
                          </a:rPr>
                          <m:t>𝑌𝑀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 is the common side that both angles share.</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measure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𝑉𝑌𝑀</m:t>
                    </m:r>
                    <m:r>
                      <a:rPr lang="en-U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68° </m:t>
                    </m:r>
                  </m:oMath>
                </a14:m>
                <a:r>
                  <a:rPr lang="en-US" sz="2400" dirty="0">
                    <a:latin typeface="Verdana" panose="020B0604030504040204" pitchFamily="34" charset="0"/>
                    <a:ea typeface="Verdana" panose="020B0604030504040204" pitchFamily="34" charset="0"/>
                    <a:cs typeface="Verdana" panose="020B0604030504040204" pitchFamily="34" charset="0"/>
                  </a:rPr>
                  <a:t>and the measure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𝑀𝑌𝐿</m:t>
                    </m:r>
                    <m:r>
                      <a:rPr lang="en-U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41°.</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3" indent="-455613">
                  <a:lnSpc>
                    <a:spcPct val="150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measure of ∠𝑉𝑌𝐿?</a:t>
                </a:r>
              </a:p>
              <a:p>
                <a:pPr marL="922338" lvl="3"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3"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3"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3"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lvl="3"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you know the measure of ∠𝑉𝑌𝐿 from the definition of adjacent angles and the given information.</a:t>
                </a:r>
              </a:p>
              <a:p>
                <a:pPr marL="466725" lvl="3"/>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964" y="383746"/>
                <a:ext cx="10800000" cy="5123069"/>
              </a:xfrm>
              <a:prstGeom prst="rect">
                <a:avLst/>
              </a:prstGeom>
              <a:blipFill rotWithShape="1">
                <a:blip r:embed="rId4"/>
                <a:stretch>
                  <a:fillRect l="-903" t="-1071"/>
                </a:stretch>
              </a:blipFill>
            </p:spPr>
            <p:txBody>
              <a:bodyPr/>
              <a:lstStyle/>
              <a:p>
                <a:r>
                  <a:rPr lang="en-PH">
                    <a:noFill/>
                  </a:rPr>
                  <a:t> </a:t>
                </a:r>
              </a:p>
            </p:txBody>
          </p:sp>
        </mc:Fallback>
      </mc:AlternateContent>
    </p:spTree>
    <p:extLst>
      <p:ext uri="{BB962C8B-B14F-4D97-AF65-F5344CB8AC3E}">
        <p14:creationId xmlns:p14="http://schemas.microsoft.com/office/powerpoint/2010/main" val="419499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28790" y="381048"/>
                <a:ext cx="10689663" cy="452431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Line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𝐷𝑁</m:t>
                    </m:r>
                  </m:oMath>
                </a14:m>
                <a:r>
                  <a:rPr lang="en-US" sz="2400" dirty="0">
                    <a:latin typeface="Verdana" panose="020B0604030504040204" pitchFamily="34" charset="0"/>
                    <a:ea typeface="Verdana" panose="020B0604030504040204" pitchFamily="34" charset="0"/>
                    <a:cs typeface="Verdana" panose="020B0604030504040204" pitchFamily="34" charset="0"/>
                  </a:rPr>
                  <a:t>, ray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𝑋𝐶</m:t>
                    </m:r>
                  </m:oMath>
                </a14:m>
                <a:r>
                  <a:rPr lang="en-US" sz="2400" dirty="0">
                    <a:latin typeface="Verdana" panose="020B0604030504040204" pitchFamily="34" charset="0"/>
                    <a:ea typeface="Verdana" panose="020B0604030504040204" pitchFamily="34" charset="0"/>
                    <a:cs typeface="Verdana" panose="020B0604030504040204" pitchFamily="34" charset="0"/>
                  </a:rPr>
                  <a:t>, and ray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𝑋𝑊</m:t>
                    </m:r>
                  </m:oMath>
                </a14:m>
                <a:r>
                  <a:rPr lang="en-US" sz="2400" dirty="0">
                    <a:latin typeface="Verdana" panose="020B0604030504040204" pitchFamily="34" charset="0"/>
                    <a:ea typeface="Verdana" panose="020B0604030504040204" pitchFamily="34" charset="0"/>
                    <a:cs typeface="Verdana" panose="020B0604030504040204" pitchFamily="34" charset="0"/>
                  </a:rPr>
                  <a:t> intersect to form angles, as shown.</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28790" y="381048"/>
                <a:ext cx="10689663" cy="4524315"/>
              </a:xfrm>
              <a:prstGeom prst="rect">
                <a:avLst/>
              </a:prstGeom>
              <a:blipFill rotWithShape="1">
                <a:blip r:embed="rId4"/>
                <a:stretch>
                  <a:fillRect l="-913" t="-1213"/>
                </a:stretch>
              </a:blipFill>
            </p:spPr>
            <p:txBody>
              <a:bodyPr/>
              <a:lstStyle/>
              <a:p>
                <a:r>
                  <a:rPr lang="en-PH">
                    <a:noFill/>
                  </a:rPr>
                  <a:t> </a:t>
                </a:r>
              </a:p>
            </p:txBody>
          </p:sp>
        </mc:Fallback>
      </mc:AlternateContent>
      <p:pic>
        <p:nvPicPr>
          <p:cNvPr id="5" name="Picture 4" descr="A picture containing antenna, line&#10;&#10;Description automatically generated">
            <a:extLst>
              <a:ext uri="{FF2B5EF4-FFF2-40B4-BE49-F238E27FC236}">
                <a16:creationId xmlns:a16="http://schemas.microsoft.com/office/drawing/2014/main" xmlns="" id="{B1772E49-B14E-7E43-9366-15C0CE5982DB}"/>
              </a:ext>
            </a:extLst>
          </p:cNvPr>
          <p:cNvPicPr>
            <a:picLocks noChangeAspect="1"/>
          </p:cNvPicPr>
          <p:nvPr/>
        </p:nvPicPr>
        <p:blipFill>
          <a:blip r:embed="rId5"/>
          <a:stretch>
            <a:fillRect/>
          </a:stretch>
        </p:blipFill>
        <p:spPr>
          <a:xfrm>
            <a:off x="2578174" y="1073245"/>
            <a:ext cx="6485238" cy="4222096"/>
          </a:xfrm>
          <a:prstGeom prst="rect">
            <a:avLst/>
          </a:prstGeom>
        </p:spPr>
      </p:pic>
    </p:spTree>
    <p:extLst>
      <p:ext uri="{BB962C8B-B14F-4D97-AF65-F5344CB8AC3E}">
        <p14:creationId xmlns:p14="http://schemas.microsoft.com/office/powerpoint/2010/main" val="3126418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268</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3920" y="389140"/>
            <a:ext cx="11224162" cy="830997"/>
          </a:xfrm>
          <a:prstGeom prst="rect">
            <a:avLst/>
          </a:prstGeom>
          <a:noFill/>
        </p:spPr>
        <p:txBody>
          <a:bodyPr wrap="square" rtlCol="0">
            <a:spAutoFit/>
          </a:bodyPr>
          <a:lstStyle/>
          <a:p>
            <a:pPr marL="466725"/>
            <a:r>
              <a:rPr lang="en-US" sz="2400" dirty="0">
                <a:latin typeface="Verdana" panose="020B0604030504040204" pitchFamily="34" charset="0"/>
                <a:ea typeface="Verdana" panose="020B0604030504040204" pitchFamily="34" charset="0"/>
                <a:cs typeface="Verdana" panose="020B0604030504040204" pitchFamily="34" charset="0"/>
              </a:rPr>
              <a:t>Complete the table to identify whether each pair of angles given are adjacent angles.</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B7899459-B414-0E4D-A4A2-87836EF6130F}"/>
                  </a:ext>
                </a:extLst>
              </p:cNvPr>
              <p:cNvGraphicFramePr>
                <a:graphicFrameLocks noGrp="1"/>
              </p:cNvGraphicFramePr>
              <p:nvPr>
                <p:extLst>
                  <p:ext uri="{D42A27DB-BD31-4B8C-83A1-F6EECF244321}">
                    <p14:modId xmlns:p14="http://schemas.microsoft.com/office/powerpoint/2010/main" val="1738784612"/>
                  </p:ext>
                </p:extLst>
              </p:nvPr>
            </p:nvGraphicFramePr>
            <p:xfrm>
              <a:off x="3321500" y="1574460"/>
              <a:ext cx="6170439" cy="4351339"/>
            </p:xfrm>
            <a:graphic>
              <a:graphicData uri="http://schemas.openxmlformats.org/drawingml/2006/table">
                <a:tbl>
                  <a:tblPr firstRow="1" firstCol="1" bandRow="1">
                    <a:tableStyleId>{A91F0D33-8C57-4600-99A7-42BC86742BE1}</a:tableStyleId>
                  </a:tblPr>
                  <a:tblGrid>
                    <a:gridCol w="3050771">
                      <a:extLst>
                        <a:ext uri="{9D8B030D-6E8A-4147-A177-3AD203B41FA5}">
                          <a16:colId xmlns:a16="http://schemas.microsoft.com/office/drawing/2014/main" xmlns="" val="2851470668"/>
                        </a:ext>
                      </a:extLst>
                    </a:gridCol>
                    <a:gridCol w="3119668">
                      <a:extLst>
                        <a:ext uri="{9D8B030D-6E8A-4147-A177-3AD203B41FA5}">
                          <a16:colId xmlns:a16="http://schemas.microsoft.com/office/drawing/2014/main" xmlns="" val="2148998389"/>
                        </a:ext>
                      </a:extLst>
                    </a:gridCol>
                  </a:tblGrid>
                  <a:tr h="435134">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Angle Pair</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Angle Relationship</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2759760635"/>
                      </a:ext>
                    </a:extLst>
                  </a:tr>
                  <a:tr h="783241">
                    <a:tc>
                      <a:txBody>
                        <a:bodyPr/>
                        <a:lstStyle/>
                        <a:p>
                          <a:pPr marL="0" marR="0" algn="ctr">
                            <a:lnSpc>
                              <a:spcPct val="115000"/>
                            </a:lnSpc>
                            <a:spcBef>
                              <a:spcPts val="0"/>
                            </a:spcBef>
                            <a:spcAft>
                              <a:spcPts val="0"/>
                            </a:spcAft>
                          </a:pPr>
                          <a14:m>
                            <m:oMath xmlns:m="http://schemas.openxmlformats.org/officeDocument/2006/math">
                              <m:r>
                                <a:rPr lang="en-US" sz="2000" i="1" dirty="0" smtClean="0">
                                  <a:effectLst/>
                                  <a:latin typeface="Cambria Math" panose="02040503050406030204" pitchFamily="18" charset="0"/>
                                </a:rPr>
                                <m:t>∠</m:t>
                              </m:r>
                              <m:r>
                                <a:rPr lang="en-US" sz="2000" i="1" dirty="0" smtClean="0">
                                  <a:effectLst/>
                                  <a:latin typeface="Cambria Math" panose="02040503050406030204" pitchFamily="18" charset="0"/>
                                </a:rPr>
                                <m:t>𝐶𝑋𝐷</m:t>
                              </m:r>
                              <m:r>
                                <a:rPr lang="en-US" sz="2000" i="1" dirty="0" smtClean="0">
                                  <a:effectLst/>
                                  <a:latin typeface="Cambria Math" panose="02040503050406030204" pitchFamily="18" charset="0"/>
                                  <a:ea typeface="Verdana" panose="020B0604030504040204" pitchFamily="34" charset="0"/>
                                  <a:cs typeface="Verdana" panose="020B0604030504040204" pitchFamily="34" charset="0"/>
                                </a:rPr>
                                <m:t>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𝐶𝑋𝑊</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30673816"/>
                      </a:ext>
                    </a:extLst>
                  </a:tr>
                  <a:tr h="783241">
                    <a:tc>
                      <a:txBody>
                        <a:bodyPr/>
                        <a:lstStyle/>
                        <a:p>
                          <a:pPr marL="0" marR="0" algn="ctr">
                            <a:lnSpc>
                              <a:spcPct val="115000"/>
                            </a:lnSpc>
                            <a:spcBef>
                              <a:spcPts val="0"/>
                            </a:spcBef>
                            <a:spcAft>
                              <a:spcPts val="0"/>
                            </a:spcAft>
                          </a:pP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𝐶𝑋𝑊</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𝐷𝑋𝑊</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81654963"/>
                      </a:ext>
                    </a:extLst>
                  </a:tr>
                  <a:tr h="783241">
                    <a:tc>
                      <a:txBody>
                        <a:bodyPr/>
                        <a:lstStyle/>
                        <a:p>
                          <a:pPr marL="0" marR="0" algn="ctr">
                            <a:lnSpc>
                              <a:spcPct val="115000"/>
                            </a:lnSpc>
                            <a:spcBef>
                              <a:spcPts val="0"/>
                            </a:spcBef>
                            <a:spcAft>
                              <a:spcPts val="0"/>
                            </a:spcAft>
                          </a:pP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𝐷𝑋𝑊</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𝑊𝑋𝑁</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93271509"/>
                      </a:ext>
                    </a:extLst>
                  </a:tr>
                  <a:tr h="783241">
                    <a:tc>
                      <a:txBody>
                        <a:bodyPr/>
                        <a:lstStyle/>
                        <a:p>
                          <a:pPr marL="0" marR="0" algn="ctr">
                            <a:lnSpc>
                              <a:spcPct val="115000"/>
                            </a:lnSpc>
                            <a:spcBef>
                              <a:spcPts val="0"/>
                            </a:spcBef>
                            <a:spcAft>
                              <a:spcPts val="0"/>
                            </a:spcAft>
                          </a:pP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𝑁𝑋𝐶</m:t>
                              </m:r>
                            </m:oMath>
                          </a14:m>
                          <a:r>
                            <a:rPr lang="en-US" sz="200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𝐷𝑋𝐶</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06983724"/>
                      </a:ext>
                    </a:extLst>
                  </a:tr>
                  <a:tr h="783241">
                    <a:tc>
                      <a:txBody>
                        <a:bodyPr/>
                        <a:lstStyle/>
                        <a:p>
                          <a:pPr marL="0" marR="0" algn="ctr">
                            <a:lnSpc>
                              <a:spcPct val="115000"/>
                            </a:lnSpc>
                            <a:spcBef>
                              <a:spcPts val="0"/>
                            </a:spcBef>
                            <a:spcAft>
                              <a:spcPts val="0"/>
                            </a:spcAft>
                          </a:pP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𝐷𝑋𝐶</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rPr>
                                <m:t>∠</m:t>
                              </m:r>
                              <m:r>
                                <a:rPr lang="en-US" sz="2000">
                                  <a:effectLst/>
                                  <a:latin typeface="Cambria Math" panose="02040503050406030204" pitchFamily="18" charset="0"/>
                                </a:rPr>
                                <m:t>𝑁𝑋𝑊</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42875418"/>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B7899459-B414-0E4D-A4A2-87836EF6130F}"/>
                  </a:ext>
                </a:extLst>
              </p:cNvPr>
              <p:cNvGraphicFramePr>
                <a:graphicFrameLocks noGrp="1"/>
              </p:cNvGraphicFramePr>
              <p:nvPr>
                <p:extLst>
                  <p:ext uri="{D42A27DB-BD31-4B8C-83A1-F6EECF244321}">
                    <p14:modId xmlns:p14="http://schemas.microsoft.com/office/powerpoint/2010/main" val="1738784612"/>
                  </p:ext>
                </p:extLst>
              </p:nvPr>
            </p:nvGraphicFramePr>
            <p:xfrm>
              <a:off x="3321500" y="1574460"/>
              <a:ext cx="6170439" cy="4351339"/>
            </p:xfrm>
            <a:graphic>
              <a:graphicData uri="http://schemas.openxmlformats.org/drawingml/2006/table">
                <a:tbl>
                  <a:tblPr firstRow="1" firstCol="1" bandRow="1">
                    <a:tableStyleId>{A91F0D33-8C57-4600-99A7-42BC86742BE1}</a:tableStyleId>
                  </a:tblPr>
                  <a:tblGrid>
                    <a:gridCol w="3050771">
                      <a:extLst>
                        <a:ext uri="{9D8B030D-6E8A-4147-A177-3AD203B41FA5}">
                          <a16:colId xmlns:a16="http://schemas.microsoft.com/office/drawing/2014/main" xmlns:a14="http://schemas.microsoft.com/office/drawing/2010/main" xmlns="" val="2851470668"/>
                        </a:ext>
                      </a:extLst>
                    </a:gridCol>
                    <a:gridCol w="3119668">
                      <a:extLst>
                        <a:ext uri="{9D8B030D-6E8A-4147-A177-3AD203B41FA5}">
                          <a16:colId xmlns:a16="http://schemas.microsoft.com/office/drawing/2014/main" xmlns:a14="http://schemas.microsoft.com/office/drawing/2010/main" xmlns="" val="2148998389"/>
                        </a:ext>
                      </a:extLst>
                    </a:gridCol>
                  </a:tblGrid>
                  <a:tr h="435134">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Angle Pair</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Angle Relationship</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2759760635"/>
                      </a:ext>
                    </a:extLst>
                  </a:tr>
                  <a:tr h="783241">
                    <a:tc>
                      <a:txBody>
                        <a:bodyPr/>
                        <a:lstStyle/>
                        <a:p>
                          <a:endParaRPr lang="en-US"/>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 t="-57364" r="-102600" b="-411628"/>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930673816"/>
                      </a:ext>
                    </a:extLst>
                  </a:tr>
                  <a:tr h="783241">
                    <a:tc>
                      <a:txBody>
                        <a:bodyPr/>
                        <a:lstStyle/>
                        <a:p>
                          <a:endParaRPr lang="en-US"/>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 t="-158594" r="-102600" b="-314844"/>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281654963"/>
                      </a:ext>
                    </a:extLst>
                  </a:tr>
                  <a:tr h="783241">
                    <a:tc>
                      <a:txBody>
                        <a:bodyPr/>
                        <a:lstStyle/>
                        <a:p>
                          <a:endParaRPr lang="en-US"/>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 t="-256589" r="-102600" b="-212403"/>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93271509"/>
                      </a:ext>
                    </a:extLst>
                  </a:tr>
                  <a:tr h="783241">
                    <a:tc>
                      <a:txBody>
                        <a:bodyPr/>
                        <a:lstStyle/>
                        <a:p>
                          <a:endParaRPr lang="en-US"/>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 t="-359375" r="-102600" b="-114063"/>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106983724"/>
                      </a:ext>
                    </a:extLst>
                  </a:tr>
                  <a:tr h="783241">
                    <a:tc>
                      <a:txBody>
                        <a:bodyPr/>
                        <a:lstStyle/>
                        <a:p>
                          <a:endParaRPr lang="en-US"/>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 t="-455814" r="-102600" b="-13178"/>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adjacent angles</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not adjacent angles</a:t>
                          </a:r>
                        </a:p>
                      </a:txBody>
                      <a:tcPr marL="65270" marR="6527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542875418"/>
                      </a:ext>
                    </a:extLst>
                  </a:tr>
                </a:tbl>
              </a:graphicData>
            </a:graphic>
          </p:graphicFrame>
        </mc:Fallback>
      </mc:AlternateContent>
    </p:spTree>
    <p:extLst>
      <p:ext uri="{BB962C8B-B14F-4D97-AF65-F5344CB8AC3E}">
        <p14:creationId xmlns:p14="http://schemas.microsoft.com/office/powerpoint/2010/main" val="124925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48025" y="276615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269</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1164" y="91998"/>
            <a:ext cx="111773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13.1.3 Exploration: Angle Relationships </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269</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6518" y="378721"/>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152D1D4D-DCB8-A246-B186-D40316579D77}"/>
              </a:ext>
            </a:extLst>
          </p:cNvPr>
          <p:cNvSpPr txBox="1"/>
          <p:nvPr/>
        </p:nvSpPr>
        <p:spPr>
          <a:xfrm>
            <a:off x="528558" y="1462088"/>
            <a:ext cx="10703044" cy="415498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Several angle names and measures are given in the bank below.</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6725"/>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table by matching the angle name and measure from the bank to each type of angle shown. Some words and angle measures from the bank will not be used.</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4" name="Picture 3" descr="Table&#10;&#10;Description automatically generated with medium confidence">
            <a:extLst>
              <a:ext uri="{FF2B5EF4-FFF2-40B4-BE49-F238E27FC236}">
                <a16:creationId xmlns:a16="http://schemas.microsoft.com/office/drawing/2014/main" xmlns="" id="{1F806CE0-359F-1245-9BF6-E409D599D157}"/>
              </a:ext>
            </a:extLst>
          </p:cNvPr>
          <p:cNvPicPr>
            <a:picLocks noChangeAspect="1"/>
          </p:cNvPicPr>
          <p:nvPr/>
        </p:nvPicPr>
        <p:blipFill>
          <a:blip r:embed="rId5"/>
          <a:stretch>
            <a:fillRect/>
          </a:stretch>
        </p:blipFill>
        <p:spPr>
          <a:xfrm>
            <a:off x="1932432" y="2062313"/>
            <a:ext cx="8327136" cy="1227076"/>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618803" y="568289"/>
            <a:ext cx="11187374" cy="5632311"/>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Your teacher will give you three rectangular pieces of paper to use for the remainder of the Exploration.</a:t>
            </a:r>
          </a:p>
        </p:txBody>
      </p:sp>
      <p:graphicFrame>
        <p:nvGraphicFramePr>
          <p:cNvPr id="4" name="Table 3">
            <a:extLst>
              <a:ext uri="{FF2B5EF4-FFF2-40B4-BE49-F238E27FC236}">
                <a16:creationId xmlns:a16="http://schemas.microsoft.com/office/drawing/2014/main" xmlns="" id="{4E961163-FAD8-D240-9765-E83B16FE1783}"/>
              </a:ext>
            </a:extLst>
          </p:cNvPr>
          <p:cNvGraphicFramePr>
            <a:graphicFrameLocks noGrp="1"/>
          </p:cNvGraphicFramePr>
          <p:nvPr>
            <p:extLst>
              <p:ext uri="{D42A27DB-BD31-4B8C-83A1-F6EECF244321}">
                <p14:modId xmlns:p14="http://schemas.microsoft.com/office/powerpoint/2010/main" val="1632991029"/>
              </p:ext>
            </p:extLst>
          </p:nvPr>
        </p:nvGraphicFramePr>
        <p:xfrm>
          <a:off x="2652713" y="472497"/>
          <a:ext cx="6886575" cy="4719206"/>
        </p:xfrm>
        <a:graphic>
          <a:graphicData uri="http://schemas.openxmlformats.org/drawingml/2006/table">
            <a:tbl>
              <a:tblPr firstRow="1" firstCol="1" bandRow="1">
                <a:tableStyleId>{A91F0D33-8C57-4600-99A7-42BC86742BE1}</a:tableStyleId>
              </a:tblPr>
              <a:tblGrid>
                <a:gridCol w="2826385">
                  <a:extLst>
                    <a:ext uri="{9D8B030D-6E8A-4147-A177-3AD203B41FA5}">
                      <a16:colId xmlns:a16="http://schemas.microsoft.com/office/drawing/2014/main" xmlns="" val="2635257993"/>
                    </a:ext>
                  </a:extLst>
                </a:gridCol>
                <a:gridCol w="2025650">
                  <a:extLst>
                    <a:ext uri="{9D8B030D-6E8A-4147-A177-3AD203B41FA5}">
                      <a16:colId xmlns:a16="http://schemas.microsoft.com/office/drawing/2014/main" xmlns="" val="1327091524"/>
                    </a:ext>
                  </a:extLst>
                </a:gridCol>
                <a:gridCol w="2034540">
                  <a:extLst>
                    <a:ext uri="{9D8B030D-6E8A-4147-A177-3AD203B41FA5}">
                      <a16:colId xmlns:a16="http://schemas.microsoft.com/office/drawing/2014/main" xmlns="" val="389652622"/>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Image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Angle Name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Angle Measure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957252509"/>
                  </a:ext>
                </a:extLst>
              </a:tr>
              <a:tr h="2016703">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379926"/>
                  </a:ext>
                </a:extLst>
              </a:tr>
              <a:tr h="2092903">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46942635"/>
                  </a:ext>
                </a:extLst>
              </a:tr>
            </a:tbl>
          </a:graphicData>
        </a:graphic>
      </p:graphicFrame>
      <p:pic>
        <p:nvPicPr>
          <p:cNvPr id="6" name="Picture 5" descr="Chart, box and whisker chart&#10;&#10;Description automatically generated">
            <a:extLst>
              <a:ext uri="{FF2B5EF4-FFF2-40B4-BE49-F238E27FC236}">
                <a16:creationId xmlns:a16="http://schemas.microsoft.com/office/drawing/2014/main" xmlns="" id="{773E2FB1-85AA-564B-8A3E-0224499342F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68909" y="1234736"/>
            <a:ext cx="2247900" cy="1705760"/>
          </a:xfrm>
          <a:prstGeom prst="rect">
            <a:avLst/>
          </a:prstGeom>
        </p:spPr>
      </p:pic>
      <p:pic>
        <p:nvPicPr>
          <p:cNvPr id="10" name="Picture 9" descr="A picture containing chart&#10;&#10;Description automatically generated">
            <a:extLst>
              <a:ext uri="{FF2B5EF4-FFF2-40B4-BE49-F238E27FC236}">
                <a16:creationId xmlns:a16="http://schemas.microsoft.com/office/drawing/2014/main" xmlns="" id="{5D89593C-FE9B-9540-A414-7A216E44DC2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65709" y="3844051"/>
            <a:ext cx="2654300" cy="914400"/>
          </a:xfrm>
          <a:prstGeom prst="rect">
            <a:avLst/>
          </a:prstGeom>
        </p:spPr>
      </p:pic>
    </p:spTree>
    <p:extLst>
      <p:ext uri="{BB962C8B-B14F-4D97-AF65-F5344CB8AC3E}">
        <p14:creationId xmlns:p14="http://schemas.microsoft.com/office/powerpoint/2010/main" val="3420116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269</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6543" y="381874"/>
            <a:ext cx="10689663" cy="489364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Use one rectangular piece of paper to complete the following</a:t>
            </a:r>
            <a:r>
              <a:rPr lang="en-US" sz="24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lvl="6"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 small half-circle in the middle of one side, as shown.</a:t>
            </a:r>
          </a:p>
          <a:p>
            <a:pPr marL="922337" lvl="6"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lvl="6"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lvl="6"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lvl="6"/>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7" lvl="6"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Use a straightedge to draw a line starting from the center of the half-circle, all the way across the paper. The line can go in any direction or angle across the paper. Two possible examples are shown.</a:t>
            </a:r>
          </a:p>
          <a:p>
            <a:pPr marL="922337" lvl="6"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A picture containing rectangle&#10;&#10;Description automatically generated">
            <a:extLst>
              <a:ext uri="{FF2B5EF4-FFF2-40B4-BE49-F238E27FC236}">
                <a16:creationId xmlns:a16="http://schemas.microsoft.com/office/drawing/2014/main" xmlns="" id="{DA91EB1C-E77B-404A-A02B-BF9B5639BE41}"/>
              </a:ext>
            </a:extLst>
          </p:cNvPr>
          <p:cNvPicPr>
            <a:picLocks noChangeAspect="1"/>
          </p:cNvPicPr>
          <p:nvPr/>
        </p:nvPicPr>
        <p:blipFill>
          <a:blip r:embed="rId4"/>
          <a:stretch>
            <a:fillRect/>
          </a:stretch>
        </p:blipFill>
        <p:spPr>
          <a:xfrm>
            <a:off x="4934844" y="1646759"/>
            <a:ext cx="1949450" cy="1327035"/>
          </a:xfrm>
          <a:prstGeom prst="rect">
            <a:avLst/>
          </a:prstGeom>
        </p:spPr>
      </p:pic>
      <p:pic>
        <p:nvPicPr>
          <p:cNvPr id="5" name="Picture 4" descr="Shape, rectangle, square&#10;&#10;Description automatically generated">
            <a:extLst>
              <a:ext uri="{FF2B5EF4-FFF2-40B4-BE49-F238E27FC236}">
                <a16:creationId xmlns:a16="http://schemas.microsoft.com/office/drawing/2014/main" xmlns="" id="{FA3AA88F-2E3F-904C-8FCE-2ED6B3BA9548}"/>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1963"/>
          <a:stretch/>
        </p:blipFill>
        <p:spPr>
          <a:xfrm>
            <a:off x="3556574" y="4602684"/>
            <a:ext cx="5078851" cy="1685725"/>
          </a:xfrm>
          <a:prstGeom prst="rect">
            <a:avLst/>
          </a:prstGeom>
        </p:spPr>
      </p:pic>
    </p:spTree>
    <p:extLst>
      <p:ext uri="{BB962C8B-B14F-4D97-AF65-F5344CB8AC3E}">
        <p14:creationId xmlns:p14="http://schemas.microsoft.com/office/powerpoint/2010/main" val="2820094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5870" y="385838"/>
                <a:ext cx="11094777" cy="5262979"/>
              </a:xfrm>
              <a:prstGeom prst="rect">
                <a:avLst/>
              </a:prstGeom>
              <a:noFill/>
            </p:spPr>
            <p:txBody>
              <a:bodyPr wrap="square" rtlCol="0">
                <a:spAutoFit/>
              </a:bodyPr>
              <a:lstStyle/>
              <a:p>
                <a:pPr marL="917575" indent="-45243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Cut your paper along the line you drew.</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On each of the two pieces created, use a protractor to measure the angle that is marked by part of the circle. Then, label the angle measure on the paper.</a:t>
                </a: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Write two observations about the two angles.</a:t>
                </a: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Clare measured the angle on one of her pieces to be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70°. </m:t>
                    </m:r>
                  </m:oMath>
                </a14:m>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to predict the angle measure of her other piece. Then, write your prediction.</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870" y="385838"/>
                <a:ext cx="11094777" cy="5262979"/>
              </a:xfrm>
              <a:prstGeom prst="rect">
                <a:avLst/>
              </a:prstGeom>
              <a:blipFill rotWithShape="1">
                <a:blip r:embed="rId4"/>
                <a:stretch>
                  <a:fillRect t="-926" r="-1099"/>
                </a:stretch>
              </a:blipFill>
            </p:spPr>
            <p:txBody>
              <a:bodyPr/>
              <a:lstStyle/>
              <a:p>
                <a:r>
                  <a:rPr lang="en-PH">
                    <a:noFill/>
                  </a:rPr>
                  <a:t> </a:t>
                </a:r>
              </a:p>
            </p:txBody>
          </p:sp>
        </mc:Fallback>
      </mc:AlternateContent>
    </p:spTree>
    <p:extLst>
      <p:ext uri="{BB962C8B-B14F-4D97-AF65-F5344CB8AC3E}">
        <p14:creationId xmlns:p14="http://schemas.microsoft.com/office/powerpoint/2010/main" val="1265626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270</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1120" y="384581"/>
            <a:ext cx="10999992" cy="4893647"/>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Use a second rectangular piece of paper to complete the following.</a:t>
            </a: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Draw a small quarter-circle in one of the corners.</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a straightedge to draw a line starting from the vertex with the quarter-circle, all the way across the paper. The line can go in any direction or angle across the paper.</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Cut your paper along the line you drew.</a:t>
            </a:r>
          </a:p>
        </p:txBody>
      </p:sp>
      <p:pic>
        <p:nvPicPr>
          <p:cNvPr id="3" name="Picture 2" descr="A picture containing shape&#10;&#10;Description automatically generated">
            <a:extLst>
              <a:ext uri="{FF2B5EF4-FFF2-40B4-BE49-F238E27FC236}">
                <a16:creationId xmlns:a16="http://schemas.microsoft.com/office/drawing/2014/main" xmlns="" id="{B46D3FF4-92EF-6943-A906-56BB2BC0AB6B}"/>
              </a:ext>
            </a:extLst>
          </p:cNvPr>
          <p:cNvPicPr>
            <a:picLocks noChangeAspect="1"/>
          </p:cNvPicPr>
          <p:nvPr/>
        </p:nvPicPr>
        <p:blipFill>
          <a:blip r:embed="rId4"/>
          <a:stretch>
            <a:fillRect/>
          </a:stretch>
        </p:blipFill>
        <p:spPr>
          <a:xfrm>
            <a:off x="4694687" y="1607833"/>
            <a:ext cx="2678333" cy="1708342"/>
          </a:xfrm>
          <a:prstGeom prst="rect">
            <a:avLst/>
          </a:prstGeom>
        </p:spPr>
      </p:pic>
    </p:spTree>
    <p:extLst>
      <p:ext uri="{BB962C8B-B14F-4D97-AF65-F5344CB8AC3E}">
        <p14:creationId xmlns:p14="http://schemas.microsoft.com/office/powerpoint/2010/main" val="2823749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3919" y="384604"/>
                <a:ext cx="10800000" cy="4524315"/>
              </a:xfrm>
              <a:prstGeom prst="rect">
                <a:avLst/>
              </a:prstGeom>
              <a:noFill/>
            </p:spPr>
            <p:txBody>
              <a:bodyPr wrap="square" rtlCol="0">
                <a:spAutoFit/>
              </a:bodyPr>
              <a:lstStyle/>
              <a:p>
                <a:pPr marL="917575" indent="-45243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On each of the two pieces created, use a protractor to measure the angle that is marked by part of the circle. Then, label the angle measure on the paper.</a:t>
                </a: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Add your two angle measures together. What do you notice?</a:t>
                </a: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Priyanka measured the angle of one of her pieces to be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53°. </m:t>
                    </m:r>
                  </m:oMath>
                </a14:m>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to predict the angle measure of her other piece. Then, write your prediction.</a:t>
                </a:r>
              </a:p>
              <a:p>
                <a:pPr marL="4572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3919" y="384604"/>
                <a:ext cx="10800000" cy="4524315"/>
              </a:xfrm>
              <a:prstGeom prst="rect">
                <a:avLst/>
              </a:prstGeom>
              <a:blipFill rotWithShape="1">
                <a:blip r:embed="rId4"/>
                <a:stretch>
                  <a:fillRect t="-1078"/>
                </a:stretch>
              </a:blipFill>
            </p:spPr>
            <p:txBody>
              <a:bodyPr/>
              <a:lstStyle/>
              <a:p>
                <a:r>
                  <a:rPr lang="en-PH">
                    <a:noFill/>
                  </a:rPr>
                  <a:t> </a:t>
                </a:r>
              </a:p>
            </p:txBody>
          </p:sp>
        </mc:Fallback>
      </mc:AlternateContent>
    </p:spTree>
    <p:extLst>
      <p:ext uri="{BB962C8B-B14F-4D97-AF65-F5344CB8AC3E}">
        <p14:creationId xmlns:p14="http://schemas.microsoft.com/office/powerpoint/2010/main" val="2976809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29689" y="385010"/>
                <a:ext cx="11060053" cy="5262979"/>
              </a:xfrm>
              <a:prstGeom prst="rect">
                <a:avLst/>
              </a:prstGeom>
              <a:noFill/>
            </p:spPr>
            <p:txBody>
              <a:bodyPr wrap="square" rtlCol="0">
                <a:spAutoFit/>
              </a:bodyPr>
              <a:lstStyle/>
              <a:p>
                <a:pPr marL="468313"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Use the third rectangular piece of paper to complete the following.</a:t>
                </a:r>
              </a:p>
              <a:p>
                <a:pPr marL="465138" indent="-454025">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Use a straightedge to draw two intersecting lines across the paper. Then, label the angles created with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Three possible examples are shown.</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Cut across the straight lines you drew, creating four separate pieces.</a:t>
                </a:r>
              </a:p>
              <a:p>
                <a:pPr marL="465138" indent="-454025">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29689" y="385010"/>
                <a:ext cx="11060053" cy="5262979"/>
              </a:xfrm>
              <a:prstGeom prst="rect">
                <a:avLst/>
              </a:prstGeom>
              <a:blipFill rotWithShape="1">
                <a:blip r:embed="rId4"/>
                <a:stretch>
                  <a:fillRect l="-772" t="-926"/>
                </a:stretch>
              </a:blipFill>
            </p:spPr>
            <p:txBody>
              <a:bodyPr/>
              <a:lstStyle/>
              <a:p>
                <a:r>
                  <a:rPr lang="en-PH">
                    <a:noFill/>
                  </a:rPr>
                  <a:t> </a:t>
                </a:r>
              </a:p>
            </p:txBody>
          </p:sp>
        </mc:Fallback>
      </mc:AlternateContent>
      <p:pic>
        <p:nvPicPr>
          <p:cNvPr id="5" name="Picture 4" descr="Diagram, shape, polygon&#10;&#10;Description automatically generated">
            <a:extLst>
              <a:ext uri="{FF2B5EF4-FFF2-40B4-BE49-F238E27FC236}">
                <a16:creationId xmlns:a16="http://schemas.microsoft.com/office/drawing/2014/main" xmlns="" id="{29FA99B5-022D-2F44-9BF4-5E6BB0810994}"/>
              </a:ext>
            </a:extLst>
          </p:cNvPr>
          <p:cNvPicPr>
            <a:picLocks noChangeAspect="1"/>
          </p:cNvPicPr>
          <p:nvPr/>
        </p:nvPicPr>
        <p:blipFill>
          <a:blip r:embed="rId5"/>
          <a:stretch>
            <a:fillRect/>
          </a:stretch>
        </p:blipFill>
        <p:spPr>
          <a:xfrm>
            <a:off x="2312634" y="2346321"/>
            <a:ext cx="7620000" cy="2023313"/>
          </a:xfrm>
          <a:prstGeom prst="rect">
            <a:avLst/>
          </a:prstGeom>
        </p:spPr>
      </p:pic>
    </p:spTree>
    <p:extLst>
      <p:ext uri="{BB962C8B-B14F-4D97-AF65-F5344CB8AC3E}">
        <p14:creationId xmlns:p14="http://schemas.microsoft.com/office/powerpoint/2010/main" val="3699218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270</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1195" y="385387"/>
            <a:ext cx="10800000" cy="4893647"/>
          </a:xfrm>
          <a:prstGeom prst="rect">
            <a:avLst/>
          </a:prstGeom>
          <a:noFill/>
        </p:spPr>
        <p:txBody>
          <a:bodyPr wrap="square" rtlCol="0">
            <a:spAutoFit/>
          </a:bodyPr>
          <a:lstStyle/>
          <a:p>
            <a:pPr marL="917575" indent="-45243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Rotate and flip the angles to determine how they compare with each other. This could include laying angles on top of one another to compare their size. Summarize your observations of how the angles compare to each other.</a:t>
            </a: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Compare your findings with your partner. Make a conjecture about the relationship between angle measures when two lines intersect.</a:t>
            </a:r>
          </a:p>
          <a:p>
            <a:pPr marL="4572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59626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4795" y="2766150"/>
            <a:ext cx="7028393"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271</a:t>
            </a:r>
            <a:endParaRPr i="1" dirty="0">
              <a:latin typeface="Calibri"/>
              <a:ea typeface="Calibri"/>
              <a:cs typeface="Calibri"/>
              <a:sym typeface="Calibri"/>
            </a:endParaRPr>
          </a:p>
        </p:txBody>
      </p:sp>
      <p:pic>
        <p:nvPicPr>
          <p:cNvPr id="13314"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57553" y="90775"/>
            <a:ext cx="109344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13.1.4 Bring It Together: </a:t>
            </a:r>
            <a:r>
              <a:rPr lang="en-US" sz="3600" b="1" dirty="0" smtClean="0">
                <a:solidFill>
                  <a:srgbClr val="54B5D1"/>
                </a:solidFill>
                <a:latin typeface="Verdana"/>
                <a:ea typeface="Verdana"/>
                <a:cs typeface="Verdana"/>
                <a:sym typeface="Verdana"/>
              </a:rPr>
              <a:t/>
            </a:r>
            <a:br>
              <a:rPr lang="en-US" sz="3600" b="1" dirty="0" smtClean="0">
                <a:solidFill>
                  <a:srgbClr val="54B5D1"/>
                </a:solidFill>
                <a:latin typeface="Verdana"/>
                <a:ea typeface="Verdana"/>
                <a:cs typeface="Verdana"/>
                <a:sym typeface="Verdana"/>
              </a:rPr>
            </a:br>
            <a:r>
              <a:rPr lang="en-US" sz="3600" b="1" dirty="0" smtClean="0">
                <a:solidFill>
                  <a:srgbClr val="54B5D1"/>
                </a:solidFill>
                <a:latin typeface="Verdana"/>
                <a:ea typeface="Verdana"/>
                <a:cs typeface="Verdana"/>
                <a:sym typeface="Verdana"/>
              </a:rPr>
              <a:t>Angle </a:t>
            </a:r>
            <a:r>
              <a:rPr lang="en-US" sz="3600" b="1" dirty="0">
                <a:solidFill>
                  <a:srgbClr val="54B5D1"/>
                </a:solidFill>
                <a:latin typeface="Verdana"/>
                <a:ea typeface="Verdana"/>
                <a:cs typeface="Verdana"/>
                <a:sym typeface="Verdana"/>
              </a:rPr>
              <a:t>Relationships </a:t>
            </a:r>
          </a:p>
        </p:txBody>
      </p:sp>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271</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xmlns="" id="{669E00F9-F39F-5043-888E-B0A2D8C9AE0F}"/>
              </a:ext>
            </a:extLst>
          </p:cNvPr>
          <p:cNvSpPr txBox="1"/>
          <p:nvPr/>
        </p:nvSpPr>
        <p:spPr>
          <a:xfrm>
            <a:off x="528292" y="1468187"/>
            <a:ext cx="11086232"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Three different angle relationships were explored in the Exploration. Their definitions are shown.</a:t>
            </a:r>
          </a:p>
        </p:txBody>
      </p:sp>
      <p:pic>
        <p:nvPicPr>
          <p:cNvPr id="10" name="Picture 2" descr="Icon&#10;&#10;Description automatically generated">
            <a:extLst>
              <a:ext uri="{FF2B5EF4-FFF2-40B4-BE49-F238E27FC236}">
                <a16:creationId xmlns:a16="http://schemas.microsoft.com/office/drawing/2014/main" xmlns="" id="{364D3CB6-B77F-FF4B-B346-80DF82290AD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6518" y="37872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xmlns="" id="{DD664F68-DDB9-36CD-FBD6-8B30E641BFCB}"/>
              </a:ext>
            </a:extLst>
          </p:cNvPr>
          <p:cNvGrpSpPr/>
          <p:nvPr/>
        </p:nvGrpSpPr>
        <p:grpSpPr>
          <a:xfrm>
            <a:off x="2533650" y="2640672"/>
            <a:ext cx="7124700" cy="4070004"/>
            <a:chOff x="2286001" y="2558577"/>
            <a:chExt cx="7124700" cy="4070004"/>
          </a:xfrm>
        </p:grpSpPr>
        <p:grpSp>
          <p:nvGrpSpPr>
            <p:cNvPr id="13" name="Group 12">
              <a:extLst>
                <a:ext uri="{FF2B5EF4-FFF2-40B4-BE49-F238E27FC236}">
                  <a16:creationId xmlns:a16="http://schemas.microsoft.com/office/drawing/2014/main" xmlns="" id="{333B91D3-0CF4-D64C-AB68-0B6BD55E670E}"/>
                </a:ext>
              </a:extLst>
            </p:cNvPr>
            <p:cNvGrpSpPr/>
            <p:nvPr/>
          </p:nvGrpSpPr>
          <p:grpSpPr>
            <a:xfrm>
              <a:off x="2647454" y="2861944"/>
              <a:ext cx="6763247" cy="1753563"/>
              <a:chOff x="1897453" y="3252877"/>
              <a:chExt cx="6763247" cy="1630045"/>
            </a:xfrm>
            <a:effectLst>
              <a:outerShdw blurRad="50800" dist="38100" dir="2700000" algn="tl" rotWithShape="0">
                <a:prstClr val="black">
                  <a:alpha val="40000"/>
                </a:prstClr>
              </a:outerShdw>
            </a:effectLst>
          </p:grpSpPr>
          <p:grpSp>
            <p:nvGrpSpPr>
              <p:cNvPr id="14" name="Group 13">
                <a:extLst>
                  <a:ext uri="{FF2B5EF4-FFF2-40B4-BE49-F238E27FC236}">
                    <a16:creationId xmlns:a16="http://schemas.microsoft.com/office/drawing/2014/main" xmlns="" id="{EA7B9719-50C3-9842-AE65-739509775A09}"/>
                  </a:ext>
                </a:extLst>
              </p:cNvPr>
              <p:cNvGrpSpPr/>
              <p:nvPr/>
            </p:nvGrpSpPr>
            <p:grpSpPr>
              <a:xfrm>
                <a:off x="1897453" y="3252877"/>
                <a:ext cx="6763247" cy="1630045"/>
                <a:chOff x="1897453" y="3252877"/>
                <a:chExt cx="6763247" cy="1630045"/>
              </a:xfrm>
            </p:grpSpPr>
            <p:sp>
              <p:nvSpPr>
                <p:cNvPr id="15" name="Rectangle 14">
                  <a:extLst>
                    <a:ext uri="{FF2B5EF4-FFF2-40B4-BE49-F238E27FC236}">
                      <a16:creationId xmlns:a16="http://schemas.microsoft.com/office/drawing/2014/main" xmlns="" id="{E6EE552D-3763-744C-84DA-34969BFD1650}"/>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6" name="Group 15">
                  <a:extLst>
                    <a:ext uri="{FF2B5EF4-FFF2-40B4-BE49-F238E27FC236}">
                      <a16:creationId xmlns:a16="http://schemas.microsoft.com/office/drawing/2014/main" xmlns="" id="{4812946B-2915-CC44-8C7A-746982116BF5}"/>
                    </a:ext>
                  </a:extLst>
                </p:cNvPr>
                <p:cNvGrpSpPr/>
                <p:nvPr/>
              </p:nvGrpSpPr>
              <p:grpSpPr>
                <a:xfrm>
                  <a:off x="1897453" y="3252877"/>
                  <a:ext cx="6763247" cy="1630045"/>
                  <a:chOff x="1897453" y="3252877"/>
                  <a:chExt cx="6763247" cy="1630045"/>
                </a:xfrm>
              </p:grpSpPr>
              <p:sp>
                <p:nvSpPr>
                  <p:cNvPr id="17" name="Rectangle 16">
                    <a:extLst>
                      <a:ext uri="{FF2B5EF4-FFF2-40B4-BE49-F238E27FC236}">
                        <a16:creationId xmlns:a16="http://schemas.microsoft.com/office/drawing/2014/main" xmlns="" id="{B6E7DEDF-518D-9B46-AE58-3DF8836C22AC}"/>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18" name="Group 17">
                    <a:extLst>
                      <a:ext uri="{FF2B5EF4-FFF2-40B4-BE49-F238E27FC236}">
                        <a16:creationId xmlns:a16="http://schemas.microsoft.com/office/drawing/2014/main" xmlns="" id="{0693B1D5-7FEE-644F-BEC0-01F9E34E230E}"/>
                      </a:ext>
                    </a:extLst>
                  </p:cNvPr>
                  <p:cNvGrpSpPr/>
                  <p:nvPr/>
                </p:nvGrpSpPr>
                <p:grpSpPr>
                  <a:xfrm>
                    <a:off x="1897453" y="3252877"/>
                    <a:ext cx="6763247" cy="1630045"/>
                    <a:chOff x="1897453" y="3252877"/>
                    <a:chExt cx="6763247" cy="1630045"/>
                  </a:xfrm>
                </p:grpSpPr>
                <p:sp>
                  <p:nvSpPr>
                    <p:cNvPr id="19" name="Rectangle 18">
                      <a:extLst>
                        <a:ext uri="{FF2B5EF4-FFF2-40B4-BE49-F238E27FC236}">
                          <a16:creationId xmlns:a16="http://schemas.microsoft.com/office/drawing/2014/main" xmlns="" id="{C73C175D-9645-1848-8A57-0B3222169EB9}"/>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0" name="Group 19">
                      <a:extLst>
                        <a:ext uri="{FF2B5EF4-FFF2-40B4-BE49-F238E27FC236}">
                          <a16:creationId xmlns:a16="http://schemas.microsoft.com/office/drawing/2014/main" xmlns="" id="{A86C4BA9-769E-B849-956E-1E6103ABE470}"/>
                        </a:ext>
                      </a:extLst>
                    </p:cNvPr>
                    <p:cNvGrpSpPr/>
                    <p:nvPr/>
                  </p:nvGrpSpPr>
                  <p:grpSpPr>
                    <a:xfrm>
                      <a:off x="1897453" y="3252877"/>
                      <a:ext cx="6763247" cy="1630045"/>
                      <a:chOff x="1897453" y="3262288"/>
                      <a:chExt cx="6763247" cy="1600943"/>
                    </a:xfrm>
                  </p:grpSpPr>
                  <p:sp>
                    <p:nvSpPr>
                      <p:cNvPr id="21" name="Rectangle 20">
                        <a:extLst>
                          <a:ext uri="{FF2B5EF4-FFF2-40B4-BE49-F238E27FC236}">
                            <a16:creationId xmlns:a16="http://schemas.microsoft.com/office/drawing/2014/main" xmlns="" id="{AA6706EE-56E4-764C-B7E7-7862BFF5C698}"/>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2" name="Group 21">
                        <a:extLst>
                          <a:ext uri="{FF2B5EF4-FFF2-40B4-BE49-F238E27FC236}">
                            <a16:creationId xmlns:a16="http://schemas.microsoft.com/office/drawing/2014/main" xmlns="" id="{204F89CC-49E4-884A-B3B1-3A2CC3A93E6C}"/>
                          </a:ext>
                        </a:extLst>
                      </p:cNvPr>
                      <p:cNvGrpSpPr/>
                      <p:nvPr/>
                    </p:nvGrpSpPr>
                    <p:grpSpPr>
                      <a:xfrm>
                        <a:off x="1897453" y="3262288"/>
                        <a:ext cx="6763247" cy="1600943"/>
                        <a:chOff x="1897453" y="3373600"/>
                        <a:chExt cx="6763247" cy="1600943"/>
                      </a:xfrm>
                    </p:grpSpPr>
                    <p:sp>
                      <p:nvSpPr>
                        <p:cNvPr id="23" name="Rectangle 22">
                          <a:extLst>
                            <a:ext uri="{FF2B5EF4-FFF2-40B4-BE49-F238E27FC236}">
                              <a16:creationId xmlns:a16="http://schemas.microsoft.com/office/drawing/2014/main" xmlns="" id="{678B6E53-1573-9E40-B9FC-430E9EE4F60D}"/>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4" name="Group 23">
                          <a:extLst>
                            <a:ext uri="{FF2B5EF4-FFF2-40B4-BE49-F238E27FC236}">
                              <a16:creationId xmlns:a16="http://schemas.microsoft.com/office/drawing/2014/main" xmlns="" id="{E543EEC3-AC80-4E47-B69E-4FC3131EEF68}"/>
                            </a:ext>
                          </a:extLst>
                        </p:cNvPr>
                        <p:cNvGrpSpPr/>
                        <p:nvPr/>
                      </p:nvGrpSpPr>
                      <p:grpSpPr>
                        <a:xfrm>
                          <a:off x="1897453" y="3373600"/>
                          <a:ext cx="6763247" cy="1600943"/>
                          <a:chOff x="1897453" y="3373600"/>
                          <a:chExt cx="6763247" cy="1600943"/>
                        </a:xfrm>
                      </p:grpSpPr>
                      <p:sp>
                        <p:nvSpPr>
                          <p:cNvPr id="25" name="Rectangle 24">
                            <a:extLst>
                              <a:ext uri="{FF2B5EF4-FFF2-40B4-BE49-F238E27FC236}">
                                <a16:creationId xmlns:a16="http://schemas.microsoft.com/office/drawing/2014/main" xmlns="" id="{BA5AE875-73DF-1946-A0CE-C44B2AB15E79}"/>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26" name="Group 25">
                            <a:extLst>
                              <a:ext uri="{FF2B5EF4-FFF2-40B4-BE49-F238E27FC236}">
                                <a16:creationId xmlns:a16="http://schemas.microsoft.com/office/drawing/2014/main" xmlns="" id="{3AFE95D1-BD87-7B41-8CFD-372019B8DBC1}"/>
                              </a:ext>
                            </a:extLst>
                          </p:cNvPr>
                          <p:cNvGrpSpPr/>
                          <p:nvPr/>
                        </p:nvGrpSpPr>
                        <p:grpSpPr>
                          <a:xfrm>
                            <a:off x="1897453" y="3373600"/>
                            <a:ext cx="6763247" cy="1600943"/>
                            <a:chOff x="-133847" y="0"/>
                            <a:chExt cx="6763247" cy="1600943"/>
                          </a:xfrm>
                        </p:grpSpPr>
                        <p:sp>
                          <p:nvSpPr>
                            <p:cNvPr id="27" name="Rectangle 26">
                              <a:extLst>
                                <a:ext uri="{FF2B5EF4-FFF2-40B4-BE49-F238E27FC236}">
                                  <a16:creationId xmlns:a16="http://schemas.microsoft.com/office/drawing/2014/main" xmlns="" id="{DAFCB0E8-E314-E04A-8016-D1B10585D63C}"/>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mc:AlternateContent xmlns:mc="http://schemas.openxmlformats.org/markup-compatibility/2006" xmlns:a14="http://schemas.microsoft.com/office/drawing/2010/main">
                          <mc:Choice Requires="a14">
                            <p:sp>
                              <p:nvSpPr>
                                <p:cNvPr id="28" name="Rounded Rectangle 27">
                                  <a:extLst>
                                    <a:ext uri="{FF2B5EF4-FFF2-40B4-BE49-F238E27FC236}">
                                      <a16:creationId xmlns:a16="http://schemas.microsoft.com/office/drawing/2014/main" xmlns="" id="{1A4ECE8E-3D06-AD4D-B7AE-2986B8C77146}"/>
                                    </a:ext>
                                  </a:extLst>
                                </p:cNvPr>
                                <p:cNvSpPr/>
                                <p:nvPr/>
                              </p:nvSpPr>
                              <p:spPr>
                                <a:xfrm>
                                  <a:off x="-133847" y="812801"/>
                                  <a:ext cx="6629400" cy="78814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Two angles with measures that add up to exactly </a:t>
                                  </a:r>
                                  <a14:m>
                                    <m:oMath xmlns:m="http://schemas.openxmlformats.org/officeDocument/2006/math">
                                      <m:sSup>
                                        <m:sSupPr>
                                          <m:ctrlPr>
                                            <a:rPr lang="en-US" sz="1800" i="1">
                                              <a:solidFill>
                                                <a:srgbClr val="6C993D"/>
                                              </a:solidFill>
                                              <a:latin typeface="Cambria Math"/>
                                              <a:ea typeface="Verdana" panose="020B0604030504040204" pitchFamily="34" charset="0"/>
                                              <a:cs typeface="Verdana" panose="020B0604030504040204" pitchFamily="34" charset="0"/>
                                            </a:rPr>
                                          </m:ctrlPr>
                                        </m:sSupPr>
                                        <m:e>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180</m:t>
                                          </m:r>
                                        </m:e>
                                        <m:sup>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m:t>
                                          </m:r>
                                        </m:sup>
                                      </m:sSup>
                                    </m:oMath>
                                  </a14:m>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are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supplementary angles</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1200" dirty="0">
                                    <a:latin typeface="Times New Roman" panose="02020603050405020304" pitchFamily="18" charset="0"/>
                                    <a:ea typeface="Times New Roman" panose="02020603050405020304" pitchFamily="18" charset="0"/>
                                  </a:endParaRPr>
                                </a:p>
                              </p:txBody>
                            </p:sp>
                          </mc:Choice>
                          <mc:Fallback xmlns="">
                            <p:sp>
                              <p:nvSpPr>
                                <p:cNvPr id="28" name="Rounded Rectangle 27">
                                  <a:extLst>
                                    <a:ext uri="{FF2B5EF4-FFF2-40B4-BE49-F238E27FC236}">
                                      <a16:creationId xmlns:a16="http://schemas.microsoft.com/office/drawing/2014/main" id="{1A4ECE8E-3D06-AD4D-B7AE-2986B8C77146}"/>
                                    </a:ext>
                                  </a:extLst>
                                </p:cNvPr>
                                <p:cNvSpPr>
                                  <a:spLocks noRot="1" noChangeAspect="1" noMove="1" noResize="1" noEditPoints="1" noAdjustHandles="1" noChangeArrowheads="1" noChangeShapeType="1" noTextEdit="1"/>
                                </p:cNvSpPr>
                                <p:nvPr/>
                              </p:nvSpPr>
                              <p:spPr>
                                <a:xfrm>
                                  <a:off x="-133847" y="812801"/>
                                  <a:ext cx="6629400" cy="788142"/>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29" name="Shape 17" descr="Icon&#10;&#10;Description automatically generated">
                              <a:extLst>
                                <a:ext uri="{FF2B5EF4-FFF2-40B4-BE49-F238E27FC236}">
                                  <a16:creationId xmlns:a16="http://schemas.microsoft.com/office/drawing/2014/main" xmlns="" id="{A6E0A722-B933-7348-9781-2278F8C384E4}"/>
                                </a:ext>
                              </a:extLst>
                            </p:cNvPr>
                            <p:cNvPicPr preferRelativeResize="0">
                              <a:picLocks/>
                            </p:cNvPicPr>
                            <p:nvPr/>
                          </p:nvPicPr>
                          <p:blipFill rotWithShape="1">
                            <a:blip r:embed="rId6" cstate="screen">
                              <a:alphaModFix/>
                              <a:extLst>
                                <a:ext uri="{28A0092B-C50C-407E-A947-70E740481C1C}">
                                  <a14:useLocalDpi xmlns:a14="http://schemas.microsoft.com/office/drawing/2010/main"/>
                                </a:ext>
                              </a:extLst>
                            </a:blip>
                            <a:srcRect/>
                            <a:stretch/>
                          </p:blipFill>
                          <p:spPr>
                            <a:xfrm>
                              <a:off x="10975" y="960692"/>
                              <a:ext cx="539496" cy="492357"/>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nvGrpSpPr>
            <p:cNvPr id="30" name="Group 29">
              <a:extLst>
                <a:ext uri="{FF2B5EF4-FFF2-40B4-BE49-F238E27FC236}">
                  <a16:creationId xmlns:a16="http://schemas.microsoft.com/office/drawing/2014/main" xmlns="" id="{CBF54C9C-3BD5-1C45-9955-F972EE040665}"/>
                </a:ext>
              </a:extLst>
            </p:cNvPr>
            <p:cNvGrpSpPr/>
            <p:nvPr/>
          </p:nvGrpSpPr>
          <p:grpSpPr>
            <a:xfrm>
              <a:off x="2517937" y="4998095"/>
              <a:ext cx="6758917" cy="1630486"/>
              <a:chOff x="2031300" y="2708208"/>
              <a:chExt cx="6758917" cy="1598894"/>
            </a:xfrm>
            <a:effectLst>
              <a:outerShdw blurRad="50800" dist="38100" dir="2700000" algn="tl" rotWithShape="0">
                <a:prstClr val="black">
                  <a:alpha val="40000"/>
                </a:prstClr>
              </a:outerShdw>
            </a:effectLst>
          </p:grpSpPr>
          <p:grpSp>
            <p:nvGrpSpPr>
              <p:cNvPr id="31" name="Group 30">
                <a:extLst>
                  <a:ext uri="{FF2B5EF4-FFF2-40B4-BE49-F238E27FC236}">
                    <a16:creationId xmlns:a16="http://schemas.microsoft.com/office/drawing/2014/main" xmlns="" id="{6FD93BE8-931E-354C-BBE5-FD734E131D30}"/>
                  </a:ext>
                </a:extLst>
              </p:cNvPr>
              <p:cNvGrpSpPr/>
              <p:nvPr/>
            </p:nvGrpSpPr>
            <p:grpSpPr>
              <a:xfrm>
                <a:off x="2031300" y="2708208"/>
                <a:ext cx="6758917" cy="1598894"/>
                <a:chOff x="2031300" y="2708208"/>
                <a:chExt cx="6758917" cy="1598894"/>
              </a:xfrm>
            </p:grpSpPr>
            <p:sp>
              <p:nvSpPr>
                <p:cNvPr id="32" name="Rectangle 31">
                  <a:extLst>
                    <a:ext uri="{FF2B5EF4-FFF2-40B4-BE49-F238E27FC236}">
                      <a16:creationId xmlns:a16="http://schemas.microsoft.com/office/drawing/2014/main" xmlns="" id="{A4C60F69-2225-C145-BC71-3D8CDFAD8A09}"/>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3" name="Group 32">
                  <a:extLst>
                    <a:ext uri="{FF2B5EF4-FFF2-40B4-BE49-F238E27FC236}">
                      <a16:creationId xmlns:a16="http://schemas.microsoft.com/office/drawing/2014/main" xmlns="" id="{DE88CA1E-17B4-324F-8EFE-2DF819CD7859}"/>
                    </a:ext>
                  </a:extLst>
                </p:cNvPr>
                <p:cNvGrpSpPr/>
                <p:nvPr/>
              </p:nvGrpSpPr>
              <p:grpSpPr>
                <a:xfrm>
                  <a:off x="2031300" y="2708208"/>
                  <a:ext cx="6758917" cy="1598894"/>
                  <a:chOff x="2031300" y="2708208"/>
                  <a:chExt cx="6758917" cy="1598894"/>
                </a:xfrm>
              </p:grpSpPr>
              <p:sp>
                <p:nvSpPr>
                  <p:cNvPr id="34" name="Rectangle 33">
                    <a:extLst>
                      <a:ext uri="{FF2B5EF4-FFF2-40B4-BE49-F238E27FC236}">
                        <a16:creationId xmlns:a16="http://schemas.microsoft.com/office/drawing/2014/main" xmlns="" id="{D9FCAEED-C1B0-CD44-A3D3-2A65C408B610}"/>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5" name="Group 34">
                    <a:extLst>
                      <a:ext uri="{FF2B5EF4-FFF2-40B4-BE49-F238E27FC236}">
                        <a16:creationId xmlns:a16="http://schemas.microsoft.com/office/drawing/2014/main" xmlns="" id="{77CE7E9B-2BA9-F848-A9C7-84E3F50328A0}"/>
                      </a:ext>
                    </a:extLst>
                  </p:cNvPr>
                  <p:cNvGrpSpPr/>
                  <p:nvPr/>
                </p:nvGrpSpPr>
                <p:grpSpPr>
                  <a:xfrm>
                    <a:off x="2031300" y="2708208"/>
                    <a:ext cx="6758917" cy="1598894"/>
                    <a:chOff x="2031300" y="2708208"/>
                    <a:chExt cx="6758917" cy="1598894"/>
                  </a:xfrm>
                </p:grpSpPr>
                <p:sp>
                  <p:nvSpPr>
                    <p:cNvPr id="36" name="Rectangle 35">
                      <a:extLst>
                        <a:ext uri="{FF2B5EF4-FFF2-40B4-BE49-F238E27FC236}">
                          <a16:creationId xmlns:a16="http://schemas.microsoft.com/office/drawing/2014/main" xmlns="" id="{723D3978-A7C2-E74A-B361-837C701236B8}"/>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7" name="Group 36">
                      <a:extLst>
                        <a:ext uri="{FF2B5EF4-FFF2-40B4-BE49-F238E27FC236}">
                          <a16:creationId xmlns:a16="http://schemas.microsoft.com/office/drawing/2014/main" xmlns="" id="{64FD30BE-742D-5449-A2AD-346648C31E99}"/>
                        </a:ext>
                      </a:extLst>
                    </p:cNvPr>
                    <p:cNvGrpSpPr/>
                    <p:nvPr/>
                  </p:nvGrpSpPr>
                  <p:grpSpPr>
                    <a:xfrm>
                      <a:off x="2031300" y="2708208"/>
                      <a:ext cx="6758917" cy="1598891"/>
                      <a:chOff x="2031300" y="2727343"/>
                      <a:chExt cx="6758917" cy="1570345"/>
                    </a:xfrm>
                  </p:grpSpPr>
                  <p:sp>
                    <p:nvSpPr>
                      <p:cNvPr id="38" name="Rectangle 37">
                        <a:extLst>
                          <a:ext uri="{FF2B5EF4-FFF2-40B4-BE49-F238E27FC236}">
                            <a16:creationId xmlns:a16="http://schemas.microsoft.com/office/drawing/2014/main" xmlns="" id="{052A4321-32D4-0D4E-9CB4-DD75C12AEF7A}"/>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39" name="Group 38">
                        <a:extLst>
                          <a:ext uri="{FF2B5EF4-FFF2-40B4-BE49-F238E27FC236}">
                            <a16:creationId xmlns:a16="http://schemas.microsoft.com/office/drawing/2014/main" xmlns="" id="{5F088C06-8DBD-1A43-B392-7E7AC038C106}"/>
                          </a:ext>
                        </a:extLst>
                      </p:cNvPr>
                      <p:cNvGrpSpPr/>
                      <p:nvPr/>
                    </p:nvGrpSpPr>
                    <p:grpSpPr>
                      <a:xfrm>
                        <a:off x="2031300" y="2727343"/>
                        <a:ext cx="6758917" cy="1570345"/>
                        <a:chOff x="2031300" y="2838655"/>
                        <a:chExt cx="6758917" cy="1570345"/>
                      </a:xfrm>
                    </p:grpSpPr>
                    <p:sp>
                      <p:nvSpPr>
                        <p:cNvPr id="40" name="Rectangle 39">
                          <a:extLst>
                            <a:ext uri="{FF2B5EF4-FFF2-40B4-BE49-F238E27FC236}">
                              <a16:creationId xmlns:a16="http://schemas.microsoft.com/office/drawing/2014/main" xmlns="" id="{A662FB6D-5A88-DF41-A8D1-71FA4DDDA01D}"/>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41" name="Group 40">
                          <a:extLst>
                            <a:ext uri="{FF2B5EF4-FFF2-40B4-BE49-F238E27FC236}">
                              <a16:creationId xmlns:a16="http://schemas.microsoft.com/office/drawing/2014/main" xmlns="" id="{85A327FC-65B2-1C4F-875A-09903B6BBA01}"/>
                            </a:ext>
                          </a:extLst>
                        </p:cNvPr>
                        <p:cNvGrpSpPr/>
                        <p:nvPr/>
                      </p:nvGrpSpPr>
                      <p:grpSpPr>
                        <a:xfrm>
                          <a:off x="2031300" y="2838655"/>
                          <a:ext cx="6758917" cy="1347745"/>
                          <a:chOff x="2031300" y="2838655"/>
                          <a:chExt cx="6758917" cy="1347745"/>
                        </a:xfrm>
                      </p:grpSpPr>
                      <p:sp>
                        <p:nvSpPr>
                          <p:cNvPr id="42" name="Rectangle 41">
                            <a:extLst>
                              <a:ext uri="{FF2B5EF4-FFF2-40B4-BE49-F238E27FC236}">
                                <a16:creationId xmlns:a16="http://schemas.microsoft.com/office/drawing/2014/main" xmlns="" id="{C2A312C6-E779-4B40-9826-2869B4A23DA0}"/>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43" name="Group 42">
                            <a:extLst>
                              <a:ext uri="{FF2B5EF4-FFF2-40B4-BE49-F238E27FC236}">
                                <a16:creationId xmlns:a16="http://schemas.microsoft.com/office/drawing/2014/main" xmlns="" id="{D9F7E1AD-1C58-9B4A-88FC-1AE758E90E5C}"/>
                              </a:ext>
                            </a:extLst>
                          </p:cNvPr>
                          <p:cNvGrpSpPr/>
                          <p:nvPr/>
                        </p:nvGrpSpPr>
                        <p:grpSpPr>
                          <a:xfrm>
                            <a:off x="2031300" y="2838655"/>
                            <a:ext cx="6758917" cy="1347745"/>
                            <a:chOff x="0" y="-534945"/>
                            <a:chExt cx="6758917" cy="1347745"/>
                          </a:xfrm>
                        </p:grpSpPr>
                        <p:sp>
                          <p:nvSpPr>
                            <p:cNvPr id="44" name="Rectangle 43">
                              <a:extLst>
                                <a:ext uri="{FF2B5EF4-FFF2-40B4-BE49-F238E27FC236}">
                                  <a16:creationId xmlns:a16="http://schemas.microsoft.com/office/drawing/2014/main" xmlns="" id="{3A2461B6-8B28-A544-971F-1BC81A6AA373}"/>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45" name="Rounded Rectangle 44">
                              <a:extLst>
                                <a:ext uri="{FF2B5EF4-FFF2-40B4-BE49-F238E27FC236}">
                                  <a16:creationId xmlns:a16="http://schemas.microsoft.com/office/drawing/2014/main" xmlns="" id="{0D6A01E0-8F8D-8747-A591-8C05CBBB507F}"/>
                                </a:ext>
                              </a:extLst>
                            </p:cNvPr>
                            <p:cNvSpPr/>
                            <p:nvPr/>
                          </p:nvSpPr>
                          <p:spPr>
                            <a:xfrm>
                              <a:off x="129517" y="-534945"/>
                              <a:ext cx="6629400" cy="83143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Vertical angles</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are the opposite angles formed when two lines intersect.</a:t>
                              </a:r>
                              <a:endParaRPr lang="en-US" sz="1200" dirty="0">
                                <a:latin typeface="Times New Roman" panose="02020603050405020304" pitchFamily="18" charset="0"/>
                                <a:ea typeface="Times New Roman" panose="02020603050405020304" pitchFamily="18" charset="0"/>
                              </a:endParaRPr>
                            </a:p>
                          </p:txBody>
                        </p:sp>
                        <p:pic>
                          <p:nvPicPr>
                            <p:cNvPr id="46" name="Shape 17" descr="Icon&#10;&#10;Description automatically generated">
                              <a:extLst>
                                <a:ext uri="{FF2B5EF4-FFF2-40B4-BE49-F238E27FC236}">
                                  <a16:creationId xmlns:a16="http://schemas.microsoft.com/office/drawing/2014/main" xmlns="" id="{169B253C-79BD-DC45-A73A-A29831DA477D}"/>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74212" y="-354241"/>
                              <a:ext cx="539750" cy="519597"/>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nvGrpSpPr>
            <p:cNvPr id="48" name="Group 47">
              <a:extLst>
                <a:ext uri="{FF2B5EF4-FFF2-40B4-BE49-F238E27FC236}">
                  <a16:creationId xmlns:a16="http://schemas.microsoft.com/office/drawing/2014/main" xmlns="" id="{DC1E7F00-A93E-6247-A604-A9F89E6D5A0B}"/>
                </a:ext>
              </a:extLst>
            </p:cNvPr>
            <p:cNvGrpSpPr/>
            <p:nvPr/>
          </p:nvGrpSpPr>
          <p:grpSpPr>
            <a:xfrm>
              <a:off x="2286001" y="2558577"/>
              <a:ext cx="6990853" cy="1334692"/>
              <a:chOff x="2031300" y="2972253"/>
              <a:chExt cx="6990853" cy="1334850"/>
            </a:xfrm>
            <a:effectLst>
              <a:outerShdw blurRad="50800" dist="38100" dir="2700000" algn="tl" rotWithShape="0">
                <a:prstClr val="black">
                  <a:alpha val="40000"/>
                </a:prstClr>
              </a:outerShdw>
            </a:effectLst>
          </p:grpSpPr>
          <p:grpSp>
            <p:nvGrpSpPr>
              <p:cNvPr id="49" name="Group 48">
                <a:extLst>
                  <a:ext uri="{FF2B5EF4-FFF2-40B4-BE49-F238E27FC236}">
                    <a16:creationId xmlns:a16="http://schemas.microsoft.com/office/drawing/2014/main" xmlns="" id="{5604E537-E40F-9A45-84FC-072A292FDCA3}"/>
                  </a:ext>
                </a:extLst>
              </p:cNvPr>
              <p:cNvGrpSpPr/>
              <p:nvPr/>
            </p:nvGrpSpPr>
            <p:grpSpPr>
              <a:xfrm>
                <a:off x="2031300" y="2972253"/>
                <a:ext cx="6990853" cy="1334850"/>
                <a:chOff x="2031300" y="2972253"/>
                <a:chExt cx="6990853" cy="1334850"/>
              </a:xfrm>
            </p:grpSpPr>
            <p:sp>
              <p:nvSpPr>
                <p:cNvPr id="50" name="Rectangle 49">
                  <a:extLst>
                    <a:ext uri="{FF2B5EF4-FFF2-40B4-BE49-F238E27FC236}">
                      <a16:creationId xmlns:a16="http://schemas.microsoft.com/office/drawing/2014/main" xmlns="" id="{409FE1C7-8C3A-B74D-8B12-B14451195388}"/>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51" name="Group 50">
                  <a:extLst>
                    <a:ext uri="{FF2B5EF4-FFF2-40B4-BE49-F238E27FC236}">
                      <a16:creationId xmlns:a16="http://schemas.microsoft.com/office/drawing/2014/main" xmlns="" id="{6AD0B89D-0F7A-174D-A593-CF72745C629B}"/>
                    </a:ext>
                  </a:extLst>
                </p:cNvPr>
                <p:cNvGrpSpPr/>
                <p:nvPr/>
              </p:nvGrpSpPr>
              <p:grpSpPr>
                <a:xfrm>
                  <a:off x="2031300" y="2972253"/>
                  <a:ext cx="6990853" cy="1334850"/>
                  <a:chOff x="2031300" y="2972253"/>
                  <a:chExt cx="6990853" cy="1334850"/>
                </a:xfrm>
              </p:grpSpPr>
              <p:sp>
                <p:nvSpPr>
                  <p:cNvPr id="52" name="Rectangle 51">
                    <a:extLst>
                      <a:ext uri="{FF2B5EF4-FFF2-40B4-BE49-F238E27FC236}">
                        <a16:creationId xmlns:a16="http://schemas.microsoft.com/office/drawing/2014/main" xmlns="" id="{D700B903-0700-7C4E-925F-F1DD128A7D4D}"/>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53" name="Group 52">
                    <a:extLst>
                      <a:ext uri="{FF2B5EF4-FFF2-40B4-BE49-F238E27FC236}">
                        <a16:creationId xmlns:a16="http://schemas.microsoft.com/office/drawing/2014/main" xmlns="" id="{D60D4317-6678-4E41-9443-AA8B19CC0A91}"/>
                      </a:ext>
                    </a:extLst>
                  </p:cNvPr>
                  <p:cNvGrpSpPr/>
                  <p:nvPr/>
                </p:nvGrpSpPr>
                <p:grpSpPr>
                  <a:xfrm>
                    <a:off x="2031300" y="2972253"/>
                    <a:ext cx="6990853" cy="1334850"/>
                    <a:chOff x="2031300" y="2972253"/>
                    <a:chExt cx="6990853" cy="1334850"/>
                  </a:xfrm>
                </p:grpSpPr>
                <p:sp>
                  <p:nvSpPr>
                    <p:cNvPr id="54" name="Rectangle 53">
                      <a:extLst>
                        <a:ext uri="{FF2B5EF4-FFF2-40B4-BE49-F238E27FC236}">
                          <a16:creationId xmlns:a16="http://schemas.microsoft.com/office/drawing/2014/main" xmlns="" id="{E314E17C-C6E3-144D-BAAD-2179660DE7A3}"/>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55" name="Group 54">
                      <a:extLst>
                        <a:ext uri="{FF2B5EF4-FFF2-40B4-BE49-F238E27FC236}">
                          <a16:creationId xmlns:a16="http://schemas.microsoft.com/office/drawing/2014/main" xmlns="" id="{6FDDED95-DD38-5F49-94A2-F297B61076C0}"/>
                        </a:ext>
                      </a:extLst>
                    </p:cNvPr>
                    <p:cNvGrpSpPr/>
                    <p:nvPr/>
                  </p:nvGrpSpPr>
                  <p:grpSpPr>
                    <a:xfrm>
                      <a:off x="2031300" y="2972253"/>
                      <a:ext cx="6990853" cy="1334850"/>
                      <a:chOff x="2031300" y="2986671"/>
                      <a:chExt cx="6990853" cy="1311017"/>
                    </a:xfrm>
                  </p:grpSpPr>
                  <p:sp>
                    <p:nvSpPr>
                      <p:cNvPr id="56" name="Rectangle 55">
                        <a:extLst>
                          <a:ext uri="{FF2B5EF4-FFF2-40B4-BE49-F238E27FC236}">
                            <a16:creationId xmlns:a16="http://schemas.microsoft.com/office/drawing/2014/main" xmlns="" id="{D0015526-2AF3-7C46-9F07-17C900C580DC}"/>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57" name="Group 56">
                        <a:extLst>
                          <a:ext uri="{FF2B5EF4-FFF2-40B4-BE49-F238E27FC236}">
                            <a16:creationId xmlns:a16="http://schemas.microsoft.com/office/drawing/2014/main" xmlns="" id="{18F4663D-0B3E-0E48-B629-728DBF7CAA49}"/>
                          </a:ext>
                        </a:extLst>
                      </p:cNvPr>
                      <p:cNvGrpSpPr/>
                      <p:nvPr/>
                    </p:nvGrpSpPr>
                    <p:grpSpPr>
                      <a:xfrm>
                        <a:off x="2031300" y="2986671"/>
                        <a:ext cx="6990853" cy="1311017"/>
                        <a:chOff x="2031300" y="3097983"/>
                        <a:chExt cx="6990853" cy="1311017"/>
                      </a:xfrm>
                    </p:grpSpPr>
                    <p:sp>
                      <p:nvSpPr>
                        <p:cNvPr id="58" name="Rectangle 57">
                          <a:extLst>
                            <a:ext uri="{FF2B5EF4-FFF2-40B4-BE49-F238E27FC236}">
                              <a16:creationId xmlns:a16="http://schemas.microsoft.com/office/drawing/2014/main" xmlns="" id="{B9C04E42-AB67-CF4A-94B2-2447FED3F063}"/>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59" name="Group 58">
                          <a:extLst>
                            <a:ext uri="{FF2B5EF4-FFF2-40B4-BE49-F238E27FC236}">
                              <a16:creationId xmlns:a16="http://schemas.microsoft.com/office/drawing/2014/main" xmlns="" id="{F8BE264B-7C55-BD49-AD5E-126E364D5C35}"/>
                            </a:ext>
                          </a:extLst>
                        </p:cNvPr>
                        <p:cNvGrpSpPr/>
                        <p:nvPr/>
                      </p:nvGrpSpPr>
                      <p:grpSpPr>
                        <a:xfrm>
                          <a:off x="2031300" y="3097983"/>
                          <a:ext cx="6990853" cy="1088417"/>
                          <a:chOff x="2031300" y="3097983"/>
                          <a:chExt cx="6990853" cy="1088417"/>
                        </a:xfrm>
                      </p:grpSpPr>
                      <p:sp>
                        <p:nvSpPr>
                          <p:cNvPr id="60" name="Rectangle 59">
                            <a:extLst>
                              <a:ext uri="{FF2B5EF4-FFF2-40B4-BE49-F238E27FC236}">
                                <a16:creationId xmlns:a16="http://schemas.microsoft.com/office/drawing/2014/main" xmlns="" id="{F164CC9E-C158-D641-A572-15412DC9C07F}"/>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nvGrpSpPr>
                          <p:cNvPr id="61" name="Group 60">
                            <a:extLst>
                              <a:ext uri="{FF2B5EF4-FFF2-40B4-BE49-F238E27FC236}">
                                <a16:creationId xmlns:a16="http://schemas.microsoft.com/office/drawing/2014/main" xmlns="" id="{74F254CB-E3CD-5640-9D07-5B605750E2C5}"/>
                              </a:ext>
                            </a:extLst>
                          </p:cNvPr>
                          <p:cNvGrpSpPr/>
                          <p:nvPr/>
                        </p:nvGrpSpPr>
                        <p:grpSpPr>
                          <a:xfrm>
                            <a:off x="2031300" y="3097983"/>
                            <a:ext cx="6990853" cy="1088417"/>
                            <a:chOff x="0" y="-275617"/>
                            <a:chExt cx="6990853" cy="1088417"/>
                          </a:xfrm>
                        </p:grpSpPr>
                        <p:sp>
                          <p:nvSpPr>
                            <p:cNvPr id="62" name="Rectangle 61">
                              <a:extLst>
                                <a:ext uri="{FF2B5EF4-FFF2-40B4-BE49-F238E27FC236}">
                                  <a16:creationId xmlns:a16="http://schemas.microsoft.com/office/drawing/2014/main" xmlns="" id="{6A627DE7-50BE-414B-A3B6-2ACAB889FED2}"/>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mc:AlternateContent xmlns:mc="http://schemas.openxmlformats.org/markup-compatibility/2006" xmlns:a14="http://schemas.microsoft.com/office/drawing/2010/main">
                          <mc:Choice Requires="a14">
                            <p:sp>
                              <p:nvSpPr>
                                <p:cNvPr id="63" name="Rounded Rectangle 62">
                                  <a:extLst>
                                    <a:ext uri="{FF2B5EF4-FFF2-40B4-BE49-F238E27FC236}">
                                      <a16:creationId xmlns:a16="http://schemas.microsoft.com/office/drawing/2014/main" xmlns="" id="{2F2167D8-21F0-CB4A-88D0-8FF4BFE5EAEF}"/>
                                    </a:ext>
                                  </a:extLst>
                                </p:cNvPr>
                                <p:cNvSpPr/>
                                <p:nvPr/>
                              </p:nvSpPr>
                              <p:spPr>
                                <a:xfrm>
                                  <a:off x="361453" y="-275617"/>
                                  <a:ext cx="6629400" cy="78165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Two angles whose measures add up to </a:t>
                                  </a:r>
                                  <a14:m>
                                    <m:oMath xmlns:m="http://schemas.openxmlformats.org/officeDocument/2006/math">
                                      <m:sSup>
                                        <m:sSupPr>
                                          <m:ctrlPr>
                                            <a:rPr lang="en-US" sz="1800" i="1">
                                              <a:solidFill>
                                                <a:srgbClr val="6C993D"/>
                                              </a:solidFill>
                                              <a:latin typeface="Cambria Math"/>
                                              <a:ea typeface="Verdana" panose="020B0604030504040204" pitchFamily="34" charset="0"/>
                                              <a:cs typeface="Verdana" panose="020B0604030504040204" pitchFamily="34" charset="0"/>
                                            </a:rPr>
                                          </m:ctrlPr>
                                        </m:sSupPr>
                                        <m:e>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90</m:t>
                                          </m:r>
                                        </m:e>
                                        <m:sup>
                                          <m:r>
                                            <a:rPr lang="en-US" sz="1800" i="1">
                                              <a:solidFill>
                                                <a:srgbClr val="6C993D"/>
                                              </a:solidFill>
                                              <a:latin typeface="Cambria Math" panose="02040503050406030204" pitchFamily="18" charset="0"/>
                                              <a:ea typeface="Verdana" panose="020B0604030504040204" pitchFamily="34" charset="0"/>
                                              <a:cs typeface="Verdana" panose="020B0604030504040204" pitchFamily="34" charset="0"/>
                                            </a:rPr>
                                            <m:t>°</m:t>
                                          </m:r>
                                        </m:sup>
                                      </m:sSup>
                                    </m:oMath>
                                  </a14:m>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are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complementary angles</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1200" dirty="0">
                                    <a:latin typeface="Times New Roman" panose="02020603050405020304" pitchFamily="18" charset="0"/>
                                    <a:ea typeface="Times New Roman" panose="02020603050405020304" pitchFamily="18" charset="0"/>
                                  </a:endParaRPr>
                                </a:p>
                              </p:txBody>
                            </p:sp>
                          </mc:Choice>
                          <mc:Fallback xmlns="">
                            <p:sp>
                              <p:nvSpPr>
                                <p:cNvPr id="63" name="Rounded Rectangle 62">
                                  <a:extLst>
                                    <a:ext uri="{FF2B5EF4-FFF2-40B4-BE49-F238E27FC236}">
                                      <a16:creationId xmlns:a16="http://schemas.microsoft.com/office/drawing/2014/main" id="{2F2167D8-21F0-CB4A-88D0-8FF4BFE5EAEF}"/>
                                    </a:ext>
                                  </a:extLst>
                                </p:cNvPr>
                                <p:cNvSpPr>
                                  <a:spLocks noRot="1" noChangeAspect="1" noMove="1" noResize="1" noEditPoints="1" noAdjustHandles="1" noChangeArrowheads="1" noChangeShapeType="1" noTextEdit="1"/>
                                </p:cNvSpPr>
                                <p:nvPr/>
                              </p:nvSpPr>
                              <p:spPr>
                                <a:xfrm>
                                  <a:off x="361453" y="-275617"/>
                                  <a:ext cx="6629400" cy="781656"/>
                                </a:xfrm>
                                <a:prstGeom prst="roundRect">
                                  <a:avLst>
                                    <a:gd name="adj" fmla="val 16667"/>
                                  </a:avLst>
                                </a:prstGeom>
                                <a:blipFill>
                                  <a:blip r:embed="rId7"/>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64" name="Shape 17" descr="Icon&#10;&#10;Description automatically generated">
                              <a:extLst>
                                <a:ext uri="{FF2B5EF4-FFF2-40B4-BE49-F238E27FC236}">
                                  <a16:creationId xmlns:a16="http://schemas.microsoft.com/office/drawing/2014/main" xmlns="" id="{EAA3288E-E36D-7343-ADC6-D761F519B63A}"/>
                                </a:ext>
                              </a:extLst>
                            </p:cNvPr>
                            <p:cNvPicPr preferRelativeResize="0">
                              <a:picLocks noChangeAspect="1"/>
                            </p:cNvPicPr>
                            <p:nvPr/>
                          </p:nvPicPr>
                          <p:blipFill rotWithShape="1">
                            <a:blip r:embed="rId8" cstate="screen">
                              <a:alphaModFix/>
                              <a:extLst>
                                <a:ext uri="{28A0092B-C50C-407E-A947-70E740481C1C}">
                                  <a14:useLocalDpi xmlns:a14="http://schemas.microsoft.com/office/drawing/2010/main"/>
                                </a:ext>
                              </a:extLst>
                            </a:blip>
                            <a:srcRect/>
                            <a:stretch/>
                          </p:blipFill>
                          <p:spPr>
                            <a:xfrm>
                              <a:off x="503447" y="-152326"/>
                              <a:ext cx="529864" cy="529864"/>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spTree>
    <p:extLst>
      <p:ext uri="{BB962C8B-B14F-4D97-AF65-F5344CB8AC3E}">
        <p14:creationId xmlns:p14="http://schemas.microsoft.com/office/powerpoint/2010/main" val="3399856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271</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1599" y="376675"/>
            <a:ext cx="10678088"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using the definitions of each angle relationship.</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angles created in question 2 of the Exploration are ______________________ angles.</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angles created in question 3 of the Exploration are ______________________ angles.</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 angles created in question 4 of the Exploration are ______________________ angles.</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69552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962"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271</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8897" y="378960"/>
            <a:ext cx="10897228" cy="637097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Supplementary angles can be adjacent or non-adjacent. Three examples of supplementary angles are shown, with the angles in each pair marked.</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65138"/>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65138"/>
            <a:r>
              <a:rPr lang="en-US" sz="2400" dirty="0" smtClean="0">
                <a:latin typeface="Verdana" panose="020B0604030504040204" pitchFamily="34" charset="0"/>
                <a:ea typeface="Verdana" panose="020B0604030504040204" pitchFamily="34" charset="0"/>
                <a:cs typeface="Verdana" panose="020B0604030504040204" pitchFamily="34" charset="0"/>
              </a:rPr>
              <a:t>When </a:t>
            </a:r>
            <a:r>
              <a:rPr lang="en-US" sz="2400" dirty="0">
                <a:latin typeface="Verdana" panose="020B0604030504040204" pitchFamily="34" charset="0"/>
                <a:ea typeface="Verdana" panose="020B0604030504040204" pitchFamily="34" charset="0"/>
                <a:cs typeface="Verdana" panose="020B0604030504040204" pitchFamily="34" charset="0"/>
              </a:rPr>
              <a:t>supplementary angles are adjacent, they </a:t>
            </a:r>
            <a:r>
              <a:rPr lang="en-US" sz="2400" dirty="0" smtClean="0">
                <a:latin typeface="Verdana" panose="020B0604030504040204" pitchFamily="34" charset="0"/>
                <a:ea typeface="Verdana" panose="020B0604030504040204" pitchFamily="34" charset="0"/>
                <a:cs typeface="Verdana" panose="020B0604030504040204" pitchFamily="34" charset="0"/>
              </a:rPr>
              <a:t>form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angle </a:t>
            </a:r>
            <a:r>
              <a:rPr lang="en-US" sz="2400" dirty="0">
                <a:latin typeface="Verdana" panose="020B0604030504040204" pitchFamily="34" charset="0"/>
                <a:ea typeface="Verdana" panose="020B0604030504040204" pitchFamily="34" charset="0"/>
                <a:cs typeface="Verdana" panose="020B0604030504040204" pitchFamily="34" charset="0"/>
              </a:rPr>
              <a:t>together.</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5" name="Picture 4" descr="Diagram&#10;&#10;Description automatically generated">
            <a:extLst>
              <a:ext uri="{FF2B5EF4-FFF2-40B4-BE49-F238E27FC236}">
                <a16:creationId xmlns:a16="http://schemas.microsoft.com/office/drawing/2014/main" xmlns="" id="{4707D4FE-7361-DD4A-922B-22866CDBA2E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99230" y="1684385"/>
            <a:ext cx="2060496" cy="2210707"/>
          </a:xfrm>
          <a:prstGeom prst="rect">
            <a:avLst/>
          </a:prstGeom>
        </p:spPr>
      </p:pic>
      <p:pic>
        <p:nvPicPr>
          <p:cNvPr id="7" name="Picture 6" descr="A picture containing antenna&#10;&#10;Description automatically generated">
            <a:extLst>
              <a:ext uri="{FF2B5EF4-FFF2-40B4-BE49-F238E27FC236}">
                <a16:creationId xmlns:a16="http://schemas.microsoft.com/office/drawing/2014/main" xmlns="" id="{D239C253-FDB4-AA46-A602-A0C52346F2B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846376" y="1692156"/>
            <a:ext cx="2455082" cy="1970170"/>
          </a:xfrm>
          <a:prstGeom prst="rect">
            <a:avLst/>
          </a:prstGeom>
        </p:spPr>
      </p:pic>
      <p:pic>
        <p:nvPicPr>
          <p:cNvPr id="9" name="Picture 8" descr="Diagram&#10;&#10;Description automatically generated">
            <a:extLst>
              <a:ext uri="{FF2B5EF4-FFF2-40B4-BE49-F238E27FC236}">
                <a16:creationId xmlns:a16="http://schemas.microsoft.com/office/drawing/2014/main" xmlns="" id="{0EB3E04B-1151-EB4A-AC47-EE9B57B1C40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637089" y="1546357"/>
            <a:ext cx="2455082" cy="2261768"/>
          </a:xfrm>
          <a:prstGeom prst="rect">
            <a:avLst/>
          </a:prstGeom>
        </p:spPr>
      </p:pic>
      <p:pic>
        <p:nvPicPr>
          <p:cNvPr id="19" name="Picture 18" descr="Text&#10;&#10;Description automatically generated">
            <a:extLst>
              <a:ext uri="{FF2B5EF4-FFF2-40B4-BE49-F238E27FC236}">
                <a16:creationId xmlns:a16="http://schemas.microsoft.com/office/drawing/2014/main" xmlns="" id="{A0BE7C6A-C8F2-2A41-BA07-6ACD3EFCA683}"/>
              </a:ext>
            </a:extLst>
          </p:cNvPr>
          <p:cNvPicPr>
            <a:picLocks noChangeAspect="1"/>
          </p:cNvPicPr>
          <p:nvPr/>
        </p:nvPicPr>
        <p:blipFill>
          <a:blip r:embed="rId7"/>
          <a:stretch>
            <a:fillRect/>
          </a:stretch>
        </p:blipFill>
        <p:spPr>
          <a:xfrm>
            <a:off x="9274048" y="4145477"/>
            <a:ext cx="2256536" cy="1795448"/>
          </a:xfrm>
          <a:prstGeom prst="rect">
            <a:avLst/>
          </a:prstGeom>
        </p:spPr>
      </p:pic>
    </p:spTree>
    <p:extLst>
      <p:ext uri="{BB962C8B-B14F-4D97-AF65-F5344CB8AC3E}">
        <p14:creationId xmlns:p14="http://schemas.microsoft.com/office/powerpoint/2010/main" val="891864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271</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49354" y="379879"/>
            <a:ext cx="10800000"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Three examples of complementary angles are shown. Complementary angles can be adjacent or non-adjacent.</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Circle the example that shows an adjacent pair of complementary angles.</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Shape, polygon&#10;&#10;Description automatically generated">
            <a:extLst>
              <a:ext uri="{FF2B5EF4-FFF2-40B4-BE49-F238E27FC236}">
                <a16:creationId xmlns:a16="http://schemas.microsoft.com/office/drawing/2014/main" xmlns="" id="{EF98A998-5287-5F41-8043-D2E9E5F29DD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209925" y="2688203"/>
            <a:ext cx="5772150" cy="3477695"/>
          </a:xfrm>
          <a:prstGeom prst="rect">
            <a:avLst/>
          </a:prstGeom>
        </p:spPr>
      </p:pic>
    </p:spTree>
    <p:extLst>
      <p:ext uri="{BB962C8B-B14F-4D97-AF65-F5344CB8AC3E}">
        <p14:creationId xmlns:p14="http://schemas.microsoft.com/office/powerpoint/2010/main" val="727150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272</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7779" y="389925"/>
            <a:ext cx="11303121" cy="4524315"/>
          </a:xfrm>
          <a:prstGeom prst="rect">
            <a:avLst/>
          </a:prstGeom>
          <a:noFill/>
        </p:spPr>
        <p:txBody>
          <a:bodyPr wrap="square" rtlCol="0">
            <a:spAutoFit/>
          </a:bodyPr>
          <a:lstStyle/>
          <a:p>
            <a:pPr marL="917575" indent="-452438">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When complementary angles are adjacent, </a:t>
            </a:r>
            <a:r>
              <a:rPr lang="en-US" sz="2400" dirty="0" smtClean="0">
                <a:latin typeface="Verdana" panose="020B0604030504040204" pitchFamily="34" charset="0"/>
                <a:ea typeface="Verdana" panose="020B0604030504040204" pitchFamily="34" charset="0"/>
                <a:cs typeface="Verdana" panose="020B0604030504040204" pitchFamily="34" charset="0"/>
              </a:rPr>
              <a:t>they </a:t>
            </a:r>
            <a:r>
              <a:rPr lang="en-US" sz="2400" dirty="0">
                <a:latin typeface="Verdana" panose="020B0604030504040204" pitchFamily="34" charset="0"/>
                <a:ea typeface="Verdana" panose="020B0604030504040204" pitchFamily="34" charset="0"/>
                <a:cs typeface="Verdana" panose="020B0604030504040204" pitchFamily="34" charset="0"/>
              </a:rPr>
              <a:t>form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angle </a:t>
            </a:r>
            <a:r>
              <a:rPr lang="en-US" sz="2400" dirty="0">
                <a:latin typeface="Verdana" panose="020B0604030504040204" pitchFamily="34" charset="0"/>
                <a:ea typeface="Verdana" panose="020B0604030504040204" pitchFamily="34" charset="0"/>
                <a:cs typeface="Verdana" panose="020B0604030504040204" pitchFamily="34" charset="0"/>
              </a:rPr>
              <a:t>together.</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8" indent="-454025">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Each pair of vertical angles formed by the intersecting lines below are shown in a different color. </a:t>
            </a:r>
          </a:p>
          <a:p>
            <a:pPr marL="465138"/>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5" name="Picture 4" descr="A picture containing chart&#10;&#10;Description automatically generated">
            <a:extLst>
              <a:ext uri="{FF2B5EF4-FFF2-40B4-BE49-F238E27FC236}">
                <a16:creationId xmlns:a16="http://schemas.microsoft.com/office/drawing/2014/main" xmlns="" id="{9B1F581F-3F98-C14F-971B-A79D6FE64DBE}"/>
              </a:ext>
            </a:extLst>
          </p:cNvPr>
          <p:cNvPicPr>
            <a:picLocks noChangeAspect="1"/>
          </p:cNvPicPr>
          <p:nvPr/>
        </p:nvPicPr>
        <p:blipFill rotWithShape="1">
          <a:blip r:embed="rId4"/>
          <a:srcRect l="5357" t="8742" r="10516" b="14472"/>
          <a:stretch/>
        </p:blipFill>
        <p:spPr>
          <a:xfrm>
            <a:off x="3219450" y="4394989"/>
            <a:ext cx="5753100" cy="1510700"/>
          </a:xfrm>
          <a:prstGeom prst="rect">
            <a:avLst/>
          </a:prstGeom>
        </p:spPr>
      </p:pic>
      <p:pic>
        <p:nvPicPr>
          <p:cNvPr id="7" name="Picture 6" descr="Text&#10;&#10;Description automatically generated">
            <a:extLst>
              <a:ext uri="{FF2B5EF4-FFF2-40B4-BE49-F238E27FC236}">
                <a16:creationId xmlns:a16="http://schemas.microsoft.com/office/drawing/2014/main" xmlns="" id="{2D1BA5A9-9174-5D41-BACA-342ECD6531D3}"/>
              </a:ext>
            </a:extLst>
          </p:cNvPr>
          <p:cNvPicPr>
            <a:picLocks noChangeAspect="1"/>
          </p:cNvPicPr>
          <p:nvPr/>
        </p:nvPicPr>
        <p:blipFill>
          <a:blip r:embed="rId5"/>
          <a:stretch>
            <a:fillRect/>
          </a:stretch>
        </p:blipFill>
        <p:spPr>
          <a:xfrm>
            <a:off x="9765881" y="517110"/>
            <a:ext cx="2256536" cy="1795448"/>
          </a:xfrm>
          <a:prstGeom prst="rect">
            <a:avLst/>
          </a:prstGeom>
        </p:spPr>
      </p:pic>
    </p:spTree>
    <p:extLst>
      <p:ext uri="{BB962C8B-B14F-4D97-AF65-F5344CB8AC3E}">
        <p14:creationId xmlns:p14="http://schemas.microsoft.com/office/powerpoint/2010/main" val="2136326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272</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42750" y="372980"/>
            <a:ext cx="10800000" cy="4154984"/>
          </a:xfrm>
          <a:prstGeom prst="rect">
            <a:avLst/>
          </a:prstGeom>
          <a:noFill/>
        </p:spPr>
        <p:txBody>
          <a:bodyPr wrap="square" rtlCol="0">
            <a:spAutoFit/>
          </a:bodyPr>
          <a:lstStyle/>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the angle relationship between adjacent angles when two lines intersect.</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917575"/>
            <a:r>
              <a:rPr lang="en-US" sz="2400" dirty="0">
                <a:latin typeface="Verdana" panose="020B0604030504040204" pitchFamily="34" charset="0"/>
                <a:ea typeface="Verdana" panose="020B0604030504040204" pitchFamily="34" charset="0"/>
                <a:cs typeface="Verdana" panose="020B0604030504040204" pitchFamily="34" charset="0"/>
              </a:rPr>
              <a:t>Vertical angles                       have equal </a:t>
            </a:r>
            <a:r>
              <a:rPr lang="en-US" sz="2400" dirty="0" smtClean="0">
                <a:latin typeface="Verdana" panose="020B0604030504040204" pitchFamily="34" charset="0"/>
                <a:ea typeface="Verdana" panose="020B0604030504040204" pitchFamily="34" charset="0"/>
                <a:cs typeface="Verdana" panose="020B0604030504040204" pitchFamily="34" charset="0"/>
              </a:rPr>
              <a:t>measures</a:t>
            </a:r>
            <a:r>
              <a:rPr lang="en-US" sz="2400" dirty="0">
                <a:latin typeface="Verdana" panose="020B0604030504040204" pitchFamily="34" charset="0"/>
                <a:ea typeface="Verdana" panose="020B0604030504040204" pitchFamily="34" charset="0"/>
                <a:cs typeface="Verdana" panose="020B0604030504040204" pitchFamily="34" charset="0"/>
              </a:rPr>
              <a:t>. Pairs of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adjacent </a:t>
            </a:r>
            <a:r>
              <a:rPr lang="en-US" sz="2400" dirty="0">
                <a:latin typeface="Verdana" panose="020B0604030504040204" pitchFamily="34" charset="0"/>
                <a:ea typeface="Verdana" panose="020B0604030504040204" pitchFamily="34" charset="0"/>
                <a:cs typeface="Verdana" panose="020B0604030504040204" pitchFamily="34" charset="0"/>
              </a:rPr>
              <a:t>angles created </a:t>
            </a:r>
            <a:r>
              <a:rPr lang="en-US" sz="2400" dirty="0" smtClean="0">
                <a:latin typeface="Verdana" panose="020B0604030504040204" pitchFamily="34" charset="0"/>
                <a:ea typeface="Verdana" panose="020B0604030504040204" pitchFamily="34" charset="0"/>
                <a:cs typeface="Verdana" panose="020B0604030504040204" pitchFamily="34" charset="0"/>
              </a:rPr>
              <a:t>when </a:t>
            </a:r>
            <a:r>
              <a:rPr lang="en-US" sz="2400" dirty="0">
                <a:latin typeface="Verdana" panose="020B0604030504040204" pitchFamily="34" charset="0"/>
                <a:ea typeface="Verdana" panose="020B0604030504040204" pitchFamily="34" charset="0"/>
                <a:cs typeface="Verdana" panose="020B0604030504040204" pitchFamily="34" charset="0"/>
              </a:rPr>
              <a:t>two lines intersect are </a:t>
            </a:r>
          </a:p>
          <a:p>
            <a:pPr marL="917575" indent="-4524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descr="Text&#10;&#10;Description automatically generated with medium confidence">
            <a:extLst>
              <a:ext uri="{FF2B5EF4-FFF2-40B4-BE49-F238E27FC236}">
                <a16:creationId xmlns:a16="http://schemas.microsoft.com/office/drawing/2014/main" xmlns="" id="{A9EE421D-90F7-6B44-875C-833C3C6C3569}"/>
              </a:ext>
            </a:extLst>
          </p:cNvPr>
          <p:cNvPicPr>
            <a:picLocks noChangeAspect="1"/>
          </p:cNvPicPr>
          <p:nvPr/>
        </p:nvPicPr>
        <p:blipFill rotWithShape="1">
          <a:blip r:embed="rId4"/>
          <a:srcRect l="4306" b="11564"/>
          <a:stretch/>
        </p:blipFill>
        <p:spPr>
          <a:xfrm>
            <a:off x="3833528" y="2575788"/>
            <a:ext cx="2418483" cy="1191518"/>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xmlns="" id="{9DA63620-23AA-F641-B067-A0EBAAC32A00}"/>
              </a:ext>
            </a:extLst>
          </p:cNvPr>
          <p:cNvPicPr>
            <a:picLocks noChangeAspect="1"/>
          </p:cNvPicPr>
          <p:nvPr/>
        </p:nvPicPr>
        <p:blipFill>
          <a:blip r:embed="rId5"/>
          <a:stretch>
            <a:fillRect/>
          </a:stretch>
        </p:blipFill>
        <p:spPr>
          <a:xfrm>
            <a:off x="1402040" y="4251670"/>
            <a:ext cx="3254112" cy="1079807"/>
          </a:xfrm>
          <a:prstGeom prst="rect">
            <a:avLst/>
          </a:prstGeom>
        </p:spPr>
      </p:pic>
    </p:spTree>
    <p:extLst>
      <p:ext uri="{BB962C8B-B14F-4D97-AF65-F5344CB8AC3E}">
        <p14:creationId xmlns:p14="http://schemas.microsoft.com/office/powerpoint/2010/main" val="122979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55088" y="8952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F2A67"/>
                </a:solidFill>
                <a:latin typeface="Verdana"/>
                <a:ea typeface="Verdana"/>
                <a:cs typeface="Verdana"/>
                <a:sym typeface="Verdana"/>
              </a:rPr>
              <a:t>13.1.5 Wrap-Up: Reflection </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436518" y="378721"/>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34464" y="1473961"/>
            <a:ext cx="8327136"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graphicFrame>
        <p:nvGraphicFramePr>
          <p:cNvPr id="2" name="Table 1">
            <a:extLst>
              <a:ext uri="{FF2B5EF4-FFF2-40B4-BE49-F238E27FC236}">
                <a16:creationId xmlns:a16="http://schemas.microsoft.com/office/drawing/2014/main" xmlns="" id="{7934C220-AFC0-AE47-9ABE-31EF952C2B0B}"/>
              </a:ext>
            </a:extLst>
          </p:cNvPr>
          <p:cNvGraphicFramePr>
            <a:graphicFrameLocks noGrp="1"/>
          </p:cNvGraphicFramePr>
          <p:nvPr>
            <p:extLst>
              <p:ext uri="{D42A27DB-BD31-4B8C-83A1-F6EECF244321}">
                <p14:modId xmlns:p14="http://schemas.microsoft.com/office/powerpoint/2010/main" val="366430850"/>
              </p:ext>
            </p:extLst>
          </p:nvPr>
        </p:nvGraphicFramePr>
        <p:xfrm>
          <a:off x="1165577" y="2031312"/>
          <a:ext cx="9000000" cy="4247092"/>
        </p:xfrm>
        <a:graphic>
          <a:graphicData uri="http://schemas.openxmlformats.org/drawingml/2006/table">
            <a:tbl>
              <a:tblPr bandRow="1">
                <a:tableStyleId>{A91F0D33-8C57-4600-99A7-42BC86742BE1}</a:tableStyleId>
              </a:tblPr>
              <a:tblGrid>
                <a:gridCol w="3240000">
                  <a:extLst>
                    <a:ext uri="{9D8B030D-6E8A-4147-A177-3AD203B41FA5}">
                      <a16:colId xmlns:a16="http://schemas.microsoft.com/office/drawing/2014/main" xmlns="" val="769897117"/>
                    </a:ext>
                  </a:extLst>
                </a:gridCol>
                <a:gridCol w="2880000">
                  <a:extLst>
                    <a:ext uri="{9D8B030D-6E8A-4147-A177-3AD203B41FA5}">
                      <a16:colId xmlns:a16="http://schemas.microsoft.com/office/drawing/2014/main" xmlns="" val="1232133233"/>
                    </a:ext>
                  </a:extLst>
                </a:gridCol>
                <a:gridCol w="2880000">
                  <a:extLst>
                    <a:ext uri="{9D8B030D-6E8A-4147-A177-3AD203B41FA5}">
                      <a16:colId xmlns:a16="http://schemas.microsoft.com/office/drawing/2014/main" xmlns="" val="3766860482"/>
                    </a:ext>
                  </a:extLst>
                </a:gridCol>
              </a:tblGrid>
              <a:tr h="1281003">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The terms and information used in the lesson that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I </a:t>
                      </a:r>
                      <a:r>
                        <a:rPr lang="en-US" sz="2000" b="1" dirty="0">
                          <a:effectLst/>
                          <a:latin typeface="Verdana" panose="020B0604030504040204" pitchFamily="34" charset="0"/>
                          <a:ea typeface="Verdana" panose="020B0604030504040204" pitchFamily="34" charset="0"/>
                          <a:cs typeface="Verdana" panose="020B0604030504040204" pitchFamily="34" charset="0"/>
                        </a:rPr>
                        <a:t>knew were …</a:t>
                      </a:r>
                    </a:p>
                  </a:txBody>
                  <a:tcPr marL="34257" marR="342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wondered during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the </a:t>
                      </a:r>
                      <a:r>
                        <a:rPr lang="en-US" sz="2000" b="1" dirty="0">
                          <a:effectLst/>
                          <a:latin typeface="Verdana" panose="020B0604030504040204" pitchFamily="34" charset="0"/>
                          <a:ea typeface="Verdana" panose="020B0604030504040204" pitchFamily="34" charset="0"/>
                          <a:cs typeface="Verdana" panose="020B0604030504040204" pitchFamily="34" charset="0"/>
                        </a:rPr>
                        <a:t>lesson was …</a:t>
                      </a:r>
                    </a:p>
                  </a:txBody>
                  <a:tcPr marL="34257" marR="342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Something I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learned </a:t>
                      </a:r>
                      <a:r>
                        <a:rPr lang="en-US" sz="2000" b="1" dirty="0">
                          <a:effectLst/>
                          <a:latin typeface="Verdana" panose="020B0604030504040204" pitchFamily="34" charset="0"/>
                          <a:ea typeface="Verdana" panose="020B0604030504040204" pitchFamily="34" charset="0"/>
                          <a:cs typeface="Verdana" panose="020B0604030504040204" pitchFamily="34" charset="0"/>
                        </a:rPr>
                        <a:t>during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the </a:t>
                      </a:r>
                      <a:r>
                        <a:rPr lang="en-US" sz="2000" b="1" dirty="0">
                          <a:effectLst/>
                          <a:latin typeface="Verdana" panose="020B0604030504040204" pitchFamily="34" charset="0"/>
                          <a:ea typeface="Verdana" panose="020B0604030504040204" pitchFamily="34" charset="0"/>
                          <a:cs typeface="Verdana" panose="020B0604030504040204" pitchFamily="34" charset="0"/>
                        </a:rPr>
                        <a:t>lesson was …</a:t>
                      </a:r>
                    </a:p>
                  </a:txBody>
                  <a:tcPr marL="34257" marR="34257"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325609166"/>
                  </a:ext>
                </a:extLst>
              </a:tr>
              <a:tr h="2880000">
                <a:tc>
                  <a:txBody>
                    <a:bodyPr/>
                    <a:lstStyle/>
                    <a:p>
                      <a:pPr marL="0" marR="0">
                        <a:lnSpc>
                          <a:spcPct val="115000"/>
                        </a:lnSpc>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endParaRPr>
                    </a:p>
                  </a:txBody>
                  <a:tcPr marL="34257" marR="34257"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rPr>
                        <a:t> </a:t>
                      </a:r>
                    </a:p>
                    <a:p>
                      <a:pPr marL="0" marR="0">
                        <a:lnSpc>
                          <a:spcPct val="115000"/>
                        </a:lnSpc>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endParaRPr>
                    </a:p>
                  </a:txBody>
                  <a:tcPr marL="34257" marR="34257"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endParaRPr>
                    </a:p>
                  </a:txBody>
                  <a:tcPr marL="34257" marR="34257"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776010963"/>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1450</TotalTime>
  <Words>1124</Words>
  <Application>Microsoft Office PowerPoint</Application>
  <PresentationFormat>Custom</PresentationFormat>
  <Paragraphs>293</Paragraphs>
  <Slides>30</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Calibri</vt:lpstr>
      <vt:lpstr>Courier New</vt:lpstr>
      <vt:lpstr>Times New Roman</vt:lpstr>
      <vt:lpstr>Century Gothic</vt:lpstr>
      <vt:lpstr>Wingdings</vt:lpstr>
      <vt:lpstr>Cambria Math</vt:lpstr>
      <vt:lpstr>Arial Black</vt:lpstr>
      <vt:lpstr>Verdana</vt:lpstr>
      <vt:lpstr>1_Office Theme</vt:lpstr>
      <vt:lpstr>8th Grade Math:  Pre-Algebra  Unit 13, Lesson 1  Angle Relationships  Volume 2, pg. 267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25</cp:revision>
  <dcterms:created xsi:type="dcterms:W3CDTF">2015-03-17T18:51:18Z</dcterms:created>
  <dcterms:modified xsi:type="dcterms:W3CDTF">2022-06-20T04:35:21Z</dcterms:modified>
</cp:coreProperties>
</file>