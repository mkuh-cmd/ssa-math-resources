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345" r:id="rId4"/>
    <p:sldId id="286" r:id="rId5"/>
    <p:sldId id="261" r:id="rId6"/>
    <p:sldId id="287" r:id="rId7"/>
    <p:sldId id="381" r:id="rId8"/>
    <p:sldId id="395" r:id="rId9"/>
    <p:sldId id="396" r:id="rId10"/>
    <p:sldId id="397" r:id="rId11"/>
    <p:sldId id="399" r:id="rId12"/>
    <p:sldId id="400" r:id="rId13"/>
    <p:sldId id="401" r:id="rId14"/>
    <p:sldId id="402" r:id="rId15"/>
    <p:sldId id="405" r:id="rId16"/>
    <p:sldId id="406" r:id="rId17"/>
    <p:sldId id="407" r:id="rId18"/>
    <p:sldId id="409" r:id="rId19"/>
    <p:sldId id="346" r:id="rId20"/>
    <p:sldId id="347" r:id="rId21"/>
    <p:sldId id="348" r:id="rId22"/>
    <p:sldId id="349" r:id="rId23"/>
    <p:sldId id="306" r:id="rId24"/>
    <p:sldId id="307" r:id="rId25"/>
    <p:sldId id="410" r:id="rId26"/>
  </p:sldIdLst>
  <p:sldSz cx="12192000" cy="6858000"/>
  <p:notesSz cx="6858000" cy="9144000"/>
  <p:embeddedFontLst>
    <p:embeddedFont>
      <p:font typeface="Cambria Math" pitchFamily="18" charset="0"/>
      <p:regular r:id="rId28"/>
    </p:embeddedFont>
    <p:embeddedFont>
      <p:font typeface="Cutive" charset="0"/>
      <p:regular r:id="rId29"/>
    </p:embeddedFont>
    <p:embeddedFont>
      <p:font typeface="Arial Black" pitchFamily="34" charset="0"/>
      <p:bold r:id="rId30"/>
    </p:embeddedFont>
    <p:embeddedFont>
      <p:font typeface="Cambria" pitchFamily="18" charset="0"/>
      <p:regular r:id="rId31"/>
      <p:bold r:id="rId32"/>
      <p:italic r:id="rId33"/>
      <p:boldItalic r:id="rId34"/>
    </p:embeddedFont>
    <p:embeddedFont>
      <p:font typeface="Verdana" pitchFamily="34" charset="0"/>
      <p:regular r:id="rId35"/>
      <p:bold r:id="rId36"/>
      <p:italic r:id="rId37"/>
      <p:boldItalic r:id="rId38"/>
    </p:embeddedFont>
    <p:embeddedFont>
      <p:font typeface="Calibri" pitchFamily="34" charset="0"/>
      <p:regular r:id="rId39"/>
      <p:bold r:id="rId40"/>
      <p:italic r:id="rId41"/>
      <p:boldItalic r:id="rId42"/>
    </p:embeddedFont>
    <p:embeddedFont>
      <p:font typeface="Century Gothic"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FABB42"/>
    <a:srgbClr val="F79B59"/>
    <a:srgbClr val="F26763"/>
    <a:srgbClr val="1765AD"/>
    <a:srgbClr val="1664AC"/>
    <a:srgbClr val="BFBFBF"/>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p:restoredTop sz="94719"/>
  </p:normalViewPr>
  <p:slideViewPr>
    <p:cSldViewPr snapToGrid="0">
      <p:cViewPr varScale="1">
        <p:scale>
          <a:sx n="105" d="100"/>
          <a:sy n="105" d="100"/>
        </p:scale>
        <p:origin x="-70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566777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191503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031511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40744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988717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28843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451859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576619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655808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854168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4060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0222305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3960774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838804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4985123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4301364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301364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10.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15.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337803" y="2212771"/>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3</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More with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Powers of 10</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92</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lang="en-US"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903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70644"/>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730266" y="1255056"/>
            <a:ext cx="110985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MA.8.NSO.1.3</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xmlns="" id="{78632872-3F42-3447-924A-20A16C6976F7}"/>
              </a:ext>
            </a:extLst>
          </p:cNvPr>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xmlns="" id="{D915A027-4791-D04E-90A8-9E6239ED88EB}"/>
              </a:ext>
            </a:extLst>
          </p:cNvPr>
          <p:cNvPicPr preferRelativeResize="0"/>
          <p:nvPr/>
        </p:nvPicPr>
        <p:blipFill>
          <a:blip r:embed="rId2">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xmlns=""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xmlns="" id="{73A67FE7-C13F-C24F-85E9-A4B96A1F42A8}"/>
              </a:ext>
            </a:extLst>
          </p:cNvPr>
          <p:cNvSpPr txBox="1">
            <a:spLocks/>
          </p:cNvSpPr>
          <p:nvPr/>
        </p:nvSpPr>
        <p:spPr>
          <a:xfrm>
            <a:off x="1237332" y="-88032"/>
            <a:ext cx="105980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xmlns="" id="{5BB4D65A-27E8-4F4F-9348-5380FE318E8D}"/>
              </a:ext>
            </a:extLst>
          </p:cNvPr>
          <p:cNvSpPr txBox="1">
            <a:spLocks/>
          </p:cNvSpPr>
          <p:nvPr/>
        </p:nvSpPr>
        <p:spPr>
          <a:xfrm>
            <a:off x="730266" y="1237668"/>
            <a:ext cx="11105118"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9" name="Google Shape;282;g104476d1465_1_17">
            <a:extLst>
              <a:ext uri="{FF2B5EF4-FFF2-40B4-BE49-F238E27FC236}">
                <a16:creationId xmlns:a16="http://schemas.microsoft.com/office/drawing/2014/main" xmlns="" id="{37CC83FF-5C83-CD42-A75D-B443F14E1C1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92</a:t>
            </a:r>
            <a:endParaRPr i="1" dirty="0">
              <a:latin typeface="Calibri"/>
              <a:ea typeface="Calibri"/>
              <a:cs typeface="Calibri"/>
              <a:sym typeface="Calibri"/>
            </a:endParaRP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30266" y="1425102"/>
                <a:ext cx="109915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itchFamily="2" charset="2"/>
                  <a:buChar char="q"/>
                </a:pPr>
                <a:r>
                  <a:rPr lang="en-US" sz="3500" dirty="0">
                    <a:latin typeface="Verdana" pitchFamily="34" charset="0"/>
                    <a:ea typeface="Verdana" pitchFamily="34" charset="0"/>
                    <a:cs typeface="Verdana" pitchFamily="34" charset="0"/>
                  </a:rPr>
                  <a:t>I can use the Laws of Exponents to evaluate numerical expressions with a base of </a:t>
                </a:r>
                <a14:m>
                  <m:oMath xmlns:m="http://schemas.openxmlformats.org/officeDocument/2006/math">
                    <m:r>
                      <a:rPr lang="en-US" sz="3500" i="1" dirty="0">
                        <a:latin typeface="Cambria Math" panose="02040503050406030204" pitchFamily="18" charset="0"/>
                        <a:ea typeface="Verdana" panose="020B0604030504040204" pitchFamily="34" charset="0"/>
                        <a:cs typeface="Verdana" panose="020B0604030504040204" pitchFamily="34" charset="0"/>
                      </a:rPr>
                      <m:t>10</m:t>
                    </m:r>
                  </m:oMath>
                </a14:m>
                <a:r>
                  <a:rPr lang="en-US" sz="3500" dirty="0">
                    <a:latin typeface="Verdana" panose="020B0604030504040204" pitchFamily="34" charset="0"/>
                    <a:ea typeface="Verdana" panose="020B0604030504040204" pitchFamily="34" charset="0"/>
                    <a:cs typeface="Verdana" panose="020B0604030504040204" pitchFamily="34" charset="0"/>
                  </a:rPr>
                  <a:t> and exponents less than </a:t>
                </a:r>
                <a14:m>
                  <m:oMath xmlns:m="http://schemas.openxmlformats.org/officeDocument/2006/math">
                    <m:r>
                      <a:rPr lang="en-US" sz="3500" i="1" dirty="0">
                        <a:latin typeface="Cambria Math" panose="02040503050406030204" pitchFamily="18" charset="0"/>
                        <a:ea typeface="Verdana" panose="020B0604030504040204" pitchFamily="34" charset="0"/>
                        <a:cs typeface="Verdana" panose="020B0604030504040204" pitchFamily="34" charset="0"/>
                      </a:rPr>
                      <m:t>0</m:t>
                    </m:r>
                  </m:oMath>
                </a14:m>
                <a:r>
                  <a:rPr lang="en-US" sz="35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Google Shape;302;g103996e1364_0_16">
                <a:extLst>
                  <a:ext uri="{FF2B5EF4-FFF2-40B4-BE49-F238E27FC236}">
                    <a16:creationId xmlns:a16="http://schemas.microsoft.com/office/drawing/2014/main" id="{9B7C98EC-F13C-9146-B728-D7044DB4247D}"/>
                  </a:ext>
                </a:extLst>
              </p:cNvPr>
              <p:cNvSpPr txBox="1">
                <a:spLocks noRot="1" noChangeAspect="1" noMove="1" noResize="1" noEditPoints="1" noAdjustHandles="1" noChangeArrowheads="1" noChangeShapeType="1" noTextEdit="1"/>
              </p:cNvSpPr>
              <p:nvPr/>
            </p:nvSpPr>
            <p:spPr>
              <a:xfrm>
                <a:off x="730266" y="1425102"/>
                <a:ext cx="10991564" cy="4205700"/>
              </a:xfrm>
              <a:prstGeom prst="rect">
                <a:avLst/>
              </a:prstGeom>
              <a:blipFill>
                <a:blip r:embed="rId5"/>
                <a:stretch>
                  <a:fillRect l="-1384" t="-2108" r="-115"/>
                </a:stretch>
              </a:blipFill>
              <a:ln>
                <a:noFill/>
              </a:ln>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E147E8E3-844B-6A49-A77E-05F3246D39F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92</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58742"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43D2F04D-C861-A149-B5F8-A913FBED75A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7332" y="-49016"/>
            <a:ext cx="1024130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3.3.1 Warm-Up: Notice and Wonder</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730266" y="1339694"/>
            <a:ext cx="7992528"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picture of a bowling-ball pyramid is shown.</a:t>
            </a:r>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xmlns="" id="{0CD40667-98C3-7A43-A8EC-50FA988E094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93</a:t>
            </a:r>
            <a:endParaRPr i="1" dirty="0">
              <a:latin typeface="Calibri"/>
              <a:ea typeface="Calibri"/>
              <a:cs typeface="Calibri"/>
              <a:sym typeface="Calibri"/>
            </a:endParaRPr>
          </a:p>
        </p:txBody>
      </p:sp>
      <p:pic>
        <p:nvPicPr>
          <p:cNvPr id="16" name="Picture 15">
            <a:extLst>
              <a:ext uri="{FF2B5EF4-FFF2-40B4-BE49-F238E27FC236}">
                <a16:creationId xmlns:a16="http://schemas.microsoft.com/office/drawing/2014/main" xmlns="" id="{63F7ED40-6E4C-394D-960F-C8188B5DE359}"/>
              </a:ext>
            </a:extLst>
          </p:cNvPr>
          <p:cNvPicPr>
            <a:picLocks noChangeAspect="1"/>
          </p:cNvPicPr>
          <p:nvPr/>
        </p:nvPicPr>
        <p:blipFill>
          <a:blip r:embed="rId5"/>
          <a:stretch>
            <a:fillRect/>
          </a:stretch>
        </p:blipFill>
        <p:spPr>
          <a:xfrm>
            <a:off x="4529137" y="1979808"/>
            <a:ext cx="3133725" cy="405130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xmlns="" id="{0CD40667-98C3-7A43-A8EC-50FA988E094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93</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xmlns="" id="{2FA392D8-3ED3-7940-83A8-1451AA8A08D4}"/>
              </a:ext>
            </a:extLst>
          </p:cNvPr>
          <p:cNvSpPr txBox="1"/>
          <p:nvPr/>
        </p:nvSpPr>
        <p:spPr>
          <a:xfrm>
            <a:off x="542283" y="378495"/>
            <a:ext cx="11290756" cy="4093428"/>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do you wonder?</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do you notice?</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Write a question about the pyramid that a 5</a:t>
            </a:r>
            <a:r>
              <a:rPr lang="en-US" sz="2000" baseline="30000" dirty="0">
                <a:latin typeface="Verdana" panose="020B0604030504040204" pitchFamily="34" charset="0"/>
                <a:ea typeface="Verdana" panose="020B0604030504040204" pitchFamily="34" charset="0"/>
                <a:cs typeface="Verdana" panose="020B0604030504040204" pitchFamily="34" charset="0"/>
              </a:rPr>
              <a:t>th</a:t>
            </a:r>
            <a:r>
              <a:rPr lang="en-US" sz="2000" dirty="0">
                <a:latin typeface="Verdana" panose="020B0604030504040204" pitchFamily="34" charset="0"/>
                <a:ea typeface="Verdana" panose="020B0604030504040204" pitchFamily="34" charset="0"/>
                <a:cs typeface="Verdana" panose="020B0604030504040204" pitchFamily="34" charset="0"/>
              </a:rPr>
              <a:t> grader could answer.</a:t>
            </a:r>
          </a:p>
        </p:txBody>
      </p:sp>
    </p:spTree>
    <p:extLst>
      <p:ext uri="{BB962C8B-B14F-4D97-AF65-F5344CB8AC3E}">
        <p14:creationId xmlns:p14="http://schemas.microsoft.com/office/powerpoint/2010/main" val="2697970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06241" y="2766150"/>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400" b="1" dirty="0">
                <a:solidFill>
                  <a:srgbClr val="33BEA6"/>
                </a:solidFill>
                <a:latin typeface="Verdana"/>
                <a:ea typeface="Verdana"/>
                <a:cs typeface="Verdana"/>
                <a:sym typeface="Verdana"/>
              </a:rPr>
              <a:t>Exploration</a:t>
            </a:r>
            <a:endParaRPr sz="48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93</a:t>
            </a:r>
            <a:endParaRPr i="1" dirty="0">
              <a:latin typeface="Calibri"/>
              <a:ea typeface="Calibri"/>
              <a:cs typeface="Calibri"/>
              <a:sym typeface="Calibri"/>
            </a:endParaRPr>
          </a:p>
        </p:txBody>
      </p:sp>
      <p:pic>
        <p:nvPicPr>
          <p:cNvPr id="8" name="image10.png" descr="Icon&#10;&#10;Description automatically generated">
            <a:extLst>
              <a:ext uri="{FF2B5EF4-FFF2-40B4-BE49-F238E27FC236}">
                <a16:creationId xmlns:a16="http://schemas.microsoft.com/office/drawing/2014/main" xmlns="" id="{B30F8F7E-1346-F647-899E-7352E76C500E}"/>
              </a:ext>
            </a:extLst>
          </p:cNvPr>
          <p:cNvPicPr/>
          <p:nvPr/>
        </p:nvPicPr>
        <p:blipFill>
          <a:blip r:embed="rId4"/>
          <a:srcRect/>
          <a:stretch>
            <a:fillRect/>
          </a:stretch>
        </p:blipFill>
        <p:spPr>
          <a:xfrm>
            <a:off x="3054096" y="2852928"/>
            <a:ext cx="1152145" cy="115214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49516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9842" y="-86777"/>
            <a:ext cx="876529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3.3.2 Exploration: Powers of Ten</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93</a:t>
            </a:r>
            <a:endParaRPr i="1" dirty="0">
              <a:latin typeface="Calibri"/>
              <a:ea typeface="Calibri"/>
              <a:cs typeface="Calibri"/>
              <a:sym typeface="Calibri"/>
            </a:endParaRPr>
          </a:p>
        </p:txBody>
      </p:sp>
      <p:sp>
        <p:nvSpPr>
          <p:cNvPr id="11" name="TextBox 10">
            <a:extLst>
              <a:ext uri="{FF2B5EF4-FFF2-40B4-BE49-F238E27FC236}">
                <a16:creationId xmlns:a16="http://schemas.microsoft.com/office/drawing/2014/main" xmlns="" id="{B46B19A2-BBA2-0441-AC88-F1F62E75949B}"/>
              </a:ext>
            </a:extLst>
          </p:cNvPr>
          <p:cNvSpPr txBox="1"/>
          <p:nvPr/>
        </p:nvSpPr>
        <p:spPr>
          <a:xfrm>
            <a:off x="731521" y="1275163"/>
            <a:ext cx="11058402"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a scientific calculator to find the decimal value of each. Then, write the equivalent fractional value.</a:t>
            </a:r>
          </a:p>
        </p:txBody>
      </p:sp>
      <p:pic>
        <p:nvPicPr>
          <p:cNvPr id="9" name="image10.png" descr="Icon&#10;&#10;Description automatically generated">
            <a:extLst>
              <a:ext uri="{FF2B5EF4-FFF2-40B4-BE49-F238E27FC236}">
                <a16:creationId xmlns:a16="http://schemas.microsoft.com/office/drawing/2014/main" xmlns="" id="{ADD604E3-4EB0-F849-A744-16E843B46083}"/>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9811" cy="749811"/>
          </a:xfrm>
          <a:prstGeom prst="rect">
            <a:avLst/>
          </a:prstGeom>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AC5F06DC-C73B-9845-B897-1D2AD8033104}"/>
                  </a:ext>
                </a:extLst>
              </p:cNvPr>
              <p:cNvGraphicFramePr>
                <a:graphicFrameLocks noGrp="1"/>
              </p:cNvGraphicFramePr>
              <p:nvPr>
                <p:extLst>
                  <p:ext uri="{D42A27DB-BD31-4B8C-83A1-F6EECF244321}">
                    <p14:modId xmlns:p14="http://schemas.microsoft.com/office/powerpoint/2010/main" val="550535549"/>
                  </p:ext>
                </p:extLst>
              </p:nvPr>
            </p:nvGraphicFramePr>
            <p:xfrm>
              <a:off x="2734392" y="2265188"/>
              <a:ext cx="6766560" cy="3417253"/>
            </p:xfrm>
            <a:graphic>
              <a:graphicData uri="http://schemas.openxmlformats.org/drawingml/2006/table">
                <a:tbl>
                  <a:tblPr firstRow="1" firstCol="1" bandRow="1"/>
                  <a:tblGrid>
                    <a:gridCol w="1920240">
                      <a:extLst>
                        <a:ext uri="{9D8B030D-6E8A-4147-A177-3AD203B41FA5}">
                          <a16:colId xmlns:a16="http://schemas.microsoft.com/office/drawing/2014/main" xmlns="" val="1032817279"/>
                        </a:ext>
                      </a:extLst>
                    </a:gridCol>
                    <a:gridCol w="2286000">
                      <a:extLst>
                        <a:ext uri="{9D8B030D-6E8A-4147-A177-3AD203B41FA5}">
                          <a16:colId xmlns:a16="http://schemas.microsoft.com/office/drawing/2014/main" xmlns="" val="1005465708"/>
                        </a:ext>
                      </a:extLst>
                    </a:gridCol>
                    <a:gridCol w="2560320">
                      <a:extLst>
                        <a:ext uri="{9D8B030D-6E8A-4147-A177-3AD203B41FA5}">
                          <a16:colId xmlns:a16="http://schemas.microsoft.com/office/drawing/2014/main" xmlns="" val="2329855959"/>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Power 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𝟏𝟎</m:t>
                              </m:r>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Decimal 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Fractional 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352210047"/>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96762684"/>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2022830"/>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59752479"/>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92750558"/>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80396433"/>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48337499"/>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AC5F06DC-C73B-9845-B897-1D2AD8033104}"/>
                  </a:ext>
                </a:extLst>
              </p:cNvPr>
              <p:cNvGraphicFramePr>
                <a:graphicFrameLocks noGrp="1"/>
              </p:cNvGraphicFramePr>
              <p:nvPr>
                <p:extLst>
                  <p:ext uri="{D42A27DB-BD31-4B8C-83A1-F6EECF244321}">
                    <p14:modId xmlns:p14="http://schemas.microsoft.com/office/powerpoint/2010/main" val="550535549"/>
                  </p:ext>
                </p:extLst>
              </p:nvPr>
            </p:nvGraphicFramePr>
            <p:xfrm>
              <a:off x="2734392" y="2265188"/>
              <a:ext cx="6766560" cy="3417253"/>
            </p:xfrm>
            <a:graphic>
              <a:graphicData uri="http://schemas.openxmlformats.org/drawingml/2006/table">
                <a:tbl>
                  <a:tblPr firstRow="1" firstCol="1" bandRow="1"/>
                  <a:tblGrid>
                    <a:gridCol w="1920240">
                      <a:extLst>
                        <a:ext uri="{9D8B030D-6E8A-4147-A177-3AD203B41FA5}">
                          <a16:colId xmlns:a16="http://schemas.microsoft.com/office/drawing/2014/main" xmlns:a14="http://schemas.microsoft.com/office/drawing/2010/main" xmlns="" val="1032817279"/>
                        </a:ext>
                      </a:extLst>
                    </a:gridCol>
                    <a:gridCol w="2286000">
                      <a:extLst>
                        <a:ext uri="{9D8B030D-6E8A-4147-A177-3AD203B41FA5}">
                          <a16:colId xmlns:a16="http://schemas.microsoft.com/office/drawing/2014/main" xmlns:a14="http://schemas.microsoft.com/office/drawing/2010/main" xmlns="" val="1005465708"/>
                        </a:ext>
                      </a:extLst>
                    </a:gridCol>
                    <a:gridCol w="2560320">
                      <a:extLst>
                        <a:ext uri="{9D8B030D-6E8A-4147-A177-3AD203B41FA5}">
                          <a16:colId xmlns:a16="http://schemas.microsoft.com/office/drawing/2014/main" xmlns:a14="http://schemas.microsoft.com/office/drawing/2010/main" xmlns="" val="2329855959"/>
                        </a:ext>
                      </a:extLst>
                    </a:gridCol>
                  </a:tblGrid>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17" t="-1250" r="-252381" b="-601250"/>
                          </a:stretch>
                        </a:blip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Decimal 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Fractional 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352210047"/>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17" t="-101250" r="-252381" b="-501250"/>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596762684"/>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17" t="-201250" r="-252381" b="-401250"/>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92022830"/>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17" t="-301250" r="-252381" b="-301250"/>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59752479"/>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17" t="-401250" r="-252381" b="-201250"/>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792750558"/>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17" t="-501250" r="-252381" b="-101250"/>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480396433"/>
                      </a:ext>
                    </a:extLst>
                  </a:tr>
                  <a:tr h="491173">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17" t="-601250" r="-252381" b="-1250"/>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948337499"/>
                      </a:ext>
                    </a:extLst>
                  </a:tr>
                </a:tbl>
              </a:graphicData>
            </a:graphic>
          </p:graphicFrame>
        </mc:Fallback>
      </mc:AlternateContent>
    </p:spTree>
    <p:extLst>
      <p:ext uri="{BB962C8B-B14F-4D97-AF65-F5344CB8AC3E}">
        <p14:creationId xmlns:p14="http://schemas.microsoft.com/office/powerpoint/2010/main" val="1021839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xmlns="" id="{2FA392D8-3ED3-7940-83A8-1451AA8A08D4}"/>
                  </a:ext>
                </a:extLst>
              </p:cNvPr>
              <p:cNvSpPr txBox="1"/>
              <p:nvPr/>
            </p:nvSpPr>
            <p:spPr>
              <a:xfrm>
                <a:off x="577798" y="388723"/>
                <a:ext cx="11241307" cy="193899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relationship between the power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and its value?</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table. </a:t>
                </a:r>
              </a:p>
            </p:txBody>
          </p:sp>
        </mc:Choice>
        <mc:Fallback>
          <p:sp>
            <p:nvSpPr>
              <p:cNvPr id="7" name="TextBox 6">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77798" y="388723"/>
                <a:ext cx="11241307" cy="1938992"/>
              </a:xfrm>
              <a:prstGeom prst="rect">
                <a:avLst/>
              </a:prstGeom>
              <a:blipFill rotWithShape="1">
                <a:blip r:embed="rId3"/>
                <a:stretch>
                  <a:fillRect l="-597" t="-1887" b="-4717"/>
                </a:stretch>
              </a:blipFill>
            </p:spPr>
            <p:txBody>
              <a:bodyPr/>
              <a:lstStyle/>
              <a:p>
                <a:r>
                  <a:rPr lang="en-PH">
                    <a:noFill/>
                  </a:rPr>
                  <a:t> </a:t>
                </a:r>
              </a:p>
            </p:txBody>
          </p:sp>
        </mc:Fallback>
      </mc:AlternateContent>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xmlns="" id="{059E677C-EE93-8A4A-8EC6-C07FDF08DEB9}"/>
                  </a:ext>
                </a:extLst>
              </p:cNvPr>
              <p:cNvGraphicFramePr>
                <a:graphicFrameLocks noGrp="1"/>
              </p:cNvGraphicFramePr>
              <p:nvPr>
                <p:extLst>
                  <p:ext uri="{D42A27DB-BD31-4B8C-83A1-F6EECF244321}">
                    <p14:modId xmlns:p14="http://schemas.microsoft.com/office/powerpoint/2010/main" val="2727000286"/>
                  </p:ext>
                </p:extLst>
              </p:nvPr>
            </p:nvGraphicFramePr>
            <p:xfrm>
              <a:off x="2621280" y="2621925"/>
              <a:ext cx="6949440" cy="3417253"/>
            </p:xfrm>
            <a:graphic>
              <a:graphicData uri="http://schemas.openxmlformats.org/drawingml/2006/table">
                <a:tbl>
                  <a:tblPr firstRow="1" firstCol="1" bandRow="1"/>
                  <a:tblGrid>
                    <a:gridCol w="1920240">
                      <a:extLst>
                        <a:ext uri="{9D8B030D-6E8A-4147-A177-3AD203B41FA5}">
                          <a16:colId xmlns:a16="http://schemas.microsoft.com/office/drawing/2014/main" xmlns="" val="3077313921"/>
                        </a:ext>
                      </a:extLst>
                    </a:gridCol>
                    <a:gridCol w="2560320">
                      <a:extLst>
                        <a:ext uri="{9D8B030D-6E8A-4147-A177-3AD203B41FA5}">
                          <a16:colId xmlns:a16="http://schemas.microsoft.com/office/drawing/2014/main" xmlns="" val="50546588"/>
                        </a:ext>
                      </a:extLst>
                    </a:gridCol>
                    <a:gridCol w="2468880">
                      <a:extLst>
                        <a:ext uri="{9D8B030D-6E8A-4147-A177-3AD203B41FA5}">
                          <a16:colId xmlns:a16="http://schemas.microsoft.com/office/drawing/2014/main" xmlns="" val="1913838279"/>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Power 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𝟏𝟎</m:t>
                              </m:r>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Fractional 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Place Value 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m:t>
                              </m:r>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4211215683"/>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Ones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80787968"/>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Tenths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71787233"/>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2437940"/>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53085088"/>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91830286"/>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0245434"/>
                      </a:ext>
                    </a:extLst>
                  </a:tr>
                </a:tbl>
              </a:graphicData>
            </a:graphic>
          </p:graphicFrame>
        </mc:Choice>
        <mc:Fallback>
          <p:graphicFrame>
            <p:nvGraphicFramePr>
              <p:cNvPr id="4" name="Table 3">
                <a:extLst>
                  <a:ext uri="{FF2B5EF4-FFF2-40B4-BE49-F238E27FC236}">
                    <a16:creationId xmlns:a16="http://schemas.microsoft.com/office/drawing/2014/main" xmlns:a14="http://schemas.microsoft.com/office/drawing/2010/main" xmlns="" id="{059E677C-EE93-8A4A-8EC6-C07FDF08DEB9}"/>
                  </a:ext>
                </a:extLst>
              </p:cNvPr>
              <p:cNvGraphicFramePr>
                <a:graphicFrameLocks noGrp="1"/>
              </p:cNvGraphicFramePr>
              <p:nvPr>
                <p:extLst>
                  <p:ext uri="{D42A27DB-BD31-4B8C-83A1-F6EECF244321}">
                    <p14:modId xmlns:p14="http://schemas.microsoft.com/office/powerpoint/2010/main" val="2727000286"/>
                  </p:ext>
                </p:extLst>
              </p:nvPr>
            </p:nvGraphicFramePr>
            <p:xfrm>
              <a:off x="2621280" y="2621925"/>
              <a:ext cx="6949440" cy="3417253"/>
            </p:xfrm>
            <a:graphic>
              <a:graphicData uri="http://schemas.openxmlformats.org/drawingml/2006/table">
                <a:tbl>
                  <a:tblPr firstRow="1" firstCol="1" bandRow="1"/>
                  <a:tblGrid>
                    <a:gridCol w="1920240">
                      <a:extLst>
                        <a:ext uri="{9D8B030D-6E8A-4147-A177-3AD203B41FA5}">
                          <a16:colId xmlns:a16="http://schemas.microsoft.com/office/drawing/2014/main" xmlns:a14="http://schemas.microsoft.com/office/drawing/2010/main" xmlns="" val="3077313921"/>
                        </a:ext>
                      </a:extLst>
                    </a:gridCol>
                    <a:gridCol w="2560320">
                      <a:extLst>
                        <a:ext uri="{9D8B030D-6E8A-4147-A177-3AD203B41FA5}">
                          <a16:colId xmlns:a16="http://schemas.microsoft.com/office/drawing/2014/main" xmlns:a14="http://schemas.microsoft.com/office/drawing/2010/main" xmlns="" val="50546588"/>
                        </a:ext>
                      </a:extLst>
                    </a:gridCol>
                    <a:gridCol w="2468880">
                      <a:extLst>
                        <a:ext uri="{9D8B030D-6E8A-4147-A177-3AD203B41FA5}">
                          <a16:colId xmlns:a16="http://schemas.microsoft.com/office/drawing/2014/main" xmlns:a14="http://schemas.microsoft.com/office/drawing/2010/main" xmlns="" val="1913838279"/>
                        </a:ext>
                      </a:extLst>
                    </a:gridCol>
                  </a:tblGrid>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r="-261905" b="-601250"/>
                          </a:stretch>
                        </a:blip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Fractional 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81481" b="-601250"/>
                          </a:stretch>
                        </a:blipFill>
                      </a:tcPr>
                    </a:tc>
                    <a:extLst>
                      <a:ext uri="{0D108BD9-81ED-4DB2-BD59-A6C34878D82A}">
                        <a16:rowId xmlns:a16="http://schemas.microsoft.com/office/drawing/2014/main" xmlns:a14="http://schemas.microsoft.com/office/drawing/2010/main" xmlns="" val="4211215683"/>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00000" r="-261905" b="-501250"/>
                          </a:stretch>
                        </a:blip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5000" t="-100000" r="-96429" b="-50125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Ones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580787968"/>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00000" r="-261905" b="-40125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Tenths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971787233"/>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00000" r="-261905" b="-30125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02437940"/>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400000" r="-261905" b="-20125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053085088"/>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500000" r="-261905" b="-10125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891830286"/>
                      </a:ext>
                    </a:extLst>
                  </a:tr>
                  <a:tr h="491173">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592593" r="-26190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80245434"/>
                      </a:ext>
                    </a:extLst>
                  </a:tr>
                </a:tbl>
              </a:graphicData>
            </a:graphic>
          </p:graphicFrame>
        </mc:Fallback>
      </mc:AlternateContent>
    </p:spTree>
    <p:extLst>
      <p:ext uri="{BB962C8B-B14F-4D97-AF65-F5344CB8AC3E}">
        <p14:creationId xmlns:p14="http://schemas.microsoft.com/office/powerpoint/2010/main" val="418544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xmlns="" id="{2FA392D8-3ED3-7940-83A8-1451AA8A08D4}"/>
                  </a:ext>
                </a:extLst>
              </p:cNvPr>
              <p:cNvSpPr txBox="1"/>
              <p:nvPr/>
            </p:nvSpPr>
            <p:spPr>
              <a:xfrm>
                <a:off x="626438" y="381056"/>
                <a:ext cx="11037026" cy="2246769"/>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describe how the exponent of the power of ten relates to place value. </a:t>
                </a: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Based on the pattern in the table, what is the value of </a:t>
                </a:r>
                <a14:m>
                  <m:oMath xmlns:m="http://schemas.openxmlformats.org/officeDocument/2006/math">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10</m:t>
                        </m:r>
                      </m:e>
                      <m:sup>
                        <m:r>
                          <a:rPr lang="es-ES" sz="2000" i="1" dirty="0">
                            <a:latin typeface="Cambria Math" panose="02040503050406030204" pitchFamily="18" charset="0"/>
                            <a:ea typeface="Verdana" panose="020B0604030504040204" pitchFamily="34" charset="0"/>
                            <a:cs typeface="Verdana" panose="020B0604030504040204" pitchFamily="34" charset="0"/>
                          </a:rPr>
                          <m:t>−12</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written as a fraction?</a:t>
                </a:r>
              </a:p>
            </p:txBody>
          </p:sp>
        </mc:Choice>
        <mc:Fallback>
          <p:sp>
            <p:nvSpPr>
              <p:cNvPr id="15" name="TextBox 14">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626438" y="381056"/>
                <a:ext cx="11037026" cy="2246769"/>
              </a:xfrm>
              <a:prstGeom prst="rect">
                <a:avLst/>
              </a:prstGeom>
              <a:blipFill rotWithShape="1">
                <a:blip r:embed="rId3"/>
                <a:stretch>
                  <a:fillRect l="-608" t="-1630" r="-884" b="-4076"/>
                </a:stretch>
              </a:blipFill>
            </p:spPr>
            <p:txBody>
              <a:bodyPr/>
              <a:lstStyle/>
              <a:p>
                <a:r>
                  <a:rPr lang="en-PH">
                    <a:noFill/>
                  </a:rPr>
                  <a:t> </a:t>
                </a:r>
              </a:p>
            </p:txBody>
          </p:sp>
        </mc:Fallback>
      </mc:AlternateContent>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94</a:t>
            </a:r>
            <a:endParaRPr i="1" dirty="0">
              <a:latin typeface="Calibri"/>
              <a:ea typeface="Calibri"/>
              <a:cs typeface="Calibri"/>
              <a:sym typeface="Calibri"/>
            </a:endParaRPr>
          </a:p>
        </p:txBody>
      </p:sp>
      <p:grpSp>
        <p:nvGrpSpPr>
          <p:cNvPr id="2" name="Group 1"/>
          <p:cNvGrpSpPr/>
          <p:nvPr/>
        </p:nvGrpSpPr>
        <p:grpSpPr>
          <a:xfrm>
            <a:off x="2188761" y="3004832"/>
            <a:ext cx="7812102" cy="3195768"/>
            <a:chOff x="664761" y="3004832"/>
            <a:chExt cx="7812102" cy="3195768"/>
          </a:xfrm>
        </p:grpSpPr>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xmlns="" id="{F503288E-39BB-8747-8C08-606340895547}"/>
                    </a:ext>
                  </a:extLst>
                </p:cNvPr>
                <p:cNvSpPr/>
                <p:nvPr/>
              </p:nvSpPr>
              <p:spPr>
                <a:xfrm>
                  <a:off x="664761" y="3004832"/>
                  <a:ext cx="7812102" cy="3195768"/>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40" tIns="0" rIns="91425" bIns="0" anchor="ctr" anchorCtr="0">
                  <a:spAutoFit/>
                </a:bodyPr>
                <a:lstStyle/>
                <a:p>
                  <a:pPr marL="742950">
                    <a:spcAft>
                      <a:spcPts val="1000"/>
                    </a:spcAft>
                  </a:pPr>
                  <a:r>
                    <a:rPr lang="en-US" sz="2000" b="1" i="1" dirty="0">
                      <a:solidFill>
                        <a:srgbClr val="0075BF"/>
                      </a:solidFill>
                      <a:latin typeface="Verdana" panose="020B0604030504040204" pitchFamily="34" charset="0"/>
                      <a:ea typeface="Verdana" panose="020B0604030504040204" pitchFamily="34" charset="0"/>
                      <a:cs typeface="Verdana" panose="020B0604030504040204" pitchFamily="34" charset="0"/>
                    </a:rPr>
                    <a:t>Negative Powers of </a:t>
                  </a:r>
                  <a14:m>
                    <m:oMath xmlns:m="http://schemas.openxmlformats.org/officeDocument/2006/math">
                      <m:r>
                        <a:rPr lang="en-US" sz="2000" b="1" i="1">
                          <a:solidFill>
                            <a:srgbClr val="0075BF"/>
                          </a:solidFill>
                          <a:latin typeface="Cambria Math" panose="02040503050406030204" pitchFamily="18" charset="0"/>
                          <a:ea typeface="Verdana" panose="020B0604030504040204" pitchFamily="34" charset="0"/>
                          <a:cs typeface="Verdana" panose="020B0604030504040204" pitchFamily="34" charset="0"/>
                        </a:rPr>
                        <m:t>𝟏𝟎</m:t>
                      </m:r>
                    </m:oMath>
                  </a14:m>
                  <a:endParaRPr lang="x-none" sz="2000" dirty="0">
                    <a:latin typeface="Verdana" pitchFamily="34" charset="0"/>
                    <a:ea typeface="Verdana" pitchFamily="34" charset="0"/>
                    <a:cs typeface="Times New Roman" panose="02020603050405020304" pitchFamily="18" charset="0"/>
                  </a:endParaRPr>
                </a:p>
                <a:p>
                  <a:pPr marL="742950">
                    <a:spcAft>
                      <a:spcPts val="1000"/>
                    </a:spcAft>
                  </a:pPr>
                  <a:r>
                    <a:rPr lang="en-US" sz="2000" spc="-30" dirty="0">
                      <a:solidFill>
                        <a:srgbClr val="0075BF"/>
                      </a:solidFill>
                      <a:latin typeface="Verdana" panose="020B0604030504040204" pitchFamily="34" charset="0"/>
                      <a:ea typeface="Verdana" panose="020B0604030504040204" pitchFamily="34" charset="0"/>
                      <a:cs typeface="Verdana" panose="020B0604030504040204" pitchFamily="34" charset="0"/>
                    </a:rPr>
                    <a:t>A base </a:t>
                  </a:r>
                  <a14:m>
                    <m:oMath xmlns:m="http://schemas.openxmlformats.org/officeDocument/2006/math">
                      <m:r>
                        <a:rPr lang="en-US" sz="2000" i="1" spc="-30">
                          <a:solidFill>
                            <a:srgbClr val="0075BF"/>
                          </a:solidFill>
                          <a:latin typeface="Cambria Math" panose="02040503050406030204" pitchFamily="18" charset="0"/>
                          <a:ea typeface="Verdana" panose="020B0604030504040204" pitchFamily="34" charset="0"/>
                          <a:cs typeface="Verdana" panose="020B0604030504040204" pitchFamily="34" charset="0"/>
                        </a:rPr>
                        <m:t>10</m:t>
                      </m:r>
                    </m:oMath>
                  </a14:m>
                  <a:r>
                    <a:rPr lang="en-US" sz="2000" spc="-30" dirty="0">
                      <a:solidFill>
                        <a:srgbClr val="0075BF"/>
                      </a:solidFill>
                      <a:latin typeface="Verdana" panose="020B0604030504040204" pitchFamily="34" charset="0"/>
                      <a:ea typeface="Verdana" panose="020B0604030504040204" pitchFamily="34" charset="0"/>
                      <a:cs typeface="Verdana" panose="020B0604030504040204" pitchFamily="34" charset="0"/>
                    </a:rPr>
                    <a:t> with a negative exponent can be rewritten as a fraction.</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a:t>
                  </a:r>
                  <a:endParaRPr lang="x-none" sz="2000" dirty="0">
                    <a:latin typeface="Verdana" pitchFamily="34" charset="0"/>
                    <a:ea typeface="Verdana" pitchFamily="34" charset="0"/>
                    <a:cs typeface="Times New Roman" panose="02020603050405020304" pitchFamily="18" charset="0"/>
                  </a:endParaRPr>
                </a:p>
                <a:p>
                  <a:pPr algn="ctr">
                    <a:spcAft>
                      <a:spcPts val="1000"/>
                    </a:spcAft>
                  </a:pPr>
                  <a14:m>
                    <m:oMath xmlns:m="http://schemas.openxmlformats.org/officeDocument/2006/math">
                      <m:sSup>
                        <m:sSupPr>
                          <m:ctrlPr>
                            <a:rPr lang="x-none" sz="2000" i="1">
                              <a:solidFill>
                                <a:srgbClr val="0075BF"/>
                              </a:solidFill>
                              <a:latin typeface="Cambria Math"/>
                              <a:ea typeface="Verdana" panose="020B0604030504040204" pitchFamily="34" charset="0"/>
                              <a:cs typeface="Verdana" panose="020B0604030504040204" pitchFamily="34" charset="0"/>
                            </a:rPr>
                          </m:ctrlPr>
                        </m:sSupPr>
                        <m:e>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10</m:t>
                          </m:r>
                        </m:e>
                        <m:sup>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m:t>
                          </m:r>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𝑎</m:t>
                          </m:r>
                        </m:sup>
                      </m:sSup>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 </m:t>
                      </m:r>
                      <m:f>
                        <m:fPr>
                          <m:ctrlPr>
                            <a:rPr lang="x-none" sz="2000" i="1">
                              <a:solidFill>
                                <a:srgbClr val="0075BF"/>
                              </a:solidFill>
                              <a:latin typeface="Cambria Math"/>
                              <a:ea typeface="Verdana" panose="020B0604030504040204" pitchFamily="34" charset="0"/>
                              <a:cs typeface="Verdana" panose="020B0604030504040204" pitchFamily="34" charset="0"/>
                            </a:rPr>
                          </m:ctrlPr>
                        </m:fPr>
                        <m:num>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m:t>
                          </m:r>
                        </m:num>
                        <m:den>
                          <m:sSup>
                            <m:sSupPr>
                              <m:ctrlPr>
                                <a:rPr lang="x-none" sz="2000" i="1">
                                  <a:solidFill>
                                    <a:srgbClr val="0075BF"/>
                                  </a:solidFill>
                                  <a:latin typeface="Cambria Math"/>
                                  <a:ea typeface="Verdana" panose="020B0604030504040204" pitchFamily="34" charset="0"/>
                                  <a:cs typeface="Verdana" panose="020B0604030504040204" pitchFamily="34" charset="0"/>
                                </a:rPr>
                              </m:ctrlPr>
                            </m:sSupPr>
                            <m:e>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10</m:t>
                              </m:r>
                            </m:e>
                            <m:sup>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𝑎</m:t>
                              </m:r>
                            </m:sup>
                          </m:sSup>
                        </m:den>
                      </m:f>
                    </m:oMath>
                  </a14:m>
                  <a:r>
                    <a:rPr lang="en-PH" sz="2000" dirty="0">
                      <a:latin typeface="Verdana" pitchFamily="34" charset="0"/>
                      <a:ea typeface="Verdana" pitchFamily="34" charset="0"/>
                      <a:cs typeface="Times New Roman" panose="02020603050405020304" pitchFamily="18" charset="0"/>
                    </a:rPr>
                    <a:t> </a:t>
                  </a:r>
                  <a:endParaRPr lang="x-none" sz="2000" dirty="0">
                    <a:latin typeface="Verdana" pitchFamily="34" charset="0"/>
                    <a:ea typeface="Verdana" pitchFamily="34" charset="0"/>
                    <a:cs typeface="Times New Roman" panose="02020603050405020304" pitchFamily="18" charset="0"/>
                  </a:endParaRPr>
                </a:p>
                <a:p>
                  <a:pPr marL="742950">
                    <a:spcAft>
                      <a:spcPts val="1000"/>
                    </a:spcAft>
                  </a:pPr>
                  <a:r>
                    <a:rPr lang="en-US" sz="2000" spc="-30" dirty="0">
                      <a:solidFill>
                        <a:srgbClr val="0075BF"/>
                      </a:solidFill>
                      <a:latin typeface="Verdana" panose="020B0604030504040204" pitchFamily="34" charset="0"/>
                      <a:ea typeface="Verdana" panose="020B0604030504040204" pitchFamily="34" charset="0"/>
                      <a:cs typeface="Verdana" panose="020B0604030504040204" pitchFamily="34" charset="0"/>
                    </a:rPr>
                    <a:t>The value of the fraction relates directly to the place value of the </a:t>
                  </a:r>
                  <a14:m>
                    <m:oMath xmlns:m="http://schemas.openxmlformats.org/officeDocument/2006/math">
                      <m:r>
                        <a:rPr lang="en-US" sz="2000" i="1" spc="-30">
                          <a:solidFill>
                            <a:srgbClr val="0075BF"/>
                          </a:solidFill>
                          <a:latin typeface="Cambria Math" panose="02040503050406030204" pitchFamily="18" charset="0"/>
                          <a:ea typeface="Verdana" panose="020B0604030504040204" pitchFamily="34" charset="0"/>
                          <a:cs typeface="Verdana" panose="020B0604030504040204" pitchFamily="34" charset="0"/>
                        </a:rPr>
                        <m:t>1</m:t>
                      </m:r>
                    </m:oMath>
                  </a14:m>
                  <a:r>
                    <a:rPr lang="en-US" sz="2000" spc="-30" dirty="0">
                      <a:solidFill>
                        <a:srgbClr val="0075BF"/>
                      </a:solidFill>
                      <a:latin typeface="Verdana" panose="020B0604030504040204" pitchFamily="34" charset="0"/>
                      <a:ea typeface="Verdana" panose="020B0604030504040204" pitchFamily="34" charset="0"/>
                      <a:cs typeface="Verdana" panose="020B0604030504040204" pitchFamily="34" charset="0"/>
                    </a:rPr>
                    <a:t> when the quantity is expressed in its equivalent decimal form.</a:t>
                  </a:r>
                  <a:endParaRPr lang="x-none" sz="2000" spc="-30" dirty="0">
                    <a:latin typeface="Verdana" pitchFamily="34" charset="0"/>
                    <a:ea typeface="Verdana" pitchFamily="34" charset="0"/>
                    <a:cs typeface="Times New Roman" panose="02020603050405020304" pitchFamily="18" charset="0"/>
                  </a:endParaRPr>
                </a:p>
              </p:txBody>
            </p:sp>
          </mc:Choice>
          <mc:Fallback xmlns="">
            <p:sp>
              <p:nvSpPr>
                <p:cNvPr id="14" name="Rounded Rectangle 13">
                  <a:extLst>
                    <a:ext uri="{FF2B5EF4-FFF2-40B4-BE49-F238E27FC236}">
                      <a16:creationId xmlns:a16="http://schemas.microsoft.com/office/drawing/2014/main" id="{F503288E-39BB-8747-8C08-606340895547}"/>
                    </a:ext>
                  </a:extLst>
                </p:cNvPr>
                <p:cNvSpPr>
                  <a:spLocks noRot="1" noChangeAspect="1" noMove="1" noResize="1" noEditPoints="1" noAdjustHandles="1" noChangeArrowheads="1" noChangeShapeType="1" noTextEdit="1"/>
                </p:cNvSpPr>
                <p:nvPr/>
              </p:nvSpPr>
              <p:spPr>
                <a:xfrm>
                  <a:off x="664761" y="3004832"/>
                  <a:ext cx="7812102" cy="3195768"/>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0" name="image15.png" descr="Icon&#10;&#10;Description automatically generated">
              <a:extLst>
                <a:ext uri="{FF2B5EF4-FFF2-40B4-BE49-F238E27FC236}">
                  <a16:creationId xmlns:a16="http://schemas.microsoft.com/office/drawing/2014/main" xmlns="" id="{C3D1BF6A-988E-1246-BD18-E5A63F59E424}"/>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894714" y="3194095"/>
              <a:ext cx="583557" cy="602197"/>
            </a:xfrm>
            <a:prstGeom prst="rect">
              <a:avLst/>
            </a:prstGeom>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907064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054096" y="2766150"/>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400" b="1" dirty="0">
                <a:solidFill>
                  <a:srgbClr val="33BEA6"/>
                </a:solidFill>
                <a:latin typeface="Verdana"/>
                <a:ea typeface="Verdana"/>
                <a:cs typeface="Verdana"/>
                <a:sym typeface="Verdana"/>
              </a:rPr>
              <a:t>Try It</a:t>
            </a:r>
            <a:endParaRPr sz="48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94</a:t>
            </a:r>
            <a:endParaRPr i="1" dirty="0">
              <a:latin typeface="Calibri"/>
              <a:ea typeface="Calibri"/>
              <a:cs typeface="Calibri"/>
              <a:sym typeface="Calibri"/>
            </a:endParaRPr>
          </a:p>
        </p:txBody>
      </p:sp>
      <p:pic>
        <p:nvPicPr>
          <p:cNvPr id="8" name="image13.png" descr="Icon&#10;&#10;Description automatically generated">
            <a:extLst>
              <a:ext uri="{FF2B5EF4-FFF2-40B4-BE49-F238E27FC236}">
                <a16:creationId xmlns:a16="http://schemas.microsoft.com/office/drawing/2014/main" xmlns="" id="{3AE39BE2-2F65-8043-B8A5-6884F49479CA}"/>
              </a:ext>
            </a:extLst>
          </p:cNvPr>
          <p:cNvPicPr/>
          <p:nvPr/>
        </p:nvPicPr>
        <p:blipFill>
          <a:blip r:embed="rId4"/>
          <a:srcRect/>
          <a:stretch>
            <a:fillRect/>
          </a:stretch>
        </p:blipFill>
        <p:spPr>
          <a:xfrm>
            <a:off x="3054096" y="2852928"/>
            <a:ext cx="1152145" cy="115214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79976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9844" y="-9036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3.3.3 Try It: Make a Guess</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94</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xmlns="" id="{B46B19A2-BBA2-0441-AC88-F1F62E75949B}"/>
                  </a:ext>
                </a:extLst>
              </p:cNvPr>
              <p:cNvSpPr txBox="1"/>
              <p:nvPr/>
            </p:nvSpPr>
            <p:spPr>
              <a:xfrm>
                <a:off x="731521" y="1235338"/>
                <a:ext cx="11184861" cy="193899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Without your partner or a calculator, make a guess on the value of each mathematical statement. Do not worry about being wrong. Remember, mistakes are a part of learning. </a:t>
                </a: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49263"/>
                <a:r>
                  <a:rPr lang="en-US" sz="2000" dirty="0">
                    <a:latin typeface="Verdana" panose="020B0604030504040204" pitchFamily="34" charset="0"/>
                    <a:ea typeface="Verdana" panose="020B0604030504040204" pitchFamily="34" charset="0"/>
                    <a:cs typeface="Verdana" panose="020B0604030504040204" pitchFamily="34" charset="0"/>
                  </a:rPr>
                  <a:t>Whenever possible, write the answer as a power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Show your work or explain your thinking.</a:t>
                </a:r>
              </a:p>
            </p:txBody>
          </p:sp>
        </mc:Choice>
        <mc:Fallback>
          <p:sp>
            <p:nvSpPr>
              <p:cNvPr id="11" name="TextBox 10">
                <a:extLst>
                  <a:ext uri="{FF2B5EF4-FFF2-40B4-BE49-F238E27FC236}">
                    <a16:creationId xmlns:a16="http://schemas.microsoft.com/office/drawing/2014/main" xmlns:a14="http://schemas.microsoft.com/office/drawing/2010/main" xmlns="" id="{B46B19A2-BBA2-0441-AC88-F1F62E75949B}"/>
                  </a:ext>
                </a:extLst>
              </p:cNvPr>
              <p:cNvSpPr txBox="1">
                <a:spLocks noRot="1" noChangeAspect="1" noMove="1" noResize="1" noEditPoints="1" noAdjustHandles="1" noChangeArrowheads="1" noChangeShapeType="1" noTextEdit="1"/>
              </p:cNvSpPr>
              <p:nvPr/>
            </p:nvSpPr>
            <p:spPr>
              <a:xfrm>
                <a:off x="731521" y="1235338"/>
                <a:ext cx="11184861" cy="1938992"/>
              </a:xfrm>
              <a:prstGeom prst="rect">
                <a:avLst/>
              </a:prstGeom>
              <a:blipFill rotWithShape="1">
                <a:blip r:embed="rId4"/>
                <a:stretch>
                  <a:fillRect l="-545" t="-1887" r="-872" b="-4717"/>
                </a:stretch>
              </a:blipFill>
            </p:spPr>
            <p:txBody>
              <a:bodyPr/>
              <a:lstStyle/>
              <a:p>
                <a:r>
                  <a:rPr lang="en-PH">
                    <a:noFill/>
                  </a:rPr>
                  <a:t> </a:t>
                </a:r>
              </a:p>
            </p:txBody>
          </p:sp>
        </mc:Fallback>
      </mc:AlternateContent>
      <p:pic>
        <p:nvPicPr>
          <p:cNvPr id="9" name="image13.png" descr="Icon&#10;&#10;Description automatically generated">
            <a:extLst>
              <a:ext uri="{FF2B5EF4-FFF2-40B4-BE49-F238E27FC236}">
                <a16:creationId xmlns:a16="http://schemas.microsoft.com/office/drawing/2014/main" xmlns="" id="{FCA8B220-D9D2-8744-B639-C341089C061D}"/>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9812" cy="749812"/>
          </a:xfrm>
          <a:prstGeom prst="rect">
            <a:avLst/>
          </a:prstGeom>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xmlns="" id="{F21DBF24-F1AE-1640-93FE-BB64D0B91093}"/>
                  </a:ext>
                </a:extLst>
              </p:cNvPr>
              <p:cNvGraphicFramePr>
                <a:graphicFrameLocks noGrp="1"/>
              </p:cNvGraphicFramePr>
              <p:nvPr>
                <p:extLst>
                  <p:ext uri="{D42A27DB-BD31-4B8C-83A1-F6EECF244321}">
                    <p14:modId xmlns:p14="http://schemas.microsoft.com/office/powerpoint/2010/main" val="2409749402"/>
                  </p:ext>
                </p:extLst>
              </p:nvPr>
            </p:nvGraphicFramePr>
            <p:xfrm>
              <a:off x="2591647" y="3310365"/>
              <a:ext cx="7008705" cy="2849880"/>
            </p:xfrm>
            <a:graphic>
              <a:graphicData uri="http://schemas.openxmlformats.org/drawingml/2006/table">
                <a:tbl>
                  <a:tblPr firstRow="1" firstCol="1" bandRow="1"/>
                  <a:tblGrid>
                    <a:gridCol w="2336235">
                      <a:extLst>
                        <a:ext uri="{9D8B030D-6E8A-4147-A177-3AD203B41FA5}">
                          <a16:colId xmlns:a16="http://schemas.microsoft.com/office/drawing/2014/main" xmlns="" val="459820978"/>
                        </a:ext>
                      </a:extLst>
                    </a:gridCol>
                    <a:gridCol w="2336235">
                      <a:extLst>
                        <a:ext uri="{9D8B030D-6E8A-4147-A177-3AD203B41FA5}">
                          <a16:colId xmlns:a16="http://schemas.microsoft.com/office/drawing/2014/main" xmlns="" val="130325759"/>
                        </a:ext>
                      </a:extLst>
                    </a:gridCol>
                    <a:gridCol w="2336235">
                      <a:extLst>
                        <a:ext uri="{9D8B030D-6E8A-4147-A177-3AD203B41FA5}">
                          <a16:colId xmlns:a16="http://schemas.microsoft.com/office/drawing/2014/main" xmlns="" val="3960235876"/>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My Guess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My Work or Explanation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41997028"/>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92789195"/>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28060775"/>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27456438"/>
                      </a:ext>
                    </a:extLst>
                  </a:tr>
                </a:tbl>
              </a:graphicData>
            </a:graphic>
          </p:graphicFrame>
        </mc:Choice>
        <mc:Fallback>
          <p:graphicFrame>
            <p:nvGraphicFramePr>
              <p:cNvPr id="4" name="Table 3">
                <a:extLst>
                  <a:ext uri="{FF2B5EF4-FFF2-40B4-BE49-F238E27FC236}">
                    <a16:creationId xmlns:a16="http://schemas.microsoft.com/office/drawing/2014/main" xmlns:a14="http://schemas.microsoft.com/office/drawing/2010/main" xmlns="" id="{F21DBF24-F1AE-1640-93FE-BB64D0B91093}"/>
                  </a:ext>
                </a:extLst>
              </p:cNvPr>
              <p:cNvGraphicFramePr>
                <a:graphicFrameLocks noGrp="1"/>
              </p:cNvGraphicFramePr>
              <p:nvPr>
                <p:extLst>
                  <p:ext uri="{D42A27DB-BD31-4B8C-83A1-F6EECF244321}">
                    <p14:modId xmlns:p14="http://schemas.microsoft.com/office/powerpoint/2010/main" val="2409749402"/>
                  </p:ext>
                </p:extLst>
              </p:nvPr>
            </p:nvGraphicFramePr>
            <p:xfrm>
              <a:off x="2591647" y="3310365"/>
              <a:ext cx="7008705" cy="2849880"/>
            </p:xfrm>
            <a:graphic>
              <a:graphicData uri="http://schemas.openxmlformats.org/drawingml/2006/table">
                <a:tbl>
                  <a:tblPr firstRow="1" firstCol="1" bandRow="1"/>
                  <a:tblGrid>
                    <a:gridCol w="2336235">
                      <a:extLst>
                        <a:ext uri="{9D8B030D-6E8A-4147-A177-3AD203B41FA5}">
                          <a16:colId xmlns:a16="http://schemas.microsoft.com/office/drawing/2014/main" xmlns:a14="http://schemas.microsoft.com/office/drawing/2010/main" xmlns="" val="459820978"/>
                        </a:ext>
                      </a:extLst>
                    </a:gridCol>
                    <a:gridCol w="2336235">
                      <a:extLst>
                        <a:ext uri="{9D8B030D-6E8A-4147-A177-3AD203B41FA5}">
                          <a16:colId xmlns:a16="http://schemas.microsoft.com/office/drawing/2014/main" xmlns:a14="http://schemas.microsoft.com/office/drawing/2010/main" xmlns="" val="130325759"/>
                        </a:ext>
                      </a:extLst>
                    </a:gridCol>
                    <a:gridCol w="2336235">
                      <a:extLst>
                        <a:ext uri="{9D8B030D-6E8A-4147-A177-3AD203B41FA5}">
                          <a16:colId xmlns:a16="http://schemas.microsoft.com/office/drawing/2014/main" xmlns:a14="http://schemas.microsoft.com/office/drawing/2010/main" xmlns="" val="3960235876"/>
                        </a:ext>
                      </a:extLst>
                    </a:gridCol>
                  </a:tblGrid>
                  <a:tr h="79248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My Guess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My Work or Explanation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41997028"/>
                      </a:ext>
                    </a:extLst>
                  </a:tr>
                  <a:tr h="68580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115044" r="-200261" b="-199115"/>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992789195"/>
                      </a:ext>
                    </a:extLst>
                  </a:tr>
                  <a:tr h="68580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216964" r="-200261" b="-100893"/>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028060775"/>
                      </a:ext>
                    </a:extLst>
                  </a:tr>
                  <a:tr h="68580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314159" r="-200261"/>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827456438"/>
                      </a:ext>
                    </a:extLst>
                  </a:tr>
                </a:tbl>
              </a:graphicData>
            </a:graphic>
          </p:graphicFrame>
        </mc:Fallback>
      </mc:AlternateContent>
    </p:spTree>
    <p:extLst>
      <p:ext uri="{BB962C8B-B14F-4D97-AF65-F5344CB8AC3E}">
        <p14:creationId xmlns:p14="http://schemas.microsoft.com/office/powerpoint/2010/main" val="3538873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2" name="Group 1"/>
          <p:cNvGrpSpPr/>
          <p:nvPr/>
        </p:nvGrpSpPr>
        <p:grpSpPr>
          <a:xfrm>
            <a:off x="2895599" y="4852400"/>
            <a:ext cx="6400802" cy="1619396"/>
            <a:chOff x="1371598" y="3848512"/>
            <a:chExt cx="6400802" cy="1619396"/>
          </a:xfrm>
        </p:grpSpPr>
        <p:pic>
          <p:nvPicPr>
            <p:cNvPr id="7" name="image4.png" descr="Chart&#10;&#10;Description automatically generated">
              <a:extLst>
                <a:ext uri="{FF2B5EF4-FFF2-40B4-BE49-F238E27FC236}">
                  <a16:creationId xmlns:a16="http://schemas.microsoft.com/office/drawing/2014/main" xmlns="" id="{DC3CCA5E-692C-3D46-977C-1DF3372A0F98}"/>
                </a:ext>
              </a:extLst>
            </p:cNvPr>
            <p:cNvPicPr/>
            <p:nvPr/>
          </p:nvPicPr>
          <p:blipFill>
            <a:blip r:embed="rId3" cstate="screen">
              <a:extLst>
                <a:ext uri="{28A0092B-C50C-407E-A947-70E740481C1C}">
                  <a14:useLocalDpi xmlns:a14="http://schemas.microsoft.com/office/drawing/2010/main"/>
                </a:ext>
              </a:extLst>
            </a:blip>
            <a:srcRect t="46060" b="42611"/>
            <a:stretch>
              <a:fillRect/>
            </a:stretch>
          </p:blipFill>
          <p:spPr>
            <a:xfrm>
              <a:off x="1371598" y="4993378"/>
              <a:ext cx="6400801" cy="474530"/>
            </a:xfrm>
            <a:prstGeom prst="rect">
              <a:avLst/>
            </a:prstGeom>
            <a:ln/>
          </p:spPr>
        </p:pic>
        <p:pic>
          <p:nvPicPr>
            <p:cNvPr id="3" name="Picture 2" descr="A group of yellow smiley faces&#10;&#10;Description automatically generated with low confidence">
              <a:extLst>
                <a:ext uri="{FF2B5EF4-FFF2-40B4-BE49-F238E27FC236}">
                  <a16:creationId xmlns:a16="http://schemas.microsoft.com/office/drawing/2014/main" xmlns="" id="{098996C6-9441-AD4E-9AB3-2F1C5F5DB02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71600" y="3848512"/>
              <a:ext cx="6400800" cy="958444"/>
            </a:xfrm>
            <a:prstGeom prst="rect">
              <a:avLst/>
            </a:prstGeom>
          </p:spPr>
        </p:pic>
      </p:grpSp>
      <p:sp>
        <p:nvSpPr>
          <p:cNvPr id="9" name="TextBox 8">
            <a:extLst>
              <a:ext uri="{FF2B5EF4-FFF2-40B4-BE49-F238E27FC236}">
                <a16:creationId xmlns:a16="http://schemas.microsoft.com/office/drawing/2014/main" xmlns="" id="{2FA392D8-3ED3-7940-83A8-1451AA8A08D4}"/>
              </a:ext>
            </a:extLst>
          </p:cNvPr>
          <p:cNvSpPr txBox="1"/>
          <p:nvPr/>
        </p:nvSpPr>
        <p:spPr>
          <a:xfrm>
            <a:off x="431883" y="610226"/>
            <a:ext cx="10800000" cy="4093428"/>
          </a:xfrm>
          <a:prstGeom prst="rect">
            <a:avLst/>
          </a:prstGeom>
          <a:noFill/>
        </p:spPr>
        <p:txBody>
          <a:bodyPr wrap="square" rtlCol="0">
            <a:spAutoFit/>
          </a:bodyPr>
          <a:lstStyle/>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How confident are you in your </a:t>
            </a:r>
            <a:r>
              <a:rPr lang="en-US" sz="2000" dirty="0" smtClean="0">
                <a:latin typeface="Verdana" panose="020B0604030504040204" pitchFamily="34" charset="0"/>
                <a:ea typeface="Verdana" panose="020B0604030504040204" pitchFamily="34" charset="0"/>
                <a:cs typeface="Verdana" panose="020B0604030504040204" pitchFamily="34" charset="0"/>
              </a:rPr>
              <a:t>guesses? Use </a:t>
            </a:r>
            <a:r>
              <a:rPr lang="en-US" sz="2000" dirty="0">
                <a:latin typeface="Verdana" panose="020B0604030504040204" pitchFamily="34" charset="0"/>
                <a:ea typeface="Verdana" panose="020B0604030504040204" pitchFamily="34" charset="0"/>
                <a:cs typeface="Verdana" panose="020B0604030504040204" pitchFamily="34" charset="0"/>
              </a:rPr>
              <a:t>the </a:t>
            </a:r>
            <a:r>
              <a:rPr lang="en-US" sz="2000" dirty="0" err="1">
                <a:latin typeface="Verdana" panose="020B0604030504040204" pitchFamily="34" charset="0"/>
                <a:ea typeface="Verdana" panose="020B0604030504040204" pitchFamily="34" charset="0"/>
                <a:cs typeface="Verdana" panose="020B0604030504040204" pitchFamily="34" charset="0"/>
              </a:rPr>
              <a:t>emoji</a:t>
            </a:r>
            <a:r>
              <a:rPr lang="en-US" sz="2000" dirty="0">
                <a:latin typeface="Verdana" panose="020B0604030504040204" pitchFamily="34" charset="0"/>
                <a:ea typeface="Verdana" panose="020B0604030504040204" pitchFamily="34" charset="0"/>
                <a:cs typeface="Verdana" panose="020B0604030504040204" pitchFamily="34" charset="0"/>
              </a:rPr>
              <a:t> scale to rate your confidence in your guesses.</a:t>
            </a:r>
          </a:p>
        </p:txBody>
      </p:sp>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94</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10" name="Table 9">
                <a:extLst>
                  <a:ext uri="{FF2B5EF4-FFF2-40B4-BE49-F238E27FC236}">
                    <a16:creationId xmlns:a16="http://schemas.microsoft.com/office/drawing/2014/main" xmlns="" id="{F21DBF24-F1AE-1640-93FE-BB64D0B91093}"/>
                  </a:ext>
                </a:extLst>
              </p:cNvPr>
              <p:cNvGraphicFramePr>
                <a:graphicFrameLocks noGrp="1"/>
              </p:cNvGraphicFramePr>
              <p:nvPr>
                <p:extLst>
                  <p:ext uri="{D42A27DB-BD31-4B8C-83A1-F6EECF244321}">
                    <p14:modId xmlns:p14="http://schemas.microsoft.com/office/powerpoint/2010/main" val="3915826839"/>
                  </p:ext>
                </p:extLst>
              </p:nvPr>
            </p:nvGraphicFramePr>
            <p:xfrm>
              <a:off x="2580639" y="520393"/>
              <a:ext cx="7008705" cy="3032697"/>
            </p:xfrm>
            <a:graphic>
              <a:graphicData uri="http://schemas.openxmlformats.org/drawingml/2006/table">
                <a:tbl>
                  <a:tblPr firstRow="1" firstCol="1" bandRow="1"/>
                  <a:tblGrid>
                    <a:gridCol w="2336235">
                      <a:extLst>
                        <a:ext uri="{9D8B030D-6E8A-4147-A177-3AD203B41FA5}">
                          <a16:colId xmlns:a16="http://schemas.microsoft.com/office/drawing/2014/main" xmlns="" val="459820978"/>
                        </a:ext>
                      </a:extLst>
                    </a:gridCol>
                    <a:gridCol w="2336235">
                      <a:extLst>
                        <a:ext uri="{9D8B030D-6E8A-4147-A177-3AD203B41FA5}">
                          <a16:colId xmlns:a16="http://schemas.microsoft.com/office/drawing/2014/main" xmlns="" val="130325759"/>
                        </a:ext>
                      </a:extLst>
                    </a:gridCol>
                    <a:gridCol w="2336235">
                      <a:extLst>
                        <a:ext uri="{9D8B030D-6E8A-4147-A177-3AD203B41FA5}">
                          <a16:colId xmlns:a16="http://schemas.microsoft.com/office/drawing/2014/main" xmlns="" val="3960235876"/>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My Guess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My Work or Explanation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41997028"/>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56208829"/>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d>
                                      <m:dPr>
                                        <m:ctrlPr>
                                          <a:rPr lang="x-none" sz="2000" i="1">
                                            <a:effectLst/>
                                            <a:latin typeface="Cambria Math"/>
                                            <a:ea typeface="Times New Roman" panose="02020603050405020304" pitchFamily="18" charset="0"/>
                                            <a:cs typeface="Times New Roman" panose="02020603050405020304" pitchFamily="18" charset="0"/>
                                          </a:rPr>
                                        </m:ctrlPr>
                                      </m:dPr>
                                      <m:e>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84376726"/>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sup>
                                    </m:sSup>
                                  </m:den>
                                </m:f>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55280520"/>
                      </a:ext>
                    </a:extLst>
                  </a:tr>
                </a:tbl>
              </a:graphicData>
            </a:graphic>
          </p:graphicFrame>
        </mc:Choice>
        <mc:Fallback>
          <p:graphicFrame>
            <p:nvGraphicFramePr>
              <p:cNvPr id="10" name="Table 9">
                <a:extLst>
                  <a:ext uri="{FF2B5EF4-FFF2-40B4-BE49-F238E27FC236}">
                    <a16:creationId xmlns:a16="http://schemas.microsoft.com/office/drawing/2014/main" xmlns:a14="http://schemas.microsoft.com/office/drawing/2010/main" xmlns="" id="{F21DBF24-F1AE-1640-93FE-BB64D0B91093}"/>
                  </a:ext>
                </a:extLst>
              </p:cNvPr>
              <p:cNvGraphicFramePr>
                <a:graphicFrameLocks noGrp="1"/>
              </p:cNvGraphicFramePr>
              <p:nvPr>
                <p:extLst>
                  <p:ext uri="{D42A27DB-BD31-4B8C-83A1-F6EECF244321}">
                    <p14:modId xmlns:p14="http://schemas.microsoft.com/office/powerpoint/2010/main" val="3915826839"/>
                  </p:ext>
                </p:extLst>
              </p:nvPr>
            </p:nvGraphicFramePr>
            <p:xfrm>
              <a:off x="2580639" y="520393"/>
              <a:ext cx="7008705" cy="3032697"/>
            </p:xfrm>
            <a:graphic>
              <a:graphicData uri="http://schemas.openxmlformats.org/drawingml/2006/table">
                <a:tbl>
                  <a:tblPr firstRow="1" firstCol="1" bandRow="1"/>
                  <a:tblGrid>
                    <a:gridCol w="2336235">
                      <a:extLst>
                        <a:ext uri="{9D8B030D-6E8A-4147-A177-3AD203B41FA5}">
                          <a16:colId xmlns:a16="http://schemas.microsoft.com/office/drawing/2014/main" xmlns:a14="http://schemas.microsoft.com/office/drawing/2010/main" xmlns="" val="459820978"/>
                        </a:ext>
                      </a:extLst>
                    </a:gridCol>
                    <a:gridCol w="2336235">
                      <a:extLst>
                        <a:ext uri="{9D8B030D-6E8A-4147-A177-3AD203B41FA5}">
                          <a16:colId xmlns:a16="http://schemas.microsoft.com/office/drawing/2014/main" xmlns:a14="http://schemas.microsoft.com/office/drawing/2010/main" xmlns="" val="130325759"/>
                        </a:ext>
                      </a:extLst>
                    </a:gridCol>
                    <a:gridCol w="2336235">
                      <a:extLst>
                        <a:ext uri="{9D8B030D-6E8A-4147-A177-3AD203B41FA5}">
                          <a16:colId xmlns:a16="http://schemas.microsoft.com/office/drawing/2014/main" xmlns:a14="http://schemas.microsoft.com/office/drawing/2010/main" xmlns="" val="3960235876"/>
                        </a:ext>
                      </a:extLst>
                    </a:gridCol>
                  </a:tblGrid>
                  <a:tr h="79248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My Guess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My Work or Explanation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41997028"/>
                      </a:ext>
                    </a:extLst>
                  </a:tr>
                  <a:tr h="755523">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104839" r="-200522" b="-196774"/>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256208829"/>
                      </a:ext>
                    </a:extLst>
                  </a:tr>
                  <a:tr h="68580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224779" r="-200522" b="-115929"/>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684376726"/>
                      </a:ext>
                    </a:extLst>
                  </a:tr>
                  <a:tr h="798894">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280153" r="-200522"/>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755280520"/>
                      </a:ext>
                    </a:extLst>
                  </a:tr>
                </a:tbl>
              </a:graphicData>
            </a:graphic>
          </p:graphicFrame>
        </mc:Fallback>
      </mc:AlternateContent>
    </p:spTree>
    <p:extLst>
      <p:ext uri="{BB962C8B-B14F-4D97-AF65-F5344CB8AC3E}">
        <p14:creationId xmlns:p14="http://schemas.microsoft.com/office/powerpoint/2010/main" val="3835331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95</a:t>
            </a:r>
            <a:endParaRPr i="1" dirty="0">
              <a:latin typeface="Calibri"/>
              <a:ea typeface="Calibri"/>
              <a:cs typeface="Calibri"/>
              <a:sym typeface="Calibri"/>
            </a:endParaRPr>
          </a:p>
        </p:txBody>
      </p:sp>
      <p:sp>
        <p:nvSpPr>
          <p:cNvPr id="8" name="Google Shape;313;g104476d1465_1_39">
            <a:extLst>
              <a:ext uri="{FF2B5EF4-FFF2-40B4-BE49-F238E27FC236}">
                <a16:creationId xmlns:a16="http://schemas.microsoft.com/office/drawing/2014/main" xmlns="" id="{704F9E4B-A4BA-594F-8B53-1BC9CEA0806F}"/>
              </a:ext>
            </a:extLst>
          </p:cNvPr>
          <p:cNvSpPr txBox="1">
            <a:spLocks/>
          </p:cNvSpPr>
          <p:nvPr/>
        </p:nvSpPr>
        <p:spPr>
          <a:xfrm>
            <a:off x="4122197" y="2766150"/>
            <a:ext cx="5002742"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5400" b="1">
                <a:solidFill>
                  <a:srgbClr val="33BEA6"/>
                </a:solidFill>
                <a:latin typeface="Verdana"/>
                <a:ea typeface="Verdana"/>
                <a:cs typeface="Verdana"/>
                <a:sym typeface="Verdana"/>
              </a:rPr>
              <a:t>Exploration</a:t>
            </a:r>
            <a:endParaRPr lang="en-US" sz="4800" b="1" dirty="0">
              <a:solidFill>
                <a:srgbClr val="33BEA6"/>
              </a:solidFill>
              <a:latin typeface="Verdana"/>
              <a:ea typeface="Verdana"/>
              <a:cs typeface="Verdana"/>
              <a:sym typeface="Verdana"/>
            </a:endParaRPr>
          </a:p>
        </p:txBody>
      </p:sp>
      <p:pic>
        <p:nvPicPr>
          <p:cNvPr id="10" name="image10.png" descr="Icon&#10;&#10;Description automatically generated">
            <a:extLst>
              <a:ext uri="{FF2B5EF4-FFF2-40B4-BE49-F238E27FC236}">
                <a16:creationId xmlns:a16="http://schemas.microsoft.com/office/drawing/2014/main" xmlns="" id="{159B80BF-E52D-C140-A2C3-1D6C6068B8BD}"/>
              </a:ext>
            </a:extLst>
          </p:cNvPr>
          <p:cNvPicPr/>
          <p:nvPr/>
        </p:nvPicPr>
        <p:blipFill>
          <a:blip r:embed="rId4"/>
          <a:srcRect/>
          <a:stretch>
            <a:fillRect/>
          </a:stretch>
        </p:blipFill>
        <p:spPr>
          <a:xfrm>
            <a:off x="3054096" y="2852928"/>
            <a:ext cx="1152145" cy="115214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946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9843" y="-86777"/>
            <a:ext cx="1095215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3.3.4 Exploration: Using a Calculator to Check</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xmlns="" id="{B46B19A2-BBA2-0441-AC88-F1F62E75949B}"/>
                  </a:ext>
                </a:extLst>
              </p:cNvPr>
              <p:cNvSpPr txBox="1"/>
              <p:nvPr/>
            </p:nvSpPr>
            <p:spPr>
              <a:xfrm>
                <a:off x="731520" y="1361158"/>
                <a:ext cx="11087585"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a calculator to complete the following.</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value of each mathematical statement. Then, if possible, rewrite the value as a power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1" name="TextBox 10">
                <a:extLst>
                  <a:ext uri="{FF2B5EF4-FFF2-40B4-BE49-F238E27FC236}">
                    <a16:creationId xmlns:a16="http://schemas.microsoft.com/office/drawing/2014/main" id="{B46B19A2-BBA2-0441-AC88-F1F62E75949B}"/>
                  </a:ext>
                </a:extLst>
              </p:cNvPr>
              <p:cNvSpPr txBox="1">
                <a:spLocks noRot="1" noChangeAspect="1" noMove="1" noResize="1" noEditPoints="1" noAdjustHandles="1" noChangeArrowheads="1" noChangeShapeType="1" noTextEdit="1"/>
              </p:cNvSpPr>
              <p:nvPr/>
            </p:nvSpPr>
            <p:spPr>
              <a:xfrm>
                <a:off x="731520" y="1361158"/>
                <a:ext cx="11087585" cy="1323439"/>
              </a:xfrm>
              <a:prstGeom prst="rect">
                <a:avLst/>
              </a:prstGeom>
              <a:blipFill>
                <a:blip r:embed="rId4"/>
                <a:stretch>
                  <a:fillRect l="-572" t="-2857" r="-343" b="-6667"/>
                </a:stretch>
              </a:blipFill>
            </p:spPr>
            <p:txBody>
              <a:bodyPr/>
              <a:lstStyle/>
              <a:p>
                <a:r>
                  <a:rPr lang="en-US">
                    <a:noFill/>
                  </a:rPr>
                  <a:t> </a:t>
                </a:r>
              </a:p>
            </p:txBody>
          </p:sp>
        </mc:Fallback>
      </mc:AlternateContent>
      <p:pic>
        <p:nvPicPr>
          <p:cNvPr id="9" name="image10.png" descr="Icon&#10;&#10;Description automatically generated">
            <a:extLst>
              <a:ext uri="{FF2B5EF4-FFF2-40B4-BE49-F238E27FC236}">
                <a16:creationId xmlns:a16="http://schemas.microsoft.com/office/drawing/2014/main" xmlns="" id="{C2C895B7-1A64-DF43-AC1E-116411E68B17}"/>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9811" cy="749811"/>
          </a:xfrm>
          <a:prstGeom prst="rect">
            <a:avLst/>
          </a:prstGeom>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xmlns="" id="{A3A01E54-4205-0348-B8D8-38DF44F762C4}"/>
                  </a:ext>
                </a:extLst>
              </p:cNvPr>
              <p:cNvGraphicFramePr>
                <a:graphicFrameLocks noGrp="1"/>
              </p:cNvGraphicFramePr>
              <p:nvPr>
                <p:extLst>
                  <p:ext uri="{D42A27DB-BD31-4B8C-83A1-F6EECF244321}">
                    <p14:modId xmlns:p14="http://schemas.microsoft.com/office/powerpoint/2010/main" val="2756612138"/>
                  </p:ext>
                </p:extLst>
              </p:nvPr>
            </p:nvGraphicFramePr>
            <p:xfrm>
              <a:off x="2584704" y="2806832"/>
              <a:ext cx="7022592" cy="3154680"/>
            </p:xfrm>
            <a:graphic>
              <a:graphicData uri="http://schemas.openxmlformats.org/drawingml/2006/table">
                <a:tbl>
                  <a:tblPr firstRow="1" firstCol="1" bandRow="1"/>
                  <a:tblGrid>
                    <a:gridCol w="2340864">
                      <a:extLst>
                        <a:ext uri="{9D8B030D-6E8A-4147-A177-3AD203B41FA5}">
                          <a16:colId xmlns:a16="http://schemas.microsoft.com/office/drawing/2014/main" xmlns="" val="934880005"/>
                        </a:ext>
                      </a:extLst>
                    </a:gridCol>
                    <a:gridCol w="2340864">
                      <a:extLst>
                        <a:ext uri="{9D8B030D-6E8A-4147-A177-3AD203B41FA5}">
                          <a16:colId xmlns:a16="http://schemas.microsoft.com/office/drawing/2014/main" xmlns="" val="3624644448"/>
                        </a:ext>
                      </a:extLst>
                    </a:gridCol>
                    <a:gridCol w="2340864">
                      <a:extLst>
                        <a:ext uri="{9D8B030D-6E8A-4147-A177-3AD203B41FA5}">
                          <a16:colId xmlns:a16="http://schemas.microsoft.com/office/drawing/2014/main" xmlns="" val="70958507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 Found Using the Calculator</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 Written as a Power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𝟏𝟎</m:t>
                              </m:r>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2193049742"/>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55410965"/>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164547"/>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98359797"/>
                      </a:ext>
                    </a:extLst>
                  </a:tr>
                </a:tbl>
              </a:graphicData>
            </a:graphic>
          </p:graphicFrame>
        </mc:Choice>
        <mc:Fallback>
          <p:graphicFrame>
            <p:nvGraphicFramePr>
              <p:cNvPr id="4" name="Table 3">
                <a:extLst>
                  <a:ext uri="{FF2B5EF4-FFF2-40B4-BE49-F238E27FC236}">
                    <a16:creationId xmlns:a16="http://schemas.microsoft.com/office/drawing/2014/main" xmlns:a14="http://schemas.microsoft.com/office/drawing/2010/main" xmlns="" id="{A3A01E54-4205-0348-B8D8-38DF44F762C4}"/>
                  </a:ext>
                </a:extLst>
              </p:cNvPr>
              <p:cNvGraphicFramePr>
                <a:graphicFrameLocks noGrp="1"/>
              </p:cNvGraphicFramePr>
              <p:nvPr>
                <p:extLst>
                  <p:ext uri="{D42A27DB-BD31-4B8C-83A1-F6EECF244321}">
                    <p14:modId xmlns:p14="http://schemas.microsoft.com/office/powerpoint/2010/main" val="2756612138"/>
                  </p:ext>
                </p:extLst>
              </p:nvPr>
            </p:nvGraphicFramePr>
            <p:xfrm>
              <a:off x="2584704" y="2806832"/>
              <a:ext cx="7022592" cy="3154680"/>
            </p:xfrm>
            <a:graphic>
              <a:graphicData uri="http://schemas.openxmlformats.org/drawingml/2006/table">
                <a:tbl>
                  <a:tblPr firstRow="1" firstCol="1" bandRow="1"/>
                  <a:tblGrid>
                    <a:gridCol w="2340864">
                      <a:extLst>
                        <a:ext uri="{9D8B030D-6E8A-4147-A177-3AD203B41FA5}">
                          <a16:colId xmlns:a16="http://schemas.microsoft.com/office/drawing/2014/main" xmlns:a14="http://schemas.microsoft.com/office/drawing/2010/main" xmlns="" val="934880005"/>
                        </a:ext>
                      </a:extLst>
                    </a:gridCol>
                    <a:gridCol w="2340864">
                      <a:extLst>
                        <a:ext uri="{9D8B030D-6E8A-4147-A177-3AD203B41FA5}">
                          <a16:colId xmlns:a16="http://schemas.microsoft.com/office/drawing/2014/main" xmlns:a14="http://schemas.microsoft.com/office/drawing/2010/main" xmlns="" val="3624644448"/>
                        </a:ext>
                      </a:extLst>
                    </a:gridCol>
                    <a:gridCol w="2340864">
                      <a:extLst>
                        <a:ext uri="{9D8B030D-6E8A-4147-A177-3AD203B41FA5}">
                          <a16:colId xmlns:a16="http://schemas.microsoft.com/office/drawing/2014/main" xmlns:a14="http://schemas.microsoft.com/office/drawing/2010/main" xmlns="" val="709585078"/>
                        </a:ext>
                      </a:extLst>
                    </a:gridCol>
                  </a:tblGrid>
                  <a:tr h="109728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 Found Using the Calculator</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00000" b="-187778"/>
                          </a:stretch>
                        </a:blipFill>
                      </a:tcPr>
                    </a:tc>
                    <a:extLst>
                      <a:ext uri="{0D108BD9-81ED-4DB2-BD59-A6C34878D82A}">
                        <a16:rowId xmlns:a16="http://schemas.microsoft.com/office/drawing/2014/main" xmlns:a14="http://schemas.microsoft.com/office/drawing/2010/main" xmlns="" val="2193049742"/>
                      </a:ext>
                    </a:extLst>
                  </a:tr>
                  <a:tr h="68580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159292" r="-200000" b="-19911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555410965"/>
                      </a:ext>
                    </a:extLst>
                  </a:tr>
                  <a:tr h="68580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261607" r="-200000" b="-100893"/>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950164547"/>
                      </a:ext>
                    </a:extLst>
                  </a:tr>
                  <a:tr h="68580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358407" r="-200000"/>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298359797"/>
                      </a:ext>
                    </a:extLst>
                  </a:tr>
                </a:tbl>
              </a:graphicData>
            </a:graphic>
          </p:graphicFrame>
        </mc:Fallback>
      </mc:AlternateContent>
    </p:spTree>
    <p:extLst>
      <p:ext uri="{BB962C8B-B14F-4D97-AF65-F5344CB8AC3E}">
        <p14:creationId xmlns:p14="http://schemas.microsoft.com/office/powerpoint/2010/main" val="3199188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95</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xmlns="" id="{2FA392D8-3ED3-7940-83A8-1451AA8A08D4}"/>
                  </a:ext>
                </a:extLst>
              </p:cNvPr>
              <p:cNvSpPr txBox="1"/>
              <p:nvPr/>
            </p:nvSpPr>
            <p:spPr>
              <a:xfrm>
                <a:off x="538137" y="687842"/>
                <a:ext cx="11162632" cy="5016758"/>
              </a:xfrm>
              <a:prstGeom prst="rect">
                <a:avLst/>
              </a:prstGeom>
              <a:noFill/>
            </p:spPr>
            <p:txBody>
              <a:bodyPr wrap="square" rtlCol="0">
                <a:spAutoFit/>
              </a:bodyPr>
              <a:lstStyle/>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Compare your earlier guesses to the values you found for each expression, using a calculator.</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mathematical statements could be rewritten using a power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and which could not be. Summarize your findings.</a:t>
                </a:r>
              </a:p>
            </p:txBody>
          </p:sp>
        </mc:Choice>
        <mc:Fallback>
          <p:sp>
            <p:nvSpPr>
              <p:cNvPr id="9" name="TextBox 8">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8137" y="687842"/>
                <a:ext cx="11162632" cy="5016758"/>
              </a:xfrm>
              <a:prstGeom prst="rect">
                <a:avLst/>
              </a:prstGeom>
              <a:blipFill rotWithShape="1">
                <a:blip r:embed="rId4"/>
                <a:stretch>
                  <a:fillRect b="-1215"/>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xmlns="" id="{A3A01E54-4205-0348-B8D8-38DF44F762C4}"/>
                  </a:ext>
                </a:extLst>
              </p:cNvPr>
              <p:cNvGraphicFramePr>
                <a:graphicFrameLocks noGrp="1"/>
              </p:cNvGraphicFramePr>
              <p:nvPr>
                <p:extLst>
                  <p:ext uri="{D42A27DB-BD31-4B8C-83A1-F6EECF244321}">
                    <p14:modId xmlns:p14="http://schemas.microsoft.com/office/powerpoint/2010/main" val="1407016519"/>
                  </p:ext>
                </p:extLst>
              </p:nvPr>
            </p:nvGraphicFramePr>
            <p:xfrm>
              <a:off x="2584704" y="520393"/>
              <a:ext cx="7022592" cy="3337497"/>
            </p:xfrm>
            <a:graphic>
              <a:graphicData uri="http://schemas.openxmlformats.org/drawingml/2006/table">
                <a:tbl>
                  <a:tblPr firstRow="1" firstCol="1" bandRow="1"/>
                  <a:tblGrid>
                    <a:gridCol w="2340864">
                      <a:extLst>
                        <a:ext uri="{9D8B030D-6E8A-4147-A177-3AD203B41FA5}">
                          <a16:colId xmlns:a16="http://schemas.microsoft.com/office/drawing/2014/main" xmlns="" val="934880005"/>
                        </a:ext>
                      </a:extLst>
                    </a:gridCol>
                    <a:gridCol w="2340864">
                      <a:extLst>
                        <a:ext uri="{9D8B030D-6E8A-4147-A177-3AD203B41FA5}">
                          <a16:colId xmlns:a16="http://schemas.microsoft.com/office/drawing/2014/main" xmlns="" val="3624644448"/>
                        </a:ext>
                      </a:extLst>
                    </a:gridCol>
                    <a:gridCol w="2340864">
                      <a:extLst>
                        <a:ext uri="{9D8B030D-6E8A-4147-A177-3AD203B41FA5}">
                          <a16:colId xmlns:a16="http://schemas.microsoft.com/office/drawing/2014/main" xmlns="" val="70958507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Value Found Using the Calculator</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 Written as a Power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𝟏𝟎</m:t>
                              </m:r>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2193049742"/>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81130364"/>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d>
                                      <m:dPr>
                                        <m:ctrlPr>
                                          <a:rPr lang="x-none" sz="2000" i="1">
                                            <a:effectLst/>
                                            <a:latin typeface="Cambria Math"/>
                                            <a:ea typeface="Times New Roman" panose="02020603050405020304" pitchFamily="18" charset="0"/>
                                            <a:cs typeface="Times New Roman" panose="02020603050405020304" pitchFamily="18" charset="0"/>
                                          </a:rPr>
                                        </m:ctrlPr>
                                      </m:dPr>
                                      <m:e>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74703948"/>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sup>
                                    </m:sSup>
                                  </m:den>
                                </m:f>
                              </m:oMath>
                            </m:oMathPara>
                          </a14:m>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97416658"/>
                      </a:ext>
                    </a:extLst>
                  </a:tr>
                </a:tbl>
              </a:graphicData>
            </a:graphic>
          </p:graphicFrame>
        </mc:Choice>
        <mc:Fallback>
          <p:graphicFrame>
            <p:nvGraphicFramePr>
              <p:cNvPr id="7" name="Table 6">
                <a:extLst>
                  <a:ext uri="{FF2B5EF4-FFF2-40B4-BE49-F238E27FC236}">
                    <a16:creationId xmlns:a16="http://schemas.microsoft.com/office/drawing/2014/main" xmlns:a14="http://schemas.microsoft.com/office/drawing/2010/main" xmlns="" id="{A3A01E54-4205-0348-B8D8-38DF44F762C4}"/>
                  </a:ext>
                </a:extLst>
              </p:cNvPr>
              <p:cNvGraphicFramePr>
                <a:graphicFrameLocks noGrp="1"/>
              </p:cNvGraphicFramePr>
              <p:nvPr>
                <p:extLst>
                  <p:ext uri="{D42A27DB-BD31-4B8C-83A1-F6EECF244321}">
                    <p14:modId xmlns:p14="http://schemas.microsoft.com/office/powerpoint/2010/main" val="1407016519"/>
                  </p:ext>
                </p:extLst>
              </p:nvPr>
            </p:nvGraphicFramePr>
            <p:xfrm>
              <a:off x="2584704" y="520393"/>
              <a:ext cx="7022592" cy="3337497"/>
            </p:xfrm>
            <a:graphic>
              <a:graphicData uri="http://schemas.openxmlformats.org/drawingml/2006/table">
                <a:tbl>
                  <a:tblPr firstRow="1" firstCol="1" bandRow="1"/>
                  <a:tblGrid>
                    <a:gridCol w="2340864">
                      <a:extLst>
                        <a:ext uri="{9D8B030D-6E8A-4147-A177-3AD203B41FA5}">
                          <a16:colId xmlns:a16="http://schemas.microsoft.com/office/drawing/2014/main" xmlns:a14="http://schemas.microsoft.com/office/drawing/2010/main" xmlns="" val="934880005"/>
                        </a:ext>
                      </a:extLst>
                    </a:gridCol>
                    <a:gridCol w="2340864">
                      <a:extLst>
                        <a:ext uri="{9D8B030D-6E8A-4147-A177-3AD203B41FA5}">
                          <a16:colId xmlns:a16="http://schemas.microsoft.com/office/drawing/2014/main" xmlns:a14="http://schemas.microsoft.com/office/drawing/2010/main" xmlns="" val="3624644448"/>
                        </a:ext>
                      </a:extLst>
                    </a:gridCol>
                    <a:gridCol w="2340864">
                      <a:extLst>
                        <a:ext uri="{9D8B030D-6E8A-4147-A177-3AD203B41FA5}">
                          <a16:colId xmlns:a16="http://schemas.microsoft.com/office/drawing/2014/main" xmlns:a14="http://schemas.microsoft.com/office/drawing/2010/main" xmlns="" val="709585078"/>
                        </a:ext>
                      </a:extLst>
                    </a:gridCol>
                  </a:tblGrid>
                  <a:tr h="109728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Value Found Using the Calculator</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000" b="-204444"/>
                          </a:stretch>
                        </a:blipFill>
                      </a:tcPr>
                    </a:tc>
                    <a:extLst>
                      <a:ext uri="{0D108BD9-81ED-4DB2-BD59-A6C34878D82A}">
                        <a16:rowId xmlns:a16="http://schemas.microsoft.com/office/drawing/2014/main" xmlns:a14="http://schemas.microsoft.com/office/drawing/2010/main" xmlns="" val="2193049742"/>
                      </a:ext>
                    </a:extLst>
                  </a:tr>
                  <a:tr h="755523">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45161" r="-200000" b="-196774"/>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981130364"/>
                      </a:ext>
                    </a:extLst>
                  </a:tr>
                  <a:tr h="68580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69027" r="-200000" b="-115929"/>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074703948"/>
                      </a:ext>
                    </a:extLst>
                  </a:tr>
                  <a:tr h="798894">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18321" r="-200000"/>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697416658"/>
                      </a:ext>
                    </a:extLst>
                  </a:tr>
                </a:tbl>
              </a:graphicData>
            </a:graphic>
          </p:graphicFrame>
        </mc:Fallback>
      </mc:AlternateContent>
    </p:spTree>
    <p:extLst>
      <p:ext uri="{BB962C8B-B14F-4D97-AF65-F5344CB8AC3E}">
        <p14:creationId xmlns:p14="http://schemas.microsoft.com/office/powerpoint/2010/main" val="1228207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95</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D51ED9AD-09DD-3940-B19B-34AE1F7FA132}"/>
                  </a:ext>
                </a:extLst>
              </p:cNvPr>
              <p:cNvGraphicFramePr>
                <a:graphicFrameLocks noGrp="1"/>
              </p:cNvGraphicFramePr>
              <p:nvPr>
                <p:extLst>
                  <p:ext uri="{D42A27DB-BD31-4B8C-83A1-F6EECF244321}">
                    <p14:modId xmlns:p14="http://schemas.microsoft.com/office/powerpoint/2010/main" val="2871807488"/>
                  </p:ext>
                </p:extLst>
              </p:nvPr>
            </p:nvGraphicFramePr>
            <p:xfrm>
              <a:off x="2588150" y="1388745"/>
              <a:ext cx="7242048" cy="4918774"/>
            </p:xfrm>
            <a:graphic>
              <a:graphicData uri="http://schemas.openxmlformats.org/drawingml/2006/table">
                <a:tbl>
                  <a:tblPr firstRow="1" firstCol="1" bandRow="1"/>
                  <a:tblGrid>
                    <a:gridCol w="2340864">
                      <a:extLst>
                        <a:ext uri="{9D8B030D-6E8A-4147-A177-3AD203B41FA5}">
                          <a16:colId xmlns:a16="http://schemas.microsoft.com/office/drawing/2014/main" xmlns="" val="3232769511"/>
                        </a:ext>
                      </a:extLst>
                    </a:gridCol>
                    <a:gridCol w="2560320">
                      <a:extLst>
                        <a:ext uri="{9D8B030D-6E8A-4147-A177-3AD203B41FA5}">
                          <a16:colId xmlns:a16="http://schemas.microsoft.com/office/drawing/2014/main" xmlns="" val="3204310662"/>
                        </a:ext>
                      </a:extLst>
                    </a:gridCol>
                    <a:gridCol w="2340864">
                      <a:extLst>
                        <a:ext uri="{9D8B030D-6E8A-4147-A177-3AD203B41FA5}">
                          <a16:colId xmlns:a16="http://schemas.microsoft.com/office/drawing/2014/main" xmlns="" val="65427212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 Written as a Power 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𝟏𝟎</m:t>
                              </m:r>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Law of Exponents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4222013096"/>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d>
                                  <m:dPr>
                                    <m:ctrlPr>
                                      <a:rPr lang="x-none" sz="2000" i="1">
                                        <a:effectLst/>
                                        <a:latin typeface="Cambria Math"/>
                                        <a:ea typeface="Times New Roman" panose="02020603050405020304" pitchFamily="18" charset="0"/>
                                        <a:cs typeface="Times New Roman" panose="02020603050405020304" pitchFamily="18" charset="0"/>
                                      </a:rPr>
                                    </m:ctrlPr>
                                  </m:dPr>
                                  <m:e>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sup>
                                    </m:sSup>
                                  </m:e>
                                </m:d>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09870108"/>
                      </a:ext>
                    </a:extLst>
                  </a:tr>
                  <a:tr h="548640">
                    <a:tc>
                      <a:txBody>
                        <a:bodyPr/>
                        <a:lstStyle/>
                        <a:p>
                          <a:pPr marL="0" marR="0" algn="ctr">
                            <a:spcBef>
                              <a:spcPts val="0"/>
                            </a:spcBef>
                            <a:spcAft>
                              <a:spcPts val="0"/>
                            </a:spcAft>
                          </a:pPr>
                          <a14:m>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−11</m:t>
                                      </m:r>
                                    </m:sup>
                                  </m:sSup>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a14:m>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99785257"/>
                      </a:ext>
                    </a:extLst>
                  </a:tr>
                  <a:tr h="548640">
                    <a:tc>
                      <a:txBody>
                        <a:bodyPr/>
                        <a:lstStyle/>
                        <a:p>
                          <a:pPr marL="0" marR="0" algn="ctr">
                            <a:spcBef>
                              <a:spcPts val="0"/>
                            </a:spcBef>
                            <a:spcAft>
                              <a:spcPts val="0"/>
                            </a:spcAft>
                          </a:pPr>
                          <a14:m>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sup>
                                  </m:sSup>
                                </m:den>
                              </m:f>
                            </m:oMath>
                          </a14:m>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1317538"/>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d>
                                      <m:dPr>
                                        <m:ctrlPr>
                                          <a:rPr lang="x-none" sz="2000" i="1">
                                            <a:effectLst/>
                                            <a:latin typeface="Cambria Math"/>
                                            <a:ea typeface="Times New Roman" panose="02020603050405020304" pitchFamily="18" charset="0"/>
                                            <a:cs typeface="Times New Roman" panose="02020603050405020304" pitchFamily="18" charset="0"/>
                                          </a:rPr>
                                        </m:ctrlPr>
                                      </m:dPr>
                                      <m:e>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10445655"/>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−14</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44657337"/>
                      </a:ext>
                    </a:extLst>
                  </a:tr>
                  <a:tr h="548640">
                    <a:tc>
                      <a:txBody>
                        <a:bodyPr/>
                        <a:lstStyle/>
                        <a:p>
                          <a:pPr marL="0" marR="0" algn="ctr">
                            <a:spcBef>
                              <a:spcPts val="0"/>
                            </a:spcBef>
                            <a:spcAft>
                              <a:spcPts val="0"/>
                            </a:spcAft>
                          </a:pPr>
                          <a14:m>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sup>
                                  </m:sSup>
                                </m:den>
                              </m:f>
                            </m:oMath>
                          </a14:m>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63670042"/>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d>
                                      <m:dPr>
                                        <m:ctrlPr>
                                          <a:rPr lang="x-none" sz="2000" i="1">
                                            <a:effectLst/>
                                            <a:latin typeface="Cambria Math"/>
                                            <a:ea typeface="Times New Roman" panose="02020603050405020304" pitchFamily="18" charset="0"/>
                                            <a:cs typeface="Times New Roman" panose="02020603050405020304" pitchFamily="18" charset="0"/>
                                          </a:rPr>
                                        </m:ctrlPr>
                                      </m:dPr>
                                      <m:e>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12</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25909894"/>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D51ED9AD-09DD-3940-B19B-34AE1F7FA132}"/>
                  </a:ext>
                </a:extLst>
              </p:cNvPr>
              <p:cNvGraphicFramePr>
                <a:graphicFrameLocks noGrp="1"/>
              </p:cNvGraphicFramePr>
              <p:nvPr>
                <p:extLst>
                  <p:ext uri="{D42A27DB-BD31-4B8C-83A1-F6EECF244321}">
                    <p14:modId xmlns:p14="http://schemas.microsoft.com/office/powerpoint/2010/main" val="2871807488"/>
                  </p:ext>
                </p:extLst>
              </p:nvPr>
            </p:nvGraphicFramePr>
            <p:xfrm>
              <a:off x="2588150" y="1388745"/>
              <a:ext cx="7242048" cy="4918774"/>
            </p:xfrm>
            <a:graphic>
              <a:graphicData uri="http://schemas.openxmlformats.org/drawingml/2006/table">
                <a:tbl>
                  <a:tblPr firstRow="1" firstCol="1" bandRow="1"/>
                  <a:tblGrid>
                    <a:gridCol w="2340864">
                      <a:extLst>
                        <a:ext uri="{9D8B030D-6E8A-4147-A177-3AD203B41FA5}">
                          <a16:colId xmlns:a16="http://schemas.microsoft.com/office/drawing/2014/main" xmlns:a14="http://schemas.microsoft.com/office/drawing/2010/main" xmlns="" val="3232769511"/>
                        </a:ext>
                      </a:extLst>
                    </a:gridCol>
                    <a:gridCol w="2560320">
                      <a:extLst>
                        <a:ext uri="{9D8B030D-6E8A-4147-A177-3AD203B41FA5}">
                          <a16:colId xmlns:a16="http://schemas.microsoft.com/office/drawing/2014/main" xmlns:a14="http://schemas.microsoft.com/office/drawing/2010/main" xmlns="" val="3204310662"/>
                        </a:ext>
                      </a:extLst>
                    </a:gridCol>
                    <a:gridCol w="2340864">
                      <a:extLst>
                        <a:ext uri="{9D8B030D-6E8A-4147-A177-3AD203B41FA5}">
                          <a16:colId xmlns:a16="http://schemas.microsoft.com/office/drawing/2014/main" xmlns:a14="http://schemas.microsoft.com/office/drawing/2010/main" xmlns="" val="654272122"/>
                        </a:ext>
                      </a:extLst>
                    </a:gridCol>
                  </a:tblGrid>
                  <a:tr h="79248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1667" t="-769" r="-91429" b="-520769"/>
                          </a:stretch>
                        </a:blip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Law of Exponents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4222013096"/>
                      </a:ext>
                    </a:extLst>
                  </a:tr>
                  <a:tr h="54864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60" t="-145556" r="-209375" b="-652222"/>
                          </a:stretch>
                        </a:blip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1667" t="-145556" r="-91429" b="-652222"/>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409870108"/>
                      </a:ext>
                    </a:extLst>
                  </a:tr>
                  <a:tr h="657924">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60" t="-204630" r="-209375" b="-443519"/>
                          </a:stretch>
                        </a:blip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1667" t="-204630" r="-91429" b="-443519"/>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699785257"/>
                      </a:ext>
                    </a:extLst>
                  </a:tr>
                  <a:tr h="615188">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60" t="-325743" r="-209375" b="-374257"/>
                          </a:stretch>
                        </a:blip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1667" t="-325743" r="-91429" b="-374257"/>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951317538"/>
                      </a:ext>
                    </a:extLst>
                  </a:tr>
                  <a:tr h="54864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60" t="-477778" r="-209375" b="-320000"/>
                          </a:stretch>
                        </a:blip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1667" t="-477778" r="-91429" b="-320000"/>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710445655"/>
                      </a:ext>
                    </a:extLst>
                  </a:tr>
                  <a:tr h="54864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60" t="-577778" r="-209375" b="-220000"/>
                          </a:stretch>
                        </a:blip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1667" t="-577778" r="-91429" b="-220000"/>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044657337"/>
                      </a:ext>
                    </a:extLst>
                  </a:tr>
                  <a:tr h="658622">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60" t="-564815" r="-209375" b="-83333"/>
                          </a:stretch>
                        </a:blip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1667" t="-564815" r="-91429" b="-83333"/>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863670042"/>
                      </a:ext>
                    </a:extLst>
                  </a:tr>
                  <a:tr h="54864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60" t="-797778" r="-209375"/>
                          </a:stretch>
                        </a:blip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1667" t="-797778" r="-9142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425909894"/>
                      </a:ext>
                    </a:extLst>
                  </a:tr>
                </a:tbl>
              </a:graphicData>
            </a:graphic>
          </p:graphicFrame>
        </mc:Fallback>
      </mc:AlternateContent>
      <p:sp>
        <p:nvSpPr>
          <p:cNvPr id="7" name="TextBox 6">
            <a:extLst>
              <a:ext uri="{FF2B5EF4-FFF2-40B4-BE49-F238E27FC236}">
                <a16:creationId xmlns:a16="http://schemas.microsoft.com/office/drawing/2014/main" xmlns="" id="{2FA392D8-3ED3-7940-83A8-1451AA8A08D4}"/>
              </a:ext>
            </a:extLst>
          </p:cNvPr>
          <p:cNvSpPr txBox="1"/>
          <p:nvPr/>
        </p:nvSpPr>
        <p:spPr>
          <a:xfrm>
            <a:off x="528990" y="379510"/>
            <a:ext cx="11435861"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Use your findings to name the law of exponents used to rewrite each mathematical statement.</a:t>
            </a:r>
          </a:p>
        </p:txBody>
      </p:sp>
    </p:spTree>
    <p:extLst>
      <p:ext uri="{BB962C8B-B14F-4D97-AF65-F5344CB8AC3E}">
        <p14:creationId xmlns:p14="http://schemas.microsoft.com/office/powerpoint/2010/main" val="2807357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67841" y="2766150"/>
            <a:ext cx="8033367"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96</a:t>
            </a:r>
            <a:endParaRPr i="1" dirty="0">
              <a:latin typeface="Calibri"/>
              <a:ea typeface="Calibri"/>
              <a:cs typeface="Calibri"/>
              <a:sym typeface="Calibri"/>
            </a:endParaRPr>
          </a:p>
        </p:txBody>
      </p:sp>
      <p:pic>
        <p:nvPicPr>
          <p:cNvPr id="7" name="image10.png">
            <a:extLst>
              <a:ext uri="{FF2B5EF4-FFF2-40B4-BE49-F238E27FC236}">
                <a16:creationId xmlns:a16="http://schemas.microsoft.com/office/drawing/2014/main" xmlns="" id="{C884E556-5AE6-4445-8AE0-D589F48C58F7}"/>
              </a:ext>
            </a:extLst>
          </p:cNvPr>
          <p:cNvPicPr/>
          <p:nvPr/>
        </p:nvPicPr>
        <p:blipFill>
          <a:blip r:embed="rId4">
            <a:extLst>
              <a:ext uri="{28A0092B-C50C-407E-A947-70E740481C1C}">
                <a14:useLocalDpi xmlns:a14="http://schemas.microsoft.com/office/drawing/2010/main"/>
              </a:ext>
            </a:extLst>
          </a:blip>
          <a:stretch>
            <a:fillRect/>
          </a:stretch>
        </p:blipFill>
        <p:spPr>
          <a:xfrm>
            <a:off x="3054096" y="2852928"/>
            <a:ext cx="1158853" cy="1158853"/>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51888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37463" y="204084"/>
            <a:ext cx="10513550" cy="79004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3.3.5 Guided Instruction: Applying the Laws of Exponents</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xmlns="" id="{FE208A00-51E7-C544-ABDE-AE9DC3DAAB4C}"/>
                  </a:ext>
                </a:extLst>
              </p:cNvPr>
              <p:cNvSpPr>
                <a:spLocks noChangeArrowheads="1"/>
              </p:cNvSpPr>
              <p:nvPr/>
            </p:nvSpPr>
            <p:spPr bwMode="auto">
              <a:xfrm>
                <a:off x="730331" y="1442350"/>
                <a:ext cx="11020682" cy="303839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Laws of Exponents can help when rewriting mathematical statements as a power of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Sometimes more than one law can be applied. </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In the table from the Exploration, </a:t>
                </a:r>
                <a14:m>
                  <m:oMath xmlns:m="http://schemas.openxmlformats.org/officeDocument/2006/math">
                    <m:f>
                      <m:fPr>
                        <m:ctrlPr>
                          <a:rPr lang="en-US" altLang="en-US" sz="2400" i="1" dirty="0">
                            <a:solidFill>
                              <a:schemeClr val="tx1"/>
                            </a:solidFill>
                            <a:latin typeface="Cambria Math"/>
                            <a:cs typeface="Times New Roman" panose="02020603050405020304" pitchFamily="18" charset="0"/>
                          </a:rPr>
                        </m:ctrlPr>
                      </m:fPr>
                      <m:num>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−11</m:t>
                            </m:r>
                          </m:sup>
                        </m:sSup>
                      </m:num>
                      <m:den>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−4</m:t>
                            </m:r>
                          </m:sup>
                        </m:sSup>
                      </m:den>
                    </m:f>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was written as </a:t>
                </a:r>
                <a14:m>
                  <m:oMath xmlns:m="http://schemas.openxmlformats.org/officeDocument/2006/math">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−7</m:t>
                        </m:r>
                      </m:sup>
                    </m:sSup>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Another way to write </a:t>
                </a:r>
                <a14:m>
                  <m:oMath xmlns:m="http://schemas.openxmlformats.org/officeDocument/2006/math">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−7</m:t>
                        </m:r>
                      </m:sup>
                    </m:sSup>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 </a:t>
                </a:r>
                <a14:m>
                  <m:oMath xmlns:m="http://schemas.openxmlformats.org/officeDocument/2006/math">
                    <m:f>
                      <m:fPr>
                        <m:ctrlPr>
                          <a:rPr lang="en-US" altLang="en-US" sz="2400" i="1" dirty="0">
                            <a:solidFill>
                              <a:schemeClr val="tx1"/>
                            </a:solidFill>
                            <a:latin typeface="Cambria Math"/>
                            <a:cs typeface="Times New Roman" panose="02020603050405020304" pitchFamily="18" charset="0"/>
                          </a:rPr>
                        </m:ctrlPr>
                      </m:fPr>
                      <m:num>
                        <m:r>
                          <a:rPr lang="es-ES" altLang="en-US" sz="2400" i="1" dirty="0">
                            <a:solidFill>
                              <a:schemeClr val="tx1"/>
                            </a:solidFill>
                            <a:latin typeface="Cambria Math" panose="02040503050406030204" pitchFamily="18" charset="0"/>
                            <a:cs typeface="Times New Roman" panose="02020603050405020304" pitchFamily="18" charset="0"/>
                          </a:rPr>
                          <m:t>1</m:t>
                        </m:r>
                      </m:num>
                      <m:den>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−7</m:t>
                            </m:r>
                          </m:sup>
                        </m:sSup>
                      </m:den>
                    </m:f>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Each of these expressions represent the same value.</a:t>
                </a: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730331" y="1442350"/>
                <a:ext cx="11020682" cy="3038396"/>
              </a:xfrm>
              <a:prstGeom prst="rect">
                <a:avLst/>
              </a:prstGeom>
              <a:blipFill>
                <a:blip r:embed="rId4"/>
                <a:stretch>
                  <a:fillRect l="-921" t="-1250" b="-41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11" name="Rectangle 10">
            <a:extLst>
              <a:ext uri="{FF2B5EF4-FFF2-40B4-BE49-F238E27FC236}">
                <a16:creationId xmlns:a16="http://schemas.microsoft.com/office/drawing/2014/main" xmlns="" id="{3FE34AFB-D60D-F049-8029-A636FDE33D62}"/>
              </a:ext>
            </a:extLst>
          </p:cNvPr>
          <p:cNvSpPr/>
          <p:nvPr/>
        </p:nvSpPr>
        <p:spPr>
          <a:xfrm>
            <a:off x="2781300" y="4919169"/>
            <a:ext cx="6629400" cy="812522"/>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3" name="image10.png">
            <a:extLst>
              <a:ext uri="{FF2B5EF4-FFF2-40B4-BE49-F238E27FC236}">
                <a16:creationId xmlns:a16="http://schemas.microsoft.com/office/drawing/2014/main" xmlns="" id="{437F8E5B-0A3F-D14B-A661-43B4B95FD082}"/>
              </a:ext>
            </a:extLst>
          </p:cNvPr>
          <p:cNvPicPr/>
          <p:nvPr/>
        </p:nvPicPr>
        <p:blipFill>
          <a:blip r:embed="rId5">
            <a:extLst>
              <a:ext uri="{28A0092B-C50C-407E-A947-70E740481C1C}">
                <a14:useLocalDpi xmlns:a14="http://schemas.microsoft.com/office/drawing/2010/main"/>
              </a:ext>
            </a:extLst>
          </a:blip>
          <a:stretch>
            <a:fillRect/>
          </a:stretch>
        </p:blipFill>
        <p:spPr>
          <a:xfrm>
            <a:off x="356616" y="201168"/>
            <a:ext cx="747431" cy="747431"/>
          </a:xfrm>
          <a:prstGeom prst="rect">
            <a:avLst/>
          </a:prstGeom>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96</a:t>
            </a:r>
            <a:endParaRPr i="1" dirty="0">
              <a:latin typeface="Calibri"/>
              <a:ea typeface="Calibri"/>
              <a:cs typeface="Calibri"/>
              <a:sym typeface="Calibri"/>
            </a:endParaRPr>
          </a:p>
        </p:txBody>
      </p:sp>
    </p:spTree>
    <p:extLst>
      <p:ext uri="{BB962C8B-B14F-4D97-AF65-F5344CB8AC3E}">
        <p14:creationId xmlns:p14="http://schemas.microsoft.com/office/powerpoint/2010/main" val="2999405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CCE94A79-3EAC-A543-BC2E-B26E78FC23F8}"/>
                  </a:ext>
                </a:extLst>
              </p:cNvPr>
              <p:cNvGraphicFramePr>
                <a:graphicFrameLocks noGrp="1"/>
              </p:cNvGraphicFramePr>
              <p:nvPr>
                <p:extLst>
                  <p:ext uri="{D42A27DB-BD31-4B8C-83A1-F6EECF244321}">
                    <p14:modId xmlns:p14="http://schemas.microsoft.com/office/powerpoint/2010/main" val="1868870509"/>
                  </p:ext>
                </p:extLst>
              </p:nvPr>
            </p:nvGraphicFramePr>
            <p:xfrm>
              <a:off x="2474976" y="1305957"/>
              <a:ext cx="7242048" cy="3535680"/>
            </p:xfrm>
            <a:graphic>
              <a:graphicData uri="http://schemas.openxmlformats.org/drawingml/2006/table">
                <a:tbl>
                  <a:tblPr firstRow="1" firstCol="1" bandRow="1"/>
                  <a:tblGrid>
                    <a:gridCol w="2340864">
                      <a:extLst>
                        <a:ext uri="{9D8B030D-6E8A-4147-A177-3AD203B41FA5}">
                          <a16:colId xmlns:a16="http://schemas.microsoft.com/office/drawing/2014/main" xmlns="" val="1920065855"/>
                        </a:ext>
                      </a:extLst>
                    </a:gridCol>
                    <a:gridCol w="2560320">
                      <a:extLst>
                        <a:ext uri="{9D8B030D-6E8A-4147-A177-3AD203B41FA5}">
                          <a16:colId xmlns:a16="http://schemas.microsoft.com/office/drawing/2014/main" xmlns="" val="4181271979"/>
                        </a:ext>
                      </a:extLst>
                    </a:gridCol>
                    <a:gridCol w="2340864">
                      <a:extLst>
                        <a:ext uri="{9D8B030D-6E8A-4147-A177-3AD203B41FA5}">
                          <a16:colId xmlns:a16="http://schemas.microsoft.com/office/drawing/2014/main" xmlns="" val="4108929385"/>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 Written as a Power 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𝟏𝟎</m:t>
                              </m:r>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Decimal Equivalent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381832803"/>
                      </a:ext>
                    </a:extLst>
                  </a:tr>
                  <a:tr h="914400">
                    <a:tc>
                      <a:txBody>
                        <a:bodyPr/>
                        <a:lstStyle/>
                        <a:p>
                          <a:pPr marL="0" marR="0" algn="ctr">
                            <a:spcBef>
                              <a:spcPts val="0"/>
                            </a:spcBef>
                            <a:spcAft>
                              <a:spcPts val="0"/>
                            </a:spcAft>
                          </a:pPr>
                          <a14:m>
                            <m:oMath xmlns:m="http://schemas.openxmlformats.org/officeDocument/2006/math">
                              <m:sSup>
                                <m:sSupPr>
                                  <m:ctrlPr>
                                    <a:rPr lang="x-none" sz="2000" i="1" smtClean="0">
                                      <a:effectLst/>
                                      <a:latin typeface="Cambria Math"/>
                                      <a:ea typeface="Times New Roman" panose="02020603050405020304" pitchFamily="18" charset="0"/>
                                      <a:cs typeface="Times New Roman" panose="02020603050405020304" pitchFamily="18" charset="0"/>
                                    </a:rPr>
                                  </m:ctrlPr>
                                </m:sSupPr>
                                <m:e>
                                  <m:d>
                                    <m:dPr>
                                      <m:ctrlPr>
                                        <a:rPr lang="x-none" sz="2000" i="1">
                                          <a:effectLst/>
                                          <a:latin typeface="Cambria Math"/>
                                          <a:ea typeface="Times New Roman" panose="02020603050405020304" pitchFamily="18" charset="0"/>
                                          <a:cs typeface="Times New Roman" panose="02020603050405020304" pitchFamily="18" charset="0"/>
                                        </a:rPr>
                                      </m:ctrlPr>
                                    </m:dPr>
                                    <m:e>
                                      <m:f>
                                        <m:fPr>
                                          <m:ctrlPr>
                                            <a:rPr lang="x-none" sz="2000" i="1">
                                              <a:effectLst/>
                                              <a:latin typeface="Cambria Math"/>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PH"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01771206"/>
                      </a:ext>
                    </a:extLst>
                  </a:tr>
                  <a:tr h="914400">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14:m>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d>
                                    <m:dPr>
                                      <m:ctrlPr>
                                        <a:rPr lang="x-none" sz="2000" i="1">
                                          <a:effectLst/>
                                          <a:latin typeface="Cambria Math"/>
                                          <a:ea typeface="Times New Roman" panose="02020603050405020304" pitchFamily="18" charset="0"/>
                                          <a:cs typeface="Times New Roman" panose="02020603050405020304" pitchFamily="18" charset="0"/>
                                        </a:rPr>
                                      </m:ctrlPr>
                                    </m:dPr>
                                    <m:e>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−11</m:t>
                                          </m:r>
                                        </m:sup>
                                      </m:sSup>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27</m:t>
                                  </m:r>
                                </m:sup>
                              </m:sSup>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8456828"/>
                      </a:ext>
                    </a:extLst>
                  </a:tr>
                  <a:tr h="914400">
                    <a:tc>
                      <a:txBody>
                        <a:bodyPr/>
                        <a:lstStyle/>
                        <a:p>
                          <a:pPr marL="0" marR="0" algn="ctr">
                            <a:spcBef>
                              <a:spcPts val="0"/>
                            </a:spcBef>
                            <a:spcAft>
                              <a:spcPts val="0"/>
                            </a:spcAft>
                          </a:pPr>
                          <a14:m>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−13</m:t>
                                      </m:r>
                                    </m:sup>
                                  </m:sSup>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sup>
                              </m:sSup>
                            </m:oMath>
                          </a14:m>
                          <a:r>
                            <a:rPr lang="en-PH"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76713626"/>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CCE94A79-3EAC-A543-BC2E-B26E78FC23F8}"/>
                  </a:ext>
                </a:extLst>
              </p:cNvPr>
              <p:cNvGraphicFramePr>
                <a:graphicFrameLocks noGrp="1"/>
              </p:cNvGraphicFramePr>
              <p:nvPr>
                <p:extLst>
                  <p:ext uri="{D42A27DB-BD31-4B8C-83A1-F6EECF244321}">
                    <p14:modId xmlns:p14="http://schemas.microsoft.com/office/powerpoint/2010/main" val="1868870509"/>
                  </p:ext>
                </p:extLst>
              </p:nvPr>
            </p:nvGraphicFramePr>
            <p:xfrm>
              <a:off x="2474976" y="1305957"/>
              <a:ext cx="7242048" cy="3535680"/>
            </p:xfrm>
            <a:graphic>
              <a:graphicData uri="http://schemas.openxmlformats.org/drawingml/2006/table">
                <a:tbl>
                  <a:tblPr firstRow="1" firstCol="1" bandRow="1"/>
                  <a:tblGrid>
                    <a:gridCol w="2340864">
                      <a:extLst>
                        <a:ext uri="{9D8B030D-6E8A-4147-A177-3AD203B41FA5}">
                          <a16:colId xmlns:a16="http://schemas.microsoft.com/office/drawing/2014/main" xmlns:a14="http://schemas.microsoft.com/office/drawing/2010/main" xmlns="" val="1920065855"/>
                        </a:ext>
                      </a:extLst>
                    </a:gridCol>
                    <a:gridCol w="2560320">
                      <a:extLst>
                        <a:ext uri="{9D8B030D-6E8A-4147-A177-3AD203B41FA5}">
                          <a16:colId xmlns:a16="http://schemas.microsoft.com/office/drawing/2014/main" xmlns:a14="http://schemas.microsoft.com/office/drawing/2010/main" xmlns="" val="4181271979"/>
                        </a:ext>
                      </a:extLst>
                    </a:gridCol>
                    <a:gridCol w="2340864">
                      <a:extLst>
                        <a:ext uri="{9D8B030D-6E8A-4147-A177-3AD203B41FA5}">
                          <a16:colId xmlns:a16="http://schemas.microsoft.com/office/drawing/2014/main" xmlns:a14="http://schemas.microsoft.com/office/drawing/2010/main" xmlns="" val="4108929385"/>
                        </a:ext>
                      </a:extLst>
                    </a:gridCol>
                  </a:tblGrid>
                  <a:tr h="79248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Mathematical 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1429" r="-91429" b="-346923"/>
                          </a:stretch>
                        </a:blip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Decimal Equivalent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381832803"/>
                      </a:ext>
                    </a:extLst>
                  </a:tr>
                  <a:tr h="91440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86667" r="-209375" b="-200667"/>
                          </a:stretch>
                        </a:blipFill>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501771206"/>
                      </a:ext>
                    </a:extLst>
                  </a:tr>
                  <a:tr h="91440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86667" r="-209375" b="-100667"/>
                          </a:stretch>
                        </a:blipFill>
                      </a:tcPr>
                    </a:tc>
                    <a:tc>
                      <a:txBody>
                        <a:bodyPr/>
                        <a:lstStyle/>
                        <a:p>
                          <a:pPr marL="0" marR="0" algn="ctr">
                            <a:spcBef>
                              <a:spcPts val="0"/>
                            </a:spcBef>
                            <a:spcAft>
                              <a:spcPts val="0"/>
                            </a:spcAft>
                          </a:pPr>
                          <a:r>
                            <a:rPr lang="en-US" sz="2000" b="1">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18456828"/>
                      </a:ext>
                    </a:extLst>
                  </a:tr>
                  <a:tr h="91440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86667" r="-209375" b="-667"/>
                          </a:stretch>
                        </a:blipFill>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176713626"/>
                      </a:ext>
                    </a:extLst>
                  </a:tr>
                </a:tbl>
              </a:graphicData>
            </a:graphic>
          </p:graphicFrame>
        </mc:Fallback>
      </mc:AlternateContent>
      <p:sp>
        <p:nvSpPr>
          <p:cNvPr id="7" name="TextBox 6">
            <a:extLst>
              <a:ext uri="{FF2B5EF4-FFF2-40B4-BE49-F238E27FC236}">
                <a16:creationId xmlns:a16="http://schemas.microsoft.com/office/drawing/2014/main" xmlns="" id="{2FA392D8-3ED3-7940-83A8-1451AA8A08D4}"/>
              </a:ext>
            </a:extLst>
          </p:cNvPr>
          <p:cNvSpPr txBox="1"/>
          <p:nvPr/>
        </p:nvSpPr>
        <p:spPr>
          <a:xfrm>
            <a:off x="531708" y="381810"/>
            <a:ext cx="11319129" cy="707886"/>
          </a:xfrm>
          <a:prstGeom prst="rect">
            <a:avLst/>
          </a:prstGeom>
          <a:noFill/>
        </p:spPr>
        <p:txBody>
          <a:bodyPr wrap="square" rtlCol="0">
            <a:spAutoFit/>
          </a:bodyPr>
          <a:lstStyle/>
          <a:p>
            <a:pPr marL="457200" indent="-457200">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each mathematical statement in an equivalent form by applying one or more laws of exponents. Then, write the equivalent decimal value.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96</a:t>
            </a:r>
            <a:endParaRPr i="1" dirty="0">
              <a:latin typeface="Calibri"/>
              <a:ea typeface="Calibri"/>
              <a:cs typeface="Calibri"/>
              <a:sym typeface="Calibri"/>
            </a:endParaRPr>
          </a:p>
        </p:txBody>
      </p:sp>
    </p:spTree>
    <p:extLst>
      <p:ext uri="{BB962C8B-B14F-4D97-AF65-F5344CB8AC3E}">
        <p14:creationId xmlns:p14="http://schemas.microsoft.com/office/powerpoint/2010/main" val="202851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xmlns="" id="{2FA392D8-3ED3-7940-83A8-1451AA8A08D4}"/>
                  </a:ext>
                </a:extLst>
              </p:cNvPr>
              <p:cNvSpPr txBox="1"/>
              <p:nvPr/>
            </p:nvSpPr>
            <p:spPr>
              <a:xfrm>
                <a:off x="537110" y="382626"/>
                <a:ext cx="11489675" cy="3322128"/>
              </a:xfrm>
              <a:prstGeom prst="rect">
                <a:avLst/>
              </a:prstGeom>
              <a:noFill/>
            </p:spPr>
            <p:txBody>
              <a:bodyPr wrap="square" rtlCol="0">
                <a:spAutoFit/>
              </a:bodyPr>
              <a:lstStyle/>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Numbers like one-billionth, also known as a nano, can be written using powers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one-billionth, or </a:t>
                </a:r>
                <a14:m>
                  <m:oMath xmlns:m="http://schemas.openxmlformats.org/officeDocument/2006/math">
                    <m:f>
                      <m:fPr>
                        <m:ctrlPr>
                          <a:rPr lang="en-US" altLang="en-US" sz="2000" i="1" dirty="0">
                            <a:solidFill>
                              <a:schemeClr val="tx1"/>
                            </a:solidFill>
                            <a:latin typeface="Cambria Math"/>
                            <a:cs typeface="Times New Roman" panose="02020603050405020304" pitchFamily="18" charset="0"/>
                          </a:rPr>
                        </m:ctrlPr>
                      </m:fPr>
                      <m:num>
                        <m:r>
                          <a:rPr lang="es-ES" altLang="en-US" sz="2000" i="1" dirty="0">
                            <a:solidFill>
                              <a:schemeClr val="tx1"/>
                            </a:solidFill>
                            <a:latin typeface="Cambria Math" panose="02040503050406030204" pitchFamily="18" charset="0"/>
                            <a:cs typeface="Times New Roman" panose="02020603050405020304" pitchFamily="18" charset="0"/>
                          </a:rPr>
                          <m:t>1</m:t>
                        </m:r>
                      </m:num>
                      <m:den>
                        <m:r>
                          <a:rPr lang="es-ES" altLang="en-US" sz="2000" i="1" dirty="0">
                            <a:solidFill>
                              <a:schemeClr val="tx1"/>
                            </a:solidFill>
                            <a:latin typeface="Cambria Math" panose="02040503050406030204" pitchFamily="18" charset="0"/>
                            <a:cs typeface="Times New Roman" panose="02020603050405020304" pitchFamily="18" charset="0"/>
                          </a:rPr>
                          <m:t>1,000,000,000</m:t>
                        </m:r>
                      </m:den>
                    </m:f>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as a power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One septillionth,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0.000000000000000000000001</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 also known as </a:t>
                </a:r>
                <a:r>
                  <a:rPr lang="en-US" altLang="en-US" sz="2000" dirty="0" err="1">
                    <a:solidFill>
                      <a:schemeClr val="tx1"/>
                    </a:solidFill>
                    <a:latin typeface="Verdana" panose="020B0604030504040204" pitchFamily="34" charset="0"/>
                    <a:ea typeface="Times New Roman" panose="02020603050405020304" pitchFamily="18" charset="0"/>
                    <a:cs typeface="Times New Roman" panose="02020603050405020304" pitchFamily="18" charset="0"/>
                  </a:rPr>
                  <a:t>yocto</a:t>
                </a: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Write one septillionth as a power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p:txBody>
          </p:sp>
        </mc:Choice>
        <mc:Fallback>
          <p:sp>
            <p:nvSpPr>
              <p:cNvPr id="6" name="TextBox 5">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7110" y="382626"/>
                <a:ext cx="11489675" cy="3322128"/>
              </a:xfrm>
              <a:prstGeom prst="rect">
                <a:avLst/>
              </a:prstGeom>
              <a:blipFill rotWithShape="1">
                <a:blip r:embed="rId3"/>
                <a:stretch>
                  <a:fillRect l="-531" t="-917" b="-2385"/>
                </a:stretch>
              </a:blipFill>
            </p:spPr>
            <p:txBody>
              <a:bodyPr/>
              <a:lstStyle/>
              <a:p>
                <a:r>
                  <a:rPr lang="en-PH">
                    <a:noFill/>
                  </a:rPr>
                  <a:t> </a:t>
                </a:r>
              </a:p>
            </p:txBody>
          </p:sp>
        </mc:Fallback>
      </mc:AlternateContent>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96</a:t>
            </a:r>
            <a:endParaRPr i="1" dirty="0">
              <a:latin typeface="Calibri"/>
              <a:ea typeface="Calibri"/>
              <a:cs typeface="Calibri"/>
              <a:sym typeface="Calibri"/>
            </a:endParaRPr>
          </a:p>
        </p:txBody>
      </p:sp>
    </p:spTree>
    <p:extLst>
      <p:ext uri="{BB962C8B-B14F-4D97-AF65-F5344CB8AC3E}">
        <p14:creationId xmlns:p14="http://schemas.microsoft.com/office/powerpoint/2010/main" val="3814089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37332" y="285618"/>
            <a:ext cx="8019300" cy="6628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3.3.6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AE281112-0763-C941-9DB7-9B28C4EA4745}"/>
              </a:ext>
            </a:extLst>
          </p:cNvPr>
          <p:cNvSpPr/>
          <p:nvPr/>
        </p:nvSpPr>
        <p:spPr>
          <a:xfrm>
            <a:off x="730266" y="1471546"/>
            <a:ext cx="10242534" cy="461665"/>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 as you reflect on today’s lesson.</a:t>
            </a:r>
          </a:p>
        </p:txBody>
      </p:sp>
      <p:graphicFrame>
        <p:nvGraphicFramePr>
          <p:cNvPr id="4" name="Table 3">
            <a:extLst>
              <a:ext uri="{FF2B5EF4-FFF2-40B4-BE49-F238E27FC236}">
                <a16:creationId xmlns:a16="http://schemas.microsoft.com/office/drawing/2014/main" xmlns="" id="{10E3916E-D2D9-C043-9237-14B297FE52F1}"/>
              </a:ext>
            </a:extLst>
          </p:cNvPr>
          <p:cNvGraphicFramePr>
            <a:graphicFrameLocks noGrp="1"/>
          </p:cNvGraphicFramePr>
          <p:nvPr>
            <p:extLst>
              <p:ext uri="{D42A27DB-BD31-4B8C-83A1-F6EECF244321}">
                <p14:modId xmlns:p14="http://schemas.microsoft.com/office/powerpoint/2010/main" val="3881007839"/>
              </p:ext>
            </p:extLst>
          </p:nvPr>
        </p:nvGraphicFramePr>
        <p:xfrm>
          <a:off x="2523043" y="2216981"/>
          <a:ext cx="7145914" cy="3078480"/>
        </p:xfrm>
        <a:graphic>
          <a:graphicData uri="http://schemas.openxmlformats.org/drawingml/2006/table">
            <a:tbl>
              <a:tblPr bandRow="1"/>
              <a:tblGrid>
                <a:gridCol w="3572957">
                  <a:extLst>
                    <a:ext uri="{9D8B030D-6E8A-4147-A177-3AD203B41FA5}">
                      <a16:colId xmlns:a16="http://schemas.microsoft.com/office/drawing/2014/main" xmlns="" val="1228762761"/>
                    </a:ext>
                  </a:extLst>
                </a:gridCol>
                <a:gridCol w="3572957">
                  <a:extLst>
                    <a:ext uri="{9D8B030D-6E8A-4147-A177-3AD203B41FA5}">
                      <a16:colId xmlns:a16="http://schemas.microsoft.com/office/drawing/2014/main" xmlns="" val="3293050511"/>
                    </a:ext>
                  </a:extLst>
                </a:gridCol>
              </a:tblGrid>
              <a:tr h="2379028">
                <a:tc>
                  <a:txBody>
                    <a:bodyPr/>
                    <a:lstStyle/>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Today I deserve a</a:t>
                      </a:r>
                    </a:p>
                    <a:p>
                      <a:pPr marL="0" marR="0" algn="ctr">
                        <a:spcBef>
                          <a:spcPts val="0"/>
                        </a:spcBef>
                        <a:spcAft>
                          <a:spcPts val="1000"/>
                        </a:spcAft>
                      </a:pPr>
                      <a:endParaRPr lang="en-PH"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PH"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PH"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PH"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for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22619552"/>
                  </a:ext>
                </a:extLst>
              </a:tr>
            </a:tbl>
          </a:graphicData>
        </a:graphic>
      </p:graphicFrame>
      <p:pic>
        <p:nvPicPr>
          <p:cNvPr id="17" name="Picture 16">
            <a:extLst>
              <a:ext uri="{FF2B5EF4-FFF2-40B4-BE49-F238E27FC236}">
                <a16:creationId xmlns:a16="http://schemas.microsoft.com/office/drawing/2014/main" xmlns="" id="{133575A4-0308-5C4F-AF6D-F368694A89A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auto">
          <a:xfrm>
            <a:off x="3085607" y="2917531"/>
            <a:ext cx="2418300" cy="1677380"/>
          </a:xfrm>
          <a:prstGeom prst="rect">
            <a:avLst/>
          </a:prstGeom>
          <a:noFill/>
          <a:ln>
            <a:noFill/>
          </a:ln>
          <a:extLst>
            <a:ext uri="{53640926-AAD7-44D8-BBD7-CCE9431645EC}">
              <a14:shadowObscured xmlns:a14="http://schemas.microsoft.com/office/drawing/2010/main"/>
            </a:ext>
          </a:extLst>
        </p:spPr>
      </p:pic>
      <p:sp>
        <p:nvSpPr>
          <p:cNvPr id="11"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97</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graphicFrame>
        <p:nvGraphicFramePr>
          <p:cNvPr id="2" name="Table 1"/>
          <p:cNvGraphicFramePr>
            <a:graphicFrameLocks noGrp="1"/>
          </p:cNvGraphicFramePr>
          <p:nvPr>
            <p:extLst>
              <p:ext uri="{D42A27DB-BD31-4B8C-83A1-F6EECF244321}">
                <p14:modId xmlns:p14="http://schemas.microsoft.com/office/powerpoint/2010/main" val="2211985076"/>
              </p:ext>
            </p:extLst>
          </p:nvPr>
        </p:nvGraphicFramePr>
        <p:xfrm>
          <a:off x="2579370" y="520393"/>
          <a:ext cx="7145914" cy="3078480"/>
        </p:xfrm>
        <a:graphic>
          <a:graphicData uri="http://schemas.openxmlformats.org/drawingml/2006/table">
            <a:tbl>
              <a:tblPr bandRow="1"/>
              <a:tblGrid>
                <a:gridCol w="3572957">
                  <a:extLst>
                    <a:ext uri="{9D8B030D-6E8A-4147-A177-3AD203B41FA5}">
                      <a16:colId xmlns:a16="http://schemas.microsoft.com/office/drawing/2014/main" xmlns="" val="20000"/>
                    </a:ext>
                  </a:extLst>
                </a:gridCol>
                <a:gridCol w="3572957">
                  <a:extLst>
                    <a:ext uri="{9D8B030D-6E8A-4147-A177-3AD203B41FA5}">
                      <a16:colId xmlns:a16="http://schemas.microsoft.com/office/drawing/2014/main" xmlns="" val="20001"/>
                    </a:ext>
                  </a:extLst>
                </a:gridCol>
              </a:tblGrid>
              <a:tr h="2379028">
                <a:tc>
                  <a:txBody>
                    <a:bodyPr/>
                    <a:lstStyle/>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Today I was feeling </a:t>
                      </a:r>
                    </a:p>
                    <a:p>
                      <a:pPr marL="0" marR="0" algn="ctr">
                        <a:spcBef>
                          <a:spcPts val="0"/>
                        </a:spcBef>
                        <a:spcAft>
                          <a:spcPts val="1000"/>
                        </a:spcAft>
                      </a:pPr>
                      <a:endParaRPr lang="en-PH"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PH"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PH"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PH"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about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bl>
          </a:graphicData>
        </a:graphic>
      </p:graphicFrame>
      <p:pic>
        <p:nvPicPr>
          <p:cNvPr id="8" name="Picture 7"/>
          <p:cNvPicPr/>
          <p:nvPr/>
        </p:nvPicPr>
        <p:blipFill>
          <a:blip r:embed="rId4" cstate="screen">
            <a:extLst>
              <a:ext uri="{28A0092B-C50C-407E-A947-70E740481C1C}">
                <a14:useLocalDpi xmlns:a14="http://schemas.microsoft.com/office/drawing/2010/main"/>
              </a:ext>
            </a:extLst>
          </a:blip>
          <a:stretch>
            <a:fillRect/>
          </a:stretch>
        </p:blipFill>
        <p:spPr bwMode="auto">
          <a:xfrm>
            <a:off x="2928302" y="1128666"/>
            <a:ext cx="2860675" cy="1895475"/>
          </a:xfrm>
          <a:prstGeom prst="rect">
            <a:avLst/>
          </a:prstGeom>
          <a:noFill/>
          <a:ln>
            <a:noFill/>
          </a:ln>
        </p:spPr>
      </p:pic>
      <p:sp>
        <p:nvSpPr>
          <p:cNvPr id="10"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97</a:t>
            </a:r>
            <a:endParaRPr i="1" dirty="0">
              <a:latin typeface="Calibri"/>
              <a:ea typeface="Calibri"/>
              <a:cs typeface="Calibri"/>
              <a:sym typeface="Calibri"/>
            </a:endParaRPr>
          </a:p>
        </p:txBody>
      </p:sp>
    </p:spTree>
    <p:extLst>
      <p:ext uri="{BB962C8B-B14F-4D97-AF65-F5344CB8AC3E}">
        <p14:creationId xmlns:p14="http://schemas.microsoft.com/office/powerpoint/2010/main" val="83153066"/>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3273</TotalTime>
  <Words>1229</Words>
  <Application>Microsoft Office PowerPoint</Application>
  <PresentationFormat>Custom</PresentationFormat>
  <Paragraphs>298</Paragraphs>
  <Slides>25</Slides>
  <Notes>24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Cambria Math</vt:lpstr>
      <vt:lpstr>Wingdings</vt:lpstr>
      <vt:lpstr>Cutive</vt:lpstr>
      <vt:lpstr>Arial Black</vt:lpstr>
      <vt:lpstr>Cambria</vt:lpstr>
      <vt:lpstr>Verdana</vt:lpstr>
      <vt:lpstr>Calibri</vt:lpstr>
      <vt:lpstr>Times New Roman</vt:lpstr>
      <vt:lpstr>Century Gothic</vt:lpstr>
      <vt:lpstr>1_Office Theme</vt:lpstr>
      <vt:lpstr>8th Grade Math: Pre-Algebra  Unit 3, Lesson 3  More with  Powers of 10  Volume 1, pg. 92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66</cp:revision>
  <dcterms:created xsi:type="dcterms:W3CDTF">2015-03-17T18:51:18Z</dcterms:created>
  <dcterms:modified xsi:type="dcterms:W3CDTF">2022-06-15T01:12:08Z</dcterms:modified>
</cp:coreProperties>
</file>