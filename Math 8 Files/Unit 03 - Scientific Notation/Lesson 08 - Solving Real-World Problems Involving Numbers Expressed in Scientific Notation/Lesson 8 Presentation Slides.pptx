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345" r:id="rId4"/>
    <p:sldId id="286" r:id="rId5"/>
    <p:sldId id="261" r:id="rId6"/>
    <p:sldId id="287" r:id="rId7"/>
    <p:sldId id="346" r:id="rId8"/>
    <p:sldId id="347" r:id="rId9"/>
    <p:sldId id="348" r:id="rId10"/>
    <p:sldId id="349" r:id="rId11"/>
    <p:sldId id="350" r:id="rId12"/>
    <p:sldId id="385" r:id="rId13"/>
    <p:sldId id="386" r:id="rId14"/>
    <p:sldId id="413" r:id="rId15"/>
    <p:sldId id="414" r:id="rId16"/>
    <p:sldId id="408" r:id="rId17"/>
    <p:sldId id="409" r:id="rId18"/>
    <p:sldId id="410" r:id="rId19"/>
    <p:sldId id="376" r:id="rId20"/>
    <p:sldId id="377" r:id="rId21"/>
    <p:sldId id="378" r:id="rId22"/>
    <p:sldId id="416" r:id="rId23"/>
    <p:sldId id="417" r:id="rId24"/>
    <p:sldId id="306" r:id="rId25"/>
    <p:sldId id="307" r:id="rId26"/>
  </p:sldIdLst>
  <p:sldSz cx="12192000" cy="6858000"/>
  <p:notesSz cx="6858000" cy="9144000"/>
  <p:embeddedFontLst>
    <p:embeddedFont>
      <p:font typeface="Arial Black" panose="020B0604020202020204" pitchFamily="34" charset="0"/>
      <p:bold r:id="rId28"/>
    </p:embeddedFont>
    <p:embeddedFont>
      <p:font typeface="Calibri" panose="020F0502020204030204" pitchFamily="34" charset="0"/>
      <p:regular r:id="rId29"/>
      <p:bold r:id="rId30"/>
      <p:italic r:id="rId31"/>
      <p:boldItalic r:id="rId32"/>
    </p:embeddedFont>
    <p:embeddedFont>
      <p:font typeface="Cambria" panose="02040503050406030204" pitchFamily="18"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4"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FABB42"/>
    <a:srgbClr val="F79B59"/>
    <a:srgbClr val="F26763"/>
    <a:srgbClr val="1765AD"/>
    <a:srgbClr val="1664AC"/>
    <a:srgbClr val="BFBFBF"/>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7607" autoAdjust="0"/>
    <p:restoredTop sz="94609" autoAdjust="0"/>
  </p:normalViewPr>
  <p:slideViewPr>
    <p:cSldViewPr snapToGrid="0">
      <p:cViewPr varScale="1">
        <p:scale>
          <a:sx n="128" d="100"/>
          <a:sy n="128" d="100"/>
        </p:scale>
        <p:origin x="147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274558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83880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98512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30136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606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657414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6881340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970105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662402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1288933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207307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103988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294962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869113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0664813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221465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466394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hyperlink" Target="http://facesbytamara.blogspot.com/2011/01/2011-golden-globe-awards-my-favorite.html" TargetMode="External"/><Relationship Id="rId4" Type="http://schemas.openxmlformats.org/officeDocument/2006/relationships/image" Target="../media/image28.jpe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6" name="Google Shape;261;g104476d1465_0_0"/>
          <p:cNvSpPr txBox="1">
            <a:spLocks/>
          </p:cNvSpPr>
          <p:nvPr/>
        </p:nvSpPr>
        <p:spPr>
          <a:xfrm>
            <a:off x="5050737" y="2054277"/>
            <a:ext cx="630936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8</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Real-World Problems Involving Numbers Expressed in Scientific Notation</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115</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pic>
        <p:nvPicPr>
          <p:cNvPr id="7" name="Picture 6"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MA.8.NSO.1.6</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Solve real-world problems involving operations with numbers expressed in scientific notation.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37CC83FF-5C83-CD42-A75D-B443F14E1C1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pic>
        <p:nvPicPr>
          <p:cNvPr id="8"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0"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147E8E3-844B-6A49-A77E-05F3246D39F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sp>
        <p:nvSpPr>
          <p:cNvPr id="8"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1"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solve real-world problems involving operations with numbers expressed in scientific notation.</a:t>
            </a:r>
          </a:p>
          <a:p>
            <a:pPr marL="685800" indent="-685800">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express answers in scientific notation using significant digits.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43D2F04D-C861-A149-B5F8-A913FBED75A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p:pic>
        <p:nvPicPr>
          <p:cNvPr id="8"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730266" y="1347345"/>
                <a:ext cx="10913094"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Using the digits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1−9</m:t>
                    </m:r>
                  </m:oMath>
                </a14:m>
                <a:r>
                  <a:rPr lang="en-US" sz="2400" dirty="0">
                    <a:latin typeface="Verdana" panose="020B0604030504040204" pitchFamily="34" charset="0"/>
                    <a:ea typeface="Verdana" panose="020B0604030504040204" pitchFamily="34" charset="0"/>
                    <a:cs typeface="Verdana" panose="020B0604030504040204" pitchFamily="34" charset="0"/>
                  </a:rPr>
                  <a:t> at most twice each, create the sum of the four expressions that has the greatest possible value.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730266" y="1347345"/>
                <a:ext cx="10913094" cy="830997"/>
              </a:xfrm>
              <a:prstGeom prst="rect">
                <a:avLst/>
              </a:prstGeom>
              <a:blipFill>
                <a:blip r:embed="rId5"/>
                <a:stretch>
                  <a:fillRect l="-930" t="-6061" b="-16667"/>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506836347"/>
                  </p:ext>
                </p:extLst>
              </p:nvPr>
            </p:nvGraphicFramePr>
            <p:xfrm>
              <a:off x="3396000" y="2766290"/>
              <a:ext cx="5400000" cy="2700000"/>
            </p:xfrm>
            <a:graphic>
              <a:graphicData uri="http://schemas.openxmlformats.org/drawingml/2006/table">
                <a:tbl>
                  <a:tblPr firstRow="1" bandRow="1">
                    <a:tableStyleId>{A91F0D33-8C57-4600-99A7-42BC86742BE1}</a:tableStyleId>
                  </a:tblPr>
                  <a:tblGrid>
                    <a:gridCol w="3163747">
                      <a:extLst>
                        <a:ext uri="{9D8B030D-6E8A-4147-A177-3AD203B41FA5}">
                          <a16:colId xmlns:a16="http://schemas.microsoft.com/office/drawing/2014/main" val="20000"/>
                        </a:ext>
                      </a:extLst>
                    </a:gridCol>
                    <a:gridCol w="796253">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540000">
                    <a:tc>
                      <a:txBody>
                        <a:bodyPr/>
                        <a:lstStyle/>
                        <a:p>
                          <a:pPr algn="l"/>
                          <a14:m>
                            <m:oMathPara xmlns:m="http://schemas.openxmlformats.org/officeDocument/2006/math">
                              <m:oMathParaPr>
                                <m:jc m:val="left"/>
                              </m:oMathParaPr>
                              <m:oMath xmlns:m="http://schemas.openxmlformats.org/officeDocument/2006/math">
                                <m:r>
                                  <a:rPr lang="en-PH" sz="2000" b="0" i="1" smtClean="0">
                                    <a:latin typeface="Cambria Math"/>
                                    <a:ea typeface="Cambria Math"/>
                                  </a:rPr>
                                  <m:t>      </m:t>
                                </m:r>
                                <m:r>
                                  <a:rPr lang="en-PH" sz="2000" i="1" smtClean="0">
                                    <a:latin typeface="Cambria Math"/>
                                    <a:ea typeface="Cambria Math"/>
                                  </a:rPr>
                                  <m:t>×</m:t>
                                </m:r>
                                <m:sSup>
                                  <m:sSupPr>
                                    <m:ctrlPr>
                                      <a:rPr lang="en-PH" sz="2000" i="1" smtClean="0">
                                        <a:latin typeface="Cambria Math" panose="02040503050406030204" pitchFamily="18" charset="0"/>
                                        <a:ea typeface="Cambria Math"/>
                                      </a:rPr>
                                    </m:ctrlPr>
                                  </m:sSupPr>
                                  <m:e>
                                    <m:r>
                                      <a:rPr lang="en-PH" sz="2000" b="0" i="1" smtClean="0">
                                        <a:latin typeface="Cambria Math"/>
                                        <a:ea typeface="Cambria Math"/>
                                      </a:rPr>
                                      <m:t>10</m:t>
                                    </m:r>
                                  </m:e>
                                  <m:sup>
                                    <m:r>
                                      <a:rPr lang="en-PH" sz="2000" b="0" i="1" smtClean="0">
                                        <a:latin typeface="Cambria Math"/>
                                        <a:ea typeface="Cambria Math"/>
                                      </a:rPr>
                                      <m:t>   </m:t>
                                    </m:r>
                                  </m:sup>
                                </m:sSup>
                                <m:r>
                                  <a:rPr lang="en-PH" sz="2000" b="0" i="1" smtClean="0">
                                    <a:latin typeface="Cambria Math"/>
                                    <a:ea typeface="Cambria Math"/>
                                  </a:rPr>
                                  <m:t>+       </m:t>
                                </m:r>
                                <m:r>
                                  <a:rPr lang="en-PH" sz="2000" i="1" smtClean="0">
                                    <a:latin typeface="Cambria Math"/>
                                    <a:ea typeface="Cambria Math"/>
                                  </a:rPr>
                                  <m:t>×</m:t>
                                </m:r>
                                <m:sSup>
                                  <m:sSupPr>
                                    <m:ctrlPr>
                                      <a:rPr lang="en-PH" sz="2000" i="1" smtClean="0">
                                        <a:latin typeface="Cambria Math" panose="02040503050406030204" pitchFamily="18" charset="0"/>
                                        <a:ea typeface="Cambria Math"/>
                                      </a:rPr>
                                    </m:ctrlPr>
                                  </m:sSupPr>
                                  <m:e>
                                    <m:r>
                                      <a:rPr lang="en-PH" sz="2000" b="0" i="1" smtClean="0">
                                        <a:latin typeface="Cambria Math"/>
                                        <a:ea typeface="Cambria Math"/>
                                      </a:rPr>
                                      <m:t>10</m:t>
                                    </m:r>
                                  </m:e>
                                  <m:sup>
                                    <m:r>
                                      <a:rPr lang="en-PH" sz="2000" b="0" i="1" smtClean="0">
                                        <a:latin typeface="Cambria Math"/>
                                        <a:ea typeface="Cambria Math"/>
                                      </a:rPr>
                                      <m:t>   </m:t>
                                    </m:r>
                                  </m:sup>
                                </m:sSup>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algn="l"/>
                          <a14:m>
                            <m:oMathPara xmlns:m="http://schemas.openxmlformats.org/officeDocument/2006/math">
                              <m:oMathParaPr>
                                <m:jc m:val="left"/>
                              </m:oMathParaPr>
                              <m:oMath xmlns:m="http://schemas.openxmlformats.org/officeDocument/2006/math">
                                <m:r>
                                  <a:rPr lang="en-PH" sz="2000" b="0" i="1" smtClean="0">
                                    <a:latin typeface="Cambria Math"/>
                                    <a:ea typeface="Verdana" pitchFamily="34" charset="0"/>
                                  </a:rPr>
                                  <m:t>=</m:t>
                                </m:r>
                              </m:oMath>
                            </m:oMathPara>
                          </a14:m>
                          <a:endParaRPr lang="en-PH" sz="2000" dirty="0">
                            <a:latin typeface="Verdana" pitchFamily="34" charset="0"/>
                            <a:ea typeface="Verdana" pitchFamily="34" charset="0"/>
                          </a:endParaRP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dirty="0"/>
                        </a:p>
                      </a:txBody>
                      <a:tcPr/>
                    </a:tc>
                    <a:extLst>
                      <a:ext uri="{0D108BD9-81ED-4DB2-BD59-A6C34878D82A}">
                        <a16:rowId xmlns:a16="http://schemas.microsoft.com/office/drawing/2014/main" val="10000"/>
                      </a:ext>
                    </a:extLst>
                  </a:tr>
                  <a:tr h="54000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n-PH" sz="2000" b="0" i="1" smtClean="0">
                                    <a:latin typeface="Cambria Math"/>
                                    <a:ea typeface="Cambria Math"/>
                                  </a:rPr>
                                  <m:t>      </m:t>
                                </m:r>
                                <m:r>
                                  <a:rPr lang="en-PH" sz="2000" i="1" smtClean="0">
                                    <a:latin typeface="Cambria Math"/>
                                    <a:ea typeface="Cambria Math"/>
                                  </a:rPr>
                                  <m:t>×</m:t>
                                </m:r>
                                <m:sSup>
                                  <m:sSupPr>
                                    <m:ctrlPr>
                                      <a:rPr lang="en-PH" sz="2000" i="1" smtClean="0">
                                        <a:latin typeface="Cambria Math" panose="02040503050406030204" pitchFamily="18" charset="0"/>
                                        <a:ea typeface="Cambria Math"/>
                                      </a:rPr>
                                    </m:ctrlPr>
                                  </m:sSupPr>
                                  <m:e>
                                    <m:r>
                                      <a:rPr lang="en-PH" sz="2000" b="0" i="1" smtClean="0">
                                        <a:latin typeface="Cambria Math"/>
                                        <a:ea typeface="Cambria Math"/>
                                      </a:rPr>
                                      <m:t>10</m:t>
                                    </m:r>
                                  </m:e>
                                  <m:sup>
                                    <m:r>
                                      <a:rPr lang="en-PH" sz="2000" b="0" i="1" smtClean="0">
                                        <a:latin typeface="Cambria Math"/>
                                        <a:ea typeface="Cambria Math"/>
                                      </a:rPr>
                                      <m:t>   </m:t>
                                    </m:r>
                                  </m:sup>
                                </m:sSup>
                                <m:r>
                                  <a:rPr lang="en-PH" sz="2000" b="0" i="1" smtClean="0">
                                    <a:latin typeface="Cambria Math"/>
                                    <a:ea typeface="Cambria Math"/>
                                  </a:rPr>
                                  <m:t>−       </m:t>
                                </m:r>
                                <m:r>
                                  <a:rPr lang="en-PH" sz="2000" i="1" smtClean="0">
                                    <a:latin typeface="Cambria Math"/>
                                    <a:ea typeface="Cambria Math"/>
                                  </a:rPr>
                                  <m:t>×</m:t>
                                </m:r>
                                <m:sSup>
                                  <m:sSupPr>
                                    <m:ctrlPr>
                                      <a:rPr lang="en-PH" sz="2000" i="1" smtClean="0">
                                        <a:latin typeface="Cambria Math" panose="02040503050406030204" pitchFamily="18" charset="0"/>
                                        <a:ea typeface="Cambria Math"/>
                                      </a:rPr>
                                    </m:ctrlPr>
                                  </m:sSupPr>
                                  <m:e>
                                    <m:r>
                                      <a:rPr lang="en-PH" sz="2000" b="0" i="1" smtClean="0">
                                        <a:latin typeface="Cambria Math"/>
                                        <a:ea typeface="Cambria Math"/>
                                      </a:rPr>
                                      <m:t>10</m:t>
                                    </m:r>
                                  </m:e>
                                  <m:sup>
                                    <m:r>
                                      <a:rPr lang="en-PH" sz="2000" b="0" i="1" smtClean="0">
                                        <a:latin typeface="Cambria Math"/>
                                        <a:ea typeface="Cambria Math"/>
                                      </a:rPr>
                                      <m:t>   </m:t>
                                    </m:r>
                                  </m:sup>
                                </m:sSup>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n-PH" sz="2000" b="0" i="1" smtClean="0">
                                    <a:latin typeface="Cambria Math"/>
                                    <a:ea typeface="Verdana" pitchFamily="34" charset="0"/>
                                  </a:rPr>
                                  <m:t>=</m:t>
                                </m:r>
                              </m:oMath>
                            </m:oMathPara>
                          </a14:m>
                          <a:endParaRPr lang="en-PH" sz="2000" dirty="0">
                            <a:latin typeface="Verdana" pitchFamily="34" charset="0"/>
                            <a:ea typeface="Verdana" pitchFamily="34" charset="0"/>
                          </a:endParaRP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dirty="0"/>
                        </a:p>
                      </a:txBody>
                      <a:tcPr/>
                    </a:tc>
                    <a:extLst>
                      <a:ext uri="{0D108BD9-81ED-4DB2-BD59-A6C34878D82A}">
                        <a16:rowId xmlns:a16="http://schemas.microsoft.com/office/drawing/2014/main" val="10001"/>
                      </a:ext>
                    </a:extLst>
                  </a:tr>
                  <a:tr h="54000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n-PH" sz="2000" b="0" i="1" smtClean="0">
                                    <a:latin typeface="Cambria Math"/>
                                    <a:ea typeface="Cambria Math"/>
                                  </a:rPr>
                                  <m:t>      </m:t>
                                </m:r>
                                <m:r>
                                  <a:rPr lang="en-PH" sz="2000" i="1" smtClean="0">
                                    <a:latin typeface="Cambria Math"/>
                                    <a:ea typeface="Cambria Math"/>
                                  </a:rPr>
                                  <m:t>×</m:t>
                                </m:r>
                                <m:sSup>
                                  <m:sSupPr>
                                    <m:ctrlPr>
                                      <a:rPr lang="en-PH" sz="2000" i="1" smtClean="0">
                                        <a:latin typeface="Cambria Math" panose="02040503050406030204" pitchFamily="18" charset="0"/>
                                        <a:ea typeface="Cambria Math"/>
                                      </a:rPr>
                                    </m:ctrlPr>
                                  </m:sSupPr>
                                  <m:e>
                                    <m:r>
                                      <a:rPr lang="en-PH" sz="2000" b="0" i="1" smtClean="0">
                                        <a:latin typeface="Cambria Math"/>
                                        <a:ea typeface="Cambria Math"/>
                                      </a:rPr>
                                      <m:t>10</m:t>
                                    </m:r>
                                  </m:e>
                                  <m:sup>
                                    <m:r>
                                      <a:rPr lang="en-PH" sz="2000" b="0" i="1" smtClean="0">
                                        <a:latin typeface="Cambria Math"/>
                                        <a:ea typeface="Cambria Math"/>
                                      </a:rPr>
                                      <m:t>   </m:t>
                                    </m:r>
                                  </m:sup>
                                </m:sSup>
                                <m:r>
                                  <a:rPr lang="en-PH" sz="2000" b="0" i="1" smtClean="0">
                                    <a:latin typeface="Cambria Math"/>
                                    <a:ea typeface="Cambria Math"/>
                                  </a:rPr>
                                  <m:t>×       </m:t>
                                </m:r>
                                <m:r>
                                  <a:rPr lang="en-PH" sz="2000" i="1" smtClean="0">
                                    <a:latin typeface="Cambria Math"/>
                                    <a:ea typeface="Cambria Math"/>
                                  </a:rPr>
                                  <m:t>×</m:t>
                                </m:r>
                                <m:sSup>
                                  <m:sSupPr>
                                    <m:ctrlPr>
                                      <a:rPr lang="en-PH" sz="2000" i="1" smtClean="0">
                                        <a:latin typeface="Cambria Math" panose="02040503050406030204" pitchFamily="18" charset="0"/>
                                        <a:ea typeface="Cambria Math"/>
                                      </a:rPr>
                                    </m:ctrlPr>
                                  </m:sSupPr>
                                  <m:e>
                                    <m:r>
                                      <a:rPr lang="en-PH" sz="2000" b="0" i="1" smtClean="0">
                                        <a:latin typeface="Cambria Math"/>
                                        <a:ea typeface="Cambria Math"/>
                                      </a:rPr>
                                      <m:t>10</m:t>
                                    </m:r>
                                  </m:e>
                                  <m:sup>
                                    <m:r>
                                      <a:rPr lang="en-PH" sz="2000" b="0" i="1" smtClean="0">
                                        <a:latin typeface="Cambria Math"/>
                                        <a:ea typeface="Cambria Math"/>
                                      </a:rPr>
                                      <m:t>   </m:t>
                                    </m:r>
                                  </m:sup>
                                </m:sSup>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n-PH" sz="2000" b="0" i="1" smtClean="0">
                                    <a:latin typeface="Cambria Math"/>
                                    <a:ea typeface="Verdana" pitchFamily="34" charset="0"/>
                                  </a:rPr>
                                  <m:t>=</m:t>
                                </m:r>
                              </m:oMath>
                            </m:oMathPara>
                          </a14:m>
                          <a:endParaRPr lang="en-PH" sz="2000" dirty="0">
                            <a:latin typeface="Verdana" pitchFamily="34" charset="0"/>
                            <a:ea typeface="Verdana" pitchFamily="34" charset="0"/>
                          </a:endParaRP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dirty="0"/>
                        </a:p>
                      </a:txBody>
                      <a:tcPr/>
                    </a:tc>
                    <a:extLst>
                      <a:ext uri="{0D108BD9-81ED-4DB2-BD59-A6C34878D82A}">
                        <a16:rowId xmlns:a16="http://schemas.microsoft.com/office/drawing/2014/main" val="10002"/>
                      </a:ext>
                    </a:extLst>
                  </a:tr>
                  <a:tr h="54000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n-PH" sz="2000" b="0" i="1" smtClean="0">
                                    <a:latin typeface="Cambria Math"/>
                                    <a:ea typeface="Cambria Math"/>
                                  </a:rPr>
                                  <m:t>      </m:t>
                                </m:r>
                                <m:r>
                                  <a:rPr lang="en-PH" sz="2000" i="1" smtClean="0">
                                    <a:latin typeface="Cambria Math"/>
                                    <a:ea typeface="Cambria Math"/>
                                  </a:rPr>
                                  <m:t>×</m:t>
                                </m:r>
                                <m:sSup>
                                  <m:sSupPr>
                                    <m:ctrlPr>
                                      <a:rPr lang="en-PH" sz="2000" i="1" smtClean="0">
                                        <a:latin typeface="Cambria Math" panose="02040503050406030204" pitchFamily="18" charset="0"/>
                                        <a:ea typeface="Cambria Math"/>
                                      </a:rPr>
                                    </m:ctrlPr>
                                  </m:sSupPr>
                                  <m:e>
                                    <m:r>
                                      <a:rPr lang="en-PH" sz="2000" b="0" i="1" smtClean="0">
                                        <a:latin typeface="Cambria Math"/>
                                        <a:ea typeface="Cambria Math"/>
                                      </a:rPr>
                                      <m:t>10</m:t>
                                    </m:r>
                                  </m:e>
                                  <m:sup>
                                    <m:r>
                                      <a:rPr lang="en-PH" sz="2000" b="0" i="1" smtClean="0">
                                        <a:latin typeface="Cambria Math"/>
                                        <a:ea typeface="Cambria Math"/>
                                      </a:rPr>
                                      <m:t>   </m:t>
                                    </m:r>
                                  </m:sup>
                                </m:sSup>
                                <m:r>
                                  <a:rPr lang="en-PH" sz="2000" b="0" i="1" smtClean="0">
                                    <a:latin typeface="Cambria Math"/>
                                    <a:ea typeface="Cambria Math"/>
                                  </a:rPr>
                                  <m:t>÷       </m:t>
                                </m:r>
                                <m:r>
                                  <a:rPr lang="en-PH" sz="2000" i="1" smtClean="0">
                                    <a:latin typeface="Cambria Math"/>
                                    <a:ea typeface="Cambria Math"/>
                                  </a:rPr>
                                  <m:t>×</m:t>
                                </m:r>
                                <m:sSup>
                                  <m:sSupPr>
                                    <m:ctrlPr>
                                      <a:rPr lang="en-PH" sz="2000" i="1" smtClean="0">
                                        <a:latin typeface="Cambria Math" panose="02040503050406030204" pitchFamily="18" charset="0"/>
                                        <a:ea typeface="Cambria Math"/>
                                      </a:rPr>
                                    </m:ctrlPr>
                                  </m:sSupPr>
                                  <m:e>
                                    <m:r>
                                      <a:rPr lang="en-PH" sz="2000" b="0" i="1" smtClean="0">
                                        <a:latin typeface="Cambria Math"/>
                                        <a:ea typeface="Cambria Math"/>
                                      </a:rPr>
                                      <m:t>10</m:t>
                                    </m:r>
                                  </m:e>
                                  <m:sup>
                                    <m:r>
                                      <a:rPr lang="en-PH" sz="2000" b="0" i="1" smtClean="0">
                                        <a:latin typeface="Cambria Math"/>
                                        <a:ea typeface="Cambria Math"/>
                                      </a:rPr>
                                      <m:t>   </m:t>
                                    </m:r>
                                  </m:sup>
                                </m:sSup>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n-PH" sz="2000" b="0" i="1" smtClean="0">
                                    <a:latin typeface="Cambria Math"/>
                                    <a:ea typeface="Verdana" pitchFamily="34" charset="0"/>
                                  </a:rPr>
                                  <m:t>=</m:t>
                                </m:r>
                              </m:oMath>
                            </m:oMathPara>
                          </a14:m>
                          <a:endParaRPr lang="en-PH" sz="2000" dirty="0">
                            <a:latin typeface="Verdana" pitchFamily="34" charset="0"/>
                            <a:ea typeface="Verdana" pitchFamily="34" charset="0"/>
                          </a:endParaRP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dirty="0"/>
                        </a:p>
                      </a:txBody>
                      <a:tcPr/>
                    </a:tc>
                    <a:extLst>
                      <a:ext uri="{0D108BD9-81ED-4DB2-BD59-A6C34878D82A}">
                        <a16:rowId xmlns:a16="http://schemas.microsoft.com/office/drawing/2014/main" val="10003"/>
                      </a:ext>
                    </a:extLst>
                  </a:tr>
                  <a:tr h="540000">
                    <a:tc gridSpan="2">
                      <a:txBody>
                        <a:bodyPr/>
                        <a:lstStyle/>
                        <a:p>
                          <a:pPr algn="r"/>
                          <a:r>
                            <a:rPr lang="en-PH" sz="2000" b="1" dirty="0">
                              <a:latin typeface="Verdana" pitchFamily="34" charset="0"/>
                              <a:ea typeface="Verdana" pitchFamily="34" charset="0"/>
                            </a:rPr>
                            <a:t>Total</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a:p>
                      </a:txBody>
                      <a:tcPr/>
                    </a:tc>
                    <a:tc>
                      <a:txBody>
                        <a:bodyPr/>
                        <a:lstStyle/>
                        <a:p>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506836347"/>
                  </p:ext>
                </p:extLst>
              </p:nvPr>
            </p:nvGraphicFramePr>
            <p:xfrm>
              <a:off x="3396000" y="2766290"/>
              <a:ext cx="5400000" cy="2700000"/>
            </p:xfrm>
            <a:graphic>
              <a:graphicData uri="http://schemas.openxmlformats.org/drawingml/2006/table">
                <a:tbl>
                  <a:tblPr firstRow="1" bandRow="1">
                    <a:tableStyleId>{A91F0D33-8C57-4600-99A7-42BC86742BE1}</a:tableStyleId>
                  </a:tblPr>
                  <a:tblGrid>
                    <a:gridCol w="3163747">
                      <a:extLst>
                        <a:ext uri="{9D8B030D-6E8A-4147-A177-3AD203B41FA5}">
                          <a16:colId xmlns:a16="http://schemas.microsoft.com/office/drawing/2014/main" val="20000"/>
                        </a:ext>
                      </a:extLst>
                    </a:gridCol>
                    <a:gridCol w="796253">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400" t="-2326" r="-71200" b="-404651"/>
                          </a:stretch>
                        </a:blipFill>
                      </a:tcPr>
                    </a:tc>
                    <a:tc gridSpan="2">
                      <a:txBody>
                        <a:bodyPr/>
                        <a:lstStyle/>
                        <a:p>
                          <a:endParaRPr lang="en-US"/>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42614" t="-2326" r="-1136" b="-404651"/>
                          </a:stretch>
                        </a:blipFill>
                      </a:tcPr>
                    </a:tc>
                    <a:tc hMerge="1">
                      <a:txBody>
                        <a:bodyPr/>
                        <a:lstStyle/>
                        <a:p>
                          <a:endParaRPr lang="en-PH" dirty="0"/>
                        </a:p>
                      </a:txBody>
                      <a:tcPr/>
                    </a:tc>
                    <a:extLst>
                      <a:ext uri="{0D108BD9-81ED-4DB2-BD59-A6C34878D82A}">
                        <a16:rowId xmlns:a16="http://schemas.microsoft.com/office/drawing/2014/main" val="10000"/>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400" t="-102326" r="-71200" b="-304651"/>
                          </a:stretch>
                        </a:blipFill>
                      </a:tcPr>
                    </a:tc>
                    <a:tc gridSpan="2">
                      <a:txBody>
                        <a:bodyPr/>
                        <a:lstStyle/>
                        <a:p>
                          <a:endParaRPr lang="en-US"/>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42614" t="-102326" r="-1136" b="-304651"/>
                          </a:stretch>
                        </a:blipFill>
                      </a:tcPr>
                    </a:tc>
                    <a:tc hMerge="1">
                      <a:txBody>
                        <a:bodyPr/>
                        <a:lstStyle/>
                        <a:p>
                          <a:endParaRPr lang="en-PH" dirty="0"/>
                        </a:p>
                      </a:txBody>
                      <a:tcPr/>
                    </a:tc>
                    <a:extLst>
                      <a:ext uri="{0D108BD9-81ED-4DB2-BD59-A6C34878D82A}">
                        <a16:rowId xmlns:a16="http://schemas.microsoft.com/office/drawing/2014/main" val="10001"/>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400" t="-207143" r="-71200" b="-211905"/>
                          </a:stretch>
                        </a:blipFill>
                      </a:tcPr>
                    </a:tc>
                    <a:tc gridSpan="2">
                      <a:txBody>
                        <a:bodyPr/>
                        <a:lstStyle/>
                        <a:p>
                          <a:endParaRPr lang="en-US"/>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42614" t="-207143" r="-1136" b="-211905"/>
                          </a:stretch>
                        </a:blipFill>
                      </a:tcPr>
                    </a:tc>
                    <a:tc hMerge="1">
                      <a:txBody>
                        <a:bodyPr/>
                        <a:lstStyle/>
                        <a:p>
                          <a:endParaRPr lang="en-PH" dirty="0"/>
                        </a:p>
                      </a:txBody>
                      <a:tcPr/>
                    </a:tc>
                    <a:extLst>
                      <a:ext uri="{0D108BD9-81ED-4DB2-BD59-A6C34878D82A}">
                        <a16:rowId xmlns:a16="http://schemas.microsoft.com/office/drawing/2014/main" val="10002"/>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400" t="-300000" r="-71200" b="-106977"/>
                          </a:stretch>
                        </a:blipFill>
                      </a:tcPr>
                    </a:tc>
                    <a:tc gridSpan="2">
                      <a:txBody>
                        <a:bodyPr/>
                        <a:lstStyle/>
                        <a:p>
                          <a:endParaRPr lang="en-US"/>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42614" t="-300000" r="-1136" b="-106977"/>
                          </a:stretch>
                        </a:blipFill>
                      </a:tcPr>
                    </a:tc>
                    <a:tc hMerge="1">
                      <a:txBody>
                        <a:bodyPr/>
                        <a:lstStyle/>
                        <a:p>
                          <a:endParaRPr lang="en-PH" dirty="0"/>
                        </a:p>
                      </a:txBody>
                      <a:tcPr/>
                    </a:tc>
                    <a:extLst>
                      <a:ext uri="{0D108BD9-81ED-4DB2-BD59-A6C34878D82A}">
                        <a16:rowId xmlns:a16="http://schemas.microsoft.com/office/drawing/2014/main" val="10003"/>
                      </a:ext>
                    </a:extLst>
                  </a:tr>
                  <a:tr h="540000">
                    <a:tc gridSpan="2">
                      <a:txBody>
                        <a:bodyPr/>
                        <a:lstStyle/>
                        <a:p>
                          <a:pPr algn="r"/>
                          <a:r>
                            <a:rPr lang="en-PH" sz="2000" b="1" dirty="0">
                              <a:latin typeface="Verdana" pitchFamily="34" charset="0"/>
                              <a:ea typeface="Verdana" pitchFamily="34" charset="0"/>
                            </a:rPr>
                            <a:t>Total</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a:p>
                      </a:txBody>
                      <a:tcPr/>
                    </a:tc>
                    <a:tc>
                      <a:txBody>
                        <a:bodyPr/>
                        <a:lstStyle/>
                        <a:p>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14"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3.8.1 Warm-Up: Critical Thinking</a:t>
            </a:r>
          </a:p>
        </p:txBody>
      </p:sp>
      <p:pic>
        <p:nvPicPr>
          <p:cNvPr id="16"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7">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4" name="Rectangle 3"/>
          <p:cNvSpPr/>
          <p:nvPr/>
        </p:nvSpPr>
        <p:spPr>
          <a:xfrm>
            <a:off x="3478530" y="2884170"/>
            <a:ext cx="316230" cy="316230"/>
          </a:xfrm>
          <a:prstGeom prst="rect">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3478530" y="3433050"/>
            <a:ext cx="316230" cy="316230"/>
          </a:xfrm>
          <a:prstGeom prst="rect">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3478530" y="3958175"/>
            <a:ext cx="316230" cy="316230"/>
          </a:xfrm>
          <a:prstGeom prst="rect">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3478530" y="4506815"/>
            <a:ext cx="316230" cy="316230"/>
          </a:xfrm>
          <a:prstGeom prst="rect">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4754880" y="2884170"/>
            <a:ext cx="316230" cy="316230"/>
          </a:xfrm>
          <a:prstGeom prst="rect">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4754880" y="3433050"/>
            <a:ext cx="316230" cy="316230"/>
          </a:xfrm>
          <a:prstGeom prst="rect">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4754880" y="3958175"/>
            <a:ext cx="316230" cy="316230"/>
          </a:xfrm>
          <a:prstGeom prst="rect">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4754880" y="4506815"/>
            <a:ext cx="316230" cy="316230"/>
          </a:xfrm>
          <a:prstGeom prst="rect">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4358640" y="2849880"/>
            <a:ext cx="137160" cy="137160"/>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4358640" y="3364470"/>
            <a:ext cx="137160" cy="137160"/>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4358640" y="3958175"/>
            <a:ext cx="137160" cy="137160"/>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4358640" y="4506815"/>
            <a:ext cx="137160" cy="137160"/>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5646420" y="2884170"/>
            <a:ext cx="137160" cy="137160"/>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5646420" y="3398760"/>
            <a:ext cx="137160" cy="137160"/>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5646420" y="3992465"/>
            <a:ext cx="137160" cy="137160"/>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5646420" y="4541105"/>
            <a:ext cx="137160" cy="137160"/>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0" name="image8.png" descr="Icon&#10;&#10;Description automatically generated">
            <a:extLst>
              <a:ext uri="{FF2B5EF4-FFF2-40B4-BE49-F238E27FC236}">
                <a16:creationId xmlns:a16="http://schemas.microsoft.com/office/drawing/2014/main" id="{C3077B63-B59F-3C47-BD0A-FB19C317B7E1}"/>
              </a:ext>
            </a:extLst>
          </p:cNvPr>
          <p:cNvPicPr/>
          <p:nvPr/>
        </p:nvPicPr>
        <p:blipFill>
          <a:blip r:embed="rId4"/>
          <a:srcRect/>
          <a:stretch>
            <a:fillRect/>
          </a:stretch>
        </p:blipFill>
        <p:spPr>
          <a:xfrm>
            <a:off x="4506717" y="2853975"/>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51888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612"/>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332" y="1349242"/>
            <a:ext cx="1059792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table shows the distance from Earth, in kilometers (km), to the nearest two planets.</a:t>
            </a:r>
          </a:p>
        </p:txBody>
      </p:sp>
      <p:grpSp>
        <p:nvGrpSpPr>
          <p:cNvPr id="10" name="Group 9">
            <a:extLst>
              <a:ext uri="{FF2B5EF4-FFF2-40B4-BE49-F238E27FC236}">
                <a16:creationId xmlns:a16="http://schemas.microsoft.com/office/drawing/2014/main" id="{63AD1692-18A2-FB46-800A-11AFFA2A560C}"/>
              </a:ext>
            </a:extLst>
          </p:cNvPr>
          <p:cNvGrpSpPr/>
          <p:nvPr/>
        </p:nvGrpSpPr>
        <p:grpSpPr>
          <a:xfrm>
            <a:off x="2781300" y="4919169"/>
            <a:ext cx="6629400" cy="812522"/>
            <a:chOff x="2031300" y="3373600"/>
            <a:chExt cx="6629400" cy="812800"/>
          </a:xfrm>
        </p:grpSpPr>
        <p:sp>
          <p:nvSpPr>
            <p:cNvPr id="11" name="Rectangle 10">
              <a:extLst>
                <a:ext uri="{FF2B5EF4-FFF2-40B4-BE49-F238E27FC236}">
                  <a16:creationId xmlns:a16="http://schemas.microsoft.com/office/drawing/2014/main" id="{3FE34AFB-D60D-F049-8029-A636FDE33D62}"/>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A3A097C6-D3D0-8649-84FD-1F5AA5344900}"/>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6E9105A-A2FD-F643-B92D-5BAB9C9B2CF2}"/>
                  </a:ext>
                </a:extLst>
              </p:cNvPr>
              <p:cNvGraphicFramePr>
                <a:graphicFrameLocks noGrp="1"/>
              </p:cNvGraphicFramePr>
              <p:nvPr>
                <p:extLst>
                  <p:ext uri="{D42A27DB-BD31-4B8C-83A1-F6EECF244321}">
                    <p14:modId xmlns:p14="http://schemas.microsoft.com/office/powerpoint/2010/main" val="3436277313"/>
                  </p:ext>
                </p:extLst>
              </p:nvPr>
            </p:nvGraphicFramePr>
            <p:xfrm>
              <a:off x="2676000" y="2261602"/>
              <a:ext cx="6840000" cy="1296000"/>
            </p:xfrm>
            <a:graphic>
              <a:graphicData uri="http://schemas.openxmlformats.org/drawingml/2006/table">
                <a:tbl>
                  <a:tblPr firstRow="1" firstCol="1" bandRow="1"/>
                  <a:tblGrid>
                    <a:gridCol w="1440000">
                      <a:extLst>
                        <a:ext uri="{9D8B030D-6E8A-4147-A177-3AD203B41FA5}">
                          <a16:colId xmlns:a16="http://schemas.microsoft.com/office/drawing/2014/main" val="4106182214"/>
                        </a:ext>
                      </a:extLst>
                    </a:gridCol>
                    <a:gridCol w="2520000">
                      <a:extLst>
                        <a:ext uri="{9D8B030D-6E8A-4147-A177-3AD203B41FA5}">
                          <a16:colId xmlns:a16="http://schemas.microsoft.com/office/drawing/2014/main" val="450207753"/>
                        </a:ext>
                      </a:extLst>
                    </a:gridCol>
                    <a:gridCol w="2880000">
                      <a:extLst>
                        <a:ext uri="{9D8B030D-6E8A-4147-A177-3AD203B41FA5}">
                          <a16:colId xmlns:a16="http://schemas.microsoft.com/office/drawing/2014/main" val="274901219"/>
                        </a:ext>
                      </a:extLst>
                    </a:gridCol>
                  </a:tblGrid>
                  <a:tr h="432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Helvetica Neue" panose="02000503000000020004" pitchFamily="2" charset="0"/>
                            </a:rPr>
                            <a:t>Planet</a:t>
                          </a:r>
                          <a:endParaRPr lang="x-none"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Distance (km)</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914415425"/>
                      </a:ext>
                    </a:extLst>
                  </a:tr>
                  <a:tr h="43200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Venus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38</m:t>
                              </m:r>
                            </m:oMath>
                          </a14:m>
                          <a:r>
                            <a:rPr lang="en-US" sz="2000" dirty="0">
                              <a:effectLst/>
                              <a:latin typeface="Verdana" panose="020B0604030504040204" pitchFamily="34" charset="0"/>
                              <a:ea typeface="Verdana" pitchFamily="34" charset="0"/>
                              <a:cs typeface="Helvetica Neue" panose="02000503000000020004" pitchFamily="2" charset="0"/>
                            </a:rPr>
                            <a:t> million</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3.8 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7</m:t>
                                    </m:r>
                                  </m:sup>
                                </m:sSup>
                              </m:oMath>
                            </m:oMathPara>
                          </a14:m>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0553390"/>
                      </a:ext>
                    </a:extLst>
                  </a:tr>
                  <a:tr h="432000">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Mars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55.7</m:t>
                              </m:r>
                            </m:oMath>
                          </a14:m>
                          <a:r>
                            <a:rPr lang="en-US" sz="2000" dirty="0">
                              <a:effectLst/>
                              <a:latin typeface="Verdana" panose="020B0604030504040204" pitchFamily="34" charset="0"/>
                              <a:ea typeface="Verdana" pitchFamily="34" charset="0"/>
                              <a:cs typeface="Helvetica Neue" panose="02000503000000020004" pitchFamily="2" charset="0"/>
                            </a:rPr>
                            <a:t> million</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5.57 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7</m:t>
                                    </m:r>
                                  </m:sup>
                                </m:sSup>
                              </m:oMath>
                            </m:oMathPara>
                          </a14:m>
                          <a:endParaRPr lang="x-none"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2852628"/>
                      </a:ext>
                    </a:extLst>
                  </a:tr>
                </a:tbl>
              </a:graphicData>
            </a:graphic>
          </p:graphicFrame>
        </mc:Choice>
        <mc:Fallback xmlns="">
          <p:graphicFrame>
            <p:nvGraphicFramePr>
              <p:cNvPr id="3" name="Table 2">
                <a:extLst>
                  <a:ext uri="{FF2B5EF4-FFF2-40B4-BE49-F238E27FC236}">
                    <a16:creationId xmlns:a16="http://schemas.microsoft.com/office/drawing/2014/main" id="{D6E9105A-A2FD-F643-B92D-5BAB9C9B2CF2}"/>
                  </a:ext>
                </a:extLst>
              </p:cNvPr>
              <p:cNvGraphicFramePr>
                <a:graphicFrameLocks noGrp="1"/>
              </p:cNvGraphicFramePr>
              <p:nvPr>
                <p:extLst>
                  <p:ext uri="{D42A27DB-BD31-4B8C-83A1-F6EECF244321}">
                    <p14:modId xmlns:p14="http://schemas.microsoft.com/office/powerpoint/2010/main" val="3436277313"/>
                  </p:ext>
                </p:extLst>
              </p:nvPr>
            </p:nvGraphicFramePr>
            <p:xfrm>
              <a:off x="2676000" y="2261602"/>
              <a:ext cx="6840000" cy="1296000"/>
            </p:xfrm>
            <a:graphic>
              <a:graphicData uri="http://schemas.openxmlformats.org/drawingml/2006/table">
                <a:tbl>
                  <a:tblPr firstRow="1" firstCol="1" bandRow="1"/>
                  <a:tblGrid>
                    <a:gridCol w="1440000">
                      <a:extLst>
                        <a:ext uri="{9D8B030D-6E8A-4147-A177-3AD203B41FA5}">
                          <a16:colId xmlns:a16="http://schemas.microsoft.com/office/drawing/2014/main" val="4106182214"/>
                        </a:ext>
                      </a:extLst>
                    </a:gridCol>
                    <a:gridCol w="2520000">
                      <a:extLst>
                        <a:ext uri="{9D8B030D-6E8A-4147-A177-3AD203B41FA5}">
                          <a16:colId xmlns:a16="http://schemas.microsoft.com/office/drawing/2014/main" val="450207753"/>
                        </a:ext>
                      </a:extLst>
                    </a:gridCol>
                    <a:gridCol w="2880000">
                      <a:extLst>
                        <a:ext uri="{9D8B030D-6E8A-4147-A177-3AD203B41FA5}">
                          <a16:colId xmlns:a16="http://schemas.microsoft.com/office/drawing/2014/main" val="274901219"/>
                        </a:ext>
                      </a:extLst>
                    </a:gridCol>
                  </a:tblGrid>
                  <a:tr h="432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Helvetica Neue" panose="02000503000000020004" pitchFamily="2" charset="0"/>
                            </a:rPr>
                            <a:t>Planet</a:t>
                          </a:r>
                          <a:endParaRPr lang="x-none"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Distance (km)</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914415425"/>
                      </a:ext>
                    </a:extLst>
                  </a:tr>
                  <a:tr h="43200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Venus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7789" t="-102857" r="-115075" b="-117143"/>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38326" t="-102857" r="-881" b="-117143"/>
                          </a:stretch>
                        </a:blipFill>
                      </a:tcPr>
                    </a:tc>
                    <a:extLst>
                      <a:ext uri="{0D108BD9-81ED-4DB2-BD59-A6C34878D82A}">
                        <a16:rowId xmlns:a16="http://schemas.microsoft.com/office/drawing/2014/main" val="1790553390"/>
                      </a:ext>
                    </a:extLst>
                  </a:tr>
                  <a:tr h="432000">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Mars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7789" t="-208824" r="-115075" b="-20588"/>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38326" t="-208824" r="-881" b="-20588"/>
                          </a:stretch>
                        </a:blipFill>
                      </a:tcPr>
                    </a:tc>
                    <a:extLst>
                      <a:ext uri="{0D108BD9-81ED-4DB2-BD59-A6C34878D82A}">
                        <a16:rowId xmlns:a16="http://schemas.microsoft.com/office/drawing/2014/main" val="3152852628"/>
                      </a:ext>
                    </a:extLst>
                  </a:tr>
                </a:tbl>
              </a:graphicData>
            </a:graphic>
          </p:graphicFrame>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74289AB-86C5-3C48-AC7F-B01E6FAB97BF}"/>
                  </a:ext>
                </a:extLst>
              </p:cNvPr>
              <p:cNvSpPr>
                <a:spLocks noChangeArrowheads="1"/>
              </p:cNvSpPr>
              <p:nvPr/>
            </p:nvSpPr>
            <p:spPr bwMode="auto">
              <a:xfrm>
                <a:off x="730332" y="3948398"/>
                <a:ext cx="11105052" cy="240065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49263"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Jackson was asked to find the difference between the two distances and round the distance to Mars to the nearest whole number so that it was easier to work with.</a:t>
                </a:r>
              </a:p>
              <a:p>
                <a:pPr lvl="0" algn="ctr" eaLnBrk="0" fontAlgn="base" hangingPunct="0">
                  <a:spcBef>
                    <a:spcPct val="0"/>
                  </a:spcBef>
                  <a:spcAft>
                    <a:spcPct val="0"/>
                  </a:spcAft>
                  <a:buClrTx/>
                </a:pP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 ×</m:t>
                    </m:r>
                    <m:sSup>
                      <m:sSupPr>
                        <m:ctrlPr>
                          <a:rPr lang="en-US" altLang="en-US" sz="2000" i="1" dirty="0">
                            <a:solidFill>
                              <a:schemeClr val="tx1"/>
                            </a:solidFill>
                            <a:latin typeface="Cambria Math" panose="02040503050406030204" pitchFamily="18" charset="0"/>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s-ES" altLang="en-US" sz="2000" i="1" dirty="0">
                            <a:solidFill>
                              <a:schemeClr val="tx1"/>
                            </a:solidFill>
                            <a:latin typeface="Cambria Math" panose="02040503050406030204" pitchFamily="18" charset="0"/>
                            <a:cs typeface="Times New Roman" panose="02020603050405020304" pitchFamily="18" charset="0"/>
                          </a:rPr>
                          <m:t>7</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(4 ×</m:t>
                    </m:r>
                    <m:sSup>
                      <m:sSupPr>
                        <m:ctrlPr>
                          <a:rPr lang="en-US" altLang="en-US" sz="2000" i="1" dirty="0">
                            <a:solidFill>
                              <a:schemeClr val="tx1"/>
                            </a:solidFill>
                            <a:latin typeface="Cambria Math" panose="02040503050406030204" pitchFamily="18" charset="0"/>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s-ES" altLang="en-US" sz="2000" i="1" dirty="0">
                            <a:solidFill>
                              <a:schemeClr val="tx1"/>
                            </a:solidFill>
                            <a:latin typeface="Cambria Math" panose="02040503050406030204" pitchFamily="18" charset="0"/>
                            <a:cs typeface="Times New Roman" panose="02020603050405020304" pitchFamily="18" charset="0"/>
                          </a:rPr>
                          <m:t>7</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 (2 ×</m:t>
                    </m:r>
                    <m:sSup>
                      <m:sSupPr>
                        <m:ctrlPr>
                          <a:rPr lang="en-US" altLang="en-US" sz="2000" i="1" dirty="0">
                            <a:solidFill>
                              <a:schemeClr val="tx1"/>
                            </a:solidFill>
                            <a:latin typeface="Cambria Math" panose="02040503050406030204" pitchFamily="18" charset="0"/>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s-ES" altLang="en-US" sz="2000" i="1" dirty="0">
                            <a:solidFill>
                              <a:schemeClr val="tx1"/>
                            </a:solidFill>
                            <a:latin typeface="Cambria Math" panose="02040503050406030204" pitchFamily="18" charset="0"/>
                            <a:cs typeface="Times New Roman" panose="02020603050405020304" pitchFamily="18" charset="0"/>
                          </a:rPr>
                          <m:t>7</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km</a:t>
                </a:r>
              </a:p>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449263" eaLnBrk="0" fontAlgn="base" hangingPunct="0">
                  <a:spcBef>
                    <a:spcPct val="0"/>
                  </a:spcBef>
                  <a:spcAft>
                    <a:spcPts val="120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Jocelyn was asked to perform the calculation without rounding.</a:t>
                </a:r>
              </a:p>
              <a:p>
                <a:pPr lvl="0" algn="ctr" eaLnBrk="0" fontAlgn="base" hangingPunct="0">
                  <a:spcBef>
                    <a:spcPct val="0"/>
                  </a:spcBef>
                  <a:spcAft>
                    <a:spcPct val="0"/>
                  </a:spcAft>
                  <a:buClrTx/>
                </a:pP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(5.57 ×</m:t>
                    </m:r>
                    <m:sSup>
                      <m:sSupPr>
                        <m:ctrlPr>
                          <a:rPr lang="en-US" altLang="en-US" sz="2000" i="1" dirty="0">
                            <a:solidFill>
                              <a:schemeClr val="tx1"/>
                            </a:solidFill>
                            <a:latin typeface="Cambria Math" panose="02040503050406030204" pitchFamily="18" charset="0"/>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s-ES" altLang="en-US" sz="2000" i="1" dirty="0">
                            <a:solidFill>
                              <a:schemeClr val="tx1"/>
                            </a:solidFill>
                            <a:latin typeface="Cambria Math" panose="02040503050406030204" pitchFamily="18" charset="0"/>
                            <a:cs typeface="Times New Roman" panose="02020603050405020304" pitchFamily="18" charset="0"/>
                          </a:rPr>
                          <m:t>7</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(3.8 ×</m:t>
                    </m:r>
                    <m:sSup>
                      <m:sSupPr>
                        <m:ctrlPr>
                          <a:rPr lang="en-US" altLang="en-US" sz="2000" i="1" dirty="0">
                            <a:solidFill>
                              <a:schemeClr val="tx1"/>
                            </a:solidFill>
                            <a:latin typeface="Cambria Math" panose="02040503050406030204" pitchFamily="18" charset="0"/>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s-ES" altLang="en-US" sz="2000" i="1" dirty="0">
                            <a:solidFill>
                              <a:schemeClr val="tx1"/>
                            </a:solidFill>
                            <a:latin typeface="Cambria Math" panose="02040503050406030204" pitchFamily="18" charset="0"/>
                            <a:cs typeface="Times New Roman" panose="02020603050405020304" pitchFamily="18" charset="0"/>
                          </a:rPr>
                          <m:t>7</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 (1.77 ×</m:t>
                    </m:r>
                    <m:sSup>
                      <m:sSupPr>
                        <m:ctrlPr>
                          <a:rPr lang="en-US" altLang="en-US" sz="2000" i="1" dirty="0">
                            <a:solidFill>
                              <a:schemeClr val="tx1"/>
                            </a:solidFill>
                            <a:latin typeface="Cambria Math" panose="02040503050406030204" pitchFamily="18" charset="0"/>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s-ES" altLang="en-US" sz="2000" i="1" dirty="0">
                            <a:solidFill>
                              <a:schemeClr val="tx1"/>
                            </a:solidFill>
                            <a:latin typeface="Cambria Math" panose="02040503050406030204" pitchFamily="18" charset="0"/>
                            <a:cs typeface="Times New Roman" panose="02020603050405020304" pitchFamily="18" charset="0"/>
                          </a:rPr>
                          <m:t>7</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km</a:t>
                </a:r>
              </a:p>
            </p:txBody>
          </p:sp>
        </mc:Choice>
        <mc:Fallback xmlns="">
          <p:sp>
            <p:nvSpPr>
              <p:cNvPr id="15" name="Rectangle 14">
                <a:extLst>
                  <a:ext uri="{FF2B5EF4-FFF2-40B4-BE49-F238E27FC236}">
                    <a16:creationId xmlns:a16="http://schemas.microsoft.com/office/drawing/2014/main" id="{974289AB-86C5-3C48-AC7F-B01E6FAB97BF}"/>
                  </a:ext>
                </a:extLst>
              </p:cNvPr>
              <p:cNvSpPr>
                <a:spLocks noRot="1" noChangeAspect="1" noMove="1" noResize="1" noEditPoints="1" noAdjustHandles="1" noChangeArrowheads="1" noChangeShapeType="1" noTextEdit="1"/>
              </p:cNvSpPr>
              <p:nvPr/>
            </p:nvSpPr>
            <p:spPr bwMode="auto">
              <a:xfrm>
                <a:off x="730332" y="3948398"/>
                <a:ext cx="11105052" cy="2400657"/>
              </a:xfrm>
              <a:prstGeom prst="rect">
                <a:avLst/>
              </a:prstGeom>
              <a:blipFill>
                <a:blip r:embed="rId6"/>
                <a:stretch>
                  <a:fillRect t="-1053" b="-368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16"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87527"/>
            <a:ext cx="10441876"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3.8.2 Guided Instruction: Understanding Significant Digits in Scientific Notation</a:t>
            </a:r>
          </a:p>
        </p:txBody>
      </p:sp>
      <p:pic>
        <p:nvPicPr>
          <p:cNvPr id="17"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7">
            <a:alphaModFix/>
          </a:blip>
          <a:srcRect/>
          <a:stretch/>
        </p:blipFill>
        <p:spPr>
          <a:xfrm>
            <a:off x="305350" y="203221"/>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99405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sp>
        <p:nvSpPr>
          <p:cNvPr id="7" name="TextBox 6">
            <a:extLst>
              <a:ext uri="{FF2B5EF4-FFF2-40B4-BE49-F238E27FC236}">
                <a16:creationId xmlns:a16="http://schemas.microsoft.com/office/drawing/2014/main" id="{C8F82859-BA98-3646-BF3B-9E17E52A2E35}"/>
              </a:ext>
            </a:extLst>
          </p:cNvPr>
          <p:cNvSpPr txBox="1"/>
          <p:nvPr/>
        </p:nvSpPr>
        <p:spPr>
          <a:xfrm>
            <a:off x="511205" y="533066"/>
            <a:ext cx="10953207" cy="3469476"/>
          </a:xfrm>
          <a:prstGeom prst="rect">
            <a:avLst/>
          </a:prstGeom>
          <a:noFill/>
        </p:spPr>
        <p:txBody>
          <a:bodyPr wrap="square" rtlCol="0">
            <a:spAutoFit/>
          </a:bodyPr>
          <a:lstStyle/>
          <a:p>
            <a:pPr marL="90646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difference, in km, between the two answers?</a:t>
            </a: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Discuss with your partner why Jocelyn’s answer is more precise.</a:t>
            </a:r>
          </a:p>
        </p:txBody>
      </p:sp>
    </p:spTree>
    <p:extLst>
      <p:ext uri="{BB962C8B-B14F-4D97-AF65-F5344CB8AC3E}">
        <p14:creationId xmlns:p14="http://schemas.microsoft.com/office/powerpoint/2010/main" val="202851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grpSp>
        <p:nvGrpSpPr>
          <p:cNvPr id="9" name="Group 8">
            <a:extLst>
              <a:ext uri="{FF2B5EF4-FFF2-40B4-BE49-F238E27FC236}">
                <a16:creationId xmlns:a16="http://schemas.microsoft.com/office/drawing/2014/main" id="{B9EE9752-596B-6D4C-B1DF-69E3D5F2D05D}"/>
              </a:ext>
            </a:extLst>
          </p:cNvPr>
          <p:cNvGrpSpPr/>
          <p:nvPr/>
        </p:nvGrpSpPr>
        <p:grpSpPr>
          <a:xfrm>
            <a:off x="1956000" y="530765"/>
            <a:ext cx="8280000" cy="1123667"/>
            <a:chOff x="2031300" y="3224481"/>
            <a:chExt cx="8280000" cy="1123667"/>
          </a:xfrm>
        </p:grpSpPr>
        <p:sp>
          <p:nvSpPr>
            <p:cNvPr id="10" name="Rectangle 9">
              <a:extLst>
                <a:ext uri="{FF2B5EF4-FFF2-40B4-BE49-F238E27FC236}">
                  <a16:creationId xmlns:a16="http://schemas.microsoft.com/office/drawing/2014/main" id="{93A40C6F-F102-CD46-ACAB-A9B97CFCDB48}"/>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grpSp>
          <p:nvGrpSpPr>
            <p:cNvPr id="11" name="Group 10">
              <a:extLst>
                <a:ext uri="{FF2B5EF4-FFF2-40B4-BE49-F238E27FC236}">
                  <a16:creationId xmlns:a16="http://schemas.microsoft.com/office/drawing/2014/main" id="{D99D7FC6-1592-9B47-8490-A3FE6854FEF4}"/>
                </a:ext>
              </a:extLst>
            </p:cNvPr>
            <p:cNvGrpSpPr/>
            <p:nvPr/>
          </p:nvGrpSpPr>
          <p:grpSpPr>
            <a:xfrm>
              <a:off x="2031300" y="3224481"/>
              <a:ext cx="8280000" cy="1123667"/>
              <a:chOff x="0" y="-149119"/>
              <a:chExt cx="8280000" cy="1123667"/>
            </a:xfrm>
          </p:grpSpPr>
          <p:sp>
            <p:nvSpPr>
              <p:cNvPr id="13" name="Rectangle 12">
                <a:extLst>
                  <a:ext uri="{FF2B5EF4-FFF2-40B4-BE49-F238E27FC236}">
                    <a16:creationId xmlns:a16="http://schemas.microsoft.com/office/drawing/2014/main" id="{5DAF6C2F-81DC-5A42-A3F6-73DAC1B26154}"/>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sp>
            <p:nvSpPr>
              <p:cNvPr id="14" name="Rounded Rectangle 13">
                <a:extLst>
                  <a:ext uri="{FF2B5EF4-FFF2-40B4-BE49-F238E27FC236}">
                    <a16:creationId xmlns:a16="http://schemas.microsoft.com/office/drawing/2014/main" id="{8654DC6A-1F43-2C46-9514-9238C737B9EF}"/>
                  </a:ext>
                </a:extLst>
              </p:cNvPr>
              <p:cNvSpPr/>
              <p:nvPr/>
            </p:nvSpPr>
            <p:spPr>
              <a:xfrm>
                <a:off x="0" y="-149119"/>
                <a:ext cx="8280000" cy="112366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719138"/>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Significant digits</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are non-zero digits of a number and the zeros that are included between them or any trailing zeros that are considered to be precise.</a:t>
                </a:r>
                <a:endParaRPr lang="x-none" sz="2000" dirty="0">
                  <a:latin typeface="Times New Roman" panose="02020603050405020304" pitchFamily="18" charset="0"/>
                  <a:ea typeface="Times New Roman" panose="02020603050405020304" pitchFamily="18" charset="0"/>
                </a:endParaRPr>
              </a:p>
            </p:txBody>
          </p:sp>
          <p:pic>
            <p:nvPicPr>
              <p:cNvPr id="15" name="Shape 7" descr="Icon&#10;&#10;Description automatically generated">
                <a:extLst>
                  <a:ext uri="{FF2B5EF4-FFF2-40B4-BE49-F238E27FC236}">
                    <a16:creationId xmlns:a16="http://schemas.microsoft.com/office/drawing/2014/main" id="{2270B51B-8055-964F-9300-25A2E9158A77}"/>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38545" y="147603"/>
                <a:ext cx="539750" cy="539750"/>
              </a:xfrm>
              <a:prstGeom prst="rect">
                <a:avLst/>
              </a:prstGeom>
              <a:noFill/>
              <a:ln>
                <a:noFill/>
              </a:ln>
              <a:effectLst>
                <a:outerShdw blurRad="50800" dist="38100" dir="2700000" algn="tl" rotWithShape="0">
                  <a:prstClr val="black">
                    <a:alpha val="40000"/>
                  </a:prstClr>
                </a:outerShdw>
              </a:effectLst>
            </p:spPr>
          </p:pic>
        </p:grpSp>
      </p:grpSp>
      <p:sp>
        <p:nvSpPr>
          <p:cNvPr id="16" name="TextBox 15">
            <a:extLst>
              <a:ext uri="{FF2B5EF4-FFF2-40B4-BE49-F238E27FC236}">
                <a16:creationId xmlns:a16="http://schemas.microsoft.com/office/drawing/2014/main" id="{C8F82859-BA98-3646-BF3B-9E17E52A2E35}"/>
              </a:ext>
            </a:extLst>
          </p:cNvPr>
          <p:cNvSpPr txBox="1"/>
          <p:nvPr/>
        </p:nvSpPr>
        <p:spPr>
          <a:xfrm>
            <a:off x="511205" y="533066"/>
            <a:ext cx="10953207" cy="2308324"/>
          </a:xfrm>
          <a:prstGeom prst="rect">
            <a:avLst/>
          </a:prstGeom>
          <a:noFill/>
        </p:spPr>
        <p:txBody>
          <a:bodyPr wrap="square" rtlCol="0">
            <a:spAutoFit/>
          </a:bodyPr>
          <a:lstStyle/>
          <a:p>
            <a:pPr marL="914400"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Based on the definition, how many significant digits are in the representations of the distances for Mars and Venus?</a:t>
            </a:r>
          </a:p>
        </p:txBody>
      </p:sp>
    </p:spTree>
    <p:extLst>
      <p:ext uri="{BB962C8B-B14F-4D97-AF65-F5344CB8AC3E}">
        <p14:creationId xmlns:p14="http://schemas.microsoft.com/office/powerpoint/2010/main" val="381408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9B72AC2F-FC98-3E44-ABBB-8D749275E470}"/>
                  </a:ext>
                </a:extLst>
              </p:cNvPr>
              <p:cNvGraphicFramePr>
                <a:graphicFrameLocks noGrp="1"/>
              </p:cNvGraphicFramePr>
              <p:nvPr>
                <p:extLst>
                  <p:ext uri="{D42A27DB-BD31-4B8C-83A1-F6EECF244321}">
                    <p14:modId xmlns:p14="http://schemas.microsoft.com/office/powerpoint/2010/main" val="2611168985"/>
                  </p:ext>
                </p:extLst>
              </p:nvPr>
            </p:nvGraphicFramePr>
            <p:xfrm>
              <a:off x="2486475" y="533066"/>
              <a:ext cx="7200000" cy="1870080"/>
            </p:xfrm>
            <a:graphic>
              <a:graphicData uri="http://schemas.openxmlformats.org/drawingml/2006/table">
                <a:tbl>
                  <a:tblPr firstRow="1" firstCol="1" bandRow="1"/>
                  <a:tblGrid>
                    <a:gridCol w="3600000">
                      <a:extLst>
                        <a:ext uri="{9D8B030D-6E8A-4147-A177-3AD203B41FA5}">
                          <a16:colId xmlns:a16="http://schemas.microsoft.com/office/drawing/2014/main" val="3345324139"/>
                        </a:ext>
                      </a:extLst>
                    </a:gridCol>
                    <a:gridCol w="3600000">
                      <a:extLst>
                        <a:ext uri="{9D8B030D-6E8A-4147-A177-3AD203B41FA5}">
                          <a16:colId xmlns:a16="http://schemas.microsoft.com/office/drawing/2014/main" val="3724225720"/>
                        </a:ext>
                      </a:extLst>
                    </a:gridCol>
                  </a:tblGrid>
                  <a:tr h="468000">
                    <a:tc gridSpan="2">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Helvetica Neue" panose="02000503000000020004" pitchFamily="2" charset="0"/>
                            </a:rPr>
                            <a:t>Examples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2145955111"/>
                      </a:ext>
                    </a:extLst>
                  </a:tr>
                  <a:tr h="0">
                    <a:tc>
                      <a:txBody>
                        <a:bodyPr/>
                        <a:lstStyle/>
                        <a:p>
                          <a:pPr marL="0" marR="0">
                            <a:spcBef>
                              <a:spcPts val="0"/>
                            </a:spcBef>
                            <a:spcAft>
                              <a:spcPts val="0"/>
                            </a:spcAft>
                          </a:pP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2027</m:t>
                              </m:r>
                            </m:oMath>
                          </a14:m>
                          <a:r>
                            <a:rPr lang="en-US" sz="2000" dirty="0">
                              <a:effectLst/>
                              <a:latin typeface="Verdana" panose="020B0604030504040204" pitchFamily="34" charset="0"/>
                              <a:ea typeface="Verdana" pitchFamily="34" charset="0"/>
                              <a:cs typeface="Helvetica Neue" panose="02000503000000020004" pitchFamily="2" charset="0"/>
                            </a:rPr>
                            <a:t> has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4</m:t>
                              </m:r>
                            </m:oMath>
                          </a14:m>
                          <a:r>
                            <a:rPr lang="en-US" sz="2000" dirty="0">
                              <a:effectLst/>
                              <a:latin typeface="Verdana" panose="020B0604030504040204" pitchFamily="34" charset="0"/>
                              <a:ea typeface="Verdana" pitchFamily="34" charset="0"/>
                              <a:cs typeface="Helvetica Neue" panose="02000503000000020004" pitchFamily="2" charset="0"/>
                            </a:rPr>
                            <a:t> significant digits.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00052000</m:t>
                              </m:r>
                            </m:oMath>
                          </a14:m>
                          <a:r>
                            <a:rPr lang="en-US" sz="2000" dirty="0">
                              <a:effectLst/>
                              <a:latin typeface="Verdana" panose="020B0604030504040204" pitchFamily="34" charset="0"/>
                              <a:ea typeface="Verdana" pitchFamily="34" charset="0"/>
                              <a:cs typeface="Helvetica Neue" panose="02000503000000020004" pitchFamily="2" charset="0"/>
                            </a:rPr>
                            <a:t> has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oMath>
                          </a14:m>
                          <a:r>
                            <a:rPr lang="en-US" sz="2000" dirty="0">
                              <a:effectLst/>
                              <a:latin typeface="Verdana" panose="020B0604030504040204" pitchFamily="34" charset="0"/>
                              <a:ea typeface="Verdana" pitchFamily="34" charset="0"/>
                              <a:cs typeface="Helvetica Neue" panose="02000503000000020004" pitchFamily="2" charset="0"/>
                            </a:rPr>
                            <a:t> significant figures.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0393832"/>
                      </a:ext>
                    </a:extLst>
                  </a:tr>
                  <a:tr h="0">
                    <a:tc>
                      <a:txBody>
                        <a:bodyPr/>
                        <a:lstStyle/>
                        <a:p>
                          <a:pPr marL="0" marR="0">
                            <a:spcBef>
                              <a:spcPts val="0"/>
                            </a:spcBef>
                            <a:spcAft>
                              <a:spcPts val="0"/>
                            </a:spcAft>
                          </a:pP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00.00800</m:t>
                              </m:r>
                            </m:oMath>
                          </a14:m>
                          <a:r>
                            <a:rPr lang="en-US" sz="2000" dirty="0">
                              <a:effectLst/>
                              <a:latin typeface="Verdana" panose="020B0604030504040204" pitchFamily="34" charset="0"/>
                              <a:ea typeface="Verdana" pitchFamily="34" charset="0"/>
                              <a:cs typeface="Helvetica Neue" panose="02000503000000020004" pitchFamily="2" charset="0"/>
                            </a:rPr>
                            <a:t> has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3</m:t>
                              </m:r>
                            </m:oMath>
                          </a14:m>
                          <a:r>
                            <a:rPr lang="en-US" sz="2000" dirty="0">
                              <a:effectLst/>
                              <a:latin typeface="Verdana" panose="020B0604030504040204" pitchFamily="34" charset="0"/>
                              <a:ea typeface="Verdana" pitchFamily="34" charset="0"/>
                              <a:cs typeface="Helvetica Neue" panose="02000503000000020004" pitchFamily="2" charset="0"/>
                            </a:rPr>
                            <a:t> significant digits.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00035000.0</m:t>
                              </m:r>
                            </m:oMath>
                          </a14:m>
                          <a:r>
                            <a:rPr lang="en-US" sz="2000" dirty="0">
                              <a:effectLst/>
                              <a:latin typeface="Verdana" pitchFamily="34" charset="0"/>
                              <a:ea typeface="Verdana" pitchFamily="34" charset="0"/>
                              <a:cs typeface="Helvetica Neue" panose="02000503000000020004" pitchFamily="2" charset="0"/>
                            </a:rPr>
                            <a:t> has </a:t>
                          </a:r>
                          <a:br>
                            <a:rPr lang="en-US" sz="2000" dirty="0">
                              <a:effectLst/>
                              <a:latin typeface="Verdana" pitchFamily="34" charset="0"/>
                              <a:ea typeface="Verdana" pitchFamily="34" charset="0"/>
                              <a:cs typeface="Helvetica Neue" panose="02000503000000020004" pitchFamily="2" charset="0"/>
                            </a:rPr>
                          </a:b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6</m:t>
                              </m:r>
                            </m:oMath>
                          </a14:m>
                          <a:r>
                            <a:rPr lang="en-US" sz="2000" dirty="0">
                              <a:effectLst/>
                              <a:latin typeface="Verdana" panose="020B0604030504040204" pitchFamily="34" charset="0"/>
                              <a:ea typeface="Verdana" pitchFamily="34" charset="0"/>
                              <a:cs typeface="Helvetica Neue" panose="02000503000000020004" pitchFamily="2" charset="0"/>
                            </a:rPr>
                            <a:t> significant figures.</a:t>
                          </a:r>
                          <a:endParaRPr lang="x-none"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4777412"/>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9B72AC2F-FC98-3E44-ABBB-8D749275E470}"/>
                  </a:ext>
                </a:extLst>
              </p:cNvPr>
              <p:cNvGraphicFramePr>
                <a:graphicFrameLocks noGrp="1"/>
              </p:cNvGraphicFramePr>
              <p:nvPr>
                <p:extLst>
                  <p:ext uri="{D42A27DB-BD31-4B8C-83A1-F6EECF244321}">
                    <p14:modId xmlns:p14="http://schemas.microsoft.com/office/powerpoint/2010/main" val="2611168985"/>
                  </p:ext>
                </p:extLst>
              </p:nvPr>
            </p:nvGraphicFramePr>
            <p:xfrm>
              <a:off x="2486475" y="533066"/>
              <a:ext cx="7200000" cy="1870080"/>
            </p:xfrm>
            <a:graphic>
              <a:graphicData uri="http://schemas.openxmlformats.org/drawingml/2006/table">
                <a:tbl>
                  <a:tblPr firstRow="1" firstCol="1" bandRow="1"/>
                  <a:tblGrid>
                    <a:gridCol w="3600000">
                      <a:extLst>
                        <a:ext uri="{9D8B030D-6E8A-4147-A177-3AD203B41FA5}">
                          <a16:colId xmlns:a16="http://schemas.microsoft.com/office/drawing/2014/main" xmlns:a14="http://schemas.microsoft.com/office/drawing/2010/main" xmlns="" val="3345324139"/>
                        </a:ext>
                      </a:extLst>
                    </a:gridCol>
                    <a:gridCol w="3600000">
                      <a:extLst>
                        <a:ext uri="{9D8B030D-6E8A-4147-A177-3AD203B41FA5}">
                          <a16:colId xmlns:a16="http://schemas.microsoft.com/office/drawing/2014/main" xmlns:a14="http://schemas.microsoft.com/office/drawing/2010/main" xmlns="" val="3724225720"/>
                        </a:ext>
                      </a:extLst>
                    </a:gridCol>
                  </a:tblGrid>
                  <a:tr h="468000">
                    <a:tc gridSpan="2">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Helvetica Neue" panose="02000503000000020004" pitchFamily="2" charset="0"/>
                            </a:rPr>
                            <a:t>Examples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xmlns:a14="http://schemas.microsoft.com/office/drawing/2010/main" xmlns="" val="2145955111"/>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66957" r="-99831" b="-11565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9" t="-66957" b="-115652"/>
                          </a:stretch>
                        </a:blipFill>
                      </a:tcPr>
                    </a:tc>
                    <a:extLst>
                      <a:ext uri="{0D108BD9-81ED-4DB2-BD59-A6C34878D82A}">
                        <a16:rowId xmlns:a16="http://schemas.microsoft.com/office/drawing/2014/main" xmlns:a14="http://schemas.microsoft.com/office/drawing/2010/main" xmlns="" val="3800393832"/>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166957" r="-99831" b="-1565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9" t="-166957" b="-15652"/>
                          </a:stretch>
                        </a:blipFill>
                      </a:tcPr>
                    </a:tc>
                    <a:extLst>
                      <a:ext uri="{0D108BD9-81ED-4DB2-BD59-A6C34878D82A}">
                        <a16:rowId xmlns:a16="http://schemas.microsoft.com/office/drawing/2014/main" xmlns:a14="http://schemas.microsoft.com/office/drawing/2010/main" xmlns="" val="834777412"/>
                      </a:ext>
                    </a:extLst>
                  </a:tr>
                </a:tbl>
              </a:graphicData>
            </a:graphic>
          </p:graphicFrame>
        </mc:Fallback>
      </mc:AlternateContent>
      <p:sp>
        <p:nvSpPr>
          <p:cNvPr id="7" name="TextBox 6">
            <a:extLst>
              <a:ext uri="{FF2B5EF4-FFF2-40B4-BE49-F238E27FC236}">
                <a16:creationId xmlns:a16="http://schemas.microsoft.com/office/drawing/2014/main" id="{C8F82859-BA98-3646-BF3B-9E17E52A2E35}"/>
              </a:ext>
            </a:extLst>
          </p:cNvPr>
          <p:cNvSpPr txBox="1"/>
          <p:nvPr/>
        </p:nvSpPr>
        <p:spPr>
          <a:xfrm>
            <a:off x="511205" y="533066"/>
            <a:ext cx="10953207" cy="5047536"/>
          </a:xfrm>
          <a:prstGeom prst="rect">
            <a:avLst/>
          </a:prstGeom>
          <a:noFill/>
        </p:spPr>
        <p:txBody>
          <a:bodyPr wrap="square" rtlCol="0">
            <a:spAutoFit/>
          </a:bodyPr>
          <a:lstStyle/>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There are three rules for determining how many significant figures are in a number:</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12800" indent="-363538" eaLnBrk="0" fontAlgn="base" hangingPunct="0">
              <a:spcBef>
                <a:spcPct val="0"/>
              </a:spcBef>
              <a:spcAft>
                <a:spcPts val="600"/>
              </a:spcAft>
              <a:buClrTx/>
              <a:buFont typeface="Arial" panose="020B0604020202020204" pitchFamily="34" charset="0"/>
              <a:buChar char="•"/>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Non-zero digits are always significant.</a:t>
            </a:r>
          </a:p>
          <a:p>
            <a:pPr marL="812800" indent="-363538" eaLnBrk="0" fontAlgn="base" hangingPunct="0">
              <a:spcBef>
                <a:spcPct val="0"/>
              </a:spcBef>
              <a:spcAft>
                <a:spcPts val="600"/>
              </a:spcAft>
              <a:buClrTx/>
              <a:buFont typeface="Arial" panose="020B0604020202020204" pitchFamily="34" charset="0"/>
              <a:buChar char="•"/>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Any zeros between two significant digits are significant.</a:t>
            </a:r>
          </a:p>
          <a:p>
            <a:pPr marL="812800" indent="-363538" eaLnBrk="0" fontAlgn="base" hangingPunct="0">
              <a:spcBef>
                <a:spcPct val="0"/>
              </a:spcBef>
              <a:spcAft>
                <a:spcPct val="0"/>
              </a:spcAft>
              <a:buClrTx/>
              <a:buFont typeface="Arial" panose="020B0604020202020204" pitchFamily="34" charset="0"/>
              <a:buChar char="•"/>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 final zero or trailing zeros in the decimal portion ONLY are significant.</a:t>
            </a:r>
          </a:p>
        </p:txBody>
      </p:sp>
    </p:spTree>
    <p:extLst>
      <p:ext uri="{BB962C8B-B14F-4D97-AF65-F5344CB8AC3E}">
        <p14:creationId xmlns:p14="http://schemas.microsoft.com/office/powerpoint/2010/main" val="2122147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C8F82859-BA98-3646-BF3B-9E17E52A2E35}"/>
              </a:ext>
            </a:extLst>
          </p:cNvPr>
          <p:cNvSpPr txBox="1"/>
          <p:nvPr/>
        </p:nvSpPr>
        <p:spPr>
          <a:xfrm>
            <a:off x="613328" y="425171"/>
            <a:ext cx="11212912" cy="341632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Sometimes answers written in scientific notation are written using a specific number of significant digits. If two numbers are written with different precision, then the precision is the least number of significant digits.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the given values of the distance from Earth to Mars and Venus. Determine how many significant digits should be used to represent the difference between Mars and Venus. </a:t>
            </a:r>
          </a:p>
        </p:txBody>
      </p:sp>
    </p:spTree>
    <p:extLst>
      <p:ext uri="{BB962C8B-B14F-4D97-AF65-F5344CB8AC3E}">
        <p14:creationId xmlns:p14="http://schemas.microsoft.com/office/powerpoint/2010/main" val="3370835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841C6948-32AB-F34A-9F6B-CD0BA2BDB267}"/>
                  </a:ext>
                </a:extLst>
              </p:cNvPr>
              <p:cNvGraphicFramePr>
                <a:graphicFrameLocks noGrp="1"/>
              </p:cNvGraphicFramePr>
              <p:nvPr>
                <p:extLst>
                  <p:ext uri="{D42A27DB-BD31-4B8C-83A1-F6EECF244321}">
                    <p14:modId xmlns:p14="http://schemas.microsoft.com/office/powerpoint/2010/main" val="2799474727"/>
                  </p:ext>
                </p:extLst>
              </p:nvPr>
            </p:nvGraphicFramePr>
            <p:xfrm>
              <a:off x="1106906" y="1484738"/>
              <a:ext cx="8475520" cy="4440240"/>
            </p:xfrm>
            <a:graphic>
              <a:graphicData uri="http://schemas.openxmlformats.org/drawingml/2006/table">
                <a:tbl>
                  <a:tblPr firstRow="1" firstCol="1" bandRow="1"/>
                  <a:tblGrid>
                    <a:gridCol w="1239520">
                      <a:extLst>
                        <a:ext uri="{9D8B030D-6E8A-4147-A177-3AD203B41FA5}">
                          <a16:colId xmlns:a16="http://schemas.microsoft.com/office/drawing/2014/main" val="3033219955"/>
                        </a:ext>
                      </a:extLst>
                    </a:gridCol>
                    <a:gridCol w="1728000">
                      <a:extLst>
                        <a:ext uri="{9D8B030D-6E8A-4147-A177-3AD203B41FA5}">
                          <a16:colId xmlns:a16="http://schemas.microsoft.com/office/drawing/2014/main" val="2464613800"/>
                        </a:ext>
                      </a:extLst>
                    </a:gridCol>
                    <a:gridCol w="1728000">
                      <a:extLst>
                        <a:ext uri="{9D8B030D-6E8A-4147-A177-3AD203B41FA5}">
                          <a16:colId xmlns:a16="http://schemas.microsoft.com/office/drawing/2014/main" val="1633867734"/>
                        </a:ext>
                      </a:extLst>
                    </a:gridCol>
                    <a:gridCol w="1728000">
                      <a:extLst>
                        <a:ext uri="{9D8B030D-6E8A-4147-A177-3AD203B41FA5}">
                          <a16:colId xmlns:a16="http://schemas.microsoft.com/office/drawing/2014/main" val="1619412940"/>
                        </a:ext>
                      </a:extLst>
                    </a:gridCol>
                    <a:gridCol w="2052000">
                      <a:extLst>
                        <a:ext uri="{9D8B030D-6E8A-4147-A177-3AD203B41FA5}">
                          <a16:colId xmlns:a16="http://schemas.microsoft.com/office/drawing/2014/main" val="2575323003"/>
                        </a:ext>
                      </a:extLst>
                    </a:gridCol>
                  </a:tblGrid>
                  <a:tr h="18338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Non-Zero Digits Always Significant</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Zeroes Between Non-Zero Digits Always Significant</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Zeroes to the Left of Non-Zero Digits Not Significant</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All Zeroes to the Right are Significant if There is a Decimal Point</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941144601"/>
                      </a:ext>
                    </a:extLst>
                  </a:tr>
                  <a:tr h="50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𝟎</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𝟎𝟖𝟎𝟕</m:t>
                                </m:r>
                              </m:oMath>
                            </m:oMathPara>
                          </a14:m>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913681"/>
                      </a:ext>
                    </a:extLst>
                  </a:tr>
                  <a:tr h="50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𝟏𝟑</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𝟒𝟎𝟏</m:t>
                                </m:r>
                              </m:oMath>
                            </m:oMathPara>
                          </a14:m>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600336"/>
                      </a:ext>
                    </a:extLst>
                  </a:tr>
                  <a:tr h="50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𝟏</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𝟗𝟗𝟎</m:t>
                                </m:r>
                              </m:oMath>
                            </m:oMathPara>
                          </a14:m>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672682"/>
                      </a:ext>
                    </a:extLst>
                  </a:tr>
                  <a:tr h="50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𝟓</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𝟓</m:t>
                                </m:r>
                              </m:oMath>
                            </m:oMathPara>
                          </a14:m>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9628736"/>
                      </a:ext>
                    </a:extLst>
                  </a:tr>
                  <a:tr h="50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𝟑𝟔𝟕</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𝟎</m:t>
                                </m:r>
                              </m:oMath>
                            </m:oMathPara>
                          </a14:m>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1654215"/>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841C6948-32AB-F34A-9F6B-CD0BA2BDB267}"/>
                  </a:ext>
                </a:extLst>
              </p:cNvPr>
              <p:cNvGraphicFramePr>
                <a:graphicFrameLocks noGrp="1"/>
              </p:cNvGraphicFramePr>
              <p:nvPr>
                <p:extLst>
                  <p:ext uri="{D42A27DB-BD31-4B8C-83A1-F6EECF244321}">
                    <p14:modId xmlns:p14="http://schemas.microsoft.com/office/powerpoint/2010/main" val="2799474727"/>
                  </p:ext>
                </p:extLst>
              </p:nvPr>
            </p:nvGraphicFramePr>
            <p:xfrm>
              <a:off x="1106906" y="1484738"/>
              <a:ext cx="8475520" cy="4440240"/>
            </p:xfrm>
            <a:graphic>
              <a:graphicData uri="http://schemas.openxmlformats.org/drawingml/2006/table">
                <a:tbl>
                  <a:tblPr firstRow="1" firstCol="1" bandRow="1"/>
                  <a:tblGrid>
                    <a:gridCol w="1239520">
                      <a:extLst>
                        <a:ext uri="{9D8B030D-6E8A-4147-A177-3AD203B41FA5}">
                          <a16:colId xmlns:a16="http://schemas.microsoft.com/office/drawing/2014/main" xmlns:a14="http://schemas.microsoft.com/office/drawing/2010/main" xmlns="" val="3033219955"/>
                        </a:ext>
                      </a:extLst>
                    </a:gridCol>
                    <a:gridCol w="1728000">
                      <a:extLst>
                        <a:ext uri="{9D8B030D-6E8A-4147-A177-3AD203B41FA5}">
                          <a16:colId xmlns:a16="http://schemas.microsoft.com/office/drawing/2014/main" xmlns:a14="http://schemas.microsoft.com/office/drawing/2010/main" xmlns="" val="2464613800"/>
                        </a:ext>
                      </a:extLst>
                    </a:gridCol>
                    <a:gridCol w="1728000">
                      <a:extLst>
                        <a:ext uri="{9D8B030D-6E8A-4147-A177-3AD203B41FA5}">
                          <a16:colId xmlns:a16="http://schemas.microsoft.com/office/drawing/2014/main" xmlns:a14="http://schemas.microsoft.com/office/drawing/2010/main" xmlns="" val="1633867734"/>
                        </a:ext>
                      </a:extLst>
                    </a:gridCol>
                    <a:gridCol w="1728000">
                      <a:extLst>
                        <a:ext uri="{9D8B030D-6E8A-4147-A177-3AD203B41FA5}">
                          <a16:colId xmlns:a16="http://schemas.microsoft.com/office/drawing/2014/main" xmlns:a14="http://schemas.microsoft.com/office/drawing/2010/main" xmlns="" val="1619412940"/>
                        </a:ext>
                      </a:extLst>
                    </a:gridCol>
                    <a:gridCol w="2052000">
                      <a:extLst>
                        <a:ext uri="{9D8B030D-6E8A-4147-A177-3AD203B41FA5}">
                          <a16:colId xmlns:a16="http://schemas.microsoft.com/office/drawing/2014/main" xmlns:a14="http://schemas.microsoft.com/office/drawing/2010/main" xmlns="" val="2575323003"/>
                        </a:ext>
                      </a:extLst>
                    </a:gridCol>
                  </a:tblGrid>
                  <a:tr h="192024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Non-Zero Digits Always Significant</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Zeroes Between Non-Zero Digits Always Significant</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Zeroes to the Left of Non-Zero Digits Not Significant</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All Zeroes to the Right are Significant if There is a Decimal Point</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941144601"/>
                      </a:ext>
                    </a:extLst>
                  </a:tr>
                  <a:tr h="504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93" t="-390244" r="-584729" b="-403659"/>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465913681"/>
                      </a:ext>
                    </a:extLst>
                  </a:tr>
                  <a:tr h="504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93" t="-484337" r="-584729" b="-298795"/>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821600336"/>
                      </a:ext>
                    </a:extLst>
                  </a:tr>
                  <a:tr h="504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93" t="-584337" r="-584729" b="-198795"/>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476672682"/>
                      </a:ext>
                    </a:extLst>
                  </a:tr>
                  <a:tr h="504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93" t="-692683" r="-584729" b="-101220"/>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39628736"/>
                      </a:ext>
                    </a:extLst>
                  </a:tr>
                  <a:tr h="504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93" t="-783133" r="-584729"/>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81654215"/>
                      </a:ext>
                    </a:extLst>
                  </a:tr>
                </a:tbl>
              </a:graphicData>
            </a:graphic>
          </p:graphicFrame>
        </mc:Fallback>
      </mc:AlternateContent>
      <p:sp>
        <p:nvSpPr>
          <p:cNvPr id="7" name="TextBox 6">
            <a:extLst>
              <a:ext uri="{FF2B5EF4-FFF2-40B4-BE49-F238E27FC236}">
                <a16:creationId xmlns:a16="http://schemas.microsoft.com/office/drawing/2014/main" id="{C8F82859-BA98-3646-BF3B-9E17E52A2E35}"/>
              </a:ext>
            </a:extLst>
          </p:cNvPr>
          <p:cNvSpPr txBox="1"/>
          <p:nvPr/>
        </p:nvSpPr>
        <p:spPr>
          <a:xfrm>
            <a:off x="511205" y="533066"/>
            <a:ext cx="10953207"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Circle the significant digits in each number. Place a check in the column(s) to reflect which rule(s) you used when making your decision.</a:t>
            </a:r>
          </a:p>
        </p:txBody>
      </p:sp>
    </p:spTree>
    <p:extLst>
      <p:ext uri="{BB962C8B-B14F-4D97-AF65-F5344CB8AC3E}">
        <p14:creationId xmlns:p14="http://schemas.microsoft.com/office/powerpoint/2010/main" val="1944965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8F82859-BA98-3646-BF3B-9E17E52A2E35}"/>
                  </a:ext>
                </a:extLst>
              </p:cNvPr>
              <p:cNvSpPr txBox="1"/>
              <p:nvPr/>
            </p:nvSpPr>
            <p:spPr>
              <a:xfrm>
                <a:off x="511206" y="404702"/>
                <a:ext cx="11365834" cy="1631216"/>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1966</m:t>
                    </m:r>
                  </m:oMath>
                </a14:m>
                <a:r>
                  <a:rPr lang="en-US" sz="2000" dirty="0">
                    <a:latin typeface="Verdana" panose="020B0604030504040204" pitchFamily="34" charset="0"/>
                    <a:ea typeface="Verdana" panose="020B0604030504040204" pitchFamily="34" charset="0"/>
                    <a:cs typeface="Verdana" panose="020B0604030504040204" pitchFamily="34" charset="0"/>
                  </a:rPr>
                  <a:t>, the Apollo Guidance Computer was developed to make the calculations that would one day put humans on the Moon.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2020</m:t>
                    </m:r>
                  </m:oMath>
                </a14:m>
                <a:r>
                  <a:rPr lang="en-US" sz="2000" dirty="0">
                    <a:latin typeface="Verdana" panose="020B0604030504040204" pitchFamily="34" charset="0"/>
                    <a:ea typeface="Verdana" panose="020B0604030504040204" pitchFamily="34" charset="0"/>
                    <a:cs typeface="Verdana" panose="020B0604030504040204" pitchFamily="34" charset="0"/>
                  </a:rPr>
                  <a:t>, one phone company released the 12</a:t>
                </a:r>
                <a:r>
                  <a:rPr lang="en-US" sz="2000" baseline="30000" dirty="0">
                    <a:latin typeface="Verdana" panose="020B0604030504040204" pitchFamily="34" charset="0"/>
                    <a:ea typeface="Verdana" panose="020B0604030504040204" pitchFamily="34" charset="0"/>
                    <a:cs typeface="Verdana" panose="020B0604030504040204" pitchFamily="34" charset="0"/>
                  </a:rPr>
                  <a:t>th</a:t>
                </a:r>
                <a:r>
                  <a:rPr lang="en-US" sz="2000" dirty="0">
                    <a:latin typeface="Verdana" panose="020B0604030504040204" pitchFamily="34" charset="0"/>
                    <a:ea typeface="Verdana" panose="020B0604030504040204" pitchFamily="34" charset="0"/>
                    <a:cs typeface="Verdana" panose="020B0604030504040204" pitchFamily="34" charset="0"/>
                  </a:rPr>
                  <a:t> smartphone in its latest series of smartphones.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49263"/>
                <a:r>
                  <a:rPr lang="en-US" sz="2000" dirty="0">
                    <a:latin typeface="Verdana" panose="020B0604030504040204" pitchFamily="34" charset="0"/>
                    <a:ea typeface="Verdana" panose="020B0604030504040204" pitchFamily="34" charset="0"/>
                    <a:cs typeface="Verdana" panose="020B0604030504040204" pitchFamily="34" charset="0"/>
                  </a:rPr>
                  <a:t>Information about the memory chips in the devices is summarized in the table.</a:t>
                </a:r>
              </a:p>
            </p:txBody>
          </p:sp>
        </mc:Choice>
        <mc:Fallback xmlns="">
          <p:sp>
            <p:nvSpPr>
              <p:cNvPr id="6" name="TextBox 5">
                <a:extLst>
                  <a:ext uri="{FF2B5EF4-FFF2-40B4-BE49-F238E27FC236}">
                    <a16:creationId xmlns:a16="http://schemas.microsoft.com/office/drawing/2014/main" id="{C8F82859-BA98-3646-BF3B-9E17E52A2E35}"/>
                  </a:ext>
                </a:extLst>
              </p:cNvPr>
              <p:cNvSpPr txBox="1">
                <a:spLocks noRot="1" noChangeAspect="1" noMove="1" noResize="1" noEditPoints="1" noAdjustHandles="1" noChangeArrowheads="1" noChangeShapeType="1" noTextEdit="1"/>
              </p:cNvSpPr>
              <p:nvPr/>
            </p:nvSpPr>
            <p:spPr>
              <a:xfrm>
                <a:off x="511206" y="404702"/>
                <a:ext cx="11365834" cy="1631216"/>
              </a:xfrm>
              <a:prstGeom prst="rect">
                <a:avLst/>
              </a:prstGeom>
              <a:blipFill>
                <a:blip r:embed="rId4"/>
                <a:stretch>
                  <a:fillRect l="-558" t="-1538" b="-53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55B39033-EB50-684D-A0A0-F84FD8A79D3D}"/>
                  </a:ext>
                </a:extLst>
              </p:cNvPr>
              <p:cNvGraphicFramePr>
                <a:graphicFrameLocks noGrp="1"/>
              </p:cNvGraphicFramePr>
              <p:nvPr>
                <p:extLst>
                  <p:ext uri="{D42A27DB-BD31-4B8C-83A1-F6EECF244321}">
                    <p14:modId xmlns:p14="http://schemas.microsoft.com/office/powerpoint/2010/main" val="3983906708"/>
                  </p:ext>
                </p:extLst>
              </p:nvPr>
            </p:nvGraphicFramePr>
            <p:xfrm>
              <a:off x="2280000" y="2533201"/>
              <a:ext cx="7632000" cy="2266320"/>
            </p:xfrm>
            <a:graphic>
              <a:graphicData uri="http://schemas.openxmlformats.org/drawingml/2006/table">
                <a:tbl>
                  <a:tblPr firstRow="1" firstCol="1" bandRow="1"/>
                  <a:tblGrid>
                    <a:gridCol w="2628000">
                      <a:extLst>
                        <a:ext uri="{9D8B030D-6E8A-4147-A177-3AD203B41FA5}">
                          <a16:colId xmlns:a16="http://schemas.microsoft.com/office/drawing/2014/main" val="3252370412"/>
                        </a:ext>
                      </a:extLst>
                    </a:gridCol>
                    <a:gridCol w="1548000">
                      <a:extLst>
                        <a:ext uri="{9D8B030D-6E8A-4147-A177-3AD203B41FA5}">
                          <a16:colId xmlns:a16="http://schemas.microsoft.com/office/drawing/2014/main" val="1054817468"/>
                        </a:ext>
                      </a:extLst>
                    </a:gridCol>
                    <a:gridCol w="1908000">
                      <a:extLst>
                        <a:ext uri="{9D8B030D-6E8A-4147-A177-3AD203B41FA5}">
                          <a16:colId xmlns:a16="http://schemas.microsoft.com/office/drawing/2014/main" val="2612261504"/>
                        </a:ext>
                      </a:extLst>
                    </a:gridCol>
                    <a:gridCol w="1548000">
                      <a:extLst>
                        <a:ext uri="{9D8B030D-6E8A-4147-A177-3AD203B41FA5}">
                          <a16:colId xmlns:a16="http://schemas.microsoft.com/office/drawing/2014/main" val="2461270845"/>
                        </a:ext>
                      </a:extLst>
                    </a:gridCol>
                  </a:tblGrid>
                  <a:tr h="468000">
                    <a:tc>
                      <a:txBody>
                        <a:bodyPr/>
                        <a:lstStyle/>
                        <a:p>
                          <a:pPr marL="0" marR="0" algn="ctr">
                            <a:spcBef>
                              <a:spcPts val="180"/>
                            </a:spcBef>
                            <a:spcAft>
                              <a:spcPts val="180"/>
                            </a:spcAft>
                          </a:pPr>
                          <a:r>
                            <a:rPr lang="en-US" sz="2000" b="1" dirty="0">
                              <a:effectLst/>
                              <a:latin typeface="Verdana" panose="020B0604030504040204" pitchFamily="34" charset="0"/>
                              <a:ea typeface="Verdana" pitchFamily="34" charset="0"/>
                              <a:cs typeface="Times New Roman" panose="02020603050405020304" pitchFamily="18" charset="0"/>
                            </a:rPr>
                            <a:t>Device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Storage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Processing</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Memory</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526064465"/>
                      </a:ext>
                    </a:extLst>
                  </a:tr>
                  <a:tr h="0">
                    <a:tc>
                      <a:txBody>
                        <a:bodyPr/>
                        <a:lstStyle/>
                        <a:p>
                          <a:pPr marL="0" marR="0" algn="ctr">
                            <a:spcBef>
                              <a:spcPts val="180"/>
                            </a:spcBef>
                            <a:spcAft>
                              <a:spcPts val="180"/>
                            </a:spcAft>
                          </a:pPr>
                          <a:r>
                            <a:rPr lang="en-US" sz="2000">
                              <a:effectLst/>
                              <a:latin typeface="Verdana" panose="020B0604030504040204" pitchFamily="34" charset="0"/>
                              <a:ea typeface="Verdana" pitchFamily="34" charset="0"/>
                              <a:cs typeface="Times New Roman" panose="02020603050405020304" pitchFamily="18" charset="0"/>
                            </a:rPr>
                            <a:t>Apollo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m:t>
                              </m:r>
                            </m:oMath>
                          </a14:m>
                          <a:r>
                            <a:rPr lang="en-US" sz="2000">
                              <a:effectLst/>
                              <a:latin typeface="Verdana" panose="020B0604030504040204" pitchFamily="34" charset="0"/>
                              <a:ea typeface="Verdana" pitchFamily="34" charset="0"/>
                              <a:cs typeface="Times New Roman" panose="02020603050405020304" pitchFamily="18" charset="0"/>
                            </a:rPr>
                            <a:t> Guidance Computer</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 xmlns:m="http://schemas.openxmlformats.org/officeDocument/2006/math">
                              <m:r>
                                <a:rPr lang="en-US" sz="2000" b="0" i="1" smtClean="0">
                                  <a:effectLst/>
                                  <a:latin typeface="Cambria Math" panose="02040503050406030204" pitchFamily="18" charset="0"/>
                                  <a:ea typeface="Times New Roman" panose="02020603050405020304" pitchFamily="18" charset="0"/>
                                  <a:cs typeface="Times New Roman" panose="02020603050405020304" pitchFamily="18" charset="0"/>
                                </a:rPr>
                                <m:t>3</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Verdana" pitchFamily="34" charset="0"/>
                              <a:cs typeface="Times New Roman" panose="02020603050405020304" pitchFamily="18" charset="0"/>
                            </a:rPr>
                            <a:t> KB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1.042</m:t>
                              </m:r>
                            </m:oMath>
                          </a14:m>
                          <a:r>
                            <a:rPr lang="en-US" sz="2000" dirty="0">
                              <a:effectLst/>
                              <a:latin typeface="Verdana" panose="020B0604030504040204" pitchFamily="34" charset="0"/>
                              <a:ea typeface="Verdana" pitchFamily="34" charset="0"/>
                              <a:cs typeface="Times New Roman" panose="02020603050405020304" pitchFamily="18" charset="0"/>
                            </a:rPr>
                            <a:t> MHz</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Verdana" pitchFamily="34" charset="0"/>
                              <a:cs typeface="Times New Roman" panose="02020603050405020304" pitchFamily="18" charset="0"/>
                            </a:rPr>
                            <a:t> KB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5818612"/>
                      </a:ext>
                    </a:extLst>
                  </a:tr>
                  <a:tr h="0">
                    <a:tc>
                      <a:txBody>
                        <a:bodyPr/>
                        <a:lstStyle/>
                        <a:p>
                          <a:pPr marL="0" marR="0" algn="ctr">
                            <a:spcBef>
                              <a:spcPts val="180"/>
                            </a:spcBef>
                            <a:spcAft>
                              <a:spcPts val="180"/>
                            </a:spcAft>
                          </a:pPr>
                          <a:r>
                            <a:rPr lang="en-US" sz="2000">
                              <a:effectLst/>
                              <a:latin typeface="Verdana" panose="020B0604030504040204" pitchFamily="34" charset="0"/>
                              <a:ea typeface="Verdana" pitchFamily="34" charset="0"/>
                              <a:cs typeface="Times New Roman" panose="02020603050405020304" pitchFamily="18" charset="0"/>
                            </a:rPr>
                            <a:t>Smartphone</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 xmlns:m="http://schemas.openxmlformats.org/officeDocument/2006/math">
                              <m:r>
                                <a:rPr lang="en-US" sz="2000" b="0" i="1" smtClean="0">
                                  <a:effectLst/>
                                  <a:latin typeface="Cambria Math" panose="02040503050406030204" pitchFamily="18" charset="0"/>
                                  <a:ea typeface="Times New Roman" panose="02020603050405020304" pitchFamily="18" charset="0"/>
                                  <a:cs typeface="Times New Roman" panose="02020603050405020304" pitchFamily="18" charset="0"/>
                                </a:rPr>
                                <m:t>128</m:t>
                              </m:r>
                            </m:oMath>
                          </a14:m>
                          <a:r>
                            <a:rPr lang="en-US" sz="2000" dirty="0">
                              <a:effectLst/>
                              <a:latin typeface="Verdana" panose="020B0604030504040204" pitchFamily="34" charset="0"/>
                              <a:ea typeface="Verdana" pitchFamily="34" charset="0"/>
                              <a:cs typeface="Times New Roman" panose="02020603050405020304" pitchFamily="18" charset="0"/>
                            </a:rPr>
                            <a:t> GB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2.7</m:t>
                              </m:r>
                            </m:oMath>
                          </a14:m>
                          <a:r>
                            <a:rPr lang="en-US" sz="2000">
                              <a:effectLst/>
                              <a:latin typeface="Verdana" panose="020B0604030504040204" pitchFamily="34" charset="0"/>
                              <a:ea typeface="Verdana" pitchFamily="34" charset="0"/>
                              <a:cs typeface="Times New Roman" panose="02020603050405020304" pitchFamily="18" charset="0"/>
                            </a:rPr>
                            <a:t> MHz</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 xmlns:m="http://schemas.openxmlformats.org/officeDocument/2006/math">
                              <m:r>
                                <a:rPr lang="en-US" sz="2000" b="0" i="1" smtClean="0">
                                  <a:effectLst/>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effectLst/>
                              <a:latin typeface="Verdana" panose="020B0604030504040204" pitchFamily="34" charset="0"/>
                              <a:ea typeface="Verdana" pitchFamily="34" charset="0"/>
                              <a:cs typeface="Times New Roman" panose="02020603050405020304" pitchFamily="18" charset="0"/>
                            </a:rPr>
                            <a:t> GB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970301"/>
                      </a:ext>
                    </a:extLst>
                  </a:tr>
                  <a:tr h="0">
                    <a:tc gridSpan="4">
                      <a:txBody>
                        <a:bodyPr/>
                        <a:lstStyle/>
                        <a:p>
                          <a:pPr marL="0" marR="0">
                            <a:spcBef>
                              <a:spcPts val="180"/>
                            </a:spcBef>
                            <a:spcAft>
                              <a:spcPts val="180"/>
                            </a:spcAft>
                          </a:pPr>
                          <a:r>
                            <a:rPr lang="en-US" sz="2000" dirty="0">
                              <a:effectLst/>
                              <a:latin typeface="Verdana" panose="020B0604030504040204" pitchFamily="34" charset="0"/>
                              <a:ea typeface="Verdana" pitchFamily="34" charset="0"/>
                              <a:cs typeface="Times New Roman" panose="02020603050405020304" pitchFamily="18" charset="0"/>
                            </a:rPr>
                            <a:t>*For reference, storage and memory are measured in bytes (B), and processor speed is measured in hertz (Hz).</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12650643"/>
                      </a:ext>
                    </a:extLst>
                  </a:tr>
                </a:tbl>
              </a:graphicData>
            </a:graphic>
          </p:graphicFrame>
        </mc:Choice>
        <mc:Fallback>
          <p:graphicFrame>
            <p:nvGraphicFramePr>
              <p:cNvPr id="4" name="Table 3">
                <a:extLst>
                  <a:ext uri="{FF2B5EF4-FFF2-40B4-BE49-F238E27FC236}">
                    <a16:creationId xmlns:a16="http://schemas.microsoft.com/office/drawing/2014/main" id="{55B39033-EB50-684D-A0A0-F84FD8A79D3D}"/>
                  </a:ext>
                </a:extLst>
              </p:cNvPr>
              <p:cNvGraphicFramePr>
                <a:graphicFrameLocks noGrp="1"/>
              </p:cNvGraphicFramePr>
              <p:nvPr>
                <p:extLst>
                  <p:ext uri="{D42A27DB-BD31-4B8C-83A1-F6EECF244321}">
                    <p14:modId xmlns:p14="http://schemas.microsoft.com/office/powerpoint/2010/main" val="3983906708"/>
                  </p:ext>
                </p:extLst>
              </p:nvPr>
            </p:nvGraphicFramePr>
            <p:xfrm>
              <a:off x="2280000" y="2533201"/>
              <a:ext cx="7632000" cy="2266320"/>
            </p:xfrm>
            <a:graphic>
              <a:graphicData uri="http://schemas.openxmlformats.org/drawingml/2006/table">
                <a:tbl>
                  <a:tblPr firstRow="1" firstCol="1" bandRow="1"/>
                  <a:tblGrid>
                    <a:gridCol w="2628000">
                      <a:extLst>
                        <a:ext uri="{9D8B030D-6E8A-4147-A177-3AD203B41FA5}">
                          <a16:colId xmlns:a16="http://schemas.microsoft.com/office/drawing/2014/main" val="3252370412"/>
                        </a:ext>
                      </a:extLst>
                    </a:gridCol>
                    <a:gridCol w="1548000">
                      <a:extLst>
                        <a:ext uri="{9D8B030D-6E8A-4147-A177-3AD203B41FA5}">
                          <a16:colId xmlns:a16="http://schemas.microsoft.com/office/drawing/2014/main" val="1054817468"/>
                        </a:ext>
                      </a:extLst>
                    </a:gridCol>
                    <a:gridCol w="1908000">
                      <a:extLst>
                        <a:ext uri="{9D8B030D-6E8A-4147-A177-3AD203B41FA5}">
                          <a16:colId xmlns:a16="http://schemas.microsoft.com/office/drawing/2014/main" val="2612261504"/>
                        </a:ext>
                      </a:extLst>
                    </a:gridCol>
                    <a:gridCol w="1548000">
                      <a:extLst>
                        <a:ext uri="{9D8B030D-6E8A-4147-A177-3AD203B41FA5}">
                          <a16:colId xmlns:a16="http://schemas.microsoft.com/office/drawing/2014/main" val="2461270845"/>
                        </a:ext>
                      </a:extLst>
                    </a:gridCol>
                  </a:tblGrid>
                  <a:tr h="468000">
                    <a:tc>
                      <a:txBody>
                        <a:bodyPr/>
                        <a:lstStyle/>
                        <a:p>
                          <a:pPr marL="0" marR="0" algn="ctr">
                            <a:spcBef>
                              <a:spcPts val="180"/>
                            </a:spcBef>
                            <a:spcAft>
                              <a:spcPts val="180"/>
                            </a:spcAft>
                          </a:pPr>
                          <a:r>
                            <a:rPr lang="en-US" sz="2000" b="1" dirty="0">
                              <a:effectLst/>
                              <a:latin typeface="Verdana" panose="020B0604030504040204" pitchFamily="34" charset="0"/>
                              <a:ea typeface="Verdana" pitchFamily="34" charset="0"/>
                              <a:cs typeface="Times New Roman" panose="02020603050405020304" pitchFamily="18" charset="0"/>
                            </a:rPr>
                            <a:t>Device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Storage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Processing</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Memory</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526064465"/>
                      </a:ext>
                    </a:extLst>
                  </a:tr>
                  <a:tr h="7010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483" t="-69091" r="-191787" b="-17454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70492" t="-69091" r="-225410" b="-17454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18543" t="-69091" r="-82119" b="-17454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94262" t="-69091" r="-1639" b="-174545"/>
                          </a:stretch>
                        </a:blipFill>
                      </a:tcPr>
                    </a:tc>
                    <a:extLst>
                      <a:ext uri="{0D108BD9-81ED-4DB2-BD59-A6C34878D82A}">
                        <a16:rowId xmlns:a16="http://schemas.microsoft.com/office/drawing/2014/main" val="4265818612"/>
                      </a:ext>
                    </a:extLst>
                  </a:tr>
                  <a:tr h="396240">
                    <a:tc>
                      <a:txBody>
                        <a:bodyPr/>
                        <a:lstStyle/>
                        <a:p>
                          <a:pPr marL="0" marR="0" algn="ctr">
                            <a:spcBef>
                              <a:spcPts val="180"/>
                            </a:spcBef>
                            <a:spcAft>
                              <a:spcPts val="180"/>
                            </a:spcAft>
                          </a:pPr>
                          <a:r>
                            <a:rPr lang="en-US" sz="2000">
                              <a:effectLst/>
                              <a:latin typeface="Verdana" panose="020B0604030504040204" pitchFamily="34" charset="0"/>
                              <a:ea typeface="Verdana" pitchFamily="34" charset="0"/>
                              <a:cs typeface="Times New Roman" panose="02020603050405020304" pitchFamily="18" charset="0"/>
                            </a:rPr>
                            <a:t>Smartphone</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70492" t="-290625" r="-225410"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18543" t="-290625" r="-82119"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94262" t="-290625" r="-1639" b="-200000"/>
                          </a:stretch>
                        </a:blipFill>
                      </a:tcPr>
                    </a:tc>
                    <a:extLst>
                      <a:ext uri="{0D108BD9-81ED-4DB2-BD59-A6C34878D82A}">
                        <a16:rowId xmlns:a16="http://schemas.microsoft.com/office/drawing/2014/main" val="2783970301"/>
                      </a:ext>
                    </a:extLst>
                  </a:tr>
                  <a:tr h="701040">
                    <a:tc gridSpan="4">
                      <a:txBody>
                        <a:bodyPr/>
                        <a:lstStyle/>
                        <a:p>
                          <a:pPr marL="0" marR="0">
                            <a:spcBef>
                              <a:spcPts val="180"/>
                            </a:spcBef>
                            <a:spcAft>
                              <a:spcPts val="180"/>
                            </a:spcAft>
                          </a:pPr>
                          <a:r>
                            <a:rPr lang="en-US" sz="2000" dirty="0">
                              <a:effectLst/>
                              <a:latin typeface="Verdana" panose="020B0604030504040204" pitchFamily="34" charset="0"/>
                              <a:ea typeface="Verdana" pitchFamily="34" charset="0"/>
                              <a:cs typeface="Times New Roman" panose="02020603050405020304" pitchFamily="18" charset="0"/>
                            </a:rPr>
                            <a:t>*For reference, storage and memory are measured in bytes (B), and processor speed is measured in hertz (Hz).</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12650643"/>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36E8F83-6EC0-354E-9A8B-12FAAE28558C}"/>
                  </a:ext>
                </a:extLst>
              </p:cNvPr>
              <p:cNvSpPr txBox="1"/>
              <p:nvPr/>
            </p:nvSpPr>
            <p:spPr>
              <a:xfrm>
                <a:off x="1678590" y="4965873"/>
                <a:ext cx="9851994" cy="1323439"/>
              </a:xfrm>
              <a:prstGeom prst="rect">
                <a:avLst/>
              </a:prstGeom>
              <a:noFill/>
            </p:spPr>
            <p:txBody>
              <a:bodyPr wrap="square" rtlCol="0">
                <a:spAutoFit/>
              </a:bodyPr>
              <a:lstStyle/>
              <a:p>
                <a:pPr indent="488950"/>
                <a:r>
                  <a:rPr lang="en-US" sz="2000" dirty="0">
                    <a:latin typeface="Verdana" panose="020B0604030504040204" pitchFamily="34" charset="0"/>
                    <a:ea typeface="Verdana" panose="020B0604030504040204" pitchFamily="34" charset="0"/>
                    <a:cs typeface="Verdana" panose="020B0604030504040204" pitchFamily="34" charset="0"/>
                  </a:rPr>
                  <a:t>Kilobytes (KB)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1,000</m:t>
                    </m:r>
                  </m:oMath>
                </a14:m>
                <a:r>
                  <a:rPr lang="en-US" sz="2000" dirty="0">
                    <a:latin typeface="Verdana" panose="020B0604030504040204" pitchFamily="34" charset="0"/>
                    <a:ea typeface="Verdana" panose="020B0604030504040204" pitchFamily="34" charset="0"/>
                    <a:cs typeface="Verdana" panose="020B0604030504040204" pitchFamily="34" charset="0"/>
                  </a:rPr>
                  <a:t> bytes (B)</a:t>
                </a:r>
              </a:p>
              <a:p>
                <a:pPr indent="488950"/>
                <a:r>
                  <a:rPr lang="en-US" sz="2000" dirty="0">
                    <a:latin typeface="Verdana" panose="020B0604030504040204" pitchFamily="34" charset="0"/>
                    <a:ea typeface="Verdana" panose="020B0604030504040204" pitchFamily="34" charset="0"/>
                    <a:cs typeface="Verdana" panose="020B0604030504040204" pitchFamily="34" charset="0"/>
                  </a:rPr>
                  <a:t>Megahertz (MHz) =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1,000,000</m:t>
                    </m:r>
                  </m:oMath>
                </a14:m>
                <a:r>
                  <a:rPr lang="en-US" sz="2000" dirty="0">
                    <a:latin typeface="Verdana" panose="020B0604030504040204" pitchFamily="34" charset="0"/>
                    <a:ea typeface="Verdana" panose="020B0604030504040204" pitchFamily="34" charset="0"/>
                    <a:cs typeface="Verdana" panose="020B0604030504040204" pitchFamily="34" charset="0"/>
                  </a:rPr>
                  <a:t> hertz (Hz)</a:t>
                </a:r>
              </a:p>
              <a:p>
                <a:pPr indent="488950"/>
                <a:r>
                  <a:rPr lang="en-US" sz="2000" dirty="0">
                    <a:latin typeface="Verdana" panose="020B0604030504040204" pitchFamily="34" charset="0"/>
                    <a:ea typeface="Verdana" panose="020B0604030504040204" pitchFamily="34" charset="0"/>
                    <a:cs typeface="Verdana" panose="020B0604030504040204" pitchFamily="34" charset="0"/>
                  </a:rPr>
                  <a:t>Gigabytes (G)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1,000,000,000</m:t>
                    </m:r>
                  </m:oMath>
                </a14:m>
                <a:r>
                  <a:rPr lang="en-US" sz="2000" dirty="0">
                    <a:latin typeface="Verdana" panose="020B0604030504040204" pitchFamily="34" charset="0"/>
                    <a:ea typeface="Verdana" panose="020B0604030504040204" pitchFamily="34" charset="0"/>
                    <a:cs typeface="Verdana" panose="020B0604030504040204" pitchFamily="34" charset="0"/>
                  </a:rPr>
                  <a:t> bytes (B)</a:t>
                </a:r>
              </a:p>
              <a:p>
                <a:pPr indent="488950"/>
                <a:r>
                  <a:rPr lang="en-US" sz="2000" dirty="0">
                    <a:latin typeface="Verdana" panose="020B0604030504040204" pitchFamily="34" charset="0"/>
                    <a:ea typeface="Verdana" panose="020B0604030504040204" pitchFamily="34" charset="0"/>
                    <a:cs typeface="Verdana" panose="020B0604030504040204" pitchFamily="34" charset="0"/>
                  </a:rPr>
                  <a:t>Terabytes (T)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1,000,000,000,000</m:t>
                    </m:r>
                  </m:oMath>
                </a14:m>
                <a:r>
                  <a:rPr lang="en-US" sz="2000" dirty="0">
                    <a:latin typeface="Verdana" panose="020B0604030504040204" pitchFamily="34" charset="0"/>
                    <a:ea typeface="Verdana" panose="020B0604030504040204" pitchFamily="34" charset="0"/>
                    <a:cs typeface="Verdana" panose="020B0604030504040204" pitchFamily="34" charset="0"/>
                  </a:rPr>
                  <a:t> bytes (B)</a:t>
                </a:r>
              </a:p>
            </p:txBody>
          </p:sp>
        </mc:Choice>
        <mc:Fallback xmlns="">
          <p:sp>
            <p:nvSpPr>
              <p:cNvPr id="9" name="TextBox 8">
                <a:extLst>
                  <a:ext uri="{FF2B5EF4-FFF2-40B4-BE49-F238E27FC236}">
                    <a16:creationId xmlns:a16="http://schemas.microsoft.com/office/drawing/2014/main" id="{136E8F83-6EC0-354E-9A8B-12FAAE28558C}"/>
                  </a:ext>
                </a:extLst>
              </p:cNvPr>
              <p:cNvSpPr txBox="1">
                <a:spLocks noRot="1" noChangeAspect="1" noMove="1" noResize="1" noEditPoints="1" noAdjustHandles="1" noChangeArrowheads="1" noChangeShapeType="1" noTextEdit="1"/>
              </p:cNvSpPr>
              <p:nvPr/>
            </p:nvSpPr>
            <p:spPr>
              <a:xfrm>
                <a:off x="1678590" y="4965873"/>
                <a:ext cx="9851994" cy="1323439"/>
              </a:xfrm>
              <a:prstGeom prst="rect">
                <a:avLst/>
              </a:prstGeom>
              <a:blipFill>
                <a:blip r:embed="rId6"/>
                <a:stretch>
                  <a:fillRect t="-2857" b="-7619"/>
                </a:stretch>
              </a:blipFill>
            </p:spPr>
            <p:txBody>
              <a:bodyPr/>
              <a:lstStyle/>
              <a:p>
                <a:r>
                  <a:rPr lang="en-US">
                    <a:noFill/>
                  </a:rPr>
                  <a:t> </a:t>
                </a:r>
              </a:p>
            </p:txBody>
          </p:sp>
        </mc:Fallback>
      </mc:AlternateContent>
    </p:spTree>
    <p:extLst>
      <p:ext uri="{BB962C8B-B14F-4D97-AF65-F5344CB8AC3E}">
        <p14:creationId xmlns:p14="http://schemas.microsoft.com/office/powerpoint/2010/main" val="236896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8F82859-BA98-3646-BF3B-9E17E52A2E35}"/>
                  </a:ext>
                </a:extLst>
              </p:cNvPr>
              <p:cNvSpPr txBox="1"/>
              <p:nvPr/>
            </p:nvSpPr>
            <p:spPr>
              <a:xfrm>
                <a:off x="305650" y="458326"/>
                <a:ext cx="11449470" cy="4093428"/>
              </a:xfrm>
              <a:prstGeom prst="rect">
                <a:avLst/>
              </a:prstGeom>
              <a:noFill/>
            </p:spPr>
            <p:txBody>
              <a:bodyPr wrap="square" rtlCol="0">
                <a:spAutoFit/>
              </a:bodyPr>
              <a:lstStyle/>
              <a:p>
                <a:pPr marL="90646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Determine the combined storage and memory, in bytes, of the smartphone. Write your answer using scientific notation.</a:t>
                </a:r>
              </a:p>
              <a:p>
                <a:pPr marL="90646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much combined storage and memory, in bytes, are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smartphones? Write your answer using scientific notation.</a:t>
                </a:r>
              </a:p>
              <a:p>
                <a:pPr marL="90646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Determine how much faster, in hertz, the smartphone’s processing speed is compared to the Apollo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11</m:t>
                    </m:r>
                  </m:oMath>
                </a14:m>
                <a:r>
                  <a:rPr lang="en-US" sz="2000" dirty="0">
                    <a:latin typeface="Verdana" panose="020B0604030504040204" pitchFamily="34" charset="0"/>
                    <a:ea typeface="Verdana" panose="020B0604030504040204" pitchFamily="34" charset="0"/>
                    <a:cs typeface="Verdana" panose="020B0604030504040204" pitchFamily="34" charset="0"/>
                  </a:rPr>
                  <a:t> Guidance Computer’s processing speed. Write your answer using scientific notation.</a:t>
                </a:r>
              </a:p>
            </p:txBody>
          </p:sp>
        </mc:Choice>
        <mc:Fallback xmlns="">
          <p:sp>
            <p:nvSpPr>
              <p:cNvPr id="6" name="TextBox 5">
                <a:extLst>
                  <a:ext uri="{FF2B5EF4-FFF2-40B4-BE49-F238E27FC236}">
                    <a16:creationId xmlns:a16="http://schemas.microsoft.com/office/drawing/2014/main" id="{C8F82859-BA98-3646-BF3B-9E17E52A2E35}"/>
                  </a:ext>
                </a:extLst>
              </p:cNvPr>
              <p:cNvSpPr txBox="1">
                <a:spLocks noRot="1" noChangeAspect="1" noMove="1" noResize="1" noEditPoints="1" noAdjustHandles="1" noChangeArrowheads="1" noChangeShapeType="1" noTextEdit="1"/>
              </p:cNvSpPr>
              <p:nvPr/>
            </p:nvSpPr>
            <p:spPr>
              <a:xfrm>
                <a:off x="305650" y="458326"/>
                <a:ext cx="11449470" cy="4093428"/>
              </a:xfrm>
              <a:prstGeom prst="rect">
                <a:avLst/>
              </a:prstGeom>
              <a:blipFill>
                <a:blip r:embed="rId4"/>
                <a:stretch>
                  <a:fillRect t="-929" b="-1548"/>
                </a:stretch>
              </a:blipFill>
            </p:spPr>
            <p:txBody>
              <a:bodyPr/>
              <a:lstStyle/>
              <a:p>
                <a:r>
                  <a:rPr lang="en-US">
                    <a:noFill/>
                  </a:rPr>
                  <a:t> </a:t>
                </a:r>
              </a:p>
            </p:txBody>
          </p:sp>
        </mc:Fallback>
      </mc:AlternateContent>
    </p:spTree>
    <p:extLst>
      <p:ext uri="{BB962C8B-B14F-4D97-AF65-F5344CB8AC3E}">
        <p14:creationId xmlns:p14="http://schemas.microsoft.com/office/powerpoint/2010/main" val="2051236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0" name="image8.png" descr="Icon&#10;&#10;Description automatically generated">
            <a:extLst>
              <a:ext uri="{FF2B5EF4-FFF2-40B4-BE49-F238E27FC236}">
                <a16:creationId xmlns:a16="http://schemas.microsoft.com/office/drawing/2014/main" id="{C3077B63-B59F-3C47-BD0A-FB19C317B7E1}"/>
              </a:ext>
            </a:extLst>
          </p:cNvPr>
          <p:cNvPicPr/>
          <p:nvPr/>
        </p:nvPicPr>
        <p:blipFill>
          <a:blip r:embed="rId4"/>
          <a:srcRect/>
          <a:stretch>
            <a:fillRect/>
          </a:stretch>
        </p:blipFill>
        <p:spPr>
          <a:xfrm>
            <a:off x="4506717" y="2853975"/>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44779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p:grpSp>
        <p:nvGrpSpPr>
          <p:cNvPr id="10" name="Group 9">
            <a:extLst>
              <a:ext uri="{FF2B5EF4-FFF2-40B4-BE49-F238E27FC236}">
                <a16:creationId xmlns:a16="http://schemas.microsoft.com/office/drawing/2014/main" id="{63AD1692-18A2-FB46-800A-11AFFA2A560C}"/>
              </a:ext>
            </a:extLst>
          </p:cNvPr>
          <p:cNvGrpSpPr/>
          <p:nvPr/>
        </p:nvGrpSpPr>
        <p:grpSpPr>
          <a:xfrm>
            <a:off x="2781300" y="4919169"/>
            <a:ext cx="6629400" cy="812522"/>
            <a:chOff x="2031300" y="3373600"/>
            <a:chExt cx="6629400" cy="812800"/>
          </a:xfrm>
        </p:grpSpPr>
        <p:sp>
          <p:nvSpPr>
            <p:cNvPr id="11" name="Rectangle 10">
              <a:extLst>
                <a:ext uri="{FF2B5EF4-FFF2-40B4-BE49-F238E27FC236}">
                  <a16:creationId xmlns:a16="http://schemas.microsoft.com/office/drawing/2014/main" id="{3FE34AFB-D60D-F049-8029-A636FDE33D62}"/>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A3A097C6-D3D0-8649-84FD-1F5AA5344900}"/>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15"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87527"/>
            <a:ext cx="10441876"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3.8.3 Guided Instruction: Using Scientific Notation to Solve Real-World Problems</a:t>
            </a:r>
          </a:p>
        </p:txBody>
      </p:sp>
      <p:pic>
        <p:nvPicPr>
          <p:cNvPr id="16"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20322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FE208A00-51E7-C544-ABDE-AE9DC3DAAB4C}"/>
                  </a:ext>
                </a:extLst>
              </p:cNvPr>
              <p:cNvSpPr>
                <a:spLocks noChangeArrowheads="1"/>
              </p:cNvSpPr>
              <p:nvPr/>
            </p:nvSpPr>
            <p:spPr bwMode="auto">
              <a:xfrm>
                <a:off x="730364" y="1266926"/>
                <a:ext cx="11198310" cy="193899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National Debt in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2020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was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$26.9</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trillion. The population for the state of Florida in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2020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was estimated to be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21.9</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million.</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90646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If the people living in Florida were to pay off the national debt, how much would each person pay? </a:t>
                </a:r>
              </a:p>
            </p:txBody>
          </p:sp>
        </mc:Choice>
        <mc:Fallback xmlns="">
          <p:sp>
            <p:nvSpPr>
              <p:cNvPr id="17" name="Rectangle 16">
                <a:extLst>
                  <a:ext uri="{FF2B5EF4-FFF2-40B4-BE49-F238E27FC236}">
                    <a16:creationId xmlns="" xmlns:a16="http://schemas.microsoft.com/office/drawing/2014/main" xmlns:a14="http://schemas.microsoft.com/office/drawing/2010/main" id="{FE208A00-51E7-C544-ABDE-AE9DC3DAAB4C}"/>
                  </a:ext>
                </a:extLst>
              </p:cNvPr>
              <p:cNvSpPr>
                <a:spLocks noRot="1" noChangeAspect="1" noMove="1" noResize="1" noEditPoints="1" noAdjustHandles="1" noChangeArrowheads="1" noChangeShapeType="1" noTextEdit="1"/>
              </p:cNvSpPr>
              <p:nvPr/>
            </p:nvSpPr>
            <p:spPr bwMode="auto">
              <a:xfrm>
                <a:off x="730364" y="1266926"/>
                <a:ext cx="11198310" cy="1938992"/>
              </a:xfrm>
              <a:prstGeom prst="rect">
                <a:avLst/>
              </a:prstGeom>
              <a:blipFill rotWithShape="1">
                <a:blip r:embed="rId5"/>
                <a:stretch>
                  <a:fillRect l="-871" t="-2830" b="-628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4102995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8F82859-BA98-3646-BF3B-9E17E52A2E35}"/>
                  </a:ext>
                </a:extLst>
              </p:cNvPr>
              <p:cNvSpPr txBox="1"/>
              <p:nvPr/>
            </p:nvSpPr>
            <p:spPr>
              <a:xfrm>
                <a:off x="511205" y="533066"/>
                <a:ext cx="10953207" cy="3785652"/>
              </a:xfrm>
              <a:prstGeom prst="rect">
                <a:avLst/>
              </a:prstGeom>
              <a:noFill/>
            </p:spPr>
            <p:txBody>
              <a:bodyPr wrap="square" rtlCol="0">
                <a:spAutoFit/>
              </a:bodyPr>
              <a:lstStyle/>
              <a:p>
                <a:pPr marL="906463"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population of North Bay in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2020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was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197,974</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If the people living in North Bay were to pay off the national debt, how much would each person pay? </a:t>
                </a:r>
              </a:p>
              <a:p>
                <a:pPr marL="90646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It has been estimated that the national debt increases at a rate of about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$3.9</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million each day. At this rate, how much will the debt increase in a year? </a:t>
                </a:r>
              </a:p>
            </p:txBody>
          </p:sp>
        </mc:Choice>
        <mc:Fallback xmlns="">
          <p:sp>
            <p:nvSpPr>
              <p:cNvPr id="7" name="TextBox 6">
                <a:extLst>
                  <a:ext uri="{FF2B5EF4-FFF2-40B4-BE49-F238E27FC236}">
                    <a16:creationId xmlns="" xmlns:a16="http://schemas.microsoft.com/office/drawing/2014/main"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3785652"/>
              </a:xfrm>
              <a:prstGeom prst="rect">
                <a:avLst/>
              </a:prstGeom>
              <a:blipFill rotWithShape="1">
                <a:blip r:embed="rId4"/>
                <a:stretch>
                  <a:fillRect t="-1449" r="-1391" b="-2738"/>
                </a:stretch>
              </a:blipFill>
            </p:spPr>
            <p:txBody>
              <a:bodyPr/>
              <a:lstStyle/>
              <a:p>
                <a:r>
                  <a:rPr lang="en-US">
                    <a:noFill/>
                  </a:rPr>
                  <a:t> </a:t>
                </a:r>
              </a:p>
            </p:txBody>
          </p:sp>
        </mc:Fallback>
      </mc:AlternateContent>
    </p:spTree>
    <p:extLst>
      <p:ext uri="{BB962C8B-B14F-4D97-AF65-F5344CB8AC3E}">
        <p14:creationId xmlns:p14="http://schemas.microsoft.com/office/powerpoint/2010/main" val="81429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10"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84323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p:pic>
        <p:nvPicPr>
          <p:cNvPr id="11" name="Picture 10" descr="The Collective Musings of Tamara: 2011 Golden Globe Awards ...">
            <a:extLst>
              <a:ext uri="{FF2B5EF4-FFF2-40B4-BE49-F238E27FC236}">
                <a16:creationId xmlns:a16="http://schemas.microsoft.com/office/drawing/2014/main" id="{0FFBF4BA-8489-B645-A16E-1061F546CAD0}"/>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8224769" y="1238924"/>
            <a:ext cx="3205231" cy="3473302"/>
          </a:xfrm>
          <a:prstGeom prst="rect">
            <a:avLst/>
          </a:prstGeom>
          <a:ln>
            <a:noFill/>
          </a:ln>
        </p:spPr>
      </p:pic>
      <p:sp>
        <p:nvSpPr>
          <p:cNvPr id="10" name="Google Shape;428;g103996e1364_0_428">
            <a:extLst>
              <a:ext uri="{FF2B5EF4-FFF2-40B4-BE49-F238E27FC236}">
                <a16:creationId xmlns:a16="http://schemas.microsoft.com/office/drawing/2014/main"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3.8.4 Your Turn!</a:t>
            </a:r>
          </a:p>
        </p:txBody>
      </p:sp>
      <p:pic>
        <p:nvPicPr>
          <p:cNvPr id="13"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B46B19A2-BBA2-0441-AC88-F1F62E75949B}"/>
              </a:ext>
            </a:extLst>
          </p:cNvPr>
          <p:cNvSpPr txBox="1"/>
          <p:nvPr/>
        </p:nvSpPr>
        <p:spPr>
          <a:xfrm>
            <a:off x="731522" y="1238924"/>
            <a:ext cx="6850378" cy="2780626"/>
          </a:xfrm>
          <a:prstGeom prst="rect">
            <a:avLst/>
          </a:prstGeom>
          <a:noFill/>
        </p:spPr>
        <p:txBody>
          <a:bodyPr wrap="square" rtlCol="0">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Jennifer Lopez changed the Hollywood landscape, single-handedly increasing Latino representation in film, television, and fashion. </a:t>
            </a:r>
            <a:r>
              <a:rPr lang="en-US" altLang="en-US" sz="2400" dirty="0" err="1">
                <a:solidFill>
                  <a:schemeClr val="tx1"/>
                </a:solidFill>
                <a:latin typeface="Verdana" panose="020B0604030504040204" pitchFamily="34" charset="0"/>
                <a:ea typeface="Times New Roman" panose="02020603050405020304" pitchFamily="18" charset="0"/>
                <a:cs typeface="Times New Roman" panose="02020603050405020304" pitchFamily="18" charset="0"/>
              </a:rPr>
              <a:t>J.Lo</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as she is known, has become one of the highest-paid Latina celebrities in Hollywood. She has multiple income streams. </a:t>
            </a:r>
          </a:p>
        </p:txBody>
      </p:sp>
    </p:spTree>
    <p:extLst>
      <p:ext uri="{BB962C8B-B14F-4D97-AF65-F5344CB8AC3E}">
        <p14:creationId xmlns:p14="http://schemas.microsoft.com/office/powerpoint/2010/main" val="3887674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9396BB5A-6D7E-3749-AB7C-37932DF81E63}"/>
                  </a:ext>
                </a:extLst>
              </p:cNvPr>
              <p:cNvGraphicFramePr>
                <a:graphicFrameLocks noGrp="1"/>
              </p:cNvGraphicFramePr>
              <p:nvPr>
                <p:extLst>
                  <p:ext uri="{D42A27DB-BD31-4B8C-83A1-F6EECF244321}">
                    <p14:modId xmlns:p14="http://schemas.microsoft.com/office/powerpoint/2010/main" val="4126792733"/>
                  </p:ext>
                </p:extLst>
              </p:nvPr>
            </p:nvGraphicFramePr>
            <p:xfrm>
              <a:off x="2046000" y="1172070"/>
              <a:ext cx="8100000" cy="2967360"/>
            </p:xfrm>
            <a:graphic>
              <a:graphicData uri="http://schemas.openxmlformats.org/drawingml/2006/table">
                <a:tbl>
                  <a:tblPr firstRow="1" firstCol="1" bandRow="1"/>
                  <a:tblGrid>
                    <a:gridCol w="4320000">
                      <a:extLst>
                        <a:ext uri="{9D8B030D-6E8A-4147-A177-3AD203B41FA5}">
                          <a16:colId xmlns:a16="http://schemas.microsoft.com/office/drawing/2014/main" val="4010278999"/>
                        </a:ext>
                      </a:extLst>
                    </a:gridCol>
                    <a:gridCol w="3780000">
                      <a:extLst>
                        <a:ext uri="{9D8B030D-6E8A-4147-A177-3AD203B41FA5}">
                          <a16:colId xmlns:a16="http://schemas.microsoft.com/office/drawing/2014/main" val="3948441907"/>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rPr>
                            <a:t>Job</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rPr>
                            <a:t>Income</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77189522"/>
                      </a:ext>
                    </a:extLst>
                  </a:tr>
                  <a:tr h="360000">
                    <a:tc>
                      <a:txBody>
                        <a:bodyPr/>
                        <a:lstStyle/>
                        <a:p>
                          <a:pPr marL="0" marR="0">
                            <a:spcBef>
                              <a:spcPts val="0"/>
                            </a:spcBef>
                            <a:spcAft>
                              <a:spcPts val="0"/>
                            </a:spcAft>
                          </a:pPr>
                          <a:r>
                            <a:rPr lang="en-US" sz="2000" dirty="0">
                              <a:effectLst/>
                              <a:latin typeface="Verdana" panose="020B0604030504040204" pitchFamily="34" charset="0"/>
                              <a:ea typeface="Verdana" pitchFamily="34" charset="0"/>
                            </a:rPr>
                            <a:t>Judge and executive producer on the show “World of Dance”</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rPr>
                                <m:t>1.2 × </m:t>
                              </m:r>
                              <m:sSup>
                                <m:sSupPr>
                                  <m:ctrlPr>
                                    <a:rPr lang="x-none" sz="2000" i="1">
                                      <a:effectLst/>
                                      <a:latin typeface="Cambria Math" panose="02040503050406030204" pitchFamily="18" charset="0"/>
                                      <a:ea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rPr>
                                    <m:t>7</m:t>
                                  </m:r>
                                </m:sup>
                              </m:sSup>
                            </m:oMath>
                          </a14:m>
                          <a:r>
                            <a:rPr lang="en-US" sz="2000" dirty="0">
                              <a:effectLst/>
                              <a:latin typeface="Verdana" panose="020B0604030504040204" pitchFamily="34" charset="0"/>
                              <a:ea typeface="Verdana" pitchFamily="34" charset="0"/>
                            </a:rPr>
                            <a:t> dollars per season</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8170665"/>
                      </a:ext>
                    </a:extLst>
                  </a:tr>
                  <a:tr h="360000">
                    <a:tc>
                      <a:txBody>
                        <a:bodyPr/>
                        <a:lstStyle/>
                        <a:p>
                          <a:pPr marL="0" marR="0">
                            <a:spcBef>
                              <a:spcPts val="0"/>
                            </a:spcBef>
                            <a:spcAft>
                              <a:spcPts val="0"/>
                            </a:spcAft>
                          </a:pPr>
                          <a:r>
                            <a:rPr lang="en-US" sz="2000">
                              <a:effectLst/>
                              <a:latin typeface="Verdana" panose="020B0604030504040204" pitchFamily="34" charset="0"/>
                              <a:ea typeface="Verdana" pitchFamily="34" charset="0"/>
                            </a:rPr>
                            <a:t>Jennifer Lopez clothing line, cosmetics, and fragrances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rPr>
                                <m:t>3 × </m:t>
                              </m:r>
                              <m:sSup>
                                <m:sSupPr>
                                  <m:ctrlPr>
                                    <a:rPr lang="x-none" sz="2000" i="1">
                                      <a:effectLst/>
                                      <a:latin typeface="Cambria Math" panose="02040503050406030204" pitchFamily="18" charset="0"/>
                                      <a:ea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rPr>
                                    <m:t>8</m:t>
                                  </m:r>
                                </m:sup>
                              </m:sSup>
                            </m:oMath>
                          </a14:m>
                          <a:r>
                            <a:rPr lang="en-US" sz="2000" dirty="0">
                              <a:effectLst/>
                              <a:latin typeface="Verdana" panose="020B0604030504040204" pitchFamily="34" charset="0"/>
                              <a:ea typeface="Verdana" pitchFamily="34" charset="0"/>
                            </a:rPr>
                            <a:t> dollars in revenue</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7230537"/>
                      </a:ext>
                    </a:extLst>
                  </a:tr>
                  <a:tr h="360000">
                    <a:tc>
                      <a:txBody>
                        <a:bodyPr/>
                        <a:lstStyle/>
                        <a:p>
                          <a:pPr marL="0" marR="0">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rPr>
                                <m:t>2012</m:t>
                              </m:r>
                            </m:oMath>
                          </a14:m>
                          <a:r>
                            <a:rPr lang="en-US" sz="2000">
                              <a:effectLst/>
                              <a:latin typeface="Verdana" panose="020B0604030504040204" pitchFamily="34" charset="0"/>
                              <a:ea typeface="Verdana" pitchFamily="34" charset="0"/>
                            </a:rPr>
                            <a:t> “Dance Again” World Tour</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rPr>
                                <m:t>5.1 × </m:t>
                              </m:r>
                              <m:sSup>
                                <m:sSupPr>
                                  <m:ctrlPr>
                                    <a:rPr lang="x-none" sz="2000" i="1">
                                      <a:effectLst/>
                                      <a:latin typeface="Cambria Math" panose="02040503050406030204" pitchFamily="18" charset="0"/>
                                      <a:ea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rPr>
                                    <m:t>7</m:t>
                                  </m:r>
                                </m:sup>
                              </m:sSup>
                            </m:oMath>
                          </a14:m>
                          <a:r>
                            <a:rPr lang="en-US" sz="2000" dirty="0">
                              <a:effectLst/>
                              <a:latin typeface="Verdana" panose="020B0604030504040204" pitchFamily="34" charset="0"/>
                              <a:ea typeface="Verdana" pitchFamily="34" charset="0"/>
                            </a:rPr>
                            <a:t> dollars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9161981"/>
                      </a:ext>
                    </a:extLst>
                  </a:tr>
                  <a:tr h="360000">
                    <a:tc>
                      <a:txBody>
                        <a:bodyPr/>
                        <a:lstStyle/>
                        <a:p>
                          <a:pPr marL="0" marR="0">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rPr>
                                <m:t>2016−2018</m:t>
                              </m:r>
                            </m:oMath>
                          </a14:m>
                          <a:r>
                            <a:rPr lang="en-US" sz="2000">
                              <a:effectLst/>
                              <a:latin typeface="Verdana" panose="020B0604030504040204" pitchFamily="34" charset="0"/>
                              <a:ea typeface="Verdana" pitchFamily="34" charset="0"/>
                            </a:rPr>
                            <a:t> “All I Have” concert residency in Las Vegas, Nevada</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rPr>
                                <m:t>3.5 × </m:t>
                              </m:r>
                              <m:sSup>
                                <m:sSupPr>
                                  <m:ctrlPr>
                                    <a:rPr lang="x-none" sz="2000" i="1">
                                      <a:effectLst/>
                                      <a:latin typeface="Cambria Math" panose="02040503050406030204" pitchFamily="18" charset="0"/>
                                      <a:ea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rPr>
                                    <m:t>5</m:t>
                                  </m:r>
                                </m:sup>
                              </m:sSup>
                            </m:oMath>
                          </a14:m>
                          <a:r>
                            <a:rPr lang="en-US" sz="2000" dirty="0">
                              <a:effectLst/>
                              <a:latin typeface="Verdana" panose="020B0604030504040204" pitchFamily="34" charset="0"/>
                              <a:ea typeface="Verdana" pitchFamily="34" charset="0"/>
                            </a:rPr>
                            <a:t> dollars per season</a:t>
                          </a:r>
                          <a:endParaRPr lang="x-none"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498564"/>
                      </a:ext>
                    </a:extLst>
                  </a:tr>
                </a:tbl>
              </a:graphicData>
            </a:graphic>
          </p:graphicFrame>
        </mc:Choice>
        <mc:Fallback xmlns="">
          <p:graphicFrame>
            <p:nvGraphicFramePr>
              <p:cNvPr id="3" name="Table 2">
                <a:extLst>
                  <a:ext uri="{FF2B5EF4-FFF2-40B4-BE49-F238E27FC236}">
                    <a16:creationId xmlns:a16="http://schemas.microsoft.com/office/drawing/2014/main" id="{9396BB5A-6D7E-3749-AB7C-37932DF81E63}"/>
                  </a:ext>
                </a:extLst>
              </p:cNvPr>
              <p:cNvGraphicFramePr>
                <a:graphicFrameLocks noGrp="1"/>
              </p:cNvGraphicFramePr>
              <p:nvPr>
                <p:extLst>
                  <p:ext uri="{D42A27DB-BD31-4B8C-83A1-F6EECF244321}">
                    <p14:modId xmlns:p14="http://schemas.microsoft.com/office/powerpoint/2010/main" val="4126792733"/>
                  </p:ext>
                </p:extLst>
              </p:nvPr>
            </p:nvGraphicFramePr>
            <p:xfrm>
              <a:off x="2046000" y="1172070"/>
              <a:ext cx="8100000" cy="2967360"/>
            </p:xfrm>
            <a:graphic>
              <a:graphicData uri="http://schemas.openxmlformats.org/drawingml/2006/table">
                <a:tbl>
                  <a:tblPr firstRow="1" firstCol="1" bandRow="1"/>
                  <a:tblGrid>
                    <a:gridCol w="4320000">
                      <a:extLst>
                        <a:ext uri="{9D8B030D-6E8A-4147-A177-3AD203B41FA5}">
                          <a16:colId xmlns:a16="http://schemas.microsoft.com/office/drawing/2014/main" val="4010278999"/>
                        </a:ext>
                      </a:extLst>
                    </a:gridCol>
                    <a:gridCol w="3780000">
                      <a:extLst>
                        <a:ext uri="{9D8B030D-6E8A-4147-A177-3AD203B41FA5}">
                          <a16:colId xmlns:a16="http://schemas.microsoft.com/office/drawing/2014/main" val="3948441907"/>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rPr>
                            <a:t>Job</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rPr>
                            <a:t>Income</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77189522"/>
                      </a:ext>
                    </a:extLst>
                  </a:tr>
                  <a:tr h="701040">
                    <a:tc>
                      <a:txBody>
                        <a:bodyPr/>
                        <a:lstStyle/>
                        <a:p>
                          <a:pPr marL="0" marR="0">
                            <a:spcBef>
                              <a:spcPts val="0"/>
                            </a:spcBef>
                            <a:spcAft>
                              <a:spcPts val="0"/>
                            </a:spcAft>
                          </a:pPr>
                          <a:r>
                            <a:rPr lang="en-US" sz="2000" dirty="0">
                              <a:effectLst/>
                              <a:latin typeface="Verdana" panose="020B0604030504040204" pitchFamily="34" charset="0"/>
                              <a:ea typeface="Verdana" pitchFamily="34" charset="0"/>
                            </a:rPr>
                            <a:t>Judge and executive producer on the show “World of Dance”</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4430" t="-69091" r="-671" b="-274545"/>
                          </a:stretch>
                        </a:blipFill>
                      </a:tcPr>
                    </a:tc>
                    <a:extLst>
                      <a:ext uri="{0D108BD9-81ED-4DB2-BD59-A6C34878D82A}">
                        <a16:rowId xmlns:a16="http://schemas.microsoft.com/office/drawing/2014/main" val="998170665"/>
                      </a:ext>
                    </a:extLst>
                  </a:tr>
                  <a:tr h="701040">
                    <a:tc>
                      <a:txBody>
                        <a:bodyPr/>
                        <a:lstStyle/>
                        <a:p>
                          <a:pPr marL="0" marR="0">
                            <a:spcBef>
                              <a:spcPts val="0"/>
                            </a:spcBef>
                            <a:spcAft>
                              <a:spcPts val="0"/>
                            </a:spcAft>
                          </a:pPr>
                          <a:r>
                            <a:rPr lang="en-US" sz="2000">
                              <a:effectLst/>
                              <a:latin typeface="Verdana" panose="020B0604030504040204" pitchFamily="34" charset="0"/>
                              <a:ea typeface="Verdana" pitchFamily="34" charset="0"/>
                            </a:rPr>
                            <a:t>Jennifer Lopez clothing line, cosmetics, and fragrances</a:t>
                          </a:r>
                          <a:endParaRPr lang="x-none"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4430" t="-169091" r="-671" b="-174545"/>
                          </a:stretch>
                        </a:blipFill>
                      </a:tcPr>
                    </a:tc>
                    <a:extLst>
                      <a:ext uri="{0D108BD9-81ED-4DB2-BD59-A6C34878D82A}">
                        <a16:rowId xmlns:a16="http://schemas.microsoft.com/office/drawing/2014/main" val="1857230537"/>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94" t="-462500" r="-88235"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4430" t="-462500" r="-671" b="-200000"/>
                          </a:stretch>
                        </a:blipFill>
                      </a:tcPr>
                    </a:tc>
                    <a:extLst>
                      <a:ext uri="{0D108BD9-81ED-4DB2-BD59-A6C34878D82A}">
                        <a16:rowId xmlns:a16="http://schemas.microsoft.com/office/drawing/2014/main" val="3539161981"/>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94" t="-327273" r="-88235" b="-1636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4430" t="-327273" r="-671" b="-16364"/>
                          </a:stretch>
                        </a:blipFill>
                      </a:tcPr>
                    </a:tc>
                    <a:extLst>
                      <a:ext uri="{0D108BD9-81ED-4DB2-BD59-A6C34878D82A}">
                        <a16:rowId xmlns:a16="http://schemas.microsoft.com/office/drawing/2014/main" val="3958498564"/>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8F82859-BA98-3646-BF3B-9E17E52A2E35}"/>
                  </a:ext>
                </a:extLst>
              </p:cNvPr>
              <p:cNvSpPr txBox="1"/>
              <p:nvPr/>
            </p:nvSpPr>
            <p:spPr>
              <a:xfrm>
                <a:off x="511205" y="533066"/>
                <a:ext cx="10953207" cy="5632311"/>
              </a:xfrm>
              <a:prstGeom prst="rect">
                <a:avLst/>
              </a:prstGeom>
              <a:noFill/>
            </p:spPr>
            <p:txBody>
              <a:bodyPr wrap="square" rtlCol="0">
                <a:spAutoFit/>
              </a:bodyPr>
              <a:lstStyle/>
              <a:p>
                <a:pPr marL="45085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table summarizes her income from some of her recent jobs.</a:t>
                </a: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difference in Jennifer Lopez’s income from the “Dance Again” World Tour and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2016−2018</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concert residency in Las Vegas, Nevada?</a:t>
                </a: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sum of Jennifer Lopez’s income from “World of Dance” and her clothing line, cosmetics, and fragrances?</a:t>
                </a:r>
              </a:p>
            </p:txBody>
          </p:sp>
        </mc:Choice>
        <mc:Fallback xmlns="">
          <p:sp>
            <p:nvSpPr>
              <p:cNvPr id="8" name="TextBox 7">
                <a:extLst>
                  <a:ext uri="{FF2B5EF4-FFF2-40B4-BE49-F238E27FC236}">
                    <a16:creationId xmlns="" xmlns:a16="http://schemas.microsoft.com/office/drawing/2014/main"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5632311"/>
              </a:xfrm>
              <a:prstGeom prst="rect">
                <a:avLst/>
              </a:prstGeom>
              <a:blipFill rotWithShape="1">
                <a:blip r:embed="rId5"/>
                <a:stretch>
                  <a:fillRect t="-541" b="-974"/>
                </a:stretch>
              </a:blipFill>
            </p:spPr>
            <p:txBody>
              <a:bodyPr/>
              <a:lstStyle/>
              <a:p>
                <a:r>
                  <a:rPr lang="en-US">
                    <a:noFill/>
                  </a:rPr>
                  <a:t> </a:t>
                </a:r>
              </a:p>
            </p:txBody>
          </p:sp>
        </mc:Fallback>
      </mc:AlternateContent>
    </p:spTree>
    <p:extLst>
      <p:ext uri="{BB962C8B-B14F-4D97-AF65-F5344CB8AC3E}">
        <p14:creationId xmlns:p14="http://schemas.microsoft.com/office/powerpoint/2010/main" val="3238106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8F82859-BA98-3646-BF3B-9E17E52A2E35}"/>
                  </a:ext>
                </a:extLst>
              </p:cNvPr>
              <p:cNvSpPr txBox="1"/>
              <p:nvPr/>
            </p:nvSpPr>
            <p:spPr>
              <a:xfrm>
                <a:off x="511205" y="533066"/>
                <a:ext cx="10953207" cy="3785652"/>
              </a:xfrm>
              <a:prstGeom prst="rect">
                <a:avLst/>
              </a:prstGeom>
              <a:noFill/>
            </p:spPr>
            <p:txBody>
              <a:bodyPr wrap="square" rtlCol="0">
                <a:spAutoFit/>
              </a:bodyPr>
              <a:lstStyle/>
              <a:p>
                <a:pPr marL="906463"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How many times greater is Jennifer Lopez’s income from her clothing line, cosmetics, and fragrances compared to the income she made on her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2012</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World Tour?</a:t>
                </a: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Determine if Jennifer Lopez’s income from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2016−2018</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concert residency in Las Vegas,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2012</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“Dance Again” World Tour, and show “World of Dance” is larger than her income from her clothing line, cosmetics, and fragrances.</a:t>
                </a:r>
              </a:p>
            </p:txBody>
          </p:sp>
        </mc:Choice>
        <mc:Fallback xmlns="">
          <p:sp>
            <p:nvSpPr>
              <p:cNvPr id="7" name="TextBox 6">
                <a:extLst>
                  <a:ext uri="{FF2B5EF4-FFF2-40B4-BE49-F238E27FC236}">
                    <a16:creationId xmlns="" xmlns:a16="http://schemas.microsoft.com/office/drawing/2014/main"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3785652"/>
              </a:xfrm>
              <a:prstGeom prst="rect">
                <a:avLst/>
              </a:prstGeom>
              <a:blipFill rotWithShape="1">
                <a:blip r:embed="rId4"/>
                <a:stretch>
                  <a:fillRect t="-1288" b="-2738"/>
                </a:stretch>
              </a:blipFill>
            </p:spPr>
            <p:txBody>
              <a:bodyPr/>
              <a:lstStyle/>
              <a:p>
                <a:r>
                  <a:rPr lang="en-US">
                    <a:noFill/>
                  </a:rPr>
                  <a:t> </a:t>
                </a:r>
              </a:p>
            </p:txBody>
          </p:sp>
        </mc:Fallback>
      </mc:AlternateContent>
    </p:spTree>
    <p:extLst>
      <p:ext uri="{BB962C8B-B14F-4D97-AF65-F5344CB8AC3E}">
        <p14:creationId xmlns:p14="http://schemas.microsoft.com/office/powerpoint/2010/main" val="855033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8F82859-BA98-3646-BF3B-9E17E52A2E35}"/>
                  </a:ext>
                </a:extLst>
              </p:cNvPr>
              <p:cNvSpPr txBox="1"/>
              <p:nvPr/>
            </p:nvSpPr>
            <p:spPr>
              <a:xfrm>
                <a:off x="511205" y="533066"/>
                <a:ext cx="10953207" cy="1200329"/>
              </a:xfrm>
              <a:prstGeom prst="rect">
                <a:avLst/>
              </a:prstGeom>
              <a:noFill/>
            </p:spPr>
            <p:txBody>
              <a:bodyPr wrap="square" rtlCol="0">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There are about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 × </m:t>
                    </m:r>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11</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visible stars in a galaxy. There are about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(8.0 × </m:t>
                    </m:r>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10</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galaxies in the universe. How many visible stars are there in the universe? Write your answer in scientific notation.</a:t>
                </a:r>
              </a:p>
            </p:txBody>
          </p:sp>
        </mc:Choice>
        <mc:Fallback xmlns="">
          <p:sp>
            <p:nvSpPr>
              <p:cNvPr id="7" name="TextBox 6">
                <a:extLst>
                  <a:ext uri="{FF2B5EF4-FFF2-40B4-BE49-F238E27FC236}">
                    <a16:creationId xmlns="" xmlns:a16="http://schemas.microsoft.com/office/drawing/2014/main"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1200329"/>
              </a:xfrm>
              <a:prstGeom prst="rect">
                <a:avLst/>
              </a:prstGeom>
              <a:blipFill rotWithShape="1">
                <a:blip r:embed="rId4"/>
                <a:stretch>
                  <a:fillRect l="-890" t="-4569" r="-1224" b="-10660"/>
                </a:stretch>
              </a:blipFill>
            </p:spPr>
            <p:txBody>
              <a:bodyPr/>
              <a:lstStyle/>
              <a:p>
                <a:r>
                  <a:rPr lang="en-US">
                    <a:noFill/>
                  </a:rPr>
                  <a:t> </a:t>
                </a:r>
              </a:p>
            </p:txBody>
          </p:sp>
        </mc:Fallback>
      </mc:AlternateContent>
    </p:spTree>
    <p:extLst>
      <p:ext uri="{BB962C8B-B14F-4D97-AF65-F5344CB8AC3E}">
        <p14:creationId xmlns:p14="http://schemas.microsoft.com/office/powerpoint/2010/main" val="936533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119</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9"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119</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7" name="Rectangle 16">
            <a:extLst>
              <a:ext uri="{FF2B5EF4-FFF2-40B4-BE49-F238E27FC236}">
                <a16:creationId xmlns:a16="http://schemas.microsoft.com/office/drawing/2014/main" id="{6E2B88EE-F01D-044D-8BE3-F860F9159E01}"/>
              </a:ext>
            </a:extLst>
          </p:cNvPr>
          <p:cNvSpPr/>
          <p:nvPr/>
        </p:nvSpPr>
        <p:spPr>
          <a:xfrm>
            <a:off x="730266" y="1253351"/>
            <a:ext cx="11207734" cy="400110"/>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the icon that best describes your understanding of each concept. </a:t>
            </a:r>
          </a:p>
        </p:txBody>
      </p:sp>
      <p:grpSp>
        <p:nvGrpSpPr>
          <p:cNvPr id="2" name="Group 1"/>
          <p:cNvGrpSpPr/>
          <p:nvPr/>
        </p:nvGrpSpPr>
        <p:grpSpPr>
          <a:xfrm>
            <a:off x="3029751" y="1763602"/>
            <a:ext cx="6608763" cy="4837023"/>
            <a:chOff x="1215722" y="1662028"/>
            <a:chExt cx="6608763" cy="4837023"/>
          </a:xfrm>
        </p:grpSpPr>
        <p:pic>
          <p:nvPicPr>
            <p:cNvPr id="4" name="Picture 3" descr="Table&#10;&#10;Description automatically generated">
              <a:extLst>
                <a:ext uri="{FF2B5EF4-FFF2-40B4-BE49-F238E27FC236}">
                  <a16:creationId xmlns:a16="http://schemas.microsoft.com/office/drawing/2014/main" id="{CE06F366-5047-AF40-9855-E63FF5F1188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81937" y="2425011"/>
              <a:ext cx="6542548" cy="4074040"/>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215722" y="1662028"/>
              <a:ext cx="6608763"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3"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3.8.5 Wrap-Up: Reflection</a:t>
            </a:r>
          </a:p>
        </p:txBody>
      </p:sp>
      <p:pic>
        <p:nvPicPr>
          <p:cNvPr id="14" name="Google Shape;469;p34"/>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3262</TotalTime>
  <Words>1503</Words>
  <Application>Microsoft Macintosh PowerPoint</Application>
  <PresentationFormat>Widescreen</PresentationFormat>
  <Paragraphs>244</Paragraphs>
  <Slides>25</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Calibri</vt:lpstr>
      <vt:lpstr>Arial Black</vt:lpstr>
      <vt:lpstr>Cambria Math</vt:lpstr>
      <vt:lpstr>Wingdings</vt:lpstr>
      <vt:lpstr>Verdana</vt:lpstr>
      <vt:lpstr>Arial</vt:lpstr>
      <vt:lpstr>Cambria</vt:lpstr>
      <vt:lpstr>Century Gothic</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50</cp:revision>
  <dcterms:created xsi:type="dcterms:W3CDTF">2015-03-17T18:51:18Z</dcterms:created>
  <dcterms:modified xsi:type="dcterms:W3CDTF">2023-02-06T16:52:33Z</dcterms:modified>
</cp:coreProperties>
</file>