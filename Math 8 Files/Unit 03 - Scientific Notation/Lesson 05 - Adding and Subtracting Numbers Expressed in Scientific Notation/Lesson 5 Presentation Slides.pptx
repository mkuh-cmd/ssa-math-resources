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345" r:id="rId4"/>
    <p:sldId id="286" r:id="rId5"/>
    <p:sldId id="261" r:id="rId6"/>
    <p:sldId id="287" r:id="rId7"/>
    <p:sldId id="381" r:id="rId8"/>
    <p:sldId id="395" r:id="rId9"/>
    <p:sldId id="396" r:id="rId10"/>
    <p:sldId id="397" r:id="rId11"/>
    <p:sldId id="399" r:id="rId12"/>
    <p:sldId id="346" r:id="rId13"/>
    <p:sldId id="347" r:id="rId14"/>
    <p:sldId id="348" r:id="rId15"/>
    <p:sldId id="349" r:id="rId16"/>
    <p:sldId id="350" r:id="rId17"/>
    <p:sldId id="385" r:id="rId18"/>
    <p:sldId id="403" r:id="rId19"/>
    <p:sldId id="404" r:id="rId20"/>
    <p:sldId id="405" r:id="rId21"/>
    <p:sldId id="376" r:id="rId22"/>
    <p:sldId id="377" r:id="rId23"/>
    <p:sldId id="378" r:id="rId24"/>
    <p:sldId id="400" r:id="rId25"/>
    <p:sldId id="401" r:id="rId26"/>
    <p:sldId id="402" r:id="rId27"/>
    <p:sldId id="406" r:id="rId28"/>
    <p:sldId id="306" r:id="rId29"/>
    <p:sldId id="307" r:id="rId30"/>
  </p:sldIdLst>
  <p:sldSz cx="12192000" cy="6858000"/>
  <p:notesSz cx="6858000" cy="9144000"/>
  <p:embeddedFontLst>
    <p:embeddedFont>
      <p:font typeface="Cambria" pitchFamily="18" charset="0"/>
      <p:regular r:id="rId32"/>
      <p:bold r:id="rId33"/>
      <p:italic r:id="rId34"/>
      <p:boldItalic r:id="rId35"/>
    </p:embeddedFont>
    <p:embeddedFont>
      <p:font typeface="Arial Black" pitchFamily="34" charset="0"/>
      <p:bold r:id="rId36"/>
    </p:embeddedFont>
    <p:embeddedFont>
      <p:font typeface="Verdana" pitchFamily="34" charset="0"/>
      <p:regular r:id="rId37"/>
      <p:bold r:id="rId38"/>
      <p:italic r:id="rId39"/>
      <p:boldItalic r:id="rId40"/>
    </p:embeddedFont>
    <p:embeddedFont>
      <p:font typeface="Calibri" pitchFamily="34" charset="0"/>
      <p:regular r:id="rId41"/>
      <p:bold r:id="rId42"/>
      <p:italic r:id="rId43"/>
      <p:boldItalic r:id="rId44"/>
    </p:embeddedFont>
    <p:embeddedFont>
      <p:font typeface="Century Gothic" pitchFamily="34" charset="0"/>
      <p:regular r:id="rId45"/>
      <p:bold r:id="rId46"/>
      <p:italic r:id="rId47"/>
      <p:boldItalic r:id="rId48"/>
    </p:embeddedFont>
    <p:embeddedFont>
      <p:font typeface="Cambria Math" pitchFamily="18" charset="0"/>
      <p:regular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FABB42"/>
    <a:srgbClr val="F79B59"/>
    <a:srgbClr val="F26763"/>
    <a:srgbClr val="1765AD"/>
    <a:srgbClr val="1664AC"/>
    <a:srgbClr val="BFBFBF"/>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6249" autoAdjust="0"/>
    <p:restoredTop sz="94609" autoAdjust="0"/>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6705303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191503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031511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40744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988717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28843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83880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4985123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30136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8606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6574148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567014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259947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324529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2949622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869113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0664813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34518592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5766196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6558083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776379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70.png"/><Relationship Id="rId4" Type="http://schemas.openxmlformats.org/officeDocument/2006/relationships/image" Target="../media/image260.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30.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60.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hyperlink" Target="http://www.vecteezy.com/spills-splatters/6375-splatter-pack-2" TargetMode="External"/><Relationship Id="rId4" Type="http://schemas.openxmlformats.org/officeDocument/2006/relationships/image" Target="../media/image3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11874" y="-8100"/>
            <a:ext cx="4094106"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10" name="Google Shape;261;g104476d1465_0_0"/>
          <p:cNvSpPr txBox="1">
            <a:spLocks/>
          </p:cNvSpPr>
          <p:nvPr/>
        </p:nvSpPr>
        <p:spPr>
          <a:xfrm>
            <a:off x="5050737" y="2054277"/>
            <a:ext cx="6309360"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a:t>
            </a:r>
            <a:r>
              <a:rPr lang="en-US" sz="3800" b="1" dirty="0" smtClean="0">
                <a:solidFill>
                  <a:srgbClr val="417DBF"/>
                </a:solidFill>
                <a:latin typeface="Verdana"/>
                <a:ea typeface="Verdana"/>
                <a:cs typeface="Verdana"/>
                <a:sym typeface="Verdana"/>
              </a:rPr>
              <a:t/>
            </a:r>
            <a:br>
              <a:rPr lang="en-US" sz="3800" b="1" dirty="0" smtClean="0">
                <a:solidFill>
                  <a:srgbClr val="417DBF"/>
                </a:solidFill>
                <a:latin typeface="Verdana"/>
                <a:ea typeface="Verdana"/>
                <a:cs typeface="Verdana"/>
                <a:sym typeface="Verdana"/>
              </a:rPr>
            </a:br>
            <a:r>
              <a:rPr lang="en-US" sz="3800" b="1" dirty="0" smtClean="0">
                <a:solidFill>
                  <a:srgbClr val="417DBF"/>
                </a:solidFill>
                <a:latin typeface="Verdana"/>
                <a:ea typeface="Verdana"/>
                <a:cs typeface="Verdana"/>
                <a:sym typeface="Verdana"/>
              </a:rPr>
              <a:t>Pre-Algebra</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5</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Adding and Subtracting Numbers Expressed in </a:t>
            </a:r>
            <a:r>
              <a:rPr lang="en-US" sz="3800" b="1" dirty="0" smtClean="0">
                <a:solidFill>
                  <a:srgbClr val="417DBF"/>
                </a:solidFill>
                <a:latin typeface="Verdana"/>
                <a:ea typeface="Verdana"/>
                <a:cs typeface="Verdana"/>
                <a:sym typeface="Verdana"/>
              </a:rPr>
              <a:t/>
            </a:r>
            <a:br>
              <a:rPr lang="en-US" sz="3800" b="1" dirty="0" smtClean="0">
                <a:solidFill>
                  <a:srgbClr val="417DBF"/>
                </a:solidFill>
                <a:latin typeface="Verdana"/>
                <a:ea typeface="Verdana"/>
                <a:cs typeface="Verdana"/>
                <a:sym typeface="Verdana"/>
              </a:rPr>
            </a:br>
            <a:r>
              <a:rPr lang="en-US" sz="3800" b="1" dirty="0" smtClean="0">
                <a:solidFill>
                  <a:srgbClr val="417DBF"/>
                </a:solidFill>
                <a:latin typeface="Verdana"/>
                <a:ea typeface="Verdana"/>
                <a:cs typeface="Verdana"/>
                <a:sym typeface="Verdana"/>
              </a:rPr>
              <a:t>Scientific </a:t>
            </a:r>
            <a:r>
              <a:rPr lang="en-US" sz="3800" b="1" dirty="0">
                <a:solidFill>
                  <a:srgbClr val="417DBF"/>
                </a:solidFill>
                <a:latin typeface="Verdana"/>
                <a:ea typeface="Verdana"/>
                <a:cs typeface="Verdana"/>
                <a:sym typeface="Verdana"/>
              </a:rPr>
              <a:t>Notation</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101</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101</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smtClean="0">
                <a:solidFill>
                  <a:srgbClr val="54B5D1"/>
                </a:solidFill>
                <a:latin typeface="Verdana"/>
                <a:ea typeface="Verdana"/>
                <a:cs typeface="Verdana"/>
                <a:sym typeface="Verdana"/>
              </a:rPr>
              <a:t>Benchmarks</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mc="http://schemas.openxmlformats.org/markup-compatibility/2006" xmlns:a14="http://schemas.microsoft.com/office/drawing/2010/main" xmlns:a16="http://schemas.microsoft.com/office/drawing/2014/main" xmlns=""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MA.8.NSO.1.5</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Add, subtract, multiply, and divide numbers expressed in scientific notation with procedural fluency.</a:t>
            </a:r>
          </a:p>
          <a:p>
            <a:pPr marL="552450" lvl="1" indent="0">
              <a:buNone/>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MA.8.NSO.1.6</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Solve real-world problems involving operations with numbers expressed in scientific notation.</a:t>
            </a:r>
            <a:endParaRPr lang="en-US" sz="3200"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xmlns="" id="{78632872-3F42-3447-924A-20A16C6976F7}"/>
              </a:ext>
            </a:extLst>
          </p:cNvPr>
          <p:cNvSpPr/>
          <p:nvPr/>
        </p:nvSpPr>
        <p:spPr>
          <a:xfrm>
            <a:off x="748"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Google Shape;283;g104476d1465_1_17">
            <a:extLst>
              <a:ext uri="{FF2B5EF4-FFF2-40B4-BE49-F238E27FC236}">
                <a16:creationId xmlns:a16="http://schemas.microsoft.com/office/drawing/2014/main" xmlns="" id="{983DCB5F-2CE8-A74F-A579-F39E2E9337FB}"/>
              </a:ext>
            </a:extLst>
          </p:cNvPr>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37CC83FF-5C83-CD42-A75D-B443F14E1C1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101</a:t>
            </a:r>
            <a:endParaRPr i="1" dirty="0">
              <a:latin typeface="Calibri"/>
              <a:ea typeface="Calibri"/>
              <a:cs typeface="Calibri"/>
              <a:sym typeface="Calibri"/>
            </a:endParaRPr>
          </a:p>
        </p:txBody>
      </p:sp>
      <p:pic>
        <p:nvPicPr>
          <p:cNvPr id="8"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0"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1"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E147E8E3-844B-6A49-A77E-05F3246D39F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101</a:t>
            </a:r>
            <a:endParaRPr i="1" dirty="0">
              <a:latin typeface="Calibri"/>
              <a:ea typeface="Calibri"/>
              <a:cs typeface="Calibri"/>
              <a:sym typeface="Calibri"/>
            </a:endParaRPr>
          </a:p>
        </p:txBody>
      </p:sp>
      <p:sp>
        <p:nvSpPr>
          <p:cNvPr id="15"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Targets</a:t>
            </a:r>
            <a:endParaRPr lang="en-US" sz="4700" b="1" dirty="0">
              <a:solidFill>
                <a:srgbClr val="52BDA6"/>
              </a:solidFill>
              <a:latin typeface="Verdana"/>
              <a:ea typeface="Verdana"/>
              <a:cs typeface="Verdana"/>
              <a:sym typeface="Verdana"/>
            </a:endParaRPr>
          </a:p>
        </p:txBody>
      </p:sp>
      <p:pic>
        <p:nvPicPr>
          <p:cNvPr id="16"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7"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add and subtract numbers expressed in scientific notation.</a:t>
            </a:r>
          </a:p>
          <a:p>
            <a:pPr marL="685800" indent="-685800">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685800" indent="-6858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solve real-world problems involving operations with numbers expressed in scientific notation.</a:t>
            </a:r>
            <a:endParaRPr lang="en-US" sz="35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43D2F04D-C861-A149-B5F8-A913FBED75A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102</a:t>
            </a:r>
            <a:endParaRPr i="1" dirty="0">
              <a:latin typeface="Calibri"/>
              <a:ea typeface="Calibri"/>
              <a:cs typeface="Calibri"/>
              <a:sym typeface="Calibri"/>
            </a:endParaRPr>
          </a:p>
        </p:txBody>
      </p:sp>
      <p:pic>
        <p:nvPicPr>
          <p:cNvPr id="8"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xmlns="" id="{0CD40667-98C3-7A43-A8EC-50FA988E094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102</a:t>
            </a:r>
            <a:endParaRPr i="1" dirty="0">
              <a:latin typeface="Calibri"/>
              <a:ea typeface="Calibri"/>
              <a:cs typeface="Calibri"/>
              <a:sym typeface="Calibri"/>
            </a:endParaRPr>
          </a:p>
        </p:txBody>
      </p:sp>
      <p:graphicFrame>
        <p:nvGraphicFramePr>
          <p:cNvPr id="4" name="Table 3">
            <a:extLst>
              <a:ext uri="{FF2B5EF4-FFF2-40B4-BE49-F238E27FC236}">
                <a16:creationId xmlns:a16="http://schemas.microsoft.com/office/drawing/2014/main" xmlns="" id="{2F9F87DC-CFB8-AA43-B0E3-0EAE6B641F91}"/>
              </a:ext>
            </a:extLst>
          </p:cNvPr>
          <p:cNvGraphicFramePr>
            <a:graphicFrameLocks noGrp="1"/>
          </p:cNvGraphicFramePr>
          <p:nvPr>
            <p:extLst>
              <p:ext uri="{D42A27DB-BD31-4B8C-83A1-F6EECF244321}">
                <p14:modId xmlns:p14="http://schemas.microsoft.com/office/powerpoint/2010/main" val="2853340033"/>
              </p:ext>
            </p:extLst>
          </p:nvPr>
        </p:nvGraphicFramePr>
        <p:xfrm>
          <a:off x="3302947" y="3310057"/>
          <a:ext cx="5130165" cy="2738755"/>
        </p:xfrm>
        <a:graphic>
          <a:graphicData uri="http://schemas.openxmlformats.org/drawingml/2006/table">
            <a:tbl>
              <a:tblPr firstRow="1" firstCol="1" bandRow="1"/>
              <a:tblGrid>
                <a:gridCol w="5130165">
                  <a:extLst>
                    <a:ext uri="{9D8B030D-6E8A-4147-A177-3AD203B41FA5}">
                      <a16:colId xmlns:a16="http://schemas.microsoft.com/office/drawing/2014/main" xmlns="" val="597796456"/>
                    </a:ext>
                  </a:extLst>
                </a:gridCol>
              </a:tblGrid>
              <a:tr h="4572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Screenshot 1</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4015027290"/>
                  </a:ext>
                </a:extLst>
              </a:tr>
              <a:tr h="941705">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58492459"/>
                  </a:ext>
                </a:extLst>
              </a:tr>
              <a:tr h="4572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Screenshot 2</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3289588487"/>
                  </a:ext>
                </a:extLst>
              </a:tr>
              <a:tr h="882650">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23191021"/>
                  </a:ext>
                </a:extLst>
              </a:tr>
            </a:tbl>
          </a:graphicData>
        </a:graphic>
      </p:graphicFrame>
      <p:pic>
        <p:nvPicPr>
          <p:cNvPr id="16" name="Picture 15">
            <a:extLst>
              <a:ext uri="{FF2B5EF4-FFF2-40B4-BE49-F238E27FC236}">
                <a16:creationId xmlns:a16="http://schemas.microsoft.com/office/drawing/2014/main" xmlns="" id="{A5D5E568-39FB-2F41-ACBC-5124D0B31CA3}"/>
              </a:ext>
            </a:extLst>
          </p:cNvPr>
          <p:cNvPicPr>
            <a:picLocks noChangeAspect="1"/>
          </p:cNvPicPr>
          <p:nvPr/>
        </p:nvPicPr>
        <p:blipFill>
          <a:blip r:embed="rId4"/>
          <a:stretch>
            <a:fillRect/>
          </a:stretch>
        </p:blipFill>
        <p:spPr>
          <a:xfrm>
            <a:off x="3495986" y="3846613"/>
            <a:ext cx="4744085" cy="763270"/>
          </a:xfrm>
          <a:prstGeom prst="rect">
            <a:avLst/>
          </a:prstGeom>
        </p:spPr>
      </p:pic>
      <p:pic>
        <p:nvPicPr>
          <p:cNvPr id="17" name="Picture 16">
            <a:extLst>
              <a:ext uri="{FF2B5EF4-FFF2-40B4-BE49-F238E27FC236}">
                <a16:creationId xmlns:a16="http://schemas.microsoft.com/office/drawing/2014/main" xmlns="" id="{0503D690-513A-BA42-82A6-5A75633E88B8}"/>
              </a:ext>
            </a:extLst>
          </p:cNvPr>
          <p:cNvPicPr>
            <a:picLocks noChangeAspect="1"/>
          </p:cNvPicPr>
          <p:nvPr/>
        </p:nvPicPr>
        <p:blipFill>
          <a:blip r:embed="rId5"/>
          <a:stretch>
            <a:fillRect/>
          </a:stretch>
        </p:blipFill>
        <p:spPr>
          <a:xfrm>
            <a:off x="3530910" y="5230894"/>
            <a:ext cx="4674235" cy="720725"/>
          </a:xfrm>
          <a:prstGeom prst="rect">
            <a:avLst/>
          </a:prstGeom>
        </p:spPr>
      </p:pic>
      <p:sp>
        <p:nvSpPr>
          <p:cNvPr id="1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3.5.1 Warm-Up: 25 Billion Downloads!</a:t>
            </a:r>
            <a:endParaRPr lang="en-US" sz="3600" b="1" dirty="0">
              <a:solidFill>
                <a:srgbClr val="3F2A67"/>
              </a:solidFill>
              <a:latin typeface="Verdana"/>
              <a:ea typeface="Verdana"/>
              <a:cs typeface="Verdana"/>
              <a:sym typeface="Verdana"/>
            </a:endParaRPr>
          </a:p>
        </p:txBody>
      </p:sp>
      <p:pic>
        <p:nvPicPr>
          <p:cNvPr id="2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6">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xmlns="" id="{E1D7562E-134F-D14B-AF1A-DF40E11EF758}"/>
                  </a:ext>
                </a:extLst>
              </p:cNvPr>
              <p:cNvSpPr txBox="1"/>
              <p:nvPr/>
            </p:nvSpPr>
            <p:spPr>
              <a:xfrm>
                <a:off x="730265" y="1228396"/>
                <a:ext cx="10800319" cy="156966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When the Apple App Store was close to hitting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25</m:t>
                    </m:r>
                  </m:oMath>
                </a14:m>
                <a:r>
                  <a:rPr lang="en-US" sz="2400" dirty="0">
                    <a:latin typeface="Verdana" panose="020B0604030504040204" pitchFamily="34" charset="0"/>
                    <a:ea typeface="Verdana" panose="020B0604030504040204" pitchFamily="34" charset="0"/>
                    <a:cs typeface="Verdana" panose="020B0604030504040204" pitchFamily="34" charset="0"/>
                  </a:rPr>
                  <a:t> billion downloads, the company posted a counter on its website. As the countdown approached, Daniel took the screenshots shown. Screenshot 2 was taken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 seconds after screenshot 1.</a:t>
                </a:r>
              </a:p>
            </p:txBody>
          </p:sp>
        </mc:Choice>
        <mc:Fallback>
          <p:sp>
            <p:nvSpPr>
              <p:cNvPr id="24" name="TextBox 23">
                <a:extLst>
                  <a:ext uri="{FF2B5EF4-FFF2-40B4-BE49-F238E27FC236}">
                    <a16:creationId xmlns:a16="http://schemas.microsoft.com/office/drawing/2014/main" xmlns="" id="{E1D7562E-134F-D14B-AF1A-DF40E11EF758}"/>
                  </a:ext>
                </a:extLst>
              </p:cNvPr>
              <p:cNvSpPr txBox="1">
                <a:spLocks noRot="1" noChangeAspect="1" noMove="1" noResize="1" noEditPoints="1" noAdjustHandles="1" noChangeArrowheads="1" noChangeShapeType="1" noTextEdit="1"/>
              </p:cNvSpPr>
              <p:nvPr/>
            </p:nvSpPr>
            <p:spPr>
              <a:xfrm>
                <a:off x="730265" y="1228396"/>
                <a:ext cx="10800319" cy="1569660"/>
              </a:xfrm>
              <a:prstGeom prst="rect">
                <a:avLst/>
              </a:prstGeom>
              <a:blipFill rotWithShape="1">
                <a:blip r:embed="rId7"/>
                <a:stretch>
                  <a:fillRect l="-903" t="-3502" b="-7782"/>
                </a:stretch>
              </a:blipFill>
            </p:spPr>
            <p:txBody>
              <a:bodyPr/>
              <a:lstStyle/>
              <a:p>
                <a:r>
                  <a:rPr lang="en-US">
                    <a:noFill/>
                  </a:rPr>
                  <a:t> </a:t>
                </a:r>
              </a:p>
            </p:txBody>
          </p:sp>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xmlns="" id="{0CD40667-98C3-7A43-A8EC-50FA988E094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102</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3416320"/>
          </a:xfrm>
          <a:prstGeom prst="rect">
            <a:avLst/>
          </a:prstGeom>
          <a:noFill/>
        </p:spPr>
        <p:txBody>
          <a:bodyPr wrap="square" rtlCol="0">
            <a:spAutoFit/>
          </a:bodyPr>
          <a:lstStyle/>
          <a:p>
            <a:pPr marL="906463"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do you notice? </a:t>
            </a:r>
          </a:p>
          <a:p>
            <a:pPr marL="906463"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06463"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06463"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06463"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06463"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06463"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06463"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06463"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do you wonder?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697970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102</a:t>
            </a:r>
            <a:endParaRPr i="1" dirty="0">
              <a:latin typeface="Calibri"/>
              <a:ea typeface="Calibri"/>
              <a:cs typeface="Calibri"/>
              <a:sym typeface="Calibri"/>
            </a:endParaRPr>
          </a:p>
        </p:txBody>
      </p:sp>
      <p:sp>
        <p:nvSpPr>
          <p:cNvPr id="9" name="Google Shape;313;g104476d1465_1_39"/>
          <p:cNvSpPr txBox="1">
            <a:spLocks/>
          </p:cNvSpPr>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10"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516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102</a:t>
            </a:r>
            <a:endParaRPr i="1" dirty="0">
              <a:latin typeface="Calibri"/>
              <a:ea typeface="Calibri"/>
              <a:cs typeface="Calibri"/>
              <a:sym typeface="Calibri"/>
            </a:endParaRPr>
          </a:p>
        </p:txBody>
      </p:sp>
      <p:sp>
        <p:nvSpPr>
          <p:cNvPr id="10"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49" y="178430"/>
            <a:ext cx="9743169"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3.5.2 Exploration: </a:t>
            </a:r>
            <a:r>
              <a:rPr lang="en-US" sz="3600" b="1" dirty="0" smtClean="0">
                <a:solidFill>
                  <a:srgbClr val="33BEA6"/>
                </a:solidFill>
                <a:latin typeface="Verdana"/>
                <a:ea typeface="Verdana"/>
                <a:cs typeface="Verdana"/>
                <a:sym typeface="Verdana"/>
              </a:rPr>
              <a:t/>
            </a:r>
            <a:br>
              <a:rPr lang="en-US" sz="3600" b="1" dirty="0" smtClean="0">
                <a:solidFill>
                  <a:srgbClr val="33BEA6"/>
                </a:solidFill>
                <a:latin typeface="Verdana"/>
                <a:ea typeface="Verdana"/>
                <a:cs typeface="Verdana"/>
                <a:sym typeface="Verdana"/>
              </a:rPr>
            </a:br>
            <a:r>
              <a:rPr lang="en-US" sz="3600" b="1" dirty="0" smtClean="0">
                <a:solidFill>
                  <a:srgbClr val="33BEA6"/>
                </a:solidFill>
                <a:latin typeface="Verdana"/>
                <a:ea typeface="Verdana"/>
                <a:cs typeface="Verdana"/>
                <a:sym typeface="Verdana"/>
              </a:rPr>
              <a:t>Measuring </a:t>
            </a:r>
            <a:r>
              <a:rPr lang="en-US" sz="3600" b="1" dirty="0">
                <a:solidFill>
                  <a:srgbClr val="33BEA6"/>
                </a:solidFill>
                <a:latin typeface="Verdana"/>
                <a:ea typeface="Verdana"/>
                <a:cs typeface="Verdana"/>
                <a:sym typeface="Verdana"/>
              </a:rPr>
              <a:t>the Planets</a:t>
            </a:r>
            <a:endParaRPr lang="en-US" sz="3600" b="1" dirty="0">
              <a:solidFill>
                <a:srgbClr val="33BEA6"/>
              </a:solidFill>
              <a:latin typeface="Verdana"/>
              <a:ea typeface="Verdana"/>
              <a:cs typeface="Verdana"/>
              <a:sym typeface="Verdana"/>
            </a:endParaRPr>
          </a:p>
        </p:txBody>
      </p:sp>
      <p:pic>
        <p:nvPicPr>
          <p:cNvPr id="12"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6352"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3" name="TextBox 12">
                <a:extLst>
                  <a:ext uri="{FF2B5EF4-FFF2-40B4-BE49-F238E27FC236}">
                    <a16:creationId xmlns="" xmlns:a16="http://schemas.microsoft.com/office/drawing/2014/main" id="{152D1D4D-DCB8-A246-B186-D40316579D77}"/>
                  </a:ext>
                </a:extLst>
              </p:cNvPr>
              <p:cNvSpPr txBox="1"/>
              <p:nvPr/>
            </p:nvSpPr>
            <p:spPr>
              <a:xfrm>
                <a:off x="593248" y="1386025"/>
                <a:ext cx="11034902" cy="3420488"/>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answer the following questions.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Diego, Kiran, and Clare were discussing the question shown.</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“If Neptune and Saturn were side by side, would they be wider than Jupiter?”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They determined that to answer the question they should add the diameters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4.7×</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4</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kilometers (km) and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1.2×</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5</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km. </a:t>
                </a:r>
              </a:p>
            </p:txBody>
          </p:sp>
        </mc:Choice>
        <mc:Fallback>
          <p:sp>
            <p:nvSpPr>
              <p:cNvPr id="13" name="TextBox 12">
                <a:extLst>
                  <a:ext uri="{FF2B5EF4-FFF2-40B4-BE49-F238E27FC236}">
                    <a16:creationId xmlns="" xmlns:a16="http://schemas.microsoft.com/office/drawing/2014/main" xmlns:a14="http://schemas.microsoft.com/office/drawing/2010/main" id="{152D1D4D-DCB8-A246-B186-D40316579D77}"/>
                  </a:ext>
                </a:extLst>
              </p:cNvPr>
              <p:cNvSpPr txBox="1">
                <a:spLocks noRot="1" noChangeAspect="1" noMove="1" noResize="1" noEditPoints="1" noAdjustHandles="1" noChangeArrowheads="1" noChangeShapeType="1" noTextEdit="1"/>
              </p:cNvSpPr>
              <p:nvPr/>
            </p:nvSpPr>
            <p:spPr>
              <a:xfrm>
                <a:off x="593248" y="1386025"/>
                <a:ext cx="11034902" cy="3420488"/>
              </a:xfrm>
              <a:prstGeom prst="rect">
                <a:avLst/>
              </a:prstGeom>
              <a:blipFill rotWithShape="1">
                <a:blip r:embed="rId5"/>
                <a:stretch>
                  <a:fillRect l="-828" t="-1426" b="-3030"/>
                </a:stretch>
              </a:blipFill>
            </p:spPr>
            <p:txBody>
              <a:bodyPr/>
              <a:lstStyle/>
              <a:p>
                <a:r>
                  <a:rPr lang="en-US">
                    <a:noFill/>
                  </a:rPr>
                  <a:t> </a:t>
                </a:r>
              </a:p>
            </p:txBody>
          </p:sp>
        </mc:Fallback>
      </mc:AlternateContent>
    </p:spTree>
    <p:extLst>
      <p:ext uri="{BB962C8B-B14F-4D97-AF65-F5344CB8AC3E}">
        <p14:creationId xmlns:p14="http://schemas.microsoft.com/office/powerpoint/2010/main" val="1021839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xmlns="" id="{A4CAA0C1-05CB-4148-8ED6-384E7757F075}"/>
                  </a:ext>
                </a:extLst>
              </p:cNvPr>
              <p:cNvGraphicFramePr>
                <a:graphicFrameLocks noGrp="1"/>
              </p:cNvGraphicFramePr>
              <p:nvPr>
                <p:extLst>
                  <p:ext uri="{D42A27DB-BD31-4B8C-83A1-F6EECF244321}">
                    <p14:modId xmlns:p14="http://schemas.microsoft.com/office/powerpoint/2010/main" val="1612402285"/>
                  </p:ext>
                </p:extLst>
              </p:nvPr>
            </p:nvGraphicFramePr>
            <p:xfrm>
              <a:off x="1073475" y="1207881"/>
              <a:ext cx="7740000" cy="4708213"/>
            </p:xfrm>
            <a:graphic>
              <a:graphicData uri="http://schemas.openxmlformats.org/drawingml/2006/table">
                <a:tbl>
                  <a:tblPr bandRow="1"/>
                  <a:tblGrid>
                    <a:gridCol w="4320000">
                      <a:extLst>
                        <a:ext uri="{9D8B030D-6E8A-4147-A177-3AD203B41FA5}">
                          <a16:colId xmlns:a16="http://schemas.microsoft.com/office/drawing/2014/main" xmlns="" val="339037829"/>
                        </a:ext>
                      </a:extLst>
                    </a:gridCol>
                    <a:gridCol w="1440000">
                      <a:extLst>
                        <a:ext uri="{9D8B030D-6E8A-4147-A177-3AD203B41FA5}">
                          <a16:colId xmlns:a16="http://schemas.microsoft.com/office/drawing/2014/main" xmlns="" val="2064044219"/>
                        </a:ext>
                      </a:extLst>
                    </a:gridCol>
                    <a:gridCol w="1980000">
                      <a:extLst>
                        <a:ext uri="{9D8B030D-6E8A-4147-A177-3AD203B41FA5}">
                          <a16:colId xmlns:a16="http://schemas.microsoft.com/office/drawing/2014/main" xmlns="" val="2586644321"/>
                        </a:ext>
                      </a:extLst>
                    </a:gridCol>
                  </a:tblGrid>
                  <a:tr h="468000">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Student Response</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Agree?</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Explanation</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550406089"/>
                      </a:ext>
                    </a:extLst>
                  </a:tr>
                  <a:tr h="360000">
                    <a:tc>
                      <a:txBody>
                        <a:bodyPr/>
                        <a:lstStyle/>
                        <a:p>
                          <a:pPr marL="0" marR="0">
                            <a:spcBef>
                              <a:spcPts val="1200"/>
                            </a:spcBef>
                            <a:spcAft>
                              <a:spcPts val="18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Diego says, “When we add the distances, we will get </a:t>
                          </a:r>
                          <a:b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4.7+1.2=5.9</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The exponent will be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9</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So, the two planets are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5.9×</m:t>
                              </m:r>
                              <m:sSup>
                                <m:sSupPr>
                                  <m:ctrlPr>
                                    <a:rPr lang="x-none" sz="20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9</m:t>
                                  </m:r>
                                </m:sup>
                              </m:sSup>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km side by side.”</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Cambria" panose="02040503050406030204" pitchFamily="18" charset="0"/>
                          </a:endParaRPr>
                        </a:p>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63157987"/>
                      </a:ext>
                    </a:extLst>
                  </a:tr>
                  <a:tr h="360000">
                    <a:tc>
                      <a:txBody>
                        <a:bodyPr/>
                        <a:lstStyle/>
                        <a:p>
                          <a:pPr marL="0" marR="0">
                            <a:spcBef>
                              <a:spcPts val="0"/>
                            </a:spcBef>
                            <a:spcAft>
                              <a:spcPts val="1000"/>
                            </a:spcAft>
                          </a:pPr>
                          <a:r>
                            <a:rPr lang="en-US" sz="2000" dirty="0" err="1">
                              <a:effectLst/>
                              <a:latin typeface="Verdana" panose="020B0604030504040204" pitchFamily="34" charset="0"/>
                              <a:ea typeface="Verdana" panose="020B0604030504040204" pitchFamily="34" charset="0"/>
                              <a:cs typeface="Verdana" panose="020B0604030504040204" pitchFamily="34" charset="0"/>
                            </a:rPr>
                            <a:t>Kiran</a:t>
                          </a:r>
                          <a:r>
                            <a:rPr lang="en-US" sz="2000" dirty="0">
                              <a:effectLst/>
                              <a:latin typeface="Verdana" panose="020B0604030504040204" pitchFamily="34" charset="0"/>
                              <a:ea typeface="Verdana" panose="020B0604030504040204" pitchFamily="34" charset="0"/>
                              <a:cs typeface="Verdana" panose="020B0604030504040204" pitchFamily="34" charset="0"/>
                            </a:rPr>
                            <a:t> wrote </a:t>
                          </a: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4.7×</m:t>
                              </m:r>
                              <m:sSup>
                                <m:sSupPr>
                                  <m:ctrlPr>
                                    <a:rPr lang="x-none" sz="2000" i="1">
                                      <a:effectLst/>
                                      <a:latin typeface="Cambria Math"/>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effectLst/>
                                      <a:latin typeface="Cambria Math" panose="02040503050406030204" pitchFamily="18" charset="0"/>
                                      <a:ea typeface="Cambria Math" panose="02040503050406030204" pitchFamily="18" charset="0"/>
                                      <a:cs typeface="Cambria Math" panose="02040503050406030204" pitchFamily="18" charset="0"/>
                                    </a:rPr>
                                    <m:t>4</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as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47,000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1.2×</m:t>
                              </m:r>
                              <m:sSup>
                                <m:sSupPr>
                                  <m:ctrlPr>
                                    <a:rPr lang="x-none" sz="2000" i="1">
                                      <a:effectLst/>
                                      <a:latin typeface="Cambria Math"/>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effectLst/>
                                      <a:latin typeface="Cambria Math" panose="02040503050406030204" pitchFamily="18" charset="0"/>
                                      <a:ea typeface="Cambria Math" panose="02040503050406030204" pitchFamily="18" charset="0"/>
                                      <a:cs typeface="Cambria Math" panose="02040503050406030204" pitchFamily="18" charset="0"/>
                                    </a:rPr>
                                    <m:t>5</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as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120,000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added them.</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Cambria" panose="02040503050406030204" pitchFamily="18" charset="0"/>
                          </a:endParaRPr>
                        </a:p>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43281030"/>
                      </a:ext>
                    </a:extLst>
                  </a:tr>
                  <a:tr h="360000">
                    <a:tc>
                      <a:txBody>
                        <a:bodyPr/>
                        <a:lstStyle/>
                        <a:p>
                          <a:pPr marL="0" marR="0">
                            <a:spcBef>
                              <a:spcPts val="180"/>
                            </a:spcBef>
                            <a:spcAft>
                              <a:spcPts val="18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Clare says, “I don’t think you can add unless they are the same power of </a:t>
                          </a:r>
                          <a14:m>
                            <m:oMath xmlns:m="http://schemas.openxmlformats.org/officeDocument/2006/math">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10</m:t>
                              </m:r>
                            </m:oMath>
                          </a14:m>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She adds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4.7×</m:t>
                              </m:r>
                              <m:sSup>
                                <m:sSupPr>
                                  <m:ctrlPr>
                                    <a:rPr lang="x-none" sz="20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sup>
                              </m:sSup>
                            </m:oMath>
                          </a14:m>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km and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12×</m:t>
                              </m:r>
                              <m:sSup>
                                <m:sSupPr>
                                  <m:ctrlPr>
                                    <a:rPr lang="x-none" sz="20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sup>
                              </m:sSup>
                            </m:oMath>
                          </a14:m>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to get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16.7×</m:t>
                              </m:r>
                              <m:sSup>
                                <m:sSupPr>
                                  <m:ctrlPr>
                                    <a:rPr lang="x-none" sz="20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sup>
                              </m:sSup>
                            </m:oMath>
                          </a14:m>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Cambria" panose="02040503050406030204" pitchFamily="18" charset="0"/>
                          </a:endParaRPr>
                        </a:p>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99829485"/>
                      </a:ext>
                    </a:extLst>
                  </a:tr>
                </a:tbl>
              </a:graphicData>
            </a:graphic>
          </p:graphicFrame>
        </mc:Choice>
        <mc:Fallback>
          <p:graphicFrame>
            <p:nvGraphicFramePr>
              <p:cNvPr id="4" name="Table 3">
                <a:extLst>
                  <a:ext uri="{FF2B5EF4-FFF2-40B4-BE49-F238E27FC236}">
                    <a16:creationId xmlns:a16="http://schemas.microsoft.com/office/drawing/2014/main" xmlns:a14="http://schemas.microsoft.com/office/drawing/2010/main" xmlns="" id="{A4CAA0C1-05CB-4148-8ED6-384E7757F075}"/>
                  </a:ext>
                </a:extLst>
              </p:cNvPr>
              <p:cNvGraphicFramePr>
                <a:graphicFrameLocks noGrp="1"/>
              </p:cNvGraphicFramePr>
              <p:nvPr>
                <p:extLst>
                  <p:ext uri="{D42A27DB-BD31-4B8C-83A1-F6EECF244321}">
                    <p14:modId xmlns:p14="http://schemas.microsoft.com/office/powerpoint/2010/main" val="1612402285"/>
                  </p:ext>
                </p:extLst>
              </p:nvPr>
            </p:nvGraphicFramePr>
            <p:xfrm>
              <a:off x="1073475" y="1207881"/>
              <a:ext cx="7740000" cy="4708213"/>
            </p:xfrm>
            <a:graphic>
              <a:graphicData uri="http://schemas.openxmlformats.org/drawingml/2006/table">
                <a:tbl>
                  <a:tblPr bandRow="1"/>
                  <a:tblGrid>
                    <a:gridCol w="4320000">
                      <a:extLst>
                        <a:ext uri="{9D8B030D-6E8A-4147-A177-3AD203B41FA5}">
                          <a16:colId xmlns:a16="http://schemas.microsoft.com/office/drawing/2014/main" xmlns:a14="http://schemas.microsoft.com/office/drawing/2010/main" xmlns="" val="339037829"/>
                        </a:ext>
                      </a:extLst>
                    </a:gridCol>
                    <a:gridCol w="1440000">
                      <a:extLst>
                        <a:ext uri="{9D8B030D-6E8A-4147-A177-3AD203B41FA5}">
                          <a16:colId xmlns:a16="http://schemas.microsoft.com/office/drawing/2014/main" xmlns:a14="http://schemas.microsoft.com/office/drawing/2010/main" xmlns="" val="2064044219"/>
                        </a:ext>
                      </a:extLst>
                    </a:gridCol>
                    <a:gridCol w="1980000">
                      <a:extLst>
                        <a:ext uri="{9D8B030D-6E8A-4147-A177-3AD203B41FA5}">
                          <a16:colId xmlns:a16="http://schemas.microsoft.com/office/drawing/2014/main" xmlns:a14="http://schemas.microsoft.com/office/drawing/2010/main" xmlns="" val="2586644321"/>
                        </a:ext>
                      </a:extLst>
                    </a:gridCol>
                  </a:tblGrid>
                  <a:tr h="468000">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Student Response</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Agree?</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Explanation</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550406089"/>
                      </a:ext>
                    </a:extLst>
                  </a:tr>
                  <a:tr h="16154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9057" r="-79126" b="-169057"/>
                          </a:stretch>
                        </a:blipFill>
                      </a:tcPr>
                    </a:tc>
                    <a:tc>
                      <a:txBody>
                        <a:bodyPr/>
                        <a:lstStyle/>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Cambria" panose="02040503050406030204" pitchFamily="18" charset="0"/>
                          </a:endParaRPr>
                        </a:p>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163157987"/>
                      </a:ext>
                    </a:extLst>
                  </a:tr>
                  <a:tr h="1009333">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07273" r="-79126" b="-171515"/>
                          </a:stretch>
                        </a:blipFill>
                      </a:tcPr>
                    </a:tc>
                    <a:tc>
                      <a:txBody>
                        <a:bodyPr/>
                        <a:lstStyle/>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Cambria" panose="02040503050406030204" pitchFamily="18" charset="0"/>
                          </a:endParaRPr>
                        </a:p>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443281030"/>
                      </a:ext>
                    </a:extLst>
                  </a:tr>
                  <a:tr h="16154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91321" r="-79126" b="-6792"/>
                          </a:stretch>
                        </a:blipFill>
                      </a:tcPr>
                    </a:tc>
                    <a:tc>
                      <a:txBody>
                        <a:bodyPr/>
                        <a:lstStyle/>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Cambria" panose="02040503050406030204" pitchFamily="18" charset="0"/>
                          </a:endParaRPr>
                        </a:p>
                        <a:p>
                          <a:pPr marL="446088" marR="0" lvl="0" indent="-269875">
                            <a:spcBef>
                              <a:spcPts val="180"/>
                            </a:spcBef>
                            <a:spcAft>
                              <a:spcPts val="180"/>
                            </a:spcAft>
                            <a:buFont typeface="Courier New" panose="02070309020205020404" pitchFamily="49" charset="0"/>
                            <a:buChar char="o"/>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499829485"/>
                      </a:ext>
                    </a:extLst>
                  </a:tr>
                </a:tbl>
              </a:graphicData>
            </a:graphic>
          </p:graphicFrame>
        </mc:Fallback>
      </mc:AlternateContent>
      <p:sp>
        <p:nvSpPr>
          <p:cNvPr id="7" name="TextBox 6">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Review each student’s response, then complete the table.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18544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xmlns="" id="{C8F82859-BA98-3646-BF3B-9E17E52A2E35}"/>
                  </a:ext>
                </a:extLst>
              </p:cNvPr>
              <p:cNvSpPr txBox="1"/>
              <p:nvPr/>
            </p:nvSpPr>
            <p:spPr>
              <a:xfrm>
                <a:off x="511205" y="533066"/>
                <a:ext cx="10953207" cy="83516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Jupiter has a diameter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1.43×</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5</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Which is wider: Neptune and Saturn placed side by side, or Jupiter? </a:t>
                </a:r>
              </a:p>
            </p:txBody>
          </p:sp>
        </mc:Choice>
        <mc:Fallback>
          <p:sp>
            <p:nvSpPr>
              <p:cNvPr id="7" name="TextBox 6">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835165"/>
              </a:xfrm>
              <a:prstGeom prst="rect">
                <a:avLst/>
              </a:prstGeom>
              <a:blipFill rotWithShape="1">
                <a:blip r:embed="rId4"/>
                <a:stretch>
                  <a:fillRect l="-890" t="-5839" b="-15328"/>
                </a:stretch>
              </a:blipFill>
            </p:spPr>
            <p:txBody>
              <a:bodyPr/>
              <a:lstStyle/>
              <a:p>
                <a:r>
                  <a:rPr lang="en-US">
                    <a:noFill/>
                  </a:rPr>
                  <a:t> </a:t>
                </a:r>
              </a:p>
            </p:txBody>
          </p:sp>
        </mc:Fallback>
      </mc:AlternateContent>
    </p:spTree>
    <p:extLst>
      <p:ext uri="{BB962C8B-B14F-4D97-AF65-F5344CB8AC3E}">
        <p14:creationId xmlns:p14="http://schemas.microsoft.com/office/powerpoint/2010/main" val="907064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103</a:t>
            </a:r>
            <a:endParaRPr i="1" dirty="0">
              <a:latin typeface="Calibri"/>
              <a:ea typeface="Calibri"/>
              <a:cs typeface="Calibri"/>
              <a:sym typeface="Calibri"/>
            </a:endParaRPr>
          </a:p>
        </p:txBody>
      </p:sp>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0" name="image8.png" descr="Icon&#10;&#10;Description automatically generated">
            <a:extLst>
              <a:ext uri="{FF2B5EF4-FFF2-40B4-BE49-F238E27FC236}">
                <a16:creationId xmlns="" xmlns:a16="http://schemas.microsoft.com/office/drawing/2014/main" id="{C3077B63-B59F-3C47-BD0A-FB19C317B7E1}"/>
              </a:ext>
            </a:extLst>
          </p:cNvPr>
          <p:cNvPicPr/>
          <p:nvPr/>
        </p:nvPicPr>
        <p:blipFill>
          <a:blip r:embed="rId4"/>
          <a:srcRect/>
          <a:stretch>
            <a:fillRect/>
          </a:stretch>
        </p:blipFill>
        <p:spPr>
          <a:xfrm>
            <a:off x="4506717" y="2853975"/>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51888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103</a:t>
            </a:r>
            <a:endParaRPr i="1" dirty="0">
              <a:latin typeface="Calibri"/>
              <a:ea typeface="Calibri"/>
              <a:cs typeface="Calibri"/>
              <a:sym typeface="Calibri"/>
            </a:endParaRPr>
          </a:p>
        </p:txBody>
      </p:sp>
      <p:grpSp>
        <p:nvGrpSpPr>
          <p:cNvPr id="10" name="Group 9">
            <a:extLst>
              <a:ext uri="{FF2B5EF4-FFF2-40B4-BE49-F238E27FC236}">
                <a16:creationId xmlns:a16="http://schemas.microsoft.com/office/drawing/2014/main" xmlns="" id="{63AD1692-18A2-FB46-800A-11AFFA2A560C}"/>
              </a:ext>
            </a:extLst>
          </p:cNvPr>
          <p:cNvGrpSpPr/>
          <p:nvPr/>
        </p:nvGrpSpPr>
        <p:grpSpPr>
          <a:xfrm>
            <a:off x="2781300" y="4919169"/>
            <a:ext cx="6629400" cy="812522"/>
            <a:chOff x="2031300" y="3373600"/>
            <a:chExt cx="6629400" cy="812800"/>
          </a:xfrm>
        </p:grpSpPr>
        <p:sp>
          <p:nvSpPr>
            <p:cNvPr id="11" name="Rectangle 10">
              <a:extLst>
                <a:ext uri="{FF2B5EF4-FFF2-40B4-BE49-F238E27FC236}">
                  <a16:creationId xmlns:a16="http://schemas.microsoft.com/office/drawing/2014/main" xmlns="" id="{3FE34AFB-D60D-F049-8029-A636FDE33D62}"/>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xmlns="" id="{A3A097C6-D3D0-8649-84FD-1F5AA5344900}"/>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sp>
        <p:nvSpPr>
          <p:cNvPr id="15" name="Google Shape;343;g103996e1364_0_321">
            <a:extLst>
              <a:ext uri="{FF2B5EF4-FFF2-40B4-BE49-F238E27FC236}">
                <a16:creationId xmlns:mc="http://schemas.openxmlformats.org/markup-compatibility/2006" xmlns:a14="http://schemas.microsoft.com/office/drawing/2010/main" xmlns:a16="http://schemas.microsoft.com/office/drawing/2014/main" xmlns="" id="{21B1DF8E-16A0-FA4E-8CEB-434668DFA68D}"/>
              </a:ext>
            </a:extLst>
          </p:cNvPr>
          <p:cNvSpPr txBox="1">
            <a:spLocks/>
          </p:cNvSpPr>
          <p:nvPr/>
        </p:nvSpPr>
        <p:spPr>
          <a:xfrm>
            <a:off x="1052650" y="87527"/>
            <a:ext cx="10441876"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3.5.3 Guided Instruction: Adding and Subtracting Numbers in Scientific Notation</a:t>
            </a:r>
            <a:endParaRPr lang="en-US" sz="3200" b="1" dirty="0">
              <a:solidFill>
                <a:srgbClr val="54B5D1"/>
              </a:solidFill>
              <a:latin typeface="Verdana"/>
              <a:ea typeface="Verdana"/>
              <a:cs typeface="Verdana"/>
              <a:sym typeface="Verdana"/>
            </a:endParaRPr>
          </a:p>
        </p:txBody>
      </p:sp>
      <p:pic>
        <p:nvPicPr>
          <p:cNvPr id="16"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05350" y="20322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xmlns="" id="{C01B13E8-EC8D-E443-A329-C5E3593DD13A}"/>
                  </a:ext>
                </a:extLst>
              </p:cNvPr>
              <p:cNvSpPr txBox="1"/>
              <p:nvPr/>
            </p:nvSpPr>
            <p:spPr>
              <a:xfrm>
                <a:off x="593248" y="1386026"/>
                <a:ext cx="11307600" cy="3046988"/>
              </a:xfrm>
              <a:prstGeom prst="rect">
                <a:avLst/>
              </a:prstGeom>
              <a:noFill/>
            </p:spPr>
            <p:txBody>
              <a:bodyPr wrap="square" rtlCol="0">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Gizmo Gadgets produced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1,500,000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widgets in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2017</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In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2018</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they produced another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2,000,000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90646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How many widgets did they produce during the two-year period?  </a:t>
                </a:r>
              </a:p>
              <a:p>
                <a:pPr marL="906463" indent="-45720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906463" indent="-45720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906463" indent="-45720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906463"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the answer to Part A using scientific notation.</a:t>
                </a:r>
              </a:p>
            </p:txBody>
          </p:sp>
        </mc:Choice>
        <mc:Fallback>
          <p:sp>
            <p:nvSpPr>
              <p:cNvPr id="17" name="TextBox 16">
                <a:extLst>
                  <a:ext uri="{FF2B5EF4-FFF2-40B4-BE49-F238E27FC236}">
                    <a16:creationId xmlns:a16="http://schemas.microsoft.com/office/drawing/2014/main" xmlns="" xmlns:a14="http://schemas.microsoft.com/office/drawing/2010/main" id="{C01B13E8-EC8D-E443-A329-C5E3593DD13A}"/>
                  </a:ext>
                </a:extLst>
              </p:cNvPr>
              <p:cNvSpPr txBox="1">
                <a:spLocks noRot="1" noChangeAspect="1" noMove="1" noResize="1" noEditPoints="1" noAdjustHandles="1" noChangeArrowheads="1" noChangeShapeType="1" noTextEdit="1"/>
              </p:cNvSpPr>
              <p:nvPr/>
            </p:nvSpPr>
            <p:spPr>
              <a:xfrm>
                <a:off x="593248" y="1386026"/>
                <a:ext cx="11307600" cy="3046988"/>
              </a:xfrm>
              <a:prstGeom prst="rect">
                <a:avLst/>
              </a:prstGeom>
              <a:blipFill rotWithShape="1">
                <a:blip r:embed="rId5"/>
                <a:stretch>
                  <a:fillRect l="-809" t="-1800" r="-970" b="-3600"/>
                </a:stretch>
              </a:blipFill>
            </p:spPr>
            <p:txBody>
              <a:bodyPr/>
              <a:lstStyle/>
              <a:p>
                <a:r>
                  <a:rPr lang="en-US">
                    <a:noFill/>
                  </a:rPr>
                  <a:t> </a:t>
                </a:r>
              </a:p>
            </p:txBody>
          </p:sp>
        </mc:Fallback>
      </mc:AlternateContent>
    </p:spTree>
    <p:extLst>
      <p:ext uri="{BB962C8B-B14F-4D97-AF65-F5344CB8AC3E}">
        <p14:creationId xmlns:p14="http://schemas.microsoft.com/office/powerpoint/2010/main" val="2999405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798E8C69-963A-7E40-83AD-4FFD91C8AFC3}"/>
                  </a:ext>
                </a:extLst>
              </p:cNvPr>
              <p:cNvGraphicFramePr>
                <a:graphicFrameLocks noGrp="1"/>
              </p:cNvGraphicFramePr>
              <p:nvPr>
                <p:extLst>
                  <p:ext uri="{D42A27DB-BD31-4B8C-83A1-F6EECF244321}">
                    <p14:modId xmlns:p14="http://schemas.microsoft.com/office/powerpoint/2010/main" val="395194780"/>
                  </p:ext>
                </p:extLst>
              </p:nvPr>
            </p:nvGraphicFramePr>
            <p:xfrm>
              <a:off x="608206" y="2391860"/>
              <a:ext cx="6119495" cy="1185060"/>
            </p:xfrm>
            <a:graphic>
              <a:graphicData uri="http://schemas.openxmlformats.org/drawingml/2006/table">
                <a:tbl>
                  <a:tblPr firstRow="1" firstCol="1" bandRow="1"/>
                  <a:tblGrid>
                    <a:gridCol w="3088640">
                      <a:extLst>
                        <a:ext uri="{9D8B030D-6E8A-4147-A177-3AD203B41FA5}">
                          <a16:colId xmlns:a16="http://schemas.microsoft.com/office/drawing/2014/main" xmlns="" val="1927333984"/>
                        </a:ext>
                      </a:extLst>
                    </a:gridCol>
                    <a:gridCol w="3030855">
                      <a:extLst>
                        <a:ext uri="{9D8B030D-6E8A-4147-A177-3AD203B41FA5}">
                          <a16:colId xmlns:a16="http://schemas.microsoft.com/office/drawing/2014/main" xmlns="" val="2363899655"/>
                        </a:ext>
                      </a:extLst>
                    </a:gridCol>
                  </a:tblGrid>
                  <a:tr h="610706">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1,500,000</m:t>
                                </m:r>
                              </m:oMath>
                            </m:oMathPara>
                          </a14:m>
                          <a:endParaRPr lang="x-none" sz="2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a:noFill/>
                        </a:lnR>
                        <a:lnT>
                          <a:noFill/>
                        </a:lnT>
                        <a:lnB>
                          <a:noFill/>
                        </a:lnB>
                      </a:tcPr>
                    </a:tc>
                    <a:tc>
                      <a:txBody>
                        <a:bodyPr/>
                        <a:lstStyle/>
                        <a:p>
                          <a:pPr marL="0" marR="0" algn="ctr">
                            <a:spcBef>
                              <a:spcPts val="0"/>
                            </a:spcBef>
                            <a:spcAft>
                              <a:spcPts val="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____ </a:t>
                          </a:r>
                          <a14:m>
                            <m:oMath xmlns:m="http://schemas.openxmlformats.org/officeDocument/2006/math">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PH" sz="2400" b="0" i="1" smtClean="0">
                                      <a:solidFill>
                                        <a:srgbClr val="000000"/>
                                      </a:solidFill>
                                      <a:effectLst/>
                                      <a:latin typeface="Cambria Math"/>
                                      <a:ea typeface="Cambria Math" panose="02040503050406030204" pitchFamily="18" charset="0"/>
                                      <a:cs typeface="Cambria Math" panose="02040503050406030204" pitchFamily="18" charset="0"/>
                                    </a:rPr>
                                    <m:t> </m:t>
                                  </m:r>
                                </m:sup>
                              </m:sSup>
                            </m:oMath>
                          </a14:m>
                          <a:endParaRPr lang="x-none" sz="2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xmlns="" val="1450776159"/>
                      </a:ext>
                    </a:extLst>
                  </a:tr>
                  <a:tr h="57435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2,000,000</m:t>
                                </m:r>
                              </m:oMath>
                            </m:oMathPara>
                          </a14:m>
                          <a:endParaRPr lang="x-none" sz="2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a:noFill/>
                        </a:lnR>
                        <a:lnT>
                          <a:noFill/>
                        </a:lnT>
                        <a:lnB>
                          <a:noFill/>
                        </a:lnB>
                      </a:tcPr>
                    </a:tc>
                    <a:tc>
                      <a:txBody>
                        <a:bodyPr/>
                        <a:lstStyle/>
                        <a:p>
                          <a:pPr marL="0" marR="0" algn="ctr">
                            <a:spcBef>
                              <a:spcPts val="0"/>
                            </a:spcBef>
                            <a:spcAft>
                              <a:spcPts val="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____ </a:t>
                          </a:r>
                          <a14:m>
                            <m:oMath xmlns:m="http://schemas.openxmlformats.org/officeDocument/2006/math">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PH" sz="2400" b="0" i="1" smtClean="0">
                                      <a:solidFill>
                                        <a:srgbClr val="000000"/>
                                      </a:solidFill>
                                      <a:effectLst/>
                                      <a:latin typeface="Cambria Math"/>
                                      <a:ea typeface="Cambria Math" panose="02040503050406030204" pitchFamily="18" charset="0"/>
                                      <a:cs typeface="Cambria Math" panose="02040503050406030204" pitchFamily="18" charset="0"/>
                                    </a:rPr>
                                    <m:t> </m:t>
                                  </m:r>
                                </m:sup>
                              </m:sSup>
                            </m:oMath>
                          </a14:m>
                          <a:endParaRPr lang="x-none" sz="24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xmlns="" val="2132070473"/>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798E8C69-963A-7E40-83AD-4FFD91C8AFC3}"/>
                  </a:ext>
                </a:extLst>
              </p:cNvPr>
              <p:cNvGraphicFramePr>
                <a:graphicFrameLocks noGrp="1"/>
              </p:cNvGraphicFramePr>
              <p:nvPr>
                <p:extLst>
                  <p:ext uri="{D42A27DB-BD31-4B8C-83A1-F6EECF244321}">
                    <p14:modId xmlns:p14="http://schemas.microsoft.com/office/powerpoint/2010/main" val="395194780"/>
                  </p:ext>
                </p:extLst>
              </p:nvPr>
            </p:nvGraphicFramePr>
            <p:xfrm>
              <a:off x="608206" y="2391860"/>
              <a:ext cx="6119495" cy="1185060"/>
            </p:xfrm>
            <a:graphic>
              <a:graphicData uri="http://schemas.openxmlformats.org/drawingml/2006/table">
                <a:tbl>
                  <a:tblPr firstRow="1" firstCol="1" bandRow="1"/>
                  <a:tblGrid>
                    <a:gridCol w="3088640">
                      <a:extLst>
                        <a:ext uri="{9D8B030D-6E8A-4147-A177-3AD203B41FA5}">
                          <a16:colId xmlns:a16="http://schemas.microsoft.com/office/drawing/2014/main" xmlns:a14="http://schemas.microsoft.com/office/drawing/2010/main" xmlns="" val="1927333984"/>
                        </a:ext>
                      </a:extLst>
                    </a:gridCol>
                    <a:gridCol w="3030855">
                      <a:extLst>
                        <a:ext uri="{9D8B030D-6E8A-4147-A177-3AD203B41FA5}">
                          <a16:colId xmlns:a16="http://schemas.microsoft.com/office/drawing/2014/main" xmlns:a14="http://schemas.microsoft.com/office/drawing/2010/main" xmlns="" val="2363899655"/>
                        </a:ext>
                      </a:extLst>
                    </a:gridCol>
                  </a:tblGrid>
                  <a:tr h="610706">
                    <a:tc>
                      <a:txBody>
                        <a:bodyPr/>
                        <a:lstStyle/>
                        <a:p>
                          <a:endParaRPr lang="en-US"/>
                        </a:p>
                      </a:txBody>
                      <a:tcPr marL="68580" marR="68580" marT="0" marB="0">
                        <a:lnL>
                          <a:noFill/>
                        </a:lnL>
                        <a:lnR>
                          <a:noFill/>
                        </a:lnR>
                        <a:lnT>
                          <a:noFill/>
                        </a:lnT>
                        <a:lnB>
                          <a:noFill/>
                        </a:lnB>
                        <a:blipFill rotWithShape="1">
                          <a:blip r:embed="rId4"/>
                          <a:stretch>
                            <a:fillRect l="-197" t="-16000" r="-98028" b="-95000"/>
                          </a:stretch>
                        </a:blipFill>
                      </a:tcPr>
                    </a:tc>
                    <a:tc>
                      <a:txBody>
                        <a:bodyPr/>
                        <a:lstStyle/>
                        <a:p>
                          <a:endParaRPr lang="en-US"/>
                        </a:p>
                      </a:txBody>
                      <a:tcPr marL="68580" marR="68580" marT="0" marB="0">
                        <a:lnL>
                          <a:noFill/>
                        </a:lnL>
                        <a:lnR>
                          <a:noFill/>
                        </a:lnR>
                        <a:lnT>
                          <a:noFill/>
                        </a:lnT>
                        <a:lnB>
                          <a:noFill/>
                        </a:lnB>
                        <a:blipFill rotWithShape="1">
                          <a:blip r:embed="rId4"/>
                          <a:stretch>
                            <a:fillRect l="-102213" t="-16000" b="-95000"/>
                          </a:stretch>
                        </a:blipFill>
                      </a:tcPr>
                    </a:tc>
                    <a:extLst>
                      <a:ext uri="{0D108BD9-81ED-4DB2-BD59-A6C34878D82A}">
                        <a16:rowId xmlns:a16="http://schemas.microsoft.com/office/drawing/2014/main" xmlns:a14="http://schemas.microsoft.com/office/drawing/2010/main" xmlns="" val="1450776159"/>
                      </a:ext>
                    </a:extLst>
                  </a:tr>
                  <a:tr h="574354">
                    <a:tc>
                      <a:txBody>
                        <a:bodyPr/>
                        <a:lstStyle/>
                        <a:p>
                          <a:endParaRPr lang="en-US"/>
                        </a:p>
                      </a:txBody>
                      <a:tcPr marL="68580" marR="68580" marT="0" marB="0">
                        <a:lnL>
                          <a:noFill/>
                        </a:lnL>
                        <a:lnR>
                          <a:noFill/>
                        </a:lnR>
                        <a:lnT>
                          <a:noFill/>
                        </a:lnT>
                        <a:lnB>
                          <a:noFill/>
                        </a:lnB>
                        <a:blipFill rotWithShape="1">
                          <a:blip r:embed="rId4"/>
                          <a:stretch>
                            <a:fillRect l="-197" t="-122105" r="-98028"/>
                          </a:stretch>
                        </a:blipFill>
                      </a:tcPr>
                    </a:tc>
                    <a:tc>
                      <a:txBody>
                        <a:bodyPr/>
                        <a:lstStyle/>
                        <a:p>
                          <a:endParaRPr lang="en-US"/>
                        </a:p>
                      </a:txBody>
                      <a:tcPr marL="68580" marR="68580" marT="0" marB="0">
                        <a:lnL>
                          <a:noFill/>
                        </a:lnL>
                        <a:lnR>
                          <a:noFill/>
                        </a:lnR>
                        <a:lnT>
                          <a:noFill/>
                        </a:lnT>
                        <a:lnB>
                          <a:noFill/>
                        </a:lnB>
                        <a:blipFill rotWithShape="1">
                          <a:blip r:embed="rId4"/>
                          <a:stretch>
                            <a:fillRect l="-102213" t="-122105"/>
                          </a:stretch>
                        </a:blipFill>
                      </a:tcPr>
                    </a:tc>
                    <a:extLst>
                      <a:ext uri="{0D108BD9-81ED-4DB2-BD59-A6C34878D82A}">
                        <a16:rowId xmlns:a16="http://schemas.microsoft.com/office/drawing/2014/main" xmlns:a14="http://schemas.microsoft.com/office/drawing/2010/main" xmlns="" val="2132070473"/>
                      </a:ext>
                    </a:extLst>
                  </a:tr>
                </a:tbl>
              </a:graphicData>
            </a:graphic>
          </p:graphicFrame>
        </mc:Fallback>
      </mc:AlternateContent>
      <p:sp>
        <p:nvSpPr>
          <p:cNvPr id="7" name="TextBox 6">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1569660"/>
          </a:xfrm>
          <a:prstGeom prst="rect">
            <a:avLst/>
          </a:prstGeom>
          <a:noFill/>
        </p:spPr>
        <p:txBody>
          <a:bodyPr wrap="square" rtlCol="0">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Scientific notation can be used to add and subtract large and small numbers.</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the numbers in scientific notation.</a:t>
            </a: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851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xmlns="" id="{C8F82859-BA98-3646-BF3B-9E17E52A2E35}"/>
                  </a:ext>
                </a:extLst>
              </p:cNvPr>
              <p:cNvSpPr txBox="1"/>
              <p:nvPr/>
            </p:nvSpPr>
            <p:spPr>
              <a:xfrm>
                <a:off x="511205" y="533066"/>
                <a:ext cx="10953207" cy="4708981"/>
              </a:xfrm>
              <a:prstGeom prst="rect">
                <a:avLst/>
              </a:prstGeom>
              <a:noFill/>
            </p:spPr>
            <p:txBody>
              <a:bodyPr wrap="square" rtlCol="0">
                <a:spAutoFit/>
              </a:bodyPr>
              <a:lstStyle/>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Another way to find the sum of gadgets is to add the numbers using scientific notation. In order to add numbers using scientific notation, the powers of ten should be the same. </a:t>
                </a: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4"/>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Discuss with your partner why, when the powers of ten are not the same, the place value is not the same. If necessary, refer back to the Exploration.</a:t>
                </a:r>
              </a:p>
              <a:p>
                <a:pPr marL="906463" indent="-457200" eaLnBrk="0" fontAlgn="base" hangingPunct="0">
                  <a:spcBef>
                    <a:spcPct val="0"/>
                  </a:spcBef>
                  <a:spcAft>
                    <a:spcPct val="0"/>
                  </a:spcAft>
                  <a:buClrTx/>
                  <a:buFont typeface="+mj-lt"/>
                  <a:buAutoNum type="alphaLcPeriod" startAt="4"/>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4"/>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4"/>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Determine the sum.</a:t>
                </a: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(1.5 ×</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10</m:t>
                          </m:r>
                        </m:e>
                        <m:sup>
                          <m:r>
                            <a:rPr lang="es-ES" altLang="en-US" sz="2000" i="1" dirty="0">
                              <a:solidFill>
                                <a:schemeClr val="tx1"/>
                              </a:solidFill>
                              <a:latin typeface="Cambria Math" panose="02040503050406030204" pitchFamily="18" charset="0"/>
                              <a:cs typeface="Times New Roman" panose="02020603050405020304" pitchFamily="18" charset="0"/>
                            </a:rPr>
                            <m:t>6</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 (2.0 ×</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10</m:t>
                          </m:r>
                        </m:e>
                        <m:sup>
                          <m:r>
                            <a:rPr lang="es-ES" altLang="en-US" sz="2000" i="1" dirty="0">
                              <a:solidFill>
                                <a:schemeClr val="tx1"/>
                              </a:solidFill>
                              <a:latin typeface="Cambria Math" panose="02040503050406030204" pitchFamily="18" charset="0"/>
                              <a:cs typeface="Times New Roman" panose="02020603050405020304" pitchFamily="18" charset="0"/>
                            </a:rPr>
                            <m:t>6</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)=_______ ×</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10</m:t>
                          </m:r>
                        </m:e>
                        <m:sup>
                          <m:r>
                            <a:rPr lang="en-PH" altLang="en-US" sz="2000" i="1" dirty="0">
                              <a:solidFill>
                                <a:schemeClr val="tx1"/>
                              </a:solidFill>
                              <a:latin typeface="Cambria Math"/>
                              <a:cs typeface="Times New Roman" panose="02020603050405020304" pitchFamily="18" charset="0"/>
                            </a:rPr>
                            <m:t>  </m:t>
                          </m:r>
                        </m:sup>
                      </m:sSup>
                    </m:oMath>
                  </m:oMathPara>
                </a14:m>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6"/>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Compare your answer to Part B with your answer to Part E. If they are not the same, make any necessary adjustments to your answer.</a:t>
                </a:r>
              </a:p>
            </p:txBody>
          </p:sp>
        </mc:Choice>
        <mc:Fallback>
          <p:sp>
            <p:nvSpPr>
              <p:cNvPr id="6" name="TextBox 5">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4708981"/>
              </a:xfrm>
              <a:prstGeom prst="rect">
                <a:avLst/>
              </a:prstGeom>
              <a:blipFill rotWithShape="1">
                <a:blip r:embed="rId4"/>
                <a:stretch>
                  <a:fillRect l="-612" t="-647" b="-1294"/>
                </a:stretch>
              </a:blipFill>
            </p:spPr>
            <p:txBody>
              <a:bodyPr/>
              <a:lstStyle/>
              <a:p>
                <a:r>
                  <a:rPr lang="en-US">
                    <a:noFill/>
                  </a:rPr>
                  <a:t> </a:t>
                </a:r>
              </a:p>
            </p:txBody>
          </p:sp>
        </mc:Fallback>
      </mc:AlternateContent>
    </p:spTree>
    <p:extLst>
      <p:ext uri="{BB962C8B-B14F-4D97-AF65-F5344CB8AC3E}">
        <p14:creationId xmlns:p14="http://schemas.microsoft.com/office/powerpoint/2010/main" val="3814089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xmlns="" id="{C8F82859-BA98-3646-BF3B-9E17E52A2E35}"/>
                  </a:ext>
                </a:extLst>
              </p:cNvPr>
              <p:cNvSpPr txBox="1"/>
              <p:nvPr/>
            </p:nvSpPr>
            <p:spPr>
              <a:xfrm>
                <a:off x="511205" y="533066"/>
                <a:ext cx="10953207" cy="4154984"/>
              </a:xfrm>
              <a:prstGeom prst="rect">
                <a:avLst/>
              </a:prstGeom>
              <a:noFill/>
            </p:spPr>
            <p:txBody>
              <a:bodyPr wrap="square" rtlCol="0">
                <a:spAutoFit/>
              </a:bodyPr>
              <a:lstStyle/>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each in standard form</a:t>
                </a:r>
                <a:r>
                  <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a:p>
                <a:pPr marL="457200" indent="-457200" eaLnBrk="0" fontAlgn="base" hangingPunct="0">
                  <a:spcBef>
                    <a:spcPct val="0"/>
                  </a:spcBef>
                  <a:spcAft>
                    <a:spcPct val="0"/>
                  </a:spcAft>
                  <a:buClrTx/>
                  <a:buFont typeface="+mj-lt"/>
                  <a:buAutoNum type="arabi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r>
                  <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Which </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numbers in problem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are represented by the same standard scientific form</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9" name="TextBox 8">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4154984"/>
              </a:xfrm>
              <a:prstGeom prst="rect">
                <a:avLst/>
              </a:prstGeom>
              <a:blipFill rotWithShape="1">
                <a:blip r:embed="rId3"/>
                <a:stretch>
                  <a:fillRect l="-890" t="-1173" b="-2346"/>
                </a:stretch>
              </a:blipFill>
            </p:spPr>
            <p:txBody>
              <a:bodyPr/>
              <a:lstStyle/>
              <a:p>
                <a:r>
                  <a:rPr lang="en-US">
                    <a:noFill/>
                  </a:rPr>
                  <a:t> </a:t>
                </a:r>
              </a:p>
            </p:txBody>
          </p:sp>
        </mc:Fallback>
      </mc:AlternateContent>
      <p:sp>
        <p:nvSpPr>
          <p:cNvPr id="278" name="Google Shape;278;g104476d1465_1_17"/>
          <p:cNvSpPr/>
          <p:nvPr/>
        </p:nvSpPr>
        <p:spPr>
          <a:xfrm>
            <a:off x="-3791"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104</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787BBA22-AF31-8141-888F-C727FD8F1B01}"/>
                  </a:ext>
                </a:extLst>
              </p:cNvPr>
              <p:cNvGraphicFramePr>
                <a:graphicFrameLocks noGrp="1"/>
              </p:cNvGraphicFramePr>
              <p:nvPr>
                <p:extLst>
                  <p:ext uri="{D42A27DB-BD31-4B8C-83A1-F6EECF244321}">
                    <p14:modId xmlns:p14="http://schemas.microsoft.com/office/powerpoint/2010/main" val="3642716912"/>
                  </p:ext>
                </p:extLst>
              </p:nvPr>
            </p:nvGraphicFramePr>
            <p:xfrm>
              <a:off x="2670810" y="1250925"/>
              <a:ext cx="6850380" cy="2340000"/>
            </p:xfrm>
            <a:graphic>
              <a:graphicData uri="http://schemas.openxmlformats.org/drawingml/2006/table">
                <a:tbl>
                  <a:tblPr firstRow="1" firstCol="1" bandRow="1"/>
                  <a:tblGrid>
                    <a:gridCol w="2387600">
                      <a:extLst>
                        <a:ext uri="{9D8B030D-6E8A-4147-A177-3AD203B41FA5}">
                          <a16:colId xmlns:a16="http://schemas.microsoft.com/office/drawing/2014/main" xmlns="" val="2608275193"/>
                        </a:ext>
                      </a:extLst>
                    </a:gridCol>
                    <a:gridCol w="4462780">
                      <a:extLst>
                        <a:ext uri="{9D8B030D-6E8A-4147-A177-3AD203B41FA5}">
                          <a16:colId xmlns:a16="http://schemas.microsoft.com/office/drawing/2014/main" xmlns="" val="1474162174"/>
                        </a:ext>
                      </a:extLst>
                    </a:gridCol>
                  </a:tblGrid>
                  <a:tr h="468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Standard Scientific Form</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700642983"/>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15,740,000,000</m:t>
                                </m:r>
                              </m:oMath>
                            </m:oMathPara>
                          </a14:m>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32346899"/>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157.4 </m:t>
                                </m:r>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0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sup>
                                </m:sSup>
                              </m:oMath>
                            </m:oMathPara>
                          </a14:m>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36180755"/>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15.74 </m:t>
                                </m:r>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0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9</m:t>
                                    </m:r>
                                  </m:sup>
                                </m:sSup>
                              </m:oMath>
                            </m:oMathPara>
                          </a14:m>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05574059"/>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15.74 </m:t>
                                </m:r>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0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5</m:t>
                                    </m:r>
                                  </m:sup>
                                </m:sSup>
                              </m:oMath>
                            </m:oMathPara>
                          </a14:m>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32990809"/>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787BBA22-AF31-8141-888F-C727FD8F1B01}"/>
                  </a:ext>
                </a:extLst>
              </p:cNvPr>
              <p:cNvGraphicFramePr>
                <a:graphicFrameLocks noGrp="1"/>
              </p:cNvGraphicFramePr>
              <p:nvPr>
                <p:extLst>
                  <p:ext uri="{D42A27DB-BD31-4B8C-83A1-F6EECF244321}">
                    <p14:modId xmlns:p14="http://schemas.microsoft.com/office/powerpoint/2010/main" val="3642716912"/>
                  </p:ext>
                </p:extLst>
              </p:nvPr>
            </p:nvGraphicFramePr>
            <p:xfrm>
              <a:off x="2670810" y="1250925"/>
              <a:ext cx="6850380" cy="2340000"/>
            </p:xfrm>
            <a:graphic>
              <a:graphicData uri="http://schemas.openxmlformats.org/drawingml/2006/table">
                <a:tbl>
                  <a:tblPr firstRow="1" firstCol="1" bandRow="1"/>
                  <a:tblGrid>
                    <a:gridCol w="2387600">
                      <a:extLst>
                        <a:ext uri="{9D8B030D-6E8A-4147-A177-3AD203B41FA5}">
                          <a16:colId xmlns:a16="http://schemas.microsoft.com/office/drawing/2014/main" xmlns:a14="http://schemas.microsoft.com/office/drawing/2010/main" xmlns="" val="2608275193"/>
                        </a:ext>
                      </a:extLst>
                    </a:gridCol>
                    <a:gridCol w="4462780">
                      <a:extLst>
                        <a:ext uri="{9D8B030D-6E8A-4147-A177-3AD203B41FA5}">
                          <a16:colId xmlns:a16="http://schemas.microsoft.com/office/drawing/2014/main" xmlns:a14="http://schemas.microsoft.com/office/drawing/2010/main" xmlns="" val="1474162174"/>
                        </a:ext>
                      </a:extLst>
                    </a:gridCol>
                  </a:tblGrid>
                  <a:tr h="468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Standard Scientific Form</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700642983"/>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00000" r="-186735" b="-300000"/>
                          </a:stretch>
                        </a:blip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932346899"/>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02632" r="-186735" b="-203947"/>
                          </a:stretch>
                        </a:blip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36180755"/>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98701" r="-186735" b="-101299"/>
                          </a:stretch>
                        </a:blip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705574059"/>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98701" r="-186735" b="-1299"/>
                          </a:stretch>
                        </a:blip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032990809"/>
                      </a:ext>
                    </a:extLst>
                  </a:tr>
                </a:tbl>
              </a:graphicData>
            </a:graphic>
          </p:graphicFrame>
        </mc:Fallback>
      </mc:AlternateContent>
    </p:spTree>
    <p:extLst>
      <p:ext uri="{BB962C8B-B14F-4D97-AF65-F5344CB8AC3E}">
        <p14:creationId xmlns:p14="http://schemas.microsoft.com/office/powerpoint/2010/main" val="2122147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C8F82859-BA98-3646-BF3B-9E17E52A2E35}"/>
                  </a:ext>
                </a:extLst>
              </p:cNvPr>
              <p:cNvSpPr txBox="1"/>
              <p:nvPr/>
            </p:nvSpPr>
            <p:spPr>
              <a:xfrm>
                <a:off x="511206" y="458437"/>
                <a:ext cx="11375994" cy="2547492"/>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Find the sum by filling in the blanks.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a:spcAft>
                    <a:spcPts val="600"/>
                  </a:spcAft>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(6.11 ×</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5</m:t>
                          </m:r>
                        </m:sup>
                      </m:sSup>
                      <m:r>
                        <a:rPr lang="en-US" sz="2400" i="1" dirty="0">
                          <a:latin typeface="Cambria Math" panose="02040503050406030204" pitchFamily="18" charset="0"/>
                          <a:ea typeface="Verdana" panose="020B0604030504040204" pitchFamily="34" charset="0"/>
                          <a:cs typeface="Verdana" panose="020B0604030504040204" pitchFamily="34" charset="0"/>
                        </a:rPr>
                        <m:t>)  + (1.574 ×</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6</m:t>
                          </m:r>
                        </m:sup>
                      </m:sSup>
                      <m:r>
                        <a:rPr lang="en-US" sz="2400" i="1" dirty="0">
                          <a:latin typeface="Cambria Math" panose="02040503050406030204" pitchFamily="18" charset="0"/>
                          <a:ea typeface="Verdana" panose="020B0604030504040204" pitchFamily="34" charset="0"/>
                          <a:cs typeface="Verdana" panose="020B0604030504040204" pitchFamily="34" charset="0"/>
                        </a:rPr>
                        <m:t>)</m:t>
                      </m:r>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a:p>
                <a:pPr>
                  <a:spcAft>
                    <a:spcPts val="600"/>
                  </a:spcAft>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(6.11 ×</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5</m:t>
                          </m:r>
                        </m:sup>
                      </m:sSup>
                      <m:r>
                        <a:rPr lang="en-US" sz="2400" i="1" dirty="0">
                          <a:latin typeface="Cambria Math" panose="02040503050406030204" pitchFamily="18" charset="0"/>
                          <a:ea typeface="Verdana" panose="020B0604030504040204" pitchFamily="34" charset="0"/>
                          <a:cs typeface="Verdana" panose="020B0604030504040204" pitchFamily="34" charset="0"/>
                        </a:rPr>
                        <m:t>)  + (          ×</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5</m:t>
                          </m:r>
                        </m:sup>
                      </m:sSup>
                      <m:r>
                        <a:rPr lang="en-US" sz="2400" i="1" dirty="0">
                          <a:latin typeface="Cambria Math" panose="02040503050406030204" pitchFamily="18" charset="0"/>
                          <a:ea typeface="Verdana" panose="020B0604030504040204" pitchFamily="34" charset="0"/>
                          <a:cs typeface="Verdana" panose="020B0604030504040204" pitchFamily="34" charset="0"/>
                        </a:rPr>
                        <m:t>)</m:t>
                      </m:r>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2693988">
                  <a:spcAft>
                    <a:spcPts val="600"/>
                  </a:spcAft>
                </a:pPr>
                <a:r>
                  <a:rPr lang="en-US" sz="2400" dirty="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 </m:t>
                    </m:r>
                    <m:d>
                      <m:dPr>
                        <m:ctrlPr>
                          <a:rPr lang="en-US" sz="2400" i="1" dirty="0">
                            <a:latin typeface="Cambria Math"/>
                            <a:ea typeface="Verdana" panose="020B0604030504040204" pitchFamily="34" charset="0"/>
                            <a:cs typeface="Verdana" panose="020B0604030504040204" pitchFamily="34" charset="0"/>
                          </a:rPr>
                        </m:ctrlPr>
                      </m:dPr>
                      <m:e>
                        <m:r>
                          <a:rPr lang="en-US" sz="2400" i="1" dirty="0">
                            <a:latin typeface="Cambria Math" panose="02040503050406030204" pitchFamily="18" charset="0"/>
                            <a:ea typeface="Verdana" panose="020B0604030504040204" pitchFamily="34" charset="0"/>
                            <a:cs typeface="Verdana" panose="020B0604030504040204" pitchFamily="34" charset="0"/>
                          </a:rPr>
                          <m:t> 21.85 ×</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n-PH" sz="2400" i="1" dirty="0">
                                <a:latin typeface="Cambria Math"/>
                                <a:ea typeface="Verdana" panose="020B0604030504040204" pitchFamily="34" charset="0"/>
                                <a:cs typeface="Verdana" panose="020B0604030504040204" pitchFamily="34" charset="0"/>
                              </a:rPr>
                              <m:t>  </m:t>
                            </m:r>
                          </m:sup>
                        </m:sSup>
                      </m:e>
                    </m:d>
                  </m:oMath>
                </a14:m>
                <a:endParaRPr lang="en-US" sz="2400" i="1" dirty="0">
                  <a:latin typeface="Cambria Math" panose="02040503050406030204" pitchFamily="18" charset="0"/>
                  <a:ea typeface="Verdana" panose="020B0604030504040204" pitchFamily="34" charset="0"/>
                  <a:cs typeface="Verdana" panose="020B0604030504040204" pitchFamily="34" charset="0"/>
                </a:endParaRPr>
              </a:p>
              <a:p>
                <a:pPr marL="2693988">
                  <a:spcAft>
                    <a:spcPts val="600"/>
                  </a:spcAft>
                </a:pPr>
                <a:r>
                  <a:rPr lang="en-US" sz="2400" dirty="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 (               ×</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6</m:t>
                        </m:r>
                      </m:sup>
                    </m:sSup>
                    <m:r>
                      <a:rPr lang="en-US" sz="2400" i="1" dirty="0">
                        <a:latin typeface="Cambria Math" panose="02040503050406030204" pitchFamily="18" charset="0"/>
                        <a:ea typeface="Verdana" panose="020B0604030504040204" pitchFamily="34" charset="0"/>
                        <a:cs typeface="Verdana" panose="020B0604030504040204" pitchFamily="34"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6" name="TextBox 5">
                <a:extLst>
                  <a:ext uri="{FF2B5EF4-FFF2-40B4-BE49-F238E27FC236}">
                    <a16:creationId xmlns:a16="http://schemas.microsoft.com/office/drawing/2014/main" id="{C8F82859-BA98-3646-BF3B-9E17E52A2E35}"/>
                  </a:ext>
                </a:extLst>
              </p:cNvPr>
              <p:cNvSpPr txBox="1">
                <a:spLocks noRot="1" noChangeAspect="1" noMove="1" noResize="1" noEditPoints="1" noAdjustHandles="1" noChangeArrowheads="1" noChangeShapeType="1" noTextEdit="1"/>
              </p:cNvSpPr>
              <p:nvPr/>
            </p:nvSpPr>
            <p:spPr>
              <a:xfrm>
                <a:off x="511206" y="458437"/>
                <a:ext cx="11375994" cy="2547492"/>
              </a:xfrm>
              <a:prstGeom prst="rect">
                <a:avLst/>
              </a:prstGeom>
              <a:blipFill>
                <a:blip r:embed="rId4"/>
                <a:stretch>
                  <a:fillRect l="-892" t="-1990" b="-34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C8F82859-BA98-3646-BF3B-9E17E52A2E35}"/>
                  </a:ext>
                </a:extLst>
              </p:cNvPr>
              <p:cNvSpPr txBox="1"/>
              <p:nvPr/>
            </p:nvSpPr>
            <p:spPr>
              <a:xfrm>
                <a:off x="511205" y="3429000"/>
                <a:ext cx="11226907" cy="1938992"/>
              </a:xfrm>
              <a:prstGeom prst="rect">
                <a:avLst/>
              </a:prstGeom>
              <a:noFill/>
            </p:spPr>
            <p:txBody>
              <a:bodyPr wrap="square" rtlCol="0">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The population of New City was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1,625,000</m:t>
                    </m:r>
                  </m:oMath>
                </a14:m>
                <a:r>
                  <a:rPr lang="en-US" sz="2400" dirty="0">
                    <a:latin typeface="Verdana" panose="020B0604030504040204" pitchFamily="34" charset="0"/>
                    <a:ea typeface="Verdana" panose="020B0604030504040204" pitchFamily="34" charset="0"/>
                    <a:cs typeface="Verdana" panose="020B0604030504040204" pitchFamily="34" charset="0"/>
                  </a:rPr>
                  <a:t> in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2017</m:t>
                    </m:r>
                  </m:oMath>
                </a14:m>
                <a:r>
                  <a:rPr lang="en-US" sz="2400" dirty="0">
                    <a:latin typeface="Verdana" panose="020B0604030504040204" pitchFamily="34" charset="0"/>
                    <a:ea typeface="Verdana" panose="020B0604030504040204" pitchFamily="34" charset="0"/>
                    <a:cs typeface="Verdana" panose="020B0604030504040204" pitchFamily="34" charset="0"/>
                  </a:rPr>
                  <a:t>. The population grew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2,750,000</m:t>
                    </m:r>
                  </m:oMath>
                </a14:m>
                <a:r>
                  <a:rPr lang="en-US" sz="2400" dirty="0">
                    <a:latin typeface="Verdana" panose="020B0604030504040204" pitchFamily="34" charset="0"/>
                    <a:ea typeface="Verdana" panose="020B0604030504040204" pitchFamily="34" charset="0"/>
                    <a:cs typeface="Verdana" panose="020B0604030504040204" pitchFamily="34" charset="0"/>
                  </a:rPr>
                  <a:t> by the end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2018</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06463"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many more people lived in New City at the end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2018</m:t>
                    </m:r>
                  </m:oMath>
                </a14:m>
                <a:r>
                  <a:rPr lang="en-US" sz="2400" dirty="0">
                    <a:latin typeface="Verdana" panose="020B0604030504040204" pitchFamily="34" charset="0"/>
                    <a:ea typeface="Verdana" panose="020B0604030504040204" pitchFamily="34" charset="0"/>
                    <a:cs typeface="Verdana" panose="020B0604030504040204" pitchFamily="34" charset="0"/>
                  </a:rPr>
                  <a:t> compared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2017</m:t>
                    </m:r>
                  </m:oMath>
                </a14:m>
                <a:r>
                  <a:rPr lang="en-US" sz="2400" dirty="0">
                    <a:latin typeface="Verdana" panose="020B0604030504040204" pitchFamily="34" charset="0"/>
                    <a:ea typeface="Verdana" panose="020B0604030504040204" pitchFamily="34" charset="0"/>
                    <a:cs typeface="Verdana" panose="020B0604030504040204" pitchFamily="34" charset="0"/>
                  </a:rPr>
                  <a:t>? Write your answer in scientific notation.</a:t>
                </a:r>
              </a:p>
            </p:txBody>
          </p:sp>
        </mc:Choice>
        <mc:Fallback xmlns="">
          <p:sp>
            <p:nvSpPr>
              <p:cNvPr id="7" name="TextBox 6">
                <a:extLst>
                  <a:ext uri="{FF2B5EF4-FFF2-40B4-BE49-F238E27FC236}">
                    <a16:creationId xmlns:a16="http://schemas.microsoft.com/office/drawing/2014/main" id="{C8F82859-BA98-3646-BF3B-9E17E52A2E35}"/>
                  </a:ext>
                </a:extLst>
              </p:cNvPr>
              <p:cNvSpPr txBox="1">
                <a:spLocks noRot="1" noChangeAspect="1" noMove="1" noResize="1" noEditPoints="1" noAdjustHandles="1" noChangeArrowheads="1" noChangeShapeType="1" noTextEdit="1"/>
              </p:cNvSpPr>
              <p:nvPr/>
            </p:nvSpPr>
            <p:spPr>
              <a:xfrm>
                <a:off x="511205" y="3429000"/>
                <a:ext cx="11226907" cy="1938992"/>
              </a:xfrm>
              <a:prstGeom prst="rect">
                <a:avLst/>
              </a:prstGeom>
              <a:blipFill>
                <a:blip r:embed="rId5"/>
                <a:stretch>
                  <a:fillRect l="-904" t="-3268" b="-6536"/>
                </a:stretch>
              </a:blipFill>
            </p:spPr>
            <p:txBody>
              <a:bodyPr/>
              <a:lstStyle/>
              <a:p>
                <a:r>
                  <a:rPr lang="en-US">
                    <a:noFill/>
                  </a:rPr>
                  <a:t> </a:t>
                </a:r>
              </a:p>
            </p:txBody>
          </p:sp>
        </mc:Fallback>
      </mc:AlternateContent>
    </p:spTree>
    <p:extLst>
      <p:ext uri="{BB962C8B-B14F-4D97-AF65-F5344CB8AC3E}">
        <p14:creationId xmlns:p14="http://schemas.microsoft.com/office/powerpoint/2010/main" val="3370835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104</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xmlns="" id="{C8F82859-BA98-3646-BF3B-9E17E52A2E35}"/>
              </a:ext>
            </a:extLst>
          </p:cNvPr>
          <p:cNvSpPr txBox="1"/>
          <p:nvPr/>
        </p:nvSpPr>
        <p:spPr>
          <a:xfrm>
            <a:off x="223199" y="487335"/>
            <a:ext cx="11534791" cy="830997"/>
          </a:xfrm>
          <a:prstGeom prst="rect">
            <a:avLst/>
          </a:prstGeom>
          <a:noFill/>
        </p:spPr>
        <p:txBody>
          <a:bodyPr wrap="square" rtlCol="0">
            <a:spAutoFit/>
          </a:bodyPr>
          <a:lstStyle/>
          <a:p>
            <a:pPr marL="906463"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Write the population numbers from the word problem in scientific notation.</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B17E65F3-B4D8-9446-8F3B-83647E06E873}"/>
                  </a:ext>
                </a:extLst>
              </p:cNvPr>
              <p:cNvGraphicFramePr>
                <a:graphicFrameLocks noGrp="1"/>
              </p:cNvGraphicFramePr>
              <p:nvPr>
                <p:extLst>
                  <p:ext uri="{D42A27DB-BD31-4B8C-83A1-F6EECF244321}">
                    <p14:modId xmlns:p14="http://schemas.microsoft.com/office/powerpoint/2010/main" val="230299683"/>
                  </p:ext>
                </p:extLst>
              </p:nvPr>
            </p:nvGraphicFramePr>
            <p:xfrm>
              <a:off x="3036252" y="1542017"/>
              <a:ext cx="6119495" cy="1137285"/>
            </p:xfrm>
            <a:graphic>
              <a:graphicData uri="http://schemas.openxmlformats.org/drawingml/2006/table">
                <a:tbl>
                  <a:tblPr firstRow="1" firstCol="1" bandRow="1"/>
                  <a:tblGrid>
                    <a:gridCol w="3088640">
                      <a:extLst>
                        <a:ext uri="{9D8B030D-6E8A-4147-A177-3AD203B41FA5}">
                          <a16:colId xmlns:a16="http://schemas.microsoft.com/office/drawing/2014/main" xmlns="" val="85577005"/>
                        </a:ext>
                      </a:extLst>
                    </a:gridCol>
                    <a:gridCol w="3030855">
                      <a:extLst>
                        <a:ext uri="{9D8B030D-6E8A-4147-A177-3AD203B41FA5}">
                          <a16:colId xmlns:a16="http://schemas.microsoft.com/office/drawing/2014/main" xmlns="" val="174422886"/>
                        </a:ext>
                      </a:extLst>
                    </a:gridCol>
                  </a:tblGrid>
                  <a:tr h="57912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1,625,000</m:t>
                                </m:r>
                              </m:oMath>
                            </m:oMathPara>
                          </a14:m>
                          <a:endParaRPr lang="x-none" sz="2400">
                            <a:effectLst/>
                            <a:latin typeface="Verdana" pitchFamily="34" charset="0"/>
                            <a:ea typeface="Verdana" pitchFamily="34" charset="0"/>
                            <a:cs typeface="Cambria" panose="02040503050406030204" pitchFamily="18" charset="0"/>
                          </a:endParaRPr>
                        </a:p>
                      </a:txBody>
                      <a:tcPr marL="68580" marR="68580" marT="0" marB="0">
                        <a:lnL>
                          <a:noFill/>
                        </a:lnL>
                        <a:lnR>
                          <a:noFill/>
                        </a:lnR>
                        <a:lnT>
                          <a:noFill/>
                        </a:lnT>
                        <a:lnB>
                          <a:noFill/>
                        </a:lnB>
                      </a:tcPr>
                    </a:tc>
                    <a:tc>
                      <a:txBody>
                        <a:bodyPr/>
                        <a:lstStyle/>
                        <a:p>
                          <a:pPr marL="0" marR="0" algn="ctr">
                            <a:spcBef>
                              <a:spcPts val="0"/>
                            </a:spcBef>
                            <a:spcAft>
                              <a:spcPts val="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____ </a:t>
                          </a:r>
                          <a14:m>
                            <m:oMath xmlns:m="http://schemas.openxmlformats.org/officeDocument/2006/math">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PH" sz="2400" b="0" i="1" smtClean="0">
                                      <a:solidFill>
                                        <a:srgbClr val="000000"/>
                                      </a:solidFill>
                                      <a:effectLst/>
                                      <a:latin typeface="Cambria Math"/>
                                      <a:ea typeface="Cambria Math" panose="02040503050406030204" pitchFamily="18" charset="0"/>
                                      <a:cs typeface="Cambria Math" panose="02040503050406030204" pitchFamily="18" charset="0"/>
                                    </a:rPr>
                                    <m:t>  </m:t>
                                  </m:r>
                                </m:sup>
                              </m:sSup>
                            </m:oMath>
                          </a14:m>
                          <a:endParaRPr lang="x-none" sz="2400">
                            <a:effectLst/>
                            <a:latin typeface="Verdana" pitchFamily="34" charset="0"/>
                            <a:ea typeface="Verdana" pitchFamily="34"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xmlns="" val="379397798"/>
                      </a:ext>
                    </a:extLst>
                  </a:tr>
                  <a:tr h="558165">
                    <a:tc>
                      <a:txBody>
                        <a:bodyPr/>
                        <a:lstStyle/>
                        <a:p>
                          <a:pPr marL="0" marR="0" algn="ctr">
                            <a:spcBef>
                              <a:spcPts val="0"/>
                            </a:spcBef>
                            <a:spcAft>
                              <a:spcPts val="0"/>
                            </a:spcAft>
                          </a:pPr>
                          <a14:m>
                            <m:oMath xmlns:m="http://schemas.openxmlformats.org/officeDocument/2006/math">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2,750,000</m:t>
                              </m:r>
                            </m:oMath>
                          </a14:m>
                          <a:r>
                            <a:rPr lang="en-US" sz="24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400">
                            <a:effectLst/>
                            <a:latin typeface="Verdana" pitchFamily="34" charset="0"/>
                            <a:ea typeface="Verdana" pitchFamily="34" charset="0"/>
                            <a:cs typeface="Cambria" panose="02040503050406030204" pitchFamily="18" charset="0"/>
                          </a:endParaRPr>
                        </a:p>
                      </a:txBody>
                      <a:tcPr marL="68580" marR="68580" marT="0" marB="0">
                        <a:lnL>
                          <a:noFill/>
                        </a:lnL>
                        <a:lnR>
                          <a:noFill/>
                        </a:lnR>
                        <a:lnT>
                          <a:noFill/>
                        </a:lnT>
                        <a:lnB>
                          <a:noFill/>
                        </a:lnB>
                      </a:tcPr>
                    </a:tc>
                    <a:tc>
                      <a:txBody>
                        <a:bodyPr/>
                        <a:lstStyle/>
                        <a:p>
                          <a:pPr marL="0" marR="0" algn="ctr">
                            <a:spcBef>
                              <a:spcPts val="0"/>
                            </a:spcBef>
                            <a:spcAft>
                              <a:spcPts val="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____ </a:t>
                          </a:r>
                          <a14:m>
                            <m:oMath xmlns:m="http://schemas.openxmlformats.org/officeDocument/2006/math">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PH" sz="2400" b="0" i="1" smtClean="0">
                                      <a:solidFill>
                                        <a:srgbClr val="000000"/>
                                      </a:solidFill>
                                      <a:effectLst/>
                                      <a:latin typeface="Cambria Math"/>
                                      <a:ea typeface="Cambria Math" panose="02040503050406030204" pitchFamily="18" charset="0"/>
                                      <a:cs typeface="Cambria Math" panose="02040503050406030204" pitchFamily="18" charset="0"/>
                                    </a:rPr>
                                    <m:t>  </m:t>
                                  </m:r>
                                </m:sup>
                              </m:sSup>
                            </m:oMath>
                          </a14:m>
                          <a:endParaRPr lang="x-none" sz="2400" dirty="0">
                            <a:effectLst/>
                            <a:latin typeface="Verdana" pitchFamily="34" charset="0"/>
                            <a:ea typeface="Verdana" pitchFamily="34"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xmlns="" val="2286234857"/>
                      </a:ext>
                    </a:extLst>
                  </a:tr>
                </a:tbl>
              </a:graphicData>
            </a:graphic>
          </p:graphicFrame>
        </mc:Choice>
        <mc:Fallback xmlns="">
          <p:graphicFrame>
            <p:nvGraphicFramePr>
              <p:cNvPr id="3" name="Table 2">
                <a:extLst>
                  <a:ext uri="{FF2B5EF4-FFF2-40B4-BE49-F238E27FC236}">
                    <a16:creationId xmlns:a16="http://schemas.microsoft.com/office/drawing/2014/main" id="{B17E65F3-B4D8-9446-8F3B-83647E06E873}"/>
                  </a:ext>
                </a:extLst>
              </p:cNvPr>
              <p:cNvGraphicFramePr>
                <a:graphicFrameLocks noGrp="1"/>
              </p:cNvGraphicFramePr>
              <p:nvPr>
                <p:extLst>
                  <p:ext uri="{D42A27DB-BD31-4B8C-83A1-F6EECF244321}">
                    <p14:modId xmlns:p14="http://schemas.microsoft.com/office/powerpoint/2010/main" val="230299683"/>
                  </p:ext>
                </p:extLst>
              </p:nvPr>
            </p:nvGraphicFramePr>
            <p:xfrm>
              <a:off x="3036252" y="1542017"/>
              <a:ext cx="6119495" cy="1137285"/>
            </p:xfrm>
            <a:graphic>
              <a:graphicData uri="http://schemas.openxmlformats.org/drawingml/2006/table">
                <a:tbl>
                  <a:tblPr firstRow="1" firstCol="1" bandRow="1"/>
                  <a:tblGrid>
                    <a:gridCol w="3088640">
                      <a:extLst>
                        <a:ext uri="{9D8B030D-6E8A-4147-A177-3AD203B41FA5}">
                          <a16:colId xmlns:a16="http://schemas.microsoft.com/office/drawing/2014/main" val="85577005"/>
                        </a:ext>
                      </a:extLst>
                    </a:gridCol>
                    <a:gridCol w="3030855">
                      <a:extLst>
                        <a:ext uri="{9D8B030D-6E8A-4147-A177-3AD203B41FA5}">
                          <a16:colId xmlns:a16="http://schemas.microsoft.com/office/drawing/2014/main" val="174422886"/>
                        </a:ext>
                      </a:extLst>
                    </a:gridCol>
                  </a:tblGrid>
                  <a:tr h="579120">
                    <a:tc>
                      <a:txBody>
                        <a:bodyPr/>
                        <a:lstStyle/>
                        <a:p>
                          <a:endParaRPr lang="en-US"/>
                        </a:p>
                      </a:txBody>
                      <a:tcPr marL="68580" marR="68580" marT="0" marB="0">
                        <a:lnL>
                          <a:noFill/>
                        </a:lnL>
                        <a:lnR>
                          <a:noFill/>
                        </a:lnR>
                        <a:lnT>
                          <a:noFill/>
                        </a:lnT>
                        <a:lnB>
                          <a:noFill/>
                        </a:lnB>
                        <a:blipFill>
                          <a:blip r:embed="rId4"/>
                          <a:stretch>
                            <a:fillRect t="-17391" r="-98354" b="-97826"/>
                          </a:stretch>
                        </a:blipFill>
                      </a:tcPr>
                    </a:tc>
                    <a:tc>
                      <a:txBody>
                        <a:bodyPr/>
                        <a:lstStyle/>
                        <a:p>
                          <a:endParaRPr lang="en-US"/>
                        </a:p>
                      </a:txBody>
                      <a:tcPr marL="68580" marR="68580" marT="0" marB="0">
                        <a:lnL>
                          <a:noFill/>
                        </a:lnL>
                        <a:lnR>
                          <a:noFill/>
                        </a:lnR>
                        <a:lnT>
                          <a:noFill/>
                        </a:lnT>
                        <a:lnB>
                          <a:noFill/>
                        </a:lnB>
                        <a:blipFill>
                          <a:blip r:embed="rId4"/>
                          <a:stretch>
                            <a:fillRect l="-101674" t="-17391" b="-97826"/>
                          </a:stretch>
                        </a:blipFill>
                      </a:tcPr>
                    </a:tc>
                    <a:extLst>
                      <a:ext uri="{0D108BD9-81ED-4DB2-BD59-A6C34878D82A}">
                        <a16:rowId xmlns:a16="http://schemas.microsoft.com/office/drawing/2014/main" val="379397798"/>
                      </a:ext>
                    </a:extLst>
                  </a:tr>
                  <a:tr h="558165">
                    <a:tc>
                      <a:txBody>
                        <a:bodyPr/>
                        <a:lstStyle/>
                        <a:p>
                          <a:endParaRPr lang="en-US"/>
                        </a:p>
                      </a:txBody>
                      <a:tcPr marL="68580" marR="68580" marT="0" marB="0">
                        <a:lnL>
                          <a:noFill/>
                        </a:lnL>
                        <a:lnR>
                          <a:noFill/>
                        </a:lnR>
                        <a:lnT>
                          <a:noFill/>
                        </a:lnT>
                        <a:lnB>
                          <a:noFill/>
                        </a:lnB>
                        <a:blipFill>
                          <a:blip r:embed="rId4"/>
                          <a:stretch>
                            <a:fillRect t="-122727" r="-98354" b="-2273"/>
                          </a:stretch>
                        </a:blipFill>
                      </a:tcPr>
                    </a:tc>
                    <a:tc>
                      <a:txBody>
                        <a:bodyPr/>
                        <a:lstStyle/>
                        <a:p>
                          <a:endParaRPr lang="en-US"/>
                        </a:p>
                      </a:txBody>
                      <a:tcPr marL="68580" marR="68580" marT="0" marB="0">
                        <a:lnL>
                          <a:noFill/>
                        </a:lnL>
                        <a:lnR>
                          <a:noFill/>
                        </a:lnR>
                        <a:lnT>
                          <a:noFill/>
                        </a:lnT>
                        <a:lnB>
                          <a:noFill/>
                        </a:lnB>
                        <a:blipFill>
                          <a:blip r:embed="rId4"/>
                          <a:stretch>
                            <a:fillRect l="-101674" t="-122727" b="-2273"/>
                          </a:stretch>
                        </a:blipFill>
                      </a:tcPr>
                    </a:tc>
                    <a:extLst>
                      <a:ext uri="{0D108BD9-81ED-4DB2-BD59-A6C34878D82A}">
                        <a16:rowId xmlns:a16="http://schemas.microsoft.com/office/drawing/2014/main" val="2286234857"/>
                      </a:ext>
                    </a:extLst>
                  </a:tr>
                </a:tbl>
              </a:graphicData>
            </a:graphic>
          </p:graphicFrame>
        </mc:Fallback>
      </mc:AlternateContent>
      <p:sp>
        <p:nvSpPr>
          <p:cNvPr id="8" name="TextBox 7">
            <a:extLst>
              <a:ext uri="{FF2B5EF4-FFF2-40B4-BE49-F238E27FC236}">
                <a16:creationId xmlns:a16="http://schemas.microsoft.com/office/drawing/2014/main" xmlns="" id="{03E632B3-603E-7B4E-AA5E-801240C0ED62}"/>
              </a:ext>
            </a:extLst>
          </p:cNvPr>
          <p:cNvSpPr txBox="1"/>
          <p:nvPr/>
        </p:nvSpPr>
        <p:spPr>
          <a:xfrm>
            <a:off x="259790" y="3429000"/>
            <a:ext cx="11461610" cy="830997"/>
          </a:xfrm>
          <a:prstGeom prst="rect">
            <a:avLst/>
          </a:prstGeom>
          <a:noFill/>
        </p:spPr>
        <p:txBody>
          <a:bodyPr wrap="square" rtlCol="0">
            <a:spAutoFit/>
          </a:bodyPr>
          <a:lstStyle/>
          <a:p>
            <a:pPr marL="906463"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difference between the populations? Write your answer using scientific notation.</a:t>
            </a:r>
          </a:p>
        </p:txBody>
      </p:sp>
    </p:spTree>
    <p:extLst>
      <p:ext uri="{BB962C8B-B14F-4D97-AF65-F5344CB8AC3E}">
        <p14:creationId xmlns:p14="http://schemas.microsoft.com/office/powerpoint/2010/main" val="1727414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105</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xmlns="" id="{C8F82859-BA98-3646-BF3B-9E17E52A2E35}"/>
              </a:ext>
            </a:extLst>
          </p:cNvPr>
          <p:cNvSpPr txBox="1"/>
          <p:nvPr/>
        </p:nvSpPr>
        <p:spPr>
          <a:xfrm>
            <a:off x="511205" y="404169"/>
            <a:ext cx="11505203" cy="1200329"/>
          </a:xfrm>
          <a:prstGeom prst="rect">
            <a:avLst/>
          </a:prstGeom>
          <a:noFill/>
        </p:spPr>
        <p:txBody>
          <a:bodyPr wrap="square" rtlCol="0">
            <a:spAutoFit/>
          </a:bodyPr>
          <a:lstStyle/>
          <a:p>
            <a:pPr marL="457200"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Clare was wondering if adding and subtracting numbers in scientific notation would hold true for small numbers as well. The measurements in the table are from her science textbook.</a:t>
            </a: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xmlns="" id="{B8401BBB-C3C8-E544-801B-E654422464A1}"/>
                  </a:ext>
                </a:extLst>
              </p:cNvPr>
              <p:cNvGraphicFramePr>
                <a:graphicFrameLocks noGrp="1"/>
              </p:cNvGraphicFramePr>
              <p:nvPr>
                <p:extLst>
                  <p:ext uri="{D42A27DB-BD31-4B8C-83A1-F6EECF244321}">
                    <p14:modId xmlns:p14="http://schemas.microsoft.com/office/powerpoint/2010/main" val="2292954284"/>
                  </p:ext>
                </p:extLst>
              </p:nvPr>
            </p:nvGraphicFramePr>
            <p:xfrm>
              <a:off x="2496000" y="2032897"/>
              <a:ext cx="7200000" cy="2091600"/>
            </p:xfrm>
            <a:graphic>
              <a:graphicData uri="http://schemas.openxmlformats.org/drawingml/2006/table">
                <a:tbl>
                  <a:tblPr bandRow="1"/>
                  <a:tblGrid>
                    <a:gridCol w="4140000">
                      <a:extLst>
                        <a:ext uri="{9D8B030D-6E8A-4147-A177-3AD203B41FA5}">
                          <a16:colId xmlns:a16="http://schemas.microsoft.com/office/drawing/2014/main" xmlns="" val="694715549"/>
                        </a:ext>
                      </a:extLst>
                    </a:gridCol>
                    <a:gridCol w="3060000">
                      <a:extLst>
                        <a:ext uri="{9D8B030D-6E8A-4147-A177-3AD203B41FA5}">
                          <a16:colId xmlns:a16="http://schemas.microsoft.com/office/drawing/2014/main" xmlns="" val="1617617155"/>
                        </a:ext>
                      </a:extLst>
                    </a:gridCol>
                  </a:tblGrid>
                  <a:tr h="720000">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Item</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Measurement (centimeters)</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2015071907"/>
                      </a:ext>
                    </a:extLst>
                  </a:tr>
                  <a:tr h="457200">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Width of human hair strand</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Cambria Math" panose="02040503050406030204" pitchFamily="18" charset="0"/>
                                    <a:cs typeface="Cambria Math" panose="02040503050406030204" pitchFamily="18" charset="0"/>
                                  </a:rPr>
                                  <m:t>0</m:t>
                                </m:r>
                                <m:r>
                                  <a:rPr lang="en-US" sz="2000" i="1">
                                    <a:effectLst/>
                                    <a:latin typeface="Cambria Math" panose="02040503050406030204" pitchFamily="18" charset="0"/>
                                    <a:ea typeface="Cambria Math" panose="02040503050406030204" pitchFamily="18" charset="0"/>
                                    <a:cs typeface="Cambria Math" panose="02040503050406030204" pitchFamily="18" charset="0"/>
                                  </a:rPr>
                                  <m:t>.00108</m:t>
                                </m:r>
                              </m:oMath>
                            </m:oMathPara>
                          </a14:m>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43039866"/>
                      </a:ext>
                    </a:extLst>
                  </a:tr>
                  <a:tr h="457200">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Diameter of a grain of sand</a:t>
                          </a:r>
                          <a:endParaRPr lang="en-US" sz="2000" dirty="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0.00609</m:t>
                                </m:r>
                              </m:oMath>
                            </m:oMathPara>
                          </a14:m>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95752224"/>
                      </a:ext>
                    </a:extLst>
                  </a:tr>
                  <a:tr h="457200">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Length of a dust mite</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0.0136</m:t>
                                </m:r>
                              </m:oMath>
                            </m:oMathPara>
                          </a14:m>
                          <a:endParaRPr lang="x-none" sz="2000" dirty="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62737675"/>
                      </a:ext>
                    </a:extLst>
                  </a:tr>
                </a:tbl>
              </a:graphicData>
            </a:graphic>
          </p:graphicFrame>
        </mc:Choice>
        <mc:Fallback>
          <p:graphicFrame>
            <p:nvGraphicFramePr>
              <p:cNvPr id="4" name="Table 3">
                <a:extLst>
                  <a:ext uri="{FF2B5EF4-FFF2-40B4-BE49-F238E27FC236}">
                    <a16:creationId xmlns:a16="http://schemas.microsoft.com/office/drawing/2014/main" xmlns:a14="http://schemas.microsoft.com/office/drawing/2010/main" xmlns="" id="{B8401BBB-C3C8-E544-801B-E654422464A1}"/>
                  </a:ext>
                </a:extLst>
              </p:cNvPr>
              <p:cNvGraphicFramePr>
                <a:graphicFrameLocks noGrp="1"/>
              </p:cNvGraphicFramePr>
              <p:nvPr>
                <p:extLst>
                  <p:ext uri="{D42A27DB-BD31-4B8C-83A1-F6EECF244321}">
                    <p14:modId xmlns:p14="http://schemas.microsoft.com/office/powerpoint/2010/main" val="2292954284"/>
                  </p:ext>
                </p:extLst>
              </p:nvPr>
            </p:nvGraphicFramePr>
            <p:xfrm>
              <a:off x="2496000" y="2032897"/>
              <a:ext cx="7200000" cy="2091600"/>
            </p:xfrm>
            <a:graphic>
              <a:graphicData uri="http://schemas.openxmlformats.org/drawingml/2006/table">
                <a:tbl>
                  <a:tblPr bandRow="1"/>
                  <a:tblGrid>
                    <a:gridCol w="4140000">
                      <a:extLst>
                        <a:ext uri="{9D8B030D-6E8A-4147-A177-3AD203B41FA5}">
                          <a16:colId xmlns:a16="http://schemas.microsoft.com/office/drawing/2014/main" xmlns:a14="http://schemas.microsoft.com/office/drawing/2010/main" xmlns="" val="694715549"/>
                        </a:ext>
                      </a:extLst>
                    </a:gridCol>
                    <a:gridCol w="3060000">
                      <a:extLst>
                        <a:ext uri="{9D8B030D-6E8A-4147-A177-3AD203B41FA5}">
                          <a16:colId xmlns:a16="http://schemas.microsoft.com/office/drawing/2014/main" xmlns:a14="http://schemas.microsoft.com/office/drawing/2010/main" xmlns="" val="1617617155"/>
                        </a:ext>
                      </a:extLst>
                    </a:gridCol>
                  </a:tblGrid>
                  <a:tr h="720000">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Item</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Measurement (centimeters)</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2015071907"/>
                      </a:ext>
                    </a:extLst>
                  </a:tr>
                  <a:tr h="457200">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Width of human hair strand</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35458" t="-159211" b="-214474"/>
                          </a:stretch>
                        </a:blipFill>
                      </a:tcPr>
                    </a:tc>
                    <a:extLst>
                      <a:ext uri="{0D108BD9-81ED-4DB2-BD59-A6C34878D82A}">
                        <a16:rowId xmlns:a16="http://schemas.microsoft.com/office/drawing/2014/main" xmlns:a14="http://schemas.microsoft.com/office/drawing/2010/main" xmlns="" val="4243039866"/>
                      </a:ext>
                    </a:extLst>
                  </a:tr>
                  <a:tr h="457200">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Diameter of a grain of sand</a:t>
                          </a:r>
                          <a:endParaRPr lang="en-US" sz="2000" dirty="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35458" t="-262667" b="-117333"/>
                          </a:stretch>
                        </a:blipFill>
                      </a:tcPr>
                    </a:tc>
                    <a:extLst>
                      <a:ext uri="{0D108BD9-81ED-4DB2-BD59-A6C34878D82A}">
                        <a16:rowId xmlns:a16="http://schemas.microsoft.com/office/drawing/2014/main" xmlns:a14="http://schemas.microsoft.com/office/drawing/2010/main" xmlns="" val="2695752224"/>
                      </a:ext>
                    </a:extLst>
                  </a:tr>
                  <a:tr h="457200">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Length of a dust mite</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35458" t="-362667" b="-17333"/>
                          </a:stretch>
                        </a:blipFill>
                      </a:tcPr>
                    </a:tc>
                    <a:extLst>
                      <a:ext uri="{0D108BD9-81ED-4DB2-BD59-A6C34878D82A}">
                        <a16:rowId xmlns:a16="http://schemas.microsoft.com/office/drawing/2014/main" xmlns:a14="http://schemas.microsoft.com/office/drawing/2010/main" xmlns="" val="3562737675"/>
                      </a:ext>
                    </a:extLst>
                  </a:tr>
                </a:tbl>
              </a:graphicData>
            </a:graphic>
          </p:graphicFrame>
        </mc:Fallback>
      </mc:AlternateContent>
    </p:spTree>
    <p:extLst>
      <p:ext uri="{BB962C8B-B14F-4D97-AF65-F5344CB8AC3E}">
        <p14:creationId xmlns:p14="http://schemas.microsoft.com/office/powerpoint/2010/main" val="9484011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C8F82859-BA98-3646-BF3B-9E17E52A2E35}"/>
                  </a:ext>
                </a:extLst>
              </p:cNvPr>
              <p:cNvSpPr txBox="1"/>
              <p:nvPr/>
            </p:nvSpPr>
            <p:spPr>
              <a:xfrm>
                <a:off x="223199" y="514822"/>
                <a:ext cx="11654061" cy="3785652"/>
              </a:xfrm>
              <a:prstGeom prst="rect">
                <a:avLst/>
              </a:prstGeom>
              <a:noFill/>
            </p:spPr>
            <p:txBody>
              <a:bodyPr wrap="square" rtlCol="0">
                <a:spAutoFit/>
              </a:bodyPr>
              <a:lstStyle/>
              <a:p>
                <a:pPr marL="906463"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check Clare’s work by writing each number in standard form, then confirm the solution.</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03288"/>
                <a:r>
                  <a:rPr lang="en-US" sz="2400" dirty="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(1.08 × </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r>
                      <a:rPr lang="en-US" sz="2400" i="1" dirty="0">
                        <a:latin typeface="Cambria Math" panose="02040503050406030204" pitchFamily="18" charset="0"/>
                        <a:ea typeface="Verdana" panose="020B0604030504040204" pitchFamily="34" charset="0"/>
                        <a:cs typeface="Verdana" panose="020B0604030504040204" pitchFamily="34" charset="0"/>
                      </a:rPr>
                      <m:t>)+ (6.09 ×</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r>
                      <a:rPr lang="en-US" sz="2400" i="1" dirty="0">
                        <a:latin typeface="Cambria Math" panose="02040503050406030204" pitchFamily="18" charset="0"/>
                        <a:ea typeface="Verdana" panose="020B0604030504040204" pitchFamily="34" charset="0"/>
                        <a:cs typeface="Verdana" panose="020B0604030504040204" pitchFamily="34" charset="0"/>
                      </a:rPr>
                      <m:t>)= (7.17 ×</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r>
                      <a:rPr lang="en-US" sz="2400" i="1" dirty="0">
                        <a:latin typeface="Cambria Math" panose="02040503050406030204" pitchFamily="18" charset="0"/>
                        <a:ea typeface="Verdana" panose="020B0604030504040204" pitchFamily="34" charset="0"/>
                        <a:cs typeface="Verdana" panose="020B0604030504040204" pitchFamily="34" charset="0"/>
                      </a:rPr>
                      <m:t>)</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difference between the length of a dust mite and the width of a human hair strand.</a:t>
                </a:r>
              </a:p>
            </p:txBody>
          </p:sp>
        </mc:Choice>
        <mc:Fallback xmlns="">
          <p:sp>
            <p:nvSpPr>
              <p:cNvPr id="6" name="TextBox 5">
                <a:extLst>
                  <a:ext uri="{FF2B5EF4-FFF2-40B4-BE49-F238E27FC236}">
                    <a16:creationId xmlns:a16="http://schemas.microsoft.com/office/drawing/2014/main" id="{C8F82859-BA98-3646-BF3B-9E17E52A2E35}"/>
                  </a:ext>
                </a:extLst>
              </p:cNvPr>
              <p:cNvSpPr txBox="1">
                <a:spLocks noRot="1" noChangeAspect="1" noMove="1" noResize="1" noEditPoints="1" noAdjustHandles="1" noChangeArrowheads="1" noChangeShapeType="1" noTextEdit="1"/>
              </p:cNvSpPr>
              <p:nvPr/>
            </p:nvSpPr>
            <p:spPr>
              <a:xfrm>
                <a:off x="223199" y="514822"/>
                <a:ext cx="11654061" cy="3785652"/>
              </a:xfrm>
              <a:prstGeom prst="rect">
                <a:avLst/>
              </a:prstGeom>
              <a:blipFill>
                <a:blip r:embed="rId4"/>
                <a:stretch>
                  <a:fillRect t="-1338" r="-544" b="-3010"/>
                </a:stretch>
              </a:blipFill>
            </p:spPr>
            <p:txBody>
              <a:bodyPr/>
              <a:lstStyle/>
              <a:p>
                <a:r>
                  <a:rPr lang="en-US">
                    <a:noFill/>
                  </a:rPr>
                  <a:t> </a:t>
                </a:r>
              </a:p>
            </p:txBody>
          </p:sp>
        </mc:Fallback>
      </mc:AlternateContent>
    </p:spTree>
    <p:extLst>
      <p:ext uri="{BB962C8B-B14F-4D97-AF65-F5344CB8AC3E}">
        <p14:creationId xmlns:p14="http://schemas.microsoft.com/office/powerpoint/2010/main" val="4162229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105</a:t>
            </a:r>
            <a:endParaRPr i="1" dirty="0">
              <a:latin typeface="Calibri"/>
              <a:ea typeface="Calibri"/>
              <a:cs typeface="Calibri"/>
              <a:sym typeface="Calibri"/>
            </a:endParaRPr>
          </a:p>
        </p:txBody>
      </p:sp>
      <p:sp>
        <p:nvSpPr>
          <p:cNvPr id="7" name="Google Shape;313;g104476d1465_1_39"/>
          <p:cNvSpPr txBox="1">
            <a:spLocks/>
          </p:cNvSpPr>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Practice</a:t>
            </a:r>
            <a:endParaRPr lang="en-US" sz="5100" b="1" dirty="0">
              <a:solidFill>
                <a:srgbClr val="54B5D1"/>
              </a:solidFill>
              <a:latin typeface="Verdana"/>
              <a:ea typeface="Verdana"/>
              <a:cs typeface="Verdana"/>
              <a:sym typeface="Verdana"/>
            </a:endParaRPr>
          </a:p>
        </p:txBody>
      </p:sp>
      <p:pic>
        <p:nvPicPr>
          <p:cNvPr id="10"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4323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105</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xmlns="" id="{FE208A00-51E7-C544-ABDE-AE9DC3DAAB4C}"/>
              </a:ext>
            </a:extLst>
          </p:cNvPr>
          <p:cNvSpPr>
            <a:spLocks noChangeArrowheads="1"/>
          </p:cNvSpPr>
          <p:nvPr/>
        </p:nvSpPr>
        <p:spPr bwMode="auto">
          <a:xfrm>
            <a:off x="730332" y="1622260"/>
            <a:ext cx="78018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Fill in the blanks to find the difference.</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309FCA44-55CB-7246-8D66-EEB88330C64E}"/>
                  </a:ext>
                </a:extLst>
              </p:cNvPr>
              <p:cNvGraphicFramePr>
                <a:graphicFrameLocks noGrp="1"/>
              </p:cNvGraphicFramePr>
              <p:nvPr>
                <p:extLst>
                  <p:ext uri="{D42A27DB-BD31-4B8C-83A1-F6EECF244321}">
                    <p14:modId xmlns:p14="http://schemas.microsoft.com/office/powerpoint/2010/main" val="721468161"/>
                  </p:ext>
                </p:extLst>
              </p:nvPr>
            </p:nvGraphicFramePr>
            <p:xfrm>
              <a:off x="2636837" y="2464069"/>
              <a:ext cx="6918325" cy="1921510"/>
            </p:xfrm>
            <a:graphic>
              <a:graphicData uri="http://schemas.openxmlformats.org/drawingml/2006/table">
                <a:tbl>
                  <a:tblPr firstRow="1" firstCol="1" bandRow="1"/>
                  <a:tblGrid>
                    <a:gridCol w="6918325">
                      <a:extLst>
                        <a:ext uri="{9D8B030D-6E8A-4147-A177-3AD203B41FA5}">
                          <a16:colId xmlns:a16="http://schemas.microsoft.com/office/drawing/2014/main" xmlns="" val="487505243"/>
                        </a:ext>
                      </a:extLst>
                    </a:gridCol>
                  </a:tblGrid>
                  <a:tr h="4800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d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3.8 </m:t>
                                    </m:r>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sup>
                                    </m:sSup>
                                  </m:e>
                                </m:d>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d>
                                  <m:d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d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8.1 </m:t>
                                    </m:r>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7</m:t>
                                        </m:r>
                                      </m:sup>
                                    </m:sSup>
                                  </m:e>
                                </m:d>
                              </m:oMath>
                            </m:oMathPara>
                          </a14:m>
                          <a:endParaRPr lang="x-none" sz="2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xmlns="" val="1396977049"/>
                      </a:ext>
                    </a:extLst>
                  </a:tr>
                  <a:tr h="46228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d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_______ </m:t>
                                    </m:r>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7</m:t>
                                        </m:r>
                                      </m:sup>
                                    </m:sSup>
                                  </m:e>
                                </m:d>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m:t>
                                </m:r>
                                <m:d>
                                  <m:d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d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8.1 </m:t>
                                    </m:r>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7</m:t>
                                        </m:r>
                                      </m:sup>
                                    </m:sSup>
                                  </m:e>
                                </m:d>
                              </m:oMath>
                            </m:oMathPara>
                          </a14:m>
                          <a:endParaRPr lang="x-none" sz="2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xmlns="" val="2049380448"/>
                      </a:ext>
                    </a:extLst>
                  </a:tr>
                  <a:tr h="51689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_______ </m:t>
                                </m:r>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7</m:t>
                                    </m:r>
                                  </m:sup>
                                </m:sSup>
                              </m:oMath>
                            </m:oMathPara>
                          </a14:m>
                          <a:endParaRPr lang="x-none" sz="2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xmlns="" val="271247962"/>
                      </a:ext>
                    </a:extLst>
                  </a:tr>
                  <a:tr h="46228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_______</m:t>
                                </m:r>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 </m:t>
                                </m:r>
                                <m:sSup>
                                  <m:sSupPr>
                                    <m:ctrlPr>
                                      <a:rPr lang="x-none" sz="24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4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sup>
                                </m:sSup>
                              </m:oMath>
                            </m:oMathPara>
                          </a14:m>
                          <a:endParaRPr lang="x-none" sz="24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xmlns="" val="4060472435"/>
                      </a:ext>
                    </a:extLst>
                  </a:tr>
                </a:tbl>
              </a:graphicData>
            </a:graphic>
          </p:graphicFrame>
        </mc:Choice>
        <mc:Fallback xmlns="">
          <p:graphicFrame>
            <p:nvGraphicFramePr>
              <p:cNvPr id="5" name="Table 4">
                <a:extLst>
                  <a:ext uri="{FF2B5EF4-FFF2-40B4-BE49-F238E27FC236}">
                    <a16:creationId xmlns:a16="http://schemas.microsoft.com/office/drawing/2014/main" id="{309FCA44-55CB-7246-8D66-EEB88330C64E}"/>
                  </a:ext>
                </a:extLst>
              </p:cNvPr>
              <p:cNvGraphicFramePr>
                <a:graphicFrameLocks noGrp="1"/>
              </p:cNvGraphicFramePr>
              <p:nvPr>
                <p:extLst>
                  <p:ext uri="{D42A27DB-BD31-4B8C-83A1-F6EECF244321}">
                    <p14:modId xmlns:p14="http://schemas.microsoft.com/office/powerpoint/2010/main" val="721468161"/>
                  </p:ext>
                </p:extLst>
              </p:nvPr>
            </p:nvGraphicFramePr>
            <p:xfrm>
              <a:off x="2636837" y="2464069"/>
              <a:ext cx="6918325" cy="1921510"/>
            </p:xfrm>
            <a:graphic>
              <a:graphicData uri="http://schemas.openxmlformats.org/drawingml/2006/table">
                <a:tbl>
                  <a:tblPr firstRow="1" firstCol="1" bandRow="1"/>
                  <a:tblGrid>
                    <a:gridCol w="6918325">
                      <a:extLst>
                        <a:ext uri="{9D8B030D-6E8A-4147-A177-3AD203B41FA5}">
                          <a16:colId xmlns:a16="http://schemas.microsoft.com/office/drawing/2014/main" val="487505243"/>
                        </a:ext>
                      </a:extLst>
                    </a:gridCol>
                  </a:tblGrid>
                  <a:tr h="480060">
                    <a:tc>
                      <a:txBody>
                        <a:bodyPr/>
                        <a:lstStyle/>
                        <a:p>
                          <a:endParaRPr lang="en-US"/>
                        </a:p>
                      </a:txBody>
                      <a:tcPr marL="68580" marR="68580" marT="0" marB="0">
                        <a:lnL>
                          <a:noFill/>
                        </a:lnL>
                        <a:lnR>
                          <a:noFill/>
                        </a:lnR>
                        <a:lnT>
                          <a:noFill/>
                        </a:lnT>
                        <a:lnB>
                          <a:noFill/>
                        </a:lnB>
                        <a:blipFill>
                          <a:blip r:embed="rId5"/>
                          <a:stretch>
                            <a:fillRect t="-5263" b="-310526"/>
                          </a:stretch>
                        </a:blipFill>
                      </a:tcPr>
                    </a:tc>
                    <a:extLst>
                      <a:ext uri="{0D108BD9-81ED-4DB2-BD59-A6C34878D82A}">
                        <a16:rowId xmlns:a16="http://schemas.microsoft.com/office/drawing/2014/main" val="1396977049"/>
                      </a:ext>
                    </a:extLst>
                  </a:tr>
                  <a:tr h="462280">
                    <a:tc>
                      <a:txBody>
                        <a:bodyPr/>
                        <a:lstStyle/>
                        <a:p>
                          <a:endParaRPr lang="en-US"/>
                        </a:p>
                      </a:txBody>
                      <a:tcPr marL="68580" marR="68580" marT="0" marB="0">
                        <a:lnL>
                          <a:noFill/>
                        </a:lnL>
                        <a:lnR>
                          <a:noFill/>
                        </a:lnR>
                        <a:lnT>
                          <a:noFill/>
                        </a:lnT>
                        <a:lnB>
                          <a:noFill/>
                        </a:lnB>
                        <a:blipFill>
                          <a:blip r:embed="rId5"/>
                          <a:stretch>
                            <a:fillRect t="-108108" b="-218919"/>
                          </a:stretch>
                        </a:blipFill>
                      </a:tcPr>
                    </a:tc>
                    <a:extLst>
                      <a:ext uri="{0D108BD9-81ED-4DB2-BD59-A6C34878D82A}">
                        <a16:rowId xmlns:a16="http://schemas.microsoft.com/office/drawing/2014/main" val="2049380448"/>
                      </a:ext>
                    </a:extLst>
                  </a:tr>
                  <a:tr h="516890">
                    <a:tc>
                      <a:txBody>
                        <a:bodyPr/>
                        <a:lstStyle/>
                        <a:p>
                          <a:endParaRPr lang="en-US"/>
                        </a:p>
                      </a:txBody>
                      <a:tcPr marL="68580" marR="68580" marT="0" marB="0">
                        <a:lnL>
                          <a:noFill/>
                        </a:lnL>
                        <a:lnR>
                          <a:noFill/>
                        </a:lnR>
                        <a:lnT>
                          <a:noFill/>
                        </a:lnT>
                        <a:lnB>
                          <a:noFill/>
                        </a:lnB>
                        <a:blipFill>
                          <a:blip r:embed="rId5"/>
                          <a:stretch>
                            <a:fillRect t="-192500" b="-102500"/>
                          </a:stretch>
                        </a:blipFill>
                      </a:tcPr>
                    </a:tc>
                    <a:extLst>
                      <a:ext uri="{0D108BD9-81ED-4DB2-BD59-A6C34878D82A}">
                        <a16:rowId xmlns:a16="http://schemas.microsoft.com/office/drawing/2014/main" val="271247962"/>
                      </a:ext>
                    </a:extLst>
                  </a:tr>
                  <a:tr h="462280">
                    <a:tc>
                      <a:txBody>
                        <a:bodyPr/>
                        <a:lstStyle/>
                        <a:p>
                          <a:endParaRPr lang="en-US"/>
                        </a:p>
                      </a:txBody>
                      <a:tcPr marL="68580" marR="68580" marT="0" marB="0">
                        <a:lnL>
                          <a:noFill/>
                        </a:lnL>
                        <a:lnR>
                          <a:noFill/>
                        </a:lnR>
                        <a:lnT>
                          <a:noFill/>
                        </a:lnT>
                        <a:lnB>
                          <a:noFill/>
                        </a:lnB>
                        <a:blipFill>
                          <a:blip r:embed="rId5"/>
                          <a:stretch>
                            <a:fillRect t="-316216" b="-10811"/>
                          </a:stretch>
                        </a:blipFill>
                      </a:tcPr>
                    </a:tc>
                    <a:extLst>
                      <a:ext uri="{0D108BD9-81ED-4DB2-BD59-A6C34878D82A}">
                        <a16:rowId xmlns:a16="http://schemas.microsoft.com/office/drawing/2014/main" val="4060472435"/>
                      </a:ext>
                    </a:extLst>
                  </a:tr>
                </a:tbl>
              </a:graphicData>
            </a:graphic>
          </p:graphicFrame>
        </mc:Fallback>
      </mc:AlternateContent>
      <p:sp>
        <p:nvSpPr>
          <p:cNvPr id="9"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49" y="225194"/>
            <a:ext cx="10759859"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3.5.4 Guided Practice: Adding and Subtracting Numbers Written in Scientific Notation</a:t>
            </a:r>
            <a:endParaRPr lang="en-US" sz="3200" b="1" dirty="0">
              <a:solidFill>
                <a:srgbClr val="54B5D1"/>
              </a:solidFill>
              <a:latin typeface="Verdana"/>
              <a:ea typeface="Verdana"/>
              <a:cs typeface="Verdana"/>
              <a:sym typeface="Verdana"/>
            </a:endParaRPr>
          </a:p>
        </p:txBody>
      </p:sp>
      <p:pic>
        <p:nvPicPr>
          <p:cNvPr id="11"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02842" y="33963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674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xmlns="" id="{5C5D1B9F-A752-AD42-8D60-9B883A2514E7}"/>
                  </a:ext>
                </a:extLst>
              </p:cNvPr>
              <p:cNvSpPr>
                <a:spLocks noChangeArrowheads="1"/>
              </p:cNvSpPr>
              <p:nvPr/>
            </p:nvSpPr>
            <p:spPr bwMode="auto">
              <a:xfrm>
                <a:off x="829851" y="617157"/>
                <a:ext cx="11047409" cy="452431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Find the difference. Write your answer using scientific notation.</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1.574 × </m:t>
                      </m:r>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11</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− 32.2 ×</m:t>
                      </m:r>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9</m:t>
                          </m:r>
                        </m:sup>
                      </m:sSup>
                    </m:oMath>
                  </m:oMathPara>
                </a14:m>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Find the sum. Write your answer using scientific notation.</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2.37 ×</m:t>
                      </m:r>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32</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+14.29×</m:t>
                      </m:r>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34</m:t>
                          </m:r>
                        </m:sup>
                      </m:sSup>
                    </m:oMath>
                  </m:oMathPara>
                </a14:m>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6" name="Rectangle 5">
                <a:extLst>
                  <a:ext uri="{FF2B5EF4-FFF2-40B4-BE49-F238E27FC236}">
                    <a16:creationId xmlns:a16="http://schemas.microsoft.com/office/drawing/2014/main" id="{5C5D1B9F-A752-AD42-8D60-9B883A2514E7}"/>
                  </a:ext>
                </a:extLst>
              </p:cNvPr>
              <p:cNvSpPr>
                <a:spLocks noRot="1" noChangeAspect="1" noMove="1" noResize="1" noEditPoints="1" noAdjustHandles="1" noChangeArrowheads="1" noChangeShapeType="1" noTextEdit="1"/>
              </p:cNvSpPr>
              <p:nvPr/>
            </p:nvSpPr>
            <p:spPr bwMode="auto">
              <a:xfrm>
                <a:off x="829851" y="617157"/>
                <a:ext cx="11047409" cy="4524315"/>
              </a:xfrm>
              <a:prstGeom prst="rect">
                <a:avLst/>
              </a:prstGeom>
              <a:blipFill>
                <a:blip r:embed="rId4"/>
                <a:stretch>
                  <a:fillRect l="-918" t="-112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238106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106</a:t>
            </a:r>
            <a:endParaRPr i="1" dirty="0">
              <a:latin typeface="Calibri"/>
              <a:ea typeface="Calibri"/>
              <a:cs typeface="Calibri"/>
              <a:sym typeface="Calibri"/>
            </a:endParaRPr>
          </a:p>
        </p:txBody>
      </p:sp>
      <p:sp>
        <p:nvSpPr>
          <p:cNvPr id="9" name="Google Shape;313;g104476d1465_1_39"/>
          <p:cNvSpPr txBox="1">
            <a:spLocks/>
          </p:cNvSpPr>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3BEA6"/>
                </a:solidFill>
                <a:latin typeface="Verdana"/>
                <a:ea typeface="Verdana"/>
                <a:cs typeface="Verdana"/>
                <a:sym typeface="Verdana"/>
              </a:rPr>
              <a:t>Try It</a:t>
            </a:r>
            <a:endParaRPr lang="en-US" sz="5100" b="1" dirty="0">
              <a:solidFill>
                <a:srgbClr val="33BEA6"/>
              </a:solidFill>
              <a:latin typeface="Verdana"/>
              <a:ea typeface="Verdana"/>
              <a:cs typeface="Verdana"/>
              <a:sym typeface="Verdana"/>
            </a:endParaRPr>
          </a:p>
        </p:txBody>
      </p:sp>
      <p:pic>
        <p:nvPicPr>
          <p:cNvPr id="10" name="Picture 2">
            <a:extLst>
              <a:ext uri="{FF2B5EF4-FFF2-40B4-BE49-F238E27FC236}">
                <a16:creationId xmlns=""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9976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xmlns="" id="{B46B19A2-BBA2-0441-AC88-F1F62E75949B}"/>
                  </a:ext>
                </a:extLst>
              </p:cNvPr>
              <p:cNvSpPr txBox="1"/>
              <p:nvPr/>
            </p:nvSpPr>
            <p:spPr>
              <a:xfrm>
                <a:off x="731522" y="1466122"/>
                <a:ext cx="10857504" cy="3046988"/>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Add or subtract. Write your answers in scientific notation.</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363538" indent="-363538">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5.3×</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4</m:t>
                        </m:r>
                      </m:sup>
                    </m:sSup>
                    <m:r>
                      <a:rPr lang="en-US" sz="2400" i="1" dirty="0">
                        <a:latin typeface="Cambria Math" panose="02040503050406030204" pitchFamily="18" charset="0"/>
                        <a:ea typeface="Verdana" panose="020B0604030504040204" pitchFamily="34" charset="0"/>
                        <a:cs typeface="Verdana" panose="020B0604030504040204" pitchFamily="34" charset="0"/>
                      </a:rPr>
                      <m:t>+4.7×</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4</m:t>
                        </m:r>
                      </m:sup>
                    </m:sSup>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63538" indent="-363538">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3.7×</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6</m:t>
                        </m:r>
                      </m:sup>
                    </m:sSup>
                    <m:r>
                      <a:rPr lang="en-US" sz="2400" i="1" dirty="0">
                        <a:latin typeface="Cambria Math" panose="02040503050406030204" pitchFamily="18" charset="0"/>
                        <a:ea typeface="Verdana" panose="020B0604030504040204" pitchFamily="34" charset="0"/>
                        <a:cs typeface="Verdana" panose="020B0604030504040204" pitchFamily="34" charset="0"/>
                      </a:rPr>
                      <m:t>−3.3×</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6</m:t>
                        </m:r>
                      </m:sup>
                    </m:sSup>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1" name="TextBox 10">
                <a:extLst>
                  <a:ext uri="{FF2B5EF4-FFF2-40B4-BE49-F238E27FC236}">
                    <a16:creationId xmlns:a16="http://schemas.microsoft.com/office/drawing/2014/main" id="{B46B19A2-BBA2-0441-AC88-F1F62E75949B}"/>
                  </a:ext>
                </a:extLst>
              </p:cNvPr>
              <p:cNvSpPr txBox="1">
                <a:spLocks noRot="1" noChangeAspect="1" noMove="1" noResize="1" noEditPoints="1" noAdjustHandles="1" noChangeArrowheads="1" noChangeShapeType="1" noTextEdit="1"/>
              </p:cNvSpPr>
              <p:nvPr/>
            </p:nvSpPr>
            <p:spPr>
              <a:xfrm>
                <a:off x="731522" y="1466122"/>
                <a:ext cx="10857504" cy="3046988"/>
              </a:xfrm>
              <a:prstGeom prst="rect">
                <a:avLst/>
              </a:prstGeom>
              <a:blipFill>
                <a:blip r:embed="rId4"/>
                <a:stretch>
                  <a:fillRect l="-935" t="-1660" b="-3320"/>
                </a:stretch>
              </a:blipFill>
            </p:spPr>
            <p:txBody>
              <a:bodyPr/>
              <a:lstStyle/>
              <a:p>
                <a:r>
                  <a:rPr lang="en-US">
                    <a:noFill/>
                  </a:rPr>
                  <a:t> </a:t>
                </a:r>
              </a:p>
            </p:txBody>
          </p:sp>
        </mc:Fallback>
      </mc:AlternateContent>
      <p:sp>
        <p:nvSpPr>
          <p:cNvPr id="10" name="Google Shape;324;g103996e1364_0_25">
            <a:extLst>
              <a:ext uri="{FF2B5EF4-FFF2-40B4-BE49-F238E27FC236}">
                <a16:creationId xmlns="" xmlns:a16="http://schemas.microsoft.com/office/drawing/2014/main" xmlns:a14="http://schemas.microsoft.com/office/drawing/2010/main" xmlns:mc="http://schemas.openxmlformats.org/markup-compatibility/2006" id="{DB5796CA-12EB-BB4C-8338-B127D750A026}"/>
              </a:ext>
            </a:extLst>
          </p:cNvPr>
          <p:cNvSpPr txBox="1">
            <a:spLocks/>
          </p:cNvSpPr>
          <p:nvPr/>
        </p:nvSpPr>
        <p:spPr>
          <a:xfrm>
            <a:off x="1052649" y="228797"/>
            <a:ext cx="10343231" cy="988756"/>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3.5.5 Try It: Adding and Subtracting Numbers Written in Scientific Notation</a:t>
            </a:r>
            <a:endParaRPr lang="en-US" sz="3200" b="1" dirty="0">
              <a:solidFill>
                <a:srgbClr val="33BEA6"/>
              </a:solidFill>
              <a:latin typeface="Verdana"/>
              <a:ea typeface="Verdana"/>
              <a:cs typeface="Verdana"/>
              <a:sym typeface="Verdana"/>
            </a:endParaRPr>
          </a:p>
        </p:txBody>
      </p:sp>
      <p:pic>
        <p:nvPicPr>
          <p:cNvPr id="12" name="Picture 2">
            <a:extLst>
              <a:ext uri="{FF2B5EF4-FFF2-40B4-BE49-F238E27FC236}">
                <a16:creationId xmlns="" xmlns:a16="http://schemas.microsoft.com/office/drawing/2014/main" id="{E0B7508E-1910-D441-91B6-6EA6022F20CC}"/>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3189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8732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4B71B7AA-10E7-9B44-A591-563821260A41}"/>
                  </a:ext>
                </a:extLst>
              </p:cNvPr>
              <p:cNvSpPr txBox="1"/>
              <p:nvPr/>
            </p:nvSpPr>
            <p:spPr>
              <a:xfrm>
                <a:off x="743448" y="595533"/>
                <a:ext cx="7888302" cy="3505511"/>
              </a:xfrm>
              <a:prstGeom prst="rect">
                <a:avLst/>
              </a:prstGeom>
              <a:noFill/>
            </p:spPr>
            <p:txBody>
              <a:bodyPr wrap="square" rtlCol="0">
                <a:spAutoFit/>
              </a:bodyPr>
              <a:lstStyle/>
              <a:p>
                <a:pPr marL="363538" indent="-363538">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4.8×</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r>
                      <a:rPr lang="en-US" sz="2400" i="1" dirty="0">
                        <a:latin typeface="Cambria Math" panose="02040503050406030204" pitchFamily="18" charset="0"/>
                        <a:ea typeface="Verdana" panose="020B0604030504040204" pitchFamily="34" charset="0"/>
                        <a:cs typeface="Verdana" panose="020B0604030504040204" pitchFamily="34" charset="0"/>
                      </a:rPr>
                      <m:t>+6.3×</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363538" indent="-363538">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63538" indent="-363538">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63538" indent="-363538">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63538" indent="-363538">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63538" indent="-363538">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63538" indent="-363538">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63538" indent="-363538">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63538" indent="-363538">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6.6×</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−5</m:t>
                        </m:r>
                      </m:sup>
                    </m:sSup>
                    <m:r>
                      <a:rPr lang="en-US" sz="2400" i="1" dirty="0">
                        <a:latin typeface="Cambria Math" panose="02040503050406030204" pitchFamily="18" charset="0"/>
                        <a:ea typeface="Verdana" panose="020B0604030504040204" pitchFamily="34" charset="0"/>
                        <a:cs typeface="Verdana" panose="020B0604030504040204" pitchFamily="34" charset="0"/>
                      </a:rPr>
                      <m:t>−6.1×</m:t>
                    </m:r>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−5</m:t>
                        </m:r>
                      </m:sup>
                    </m:sSup>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6" name="TextBox 5">
                <a:extLst>
                  <a:ext uri="{FF2B5EF4-FFF2-40B4-BE49-F238E27FC236}">
                    <a16:creationId xmlns:a16="http://schemas.microsoft.com/office/drawing/2014/main" id="{4B71B7AA-10E7-9B44-A591-563821260A41}"/>
                  </a:ext>
                </a:extLst>
              </p:cNvPr>
              <p:cNvSpPr txBox="1">
                <a:spLocks noRot="1" noChangeAspect="1" noMove="1" noResize="1" noEditPoints="1" noAdjustHandles="1" noChangeArrowheads="1" noChangeShapeType="1" noTextEdit="1"/>
              </p:cNvSpPr>
              <p:nvPr/>
            </p:nvSpPr>
            <p:spPr>
              <a:xfrm>
                <a:off x="743448" y="595533"/>
                <a:ext cx="7888302" cy="3505511"/>
              </a:xfrm>
              <a:prstGeom prst="rect">
                <a:avLst/>
              </a:prstGeom>
              <a:blipFill>
                <a:blip r:embed="rId4"/>
                <a:stretch>
                  <a:fillRect l="-1286" t="-1444"/>
                </a:stretch>
              </a:blipFill>
            </p:spPr>
            <p:txBody>
              <a:bodyPr/>
              <a:lstStyle/>
              <a:p>
                <a:r>
                  <a:rPr lang="en-US">
                    <a:noFill/>
                  </a:rPr>
                  <a:t> </a:t>
                </a:r>
              </a:p>
            </p:txBody>
          </p:sp>
        </mc:Fallback>
      </mc:AlternateContent>
    </p:spTree>
    <p:extLst>
      <p:ext uri="{BB962C8B-B14F-4D97-AF65-F5344CB8AC3E}">
        <p14:creationId xmlns:p14="http://schemas.microsoft.com/office/powerpoint/2010/main" val="3835331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106</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xmlns="" id="{4B71B7AA-10E7-9B44-A591-563821260A41}"/>
              </a:ext>
            </a:extLst>
          </p:cNvPr>
          <p:cNvSpPr txBox="1"/>
          <p:nvPr/>
        </p:nvSpPr>
        <p:spPr>
          <a:xfrm>
            <a:off x="477579" y="448228"/>
            <a:ext cx="11260534" cy="707886"/>
          </a:xfrm>
          <a:prstGeom prst="rect">
            <a:avLst/>
          </a:prstGeom>
          <a:noFill/>
        </p:spPr>
        <p:txBody>
          <a:bodyPr wrap="square" rtlCol="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The table lists the masses, in kilograms (kg), of different creatures on land and in water. Use this information to answer the questions.</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0C07B462-FEC8-9049-B7BF-1053188C3FD5}"/>
                  </a:ext>
                </a:extLst>
              </p:cNvPr>
              <p:cNvGraphicFramePr>
                <a:graphicFrameLocks noGrp="1"/>
              </p:cNvGraphicFramePr>
              <p:nvPr>
                <p:extLst>
                  <p:ext uri="{D42A27DB-BD31-4B8C-83A1-F6EECF244321}">
                    <p14:modId xmlns:p14="http://schemas.microsoft.com/office/powerpoint/2010/main" val="2856698919"/>
                  </p:ext>
                </p:extLst>
              </p:nvPr>
            </p:nvGraphicFramePr>
            <p:xfrm>
              <a:off x="3486000" y="1542040"/>
              <a:ext cx="5220000" cy="2556000"/>
            </p:xfrm>
            <a:graphic>
              <a:graphicData uri="http://schemas.openxmlformats.org/drawingml/2006/table">
                <a:tbl>
                  <a:tblPr/>
                  <a:tblGrid>
                    <a:gridCol w="2160000">
                      <a:extLst>
                        <a:ext uri="{9D8B030D-6E8A-4147-A177-3AD203B41FA5}">
                          <a16:colId xmlns:a16="http://schemas.microsoft.com/office/drawing/2014/main" xmlns="" val="4264493792"/>
                        </a:ext>
                      </a:extLst>
                    </a:gridCol>
                    <a:gridCol w="3060000">
                      <a:extLst>
                        <a:ext uri="{9D8B030D-6E8A-4147-A177-3AD203B41FA5}">
                          <a16:colId xmlns:a16="http://schemas.microsoft.com/office/drawing/2014/main" xmlns="" val="123008012"/>
                        </a:ext>
                      </a:extLst>
                    </a:gridCol>
                  </a:tblGrid>
                  <a:tr h="720000">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Creature</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Mass of One Individual (kg)</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4114675240"/>
                      </a:ext>
                    </a:extLst>
                  </a:tr>
                  <a:tr h="612000">
                    <a:tc>
                      <a:txBody>
                        <a:bodyPr/>
                        <a:lstStyle/>
                        <a:p>
                          <a:pPr marL="0" marR="0" algn="ctr">
                            <a:spcBef>
                              <a:spcPts val="180"/>
                            </a:spcBef>
                            <a:spcAft>
                              <a:spcPts val="18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Ant</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3×</m:t>
                                </m:r>
                                <m:sSup>
                                  <m:sSupPr>
                                    <m:ctrlPr>
                                      <a:rPr lang="x-none" sz="20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−6</m:t>
                                    </m:r>
                                  </m:sup>
                                </m:sSup>
                              </m:oMath>
                            </m:oMathPara>
                          </a14:m>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97681136"/>
                      </a:ext>
                    </a:extLst>
                  </a:tr>
                  <a:tr h="612000">
                    <a:tc>
                      <a:txBody>
                        <a:bodyPr/>
                        <a:lstStyle/>
                        <a:p>
                          <a:pPr marL="0" marR="0" algn="ctr">
                            <a:spcBef>
                              <a:spcPts val="180"/>
                            </a:spcBef>
                            <a:spcAft>
                              <a:spcPts val="18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Antarctic Krill</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4.86×</m:t>
                                </m:r>
                                <m:sSup>
                                  <m:sSupPr>
                                    <m:ctrlPr>
                                      <a:rPr lang="x-none" sz="20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sup>
                                </m:sSup>
                              </m:oMath>
                            </m:oMathPara>
                          </a14:m>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99368094"/>
                      </a:ext>
                    </a:extLst>
                  </a:tr>
                  <a:tr h="612000">
                    <a:tc>
                      <a:txBody>
                        <a:bodyPr/>
                        <a:lstStyle/>
                        <a:p>
                          <a:pPr marL="0" marR="0" algn="ctr">
                            <a:spcBef>
                              <a:spcPts val="180"/>
                            </a:spcBef>
                            <a:spcAft>
                              <a:spcPts val="18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Zooplankton</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5×</m:t>
                                </m:r>
                                <m:sSup>
                                  <m:sSupPr>
                                    <m:ctrlPr>
                                      <a:rPr lang="x-none" sz="2000" i="1">
                                        <a:solidFill>
                                          <a:srgbClr val="000000"/>
                                        </a:solidFill>
                                        <a:effectLst/>
                                        <a:latin typeface="Cambria Math"/>
                                        <a:ea typeface="Cambria Math" panose="020405030504060302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e>
                                  <m:sup>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sup>
                                </m:sSup>
                              </m:oMath>
                            </m:oMathPara>
                          </a14:m>
                          <a:endParaRPr lang="x-none" sz="2000" dirty="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49183740"/>
                      </a:ext>
                    </a:extLst>
                  </a:tr>
                </a:tbl>
              </a:graphicData>
            </a:graphic>
          </p:graphicFrame>
        </mc:Choice>
        <mc:Fallback xmlns="">
          <p:graphicFrame>
            <p:nvGraphicFramePr>
              <p:cNvPr id="3" name="Table 2">
                <a:extLst>
                  <a:ext uri="{FF2B5EF4-FFF2-40B4-BE49-F238E27FC236}">
                    <a16:creationId xmlns:a16="http://schemas.microsoft.com/office/drawing/2014/main" id="{0C07B462-FEC8-9049-B7BF-1053188C3FD5}"/>
                  </a:ext>
                </a:extLst>
              </p:cNvPr>
              <p:cNvGraphicFramePr>
                <a:graphicFrameLocks noGrp="1"/>
              </p:cNvGraphicFramePr>
              <p:nvPr>
                <p:extLst>
                  <p:ext uri="{D42A27DB-BD31-4B8C-83A1-F6EECF244321}">
                    <p14:modId xmlns:p14="http://schemas.microsoft.com/office/powerpoint/2010/main" val="2856698919"/>
                  </p:ext>
                </p:extLst>
              </p:nvPr>
            </p:nvGraphicFramePr>
            <p:xfrm>
              <a:off x="3486000" y="1542040"/>
              <a:ext cx="5220000" cy="2556000"/>
            </p:xfrm>
            <a:graphic>
              <a:graphicData uri="http://schemas.openxmlformats.org/drawingml/2006/table">
                <a:tbl>
                  <a:tblPr/>
                  <a:tblGrid>
                    <a:gridCol w="2160000">
                      <a:extLst>
                        <a:ext uri="{9D8B030D-6E8A-4147-A177-3AD203B41FA5}">
                          <a16:colId xmlns:a16="http://schemas.microsoft.com/office/drawing/2014/main" val="4264493792"/>
                        </a:ext>
                      </a:extLst>
                    </a:gridCol>
                    <a:gridCol w="3060000">
                      <a:extLst>
                        <a:ext uri="{9D8B030D-6E8A-4147-A177-3AD203B41FA5}">
                          <a16:colId xmlns:a16="http://schemas.microsoft.com/office/drawing/2014/main" val="123008012"/>
                        </a:ext>
                      </a:extLst>
                    </a:gridCol>
                  </a:tblGrid>
                  <a:tr h="720000">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Creature</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Mass of One Individual (kg)</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4114675240"/>
                      </a:ext>
                    </a:extLst>
                  </a:tr>
                  <a:tr h="612000">
                    <a:tc>
                      <a:txBody>
                        <a:bodyPr/>
                        <a:lstStyle/>
                        <a:p>
                          <a:pPr marL="0" marR="0" algn="ctr">
                            <a:spcBef>
                              <a:spcPts val="180"/>
                            </a:spcBef>
                            <a:spcAft>
                              <a:spcPts val="18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Ant</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661" t="-122917" r="-826" b="-206250"/>
                          </a:stretch>
                        </a:blipFill>
                      </a:tcPr>
                    </a:tc>
                    <a:extLst>
                      <a:ext uri="{0D108BD9-81ED-4DB2-BD59-A6C34878D82A}">
                        <a16:rowId xmlns:a16="http://schemas.microsoft.com/office/drawing/2014/main" val="2397681136"/>
                      </a:ext>
                    </a:extLst>
                  </a:tr>
                  <a:tr h="612000">
                    <a:tc>
                      <a:txBody>
                        <a:bodyPr/>
                        <a:lstStyle/>
                        <a:p>
                          <a:pPr marL="0" marR="0" algn="ctr">
                            <a:spcBef>
                              <a:spcPts val="180"/>
                            </a:spcBef>
                            <a:spcAft>
                              <a:spcPts val="18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Antarctic Krill</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661" t="-218367" r="-826" b="-102041"/>
                          </a:stretch>
                        </a:blipFill>
                      </a:tcPr>
                    </a:tc>
                    <a:extLst>
                      <a:ext uri="{0D108BD9-81ED-4DB2-BD59-A6C34878D82A}">
                        <a16:rowId xmlns:a16="http://schemas.microsoft.com/office/drawing/2014/main" val="599368094"/>
                      </a:ext>
                    </a:extLst>
                  </a:tr>
                  <a:tr h="612000">
                    <a:tc>
                      <a:txBody>
                        <a:bodyPr/>
                        <a:lstStyle/>
                        <a:p>
                          <a:pPr marL="0" marR="0" algn="ctr">
                            <a:spcBef>
                              <a:spcPts val="180"/>
                            </a:spcBef>
                            <a:spcAft>
                              <a:spcPts val="18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Zooplankton</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661" t="-325000" r="-826" b="-4167"/>
                          </a:stretch>
                        </a:blipFill>
                      </a:tcPr>
                    </a:tc>
                    <a:extLst>
                      <a:ext uri="{0D108BD9-81ED-4DB2-BD59-A6C34878D82A}">
                        <a16:rowId xmlns:a16="http://schemas.microsoft.com/office/drawing/2014/main" val="2449183740"/>
                      </a:ext>
                    </a:extLst>
                  </a:tr>
                </a:tbl>
              </a:graphicData>
            </a:graphic>
          </p:graphicFrame>
        </mc:Fallback>
      </mc:AlternateContent>
      <p:sp>
        <p:nvSpPr>
          <p:cNvPr id="7" name="TextBox 6">
            <a:extLst>
              <a:ext uri="{FF2B5EF4-FFF2-40B4-BE49-F238E27FC236}">
                <a16:creationId xmlns:a16="http://schemas.microsoft.com/office/drawing/2014/main" xmlns="" id="{4B71B7AA-10E7-9B44-A591-563821260A41}"/>
              </a:ext>
            </a:extLst>
          </p:cNvPr>
          <p:cNvSpPr txBox="1"/>
          <p:nvPr/>
        </p:nvSpPr>
        <p:spPr>
          <a:xfrm>
            <a:off x="477578" y="4461828"/>
            <a:ext cx="11111447" cy="1631216"/>
          </a:xfrm>
          <a:prstGeom prst="rect">
            <a:avLst/>
          </a:prstGeom>
          <a:noFill/>
        </p:spPr>
        <p:txBody>
          <a:bodyPr wrap="square" rtlCol="0">
            <a:spAutoFit/>
          </a:bodyPr>
          <a:lstStyle/>
          <a:p>
            <a:pPr marL="906463"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difference, in kg, between the mass of an ant and the mass of an Antarctic krill?</a:t>
            </a:r>
          </a:p>
          <a:p>
            <a:pPr marL="90646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total mass of an ant and a zooplankton?</a:t>
            </a:r>
          </a:p>
        </p:txBody>
      </p:sp>
    </p:spTree>
    <p:extLst>
      <p:ext uri="{BB962C8B-B14F-4D97-AF65-F5344CB8AC3E}">
        <p14:creationId xmlns:p14="http://schemas.microsoft.com/office/powerpoint/2010/main" val="1960475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107</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9"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107</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AE281112-0763-C941-9DB7-9B28C4EA4745}"/>
              </a:ext>
            </a:extLst>
          </p:cNvPr>
          <p:cNvSpPr/>
          <p:nvPr/>
        </p:nvSpPr>
        <p:spPr>
          <a:xfrm>
            <a:off x="593124" y="1136567"/>
            <a:ext cx="10946206" cy="1200329"/>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was the </a:t>
            </a:r>
            <a:r>
              <a:rPr lang="en-US" sz="2400" b="1" i="1" dirty="0">
                <a:latin typeface="Verdana" panose="020B0604030504040204" pitchFamily="34" charset="0"/>
                <a:ea typeface="Verdana" panose="020B0604030504040204" pitchFamily="34" charset="0"/>
                <a:cs typeface="Verdana" panose="020B0604030504040204" pitchFamily="34" charset="0"/>
              </a:rPr>
              <a:t>muddiest</a:t>
            </a:r>
            <a:r>
              <a:rPr lang="en-US" sz="2400" dirty="0">
                <a:latin typeface="Verdana" panose="020B0604030504040204" pitchFamily="34" charset="0"/>
                <a:ea typeface="Verdana" panose="020B0604030504040204" pitchFamily="34" charset="0"/>
                <a:cs typeface="Verdana" panose="020B0604030504040204" pitchFamily="34" charset="0"/>
              </a:rPr>
              <a:t> (most difficult or confusing) point in today’s lesson on adding and subtracting numbers expressed in scientific notation?</a:t>
            </a:r>
          </a:p>
        </p:txBody>
      </p:sp>
      <p:pic>
        <p:nvPicPr>
          <p:cNvPr id="17" name="Picture 16" descr="Splatter pack 2 - Download Free Vector Art, Stock Graphics ...">
            <a:extLst>
              <a:ext uri="{FF2B5EF4-FFF2-40B4-BE49-F238E27FC236}">
                <a16:creationId xmlns:a16="http://schemas.microsoft.com/office/drawing/2014/main" xmlns="" id="{42AEE247-7B5A-D843-B667-74B4B00072F1}"/>
              </a:ext>
            </a:extLst>
          </p:cNvPr>
          <p:cNvPicPr>
            <a:picLocks noChangeAspect="1"/>
          </p:cNvPicPr>
          <p:nvPr/>
        </p:nvPicPr>
        <p:blipFill>
          <a:blip r:embed="rId4">
            <a:alphaModFix amt="35000"/>
            <a:extLst>
              <a:ext uri="{28A0092B-C50C-407E-A947-70E740481C1C}">
                <a14:useLocalDpi xmlns:a14="http://schemas.microsoft.com/office/drawing/2010/main"/>
              </a:ext>
              <a:ext uri="{837473B0-CC2E-450A-ABE3-18F120FF3D39}">
                <a1611:picAttrSrcUrl xmlns:a1611="http://schemas.microsoft.com/office/drawing/2016/11/main" xmlns="" r:id="rId6"/>
              </a:ext>
            </a:extLst>
          </a:blip>
          <a:stretch>
            <a:fillRect/>
          </a:stretch>
        </p:blipFill>
        <p:spPr>
          <a:xfrm>
            <a:off x="4279900" y="2524995"/>
            <a:ext cx="3632200" cy="2540000"/>
          </a:xfrm>
          <a:prstGeom prst="rect">
            <a:avLst/>
          </a:prstGeom>
        </p:spPr>
      </p:pic>
      <p:sp>
        <p:nvSpPr>
          <p:cNvPr id="10"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3.5.6 Wrap-Up: Reflection</a:t>
            </a:r>
            <a:endParaRPr lang="en-US" sz="3600" b="1" dirty="0">
              <a:solidFill>
                <a:srgbClr val="3F2A67"/>
              </a:solidFill>
              <a:latin typeface="Verdana"/>
              <a:ea typeface="Verdana"/>
              <a:cs typeface="Verdana"/>
              <a:sym typeface="Verdana"/>
            </a:endParaRPr>
          </a:p>
        </p:txBody>
      </p:sp>
      <p:pic>
        <p:nvPicPr>
          <p:cNvPr id="11" name="Google Shape;469;p34"/>
          <p:cNvPicPr preferRelativeResize="0"/>
          <p:nvPr/>
        </p:nvPicPr>
        <p:blipFill rotWithShape="1">
          <a:blip r:embed="rId7">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3306</TotalTime>
  <Words>1257</Words>
  <Application>Microsoft Office PowerPoint</Application>
  <PresentationFormat>Custom</PresentationFormat>
  <Paragraphs>255</Paragraphs>
  <Slides>29</Slides>
  <Notes>28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Cambria</vt:lpstr>
      <vt:lpstr>Arial Black</vt:lpstr>
      <vt:lpstr>Verdana</vt:lpstr>
      <vt:lpstr>Calibri</vt:lpstr>
      <vt:lpstr>Courier New</vt:lpstr>
      <vt:lpstr>Times New Roman</vt:lpstr>
      <vt:lpstr>Century Gothic</vt:lpstr>
      <vt:lpstr>Wingdings</vt:lpstr>
      <vt:lpstr>Cambria Math</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49</cp:revision>
  <dcterms:created xsi:type="dcterms:W3CDTF">2015-03-17T18:51:18Z</dcterms:created>
  <dcterms:modified xsi:type="dcterms:W3CDTF">2022-06-15T12:41:01Z</dcterms:modified>
</cp:coreProperties>
</file>