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345" r:id="rId4"/>
    <p:sldId id="286" r:id="rId5"/>
    <p:sldId id="261" r:id="rId6"/>
    <p:sldId id="287" r:id="rId7"/>
    <p:sldId id="381" r:id="rId8"/>
    <p:sldId id="346" r:id="rId9"/>
    <p:sldId id="347" r:id="rId10"/>
    <p:sldId id="348" r:id="rId11"/>
    <p:sldId id="349" r:id="rId12"/>
    <p:sldId id="376" r:id="rId13"/>
    <p:sldId id="377" r:id="rId14"/>
    <p:sldId id="378" r:id="rId15"/>
    <p:sldId id="400" r:id="rId16"/>
    <p:sldId id="401" r:id="rId17"/>
    <p:sldId id="402" r:id="rId18"/>
    <p:sldId id="403" r:id="rId19"/>
    <p:sldId id="404" r:id="rId20"/>
    <p:sldId id="306" r:id="rId21"/>
    <p:sldId id="307" r:id="rId22"/>
  </p:sldIdLst>
  <p:sldSz cx="12192000" cy="6858000"/>
  <p:notesSz cx="6858000" cy="9144000"/>
  <p:embeddedFontLst>
    <p:embeddedFont>
      <p:font typeface="Arial Black" panose="020B0604020202020204" pitchFamily="34" charset="0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" panose="02040503050406030204" pitchFamily="18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E5F"/>
    <a:srgbClr val="FABB42"/>
    <a:srgbClr val="F79B59"/>
    <a:srgbClr val="F26763"/>
    <a:srgbClr val="1765AD"/>
    <a:srgbClr val="1664AC"/>
    <a:srgbClr val="BFBFBF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24" autoAdjust="0"/>
    <p:restoredTop sz="94609" autoAdjust="0"/>
  </p:normalViewPr>
  <p:slideViewPr>
    <p:cSldViewPr snapToGrid="0">
      <p:cViewPr varScale="1">
        <p:scale>
          <a:sx n="128" d="100"/>
          <a:sy n="128" d="100"/>
        </p:scale>
        <p:origin x="99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8.fntdata"/><Relationship Id="rId5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45102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1503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512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962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113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6481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1859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619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5808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23769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23769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050737" y="2054277"/>
            <a:ext cx="6309360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6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Multiplying Numbers Expressed in Scientific Notation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107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MA.8.NSO.1.5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Add, subtract, multiply, and divide numbers expressed in scientific notation with procedural fluency.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7CC83FF-5C83-CD42-A75D-B443F14E1C19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1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multiply numbers expressed in scientific notation.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3D2F04D-C861-A149-B5F8-A913FBED75A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434178"/>
                <a:ext cx="10678952" cy="3505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Add.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63538" indent="-363538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(4.79 ×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)+ (1.725 ×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63538" indent="-3635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63538" indent="-3635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63538" indent="-3635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63538" indent="-3635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363538" indent="-3635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63538" indent="-363538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(2.9 ×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)+ (2.5 ×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434178"/>
                <a:ext cx="10678952" cy="3505511"/>
              </a:xfrm>
              <a:prstGeom prst="rect">
                <a:avLst/>
              </a:prstGeom>
              <a:blipFill>
                <a:blip r:embed="rId4"/>
                <a:stretch>
                  <a:fillRect l="-950" t="-1444" b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0CD40667-98C3-7A43-A8EC-50FA988E094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3.6.1 Warm-Up: Bell Work</a:t>
            </a:r>
          </a:p>
        </p:txBody>
      </p:sp>
      <p:pic>
        <p:nvPicPr>
          <p:cNvPr id="12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639221" y="609601"/>
                <a:ext cx="10343969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3538" indent="-363538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(1.7×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)+ (1.3 ×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63538" indent="-3635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63538" indent="-3635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63538" indent="-3635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63538" indent="-3635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63538" indent="-3635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63538" indent="-3635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63538" indent="-3635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63538" indent="-363538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(9.9 ×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−7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)+ (7.48 ×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−7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21" y="609601"/>
                <a:ext cx="10343969" cy="3416320"/>
              </a:xfrm>
              <a:prstGeom prst="rect">
                <a:avLst/>
              </a:prstGeom>
              <a:blipFill>
                <a:blip r:embed="rId4"/>
                <a:stretch>
                  <a:fillRect l="-982" t="-1487" b="-3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0CD40667-98C3-7A43-A8EC-50FA988E094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797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8.png" descr="Icon&#10;&#10;Description automatically generated">
            <a:extLst>
              <a:ext uri="{FF2B5EF4-FFF2-40B4-BE49-F238E27FC236}">
                <a16:creationId xmlns:a16="http://schemas.microsoft.com/office/drawing/2014/main" id="{C3077B63-B59F-3C47-BD0A-FB19C317B7E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53975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331" y="1448325"/>
                <a:ext cx="7801898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product of each.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-36353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(7.8×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14</m:t>
                        </m:r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)(2.5×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-36353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363538" indent="-36353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-36353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-36353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3538" indent="-36353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363538" indent="-36353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(1.2×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−9</m:t>
                        </m:r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)(3.2×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−7</m:t>
                        </m:r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331" y="1448325"/>
                <a:ext cx="7801898" cy="3785652"/>
              </a:xfrm>
              <a:prstGeom prst="rect">
                <a:avLst/>
              </a:prstGeom>
              <a:blipFill>
                <a:blip r:embed="rId4"/>
                <a:stretch>
                  <a:fillRect l="-1301" t="-167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63AD1692-18A2-FB46-800A-11AFFA2A560C}"/>
              </a:ext>
            </a:extLst>
          </p:cNvPr>
          <p:cNvGrpSpPr/>
          <p:nvPr/>
        </p:nvGrpSpPr>
        <p:grpSpPr>
          <a:xfrm>
            <a:off x="2781300" y="4919169"/>
            <a:ext cx="6629400" cy="812522"/>
            <a:chOff x="2031300" y="3373600"/>
            <a:chExt cx="6629400" cy="8128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FE34AFB-D60D-F049-8029-A636FDE33D62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A097C6-D3D0-8649-84FD-1F5AA5344900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87527"/>
            <a:ext cx="1044187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3.6.2 Guided Instruction: Multiplying Numbers Expressed in Scientific Notation</a:t>
            </a:r>
          </a:p>
        </p:txBody>
      </p:sp>
      <p:pic>
        <p:nvPicPr>
          <p:cNvPr id="16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9677DC9-C185-8443-AB86-E015A4677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7125711"/>
                  </p:ext>
                </p:extLst>
              </p:nvPr>
            </p:nvGraphicFramePr>
            <p:xfrm>
              <a:off x="2797175" y="2493755"/>
              <a:ext cx="6597650" cy="20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68625">
                      <a:extLst>
                        <a:ext uri="{9D8B030D-6E8A-4147-A177-3AD203B41FA5}">
                          <a16:colId xmlns:a16="http://schemas.microsoft.com/office/drawing/2014/main" val="3611417340"/>
                        </a:ext>
                      </a:extLst>
                    </a:gridCol>
                    <a:gridCol w="3629025">
                      <a:extLst>
                        <a:ext uri="{9D8B030D-6E8A-4147-A177-3AD203B41FA5}">
                          <a16:colId xmlns:a16="http://schemas.microsoft.com/office/drawing/2014/main" val="201435913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Standard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7996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2 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 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4 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 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200,000 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  400,000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360731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2 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4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 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8 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10,000,000,000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8640235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8 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80,000,000,000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42818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9677DC9-C185-8443-AB86-E015A4677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7125711"/>
                  </p:ext>
                </p:extLst>
              </p:nvPr>
            </p:nvGraphicFramePr>
            <p:xfrm>
              <a:off x="2797175" y="2493755"/>
              <a:ext cx="6597650" cy="20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68625">
                      <a:extLst>
                        <a:ext uri="{9D8B030D-6E8A-4147-A177-3AD203B41FA5}">
                          <a16:colId xmlns:a16="http://schemas.microsoft.com/office/drawing/2014/main" val="3611417340"/>
                        </a:ext>
                      </a:extLst>
                    </a:gridCol>
                    <a:gridCol w="3629025">
                      <a:extLst>
                        <a:ext uri="{9D8B030D-6E8A-4147-A177-3AD203B41FA5}">
                          <a16:colId xmlns:a16="http://schemas.microsoft.com/office/drawing/2014/main" val="201435913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Standard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7996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7" t="-88372" r="-123077" b="-2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2168" t="-88372" r="-699" b="-2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60731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7" t="-192857" r="-123077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2168" t="-192857" r="-699" b="-1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40235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7" t="-286047" r="-123077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2168" t="-286047" r="-699" b="-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42818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3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Celia’s work for multiplying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 ×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  (4 ×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 shown. She did the problem first using scientific notation and then checked her answer using standard notation. She noticed the answers do not match.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1569660"/>
              </a:xfrm>
              <a:prstGeom prst="rect">
                <a:avLst/>
              </a:prstGeom>
              <a:blipFill rotWithShape="1">
                <a:blip r:embed="rId6"/>
                <a:stretch>
                  <a:fillRect l="-890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51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86539" y="408258"/>
            <a:ext cx="11020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Celia’s mistake, then write her a note to help her learn from her mistake.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C81E615-7C57-3E40-A95D-59D519759DD8}"/>
              </a:ext>
            </a:extLst>
          </p:cNvPr>
          <p:cNvSpPr/>
          <p:nvPr/>
        </p:nvSpPr>
        <p:spPr>
          <a:xfrm>
            <a:off x="5648534" y="1492435"/>
            <a:ext cx="3762375" cy="4145915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x-none" sz="1200" i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127E41F-C1CD-C84E-9262-4CB1C95A7CB7}"/>
              </a:ext>
            </a:extLst>
          </p:cNvPr>
          <p:cNvSpPr/>
          <p:nvPr/>
        </p:nvSpPr>
        <p:spPr>
          <a:xfrm>
            <a:off x="3094990" y="1475964"/>
            <a:ext cx="2119630" cy="4142781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>
            <a:noFill/>
          </a:ln>
        </p:spPr>
        <p:txBody>
          <a:bodyPr spcFirstLastPara="1" wrap="square" lIns="91425" tIns="72000" rIns="91425" bIns="0" anchor="ctr" anchorCtr="0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20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x-none" sz="20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2000" b="1" dirty="0">
                <a:solidFill>
                  <a:srgbClr val="F2575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endParaRPr lang="x-none" sz="20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20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x-none" sz="20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20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x-none" sz="20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20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x-none" sz="20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20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x-none" sz="20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20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x-none" sz="20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20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endParaRPr lang="x-none" sz="20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323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331" y="1583370"/>
                <a:ext cx="10782795" cy="2677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product of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(3.1 ×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−9</m:t>
                        </m:r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  (3.2 ×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−7</m:t>
                        </m:r>
                      </m:sup>
                    </m:sSup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Check your work by finding the product of the numbers when written in standard form.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331" y="1583370"/>
                <a:ext cx="10782795" cy="2677656"/>
              </a:xfrm>
              <a:prstGeom prst="rect">
                <a:avLst/>
              </a:prstGeom>
              <a:blipFill>
                <a:blip r:embed="rId4"/>
                <a:stretch>
                  <a:fillRect l="-941" t="-1887" b="-471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225194"/>
            <a:ext cx="10759859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3.6.3 Guided Practice: Multiplying Numbers Expressed in Scientific Notation</a:t>
            </a: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396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674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D1B9F-A752-AD42-8D60-9B883A2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19" y="474847"/>
            <a:ext cx="1104747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3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work to find the product. Be sure to write your answer in scientific notation.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413D5F5-D82D-DD47-A6D7-E25DD9AA79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5056668"/>
                  </p:ext>
                </p:extLst>
              </p:nvPr>
            </p:nvGraphicFramePr>
            <p:xfrm>
              <a:off x="3007970" y="1665862"/>
              <a:ext cx="6176059" cy="20873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176059">
                      <a:extLst>
                        <a:ext uri="{9D8B030D-6E8A-4147-A177-3AD203B41FA5}">
                          <a16:colId xmlns:a16="http://schemas.microsoft.com/office/drawing/2014/main" val="1334641834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6858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8.8 </m:t>
                                    </m:r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 </m:t>
                                    </m:r>
                                    <m:sSup>
                                      <m:sSup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4.92 </m:t>
                                    </m:r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 </m:t>
                                    </m:r>
                                    <m:sSup>
                                      <m:sSup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x-none" sz="24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3565931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= </m:t>
                                </m:r>
                                <m:d>
                                  <m:d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                  </m:t>
                                    </m:r>
                                  </m:e>
                                </m:d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  </m:t>
                                </m:r>
                                <m:d>
                                  <m:d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4 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∙ </m:t>
                                    </m:r>
                                    <m:sSup>
                                      <m:sSupPr>
                                        <m:ctrlPr>
                                          <a:rPr lang="x-none" sz="24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Helvetica Neue" panose="02000503000000020004" pitchFamily="2" charset="0"/>
                                            <a:cs typeface="Helvetica Neue" panose="02000503000000020004" pitchFamily="2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x-none" sz="24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210014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=   43.296 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PH" sz="2400" b="0" i="1" smtClean="0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   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4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5674281"/>
                      </a:ext>
                    </a:extLst>
                  </a:tr>
                  <a:tr h="467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= _____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endParaRPr lang="x-none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61794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413D5F5-D82D-DD47-A6D7-E25DD9AA79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5056668"/>
                  </p:ext>
                </p:extLst>
              </p:nvPr>
            </p:nvGraphicFramePr>
            <p:xfrm>
              <a:off x="3007970" y="1665862"/>
              <a:ext cx="6176059" cy="20873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176059">
                      <a:extLst>
                        <a:ext uri="{9D8B030D-6E8A-4147-A177-3AD203B41FA5}">
                          <a16:colId xmlns:a16="http://schemas.microsoft.com/office/drawing/2014/main" val="1334641834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b="-30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5931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02381" b="-2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210014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97674" b="-1116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5674281"/>
                      </a:ext>
                    </a:extLst>
                  </a:tr>
                  <a:tr h="467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345946" b="-297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61794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38106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976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B19A2-BBA2-0441-AC88-F1F62E75949B}"/>
              </a:ext>
            </a:extLst>
          </p:cNvPr>
          <p:cNvSpPr txBox="1"/>
          <p:nvPr/>
        </p:nvSpPr>
        <p:spPr>
          <a:xfrm>
            <a:off x="731521" y="1238924"/>
            <a:ext cx="110102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and your partner will be given a set of problem cards and a gameboard. Your goal is to get five squares in a row, horizontally, vertically, or diagonally, marked on the gameboard. To mark a square, you need to correctly find the product of a given problem. 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Record each problem you complete on the recording sheet. Not all of the spaces must be filled in order for a winner to be determined.</a:t>
            </a:r>
          </a:p>
        </p:txBody>
      </p:sp>
      <p:sp>
        <p:nvSpPr>
          <p:cNvPr id="9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455429"/>
            <a:ext cx="10138514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3.6.4 Activity: Give Me Five!</a:t>
            </a:r>
          </a:p>
        </p:txBody>
      </p:sp>
      <p:pic>
        <p:nvPicPr>
          <p:cNvPr id="12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873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2060448" y="354302"/>
            <a:ext cx="788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 Me Five! - Recording Sheet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4DACF5-0630-4F4F-9C55-027848EE8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074427"/>
              </p:ext>
            </p:extLst>
          </p:nvPr>
        </p:nvGraphicFramePr>
        <p:xfrm>
          <a:off x="2174640" y="964140"/>
          <a:ext cx="7880721" cy="4921370"/>
        </p:xfrm>
        <a:graphic>
          <a:graphicData uri="http://schemas.openxmlformats.org/drawingml/2006/table">
            <a:tbl>
              <a:tblPr firstRow="1" firstCol="1" bandRow="1"/>
              <a:tblGrid>
                <a:gridCol w="2626907">
                  <a:extLst>
                    <a:ext uri="{9D8B030D-6E8A-4147-A177-3AD203B41FA5}">
                      <a16:colId xmlns:a16="http://schemas.microsoft.com/office/drawing/2014/main" val="2780324105"/>
                    </a:ext>
                  </a:extLst>
                </a:gridCol>
                <a:gridCol w="2626907">
                  <a:extLst>
                    <a:ext uri="{9D8B030D-6E8A-4147-A177-3AD203B41FA5}">
                      <a16:colId xmlns:a16="http://schemas.microsoft.com/office/drawing/2014/main" val="419684106"/>
                    </a:ext>
                  </a:extLst>
                </a:gridCol>
                <a:gridCol w="2626907">
                  <a:extLst>
                    <a:ext uri="{9D8B030D-6E8A-4147-A177-3AD203B41FA5}">
                      <a16:colId xmlns:a16="http://schemas.microsoft.com/office/drawing/2014/main" val="2891463973"/>
                    </a:ext>
                  </a:extLst>
                </a:gridCol>
              </a:tblGrid>
              <a:tr h="246068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Answer:________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 Answer:________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 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092447"/>
                  </a:ext>
                </a:extLst>
              </a:tr>
              <a:tr h="246068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Answer:________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 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Answer:________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540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331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4DACF5-0630-4F4F-9C55-027848EE8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973755"/>
              </p:ext>
            </p:extLst>
          </p:nvPr>
        </p:nvGraphicFramePr>
        <p:xfrm>
          <a:off x="2174640" y="964140"/>
          <a:ext cx="7880721" cy="4921370"/>
        </p:xfrm>
        <a:graphic>
          <a:graphicData uri="http://schemas.openxmlformats.org/drawingml/2006/table">
            <a:tbl>
              <a:tblPr firstRow="1" firstCol="1" bandRow="1"/>
              <a:tblGrid>
                <a:gridCol w="2626907">
                  <a:extLst>
                    <a:ext uri="{9D8B030D-6E8A-4147-A177-3AD203B41FA5}">
                      <a16:colId xmlns:a16="http://schemas.microsoft.com/office/drawing/2014/main" val="2780324105"/>
                    </a:ext>
                  </a:extLst>
                </a:gridCol>
                <a:gridCol w="2626907">
                  <a:extLst>
                    <a:ext uri="{9D8B030D-6E8A-4147-A177-3AD203B41FA5}">
                      <a16:colId xmlns:a16="http://schemas.microsoft.com/office/drawing/2014/main" val="419684106"/>
                    </a:ext>
                  </a:extLst>
                </a:gridCol>
                <a:gridCol w="2626907">
                  <a:extLst>
                    <a:ext uri="{9D8B030D-6E8A-4147-A177-3AD203B41FA5}">
                      <a16:colId xmlns:a16="http://schemas.microsoft.com/office/drawing/2014/main" val="2891463973"/>
                    </a:ext>
                  </a:extLst>
                </a:gridCol>
              </a:tblGrid>
              <a:tr h="246068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Answer:________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 Answer:________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 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092447"/>
                  </a:ext>
                </a:extLst>
              </a:tr>
              <a:tr h="246068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Answer:________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 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Answer:________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540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935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4DACF5-0630-4F4F-9C55-027848EE8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679277"/>
              </p:ext>
            </p:extLst>
          </p:nvPr>
        </p:nvGraphicFramePr>
        <p:xfrm>
          <a:off x="2174640" y="964140"/>
          <a:ext cx="7880721" cy="4921370"/>
        </p:xfrm>
        <a:graphic>
          <a:graphicData uri="http://schemas.openxmlformats.org/drawingml/2006/table">
            <a:tbl>
              <a:tblPr firstRow="1" firstCol="1" bandRow="1"/>
              <a:tblGrid>
                <a:gridCol w="2626907">
                  <a:extLst>
                    <a:ext uri="{9D8B030D-6E8A-4147-A177-3AD203B41FA5}">
                      <a16:colId xmlns:a16="http://schemas.microsoft.com/office/drawing/2014/main" val="2780324105"/>
                    </a:ext>
                  </a:extLst>
                </a:gridCol>
                <a:gridCol w="2626907">
                  <a:extLst>
                    <a:ext uri="{9D8B030D-6E8A-4147-A177-3AD203B41FA5}">
                      <a16:colId xmlns:a16="http://schemas.microsoft.com/office/drawing/2014/main" val="419684106"/>
                    </a:ext>
                  </a:extLst>
                </a:gridCol>
                <a:gridCol w="2626907">
                  <a:extLst>
                    <a:ext uri="{9D8B030D-6E8A-4147-A177-3AD203B41FA5}">
                      <a16:colId xmlns:a16="http://schemas.microsoft.com/office/drawing/2014/main" val="2891463973"/>
                    </a:ext>
                  </a:extLst>
                </a:gridCol>
              </a:tblGrid>
              <a:tr h="246068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Answer:________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 Answer:________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 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092447"/>
                  </a:ext>
                </a:extLst>
              </a:tr>
              <a:tr h="246068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Answer:________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 _______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#: ___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Answer:________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Work: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540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121328"/>
              </p:ext>
            </p:extLst>
          </p:nvPr>
        </p:nvGraphicFramePr>
        <p:xfrm>
          <a:off x="2046000" y="1171620"/>
          <a:ext cx="8100000" cy="4514760"/>
        </p:xfrm>
        <a:graphic>
          <a:graphicData uri="http://schemas.openxmlformats.org/drawingml/2006/table">
            <a:tbl>
              <a:tblPr/>
              <a:tblGrid>
                <a:gridCol w="43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Which mindset did I demonstrate?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Choose the best description.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Did I use the partner discussions as learning opportunities?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9875" indent="-269875" algn="l">
                        <a:spcAft>
                          <a:spcPts val="6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Never</a:t>
                      </a:r>
                    </a:p>
                    <a:p>
                      <a:pPr marL="269875" indent="-269875" algn="l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Sometimes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9875" indent="-269875" algn="l">
                        <a:spcAft>
                          <a:spcPts val="6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Usually</a:t>
                      </a:r>
                    </a:p>
                    <a:p>
                      <a:pPr marL="269875" indent="-269875" algn="l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Always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Did I work on problems that challenged me?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9875" indent="-269875" algn="l">
                        <a:spcAft>
                          <a:spcPts val="6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Never</a:t>
                      </a:r>
                    </a:p>
                    <a:p>
                      <a:pPr marL="269875" indent="-269875" algn="l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Sometimes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9875" indent="-269875" algn="l">
                        <a:spcAft>
                          <a:spcPts val="6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Usually</a:t>
                      </a:r>
                    </a:p>
                    <a:p>
                      <a:pPr marL="269875" indent="-269875" algn="l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Always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Did I use strategies to 'un-stick' myself when I found the problems difficult?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9875" indent="-269875" algn="l">
                        <a:spcAft>
                          <a:spcPts val="6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Never</a:t>
                      </a:r>
                    </a:p>
                    <a:p>
                      <a:pPr marL="269875" indent="-269875" algn="l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Sometimes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9875" indent="-269875" algn="l">
                        <a:spcAft>
                          <a:spcPts val="6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Usually</a:t>
                      </a:r>
                    </a:p>
                    <a:p>
                      <a:pPr marL="269875" indent="-269875" algn="l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Always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Did I put as much effort as I possibly could into the problems?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9875" indent="-269875" algn="l">
                        <a:spcAft>
                          <a:spcPts val="6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Never</a:t>
                      </a:r>
                    </a:p>
                    <a:p>
                      <a:pPr marL="269875" indent="-269875" algn="l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Sometimes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9875" indent="-269875" algn="l">
                        <a:spcAft>
                          <a:spcPts val="6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Usually</a:t>
                      </a:r>
                    </a:p>
                    <a:p>
                      <a:pPr marL="269875" indent="-269875" algn="l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Always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3.6.5 Wrap-Up: Growth Mindset</a:t>
            </a:r>
          </a:p>
        </p:txBody>
      </p:sp>
      <p:pic>
        <p:nvPicPr>
          <p:cNvPr id="10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3234</TotalTime>
  <Words>868</Words>
  <Application>Microsoft Macintosh PowerPoint</Application>
  <PresentationFormat>Widescreen</PresentationFormat>
  <Paragraphs>204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Calibri</vt:lpstr>
      <vt:lpstr>Arial Black</vt:lpstr>
      <vt:lpstr>Cambria Math</vt:lpstr>
      <vt:lpstr>Wingdings</vt:lpstr>
      <vt:lpstr>Verdana</vt:lpstr>
      <vt:lpstr>Courier New</vt:lpstr>
      <vt:lpstr>Arial</vt:lpstr>
      <vt:lpstr>Cambria</vt:lpstr>
      <vt:lpstr>Century Gothic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45</cp:revision>
  <dcterms:created xsi:type="dcterms:W3CDTF">2015-03-17T18:51:18Z</dcterms:created>
  <dcterms:modified xsi:type="dcterms:W3CDTF">2023-02-02T15:33:42Z</dcterms:modified>
</cp:coreProperties>
</file>