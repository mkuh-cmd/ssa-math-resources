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345" r:id="rId4"/>
    <p:sldId id="286" r:id="rId5"/>
    <p:sldId id="261" r:id="rId6"/>
    <p:sldId id="287" r:id="rId7"/>
    <p:sldId id="381" r:id="rId8"/>
    <p:sldId id="395" r:id="rId9"/>
    <p:sldId id="396" r:id="rId10"/>
    <p:sldId id="397" r:id="rId11"/>
    <p:sldId id="399" r:id="rId12"/>
    <p:sldId id="400" r:id="rId13"/>
    <p:sldId id="401" r:id="rId14"/>
    <p:sldId id="346" r:id="rId15"/>
    <p:sldId id="347" r:id="rId16"/>
    <p:sldId id="348" r:id="rId17"/>
    <p:sldId id="349" r:id="rId18"/>
    <p:sldId id="350" r:id="rId19"/>
    <p:sldId id="385" r:id="rId20"/>
    <p:sldId id="376" r:id="rId21"/>
    <p:sldId id="377" r:id="rId22"/>
    <p:sldId id="378" r:id="rId23"/>
    <p:sldId id="306" r:id="rId24"/>
    <p:sldId id="307" r:id="rId25"/>
  </p:sldIdLst>
  <p:sldSz cx="12192000" cy="6858000"/>
  <p:notesSz cx="6858000" cy="9144000"/>
  <p:embeddedFontLst>
    <p:embeddedFont>
      <p:font typeface="Cambria" pitchFamily="18" charset="0"/>
      <p:regular r:id="rId27"/>
      <p:bold r:id="rId28"/>
      <p:italic r:id="rId29"/>
      <p:boldItalic r:id="rId30"/>
    </p:embeddedFont>
    <p:embeddedFont>
      <p:font typeface="Arial Black" pitchFamily="34" charset="0"/>
      <p:bold r:id="rId31"/>
    </p:embeddedFont>
    <p:embeddedFont>
      <p:font typeface="Verdana" pitchFamily="34" charset="0"/>
      <p:regular r:id="rId32"/>
      <p:bold r:id="rId33"/>
      <p:italic r:id="rId34"/>
      <p:boldItalic r:id="rId35"/>
    </p:embeddedFont>
    <p:embeddedFont>
      <p:font typeface="Calibri" pitchFamily="34" charset="0"/>
      <p:regular r:id="rId36"/>
      <p:bold r:id="rId37"/>
      <p:italic r:id="rId38"/>
      <p:boldItalic r:id="rId39"/>
    </p:embeddedFont>
    <p:embeddedFont>
      <p:font typeface="Century Gothic" pitchFamily="34" charset="0"/>
      <p:regular r:id="rId40"/>
      <p:bold r:id="rId41"/>
      <p:italic r:id="rId42"/>
      <p:boldItalic r:id="rId43"/>
    </p:embeddedFont>
    <p:embeddedFont>
      <p:font typeface="Cambria Math" pitchFamily="18" charset="0"/>
      <p:regular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4E5F"/>
    <a:srgbClr val="FABB42"/>
    <a:srgbClr val="F79B59"/>
    <a:srgbClr val="F26763"/>
    <a:srgbClr val="1765AD"/>
    <a:srgbClr val="1664AC"/>
    <a:srgbClr val="BFBFBF"/>
    <a:srgbClr val="C9DF6F"/>
    <a:srgbClr val="417DBF"/>
    <a:srgbClr val="3F2A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8025" autoAdjust="0"/>
    <p:restoredTop sz="94609" autoAdjust="0"/>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font" Target="fonts/font15.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56"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732897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191503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031511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040744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988717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128843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985177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6253031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83880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9172432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4985123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301364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86060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657414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2949622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869113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40664813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9.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0.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30.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7" name="Google Shape;261;g104476d1465_0_0"/>
          <p:cNvSpPr txBox="1">
            <a:spLocks/>
          </p:cNvSpPr>
          <p:nvPr/>
        </p:nvSpPr>
        <p:spPr>
          <a:xfrm>
            <a:off x="5050737" y="2054277"/>
            <a:ext cx="6309360"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8</a:t>
            </a:r>
            <a:r>
              <a:rPr lang="en-US" sz="4000" b="1" baseline="30000" dirty="0">
                <a:solidFill>
                  <a:srgbClr val="417DBF"/>
                </a:solidFill>
                <a:latin typeface="Verdana"/>
                <a:ea typeface="Verdana"/>
                <a:cs typeface="Verdana"/>
                <a:sym typeface="Verdana"/>
              </a:rPr>
              <a:t>th</a:t>
            </a:r>
            <a:r>
              <a:rPr lang="en-US" sz="4000" b="1" dirty="0">
                <a:solidFill>
                  <a:srgbClr val="417DBF"/>
                </a:solidFill>
                <a:latin typeface="Verdana"/>
                <a:ea typeface="Verdana"/>
                <a:cs typeface="Verdana"/>
                <a:sym typeface="Verdana"/>
              </a:rPr>
              <a:t> Grade Math: </a:t>
            </a:r>
            <a:r>
              <a:rPr lang="en-US" sz="4000" b="1" dirty="0" smtClean="0">
                <a:solidFill>
                  <a:srgbClr val="417DBF"/>
                </a:solidFill>
                <a:latin typeface="Verdana"/>
                <a:ea typeface="Verdana"/>
                <a:cs typeface="Verdana"/>
                <a:sym typeface="Verdana"/>
              </a:rPr>
              <a:t/>
            </a:r>
            <a:br>
              <a:rPr lang="en-US" sz="4000" b="1" dirty="0" smtClean="0">
                <a:solidFill>
                  <a:srgbClr val="417DBF"/>
                </a:solidFill>
                <a:latin typeface="Verdana"/>
                <a:ea typeface="Verdana"/>
                <a:cs typeface="Verdana"/>
                <a:sym typeface="Verdana"/>
              </a:rPr>
            </a:br>
            <a:r>
              <a:rPr lang="en-US" sz="4000" b="1" dirty="0" smtClean="0">
                <a:solidFill>
                  <a:srgbClr val="417DBF"/>
                </a:solidFill>
                <a:latin typeface="Verdana"/>
                <a:ea typeface="Verdana"/>
                <a:cs typeface="Verdana"/>
                <a:sym typeface="Verdana"/>
              </a:rPr>
              <a:t>Pre-Algebra</a:t>
            </a: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lnSpc>
                <a:spcPct val="100000"/>
              </a:lnSpc>
              <a:buClr>
                <a:srgbClr val="000000"/>
              </a:buClr>
            </a:pPr>
            <a:r>
              <a:rPr lang="en-US" sz="4000" b="1" dirty="0">
                <a:solidFill>
                  <a:srgbClr val="417DBF"/>
                </a:solidFill>
                <a:latin typeface="Verdana"/>
                <a:ea typeface="Verdana"/>
                <a:cs typeface="Verdana"/>
                <a:sym typeface="Verdana"/>
              </a:rPr>
              <a:t>Unit 3, Lesson 7</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Dividing Numbers Expressed in Scientific Notation</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111</a:t>
            </a:r>
          </a:p>
          <a:p>
            <a:pPr algn="ctr">
              <a:lnSpc>
                <a:spcPct val="100000"/>
              </a:lnSpc>
              <a:buClr>
                <a:srgbClr val="000000"/>
              </a:buClr>
            </a:pPr>
            <a:endParaRPr lang="en-US" sz="36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111</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dirty="0" smtClean="0">
                <a:solidFill>
                  <a:srgbClr val="54B5D1"/>
                </a:solidFill>
                <a:latin typeface="Verdana"/>
                <a:ea typeface="Verdana"/>
                <a:cs typeface="Verdana"/>
                <a:sym typeface="Verdana"/>
              </a:rPr>
              <a:t>Benchmarks</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mc="http://schemas.openxmlformats.org/markup-compatibility/2006" xmlns:a14="http://schemas.microsoft.com/office/drawing/2010/main" xmlns:a16="http://schemas.microsoft.com/office/drawing/2014/main" xmlns=""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MA.8.NSO.1.5</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Add, subtract, multiply, and divide numbers expressed in scientific notation with procedural fluency.</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 </a:t>
            </a:r>
          </a:p>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MA.8.NSO.1.6</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Solve real-world problems involving operations with numbers expressed in scientific notation.</a:t>
            </a:r>
            <a:endParaRPr lang="en-US" sz="3200"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xmlns="" id="{78632872-3F42-3447-924A-20A16C6976F7}"/>
              </a:ext>
            </a:extLst>
          </p:cNvPr>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Google Shape;283;g104476d1465_1_17">
            <a:extLst>
              <a:ext uri="{FF2B5EF4-FFF2-40B4-BE49-F238E27FC236}">
                <a16:creationId xmlns:a16="http://schemas.microsoft.com/office/drawing/2014/main" xmlns="" id="{983DCB5F-2CE8-A74F-A579-F39E2E9337FB}"/>
              </a:ext>
            </a:extLst>
          </p:cNvPr>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37CC83FF-5C83-CD42-A75D-B443F14E1C19}"/>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111</a:t>
            </a:r>
            <a:endParaRPr i="1" dirty="0">
              <a:latin typeface="Calibri"/>
              <a:ea typeface="Calibri"/>
              <a:cs typeface="Calibri"/>
              <a:sym typeface="Calibri"/>
            </a:endParaRPr>
          </a:p>
        </p:txBody>
      </p:sp>
      <p:pic>
        <p:nvPicPr>
          <p:cNvPr id="8"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0"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E147E8E3-844B-6A49-A77E-05F3246D39F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111</a:t>
            </a:r>
            <a:endParaRPr i="1" dirty="0">
              <a:latin typeface="Calibri"/>
              <a:ea typeface="Calibri"/>
              <a:cs typeface="Calibri"/>
              <a:sym typeface="Calibri"/>
            </a:endParaRPr>
          </a:p>
        </p:txBody>
      </p:sp>
      <p:sp>
        <p:nvSpPr>
          <p:cNvPr id="8"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Targets</a:t>
            </a:r>
            <a:endParaRPr lang="en-US" sz="4700" b="1" dirty="0">
              <a:solidFill>
                <a:srgbClr val="52BDA6"/>
              </a:solidFill>
              <a:latin typeface="Verdana"/>
              <a:ea typeface="Verdana"/>
              <a:cs typeface="Verdana"/>
              <a:sym typeface="Verdana"/>
            </a:endParaRPr>
          </a:p>
        </p:txBody>
      </p:sp>
      <p:pic>
        <p:nvPicPr>
          <p:cNvPr id="11"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divide numbers expressed in scientific notation.</a:t>
            </a:r>
          </a:p>
          <a:p>
            <a:pPr marL="685800" indent="-685800">
              <a:buFont typeface="Wingdings"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685800" indent="-6858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solve real-world problems involving operations with numbers expressed in scientific notation.</a:t>
            </a:r>
            <a:endParaRPr lang="en-US" sz="35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43D2F04D-C861-A149-B5F8-A913FBED75AE}"/>
              </a:ext>
            </a:extLst>
          </p:cNvPr>
          <p:cNvSpPr txBox="1"/>
          <p:nvPr/>
        </p:nvSpPr>
        <p:spPr>
          <a:xfrm>
            <a:off x="894283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111</a:t>
            </a:r>
            <a:endParaRPr i="1" dirty="0">
              <a:latin typeface="Calibri"/>
              <a:ea typeface="Calibri"/>
              <a:cs typeface="Calibri"/>
              <a:sym typeface="Calibri"/>
            </a:endParaRPr>
          </a:p>
        </p:txBody>
      </p:sp>
      <p:pic>
        <p:nvPicPr>
          <p:cNvPr id="8"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9"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TextBox 1">
            <a:extLst>
              <a:ext uri="{FF2B5EF4-FFF2-40B4-BE49-F238E27FC236}">
                <a16:creationId xmlns:a16="http://schemas.microsoft.com/office/drawing/2014/main" xmlns="" id="{E1D7562E-134F-D14B-AF1A-DF40E11EF758}"/>
              </a:ext>
            </a:extLst>
          </p:cNvPr>
          <p:cNvSpPr txBox="1"/>
          <p:nvPr/>
        </p:nvSpPr>
        <p:spPr>
          <a:xfrm>
            <a:off x="639222" y="1175305"/>
            <a:ext cx="10709498" cy="40011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table shows information from four different toilet paper roll packages. </a:t>
            </a:r>
          </a:p>
        </p:txBody>
      </p:sp>
      <p:sp>
        <p:nvSpPr>
          <p:cNvPr id="19" name="Rectangle 13">
            <a:extLst>
              <a:ext uri="{FF2B5EF4-FFF2-40B4-BE49-F238E27FC236}">
                <a16:creationId xmlns:a16="http://schemas.microsoft.com/office/drawing/2014/main" xmlns=""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xmlns=""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Google Shape;282;g104476d1465_1_17">
            <a:extLst>
              <a:ext uri="{FF2B5EF4-FFF2-40B4-BE49-F238E27FC236}">
                <a16:creationId xmlns:a16="http://schemas.microsoft.com/office/drawing/2014/main" xmlns="" id="{0CD40667-98C3-7A43-A8EC-50FA988E094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179A696E-6DA7-414B-8936-B02908011C34}"/>
                  </a:ext>
                </a:extLst>
              </p:cNvPr>
              <p:cNvGraphicFramePr>
                <a:graphicFrameLocks noGrp="1"/>
              </p:cNvGraphicFramePr>
              <p:nvPr>
                <p:extLst>
                  <p:ext uri="{D42A27DB-BD31-4B8C-83A1-F6EECF244321}">
                    <p14:modId xmlns:p14="http://schemas.microsoft.com/office/powerpoint/2010/main" val="2032707284"/>
                  </p:ext>
                </p:extLst>
              </p:nvPr>
            </p:nvGraphicFramePr>
            <p:xfrm>
              <a:off x="2459786" y="2061259"/>
              <a:ext cx="7068370" cy="3910572"/>
            </p:xfrm>
            <a:graphic>
              <a:graphicData uri="http://schemas.openxmlformats.org/drawingml/2006/table">
                <a:tbl>
                  <a:tblPr firstRow="1" firstCol="1" bandRow="1"/>
                  <a:tblGrid>
                    <a:gridCol w="3468370">
                      <a:extLst>
                        <a:ext uri="{9D8B030D-6E8A-4147-A177-3AD203B41FA5}">
                          <a16:colId xmlns:a16="http://schemas.microsoft.com/office/drawing/2014/main" xmlns="" val="3469318920"/>
                        </a:ext>
                      </a:extLst>
                    </a:gridCol>
                    <a:gridCol w="3600000">
                      <a:extLst>
                        <a:ext uri="{9D8B030D-6E8A-4147-A177-3AD203B41FA5}">
                          <a16:colId xmlns:a16="http://schemas.microsoft.com/office/drawing/2014/main" xmlns="" val="2368647640"/>
                        </a:ext>
                      </a:extLst>
                    </a:gridCol>
                  </a:tblGrid>
                  <a:tr h="574821">
                    <a:tc>
                      <a:txBody>
                        <a:bodyPr/>
                        <a:lstStyle/>
                        <a:p>
                          <a:pPr marL="0" marR="0" algn="ctr">
                            <a:spcBef>
                              <a:spcPts val="0"/>
                            </a:spcBef>
                            <a:spcAft>
                              <a:spcPts val="0"/>
                            </a:spcAft>
                          </a:pPr>
                          <a14:m>
                            <m:oMath xmlns:m="http://schemas.openxmlformats.org/officeDocument/2006/math">
                              <m:r>
                                <a:rPr lang="en-US" sz="2000" b="1" i="1">
                                  <a:effectLst/>
                                  <a:latin typeface="Cambria Math" panose="02040503050406030204" pitchFamily="18" charset="0"/>
                                  <a:ea typeface="Times New Roman" panose="02020603050405020304" pitchFamily="18" charset="0"/>
                                  <a:cs typeface="Times New Roman" panose="02020603050405020304" pitchFamily="18" charset="0"/>
                                </a:rPr>
                                <m:t>𝟏𝟖</m:t>
                              </m:r>
                            </m:oMath>
                          </a14:m>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 Mega Rolls =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𝟕𝟐</m:t>
                              </m:r>
                            </m:oMath>
                          </a14:m>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 Regular Rolls</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𝟐𝟒</m:t>
                              </m:r>
                            </m:oMath>
                          </a14:m>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 Family Mega Rolls =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𝟏𝟐𝟑</m:t>
                              </m:r>
                            </m:oMath>
                          </a14:m>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 Regular Rolls</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3208761728"/>
                      </a:ext>
                    </a:extLst>
                  </a:tr>
                  <a:tr h="1232452">
                    <a:tc>
                      <a:txBody>
                        <a:bodyPr/>
                        <a:lstStyle/>
                        <a:p>
                          <a:pPr marL="0" marR="0" indent="-23495" algn="ctr">
                            <a:spcBef>
                              <a:spcPts val="0"/>
                            </a:spcBef>
                            <a:spcAft>
                              <a:spcPts val="0"/>
                            </a:spcAft>
                          </a:pPr>
                          <a:r>
                            <a:rPr lang="en-US" sz="2000" b="1">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2328408"/>
                      </a:ext>
                    </a:extLst>
                  </a:tr>
                  <a:tr h="605769">
                    <a:tc>
                      <a:txBody>
                        <a:bodyPr/>
                        <a:lstStyle/>
                        <a:p>
                          <a:pPr marL="0" marR="0" algn="ctr">
                            <a:spcBef>
                              <a:spcPts val="0"/>
                            </a:spcBef>
                            <a:spcAft>
                              <a:spcPts val="0"/>
                            </a:spcAft>
                          </a:pP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𝟑𝟎</m:t>
                              </m:r>
                            </m:oMath>
                          </a14:m>
                          <a:r>
                            <a:rPr lang="en-US" sz="2000" b="1">
                              <a:solidFill>
                                <a:srgbClr val="000000"/>
                              </a:solidFill>
                              <a:effectLst/>
                              <a:latin typeface="Verdana" panose="020B0604030504040204" pitchFamily="34" charset="0"/>
                              <a:ea typeface="Verdana" pitchFamily="34" charset="0"/>
                              <a:cs typeface="Times New Roman" panose="02020603050405020304" pitchFamily="18" charset="0"/>
                            </a:rPr>
                            <a:t> Mega Rolls =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𝟏𝟐𝟎</m:t>
                              </m:r>
                            </m:oMath>
                          </a14:m>
                          <a:r>
                            <a:rPr lang="en-US" sz="2000" b="1">
                              <a:solidFill>
                                <a:srgbClr val="000000"/>
                              </a:solidFill>
                              <a:effectLst/>
                              <a:latin typeface="Verdana" panose="020B0604030504040204" pitchFamily="34" charset="0"/>
                              <a:ea typeface="Verdana" pitchFamily="34" charset="0"/>
                              <a:cs typeface="Times New Roman" panose="02020603050405020304" pitchFamily="18" charset="0"/>
                            </a:rPr>
                            <a:t> Regular Rolls</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𝟏𝟖</m:t>
                              </m:r>
                            </m:oMath>
                          </a14:m>
                          <a:r>
                            <a:rPr lang="en-US" sz="2000" b="1">
                              <a:solidFill>
                                <a:srgbClr val="000000"/>
                              </a:solidFill>
                              <a:effectLst/>
                              <a:latin typeface="Verdana" panose="020B0604030504040204" pitchFamily="34" charset="0"/>
                              <a:ea typeface="Verdana" pitchFamily="34" charset="0"/>
                              <a:cs typeface="Times New Roman" panose="02020603050405020304" pitchFamily="18" charset="0"/>
                            </a:rPr>
                            <a:t> Family Mega Rolls = </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𝟗𝟎</m:t>
                              </m:r>
                            </m:oMath>
                          </a14:m>
                          <a:r>
                            <a:rPr lang="en-US" sz="2000" b="1">
                              <a:solidFill>
                                <a:srgbClr val="000000"/>
                              </a:solidFill>
                              <a:effectLst/>
                              <a:latin typeface="Verdana" panose="020B0604030504040204" pitchFamily="34" charset="0"/>
                              <a:ea typeface="Verdana" pitchFamily="34" charset="0"/>
                              <a:cs typeface="Times New Roman" panose="02020603050405020304" pitchFamily="18" charset="0"/>
                            </a:rPr>
                            <a:t> Regular Rolls</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2121899720"/>
                      </a:ext>
                    </a:extLst>
                  </a:tr>
                  <a:tr h="1276040">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70065442"/>
                      </a:ext>
                    </a:extLst>
                  </a:tr>
                </a:tbl>
              </a:graphicData>
            </a:graphic>
          </p:graphicFrame>
        </mc:Choice>
        <mc:Fallback xmlns="">
          <p:graphicFrame>
            <p:nvGraphicFramePr>
              <p:cNvPr id="4" name="Table 3">
                <a:extLst>
                  <a:ext uri="{FF2B5EF4-FFF2-40B4-BE49-F238E27FC236}">
                    <a16:creationId xmlns:a16="http://schemas.microsoft.com/office/drawing/2014/main" id="{179A696E-6DA7-414B-8936-B02908011C34}"/>
                  </a:ext>
                </a:extLst>
              </p:cNvPr>
              <p:cNvGraphicFramePr>
                <a:graphicFrameLocks noGrp="1"/>
              </p:cNvGraphicFramePr>
              <p:nvPr>
                <p:extLst>
                  <p:ext uri="{D42A27DB-BD31-4B8C-83A1-F6EECF244321}">
                    <p14:modId xmlns:p14="http://schemas.microsoft.com/office/powerpoint/2010/main" val="2032707284"/>
                  </p:ext>
                </p:extLst>
              </p:nvPr>
            </p:nvGraphicFramePr>
            <p:xfrm>
              <a:off x="2459786" y="2061259"/>
              <a:ext cx="7068370" cy="3910572"/>
            </p:xfrm>
            <a:graphic>
              <a:graphicData uri="http://schemas.openxmlformats.org/drawingml/2006/table">
                <a:tbl>
                  <a:tblPr firstRow="1" firstCol="1" bandRow="1"/>
                  <a:tblGrid>
                    <a:gridCol w="3468370">
                      <a:extLst>
                        <a:ext uri="{9D8B030D-6E8A-4147-A177-3AD203B41FA5}">
                          <a16:colId xmlns:a16="http://schemas.microsoft.com/office/drawing/2014/main" val="3469318920"/>
                        </a:ext>
                      </a:extLst>
                    </a:gridCol>
                    <a:gridCol w="3600000">
                      <a:extLst>
                        <a:ext uri="{9D8B030D-6E8A-4147-A177-3AD203B41FA5}">
                          <a16:colId xmlns:a16="http://schemas.microsoft.com/office/drawing/2014/main" val="2368647640"/>
                        </a:ext>
                      </a:extLst>
                    </a:gridCol>
                  </a:tblGrid>
                  <a:tr h="7010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65" t="-5455" r="-104380" b="-463636"/>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96831" t="-5455" r="-704" b="-463636"/>
                          </a:stretch>
                        </a:blipFill>
                      </a:tcPr>
                    </a:tc>
                    <a:extLst>
                      <a:ext uri="{0D108BD9-81ED-4DB2-BD59-A6C34878D82A}">
                        <a16:rowId xmlns:a16="http://schemas.microsoft.com/office/drawing/2014/main" val="3208761728"/>
                      </a:ext>
                    </a:extLst>
                  </a:tr>
                  <a:tr h="1232452">
                    <a:tc>
                      <a:txBody>
                        <a:bodyPr/>
                        <a:lstStyle/>
                        <a:p>
                          <a:pPr marL="0" marR="0" indent="-23495" algn="ctr">
                            <a:spcBef>
                              <a:spcPts val="0"/>
                            </a:spcBef>
                            <a:spcAft>
                              <a:spcPts val="0"/>
                            </a:spcAft>
                          </a:pPr>
                          <a:r>
                            <a:rPr lang="en-US" sz="2000" b="1">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328408"/>
                      </a:ext>
                    </a:extLst>
                  </a:tr>
                  <a:tr h="70104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65" t="-283636" r="-104380" b="-185455"/>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96831" t="-283636" r="-704" b="-185455"/>
                          </a:stretch>
                        </a:blipFill>
                      </a:tcPr>
                    </a:tc>
                    <a:extLst>
                      <a:ext uri="{0D108BD9-81ED-4DB2-BD59-A6C34878D82A}">
                        <a16:rowId xmlns:a16="http://schemas.microsoft.com/office/drawing/2014/main" val="2121899720"/>
                      </a:ext>
                    </a:extLst>
                  </a:tr>
                  <a:tr h="1276040">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065442"/>
                      </a:ext>
                    </a:extLst>
                  </a:tr>
                </a:tbl>
              </a:graphicData>
            </a:graphic>
          </p:graphicFrame>
        </mc:Fallback>
      </mc:AlternateContent>
      <p:pic>
        <p:nvPicPr>
          <p:cNvPr id="16" name="Picture 15" descr="Graphical user interface&#10;&#10;Description automatically generated">
            <a:extLst>
              <a:ext uri="{FF2B5EF4-FFF2-40B4-BE49-F238E27FC236}">
                <a16:creationId xmlns:a16="http://schemas.microsoft.com/office/drawing/2014/main" xmlns="" id="{0BA04523-1853-B541-8570-FB3577F4276E}"/>
              </a:ext>
            </a:extLst>
          </p:cNvPr>
          <p:cNvPicPr>
            <a:picLocks noChangeAspect="1"/>
          </p:cNvPicPr>
          <p:nvPr/>
        </p:nvPicPr>
        <p:blipFill rotWithShape="1">
          <a:blip r:embed="rId6">
            <a:extLst>
              <a:ext uri="{28A0092B-C50C-407E-A947-70E740481C1C}">
                <a14:useLocalDpi xmlns:a14="http://schemas.microsoft.com/office/drawing/2010/main"/>
              </a:ext>
            </a:extLst>
          </a:blip>
          <a:srcRect l="2269" r="2458"/>
          <a:stretch/>
        </p:blipFill>
        <p:spPr bwMode="auto">
          <a:xfrm>
            <a:off x="2877808" y="2741893"/>
            <a:ext cx="2747897" cy="1274652"/>
          </a:xfrm>
          <a:prstGeom prst="rect">
            <a:avLst/>
          </a:prstGeom>
          <a:ln>
            <a:noFill/>
          </a:ln>
          <a:extLst>
            <a:ext uri="{53640926-AAD7-44D8-BBD7-CCE9431645EC}">
              <a14:shadowObscured xmlns:a14="http://schemas.microsoft.com/office/drawing/2010/main"/>
            </a:ext>
          </a:extLst>
        </p:spPr>
      </p:pic>
      <p:pic>
        <p:nvPicPr>
          <p:cNvPr id="17" name="Picture 16" descr="Text&#10;&#10;Description automatically generated">
            <a:extLst>
              <a:ext uri="{FF2B5EF4-FFF2-40B4-BE49-F238E27FC236}">
                <a16:creationId xmlns:a16="http://schemas.microsoft.com/office/drawing/2014/main" xmlns="" id="{552E7B96-DBEA-DA4E-B649-5E7129E6125B}"/>
              </a:ext>
            </a:extLst>
          </p:cNvPr>
          <p:cNvPicPr>
            <a:picLocks noChangeAspect="1"/>
          </p:cNvPicPr>
          <p:nvPr/>
        </p:nvPicPr>
        <p:blipFill rotWithShape="1">
          <a:blip r:embed="rId7">
            <a:extLst>
              <a:ext uri="{28A0092B-C50C-407E-A947-70E740481C1C}">
                <a14:useLocalDpi xmlns:a14="http://schemas.microsoft.com/office/drawing/2010/main"/>
              </a:ext>
            </a:extLst>
          </a:blip>
          <a:srcRect l="2378" r="2475"/>
          <a:stretch/>
        </p:blipFill>
        <p:spPr bwMode="auto">
          <a:xfrm>
            <a:off x="6488343" y="2761189"/>
            <a:ext cx="2630557" cy="1270630"/>
          </a:xfrm>
          <a:prstGeom prst="rect">
            <a:avLst/>
          </a:prstGeom>
          <a:ln>
            <a:noFill/>
          </a:ln>
          <a:extLst>
            <a:ext uri="{53640926-AAD7-44D8-BBD7-CCE9431645EC}">
              <a14:shadowObscured xmlns:a14="http://schemas.microsoft.com/office/drawing/2010/main"/>
            </a:ext>
          </a:extLst>
        </p:spPr>
      </p:pic>
      <p:pic>
        <p:nvPicPr>
          <p:cNvPr id="18" name="Picture 17" descr="Graphical user interface&#10;&#10;Description automatically generated">
            <a:extLst>
              <a:ext uri="{FF2B5EF4-FFF2-40B4-BE49-F238E27FC236}">
                <a16:creationId xmlns:a16="http://schemas.microsoft.com/office/drawing/2014/main" xmlns="" id="{61D5C94B-C446-2F41-8F73-5498DEBF45E8}"/>
              </a:ext>
            </a:extLst>
          </p:cNvPr>
          <p:cNvPicPr>
            <a:picLocks noChangeAspect="1"/>
          </p:cNvPicPr>
          <p:nvPr/>
        </p:nvPicPr>
        <p:blipFill rotWithShape="1">
          <a:blip r:embed="rId8">
            <a:extLst>
              <a:ext uri="{28A0092B-C50C-407E-A947-70E740481C1C}">
                <a14:useLocalDpi xmlns:a14="http://schemas.microsoft.com/office/drawing/2010/main"/>
              </a:ext>
            </a:extLst>
          </a:blip>
          <a:srcRect l="2260" r="3022"/>
          <a:stretch/>
        </p:blipFill>
        <p:spPr bwMode="auto">
          <a:xfrm>
            <a:off x="2876492" y="4701201"/>
            <a:ext cx="2732975" cy="1270630"/>
          </a:xfrm>
          <a:prstGeom prst="rect">
            <a:avLst/>
          </a:prstGeom>
          <a:ln>
            <a:noFill/>
          </a:ln>
          <a:extLst>
            <a:ext uri="{53640926-AAD7-44D8-BBD7-CCE9431645EC}">
              <a14:shadowObscured xmlns:a14="http://schemas.microsoft.com/office/drawing/2010/main"/>
            </a:ext>
          </a:extLst>
        </p:spPr>
      </p:pic>
      <p:pic>
        <p:nvPicPr>
          <p:cNvPr id="23" name="Picture 22" descr="Graphical user interface&#10;&#10;Description automatically generated">
            <a:extLst>
              <a:ext uri="{FF2B5EF4-FFF2-40B4-BE49-F238E27FC236}">
                <a16:creationId xmlns:a16="http://schemas.microsoft.com/office/drawing/2014/main" xmlns="" id="{92CDD63F-9DE6-6947-BCAB-07C96875EB1A}"/>
              </a:ext>
            </a:extLst>
          </p:cNvPr>
          <p:cNvPicPr>
            <a:picLocks noChangeAspect="1"/>
          </p:cNvPicPr>
          <p:nvPr/>
        </p:nvPicPr>
        <p:blipFill rotWithShape="1">
          <a:blip r:embed="rId9">
            <a:extLst>
              <a:ext uri="{28A0092B-C50C-407E-A947-70E740481C1C}">
                <a14:useLocalDpi xmlns:a14="http://schemas.microsoft.com/office/drawing/2010/main"/>
              </a:ext>
            </a:extLst>
          </a:blip>
          <a:srcRect l="2572" r="3189"/>
          <a:stretch/>
        </p:blipFill>
        <p:spPr bwMode="auto">
          <a:xfrm>
            <a:off x="6437133" y="4681436"/>
            <a:ext cx="2732975" cy="1310160"/>
          </a:xfrm>
          <a:prstGeom prst="rect">
            <a:avLst/>
          </a:prstGeom>
          <a:ln>
            <a:noFill/>
          </a:ln>
          <a:extLst>
            <a:ext uri="{53640926-AAD7-44D8-BBD7-CCE9431645EC}">
              <a14:shadowObscured xmlns:a14="http://schemas.microsoft.com/office/drawing/2010/main"/>
            </a:ext>
          </a:extLst>
        </p:spPr>
      </p:pic>
      <p:sp>
        <p:nvSpPr>
          <p:cNvPr id="24"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3.7.1 Warm-Up: Toilet Paper Math</a:t>
            </a:r>
            <a:endParaRPr lang="en-US" sz="3600" b="1" dirty="0">
              <a:solidFill>
                <a:srgbClr val="3F2A67"/>
              </a:solidFill>
              <a:latin typeface="Verdana"/>
              <a:ea typeface="Verdana"/>
              <a:cs typeface="Verdana"/>
              <a:sym typeface="Verdana"/>
            </a:endParaRPr>
          </a:p>
        </p:txBody>
      </p:sp>
      <p:pic>
        <p:nvPicPr>
          <p:cNvPr id="25"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10">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xmlns="" id="{E1D7562E-134F-D14B-AF1A-DF40E11EF758}"/>
                  </a:ext>
                </a:extLst>
              </p:cNvPr>
              <p:cNvSpPr txBox="1"/>
              <p:nvPr/>
            </p:nvSpPr>
            <p:spPr>
              <a:xfrm>
                <a:off x="639222" y="525346"/>
                <a:ext cx="11075258" cy="452431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How many regular rolls are equal to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mega roll?</a:t>
                </a: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Explain why determining the number of Regular Rolls packs that are equal to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Family Mega Rolls pack would require you to estimate.</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Write a question about the toilet paper rolls that could be asked to a 6</a:t>
                </a:r>
                <a:r>
                  <a:rPr lang="en-US" sz="2400" baseline="30000" dirty="0">
                    <a:latin typeface="Verdana" panose="020B0604030504040204" pitchFamily="34" charset="0"/>
                    <a:ea typeface="Verdana" panose="020B0604030504040204" pitchFamily="34" charset="0"/>
                    <a:cs typeface="Verdana" panose="020B0604030504040204" pitchFamily="34" charset="0"/>
                  </a:rPr>
                  <a:t>th</a:t>
                </a:r>
                <a:r>
                  <a:rPr lang="en-US" sz="2400" dirty="0">
                    <a:latin typeface="Verdana" panose="020B0604030504040204" pitchFamily="34" charset="0"/>
                    <a:ea typeface="Verdana" panose="020B0604030504040204" pitchFamily="34" charset="0"/>
                    <a:cs typeface="Verdana" panose="020B0604030504040204" pitchFamily="34" charset="0"/>
                  </a:rPr>
                  <a:t> grader.</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639222" y="525346"/>
                <a:ext cx="11075258" cy="4524315"/>
              </a:xfrm>
              <a:prstGeom prst="rect">
                <a:avLst/>
              </a:prstGeom>
              <a:blipFill>
                <a:blip r:embed="rId4"/>
                <a:stretch>
                  <a:fillRect l="-916" t="-1120" r="-344" b="-2241"/>
                </a:stretch>
              </a:blipFill>
            </p:spPr>
            <p:txBody>
              <a:bodyPr/>
              <a:lstStyle/>
              <a:p>
                <a:r>
                  <a:rPr lang="en-US">
                    <a:noFill/>
                  </a:rPr>
                  <a:t> </a:t>
                </a:r>
              </a:p>
            </p:txBody>
          </p:sp>
        </mc:Fallback>
      </mc:AlternateContent>
      <p:sp>
        <p:nvSpPr>
          <p:cNvPr id="19" name="Rectangle 13">
            <a:extLst>
              <a:ext uri="{FF2B5EF4-FFF2-40B4-BE49-F238E27FC236}">
                <a16:creationId xmlns:a16="http://schemas.microsoft.com/office/drawing/2014/main" xmlns=""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xmlns=""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Google Shape;282;g104476d1465_1_17">
            <a:extLst>
              <a:ext uri="{FF2B5EF4-FFF2-40B4-BE49-F238E27FC236}">
                <a16:creationId xmlns:a16="http://schemas.microsoft.com/office/drawing/2014/main" xmlns="" id="{0CD40667-98C3-7A43-A8EC-50FA988E094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111</a:t>
            </a:r>
            <a:endParaRPr i="1" dirty="0">
              <a:latin typeface="Calibri"/>
              <a:ea typeface="Calibri"/>
              <a:cs typeface="Calibri"/>
              <a:sym typeface="Calibri"/>
            </a:endParaRPr>
          </a:p>
        </p:txBody>
      </p:sp>
    </p:spTree>
    <p:extLst>
      <p:ext uri="{BB962C8B-B14F-4D97-AF65-F5344CB8AC3E}">
        <p14:creationId xmlns:p14="http://schemas.microsoft.com/office/powerpoint/2010/main" val="2697970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p:sp>
        <p:nvSpPr>
          <p:cNvPr id="9" name="Google Shape;313;g104476d1465_1_39"/>
          <p:cNvSpPr txBox="1">
            <a:spLocks/>
          </p:cNvSpPr>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3BEA6"/>
                </a:solidFill>
                <a:latin typeface="Verdana"/>
                <a:ea typeface="Verdana"/>
                <a:cs typeface="Verdana"/>
                <a:sym typeface="Verdana"/>
              </a:rPr>
              <a:t>Exploration</a:t>
            </a:r>
            <a:endParaRPr lang="en-US" sz="5100" b="1" dirty="0">
              <a:solidFill>
                <a:srgbClr val="33BEA6"/>
              </a:solidFill>
              <a:latin typeface="Verdana"/>
              <a:ea typeface="Verdana"/>
              <a:cs typeface="Verdana"/>
              <a:sym typeface="Verdana"/>
            </a:endParaRPr>
          </a:p>
        </p:txBody>
      </p:sp>
      <p:pic>
        <p:nvPicPr>
          <p:cNvPr id="10" name="Picture 2" descr="Icon&#10;&#10;Description automatically generated">
            <a:extLst>
              <a:ext uri="{FF2B5EF4-FFF2-40B4-BE49-F238E27FC236}">
                <a16:creationId xmlns=""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516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p:sp>
        <p:nvSpPr>
          <p:cNvPr id="11" name="TextBox 10">
            <a:extLst>
              <a:ext uri="{FF2B5EF4-FFF2-40B4-BE49-F238E27FC236}">
                <a16:creationId xmlns:a16="http://schemas.microsoft.com/office/drawing/2014/main" xmlns="" id="{B46B19A2-BBA2-0441-AC88-F1F62E75949B}"/>
              </a:ext>
            </a:extLst>
          </p:cNvPr>
          <p:cNvSpPr txBox="1"/>
          <p:nvPr/>
        </p:nvSpPr>
        <p:spPr>
          <a:xfrm>
            <a:off x="731520" y="1413303"/>
            <a:ext cx="10962639" cy="15696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problem in each table. First, determine the answer to the division problem in the first row, using whole numbers. Then, convert the whole numbers to scientific notation in the second row.</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C795472A-1DAF-F941-A8A0-AA8D623210B2}"/>
                  </a:ext>
                </a:extLst>
              </p:cNvPr>
              <p:cNvGraphicFramePr>
                <a:graphicFrameLocks noGrp="1"/>
              </p:cNvGraphicFramePr>
              <p:nvPr>
                <p:extLst>
                  <p:ext uri="{D42A27DB-BD31-4B8C-83A1-F6EECF244321}">
                    <p14:modId xmlns:p14="http://schemas.microsoft.com/office/powerpoint/2010/main" val="402324532"/>
                  </p:ext>
                </p:extLst>
              </p:nvPr>
            </p:nvGraphicFramePr>
            <p:xfrm>
              <a:off x="2432839" y="3370422"/>
              <a:ext cx="7560000" cy="2160000"/>
            </p:xfrm>
            <a:graphic>
              <a:graphicData uri="http://schemas.openxmlformats.org/drawingml/2006/table">
                <a:tbl>
                  <a:tblPr firstRow="1" firstCol="1" bandRow="1"/>
                  <a:tblGrid>
                    <a:gridCol w="2520000">
                      <a:extLst>
                        <a:ext uri="{9D8B030D-6E8A-4147-A177-3AD203B41FA5}">
                          <a16:colId xmlns:a16="http://schemas.microsoft.com/office/drawing/2014/main" xmlns="" val="3859626050"/>
                        </a:ext>
                      </a:extLst>
                    </a:gridCol>
                    <a:gridCol w="2520000">
                      <a:extLst>
                        <a:ext uri="{9D8B030D-6E8A-4147-A177-3AD203B41FA5}">
                          <a16:colId xmlns:a16="http://schemas.microsoft.com/office/drawing/2014/main" xmlns="" val="4128137430"/>
                        </a:ext>
                      </a:extLst>
                    </a:gridCol>
                    <a:gridCol w="2520000">
                      <a:extLst>
                        <a:ext uri="{9D8B030D-6E8A-4147-A177-3AD203B41FA5}">
                          <a16:colId xmlns:a16="http://schemas.microsoft.com/office/drawing/2014/main" xmlns="" val="3157113191"/>
                        </a:ext>
                      </a:extLst>
                    </a:gridCol>
                  </a:tblGrid>
                  <a:tr h="720000">
                    <a:tc>
                      <a:txBody>
                        <a:bodyPr/>
                        <a:lstStyle/>
                        <a:p>
                          <a:pPr marL="342900" marR="0" lvl="0" indent="-342900">
                            <a:spcBef>
                              <a:spcPts val="0"/>
                            </a:spcBef>
                            <a:spcAft>
                              <a:spcPts val="0"/>
                            </a:spcAft>
                            <a:buFont typeface="+mj-lt"/>
                            <a:buAutoNum type="arabicPeriod"/>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Problem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Helvetica Neue" panose="02000503000000020004" pitchFamily="2" charset="0"/>
                            </a:rPr>
                            <a:t>Answer</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1913046329"/>
                      </a:ext>
                    </a:extLst>
                  </a:tr>
                  <a:tr h="72000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Whole Numbers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600÷25</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45718580"/>
                      </a:ext>
                    </a:extLst>
                  </a:tr>
                  <a:tr h="72000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Scientific Notation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2.4 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000" i="1">
                                        <a:effectLst/>
                                        <a:latin typeface="Cambria Math"/>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1</m:t>
                                    </m:r>
                                  </m:sup>
                                </m:sSup>
                              </m:oMath>
                            </m:oMathPara>
                          </a14:m>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19227127"/>
                      </a:ext>
                    </a:extLst>
                  </a:tr>
                </a:tbl>
              </a:graphicData>
            </a:graphic>
          </p:graphicFrame>
        </mc:Choice>
        <mc:Fallback xmlns="">
          <p:graphicFrame>
            <p:nvGraphicFramePr>
              <p:cNvPr id="3" name="Table 2">
                <a:extLst>
                  <a:ext uri="{FF2B5EF4-FFF2-40B4-BE49-F238E27FC236}">
                    <a16:creationId xmlns:a16="http://schemas.microsoft.com/office/drawing/2014/main" id="{C795472A-1DAF-F941-A8A0-AA8D623210B2}"/>
                  </a:ext>
                </a:extLst>
              </p:cNvPr>
              <p:cNvGraphicFramePr>
                <a:graphicFrameLocks noGrp="1"/>
              </p:cNvGraphicFramePr>
              <p:nvPr>
                <p:extLst>
                  <p:ext uri="{D42A27DB-BD31-4B8C-83A1-F6EECF244321}">
                    <p14:modId xmlns:p14="http://schemas.microsoft.com/office/powerpoint/2010/main" val="402324532"/>
                  </p:ext>
                </p:extLst>
              </p:nvPr>
            </p:nvGraphicFramePr>
            <p:xfrm>
              <a:off x="2432839" y="3370422"/>
              <a:ext cx="7560000" cy="2160000"/>
            </p:xfrm>
            <a:graphic>
              <a:graphicData uri="http://schemas.openxmlformats.org/drawingml/2006/table">
                <a:tbl>
                  <a:tblPr firstRow="1" firstCol="1" bandRow="1"/>
                  <a:tblGrid>
                    <a:gridCol w="2520000">
                      <a:extLst>
                        <a:ext uri="{9D8B030D-6E8A-4147-A177-3AD203B41FA5}">
                          <a16:colId xmlns:a16="http://schemas.microsoft.com/office/drawing/2014/main" val="3859626050"/>
                        </a:ext>
                      </a:extLst>
                    </a:gridCol>
                    <a:gridCol w="2520000">
                      <a:extLst>
                        <a:ext uri="{9D8B030D-6E8A-4147-A177-3AD203B41FA5}">
                          <a16:colId xmlns:a16="http://schemas.microsoft.com/office/drawing/2014/main" val="4128137430"/>
                        </a:ext>
                      </a:extLst>
                    </a:gridCol>
                    <a:gridCol w="2520000">
                      <a:extLst>
                        <a:ext uri="{9D8B030D-6E8A-4147-A177-3AD203B41FA5}">
                          <a16:colId xmlns:a16="http://schemas.microsoft.com/office/drawing/2014/main" val="3157113191"/>
                        </a:ext>
                      </a:extLst>
                    </a:gridCol>
                  </a:tblGrid>
                  <a:tr h="720000">
                    <a:tc>
                      <a:txBody>
                        <a:bodyPr/>
                        <a:lstStyle/>
                        <a:p>
                          <a:pPr marL="342900" marR="0" lvl="0" indent="-342900">
                            <a:spcBef>
                              <a:spcPts val="0"/>
                            </a:spcBef>
                            <a:spcAft>
                              <a:spcPts val="0"/>
                            </a:spcAft>
                            <a:buFont typeface="+mj-lt"/>
                            <a:buAutoNum type="arabicPeriod"/>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Problem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Helvetica Neue" panose="02000503000000020004" pitchFamily="2" charset="0"/>
                            </a:rPr>
                            <a:t>Answer</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913046329"/>
                      </a:ext>
                    </a:extLst>
                  </a:tr>
                  <a:tr h="72000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Whole Numbers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1010" t="-105263" r="-101515" b="-103509"/>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5718580"/>
                      </a:ext>
                    </a:extLst>
                  </a:tr>
                  <a:tr h="72000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Scientific Notation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0000" t="-205263" r="-1005" b="-3509"/>
                          </a:stretch>
                        </a:blipFill>
                      </a:tcPr>
                    </a:tc>
                    <a:extLst>
                      <a:ext uri="{0D108BD9-81ED-4DB2-BD59-A6C34878D82A}">
                        <a16:rowId xmlns:a16="http://schemas.microsoft.com/office/drawing/2014/main" val="2019227127"/>
                      </a:ext>
                    </a:extLst>
                  </a:tr>
                </a:tbl>
              </a:graphicData>
            </a:graphic>
          </p:graphicFrame>
        </mc:Fallback>
      </mc:AlternateContent>
      <p:sp>
        <p:nvSpPr>
          <p:cNvPr id="10"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052649" y="289230"/>
            <a:ext cx="10759860" cy="8678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2800" b="1" dirty="0">
                <a:solidFill>
                  <a:srgbClr val="33BEA6"/>
                </a:solidFill>
                <a:latin typeface="Verdana"/>
                <a:ea typeface="Verdana"/>
                <a:cs typeface="Verdana"/>
                <a:sym typeface="Verdana"/>
              </a:rPr>
              <a:t>3.7.2 Exploration: Making a Conjecture for How to Divide Numbers Expressed in Scientific Notation</a:t>
            </a:r>
            <a:endParaRPr lang="en-US" sz="2800" b="1" dirty="0">
              <a:solidFill>
                <a:srgbClr val="33BEA6"/>
              </a:solidFill>
              <a:latin typeface="Verdana"/>
              <a:ea typeface="Verdana"/>
              <a:cs typeface="Verdana"/>
              <a:sym typeface="Verdana"/>
            </a:endParaRPr>
          </a:p>
        </p:txBody>
      </p:sp>
      <p:pic>
        <p:nvPicPr>
          <p:cNvPr id="12" name="Picture 2" descr="Icon&#10;&#10;Description automatically generated">
            <a:extLst>
              <a:ext uri="{FF2B5EF4-FFF2-40B4-BE49-F238E27FC236}">
                <a16:creationId xmlns="" xmlns:a16="http://schemas.microsoft.com/office/drawing/2014/main" id="{A741EC39-D81C-A945-833B-CFC11AA40AE2}"/>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96352"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839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1CD312BA-C488-5D49-AEF0-52CDA193E04D}"/>
                  </a:ext>
                </a:extLst>
              </p:cNvPr>
              <p:cNvGraphicFramePr>
                <a:graphicFrameLocks noGrp="1"/>
              </p:cNvGraphicFramePr>
              <p:nvPr>
                <p:extLst>
                  <p:ext uri="{D42A27DB-BD31-4B8C-83A1-F6EECF244321}">
                    <p14:modId xmlns:p14="http://schemas.microsoft.com/office/powerpoint/2010/main" val="4055705911"/>
                  </p:ext>
                </p:extLst>
              </p:nvPr>
            </p:nvGraphicFramePr>
            <p:xfrm>
              <a:off x="2316000" y="567274"/>
              <a:ext cx="7560000" cy="2160000"/>
            </p:xfrm>
            <a:graphic>
              <a:graphicData uri="http://schemas.openxmlformats.org/drawingml/2006/table">
                <a:tbl>
                  <a:tblPr firstRow="1" firstCol="1" bandRow="1"/>
                  <a:tblGrid>
                    <a:gridCol w="2520000">
                      <a:extLst>
                        <a:ext uri="{9D8B030D-6E8A-4147-A177-3AD203B41FA5}">
                          <a16:colId xmlns:a16="http://schemas.microsoft.com/office/drawing/2014/main" xmlns="" val="1200705394"/>
                        </a:ext>
                      </a:extLst>
                    </a:gridCol>
                    <a:gridCol w="2520000">
                      <a:extLst>
                        <a:ext uri="{9D8B030D-6E8A-4147-A177-3AD203B41FA5}">
                          <a16:colId xmlns:a16="http://schemas.microsoft.com/office/drawing/2014/main" xmlns="" val="2600529353"/>
                        </a:ext>
                      </a:extLst>
                    </a:gridCol>
                    <a:gridCol w="2520000">
                      <a:extLst>
                        <a:ext uri="{9D8B030D-6E8A-4147-A177-3AD203B41FA5}">
                          <a16:colId xmlns:a16="http://schemas.microsoft.com/office/drawing/2014/main" xmlns="" val="3482756519"/>
                        </a:ext>
                      </a:extLst>
                    </a:gridCol>
                  </a:tblGrid>
                  <a:tr h="720000">
                    <a:tc>
                      <a:txBody>
                        <a:bodyPr/>
                        <a:lstStyle/>
                        <a:p>
                          <a:pPr marL="342900" marR="0" lvl="0" indent="-342900">
                            <a:spcBef>
                              <a:spcPts val="0"/>
                            </a:spcBef>
                            <a:spcAft>
                              <a:spcPts val="0"/>
                            </a:spcAft>
                            <a:buFont typeface="+mj-lt"/>
                            <a:buAutoNum type="arabicPeriod" startAt="2"/>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Problem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Helvetica Neue" panose="02000503000000020004" pitchFamily="2" charset="0"/>
                            </a:rPr>
                            <a:t>Answer</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3153872053"/>
                      </a:ext>
                    </a:extLst>
                  </a:tr>
                  <a:tr h="720000">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Whole Numbers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4500÷30</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4965636"/>
                      </a:ext>
                    </a:extLst>
                  </a:tr>
                  <a:tr h="720000">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Scientific Notation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1.5 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000" i="1">
                                        <a:effectLst/>
                                        <a:latin typeface="Cambria Math"/>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2</m:t>
                                    </m:r>
                                  </m:sup>
                                </m:sSup>
                              </m:oMath>
                            </m:oMathPara>
                          </a14:m>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23347145"/>
                      </a:ext>
                    </a:extLst>
                  </a:tr>
                </a:tbl>
              </a:graphicData>
            </a:graphic>
          </p:graphicFrame>
        </mc:Choice>
        <mc:Fallback xmlns="">
          <p:graphicFrame>
            <p:nvGraphicFramePr>
              <p:cNvPr id="4" name="Table 3">
                <a:extLst>
                  <a:ext uri="{FF2B5EF4-FFF2-40B4-BE49-F238E27FC236}">
                    <a16:creationId xmlns:a16="http://schemas.microsoft.com/office/drawing/2014/main" id="{1CD312BA-C488-5D49-AEF0-52CDA193E04D}"/>
                  </a:ext>
                </a:extLst>
              </p:cNvPr>
              <p:cNvGraphicFramePr>
                <a:graphicFrameLocks noGrp="1"/>
              </p:cNvGraphicFramePr>
              <p:nvPr>
                <p:extLst>
                  <p:ext uri="{D42A27DB-BD31-4B8C-83A1-F6EECF244321}">
                    <p14:modId xmlns:p14="http://schemas.microsoft.com/office/powerpoint/2010/main" val="4055705911"/>
                  </p:ext>
                </p:extLst>
              </p:nvPr>
            </p:nvGraphicFramePr>
            <p:xfrm>
              <a:off x="2316000" y="567274"/>
              <a:ext cx="7560000" cy="2160000"/>
            </p:xfrm>
            <a:graphic>
              <a:graphicData uri="http://schemas.openxmlformats.org/drawingml/2006/table">
                <a:tbl>
                  <a:tblPr firstRow="1" firstCol="1" bandRow="1"/>
                  <a:tblGrid>
                    <a:gridCol w="2520000">
                      <a:extLst>
                        <a:ext uri="{9D8B030D-6E8A-4147-A177-3AD203B41FA5}">
                          <a16:colId xmlns:a16="http://schemas.microsoft.com/office/drawing/2014/main" val="1200705394"/>
                        </a:ext>
                      </a:extLst>
                    </a:gridCol>
                    <a:gridCol w="2520000">
                      <a:extLst>
                        <a:ext uri="{9D8B030D-6E8A-4147-A177-3AD203B41FA5}">
                          <a16:colId xmlns:a16="http://schemas.microsoft.com/office/drawing/2014/main" val="2600529353"/>
                        </a:ext>
                      </a:extLst>
                    </a:gridCol>
                    <a:gridCol w="2520000">
                      <a:extLst>
                        <a:ext uri="{9D8B030D-6E8A-4147-A177-3AD203B41FA5}">
                          <a16:colId xmlns:a16="http://schemas.microsoft.com/office/drawing/2014/main" val="3482756519"/>
                        </a:ext>
                      </a:extLst>
                    </a:gridCol>
                  </a:tblGrid>
                  <a:tr h="720000">
                    <a:tc>
                      <a:txBody>
                        <a:bodyPr/>
                        <a:lstStyle/>
                        <a:p>
                          <a:pPr marL="342900" marR="0" lvl="0" indent="-342900">
                            <a:spcBef>
                              <a:spcPts val="0"/>
                            </a:spcBef>
                            <a:spcAft>
                              <a:spcPts val="0"/>
                            </a:spcAft>
                            <a:buFont typeface="+mj-lt"/>
                            <a:buAutoNum type="arabicPeriod" startAt="2"/>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Problem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Helvetica Neue" panose="02000503000000020004" pitchFamily="2" charset="0"/>
                            </a:rPr>
                            <a:t>Answer</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153872053"/>
                      </a:ext>
                    </a:extLst>
                  </a:tr>
                  <a:tr h="720000">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Whole Numbers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01010" t="-103509" r="-101515" b="-103509"/>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965636"/>
                      </a:ext>
                    </a:extLst>
                  </a:tr>
                  <a:tr h="720000">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Scientific Notation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00000" t="-203509" r="-1005" b="-3509"/>
                          </a:stretch>
                        </a:blipFill>
                      </a:tcPr>
                    </a:tc>
                    <a:extLst>
                      <a:ext uri="{0D108BD9-81ED-4DB2-BD59-A6C34878D82A}">
                        <a16:rowId xmlns:a16="http://schemas.microsoft.com/office/drawing/2014/main" val="382334714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xmlns="" id="{F4F37013-A870-D34C-9120-DA4EB9E08929}"/>
                  </a:ext>
                </a:extLst>
              </p:cNvPr>
              <p:cNvGraphicFramePr>
                <a:graphicFrameLocks noGrp="1"/>
              </p:cNvGraphicFramePr>
              <p:nvPr>
                <p:extLst>
                  <p:ext uri="{D42A27DB-BD31-4B8C-83A1-F6EECF244321}">
                    <p14:modId xmlns:p14="http://schemas.microsoft.com/office/powerpoint/2010/main" val="2089626493"/>
                  </p:ext>
                </p:extLst>
              </p:nvPr>
            </p:nvGraphicFramePr>
            <p:xfrm>
              <a:off x="2316000" y="3108960"/>
              <a:ext cx="7560000" cy="2160000"/>
            </p:xfrm>
            <a:graphic>
              <a:graphicData uri="http://schemas.openxmlformats.org/drawingml/2006/table">
                <a:tbl>
                  <a:tblPr firstRow="1" firstCol="1" bandRow="1"/>
                  <a:tblGrid>
                    <a:gridCol w="2520000">
                      <a:extLst>
                        <a:ext uri="{9D8B030D-6E8A-4147-A177-3AD203B41FA5}">
                          <a16:colId xmlns:a16="http://schemas.microsoft.com/office/drawing/2014/main" xmlns="" val="2350017625"/>
                        </a:ext>
                      </a:extLst>
                    </a:gridCol>
                    <a:gridCol w="2520000">
                      <a:extLst>
                        <a:ext uri="{9D8B030D-6E8A-4147-A177-3AD203B41FA5}">
                          <a16:colId xmlns:a16="http://schemas.microsoft.com/office/drawing/2014/main" xmlns="" val="160440856"/>
                        </a:ext>
                      </a:extLst>
                    </a:gridCol>
                    <a:gridCol w="2520000">
                      <a:extLst>
                        <a:ext uri="{9D8B030D-6E8A-4147-A177-3AD203B41FA5}">
                          <a16:colId xmlns:a16="http://schemas.microsoft.com/office/drawing/2014/main" xmlns="" val="3308581418"/>
                        </a:ext>
                      </a:extLst>
                    </a:gridCol>
                  </a:tblGrid>
                  <a:tr h="720000">
                    <a:tc>
                      <a:txBody>
                        <a:bodyPr/>
                        <a:lstStyle/>
                        <a:p>
                          <a:pPr marL="342900" marR="0" lvl="0" indent="-342900">
                            <a:spcBef>
                              <a:spcPts val="0"/>
                            </a:spcBef>
                            <a:spcAft>
                              <a:spcPts val="0"/>
                            </a:spcAft>
                            <a:buFont typeface="+mj-lt"/>
                            <a:buAutoNum type="arabicPeriod" startAt="3"/>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Helvetica Neue" panose="02000503000000020004" pitchFamily="2" charset="0"/>
                            </a:rPr>
                            <a:t>Problem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Helvetica Neue" panose="02000503000000020004" pitchFamily="2" charset="0"/>
                            </a:rPr>
                            <a:t>Answer</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3717449814"/>
                      </a:ext>
                    </a:extLst>
                  </a:tr>
                  <a:tr h="720000">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Whole Numbers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7,000,000÷28,000</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52839466"/>
                      </a:ext>
                    </a:extLst>
                  </a:tr>
                  <a:tr h="720000">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Scientific Notation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2.5 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000" i="1">
                                        <a:effectLst/>
                                        <a:latin typeface="Cambria Math"/>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2</m:t>
                                    </m:r>
                                  </m:sup>
                                </m:sSup>
                              </m:oMath>
                            </m:oMathPara>
                          </a14:m>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91974587"/>
                      </a:ext>
                    </a:extLst>
                  </a:tr>
                </a:tbl>
              </a:graphicData>
            </a:graphic>
          </p:graphicFrame>
        </mc:Choice>
        <mc:Fallback xmlns="">
          <p:graphicFrame>
            <p:nvGraphicFramePr>
              <p:cNvPr id="7" name="Table 6">
                <a:extLst>
                  <a:ext uri="{FF2B5EF4-FFF2-40B4-BE49-F238E27FC236}">
                    <a16:creationId xmlns:a16="http://schemas.microsoft.com/office/drawing/2014/main" id="{F4F37013-A870-D34C-9120-DA4EB9E08929}"/>
                  </a:ext>
                </a:extLst>
              </p:cNvPr>
              <p:cNvGraphicFramePr>
                <a:graphicFrameLocks noGrp="1"/>
              </p:cNvGraphicFramePr>
              <p:nvPr>
                <p:extLst>
                  <p:ext uri="{D42A27DB-BD31-4B8C-83A1-F6EECF244321}">
                    <p14:modId xmlns:p14="http://schemas.microsoft.com/office/powerpoint/2010/main" val="2089626493"/>
                  </p:ext>
                </p:extLst>
              </p:nvPr>
            </p:nvGraphicFramePr>
            <p:xfrm>
              <a:off x="2316000" y="3108960"/>
              <a:ext cx="7560000" cy="2160000"/>
            </p:xfrm>
            <a:graphic>
              <a:graphicData uri="http://schemas.openxmlformats.org/drawingml/2006/table">
                <a:tbl>
                  <a:tblPr firstRow="1" firstCol="1" bandRow="1"/>
                  <a:tblGrid>
                    <a:gridCol w="2520000">
                      <a:extLst>
                        <a:ext uri="{9D8B030D-6E8A-4147-A177-3AD203B41FA5}">
                          <a16:colId xmlns:a16="http://schemas.microsoft.com/office/drawing/2014/main" val="2350017625"/>
                        </a:ext>
                      </a:extLst>
                    </a:gridCol>
                    <a:gridCol w="2520000">
                      <a:extLst>
                        <a:ext uri="{9D8B030D-6E8A-4147-A177-3AD203B41FA5}">
                          <a16:colId xmlns:a16="http://schemas.microsoft.com/office/drawing/2014/main" val="160440856"/>
                        </a:ext>
                      </a:extLst>
                    </a:gridCol>
                    <a:gridCol w="2520000">
                      <a:extLst>
                        <a:ext uri="{9D8B030D-6E8A-4147-A177-3AD203B41FA5}">
                          <a16:colId xmlns:a16="http://schemas.microsoft.com/office/drawing/2014/main" val="3308581418"/>
                        </a:ext>
                      </a:extLst>
                    </a:gridCol>
                  </a:tblGrid>
                  <a:tr h="720000">
                    <a:tc>
                      <a:txBody>
                        <a:bodyPr/>
                        <a:lstStyle/>
                        <a:p>
                          <a:pPr marL="342900" marR="0" lvl="0" indent="-342900">
                            <a:spcBef>
                              <a:spcPts val="0"/>
                            </a:spcBef>
                            <a:spcAft>
                              <a:spcPts val="0"/>
                            </a:spcAft>
                            <a:buFont typeface="+mj-lt"/>
                            <a:buAutoNum type="arabicPeriod" startAt="3"/>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Helvetica Neue" panose="02000503000000020004" pitchFamily="2" charset="0"/>
                            </a:rPr>
                            <a:t>Problem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Helvetica Neue" panose="02000503000000020004" pitchFamily="2" charset="0"/>
                            </a:rPr>
                            <a:t>Answer</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717449814"/>
                      </a:ext>
                    </a:extLst>
                  </a:tr>
                  <a:tr h="720000">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Whole Numbers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1010" t="-103509" r="-101515" b="-103509"/>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2839466"/>
                      </a:ext>
                    </a:extLst>
                  </a:tr>
                  <a:tr h="720000">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Scientific Notation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0000" t="-203509" r="-1005" b="-3509"/>
                          </a:stretch>
                        </a:blipFill>
                      </a:tcPr>
                    </a:tc>
                    <a:extLst>
                      <a:ext uri="{0D108BD9-81ED-4DB2-BD59-A6C34878D82A}">
                        <a16:rowId xmlns:a16="http://schemas.microsoft.com/office/drawing/2014/main" val="2291974587"/>
                      </a:ext>
                    </a:extLst>
                  </a:tr>
                </a:tbl>
              </a:graphicData>
            </a:graphic>
          </p:graphicFrame>
        </mc:Fallback>
      </mc:AlternateContent>
    </p:spTree>
    <p:extLst>
      <p:ext uri="{BB962C8B-B14F-4D97-AF65-F5344CB8AC3E}">
        <p14:creationId xmlns:p14="http://schemas.microsoft.com/office/powerpoint/2010/main" val="418544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3560FF64-E5B0-3C41-A09A-D08654BDD895}"/>
                  </a:ext>
                </a:extLst>
              </p:cNvPr>
              <p:cNvGraphicFramePr>
                <a:graphicFrameLocks noGrp="1"/>
              </p:cNvGraphicFramePr>
              <p:nvPr>
                <p:extLst>
                  <p:ext uri="{D42A27DB-BD31-4B8C-83A1-F6EECF244321}">
                    <p14:modId xmlns:p14="http://schemas.microsoft.com/office/powerpoint/2010/main" val="3694062463"/>
                  </p:ext>
                </p:extLst>
              </p:nvPr>
            </p:nvGraphicFramePr>
            <p:xfrm>
              <a:off x="2316000" y="566928"/>
              <a:ext cx="7560000" cy="2160000"/>
            </p:xfrm>
            <a:graphic>
              <a:graphicData uri="http://schemas.openxmlformats.org/drawingml/2006/table">
                <a:tbl>
                  <a:tblPr firstRow="1" firstCol="1" bandRow="1"/>
                  <a:tblGrid>
                    <a:gridCol w="2520000">
                      <a:extLst>
                        <a:ext uri="{9D8B030D-6E8A-4147-A177-3AD203B41FA5}">
                          <a16:colId xmlns:a16="http://schemas.microsoft.com/office/drawing/2014/main" xmlns="" val="3796736750"/>
                        </a:ext>
                      </a:extLst>
                    </a:gridCol>
                    <a:gridCol w="2520000">
                      <a:extLst>
                        <a:ext uri="{9D8B030D-6E8A-4147-A177-3AD203B41FA5}">
                          <a16:colId xmlns:a16="http://schemas.microsoft.com/office/drawing/2014/main" xmlns="" val="1739680454"/>
                        </a:ext>
                      </a:extLst>
                    </a:gridCol>
                    <a:gridCol w="2520000">
                      <a:extLst>
                        <a:ext uri="{9D8B030D-6E8A-4147-A177-3AD203B41FA5}">
                          <a16:colId xmlns:a16="http://schemas.microsoft.com/office/drawing/2014/main" xmlns="" val="3338594711"/>
                        </a:ext>
                      </a:extLst>
                    </a:gridCol>
                  </a:tblGrid>
                  <a:tr h="720000">
                    <a:tc>
                      <a:txBody>
                        <a:bodyPr/>
                        <a:lstStyle/>
                        <a:p>
                          <a:pPr marL="342900" marR="0" lvl="0" indent="-342900">
                            <a:spcBef>
                              <a:spcPts val="0"/>
                            </a:spcBef>
                            <a:spcAft>
                              <a:spcPts val="0"/>
                            </a:spcAft>
                            <a:buFont typeface="+mj-lt"/>
                            <a:buAutoNum type="arabicPeriod" startAt="4"/>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Helvetica Neue" panose="02000503000000020004" pitchFamily="2" charset="0"/>
                            </a:rPr>
                            <a:t>Problem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Helvetica Neue" panose="02000503000000020004" pitchFamily="2" charset="0"/>
                            </a:rPr>
                            <a:t>Answer</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4113248177"/>
                      </a:ext>
                    </a:extLst>
                  </a:tr>
                  <a:tr h="720000">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Whole Numbers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527685"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70,000÷28,000,000</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527685"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66050908"/>
                      </a:ext>
                    </a:extLst>
                  </a:tr>
                  <a:tr h="720000">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Scientific Notation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527685" algn="ctr">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527685"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2.5 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000" i="1">
                                        <a:effectLst/>
                                        <a:latin typeface="Cambria Math"/>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−3</m:t>
                                    </m:r>
                                  </m:sup>
                                </m:sSup>
                              </m:oMath>
                            </m:oMathPara>
                          </a14:m>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93982481"/>
                      </a:ext>
                    </a:extLst>
                  </a:tr>
                </a:tbl>
              </a:graphicData>
            </a:graphic>
          </p:graphicFrame>
        </mc:Choice>
        <mc:Fallback xmlns="">
          <p:graphicFrame>
            <p:nvGraphicFramePr>
              <p:cNvPr id="3" name="Table 2">
                <a:extLst>
                  <a:ext uri="{FF2B5EF4-FFF2-40B4-BE49-F238E27FC236}">
                    <a16:creationId xmlns:a16="http://schemas.microsoft.com/office/drawing/2014/main" id="{3560FF64-E5B0-3C41-A09A-D08654BDD895}"/>
                  </a:ext>
                </a:extLst>
              </p:cNvPr>
              <p:cNvGraphicFramePr>
                <a:graphicFrameLocks noGrp="1"/>
              </p:cNvGraphicFramePr>
              <p:nvPr>
                <p:extLst>
                  <p:ext uri="{D42A27DB-BD31-4B8C-83A1-F6EECF244321}">
                    <p14:modId xmlns:p14="http://schemas.microsoft.com/office/powerpoint/2010/main" val="3694062463"/>
                  </p:ext>
                </p:extLst>
              </p:nvPr>
            </p:nvGraphicFramePr>
            <p:xfrm>
              <a:off x="2316000" y="566928"/>
              <a:ext cx="7560000" cy="2160000"/>
            </p:xfrm>
            <a:graphic>
              <a:graphicData uri="http://schemas.openxmlformats.org/drawingml/2006/table">
                <a:tbl>
                  <a:tblPr firstRow="1" firstCol="1" bandRow="1"/>
                  <a:tblGrid>
                    <a:gridCol w="2520000">
                      <a:extLst>
                        <a:ext uri="{9D8B030D-6E8A-4147-A177-3AD203B41FA5}">
                          <a16:colId xmlns:a16="http://schemas.microsoft.com/office/drawing/2014/main" val="3796736750"/>
                        </a:ext>
                      </a:extLst>
                    </a:gridCol>
                    <a:gridCol w="2520000">
                      <a:extLst>
                        <a:ext uri="{9D8B030D-6E8A-4147-A177-3AD203B41FA5}">
                          <a16:colId xmlns:a16="http://schemas.microsoft.com/office/drawing/2014/main" val="1739680454"/>
                        </a:ext>
                      </a:extLst>
                    </a:gridCol>
                    <a:gridCol w="2520000">
                      <a:extLst>
                        <a:ext uri="{9D8B030D-6E8A-4147-A177-3AD203B41FA5}">
                          <a16:colId xmlns:a16="http://schemas.microsoft.com/office/drawing/2014/main" val="3338594711"/>
                        </a:ext>
                      </a:extLst>
                    </a:gridCol>
                  </a:tblGrid>
                  <a:tr h="720000">
                    <a:tc>
                      <a:txBody>
                        <a:bodyPr/>
                        <a:lstStyle/>
                        <a:p>
                          <a:pPr marL="342900" marR="0" lvl="0" indent="-342900">
                            <a:spcBef>
                              <a:spcPts val="0"/>
                            </a:spcBef>
                            <a:spcAft>
                              <a:spcPts val="0"/>
                            </a:spcAft>
                            <a:buFont typeface="+mj-lt"/>
                            <a:buAutoNum type="arabicPeriod" startAt="4"/>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Helvetica Neue" panose="02000503000000020004" pitchFamily="2" charset="0"/>
                            </a:rPr>
                            <a:t>Problem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itchFamily="34" charset="0"/>
                              <a:cs typeface="Helvetica Neue" panose="02000503000000020004" pitchFamily="2" charset="0"/>
                            </a:rPr>
                            <a:t>Answer</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4113248177"/>
                      </a:ext>
                    </a:extLst>
                  </a:tr>
                  <a:tr h="720000">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Whole Numbers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01010" t="-103509" r="-101515" b="-103509"/>
                          </a:stretch>
                        </a:blipFill>
                      </a:tcPr>
                    </a:tc>
                    <a:tc>
                      <a:txBody>
                        <a:bodyPr/>
                        <a:lstStyle/>
                        <a:p>
                          <a:pPr marL="0" marR="0" indent="-527685"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6050908"/>
                      </a:ext>
                    </a:extLst>
                  </a:tr>
                  <a:tr h="720000">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Scientific Notation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527685" algn="ctr">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00000" t="-203509" r="-1005" b="-3509"/>
                          </a:stretch>
                        </a:blipFill>
                      </a:tcPr>
                    </a:tc>
                    <a:extLst>
                      <a:ext uri="{0D108BD9-81ED-4DB2-BD59-A6C34878D82A}">
                        <a16:rowId xmlns:a16="http://schemas.microsoft.com/office/drawing/2014/main" val="219398248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xmlns="" id="{625CC2D2-9CDD-8441-A87B-1137376AA0B2}"/>
                  </a:ext>
                </a:extLst>
              </p:cNvPr>
              <p:cNvGraphicFramePr>
                <a:graphicFrameLocks noGrp="1"/>
              </p:cNvGraphicFramePr>
              <p:nvPr>
                <p:extLst>
                  <p:ext uri="{D42A27DB-BD31-4B8C-83A1-F6EECF244321}">
                    <p14:modId xmlns:p14="http://schemas.microsoft.com/office/powerpoint/2010/main" val="1797635422"/>
                  </p:ext>
                </p:extLst>
              </p:nvPr>
            </p:nvGraphicFramePr>
            <p:xfrm>
              <a:off x="2316000" y="3105402"/>
              <a:ext cx="7560000" cy="2160000"/>
            </p:xfrm>
            <a:graphic>
              <a:graphicData uri="http://schemas.openxmlformats.org/drawingml/2006/table">
                <a:tbl>
                  <a:tblPr firstRow="1" firstCol="1" bandRow="1"/>
                  <a:tblGrid>
                    <a:gridCol w="2520000">
                      <a:extLst>
                        <a:ext uri="{9D8B030D-6E8A-4147-A177-3AD203B41FA5}">
                          <a16:colId xmlns:a16="http://schemas.microsoft.com/office/drawing/2014/main" xmlns="" val="1198766668"/>
                        </a:ext>
                      </a:extLst>
                    </a:gridCol>
                    <a:gridCol w="2520000">
                      <a:extLst>
                        <a:ext uri="{9D8B030D-6E8A-4147-A177-3AD203B41FA5}">
                          <a16:colId xmlns:a16="http://schemas.microsoft.com/office/drawing/2014/main" xmlns="" val="3339263558"/>
                        </a:ext>
                      </a:extLst>
                    </a:gridCol>
                    <a:gridCol w="2520000">
                      <a:extLst>
                        <a:ext uri="{9D8B030D-6E8A-4147-A177-3AD203B41FA5}">
                          <a16:colId xmlns:a16="http://schemas.microsoft.com/office/drawing/2014/main" xmlns="" val="3095442898"/>
                        </a:ext>
                      </a:extLst>
                    </a:gridCol>
                  </a:tblGrid>
                  <a:tr h="720000">
                    <a:tc>
                      <a:txBody>
                        <a:bodyPr/>
                        <a:lstStyle/>
                        <a:p>
                          <a:pPr marL="342900" marR="0" lvl="0" indent="-342900">
                            <a:spcBef>
                              <a:spcPts val="0"/>
                            </a:spcBef>
                            <a:spcAft>
                              <a:spcPts val="0"/>
                            </a:spcAft>
                            <a:buFont typeface="+mj-lt"/>
                            <a:buAutoNum type="arabicPeriod" startAt="5"/>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Problem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Answer</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2252769342"/>
                      </a:ext>
                    </a:extLst>
                  </a:tr>
                  <a:tr h="720000">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Whole Numbers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90,000÷180,000</m:t>
                                </m:r>
                              </m:oMath>
                            </m:oMathPara>
                          </a14:m>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72384606"/>
                      </a:ext>
                    </a:extLst>
                  </a:tr>
                  <a:tr h="72000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Scientific Notation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5 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000" i="1">
                                        <a:effectLst/>
                                        <a:latin typeface="Cambria Math"/>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−1</m:t>
                                    </m:r>
                                  </m:sup>
                                </m:sSup>
                              </m:oMath>
                            </m:oMathPara>
                          </a14:m>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34490542"/>
                      </a:ext>
                    </a:extLst>
                  </a:tr>
                </a:tbl>
              </a:graphicData>
            </a:graphic>
          </p:graphicFrame>
        </mc:Choice>
        <mc:Fallback xmlns="">
          <p:graphicFrame>
            <p:nvGraphicFramePr>
              <p:cNvPr id="5" name="Table 4">
                <a:extLst>
                  <a:ext uri="{FF2B5EF4-FFF2-40B4-BE49-F238E27FC236}">
                    <a16:creationId xmlns:a16="http://schemas.microsoft.com/office/drawing/2014/main" id="{625CC2D2-9CDD-8441-A87B-1137376AA0B2}"/>
                  </a:ext>
                </a:extLst>
              </p:cNvPr>
              <p:cNvGraphicFramePr>
                <a:graphicFrameLocks noGrp="1"/>
              </p:cNvGraphicFramePr>
              <p:nvPr>
                <p:extLst>
                  <p:ext uri="{D42A27DB-BD31-4B8C-83A1-F6EECF244321}">
                    <p14:modId xmlns:p14="http://schemas.microsoft.com/office/powerpoint/2010/main" val="1797635422"/>
                  </p:ext>
                </p:extLst>
              </p:nvPr>
            </p:nvGraphicFramePr>
            <p:xfrm>
              <a:off x="2316000" y="3105402"/>
              <a:ext cx="7560000" cy="2160000"/>
            </p:xfrm>
            <a:graphic>
              <a:graphicData uri="http://schemas.openxmlformats.org/drawingml/2006/table">
                <a:tbl>
                  <a:tblPr firstRow="1" firstCol="1" bandRow="1"/>
                  <a:tblGrid>
                    <a:gridCol w="2520000">
                      <a:extLst>
                        <a:ext uri="{9D8B030D-6E8A-4147-A177-3AD203B41FA5}">
                          <a16:colId xmlns:a16="http://schemas.microsoft.com/office/drawing/2014/main" val="1198766668"/>
                        </a:ext>
                      </a:extLst>
                    </a:gridCol>
                    <a:gridCol w="2520000">
                      <a:extLst>
                        <a:ext uri="{9D8B030D-6E8A-4147-A177-3AD203B41FA5}">
                          <a16:colId xmlns:a16="http://schemas.microsoft.com/office/drawing/2014/main" val="3339263558"/>
                        </a:ext>
                      </a:extLst>
                    </a:gridCol>
                    <a:gridCol w="2520000">
                      <a:extLst>
                        <a:ext uri="{9D8B030D-6E8A-4147-A177-3AD203B41FA5}">
                          <a16:colId xmlns:a16="http://schemas.microsoft.com/office/drawing/2014/main" val="3095442898"/>
                        </a:ext>
                      </a:extLst>
                    </a:gridCol>
                  </a:tblGrid>
                  <a:tr h="720000">
                    <a:tc>
                      <a:txBody>
                        <a:bodyPr/>
                        <a:lstStyle/>
                        <a:p>
                          <a:pPr marL="342900" marR="0" lvl="0" indent="-342900">
                            <a:spcBef>
                              <a:spcPts val="0"/>
                            </a:spcBef>
                            <a:spcAft>
                              <a:spcPts val="0"/>
                            </a:spcAft>
                            <a:buFont typeface="+mj-lt"/>
                            <a:buAutoNum type="arabicPeriod" startAt="5"/>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Problem</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Answer</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252769342"/>
                      </a:ext>
                    </a:extLst>
                  </a:tr>
                  <a:tr h="720000">
                    <a:tc>
                      <a:txBody>
                        <a:bodyPr/>
                        <a:lstStyle/>
                        <a:p>
                          <a:pPr marL="0" marR="0">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Whole Numbers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1010" t="-105263" r="-101515" b="-103509"/>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2384606"/>
                      </a:ext>
                    </a:extLst>
                  </a:tr>
                  <a:tr h="720000">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Scientific Notation</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00000" t="-205263" r="-1005" b="-3509"/>
                          </a:stretch>
                        </a:blipFill>
                      </a:tcPr>
                    </a:tc>
                    <a:extLst>
                      <a:ext uri="{0D108BD9-81ED-4DB2-BD59-A6C34878D82A}">
                        <a16:rowId xmlns:a16="http://schemas.microsoft.com/office/drawing/2014/main" val="3134490542"/>
                      </a:ext>
                    </a:extLst>
                  </a:tr>
                </a:tbl>
              </a:graphicData>
            </a:graphic>
          </p:graphicFrame>
        </mc:Fallback>
      </mc:AlternateContent>
    </p:spTree>
    <p:extLst>
      <p:ext uri="{BB962C8B-B14F-4D97-AF65-F5344CB8AC3E}">
        <p14:creationId xmlns:p14="http://schemas.microsoft.com/office/powerpoint/2010/main" val="907064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p:sp>
        <p:nvSpPr>
          <p:cNvPr id="7" name="TextBox 6">
            <a:extLst>
              <a:ext uri="{FF2B5EF4-FFF2-40B4-BE49-F238E27FC236}">
                <a16:creationId xmlns:a16="http://schemas.microsoft.com/office/drawing/2014/main" xmlns="" id="{A29332AA-1089-9E43-8F65-78E03CB79E5E}"/>
              </a:ext>
            </a:extLst>
          </p:cNvPr>
          <p:cNvSpPr txBox="1"/>
          <p:nvPr/>
        </p:nvSpPr>
        <p:spPr>
          <a:xfrm>
            <a:off x="627888" y="486263"/>
            <a:ext cx="11178032" cy="3416320"/>
          </a:xfrm>
          <a:prstGeom prst="rect">
            <a:avLst/>
          </a:prstGeom>
          <a:noFill/>
        </p:spPr>
        <p:txBody>
          <a:bodyPr wrap="square" rtlCol="0">
            <a:spAutoFit/>
          </a:bodyPr>
          <a:lstStyle/>
          <a:p>
            <a:pPr marL="457200" indent="-457200">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problems, using scientific notation and their corresponding answer?</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r>
              <a:rPr lang="en-US" sz="2400" dirty="0">
                <a:latin typeface="Verdana" panose="020B0604030504040204" pitchFamily="34" charset="0"/>
                <a:ea typeface="Verdana" panose="020B0604030504040204" pitchFamily="34" charset="0"/>
                <a:cs typeface="Verdana" panose="020B0604030504040204" pitchFamily="34" charset="0"/>
              </a:rPr>
              <a:t>Make a conjecture about how to divide numbers written in scientific notation.</a:t>
            </a:r>
          </a:p>
        </p:txBody>
      </p:sp>
    </p:spTree>
    <p:extLst>
      <p:ext uri="{BB962C8B-B14F-4D97-AF65-F5344CB8AC3E}">
        <p14:creationId xmlns:p14="http://schemas.microsoft.com/office/powerpoint/2010/main" val="699900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112</a:t>
            </a:r>
            <a:endParaRPr i="1" dirty="0">
              <a:latin typeface="Calibri"/>
              <a:ea typeface="Calibri"/>
              <a:cs typeface="Calibri"/>
              <a:sym typeface="Calibri"/>
            </a:endParaRPr>
          </a:p>
        </p:txBody>
      </p:sp>
      <p:sp>
        <p:nvSpPr>
          <p:cNvPr id="7" name="TextBox 6">
            <a:extLst>
              <a:ext uri="{FF2B5EF4-FFF2-40B4-BE49-F238E27FC236}">
                <a16:creationId xmlns:a16="http://schemas.microsoft.com/office/drawing/2014/main" xmlns="" id="{A29332AA-1089-9E43-8F65-78E03CB79E5E}"/>
              </a:ext>
            </a:extLst>
          </p:cNvPr>
          <p:cNvSpPr txBox="1"/>
          <p:nvPr/>
        </p:nvSpPr>
        <p:spPr>
          <a:xfrm>
            <a:off x="455168" y="428741"/>
            <a:ext cx="11350752" cy="1323439"/>
          </a:xfrm>
          <a:prstGeom prst="rect">
            <a:avLst/>
          </a:prstGeom>
          <a:noFill/>
        </p:spPr>
        <p:txBody>
          <a:bodyPr wrap="square" rtlCol="0">
            <a:spAutoFit/>
          </a:bodyPr>
          <a:lstStyle/>
          <a:p>
            <a:pPr marL="457200" indent="-457200">
              <a:buFont typeface="+mj-lt"/>
              <a:buAutoNum type="arabicPeriod" startAt="8"/>
            </a:pPr>
            <a:r>
              <a:rPr lang="en-US" sz="2000" dirty="0">
                <a:latin typeface="Verdana" panose="020B0604030504040204" pitchFamily="34" charset="0"/>
                <a:ea typeface="Verdana" panose="020B0604030504040204" pitchFamily="34" charset="0"/>
                <a:cs typeface="Verdana" panose="020B0604030504040204" pitchFamily="34" charset="0"/>
              </a:rPr>
              <a:t>Ask two other pairs of partners for the conjectures they wrote. Listen to their conjectures and write a summary. </a:t>
            </a:r>
            <a:r>
              <a:rPr lang="en-US" sz="2000" i="1" dirty="0">
                <a:latin typeface="Verdana" panose="020B0604030504040204" pitchFamily="34" charset="0"/>
                <a:ea typeface="Verdana" panose="020B0604030504040204" pitchFamily="34" charset="0"/>
                <a:cs typeface="Verdana" panose="020B0604030504040204" pitchFamily="34" charset="0"/>
              </a:rPr>
              <a:t>You are the only person who should write in the first column of the table.</a:t>
            </a:r>
            <a:r>
              <a:rPr lang="en-US" sz="2000" dirty="0">
                <a:latin typeface="Verdana" panose="020B0604030504040204" pitchFamily="34" charset="0"/>
                <a:ea typeface="Verdana" panose="020B0604030504040204" pitchFamily="34" charset="0"/>
                <a:cs typeface="Verdana" panose="020B0604030504040204" pitchFamily="34" charset="0"/>
              </a:rPr>
              <a:t> Have the person initial next to your summary stating that your summary was accurate.</a:t>
            </a:r>
          </a:p>
        </p:txBody>
      </p:sp>
      <p:graphicFrame>
        <p:nvGraphicFramePr>
          <p:cNvPr id="3" name="Table 2">
            <a:extLst>
              <a:ext uri="{FF2B5EF4-FFF2-40B4-BE49-F238E27FC236}">
                <a16:creationId xmlns:a16="http://schemas.microsoft.com/office/drawing/2014/main" xmlns="" id="{3EEB3E8B-11A4-B648-A7A9-B3446A7BCA0A}"/>
              </a:ext>
            </a:extLst>
          </p:cNvPr>
          <p:cNvGraphicFramePr>
            <a:graphicFrameLocks noGrp="1"/>
          </p:cNvGraphicFramePr>
          <p:nvPr>
            <p:extLst>
              <p:ext uri="{D42A27DB-BD31-4B8C-83A1-F6EECF244321}">
                <p14:modId xmlns:p14="http://schemas.microsoft.com/office/powerpoint/2010/main" val="3816057772"/>
              </p:ext>
            </p:extLst>
          </p:nvPr>
        </p:nvGraphicFramePr>
        <p:xfrm>
          <a:off x="2795056" y="1989000"/>
          <a:ext cx="6419085" cy="2880000"/>
        </p:xfrm>
        <a:graphic>
          <a:graphicData uri="http://schemas.openxmlformats.org/drawingml/2006/table">
            <a:tbl>
              <a:tblPr bandRow="1"/>
              <a:tblGrid>
                <a:gridCol w="4979085">
                  <a:extLst>
                    <a:ext uri="{9D8B030D-6E8A-4147-A177-3AD203B41FA5}">
                      <a16:colId xmlns:a16="http://schemas.microsoft.com/office/drawing/2014/main" xmlns="" val="3526800672"/>
                    </a:ext>
                  </a:extLst>
                </a:gridCol>
                <a:gridCol w="1440000">
                  <a:extLst>
                    <a:ext uri="{9D8B030D-6E8A-4147-A177-3AD203B41FA5}">
                      <a16:colId xmlns:a16="http://schemas.microsoft.com/office/drawing/2014/main" xmlns="" val="2334063644"/>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Summary of Their Conjecture</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Initials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2628288063"/>
                  </a:ext>
                </a:extLst>
              </a:tr>
              <a:tr h="1080000">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20404082"/>
                  </a:ext>
                </a:extLst>
              </a:tr>
              <a:tr h="1080000">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941922"/>
                  </a:ext>
                </a:extLst>
              </a:tr>
            </a:tbl>
          </a:graphicData>
        </a:graphic>
      </p:graphicFrame>
      <p:sp>
        <p:nvSpPr>
          <p:cNvPr id="9" name="TextBox 8">
            <a:extLst>
              <a:ext uri="{FF2B5EF4-FFF2-40B4-BE49-F238E27FC236}">
                <a16:creationId xmlns:a16="http://schemas.microsoft.com/office/drawing/2014/main" xmlns="" id="{ECA6E0A7-D16A-6E4A-9FC0-5CD9B96D009F}"/>
              </a:ext>
            </a:extLst>
          </p:cNvPr>
          <p:cNvSpPr txBox="1"/>
          <p:nvPr/>
        </p:nvSpPr>
        <p:spPr>
          <a:xfrm>
            <a:off x="455168" y="5264468"/>
            <a:ext cx="11350752" cy="400110"/>
          </a:xfrm>
          <a:prstGeom prst="rect">
            <a:avLst/>
          </a:prstGeom>
          <a:noFill/>
        </p:spPr>
        <p:txBody>
          <a:bodyPr wrap="square" rtlCol="0">
            <a:spAutoFit/>
          </a:bodyPr>
          <a:lstStyle/>
          <a:p>
            <a:pPr marL="457200" indent="-457200">
              <a:buFont typeface="+mj-lt"/>
              <a:buAutoNum type="arabicPeriod" startAt="9"/>
            </a:pPr>
            <a:r>
              <a:rPr lang="en-US" sz="2000" dirty="0">
                <a:latin typeface="Verdana" panose="020B0604030504040204" pitchFamily="34" charset="0"/>
                <a:ea typeface="Verdana" panose="020B0604030504040204" pitchFamily="34" charset="0"/>
                <a:cs typeface="Verdana" panose="020B0604030504040204" pitchFamily="34" charset="0"/>
              </a:rPr>
              <a:t>Revisit your conjecture with your partner and resolve any differences if necessary.</a:t>
            </a:r>
          </a:p>
        </p:txBody>
      </p:sp>
    </p:spTree>
    <p:extLst>
      <p:ext uri="{BB962C8B-B14F-4D97-AF65-F5344CB8AC3E}">
        <p14:creationId xmlns:p14="http://schemas.microsoft.com/office/powerpoint/2010/main" val="229592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113</a:t>
            </a:r>
            <a:endParaRPr i="1" dirty="0">
              <a:latin typeface="Calibri"/>
              <a:ea typeface="Calibri"/>
              <a:cs typeface="Calibri"/>
              <a:sym typeface="Calibri"/>
            </a:endParaRPr>
          </a:p>
        </p:txBody>
      </p:sp>
      <p:sp>
        <p:nvSpPr>
          <p:cNvPr id="9"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dirty="0" smtClean="0">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0" name="image8.png" descr="Icon&#10;&#10;Description automatically generated">
            <a:extLst>
              <a:ext uri="{FF2B5EF4-FFF2-40B4-BE49-F238E27FC236}">
                <a16:creationId xmlns="" xmlns:a16="http://schemas.microsoft.com/office/drawing/2014/main" id="{C3077B63-B59F-3C47-BD0A-FB19C317B7E1}"/>
              </a:ext>
            </a:extLst>
          </p:cNvPr>
          <p:cNvPicPr/>
          <p:nvPr/>
        </p:nvPicPr>
        <p:blipFill>
          <a:blip r:embed="rId4"/>
          <a:srcRect/>
          <a:stretch>
            <a:fillRect/>
          </a:stretch>
        </p:blipFill>
        <p:spPr>
          <a:xfrm>
            <a:off x="4506717" y="2853975"/>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51888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xmlns="" id="{FE208A00-51E7-C544-ABDE-AE9DC3DAAB4C}"/>
                  </a:ext>
                </a:extLst>
              </p:cNvPr>
              <p:cNvSpPr>
                <a:spLocks noChangeArrowheads="1"/>
              </p:cNvSpPr>
              <p:nvPr/>
            </p:nvSpPr>
            <p:spPr bwMode="auto">
              <a:xfrm>
                <a:off x="730364" y="1266926"/>
                <a:ext cx="11198310" cy="436202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Gizmo Gadgets produced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50,000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widgets last month. They shipped them out to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2,500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different stores.  </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906463"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How many widgets did each store receive? Write your answer in scientific notation.</a:t>
                </a:r>
              </a:p>
              <a:p>
                <a:pPr marL="90646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ts val="120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Determine if the following equation is true. Support your answer using mathematics.</a:t>
                </a:r>
              </a:p>
              <a:p>
                <a:pPr lvl="0" eaLnBrk="0" fontAlgn="base" hangingPunct="0">
                  <a:spcBef>
                    <a:spcPct val="0"/>
                  </a:spcBef>
                  <a:spcAft>
                    <a:spcPct val="0"/>
                  </a:spcAft>
                  <a:buClrTx/>
                </a:pPr>
                <a14:m>
                  <m:oMathPara xmlns:m="http://schemas.openxmlformats.org/officeDocument/2006/math">
                    <m:oMathParaPr>
                      <m:jc m:val="center"/>
                    </m:oMathParaPr>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 × </m:t>
                      </m:r>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cs typeface="Times New Roman" panose="02020603050405020304" pitchFamily="18" charset="0"/>
                            </a:rPr>
                            <m:t>1</m:t>
                          </m:r>
                        </m:sup>
                      </m:sSup>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m:t>
                      </m:r>
                      <m:f>
                        <m:fPr>
                          <m:ctrlPr>
                            <a:rPr lang="en-US" altLang="en-US" sz="2400" i="1" dirty="0">
                              <a:solidFill>
                                <a:schemeClr val="tx1"/>
                              </a:solidFill>
                              <a:latin typeface="Cambria Math"/>
                              <a:cs typeface="Times New Roman" panose="02020603050405020304" pitchFamily="18" charset="0"/>
                            </a:rPr>
                          </m:ctrlPr>
                        </m:fPr>
                        <m:num>
                          <m:d>
                            <m:dPr>
                              <m:ctrlPr>
                                <a:rPr lang="en-US" altLang="en-US" sz="2400" i="1" dirty="0">
                                  <a:solidFill>
                                    <a:schemeClr val="tx1"/>
                                  </a:solidFill>
                                  <a:latin typeface="Cambria Math"/>
                                  <a:cs typeface="Times New Roman" panose="02020603050405020304" pitchFamily="18" charset="0"/>
                                </a:rPr>
                              </m:ctrlPr>
                            </m:dPr>
                            <m:e>
                              <m:r>
                                <a:rPr lang="es-ES" altLang="en-US" sz="2400" i="1" dirty="0">
                                  <a:solidFill>
                                    <a:schemeClr val="tx1"/>
                                  </a:solidFill>
                                  <a:latin typeface="Cambria Math" panose="02040503050406030204" pitchFamily="18" charset="0"/>
                                  <a:cs typeface="Times New Roman" panose="02020603050405020304" pitchFamily="18" charset="0"/>
                                </a:rPr>
                                <m:t>5</m:t>
                              </m:r>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s-ES" altLang="en-US" sz="2400" i="1" dirty="0">
                                      <a:solidFill>
                                        <a:schemeClr val="tx1"/>
                                      </a:solidFill>
                                      <a:latin typeface="Cambria Math"/>
                                      <a:ea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4</m:t>
                                  </m:r>
                                </m:sup>
                              </m:sSup>
                            </m:e>
                          </m:d>
                        </m:num>
                        <m:den>
                          <m:d>
                            <m:dPr>
                              <m:ctrlPr>
                                <a:rPr lang="en-US" altLang="en-US" sz="2400" i="1" dirty="0">
                                  <a:solidFill>
                                    <a:schemeClr val="tx1"/>
                                  </a:solidFill>
                                  <a:latin typeface="Cambria Math"/>
                                  <a:cs typeface="Times New Roman" panose="02020603050405020304" pitchFamily="18" charset="0"/>
                                </a:rPr>
                              </m:ctrlPr>
                            </m:dPr>
                            <m:e>
                              <m:r>
                                <a:rPr lang="es-ES" altLang="en-US" sz="2400" i="1" dirty="0">
                                  <a:solidFill>
                                    <a:schemeClr val="tx1"/>
                                  </a:solidFill>
                                  <a:latin typeface="Cambria Math" panose="02040503050406030204" pitchFamily="18" charset="0"/>
                                  <a:cs typeface="Times New Roman" panose="02020603050405020304" pitchFamily="18" charset="0"/>
                                </a:rPr>
                                <m:t>2.5</m:t>
                              </m:r>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s-ES" altLang="en-US" sz="2400" i="1" dirty="0">
                                      <a:solidFill>
                                        <a:schemeClr val="tx1"/>
                                      </a:solidFill>
                                      <a:latin typeface="Cambria Math"/>
                                      <a:ea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3</m:t>
                                  </m:r>
                                </m:sup>
                              </m:sSup>
                            </m:e>
                          </m:d>
                        </m:den>
                      </m:f>
                    </m:oMath>
                  </m:oMathPara>
                </a14:m>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730364" y="1266926"/>
                <a:ext cx="11198310" cy="4362028"/>
              </a:xfrm>
              <a:prstGeom prst="rect">
                <a:avLst/>
              </a:prstGeom>
              <a:blipFill>
                <a:blip r:embed="rId4"/>
                <a:stretch>
                  <a:fillRect l="-906" t="-870" r="-34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8" name="Google Shape;343;g103996e1364_0_321">
            <a:extLst>
              <a:ext uri="{FF2B5EF4-FFF2-40B4-BE49-F238E27FC236}">
                <a16:creationId xmlns:mc="http://schemas.openxmlformats.org/markup-compatibility/2006" xmlns:a14="http://schemas.microsoft.com/office/drawing/2010/main" xmlns:a16="http://schemas.microsoft.com/office/drawing/2014/main" xmlns="" id="{21B1DF8E-16A0-FA4E-8CEB-434668DFA68D}"/>
              </a:ext>
            </a:extLst>
          </p:cNvPr>
          <p:cNvSpPr txBox="1">
            <a:spLocks/>
          </p:cNvSpPr>
          <p:nvPr/>
        </p:nvSpPr>
        <p:spPr>
          <a:xfrm>
            <a:off x="1052650" y="87527"/>
            <a:ext cx="10441876"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3.7.3 Guided Instruction: Dividing Numbers Written in Scientific Notation</a:t>
            </a:r>
            <a:endParaRPr lang="en-US" sz="3200" b="1" dirty="0">
              <a:solidFill>
                <a:srgbClr val="54B5D1"/>
              </a:solidFill>
              <a:latin typeface="Verdana"/>
              <a:ea typeface="Verdana"/>
              <a:cs typeface="Verdana"/>
              <a:sym typeface="Verdana"/>
            </a:endParaRP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5">
            <a:alphaModFix/>
          </a:blip>
          <a:srcRect/>
          <a:stretch/>
        </p:blipFill>
        <p:spPr>
          <a:xfrm>
            <a:off x="305350" y="203221"/>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99405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xmlns="" id="{C8F82859-BA98-3646-BF3B-9E17E52A2E35}"/>
                  </a:ext>
                </a:extLst>
              </p:cNvPr>
              <p:cNvSpPr txBox="1"/>
              <p:nvPr/>
            </p:nvSpPr>
            <p:spPr>
              <a:xfrm>
                <a:off x="511205" y="533066"/>
                <a:ext cx="10953207" cy="3469476"/>
              </a:xfrm>
              <a:prstGeom prst="rect">
                <a:avLst/>
              </a:prstGeom>
              <a:noFill/>
            </p:spPr>
            <p:txBody>
              <a:bodyPr wrap="square" rtlCol="0">
                <a:spAutoFit/>
              </a:bodyPr>
              <a:lstStyle/>
              <a:p>
                <a:pPr marL="906463" indent="-457200" eaLnBrk="0" fontAlgn="base" hangingPunct="0">
                  <a:spcBef>
                    <a:spcPct val="0"/>
                  </a:spcBef>
                  <a:spcAft>
                    <a:spcPct val="0"/>
                  </a:spcAft>
                  <a:buClrTx/>
                  <a:buFont typeface="+mj-lt"/>
                  <a:buAutoNum type="alphaLcPeriod" startAt="3"/>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Explore what happens when the dividend is less than the divisor by completing the problem.</a:t>
                </a:r>
              </a:p>
              <a:p>
                <a:pPr marL="906463" indent="-45720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pPr>
                <a14:m>
                  <m:oMathPara xmlns:m="http://schemas.openxmlformats.org/officeDocument/2006/math">
                    <m:oMathParaPr>
                      <m:jc m:val="centerGroup"/>
                    </m:oMathParaPr>
                    <m:oMath xmlns:m="http://schemas.openxmlformats.org/officeDocument/2006/math">
                      <m:f>
                        <m:fPr>
                          <m:ctrlPr>
                            <a:rPr lang="en-US" altLang="en-US" sz="2400" i="1" dirty="0">
                              <a:solidFill>
                                <a:schemeClr val="tx1"/>
                              </a:solidFill>
                              <a:latin typeface="Cambria Math"/>
                              <a:cs typeface="Times New Roman" panose="02020603050405020304" pitchFamily="18" charset="0"/>
                            </a:rPr>
                          </m:ctrlPr>
                        </m:fPr>
                        <m:num>
                          <m:d>
                            <m:dPr>
                              <m:ctrlPr>
                                <a:rPr lang="en-US" altLang="en-US" sz="2400" i="1" dirty="0">
                                  <a:solidFill>
                                    <a:schemeClr val="tx1"/>
                                  </a:solidFill>
                                  <a:latin typeface="Cambria Math"/>
                                  <a:cs typeface="Times New Roman" panose="02020603050405020304" pitchFamily="18" charset="0"/>
                                </a:rPr>
                              </m:ctrlPr>
                            </m:dPr>
                            <m:e>
                              <m:r>
                                <a:rPr lang="es-ES" altLang="en-US" sz="2400" i="1" dirty="0">
                                  <a:solidFill>
                                    <a:schemeClr val="tx1"/>
                                  </a:solidFill>
                                  <a:latin typeface="Cambria Math" panose="02040503050406030204" pitchFamily="18" charset="0"/>
                                  <a:cs typeface="Times New Roman" panose="02020603050405020304" pitchFamily="18" charset="0"/>
                                </a:rPr>
                                <m:t>7</m:t>
                              </m:r>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s-ES" altLang="en-US" sz="2400" i="1" dirty="0">
                                      <a:solidFill>
                                        <a:schemeClr val="tx1"/>
                                      </a:solidFill>
                                      <a:latin typeface="Cambria Math"/>
                                      <a:ea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4</m:t>
                                  </m:r>
                                </m:sup>
                              </m:sSup>
                            </m:e>
                          </m:d>
                        </m:num>
                        <m:den>
                          <m:d>
                            <m:dPr>
                              <m:ctrlPr>
                                <a:rPr lang="en-US" altLang="en-US" sz="2400" i="1" dirty="0">
                                  <a:solidFill>
                                    <a:schemeClr val="tx1"/>
                                  </a:solidFill>
                                  <a:latin typeface="Cambria Math"/>
                                  <a:cs typeface="Times New Roman" panose="02020603050405020304" pitchFamily="18" charset="0"/>
                                </a:rPr>
                              </m:ctrlPr>
                            </m:dPr>
                            <m:e>
                              <m:r>
                                <a:rPr lang="es-ES" altLang="en-US" sz="2400" i="1" dirty="0">
                                  <a:solidFill>
                                    <a:schemeClr val="tx1"/>
                                  </a:solidFill>
                                  <a:latin typeface="Cambria Math" panose="02040503050406030204" pitchFamily="18" charset="0"/>
                                  <a:cs typeface="Times New Roman" panose="02020603050405020304" pitchFamily="18" charset="0"/>
                                </a:rPr>
                                <m:t>2.8</m:t>
                              </m:r>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s-ES" altLang="en-US" sz="2400" i="1" dirty="0">
                                      <a:solidFill>
                                        <a:schemeClr val="tx1"/>
                                      </a:solidFill>
                                      <a:latin typeface="Cambria Math"/>
                                      <a:ea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6</m:t>
                                  </m:r>
                                </m:sup>
                              </m:sSup>
                            </m:e>
                          </m:d>
                        </m:den>
                      </m:f>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  _______  × </m:t>
                      </m:r>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cs typeface="Times New Roman" panose="02020603050405020304" pitchFamily="18" charset="0"/>
                            </a:rPr>
                            <m:t>4−6</m:t>
                          </m:r>
                        </m:sup>
                      </m:sSup>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2.5 ×</m:t>
                      </m:r>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 10</m:t>
                          </m:r>
                        </m:e>
                        <m:sup>
                          <m:r>
                            <a:rPr lang="en-PH" altLang="en-US" sz="2400" i="1" dirty="0">
                              <a:solidFill>
                                <a:schemeClr val="tx1"/>
                              </a:solidFill>
                              <a:latin typeface="Cambria Math"/>
                              <a:cs typeface="Times New Roman" panose="02020603050405020304" pitchFamily="18" charset="0"/>
                            </a:rPr>
                            <m:t>  </m:t>
                          </m:r>
                        </m:sup>
                      </m:sSup>
                    </m:oMath>
                  </m:oMathPara>
                </a14:m>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4"/>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Discuss with your partner why the answer to Part C is not a negative number and has a negative exponent.</a:t>
                </a:r>
              </a:p>
            </p:txBody>
          </p:sp>
        </mc:Choice>
        <mc:Fallback>
          <p:sp>
            <p:nvSpPr>
              <p:cNvPr id="7" name="TextBox 6">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3469476"/>
              </a:xfrm>
              <a:prstGeom prst="rect">
                <a:avLst/>
              </a:prstGeom>
              <a:blipFill rotWithShape="1">
                <a:blip r:embed="rId4"/>
                <a:stretch>
                  <a:fillRect t="-1404" b="-2807"/>
                </a:stretch>
              </a:blipFill>
            </p:spPr>
            <p:txBody>
              <a:bodyPr/>
              <a:lstStyle/>
              <a:p>
                <a:r>
                  <a:rPr lang="en-US">
                    <a:noFill/>
                  </a:rPr>
                  <a:t> </a:t>
                </a:r>
              </a:p>
            </p:txBody>
          </p:sp>
        </mc:Fallback>
      </mc:AlternateContent>
    </p:spTree>
    <p:extLst>
      <p:ext uri="{BB962C8B-B14F-4D97-AF65-F5344CB8AC3E}">
        <p14:creationId xmlns:p14="http://schemas.microsoft.com/office/powerpoint/2010/main" val="202851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xmlns="" id="{C8F82859-BA98-3646-BF3B-9E17E52A2E35}"/>
                  </a:ext>
                </a:extLst>
              </p:cNvPr>
              <p:cNvSpPr txBox="1"/>
              <p:nvPr/>
            </p:nvSpPr>
            <p:spPr>
              <a:xfrm>
                <a:off x="511205" y="533066"/>
                <a:ext cx="10953207" cy="3838808"/>
              </a:xfrm>
              <a:prstGeom prst="rect">
                <a:avLst/>
              </a:prstGeom>
              <a:noFill/>
            </p:spPr>
            <p:txBody>
              <a:bodyPr wrap="square" rtlCol="0">
                <a:spAutoFit/>
              </a:bodyPr>
              <a:lstStyle/>
              <a:p>
                <a:pPr marL="906463" indent="-457200" eaLnBrk="0" fontAlgn="base" hangingPunct="0">
                  <a:spcBef>
                    <a:spcPct val="0"/>
                  </a:spcBef>
                  <a:spcAft>
                    <a:spcPct val="0"/>
                  </a:spcAft>
                  <a:buClrTx/>
                  <a:buFont typeface="+mj-lt"/>
                  <a:buAutoNum type="alphaLcPeriod" startAt="5"/>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Solve by filling in the blanks.</a:t>
                </a:r>
              </a:p>
              <a:p>
                <a:pPr marL="906463" indent="-45720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pPr>
                <a14:m>
                  <m:oMathPara xmlns:m="http://schemas.openxmlformats.org/officeDocument/2006/math">
                    <m:oMathParaPr>
                      <m:jc m:val="centerGroup"/>
                    </m:oMathParaPr>
                    <m:oMath xmlns:m="http://schemas.openxmlformats.org/officeDocument/2006/math">
                      <m:f>
                        <m:fPr>
                          <m:ctrlPr>
                            <a:rPr lang="en-US" altLang="en-US" sz="2400" i="1" dirty="0">
                              <a:solidFill>
                                <a:schemeClr val="tx1"/>
                              </a:solidFill>
                              <a:latin typeface="Cambria Math"/>
                              <a:cs typeface="Times New Roman" panose="02020603050405020304" pitchFamily="18" charset="0"/>
                            </a:rPr>
                          </m:ctrlPr>
                        </m:fPr>
                        <m:num>
                          <m:d>
                            <m:dPr>
                              <m:ctrlPr>
                                <a:rPr lang="en-US" altLang="en-US" sz="2400" i="1" dirty="0">
                                  <a:solidFill>
                                    <a:schemeClr val="tx1"/>
                                  </a:solidFill>
                                  <a:latin typeface="Cambria Math"/>
                                  <a:cs typeface="Times New Roman" panose="02020603050405020304" pitchFamily="18" charset="0"/>
                                </a:rPr>
                              </m:ctrlPr>
                            </m:dPr>
                            <m:e>
                              <m:r>
                                <a:rPr lang="es-ES" altLang="en-US" sz="2400" i="1" dirty="0">
                                  <a:solidFill>
                                    <a:schemeClr val="tx1"/>
                                  </a:solidFill>
                                  <a:latin typeface="Cambria Math" panose="02040503050406030204" pitchFamily="18" charset="0"/>
                                  <a:cs typeface="Times New Roman" panose="02020603050405020304" pitchFamily="18" charset="0"/>
                                </a:rPr>
                                <m:t>−7</m:t>
                              </m:r>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s-ES" altLang="en-US" sz="2400" i="1" dirty="0">
                                      <a:solidFill>
                                        <a:schemeClr val="tx1"/>
                                      </a:solidFill>
                                      <a:latin typeface="Cambria Math"/>
                                      <a:ea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4</m:t>
                                  </m:r>
                                </m:sup>
                              </m:sSup>
                            </m:e>
                          </m:d>
                        </m:num>
                        <m:den>
                          <m:d>
                            <m:dPr>
                              <m:ctrlPr>
                                <a:rPr lang="en-US" altLang="en-US" sz="2400" i="1" dirty="0">
                                  <a:solidFill>
                                    <a:schemeClr val="tx1"/>
                                  </a:solidFill>
                                  <a:latin typeface="Cambria Math"/>
                                  <a:cs typeface="Times New Roman" panose="02020603050405020304" pitchFamily="18" charset="0"/>
                                </a:rPr>
                              </m:ctrlPr>
                            </m:dPr>
                            <m:e>
                              <m:r>
                                <a:rPr lang="es-ES" altLang="en-US" sz="2400" i="1" dirty="0">
                                  <a:solidFill>
                                    <a:schemeClr val="tx1"/>
                                  </a:solidFill>
                                  <a:latin typeface="Cambria Math" panose="02040503050406030204" pitchFamily="18" charset="0"/>
                                  <a:cs typeface="Times New Roman" panose="02020603050405020304" pitchFamily="18" charset="0"/>
                                </a:rPr>
                                <m:t>2.8</m:t>
                              </m:r>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s-ES" altLang="en-US" sz="2400" i="1" dirty="0">
                                      <a:solidFill>
                                        <a:schemeClr val="tx1"/>
                                      </a:solidFill>
                                      <a:latin typeface="Cambria Math"/>
                                      <a:ea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6</m:t>
                                  </m:r>
                                </m:sup>
                              </m:sSup>
                            </m:e>
                          </m:d>
                        </m:den>
                      </m:f>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  _______  × </m:t>
                      </m:r>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10</m:t>
                          </m:r>
                        </m:e>
                        <m:sup>
                          <m:r>
                            <a:rPr lang="es-ES" altLang="en-US" sz="2400" i="1" dirty="0">
                              <a:solidFill>
                                <a:schemeClr val="tx1"/>
                              </a:solidFill>
                              <a:latin typeface="Cambria Math" panose="02040503050406030204" pitchFamily="18" charset="0"/>
                              <a:cs typeface="Times New Roman" panose="02020603050405020304" pitchFamily="18" charset="0"/>
                            </a:rPr>
                            <m:t>4−6</m:t>
                          </m:r>
                        </m:sup>
                      </m:sSup>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a:rPr lang="es-E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2.5 ×</m:t>
                      </m:r>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 10</m:t>
                          </m:r>
                        </m:e>
                        <m:sup>
                          <m:r>
                            <a:rPr lang="en-PH" altLang="en-US" sz="2400" i="1" dirty="0">
                              <a:solidFill>
                                <a:schemeClr val="tx1"/>
                              </a:solidFill>
                              <a:latin typeface="Cambria Math"/>
                              <a:cs typeface="Times New Roman" panose="02020603050405020304" pitchFamily="18" charset="0"/>
                            </a:rPr>
                            <m:t>  </m:t>
                          </m:r>
                        </m:sup>
                      </m:sSup>
                      <m:r>
                        <a:rPr lang="es-ES" altLang="en-US" sz="2400" i="1" dirty="0">
                          <a:solidFill>
                            <a:schemeClr val="tx1"/>
                          </a:solidFill>
                          <a:latin typeface="Cambria Math" panose="02040503050406030204" pitchFamily="18" charset="0"/>
                          <a:cs typeface="Times New Roman" panose="02020603050405020304" pitchFamily="18" charset="0"/>
                        </a:rPr>
                        <m:t> </m:t>
                      </m:r>
                    </m:oMath>
                  </m:oMathPara>
                </a14:m>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906463" indent="-457200" eaLnBrk="0" fontAlgn="base" hangingPunct="0">
                  <a:spcBef>
                    <a:spcPct val="0"/>
                  </a:spcBef>
                  <a:spcAft>
                    <a:spcPct val="0"/>
                  </a:spcAft>
                  <a:buClrTx/>
                  <a:buFont typeface="+mj-lt"/>
                  <a:buAutoNum type="alphaLcPeriod" startAt="6"/>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Discuss with your partner why the answer to Part E is a negative number.</a:t>
                </a:r>
              </a:p>
            </p:txBody>
          </p:sp>
        </mc:Choice>
        <mc:Fallback>
          <p:sp>
            <p:nvSpPr>
              <p:cNvPr id="6" name="TextBox 5">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3838808"/>
              </a:xfrm>
              <a:prstGeom prst="rect">
                <a:avLst/>
              </a:prstGeom>
              <a:blipFill rotWithShape="1">
                <a:blip r:embed="rId4"/>
                <a:stretch>
                  <a:fillRect t="-1270" b="-2540"/>
                </a:stretch>
              </a:blipFill>
            </p:spPr>
            <p:txBody>
              <a:bodyPr/>
              <a:lstStyle/>
              <a:p>
                <a:r>
                  <a:rPr lang="en-US">
                    <a:noFill/>
                  </a:rPr>
                  <a:t> </a:t>
                </a:r>
              </a:p>
            </p:txBody>
          </p:sp>
        </mc:Fallback>
      </mc:AlternateContent>
    </p:spTree>
    <p:extLst>
      <p:ext uri="{BB962C8B-B14F-4D97-AF65-F5344CB8AC3E}">
        <p14:creationId xmlns:p14="http://schemas.microsoft.com/office/powerpoint/2010/main" val="3814089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xmlns="" id="{947DEB7A-6C7B-7E42-AE59-BDB6973CB8D4}"/>
                  </a:ext>
                </a:extLst>
              </p:cNvPr>
              <p:cNvSpPr txBox="1"/>
              <p:nvPr/>
            </p:nvSpPr>
            <p:spPr>
              <a:xfrm>
                <a:off x="468115" y="347358"/>
                <a:ext cx="11449565" cy="1631216"/>
              </a:xfrm>
              <a:prstGeom prst="rect">
                <a:avLst/>
              </a:prstGeom>
              <a:noFill/>
            </p:spPr>
            <p:txBody>
              <a:bodyPr wrap="square" rtlCol="0">
                <a:spAutoFit/>
              </a:bodyPr>
              <a:lstStyle/>
              <a:p>
                <a:pPr marL="457200" indent="-457200" eaLnBrk="0" fontAlgn="base" hangingPunct="0">
                  <a:spcBef>
                    <a:spcPct val="0"/>
                  </a:spcBef>
                  <a:spcAft>
                    <a:spcPct val="0"/>
                  </a:spcAft>
                  <a:buClrTx/>
                  <a:buFont typeface="+mj-lt"/>
                  <a:buAutoNum type="arabicPeriod" startAt="2"/>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Mara and Colin were given the following problem. Their work is shown.</a:t>
                </a:r>
              </a:p>
              <a:p>
                <a:pPr lvl="0"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8895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distance from the sun to the Earth is about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150,000,000,000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meters. The speed of light is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 × </m:t>
                    </m:r>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10</m:t>
                        </m:r>
                      </m:e>
                      <m:sup>
                        <m:r>
                          <a:rPr lang="es-ES" altLang="en-US" sz="2000" i="1" dirty="0">
                            <a:solidFill>
                              <a:schemeClr val="tx1"/>
                            </a:solidFill>
                            <a:latin typeface="Cambria Math" panose="02040503050406030204" pitchFamily="18" charset="0"/>
                            <a:cs typeface="Times New Roman" panose="02020603050405020304" pitchFamily="18" charset="0"/>
                          </a:rPr>
                          <m:t>9</m:t>
                        </m:r>
                      </m:sup>
                    </m:sSup>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meters per second. How many seconds does it take for light from the sun to reach the Earth?</a:t>
                </a:r>
              </a:p>
            </p:txBody>
          </p:sp>
        </mc:Choice>
        <mc:Fallback xmlns="">
          <p:sp>
            <p:nvSpPr>
              <p:cNvPr id="19" name="TextBox 18">
                <a:extLst>
                  <a:ext uri="{FF2B5EF4-FFF2-40B4-BE49-F238E27FC236}">
                    <a16:creationId xmlns:a16="http://schemas.microsoft.com/office/drawing/2014/main" id="{947DEB7A-6C7B-7E42-AE59-BDB6973CB8D4}"/>
                  </a:ext>
                </a:extLst>
              </p:cNvPr>
              <p:cNvSpPr txBox="1">
                <a:spLocks noRot="1" noChangeAspect="1" noMove="1" noResize="1" noEditPoints="1" noAdjustHandles="1" noChangeArrowheads="1" noChangeShapeType="1" noTextEdit="1"/>
              </p:cNvSpPr>
              <p:nvPr/>
            </p:nvSpPr>
            <p:spPr>
              <a:xfrm>
                <a:off x="468115" y="347358"/>
                <a:ext cx="11449565" cy="1631216"/>
              </a:xfrm>
              <a:prstGeom prst="rect">
                <a:avLst/>
              </a:prstGeom>
              <a:blipFill>
                <a:blip r:embed="rId4"/>
                <a:stretch>
                  <a:fillRect l="-554" t="-2326" r="-1218" b="-62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50BF3A61-94C4-C444-8E4A-05EE24ADEC6C}"/>
                  </a:ext>
                </a:extLst>
              </p:cNvPr>
              <p:cNvGraphicFramePr>
                <a:graphicFrameLocks noGrp="1"/>
              </p:cNvGraphicFramePr>
              <p:nvPr>
                <p:extLst>
                  <p:ext uri="{D42A27DB-BD31-4B8C-83A1-F6EECF244321}">
                    <p14:modId xmlns:p14="http://schemas.microsoft.com/office/powerpoint/2010/main" val="1153957271"/>
                  </p:ext>
                </p:extLst>
              </p:nvPr>
            </p:nvGraphicFramePr>
            <p:xfrm>
              <a:off x="2856000" y="2302377"/>
              <a:ext cx="6480000" cy="3574420"/>
            </p:xfrm>
            <a:graphic>
              <a:graphicData uri="http://schemas.openxmlformats.org/drawingml/2006/table">
                <a:tbl>
                  <a:tblPr firstRow="1" firstCol="1" bandRow="1"/>
                  <a:tblGrid>
                    <a:gridCol w="3240000">
                      <a:extLst>
                        <a:ext uri="{9D8B030D-6E8A-4147-A177-3AD203B41FA5}">
                          <a16:colId xmlns:a16="http://schemas.microsoft.com/office/drawing/2014/main" xmlns="" val="2443029911"/>
                        </a:ext>
                      </a:extLst>
                    </a:gridCol>
                    <a:gridCol w="3240000">
                      <a:extLst>
                        <a:ext uri="{9D8B030D-6E8A-4147-A177-3AD203B41FA5}">
                          <a16:colId xmlns:a16="http://schemas.microsoft.com/office/drawing/2014/main" xmlns="" val="98985082"/>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Helvetica Neue" panose="02000503000000020004" pitchFamily="2" charset="0"/>
                            </a:rPr>
                            <a:t>Mara’s </a:t>
                          </a: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Work</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Colin’s Work</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1076831631"/>
                      </a:ext>
                    </a:extLst>
                  </a:tr>
                  <a:tr h="2880000">
                    <a:tc>
                      <a:txBody>
                        <a:bodyPr/>
                        <a:lstStyle/>
                        <a:p>
                          <a:pPr marL="457200" marR="0" algn="l">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a:ea typeface="Helvetica Neue" panose="02000503000000020004" pitchFamily="2" charset="0"/>
                                        <a:cs typeface="Helvetica Neue" panose="02000503000000020004" pitchFamily="2" charset="0"/>
                                      </a:rPr>
                                    </m:ctrlPr>
                                  </m:fPr>
                                  <m:num>
                                    <m:d>
                                      <m:dPr>
                                        <m:ctrlPr>
                                          <a:rPr lang="x-none" sz="2000" i="1">
                                            <a:effectLst/>
                                            <a:latin typeface="Cambria Math"/>
                                            <a:ea typeface="Helvetica Neue" panose="02000503000000020004" pitchFamily="2" charset="0"/>
                                            <a:cs typeface="Helvetica Neue" panose="02000503000000020004" pitchFamily="2" charset="0"/>
                                          </a:rPr>
                                        </m:ctrlPr>
                                      </m:d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1.5 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000" i="1">
                                                <a:effectLst/>
                                                <a:latin typeface="Cambria Math"/>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11</m:t>
                                            </m:r>
                                          </m:sup>
                                        </m:sSup>
                                      </m:e>
                                    </m:d>
                                  </m:num>
                                  <m:den>
                                    <m:d>
                                      <m:dPr>
                                        <m:ctrlPr>
                                          <a:rPr lang="x-none" sz="2000" i="1">
                                            <a:effectLst/>
                                            <a:latin typeface="Cambria Math"/>
                                            <a:ea typeface="Helvetica Neue" panose="02000503000000020004" pitchFamily="2" charset="0"/>
                                            <a:cs typeface="Helvetica Neue" panose="02000503000000020004" pitchFamily="2" charset="0"/>
                                          </a:rPr>
                                        </m:ctrlPr>
                                      </m:d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3 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sSup>
                                          <m:sSupPr>
                                            <m:ctrlPr>
                                              <a:rPr lang="x-none" sz="2000" i="1">
                                                <a:effectLst/>
                                                <a:latin typeface="Cambria Math"/>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9</m:t>
                                            </m:r>
                                          </m:sup>
                                        </m:sSup>
                                      </m:e>
                                    </m:d>
                                  </m:den>
                                </m:f>
                              </m:oMath>
                            </m:oMathPara>
                          </a14:m>
                          <a:endParaRPr lang="x-none" sz="2000">
                            <a:effectLst/>
                            <a:latin typeface="Verdana" pitchFamily="34" charset="0"/>
                            <a:ea typeface="Verdana" pitchFamily="34" charset="0"/>
                            <a:cs typeface="Times New Roman" panose="02020603050405020304" pitchFamily="18" charset="0"/>
                          </a:endParaRPr>
                        </a:p>
                        <a:p>
                          <a:pPr marL="0" marR="0" algn="l">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p>
                          <a:pPr marL="56007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f>
                                  <m:fPr>
                                    <m:ctrlPr>
                                      <a:rPr lang="x-none" sz="2000" i="1">
                                        <a:effectLst/>
                                        <a:latin typeface="Cambria Math"/>
                                        <a:ea typeface="Helvetica Neue" panose="02000503000000020004" pitchFamily="2" charset="0"/>
                                        <a:cs typeface="Helvetica Neue" panose="02000503000000020004" pitchFamily="2" charset="0"/>
                                      </a:rPr>
                                    </m:ctrlPr>
                                  </m:fPr>
                                  <m:num>
                                    <m:d>
                                      <m:dPr>
                                        <m:ctrlPr>
                                          <a:rPr lang="x-none" sz="2000" i="1">
                                            <a:effectLst/>
                                            <a:latin typeface="Cambria Math"/>
                                            <a:ea typeface="Helvetica Neue" panose="02000503000000020004" pitchFamily="2" charset="0"/>
                                            <a:cs typeface="Helvetica Neue" panose="02000503000000020004" pitchFamily="2" charset="0"/>
                                          </a:rPr>
                                        </m:ctrlPr>
                                      </m:d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1.5</m:t>
                                        </m:r>
                                      </m:e>
                                    </m:d>
                                  </m:num>
                                  <m:den>
                                    <m:d>
                                      <m:dPr>
                                        <m:ctrlPr>
                                          <a:rPr lang="x-none" sz="2000" i="1">
                                            <a:effectLst/>
                                            <a:latin typeface="Cambria Math"/>
                                            <a:ea typeface="Helvetica Neue" panose="02000503000000020004" pitchFamily="2" charset="0"/>
                                            <a:cs typeface="Helvetica Neue" panose="02000503000000020004" pitchFamily="2" charset="0"/>
                                          </a:rPr>
                                        </m:ctrlPr>
                                      </m:d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3</m:t>
                                        </m:r>
                                      </m:e>
                                    </m:d>
                                  </m:den>
                                </m:f>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f>
                                  <m:fPr>
                                    <m:ctrlPr>
                                      <a:rPr lang="x-none" sz="2000" i="1">
                                        <a:effectLst/>
                                        <a:latin typeface="Cambria Math"/>
                                        <a:ea typeface="Helvetica Neue" panose="02000503000000020004" pitchFamily="2" charset="0"/>
                                        <a:cs typeface="Helvetica Neue" panose="02000503000000020004" pitchFamily="2" charset="0"/>
                                      </a:rPr>
                                    </m:ctrlPr>
                                  </m:fPr>
                                  <m:num>
                                    <m:d>
                                      <m:dPr>
                                        <m:ctrlPr>
                                          <a:rPr lang="x-none" sz="2000" i="1">
                                            <a:effectLst/>
                                            <a:latin typeface="Cambria Math"/>
                                            <a:ea typeface="Helvetica Neue" panose="02000503000000020004" pitchFamily="2" charset="0"/>
                                            <a:cs typeface="Helvetica Neue" panose="02000503000000020004" pitchFamily="2" charset="0"/>
                                          </a:rPr>
                                        </m:ctrlPr>
                                      </m:dPr>
                                      <m:e>
                                        <m:sSup>
                                          <m:sSupPr>
                                            <m:ctrlPr>
                                              <a:rPr lang="x-none" sz="2000" i="1">
                                                <a:effectLst/>
                                                <a:latin typeface="Cambria Math"/>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11</m:t>
                                            </m:r>
                                          </m:sup>
                                        </m:sSup>
                                      </m:e>
                                    </m:d>
                                  </m:num>
                                  <m:den>
                                    <m:d>
                                      <m:dPr>
                                        <m:ctrlPr>
                                          <a:rPr lang="x-none" sz="2000" i="1">
                                            <a:effectLst/>
                                            <a:latin typeface="Cambria Math"/>
                                            <a:ea typeface="Helvetica Neue" panose="02000503000000020004" pitchFamily="2" charset="0"/>
                                            <a:cs typeface="Helvetica Neue" panose="02000503000000020004" pitchFamily="2" charset="0"/>
                                          </a:rPr>
                                        </m:ctrlPr>
                                      </m:dPr>
                                      <m:e>
                                        <m:sSup>
                                          <m:sSupPr>
                                            <m:ctrlPr>
                                              <a:rPr lang="x-none" sz="2000" i="1">
                                                <a:effectLst/>
                                                <a:latin typeface="Cambria Math"/>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9</m:t>
                                            </m:r>
                                          </m:sup>
                                        </m:sSup>
                                      </m:e>
                                    </m:d>
                                  </m:den>
                                </m:f>
                              </m:oMath>
                            </m:oMathPara>
                          </a14:m>
                          <a:endParaRPr lang="x-none" sz="2000">
                            <a:effectLst/>
                            <a:latin typeface="Verdana" pitchFamily="34" charset="0"/>
                            <a:ea typeface="Verdana" pitchFamily="34" charset="0"/>
                            <a:cs typeface="Times New Roman" panose="02020603050405020304" pitchFamily="18" charset="0"/>
                          </a:endParaRPr>
                        </a:p>
                        <a:p>
                          <a:pPr marL="560070" marR="0" algn="l">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p>
                          <a:pPr marL="56007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d>
                                  <m:dPr>
                                    <m:ctrlPr>
                                      <a:rPr lang="x-none" sz="2000" i="1">
                                        <a:effectLst/>
                                        <a:latin typeface="Cambria Math"/>
                                        <a:ea typeface="Helvetica Neue" panose="02000503000000020004" pitchFamily="2" charset="0"/>
                                        <a:cs typeface="Helvetica Neue" panose="02000503000000020004" pitchFamily="2" charset="0"/>
                                      </a:rPr>
                                    </m:ctrlPr>
                                  </m:d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.5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000" i="1">
                                            <a:effectLst/>
                                            <a:latin typeface="Cambria Math"/>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2</m:t>
                                        </m:r>
                                      </m:sup>
                                    </m:sSup>
                                  </m:e>
                                </m:d>
                              </m:oMath>
                            </m:oMathPara>
                          </a14:m>
                          <a:endParaRPr lang="x-none" sz="2000">
                            <a:effectLst/>
                            <a:latin typeface="Verdana" pitchFamily="34" charset="0"/>
                            <a:ea typeface="Verdana" pitchFamily="34" charset="0"/>
                            <a:cs typeface="Times New Roman" panose="02020603050405020304" pitchFamily="18" charset="0"/>
                          </a:endParaRPr>
                        </a:p>
                        <a:p>
                          <a:pPr marL="560070" marR="0" algn="l">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a:effectLst/>
                            <a:latin typeface="Verdana" pitchFamily="34" charset="0"/>
                            <a:ea typeface="Verdana" pitchFamily="34" charset="0"/>
                            <a:cs typeface="Times New Roman" panose="02020603050405020304" pitchFamily="18" charset="0"/>
                          </a:endParaRPr>
                        </a:p>
                        <a:p>
                          <a:pPr marL="56007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d>
                                  <m:dPr>
                                    <m:ctrlPr>
                                      <a:rPr lang="x-none" sz="2000" i="1">
                                        <a:effectLst/>
                                        <a:latin typeface="Cambria Math"/>
                                        <a:ea typeface="Helvetica Neue" panose="02000503000000020004" pitchFamily="2" charset="0"/>
                                        <a:cs typeface="Helvetica Neue" panose="02000503000000020004" pitchFamily="2" charset="0"/>
                                      </a:rPr>
                                    </m:ctrlPr>
                                  </m:d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5 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000" i="1">
                                            <a:effectLst/>
                                            <a:latin typeface="Cambria Math"/>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2</m:t>
                                        </m:r>
                                      </m:sup>
                                    </m:sSup>
                                  </m:e>
                                </m:d>
                              </m:oMath>
                            </m:oMathPara>
                          </a14:m>
                          <a:endParaRPr lang="x-none" sz="200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a:ea typeface="Helvetica Neue" panose="02000503000000020004" pitchFamily="2" charset="0"/>
                                        <a:cs typeface="Helvetica Neue" panose="02000503000000020004" pitchFamily="2" charset="0"/>
                                      </a:rPr>
                                    </m:ctrlPr>
                                  </m:fPr>
                                  <m:num>
                                    <m:d>
                                      <m:dPr>
                                        <m:ctrlPr>
                                          <a:rPr lang="x-none" sz="2000" i="1">
                                            <a:effectLst/>
                                            <a:latin typeface="Cambria Math"/>
                                            <a:ea typeface="Helvetica Neue" panose="02000503000000020004" pitchFamily="2" charset="0"/>
                                            <a:cs typeface="Helvetica Neue" panose="02000503000000020004" pitchFamily="2" charset="0"/>
                                          </a:rPr>
                                        </m:ctrlPr>
                                      </m:d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1.5 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000" i="1">
                                                <a:effectLst/>
                                                <a:latin typeface="Cambria Math"/>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11</m:t>
                                            </m:r>
                                          </m:sup>
                                        </m:sSup>
                                      </m:e>
                                    </m:d>
                                  </m:num>
                                  <m:den>
                                    <m:d>
                                      <m:dPr>
                                        <m:ctrlPr>
                                          <a:rPr lang="x-none" sz="2000" i="1">
                                            <a:effectLst/>
                                            <a:latin typeface="Cambria Math"/>
                                            <a:ea typeface="Helvetica Neue" panose="02000503000000020004" pitchFamily="2" charset="0"/>
                                            <a:cs typeface="Helvetica Neue" panose="02000503000000020004" pitchFamily="2" charset="0"/>
                                          </a:rPr>
                                        </m:ctrlPr>
                                      </m:d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3 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sSup>
                                          <m:sSupPr>
                                            <m:ctrlPr>
                                              <a:rPr lang="x-none" sz="2000" i="1">
                                                <a:effectLst/>
                                                <a:latin typeface="Cambria Math"/>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9</m:t>
                                            </m:r>
                                          </m:sup>
                                        </m:sSup>
                                      </m:e>
                                    </m:d>
                                  </m:den>
                                </m:f>
                              </m:oMath>
                            </m:oMathPara>
                          </a14:m>
                          <a:endParaRPr lang="x-none" sz="2000" dirty="0">
                            <a:effectLst/>
                            <a:latin typeface="Verdana" pitchFamily="34" charset="0"/>
                            <a:ea typeface="Verdana" pitchFamily="34" charset="0"/>
                            <a:cs typeface="Times New Roman" panose="02020603050405020304" pitchFamily="18" charset="0"/>
                          </a:endParaRPr>
                        </a:p>
                        <a:p>
                          <a:pPr marL="0" marR="0" algn="l">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 </a:t>
                          </a:r>
                          <a:endParaRPr lang="x-none" sz="2000" dirty="0">
                            <a:effectLst/>
                            <a:latin typeface="Verdana" pitchFamily="34" charset="0"/>
                            <a:ea typeface="Verdana" pitchFamily="34" charset="0"/>
                            <a:cs typeface="Times New Roman" panose="02020603050405020304" pitchFamily="18" charset="0"/>
                          </a:endParaRPr>
                        </a:p>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 5 </m:t>
                                </m:r>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000" i="1">
                                        <a:effectLst/>
                                        <a:latin typeface="Cambria Math"/>
                                        <a:ea typeface="Helvetica Neue" panose="02000503000000020004" pitchFamily="2" charset="0"/>
                                        <a:cs typeface="Helvetica Neue" panose="02000503000000020004" pitchFamily="2" charset="0"/>
                                      </a:rPr>
                                    </m:ctrlPr>
                                  </m:sSup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10</m:t>
                                    </m:r>
                                  </m:e>
                                  <m:sup>
                                    <m:r>
                                      <a:rPr lang="en-US" sz="2000" i="1">
                                        <a:effectLst/>
                                        <a:latin typeface="Cambria Math" panose="02040503050406030204" pitchFamily="18" charset="0"/>
                                        <a:ea typeface="Helvetica Neue" panose="02000503000000020004" pitchFamily="2" charset="0"/>
                                        <a:cs typeface="Helvetica Neue" panose="02000503000000020004" pitchFamily="2" charset="0"/>
                                      </a:rPr>
                                      <m:t>1</m:t>
                                    </m:r>
                                  </m:sup>
                                </m:sSup>
                              </m:oMath>
                            </m:oMathPara>
                          </a14:m>
                          <a:endParaRPr lang="x-none" sz="2000" dirty="0">
                            <a:effectLst/>
                            <a:latin typeface="Verdana" pitchFamily="34" charset="0"/>
                            <a:ea typeface="Verdana" pitchFamily="34" charset="0"/>
                            <a:cs typeface="Times New Roman" panose="02020603050405020304" pitchFamily="18"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74241203"/>
                      </a:ext>
                    </a:extLst>
                  </a:tr>
                </a:tbl>
              </a:graphicData>
            </a:graphic>
          </p:graphicFrame>
        </mc:Choice>
        <mc:Fallback xmlns="">
          <p:graphicFrame>
            <p:nvGraphicFramePr>
              <p:cNvPr id="3" name="Table 2">
                <a:extLst>
                  <a:ext uri="{FF2B5EF4-FFF2-40B4-BE49-F238E27FC236}">
                    <a16:creationId xmlns:a16="http://schemas.microsoft.com/office/drawing/2014/main" id="{50BF3A61-94C4-C444-8E4A-05EE24ADEC6C}"/>
                  </a:ext>
                </a:extLst>
              </p:cNvPr>
              <p:cNvGraphicFramePr>
                <a:graphicFrameLocks noGrp="1"/>
              </p:cNvGraphicFramePr>
              <p:nvPr>
                <p:extLst>
                  <p:ext uri="{D42A27DB-BD31-4B8C-83A1-F6EECF244321}">
                    <p14:modId xmlns:p14="http://schemas.microsoft.com/office/powerpoint/2010/main" val="1153957271"/>
                  </p:ext>
                </p:extLst>
              </p:nvPr>
            </p:nvGraphicFramePr>
            <p:xfrm>
              <a:off x="2856000" y="2302377"/>
              <a:ext cx="6480000" cy="3574420"/>
            </p:xfrm>
            <a:graphic>
              <a:graphicData uri="http://schemas.openxmlformats.org/drawingml/2006/table">
                <a:tbl>
                  <a:tblPr firstRow="1" firstCol="1" bandRow="1"/>
                  <a:tblGrid>
                    <a:gridCol w="3240000">
                      <a:extLst>
                        <a:ext uri="{9D8B030D-6E8A-4147-A177-3AD203B41FA5}">
                          <a16:colId xmlns:a16="http://schemas.microsoft.com/office/drawing/2014/main" val="2443029911"/>
                        </a:ext>
                      </a:extLst>
                    </a:gridCol>
                    <a:gridCol w="3240000">
                      <a:extLst>
                        <a:ext uri="{9D8B030D-6E8A-4147-A177-3AD203B41FA5}">
                          <a16:colId xmlns:a16="http://schemas.microsoft.com/office/drawing/2014/main" val="98985082"/>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Helvetica Neue" panose="02000503000000020004" pitchFamily="2" charset="0"/>
                            </a:rPr>
                            <a:t>Mara’s </a:t>
                          </a: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Work</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Helvetica Neue" panose="02000503000000020004" pitchFamily="2" charset="0"/>
                            </a:rPr>
                            <a:t>Colin’s Work</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76831631"/>
                      </a:ext>
                    </a:extLst>
                  </a:tr>
                  <a:tr h="310642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91" t="-15510" r="-100391" b="-816"/>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391" t="-15510" r="-391" b="-816"/>
                          </a:stretch>
                        </a:blipFill>
                      </a:tcPr>
                    </a:tc>
                    <a:extLst>
                      <a:ext uri="{0D108BD9-81ED-4DB2-BD59-A6C34878D82A}">
                        <a16:rowId xmlns:a16="http://schemas.microsoft.com/office/drawing/2014/main" val="2574241203"/>
                      </a:ext>
                    </a:extLst>
                  </a:tr>
                </a:tbl>
              </a:graphicData>
            </a:graphic>
          </p:graphicFrame>
        </mc:Fallback>
      </mc:AlternateContent>
    </p:spTree>
    <p:extLst>
      <p:ext uri="{BB962C8B-B14F-4D97-AF65-F5344CB8AC3E}">
        <p14:creationId xmlns:p14="http://schemas.microsoft.com/office/powerpoint/2010/main" val="2122147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113</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xmlns="" id="{C8F82859-BA98-3646-BF3B-9E17E52A2E35}"/>
              </a:ext>
            </a:extLst>
          </p:cNvPr>
          <p:cNvSpPr txBox="1"/>
          <p:nvPr/>
        </p:nvSpPr>
        <p:spPr>
          <a:xfrm>
            <a:off x="223200" y="505131"/>
            <a:ext cx="11399840" cy="1938992"/>
          </a:xfrm>
          <a:prstGeom prst="rect">
            <a:avLst/>
          </a:prstGeom>
          <a:noFill/>
        </p:spPr>
        <p:txBody>
          <a:bodyPr wrap="square" rtlCol="0">
            <a:spAutoFit/>
          </a:bodyPr>
          <a:lstStyle/>
          <a:p>
            <a:pPr marL="906463"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Place your initials by the student’s name who has the correct answer in the table.</a:t>
            </a:r>
          </a:p>
          <a:p>
            <a:pPr marL="906463" indent="-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906463"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Circle and correct the error made by the student with the incorrect answer.</a:t>
            </a:r>
          </a:p>
          <a:p>
            <a:pPr marL="906463" indent="-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906463"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Write a note to the person who is incorrect, explaining their mistake. </a:t>
            </a:r>
          </a:p>
        </p:txBody>
      </p:sp>
      <p:sp>
        <p:nvSpPr>
          <p:cNvPr id="9" name="Rounded Rectangle 8">
            <a:extLst>
              <a:ext uri="{FF2B5EF4-FFF2-40B4-BE49-F238E27FC236}">
                <a16:creationId xmlns:a16="http://schemas.microsoft.com/office/drawing/2014/main" xmlns="" id="{26927F8F-EA93-6B42-8352-82F9B178F615}"/>
              </a:ext>
            </a:extLst>
          </p:cNvPr>
          <p:cNvSpPr/>
          <p:nvPr/>
        </p:nvSpPr>
        <p:spPr>
          <a:xfrm>
            <a:off x="5217760" y="2724650"/>
            <a:ext cx="3525751" cy="3733025"/>
          </a:xfrm>
          <a:prstGeom prst="roundRect">
            <a:avLst>
              <a:gd name="adj" fmla="val 16667"/>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spcAft>
                <a:spcPts val="1000"/>
              </a:spcAft>
            </a:pPr>
            <a:r>
              <a:rPr lang="x-none" sz="1200" i="1">
                <a:solidFill>
                  <a:srgbClr val="FF0000"/>
                </a:solidFill>
                <a:latin typeface="Verdana" panose="020B0604030504040204" pitchFamily="34" charset="0"/>
                <a:ea typeface="Verdana" panose="020B0604030504040204" pitchFamily="34" charset="0"/>
                <a:cs typeface="Verdana" panose="020B0604030504040204" pitchFamily="34"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0" name="Rounded Rectangle 9">
            <a:extLst>
              <a:ext uri="{FF2B5EF4-FFF2-40B4-BE49-F238E27FC236}">
                <a16:creationId xmlns:a16="http://schemas.microsoft.com/office/drawing/2014/main" xmlns="" id="{62EED196-8F21-224C-BB94-E0A7215A0F73}"/>
              </a:ext>
            </a:extLst>
          </p:cNvPr>
          <p:cNvSpPr/>
          <p:nvPr/>
        </p:nvSpPr>
        <p:spPr>
          <a:xfrm>
            <a:off x="3022521" y="2724649"/>
            <a:ext cx="1980000" cy="3733025"/>
          </a:xfrm>
          <a:prstGeom prst="roundRect">
            <a:avLst>
              <a:gd name="adj" fmla="val 16667"/>
            </a:avLst>
          </a:prstGeom>
          <a:solidFill>
            <a:srgbClr val="DAE5F1"/>
          </a:solidFill>
          <a:ln>
            <a:noFill/>
          </a:ln>
        </p:spPr>
        <p:txBody>
          <a:bodyPr spcFirstLastPara="1" wrap="square" lIns="91425" tIns="72000" rIns="91425" bIns="0" anchor="ctr" anchorCtr="0">
            <a:spAutoFit/>
          </a:bodyPr>
          <a:lstStyle/>
          <a:p>
            <a:pPr>
              <a:spcAft>
                <a:spcPts val="1000"/>
              </a:spcAft>
            </a:pPr>
            <a:r>
              <a:rPr lang="en-US" sz="2000" b="1" dirty="0">
                <a:solidFill>
                  <a:srgbClr val="DB2B2A"/>
                </a:solidFill>
                <a:latin typeface="Verdana" panose="020B0604030504040204" pitchFamily="34" charset="0"/>
                <a:ea typeface="Verdana" panose="020B0604030504040204" pitchFamily="34" charset="0"/>
                <a:cs typeface="Verdana" panose="020B0604030504040204" pitchFamily="34" charset="0"/>
              </a:rPr>
              <a:t>M</a:t>
            </a:r>
            <a:r>
              <a:rPr lang="en-US" sz="2000" b="1" dirty="0">
                <a:latin typeface="Verdana" panose="020B0604030504040204" pitchFamily="34" charset="0"/>
                <a:ea typeface="Verdana" panose="020B0604030504040204" pitchFamily="34" charset="0"/>
                <a:cs typeface="Verdana" panose="020B0604030504040204" pitchFamily="34" charset="0"/>
              </a:rPr>
              <a:t>eans</a:t>
            </a:r>
            <a:endParaRPr lang="x-none" sz="2000" dirty="0">
              <a:latin typeface="Verdana" pitchFamily="34" charset="0"/>
              <a:ea typeface="Verdana" pitchFamily="34" charset="0"/>
              <a:cs typeface="Times New Roman" panose="02020603050405020304" pitchFamily="18" charset="0"/>
            </a:endParaRPr>
          </a:p>
          <a:p>
            <a:pPr>
              <a:spcAft>
                <a:spcPts val="1000"/>
              </a:spcAft>
            </a:pPr>
            <a:r>
              <a:rPr lang="en-US" sz="2000" b="1" dirty="0">
                <a:solidFill>
                  <a:srgbClr val="F25756"/>
                </a:solidFill>
                <a:latin typeface="Verdana" panose="020B0604030504040204" pitchFamily="34" charset="0"/>
                <a:ea typeface="Verdana" panose="020B0604030504040204" pitchFamily="34" charset="0"/>
                <a:cs typeface="Verdana" panose="020B0604030504040204" pitchFamily="34" charset="0"/>
              </a:rPr>
              <a:t>I</a:t>
            </a:r>
            <a:endParaRPr lang="x-none" sz="2000" dirty="0">
              <a:latin typeface="Verdana" pitchFamily="34" charset="0"/>
              <a:ea typeface="Verdana" pitchFamily="34" charset="0"/>
              <a:cs typeface="Times New Roman" panose="02020603050405020304" pitchFamily="18" charset="0"/>
            </a:endParaRPr>
          </a:p>
          <a:p>
            <a:pPr>
              <a:spcAft>
                <a:spcPts val="1000"/>
              </a:spcAft>
            </a:pPr>
            <a:r>
              <a:rPr lang="en-US" sz="2000" b="1" dirty="0">
                <a:solidFill>
                  <a:srgbClr val="E99237"/>
                </a:solidFill>
                <a:latin typeface="Verdana" panose="020B0604030504040204" pitchFamily="34" charset="0"/>
                <a:ea typeface="Verdana" panose="020B0604030504040204" pitchFamily="34" charset="0"/>
                <a:cs typeface="Verdana" panose="020B0604030504040204" pitchFamily="34" charset="0"/>
              </a:rPr>
              <a:t>S</a:t>
            </a:r>
            <a:r>
              <a:rPr lang="en-US" sz="2000" b="1" dirty="0">
                <a:latin typeface="Verdana" panose="020B0604030504040204" pitchFamily="34" charset="0"/>
                <a:ea typeface="Verdana" panose="020B0604030504040204" pitchFamily="34" charset="0"/>
                <a:cs typeface="Verdana" panose="020B0604030504040204" pitchFamily="34" charset="0"/>
              </a:rPr>
              <a:t>tart</a:t>
            </a:r>
            <a:endParaRPr lang="x-none" sz="2000" dirty="0">
              <a:latin typeface="Verdana" pitchFamily="34" charset="0"/>
              <a:ea typeface="Verdana" pitchFamily="34" charset="0"/>
              <a:cs typeface="Times New Roman" panose="02020603050405020304" pitchFamily="18" charset="0"/>
            </a:endParaRPr>
          </a:p>
          <a:p>
            <a:pPr>
              <a:spcAft>
                <a:spcPts val="1000"/>
              </a:spcAft>
            </a:pPr>
            <a:r>
              <a:rPr lang="en-US" sz="2000" b="1" dirty="0">
                <a:solidFill>
                  <a:srgbClr val="FACD17"/>
                </a:solidFill>
                <a:latin typeface="Verdana" panose="020B0604030504040204" pitchFamily="34" charset="0"/>
                <a:ea typeface="Verdana" panose="020B0604030504040204" pitchFamily="34" charset="0"/>
                <a:cs typeface="Verdana" panose="020B0604030504040204" pitchFamily="34" charset="0"/>
              </a:rPr>
              <a:t>T</a:t>
            </a:r>
            <a:r>
              <a:rPr lang="en-US" sz="2000" b="1" dirty="0">
                <a:latin typeface="Verdana" panose="020B0604030504040204" pitchFamily="34" charset="0"/>
                <a:ea typeface="Verdana" panose="020B0604030504040204" pitchFamily="34" charset="0"/>
                <a:cs typeface="Verdana" panose="020B0604030504040204" pitchFamily="34" charset="0"/>
              </a:rPr>
              <a:t>o </a:t>
            </a:r>
            <a:endParaRPr lang="x-none" sz="2000" dirty="0">
              <a:latin typeface="Verdana" pitchFamily="34" charset="0"/>
              <a:ea typeface="Verdana" pitchFamily="34" charset="0"/>
              <a:cs typeface="Times New Roman" panose="02020603050405020304" pitchFamily="18" charset="0"/>
            </a:endParaRPr>
          </a:p>
          <a:p>
            <a:pPr>
              <a:spcAft>
                <a:spcPts val="1000"/>
              </a:spcAft>
            </a:pPr>
            <a:r>
              <a:rPr lang="en-US" sz="2000" b="1" dirty="0">
                <a:solidFill>
                  <a:srgbClr val="7BA43F"/>
                </a:solidFill>
                <a:latin typeface="Verdana" panose="020B0604030504040204" pitchFamily="34" charset="0"/>
                <a:ea typeface="Verdana" panose="020B0604030504040204" pitchFamily="34" charset="0"/>
                <a:cs typeface="Verdana" panose="020B0604030504040204" pitchFamily="34" charset="0"/>
              </a:rPr>
              <a:t>A</a:t>
            </a:r>
            <a:r>
              <a:rPr lang="en-US" sz="2000" b="1" dirty="0">
                <a:latin typeface="Verdana" panose="020B0604030504040204" pitchFamily="34" charset="0"/>
                <a:ea typeface="Verdana" panose="020B0604030504040204" pitchFamily="34" charset="0"/>
                <a:cs typeface="Verdana" panose="020B0604030504040204" pitchFamily="34" charset="0"/>
              </a:rPr>
              <a:t>cquire</a:t>
            </a:r>
            <a:endParaRPr lang="x-none" sz="2000" dirty="0">
              <a:latin typeface="Verdana" pitchFamily="34" charset="0"/>
              <a:ea typeface="Verdana" pitchFamily="34" charset="0"/>
              <a:cs typeface="Times New Roman" panose="02020603050405020304" pitchFamily="18" charset="0"/>
            </a:endParaRPr>
          </a:p>
          <a:p>
            <a:pPr>
              <a:spcAft>
                <a:spcPts val="1000"/>
              </a:spcAft>
            </a:pPr>
            <a:r>
              <a:rPr lang="en-US" sz="2000" b="1" dirty="0">
                <a:solidFill>
                  <a:srgbClr val="24B7D2"/>
                </a:solidFill>
                <a:latin typeface="Verdana" panose="020B0604030504040204" pitchFamily="34" charset="0"/>
                <a:ea typeface="Verdana" panose="020B0604030504040204" pitchFamily="34" charset="0"/>
                <a:cs typeface="Verdana" panose="020B0604030504040204" pitchFamily="34" charset="0"/>
              </a:rPr>
              <a:t>K</a:t>
            </a:r>
            <a:r>
              <a:rPr lang="en-US" sz="2000" b="1" dirty="0">
                <a:latin typeface="Verdana" panose="020B0604030504040204" pitchFamily="34" charset="0"/>
                <a:ea typeface="Verdana" panose="020B0604030504040204" pitchFamily="34" charset="0"/>
                <a:cs typeface="Verdana" panose="020B0604030504040204" pitchFamily="34" charset="0"/>
              </a:rPr>
              <a:t>nowledge</a:t>
            </a:r>
            <a:endParaRPr lang="x-none" sz="2000" dirty="0">
              <a:latin typeface="Verdana" pitchFamily="34" charset="0"/>
              <a:ea typeface="Verdana" pitchFamily="34" charset="0"/>
              <a:cs typeface="Times New Roman" panose="02020603050405020304" pitchFamily="18" charset="0"/>
            </a:endParaRPr>
          </a:p>
          <a:p>
            <a:pPr>
              <a:spcAft>
                <a:spcPts val="1000"/>
              </a:spcAft>
            </a:pPr>
            <a:r>
              <a:rPr lang="en-US" sz="2000" b="1" dirty="0">
                <a:solidFill>
                  <a:srgbClr val="1B74B9"/>
                </a:solidFill>
                <a:latin typeface="Verdana" panose="020B0604030504040204" pitchFamily="34" charset="0"/>
                <a:ea typeface="Verdana" panose="020B0604030504040204" pitchFamily="34" charset="0"/>
                <a:cs typeface="Verdana" panose="020B0604030504040204" pitchFamily="34" charset="0"/>
              </a:rPr>
              <a:t>E</a:t>
            </a:r>
            <a:r>
              <a:rPr lang="en-US" sz="2000" b="1" dirty="0">
                <a:latin typeface="Verdana" panose="020B0604030504040204" pitchFamily="34" charset="0"/>
                <a:ea typeface="Verdana" panose="020B0604030504040204" pitchFamily="34" charset="0"/>
                <a:cs typeface="Verdana" panose="020B0604030504040204" pitchFamily="34" charset="0"/>
              </a:rPr>
              <a:t>xperience </a:t>
            </a:r>
            <a:endParaRPr lang="x-none" sz="2000" dirty="0">
              <a:latin typeface="Verdana" pitchFamily="34" charset="0"/>
              <a:ea typeface="Verdana" pitchFamily="34" charset="0"/>
              <a:cs typeface="Times New Roman" panose="02020603050405020304" pitchFamily="18" charset="0"/>
            </a:endParaRPr>
          </a:p>
          <a:p>
            <a:pPr>
              <a:spcAft>
                <a:spcPts val="1000"/>
              </a:spcAft>
            </a:pPr>
            <a:r>
              <a:rPr lang="en-US" sz="2000" b="1" dirty="0">
                <a:solidFill>
                  <a:srgbClr val="4A2B79"/>
                </a:solidFill>
                <a:latin typeface="Verdana" panose="020B0604030504040204" pitchFamily="34" charset="0"/>
                <a:ea typeface="Verdana" panose="020B0604030504040204" pitchFamily="34" charset="0"/>
                <a:cs typeface="Verdana" panose="020B0604030504040204" pitchFamily="34" charset="0"/>
              </a:rPr>
              <a:t>S</a:t>
            </a:r>
            <a:r>
              <a:rPr lang="en-US" sz="2000" b="1" dirty="0">
                <a:latin typeface="Verdana" panose="020B0604030504040204" pitchFamily="34" charset="0"/>
                <a:ea typeface="Verdana" panose="020B0604030504040204" pitchFamily="34" charset="0"/>
                <a:cs typeface="Verdana" panose="020B0604030504040204" pitchFamily="34" charset="0"/>
              </a:rPr>
              <a:t>kills</a:t>
            </a:r>
            <a:endParaRPr lang="x-none" sz="2000" dirty="0">
              <a:latin typeface="Verdana" pitchFamily="34" charset="0"/>
              <a:ea typeface="Verdana" pitchFamily="34" charset="0"/>
              <a:cs typeface="Times New Roman" panose="02020603050405020304" pitchFamily="18" charset="0"/>
            </a:endParaRPr>
          </a:p>
        </p:txBody>
      </p:sp>
    </p:spTree>
    <p:extLst>
      <p:ext uri="{BB962C8B-B14F-4D97-AF65-F5344CB8AC3E}">
        <p14:creationId xmlns:p14="http://schemas.microsoft.com/office/powerpoint/2010/main" val="3370835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114</a:t>
            </a:r>
            <a:endParaRPr i="1" dirty="0">
              <a:latin typeface="Calibri"/>
              <a:ea typeface="Calibri"/>
              <a:cs typeface="Calibri"/>
              <a:sym typeface="Calibri"/>
            </a:endParaRPr>
          </a:p>
        </p:txBody>
      </p:sp>
      <p:sp>
        <p:nvSpPr>
          <p:cNvPr id="7" name="Google Shape;313;g104476d1465_1_39"/>
          <p:cNvSpPr txBox="1">
            <a:spLocks/>
          </p:cNvSpPr>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54B5D1"/>
                </a:solidFill>
                <a:latin typeface="Verdana"/>
                <a:ea typeface="Verdana"/>
                <a:cs typeface="Verdana"/>
                <a:sym typeface="Verdana"/>
              </a:rPr>
              <a:t>Guided Practice</a:t>
            </a:r>
            <a:endParaRPr lang="en-US" sz="5100" b="1" dirty="0">
              <a:solidFill>
                <a:srgbClr val="54B5D1"/>
              </a:solidFill>
              <a:latin typeface="Verdana"/>
              <a:ea typeface="Verdana"/>
              <a:cs typeface="Verdana"/>
              <a:sym typeface="Verdana"/>
            </a:endParaRPr>
          </a:p>
        </p:txBody>
      </p:sp>
      <p:pic>
        <p:nvPicPr>
          <p:cNvPr id="10"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4323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xmlns="" id="{FE208A00-51E7-C544-ABDE-AE9DC3DAAB4C}"/>
                  </a:ext>
                </a:extLst>
              </p:cNvPr>
              <p:cNvSpPr>
                <a:spLocks noChangeArrowheads="1"/>
              </p:cNvSpPr>
              <p:nvPr/>
            </p:nvSpPr>
            <p:spPr bwMode="auto">
              <a:xfrm>
                <a:off x="730332" y="1478272"/>
                <a:ext cx="7801898" cy="356661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Find the quotient for each.</a:t>
                </a:r>
                <a:endParaRPr lang="x-none"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r>
                  <a:rPr lang="en-US" sz="2400" b="1"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x-none"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x-none" sz="2400" i="1">
                            <a:latin typeface="Cambria Math"/>
                            <a:ea typeface="Helvetica Neue" panose="02000503000000020004" pitchFamily="2" charset="0"/>
                            <a:cs typeface="Helvetica Neue" panose="02000503000000020004" pitchFamily="2" charset="0"/>
                          </a:rPr>
                        </m:ctrlPr>
                      </m:fPr>
                      <m:num>
                        <m:d>
                          <m:dPr>
                            <m:ctrlPr>
                              <a:rPr lang="x-none" sz="2400" i="1">
                                <a:latin typeface="Cambria Math"/>
                                <a:ea typeface="Helvetica Neue" panose="02000503000000020004" pitchFamily="2" charset="0"/>
                                <a:cs typeface="Helvetica Neue" panose="02000503000000020004" pitchFamily="2" charset="0"/>
                              </a:rPr>
                            </m:ctrlPr>
                          </m:dPr>
                          <m:e>
                            <m:r>
                              <a:rPr lang="en-US" sz="2400" i="1">
                                <a:latin typeface="Cambria Math" panose="02040503050406030204" pitchFamily="18" charset="0"/>
                                <a:ea typeface="Helvetica Neue" panose="02000503000000020004" pitchFamily="2" charset="0"/>
                                <a:cs typeface="Helvetica Neue" panose="02000503000000020004" pitchFamily="2" charset="0"/>
                              </a:rPr>
                              <m:t>5.5 </m:t>
                            </m:r>
                            <m:r>
                              <a:rPr lang="en-US" sz="2400" i="1">
                                <a:latin typeface="Cambria Math" panose="02040503050406030204" pitchFamily="18" charset="0"/>
                                <a:ea typeface="Cambria Math" panose="02040503050406030204" pitchFamily="18" charset="0"/>
                                <a:cs typeface="Cambria Math" panose="02040503050406030204" pitchFamily="18" charset="0"/>
                              </a:rPr>
                              <m:t>×</m:t>
                            </m:r>
                            <m:r>
                              <a:rPr lang="en-US" sz="2400" i="1">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400" i="1">
                                    <a:latin typeface="Cambria Math"/>
                                    <a:ea typeface="Helvetica Neue" panose="02000503000000020004" pitchFamily="2" charset="0"/>
                                    <a:cs typeface="Helvetica Neue" panose="02000503000000020004" pitchFamily="2" charset="0"/>
                                  </a:rPr>
                                </m:ctrlPr>
                              </m:sSupPr>
                              <m:e>
                                <m:r>
                                  <a:rPr lang="en-US" sz="2400" i="1">
                                    <a:latin typeface="Cambria Math" panose="02040503050406030204" pitchFamily="18" charset="0"/>
                                    <a:ea typeface="Helvetica Neue" panose="02000503000000020004" pitchFamily="2" charset="0"/>
                                    <a:cs typeface="Helvetica Neue" panose="02000503000000020004" pitchFamily="2" charset="0"/>
                                  </a:rPr>
                                  <m:t>10</m:t>
                                </m:r>
                              </m:e>
                              <m:sup>
                                <m:r>
                                  <a:rPr lang="en-US" sz="2400" i="1">
                                    <a:latin typeface="Cambria Math" panose="02040503050406030204" pitchFamily="18" charset="0"/>
                                    <a:ea typeface="Helvetica Neue" panose="02000503000000020004" pitchFamily="2" charset="0"/>
                                    <a:cs typeface="Helvetica Neue" panose="02000503000000020004" pitchFamily="2" charset="0"/>
                                  </a:rPr>
                                  <m:t>2</m:t>
                                </m:r>
                              </m:sup>
                            </m:sSup>
                          </m:e>
                        </m:d>
                      </m:num>
                      <m:den>
                        <m:d>
                          <m:dPr>
                            <m:ctrlPr>
                              <a:rPr lang="x-none" sz="2400" i="1">
                                <a:latin typeface="Cambria Math"/>
                                <a:ea typeface="Helvetica Neue" panose="02000503000000020004" pitchFamily="2" charset="0"/>
                                <a:cs typeface="Helvetica Neue" panose="02000503000000020004" pitchFamily="2" charset="0"/>
                              </a:rPr>
                            </m:ctrlPr>
                          </m:dPr>
                          <m:e>
                            <m:r>
                              <a:rPr lang="en-US" sz="2400" i="1">
                                <a:latin typeface="Cambria Math" panose="02040503050406030204" pitchFamily="18" charset="0"/>
                                <a:ea typeface="Helvetica Neue" panose="02000503000000020004" pitchFamily="2" charset="0"/>
                                <a:cs typeface="Helvetica Neue" panose="02000503000000020004" pitchFamily="2" charset="0"/>
                              </a:rPr>
                              <m:t>2.75 </m:t>
                            </m:r>
                            <m:r>
                              <a:rPr lang="en-US" sz="2400" i="1">
                                <a:latin typeface="Cambria Math" panose="02040503050406030204" pitchFamily="18" charset="0"/>
                                <a:ea typeface="Cambria Math" panose="02040503050406030204" pitchFamily="18" charset="0"/>
                                <a:cs typeface="Cambria Math" panose="02040503050406030204" pitchFamily="18" charset="0"/>
                              </a:rPr>
                              <m:t>×</m:t>
                            </m:r>
                            <m:r>
                              <a:rPr lang="en-US" sz="2400" i="1">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400" i="1">
                                    <a:latin typeface="Cambria Math"/>
                                    <a:ea typeface="Helvetica Neue" panose="02000503000000020004" pitchFamily="2" charset="0"/>
                                    <a:cs typeface="Helvetica Neue" panose="02000503000000020004" pitchFamily="2" charset="0"/>
                                  </a:rPr>
                                </m:ctrlPr>
                              </m:sSupPr>
                              <m:e>
                                <m:r>
                                  <a:rPr lang="en-US" sz="2400" i="1">
                                    <a:latin typeface="Cambria Math" panose="02040503050406030204" pitchFamily="18" charset="0"/>
                                    <a:ea typeface="Helvetica Neue" panose="02000503000000020004" pitchFamily="2" charset="0"/>
                                    <a:cs typeface="Helvetica Neue" panose="02000503000000020004" pitchFamily="2" charset="0"/>
                                  </a:rPr>
                                  <m:t>10</m:t>
                                </m:r>
                              </m:e>
                              <m:sup>
                                <m:r>
                                  <a:rPr lang="en-US" sz="2400" i="1">
                                    <a:latin typeface="Cambria Math" panose="02040503050406030204" pitchFamily="18" charset="0"/>
                                    <a:ea typeface="Helvetica Neue" panose="02000503000000020004" pitchFamily="2" charset="0"/>
                                    <a:cs typeface="Helvetica Neue" panose="02000503000000020004" pitchFamily="2" charset="0"/>
                                  </a:rPr>
                                  <m:t>4</m:t>
                                </m:r>
                              </m:sup>
                            </m:sSup>
                          </m:e>
                        </m:d>
                      </m:den>
                    </m:f>
                  </m:oMath>
                </a14:m>
                <a:endParaRPr lang="x-none" sz="2400" dirty="0">
                  <a:latin typeface="Verdana" panose="020B0604030504040204" pitchFamily="34" charset="0"/>
                  <a:ea typeface="Verdana" panose="020B0604030504040204" pitchFamily="34" charset="0"/>
                  <a:cs typeface="Verdana" panose="020B0604030504040204" pitchFamily="34" charset="0"/>
                </a:endParaRPr>
              </a:p>
              <a:p>
                <a:pPr marL="40005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40005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40005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40005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363538" indent="-363538">
                  <a:buFont typeface="+mj-lt"/>
                  <a:buAutoNum type="arabicPeriod" startAt="2"/>
                </a:pPr>
                <a:r>
                  <a:rPr lang="x-none"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x-none" sz="2400" i="1">
                            <a:latin typeface="Cambria Math"/>
                            <a:ea typeface="Helvetica Neue" panose="02000503000000020004" pitchFamily="2" charset="0"/>
                            <a:cs typeface="Helvetica Neue" panose="02000503000000020004" pitchFamily="2" charset="0"/>
                          </a:rPr>
                        </m:ctrlPr>
                      </m:fPr>
                      <m:num>
                        <m:d>
                          <m:dPr>
                            <m:ctrlPr>
                              <a:rPr lang="x-none" sz="2400" i="1">
                                <a:latin typeface="Cambria Math"/>
                                <a:ea typeface="Helvetica Neue" panose="02000503000000020004" pitchFamily="2" charset="0"/>
                                <a:cs typeface="Helvetica Neue" panose="02000503000000020004" pitchFamily="2" charset="0"/>
                              </a:rPr>
                            </m:ctrlPr>
                          </m:dPr>
                          <m:e>
                            <m:r>
                              <a:rPr lang="en-US" sz="2400" i="1">
                                <a:latin typeface="Cambria Math" panose="02040503050406030204" pitchFamily="18" charset="0"/>
                                <a:ea typeface="Helvetica Neue" panose="02000503000000020004" pitchFamily="2" charset="0"/>
                                <a:cs typeface="Helvetica Neue" panose="02000503000000020004" pitchFamily="2" charset="0"/>
                              </a:rPr>
                              <m:t>7.2 </m:t>
                            </m:r>
                            <m:r>
                              <a:rPr lang="en-US" sz="2400" i="1">
                                <a:latin typeface="Cambria Math" panose="02040503050406030204" pitchFamily="18" charset="0"/>
                                <a:ea typeface="Cambria Math" panose="02040503050406030204" pitchFamily="18" charset="0"/>
                                <a:cs typeface="Cambria Math" panose="02040503050406030204" pitchFamily="18" charset="0"/>
                              </a:rPr>
                              <m:t>×</m:t>
                            </m:r>
                            <m:r>
                              <a:rPr lang="en-US" sz="2400" i="1">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400" i="1">
                                    <a:latin typeface="Cambria Math"/>
                                    <a:ea typeface="Helvetica Neue" panose="02000503000000020004" pitchFamily="2" charset="0"/>
                                    <a:cs typeface="Helvetica Neue" panose="02000503000000020004" pitchFamily="2" charset="0"/>
                                  </a:rPr>
                                </m:ctrlPr>
                              </m:sSupPr>
                              <m:e>
                                <m:r>
                                  <a:rPr lang="en-US" sz="2400" i="1">
                                    <a:latin typeface="Cambria Math" panose="02040503050406030204" pitchFamily="18" charset="0"/>
                                    <a:ea typeface="Helvetica Neue" panose="02000503000000020004" pitchFamily="2" charset="0"/>
                                    <a:cs typeface="Helvetica Neue" panose="02000503000000020004" pitchFamily="2" charset="0"/>
                                  </a:rPr>
                                  <m:t>10</m:t>
                                </m:r>
                              </m:e>
                              <m:sup>
                                <m:r>
                                  <a:rPr lang="en-US" sz="2400" i="1">
                                    <a:latin typeface="Cambria Math" panose="02040503050406030204" pitchFamily="18" charset="0"/>
                                    <a:ea typeface="Helvetica Neue" panose="02000503000000020004" pitchFamily="2" charset="0"/>
                                    <a:cs typeface="Helvetica Neue" panose="02000503000000020004" pitchFamily="2" charset="0"/>
                                  </a:rPr>
                                  <m:t>26</m:t>
                                </m:r>
                              </m:sup>
                            </m:sSup>
                          </m:e>
                        </m:d>
                      </m:num>
                      <m:den>
                        <m:d>
                          <m:dPr>
                            <m:ctrlPr>
                              <a:rPr lang="x-none" sz="2400" i="1">
                                <a:latin typeface="Cambria Math"/>
                                <a:ea typeface="Helvetica Neue" panose="02000503000000020004" pitchFamily="2" charset="0"/>
                                <a:cs typeface="Helvetica Neue" panose="02000503000000020004" pitchFamily="2" charset="0"/>
                              </a:rPr>
                            </m:ctrlPr>
                          </m:dPr>
                          <m:e>
                            <m:r>
                              <a:rPr lang="en-US" sz="2400" i="1">
                                <a:latin typeface="Cambria Math" panose="02040503050406030204" pitchFamily="18" charset="0"/>
                                <a:ea typeface="Helvetica Neue" panose="02000503000000020004" pitchFamily="2" charset="0"/>
                                <a:cs typeface="Helvetica Neue" panose="02000503000000020004" pitchFamily="2" charset="0"/>
                              </a:rPr>
                              <m:t>8</m:t>
                            </m:r>
                            <m:r>
                              <a:rPr lang="en-US" sz="2400" i="1">
                                <a:latin typeface="Cambria Math" panose="02040503050406030204" pitchFamily="18" charset="0"/>
                                <a:ea typeface="Cambria Math" panose="02040503050406030204" pitchFamily="18" charset="0"/>
                                <a:cs typeface="Cambria Math" panose="02040503050406030204" pitchFamily="18" charset="0"/>
                              </a:rPr>
                              <m:t>×</m:t>
                            </m:r>
                            <m:sSup>
                              <m:sSupPr>
                                <m:ctrlPr>
                                  <a:rPr lang="x-none" sz="2400" i="1">
                                    <a:latin typeface="Cambria Math"/>
                                    <a:ea typeface="Helvetica Neue" panose="02000503000000020004" pitchFamily="2" charset="0"/>
                                    <a:cs typeface="Helvetica Neue" panose="02000503000000020004" pitchFamily="2" charset="0"/>
                                  </a:rPr>
                                </m:ctrlPr>
                              </m:sSupPr>
                              <m:e>
                                <m:r>
                                  <a:rPr lang="en-US" sz="2400" i="1">
                                    <a:latin typeface="Cambria Math" panose="02040503050406030204" pitchFamily="18" charset="0"/>
                                    <a:ea typeface="Helvetica Neue" panose="02000503000000020004" pitchFamily="2" charset="0"/>
                                    <a:cs typeface="Helvetica Neue" panose="02000503000000020004" pitchFamily="2" charset="0"/>
                                  </a:rPr>
                                  <m:t>10</m:t>
                                </m:r>
                              </m:e>
                              <m:sup>
                                <m:r>
                                  <a:rPr lang="en-US" sz="2400" i="1">
                                    <a:latin typeface="Cambria Math" panose="02040503050406030204" pitchFamily="18" charset="0"/>
                                    <a:ea typeface="Helvetica Neue" panose="02000503000000020004" pitchFamily="2" charset="0"/>
                                    <a:cs typeface="Helvetica Neue" panose="02000503000000020004" pitchFamily="2" charset="0"/>
                                  </a:rPr>
                                  <m:t>26</m:t>
                                </m:r>
                              </m:sup>
                            </m:sSup>
                          </m:e>
                        </m:d>
                      </m:den>
                    </m:f>
                  </m:oMath>
                </a14:m>
                <a:endParaRPr lang="x-none"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730332" y="1478272"/>
                <a:ext cx="7801898" cy="3566617"/>
              </a:xfrm>
              <a:prstGeom prst="rect">
                <a:avLst/>
              </a:prstGeom>
              <a:blipFill>
                <a:blip r:embed="rId4"/>
                <a:stretch>
                  <a:fillRect l="-1301" t="-141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8"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49" y="446793"/>
            <a:ext cx="10759859"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3.7.4 Guided Practice: Finding Quotients</a:t>
            </a:r>
            <a:endParaRPr lang="en-US" sz="3200" b="1" dirty="0">
              <a:solidFill>
                <a:srgbClr val="54B5D1"/>
              </a:solidFill>
              <a:latin typeface="Verdana"/>
              <a:ea typeface="Verdana"/>
              <a:cs typeface="Verdana"/>
              <a:sym typeface="Verdana"/>
            </a:endParaRPr>
          </a:p>
        </p:txBody>
      </p:sp>
      <p:pic>
        <p:nvPicPr>
          <p:cNvPr id="9"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2842" y="33963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6743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xmlns="" id="{5C5D1B9F-A752-AD42-8D60-9B883A2514E7}"/>
                  </a:ext>
                </a:extLst>
              </p:cNvPr>
              <p:cNvSpPr>
                <a:spLocks noChangeArrowheads="1"/>
              </p:cNvSpPr>
              <p:nvPr/>
            </p:nvSpPr>
            <p:spPr bwMode="auto">
              <a:xfrm>
                <a:off x="579897" y="489085"/>
                <a:ext cx="7801898" cy="356661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58775" indent="-358775">
                  <a:buFont typeface="+mj-lt"/>
                  <a:buAutoNum type="arabicPeriod" startAt="3"/>
                </a:pPr>
                <a:r>
                  <a:rPr lang="x-none"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x-none" sz="2400" i="1">
                            <a:latin typeface="Cambria Math"/>
                            <a:ea typeface="Helvetica Neue" panose="02000503000000020004" pitchFamily="2" charset="0"/>
                            <a:cs typeface="Helvetica Neue" panose="02000503000000020004" pitchFamily="2" charset="0"/>
                          </a:rPr>
                        </m:ctrlPr>
                      </m:fPr>
                      <m:num>
                        <m:d>
                          <m:dPr>
                            <m:ctrlPr>
                              <a:rPr lang="x-none" sz="2400" i="1">
                                <a:latin typeface="Cambria Math"/>
                                <a:ea typeface="Helvetica Neue" panose="02000503000000020004" pitchFamily="2" charset="0"/>
                                <a:cs typeface="Helvetica Neue" panose="02000503000000020004" pitchFamily="2" charset="0"/>
                              </a:rPr>
                            </m:ctrlPr>
                          </m:dPr>
                          <m:e>
                            <m:r>
                              <a:rPr lang="en-US" sz="2400" i="1">
                                <a:latin typeface="Cambria Math" panose="02040503050406030204" pitchFamily="18" charset="0"/>
                                <a:ea typeface="Helvetica Neue" panose="02000503000000020004" pitchFamily="2" charset="0"/>
                                <a:cs typeface="Helvetica Neue" panose="02000503000000020004" pitchFamily="2" charset="0"/>
                              </a:rPr>
                              <m:t>2.16</m:t>
                            </m:r>
                            <m:r>
                              <a:rPr lang="en-US" sz="2400" i="1">
                                <a:latin typeface="Cambria Math" panose="02040503050406030204" pitchFamily="18" charset="0"/>
                                <a:ea typeface="Cambria Math" panose="02040503050406030204" pitchFamily="18" charset="0"/>
                                <a:cs typeface="Cambria Math" panose="02040503050406030204" pitchFamily="18" charset="0"/>
                              </a:rPr>
                              <m:t>×</m:t>
                            </m:r>
                            <m:r>
                              <a:rPr lang="en-US" sz="2400" i="1">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400" i="1">
                                    <a:latin typeface="Cambria Math"/>
                                    <a:ea typeface="Helvetica Neue" panose="02000503000000020004" pitchFamily="2" charset="0"/>
                                    <a:cs typeface="Helvetica Neue" panose="02000503000000020004" pitchFamily="2" charset="0"/>
                                  </a:rPr>
                                </m:ctrlPr>
                              </m:sSupPr>
                              <m:e>
                                <m:r>
                                  <a:rPr lang="en-US" sz="2400" i="1">
                                    <a:latin typeface="Cambria Math" panose="02040503050406030204" pitchFamily="18" charset="0"/>
                                    <a:ea typeface="Helvetica Neue" panose="02000503000000020004" pitchFamily="2" charset="0"/>
                                    <a:cs typeface="Helvetica Neue" panose="02000503000000020004" pitchFamily="2" charset="0"/>
                                  </a:rPr>
                                  <m:t>10</m:t>
                                </m:r>
                              </m:e>
                              <m:sup>
                                <m:r>
                                  <a:rPr lang="en-US" sz="2400" i="1">
                                    <a:latin typeface="Cambria Math" panose="02040503050406030204" pitchFamily="18" charset="0"/>
                                    <a:ea typeface="Helvetica Neue" panose="02000503000000020004" pitchFamily="2" charset="0"/>
                                    <a:cs typeface="Helvetica Neue" panose="02000503000000020004" pitchFamily="2" charset="0"/>
                                  </a:rPr>
                                  <m:t>−1</m:t>
                                </m:r>
                              </m:sup>
                            </m:sSup>
                          </m:e>
                        </m:d>
                      </m:num>
                      <m:den>
                        <m:d>
                          <m:dPr>
                            <m:ctrlPr>
                              <a:rPr lang="x-none" sz="2400" i="1">
                                <a:latin typeface="Cambria Math"/>
                                <a:ea typeface="Helvetica Neue" panose="02000503000000020004" pitchFamily="2" charset="0"/>
                                <a:cs typeface="Helvetica Neue" panose="02000503000000020004" pitchFamily="2" charset="0"/>
                              </a:rPr>
                            </m:ctrlPr>
                          </m:dPr>
                          <m:e>
                            <m:r>
                              <a:rPr lang="en-US" sz="2400" i="1">
                                <a:latin typeface="Cambria Math" panose="02040503050406030204" pitchFamily="18" charset="0"/>
                                <a:ea typeface="Helvetica Neue" panose="02000503000000020004" pitchFamily="2" charset="0"/>
                                <a:cs typeface="Helvetica Neue" panose="02000503000000020004" pitchFamily="2" charset="0"/>
                              </a:rPr>
                              <m:t>2 </m:t>
                            </m:r>
                            <m:r>
                              <a:rPr lang="en-US" sz="2400" i="1">
                                <a:latin typeface="Cambria Math" panose="02040503050406030204" pitchFamily="18" charset="0"/>
                                <a:ea typeface="Cambria Math" panose="02040503050406030204" pitchFamily="18" charset="0"/>
                                <a:cs typeface="Cambria Math" panose="02040503050406030204" pitchFamily="18" charset="0"/>
                              </a:rPr>
                              <m:t>×</m:t>
                            </m:r>
                            <m:r>
                              <a:rPr lang="en-US" sz="2400" i="1">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400" i="1">
                                    <a:latin typeface="Cambria Math"/>
                                    <a:ea typeface="Helvetica Neue" panose="02000503000000020004" pitchFamily="2" charset="0"/>
                                    <a:cs typeface="Helvetica Neue" panose="02000503000000020004" pitchFamily="2" charset="0"/>
                                  </a:rPr>
                                </m:ctrlPr>
                              </m:sSupPr>
                              <m:e>
                                <m:r>
                                  <a:rPr lang="en-US" sz="2400" i="1">
                                    <a:latin typeface="Cambria Math" panose="02040503050406030204" pitchFamily="18" charset="0"/>
                                    <a:ea typeface="Helvetica Neue" panose="02000503000000020004" pitchFamily="2" charset="0"/>
                                    <a:cs typeface="Helvetica Neue" panose="02000503000000020004" pitchFamily="2" charset="0"/>
                                  </a:rPr>
                                  <m:t>10</m:t>
                                </m:r>
                              </m:e>
                              <m:sup>
                                <m:r>
                                  <a:rPr lang="en-US" sz="2400" i="1">
                                    <a:latin typeface="Cambria Math" panose="02040503050406030204" pitchFamily="18" charset="0"/>
                                    <a:ea typeface="Helvetica Neue" panose="02000503000000020004" pitchFamily="2" charset="0"/>
                                    <a:cs typeface="Helvetica Neue" panose="02000503000000020004" pitchFamily="2" charset="0"/>
                                  </a:rPr>
                                  <m:t>−2</m:t>
                                </m:r>
                              </m:sup>
                            </m:sSup>
                          </m:e>
                        </m:d>
                      </m:den>
                    </m:f>
                  </m:oMath>
                </a14:m>
                <a:endParaRPr lang="x-none" sz="1600" dirty="0">
                  <a:latin typeface="Verdana" panose="020B0604030504040204" pitchFamily="34" charset="0"/>
                  <a:ea typeface="Verdana" panose="020B0604030504040204" pitchFamily="34" charset="0"/>
                  <a:cs typeface="Verdana" panose="020B0604030504040204" pitchFamily="34" charset="0"/>
                </a:endParaRPr>
              </a:p>
              <a:p>
                <a:pPr marL="358775" indent="-358775"/>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358775" indent="-358775"/>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358775" indent="-358775"/>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358775" indent="-358775"/>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358775" indent="-358775"/>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358775" indent="-358775"/>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358775" indent="-358775">
                  <a:buFont typeface="+mj-lt"/>
                  <a:buAutoNum type="arabicPeriod" startAt="4"/>
                </a:pPr>
                <a:r>
                  <a:rPr lang="x-none"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x-none" sz="2400" i="1">
                            <a:latin typeface="Cambria Math"/>
                            <a:ea typeface="Helvetica Neue" panose="02000503000000020004" pitchFamily="2" charset="0"/>
                            <a:cs typeface="Helvetica Neue" panose="02000503000000020004" pitchFamily="2" charset="0"/>
                          </a:rPr>
                        </m:ctrlPr>
                      </m:fPr>
                      <m:num>
                        <m:d>
                          <m:dPr>
                            <m:ctrlPr>
                              <a:rPr lang="x-none" sz="2400" i="1">
                                <a:latin typeface="Cambria Math"/>
                                <a:ea typeface="Helvetica Neue" panose="02000503000000020004" pitchFamily="2" charset="0"/>
                                <a:cs typeface="Helvetica Neue" panose="02000503000000020004" pitchFamily="2" charset="0"/>
                              </a:rPr>
                            </m:ctrlPr>
                          </m:dPr>
                          <m:e>
                            <m:r>
                              <a:rPr lang="en-US" sz="2400" i="1">
                                <a:latin typeface="Cambria Math" panose="02040503050406030204" pitchFamily="18" charset="0"/>
                                <a:ea typeface="Helvetica Neue" panose="02000503000000020004" pitchFamily="2" charset="0"/>
                                <a:cs typeface="Helvetica Neue" panose="02000503000000020004" pitchFamily="2" charset="0"/>
                              </a:rPr>
                              <m:t>9.87</m:t>
                            </m:r>
                            <m:r>
                              <a:rPr lang="en-US" sz="2400" i="1">
                                <a:latin typeface="Cambria Math" panose="02040503050406030204" pitchFamily="18" charset="0"/>
                                <a:ea typeface="Cambria Math" panose="02040503050406030204" pitchFamily="18" charset="0"/>
                                <a:cs typeface="Cambria Math" panose="02040503050406030204" pitchFamily="18" charset="0"/>
                              </a:rPr>
                              <m:t>×</m:t>
                            </m:r>
                            <m:sSup>
                              <m:sSupPr>
                                <m:ctrlPr>
                                  <a:rPr lang="x-none" sz="2400" i="1">
                                    <a:latin typeface="Cambria Math"/>
                                    <a:ea typeface="Helvetica Neue" panose="02000503000000020004" pitchFamily="2" charset="0"/>
                                    <a:cs typeface="Helvetica Neue" panose="02000503000000020004" pitchFamily="2" charset="0"/>
                                  </a:rPr>
                                </m:ctrlPr>
                              </m:sSupPr>
                              <m:e>
                                <m:r>
                                  <a:rPr lang="en-US" sz="2400" i="1">
                                    <a:latin typeface="Cambria Math" panose="02040503050406030204" pitchFamily="18" charset="0"/>
                                    <a:ea typeface="Helvetica Neue" panose="02000503000000020004" pitchFamily="2" charset="0"/>
                                    <a:cs typeface="Helvetica Neue" panose="02000503000000020004" pitchFamily="2" charset="0"/>
                                  </a:rPr>
                                  <m:t>10</m:t>
                                </m:r>
                              </m:e>
                              <m:sup>
                                <m:r>
                                  <a:rPr lang="en-US" sz="2400" i="1">
                                    <a:latin typeface="Cambria Math" panose="02040503050406030204" pitchFamily="18" charset="0"/>
                                    <a:ea typeface="Helvetica Neue" panose="02000503000000020004" pitchFamily="2" charset="0"/>
                                    <a:cs typeface="Helvetica Neue" panose="02000503000000020004" pitchFamily="2" charset="0"/>
                                  </a:rPr>
                                  <m:t>−4</m:t>
                                </m:r>
                              </m:sup>
                            </m:sSup>
                          </m:e>
                        </m:d>
                      </m:num>
                      <m:den>
                        <m:d>
                          <m:dPr>
                            <m:ctrlPr>
                              <a:rPr lang="x-none" sz="2400" i="1">
                                <a:latin typeface="Cambria Math"/>
                                <a:ea typeface="Helvetica Neue" panose="02000503000000020004" pitchFamily="2" charset="0"/>
                                <a:cs typeface="Helvetica Neue" panose="02000503000000020004" pitchFamily="2" charset="0"/>
                              </a:rPr>
                            </m:ctrlPr>
                          </m:dPr>
                          <m:e>
                            <m:r>
                              <a:rPr lang="en-US" sz="2400" i="1">
                                <a:latin typeface="Cambria Math" panose="02040503050406030204" pitchFamily="18" charset="0"/>
                                <a:ea typeface="Helvetica Neue" panose="02000503000000020004" pitchFamily="2" charset="0"/>
                                <a:cs typeface="Helvetica Neue" panose="02000503000000020004" pitchFamily="2" charset="0"/>
                              </a:rPr>
                              <m:t>4.7 </m:t>
                            </m:r>
                            <m:r>
                              <a:rPr lang="en-US" sz="2400" i="1">
                                <a:latin typeface="Cambria Math" panose="02040503050406030204" pitchFamily="18" charset="0"/>
                                <a:ea typeface="Cambria Math" panose="02040503050406030204" pitchFamily="18" charset="0"/>
                                <a:cs typeface="Cambria Math" panose="02040503050406030204" pitchFamily="18" charset="0"/>
                              </a:rPr>
                              <m:t>×</m:t>
                            </m:r>
                            <m:r>
                              <a:rPr lang="en-US" sz="2400" i="1">
                                <a:latin typeface="Cambria Math" panose="02040503050406030204" pitchFamily="18" charset="0"/>
                                <a:ea typeface="Helvetica Neue" panose="02000503000000020004" pitchFamily="2" charset="0"/>
                                <a:cs typeface="Helvetica Neue" panose="02000503000000020004" pitchFamily="2" charset="0"/>
                              </a:rPr>
                              <m:t> </m:t>
                            </m:r>
                            <m:sSup>
                              <m:sSupPr>
                                <m:ctrlPr>
                                  <a:rPr lang="x-none" sz="2400" i="1">
                                    <a:latin typeface="Cambria Math"/>
                                    <a:ea typeface="Helvetica Neue" panose="02000503000000020004" pitchFamily="2" charset="0"/>
                                    <a:cs typeface="Helvetica Neue" panose="02000503000000020004" pitchFamily="2" charset="0"/>
                                  </a:rPr>
                                </m:ctrlPr>
                              </m:sSupPr>
                              <m:e>
                                <m:r>
                                  <a:rPr lang="en-US" sz="2400" i="1">
                                    <a:latin typeface="Cambria Math" panose="02040503050406030204" pitchFamily="18" charset="0"/>
                                    <a:ea typeface="Helvetica Neue" panose="02000503000000020004" pitchFamily="2" charset="0"/>
                                    <a:cs typeface="Helvetica Neue" panose="02000503000000020004" pitchFamily="2" charset="0"/>
                                  </a:rPr>
                                  <m:t>10</m:t>
                                </m:r>
                              </m:e>
                              <m:sup>
                                <m:r>
                                  <a:rPr lang="en-US" sz="2400" i="1">
                                    <a:latin typeface="Cambria Math" panose="02040503050406030204" pitchFamily="18" charset="0"/>
                                    <a:ea typeface="Helvetica Neue" panose="02000503000000020004" pitchFamily="2" charset="0"/>
                                    <a:cs typeface="Helvetica Neue" panose="02000503000000020004" pitchFamily="2" charset="0"/>
                                  </a:rPr>
                                  <m:t>−2</m:t>
                                </m:r>
                              </m:sup>
                            </m:sSup>
                          </m:e>
                        </m:d>
                      </m:den>
                    </m:f>
                  </m:oMath>
                </a14:m>
                <a:endParaRPr lang="x-none" sz="16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6" name="Rectangle 5">
                <a:extLst>
                  <a:ext uri="{FF2B5EF4-FFF2-40B4-BE49-F238E27FC236}">
                    <a16:creationId xmlns:a16="http://schemas.microsoft.com/office/drawing/2014/main" id="{5C5D1B9F-A752-AD42-8D60-9B883A2514E7}"/>
                  </a:ext>
                </a:extLst>
              </p:cNvPr>
              <p:cNvSpPr>
                <a:spLocks noRot="1" noChangeAspect="1" noMove="1" noResize="1" noEditPoints="1" noAdjustHandles="1" noChangeArrowheads="1" noChangeShapeType="1" noTextEdit="1"/>
              </p:cNvSpPr>
              <p:nvPr/>
            </p:nvSpPr>
            <p:spPr bwMode="auto">
              <a:xfrm>
                <a:off x="579897" y="489085"/>
                <a:ext cx="7801898" cy="3566617"/>
              </a:xfrm>
              <a:prstGeom prst="rect">
                <a:avLst/>
              </a:prstGeom>
              <a:blipFill>
                <a:blip r:embed="rId4"/>
                <a:stretch>
                  <a:fillRect l="-1301" b="-177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3238106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114</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9"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114</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AE281112-0763-C941-9DB7-9B28C4EA4745}"/>
              </a:ext>
            </a:extLst>
          </p:cNvPr>
          <p:cNvSpPr/>
          <p:nvPr/>
        </p:nvSpPr>
        <p:spPr>
          <a:xfrm>
            <a:off x="582398" y="1117939"/>
            <a:ext cx="11010590" cy="707886"/>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Choose the emoji that reflects your understanding of dividing numbers expressed in scientific notation. </a:t>
            </a:r>
          </a:p>
        </p:txBody>
      </p:sp>
      <p:grpSp>
        <p:nvGrpSpPr>
          <p:cNvPr id="3" name="Group 2"/>
          <p:cNvGrpSpPr/>
          <p:nvPr/>
        </p:nvGrpSpPr>
        <p:grpSpPr>
          <a:xfrm>
            <a:off x="3339765" y="1979720"/>
            <a:ext cx="5512469" cy="1446162"/>
            <a:chOff x="1073526" y="1903874"/>
            <a:chExt cx="5512469" cy="1446162"/>
          </a:xfrm>
        </p:grpSpPr>
        <p:pic>
          <p:nvPicPr>
            <p:cNvPr id="17" name="image4.png" descr="Chart&#10;&#10;Description automatically generated">
              <a:extLst>
                <a:ext uri="{FF2B5EF4-FFF2-40B4-BE49-F238E27FC236}">
                  <a16:creationId xmlns:a16="http://schemas.microsoft.com/office/drawing/2014/main" xmlns="" id="{BBF14972-DB5B-7E46-929A-1818BF97900A}"/>
                </a:ext>
              </a:extLst>
            </p:cNvPr>
            <p:cNvPicPr/>
            <p:nvPr/>
          </p:nvPicPr>
          <p:blipFill>
            <a:blip r:embed="rId4" cstate="screen">
              <a:extLst>
                <a:ext uri="{28A0092B-C50C-407E-A947-70E740481C1C}">
                  <a14:useLocalDpi xmlns:a14="http://schemas.microsoft.com/office/drawing/2010/main"/>
                </a:ext>
              </a:extLst>
            </a:blip>
            <a:srcRect t="46060" b="42611"/>
            <a:stretch>
              <a:fillRect/>
            </a:stretch>
          </p:blipFill>
          <p:spPr>
            <a:xfrm>
              <a:off x="1154430" y="2947361"/>
              <a:ext cx="5431565" cy="402675"/>
            </a:xfrm>
            <a:prstGeom prst="rect">
              <a:avLst/>
            </a:prstGeom>
            <a:ln/>
          </p:spPr>
        </p:pic>
        <p:pic>
          <p:nvPicPr>
            <p:cNvPr id="4" name="Picture 3" descr="A group of yellow smiley faces&#10;&#10;Description automatically generated with low confidence">
              <a:extLst>
                <a:ext uri="{FF2B5EF4-FFF2-40B4-BE49-F238E27FC236}">
                  <a16:creationId xmlns:a16="http://schemas.microsoft.com/office/drawing/2014/main" xmlns="" id="{92D4D21F-6D55-E148-A624-E2A6CFD20F1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73526" y="1903874"/>
              <a:ext cx="5495856" cy="807733"/>
            </a:xfrm>
            <a:prstGeom prst="rect">
              <a:avLst/>
            </a:prstGeom>
          </p:spPr>
        </p:pic>
      </p:grpSp>
      <p:sp>
        <p:nvSpPr>
          <p:cNvPr id="11" name="Rectangle 10">
            <a:extLst>
              <a:ext uri="{FF2B5EF4-FFF2-40B4-BE49-F238E27FC236}">
                <a16:creationId xmlns:a16="http://schemas.microsoft.com/office/drawing/2014/main" xmlns="" id="{AE281112-0763-C941-9DB7-9B28C4EA4745}"/>
              </a:ext>
            </a:extLst>
          </p:cNvPr>
          <p:cNvSpPr/>
          <p:nvPr/>
        </p:nvSpPr>
        <p:spPr>
          <a:xfrm>
            <a:off x="730266" y="3595353"/>
            <a:ext cx="11228054" cy="2862322"/>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I chose this emoji because __________________________</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_______________________________________________</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_______________________________________________</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______________________________________.</a:t>
            </a:r>
          </a:p>
        </p:txBody>
      </p:sp>
      <p:sp>
        <p:nvSpPr>
          <p:cNvPr id="12"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3.7.5 Wrap-Up: Reflection</a:t>
            </a:r>
            <a:endParaRPr lang="en-US" sz="3600" b="1" dirty="0">
              <a:solidFill>
                <a:srgbClr val="3F2A67"/>
              </a:solidFill>
              <a:latin typeface="Verdana"/>
              <a:ea typeface="Verdana"/>
              <a:cs typeface="Verdana"/>
              <a:sym typeface="Verdana"/>
            </a:endParaRPr>
          </a:p>
        </p:txBody>
      </p:sp>
      <p:pic>
        <p:nvPicPr>
          <p:cNvPr id="13" name="Google Shape;469;p34"/>
          <p:cNvPicPr preferRelativeResize="0"/>
          <p:nvPr/>
        </p:nvPicPr>
        <p:blipFill rotWithShape="1">
          <a:blip r:embed="rId6">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3262</TotalTime>
  <Words>916</Words>
  <Application>Microsoft Office PowerPoint</Application>
  <PresentationFormat>Custom</PresentationFormat>
  <Paragraphs>240</Paragraphs>
  <Slides>24</Slides>
  <Notes>23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Arial</vt:lpstr>
      <vt:lpstr>Cambria</vt:lpstr>
      <vt:lpstr>Arial Black</vt:lpstr>
      <vt:lpstr>Verdana</vt:lpstr>
      <vt:lpstr>Calibri</vt:lpstr>
      <vt:lpstr>Times New Roman</vt:lpstr>
      <vt:lpstr>Century Gothic</vt:lpstr>
      <vt:lpstr>Wingdings</vt:lpstr>
      <vt:lpstr>Helvetica Neue</vt:lpstr>
      <vt:lpstr>Cambria Math</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45</cp:revision>
  <dcterms:created xsi:type="dcterms:W3CDTF">2015-03-17T18:51:18Z</dcterms:created>
  <dcterms:modified xsi:type="dcterms:W3CDTF">2022-06-15T13:29:16Z</dcterms:modified>
</cp:coreProperties>
</file>