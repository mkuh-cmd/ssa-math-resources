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0"/>
  </p:notesMasterIdLst>
  <p:sldIdLst>
    <p:sldId id="256" r:id="rId2"/>
    <p:sldId id="257" r:id="rId3"/>
    <p:sldId id="345" r:id="rId4"/>
    <p:sldId id="286" r:id="rId5"/>
    <p:sldId id="261" r:id="rId6"/>
    <p:sldId id="287" r:id="rId7"/>
    <p:sldId id="381" r:id="rId8"/>
    <p:sldId id="395" r:id="rId9"/>
    <p:sldId id="396" r:id="rId10"/>
    <p:sldId id="397" r:id="rId11"/>
    <p:sldId id="399" r:id="rId12"/>
    <p:sldId id="400" r:id="rId13"/>
    <p:sldId id="401" r:id="rId14"/>
    <p:sldId id="402" r:id="rId15"/>
    <p:sldId id="405" r:id="rId16"/>
    <p:sldId id="406" r:id="rId17"/>
    <p:sldId id="407" r:id="rId18"/>
    <p:sldId id="346" r:id="rId19"/>
    <p:sldId id="347" r:id="rId20"/>
    <p:sldId id="349" r:id="rId21"/>
    <p:sldId id="350" r:id="rId22"/>
    <p:sldId id="385" r:id="rId23"/>
    <p:sldId id="386" r:id="rId24"/>
    <p:sldId id="376" r:id="rId25"/>
    <p:sldId id="377" r:id="rId26"/>
    <p:sldId id="378" r:id="rId27"/>
    <p:sldId id="306" r:id="rId28"/>
    <p:sldId id="307" r:id="rId29"/>
  </p:sldIdLst>
  <p:sldSz cx="12192000" cy="6858000"/>
  <p:notesSz cx="6858000" cy="9144000"/>
  <p:embeddedFontLst>
    <p:embeddedFont>
      <p:font typeface="Calibri" pitchFamily="34" charset="0"/>
      <p:regular r:id="rId31"/>
      <p:bold r:id="rId32"/>
      <p:italic r:id="rId33"/>
      <p:boldItalic r:id="rId34"/>
    </p:embeddedFont>
    <p:embeddedFont>
      <p:font typeface="Arial Black" pitchFamily="34" charset="0"/>
      <p:bold r:id="rId35"/>
    </p:embeddedFont>
    <p:embeddedFont>
      <p:font typeface="Cambria Math" pitchFamily="18" charset="0"/>
      <p:regular r:id="rId36"/>
    </p:embeddedFont>
    <p:embeddedFont>
      <p:font typeface="Cutive" charset="0"/>
      <p:regular r:id="rId37"/>
    </p:embeddedFont>
    <p:embeddedFont>
      <p:font typeface="Cambria" pitchFamily="18" charset="0"/>
      <p:regular r:id="rId38"/>
      <p:bold r:id="rId39"/>
      <p:italic r:id="rId40"/>
      <p:boldItalic r:id="rId41"/>
    </p:embeddedFont>
    <p:embeddedFont>
      <p:font typeface="Verdana" pitchFamily="34" charset="0"/>
      <p:regular r:id="rId42"/>
      <p:bold r:id="rId43"/>
      <p:italic r:id="rId44"/>
      <p:boldItalic r:id="rId45"/>
    </p:embeddedFont>
    <p:embeddedFont>
      <p:font typeface="Century Gothic" pitchFamily="34" charset="0"/>
      <p:regular r:id="rId46"/>
      <p:bold r:id="rId47"/>
      <p:italic r:id="rId48"/>
      <p:boldItalic r:id="rId4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xmlns="">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4"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24E5F"/>
    <a:srgbClr val="FABB42"/>
    <a:srgbClr val="F79B59"/>
    <a:srgbClr val="F26763"/>
    <a:srgbClr val="1765AD"/>
    <a:srgbClr val="1664AC"/>
    <a:srgbClr val="BFBFBF"/>
    <a:srgbClr val="C9DF6F"/>
    <a:srgbClr val="417DBF"/>
    <a:srgbClr val="3F2A6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3950" autoAdjust="0"/>
    <p:restoredTop sz="94648"/>
  </p:normalViewPr>
  <p:slideViewPr>
    <p:cSldViewPr snapToGrid="0">
      <p:cViewPr varScale="1">
        <p:scale>
          <a:sx n="68" d="100"/>
          <a:sy n="68" d="100"/>
        </p:scale>
        <p:origin x="-126" y="-100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4.fntdata"/><Relationship Id="rId42" Type="http://schemas.openxmlformats.org/officeDocument/2006/relationships/font" Target="fonts/font12.fntdata"/><Relationship Id="rId47" Type="http://schemas.openxmlformats.org/officeDocument/2006/relationships/font" Target="fonts/font17.fntdata"/><Relationship Id="rId55"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3.fntdata"/><Relationship Id="rId38" Type="http://schemas.openxmlformats.org/officeDocument/2006/relationships/font" Target="fonts/font8.fntdata"/><Relationship Id="rId46" Type="http://schemas.openxmlformats.org/officeDocument/2006/relationships/font" Target="fonts/font16.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font" Target="fonts/font11.fntdata"/><Relationship Id="rId54"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2.fntdata"/><Relationship Id="rId37" Type="http://schemas.openxmlformats.org/officeDocument/2006/relationships/font" Target="fonts/font7.fntdata"/><Relationship Id="rId40" Type="http://schemas.openxmlformats.org/officeDocument/2006/relationships/font" Target="fonts/font10.fntdata"/><Relationship Id="rId45" Type="http://schemas.openxmlformats.org/officeDocument/2006/relationships/font" Target="fonts/font15.fntdata"/><Relationship Id="rId58"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6.fntdata"/><Relationship Id="rId49" Type="http://schemas.openxmlformats.org/officeDocument/2006/relationships/font" Target="fonts/font19.fntdata"/><Relationship Id="rId57"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fntdata"/><Relationship Id="rId44" Type="http://schemas.openxmlformats.org/officeDocument/2006/relationships/font" Target="fonts/font1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font" Target="fonts/font5.fntdata"/><Relationship Id="rId43" Type="http://schemas.openxmlformats.org/officeDocument/2006/relationships/font" Target="fonts/font13.fntdata"/><Relationship Id="rId48" Type="http://schemas.openxmlformats.org/officeDocument/2006/relationships/font" Target="fonts/font18.fntdata"/><Relationship Id="rId56" Type="http://schemas.openxmlformats.org/officeDocument/2006/relationships/viewProps" Target="view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86712619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Video Link: https://</a:t>
            </a:r>
            <a:r>
              <a:rPr lang="en-US" dirty="0" err="1"/>
              <a:t>algebranation.wistia.com</a:t>
            </a:r>
            <a:r>
              <a:rPr lang="en-US" dirty="0"/>
              <a:t>/medias/fi4fidi5y8</a:t>
            </a: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Video Link: https://</a:t>
            </a:r>
            <a:r>
              <a:rPr lang="en-US" dirty="0" err="1"/>
              <a:t>algebranation.wistia.com</a:t>
            </a:r>
            <a:r>
              <a:rPr lang="en-US" dirty="0"/>
              <a:t>/medias/fi4fidi5y8</a:t>
            </a: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11915033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40315110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20407444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39887170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21288430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extLst>
      <p:ext uri="{BB962C8B-B14F-4D97-AF65-F5344CB8AC3E}">
        <p14:creationId xmlns:p14="http://schemas.microsoft.com/office/powerpoint/2010/main" val="34518592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25766196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36558083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extLst>
      <p:ext uri="{BB962C8B-B14F-4D97-AF65-F5344CB8AC3E}">
        <p14:creationId xmlns:p14="http://schemas.microsoft.com/office/powerpoint/2010/main" val="28541687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3040604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402223058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extLst>
      <p:ext uri="{BB962C8B-B14F-4D97-AF65-F5344CB8AC3E}">
        <p14:creationId xmlns:p14="http://schemas.microsoft.com/office/powerpoint/2010/main" val="2838804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391724327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43013641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860605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165741485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368813406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a:p>
        </p:txBody>
      </p:sp>
    </p:spTree>
    <p:extLst>
      <p:ext uri="{BB962C8B-B14F-4D97-AF65-F5344CB8AC3E}">
        <p14:creationId xmlns:p14="http://schemas.microsoft.com/office/powerpoint/2010/main" val="229496220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25</a:t>
            </a:fld>
            <a:endParaRPr/>
          </a:p>
        </p:txBody>
      </p:sp>
    </p:spTree>
    <p:extLst>
      <p:ext uri="{BB962C8B-B14F-4D97-AF65-F5344CB8AC3E}">
        <p14:creationId xmlns:p14="http://schemas.microsoft.com/office/powerpoint/2010/main" val="28691138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26</a:t>
            </a:fld>
            <a:endParaRPr/>
          </a:p>
        </p:txBody>
      </p:sp>
    </p:spTree>
    <p:extLst>
      <p:ext uri="{BB962C8B-B14F-4D97-AF65-F5344CB8AC3E}">
        <p14:creationId xmlns:p14="http://schemas.microsoft.com/office/powerpoint/2010/main" val="406648136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27</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28</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8.xml"/><Relationship Id="rId5" Type="http://schemas.openxmlformats.org/officeDocument/2006/relationships/image" Target="../media/image12.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6" Type="http://schemas.openxmlformats.org/officeDocument/2006/relationships/image" Target="../media/image19.png"/><Relationship Id="rId5" Type="http://schemas.openxmlformats.org/officeDocument/2006/relationships/image" Target="../media/image17.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 Id="rId5" Type="http://schemas.openxmlformats.org/officeDocument/2006/relationships/image" Target="../media/image21.png"/><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 Id="rId6" Type="http://schemas.openxmlformats.org/officeDocument/2006/relationships/image" Target="../media/image25.png"/><Relationship Id="rId5" Type="http://schemas.openxmlformats.org/officeDocument/2006/relationships/image" Target="../media/image23.png"/><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 Id="rId6" Type="http://schemas.openxmlformats.org/officeDocument/2006/relationships/image" Target="../media/image30.png"/><Relationship Id="rId5" Type="http://schemas.openxmlformats.org/officeDocument/2006/relationships/image" Target="../media/image17.png"/><Relationship Id="rId4" Type="http://schemas.openxmlformats.org/officeDocument/2006/relationships/image" Target="../media/image29.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 Id="rId5" Type="http://schemas.openxmlformats.org/officeDocument/2006/relationships/image" Target="../media/image32.png"/><Relationship Id="rId4" Type="http://schemas.openxmlformats.org/officeDocument/2006/relationships/image" Target="../media/image31.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33.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 Id="rId5" Type="http://schemas.openxmlformats.org/officeDocument/2006/relationships/image" Target="../media/image36.png"/><Relationship Id="rId4" Type="http://schemas.openxmlformats.org/officeDocument/2006/relationships/image" Target="../media/image37.png"/></Relationships>
</file>

<file path=ppt/slides/_rels/slide2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0.xml"/><Relationship Id="rId1" Type="http://schemas.openxmlformats.org/officeDocument/2006/relationships/slideLayout" Target="../slideLayouts/slideLayout8.xml"/><Relationship Id="rId5" Type="http://schemas.openxmlformats.org/officeDocument/2006/relationships/image" Target="../media/image36.png"/><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 Id="rId5" Type="http://schemas.openxmlformats.org/officeDocument/2006/relationships/image" Target="../media/image36.png"/><Relationship Id="rId4" Type="http://schemas.openxmlformats.org/officeDocument/2006/relationships/image" Target="../media/image380.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8.xml"/><Relationship Id="rId5" Type="http://schemas.openxmlformats.org/officeDocument/2006/relationships/image" Target="../media/image36.png"/><Relationship Id="rId4" Type="http://schemas.openxmlformats.org/officeDocument/2006/relationships/image" Target="../media/image39.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8.xml"/><Relationship Id="rId4" Type="http://schemas.openxmlformats.org/officeDocument/2006/relationships/image" Target="../media/image40.png"/></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8.xml"/><Relationship Id="rId5" Type="http://schemas.openxmlformats.org/officeDocument/2006/relationships/image" Target="../media/image410.png"/><Relationship Id="rId4" Type="http://schemas.openxmlformats.org/officeDocument/2006/relationships/image" Target="../media/image41.png"/></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8.xml"/><Relationship Id="rId4" Type="http://schemas.openxmlformats.org/officeDocument/2006/relationships/image" Target="../media/image42.png"/></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8.xml"/><Relationship Id="rId4" Type="http://schemas.openxmlformats.org/officeDocument/2006/relationships/image" Target="../media/image43.png"/></Relationships>
</file>

<file path=ppt/slides/_rels/slide28.xml.rels><?xml version="1.0" encoding="UTF-8" standalone="yes"?>
<Relationships xmlns="http://schemas.openxmlformats.org/package/2006/relationships"><Relationship Id="rId8" Type="http://schemas.openxmlformats.org/officeDocument/2006/relationships/hyperlink" Target="https://en.wikipedia.org/wiki/File:Australia_road_sign_W6-216-ACT.svg" TargetMode="External"/><Relationship Id="rId3" Type="http://schemas.openxmlformats.org/officeDocument/2006/relationships/image" Target="../media/image10.png"/><Relationship Id="rId7" Type="http://schemas.openxmlformats.org/officeDocument/2006/relationships/image" Target="../media/image45.png"/><Relationship Id="rId2" Type="http://schemas.openxmlformats.org/officeDocument/2006/relationships/notesSlide" Target="../notesSlides/notesSlide27.xml"/><Relationship Id="rId1" Type="http://schemas.openxmlformats.org/officeDocument/2006/relationships/slideLayout" Target="../slideLayouts/slideLayout8.xml"/><Relationship Id="rId6" Type="http://schemas.openxmlformats.org/officeDocument/2006/relationships/hyperlink" Target="https://en.wikipedia.org/wiki/Road_signs_in_Chile" TargetMode="External"/><Relationship Id="rId5" Type="http://schemas.openxmlformats.org/officeDocument/2006/relationships/image" Target="../media/image44.png"/><Relationship Id="rId10" Type="http://schemas.openxmlformats.org/officeDocument/2006/relationships/hyperlink" Target="https://commons.wikimedia.org/wiki/File:Speed_Limit_70_sign.svg" TargetMode="External"/><Relationship Id="rId4" Type="http://schemas.openxmlformats.org/officeDocument/2006/relationships/image" Target="../media/image43.png"/><Relationship Id="rId9" Type="http://schemas.openxmlformats.org/officeDocument/2006/relationships/image" Target="../media/image4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410737" y="2212771"/>
            <a:ext cx="5077650"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8</a:t>
            </a:r>
            <a:r>
              <a:rPr lang="en-US" sz="3800" b="1" baseline="30000" dirty="0">
                <a:solidFill>
                  <a:srgbClr val="417DBF"/>
                </a:solidFill>
                <a:latin typeface="Verdana"/>
                <a:ea typeface="Verdana"/>
                <a:cs typeface="Verdana"/>
                <a:sym typeface="Verdana"/>
              </a:rPr>
              <a:t>th</a:t>
            </a:r>
            <a:r>
              <a:rPr lang="en-US" sz="3800" b="1" dirty="0">
                <a:solidFill>
                  <a:srgbClr val="417DBF"/>
                </a:solidFill>
                <a:latin typeface="Verdana"/>
                <a:ea typeface="Verdana"/>
                <a:cs typeface="Verdana"/>
                <a:sym typeface="Verdana"/>
              </a:rPr>
              <a:t> Grade Math: Pre-Algebra</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3, Lesson 1</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Powers of 10</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81</a:t>
            </a:r>
          </a:p>
          <a:p>
            <a:pPr algn="ctr">
              <a:lnSpc>
                <a:spcPct val="100000"/>
              </a:lnSpc>
              <a:buClr>
                <a:srgbClr val="000000"/>
              </a:buClr>
            </a:pPr>
            <a:endParaRPr lang="en-US" sz="3200" b="1" dirty="0">
              <a:solidFill>
                <a:srgbClr val="417DBF"/>
              </a:solidFill>
              <a:latin typeface="Verdana"/>
              <a:ea typeface="Verdana"/>
              <a:cs typeface="Verdana"/>
              <a:sym typeface="Verdana"/>
            </a:endParaRPr>
          </a:p>
          <a:p>
            <a:pPr algn="ctr">
              <a:lnSpc>
                <a:spcPct val="75000"/>
              </a:lnSpc>
            </a:pPr>
            <a:endParaRPr lang="en-US" sz="28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xmlns="" id="{566F1422-A32C-7745-9E85-5AF7B9DBC697}"/>
              </a:ext>
            </a:extLst>
          </p:cNvPr>
          <p:cNvSpPr/>
          <p:nvPr/>
        </p:nvSpPr>
        <p:spPr>
          <a:xfrm>
            <a:off x="0" y="0"/>
            <a:ext cx="4094106" cy="6866100"/>
          </a:xfrm>
          <a:prstGeom prst="rect">
            <a:avLst/>
          </a:prstGeom>
          <a:solidFill>
            <a:srgbClr val="FABB42"/>
          </a:solidFill>
          <a:ln w="9525" cap="flat" cmpd="sng">
            <a:solidFill>
              <a:srgbClr val="FABB42"/>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 name="Picture 2" descr="A blue sign with white text&#10;&#10;Description automatically generated with medium confidence">
            <a:extLst>
              <a:ext uri="{FF2B5EF4-FFF2-40B4-BE49-F238E27FC236}">
                <a16:creationId xmlns:a16="http://schemas.microsoft.com/office/drawing/2014/main" xmlns=""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640" y="1903576"/>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237332" y="-88032"/>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356616" y="201168"/>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81</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xmlns="" id="{527A9F9F-07B8-ED47-B967-E5507C67DBC5}"/>
              </a:ext>
            </a:extLst>
          </p:cNvPr>
          <p:cNvSpPr txBox="1">
            <a:spLocks/>
          </p:cNvSpPr>
          <p:nvPr/>
        </p:nvSpPr>
        <p:spPr>
          <a:xfrm>
            <a:off x="730266" y="1326150"/>
            <a:ext cx="11031806"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95250" indent="0">
              <a:buNone/>
            </a:pPr>
            <a:r>
              <a:rPr lang="en-US" sz="3200" dirty="0">
                <a:latin typeface="Verdana" panose="020B0604030504040204" pitchFamily="34" charset="0"/>
                <a:ea typeface="Verdana" panose="020B0604030504040204" pitchFamily="34" charset="0"/>
                <a:cs typeface="Verdana" panose="020B0604030504040204" pitchFamily="34" charset="0"/>
              </a:rPr>
              <a:t>MA.8.NSO.1.3</a:t>
            </a:r>
          </a:p>
          <a:p>
            <a:pPr marL="552450" lvl="1" indent="0">
              <a:buNone/>
            </a:pPr>
            <a:r>
              <a:rPr lang="en-US" sz="3200" dirty="0">
                <a:latin typeface="Verdana" panose="020B0604030504040204" pitchFamily="34" charset="0"/>
                <a:ea typeface="Verdana" panose="020B0604030504040204" pitchFamily="34" charset="0"/>
                <a:cs typeface="Verdana" panose="020B0604030504040204" pitchFamily="34" charset="0"/>
              </a:rPr>
              <a:t>Extend previous understanding of the Laws of Exponents to include integer exponents. Apply the Laws of Exponents to evaluate numerical expressions and generate equivalent numerical expressions, limited to integer exponents and rational number bases, with procedural fluency.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278;g104476d1465_1_17">
            <a:extLst>
              <a:ext uri="{FF2B5EF4-FFF2-40B4-BE49-F238E27FC236}">
                <a16:creationId xmlns:a16="http://schemas.microsoft.com/office/drawing/2014/main" xmlns="" id="{78632872-3F42-3447-924A-20A16C6976F7}"/>
              </a:ext>
            </a:extLst>
          </p:cNvPr>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3" name="Google Shape;281;g104476d1465_1_17">
            <a:extLst>
              <a:ext uri="{FF2B5EF4-FFF2-40B4-BE49-F238E27FC236}">
                <a16:creationId xmlns:a16="http://schemas.microsoft.com/office/drawing/2014/main" xmlns="" id="{D915A027-4791-D04E-90A8-9E6239ED88EB}"/>
              </a:ext>
            </a:extLst>
          </p:cNvPr>
          <p:cNvPicPr preferRelativeResize="0"/>
          <p:nvPr/>
        </p:nvPicPr>
        <p:blipFill>
          <a:blip r:embed="rId2">
            <a:alphaModFix/>
          </a:blip>
          <a:stretch>
            <a:fillRect/>
          </a:stretch>
        </p:blipFill>
        <p:spPr>
          <a:xfrm>
            <a:off x="356616" y="201168"/>
            <a:ext cx="747300" cy="747300"/>
          </a:xfrm>
          <a:prstGeom prst="rect">
            <a:avLst/>
          </a:prstGeom>
          <a:noFill/>
          <a:ln>
            <a:noFill/>
          </a:ln>
          <a:effectLst>
            <a:outerShdw blurRad="57150" dist="19050" dir="5400000" algn="bl" rotWithShape="0">
              <a:srgbClr val="000000">
                <a:alpha val="50000"/>
              </a:srgbClr>
            </a:outerShdw>
          </a:effectLst>
        </p:spPr>
      </p:pic>
      <p:pic>
        <p:nvPicPr>
          <p:cNvPr id="4" name="Google Shape;283;g104476d1465_1_17">
            <a:extLst>
              <a:ext uri="{FF2B5EF4-FFF2-40B4-BE49-F238E27FC236}">
                <a16:creationId xmlns:a16="http://schemas.microsoft.com/office/drawing/2014/main" xmlns="" id="{983DCB5F-2CE8-A74F-A579-F39E2E9337FB}"/>
              </a:ext>
            </a:extLst>
          </p:cNvPr>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5" name="Google Shape;295;g103996e1364_0_10">
            <a:extLst>
              <a:ext uri="{FF2B5EF4-FFF2-40B4-BE49-F238E27FC236}">
                <a16:creationId xmlns:a16="http://schemas.microsoft.com/office/drawing/2014/main" xmlns="" id="{73A67FE7-C13F-C24F-85E9-A4B96A1F42A8}"/>
              </a:ext>
            </a:extLst>
          </p:cNvPr>
          <p:cNvSpPr txBox="1">
            <a:spLocks/>
          </p:cNvSpPr>
          <p:nvPr/>
        </p:nvSpPr>
        <p:spPr>
          <a:xfrm>
            <a:off x="1237332" y="-88032"/>
            <a:ext cx="10598052"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7" name="Google Shape;296;g103996e1364_0_10">
            <a:extLst>
              <a:ext uri="{FF2B5EF4-FFF2-40B4-BE49-F238E27FC236}">
                <a16:creationId xmlns:a16="http://schemas.microsoft.com/office/drawing/2014/main" xmlns="" id="{5BB4D65A-27E8-4F4F-9348-5380FE318E8D}"/>
              </a:ext>
            </a:extLst>
          </p:cNvPr>
          <p:cNvSpPr txBox="1">
            <a:spLocks/>
          </p:cNvSpPr>
          <p:nvPr/>
        </p:nvSpPr>
        <p:spPr>
          <a:xfrm>
            <a:off x="730265" y="1237668"/>
            <a:ext cx="10935553" cy="4745233"/>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MA.K12.MTR.3.1 Complete tasks with mathematical fluency.</a:t>
            </a:r>
          </a:p>
          <a:p>
            <a:pPr>
              <a:buSzPts val="523"/>
            </a:pPr>
            <a:endPar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a:buSzPts val="523"/>
            </a:pPr>
            <a:endPar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p:txBody>
      </p:sp>
      <p:sp>
        <p:nvSpPr>
          <p:cNvPr id="9" name="Google Shape;282;g104476d1465_1_17">
            <a:extLst>
              <a:ext uri="{FF2B5EF4-FFF2-40B4-BE49-F238E27FC236}">
                <a16:creationId xmlns:a16="http://schemas.microsoft.com/office/drawing/2014/main" xmlns="" id="{37CC83FF-5C83-CD42-A75D-B443F14E1C19}"/>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81</a:t>
            </a:r>
            <a:endParaRPr i="1" dirty="0">
              <a:latin typeface="Calibri"/>
              <a:ea typeface="Calibri"/>
              <a:cs typeface="Calibri"/>
              <a:sym typeface="Calibri"/>
            </a:endParaRPr>
          </a:p>
        </p:txBody>
      </p:sp>
    </p:spTree>
    <p:extLst>
      <p:ext uri="{BB962C8B-B14F-4D97-AF65-F5344CB8AC3E}">
        <p14:creationId xmlns:p14="http://schemas.microsoft.com/office/powerpoint/2010/main" val="2342996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xmlns="" id="{5771FBFA-7311-BB45-8AFF-04B380531EE6}"/>
              </a:ext>
            </a:extLst>
          </p:cNvPr>
          <p:cNvSpPr txBox="1">
            <a:spLocks/>
          </p:cNvSpPr>
          <p:nvPr/>
        </p:nvSpPr>
        <p:spPr>
          <a:xfrm>
            <a:off x="1237332" y="-88032"/>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xmlns="" id="{81DC7EB0-4FED-FC45-BAEC-D699ED5C2169}"/>
              </a:ext>
            </a:extLst>
          </p:cNvPr>
          <p:cNvPicPr preferRelativeResize="0"/>
          <p:nvPr/>
        </p:nvPicPr>
        <p:blipFill>
          <a:blip r:embed="rId4">
            <a:alphaModFix/>
          </a:blip>
          <a:stretch>
            <a:fill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14" name="Google Shape;302;g103996e1364_0_16">
                <a:extLst>
                  <a:ext uri="{FF2B5EF4-FFF2-40B4-BE49-F238E27FC236}">
                    <a16:creationId xmlns:a16="http://schemas.microsoft.com/office/drawing/2014/main" xmlns="" id="{9B7C98EC-F13C-9146-B728-D7044DB4247D}"/>
                  </a:ext>
                </a:extLst>
              </p:cNvPr>
              <p:cNvSpPr txBox="1">
                <a:spLocks/>
              </p:cNvSpPr>
              <p:nvPr/>
            </p:nvSpPr>
            <p:spPr>
              <a:xfrm>
                <a:off x="730265" y="1326150"/>
                <a:ext cx="10704547"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536575" indent="-536575">
                  <a:buFont typeface="Wingdings" pitchFamily="2" charset="2"/>
                  <a:buChar char="q"/>
                </a:pPr>
                <a:r>
                  <a:rPr lang="en-US" sz="3500" dirty="0">
                    <a:latin typeface="Verdana" panose="020B0604030504040204" pitchFamily="34" charset="0"/>
                    <a:ea typeface="Verdana" panose="020B0604030504040204" pitchFamily="34" charset="0"/>
                    <a:cs typeface="Verdana" panose="020B0604030504040204" pitchFamily="34" charset="0"/>
                  </a:rPr>
                  <a:t>I can use the Laws of Exponents to evaluate numerical expressions with a base of </a:t>
                </a:r>
                <a14:m>
                  <m:oMath xmlns:m="http://schemas.openxmlformats.org/officeDocument/2006/math">
                    <m:r>
                      <a:rPr lang="en-US" sz="3500" i="1" dirty="0">
                        <a:latin typeface="Cambria Math" panose="02040503050406030204" pitchFamily="18" charset="0"/>
                        <a:ea typeface="Verdana" panose="020B0604030504040204" pitchFamily="34" charset="0"/>
                        <a:cs typeface="Verdana" panose="020B0604030504040204" pitchFamily="34" charset="0"/>
                      </a:rPr>
                      <m:t>10</m:t>
                    </m:r>
                  </m:oMath>
                </a14:m>
                <a:r>
                  <a:rPr lang="en-US" sz="3500" dirty="0">
                    <a:latin typeface="Verdana" panose="020B0604030504040204" pitchFamily="34" charset="0"/>
                    <a:ea typeface="Verdana" panose="020B0604030504040204" pitchFamily="34" charset="0"/>
                    <a:cs typeface="Verdana" panose="020B0604030504040204" pitchFamily="34" charset="0"/>
                  </a:rPr>
                  <a:t> and exponents greater than or equal to </a:t>
                </a:r>
                <a14:m>
                  <m:oMath xmlns:m="http://schemas.openxmlformats.org/officeDocument/2006/math">
                    <m:r>
                      <a:rPr lang="en-US" sz="3500" i="1" dirty="0">
                        <a:latin typeface="Cambria Math" panose="02040503050406030204" pitchFamily="18" charset="0"/>
                        <a:ea typeface="Verdana" panose="020B0604030504040204" pitchFamily="34" charset="0"/>
                        <a:cs typeface="Verdana" panose="020B0604030504040204" pitchFamily="34" charset="0"/>
                      </a:rPr>
                      <m:t>0</m:t>
                    </m:r>
                  </m:oMath>
                </a14:m>
                <a:r>
                  <a:rPr lang="en-US" sz="3500" dirty="0">
                    <a:latin typeface="Verdana" panose="020B0604030504040204" pitchFamily="34" charset="0"/>
                    <a:ea typeface="Verdana" panose="020B0604030504040204" pitchFamily="34" charset="0"/>
                    <a:cs typeface="Verdana" panose="020B0604030504040204" pitchFamily="34" charset="0"/>
                  </a:rPr>
                  <a:t>.  </a:t>
                </a:r>
              </a:p>
            </p:txBody>
          </p:sp>
        </mc:Choice>
        <mc:Fallback xmlns="">
          <p:sp>
            <p:nvSpPr>
              <p:cNvPr id="14" name="Google Shape;302;g103996e1364_0_16">
                <a:extLst>
                  <a:ext uri="{FF2B5EF4-FFF2-40B4-BE49-F238E27FC236}">
                    <a16:creationId xmlns:a16="http://schemas.microsoft.com/office/drawing/2014/main" id="{9B7C98EC-F13C-9146-B728-D7044DB4247D}"/>
                  </a:ext>
                </a:extLst>
              </p:cNvPr>
              <p:cNvSpPr txBox="1">
                <a:spLocks noRot="1" noChangeAspect="1" noMove="1" noResize="1" noEditPoints="1" noAdjustHandles="1" noChangeArrowheads="1" noChangeShapeType="1" noTextEdit="1"/>
              </p:cNvSpPr>
              <p:nvPr/>
            </p:nvSpPr>
            <p:spPr>
              <a:xfrm>
                <a:off x="730265" y="1326150"/>
                <a:ext cx="10704547" cy="4205700"/>
              </a:xfrm>
              <a:prstGeom prst="rect">
                <a:avLst/>
              </a:prstGeom>
              <a:blipFill>
                <a:blip r:embed="rId5"/>
                <a:stretch>
                  <a:fillRect l="-1422" t="-2108" r="-2488"/>
                </a:stretch>
              </a:blipFill>
              <a:ln>
                <a:noFill/>
              </a:ln>
            </p:spPr>
            <p:txBody>
              <a:bodyPr/>
              <a:lstStyle/>
              <a:p>
                <a:r>
                  <a:rPr lang="en-US">
                    <a:noFill/>
                  </a:rPr>
                  <a:t> </a:t>
                </a:r>
              </a:p>
            </p:txBody>
          </p:sp>
        </mc:Fallback>
      </mc:AlternateContent>
      <p:sp>
        <p:nvSpPr>
          <p:cNvPr id="9" name="Google Shape;282;g104476d1465_1_17">
            <a:extLst>
              <a:ext uri="{FF2B5EF4-FFF2-40B4-BE49-F238E27FC236}">
                <a16:creationId xmlns:a16="http://schemas.microsoft.com/office/drawing/2014/main" xmlns="" id="{E147E8E3-844B-6A49-A77E-05F3246D39F6}"/>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81</a:t>
            </a:r>
            <a:endParaRPr i="1" dirty="0">
              <a:latin typeface="Calibri"/>
              <a:ea typeface="Calibri"/>
              <a:cs typeface="Calibri"/>
              <a:sym typeface="Calibri"/>
            </a:endParaRPr>
          </a:p>
        </p:txBody>
      </p:sp>
    </p:spTree>
    <p:extLst>
      <p:ext uri="{BB962C8B-B14F-4D97-AF65-F5344CB8AC3E}">
        <p14:creationId xmlns:p14="http://schemas.microsoft.com/office/powerpoint/2010/main" val="20714203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3054096" y="2852928"/>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4169554" y="2766150"/>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xmlns="" id="{43D2F04D-C861-A149-B5F8-A913FBED75AE}"/>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81</a:t>
            </a:r>
            <a:endParaRPr i="1" dirty="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237331" y="279372"/>
            <a:ext cx="9752401" cy="590891"/>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3.1.1 Warm-Up: Grains of Sand</a:t>
            </a:r>
          </a:p>
        </p:txBody>
      </p:sp>
      <p:pic>
        <p:nvPicPr>
          <p:cNvPr id="13" name="Google Shape;326;g103996e1364_0_25">
            <a:extLst>
              <a:ext uri="{FF2B5EF4-FFF2-40B4-BE49-F238E27FC236}">
                <a16:creationId xmlns:a16="http://schemas.microsoft.com/office/drawing/2014/main" xmlns="" id="{0B25478F-1F7B-DF44-A9BD-898178E878B3}"/>
              </a:ext>
            </a:extLst>
          </p:cNvPr>
          <p:cNvPicPr preferRelativeResize="0"/>
          <p:nvPr/>
        </p:nvPicPr>
        <p:blipFill>
          <a:blip r:embed="rId4">
            <a:alphaModFix/>
          </a:blip>
          <a:stretch>
            <a:fill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xmlns="" id="{E1D7562E-134F-D14B-AF1A-DF40E11EF758}"/>
                  </a:ext>
                </a:extLst>
              </p:cNvPr>
              <p:cNvSpPr txBox="1"/>
              <p:nvPr/>
            </p:nvSpPr>
            <p:spPr>
              <a:xfrm>
                <a:off x="730266" y="1166143"/>
                <a:ext cx="5612782" cy="1569660"/>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The beaches on Siesta Key are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99%</m:t>
                    </m:r>
                  </m:oMath>
                </a14:m>
                <a:r>
                  <a:rPr lang="en-US" sz="2400" dirty="0">
                    <a:latin typeface="Verdana" panose="020B0604030504040204" pitchFamily="34" charset="0"/>
                    <a:ea typeface="Verdana" panose="020B0604030504040204" pitchFamily="34" charset="0"/>
                    <a:cs typeface="Verdana" panose="020B0604030504040204" pitchFamily="34" charset="0"/>
                  </a:rPr>
                  <a:t> quartz, meaning that the beaches are made of some of the finest grains of sand.  </a:t>
                </a:r>
              </a:p>
            </p:txBody>
          </p:sp>
        </mc:Choice>
        <mc:Fallback xmlns="">
          <p:sp>
            <p:nvSpPr>
              <p:cNvPr id="2" name="TextBox 1">
                <a:extLst>
                  <a:ext uri="{FF2B5EF4-FFF2-40B4-BE49-F238E27FC236}">
                    <a16:creationId xmlns:a16="http://schemas.microsoft.com/office/drawing/2014/main" id="{E1D7562E-134F-D14B-AF1A-DF40E11EF758}"/>
                  </a:ext>
                </a:extLst>
              </p:cNvPr>
              <p:cNvSpPr txBox="1">
                <a:spLocks noRot="1" noChangeAspect="1" noMove="1" noResize="1" noEditPoints="1" noAdjustHandles="1" noChangeArrowheads="1" noChangeShapeType="1" noTextEdit="1"/>
              </p:cNvSpPr>
              <p:nvPr/>
            </p:nvSpPr>
            <p:spPr>
              <a:xfrm>
                <a:off x="730266" y="1166143"/>
                <a:ext cx="5612782" cy="1569660"/>
              </a:xfrm>
              <a:prstGeom prst="rect">
                <a:avLst/>
              </a:prstGeom>
              <a:blipFill>
                <a:blip r:embed="rId5"/>
                <a:stretch>
                  <a:fillRect l="-1806" t="-3200" b="-8000"/>
                </a:stretch>
              </a:blipFill>
            </p:spPr>
            <p:txBody>
              <a:bodyPr/>
              <a:lstStyle/>
              <a:p>
                <a:r>
                  <a:rPr lang="en-US">
                    <a:noFill/>
                  </a:rPr>
                  <a:t> </a:t>
                </a:r>
              </a:p>
            </p:txBody>
          </p:sp>
        </mc:Fallback>
      </mc:AlternateContent>
      <p:sp>
        <p:nvSpPr>
          <p:cNvPr id="21" name="Rectangle 16">
            <a:extLst>
              <a:ext uri="{FF2B5EF4-FFF2-40B4-BE49-F238E27FC236}">
                <a16:creationId xmlns:a16="http://schemas.microsoft.com/office/drawing/2014/main" xmlns="" id="{F0663C2D-D71E-9747-B131-91E050FC8DF5}"/>
              </a:ext>
            </a:extLst>
          </p:cNvPr>
          <p:cNvSpPr>
            <a:spLocks noChangeArrowheads="1"/>
          </p:cNvSpPr>
          <p:nvPr/>
        </p:nvSpPr>
        <p:spPr bwMode="auto">
          <a:xfrm>
            <a:off x="1676401" y="38085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2" name="Rectangle 18">
            <a:extLst>
              <a:ext uri="{FF2B5EF4-FFF2-40B4-BE49-F238E27FC236}">
                <a16:creationId xmlns:a16="http://schemas.microsoft.com/office/drawing/2014/main" xmlns="" id="{1EDB4A78-8756-D641-B2CF-25FE103BD06D}"/>
              </a:ext>
            </a:extLst>
          </p:cNvPr>
          <p:cNvSpPr>
            <a:spLocks noChangeArrowheads="1"/>
          </p:cNvSpPr>
          <p:nvPr/>
        </p:nvSpPr>
        <p:spPr bwMode="auto">
          <a:xfrm>
            <a:off x="1676401" y="38085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5" name="Google Shape;282;g104476d1465_1_17">
            <a:extLst>
              <a:ext uri="{FF2B5EF4-FFF2-40B4-BE49-F238E27FC236}">
                <a16:creationId xmlns:a16="http://schemas.microsoft.com/office/drawing/2014/main" xmlns="" id="{0CD40667-98C3-7A43-A8EC-50FA988E0942}"/>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81</a:t>
            </a:r>
            <a:endParaRPr i="1" dirty="0">
              <a:latin typeface="Calibri"/>
              <a:ea typeface="Calibri"/>
              <a:cs typeface="Calibri"/>
              <a:sym typeface="Calibri"/>
            </a:endParaRPr>
          </a:p>
        </p:txBody>
      </p:sp>
      <p:pic>
        <p:nvPicPr>
          <p:cNvPr id="12" name="Picture 11">
            <a:extLst>
              <a:ext uri="{FF2B5EF4-FFF2-40B4-BE49-F238E27FC236}">
                <a16:creationId xmlns:a16="http://schemas.microsoft.com/office/drawing/2014/main" xmlns="" id="{7471A08D-172C-4E4C-8A46-CA78092BC8DD}"/>
              </a:ext>
            </a:extLst>
          </p:cNvPr>
          <p:cNvPicPr>
            <a:picLocks noChangeAspect="1"/>
          </p:cNvPicPr>
          <p:nvPr/>
        </p:nvPicPr>
        <p:blipFill>
          <a:blip r:embed="rId6">
            <a:extLst>
              <a:ext uri="{28A0092B-C50C-407E-A947-70E740481C1C}">
                <a14:useLocalDpi xmlns:a14="http://schemas.microsoft.com/office/drawing/2010/main"/>
              </a:ext>
            </a:extLst>
          </a:blip>
          <a:stretch>
            <a:fillRect/>
          </a:stretch>
        </p:blipFill>
        <p:spPr>
          <a:xfrm>
            <a:off x="7454011" y="1166143"/>
            <a:ext cx="3829364" cy="1693232"/>
          </a:xfrm>
          <a:prstGeom prst="rect">
            <a:avLst/>
          </a:prstGeom>
        </p:spPr>
      </p:pic>
      <p:sp>
        <p:nvSpPr>
          <p:cNvPr id="14" name="TextBox 13">
            <a:extLst>
              <a:ext uri="{FF2B5EF4-FFF2-40B4-BE49-F238E27FC236}">
                <a16:creationId xmlns:a16="http://schemas.microsoft.com/office/drawing/2014/main" xmlns="" id="{8F7D6370-DC58-0F40-9979-CDED86C69D69}"/>
              </a:ext>
            </a:extLst>
          </p:cNvPr>
          <p:cNvSpPr txBox="1"/>
          <p:nvPr/>
        </p:nvSpPr>
        <p:spPr>
          <a:xfrm>
            <a:off x="730266" y="3429000"/>
            <a:ext cx="10733422" cy="1200329"/>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Suppose you have a teaspoon of the sand from Siesta Key. How could the teaspoon of sand be used to estimate the number of grains of sand in a bucket of sand?</a:t>
            </a:r>
          </a:p>
        </p:txBody>
      </p:sp>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xmlns="" id="{E1D7562E-134F-D14B-AF1A-DF40E11EF758}"/>
                  </a:ext>
                </a:extLst>
              </p:cNvPr>
              <p:cNvSpPr txBox="1"/>
              <p:nvPr/>
            </p:nvSpPr>
            <p:spPr>
              <a:xfrm>
                <a:off x="639222" y="455713"/>
                <a:ext cx="11199852" cy="2677656"/>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A group of researchers at the University of Hawaii used a teaspoon of sand to estimate the number of grains of sand on all of the beaches on the Earth. Their estimate was that there are roughly seven quintillion, five hundred quadrillion grains of sand. A quintillion is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1,000,000,000,000,000,000</m:t>
                    </m:r>
                  </m:oMath>
                </a14:m>
                <a:r>
                  <a:rPr lang="en-US" sz="2400" dirty="0">
                    <a:latin typeface="Verdana" panose="020B0604030504040204" pitchFamily="34" charset="0"/>
                    <a:ea typeface="Verdana" panose="020B0604030504040204" pitchFamily="34" charset="0"/>
                    <a:cs typeface="Verdana" panose="020B0604030504040204" pitchFamily="34" charset="0"/>
                  </a:rPr>
                  <a:t> and a quadrillion is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1,000,000,000,000,000</m:t>
                    </m:r>
                  </m:oMath>
                </a14:m>
                <a:r>
                  <a:rPr lang="en-US" sz="2400" dirty="0">
                    <a:latin typeface="Verdana" panose="020B0604030504040204" pitchFamily="34" charset="0"/>
                    <a:ea typeface="Verdana" panose="020B0604030504040204" pitchFamily="34" charset="0"/>
                    <a:cs typeface="Verdana" panose="020B0604030504040204" pitchFamily="34" charset="0"/>
                  </a:rPr>
                  <a:t>. </a:t>
                </a:r>
              </a:p>
              <a:p>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Write seven quintillion, five hundred quadrillion. </a:t>
                </a:r>
              </a:p>
            </p:txBody>
          </p:sp>
        </mc:Choice>
        <mc:Fallback xmlns="">
          <p:sp>
            <p:nvSpPr>
              <p:cNvPr id="2" name="TextBox 1">
                <a:extLst>
                  <a:ext uri="{FF2B5EF4-FFF2-40B4-BE49-F238E27FC236}">
                    <a16:creationId xmlns:a16="http://schemas.microsoft.com/office/drawing/2014/main" id="{E1D7562E-134F-D14B-AF1A-DF40E11EF758}"/>
                  </a:ext>
                </a:extLst>
              </p:cNvPr>
              <p:cNvSpPr txBox="1">
                <a:spLocks noRot="1" noChangeAspect="1" noMove="1" noResize="1" noEditPoints="1" noAdjustHandles="1" noChangeArrowheads="1" noChangeShapeType="1" noTextEdit="1"/>
              </p:cNvSpPr>
              <p:nvPr/>
            </p:nvSpPr>
            <p:spPr>
              <a:xfrm>
                <a:off x="639222" y="455713"/>
                <a:ext cx="11199852" cy="2677656"/>
              </a:xfrm>
              <a:prstGeom prst="rect">
                <a:avLst/>
              </a:prstGeom>
              <a:blipFill>
                <a:blip r:embed="rId4"/>
                <a:stretch>
                  <a:fillRect l="-906" t="-1896" r="-1133" b="-4739"/>
                </a:stretch>
              </a:blipFill>
            </p:spPr>
            <p:txBody>
              <a:bodyPr/>
              <a:lstStyle/>
              <a:p>
                <a:r>
                  <a:rPr lang="en-US">
                    <a:noFill/>
                  </a:rPr>
                  <a:t> </a:t>
                </a:r>
              </a:p>
            </p:txBody>
          </p:sp>
        </mc:Fallback>
      </mc:AlternateContent>
      <p:sp>
        <p:nvSpPr>
          <p:cNvPr id="19" name="Rectangle 13">
            <a:extLst>
              <a:ext uri="{FF2B5EF4-FFF2-40B4-BE49-F238E27FC236}">
                <a16:creationId xmlns:a16="http://schemas.microsoft.com/office/drawing/2014/main" xmlns="" id="{F32FA606-312E-FE45-9E7F-5EB4EB578347}"/>
              </a:ext>
            </a:extLst>
          </p:cNvPr>
          <p:cNvSpPr>
            <a:spLocks noChangeArrowheads="1"/>
          </p:cNvSpPr>
          <p:nvPr/>
        </p:nvSpPr>
        <p:spPr bwMode="auto">
          <a:xfrm>
            <a:off x="1676401" y="1963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buClrTx/>
            </a:pPr>
            <a:endParaRPr lang="en-US" altLang="en-US" sz="1800">
              <a:solidFill>
                <a:schemeClr val="tx1"/>
              </a:solidFill>
              <a:latin typeface="Arial" panose="020B0604020202020204" pitchFamily="34" charset="0"/>
            </a:endParaRPr>
          </a:p>
        </p:txBody>
      </p:sp>
      <p:sp>
        <p:nvSpPr>
          <p:cNvPr id="20" name="Rectangle 15">
            <a:extLst>
              <a:ext uri="{FF2B5EF4-FFF2-40B4-BE49-F238E27FC236}">
                <a16:creationId xmlns:a16="http://schemas.microsoft.com/office/drawing/2014/main" xmlns="" id="{3F80061E-0FC7-534E-8F32-815F86902C26}"/>
              </a:ext>
            </a:extLst>
          </p:cNvPr>
          <p:cNvSpPr>
            <a:spLocks noChangeArrowheads="1"/>
          </p:cNvSpPr>
          <p:nvPr/>
        </p:nvSpPr>
        <p:spPr bwMode="auto">
          <a:xfrm>
            <a:off x="1676401" y="4557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1" name="Rectangle 16">
            <a:extLst>
              <a:ext uri="{FF2B5EF4-FFF2-40B4-BE49-F238E27FC236}">
                <a16:creationId xmlns:a16="http://schemas.microsoft.com/office/drawing/2014/main" xmlns="" id="{F0663C2D-D71E-9747-B131-91E050FC8DF5}"/>
              </a:ext>
            </a:extLst>
          </p:cNvPr>
          <p:cNvSpPr>
            <a:spLocks noChangeArrowheads="1"/>
          </p:cNvSpPr>
          <p:nvPr/>
        </p:nvSpPr>
        <p:spPr bwMode="auto">
          <a:xfrm>
            <a:off x="1676401" y="38085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2" name="Rectangle 18">
            <a:extLst>
              <a:ext uri="{FF2B5EF4-FFF2-40B4-BE49-F238E27FC236}">
                <a16:creationId xmlns:a16="http://schemas.microsoft.com/office/drawing/2014/main" xmlns="" id="{1EDB4A78-8756-D641-B2CF-25FE103BD06D}"/>
              </a:ext>
            </a:extLst>
          </p:cNvPr>
          <p:cNvSpPr>
            <a:spLocks noChangeArrowheads="1"/>
          </p:cNvSpPr>
          <p:nvPr/>
        </p:nvSpPr>
        <p:spPr bwMode="auto">
          <a:xfrm>
            <a:off x="1676401" y="38085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5" name="Google Shape;282;g104476d1465_1_17">
            <a:extLst>
              <a:ext uri="{FF2B5EF4-FFF2-40B4-BE49-F238E27FC236}">
                <a16:creationId xmlns:a16="http://schemas.microsoft.com/office/drawing/2014/main" xmlns="" id="{0CD40667-98C3-7A43-A8EC-50FA988E0942}"/>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81</a:t>
            </a:r>
            <a:endParaRPr i="1" dirty="0">
              <a:latin typeface="Calibri"/>
              <a:ea typeface="Calibri"/>
              <a:cs typeface="Calibri"/>
              <a:sym typeface="Calibri"/>
            </a:endParaRPr>
          </a:p>
        </p:txBody>
      </p:sp>
    </p:spTree>
    <p:extLst>
      <p:ext uri="{BB962C8B-B14F-4D97-AF65-F5344CB8AC3E}">
        <p14:creationId xmlns:p14="http://schemas.microsoft.com/office/powerpoint/2010/main" val="26979706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206241" y="2766150"/>
            <a:ext cx="5002742"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400" b="1" dirty="0">
                <a:solidFill>
                  <a:srgbClr val="33BEA6"/>
                </a:solidFill>
                <a:latin typeface="Verdana"/>
                <a:ea typeface="Verdana"/>
                <a:cs typeface="Verdana"/>
                <a:sym typeface="Verdana"/>
              </a:rPr>
              <a:t>Exploration</a:t>
            </a:r>
            <a:endParaRPr sz="4800" b="1" dirty="0">
              <a:solidFill>
                <a:srgbClr val="33BEA6"/>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xmlns="" id="{B595484E-1C62-AC4F-B448-37E60F77A8C0}"/>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82</a:t>
            </a:r>
            <a:endParaRPr i="1" dirty="0">
              <a:latin typeface="Calibri"/>
              <a:ea typeface="Calibri"/>
              <a:cs typeface="Calibri"/>
              <a:sym typeface="Calibri"/>
            </a:endParaRPr>
          </a:p>
        </p:txBody>
      </p:sp>
      <p:pic>
        <p:nvPicPr>
          <p:cNvPr id="8" name="image10.png" descr="Icon&#10;&#10;Description automatically generated">
            <a:extLst>
              <a:ext uri="{FF2B5EF4-FFF2-40B4-BE49-F238E27FC236}">
                <a16:creationId xmlns:a16="http://schemas.microsoft.com/office/drawing/2014/main" xmlns="" id="{B30F8F7E-1346-F647-899E-7352E76C500E}"/>
              </a:ext>
            </a:extLst>
          </p:cNvPr>
          <p:cNvPicPr/>
          <p:nvPr/>
        </p:nvPicPr>
        <p:blipFill>
          <a:blip r:embed="rId4"/>
          <a:srcRect/>
          <a:stretch>
            <a:fillRect/>
          </a:stretch>
        </p:blipFill>
        <p:spPr>
          <a:xfrm>
            <a:off x="3054096" y="2852928"/>
            <a:ext cx="1152145" cy="1152145"/>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7495161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239842" y="-86777"/>
            <a:ext cx="9529757"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3600" b="1" dirty="0">
                <a:solidFill>
                  <a:srgbClr val="33BEA6"/>
                </a:solidFill>
                <a:latin typeface="Verdana"/>
                <a:ea typeface="Verdana"/>
                <a:cs typeface="Verdana"/>
                <a:sym typeface="Verdana"/>
              </a:rPr>
              <a:t>3.1.2 Exploration: Powers of Ten</a:t>
            </a:r>
          </a:p>
        </p:txBody>
      </p:sp>
      <p:sp>
        <p:nvSpPr>
          <p:cNvPr id="15" name="Google Shape;282;g104476d1465_1_17">
            <a:extLst>
              <a:ext uri="{FF2B5EF4-FFF2-40B4-BE49-F238E27FC236}">
                <a16:creationId xmlns:a16="http://schemas.microsoft.com/office/drawing/2014/main" xmlns="" id="{5B627696-920F-B441-B5C1-01510F09761A}"/>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82</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xmlns="" id="{B46B19A2-BBA2-0441-AC88-F1F62E75949B}"/>
                  </a:ext>
                </a:extLst>
              </p:cNvPr>
              <p:cNvSpPr txBox="1"/>
              <p:nvPr/>
            </p:nvSpPr>
            <p:spPr>
              <a:xfrm>
                <a:off x="731521" y="1204577"/>
                <a:ext cx="10693666" cy="400110"/>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Use a scientific calculator to find the value of each power of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10</m:t>
                    </m:r>
                  </m:oMath>
                </a14:m>
                <a:r>
                  <a:rPr lang="en-US" sz="2000" dirty="0">
                    <a:latin typeface="Verdana" panose="020B0604030504040204" pitchFamily="34" charset="0"/>
                    <a:ea typeface="Verdana" panose="020B0604030504040204" pitchFamily="34" charset="0"/>
                    <a:cs typeface="Verdana" panose="020B0604030504040204" pitchFamily="34" charset="0"/>
                  </a:rPr>
                  <a:t>.</a:t>
                </a:r>
              </a:p>
            </p:txBody>
          </p:sp>
        </mc:Choice>
        <mc:Fallback xmlns="">
          <p:sp>
            <p:nvSpPr>
              <p:cNvPr id="11" name="TextBox 10">
                <a:extLst>
                  <a:ext uri="{FF2B5EF4-FFF2-40B4-BE49-F238E27FC236}">
                    <a16:creationId xmlns:a16="http://schemas.microsoft.com/office/drawing/2014/main" id="{B46B19A2-BBA2-0441-AC88-F1F62E75949B}"/>
                  </a:ext>
                </a:extLst>
              </p:cNvPr>
              <p:cNvSpPr txBox="1">
                <a:spLocks noRot="1" noChangeAspect="1" noMove="1" noResize="1" noEditPoints="1" noAdjustHandles="1" noChangeArrowheads="1" noChangeShapeType="1" noTextEdit="1"/>
              </p:cNvSpPr>
              <p:nvPr/>
            </p:nvSpPr>
            <p:spPr>
              <a:xfrm>
                <a:off x="731521" y="1204577"/>
                <a:ext cx="10693666" cy="400110"/>
              </a:xfrm>
              <a:prstGeom prst="rect">
                <a:avLst/>
              </a:prstGeom>
              <a:blipFill>
                <a:blip r:embed="rId4"/>
                <a:stretch>
                  <a:fillRect l="-593" t="-9375" b="-25000"/>
                </a:stretch>
              </a:blipFill>
            </p:spPr>
            <p:txBody>
              <a:bodyPr/>
              <a:lstStyle/>
              <a:p>
                <a:r>
                  <a:rPr lang="en-US">
                    <a:noFill/>
                  </a:rPr>
                  <a:t> </a:t>
                </a:r>
              </a:p>
            </p:txBody>
          </p:sp>
        </mc:Fallback>
      </mc:AlternateContent>
      <p:pic>
        <p:nvPicPr>
          <p:cNvPr id="9" name="image10.png" descr="Icon&#10;&#10;Description automatically generated">
            <a:extLst>
              <a:ext uri="{FF2B5EF4-FFF2-40B4-BE49-F238E27FC236}">
                <a16:creationId xmlns:a16="http://schemas.microsoft.com/office/drawing/2014/main" xmlns="" id="{ADD604E3-4EB0-F849-A744-16E843B46083}"/>
              </a:ext>
            </a:extLst>
          </p:cNvPr>
          <p:cNvPicPr/>
          <p:nvPr/>
        </p:nvPicPr>
        <p:blipFill>
          <a:blip r:embed="rId5" cstate="screen">
            <a:extLst>
              <a:ext uri="{28A0092B-C50C-407E-A947-70E740481C1C}">
                <a14:useLocalDpi xmlns:a14="http://schemas.microsoft.com/office/drawing/2010/main"/>
              </a:ext>
            </a:extLst>
          </a:blip>
          <a:srcRect/>
          <a:stretch>
            <a:fillRect/>
          </a:stretch>
        </p:blipFill>
        <p:spPr>
          <a:xfrm>
            <a:off x="356616" y="201168"/>
            <a:ext cx="749811" cy="749811"/>
          </a:xfrm>
          <a:prstGeom prst="rect">
            <a:avLst/>
          </a:prstGeom>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xmlns="" id="{CC02A90F-B30A-8B43-8E39-46DC0262744E}"/>
                  </a:ext>
                </a:extLst>
              </p:cNvPr>
              <p:cNvGraphicFramePr>
                <a:graphicFrameLocks noGrp="1"/>
              </p:cNvGraphicFramePr>
              <p:nvPr>
                <p:extLst>
                  <p:ext uri="{D42A27DB-BD31-4B8C-83A1-F6EECF244321}">
                    <p14:modId xmlns:p14="http://schemas.microsoft.com/office/powerpoint/2010/main" val="983911537"/>
                  </p:ext>
                </p:extLst>
              </p:nvPr>
            </p:nvGraphicFramePr>
            <p:xfrm>
              <a:off x="3098258" y="1858285"/>
              <a:ext cx="5960191" cy="4433893"/>
            </p:xfrm>
            <a:graphic>
              <a:graphicData uri="http://schemas.openxmlformats.org/drawingml/2006/table">
                <a:tbl>
                  <a:tblPr firstRow="1" firstCol="1" bandRow="1"/>
                  <a:tblGrid>
                    <a:gridCol w="2160000">
                      <a:extLst>
                        <a:ext uri="{9D8B030D-6E8A-4147-A177-3AD203B41FA5}">
                          <a16:colId xmlns:a16="http://schemas.microsoft.com/office/drawing/2014/main" xmlns="" val="2936491047"/>
                        </a:ext>
                      </a:extLst>
                    </a:gridCol>
                    <a:gridCol w="3800191">
                      <a:extLst>
                        <a:ext uri="{9D8B030D-6E8A-4147-A177-3AD203B41FA5}">
                          <a16:colId xmlns:a16="http://schemas.microsoft.com/office/drawing/2014/main" xmlns="" val="1638703459"/>
                        </a:ext>
                      </a:extLst>
                    </a:gridCol>
                  </a:tblGrid>
                  <a:tr h="468000">
                    <a:tc>
                      <a:txBody>
                        <a:bodyPr/>
                        <a:lstStyle/>
                        <a:p>
                          <a:pPr marL="0" marR="0" algn="ctr">
                            <a:spcBef>
                              <a:spcPts val="0"/>
                            </a:spcBef>
                            <a:spcAft>
                              <a:spcPts val="0"/>
                            </a:spcAft>
                          </a:pPr>
                          <a:r>
                            <a:rPr lang="en-US" sz="2000" b="1" dirty="0">
                              <a:effectLst/>
                              <a:latin typeface="Verdana" panose="020B0604030504040204" pitchFamily="34" charset="0"/>
                              <a:ea typeface="Times New Roman" panose="02020603050405020304" pitchFamily="18" charset="0"/>
                              <a:cs typeface="Times New Roman" panose="02020603050405020304" pitchFamily="18" charset="0"/>
                            </a:rPr>
                            <a:t>Power of </a:t>
                          </a:r>
                          <a14:m>
                            <m:oMath xmlns:m="http://schemas.openxmlformats.org/officeDocument/2006/math">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𝟏𝟎</m:t>
                              </m:r>
                            </m:oMath>
                          </a14:m>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Value</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 val="2807492175"/>
                      </a:ext>
                    </a:extLst>
                  </a:tr>
                  <a:tr h="337912">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10</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m:t>
                                    </m:r>
                                  </m:sup>
                                </m:sSup>
                              </m:oMath>
                            </m:oMathPara>
                          </a14:m>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215430436"/>
                      </a:ext>
                    </a:extLst>
                  </a:tr>
                  <a:tr h="337912">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10</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sup>
                                </m:sSup>
                              </m:oMath>
                            </m:oMathPara>
                          </a14:m>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997350819"/>
                      </a:ext>
                    </a:extLst>
                  </a:tr>
                  <a:tr h="337912">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10</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3</m:t>
                                    </m:r>
                                  </m:sup>
                                </m:sSup>
                              </m:oMath>
                            </m:oMathPara>
                          </a14:m>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272422260"/>
                      </a:ext>
                    </a:extLst>
                  </a:tr>
                  <a:tr h="326225">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10</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4</m:t>
                                    </m:r>
                                  </m:sup>
                                </m:sSup>
                              </m:oMath>
                            </m:oMathPara>
                          </a14:m>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596519396"/>
                      </a:ext>
                    </a:extLst>
                  </a:tr>
                  <a:tr h="337912">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10</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5</m:t>
                                    </m:r>
                                  </m:sup>
                                </m:sSup>
                              </m:oMath>
                            </m:oMathPara>
                          </a14:m>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873315462"/>
                      </a:ext>
                    </a:extLst>
                  </a:tr>
                  <a:tr h="337912">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10</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6</m:t>
                                    </m:r>
                                  </m:sup>
                                </m:sSup>
                              </m:oMath>
                            </m:oMathPara>
                          </a14:m>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20652887"/>
                      </a:ext>
                    </a:extLst>
                  </a:tr>
                  <a:tr h="337912">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10</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7</m:t>
                                    </m:r>
                                  </m:sup>
                                </m:sSup>
                              </m:oMath>
                            </m:oMathPara>
                          </a14:m>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632887330"/>
                      </a:ext>
                    </a:extLst>
                  </a:tr>
                  <a:tr h="337912">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10</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8</m:t>
                                    </m:r>
                                  </m:sup>
                                </m:sSup>
                              </m:oMath>
                            </m:oMathPara>
                          </a14:m>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526522956"/>
                      </a:ext>
                    </a:extLst>
                  </a:tr>
                  <a:tr h="337912">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10</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9</m:t>
                                    </m:r>
                                  </m:sup>
                                </m:sSup>
                              </m:oMath>
                            </m:oMathPara>
                          </a14:m>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163459471"/>
                      </a:ext>
                    </a:extLst>
                  </a:tr>
                  <a:tr h="337912">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10</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10</m:t>
                                    </m:r>
                                  </m:sup>
                                </m:sSup>
                              </m:oMath>
                            </m:oMathPara>
                          </a14:m>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501974655"/>
                      </a:ext>
                    </a:extLst>
                  </a:tr>
                </a:tbl>
              </a:graphicData>
            </a:graphic>
          </p:graphicFrame>
        </mc:Choice>
        <mc:Fallback xmlns="">
          <p:graphicFrame>
            <p:nvGraphicFramePr>
              <p:cNvPr id="4" name="Table 3">
                <a:extLst>
                  <a:ext uri="{FF2B5EF4-FFF2-40B4-BE49-F238E27FC236}">
                    <a16:creationId xmlns:a16="http://schemas.microsoft.com/office/drawing/2014/main" xmlns:a14="http://schemas.microsoft.com/office/drawing/2010/main" xmlns="" id="{CC02A90F-B30A-8B43-8E39-46DC0262744E}"/>
                  </a:ext>
                </a:extLst>
              </p:cNvPr>
              <p:cNvGraphicFramePr>
                <a:graphicFrameLocks noGrp="1"/>
              </p:cNvGraphicFramePr>
              <p:nvPr>
                <p:extLst>
                  <p:ext uri="{D42A27DB-BD31-4B8C-83A1-F6EECF244321}">
                    <p14:modId xmlns:p14="http://schemas.microsoft.com/office/powerpoint/2010/main" val="983911537"/>
                  </p:ext>
                </p:extLst>
              </p:nvPr>
            </p:nvGraphicFramePr>
            <p:xfrm>
              <a:off x="3098258" y="1858285"/>
              <a:ext cx="5960191" cy="4433893"/>
            </p:xfrm>
            <a:graphic>
              <a:graphicData uri="http://schemas.openxmlformats.org/drawingml/2006/table">
                <a:tbl>
                  <a:tblPr firstRow="1" firstCol="1" bandRow="1"/>
                  <a:tblGrid>
                    <a:gridCol w="2160000">
                      <a:extLst>
                        <a:ext uri="{9D8B030D-6E8A-4147-A177-3AD203B41FA5}">
                          <a16:colId xmlns:a16="http://schemas.microsoft.com/office/drawing/2014/main" xmlns:a14="http://schemas.microsoft.com/office/drawing/2010/main" xmlns="" val="2936491047"/>
                        </a:ext>
                      </a:extLst>
                    </a:gridCol>
                    <a:gridCol w="3800191">
                      <a:extLst>
                        <a:ext uri="{9D8B030D-6E8A-4147-A177-3AD203B41FA5}">
                          <a16:colId xmlns:a16="http://schemas.microsoft.com/office/drawing/2014/main" xmlns:a14="http://schemas.microsoft.com/office/drawing/2010/main" xmlns="" val="1638703459"/>
                        </a:ext>
                      </a:extLst>
                    </a:gridCol>
                  </a:tblGrid>
                  <a:tr h="468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6"/>
                          <a:stretch>
                            <a:fillRect t="-1299" r="-176271" b="-845455"/>
                          </a:stretch>
                        </a:blip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Value</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a14="http://schemas.microsoft.com/office/drawing/2010/main" xmlns="" val="2807492175"/>
                      </a:ext>
                    </a:extLst>
                  </a:tr>
                  <a:tr h="39624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6"/>
                          <a:stretch>
                            <a:fillRect t="-120000" r="-176271" b="-901538"/>
                          </a:stretch>
                        </a:blipFill>
                      </a:tcPr>
                    </a:tc>
                    <a:tc>
                      <a:txBody>
                        <a:bodyPr/>
                        <a:lstStyle/>
                        <a:p>
                          <a:pPr marL="0" marR="0">
                            <a:spcBef>
                              <a:spcPts val="0"/>
                            </a:spcBef>
                            <a:spcAft>
                              <a:spcPts val="0"/>
                            </a:spcAft>
                          </a:pPr>
                          <a:r>
                            <a:rPr lang="en-US" sz="200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215430436"/>
                      </a:ext>
                    </a:extLst>
                  </a:tr>
                  <a:tr h="39624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6"/>
                          <a:stretch>
                            <a:fillRect t="-220000" r="-176271" b="-801538"/>
                          </a:stretch>
                        </a:blipFill>
                      </a:tcPr>
                    </a:tc>
                    <a:tc>
                      <a:txBody>
                        <a:bodyPr/>
                        <a:lstStyle/>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3997350819"/>
                      </a:ext>
                    </a:extLst>
                  </a:tr>
                  <a:tr h="39624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6"/>
                          <a:stretch>
                            <a:fillRect t="-320000" r="-176271" b="-701538"/>
                          </a:stretch>
                        </a:blipFill>
                      </a:tcPr>
                    </a:tc>
                    <a:tc>
                      <a:txBody>
                        <a:bodyPr/>
                        <a:lstStyle/>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3272422260"/>
                      </a:ext>
                    </a:extLst>
                  </a:tr>
                  <a:tr h="39624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6"/>
                          <a:stretch>
                            <a:fillRect t="-420000" r="-176271" b="-601538"/>
                          </a:stretch>
                        </a:blipFill>
                      </a:tcPr>
                    </a:tc>
                    <a:tc>
                      <a:txBody>
                        <a:bodyPr/>
                        <a:lstStyle/>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3596519396"/>
                      </a:ext>
                    </a:extLst>
                  </a:tr>
                  <a:tr h="399733">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6"/>
                          <a:stretch>
                            <a:fillRect t="-520000" r="-176271" b="-501538"/>
                          </a:stretch>
                        </a:blipFill>
                      </a:tcPr>
                    </a:tc>
                    <a:tc>
                      <a:txBody>
                        <a:bodyPr/>
                        <a:lstStyle/>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2873315462"/>
                      </a:ext>
                    </a:extLst>
                  </a:tr>
                  <a:tr h="39624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6"/>
                          <a:stretch>
                            <a:fillRect t="-620000" r="-176271" b="-401538"/>
                          </a:stretch>
                        </a:blipFill>
                      </a:tcPr>
                    </a:tc>
                    <a:tc>
                      <a:txBody>
                        <a:bodyPr/>
                        <a:lstStyle/>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20652887"/>
                      </a:ext>
                    </a:extLst>
                  </a:tr>
                  <a:tr h="39624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6"/>
                          <a:stretch>
                            <a:fillRect t="-720000" r="-176271" b="-301538"/>
                          </a:stretch>
                        </a:blipFill>
                      </a:tcPr>
                    </a:tc>
                    <a:tc>
                      <a:txBody>
                        <a:bodyPr/>
                        <a:lstStyle/>
                        <a:p>
                          <a:pPr marL="0" marR="0">
                            <a:spcBef>
                              <a:spcPts val="0"/>
                            </a:spcBef>
                            <a:spcAft>
                              <a:spcPts val="0"/>
                            </a:spcAft>
                          </a:pPr>
                          <a:r>
                            <a:rPr lang="en-US" sz="200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3632887330"/>
                      </a:ext>
                    </a:extLst>
                  </a:tr>
                  <a:tr h="39624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6"/>
                          <a:stretch>
                            <a:fillRect t="-820000" r="-176271" b="-201538"/>
                          </a:stretch>
                        </a:blipFill>
                      </a:tcPr>
                    </a:tc>
                    <a:tc>
                      <a:txBody>
                        <a:bodyPr/>
                        <a:lstStyle/>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526522956"/>
                      </a:ext>
                    </a:extLst>
                  </a:tr>
                  <a:tr h="39624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6"/>
                          <a:stretch>
                            <a:fillRect t="-920000" r="-176271" b="-101538"/>
                          </a:stretch>
                        </a:blipFill>
                      </a:tcPr>
                    </a:tc>
                    <a:tc>
                      <a:txBody>
                        <a:bodyPr/>
                        <a:lstStyle/>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163459471"/>
                      </a:ext>
                    </a:extLst>
                  </a:tr>
                  <a:tr h="39624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6"/>
                          <a:stretch>
                            <a:fillRect t="-1020000" r="-176271" b="-1538"/>
                          </a:stretch>
                        </a:blipFill>
                      </a:tcPr>
                    </a:tc>
                    <a:tc>
                      <a:txBody>
                        <a:bodyPr/>
                        <a:lstStyle/>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3501974655"/>
                      </a:ext>
                    </a:extLst>
                  </a:tr>
                </a:tbl>
              </a:graphicData>
            </a:graphic>
          </p:graphicFrame>
        </mc:Fallback>
      </mc:AlternateContent>
    </p:spTree>
    <p:extLst>
      <p:ext uri="{BB962C8B-B14F-4D97-AF65-F5344CB8AC3E}">
        <p14:creationId xmlns:p14="http://schemas.microsoft.com/office/powerpoint/2010/main" val="10218390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a:extLst>
              <a:ext uri="{FF2B5EF4-FFF2-40B4-BE49-F238E27FC236}">
                <a16:creationId xmlns:a16="http://schemas.microsoft.com/office/drawing/2014/main" xmlns="" id="{E0814DF0-CB0F-CE4A-A504-DEE56AFFF9B6}"/>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82</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xmlns="" id="{4B71B7AA-10E7-9B44-A591-563821260A41}"/>
                  </a:ext>
                </a:extLst>
              </p:cNvPr>
              <p:cNvSpPr txBox="1"/>
              <p:nvPr/>
            </p:nvSpPr>
            <p:spPr>
              <a:xfrm>
                <a:off x="548801" y="382012"/>
                <a:ext cx="10981783" cy="3046988"/>
              </a:xfrm>
              <a:prstGeom prst="rect">
                <a:avLst/>
              </a:prstGeom>
              <a:noFill/>
            </p:spPr>
            <p:txBody>
              <a:bodyPr wrap="square" rtlCol="0">
                <a:spAutoFit/>
              </a:bodyPr>
              <a:lstStyle/>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What do you notice about the relationship between the power of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10</m:t>
                    </m:r>
                  </m:oMath>
                </a14:m>
                <a:r>
                  <a:rPr lang="en-US" sz="2400" dirty="0">
                    <a:latin typeface="Verdana" panose="020B0604030504040204" pitchFamily="34" charset="0"/>
                    <a:ea typeface="Verdana" panose="020B0604030504040204" pitchFamily="34" charset="0"/>
                    <a:cs typeface="Verdana" panose="020B0604030504040204" pitchFamily="34" charset="0"/>
                  </a:rPr>
                  <a:t> and its value?</a:t>
                </a: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Work with your partner to complete the table. </a:t>
                </a:r>
              </a:p>
            </p:txBody>
          </p:sp>
        </mc:Choice>
        <mc:Fallback xmlns="">
          <p:sp>
            <p:nvSpPr>
              <p:cNvPr id="6" name="TextBox 5">
                <a:extLst>
                  <a:ext uri="{FF2B5EF4-FFF2-40B4-BE49-F238E27FC236}">
                    <a16:creationId xmlns:a16="http://schemas.microsoft.com/office/drawing/2014/main" xmlns:a14="http://schemas.microsoft.com/office/drawing/2010/main" xmlns="" id="{4B71B7AA-10E7-9B44-A591-563821260A41}"/>
                  </a:ext>
                </a:extLst>
              </p:cNvPr>
              <p:cNvSpPr txBox="1">
                <a:spLocks noRot="1" noChangeAspect="1" noMove="1" noResize="1" noEditPoints="1" noAdjustHandles="1" noChangeArrowheads="1" noChangeShapeType="1" noTextEdit="1"/>
              </p:cNvSpPr>
              <p:nvPr/>
            </p:nvSpPr>
            <p:spPr>
              <a:xfrm>
                <a:off x="548801" y="382012"/>
                <a:ext cx="10981783" cy="3046988"/>
              </a:xfrm>
              <a:prstGeom prst="rect">
                <a:avLst/>
              </a:prstGeom>
              <a:blipFill rotWithShape="1">
                <a:blip r:embed="rId4"/>
                <a:stretch>
                  <a:fillRect l="-832" t="-1600" b="-3600"/>
                </a:stretch>
              </a:blipFill>
            </p:spPr>
            <p:txBody>
              <a:bodyPr/>
              <a:lstStyle/>
              <a:p>
                <a:r>
                  <a:rPr lang="en-PH">
                    <a:noFill/>
                  </a:rPr>
                  <a:t> </a:t>
                </a:r>
              </a:p>
            </p:txBody>
          </p:sp>
        </mc:Fallback>
      </mc:AlternateContent>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xmlns="" id="{20CE38AC-21F8-124F-8A66-A40B373D1063}"/>
                  </a:ext>
                </a:extLst>
              </p:cNvPr>
              <p:cNvGraphicFramePr>
                <a:graphicFrameLocks noGrp="1"/>
              </p:cNvGraphicFramePr>
              <p:nvPr>
                <p:extLst>
                  <p:ext uri="{D42A27DB-BD31-4B8C-83A1-F6EECF244321}">
                    <p14:modId xmlns:p14="http://schemas.microsoft.com/office/powerpoint/2010/main" val="1687919058"/>
                  </p:ext>
                </p:extLst>
              </p:nvPr>
            </p:nvGraphicFramePr>
            <p:xfrm>
              <a:off x="2695575" y="3519549"/>
              <a:ext cx="7189200" cy="2848933"/>
            </p:xfrm>
            <a:graphic>
              <a:graphicData uri="http://schemas.openxmlformats.org/drawingml/2006/table">
                <a:tbl>
                  <a:tblPr firstRow="1" firstCol="1" bandRow="1"/>
                  <a:tblGrid>
                    <a:gridCol w="2160000">
                      <a:extLst>
                        <a:ext uri="{9D8B030D-6E8A-4147-A177-3AD203B41FA5}">
                          <a16:colId xmlns:a16="http://schemas.microsoft.com/office/drawing/2014/main" xmlns="" val="751875215"/>
                        </a:ext>
                      </a:extLst>
                    </a:gridCol>
                    <a:gridCol w="2400300">
                      <a:extLst>
                        <a:ext uri="{9D8B030D-6E8A-4147-A177-3AD203B41FA5}">
                          <a16:colId xmlns:a16="http://schemas.microsoft.com/office/drawing/2014/main" xmlns="" val="2264605077"/>
                        </a:ext>
                      </a:extLst>
                    </a:gridCol>
                    <a:gridCol w="2628900">
                      <a:extLst>
                        <a:ext uri="{9D8B030D-6E8A-4147-A177-3AD203B41FA5}">
                          <a16:colId xmlns:a16="http://schemas.microsoft.com/office/drawing/2014/main" xmlns="" val="1793649645"/>
                        </a:ext>
                      </a:extLst>
                    </a:gridCol>
                  </a:tblGrid>
                  <a:tr h="468000">
                    <a:tc>
                      <a:txBody>
                        <a:bodyPr/>
                        <a:lstStyle/>
                        <a:p>
                          <a:pPr marL="0" marR="0" algn="ctr">
                            <a:spcBef>
                              <a:spcPts val="0"/>
                            </a:spcBef>
                            <a:spcAft>
                              <a:spcPts val="0"/>
                            </a:spcAft>
                          </a:pPr>
                          <a:r>
                            <a:rPr lang="en-US" sz="2000" b="1" dirty="0">
                              <a:effectLst/>
                              <a:latin typeface="Verdana" panose="020B0604030504040204" pitchFamily="34" charset="0"/>
                              <a:ea typeface="Times New Roman" panose="02020603050405020304" pitchFamily="18" charset="0"/>
                              <a:cs typeface="Times New Roman" panose="02020603050405020304" pitchFamily="18" charset="0"/>
                            </a:rPr>
                            <a:t>Power of </a:t>
                          </a:r>
                          <a14:m>
                            <m:oMath xmlns:m="http://schemas.openxmlformats.org/officeDocument/2006/math">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𝟏𝟎</m:t>
                              </m:r>
                            </m:oMath>
                          </a14:m>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Value</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Place Value of </a:t>
                          </a:r>
                          <a14:m>
                            <m:oMath xmlns:m="http://schemas.openxmlformats.org/officeDocument/2006/math">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𝟏</m:t>
                              </m:r>
                            </m:oMath>
                          </a14:m>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xmlns="" val="449358984"/>
                      </a:ext>
                    </a:extLst>
                  </a:tr>
                  <a:tr h="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10</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m:t>
                                    </m:r>
                                  </m:sup>
                                </m:sSup>
                              </m:oMath>
                            </m:oMathPara>
                          </a14:m>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10</m:t>
                                </m:r>
                              </m:oMath>
                            </m:oMathPara>
                          </a14:m>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Times New Roman" panose="02020603050405020304" pitchFamily="18" charset="0"/>
                              <a:cs typeface="Times New Roman" panose="02020603050405020304" pitchFamily="18" charset="0"/>
                            </a:rPr>
                            <a:t>Tens</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749931382"/>
                      </a:ext>
                    </a:extLst>
                  </a:tr>
                  <a:tr h="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10</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sup>
                                </m:sSup>
                              </m:oMath>
                            </m:oMathPara>
                          </a14:m>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6468788"/>
                      </a:ext>
                    </a:extLst>
                  </a:tr>
                  <a:tr h="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10</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3</m:t>
                                    </m:r>
                                  </m:sup>
                                </m:sSup>
                              </m:oMath>
                            </m:oMathPara>
                          </a14:m>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124409508"/>
                      </a:ext>
                    </a:extLst>
                  </a:tr>
                  <a:tr h="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10</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4</m:t>
                                    </m:r>
                                  </m:sup>
                                </m:sSup>
                              </m:oMath>
                            </m:oMathPara>
                          </a14:m>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820334822"/>
                      </a:ext>
                    </a:extLst>
                  </a:tr>
                  <a:tr h="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10</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5</m:t>
                                    </m:r>
                                  </m:sup>
                                </m:sSup>
                              </m:oMath>
                            </m:oMathPara>
                          </a14:m>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549185093"/>
                      </a:ext>
                    </a:extLst>
                  </a:tr>
                  <a:tr h="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10</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6</m:t>
                                    </m:r>
                                  </m:sup>
                                </m:sSup>
                              </m:oMath>
                            </m:oMathPara>
                          </a14:m>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1400" dirty="0">
                            <a:effectLst/>
                            <a:latin typeface="Cambria" panose="02040503050406030204" pitchFamily="18" charset="0"/>
                            <a:ea typeface="Times New Roman" panose="02020603050405020304" pitchFamily="18"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795763397"/>
                      </a:ext>
                    </a:extLst>
                  </a:tr>
                </a:tbl>
              </a:graphicData>
            </a:graphic>
          </p:graphicFrame>
        </mc:Choice>
        <mc:Fallback xmlns="">
          <p:graphicFrame>
            <p:nvGraphicFramePr>
              <p:cNvPr id="3" name="Table 2">
                <a:extLst>
                  <a:ext uri="{FF2B5EF4-FFF2-40B4-BE49-F238E27FC236}">
                    <a16:creationId xmlns:a16="http://schemas.microsoft.com/office/drawing/2014/main" id="{20CE38AC-21F8-124F-8A66-A40B373D1063}"/>
                  </a:ext>
                </a:extLst>
              </p:cNvPr>
              <p:cNvGraphicFramePr>
                <a:graphicFrameLocks noGrp="1"/>
              </p:cNvGraphicFramePr>
              <p:nvPr>
                <p:extLst>
                  <p:ext uri="{D42A27DB-BD31-4B8C-83A1-F6EECF244321}">
                    <p14:modId xmlns:p14="http://schemas.microsoft.com/office/powerpoint/2010/main" val="1687919058"/>
                  </p:ext>
                </p:extLst>
              </p:nvPr>
            </p:nvGraphicFramePr>
            <p:xfrm>
              <a:off x="2695575" y="3519549"/>
              <a:ext cx="7189200" cy="2848933"/>
            </p:xfrm>
            <a:graphic>
              <a:graphicData uri="http://schemas.openxmlformats.org/drawingml/2006/table">
                <a:tbl>
                  <a:tblPr firstRow="1" firstCol="1" bandRow="1"/>
                  <a:tblGrid>
                    <a:gridCol w="2160000">
                      <a:extLst>
                        <a:ext uri="{9D8B030D-6E8A-4147-A177-3AD203B41FA5}">
                          <a16:colId xmlns:a16="http://schemas.microsoft.com/office/drawing/2014/main" val="751875215"/>
                        </a:ext>
                      </a:extLst>
                    </a:gridCol>
                    <a:gridCol w="2400300">
                      <a:extLst>
                        <a:ext uri="{9D8B030D-6E8A-4147-A177-3AD203B41FA5}">
                          <a16:colId xmlns:a16="http://schemas.microsoft.com/office/drawing/2014/main" val="2264605077"/>
                        </a:ext>
                      </a:extLst>
                    </a:gridCol>
                    <a:gridCol w="2628900">
                      <a:extLst>
                        <a:ext uri="{9D8B030D-6E8A-4147-A177-3AD203B41FA5}">
                          <a16:colId xmlns:a16="http://schemas.microsoft.com/office/drawing/2014/main" val="1793649645"/>
                        </a:ext>
                      </a:extLst>
                    </a:gridCol>
                  </a:tblGrid>
                  <a:tr h="468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588" t="-2703" r="-234118" b="-513514"/>
                          </a:stretch>
                        </a:blip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Value</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174396" t="-2703" r="-483" b="-513514"/>
                          </a:stretch>
                        </a:blipFill>
                      </a:tcPr>
                    </a:tc>
                    <a:extLst>
                      <a:ext uri="{0D108BD9-81ED-4DB2-BD59-A6C34878D82A}">
                        <a16:rowId xmlns:a16="http://schemas.microsoft.com/office/drawing/2014/main" val="449358984"/>
                      </a:ext>
                    </a:extLst>
                  </a:tr>
                  <a:tr h="396240">
                    <a:tc>
                      <a:txBody>
                        <a:bodyPr/>
                        <a:lstStyle/>
                        <a:p>
                          <a:endParaRPr lang="en-US"/>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588" t="-122581" r="-234118" b="-512903"/>
                          </a:stretch>
                        </a:blipFill>
                      </a:tcPr>
                    </a:tc>
                    <a:tc>
                      <a:txBody>
                        <a:bodyPr/>
                        <a:lstStyle/>
                        <a:p>
                          <a:endParaRPr lang="en-US"/>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90000" t="-122581" r="-109474" b="-512903"/>
                          </a:stretch>
                        </a:blipFill>
                      </a:tcPr>
                    </a:tc>
                    <a:tc>
                      <a:txBody>
                        <a:bodyPr/>
                        <a:lstStyle/>
                        <a:p>
                          <a:pPr marL="0" marR="0" algn="ctr">
                            <a:spcBef>
                              <a:spcPts val="0"/>
                            </a:spcBef>
                            <a:spcAft>
                              <a:spcPts val="0"/>
                            </a:spcAft>
                          </a:pPr>
                          <a:r>
                            <a:rPr lang="en-US" sz="2000">
                              <a:effectLst/>
                              <a:latin typeface="Verdana" panose="020B0604030504040204" pitchFamily="34" charset="0"/>
                              <a:ea typeface="Times New Roman" panose="02020603050405020304" pitchFamily="18" charset="0"/>
                              <a:cs typeface="Times New Roman" panose="02020603050405020304" pitchFamily="18" charset="0"/>
                            </a:rPr>
                            <a:t>Tens</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49931382"/>
                      </a:ext>
                    </a:extLst>
                  </a:tr>
                  <a:tr h="396240">
                    <a:tc>
                      <a:txBody>
                        <a:bodyPr/>
                        <a:lstStyle/>
                        <a:p>
                          <a:endParaRPr lang="en-US"/>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588" t="-215625" r="-234118" b="-396875"/>
                          </a:stretch>
                        </a:blipFill>
                      </a:tcPr>
                    </a:tc>
                    <a:tc>
                      <a:txBody>
                        <a:bodyPr/>
                        <a:lstStyle/>
                        <a:p>
                          <a:pPr marL="0" marR="0">
                            <a:spcBef>
                              <a:spcPts val="0"/>
                            </a:spcBef>
                            <a:spcAft>
                              <a:spcPts val="0"/>
                            </a:spcAft>
                          </a:pPr>
                          <a:r>
                            <a:rPr lang="en-US" sz="200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6468788"/>
                      </a:ext>
                    </a:extLst>
                  </a:tr>
                  <a:tr h="396240">
                    <a:tc>
                      <a:txBody>
                        <a:bodyPr/>
                        <a:lstStyle/>
                        <a:p>
                          <a:endParaRPr lang="en-US"/>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588" t="-325806" r="-234118" b="-309677"/>
                          </a:stretch>
                        </a:blipFill>
                      </a:tcPr>
                    </a:tc>
                    <a:tc>
                      <a:txBody>
                        <a:bodyPr/>
                        <a:lstStyle/>
                        <a:p>
                          <a:pPr marL="0" marR="0">
                            <a:spcBef>
                              <a:spcPts val="0"/>
                            </a:spcBef>
                            <a:spcAft>
                              <a:spcPts val="0"/>
                            </a:spcAft>
                          </a:pPr>
                          <a:r>
                            <a:rPr lang="en-US" sz="200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24409508"/>
                      </a:ext>
                    </a:extLst>
                  </a:tr>
                  <a:tr h="396240">
                    <a:tc>
                      <a:txBody>
                        <a:bodyPr/>
                        <a:lstStyle/>
                        <a:p>
                          <a:endParaRPr lang="en-US"/>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588" t="-425806" r="-234118" b="-209677"/>
                          </a:stretch>
                        </a:blipFill>
                      </a:tcPr>
                    </a:tc>
                    <a:tc>
                      <a:txBody>
                        <a:bodyPr/>
                        <a:lstStyle/>
                        <a:p>
                          <a:pPr marL="0" marR="0">
                            <a:spcBef>
                              <a:spcPts val="0"/>
                            </a:spcBef>
                            <a:spcAft>
                              <a:spcPts val="0"/>
                            </a:spcAft>
                          </a:pPr>
                          <a:r>
                            <a:rPr lang="en-US" sz="200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20334822"/>
                      </a:ext>
                    </a:extLst>
                  </a:tr>
                  <a:tr h="399733">
                    <a:tc>
                      <a:txBody>
                        <a:bodyPr/>
                        <a:lstStyle/>
                        <a:p>
                          <a:endParaRPr lang="en-US"/>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588" t="-509375" r="-234118" b="-103125"/>
                          </a:stretch>
                        </a:blipFill>
                      </a:tcPr>
                    </a:tc>
                    <a:tc>
                      <a:txBody>
                        <a:bodyPr/>
                        <a:lstStyle/>
                        <a:p>
                          <a:pPr marL="0" marR="0">
                            <a:spcBef>
                              <a:spcPts val="0"/>
                            </a:spcBef>
                            <a:spcAft>
                              <a:spcPts val="0"/>
                            </a:spcAft>
                          </a:pPr>
                          <a:r>
                            <a:rPr lang="en-US" sz="200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49185093"/>
                      </a:ext>
                    </a:extLst>
                  </a:tr>
                  <a:tr h="396240">
                    <a:tc>
                      <a:txBody>
                        <a:bodyPr/>
                        <a:lstStyle/>
                        <a:p>
                          <a:endParaRPr lang="en-US"/>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588" t="-629032" r="-234118" b="-6452"/>
                          </a:stretch>
                        </a:blipFill>
                      </a:tcPr>
                    </a:tc>
                    <a:tc>
                      <a:txBody>
                        <a:bodyPr/>
                        <a:lstStyle/>
                        <a:p>
                          <a:pPr marL="0" marR="0">
                            <a:spcBef>
                              <a:spcPts val="0"/>
                            </a:spcBef>
                            <a:spcAft>
                              <a:spcPts val="0"/>
                            </a:spcAft>
                          </a:pPr>
                          <a:r>
                            <a:rPr lang="en-US" sz="200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1400" dirty="0">
                            <a:effectLst/>
                            <a:latin typeface="Cambria" panose="02040503050406030204" pitchFamily="18" charset="0"/>
                            <a:ea typeface="Times New Roman" panose="02020603050405020304" pitchFamily="18"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95763397"/>
                      </a:ext>
                    </a:extLst>
                  </a:tr>
                </a:tbl>
              </a:graphicData>
            </a:graphic>
          </p:graphicFrame>
        </mc:Fallback>
      </mc:AlternateContent>
    </p:spTree>
    <p:extLst>
      <p:ext uri="{BB962C8B-B14F-4D97-AF65-F5344CB8AC3E}">
        <p14:creationId xmlns:p14="http://schemas.microsoft.com/office/powerpoint/2010/main" val="4185440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a:extLst>
              <a:ext uri="{FF2B5EF4-FFF2-40B4-BE49-F238E27FC236}">
                <a16:creationId xmlns:a16="http://schemas.microsoft.com/office/drawing/2014/main" xmlns="" id="{E0814DF0-CB0F-CE4A-A504-DEE56AFFF9B6}"/>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82</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xmlns="" id="{4B71B7AA-10E7-9B44-A591-563821260A41}"/>
                  </a:ext>
                </a:extLst>
              </p:cNvPr>
              <p:cNvSpPr txBox="1"/>
              <p:nvPr/>
            </p:nvSpPr>
            <p:spPr>
              <a:xfrm>
                <a:off x="540455" y="375730"/>
                <a:ext cx="11058785" cy="3416320"/>
              </a:xfrm>
              <a:prstGeom prst="rect">
                <a:avLst/>
              </a:prstGeom>
              <a:noFill/>
            </p:spPr>
            <p:txBody>
              <a:bodyPr wrap="square" rtlCol="0">
                <a:spAutoFit/>
              </a:bodyPr>
              <a:lstStyle/>
              <a:p>
                <a:pPr marL="457200" indent="-457200">
                  <a:buFont typeface="+mj-lt"/>
                  <a:buAutoNum type="arabicPeriod" startAt="4"/>
                </a:pPr>
                <a:r>
                  <a:rPr lang="en-US" sz="2400" dirty="0">
                    <a:latin typeface="Verdana" panose="020B0604030504040204" pitchFamily="34" charset="0"/>
                    <a:ea typeface="Verdana" panose="020B0604030504040204" pitchFamily="34" charset="0"/>
                    <a:cs typeface="Verdana" panose="020B0604030504040204" pitchFamily="34" charset="0"/>
                  </a:rPr>
                  <a:t>Work with your partner to describe how the exponent of the power of ten relates to place value. </a:t>
                </a:r>
              </a:p>
              <a:p>
                <a:pPr marL="457200" indent="-457200">
                  <a:buFont typeface="+mj-lt"/>
                  <a:buAutoNum type="arabi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r>
                  <a:rPr lang="en-US" sz="2400" dirty="0">
                    <a:latin typeface="Verdana" panose="020B0604030504040204" pitchFamily="34" charset="0"/>
                    <a:ea typeface="Verdana" panose="020B0604030504040204" pitchFamily="34" charset="0"/>
                    <a:cs typeface="Verdana" panose="020B0604030504040204" pitchFamily="34" charset="0"/>
                  </a:rPr>
                  <a:t>Based on the pattern in the table, what is the value of </a:t>
                </a:r>
                <a14:m>
                  <m:oMath xmlns:m="http://schemas.openxmlformats.org/officeDocument/2006/math">
                    <m:sSup>
                      <m:sSupPr>
                        <m:ctrlPr>
                          <a:rPr lang="en-US" sz="2400" i="1" dirty="0">
                            <a:latin typeface="Cambria Math"/>
                            <a:ea typeface="Verdana" panose="020B0604030504040204" pitchFamily="34" charset="0"/>
                            <a:cs typeface="Verdana" panose="020B0604030504040204" pitchFamily="34" charset="0"/>
                          </a:rPr>
                        </m:ctrlPr>
                      </m:sSupPr>
                      <m:e>
                        <m:r>
                          <a:rPr lang="es-ES" sz="2400" i="1" dirty="0">
                            <a:latin typeface="Cambria Math" panose="02040503050406030204" pitchFamily="18" charset="0"/>
                            <a:ea typeface="Verdana" panose="020B0604030504040204" pitchFamily="34" charset="0"/>
                            <a:cs typeface="Verdana" panose="020B0604030504040204" pitchFamily="34" charset="0"/>
                          </a:rPr>
                          <m:t>10</m:t>
                        </m:r>
                      </m:e>
                      <m:sup>
                        <m:r>
                          <a:rPr lang="es-ES" sz="2400" i="1" dirty="0">
                            <a:latin typeface="Cambria Math" panose="02040503050406030204" pitchFamily="18" charset="0"/>
                            <a:ea typeface="Verdana" panose="020B0604030504040204" pitchFamily="34" charset="0"/>
                            <a:cs typeface="Verdana" panose="020B0604030504040204" pitchFamily="34" charset="0"/>
                          </a:rPr>
                          <m:t>0</m:t>
                        </m:r>
                      </m:sup>
                    </m:sSup>
                  </m:oMath>
                </a14:m>
                <a:r>
                  <a:rPr lang="en-US" sz="2400" dirty="0">
                    <a:latin typeface="Verdana" panose="020B0604030504040204" pitchFamily="34" charset="0"/>
                    <a:ea typeface="Verdana" panose="020B0604030504040204" pitchFamily="34" charset="0"/>
                    <a:cs typeface="Verdana" panose="020B0604030504040204" pitchFamily="34" charset="0"/>
                  </a:rPr>
                  <a:t>?</a:t>
                </a:r>
              </a:p>
            </p:txBody>
          </p:sp>
        </mc:Choice>
        <mc:Fallback xmlns="">
          <p:sp>
            <p:nvSpPr>
              <p:cNvPr id="6" name="TextBox 5">
                <a:extLst>
                  <a:ext uri="{FF2B5EF4-FFF2-40B4-BE49-F238E27FC236}">
                    <a16:creationId xmlns:a16="http://schemas.microsoft.com/office/drawing/2014/main" xmlns:a14="http://schemas.microsoft.com/office/drawing/2010/main" xmlns="" id="{4B71B7AA-10E7-9B44-A591-563821260A41}"/>
                  </a:ext>
                </a:extLst>
              </p:cNvPr>
              <p:cNvSpPr txBox="1">
                <a:spLocks noRot="1" noChangeAspect="1" noMove="1" noResize="1" noEditPoints="1" noAdjustHandles="1" noChangeArrowheads="1" noChangeShapeType="1" noTextEdit="1"/>
              </p:cNvSpPr>
              <p:nvPr/>
            </p:nvSpPr>
            <p:spPr>
              <a:xfrm>
                <a:off x="540455" y="375730"/>
                <a:ext cx="11058785" cy="3416320"/>
              </a:xfrm>
              <a:prstGeom prst="rect">
                <a:avLst/>
              </a:prstGeom>
              <a:blipFill rotWithShape="1">
                <a:blip r:embed="rId4"/>
                <a:stretch>
                  <a:fillRect l="-882" t="-1429" r="-827" b="-3036"/>
                </a:stretch>
              </a:blipFill>
            </p:spPr>
            <p:txBody>
              <a:bodyPr/>
              <a:lstStyle/>
              <a:p>
                <a:r>
                  <a:rPr lang="en-PH">
                    <a:noFill/>
                  </a:rPr>
                  <a:t> </a:t>
                </a:r>
              </a:p>
            </p:txBody>
          </p:sp>
        </mc:Fallback>
      </mc:AlternateContent>
    </p:spTree>
    <p:extLst>
      <p:ext uri="{BB962C8B-B14F-4D97-AF65-F5344CB8AC3E}">
        <p14:creationId xmlns:p14="http://schemas.microsoft.com/office/powerpoint/2010/main" val="9070648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3054096" y="2766150"/>
            <a:ext cx="5002742"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400" b="1" dirty="0">
                <a:solidFill>
                  <a:srgbClr val="33BEA6"/>
                </a:solidFill>
                <a:latin typeface="Verdana"/>
                <a:ea typeface="Verdana"/>
                <a:cs typeface="Verdana"/>
                <a:sym typeface="Verdana"/>
              </a:rPr>
              <a:t>Try It</a:t>
            </a:r>
            <a:endParaRPr sz="4800" b="1" dirty="0">
              <a:solidFill>
                <a:srgbClr val="33BEA6"/>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xmlns="" id="{B595484E-1C62-AC4F-B448-37E60F77A8C0}"/>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83</a:t>
            </a:r>
            <a:endParaRPr i="1" dirty="0">
              <a:latin typeface="Calibri"/>
              <a:ea typeface="Calibri"/>
              <a:cs typeface="Calibri"/>
              <a:sym typeface="Calibri"/>
            </a:endParaRPr>
          </a:p>
        </p:txBody>
      </p:sp>
      <p:pic>
        <p:nvPicPr>
          <p:cNvPr id="8" name="image13.png" descr="Icon&#10;&#10;Description automatically generated">
            <a:extLst>
              <a:ext uri="{FF2B5EF4-FFF2-40B4-BE49-F238E27FC236}">
                <a16:creationId xmlns:a16="http://schemas.microsoft.com/office/drawing/2014/main" xmlns="" id="{3AE39BE2-2F65-8043-B8A5-6884F49479CA}"/>
              </a:ext>
            </a:extLst>
          </p:cNvPr>
          <p:cNvPicPr/>
          <p:nvPr/>
        </p:nvPicPr>
        <p:blipFill>
          <a:blip r:embed="rId4"/>
          <a:srcRect/>
          <a:stretch>
            <a:fillRect/>
          </a:stretch>
        </p:blipFill>
        <p:spPr>
          <a:xfrm>
            <a:off x="3054096" y="2852928"/>
            <a:ext cx="1152145" cy="1152145"/>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3799769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128438" y="-86776"/>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3600" b="1" dirty="0">
                <a:solidFill>
                  <a:srgbClr val="33BEA6"/>
                </a:solidFill>
                <a:latin typeface="Verdana"/>
                <a:ea typeface="Verdana"/>
                <a:cs typeface="Verdana"/>
                <a:sym typeface="Verdana"/>
              </a:rPr>
              <a:t>3.1.3 Try It: Make a Guess</a:t>
            </a:r>
          </a:p>
        </p:txBody>
      </p:sp>
      <p:sp>
        <p:nvSpPr>
          <p:cNvPr id="15" name="Google Shape;282;g104476d1465_1_17">
            <a:extLst>
              <a:ext uri="{FF2B5EF4-FFF2-40B4-BE49-F238E27FC236}">
                <a16:creationId xmlns:a16="http://schemas.microsoft.com/office/drawing/2014/main" xmlns="" id="{5B627696-920F-B441-B5C1-01510F09761A}"/>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83</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xmlns="" id="{B46B19A2-BBA2-0441-AC88-F1F62E75949B}"/>
                  </a:ext>
                </a:extLst>
              </p:cNvPr>
              <p:cNvSpPr txBox="1"/>
              <p:nvPr/>
            </p:nvSpPr>
            <p:spPr>
              <a:xfrm>
                <a:off x="731521" y="1164878"/>
                <a:ext cx="11136427" cy="1785104"/>
              </a:xfrm>
              <a:prstGeom prst="rect">
                <a:avLst/>
              </a:prstGeom>
              <a:noFill/>
            </p:spPr>
            <p:txBody>
              <a:bodyPr wrap="square" rtlCol="0">
                <a:spAutoFit/>
              </a:bodyPr>
              <a:lstStyle/>
              <a:p>
                <a:pPr marL="457200" indent="-457200">
                  <a:spcAft>
                    <a:spcPts val="1200"/>
                  </a:spcAft>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Without your partner or a calculator, make a guess on the value of each mathematical statement. Do not worry about being wrong. Remember, mistakes are a part of learning. </a:t>
                </a:r>
              </a:p>
              <a:p>
                <a:pPr marL="454025"/>
                <a:r>
                  <a:rPr lang="en-US" sz="2000" dirty="0">
                    <a:latin typeface="Verdana" panose="020B0604030504040204" pitchFamily="34" charset="0"/>
                    <a:ea typeface="Verdana" panose="020B0604030504040204" pitchFamily="34" charset="0"/>
                    <a:cs typeface="Verdana" panose="020B0604030504040204" pitchFamily="34" charset="0"/>
                  </a:rPr>
                  <a:t>Whenever possible, write your guess using a power of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10</m:t>
                    </m:r>
                  </m:oMath>
                </a14:m>
                <a:r>
                  <a:rPr lang="en-US" sz="2000" dirty="0">
                    <a:latin typeface="Verdana" panose="020B0604030504040204" pitchFamily="34" charset="0"/>
                    <a:ea typeface="Verdana" panose="020B0604030504040204" pitchFamily="34" charset="0"/>
                    <a:cs typeface="Verdana" panose="020B0604030504040204" pitchFamily="34" charset="0"/>
                  </a:rPr>
                  <a:t>. Show your work or explain your thinking.</a:t>
                </a:r>
              </a:p>
            </p:txBody>
          </p:sp>
        </mc:Choice>
        <mc:Fallback xmlns="">
          <p:sp>
            <p:nvSpPr>
              <p:cNvPr id="11" name="TextBox 10">
                <a:extLst>
                  <a:ext uri="{FF2B5EF4-FFF2-40B4-BE49-F238E27FC236}">
                    <a16:creationId xmlns:a16="http://schemas.microsoft.com/office/drawing/2014/main" id="{B46B19A2-BBA2-0441-AC88-F1F62E75949B}"/>
                  </a:ext>
                </a:extLst>
              </p:cNvPr>
              <p:cNvSpPr txBox="1">
                <a:spLocks noRot="1" noChangeAspect="1" noMove="1" noResize="1" noEditPoints="1" noAdjustHandles="1" noChangeArrowheads="1" noChangeShapeType="1" noTextEdit="1"/>
              </p:cNvSpPr>
              <p:nvPr/>
            </p:nvSpPr>
            <p:spPr>
              <a:xfrm>
                <a:off x="731521" y="1164878"/>
                <a:ext cx="11136427" cy="1785104"/>
              </a:xfrm>
              <a:prstGeom prst="rect">
                <a:avLst/>
              </a:prstGeom>
              <a:blipFill>
                <a:blip r:embed="rId4"/>
                <a:stretch>
                  <a:fillRect l="-569" t="-1408" b="-4930"/>
                </a:stretch>
              </a:blipFill>
            </p:spPr>
            <p:txBody>
              <a:bodyPr/>
              <a:lstStyle/>
              <a:p>
                <a:r>
                  <a:rPr lang="en-US">
                    <a:noFill/>
                  </a:rPr>
                  <a:t> </a:t>
                </a:r>
              </a:p>
            </p:txBody>
          </p:sp>
        </mc:Fallback>
      </mc:AlternateContent>
      <p:pic>
        <p:nvPicPr>
          <p:cNvPr id="9" name="image13.png" descr="Icon&#10;&#10;Description automatically generated">
            <a:extLst>
              <a:ext uri="{FF2B5EF4-FFF2-40B4-BE49-F238E27FC236}">
                <a16:creationId xmlns:a16="http://schemas.microsoft.com/office/drawing/2014/main" xmlns="" id="{FCA8B220-D9D2-8744-B639-C341089C061D}"/>
              </a:ext>
            </a:extLst>
          </p:cNvPr>
          <p:cNvPicPr/>
          <p:nvPr/>
        </p:nvPicPr>
        <p:blipFill>
          <a:blip r:embed="rId5" cstate="screen">
            <a:extLst>
              <a:ext uri="{28A0092B-C50C-407E-A947-70E740481C1C}">
                <a14:useLocalDpi xmlns:a14="http://schemas.microsoft.com/office/drawing/2010/main"/>
              </a:ext>
            </a:extLst>
          </a:blip>
          <a:srcRect/>
          <a:stretch>
            <a:fillRect/>
          </a:stretch>
        </p:blipFill>
        <p:spPr>
          <a:xfrm>
            <a:off x="356616" y="201168"/>
            <a:ext cx="749812" cy="749812"/>
          </a:xfrm>
          <a:prstGeom prst="rect">
            <a:avLst/>
          </a:prstGeom>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xmlns="" id="{F6BCF008-7E1B-044A-9218-F59522C9AA5B}"/>
                  </a:ext>
                </a:extLst>
              </p:cNvPr>
              <p:cNvGraphicFramePr>
                <a:graphicFrameLocks noGrp="1"/>
              </p:cNvGraphicFramePr>
              <p:nvPr>
                <p:extLst>
                  <p:ext uri="{D42A27DB-BD31-4B8C-83A1-F6EECF244321}">
                    <p14:modId xmlns:p14="http://schemas.microsoft.com/office/powerpoint/2010/main" val="1410007490"/>
                  </p:ext>
                </p:extLst>
              </p:nvPr>
            </p:nvGraphicFramePr>
            <p:xfrm>
              <a:off x="2766000" y="3316097"/>
              <a:ext cx="6660000" cy="2861040"/>
            </p:xfrm>
            <a:graphic>
              <a:graphicData uri="http://schemas.openxmlformats.org/drawingml/2006/table">
                <a:tbl>
                  <a:tblPr firstRow="1" firstCol="1" bandRow="1">
                    <a:tableStyleId>{A91F0D33-8C57-4600-99A7-42BC86742BE1}</a:tableStyleId>
                  </a:tblPr>
                  <a:tblGrid>
                    <a:gridCol w="2520000">
                      <a:extLst>
                        <a:ext uri="{9D8B030D-6E8A-4147-A177-3AD203B41FA5}">
                          <a16:colId xmlns:a16="http://schemas.microsoft.com/office/drawing/2014/main" xmlns="" val="1918344084"/>
                        </a:ext>
                      </a:extLst>
                    </a:gridCol>
                    <a:gridCol w="1800000">
                      <a:extLst>
                        <a:ext uri="{9D8B030D-6E8A-4147-A177-3AD203B41FA5}">
                          <a16:colId xmlns:a16="http://schemas.microsoft.com/office/drawing/2014/main" xmlns="" val="3863586299"/>
                        </a:ext>
                      </a:extLst>
                    </a:gridCol>
                    <a:gridCol w="2340000">
                      <a:extLst>
                        <a:ext uri="{9D8B030D-6E8A-4147-A177-3AD203B41FA5}">
                          <a16:colId xmlns:a16="http://schemas.microsoft.com/office/drawing/2014/main" xmlns="" val="2724594761"/>
                        </a:ext>
                      </a:extLst>
                    </a:gridCol>
                  </a:tblGrid>
                  <a:tr h="312565">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Mathematical Statement</a:t>
                          </a:r>
                          <a:endParaRPr lang="x-none" sz="2000" b="1" dirty="0">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My Guess</a:t>
                          </a:r>
                          <a:endParaRPr lang="x-none" sz="2000" b="1" dirty="0">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My Work or Explanation</a:t>
                          </a:r>
                          <a:endParaRPr lang="x-none" sz="2000" b="1" dirty="0">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 val="2481412913"/>
                      </a:ext>
                    </a:extLst>
                  </a:tr>
                  <a:tr h="7200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smtClean="0">
                                        <a:effectLst/>
                                        <a:latin typeface="Cambria Math"/>
                                      </a:rPr>
                                    </m:ctrlPr>
                                  </m:sSupPr>
                                  <m:e>
                                    <m:r>
                                      <a:rPr lang="en-US" sz="2000">
                                        <a:effectLst/>
                                        <a:latin typeface="Cambria Math"/>
                                      </a:rPr>
                                      <m:t>10</m:t>
                                    </m:r>
                                  </m:e>
                                  <m:sup>
                                    <m:r>
                                      <a:rPr lang="en-US" sz="2000" b="0" i="0" smtClean="0">
                                        <a:effectLst/>
                                        <a:latin typeface="Cambria Math"/>
                                      </a:rPr>
                                      <m:t>6</m:t>
                                    </m:r>
                                  </m:sup>
                                </m:sSup>
                                <m:r>
                                  <a:rPr lang="en-US" sz="2000">
                                    <a:effectLst/>
                                    <a:latin typeface="Cambria Math"/>
                                  </a:rPr>
                                  <m:t>+</m:t>
                                </m:r>
                                <m:sSup>
                                  <m:sSupPr>
                                    <m:ctrlPr>
                                      <a:rPr lang="x-none" sz="2000" i="1">
                                        <a:effectLst/>
                                        <a:latin typeface="Cambria Math"/>
                                      </a:rPr>
                                    </m:ctrlPr>
                                  </m:sSupPr>
                                  <m:e>
                                    <m:r>
                                      <a:rPr lang="en-US" sz="2000">
                                        <a:effectLst/>
                                        <a:latin typeface="Cambria Math"/>
                                      </a:rPr>
                                      <m:t>10</m:t>
                                    </m:r>
                                  </m:e>
                                  <m:sup>
                                    <m:r>
                                      <a:rPr lang="en-US" sz="2000" b="0" i="1" smtClean="0">
                                        <a:effectLst/>
                                        <a:latin typeface="Cambria Math"/>
                                      </a:rPr>
                                      <m:t>7</m:t>
                                    </m:r>
                                  </m:sup>
                                </m:sSup>
                              </m:oMath>
                            </m:oMathPara>
                          </a14:m>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570559477"/>
                      </a:ext>
                    </a:extLst>
                  </a:tr>
                  <a:tr h="7200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a:rPr>
                                    </m:ctrlPr>
                                  </m:sSupPr>
                                  <m:e>
                                    <m:r>
                                      <a:rPr lang="en-US" sz="2000">
                                        <a:effectLst/>
                                        <a:latin typeface="Cambria Math"/>
                                      </a:rPr>
                                      <m:t>10</m:t>
                                    </m:r>
                                  </m:e>
                                  <m:sup>
                                    <m:r>
                                      <a:rPr lang="en-US" sz="2000">
                                        <a:effectLst/>
                                        <a:latin typeface="Cambria Math"/>
                                      </a:rPr>
                                      <m:t>2</m:t>
                                    </m:r>
                                  </m:sup>
                                </m:sSup>
                                <m:r>
                                  <a:rPr lang="en-US" sz="2000">
                                    <a:effectLst/>
                                    <a:latin typeface="Cambria Math"/>
                                  </a:rPr>
                                  <m:t>×</m:t>
                                </m:r>
                                <m:sSup>
                                  <m:sSupPr>
                                    <m:ctrlPr>
                                      <a:rPr lang="x-none" sz="2000" i="1">
                                        <a:effectLst/>
                                        <a:latin typeface="Cambria Math"/>
                                      </a:rPr>
                                    </m:ctrlPr>
                                  </m:sSupPr>
                                  <m:e>
                                    <m:r>
                                      <a:rPr lang="en-US" sz="2000">
                                        <a:effectLst/>
                                        <a:latin typeface="Cambria Math"/>
                                      </a:rPr>
                                      <m:t>10</m:t>
                                    </m:r>
                                  </m:e>
                                  <m:sup>
                                    <m:r>
                                      <a:rPr lang="en-US" sz="2000">
                                        <a:effectLst/>
                                        <a:latin typeface="Cambria Math"/>
                                      </a:rPr>
                                      <m:t>6</m:t>
                                    </m:r>
                                  </m:sup>
                                </m:sSup>
                              </m:oMath>
                            </m:oMathPara>
                          </a14:m>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089244821"/>
                      </a:ext>
                    </a:extLst>
                  </a:tr>
                  <a:tr h="7200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a:rPr>
                                    </m:ctrlPr>
                                  </m:sSupPr>
                                  <m:e>
                                    <m:r>
                                      <a:rPr lang="en-US" sz="2000">
                                        <a:effectLst/>
                                        <a:latin typeface="Cambria Math"/>
                                      </a:rPr>
                                      <m:t>10</m:t>
                                    </m:r>
                                  </m:e>
                                  <m:sup>
                                    <m:r>
                                      <a:rPr lang="en-US" sz="2000">
                                        <a:effectLst/>
                                        <a:latin typeface="Cambria Math"/>
                                      </a:rPr>
                                      <m:t>5</m:t>
                                    </m:r>
                                  </m:sup>
                                </m:sSup>
                                <m:r>
                                  <a:rPr lang="en-US" sz="2000">
                                    <a:effectLst/>
                                    <a:latin typeface="Cambria Math"/>
                                  </a:rPr>
                                  <m:t>−</m:t>
                                </m:r>
                                <m:sSup>
                                  <m:sSupPr>
                                    <m:ctrlPr>
                                      <a:rPr lang="x-none" sz="2000" i="1">
                                        <a:effectLst/>
                                        <a:latin typeface="Cambria Math"/>
                                      </a:rPr>
                                    </m:ctrlPr>
                                  </m:sSupPr>
                                  <m:e>
                                    <m:r>
                                      <a:rPr lang="en-US" sz="2000">
                                        <a:effectLst/>
                                        <a:latin typeface="Cambria Math"/>
                                      </a:rPr>
                                      <m:t>10</m:t>
                                    </m:r>
                                  </m:e>
                                  <m:sup>
                                    <m:r>
                                      <a:rPr lang="en-US" sz="2000">
                                        <a:effectLst/>
                                        <a:latin typeface="Cambria Math"/>
                                      </a:rPr>
                                      <m:t>3</m:t>
                                    </m:r>
                                  </m:sup>
                                </m:sSup>
                              </m:oMath>
                            </m:oMathPara>
                          </a14:m>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165228067"/>
                      </a:ext>
                    </a:extLst>
                  </a:tr>
                </a:tbl>
              </a:graphicData>
            </a:graphic>
          </p:graphicFrame>
        </mc:Choice>
        <mc:Fallback xmlns="">
          <p:graphicFrame>
            <p:nvGraphicFramePr>
              <p:cNvPr id="3" name="Table 2">
                <a:extLst>
                  <a:ext uri="{FF2B5EF4-FFF2-40B4-BE49-F238E27FC236}">
                    <a16:creationId xmlns:a16="http://schemas.microsoft.com/office/drawing/2014/main" xmlns:a14="http://schemas.microsoft.com/office/drawing/2010/main" xmlns="" id="{F6BCF008-7E1B-044A-9218-F59522C9AA5B}"/>
                  </a:ext>
                </a:extLst>
              </p:cNvPr>
              <p:cNvGraphicFramePr>
                <a:graphicFrameLocks noGrp="1"/>
              </p:cNvGraphicFramePr>
              <p:nvPr>
                <p:extLst>
                  <p:ext uri="{D42A27DB-BD31-4B8C-83A1-F6EECF244321}">
                    <p14:modId xmlns:p14="http://schemas.microsoft.com/office/powerpoint/2010/main" val="1410007490"/>
                  </p:ext>
                </p:extLst>
              </p:nvPr>
            </p:nvGraphicFramePr>
            <p:xfrm>
              <a:off x="2766000" y="3316097"/>
              <a:ext cx="6660000" cy="2861040"/>
            </p:xfrm>
            <a:graphic>
              <a:graphicData uri="http://schemas.openxmlformats.org/drawingml/2006/table">
                <a:tbl>
                  <a:tblPr firstRow="1" firstCol="1" bandRow="1">
                    <a:tableStyleId>{A91F0D33-8C57-4600-99A7-42BC86742BE1}</a:tableStyleId>
                  </a:tblPr>
                  <a:tblGrid>
                    <a:gridCol w="2520000">
                      <a:extLst>
                        <a:ext uri="{9D8B030D-6E8A-4147-A177-3AD203B41FA5}">
                          <a16:colId xmlns:a16="http://schemas.microsoft.com/office/drawing/2014/main" xmlns:a14="http://schemas.microsoft.com/office/drawing/2010/main" xmlns="" val="1918344084"/>
                        </a:ext>
                      </a:extLst>
                    </a:gridCol>
                    <a:gridCol w="1800000">
                      <a:extLst>
                        <a:ext uri="{9D8B030D-6E8A-4147-A177-3AD203B41FA5}">
                          <a16:colId xmlns:a16="http://schemas.microsoft.com/office/drawing/2014/main" xmlns:a14="http://schemas.microsoft.com/office/drawing/2010/main" xmlns="" val="3863586299"/>
                        </a:ext>
                      </a:extLst>
                    </a:gridCol>
                    <a:gridCol w="2340000">
                      <a:extLst>
                        <a:ext uri="{9D8B030D-6E8A-4147-A177-3AD203B41FA5}">
                          <a16:colId xmlns:a16="http://schemas.microsoft.com/office/drawing/2014/main" xmlns:a14="http://schemas.microsoft.com/office/drawing/2010/main" xmlns="" val="2724594761"/>
                        </a:ext>
                      </a:extLst>
                    </a:gridCol>
                  </a:tblGrid>
                  <a:tr h="70104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Mathematical Statement</a:t>
                          </a:r>
                          <a:endParaRPr lang="x-none" sz="2000" b="1" dirty="0">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My Guess</a:t>
                          </a:r>
                          <a:endParaRPr lang="x-none" sz="2000" b="1" dirty="0">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My Work or Explanation</a:t>
                          </a:r>
                          <a:endParaRPr lang="x-none" sz="2000" b="1" dirty="0">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a14="http://schemas.microsoft.com/office/drawing/2010/main" xmlns="" val="2481412913"/>
                      </a:ext>
                    </a:extLst>
                  </a:tr>
                  <a:tr h="720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6"/>
                          <a:stretch>
                            <a:fillRect l="-242" t="-101695" r="-164649" b="-200847"/>
                          </a:stretch>
                        </a:blipFill>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570559477"/>
                      </a:ext>
                    </a:extLst>
                  </a:tr>
                  <a:tr h="720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6"/>
                          <a:stretch>
                            <a:fillRect l="-242" t="-201695" r="-164649" b="-100847"/>
                          </a:stretch>
                        </a:blipFill>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4089244821"/>
                      </a:ext>
                    </a:extLst>
                  </a:tr>
                  <a:tr h="720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6"/>
                          <a:stretch>
                            <a:fillRect l="-242" t="-301695" r="-164649" b="-847"/>
                          </a:stretch>
                        </a:blipFill>
                      </a:tcPr>
                    </a:tc>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3165228067"/>
                      </a:ext>
                    </a:extLst>
                  </a:tr>
                </a:tbl>
              </a:graphicData>
            </a:graphic>
          </p:graphicFrame>
        </mc:Fallback>
      </mc:AlternateContent>
    </p:spTree>
    <p:extLst>
      <p:ext uri="{BB962C8B-B14F-4D97-AF65-F5344CB8AC3E}">
        <p14:creationId xmlns:p14="http://schemas.microsoft.com/office/powerpoint/2010/main" val="35388732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a:extLst>
              <a:ext uri="{FF2B5EF4-FFF2-40B4-BE49-F238E27FC236}">
                <a16:creationId xmlns:a16="http://schemas.microsoft.com/office/drawing/2014/main" xmlns="" id="{E0814DF0-CB0F-CE4A-A504-DEE56AFFF9B6}"/>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83</a:t>
            </a:r>
            <a:endParaRPr i="1" dirty="0">
              <a:latin typeface="Calibri"/>
              <a:ea typeface="Calibri"/>
              <a:cs typeface="Calibri"/>
              <a:sym typeface="Calibri"/>
            </a:endParaRPr>
          </a:p>
        </p:txBody>
      </p:sp>
      <p:sp>
        <p:nvSpPr>
          <p:cNvPr id="6" name="TextBox 5">
            <a:extLst>
              <a:ext uri="{FF2B5EF4-FFF2-40B4-BE49-F238E27FC236}">
                <a16:creationId xmlns:a16="http://schemas.microsoft.com/office/drawing/2014/main" xmlns="" id="{4B71B7AA-10E7-9B44-A591-563821260A41}"/>
              </a:ext>
            </a:extLst>
          </p:cNvPr>
          <p:cNvSpPr txBox="1"/>
          <p:nvPr/>
        </p:nvSpPr>
        <p:spPr>
          <a:xfrm>
            <a:off x="530031" y="3786156"/>
            <a:ext cx="11164664" cy="707886"/>
          </a:xfrm>
          <a:prstGeom prst="rect">
            <a:avLst/>
          </a:prstGeom>
          <a:noFill/>
        </p:spPr>
        <p:txBody>
          <a:bodyPr wrap="square" rtlCol="0">
            <a:spAutoFit/>
          </a:bodyPr>
          <a:lstStyle/>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How confident are you in your guesses? Use the emoji scale to rate your confidence in your guesses.</a:t>
            </a:r>
          </a:p>
        </p:txBody>
      </p:sp>
      <p:grpSp>
        <p:nvGrpSpPr>
          <p:cNvPr id="2" name="Group 1"/>
          <p:cNvGrpSpPr/>
          <p:nvPr/>
        </p:nvGrpSpPr>
        <p:grpSpPr>
          <a:xfrm>
            <a:off x="2895598" y="4680464"/>
            <a:ext cx="6400802" cy="1619396"/>
            <a:chOff x="1371598" y="2466381"/>
            <a:chExt cx="6400802" cy="1619396"/>
          </a:xfrm>
        </p:grpSpPr>
        <p:pic>
          <p:nvPicPr>
            <p:cNvPr id="7" name="image4.png" descr="Chart&#10;&#10;Description automatically generated">
              <a:extLst>
                <a:ext uri="{FF2B5EF4-FFF2-40B4-BE49-F238E27FC236}">
                  <a16:creationId xmlns:a16="http://schemas.microsoft.com/office/drawing/2014/main" xmlns="" id="{DC3CCA5E-692C-3D46-977C-1DF3372A0F98}"/>
                </a:ext>
              </a:extLst>
            </p:cNvPr>
            <p:cNvPicPr/>
            <p:nvPr/>
          </p:nvPicPr>
          <p:blipFill>
            <a:blip r:embed="rId4" cstate="screen">
              <a:extLst>
                <a:ext uri="{28A0092B-C50C-407E-A947-70E740481C1C}">
                  <a14:useLocalDpi xmlns:a14="http://schemas.microsoft.com/office/drawing/2010/main"/>
                </a:ext>
              </a:extLst>
            </a:blip>
            <a:srcRect t="46060" b="42611"/>
            <a:stretch>
              <a:fillRect/>
            </a:stretch>
          </p:blipFill>
          <p:spPr>
            <a:xfrm>
              <a:off x="1371598" y="3611247"/>
              <a:ext cx="6400801" cy="474530"/>
            </a:xfrm>
            <a:prstGeom prst="rect">
              <a:avLst/>
            </a:prstGeom>
            <a:ln/>
          </p:spPr>
        </p:pic>
        <p:pic>
          <p:nvPicPr>
            <p:cNvPr id="3" name="Picture 2" descr="A group of yellow smiley faces&#10;&#10;Description automatically generated with low confidence">
              <a:extLst>
                <a:ext uri="{FF2B5EF4-FFF2-40B4-BE49-F238E27FC236}">
                  <a16:creationId xmlns:a16="http://schemas.microsoft.com/office/drawing/2014/main" xmlns="" id="{098996C6-9441-AD4E-9AB3-2F1C5F5DB021}"/>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371600" y="2466381"/>
              <a:ext cx="6400800" cy="958444"/>
            </a:xfrm>
            <a:prstGeom prst="rect">
              <a:avLst/>
            </a:prstGeom>
          </p:spPr>
        </p:pic>
      </p:grpSp>
      <mc:AlternateContent xmlns:mc="http://schemas.openxmlformats.org/markup-compatibility/2006" xmlns:a14="http://schemas.microsoft.com/office/drawing/2010/main">
        <mc:Choice Requires="a14">
          <p:graphicFrame>
            <p:nvGraphicFramePr>
              <p:cNvPr id="9" name="Table 8">
                <a:extLst>
                  <a:ext uri="{FF2B5EF4-FFF2-40B4-BE49-F238E27FC236}">
                    <a16:creationId xmlns:a16="http://schemas.microsoft.com/office/drawing/2014/main" xmlns="" id="{F6BCF008-7E1B-044A-9218-F59522C9AA5B}"/>
                  </a:ext>
                </a:extLst>
              </p:cNvPr>
              <p:cNvGraphicFramePr>
                <a:graphicFrameLocks noGrp="1"/>
              </p:cNvGraphicFramePr>
              <p:nvPr>
                <p:extLst>
                  <p:ext uri="{D42A27DB-BD31-4B8C-83A1-F6EECF244321}">
                    <p14:modId xmlns:p14="http://schemas.microsoft.com/office/powerpoint/2010/main" val="3152943821"/>
                  </p:ext>
                </p:extLst>
              </p:nvPr>
            </p:nvGraphicFramePr>
            <p:xfrm>
              <a:off x="2712497" y="486350"/>
              <a:ext cx="6660000" cy="2861040"/>
            </p:xfrm>
            <a:graphic>
              <a:graphicData uri="http://schemas.openxmlformats.org/drawingml/2006/table">
                <a:tbl>
                  <a:tblPr firstRow="1" firstCol="1" bandRow="1">
                    <a:tableStyleId>{A91F0D33-8C57-4600-99A7-42BC86742BE1}</a:tableStyleId>
                  </a:tblPr>
                  <a:tblGrid>
                    <a:gridCol w="2520000">
                      <a:extLst>
                        <a:ext uri="{9D8B030D-6E8A-4147-A177-3AD203B41FA5}">
                          <a16:colId xmlns:a16="http://schemas.microsoft.com/office/drawing/2014/main" xmlns="" val="1918344084"/>
                        </a:ext>
                      </a:extLst>
                    </a:gridCol>
                    <a:gridCol w="1800000">
                      <a:extLst>
                        <a:ext uri="{9D8B030D-6E8A-4147-A177-3AD203B41FA5}">
                          <a16:colId xmlns:a16="http://schemas.microsoft.com/office/drawing/2014/main" xmlns="" val="3863586299"/>
                        </a:ext>
                      </a:extLst>
                    </a:gridCol>
                    <a:gridCol w="2340000">
                      <a:extLst>
                        <a:ext uri="{9D8B030D-6E8A-4147-A177-3AD203B41FA5}">
                          <a16:colId xmlns:a16="http://schemas.microsoft.com/office/drawing/2014/main" xmlns="" val="2724594761"/>
                        </a:ext>
                      </a:extLst>
                    </a:gridCol>
                  </a:tblGrid>
                  <a:tr h="312565">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Mathematical Statement</a:t>
                          </a:r>
                          <a:endParaRPr lang="x-none" sz="2000" b="1" dirty="0">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My Guess</a:t>
                          </a:r>
                          <a:endParaRPr lang="x-none" sz="2000" b="1" dirty="0">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My Work or Explanation</a:t>
                          </a:r>
                          <a:endParaRPr lang="x-none" sz="2000" b="1" dirty="0">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 val="2481412913"/>
                      </a:ext>
                    </a:extLst>
                  </a:tr>
                  <a:tr h="7200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f>
                                  <m:fPr>
                                    <m:ctrlPr>
                                      <a:rPr lang="x-none" sz="2000" i="1">
                                        <a:effectLst/>
                                        <a:latin typeface="Cambria Math"/>
                                      </a:rPr>
                                    </m:ctrlPr>
                                  </m:fPr>
                                  <m:num>
                                    <m:sSup>
                                      <m:sSupPr>
                                        <m:ctrlPr>
                                          <a:rPr lang="x-none" sz="2000" i="1">
                                            <a:effectLst/>
                                            <a:latin typeface="Cambria Math"/>
                                          </a:rPr>
                                        </m:ctrlPr>
                                      </m:sSupPr>
                                      <m:e>
                                        <m:r>
                                          <a:rPr lang="en-US" sz="2000">
                                            <a:effectLst/>
                                            <a:latin typeface="Cambria Math"/>
                                          </a:rPr>
                                          <m:t>10</m:t>
                                        </m:r>
                                      </m:e>
                                      <m:sup>
                                        <m:r>
                                          <a:rPr lang="en-US" sz="2000">
                                            <a:effectLst/>
                                            <a:latin typeface="Cambria Math"/>
                                          </a:rPr>
                                          <m:t>6</m:t>
                                        </m:r>
                                      </m:sup>
                                    </m:sSup>
                                  </m:num>
                                  <m:den>
                                    <m:sSup>
                                      <m:sSupPr>
                                        <m:ctrlPr>
                                          <a:rPr lang="x-none" sz="2000" i="1">
                                            <a:effectLst/>
                                            <a:latin typeface="Cambria Math"/>
                                          </a:rPr>
                                        </m:ctrlPr>
                                      </m:sSupPr>
                                      <m:e>
                                        <m:r>
                                          <a:rPr lang="en-US" sz="2000">
                                            <a:effectLst/>
                                            <a:latin typeface="Cambria Math"/>
                                          </a:rPr>
                                          <m:t>10</m:t>
                                        </m:r>
                                      </m:e>
                                      <m:sup>
                                        <m:r>
                                          <a:rPr lang="en-US" sz="2000">
                                            <a:effectLst/>
                                            <a:latin typeface="Cambria Math"/>
                                          </a:rPr>
                                          <m:t>4</m:t>
                                        </m:r>
                                      </m:sup>
                                    </m:sSup>
                                  </m:den>
                                </m:f>
                              </m:oMath>
                            </m:oMathPara>
                          </a14:m>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767503912"/>
                      </a:ext>
                    </a:extLst>
                  </a:tr>
                  <a:tr h="7200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smtClean="0">
                                        <a:effectLst/>
                                        <a:latin typeface="Cambria Math"/>
                                      </a:rPr>
                                    </m:ctrlPr>
                                  </m:sSupPr>
                                  <m:e>
                                    <m:d>
                                      <m:dPr>
                                        <m:ctrlPr>
                                          <a:rPr lang="x-none" sz="2000" i="1">
                                            <a:effectLst/>
                                            <a:latin typeface="Cambria Math"/>
                                          </a:rPr>
                                        </m:ctrlPr>
                                      </m:dPr>
                                      <m:e>
                                        <m:sSup>
                                          <m:sSupPr>
                                            <m:ctrlPr>
                                              <a:rPr lang="x-none" sz="2000" i="1">
                                                <a:effectLst/>
                                                <a:latin typeface="Cambria Math"/>
                                              </a:rPr>
                                            </m:ctrlPr>
                                          </m:sSupPr>
                                          <m:e>
                                            <m:r>
                                              <a:rPr lang="en-US" sz="2000">
                                                <a:effectLst/>
                                                <a:latin typeface="Cambria Math"/>
                                              </a:rPr>
                                              <m:t>10</m:t>
                                            </m:r>
                                          </m:e>
                                          <m:sup>
                                            <m:r>
                                              <a:rPr lang="en-US" sz="2000" b="0" i="0" smtClean="0">
                                                <a:effectLst/>
                                                <a:latin typeface="Cambria Math"/>
                                              </a:rPr>
                                              <m:t>4</m:t>
                                            </m:r>
                                          </m:sup>
                                        </m:sSup>
                                      </m:e>
                                    </m:d>
                                  </m:e>
                                  <m:sup>
                                    <m:r>
                                      <a:rPr lang="en-US" sz="2000">
                                        <a:effectLst/>
                                        <a:latin typeface="Cambria Math"/>
                                      </a:rPr>
                                      <m:t>2</m:t>
                                    </m:r>
                                  </m:sup>
                                </m:sSup>
                              </m:oMath>
                            </m:oMathPara>
                          </a14:m>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013226030"/>
                      </a:ext>
                    </a:extLst>
                  </a:tr>
                  <a:tr h="7200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f>
                                  <m:fPr>
                                    <m:ctrlPr>
                                      <a:rPr lang="x-none" sz="2000" i="1">
                                        <a:effectLst/>
                                        <a:latin typeface="Cambria Math"/>
                                      </a:rPr>
                                    </m:ctrlPr>
                                  </m:fPr>
                                  <m:num>
                                    <m:r>
                                      <a:rPr lang="en-US" sz="2000">
                                        <a:effectLst/>
                                        <a:latin typeface="Cambria Math"/>
                                      </a:rPr>
                                      <m:t>1</m:t>
                                    </m:r>
                                  </m:num>
                                  <m:den>
                                    <m:sSup>
                                      <m:sSupPr>
                                        <m:ctrlPr>
                                          <a:rPr lang="x-none" sz="2000" i="1">
                                            <a:effectLst/>
                                            <a:latin typeface="Cambria Math"/>
                                          </a:rPr>
                                        </m:ctrlPr>
                                      </m:sSupPr>
                                      <m:e>
                                        <m:r>
                                          <a:rPr lang="en-US" sz="2000">
                                            <a:effectLst/>
                                            <a:latin typeface="Cambria Math"/>
                                          </a:rPr>
                                          <m:t>10</m:t>
                                        </m:r>
                                      </m:e>
                                      <m:sup>
                                        <m:r>
                                          <a:rPr lang="en-US" sz="2000">
                                            <a:effectLst/>
                                            <a:latin typeface="Cambria Math"/>
                                          </a:rPr>
                                          <m:t>2</m:t>
                                        </m:r>
                                      </m:sup>
                                    </m:sSup>
                                  </m:den>
                                </m:f>
                              </m:oMath>
                            </m:oMathPara>
                          </a14:m>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dirty="0">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085395551"/>
                      </a:ext>
                    </a:extLst>
                  </a:tr>
                </a:tbl>
              </a:graphicData>
            </a:graphic>
          </p:graphicFrame>
        </mc:Choice>
        <mc:Fallback xmlns="">
          <p:graphicFrame>
            <p:nvGraphicFramePr>
              <p:cNvPr id="9" name="Table 8">
                <a:extLst>
                  <a:ext uri="{FF2B5EF4-FFF2-40B4-BE49-F238E27FC236}">
                    <a16:creationId xmlns:a16="http://schemas.microsoft.com/office/drawing/2014/main" xmlns:a14="http://schemas.microsoft.com/office/drawing/2010/main" xmlns="" id="{F6BCF008-7E1B-044A-9218-F59522C9AA5B}"/>
                  </a:ext>
                </a:extLst>
              </p:cNvPr>
              <p:cNvGraphicFramePr>
                <a:graphicFrameLocks noGrp="1"/>
              </p:cNvGraphicFramePr>
              <p:nvPr>
                <p:extLst>
                  <p:ext uri="{D42A27DB-BD31-4B8C-83A1-F6EECF244321}">
                    <p14:modId xmlns:p14="http://schemas.microsoft.com/office/powerpoint/2010/main" val="3152943821"/>
                  </p:ext>
                </p:extLst>
              </p:nvPr>
            </p:nvGraphicFramePr>
            <p:xfrm>
              <a:off x="2712497" y="486350"/>
              <a:ext cx="6660000" cy="2861040"/>
            </p:xfrm>
            <a:graphic>
              <a:graphicData uri="http://schemas.openxmlformats.org/drawingml/2006/table">
                <a:tbl>
                  <a:tblPr firstRow="1" firstCol="1" bandRow="1">
                    <a:tableStyleId>{A91F0D33-8C57-4600-99A7-42BC86742BE1}</a:tableStyleId>
                  </a:tblPr>
                  <a:tblGrid>
                    <a:gridCol w="2520000">
                      <a:extLst>
                        <a:ext uri="{9D8B030D-6E8A-4147-A177-3AD203B41FA5}">
                          <a16:colId xmlns:a16="http://schemas.microsoft.com/office/drawing/2014/main" xmlns:a14="http://schemas.microsoft.com/office/drawing/2010/main" xmlns="" val="1918344084"/>
                        </a:ext>
                      </a:extLst>
                    </a:gridCol>
                    <a:gridCol w="1800000">
                      <a:extLst>
                        <a:ext uri="{9D8B030D-6E8A-4147-A177-3AD203B41FA5}">
                          <a16:colId xmlns:a16="http://schemas.microsoft.com/office/drawing/2014/main" xmlns:a14="http://schemas.microsoft.com/office/drawing/2010/main" xmlns="" val="3863586299"/>
                        </a:ext>
                      </a:extLst>
                    </a:gridCol>
                    <a:gridCol w="2340000">
                      <a:extLst>
                        <a:ext uri="{9D8B030D-6E8A-4147-A177-3AD203B41FA5}">
                          <a16:colId xmlns:a16="http://schemas.microsoft.com/office/drawing/2014/main" xmlns:a14="http://schemas.microsoft.com/office/drawing/2010/main" xmlns="" val="2724594761"/>
                        </a:ext>
                      </a:extLst>
                    </a:gridCol>
                  </a:tblGrid>
                  <a:tr h="70104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Mathematical Statement</a:t>
                          </a:r>
                          <a:endParaRPr lang="x-none" sz="2000" b="1" dirty="0">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My Guess</a:t>
                          </a:r>
                          <a:endParaRPr lang="x-none" sz="2000" b="1" dirty="0">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My Work or Explanation</a:t>
                          </a:r>
                          <a:endParaRPr lang="x-none" sz="2000" b="1" dirty="0">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a14="http://schemas.microsoft.com/office/drawing/2010/main" xmlns="" val="2481412913"/>
                      </a:ext>
                    </a:extLst>
                  </a:tr>
                  <a:tr h="720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6"/>
                          <a:stretch>
                            <a:fillRect l="-242" t="-101695" r="-164649" b="-200847"/>
                          </a:stretch>
                        </a:blipFill>
                      </a:tcPr>
                    </a:tc>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3767503912"/>
                      </a:ext>
                    </a:extLst>
                  </a:tr>
                  <a:tr h="720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6"/>
                          <a:stretch>
                            <a:fillRect l="-242" t="-201695" r="-164649" b="-100847"/>
                          </a:stretch>
                        </a:blipFill>
                      </a:tcPr>
                    </a:tc>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2013226030"/>
                      </a:ext>
                    </a:extLst>
                  </a:tr>
                  <a:tr h="720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6"/>
                          <a:stretch>
                            <a:fillRect l="-242" t="-301695" r="-164649" b="-847"/>
                          </a:stretch>
                        </a:blipFill>
                      </a:tcPr>
                    </a:tc>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dirty="0">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3085395551"/>
                      </a:ext>
                    </a:extLst>
                  </a:tr>
                </a:tbl>
              </a:graphicData>
            </a:graphic>
          </p:graphicFrame>
        </mc:Fallback>
      </mc:AlternateContent>
    </p:spTree>
    <p:extLst>
      <p:ext uri="{BB962C8B-B14F-4D97-AF65-F5344CB8AC3E}">
        <p14:creationId xmlns:p14="http://schemas.microsoft.com/office/powerpoint/2010/main" val="38353313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282;g104476d1465_1_17">
            <a:extLst>
              <a:ext uri="{FF2B5EF4-FFF2-40B4-BE49-F238E27FC236}">
                <a16:creationId xmlns:a16="http://schemas.microsoft.com/office/drawing/2014/main" xmlns="" id="{B595484E-1C62-AC4F-B448-37E60F77A8C0}"/>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83</a:t>
            </a:r>
            <a:endParaRPr i="1" dirty="0">
              <a:latin typeface="Calibri"/>
              <a:ea typeface="Calibri"/>
              <a:cs typeface="Calibri"/>
              <a:sym typeface="Calibri"/>
            </a:endParaRPr>
          </a:p>
        </p:txBody>
      </p:sp>
      <p:sp>
        <p:nvSpPr>
          <p:cNvPr id="8" name="Google Shape;313;g104476d1465_1_39">
            <a:extLst>
              <a:ext uri="{FF2B5EF4-FFF2-40B4-BE49-F238E27FC236}">
                <a16:creationId xmlns:a16="http://schemas.microsoft.com/office/drawing/2014/main" xmlns="" id="{704F9E4B-A4BA-594F-8B53-1BC9CEA0806F}"/>
              </a:ext>
            </a:extLst>
          </p:cNvPr>
          <p:cNvSpPr txBox="1">
            <a:spLocks/>
          </p:cNvSpPr>
          <p:nvPr/>
        </p:nvSpPr>
        <p:spPr>
          <a:xfrm>
            <a:off x="4126396" y="2766150"/>
            <a:ext cx="5002742" cy="13257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chemeClr val="lt1"/>
              </a:buClr>
              <a:buSzPts val="4800"/>
              <a:buFont typeface="Cutive"/>
              <a:buNone/>
            </a:pPr>
            <a:r>
              <a:rPr lang="en-US" sz="5400" b="1" dirty="0">
                <a:solidFill>
                  <a:srgbClr val="33BEA6"/>
                </a:solidFill>
                <a:latin typeface="Verdana"/>
                <a:ea typeface="Verdana"/>
                <a:cs typeface="Verdana"/>
                <a:sym typeface="Verdana"/>
              </a:rPr>
              <a:t>Exploration</a:t>
            </a:r>
            <a:endParaRPr lang="en-US" sz="4800" b="1" dirty="0">
              <a:solidFill>
                <a:srgbClr val="33BEA6"/>
              </a:solidFill>
              <a:latin typeface="Verdana"/>
              <a:ea typeface="Verdana"/>
              <a:cs typeface="Verdana"/>
              <a:sym typeface="Verdana"/>
            </a:endParaRPr>
          </a:p>
        </p:txBody>
      </p:sp>
      <p:pic>
        <p:nvPicPr>
          <p:cNvPr id="10" name="image10.png" descr="Icon&#10;&#10;Description automatically generated">
            <a:extLst>
              <a:ext uri="{FF2B5EF4-FFF2-40B4-BE49-F238E27FC236}">
                <a16:creationId xmlns:a16="http://schemas.microsoft.com/office/drawing/2014/main" xmlns="" id="{159B80BF-E52D-C140-A2C3-1D6C6068B8BD}"/>
              </a:ext>
            </a:extLst>
          </p:cNvPr>
          <p:cNvPicPr/>
          <p:nvPr/>
        </p:nvPicPr>
        <p:blipFill>
          <a:blip r:embed="rId4"/>
          <a:srcRect/>
          <a:stretch>
            <a:fillRect/>
          </a:stretch>
        </p:blipFill>
        <p:spPr>
          <a:xfrm>
            <a:off x="3054096" y="2852928"/>
            <a:ext cx="1152145" cy="1152145"/>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959467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106427" y="-86777"/>
            <a:ext cx="10952157"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3200" b="1" dirty="0">
                <a:solidFill>
                  <a:srgbClr val="33BEA6"/>
                </a:solidFill>
                <a:latin typeface="Verdana"/>
                <a:ea typeface="Verdana"/>
                <a:cs typeface="Verdana"/>
                <a:sym typeface="Verdana"/>
              </a:rPr>
              <a:t>3.1.4 Exploration: Using a Calculator to Check</a:t>
            </a:r>
          </a:p>
        </p:txBody>
      </p:sp>
      <p:sp>
        <p:nvSpPr>
          <p:cNvPr id="15" name="Google Shape;282;g104476d1465_1_17">
            <a:extLst>
              <a:ext uri="{FF2B5EF4-FFF2-40B4-BE49-F238E27FC236}">
                <a16:creationId xmlns:a16="http://schemas.microsoft.com/office/drawing/2014/main" xmlns="" id="{5B627696-920F-B441-B5C1-01510F09761A}"/>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83</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xmlns="" id="{B46B19A2-BBA2-0441-AC88-F1F62E75949B}"/>
                  </a:ext>
                </a:extLst>
              </p:cNvPr>
              <p:cNvSpPr txBox="1"/>
              <p:nvPr/>
            </p:nvSpPr>
            <p:spPr>
              <a:xfrm>
                <a:off x="545254" y="1238923"/>
                <a:ext cx="11078677" cy="1323439"/>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Use a calculator to complete the following.</a:t>
                </a:r>
              </a:p>
              <a:p>
                <a:endParaRPr lang="en-US" sz="2000" dirty="0">
                  <a:latin typeface="Verdana" panose="020B0604030504040204" pitchFamily="34" charset="0"/>
                  <a:ea typeface="Verdana" panose="020B0604030504040204" pitchFamily="34" charset="0"/>
                  <a:cs typeface="Verdana" panose="020B0604030504040204" pitchFamily="34" charset="0"/>
                </a:endParaRPr>
              </a:p>
              <a:p>
                <a:pPr marL="896938"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Find the value of each mathematical statement. Then, if possible, rewrite the value as a power of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10</m:t>
                    </m:r>
                  </m:oMath>
                </a14:m>
                <a:r>
                  <a:rPr lang="en-US" sz="2000" dirty="0">
                    <a:latin typeface="Verdana" panose="020B0604030504040204" pitchFamily="34" charset="0"/>
                    <a:ea typeface="Verdana" panose="020B0604030504040204" pitchFamily="34" charset="0"/>
                    <a:cs typeface="Verdana" panose="020B0604030504040204" pitchFamily="34" charset="0"/>
                  </a:rPr>
                  <a:t>.</a:t>
                </a:r>
              </a:p>
            </p:txBody>
          </p:sp>
        </mc:Choice>
        <mc:Fallback xmlns="">
          <p:sp>
            <p:nvSpPr>
              <p:cNvPr id="11" name="TextBox 10">
                <a:extLst>
                  <a:ext uri="{FF2B5EF4-FFF2-40B4-BE49-F238E27FC236}">
                    <a16:creationId xmlns:a16="http://schemas.microsoft.com/office/drawing/2014/main" xmlns:a14="http://schemas.microsoft.com/office/drawing/2010/main" xmlns="" id="{B46B19A2-BBA2-0441-AC88-F1F62E75949B}"/>
                  </a:ext>
                </a:extLst>
              </p:cNvPr>
              <p:cNvSpPr txBox="1">
                <a:spLocks noRot="1" noChangeAspect="1" noMove="1" noResize="1" noEditPoints="1" noAdjustHandles="1" noChangeArrowheads="1" noChangeShapeType="1" noTextEdit="1"/>
              </p:cNvSpPr>
              <p:nvPr/>
            </p:nvSpPr>
            <p:spPr>
              <a:xfrm>
                <a:off x="545254" y="1238923"/>
                <a:ext cx="11078677" cy="1323439"/>
              </a:xfrm>
              <a:prstGeom prst="rect">
                <a:avLst/>
              </a:prstGeom>
              <a:blipFill rotWithShape="1">
                <a:blip r:embed="rId4"/>
                <a:stretch>
                  <a:fillRect l="-550" t="-2765" r="-220" b="-7373"/>
                </a:stretch>
              </a:blipFill>
            </p:spPr>
            <p:txBody>
              <a:bodyPr/>
              <a:lstStyle/>
              <a:p>
                <a:r>
                  <a:rPr lang="en-PH">
                    <a:noFill/>
                  </a:rPr>
                  <a:t> </a:t>
                </a:r>
              </a:p>
            </p:txBody>
          </p:sp>
        </mc:Fallback>
      </mc:AlternateContent>
      <p:pic>
        <p:nvPicPr>
          <p:cNvPr id="9" name="image10.png" descr="Icon&#10;&#10;Description automatically generated">
            <a:extLst>
              <a:ext uri="{FF2B5EF4-FFF2-40B4-BE49-F238E27FC236}">
                <a16:creationId xmlns:a16="http://schemas.microsoft.com/office/drawing/2014/main" xmlns="" id="{C2C895B7-1A64-DF43-AC1E-116411E68B17}"/>
              </a:ext>
            </a:extLst>
          </p:cNvPr>
          <p:cNvPicPr/>
          <p:nvPr/>
        </p:nvPicPr>
        <p:blipFill>
          <a:blip r:embed="rId5" cstate="screen">
            <a:extLst>
              <a:ext uri="{28A0092B-C50C-407E-A947-70E740481C1C}">
                <a14:useLocalDpi xmlns:a14="http://schemas.microsoft.com/office/drawing/2010/main"/>
              </a:ext>
            </a:extLst>
          </a:blip>
          <a:srcRect/>
          <a:stretch>
            <a:fillRect/>
          </a:stretch>
        </p:blipFill>
        <p:spPr>
          <a:xfrm>
            <a:off x="356616" y="201168"/>
            <a:ext cx="749811" cy="749811"/>
          </a:xfrm>
          <a:prstGeom prst="rect">
            <a:avLst/>
          </a:prstGeom>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xmlns="" id="{A3A01E54-4205-0348-B8D8-38DF44F762C4}"/>
                  </a:ext>
                </a:extLst>
              </p:cNvPr>
              <p:cNvGraphicFramePr>
                <a:graphicFrameLocks noGrp="1"/>
              </p:cNvGraphicFramePr>
              <p:nvPr>
                <p:extLst>
                  <p:ext uri="{D42A27DB-BD31-4B8C-83A1-F6EECF244321}">
                    <p14:modId xmlns:p14="http://schemas.microsoft.com/office/powerpoint/2010/main" val="1273705494"/>
                  </p:ext>
                </p:extLst>
              </p:nvPr>
            </p:nvGraphicFramePr>
            <p:xfrm>
              <a:off x="2636406" y="2846340"/>
              <a:ext cx="7200000" cy="3165840"/>
            </p:xfrm>
            <a:graphic>
              <a:graphicData uri="http://schemas.openxmlformats.org/drawingml/2006/table">
                <a:tbl>
                  <a:tblPr firstRow="1" firstCol="1" bandRow="1"/>
                  <a:tblGrid>
                    <a:gridCol w="2340000">
                      <a:extLst>
                        <a:ext uri="{9D8B030D-6E8A-4147-A177-3AD203B41FA5}">
                          <a16:colId xmlns:a16="http://schemas.microsoft.com/office/drawing/2014/main" xmlns="" val="934880005"/>
                        </a:ext>
                      </a:extLst>
                    </a:gridCol>
                    <a:gridCol w="2340000">
                      <a:extLst>
                        <a:ext uri="{9D8B030D-6E8A-4147-A177-3AD203B41FA5}">
                          <a16:colId xmlns:a16="http://schemas.microsoft.com/office/drawing/2014/main" xmlns="" val="3624644448"/>
                        </a:ext>
                      </a:extLst>
                    </a:gridCol>
                    <a:gridCol w="2520000">
                      <a:extLst>
                        <a:ext uri="{9D8B030D-6E8A-4147-A177-3AD203B41FA5}">
                          <a16:colId xmlns:a16="http://schemas.microsoft.com/office/drawing/2014/main" xmlns="" val="709585078"/>
                        </a:ext>
                      </a:extLst>
                    </a:gridCol>
                  </a:tblGrid>
                  <a:tr h="787154">
                    <a:tc>
                      <a:txBody>
                        <a:bodyPr/>
                        <a:lstStyle/>
                        <a:p>
                          <a:pPr marL="0" marR="0" algn="ctr">
                            <a:spcBef>
                              <a:spcPts val="0"/>
                            </a:spcBef>
                            <a:spcAft>
                              <a:spcPts val="0"/>
                            </a:spcAft>
                          </a:pPr>
                          <a:r>
                            <a:rPr lang="en-US" sz="2000" b="1" dirty="0">
                              <a:effectLst/>
                              <a:latin typeface="Verdana" panose="020B0604030504040204" pitchFamily="34" charset="0"/>
                              <a:ea typeface="Times New Roman" panose="02020603050405020304" pitchFamily="18" charset="0"/>
                              <a:cs typeface="Times New Roman" panose="02020603050405020304" pitchFamily="18" charset="0"/>
                            </a:rPr>
                            <a:t>Mathematical Statement</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Value Found Using the Calculator</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Value Written as a Power of </a:t>
                          </a:r>
                          <a14:m>
                            <m:oMath xmlns:m="http://schemas.openxmlformats.org/officeDocument/2006/math">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𝟏𝟎</m:t>
                              </m:r>
                            </m:oMath>
                          </a14:m>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 val="2193049742"/>
                      </a:ext>
                    </a:extLst>
                  </a:tr>
                  <a:tr h="7200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smtClean="0">
                                        <a:effectLst/>
                                        <a:latin typeface="Cambria Math"/>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10</m:t>
                                    </m:r>
                                  </m:e>
                                  <m:sup>
                                    <m:r>
                                      <a:rPr lang="en-US" sz="2000" b="0" i="1" smtClean="0">
                                        <a:effectLst/>
                                        <a:latin typeface="Cambria Math"/>
                                        <a:ea typeface="Times New Roman" panose="02020603050405020304" pitchFamily="18" charset="0"/>
                                        <a:cs typeface="Times New Roman" panose="02020603050405020304" pitchFamily="18" charset="0"/>
                                      </a:rPr>
                                      <m:t>6</m:t>
                                    </m:r>
                                  </m:sup>
                                </m:s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x-none" sz="2000" i="1">
                                        <a:effectLst/>
                                        <a:latin typeface="Cambria Math"/>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10</m:t>
                                    </m:r>
                                  </m:e>
                                  <m:sup>
                                    <m:r>
                                      <a:rPr lang="en-US" sz="2000" b="0" i="1" smtClean="0">
                                        <a:effectLst/>
                                        <a:latin typeface="Cambria Math"/>
                                        <a:ea typeface="Times New Roman" panose="02020603050405020304" pitchFamily="18" charset="0"/>
                                        <a:cs typeface="Times New Roman" panose="02020603050405020304" pitchFamily="18" charset="0"/>
                                      </a:rPr>
                                      <m:t>7</m:t>
                                    </m:r>
                                  </m:sup>
                                </m:sSup>
                              </m:oMath>
                            </m:oMathPara>
                          </a14:m>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555410965"/>
                      </a:ext>
                    </a:extLst>
                  </a:tr>
                  <a:tr h="7200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10</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sup>
                                </m:s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x-none" sz="2000" i="1">
                                        <a:effectLst/>
                                        <a:latin typeface="Cambria Math"/>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10</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6</m:t>
                                    </m:r>
                                  </m:sup>
                                </m:sSup>
                              </m:oMath>
                            </m:oMathPara>
                          </a14:m>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950164547"/>
                      </a:ext>
                    </a:extLst>
                  </a:tr>
                  <a:tr h="7200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10</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5</m:t>
                                    </m:r>
                                  </m:sup>
                                </m:s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x-none" sz="2000" i="1">
                                        <a:effectLst/>
                                        <a:latin typeface="Cambria Math"/>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10</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3</m:t>
                                    </m:r>
                                  </m:sup>
                                </m:sSup>
                              </m:oMath>
                            </m:oMathPara>
                          </a14:m>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298359797"/>
                      </a:ext>
                    </a:extLst>
                  </a:tr>
                </a:tbl>
              </a:graphicData>
            </a:graphic>
          </p:graphicFrame>
        </mc:Choice>
        <mc:Fallback xmlns="">
          <p:graphicFrame>
            <p:nvGraphicFramePr>
              <p:cNvPr id="4" name="Table 3">
                <a:extLst>
                  <a:ext uri="{FF2B5EF4-FFF2-40B4-BE49-F238E27FC236}">
                    <a16:creationId xmlns:a16="http://schemas.microsoft.com/office/drawing/2014/main" xmlns:a14="http://schemas.microsoft.com/office/drawing/2010/main" xmlns="" id="{A3A01E54-4205-0348-B8D8-38DF44F762C4}"/>
                  </a:ext>
                </a:extLst>
              </p:cNvPr>
              <p:cNvGraphicFramePr>
                <a:graphicFrameLocks noGrp="1"/>
              </p:cNvGraphicFramePr>
              <p:nvPr>
                <p:extLst>
                  <p:ext uri="{D42A27DB-BD31-4B8C-83A1-F6EECF244321}">
                    <p14:modId xmlns:p14="http://schemas.microsoft.com/office/powerpoint/2010/main" val="1273705494"/>
                  </p:ext>
                </p:extLst>
              </p:nvPr>
            </p:nvGraphicFramePr>
            <p:xfrm>
              <a:off x="2636406" y="2846340"/>
              <a:ext cx="7200000" cy="3165840"/>
            </p:xfrm>
            <a:graphic>
              <a:graphicData uri="http://schemas.openxmlformats.org/drawingml/2006/table">
                <a:tbl>
                  <a:tblPr firstRow="1" firstCol="1" bandRow="1"/>
                  <a:tblGrid>
                    <a:gridCol w="2340000">
                      <a:extLst>
                        <a:ext uri="{9D8B030D-6E8A-4147-A177-3AD203B41FA5}">
                          <a16:colId xmlns:a16="http://schemas.microsoft.com/office/drawing/2014/main" xmlns:a14="http://schemas.microsoft.com/office/drawing/2010/main" xmlns="" val="934880005"/>
                        </a:ext>
                      </a:extLst>
                    </a:gridCol>
                    <a:gridCol w="2340000">
                      <a:extLst>
                        <a:ext uri="{9D8B030D-6E8A-4147-A177-3AD203B41FA5}">
                          <a16:colId xmlns:a16="http://schemas.microsoft.com/office/drawing/2014/main" xmlns:a14="http://schemas.microsoft.com/office/drawing/2010/main" xmlns="" val="3624644448"/>
                        </a:ext>
                      </a:extLst>
                    </a:gridCol>
                    <a:gridCol w="2520000">
                      <a:extLst>
                        <a:ext uri="{9D8B030D-6E8A-4147-A177-3AD203B41FA5}">
                          <a16:colId xmlns:a16="http://schemas.microsoft.com/office/drawing/2014/main" xmlns:a14="http://schemas.microsoft.com/office/drawing/2010/main" xmlns="" val="709585078"/>
                        </a:ext>
                      </a:extLst>
                    </a:gridCol>
                  </a:tblGrid>
                  <a:tr h="1005840">
                    <a:tc>
                      <a:txBody>
                        <a:bodyPr/>
                        <a:lstStyle/>
                        <a:p>
                          <a:pPr marL="0" marR="0" algn="ctr">
                            <a:spcBef>
                              <a:spcPts val="0"/>
                            </a:spcBef>
                            <a:spcAft>
                              <a:spcPts val="0"/>
                            </a:spcAft>
                          </a:pPr>
                          <a:r>
                            <a:rPr lang="en-US" sz="2000" b="1" dirty="0">
                              <a:effectLst/>
                              <a:latin typeface="Verdana" panose="020B0604030504040204" pitchFamily="34" charset="0"/>
                              <a:ea typeface="Times New Roman" panose="02020603050405020304" pitchFamily="18" charset="0"/>
                              <a:cs typeface="Times New Roman" panose="02020603050405020304" pitchFamily="18" charset="0"/>
                            </a:rPr>
                            <a:t>Mathematical Statement</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Value Found Using the Calculator</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6"/>
                          <a:stretch>
                            <a:fillRect l="-185507" t="-3030" b="-215152"/>
                          </a:stretch>
                        </a:blipFill>
                      </a:tcPr>
                    </a:tc>
                    <a:extLst>
                      <a:ext uri="{0D108BD9-81ED-4DB2-BD59-A6C34878D82A}">
                        <a16:rowId xmlns:a16="http://schemas.microsoft.com/office/drawing/2014/main" xmlns:a14="http://schemas.microsoft.com/office/drawing/2010/main" xmlns="" val="2193049742"/>
                      </a:ext>
                    </a:extLst>
                  </a:tr>
                  <a:tr h="720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6"/>
                          <a:stretch>
                            <a:fillRect t="-144068" r="-207813" b="-200847"/>
                          </a:stretch>
                        </a:blipFill>
                      </a:tcPr>
                    </a:tc>
                    <a:tc>
                      <a:txBody>
                        <a:bodyPr/>
                        <a:lstStyle/>
                        <a:p>
                          <a:pPr marL="0" marR="0" algn="ctr">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3555410965"/>
                      </a:ext>
                    </a:extLst>
                  </a:tr>
                  <a:tr h="720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6"/>
                          <a:stretch>
                            <a:fillRect t="-244068" r="-207813" b="-100847"/>
                          </a:stretch>
                        </a:blipFill>
                      </a:tcPr>
                    </a:tc>
                    <a:tc>
                      <a:txBody>
                        <a:bodyPr/>
                        <a:lstStyle/>
                        <a:p>
                          <a:pPr marL="0" marR="0">
                            <a:spcBef>
                              <a:spcPts val="0"/>
                            </a:spcBef>
                            <a:spcAft>
                              <a:spcPts val="0"/>
                            </a:spcAft>
                          </a:pPr>
                          <a:r>
                            <a:rPr lang="en-US" sz="200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3950164547"/>
                      </a:ext>
                    </a:extLst>
                  </a:tr>
                  <a:tr h="720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6"/>
                          <a:stretch>
                            <a:fillRect t="-344068" r="-207813" b="-847"/>
                          </a:stretch>
                        </a:blipFill>
                      </a:tcPr>
                    </a:tc>
                    <a:tc>
                      <a:txBody>
                        <a:bodyPr/>
                        <a:lstStyle/>
                        <a:p>
                          <a:pPr marL="0" marR="0">
                            <a:spcBef>
                              <a:spcPts val="0"/>
                            </a:spcBef>
                            <a:spcAft>
                              <a:spcPts val="0"/>
                            </a:spcAft>
                          </a:pPr>
                          <a:r>
                            <a:rPr lang="en-US" sz="200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298359797"/>
                      </a:ext>
                    </a:extLst>
                  </a:tr>
                </a:tbl>
              </a:graphicData>
            </a:graphic>
          </p:graphicFrame>
        </mc:Fallback>
      </mc:AlternateContent>
    </p:spTree>
    <p:extLst>
      <p:ext uri="{BB962C8B-B14F-4D97-AF65-F5344CB8AC3E}">
        <p14:creationId xmlns:p14="http://schemas.microsoft.com/office/powerpoint/2010/main" val="31991885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a:extLst>
              <a:ext uri="{FF2B5EF4-FFF2-40B4-BE49-F238E27FC236}">
                <a16:creationId xmlns:a16="http://schemas.microsoft.com/office/drawing/2014/main" xmlns="" id="{E0814DF0-CB0F-CE4A-A504-DEE56AFFF9B6}"/>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83</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xmlns="" id="{4B71B7AA-10E7-9B44-A591-563821260A41}"/>
                  </a:ext>
                </a:extLst>
              </p:cNvPr>
              <p:cNvSpPr txBox="1"/>
              <p:nvPr/>
            </p:nvSpPr>
            <p:spPr>
              <a:xfrm>
                <a:off x="545818" y="3895957"/>
                <a:ext cx="11309043" cy="1938992"/>
              </a:xfrm>
              <a:prstGeom prst="rect">
                <a:avLst/>
              </a:prstGeom>
              <a:noFill/>
            </p:spPr>
            <p:txBody>
              <a:bodyPr wrap="square" rtlCol="0">
                <a:spAutoFit/>
              </a:bodyPr>
              <a:lstStyle/>
              <a:p>
                <a:pPr marL="906463" indent="-457200">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Compare your guesses from the Try It to the values you found for each expression using a calculator. </a:t>
                </a:r>
              </a:p>
              <a:p>
                <a:pPr marL="906463"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06463"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06463" indent="-457200">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Discuss with your partner which mathematical statements could be rewritten using a power of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10</m:t>
                    </m:r>
                  </m:oMath>
                </a14:m>
                <a:r>
                  <a:rPr lang="en-US" sz="2000" dirty="0">
                    <a:latin typeface="Verdana" panose="020B0604030504040204" pitchFamily="34" charset="0"/>
                    <a:ea typeface="Verdana" panose="020B0604030504040204" pitchFamily="34" charset="0"/>
                    <a:cs typeface="Verdana" panose="020B0604030504040204" pitchFamily="34" charset="0"/>
                  </a:rPr>
                  <a:t> and which could not be. Summarize your findings.</a:t>
                </a:r>
              </a:p>
            </p:txBody>
          </p:sp>
        </mc:Choice>
        <mc:Fallback xmlns="">
          <p:sp>
            <p:nvSpPr>
              <p:cNvPr id="6" name="TextBox 5">
                <a:extLst>
                  <a:ext uri="{FF2B5EF4-FFF2-40B4-BE49-F238E27FC236}">
                    <a16:creationId xmlns:a16="http://schemas.microsoft.com/office/drawing/2014/main" xmlns:a14="http://schemas.microsoft.com/office/drawing/2010/main" xmlns="" id="{4B71B7AA-10E7-9B44-A591-563821260A41}"/>
                  </a:ext>
                </a:extLst>
              </p:cNvPr>
              <p:cNvSpPr txBox="1">
                <a:spLocks noRot="1" noChangeAspect="1" noMove="1" noResize="1" noEditPoints="1" noAdjustHandles="1" noChangeArrowheads="1" noChangeShapeType="1" noTextEdit="1"/>
              </p:cNvSpPr>
              <p:nvPr/>
            </p:nvSpPr>
            <p:spPr>
              <a:xfrm>
                <a:off x="545818" y="3895957"/>
                <a:ext cx="11309043" cy="1938992"/>
              </a:xfrm>
              <a:prstGeom prst="rect">
                <a:avLst/>
              </a:prstGeom>
              <a:blipFill rotWithShape="1">
                <a:blip r:embed="rId4"/>
                <a:stretch>
                  <a:fillRect t="-1887" b="-4717"/>
                </a:stretch>
              </a:blipFill>
            </p:spPr>
            <p:txBody>
              <a:bodyPr/>
              <a:lstStyle/>
              <a:p>
                <a:r>
                  <a:rPr lang="en-PH">
                    <a:noFill/>
                  </a:rPr>
                  <a:t> </a:t>
                </a:r>
              </a:p>
            </p:txBody>
          </p:sp>
        </mc:Fallback>
      </mc:AlternateContent>
      <mc:AlternateContent xmlns:mc="http://schemas.openxmlformats.org/markup-compatibility/2006" xmlns:a14="http://schemas.microsoft.com/office/drawing/2010/main">
        <mc:Choice Requires="a14">
          <p:graphicFrame>
            <p:nvGraphicFramePr>
              <p:cNvPr id="7" name="Table 6">
                <a:extLst>
                  <a:ext uri="{FF2B5EF4-FFF2-40B4-BE49-F238E27FC236}">
                    <a16:creationId xmlns:a16="http://schemas.microsoft.com/office/drawing/2014/main" xmlns="" id="{A3A01E54-4205-0348-B8D8-38DF44F762C4}"/>
                  </a:ext>
                </a:extLst>
              </p:cNvPr>
              <p:cNvGraphicFramePr>
                <a:graphicFrameLocks noGrp="1"/>
              </p:cNvGraphicFramePr>
              <p:nvPr>
                <p:extLst>
                  <p:ext uri="{D42A27DB-BD31-4B8C-83A1-F6EECF244321}">
                    <p14:modId xmlns:p14="http://schemas.microsoft.com/office/powerpoint/2010/main" val="543640418"/>
                  </p:ext>
                </p:extLst>
              </p:nvPr>
            </p:nvGraphicFramePr>
            <p:xfrm>
              <a:off x="2636406" y="415168"/>
              <a:ext cx="7200000" cy="3165840"/>
            </p:xfrm>
            <a:graphic>
              <a:graphicData uri="http://schemas.openxmlformats.org/drawingml/2006/table">
                <a:tbl>
                  <a:tblPr firstRow="1" firstCol="1" bandRow="1"/>
                  <a:tblGrid>
                    <a:gridCol w="2340000">
                      <a:extLst>
                        <a:ext uri="{9D8B030D-6E8A-4147-A177-3AD203B41FA5}">
                          <a16:colId xmlns:a16="http://schemas.microsoft.com/office/drawing/2014/main" xmlns="" val="934880005"/>
                        </a:ext>
                      </a:extLst>
                    </a:gridCol>
                    <a:gridCol w="2340000">
                      <a:extLst>
                        <a:ext uri="{9D8B030D-6E8A-4147-A177-3AD203B41FA5}">
                          <a16:colId xmlns:a16="http://schemas.microsoft.com/office/drawing/2014/main" xmlns="" val="3624644448"/>
                        </a:ext>
                      </a:extLst>
                    </a:gridCol>
                    <a:gridCol w="2520000">
                      <a:extLst>
                        <a:ext uri="{9D8B030D-6E8A-4147-A177-3AD203B41FA5}">
                          <a16:colId xmlns:a16="http://schemas.microsoft.com/office/drawing/2014/main" xmlns="" val="709585078"/>
                        </a:ext>
                      </a:extLst>
                    </a:gridCol>
                  </a:tblGrid>
                  <a:tr h="787154">
                    <a:tc>
                      <a:txBody>
                        <a:bodyPr/>
                        <a:lstStyle/>
                        <a:p>
                          <a:pPr marL="0" marR="0" algn="ctr">
                            <a:spcBef>
                              <a:spcPts val="0"/>
                            </a:spcBef>
                            <a:spcAft>
                              <a:spcPts val="0"/>
                            </a:spcAft>
                          </a:pPr>
                          <a:r>
                            <a:rPr lang="en-US" sz="2000" b="1" dirty="0">
                              <a:effectLst/>
                              <a:latin typeface="Verdana" panose="020B0604030504040204" pitchFamily="34" charset="0"/>
                              <a:ea typeface="Times New Roman" panose="02020603050405020304" pitchFamily="18" charset="0"/>
                              <a:cs typeface="Times New Roman" panose="02020603050405020304" pitchFamily="18" charset="0"/>
                            </a:rPr>
                            <a:t>Mathematical Statement</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Value Found Using the Calculator</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Value Written as a Power of </a:t>
                          </a:r>
                          <a14:m>
                            <m:oMath xmlns:m="http://schemas.openxmlformats.org/officeDocument/2006/math">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𝟏𝟎</m:t>
                              </m:r>
                            </m:oMath>
                          </a14:m>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xmlns="" val="2193049742"/>
                      </a:ext>
                    </a:extLst>
                  </a:tr>
                  <a:tr h="7200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f>
                                  <m:fPr>
                                    <m:ctrlPr>
                                      <a:rPr lang="x-none" sz="2000" i="1">
                                        <a:effectLst/>
                                        <a:latin typeface="Cambria Math"/>
                                        <a:ea typeface="Times New Roman" panose="02020603050405020304" pitchFamily="18" charset="0"/>
                                        <a:cs typeface="Times New Roman" panose="02020603050405020304" pitchFamily="18" charset="0"/>
                                      </a:rPr>
                                    </m:ctrlPr>
                                  </m:fPr>
                                  <m:num>
                                    <m:sSup>
                                      <m:sSupPr>
                                        <m:ctrlPr>
                                          <a:rPr lang="x-none" sz="2000" i="1">
                                            <a:effectLst/>
                                            <a:latin typeface="Cambria Math"/>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10</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6</m:t>
                                        </m:r>
                                      </m:sup>
                                    </m:sSup>
                                  </m:num>
                                  <m:den>
                                    <m:sSup>
                                      <m:sSupPr>
                                        <m:ctrlPr>
                                          <a:rPr lang="x-none" sz="2000" i="1">
                                            <a:effectLst/>
                                            <a:latin typeface="Cambria Math"/>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10</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4</m:t>
                                        </m:r>
                                      </m:sup>
                                    </m:sSup>
                                  </m:den>
                                </m:f>
                              </m:oMath>
                            </m:oMathPara>
                          </a14:m>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981130364"/>
                      </a:ext>
                    </a:extLst>
                  </a:tr>
                  <a:tr h="7200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smtClean="0">
                                        <a:effectLst/>
                                        <a:latin typeface="Cambria Math"/>
                                        <a:ea typeface="Times New Roman" panose="02020603050405020304" pitchFamily="18" charset="0"/>
                                        <a:cs typeface="Times New Roman" panose="02020603050405020304" pitchFamily="18" charset="0"/>
                                      </a:rPr>
                                    </m:ctrlPr>
                                  </m:sSupPr>
                                  <m:e>
                                    <m:d>
                                      <m:dPr>
                                        <m:ctrlPr>
                                          <a:rPr lang="x-none" sz="2000" i="1">
                                            <a:effectLst/>
                                            <a:latin typeface="Cambria Math"/>
                                            <a:ea typeface="Times New Roman" panose="02020603050405020304" pitchFamily="18" charset="0"/>
                                            <a:cs typeface="Times New Roman" panose="02020603050405020304" pitchFamily="18" charset="0"/>
                                          </a:rPr>
                                        </m:ctrlPr>
                                      </m:dPr>
                                      <m:e>
                                        <m:sSup>
                                          <m:sSupPr>
                                            <m:ctrlPr>
                                              <a:rPr lang="x-none" sz="2000" i="1">
                                                <a:effectLst/>
                                                <a:latin typeface="Cambria Math"/>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10</m:t>
                                            </m:r>
                                          </m:e>
                                          <m:sup>
                                            <m:r>
                                              <a:rPr lang="en-US" sz="2000" b="0" i="1" smtClean="0">
                                                <a:effectLst/>
                                                <a:latin typeface="Cambria Math"/>
                                                <a:ea typeface="Times New Roman" panose="02020603050405020304" pitchFamily="18" charset="0"/>
                                                <a:cs typeface="Times New Roman" panose="02020603050405020304" pitchFamily="18" charset="0"/>
                                              </a:rPr>
                                              <m:t>4</m:t>
                                            </m:r>
                                          </m:sup>
                                        </m:sSup>
                                      </m:e>
                                    </m:d>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sup>
                                </m:sSup>
                              </m:oMath>
                            </m:oMathPara>
                          </a14:m>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074703948"/>
                      </a:ext>
                    </a:extLst>
                  </a:tr>
                  <a:tr h="7200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f>
                                  <m:fPr>
                                    <m:ctrlPr>
                                      <a:rPr lang="x-none" sz="2000" i="1">
                                        <a:effectLst/>
                                        <a:latin typeface="Cambria Math"/>
                                        <a:ea typeface="Times New Roman" panose="02020603050405020304" pitchFamily="18" charset="0"/>
                                        <a:cs typeface="Times New Roman" panose="02020603050405020304" pitchFamily="18" charset="0"/>
                                      </a:rPr>
                                    </m:ctrlPr>
                                  </m:fPr>
                                  <m:num>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m:t>
                                    </m:r>
                                  </m:num>
                                  <m:den>
                                    <m:sSup>
                                      <m:sSupPr>
                                        <m:ctrlPr>
                                          <a:rPr lang="x-none" sz="2000" i="1">
                                            <a:effectLst/>
                                            <a:latin typeface="Cambria Math"/>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10</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sup>
                                    </m:sSup>
                                  </m:den>
                                </m:f>
                              </m:oMath>
                            </m:oMathPara>
                          </a14:m>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1400" dirty="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697416658"/>
                      </a:ext>
                    </a:extLst>
                  </a:tr>
                </a:tbl>
              </a:graphicData>
            </a:graphic>
          </p:graphicFrame>
        </mc:Choice>
        <mc:Fallback xmlns="">
          <p:graphicFrame>
            <p:nvGraphicFramePr>
              <p:cNvPr id="7" name="Table 6">
                <a:extLst>
                  <a:ext uri="{FF2B5EF4-FFF2-40B4-BE49-F238E27FC236}">
                    <a16:creationId xmlns:a16="http://schemas.microsoft.com/office/drawing/2014/main" xmlns:a14="http://schemas.microsoft.com/office/drawing/2010/main" xmlns="" id="{A3A01E54-4205-0348-B8D8-38DF44F762C4}"/>
                  </a:ext>
                </a:extLst>
              </p:cNvPr>
              <p:cNvGraphicFramePr>
                <a:graphicFrameLocks noGrp="1"/>
              </p:cNvGraphicFramePr>
              <p:nvPr>
                <p:extLst>
                  <p:ext uri="{D42A27DB-BD31-4B8C-83A1-F6EECF244321}">
                    <p14:modId xmlns:p14="http://schemas.microsoft.com/office/powerpoint/2010/main" val="543640418"/>
                  </p:ext>
                </p:extLst>
              </p:nvPr>
            </p:nvGraphicFramePr>
            <p:xfrm>
              <a:off x="2636406" y="415168"/>
              <a:ext cx="7200000" cy="3165840"/>
            </p:xfrm>
            <a:graphic>
              <a:graphicData uri="http://schemas.openxmlformats.org/drawingml/2006/table">
                <a:tbl>
                  <a:tblPr firstRow="1" firstCol="1" bandRow="1"/>
                  <a:tblGrid>
                    <a:gridCol w="2340000">
                      <a:extLst>
                        <a:ext uri="{9D8B030D-6E8A-4147-A177-3AD203B41FA5}">
                          <a16:colId xmlns:a16="http://schemas.microsoft.com/office/drawing/2014/main" xmlns:a14="http://schemas.microsoft.com/office/drawing/2010/main" xmlns="" val="934880005"/>
                        </a:ext>
                      </a:extLst>
                    </a:gridCol>
                    <a:gridCol w="2340000">
                      <a:extLst>
                        <a:ext uri="{9D8B030D-6E8A-4147-A177-3AD203B41FA5}">
                          <a16:colId xmlns:a16="http://schemas.microsoft.com/office/drawing/2014/main" xmlns:a14="http://schemas.microsoft.com/office/drawing/2010/main" xmlns="" val="3624644448"/>
                        </a:ext>
                      </a:extLst>
                    </a:gridCol>
                    <a:gridCol w="2520000">
                      <a:extLst>
                        <a:ext uri="{9D8B030D-6E8A-4147-A177-3AD203B41FA5}">
                          <a16:colId xmlns:a16="http://schemas.microsoft.com/office/drawing/2014/main" xmlns:a14="http://schemas.microsoft.com/office/drawing/2010/main" xmlns="" val="709585078"/>
                        </a:ext>
                      </a:extLst>
                    </a:gridCol>
                  </a:tblGrid>
                  <a:tr h="1005840">
                    <a:tc>
                      <a:txBody>
                        <a:bodyPr/>
                        <a:lstStyle/>
                        <a:p>
                          <a:pPr marL="0" marR="0" algn="ctr">
                            <a:spcBef>
                              <a:spcPts val="0"/>
                            </a:spcBef>
                            <a:spcAft>
                              <a:spcPts val="0"/>
                            </a:spcAft>
                          </a:pPr>
                          <a:r>
                            <a:rPr lang="en-US" sz="2000" b="1" dirty="0">
                              <a:effectLst/>
                              <a:latin typeface="Verdana" panose="020B0604030504040204" pitchFamily="34" charset="0"/>
                              <a:ea typeface="Times New Roman" panose="02020603050405020304" pitchFamily="18" charset="0"/>
                              <a:cs typeface="Times New Roman" panose="02020603050405020304" pitchFamily="18" charset="0"/>
                            </a:rPr>
                            <a:t>Mathematical Statement</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Value Found Using the Calculator</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185507" t="-3030" b="-215152"/>
                          </a:stretch>
                        </a:blipFill>
                      </a:tcPr>
                    </a:tc>
                    <a:extLst>
                      <a:ext uri="{0D108BD9-81ED-4DB2-BD59-A6C34878D82A}">
                        <a16:rowId xmlns:a16="http://schemas.microsoft.com/office/drawing/2014/main" xmlns:a14="http://schemas.microsoft.com/office/drawing/2010/main" xmlns="" val="2193049742"/>
                      </a:ext>
                    </a:extLst>
                  </a:tr>
                  <a:tr h="720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t="-144068" r="-207813" b="-200847"/>
                          </a:stretch>
                        </a:blipFill>
                      </a:tcPr>
                    </a:tc>
                    <a:tc>
                      <a:txBody>
                        <a:bodyPr/>
                        <a:lstStyle/>
                        <a:p>
                          <a:pPr marL="0" marR="0">
                            <a:spcBef>
                              <a:spcPts val="0"/>
                            </a:spcBef>
                            <a:spcAft>
                              <a:spcPts val="0"/>
                            </a:spcAft>
                          </a:pPr>
                          <a:r>
                            <a:rPr lang="en-US" sz="200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981130364"/>
                      </a:ext>
                    </a:extLst>
                  </a:tr>
                  <a:tr h="720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t="-244068" r="-207813" b="-100847"/>
                          </a:stretch>
                        </a:blipFill>
                      </a:tcPr>
                    </a:tc>
                    <a:tc>
                      <a:txBody>
                        <a:bodyPr/>
                        <a:lstStyle/>
                        <a:p>
                          <a:pPr marL="0" marR="0">
                            <a:spcBef>
                              <a:spcPts val="0"/>
                            </a:spcBef>
                            <a:spcAft>
                              <a:spcPts val="0"/>
                            </a:spcAft>
                          </a:pPr>
                          <a:r>
                            <a:rPr lang="en-US" sz="200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4074703948"/>
                      </a:ext>
                    </a:extLst>
                  </a:tr>
                  <a:tr h="720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t="-344068" r="-207813" b="-847"/>
                          </a:stretch>
                        </a:blipFill>
                      </a:tcPr>
                    </a:tc>
                    <a:tc>
                      <a:txBody>
                        <a:bodyPr/>
                        <a:lstStyle/>
                        <a:p>
                          <a:pPr marL="0" marR="0">
                            <a:spcBef>
                              <a:spcPts val="0"/>
                            </a:spcBef>
                            <a:spcAft>
                              <a:spcPts val="0"/>
                            </a:spcAft>
                          </a:pPr>
                          <a:r>
                            <a:rPr lang="en-US" sz="200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1400" dirty="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2697416658"/>
                      </a:ext>
                    </a:extLst>
                  </a:tr>
                </a:tbl>
              </a:graphicData>
            </a:graphic>
          </p:graphicFrame>
        </mc:Fallback>
      </mc:AlternateContent>
    </p:spTree>
    <p:extLst>
      <p:ext uri="{BB962C8B-B14F-4D97-AF65-F5344CB8AC3E}">
        <p14:creationId xmlns:p14="http://schemas.microsoft.com/office/powerpoint/2010/main" val="12282074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212246" y="276615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54B5D1"/>
                </a:solidFill>
                <a:latin typeface="Verdana"/>
                <a:ea typeface="Verdana"/>
                <a:cs typeface="Verdana"/>
                <a:sym typeface="Verdana"/>
              </a:rPr>
              <a:t>Refresher</a:t>
            </a:r>
            <a:endParaRPr sz="5100" b="1" dirty="0">
              <a:solidFill>
                <a:srgbClr val="54B5D1"/>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xmlns="" id="{33005AFD-D615-1344-BDC0-5A40F6454816}"/>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84</a:t>
            </a:r>
            <a:endParaRPr i="1" dirty="0">
              <a:latin typeface="Calibri"/>
              <a:ea typeface="Calibri"/>
              <a:cs typeface="Calibri"/>
              <a:sym typeface="Calibri"/>
            </a:endParaRPr>
          </a:p>
        </p:txBody>
      </p:sp>
      <p:pic>
        <p:nvPicPr>
          <p:cNvPr id="9" name="image14.png" descr="Icon&#10;&#10;Description automatically generated">
            <a:extLst>
              <a:ext uri="{FF2B5EF4-FFF2-40B4-BE49-F238E27FC236}">
                <a16:creationId xmlns:a16="http://schemas.microsoft.com/office/drawing/2014/main" xmlns="" id="{7D631219-951C-BA4F-8C82-536AD71FF1A1}"/>
              </a:ext>
            </a:extLst>
          </p:cNvPr>
          <p:cNvPicPr/>
          <p:nvPr/>
        </p:nvPicPr>
        <p:blipFill>
          <a:blip r:embed="rId4"/>
          <a:srcRect/>
          <a:stretch>
            <a:fillRect/>
          </a:stretch>
        </p:blipFill>
        <p:spPr>
          <a:xfrm>
            <a:off x="3054096" y="2852928"/>
            <a:ext cx="1158150" cy="1158150"/>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1518889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xmlns="" id="{21B1DF8E-16A0-FA4E-8CEB-434668DFA68D}"/>
              </a:ext>
            </a:extLst>
          </p:cNvPr>
          <p:cNvSpPr txBox="1">
            <a:spLocks/>
          </p:cNvSpPr>
          <p:nvPr/>
        </p:nvSpPr>
        <p:spPr>
          <a:xfrm>
            <a:off x="1237463" y="-87967"/>
            <a:ext cx="10803741"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3600" b="1" dirty="0">
                <a:solidFill>
                  <a:srgbClr val="54B5D1"/>
                </a:solidFill>
                <a:latin typeface="Verdana"/>
                <a:ea typeface="Verdana"/>
                <a:cs typeface="Verdana"/>
                <a:sym typeface="Verdana"/>
              </a:rPr>
              <a:t>3.1.5 Refresher: Laws of Exponents</a:t>
            </a:r>
          </a:p>
        </p:txBody>
      </p:sp>
      <p:sp>
        <p:nvSpPr>
          <p:cNvPr id="12" name="Google Shape;282;g104476d1465_1_17">
            <a:extLst>
              <a:ext uri="{FF2B5EF4-FFF2-40B4-BE49-F238E27FC236}">
                <a16:creationId xmlns:a16="http://schemas.microsoft.com/office/drawing/2014/main" xmlns="" id="{B2B1ECCC-8E07-F247-BB16-7B958B8E6B20}"/>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84</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xmlns="" id="{FE208A00-51E7-C544-ABDE-AE9DC3DAAB4C}"/>
                  </a:ext>
                </a:extLst>
              </p:cNvPr>
              <p:cNvSpPr>
                <a:spLocks noChangeArrowheads="1"/>
              </p:cNvSpPr>
              <p:nvPr/>
            </p:nvSpPr>
            <p:spPr bwMode="auto">
              <a:xfrm>
                <a:off x="730330" y="1235733"/>
                <a:ext cx="11185745" cy="5042406"/>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lvl="0" eaLnBrk="0" fontAlgn="base" hangingPunct="0">
                  <a:spcBef>
                    <a:spcPct val="0"/>
                  </a:spcBef>
                  <a:spcAft>
                    <a:spcPct val="0"/>
                  </a:spcAft>
                  <a:buClrTx/>
                </a:pP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The Laws of Exponents may help explain why some of the mathematical statements could be rewritten using a power of </a:t>
                </a:r>
                <a14:m>
                  <m:oMath xmlns:m="http://schemas.openxmlformats.org/officeDocument/2006/math">
                    <m:r>
                      <a:rPr lang="en-US" altLang="en-US" sz="20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10</m:t>
                    </m:r>
                  </m:oMath>
                </a14:m>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a:t>
                </a:r>
              </a:p>
              <a:p>
                <a:pPr lvl="0" eaLnBrk="0" fontAlgn="base" hangingPunct="0">
                  <a:spcBef>
                    <a:spcPct val="0"/>
                  </a:spcBef>
                  <a:spcAft>
                    <a:spcPct val="0"/>
                  </a:spcAft>
                  <a:buClrTx/>
                </a:pPr>
                <a:endParaRPr lang="en-PH"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lvl="0" eaLnBrk="0" fontAlgn="base" hangingPunct="0">
                  <a:spcBef>
                    <a:spcPct val="0"/>
                  </a:spcBef>
                  <a:spcAft>
                    <a:spcPct val="0"/>
                  </a:spcAft>
                  <a:buClrTx/>
                </a:pPr>
                <a:endParaRPr lang="en-PH"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lvl="0" eaLnBrk="0" fontAlgn="base" hangingPunct="0">
                  <a:spcBef>
                    <a:spcPct val="0"/>
                  </a:spcBef>
                  <a:spcAft>
                    <a:spcPct val="0"/>
                  </a:spcAft>
                  <a:buClrTx/>
                </a:pPr>
                <a:endParaRPr lang="en-PH"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lvl="0" eaLnBrk="0" fontAlgn="base" hangingPunct="0">
                  <a:spcBef>
                    <a:spcPct val="0"/>
                  </a:spcBef>
                  <a:spcAft>
                    <a:spcPct val="0"/>
                  </a:spcAft>
                  <a:buClrTx/>
                </a:pPr>
                <a:endParaRPr lang="en-PH"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lvl="0" eaLnBrk="0" fontAlgn="base" hangingPunct="0">
                  <a:spcBef>
                    <a:spcPct val="0"/>
                  </a:spcBef>
                  <a:spcAft>
                    <a:spcPct val="0"/>
                  </a:spcAft>
                  <a:buClrTx/>
                </a:pPr>
                <a:endParaRPr lang="en-PH"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lvl="0" eaLnBrk="0" fontAlgn="base" hangingPunct="0">
                  <a:spcBef>
                    <a:spcPct val="0"/>
                  </a:spcBef>
                  <a:spcAft>
                    <a:spcPct val="0"/>
                  </a:spcAft>
                  <a:buClrTx/>
                </a:pPr>
                <a:endParaRPr lang="en-PH"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457200" indent="-457200" eaLnBrk="0" fontAlgn="base" hangingPunct="0">
                  <a:spcBef>
                    <a:spcPct val="0"/>
                  </a:spcBef>
                  <a:spcAft>
                    <a:spcPts val="1000"/>
                  </a:spcAft>
                  <a:buClrTx/>
                  <a:buFont typeface="+mj-lt"/>
                  <a:buAutoNum type="arabicPeriod"/>
                </a:pPr>
                <a:endPar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457200" indent="-457200" eaLnBrk="0" fontAlgn="base" hangingPunct="0">
                  <a:spcBef>
                    <a:spcPct val="0"/>
                  </a:spcBef>
                  <a:spcAft>
                    <a:spcPts val="1000"/>
                  </a:spcAft>
                  <a:buClrTx/>
                  <a:buFont typeface="+mj-lt"/>
                  <a:buAutoNum type="arabicPeriod"/>
                </a:pP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Which is an example of the product of powers exponent law?</a:t>
                </a:r>
              </a:p>
              <a:p>
                <a:pPr marL="798513" indent="-304800" eaLnBrk="0" fontAlgn="base" hangingPunct="0">
                  <a:spcBef>
                    <a:spcPct val="0"/>
                  </a:spcBef>
                  <a:spcAft>
                    <a:spcPts val="1000"/>
                  </a:spcAft>
                  <a:buClrTx/>
                  <a:buFont typeface="Courier New" panose="02070309020205020404" pitchFamily="49" charset="0"/>
                  <a:buChar char="o"/>
                </a:pPr>
                <a14:m>
                  <m:oMath xmlns:m="http://schemas.openxmlformats.org/officeDocument/2006/math">
                    <m:sSup>
                      <m:sSupPr>
                        <m:ctrlPr>
                          <a:rPr lang="en-US" altLang="en-US" sz="2000" i="1" dirty="0">
                            <a:solidFill>
                              <a:schemeClr val="tx1"/>
                            </a:solidFill>
                            <a:latin typeface="Cambria Math"/>
                            <a:cs typeface="Times New Roman" panose="02020603050405020304" pitchFamily="18" charset="0"/>
                          </a:rPr>
                        </m:ctrlPr>
                      </m:sSupPr>
                      <m:e>
                        <m:d>
                          <m:dPr>
                            <m:ctrlPr>
                              <a:rPr lang="en-US" altLang="en-US" sz="2000" i="1" dirty="0">
                                <a:solidFill>
                                  <a:schemeClr val="tx1"/>
                                </a:solidFill>
                                <a:latin typeface="Cambria Math"/>
                                <a:cs typeface="Times New Roman" panose="02020603050405020304" pitchFamily="18" charset="0"/>
                              </a:rPr>
                            </m:ctrlPr>
                          </m:dPr>
                          <m:e>
                            <m:sSup>
                              <m:sSupPr>
                                <m:ctrlPr>
                                  <a:rPr lang="en-US" altLang="en-US" sz="2000" i="1" dirty="0">
                                    <a:solidFill>
                                      <a:schemeClr val="tx1"/>
                                    </a:solidFill>
                                    <a:latin typeface="Cambria Math"/>
                                    <a:cs typeface="Times New Roman" panose="02020603050405020304" pitchFamily="18" charset="0"/>
                                  </a:rPr>
                                </m:ctrlPr>
                              </m:sSupPr>
                              <m:e>
                                <m:r>
                                  <a:rPr lang="es-ES" altLang="en-US" sz="2000" i="1" dirty="0">
                                    <a:solidFill>
                                      <a:schemeClr val="tx1"/>
                                    </a:solidFill>
                                    <a:latin typeface="Cambria Math" panose="02040503050406030204" pitchFamily="18" charset="0"/>
                                    <a:cs typeface="Times New Roman" panose="02020603050405020304" pitchFamily="18" charset="0"/>
                                  </a:rPr>
                                  <m:t>𝑎</m:t>
                                </m:r>
                              </m:e>
                              <m:sup>
                                <m:r>
                                  <a:rPr lang="es-ES" altLang="en-US" sz="2000" i="1" dirty="0">
                                    <a:solidFill>
                                      <a:schemeClr val="tx1"/>
                                    </a:solidFill>
                                    <a:latin typeface="Cambria Math" panose="02040503050406030204" pitchFamily="18" charset="0"/>
                                    <a:cs typeface="Times New Roman" panose="02020603050405020304" pitchFamily="18" charset="0"/>
                                  </a:rPr>
                                  <m:t>𝑚</m:t>
                                </m:r>
                              </m:sup>
                            </m:sSup>
                          </m:e>
                        </m:d>
                      </m:e>
                      <m:sup>
                        <m:r>
                          <a:rPr lang="es-ES" altLang="en-US" sz="2000" i="1" dirty="0">
                            <a:solidFill>
                              <a:schemeClr val="tx1"/>
                            </a:solidFill>
                            <a:latin typeface="Cambria Math" panose="02040503050406030204" pitchFamily="18" charset="0"/>
                            <a:cs typeface="Times New Roman" panose="02020603050405020304" pitchFamily="18" charset="0"/>
                          </a:rPr>
                          <m:t>𝑛</m:t>
                        </m:r>
                      </m:sup>
                    </m:sSup>
                    <m:r>
                      <a:rPr lang="en-US" altLang="en-US" sz="20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US" altLang="en-US" sz="2000" i="1" dirty="0">
                            <a:solidFill>
                              <a:schemeClr val="tx1"/>
                            </a:solidFill>
                            <a:latin typeface="Cambria Math"/>
                            <a:cs typeface="Times New Roman" panose="02020603050405020304" pitchFamily="18" charset="0"/>
                          </a:rPr>
                        </m:ctrlPr>
                      </m:sSupPr>
                      <m:e>
                        <m:r>
                          <a:rPr lang="es-ES" altLang="en-US" sz="2000" i="1" dirty="0">
                            <a:solidFill>
                              <a:schemeClr val="tx1"/>
                            </a:solidFill>
                            <a:latin typeface="Cambria Math" panose="02040503050406030204" pitchFamily="18" charset="0"/>
                            <a:cs typeface="Times New Roman" panose="02020603050405020304" pitchFamily="18" charset="0"/>
                          </a:rPr>
                          <m:t>𝑎</m:t>
                        </m:r>
                      </m:e>
                      <m:sup>
                        <m:r>
                          <a:rPr lang="es-ES" altLang="en-US" sz="2000" i="1" dirty="0">
                            <a:solidFill>
                              <a:schemeClr val="tx1"/>
                            </a:solidFill>
                            <a:latin typeface="Cambria Math" panose="02040503050406030204" pitchFamily="18" charset="0"/>
                            <a:cs typeface="Times New Roman" panose="02020603050405020304" pitchFamily="18" charset="0"/>
                          </a:rPr>
                          <m:t>𝑚𝑛</m:t>
                        </m:r>
                      </m:sup>
                    </m:sSup>
                  </m:oMath>
                </a14:m>
                <a:endPar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798513" indent="-304800" eaLnBrk="0" fontAlgn="base" hangingPunct="0">
                  <a:spcBef>
                    <a:spcPct val="0"/>
                  </a:spcBef>
                  <a:spcAft>
                    <a:spcPts val="1000"/>
                  </a:spcAft>
                  <a:buClrTx/>
                  <a:buFont typeface="Courier New" panose="02070309020205020404" pitchFamily="49" charset="0"/>
                  <a:buChar char="o"/>
                </a:pPr>
                <a14:m>
                  <m:oMath xmlns:m="http://schemas.openxmlformats.org/officeDocument/2006/math">
                    <m:sSup>
                      <m:sSupPr>
                        <m:ctrlPr>
                          <a:rPr lang="en-US" altLang="en-US" sz="2000" i="1" dirty="0">
                            <a:solidFill>
                              <a:schemeClr val="tx1"/>
                            </a:solidFill>
                            <a:latin typeface="Cambria Math"/>
                            <a:cs typeface="Times New Roman" panose="02020603050405020304" pitchFamily="18" charset="0"/>
                          </a:rPr>
                        </m:ctrlPr>
                      </m:sSupPr>
                      <m:e>
                        <m:d>
                          <m:dPr>
                            <m:ctrlPr>
                              <a:rPr lang="en-US" altLang="en-US" sz="2000" i="1" dirty="0">
                                <a:solidFill>
                                  <a:schemeClr val="tx1"/>
                                </a:solidFill>
                                <a:latin typeface="Cambria Math"/>
                                <a:cs typeface="Times New Roman" panose="02020603050405020304" pitchFamily="18" charset="0"/>
                              </a:rPr>
                            </m:ctrlPr>
                          </m:dPr>
                          <m:e>
                            <m:sSup>
                              <m:sSupPr>
                                <m:ctrlPr>
                                  <a:rPr lang="en-US" altLang="en-US" sz="2000" i="1" dirty="0">
                                    <a:solidFill>
                                      <a:schemeClr val="tx1"/>
                                    </a:solidFill>
                                    <a:latin typeface="Cambria Math"/>
                                    <a:cs typeface="Times New Roman" panose="02020603050405020304" pitchFamily="18" charset="0"/>
                                  </a:rPr>
                                </m:ctrlPr>
                              </m:sSupPr>
                              <m:e>
                                <m:r>
                                  <a:rPr lang="es-ES" altLang="en-US" sz="2000" i="1" dirty="0">
                                    <a:solidFill>
                                      <a:schemeClr val="tx1"/>
                                    </a:solidFill>
                                    <a:latin typeface="Cambria Math" panose="02040503050406030204" pitchFamily="18" charset="0"/>
                                    <a:cs typeface="Times New Roman" panose="02020603050405020304" pitchFamily="18" charset="0"/>
                                  </a:rPr>
                                  <m:t>𝑎</m:t>
                                </m:r>
                              </m:e>
                              <m:sup>
                                <m:r>
                                  <a:rPr lang="es-ES" altLang="en-US" sz="2000" i="1" dirty="0">
                                    <a:solidFill>
                                      <a:schemeClr val="tx1"/>
                                    </a:solidFill>
                                    <a:latin typeface="Cambria Math" panose="02040503050406030204" pitchFamily="18" charset="0"/>
                                    <a:cs typeface="Times New Roman" panose="02020603050405020304" pitchFamily="18" charset="0"/>
                                  </a:rPr>
                                  <m:t>𝑚</m:t>
                                </m:r>
                              </m:sup>
                            </m:sSup>
                          </m:e>
                        </m:d>
                      </m:e>
                      <m:sup>
                        <m:r>
                          <a:rPr lang="es-ES" altLang="en-US" sz="2000" i="1" dirty="0">
                            <a:solidFill>
                              <a:schemeClr val="tx1"/>
                            </a:solidFill>
                            <a:latin typeface="Cambria Math" panose="02040503050406030204" pitchFamily="18" charset="0"/>
                            <a:cs typeface="Times New Roman" panose="02020603050405020304" pitchFamily="18" charset="0"/>
                          </a:rPr>
                          <m:t>𝑛</m:t>
                        </m:r>
                      </m:sup>
                    </m:sSup>
                    <m:r>
                      <a:rPr lang="en-US" altLang="en-US" sz="20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US" altLang="en-US" sz="2000" i="1" dirty="0">
                            <a:solidFill>
                              <a:schemeClr val="tx1"/>
                            </a:solidFill>
                            <a:latin typeface="Cambria Math"/>
                            <a:cs typeface="Times New Roman" panose="02020603050405020304" pitchFamily="18" charset="0"/>
                          </a:rPr>
                        </m:ctrlPr>
                      </m:sSupPr>
                      <m:e>
                        <m:r>
                          <a:rPr lang="es-ES" altLang="en-US" sz="2000" i="1" dirty="0">
                            <a:solidFill>
                              <a:schemeClr val="tx1"/>
                            </a:solidFill>
                            <a:latin typeface="Cambria Math" panose="02040503050406030204" pitchFamily="18" charset="0"/>
                            <a:cs typeface="Times New Roman" panose="02020603050405020304" pitchFamily="18" charset="0"/>
                          </a:rPr>
                          <m:t>𝑎</m:t>
                        </m:r>
                      </m:e>
                      <m:sup>
                        <m:r>
                          <a:rPr lang="es-ES" altLang="en-US" sz="2000" i="1" dirty="0">
                            <a:solidFill>
                              <a:schemeClr val="tx1"/>
                            </a:solidFill>
                            <a:latin typeface="Cambria Math" panose="02040503050406030204" pitchFamily="18" charset="0"/>
                            <a:cs typeface="Times New Roman" panose="02020603050405020304" pitchFamily="18" charset="0"/>
                          </a:rPr>
                          <m:t>𝑚</m:t>
                        </m:r>
                        <m:r>
                          <a:rPr lang="es-ES" altLang="en-US" sz="2000" i="1" dirty="0">
                            <a:solidFill>
                              <a:schemeClr val="tx1"/>
                            </a:solidFill>
                            <a:latin typeface="Cambria Math" panose="02040503050406030204" pitchFamily="18" charset="0"/>
                            <a:cs typeface="Times New Roman" panose="02020603050405020304" pitchFamily="18" charset="0"/>
                          </a:rPr>
                          <m:t>+</m:t>
                        </m:r>
                        <m:r>
                          <a:rPr lang="es-ES" altLang="en-US" sz="2000" i="1" dirty="0">
                            <a:solidFill>
                              <a:schemeClr val="tx1"/>
                            </a:solidFill>
                            <a:latin typeface="Cambria Math" panose="02040503050406030204" pitchFamily="18" charset="0"/>
                            <a:cs typeface="Times New Roman" panose="02020603050405020304" pitchFamily="18" charset="0"/>
                          </a:rPr>
                          <m:t>𝑛</m:t>
                        </m:r>
                      </m:sup>
                    </m:sSup>
                  </m:oMath>
                </a14:m>
                <a:endPar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798513" indent="-304800" eaLnBrk="0" fontAlgn="base" hangingPunct="0">
                  <a:spcBef>
                    <a:spcPct val="0"/>
                  </a:spcBef>
                  <a:spcAft>
                    <a:spcPts val="1000"/>
                  </a:spcAft>
                  <a:buClrTx/>
                  <a:buFont typeface="Courier New" panose="02070309020205020404" pitchFamily="49" charset="0"/>
                  <a:buChar char="o"/>
                </a:pPr>
                <a14:m>
                  <m:oMath xmlns:m="http://schemas.openxmlformats.org/officeDocument/2006/math">
                    <m:sSup>
                      <m:sSupPr>
                        <m:ctrlPr>
                          <a:rPr lang="en-US" altLang="en-US" sz="2000" i="1" dirty="0">
                            <a:solidFill>
                              <a:schemeClr val="tx1"/>
                            </a:solidFill>
                            <a:latin typeface="Cambria Math"/>
                            <a:cs typeface="Times New Roman" panose="02020603050405020304" pitchFamily="18" charset="0"/>
                          </a:rPr>
                        </m:ctrlPr>
                      </m:sSupPr>
                      <m:e>
                        <m:r>
                          <a:rPr lang="es-ES" altLang="en-US" sz="2000" i="1" dirty="0">
                            <a:solidFill>
                              <a:schemeClr val="tx1"/>
                            </a:solidFill>
                            <a:latin typeface="Cambria Math" panose="02040503050406030204" pitchFamily="18" charset="0"/>
                            <a:cs typeface="Times New Roman" panose="02020603050405020304" pitchFamily="18" charset="0"/>
                          </a:rPr>
                          <m:t>𝑎</m:t>
                        </m:r>
                      </m:e>
                      <m:sup>
                        <m:r>
                          <a:rPr lang="es-ES" altLang="en-US" sz="2000" i="1" dirty="0">
                            <a:solidFill>
                              <a:schemeClr val="tx1"/>
                            </a:solidFill>
                            <a:latin typeface="Cambria Math" panose="02040503050406030204" pitchFamily="18" charset="0"/>
                            <a:cs typeface="Times New Roman" panose="02020603050405020304" pitchFamily="18" charset="0"/>
                          </a:rPr>
                          <m:t>𝑚</m:t>
                        </m:r>
                      </m:sup>
                    </m:sSup>
                    <m:r>
                      <a:rPr lang="es-ES" altLang="en-US" sz="2000" i="1" dirty="0">
                        <a:solidFill>
                          <a:schemeClr val="tx1"/>
                        </a:solidFill>
                        <a:latin typeface="Cambria Math" panose="02040503050406030204" pitchFamily="18" charset="0"/>
                        <a:cs typeface="Times New Roman" panose="02020603050405020304" pitchFamily="18" charset="0"/>
                      </a:rPr>
                      <m:t>·</m:t>
                    </m:r>
                    <m:sSup>
                      <m:sSupPr>
                        <m:ctrlPr>
                          <a:rPr lang="en-US" altLang="en-US" sz="2000" i="1" dirty="0">
                            <a:solidFill>
                              <a:schemeClr val="tx1"/>
                            </a:solidFill>
                            <a:latin typeface="Cambria Math"/>
                            <a:cs typeface="Times New Roman" panose="02020603050405020304" pitchFamily="18" charset="0"/>
                          </a:rPr>
                        </m:ctrlPr>
                      </m:sSupPr>
                      <m:e>
                        <m:r>
                          <a:rPr lang="es-ES" altLang="en-US" sz="2000" i="1" dirty="0">
                            <a:solidFill>
                              <a:schemeClr val="tx1"/>
                            </a:solidFill>
                            <a:latin typeface="Cambria Math" panose="02040503050406030204" pitchFamily="18" charset="0"/>
                            <a:cs typeface="Times New Roman" panose="02020603050405020304" pitchFamily="18" charset="0"/>
                          </a:rPr>
                          <m:t>𝑎</m:t>
                        </m:r>
                      </m:e>
                      <m:sup>
                        <m:r>
                          <a:rPr lang="es-ES" altLang="en-US" sz="2000" i="1" dirty="0">
                            <a:solidFill>
                              <a:schemeClr val="tx1"/>
                            </a:solidFill>
                            <a:latin typeface="Cambria Math" panose="02040503050406030204" pitchFamily="18" charset="0"/>
                            <a:cs typeface="Times New Roman" panose="02020603050405020304" pitchFamily="18" charset="0"/>
                          </a:rPr>
                          <m:t>𝑛</m:t>
                        </m:r>
                      </m:sup>
                    </m:sSup>
                    <m:r>
                      <a:rPr lang="en-US" altLang="en-US" sz="20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US" altLang="en-US" sz="2000" i="1" dirty="0">
                            <a:solidFill>
                              <a:schemeClr val="tx1"/>
                            </a:solidFill>
                            <a:latin typeface="Cambria Math"/>
                            <a:cs typeface="Times New Roman" panose="02020603050405020304" pitchFamily="18" charset="0"/>
                          </a:rPr>
                        </m:ctrlPr>
                      </m:sSupPr>
                      <m:e>
                        <m:r>
                          <a:rPr lang="es-ES" altLang="en-US" sz="2000" i="1" dirty="0">
                            <a:solidFill>
                              <a:schemeClr val="tx1"/>
                            </a:solidFill>
                            <a:latin typeface="Cambria Math" panose="02040503050406030204" pitchFamily="18" charset="0"/>
                            <a:cs typeface="Times New Roman" panose="02020603050405020304" pitchFamily="18" charset="0"/>
                          </a:rPr>
                          <m:t>𝑎</m:t>
                        </m:r>
                      </m:e>
                      <m:sup>
                        <m:r>
                          <a:rPr lang="es-ES" altLang="en-US" sz="2000" i="1" dirty="0">
                            <a:solidFill>
                              <a:schemeClr val="tx1"/>
                            </a:solidFill>
                            <a:latin typeface="Cambria Math" panose="02040503050406030204" pitchFamily="18" charset="0"/>
                            <a:cs typeface="Times New Roman" panose="02020603050405020304" pitchFamily="18" charset="0"/>
                          </a:rPr>
                          <m:t>𝑚𝑛</m:t>
                        </m:r>
                      </m:sup>
                    </m:sSup>
                  </m:oMath>
                </a14:m>
                <a:endPar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798513" indent="-304800" eaLnBrk="0" fontAlgn="base" hangingPunct="0">
                  <a:spcBef>
                    <a:spcPct val="0"/>
                  </a:spcBef>
                  <a:spcAft>
                    <a:spcPct val="0"/>
                  </a:spcAft>
                  <a:buClrTx/>
                  <a:buFont typeface="Courier New" panose="02070309020205020404" pitchFamily="49" charset="0"/>
                  <a:buChar char="o"/>
                </a:pPr>
                <a14:m>
                  <m:oMath xmlns:m="http://schemas.openxmlformats.org/officeDocument/2006/math">
                    <m:sSup>
                      <m:sSupPr>
                        <m:ctrlPr>
                          <a:rPr lang="en-US" altLang="en-US" sz="2000" i="1" dirty="0">
                            <a:solidFill>
                              <a:schemeClr val="tx1"/>
                            </a:solidFill>
                            <a:latin typeface="Cambria Math"/>
                            <a:cs typeface="Times New Roman" panose="02020603050405020304" pitchFamily="18" charset="0"/>
                          </a:rPr>
                        </m:ctrlPr>
                      </m:sSupPr>
                      <m:e>
                        <m:r>
                          <a:rPr lang="es-ES" altLang="en-US" sz="2000" i="1" dirty="0">
                            <a:solidFill>
                              <a:schemeClr val="tx1"/>
                            </a:solidFill>
                            <a:latin typeface="Cambria Math" panose="02040503050406030204" pitchFamily="18" charset="0"/>
                            <a:cs typeface="Times New Roman" panose="02020603050405020304" pitchFamily="18" charset="0"/>
                          </a:rPr>
                          <m:t>𝑎</m:t>
                        </m:r>
                      </m:e>
                      <m:sup>
                        <m:r>
                          <a:rPr lang="es-ES" altLang="en-US" sz="2000" i="1" dirty="0">
                            <a:solidFill>
                              <a:schemeClr val="tx1"/>
                            </a:solidFill>
                            <a:latin typeface="Cambria Math" panose="02040503050406030204" pitchFamily="18" charset="0"/>
                            <a:cs typeface="Times New Roman" panose="02020603050405020304" pitchFamily="18" charset="0"/>
                          </a:rPr>
                          <m:t>𝑚</m:t>
                        </m:r>
                      </m:sup>
                    </m:sSup>
                    <m:r>
                      <a:rPr lang="es-ES" altLang="en-US" sz="2000" i="1" dirty="0">
                        <a:solidFill>
                          <a:schemeClr val="tx1"/>
                        </a:solidFill>
                        <a:latin typeface="Cambria Math" panose="02040503050406030204" pitchFamily="18" charset="0"/>
                        <a:cs typeface="Times New Roman" panose="02020603050405020304" pitchFamily="18" charset="0"/>
                      </a:rPr>
                      <m:t>·</m:t>
                    </m:r>
                    <m:sSup>
                      <m:sSupPr>
                        <m:ctrlPr>
                          <a:rPr lang="en-US" altLang="en-US" sz="2000" i="1" dirty="0">
                            <a:solidFill>
                              <a:schemeClr val="tx1"/>
                            </a:solidFill>
                            <a:latin typeface="Cambria Math"/>
                            <a:cs typeface="Times New Roman" panose="02020603050405020304" pitchFamily="18" charset="0"/>
                          </a:rPr>
                        </m:ctrlPr>
                      </m:sSupPr>
                      <m:e>
                        <m:r>
                          <a:rPr lang="es-ES" altLang="en-US" sz="2000" i="1" dirty="0">
                            <a:solidFill>
                              <a:schemeClr val="tx1"/>
                            </a:solidFill>
                            <a:latin typeface="Cambria Math" panose="02040503050406030204" pitchFamily="18" charset="0"/>
                            <a:cs typeface="Times New Roman" panose="02020603050405020304" pitchFamily="18" charset="0"/>
                          </a:rPr>
                          <m:t>𝑎</m:t>
                        </m:r>
                      </m:e>
                      <m:sup>
                        <m:r>
                          <a:rPr lang="es-ES" altLang="en-US" sz="2000" i="1" dirty="0">
                            <a:solidFill>
                              <a:schemeClr val="tx1"/>
                            </a:solidFill>
                            <a:latin typeface="Cambria Math" panose="02040503050406030204" pitchFamily="18" charset="0"/>
                            <a:cs typeface="Times New Roman" panose="02020603050405020304" pitchFamily="18" charset="0"/>
                          </a:rPr>
                          <m:t>𝑛</m:t>
                        </m:r>
                      </m:sup>
                    </m:sSup>
                    <m:r>
                      <a:rPr lang="es-ES" altLang="en-US" sz="2000" i="1" dirty="0">
                        <a:solidFill>
                          <a:schemeClr val="tx1"/>
                        </a:solidFill>
                        <a:latin typeface="Cambria Math" panose="02040503050406030204" pitchFamily="18" charset="0"/>
                        <a:cs typeface="Times New Roman" panose="02020603050405020304" pitchFamily="18" charset="0"/>
                      </a:rPr>
                      <m:t>=</m:t>
                    </m:r>
                    <m:sSup>
                      <m:sSupPr>
                        <m:ctrlPr>
                          <a:rPr lang="en-US" altLang="en-US" sz="2000" i="1" dirty="0">
                            <a:solidFill>
                              <a:schemeClr val="tx1"/>
                            </a:solidFill>
                            <a:latin typeface="Cambria Math"/>
                            <a:cs typeface="Times New Roman" panose="02020603050405020304" pitchFamily="18" charset="0"/>
                          </a:rPr>
                        </m:ctrlPr>
                      </m:sSupPr>
                      <m:e>
                        <m:r>
                          <a:rPr lang="es-ES" altLang="en-US" sz="2000" i="1" dirty="0">
                            <a:solidFill>
                              <a:schemeClr val="tx1"/>
                            </a:solidFill>
                            <a:latin typeface="Cambria Math" panose="02040503050406030204" pitchFamily="18" charset="0"/>
                            <a:cs typeface="Times New Roman" panose="02020603050405020304" pitchFamily="18" charset="0"/>
                          </a:rPr>
                          <m:t>𝑎</m:t>
                        </m:r>
                      </m:e>
                      <m:sup>
                        <m:r>
                          <a:rPr lang="es-ES" altLang="en-US" sz="2000" i="1" dirty="0">
                            <a:solidFill>
                              <a:schemeClr val="tx1"/>
                            </a:solidFill>
                            <a:latin typeface="Cambria Math" panose="02040503050406030204" pitchFamily="18" charset="0"/>
                            <a:cs typeface="Times New Roman" panose="02020603050405020304" pitchFamily="18" charset="0"/>
                          </a:rPr>
                          <m:t>𝑚</m:t>
                        </m:r>
                        <m:r>
                          <a:rPr lang="es-ES" altLang="en-US" sz="2000" i="1" dirty="0">
                            <a:solidFill>
                              <a:schemeClr val="tx1"/>
                            </a:solidFill>
                            <a:latin typeface="Cambria Math" panose="02040503050406030204" pitchFamily="18" charset="0"/>
                            <a:cs typeface="Times New Roman" panose="02020603050405020304" pitchFamily="18" charset="0"/>
                          </a:rPr>
                          <m:t>+</m:t>
                        </m:r>
                        <m:r>
                          <a:rPr lang="es-ES" altLang="en-US" sz="2000" i="1" dirty="0">
                            <a:solidFill>
                              <a:schemeClr val="tx1"/>
                            </a:solidFill>
                            <a:latin typeface="Cambria Math" panose="02040503050406030204" pitchFamily="18" charset="0"/>
                            <a:cs typeface="Times New Roman" panose="02020603050405020304" pitchFamily="18" charset="0"/>
                          </a:rPr>
                          <m:t>𝑛</m:t>
                        </m:r>
                      </m:sup>
                    </m:sSup>
                  </m:oMath>
                </a14:m>
                <a:endPar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p:txBody>
          </p:sp>
        </mc:Choice>
        <mc:Fallback xmlns="">
          <p:sp>
            <p:nvSpPr>
              <p:cNvPr id="4" name="Rectangle 3">
                <a:extLst>
                  <a:ext uri="{FF2B5EF4-FFF2-40B4-BE49-F238E27FC236}">
                    <a16:creationId xmlns:a16="http://schemas.microsoft.com/office/drawing/2014/main" id="{FE208A00-51E7-C544-ABDE-AE9DC3DAAB4C}"/>
                  </a:ext>
                </a:extLst>
              </p:cNvPr>
              <p:cNvSpPr>
                <a:spLocks noRot="1" noChangeAspect="1" noMove="1" noResize="1" noEditPoints="1" noAdjustHandles="1" noChangeArrowheads="1" noChangeShapeType="1" noTextEdit="1"/>
              </p:cNvSpPr>
              <p:nvPr/>
            </p:nvSpPr>
            <p:spPr bwMode="auto">
              <a:xfrm>
                <a:off x="730330" y="1235733"/>
                <a:ext cx="11185745" cy="5042406"/>
              </a:xfrm>
              <a:prstGeom prst="rect">
                <a:avLst/>
              </a:prstGeom>
              <a:blipFill>
                <a:blip r:embed="rId4"/>
                <a:stretch>
                  <a:fillRect l="-567" t="-754" b="-1508"/>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grpSp>
        <p:nvGrpSpPr>
          <p:cNvPr id="10" name="Group 9">
            <a:extLst>
              <a:ext uri="{FF2B5EF4-FFF2-40B4-BE49-F238E27FC236}">
                <a16:creationId xmlns:a16="http://schemas.microsoft.com/office/drawing/2014/main" xmlns="" id="{63AD1692-18A2-FB46-800A-11AFFA2A560C}"/>
              </a:ext>
            </a:extLst>
          </p:cNvPr>
          <p:cNvGrpSpPr/>
          <p:nvPr/>
        </p:nvGrpSpPr>
        <p:grpSpPr>
          <a:xfrm>
            <a:off x="2781300" y="4919169"/>
            <a:ext cx="6629400" cy="812522"/>
            <a:chOff x="2031300" y="3373600"/>
            <a:chExt cx="6629400" cy="812800"/>
          </a:xfrm>
        </p:grpSpPr>
        <p:sp>
          <p:nvSpPr>
            <p:cNvPr id="11" name="Rectangle 10">
              <a:extLst>
                <a:ext uri="{FF2B5EF4-FFF2-40B4-BE49-F238E27FC236}">
                  <a16:creationId xmlns:a16="http://schemas.microsoft.com/office/drawing/2014/main" xmlns="" id="{3FE34AFB-D60D-F049-8029-A636FDE33D62}"/>
                </a:ext>
              </a:extLst>
            </p:cNvPr>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p:sp>
          <p:nvSpPr>
            <p:cNvPr id="14" name="Rectangle 13">
              <a:extLst>
                <a:ext uri="{FF2B5EF4-FFF2-40B4-BE49-F238E27FC236}">
                  <a16:creationId xmlns:a16="http://schemas.microsoft.com/office/drawing/2014/main" xmlns="" id="{A3A097C6-D3D0-8649-84FD-1F5AA5344900}"/>
                </a:ext>
              </a:extLst>
            </p:cNvPr>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p:grpSp>
      <p:pic>
        <p:nvPicPr>
          <p:cNvPr id="16" name="image14.png" descr="Icon&#10;&#10;Description automatically generated">
            <a:extLst>
              <a:ext uri="{FF2B5EF4-FFF2-40B4-BE49-F238E27FC236}">
                <a16:creationId xmlns:a16="http://schemas.microsoft.com/office/drawing/2014/main" xmlns="" id="{A59ED2D7-1DA1-B245-B8AF-AC1F454F20AA}"/>
              </a:ext>
            </a:extLst>
          </p:cNvPr>
          <p:cNvPicPr/>
          <p:nvPr/>
        </p:nvPicPr>
        <p:blipFill>
          <a:blip r:embed="rId5" cstate="screen">
            <a:extLst>
              <a:ext uri="{28A0092B-C50C-407E-A947-70E740481C1C}">
                <a14:useLocalDpi xmlns:a14="http://schemas.microsoft.com/office/drawing/2010/main"/>
              </a:ext>
            </a:extLst>
          </a:blip>
          <a:srcRect/>
          <a:stretch>
            <a:fillRect/>
          </a:stretch>
        </p:blipFill>
        <p:spPr>
          <a:xfrm>
            <a:off x="356616" y="201168"/>
            <a:ext cx="747431" cy="747431"/>
          </a:xfrm>
          <a:prstGeom prst="rect">
            <a:avLst/>
          </a:prstGeom>
          <a:ln/>
          <a:effectLst>
            <a:outerShdw blurRad="50800" dist="38100" dir="2700000" algn="tl" rotWithShape="0">
              <a:prstClr val="black">
                <a:alpha val="40000"/>
              </a:prstClr>
            </a:outerShdw>
          </a:effectLst>
        </p:spPr>
      </p:pic>
      <p:grpSp>
        <p:nvGrpSpPr>
          <p:cNvPr id="3" name="Group 2"/>
          <p:cNvGrpSpPr/>
          <p:nvPr/>
        </p:nvGrpSpPr>
        <p:grpSpPr>
          <a:xfrm>
            <a:off x="2083303" y="2350932"/>
            <a:ext cx="8025394" cy="1367750"/>
            <a:chOff x="559303" y="2196971"/>
            <a:chExt cx="8025394" cy="1367750"/>
          </a:xfrm>
        </p:grpSpPr>
        <p:sp>
          <p:nvSpPr>
            <p:cNvPr id="15" name="Rectangle: Rounded Corners 69">
              <a:extLst>
                <a:ext uri="{FF2B5EF4-FFF2-40B4-BE49-F238E27FC236}">
                  <a16:creationId xmlns:a16="http://schemas.microsoft.com/office/drawing/2014/main" xmlns="" id="{D98A6462-204F-D944-AEC6-6E60CF008E43}"/>
                </a:ext>
              </a:extLst>
            </p:cNvPr>
            <p:cNvSpPr/>
            <p:nvPr/>
          </p:nvSpPr>
          <p:spPr>
            <a:xfrm>
              <a:off x="559303" y="2196971"/>
              <a:ext cx="8025394" cy="1367750"/>
            </a:xfrm>
            <a:prstGeom prst="roundRect">
              <a:avLst/>
            </a:prstGeom>
            <a:solidFill>
              <a:srgbClr val="B8E7F5"/>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91440" rIns="91440" bIns="91440" numCol="1" spcCol="0" rtlCol="0" fromWordArt="0" anchor="ctr" anchorCtr="0" forceAA="0" compatLnSpc="1">
              <a:prstTxWarp prst="textNoShape">
                <a:avLst/>
              </a:prstTxWarp>
              <a:spAutoFit/>
            </a:bodyPr>
            <a:lstStyle/>
            <a:p>
              <a:pPr marL="685800">
                <a:spcAft>
                  <a:spcPts val="1000"/>
                </a:spcAft>
              </a:pPr>
              <a:r>
                <a:rPr lang="en-US" sz="2000" b="1" dirty="0">
                  <a:solidFill>
                    <a:srgbClr val="00619E"/>
                  </a:solidFill>
                  <a:latin typeface="Verdana" panose="020B0604030504040204" pitchFamily="34" charset="0"/>
                  <a:ea typeface="Times New Roman" panose="02020603050405020304" pitchFamily="18" charset="0"/>
                  <a:cs typeface="Times New Roman" panose="02020603050405020304" pitchFamily="18" charset="0"/>
                </a:rPr>
                <a:t>Product of Powers Exponent Law</a:t>
              </a:r>
              <a:endParaRPr lang="x-none" dirty="0">
                <a:ea typeface="Times New Roman" panose="02020603050405020304" pitchFamily="18" charset="0"/>
                <a:cs typeface="Times New Roman" panose="02020603050405020304" pitchFamily="18" charset="0"/>
              </a:endParaRPr>
            </a:p>
            <a:p>
              <a:pPr marL="685800">
                <a:spcAft>
                  <a:spcPts val="1000"/>
                </a:spcAft>
              </a:pPr>
              <a:r>
                <a:rPr lang="en-US" sz="2000" dirty="0">
                  <a:solidFill>
                    <a:srgbClr val="00619E"/>
                  </a:solidFill>
                  <a:latin typeface="Verdana" panose="020B0604030504040204" pitchFamily="34" charset="0"/>
                  <a:ea typeface="Times New Roman" panose="02020603050405020304" pitchFamily="18" charset="0"/>
                  <a:cs typeface="Times New Roman" panose="02020603050405020304" pitchFamily="18" charset="0"/>
                </a:rPr>
                <a:t>When multiplying two powers that have the same nonzero base, keep the base and add the exponents.</a:t>
              </a:r>
              <a:endParaRPr lang="x-none" dirty="0">
                <a:ea typeface="Times New Roman" panose="02020603050405020304" pitchFamily="18" charset="0"/>
                <a:cs typeface="Times New Roman" panose="02020603050405020304" pitchFamily="18" charset="0"/>
              </a:endParaRPr>
            </a:p>
          </p:txBody>
        </p:sp>
        <p:pic>
          <p:nvPicPr>
            <p:cNvPr id="17" name="Shape 23" descr="Icon&#10;&#10;Description automatically generated">
              <a:extLst>
                <a:ext uri="{FF2B5EF4-FFF2-40B4-BE49-F238E27FC236}">
                  <a16:creationId xmlns:a16="http://schemas.microsoft.com/office/drawing/2014/main" xmlns="" id="{E282A280-9270-4A48-B21D-D0EE28D97F2E}"/>
                </a:ext>
              </a:extLst>
            </p:cNvPr>
            <p:cNvPicPr/>
            <p:nvPr/>
          </p:nvPicPr>
          <p:blipFill rotWithShape="1">
            <a:blip r:embed="rId6" cstate="screen">
              <a:alphaModFix/>
              <a:extLst>
                <a:ext uri="{28A0092B-C50C-407E-A947-70E740481C1C}">
                  <a14:useLocalDpi xmlns:a14="http://schemas.microsoft.com/office/drawing/2010/main"/>
                </a:ext>
              </a:extLst>
            </a:blip>
            <a:srcRect/>
            <a:stretch/>
          </p:blipFill>
          <p:spPr>
            <a:xfrm>
              <a:off x="717550" y="2341926"/>
              <a:ext cx="539750" cy="538920"/>
            </a:xfrm>
            <a:prstGeom prst="rect">
              <a:avLst/>
            </a:prstGeom>
            <a:noFill/>
            <a:ln>
              <a:noFill/>
            </a:ln>
            <a:effectLst>
              <a:outerShdw blurRad="50800" dist="38100" dir="2700000" algn="tl" rotWithShape="0">
                <a:prstClr val="black">
                  <a:alpha val="40000"/>
                </a:prstClr>
              </a:outerShdw>
            </a:effectLst>
          </p:spPr>
        </p:pic>
      </p:grpSp>
    </p:spTree>
    <p:extLst>
      <p:ext uri="{BB962C8B-B14F-4D97-AF65-F5344CB8AC3E}">
        <p14:creationId xmlns:p14="http://schemas.microsoft.com/office/powerpoint/2010/main" val="29994051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84</a:t>
            </a:r>
            <a:endParaRPr i="1" dirty="0">
              <a:latin typeface="Calibri"/>
              <a:ea typeface="Calibri"/>
              <a:cs typeface="Calibri"/>
              <a:sym typeface="Calibri"/>
            </a:endParaRPr>
          </a:p>
        </p:txBody>
      </p:sp>
      <mc:AlternateContent xmlns:mc="http://schemas.openxmlformats.org/markup-compatibility/2006">
        <mc:Choice xmlns:a14="http://schemas.microsoft.com/office/drawing/2010/main" Requires="a14">
          <p:sp>
            <p:nvSpPr>
              <p:cNvPr id="9" name="Rectangle 8">
                <a:extLst>
                  <a:ext uri="{FF2B5EF4-FFF2-40B4-BE49-F238E27FC236}">
                    <a16:creationId xmlns:a16="http://schemas.microsoft.com/office/drawing/2014/main" xmlns="" id="{5C5D1B9F-A752-AD42-8D60-9B883A2514E7}"/>
                  </a:ext>
                </a:extLst>
              </p:cNvPr>
              <p:cNvSpPr>
                <a:spLocks noChangeArrowheads="1"/>
              </p:cNvSpPr>
              <p:nvPr/>
            </p:nvSpPr>
            <p:spPr bwMode="auto">
              <a:xfrm>
                <a:off x="543585" y="382314"/>
                <a:ext cx="10953131" cy="4457631"/>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457200" indent="-457200" eaLnBrk="0" fontAlgn="base" hangingPunct="0">
                  <a:spcBef>
                    <a:spcPct val="0"/>
                  </a:spcBef>
                  <a:spcAft>
                    <a:spcPts val="2000"/>
                  </a:spcAft>
                  <a:buClrTx/>
                  <a:buFont typeface="+mj-lt"/>
                  <a:buAutoNum type="arabicPeriod" startAt="2"/>
                </a:pPr>
                <a:endParaRPr lang="en-US" alt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eaLnBrk="0" fontAlgn="base" hangingPunct="0">
                  <a:spcBef>
                    <a:spcPct val="0"/>
                  </a:spcBef>
                  <a:spcAft>
                    <a:spcPts val="2000"/>
                  </a:spcAft>
                  <a:buClrTx/>
                  <a:buFont typeface="+mj-lt"/>
                  <a:buAutoNum type="arabicPeriod" startAt="2"/>
                </a:pPr>
                <a:endParaRPr lang="en-US" alt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eaLnBrk="0" fontAlgn="base" hangingPunct="0">
                  <a:spcBef>
                    <a:spcPct val="0"/>
                  </a:spcBef>
                  <a:spcAft>
                    <a:spcPts val="2000"/>
                  </a:spcAft>
                  <a:buClrTx/>
                  <a:buFont typeface="+mj-lt"/>
                  <a:buAutoNum type="arabicPeriod" startAt="2"/>
                </a:pPr>
                <a:endParaRPr lang="en-US" alt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eaLnBrk="0" fontAlgn="base" hangingPunct="0">
                  <a:spcBef>
                    <a:spcPct val="0"/>
                  </a:spcBef>
                  <a:spcAft>
                    <a:spcPts val="2000"/>
                  </a:spcAft>
                  <a:buClrTx/>
                  <a:buFont typeface="+mj-lt"/>
                  <a:buAutoNum type="arabicPeriod" startAt="2"/>
                </a:pPr>
                <a:r>
                  <a:rPr lang="en-US" altLang="en-US" sz="2400" dirty="0">
                    <a:latin typeface="Verdana" panose="020B0604030504040204" pitchFamily="34" charset="0"/>
                    <a:ea typeface="Times New Roman" panose="02020603050405020304" pitchFamily="18" charset="0"/>
                    <a:cs typeface="Times New Roman" panose="02020603050405020304" pitchFamily="18" charset="0"/>
                  </a:rPr>
                  <a:t>Which is an example of the power of a </a:t>
                </a:r>
                <a:r>
                  <a:rPr lang="en-US" altLang="en-US" sz="2400" dirty="0" smtClean="0">
                    <a:latin typeface="Verdana" panose="020B0604030504040204" pitchFamily="34" charset="0"/>
                    <a:ea typeface="Times New Roman" panose="02020603050405020304" pitchFamily="18" charset="0"/>
                    <a:cs typeface="Times New Roman" panose="02020603050405020304" pitchFamily="18" charset="0"/>
                  </a:rPr>
                  <a:t>power exponent </a:t>
                </a:r>
                <a:r>
                  <a:rPr lang="en-US" altLang="en-US" sz="2400" dirty="0">
                    <a:latin typeface="Verdana" panose="020B0604030504040204" pitchFamily="34" charset="0"/>
                    <a:ea typeface="Times New Roman" panose="02020603050405020304" pitchFamily="18" charset="0"/>
                    <a:cs typeface="Times New Roman" panose="02020603050405020304" pitchFamily="18" charset="0"/>
                  </a:rPr>
                  <a:t>law?</a:t>
                </a:r>
              </a:p>
              <a:p>
                <a:pPr marL="798513" indent="-304800" eaLnBrk="0" fontAlgn="base" hangingPunct="0">
                  <a:spcBef>
                    <a:spcPct val="0"/>
                  </a:spcBef>
                  <a:spcAft>
                    <a:spcPts val="1000"/>
                  </a:spcAft>
                  <a:buClrTx/>
                  <a:buFont typeface="Courier New" panose="02070309020205020404" pitchFamily="49" charset="0"/>
                  <a:buChar char="o"/>
                </a:pPr>
                <a14:m>
                  <m:oMath xmlns:m="http://schemas.openxmlformats.org/officeDocument/2006/math">
                    <m:sSup>
                      <m:sSupPr>
                        <m:ctrlPr>
                          <a:rPr lang="en-US" altLang="en-US" sz="2400" i="1" dirty="0">
                            <a:latin typeface="Cambria Math"/>
                            <a:cs typeface="Times New Roman" panose="02020603050405020304" pitchFamily="18" charset="0"/>
                          </a:rPr>
                        </m:ctrlPr>
                      </m:sSupPr>
                      <m:e>
                        <m:d>
                          <m:dPr>
                            <m:ctrlPr>
                              <a:rPr lang="en-US" altLang="en-US" sz="2400" i="1" dirty="0">
                                <a:latin typeface="Cambria Math"/>
                                <a:cs typeface="Times New Roman" panose="02020603050405020304" pitchFamily="18" charset="0"/>
                              </a:rPr>
                            </m:ctrlPr>
                          </m:dPr>
                          <m:e>
                            <m:sSup>
                              <m:sSupPr>
                                <m:ctrlPr>
                                  <a:rPr lang="en-US" altLang="en-US" sz="2400" i="1" dirty="0">
                                    <a:latin typeface="Cambria Math"/>
                                    <a:cs typeface="Times New Roman" panose="02020603050405020304" pitchFamily="18" charset="0"/>
                                  </a:rPr>
                                </m:ctrlPr>
                              </m:sSupPr>
                              <m:e>
                                <m:r>
                                  <a:rPr lang="es-ES" altLang="en-US" sz="2400" i="1" dirty="0">
                                    <a:latin typeface="Cambria Math" panose="02040503050406030204" pitchFamily="18" charset="0"/>
                                    <a:cs typeface="Times New Roman" panose="02020603050405020304" pitchFamily="18" charset="0"/>
                                  </a:rPr>
                                  <m:t>𝑎</m:t>
                                </m:r>
                              </m:e>
                              <m:sup>
                                <m:r>
                                  <a:rPr lang="es-ES" altLang="en-US" sz="2400" i="1" dirty="0">
                                    <a:latin typeface="Cambria Math" panose="02040503050406030204" pitchFamily="18" charset="0"/>
                                    <a:cs typeface="Times New Roman" panose="02020603050405020304" pitchFamily="18" charset="0"/>
                                  </a:rPr>
                                  <m:t>𝑚</m:t>
                                </m:r>
                              </m:sup>
                            </m:sSup>
                          </m:e>
                        </m:d>
                      </m:e>
                      <m:sup>
                        <m:r>
                          <a:rPr lang="es-ES" altLang="en-US" sz="2400" i="1" dirty="0">
                            <a:latin typeface="Cambria Math" panose="02040503050406030204" pitchFamily="18" charset="0"/>
                            <a:cs typeface="Times New Roman" panose="02020603050405020304" pitchFamily="18" charset="0"/>
                          </a:rPr>
                          <m:t>𝑛</m:t>
                        </m:r>
                      </m:sup>
                    </m:sSup>
                    <m:r>
                      <a:rPr lang="en-US" altLang="en-US" sz="2400" i="1" dirty="0">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US" altLang="en-US" sz="2400" i="1" dirty="0">
                            <a:latin typeface="Cambria Math"/>
                            <a:cs typeface="Times New Roman" panose="02020603050405020304" pitchFamily="18" charset="0"/>
                          </a:rPr>
                        </m:ctrlPr>
                      </m:sSupPr>
                      <m:e>
                        <m:r>
                          <a:rPr lang="es-ES" altLang="en-US" sz="2400" i="1" dirty="0">
                            <a:latin typeface="Cambria Math" panose="02040503050406030204" pitchFamily="18" charset="0"/>
                            <a:cs typeface="Times New Roman" panose="02020603050405020304" pitchFamily="18" charset="0"/>
                          </a:rPr>
                          <m:t>𝑎</m:t>
                        </m:r>
                      </m:e>
                      <m:sup>
                        <m:r>
                          <a:rPr lang="es-ES" altLang="en-US" sz="2400" i="1" dirty="0">
                            <a:latin typeface="Cambria Math" panose="02040503050406030204" pitchFamily="18" charset="0"/>
                            <a:cs typeface="Times New Roman" panose="02020603050405020304" pitchFamily="18" charset="0"/>
                          </a:rPr>
                          <m:t>𝑚𝑛</m:t>
                        </m:r>
                      </m:sup>
                    </m:sSup>
                  </m:oMath>
                </a14:m>
                <a:endParaRPr lang="en-US" altLang="en-US" sz="2400" dirty="0">
                  <a:latin typeface="Verdana" panose="020B0604030504040204" pitchFamily="34" charset="0"/>
                  <a:ea typeface="Times New Roman" panose="02020603050405020304" pitchFamily="18" charset="0"/>
                  <a:cs typeface="Times New Roman" panose="02020603050405020304" pitchFamily="18" charset="0"/>
                </a:endParaRPr>
              </a:p>
              <a:p>
                <a:pPr marL="798513" indent="-304800" eaLnBrk="0" fontAlgn="base" hangingPunct="0">
                  <a:spcBef>
                    <a:spcPct val="0"/>
                  </a:spcBef>
                  <a:spcAft>
                    <a:spcPts val="1000"/>
                  </a:spcAft>
                  <a:buClrTx/>
                  <a:buFont typeface="Courier New" panose="02070309020205020404" pitchFamily="49" charset="0"/>
                  <a:buChar char="o"/>
                </a:pPr>
                <a14:m>
                  <m:oMath xmlns:m="http://schemas.openxmlformats.org/officeDocument/2006/math">
                    <m:sSup>
                      <m:sSupPr>
                        <m:ctrlPr>
                          <a:rPr lang="en-US" altLang="en-US" sz="2400" i="1" dirty="0">
                            <a:latin typeface="Cambria Math"/>
                            <a:cs typeface="Times New Roman" panose="02020603050405020304" pitchFamily="18" charset="0"/>
                          </a:rPr>
                        </m:ctrlPr>
                      </m:sSupPr>
                      <m:e>
                        <m:d>
                          <m:dPr>
                            <m:ctrlPr>
                              <a:rPr lang="en-US" altLang="en-US" sz="2400" i="1" dirty="0">
                                <a:latin typeface="Cambria Math"/>
                                <a:cs typeface="Times New Roman" panose="02020603050405020304" pitchFamily="18" charset="0"/>
                              </a:rPr>
                            </m:ctrlPr>
                          </m:dPr>
                          <m:e>
                            <m:sSup>
                              <m:sSupPr>
                                <m:ctrlPr>
                                  <a:rPr lang="en-US" altLang="en-US" sz="2400" i="1" dirty="0">
                                    <a:latin typeface="Cambria Math"/>
                                    <a:cs typeface="Times New Roman" panose="02020603050405020304" pitchFamily="18" charset="0"/>
                                  </a:rPr>
                                </m:ctrlPr>
                              </m:sSupPr>
                              <m:e>
                                <m:r>
                                  <a:rPr lang="es-ES" altLang="en-US" sz="2400" i="1" dirty="0">
                                    <a:latin typeface="Cambria Math" panose="02040503050406030204" pitchFamily="18" charset="0"/>
                                    <a:cs typeface="Times New Roman" panose="02020603050405020304" pitchFamily="18" charset="0"/>
                                  </a:rPr>
                                  <m:t>𝑎</m:t>
                                </m:r>
                              </m:e>
                              <m:sup>
                                <m:r>
                                  <a:rPr lang="es-ES" altLang="en-US" sz="2400" i="1" dirty="0">
                                    <a:latin typeface="Cambria Math" panose="02040503050406030204" pitchFamily="18" charset="0"/>
                                    <a:cs typeface="Times New Roman" panose="02020603050405020304" pitchFamily="18" charset="0"/>
                                  </a:rPr>
                                  <m:t>𝑚</m:t>
                                </m:r>
                              </m:sup>
                            </m:sSup>
                          </m:e>
                        </m:d>
                      </m:e>
                      <m:sup>
                        <m:r>
                          <a:rPr lang="es-ES" altLang="en-US" sz="2400" i="1" dirty="0">
                            <a:latin typeface="Cambria Math" panose="02040503050406030204" pitchFamily="18" charset="0"/>
                            <a:cs typeface="Times New Roman" panose="02020603050405020304" pitchFamily="18" charset="0"/>
                          </a:rPr>
                          <m:t>𝑛</m:t>
                        </m:r>
                      </m:sup>
                    </m:sSup>
                    <m:r>
                      <a:rPr lang="en-US" altLang="en-US" sz="2400" i="1" dirty="0">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US" altLang="en-US" sz="2400" i="1" dirty="0">
                            <a:latin typeface="Cambria Math"/>
                            <a:cs typeface="Times New Roman" panose="02020603050405020304" pitchFamily="18" charset="0"/>
                          </a:rPr>
                        </m:ctrlPr>
                      </m:sSupPr>
                      <m:e>
                        <m:r>
                          <a:rPr lang="es-ES" altLang="en-US" sz="2400" i="1" dirty="0">
                            <a:latin typeface="Cambria Math" panose="02040503050406030204" pitchFamily="18" charset="0"/>
                            <a:cs typeface="Times New Roman" panose="02020603050405020304" pitchFamily="18" charset="0"/>
                          </a:rPr>
                          <m:t>𝑎</m:t>
                        </m:r>
                      </m:e>
                      <m:sup>
                        <m:r>
                          <a:rPr lang="es-ES" altLang="en-US" sz="2400" i="1" dirty="0">
                            <a:latin typeface="Cambria Math" panose="02040503050406030204" pitchFamily="18" charset="0"/>
                            <a:cs typeface="Times New Roman" panose="02020603050405020304" pitchFamily="18" charset="0"/>
                          </a:rPr>
                          <m:t>𝑚</m:t>
                        </m:r>
                        <m:r>
                          <a:rPr lang="es-ES" altLang="en-US" sz="2400" i="1" dirty="0">
                            <a:latin typeface="Cambria Math" panose="02040503050406030204" pitchFamily="18" charset="0"/>
                            <a:cs typeface="Times New Roman" panose="02020603050405020304" pitchFamily="18" charset="0"/>
                          </a:rPr>
                          <m:t>+</m:t>
                        </m:r>
                        <m:r>
                          <a:rPr lang="es-ES" altLang="en-US" sz="2400" i="1" dirty="0">
                            <a:latin typeface="Cambria Math" panose="02040503050406030204" pitchFamily="18" charset="0"/>
                            <a:cs typeface="Times New Roman" panose="02020603050405020304" pitchFamily="18" charset="0"/>
                          </a:rPr>
                          <m:t>𝑛</m:t>
                        </m:r>
                      </m:sup>
                    </m:sSup>
                  </m:oMath>
                </a14:m>
                <a:endParaRPr lang="en-US" altLang="en-US" sz="2400" dirty="0">
                  <a:latin typeface="Verdana" panose="020B0604030504040204" pitchFamily="34" charset="0"/>
                  <a:ea typeface="Times New Roman" panose="02020603050405020304" pitchFamily="18" charset="0"/>
                  <a:cs typeface="Times New Roman" panose="02020603050405020304" pitchFamily="18" charset="0"/>
                </a:endParaRPr>
              </a:p>
              <a:p>
                <a:pPr marL="798513" indent="-304800" eaLnBrk="0" fontAlgn="base" hangingPunct="0">
                  <a:spcBef>
                    <a:spcPct val="0"/>
                  </a:spcBef>
                  <a:spcAft>
                    <a:spcPts val="1000"/>
                  </a:spcAft>
                  <a:buClrTx/>
                  <a:buFont typeface="Courier New" panose="02070309020205020404" pitchFamily="49" charset="0"/>
                  <a:buChar char="o"/>
                </a:pPr>
                <a14:m>
                  <m:oMath xmlns:m="http://schemas.openxmlformats.org/officeDocument/2006/math">
                    <m:sSup>
                      <m:sSupPr>
                        <m:ctrlPr>
                          <a:rPr lang="en-US" altLang="en-US" sz="2400" i="1" dirty="0">
                            <a:latin typeface="Cambria Math"/>
                            <a:cs typeface="Times New Roman" panose="02020603050405020304" pitchFamily="18" charset="0"/>
                          </a:rPr>
                        </m:ctrlPr>
                      </m:sSupPr>
                      <m:e>
                        <m:r>
                          <a:rPr lang="es-ES" altLang="en-US" sz="2400" i="1" dirty="0">
                            <a:latin typeface="Cambria Math" panose="02040503050406030204" pitchFamily="18" charset="0"/>
                            <a:cs typeface="Times New Roman" panose="02020603050405020304" pitchFamily="18" charset="0"/>
                          </a:rPr>
                          <m:t>𝑎</m:t>
                        </m:r>
                      </m:e>
                      <m:sup>
                        <m:r>
                          <a:rPr lang="es-ES" altLang="en-US" sz="2400" i="1" dirty="0">
                            <a:latin typeface="Cambria Math" panose="02040503050406030204" pitchFamily="18" charset="0"/>
                            <a:cs typeface="Times New Roman" panose="02020603050405020304" pitchFamily="18" charset="0"/>
                          </a:rPr>
                          <m:t>𝑚</m:t>
                        </m:r>
                      </m:sup>
                    </m:sSup>
                    <m:r>
                      <a:rPr lang="es-ES" altLang="en-US" sz="2400" i="1" dirty="0">
                        <a:latin typeface="Cambria Math" panose="02040503050406030204" pitchFamily="18" charset="0"/>
                        <a:cs typeface="Times New Roman" panose="02020603050405020304" pitchFamily="18" charset="0"/>
                      </a:rPr>
                      <m:t>·</m:t>
                    </m:r>
                    <m:sSup>
                      <m:sSupPr>
                        <m:ctrlPr>
                          <a:rPr lang="en-US" altLang="en-US" sz="2400" i="1" dirty="0">
                            <a:latin typeface="Cambria Math"/>
                            <a:cs typeface="Times New Roman" panose="02020603050405020304" pitchFamily="18" charset="0"/>
                          </a:rPr>
                        </m:ctrlPr>
                      </m:sSupPr>
                      <m:e>
                        <m:r>
                          <a:rPr lang="es-ES" altLang="en-US" sz="2400" i="1" dirty="0">
                            <a:latin typeface="Cambria Math" panose="02040503050406030204" pitchFamily="18" charset="0"/>
                            <a:cs typeface="Times New Roman" panose="02020603050405020304" pitchFamily="18" charset="0"/>
                          </a:rPr>
                          <m:t>𝑎</m:t>
                        </m:r>
                      </m:e>
                      <m:sup>
                        <m:r>
                          <a:rPr lang="es-ES" altLang="en-US" sz="2400" i="1" dirty="0">
                            <a:latin typeface="Cambria Math" panose="02040503050406030204" pitchFamily="18" charset="0"/>
                            <a:cs typeface="Times New Roman" panose="02020603050405020304" pitchFamily="18" charset="0"/>
                          </a:rPr>
                          <m:t>𝑛</m:t>
                        </m:r>
                      </m:sup>
                    </m:sSup>
                    <m:r>
                      <a:rPr lang="en-US" altLang="en-US" sz="2400" i="1" dirty="0">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US" altLang="en-US" sz="2400" i="1" dirty="0">
                            <a:latin typeface="Cambria Math"/>
                            <a:cs typeface="Times New Roman" panose="02020603050405020304" pitchFamily="18" charset="0"/>
                          </a:rPr>
                        </m:ctrlPr>
                      </m:sSupPr>
                      <m:e>
                        <m:r>
                          <a:rPr lang="es-ES" altLang="en-US" sz="2400" i="1" dirty="0">
                            <a:latin typeface="Cambria Math" panose="02040503050406030204" pitchFamily="18" charset="0"/>
                            <a:cs typeface="Times New Roman" panose="02020603050405020304" pitchFamily="18" charset="0"/>
                          </a:rPr>
                          <m:t>𝑎</m:t>
                        </m:r>
                      </m:e>
                      <m:sup>
                        <m:r>
                          <a:rPr lang="es-ES" altLang="en-US" sz="2400" i="1" dirty="0">
                            <a:latin typeface="Cambria Math" panose="02040503050406030204" pitchFamily="18" charset="0"/>
                            <a:cs typeface="Times New Roman" panose="02020603050405020304" pitchFamily="18" charset="0"/>
                          </a:rPr>
                          <m:t>𝑚𝑛</m:t>
                        </m:r>
                      </m:sup>
                    </m:sSup>
                  </m:oMath>
                </a14:m>
                <a:endParaRPr lang="en-US" altLang="en-US" sz="2400" dirty="0">
                  <a:latin typeface="Verdana" panose="020B0604030504040204" pitchFamily="34" charset="0"/>
                  <a:ea typeface="Times New Roman" panose="02020603050405020304" pitchFamily="18" charset="0"/>
                  <a:cs typeface="Times New Roman" panose="02020603050405020304" pitchFamily="18" charset="0"/>
                </a:endParaRPr>
              </a:p>
              <a:p>
                <a:pPr marL="798513" indent="-304800" eaLnBrk="0" fontAlgn="base" hangingPunct="0">
                  <a:spcBef>
                    <a:spcPct val="0"/>
                  </a:spcBef>
                  <a:spcAft>
                    <a:spcPct val="0"/>
                  </a:spcAft>
                  <a:buClrTx/>
                  <a:buFont typeface="Courier New" panose="02070309020205020404" pitchFamily="49" charset="0"/>
                  <a:buChar char="o"/>
                </a:pPr>
                <a14:m>
                  <m:oMath xmlns:m="http://schemas.openxmlformats.org/officeDocument/2006/math">
                    <m:sSup>
                      <m:sSupPr>
                        <m:ctrlPr>
                          <a:rPr lang="en-US" altLang="en-US" sz="2400" i="1" dirty="0">
                            <a:latin typeface="Cambria Math"/>
                            <a:cs typeface="Times New Roman" panose="02020603050405020304" pitchFamily="18" charset="0"/>
                          </a:rPr>
                        </m:ctrlPr>
                      </m:sSupPr>
                      <m:e>
                        <m:r>
                          <a:rPr lang="es-ES" altLang="en-US" sz="2400" i="1" dirty="0">
                            <a:latin typeface="Cambria Math" panose="02040503050406030204" pitchFamily="18" charset="0"/>
                            <a:cs typeface="Times New Roman" panose="02020603050405020304" pitchFamily="18" charset="0"/>
                          </a:rPr>
                          <m:t>𝑎</m:t>
                        </m:r>
                      </m:e>
                      <m:sup>
                        <m:r>
                          <a:rPr lang="es-ES" altLang="en-US" sz="2400" i="1" dirty="0">
                            <a:latin typeface="Cambria Math" panose="02040503050406030204" pitchFamily="18" charset="0"/>
                            <a:cs typeface="Times New Roman" panose="02020603050405020304" pitchFamily="18" charset="0"/>
                          </a:rPr>
                          <m:t>𝑚</m:t>
                        </m:r>
                      </m:sup>
                    </m:sSup>
                    <m:r>
                      <a:rPr lang="es-ES" altLang="en-US" sz="2400" i="1" dirty="0">
                        <a:latin typeface="Cambria Math" panose="02040503050406030204" pitchFamily="18" charset="0"/>
                        <a:cs typeface="Times New Roman" panose="02020603050405020304" pitchFamily="18" charset="0"/>
                      </a:rPr>
                      <m:t>·</m:t>
                    </m:r>
                    <m:sSup>
                      <m:sSupPr>
                        <m:ctrlPr>
                          <a:rPr lang="en-US" altLang="en-US" sz="2400" i="1" dirty="0">
                            <a:latin typeface="Cambria Math"/>
                            <a:cs typeface="Times New Roman" panose="02020603050405020304" pitchFamily="18" charset="0"/>
                          </a:rPr>
                        </m:ctrlPr>
                      </m:sSupPr>
                      <m:e>
                        <m:r>
                          <a:rPr lang="es-ES" altLang="en-US" sz="2400" i="1" dirty="0">
                            <a:latin typeface="Cambria Math" panose="02040503050406030204" pitchFamily="18" charset="0"/>
                            <a:cs typeface="Times New Roman" panose="02020603050405020304" pitchFamily="18" charset="0"/>
                          </a:rPr>
                          <m:t>𝑎</m:t>
                        </m:r>
                      </m:e>
                      <m:sup>
                        <m:r>
                          <a:rPr lang="es-ES" altLang="en-US" sz="2400" i="1" dirty="0">
                            <a:latin typeface="Cambria Math" panose="02040503050406030204" pitchFamily="18" charset="0"/>
                            <a:cs typeface="Times New Roman" panose="02020603050405020304" pitchFamily="18" charset="0"/>
                          </a:rPr>
                          <m:t>𝑛</m:t>
                        </m:r>
                      </m:sup>
                    </m:sSup>
                    <m:r>
                      <a:rPr lang="es-ES" altLang="en-US" sz="2400" i="1" dirty="0">
                        <a:latin typeface="Cambria Math" panose="02040503050406030204" pitchFamily="18" charset="0"/>
                        <a:cs typeface="Times New Roman" panose="02020603050405020304" pitchFamily="18" charset="0"/>
                      </a:rPr>
                      <m:t>=</m:t>
                    </m:r>
                    <m:sSup>
                      <m:sSupPr>
                        <m:ctrlPr>
                          <a:rPr lang="en-US" altLang="en-US" sz="2400" i="1" dirty="0">
                            <a:latin typeface="Cambria Math"/>
                            <a:cs typeface="Times New Roman" panose="02020603050405020304" pitchFamily="18" charset="0"/>
                          </a:rPr>
                        </m:ctrlPr>
                      </m:sSupPr>
                      <m:e>
                        <m:r>
                          <a:rPr lang="es-ES" altLang="en-US" sz="2400" i="1" dirty="0">
                            <a:latin typeface="Cambria Math" panose="02040503050406030204" pitchFamily="18" charset="0"/>
                            <a:cs typeface="Times New Roman" panose="02020603050405020304" pitchFamily="18" charset="0"/>
                          </a:rPr>
                          <m:t>𝑎</m:t>
                        </m:r>
                      </m:e>
                      <m:sup>
                        <m:r>
                          <a:rPr lang="es-ES" altLang="en-US" sz="2400" i="1" dirty="0">
                            <a:latin typeface="Cambria Math" panose="02040503050406030204" pitchFamily="18" charset="0"/>
                            <a:cs typeface="Times New Roman" panose="02020603050405020304" pitchFamily="18" charset="0"/>
                          </a:rPr>
                          <m:t>𝑚</m:t>
                        </m:r>
                        <m:r>
                          <a:rPr lang="es-ES" altLang="en-US" sz="2400" i="1" dirty="0">
                            <a:latin typeface="Cambria Math" panose="02040503050406030204" pitchFamily="18" charset="0"/>
                            <a:cs typeface="Times New Roman" panose="02020603050405020304" pitchFamily="18" charset="0"/>
                          </a:rPr>
                          <m:t>+</m:t>
                        </m:r>
                        <m:r>
                          <a:rPr lang="es-ES" altLang="en-US" sz="2400" i="1" dirty="0">
                            <a:latin typeface="Cambria Math" panose="02040503050406030204" pitchFamily="18" charset="0"/>
                            <a:cs typeface="Times New Roman" panose="02020603050405020304" pitchFamily="18" charset="0"/>
                          </a:rPr>
                          <m:t>𝑛</m:t>
                        </m:r>
                      </m:sup>
                    </m:sSup>
                  </m:oMath>
                </a14:m>
                <a:endParaRPr lang="en-US" altLang="en-US" sz="2400" dirty="0">
                  <a:latin typeface="Verdana" panose="020B0604030504040204" pitchFamily="34" charset="0"/>
                  <a:ea typeface="Times New Roman" panose="02020603050405020304" pitchFamily="18" charset="0"/>
                  <a:cs typeface="Times New Roman" panose="02020603050405020304" pitchFamily="18" charset="0"/>
                </a:endParaRPr>
              </a:p>
            </p:txBody>
          </p:sp>
        </mc:Choice>
        <mc:Fallback>
          <p:sp>
            <p:nvSpPr>
              <p:cNvPr id="9" name="Rectangle 8">
                <a:extLst>
                  <a:ext uri="{FF2B5EF4-FFF2-40B4-BE49-F238E27FC236}">
                    <a16:creationId xmlns:a16="http://schemas.microsoft.com/office/drawing/2014/main" xmlns="" xmlns:a14="http://schemas.microsoft.com/office/drawing/2010/main" id="{5C5D1B9F-A752-AD42-8D60-9B883A2514E7}"/>
                  </a:ext>
                </a:extLst>
              </p:cNvPr>
              <p:cNvSpPr>
                <a:spLocks noRot="1" noChangeAspect="1" noMove="1" noResize="1" noEditPoints="1" noAdjustHandles="1" noChangeArrowheads="1" noChangeShapeType="1" noTextEdit="1"/>
              </p:cNvSpPr>
              <p:nvPr/>
            </p:nvSpPr>
            <p:spPr bwMode="auto">
              <a:xfrm>
                <a:off x="543585" y="382314"/>
                <a:ext cx="10953131" cy="4457631"/>
              </a:xfrm>
              <a:prstGeom prst="rect">
                <a:avLst/>
              </a:prstGeom>
              <a:blipFill rotWithShape="1">
                <a:blip r:embed="rId4"/>
                <a:stretch>
                  <a:fillRect l="-835" b="-2462"/>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PH">
                    <a:noFill/>
                  </a:rPr>
                  <a:t> </a:t>
                </a:r>
              </a:p>
            </p:txBody>
          </p:sp>
        </mc:Fallback>
      </mc:AlternateContent>
      <p:grpSp>
        <p:nvGrpSpPr>
          <p:cNvPr id="10" name="Group 9"/>
          <p:cNvGrpSpPr/>
          <p:nvPr/>
        </p:nvGrpSpPr>
        <p:grpSpPr>
          <a:xfrm>
            <a:off x="2230230" y="382314"/>
            <a:ext cx="8025394" cy="1367750"/>
            <a:chOff x="706230" y="2709093"/>
            <a:chExt cx="8025394" cy="1367750"/>
          </a:xfrm>
        </p:grpSpPr>
        <p:sp>
          <p:nvSpPr>
            <p:cNvPr id="11" name="Rectangle: Rounded Corners 69">
              <a:extLst>
                <a:ext uri="{FF2B5EF4-FFF2-40B4-BE49-F238E27FC236}">
                  <a16:creationId xmlns:a16="http://schemas.microsoft.com/office/drawing/2014/main" xmlns="" id="{D98A6462-204F-D944-AEC6-6E60CF008E43}"/>
                </a:ext>
              </a:extLst>
            </p:cNvPr>
            <p:cNvSpPr/>
            <p:nvPr/>
          </p:nvSpPr>
          <p:spPr>
            <a:xfrm>
              <a:off x="706230" y="2709093"/>
              <a:ext cx="8025394" cy="1367750"/>
            </a:xfrm>
            <a:prstGeom prst="roundRect">
              <a:avLst/>
            </a:prstGeom>
            <a:solidFill>
              <a:srgbClr val="B8E7F5"/>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91440" rIns="91440" bIns="91440" numCol="1" spcCol="0" rtlCol="0" fromWordArt="0" anchor="ctr" anchorCtr="0" forceAA="0" compatLnSpc="1">
              <a:prstTxWarp prst="textNoShape">
                <a:avLst/>
              </a:prstTxWarp>
              <a:spAutoFit/>
            </a:bodyPr>
            <a:lstStyle/>
            <a:p>
              <a:pPr marL="685800">
                <a:spcAft>
                  <a:spcPts val="1000"/>
                </a:spcAft>
              </a:pPr>
              <a:r>
                <a:rPr lang="en-US" sz="2000" b="1" dirty="0">
                  <a:solidFill>
                    <a:srgbClr val="00619E"/>
                  </a:solidFill>
                  <a:latin typeface="Verdana" panose="020B0604030504040204" pitchFamily="34" charset="0"/>
                  <a:ea typeface="Times New Roman" panose="02020603050405020304" pitchFamily="18" charset="0"/>
                  <a:cs typeface="Times New Roman" panose="02020603050405020304" pitchFamily="18" charset="0"/>
                </a:rPr>
                <a:t>Power of a </a:t>
              </a:r>
              <a:r>
                <a:rPr lang="en-US" sz="2000" b="1" dirty="0" smtClean="0">
                  <a:solidFill>
                    <a:srgbClr val="00619E"/>
                  </a:solidFill>
                  <a:latin typeface="Verdana" panose="020B0604030504040204" pitchFamily="34" charset="0"/>
                  <a:ea typeface="Times New Roman" panose="02020603050405020304" pitchFamily="18" charset="0"/>
                  <a:cs typeface="Times New Roman" panose="02020603050405020304" pitchFamily="18" charset="0"/>
                </a:rPr>
                <a:t>Power Exponent </a:t>
              </a:r>
              <a:r>
                <a:rPr lang="en-US" sz="2000" b="1" dirty="0">
                  <a:solidFill>
                    <a:srgbClr val="00619E"/>
                  </a:solidFill>
                  <a:latin typeface="Verdana" panose="020B0604030504040204" pitchFamily="34" charset="0"/>
                  <a:ea typeface="Times New Roman" panose="02020603050405020304" pitchFamily="18" charset="0"/>
                  <a:cs typeface="Times New Roman" panose="02020603050405020304" pitchFamily="18" charset="0"/>
                </a:rPr>
                <a:t>Law</a:t>
              </a:r>
              <a:endParaRPr lang="x-none">
                <a:solidFill>
                  <a:srgbClr val="FFFFFF"/>
                </a:solidFill>
                <a:ea typeface="Times New Roman" panose="02020603050405020304" pitchFamily="18" charset="0"/>
                <a:cs typeface="Times New Roman" panose="02020603050405020304" pitchFamily="18" charset="0"/>
              </a:endParaRPr>
            </a:p>
            <a:p>
              <a:pPr marL="685800">
                <a:spcAft>
                  <a:spcPts val="1000"/>
                </a:spcAft>
              </a:pPr>
              <a:r>
                <a:rPr lang="en-US" sz="2000" dirty="0">
                  <a:solidFill>
                    <a:srgbClr val="00619E"/>
                  </a:solidFill>
                  <a:latin typeface="Verdana" panose="020B0604030504040204" pitchFamily="34" charset="0"/>
                  <a:ea typeface="Times New Roman" panose="02020603050405020304" pitchFamily="18" charset="0"/>
                  <a:cs typeface="Times New Roman" panose="02020603050405020304" pitchFamily="18" charset="0"/>
                </a:rPr>
                <a:t>When raising a </a:t>
              </a:r>
              <a:r>
                <a:rPr lang="en-US" sz="2000" dirty="0" smtClean="0">
                  <a:solidFill>
                    <a:srgbClr val="00619E"/>
                  </a:solidFill>
                  <a:latin typeface="Verdana" panose="020B0604030504040204" pitchFamily="34" charset="0"/>
                  <a:ea typeface="Times New Roman" panose="02020603050405020304" pitchFamily="18" charset="0"/>
                  <a:cs typeface="Times New Roman" panose="02020603050405020304" pitchFamily="18" charset="0"/>
                </a:rPr>
                <a:t>power to </a:t>
              </a:r>
              <a:r>
                <a:rPr lang="en-US" sz="2000" dirty="0">
                  <a:solidFill>
                    <a:srgbClr val="00619E"/>
                  </a:solidFill>
                  <a:latin typeface="Verdana" panose="020B0604030504040204" pitchFamily="34" charset="0"/>
                  <a:ea typeface="Times New Roman" panose="02020603050405020304" pitchFamily="18" charset="0"/>
                  <a:cs typeface="Times New Roman" panose="02020603050405020304" pitchFamily="18" charset="0"/>
                </a:rPr>
                <a:t>a power, </a:t>
              </a:r>
              <a:r>
                <a:rPr lang="en-US" sz="2000" dirty="0" smtClean="0">
                  <a:solidFill>
                    <a:srgbClr val="00619E"/>
                  </a:solidFill>
                  <a:latin typeface="Verdana" panose="020B0604030504040204" pitchFamily="34" charset="0"/>
                  <a:ea typeface="Times New Roman" panose="02020603050405020304" pitchFamily="18" charset="0"/>
                  <a:cs typeface="Times New Roman" panose="02020603050405020304" pitchFamily="18" charset="0"/>
                </a:rPr>
                <a:t>keep the base and multiply the exponents.</a:t>
              </a:r>
              <a:endParaRPr lang="x-none" dirty="0">
                <a:solidFill>
                  <a:srgbClr val="FFFFFF"/>
                </a:solidFill>
                <a:ea typeface="Times New Roman" panose="02020603050405020304" pitchFamily="18" charset="0"/>
                <a:cs typeface="Times New Roman" panose="02020603050405020304" pitchFamily="18" charset="0"/>
              </a:endParaRPr>
            </a:p>
          </p:txBody>
        </p:sp>
        <p:pic>
          <p:nvPicPr>
            <p:cNvPr id="13" name="Shape 23" descr="Icon&#10;&#10;Description automatically generated">
              <a:extLst>
                <a:ext uri="{FF2B5EF4-FFF2-40B4-BE49-F238E27FC236}">
                  <a16:creationId xmlns:a16="http://schemas.microsoft.com/office/drawing/2014/main" xmlns="" id="{E282A280-9270-4A48-B21D-D0EE28D97F2E}"/>
                </a:ext>
              </a:extLst>
            </p:cNvPr>
            <p:cNvPicPr/>
            <p:nvPr/>
          </p:nvPicPr>
          <p:blipFill rotWithShape="1">
            <a:blip r:embed="rId5" cstate="screen">
              <a:alphaModFix/>
              <a:extLst>
                <a:ext uri="{28A0092B-C50C-407E-A947-70E740481C1C}">
                  <a14:useLocalDpi xmlns:a14="http://schemas.microsoft.com/office/drawing/2010/main"/>
                </a:ext>
              </a:extLst>
            </a:blip>
            <a:srcRect/>
            <a:stretch/>
          </p:blipFill>
          <p:spPr>
            <a:xfrm>
              <a:off x="887206" y="2877898"/>
              <a:ext cx="539750" cy="538920"/>
            </a:xfrm>
            <a:prstGeom prst="rect">
              <a:avLst/>
            </a:prstGeom>
            <a:noFill/>
            <a:ln>
              <a:noFill/>
            </a:ln>
            <a:effectLst>
              <a:outerShdw blurRad="50800" dist="38100" dir="2700000" algn="tl" rotWithShape="0">
                <a:prstClr val="black">
                  <a:alpha val="40000"/>
                </a:prstClr>
              </a:outerShdw>
            </a:effectLst>
          </p:spPr>
        </p:pic>
      </p:grpSp>
    </p:spTree>
    <p:extLst>
      <p:ext uri="{BB962C8B-B14F-4D97-AF65-F5344CB8AC3E}">
        <p14:creationId xmlns:p14="http://schemas.microsoft.com/office/powerpoint/2010/main" val="38140894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8" name="Rectangle 7">
                <a:extLst>
                  <a:ext uri="{FF2B5EF4-FFF2-40B4-BE49-F238E27FC236}">
                    <a16:creationId xmlns:a16="http://schemas.microsoft.com/office/drawing/2014/main" xmlns="" id="{5C5D1B9F-A752-AD42-8D60-9B883A2514E7}"/>
                  </a:ext>
                </a:extLst>
              </p:cNvPr>
              <p:cNvSpPr>
                <a:spLocks noChangeArrowheads="1"/>
              </p:cNvSpPr>
              <p:nvPr/>
            </p:nvSpPr>
            <p:spPr bwMode="auto">
              <a:xfrm>
                <a:off x="544426" y="382561"/>
                <a:ext cx="11328516" cy="4832605"/>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457200" indent="-457200" eaLnBrk="0" fontAlgn="base" hangingPunct="0">
                  <a:spcBef>
                    <a:spcPct val="0"/>
                  </a:spcBef>
                  <a:spcAft>
                    <a:spcPts val="2000"/>
                  </a:spcAft>
                  <a:buClrTx/>
                  <a:buFont typeface="+mj-lt"/>
                  <a:buAutoNum type="arabicPeriod" startAt="3"/>
                </a:pPr>
                <a:endParaRPr lang="en-US" alt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eaLnBrk="0" fontAlgn="base" hangingPunct="0">
                  <a:spcBef>
                    <a:spcPct val="0"/>
                  </a:spcBef>
                  <a:spcAft>
                    <a:spcPts val="2000"/>
                  </a:spcAft>
                  <a:buClrTx/>
                  <a:buFont typeface="+mj-lt"/>
                  <a:buAutoNum type="arabicPeriod" startAt="3"/>
                </a:pPr>
                <a:endParaRPr lang="en-US" alt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eaLnBrk="0" fontAlgn="base" hangingPunct="0">
                  <a:spcBef>
                    <a:spcPct val="0"/>
                  </a:spcBef>
                  <a:spcAft>
                    <a:spcPts val="2000"/>
                  </a:spcAft>
                  <a:buClrTx/>
                  <a:buFont typeface="+mj-lt"/>
                  <a:buAutoNum type="arabicPeriod" startAt="3"/>
                </a:pPr>
                <a:endParaRPr lang="en-US" alt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eaLnBrk="0" fontAlgn="base" hangingPunct="0">
                  <a:spcBef>
                    <a:spcPct val="0"/>
                  </a:spcBef>
                  <a:spcAft>
                    <a:spcPts val="2000"/>
                  </a:spcAft>
                  <a:buClrTx/>
                  <a:buFont typeface="+mj-lt"/>
                  <a:buAutoNum type="arabicPeriod" startAt="3"/>
                </a:pPr>
                <a:r>
                  <a:rPr lang="en-US" altLang="en-US" sz="2400" dirty="0">
                    <a:latin typeface="Verdana" panose="020B0604030504040204" pitchFamily="34" charset="0"/>
                    <a:ea typeface="Times New Roman" panose="02020603050405020304" pitchFamily="18" charset="0"/>
                    <a:cs typeface="Times New Roman" panose="02020603050405020304" pitchFamily="18" charset="0"/>
                  </a:rPr>
                  <a:t>Which is an example of the </a:t>
                </a:r>
                <a:r>
                  <a:rPr lang="en-US" altLang="en-US" sz="2400" dirty="0" smtClean="0">
                    <a:latin typeface="Verdana" panose="020B0604030504040204" pitchFamily="34" charset="0"/>
                    <a:ea typeface="Times New Roman" panose="02020603050405020304" pitchFamily="18" charset="0"/>
                    <a:cs typeface="Times New Roman" panose="02020603050405020304" pitchFamily="18" charset="0"/>
                  </a:rPr>
                  <a:t>quotient of powers exponent </a:t>
                </a:r>
                <a:r>
                  <a:rPr lang="en-US" altLang="en-US" sz="2400" dirty="0">
                    <a:latin typeface="Verdana" panose="020B0604030504040204" pitchFamily="34" charset="0"/>
                    <a:ea typeface="Times New Roman" panose="02020603050405020304" pitchFamily="18" charset="0"/>
                    <a:cs typeface="Times New Roman" panose="02020603050405020304" pitchFamily="18" charset="0"/>
                  </a:rPr>
                  <a:t>law?</a:t>
                </a:r>
              </a:p>
              <a:p>
                <a:pPr marL="798513" indent="-304800" eaLnBrk="0" fontAlgn="base" hangingPunct="0">
                  <a:spcBef>
                    <a:spcPct val="0"/>
                  </a:spcBef>
                  <a:spcAft>
                    <a:spcPct val="0"/>
                  </a:spcAft>
                  <a:buClrTx/>
                  <a:buFont typeface="Courier New" panose="02070309020205020404" pitchFamily="49" charset="0"/>
                  <a:buChar char="o"/>
                </a:pPr>
                <a14:m>
                  <m:oMath xmlns:m="http://schemas.openxmlformats.org/officeDocument/2006/math">
                    <m:f>
                      <m:fPr>
                        <m:ctrlPr>
                          <a:rPr lang="en-US" altLang="en-US" sz="2400" i="1" dirty="0">
                            <a:latin typeface="Cambria Math"/>
                            <a:cs typeface="Times New Roman" panose="02020603050405020304" pitchFamily="18" charset="0"/>
                          </a:rPr>
                        </m:ctrlPr>
                      </m:fPr>
                      <m:num>
                        <m:sSup>
                          <m:sSupPr>
                            <m:ctrlPr>
                              <a:rPr lang="en-US" altLang="en-US" sz="2400" i="1" dirty="0">
                                <a:latin typeface="Cambria Math"/>
                                <a:cs typeface="Times New Roman" panose="02020603050405020304" pitchFamily="18" charset="0"/>
                              </a:rPr>
                            </m:ctrlPr>
                          </m:sSupPr>
                          <m:e>
                            <m:r>
                              <a:rPr lang="es-ES" altLang="en-US" sz="2400" i="1" dirty="0">
                                <a:latin typeface="Cambria Math" panose="02040503050406030204" pitchFamily="18" charset="0"/>
                                <a:cs typeface="Times New Roman" panose="02020603050405020304" pitchFamily="18" charset="0"/>
                              </a:rPr>
                              <m:t>𝑎</m:t>
                            </m:r>
                          </m:e>
                          <m:sup>
                            <m:r>
                              <a:rPr lang="es-ES" altLang="en-US" sz="2400" i="1" dirty="0">
                                <a:latin typeface="Cambria Math" panose="02040503050406030204" pitchFamily="18" charset="0"/>
                                <a:cs typeface="Times New Roman" panose="02020603050405020304" pitchFamily="18" charset="0"/>
                              </a:rPr>
                              <m:t>𝑚</m:t>
                            </m:r>
                          </m:sup>
                        </m:sSup>
                      </m:num>
                      <m:den>
                        <m:sSup>
                          <m:sSupPr>
                            <m:ctrlPr>
                              <a:rPr lang="en-US" altLang="en-US" sz="2400" i="1" dirty="0">
                                <a:latin typeface="Cambria Math"/>
                                <a:cs typeface="Times New Roman" panose="02020603050405020304" pitchFamily="18" charset="0"/>
                              </a:rPr>
                            </m:ctrlPr>
                          </m:sSupPr>
                          <m:e>
                            <m:r>
                              <a:rPr lang="es-ES" altLang="en-US" sz="2400" i="1" dirty="0">
                                <a:latin typeface="Cambria Math" panose="02040503050406030204" pitchFamily="18" charset="0"/>
                                <a:cs typeface="Times New Roman" panose="02020603050405020304" pitchFamily="18" charset="0"/>
                              </a:rPr>
                              <m:t>𝑎</m:t>
                            </m:r>
                          </m:e>
                          <m:sup>
                            <m:r>
                              <a:rPr lang="es-ES" altLang="en-US" sz="2400" i="1" dirty="0">
                                <a:latin typeface="Cambria Math" panose="02040503050406030204" pitchFamily="18" charset="0"/>
                                <a:cs typeface="Times New Roman" panose="02020603050405020304" pitchFamily="18" charset="0"/>
                              </a:rPr>
                              <m:t>𝑛</m:t>
                            </m:r>
                          </m:sup>
                        </m:sSup>
                      </m:den>
                    </m:f>
                    <m:r>
                      <a:rPr lang="en-US" altLang="en-US" sz="2400" i="1" dirty="0">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US" altLang="en-US" sz="2400" i="1" dirty="0">
                            <a:latin typeface="Cambria Math"/>
                            <a:cs typeface="Times New Roman" panose="02020603050405020304" pitchFamily="18" charset="0"/>
                          </a:rPr>
                        </m:ctrlPr>
                      </m:sSupPr>
                      <m:e>
                        <m:r>
                          <a:rPr lang="es-ES" altLang="en-US" sz="2400" i="1" dirty="0">
                            <a:latin typeface="Cambria Math" panose="02040503050406030204" pitchFamily="18" charset="0"/>
                            <a:cs typeface="Times New Roman" panose="02020603050405020304" pitchFamily="18" charset="0"/>
                          </a:rPr>
                          <m:t>𝑎</m:t>
                        </m:r>
                      </m:e>
                      <m:sup>
                        <m:r>
                          <a:rPr lang="es-ES" altLang="en-US" sz="2400" i="1" dirty="0">
                            <a:latin typeface="Cambria Math" panose="02040503050406030204" pitchFamily="18" charset="0"/>
                            <a:cs typeface="Times New Roman" panose="02020603050405020304" pitchFamily="18" charset="0"/>
                          </a:rPr>
                          <m:t>𝑚</m:t>
                        </m:r>
                        <m:r>
                          <a:rPr lang="es-ES" altLang="en-US" sz="2400" i="1" dirty="0">
                            <a:latin typeface="Cambria Math" panose="02040503050406030204" pitchFamily="18" charset="0"/>
                            <a:cs typeface="Times New Roman" panose="02020603050405020304" pitchFamily="18" charset="0"/>
                          </a:rPr>
                          <m:t>−</m:t>
                        </m:r>
                        <m:r>
                          <a:rPr lang="es-ES" altLang="en-US" sz="2400" i="1" dirty="0">
                            <a:latin typeface="Cambria Math" panose="02040503050406030204" pitchFamily="18" charset="0"/>
                            <a:cs typeface="Times New Roman" panose="02020603050405020304" pitchFamily="18" charset="0"/>
                          </a:rPr>
                          <m:t>𝑛</m:t>
                        </m:r>
                      </m:sup>
                    </m:sSup>
                  </m:oMath>
                </a14:m>
                <a:endParaRPr lang="en-US" altLang="en-US" sz="2400" dirty="0">
                  <a:latin typeface="Verdana" panose="020B0604030504040204" pitchFamily="34" charset="0"/>
                  <a:ea typeface="Times New Roman" panose="02020603050405020304" pitchFamily="18" charset="0"/>
                  <a:cs typeface="Times New Roman" panose="02020603050405020304" pitchFamily="18" charset="0"/>
                </a:endParaRPr>
              </a:p>
              <a:p>
                <a:pPr marL="798513" indent="-304800" eaLnBrk="0" fontAlgn="base" hangingPunct="0">
                  <a:lnSpc>
                    <a:spcPct val="150000"/>
                  </a:lnSpc>
                  <a:spcBef>
                    <a:spcPct val="0"/>
                  </a:spcBef>
                  <a:spcAft>
                    <a:spcPct val="0"/>
                  </a:spcAft>
                  <a:buClrTx/>
                  <a:buFont typeface="Courier New" panose="02070309020205020404" pitchFamily="49" charset="0"/>
                  <a:buChar char="o"/>
                </a:pPr>
                <a14:m>
                  <m:oMath xmlns:m="http://schemas.openxmlformats.org/officeDocument/2006/math">
                    <m:f>
                      <m:fPr>
                        <m:ctrlPr>
                          <a:rPr lang="en-US" altLang="en-US" sz="2400" i="1" dirty="0">
                            <a:latin typeface="Cambria Math"/>
                            <a:cs typeface="Times New Roman" panose="02020603050405020304" pitchFamily="18" charset="0"/>
                          </a:rPr>
                        </m:ctrlPr>
                      </m:fPr>
                      <m:num>
                        <m:sSup>
                          <m:sSupPr>
                            <m:ctrlPr>
                              <a:rPr lang="en-US" altLang="en-US" sz="2400" i="1" dirty="0">
                                <a:latin typeface="Cambria Math"/>
                                <a:cs typeface="Times New Roman" panose="02020603050405020304" pitchFamily="18" charset="0"/>
                              </a:rPr>
                            </m:ctrlPr>
                          </m:sSupPr>
                          <m:e>
                            <m:r>
                              <a:rPr lang="es-ES" altLang="en-US" sz="2400" i="1" dirty="0">
                                <a:latin typeface="Cambria Math" panose="02040503050406030204" pitchFamily="18" charset="0"/>
                                <a:cs typeface="Times New Roman" panose="02020603050405020304" pitchFamily="18" charset="0"/>
                              </a:rPr>
                              <m:t>𝑎</m:t>
                            </m:r>
                          </m:e>
                          <m:sup>
                            <m:r>
                              <a:rPr lang="es-ES" altLang="en-US" sz="2400" i="1" dirty="0">
                                <a:latin typeface="Cambria Math" panose="02040503050406030204" pitchFamily="18" charset="0"/>
                                <a:cs typeface="Times New Roman" panose="02020603050405020304" pitchFamily="18" charset="0"/>
                              </a:rPr>
                              <m:t>𝑚</m:t>
                            </m:r>
                          </m:sup>
                        </m:sSup>
                      </m:num>
                      <m:den>
                        <m:sSup>
                          <m:sSupPr>
                            <m:ctrlPr>
                              <a:rPr lang="en-US" altLang="en-US" sz="2400" i="1" dirty="0">
                                <a:latin typeface="Cambria Math"/>
                                <a:cs typeface="Times New Roman" panose="02020603050405020304" pitchFamily="18" charset="0"/>
                              </a:rPr>
                            </m:ctrlPr>
                          </m:sSupPr>
                          <m:e>
                            <m:r>
                              <a:rPr lang="es-ES" altLang="en-US" sz="2400" i="1" dirty="0">
                                <a:latin typeface="Cambria Math" panose="02040503050406030204" pitchFamily="18" charset="0"/>
                                <a:cs typeface="Times New Roman" panose="02020603050405020304" pitchFamily="18" charset="0"/>
                              </a:rPr>
                              <m:t>𝑎</m:t>
                            </m:r>
                          </m:e>
                          <m:sup>
                            <m:r>
                              <a:rPr lang="es-ES" altLang="en-US" sz="2400" i="1" dirty="0">
                                <a:latin typeface="Cambria Math" panose="02040503050406030204" pitchFamily="18" charset="0"/>
                                <a:cs typeface="Times New Roman" panose="02020603050405020304" pitchFamily="18" charset="0"/>
                              </a:rPr>
                              <m:t>𝑛</m:t>
                            </m:r>
                          </m:sup>
                        </m:sSup>
                      </m:den>
                    </m:f>
                    <m:r>
                      <a:rPr lang="en-US" altLang="en-US" sz="2400" i="1" dirty="0">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US" altLang="en-US" sz="2400" i="1" dirty="0">
                            <a:latin typeface="Cambria Math"/>
                            <a:cs typeface="Times New Roman" panose="02020603050405020304" pitchFamily="18" charset="0"/>
                          </a:rPr>
                        </m:ctrlPr>
                      </m:sSupPr>
                      <m:e>
                        <m:d>
                          <m:dPr>
                            <m:ctrlPr>
                              <a:rPr lang="en-US" altLang="en-US" sz="2400" i="1" dirty="0">
                                <a:latin typeface="Cambria Math"/>
                                <a:cs typeface="Times New Roman" panose="02020603050405020304" pitchFamily="18" charset="0"/>
                              </a:rPr>
                            </m:ctrlPr>
                          </m:dPr>
                          <m:e>
                            <m:r>
                              <a:rPr lang="es-ES" altLang="en-US" sz="2400" i="1" dirty="0">
                                <a:latin typeface="Cambria Math" panose="02040503050406030204" pitchFamily="18" charset="0"/>
                                <a:cs typeface="Times New Roman" panose="02020603050405020304" pitchFamily="18" charset="0"/>
                              </a:rPr>
                              <m:t>𝑎</m:t>
                            </m:r>
                            <m:r>
                              <a:rPr lang="es-ES" altLang="en-US" sz="2400" i="1" dirty="0">
                                <a:latin typeface="Cambria Math" panose="02040503050406030204" pitchFamily="18" charset="0"/>
                                <a:cs typeface="Times New Roman" panose="02020603050405020304" pitchFamily="18" charset="0"/>
                              </a:rPr>
                              <m:t>−</m:t>
                            </m:r>
                            <m:r>
                              <a:rPr lang="es-ES" altLang="en-US" sz="2400" i="1" dirty="0">
                                <a:latin typeface="Cambria Math" panose="02040503050406030204" pitchFamily="18" charset="0"/>
                                <a:cs typeface="Times New Roman" panose="02020603050405020304" pitchFamily="18" charset="0"/>
                              </a:rPr>
                              <m:t>𝑎</m:t>
                            </m:r>
                          </m:e>
                        </m:d>
                      </m:e>
                      <m:sup>
                        <m:r>
                          <a:rPr lang="es-ES" altLang="en-US" sz="2400" i="1" dirty="0">
                            <a:latin typeface="Cambria Math" panose="02040503050406030204" pitchFamily="18" charset="0"/>
                            <a:cs typeface="Times New Roman" panose="02020603050405020304" pitchFamily="18" charset="0"/>
                          </a:rPr>
                          <m:t>𝑚</m:t>
                        </m:r>
                        <m:r>
                          <a:rPr lang="es-ES" altLang="en-US" sz="2400" i="1" dirty="0">
                            <a:latin typeface="Cambria Math" panose="02040503050406030204" pitchFamily="18" charset="0"/>
                            <a:cs typeface="Times New Roman" panose="02020603050405020304" pitchFamily="18" charset="0"/>
                          </a:rPr>
                          <m:t>−</m:t>
                        </m:r>
                        <m:r>
                          <a:rPr lang="es-ES" altLang="en-US" sz="2400" i="1" dirty="0">
                            <a:latin typeface="Cambria Math" panose="02040503050406030204" pitchFamily="18" charset="0"/>
                            <a:cs typeface="Times New Roman" panose="02020603050405020304" pitchFamily="18" charset="0"/>
                          </a:rPr>
                          <m:t>𝑛</m:t>
                        </m:r>
                      </m:sup>
                    </m:sSup>
                  </m:oMath>
                </a14:m>
                <a:endParaRPr lang="en-US" altLang="en-US" sz="2400" dirty="0">
                  <a:latin typeface="Verdana" panose="020B0604030504040204" pitchFamily="34" charset="0"/>
                  <a:ea typeface="Times New Roman" panose="02020603050405020304" pitchFamily="18" charset="0"/>
                  <a:cs typeface="Times New Roman" panose="02020603050405020304" pitchFamily="18" charset="0"/>
                </a:endParaRPr>
              </a:p>
              <a:p>
                <a:pPr marL="798513" indent="-304800" eaLnBrk="0" fontAlgn="base" hangingPunct="0">
                  <a:lnSpc>
                    <a:spcPct val="150000"/>
                  </a:lnSpc>
                  <a:spcBef>
                    <a:spcPct val="0"/>
                  </a:spcBef>
                  <a:spcAft>
                    <a:spcPct val="0"/>
                  </a:spcAft>
                  <a:buClrTx/>
                  <a:buFont typeface="Courier New" panose="02070309020205020404" pitchFamily="49" charset="0"/>
                  <a:buChar char="o"/>
                </a:pPr>
                <a14:m>
                  <m:oMath xmlns:m="http://schemas.openxmlformats.org/officeDocument/2006/math">
                    <m:f>
                      <m:fPr>
                        <m:ctrlPr>
                          <a:rPr lang="en-US" altLang="en-US" sz="2400" i="1" dirty="0">
                            <a:latin typeface="Cambria Math"/>
                            <a:cs typeface="Times New Roman" panose="02020603050405020304" pitchFamily="18" charset="0"/>
                          </a:rPr>
                        </m:ctrlPr>
                      </m:fPr>
                      <m:num>
                        <m:sSup>
                          <m:sSupPr>
                            <m:ctrlPr>
                              <a:rPr lang="en-US" altLang="en-US" sz="2400" i="1" dirty="0">
                                <a:latin typeface="Cambria Math"/>
                                <a:cs typeface="Times New Roman" panose="02020603050405020304" pitchFamily="18" charset="0"/>
                              </a:rPr>
                            </m:ctrlPr>
                          </m:sSupPr>
                          <m:e>
                            <m:r>
                              <a:rPr lang="es-ES" altLang="en-US" sz="2400" i="1" dirty="0">
                                <a:latin typeface="Cambria Math" panose="02040503050406030204" pitchFamily="18" charset="0"/>
                                <a:cs typeface="Times New Roman" panose="02020603050405020304" pitchFamily="18" charset="0"/>
                              </a:rPr>
                              <m:t>𝑎</m:t>
                            </m:r>
                          </m:e>
                          <m:sup>
                            <m:r>
                              <a:rPr lang="es-ES" altLang="en-US" sz="2400" i="1" dirty="0">
                                <a:latin typeface="Cambria Math" panose="02040503050406030204" pitchFamily="18" charset="0"/>
                                <a:cs typeface="Times New Roman" panose="02020603050405020304" pitchFamily="18" charset="0"/>
                              </a:rPr>
                              <m:t>𝑚</m:t>
                            </m:r>
                          </m:sup>
                        </m:sSup>
                      </m:num>
                      <m:den>
                        <m:sSup>
                          <m:sSupPr>
                            <m:ctrlPr>
                              <a:rPr lang="en-US" altLang="en-US" sz="2400" i="1" dirty="0">
                                <a:latin typeface="Cambria Math"/>
                                <a:cs typeface="Times New Roman" panose="02020603050405020304" pitchFamily="18" charset="0"/>
                              </a:rPr>
                            </m:ctrlPr>
                          </m:sSupPr>
                          <m:e>
                            <m:r>
                              <a:rPr lang="es-ES" altLang="en-US" sz="2400" i="1" dirty="0">
                                <a:latin typeface="Cambria Math" panose="02040503050406030204" pitchFamily="18" charset="0"/>
                                <a:cs typeface="Times New Roman" panose="02020603050405020304" pitchFamily="18" charset="0"/>
                              </a:rPr>
                              <m:t>𝑎</m:t>
                            </m:r>
                          </m:e>
                          <m:sup>
                            <m:r>
                              <a:rPr lang="es-ES" altLang="en-US" sz="2400" i="1" dirty="0">
                                <a:latin typeface="Cambria Math" panose="02040503050406030204" pitchFamily="18" charset="0"/>
                                <a:cs typeface="Times New Roman" panose="02020603050405020304" pitchFamily="18" charset="0"/>
                              </a:rPr>
                              <m:t>𝑛</m:t>
                            </m:r>
                          </m:sup>
                        </m:sSup>
                      </m:den>
                    </m:f>
                    <m:r>
                      <a:rPr lang="en-US" altLang="en-US" sz="2400" i="1" dirty="0">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US" altLang="en-US" sz="2400" i="1" dirty="0">
                            <a:latin typeface="Cambria Math"/>
                            <a:cs typeface="Times New Roman" panose="02020603050405020304" pitchFamily="18" charset="0"/>
                          </a:rPr>
                        </m:ctrlPr>
                      </m:sSupPr>
                      <m:e>
                        <m:r>
                          <a:rPr lang="es-ES" altLang="en-US" sz="2400" i="1" dirty="0">
                            <a:latin typeface="Cambria Math" panose="02040503050406030204" pitchFamily="18" charset="0"/>
                            <a:cs typeface="Times New Roman" panose="02020603050405020304" pitchFamily="18" charset="0"/>
                          </a:rPr>
                          <m:t>1</m:t>
                        </m:r>
                      </m:e>
                      <m:sup>
                        <m:r>
                          <a:rPr lang="es-ES" altLang="en-US" sz="2400" i="1" dirty="0">
                            <a:latin typeface="Cambria Math" panose="02040503050406030204" pitchFamily="18" charset="0"/>
                            <a:cs typeface="Times New Roman" panose="02020603050405020304" pitchFamily="18" charset="0"/>
                          </a:rPr>
                          <m:t>𝑚</m:t>
                        </m:r>
                        <m:r>
                          <a:rPr lang="es-ES" altLang="en-US" sz="2400" i="1" dirty="0">
                            <a:latin typeface="Cambria Math" panose="02040503050406030204" pitchFamily="18" charset="0"/>
                            <a:cs typeface="Times New Roman" panose="02020603050405020304" pitchFamily="18" charset="0"/>
                          </a:rPr>
                          <m:t>−</m:t>
                        </m:r>
                        <m:r>
                          <a:rPr lang="es-ES" altLang="en-US" sz="2400" i="1" dirty="0">
                            <a:latin typeface="Cambria Math" panose="02040503050406030204" pitchFamily="18" charset="0"/>
                            <a:cs typeface="Times New Roman" panose="02020603050405020304" pitchFamily="18" charset="0"/>
                          </a:rPr>
                          <m:t>𝑛</m:t>
                        </m:r>
                      </m:sup>
                    </m:sSup>
                  </m:oMath>
                </a14:m>
                <a:endParaRPr lang="en-US" altLang="en-US" sz="2400" dirty="0">
                  <a:latin typeface="Verdana" panose="020B0604030504040204" pitchFamily="34" charset="0"/>
                  <a:ea typeface="Times New Roman" panose="02020603050405020304" pitchFamily="18" charset="0"/>
                  <a:cs typeface="Times New Roman" panose="02020603050405020304" pitchFamily="18" charset="0"/>
                </a:endParaRPr>
              </a:p>
            </p:txBody>
          </p:sp>
        </mc:Choice>
        <mc:Fallback>
          <p:sp>
            <p:nvSpPr>
              <p:cNvPr id="8" name="Rectangle 7">
                <a:extLst>
                  <a:ext uri="{FF2B5EF4-FFF2-40B4-BE49-F238E27FC236}">
                    <a16:creationId xmlns:a16="http://schemas.microsoft.com/office/drawing/2014/main" xmlns="" xmlns:a14="http://schemas.microsoft.com/office/drawing/2010/main" id="{5C5D1B9F-A752-AD42-8D60-9B883A2514E7}"/>
                  </a:ext>
                </a:extLst>
              </p:cNvPr>
              <p:cNvSpPr>
                <a:spLocks noRot="1" noChangeAspect="1" noMove="1" noResize="1" noEditPoints="1" noAdjustHandles="1" noChangeArrowheads="1" noChangeShapeType="1" noTextEdit="1"/>
              </p:cNvSpPr>
              <p:nvPr/>
            </p:nvSpPr>
            <p:spPr bwMode="auto">
              <a:xfrm>
                <a:off x="544426" y="382561"/>
                <a:ext cx="11328516" cy="4832605"/>
              </a:xfrm>
              <a:prstGeom prst="rect">
                <a:avLst/>
              </a:prstGeom>
              <a:blipFill rotWithShape="1">
                <a:blip r:embed="rId3"/>
                <a:stretch>
                  <a:fillRect l="-807"/>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PH">
                    <a:noFill/>
                  </a:rPr>
                  <a:t> </a:t>
                </a:r>
              </a:p>
            </p:txBody>
          </p:sp>
        </mc:Fallback>
      </mc:AlternateContent>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84</a:t>
            </a:r>
            <a:endParaRPr i="1" dirty="0">
              <a:latin typeface="Calibri"/>
              <a:ea typeface="Calibri"/>
              <a:cs typeface="Calibri"/>
              <a:sym typeface="Calibri"/>
            </a:endParaRPr>
          </a:p>
        </p:txBody>
      </p:sp>
      <p:grpSp>
        <p:nvGrpSpPr>
          <p:cNvPr id="9" name="Group 8"/>
          <p:cNvGrpSpPr/>
          <p:nvPr/>
        </p:nvGrpSpPr>
        <p:grpSpPr>
          <a:xfrm>
            <a:off x="2230230" y="382314"/>
            <a:ext cx="8025394" cy="1367750"/>
            <a:chOff x="706230" y="2709093"/>
            <a:chExt cx="8025394" cy="1367750"/>
          </a:xfrm>
        </p:grpSpPr>
        <p:sp>
          <p:nvSpPr>
            <p:cNvPr id="10" name="Rectangle: Rounded Corners 69">
              <a:extLst>
                <a:ext uri="{FF2B5EF4-FFF2-40B4-BE49-F238E27FC236}">
                  <a16:creationId xmlns:a16="http://schemas.microsoft.com/office/drawing/2014/main" xmlns="" id="{D98A6462-204F-D944-AEC6-6E60CF008E43}"/>
                </a:ext>
              </a:extLst>
            </p:cNvPr>
            <p:cNvSpPr/>
            <p:nvPr/>
          </p:nvSpPr>
          <p:spPr>
            <a:xfrm>
              <a:off x="706230" y="2709093"/>
              <a:ext cx="8025394" cy="1367750"/>
            </a:xfrm>
            <a:prstGeom prst="roundRect">
              <a:avLst/>
            </a:prstGeom>
            <a:solidFill>
              <a:srgbClr val="B8E7F5"/>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91440" rIns="91440" bIns="91440" numCol="1" spcCol="0" rtlCol="0" fromWordArt="0" anchor="ctr" anchorCtr="0" forceAA="0" compatLnSpc="1">
              <a:prstTxWarp prst="textNoShape">
                <a:avLst/>
              </a:prstTxWarp>
              <a:spAutoFit/>
            </a:bodyPr>
            <a:lstStyle/>
            <a:p>
              <a:pPr marL="685800">
                <a:spcAft>
                  <a:spcPts val="1000"/>
                </a:spcAft>
              </a:pPr>
              <a:r>
                <a:rPr lang="en-US" sz="2000" b="1" dirty="0">
                  <a:solidFill>
                    <a:srgbClr val="00619E"/>
                  </a:solidFill>
                  <a:latin typeface="Verdana" panose="020B0604030504040204" pitchFamily="34" charset="0"/>
                  <a:ea typeface="Times New Roman" panose="02020603050405020304" pitchFamily="18" charset="0"/>
                  <a:cs typeface="Times New Roman" panose="02020603050405020304" pitchFamily="18" charset="0"/>
                </a:rPr>
                <a:t>Quotient of Powers Exponent Law</a:t>
              </a:r>
              <a:endParaRPr lang="x-none">
                <a:solidFill>
                  <a:srgbClr val="FFFFFF"/>
                </a:solidFill>
                <a:ea typeface="Times New Roman" panose="02020603050405020304" pitchFamily="18" charset="0"/>
                <a:cs typeface="Times New Roman" panose="02020603050405020304" pitchFamily="18" charset="0"/>
              </a:endParaRPr>
            </a:p>
            <a:p>
              <a:pPr marL="685800">
                <a:spcAft>
                  <a:spcPts val="1000"/>
                </a:spcAft>
              </a:pPr>
              <a:r>
                <a:rPr lang="en-US" sz="2000" spc="-30" dirty="0">
                  <a:solidFill>
                    <a:srgbClr val="00619E"/>
                  </a:solidFill>
                  <a:latin typeface="Verdana" panose="020B0604030504040204" pitchFamily="34" charset="0"/>
                  <a:ea typeface="Times New Roman" panose="02020603050405020304" pitchFamily="18" charset="0"/>
                  <a:cs typeface="Times New Roman" panose="02020603050405020304" pitchFamily="18" charset="0"/>
                </a:rPr>
                <a:t>When dividing two powers that have the same nonzero base, keep the base and subtract the exponents.</a:t>
              </a:r>
              <a:endParaRPr lang="x-none" spc="-30" dirty="0">
                <a:solidFill>
                  <a:srgbClr val="FFFFFF"/>
                </a:solidFill>
                <a:ea typeface="Times New Roman" panose="02020603050405020304" pitchFamily="18" charset="0"/>
                <a:cs typeface="Times New Roman" panose="02020603050405020304" pitchFamily="18" charset="0"/>
              </a:endParaRPr>
            </a:p>
          </p:txBody>
        </p:sp>
        <p:pic>
          <p:nvPicPr>
            <p:cNvPr id="11" name="Shape 23" descr="Icon&#10;&#10;Description automatically generated">
              <a:extLst>
                <a:ext uri="{FF2B5EF4-FFF2-40B4-BE49-F238E27FC236}">
                  <a16:creationId xmlns:a16="http://schemas.microsoft.com/office/drawing/2014/main" xmlns="" id="{E282A280-9270-4A48-B21D-D0EE28D97F2E}"/>
                </a:ext>
              </a:extLst>
            </p:cNvPr>
            <p:cNvPicPr/>
            <p:nvPr/>
          </p:nvPicPr>
          <p:blipFill rotWithShape="1">
            <a:blip r:embed="rId5" cstate="screen">
              <a:alphaModFix/>
              <a:extLst>
                <a:ext uri="{28A0092B-C50C-407E-A947-70E740481C1C}">
                  <a14:useLocalDpi xmlns:a14="http://schemas.microsoft.com/office/drawing/2010/main"/>
                </a:ext>
              </a:extLst>
            </a:blip>
            <a:srcRect/>
            <a:stretch/>
          </p:blipFill>
          <p:spPr>
            <a:xfrm>
              <a:off x="887206" y="2877898"/>
              <a:ext cx="539750" cy="538920"/>
            </a:xfrm>
            <a:prstGeom prst="rect">
              <a:avLst/>
            </a:prstGeom>
            <a:noFill/>
            <a:ln>
              <a:noFill/>
            </a:ln>
            <a:effectLst>
              <a:outerShdw blurRad="50800" dist="38100" dir="2700000" algn="tl" rotWithShape="0">
                <a:prstClr val="black">
                  <a:alpha val="40000"/>
                </a:prstClr>
              </a:outerShdw>
            </a:effectLst>
          </p:spPr>
        </p:pic>
      </p:grpSp>
    </p:spTree>
    <p:extLst>
      <p:ext uri="{BB962C8B-B14F-4D97-AF65-F5344CB8AC3E}">
        <p14:creationId xmlns:p14="http://schemas.microsoft.com/office/powerpoint/2010/main" val="21221471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9" name="Rectangle 8">
            <a:extLst>
              <a:ext uri="{FF2B5EF4-FFF2-40B4-BE49-F238E27FC236}">
                <a16:creationId xmlns:a16="http://schemas.microsoft.com/office/drawing/2014/main" xmlns="" id="{5C5D1B9F-A752-AD42-8D60-9B883A2514E7}"/>
              </a:ext>
            </a:extLst>
          </p:cNvPr>
          <p:cNvSpPr>
            <a:spLocks noChangeArrowheads="1"/>
          </p:cNvSpPr>
          <p:nvPr/>
        </p:nvSpPr>
        <p:spPr bwMode="auto">
          <a:xfrm>
            <a:off x="544839" y="380204"/>
            <a:ext cx="9730722"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457200" indent="-457200">
              <a:buFont typeface="+mj-lt"/>
              <a:buAutoNum type="arabicPeriod" startAt="4"/>
            </a:pPr>
            <a:endParaRPr lang="en-PH"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r>
              <a:rPr lang="en-US" sz="2400" dirty="0" smtClean="0">
                <a:latin typeface="Verdana" panose="020B0604030504040204" pitchFamily="34" charset="0"/>
                <a:ea typeface="Verdana" panose="020B0604030504040204" pitchFamily="34" charset="0"/>
                <a:cs typeface="Verdana" panose="020B0604030504040204" pitchFamily="34" charset="0"/>
              </a:rPr>
              <a:t>Write an example of the identity exponent law.</a:t>
            </a:r>
            <a:endParaRPr lang="en-US" sz="2400" dirty="0">
              <a:latin typeface="Verdana" panose="020B0604030504040204" pitchFamily="34" charset="0"/>
              <a:ea typeface="Verdana" panose="020B0604030504040204" pitchFamily="34" charset="0"/>
              <a:cs typeface="Verdana" panose="020B0604030504040204" pitchFamily="34" charset="0"/>
            </a:endParaRPr>
          </a:p>
        </p:txBody>
      </p:sp>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84</a:t>
            </a:r>
            <a:endParaRPr i="1" dirty="0">
              <a:latin typeface="Calibri"/>
              <a:ea typeface="Calibri"/>
              <a:cs typeface="Calibri"/>
              <a:sym typeface="Calibri"/>
            </a:endParaRPr>
          </a:p>
        </p:txBody>
      </p:sp>
      <p:grpSp>
        <p:nvGrpSpPr>
          <p:cNvPr id="10" name="Group 9"/>
          <p:cNvGrpSpPr/>
          <p:nvPr/>
        </p:nvGrpSpPr>
        <p:grpSpPr>
          <a:xfrm>
            <a:off x="2230230" y="380204"/>
            <a:ext cx="8025394" cy="1708269"/>
            <a:chOff x="706230" y="2538834"/>
            <a:chExt cx="8025394" cy="1708269"/>
          </a:xfrm>
        </p:grpSpPr>
        <mc:AlternateContent xmlns:mc="http://schemas.openxmlformats.org/markup-compatibility/2006" xmlns:a14="http://schemas.microsoft.com/office/drawing/2010/main">
          <mc:Choice Requires="a14">
            <p:sp>
              <p:nvSpPr>
                <p:cNvPr id="11" name="Rectangle: Rounded Corners 69">
                  <a:extLst>
                    <a:ext uri="{FF2B5EF4-FFF2-40B4-BE49-F238E27FC236}">
                      <a16:creationId xmlns:a16="http://schemas.microsoft.com/office/drawing/2014/main" xmlns="" id="{D98A6462-204F-D944-AEC6-6E60CF008E43}"/>
                    </a:ext>
                  </a:extLst>
                </p:cNvPr>
                <p:cNvSpPr/>
                <p:nvPr/>
              </p:nvSpPr>
              <p:spPr>
                <a:xfrm>
                  <a:off x="706230" y="2538834"/>
                  <a:ext cx="8025394" cy="1708269"/>
                </a:xfrm>
                <a:prstGeom prst="roundRect">
                  <a:avLst/>
                </a:prstGeom>
                <a:solidFill>
                  <a:srgbClr val="B8E7F5"/>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91440" rIns="91440" bIns="91440" numCol="1" spcCol="0" rtlCol="0" fromWordArt="0" anchor="ctr" anchorCtr="0" forceAA="0" compatLnSpc="1">
                  <a:prstTxWarp prst="textNoShape">
                    <a:avLst/>
                  </a:prstTxWarp>
                  <a:spAutoFit/>
                </a:bodyPr>
                <a:lstStyle/>
                <a:p>
                  <a:pPr marL="685800">
                    <a:spcAft>
                      <a:spcPts val="1000"/>
                    </a:spcAft>
                  </a:pPr>
                  <a:r>
                    <a:rPr lang="en-US" sz="2000" b="1" dirty="0">
                      <a:solidFill>
                        <a:srgbClr val="00619E"/>
                      </a:solidFill>
                      <a:latin typeface="Verdana" panose="020B0604030504040204" pitchFamily="34" charset="0"/>
                      <a:ea typeface="Times New Roman" panose="02020603050405020304" pitchFamily="18" charset="0"/>
                      <a:cs typeface="Times New Roman" panose="02020603050405020304" pitchFamily="18" charset="0"/>
                    </a:rPr>
                    <a:t>Identity Exponent Law</a:t>
                  </a:r>
                  <a:endParaRPr lang="x-none" dirty="0">
                    <a:solidFill>
                      <a:srgbClr val="FFFFFF"/>
                    </a:solidFill>
                    <a:ea typeface="Times New Roman" panose="02020603050405020304" pitchFamily="18" charset="0"/>
                    <a:cs typeface="Times New Roman" panose="02020603050405020304" pitchFamily="18" charset="0"/>
                  </a:endParaRPr>
                </a:p>
                <a:p>
                  <a:pPr marL="685800">
                    <a:spcAft>
                      <a:spcPts val="1000"/>
                    </a:spcAft>
                  </a:pPr>
                  <a:r>
                    <a:rPr lang="en-US" sz="2000" dirty="0">
                      <a:solidFill>
                        <a:srgbClr val="00619E"/>
                      </a:solidFill>
                      <a:latin typeface="Verdana" panose="020B0604030504040204" pitchFamily="34" charset="0"/>
                      <a:ea typeface="Times New Roman" panose="02020603050405020304" pitchFamily="18" charset="0"/>
                      <a:cs typeface="Times New Roman" panose="02020603050405020304" pitchFamily="18" charset="0"/>
                    </a:rPr>
                    <a:t>When raising a base that is a nonzero real number to the power of </a:t>
                  </a:r>
                  <a14:m>
                    <m:oMath xmlns:m="http://schemas.openxmlformats.org/officeDocument/2006/math">
                      <m:r>
                        <a:rPr lang="en-US" sz="2000" i="1">
                          <a:solidFill>
                            <a:srgbClr val="00619E"/>
                          </a:solidFill>
                          <a:latin typeface="Cambria Math" panose="02040503050406030204" pitchFamily="18" charset="0"/>
                          <a:ea typeface="Times New Roman" panose="02020603050405020304" pitchFamily="18" charset="0"/>
                          <a:cs typeface="Times New Roman" panose="02020603050405020304" pitchFamily="18" charset="0"/>
                        </a:rPr>
                        <m:t>1</m:t>
                      </m:r>
                    </m:oMath>
                  </a14:m>
                  <a:r>
                    <a:rPr lang="en-US" sz="2000" dirty="0">
                      <a:solidFill>
                        <a:srgbClr val="00619E"/>
                      </a:solidFill>
                      <a:latin typeface="Verdana" panose="020B0604030504040204" pitchFamily="34" charset="0"/>
                      <a:ea typeface="Times New Roman" panose="02020603050405020304" pitchFamily="18" charset="0"/>
                      <a:cs typeface="Times New Roman" panose="02020603050405020304" pitchFamily="18" charset="0"/>
                    </a:rPr>
                    <a:t>, the base is a factor one time, thus, has the same value as the base.</a:t>
                  </a:r>
                  <a:endParaRPr lang="x-none" dirty="0">
                    <a:solidFill>
                      <a:srgbClr val="FFFFFF"/>
                    </a:solidFill>
                    <a:ea typeface="Times New Roman" panose="02020603050405020304" pitchFamily="18" charset="0"/>
                    <a:cs typeface="Times New Roman" panose="02020603050405020304" pitchFamily="18" charset="0"/>
                  </a:endParaRPr>
                </a:p>
              </p:txBody>
            </p:sp>
          </mc:Choice>
          <mc:Fallback xmlns="">
            <p:sp>
              <p:nvSpPr>
                <p:cNvPr id="11" name="Rectangle: Rounded Corners 69">
                  <a:extLst>
                    <a:ext uri="{FF2B5EF4-FFF2-40B4-BE49-F238E27FC236}">
                      <a16:creationId xmlns="" xmlns:a16="http://schemas.microsoft.com/office/drawing/2014/main" id="{D98A6462-204F-D944-AEC6-6E60CF008E43}"/>
                    </a:ext>
                  </a:extLst>
                </p:cNvPr>
                <p:cNvSpPr>
                  <a:spLocks noRot="1" noChangeAspect="1" noMove="1" noResize="1" noEditPoints="1" noAdjustHandles="1" noChangeArrowheads="1" noChangeShapeType="1" noTextEdit="1"/>
                </p:cNvSpPr>
                <p:nvPr/>
              </p:nvSpPr>
              <p:spPr>
                <a:xfrm>
                  <a:off x="706230" y="2538834"/>
                  <a:ext cx="8025394" cy="1708269"/>
                </a:xfrm>
                <a:prstGeom prst="roundRect">
                  <a:avLst/>
                </a:prstGeom>
                <a:blipFill rotWithShape="1">
                  <a:blip r:embed="rId4"/>
                  <a:stretch>
                    <a:fillRect/>
                  </a:stretch>
                </a:blipFill>
                <a:ln>
                  <a:noFill/>
                </a:ln>
                <a:effectLst>
                  <a:outerShdw blurRad="50800" dist="38100" dir="2700000" algn="tl" rotWithShape="0">
                    <a:prstClr val="black">
                      <a:alpha val="40000"/>
                    </a:prstClr>
                  </a:outerShdw>
                </a:effectLst>
              </p:spPr>
              <p:txBody>
                <a:bodyPr/>
                <a:lstStyle/>
                <a:p>
                  <a:r>
                    <a:rPr lang="en-US">
                      <a:noFill/>
                    </a:rPr>
                    <a:t> </a:t>
                  </a:r>
                </a:p>
              </p:txBody>
            </p:sp>
          </mc:Fallback>
        </mc:AlternateContent>
        <p:pic>
          <p:nvPicPr>
            <p:cNvPr id="13" name="Shape 23" descr="Icon&#10;&#10;Description automatically generated">
              <a:extLst>
                <a:ext uri="{FF2B5EF4-FFF2-40B4-BE49-F238E27FC236}">
                  <a16:creationId xmlns:a16="http://schemas.microsoft.com/office/drawing/2014/main" xmlns="" id="{E282A280-9270-4A48-B21D-D0EE28D97F2E}"/>
                </a:ext>
              </a:extLst>
            </p:cNvPr>
            <p:cNvPicPr/>
            <p:nvPr/>
          </p:nvPicPr>
          <p:blipFill rotWithShape="1">
            <a:blip r:embed="rId5" cstate="screen">
              <a:alphaModFix/>
              <a:extLst>
                <a:ext uri="{28A0092B-C50C-407E-A947-70E740481C1C}">
                  <a14:useLocalDpi xmlns:a14="http://schemas.microsoft.com/office/drawing/2010/main"/>
                </a:ext>
              </a:extLst>
            </a:blip>
            <a:srcRect/>
            <a:stretch/>
          </p:blipFill>
          <p:spPr>
            <a:xfrm>
              <a:off x="887206" y="2715338"/>
              <a:ext cx="539750" cy="538920"/>
            </a:xfrm>
            <a:prstGeom prst="rect">
              <a:avLst/>
            </a:prstGeom>
            <a:noFill/>
            <a:ln>
              <a:noFill/>
            </a:ln>
            <a:effectLst>
              <a:outerShdw blurRad="50800" dist="38100" dir="2700000" algn="tl" rotWithShape="0">
                <a:prstClr val="black">
                  <a:alpha val="40000"/>
                </a:prstClr>
              </a:outerShdw>
            </a:effectLst>
          </p:spPr>
        </p:pic>
      </p:grpSp>
    </p:spTree>
    <p:extLst>
      <p:ext uri="{BB962C8B-B14F-4D97-AF65-F5344CB8AC3E}">
        <p14:creationId xmlns:p14="http://schemas.microsoft.com/office/powerpoint/2010/main" val="33708358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84</a:t>
            </a:r>
            <a:endParaRPr i="1" dirty="0">
              <a:latin typeface="Calibri"/>
              <a:ea typeface="Calibri"/>
              <a:cs typeface="Calibri"/>
              <a:sym typeface="Calibri"/>
            </a:endParaRPr>
          </a:p>
        </p:txBody>
      </p:sp>
      <p:grpSp>
        <p:nvGrpSpPr>
          <p:cNvPr id="9" name="Group 8"/>
          <p:cNvGrpSpPr/>
          <p:nvPr/>
        </p:nvGrpSpPr>
        <p:grpSpPr>
          <a:xfrm>
            <a:off x="2230230" y="390781"/>
            <a:ext cx="8025394" cy="1367750"/>
            <a:chOff x="706230" y="2709093"/>
            <a:chExt cx="8025394" cy="1367750"/>
          </a:xfrm>
        </p:grpSpPr>
        <mc:AlternateContent xmlns:mc="http://schemas.openxmlformats.org/markup-compatibility/2006" xmlns:a14="http://schemas.microsoft.com/office/drawing/2010/main">
          <mc:Choice Requires="a14">
            <p:sp>
              <p:nvSpPr>
                <p:cNvPr id="10" name="Rectangle: Rounded Corners 69">
                  <a:extLst>
                    <a:ext uri="{FF2B5EF4-FFF2-40B4-BE49-F238E27FC236}">
                      <a16:creationId xmlns:a16="http://schemas.microsoft.com/office/drawing/2014/main" xmlns="" id="{D98A6462-204F-D944-AEC6-6E60CF008E43}"/>
                    </a:ext>
                  </a:extLst>
                </p:cNvPr>
                <p:cNvSpPr/>
                <p:nvPr/>
              </p:nvSpPr>
              <p:spPr>
                <a:xfrm>
                  <a:off x="706230" y="2709093"/>
                  <a:ext cx="8025394" cy="1367750"/>
                </a:xfrm>
                <a:prstGeom prst="roundRect">
                  <a:avLst/>
                </a:prstGeom>
                <a:solidFill>
                  <a:srgbClr val="B8E7F5"/>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91440" rIns="91440" bIns="91440" numCol="1" spcCol="0" rtlCol="0" fromWordArt="0" anchor="ctr" anchorCtr="0" forceAA="0" compatLnSpc="1">
                  <a:prstTxWarp prst="textNoShape">
                    <a:avLst/>
                  </a:prstTxWarp>
                  <a:spAutoFit/>
                </a:bodyPr>
                <a:lstStyle/>
                <a:p>
                  <a:pPr marL="685800">
                    <a:spcAft>
                      <a:spcPts val="1000"/>
                    </a:spcAft>
                  </a:pPr>
                  <a:r>
                    <a:rPr lang="en-US" sz="2000" b="1" dirty="0">
                      <a:solidFill>
                        <a:srgbClr val="00619E"/>
                      </a:solidFill>
                      <a:latin typeface="Verdana" panose="020B0604030504040204" pitchFamily="34" charset="0"/>
                      <a:ea typeface="Times New Roman" panose="02020603050405020304" pitchFamily="18" charset="0"/>
                      <a:cs typeface="Times New Roman" panose="02020603050405020304" pitchFamily="18" charset="0"/>
                    </a:rPr>
                    <a:t>Zero Exponent Law</a:t>
                  </a:r>
                  <a:endParaRPr lang="x-none" dirty="0">
                    <a:solidFill>
                      <a:srgbClr val="FFFFFF"/>
                    </a:solidFill>
                    <a:ea typeface="Times New Roman" panose="02020603050405020304" pitchFamily="18" charset="0"/>
                    <a:cs typeface="Times New Roman" panose="02020603050405020304" pitchFamily="18" charset="0"/>
                  </a:endParaRPr>
                </a:p>
                <a:p>
                  <a:pPr marL="685800">
                    <a:spcAft>
                      <a:spcPts val="1000"/>
                    </a:spcAft>
                  </a:pPr>
                  <a:r>
                    <a:rPr lang="en-US" sz="2000" dirty="0">
                      <a:solidFill>
                        <a:srgbClr val="00619E"/>
                      </a:solidFill>
                      <a:latin typeface="Verdana" panose="020B0604030504040204" pitchFamily="34" charset="0"/>
                      <a:ea typeface="Times New Roman" panose="02020603050405020304" pitchFamily="18" charset="0"/>
                      <a:cs typeface="Times New Roman" panose="02020603050405020304" pitchFamily="18" charset="0"/>
                    </a:rPr>
                    <a:t>When a nonzero real number is raised to the zero power, </a:t>
                  </a:r>
                  <a14:m>
                    <m:oMath xmlns:m="http://schemas.openxmlformats.org/officeDocument/2006/math">
                      <m:sSup>
                        <m:sSupPr>
                          <m:ctrlPr>
                            <a:rPr lang="x-none" sz="2000" i="1">
                              <a:solidFill>
                                <a:srgbClr val="00619E"/>
                              </a:solidFill>
                              <a:latin typeface="Cambria Math"/>
                              <a:ea typeface="Times New Roman" panose="02020603050405020304" pitchFamily="18" charset="0"/>
                              <a:cs typeface="Times New Roman" panose="02020603050405020304" pitchFamily="18" charset="0"/>
                            </a:rPr>
                          </m:ctrlPr>
                        </m:sSupPr>
                        <m:e>
                          <m:r>
                            <a:rPr lang="en-US" sz="2000" i="1">
                              <a:solidFill>
                                <a:srgbClr val="00619E"/>
                              </a:solidFill>
                              <a:latin typeface="Cambria Math" panose="02040503050406030204" pitchFamily="18" charset="0"/>
                              <a:ea typeface="Times New Roman" panose="02020603050405020304" pitchFamily="18" charset="0"/>
                              <a:cs typeface="Times New Roman" panose="02020603050405020304" pitchFamily="18" charset="0"/>
                            </a:rPr>
                            <m:t>𝑎</m:t>
                          </m:r>
                        </m:e>
                        <m:sup>
                          <m:r>
                            <a:rPr lang="en-US" sz="2000" i="1">
                              <a:solidFill>
                                <a:srgbClr val="00619E"/>
                              </a:solidFill>
                              <a:latin typeface="Cambria Math" panose="02040503050406030204" pitchFamily="18" charset="0"/>
                              <a:ea typeface="Times New Roman" panose="02020603050405020304" pitchFamily="18" charset="0"/>
                              <a:cs typeface="Times New Roman" panose="02020603050405020304" pitchFamily="18" charset="0"/>
                            </a:rPr>
                            <m:t>0</m:t>
                          </m:r>
                        </m:sup>
                      </m:sSup>
                    </m:oMath>
                  </a14:m>
                  <a:r>
                    <a:rPr lang="en-US" sz="2000" dirty="0">
                      <a:solidFill>
                        <a:srgbClr val="00619E"/>
                      </a:solidFill>
                      <a:latin typeface="Verdana" panose="020B0604030504040204" pitchFamily="34" charset="0"/>
                      <a:ea typeface="Times New Roman" panose="02020603050405020304" pitchFamily="18" charset="0"/>
                      <a:cs typeface="Times New Roman" panose="02020603050405020304" pitchFamily="18" charset="0"/>
                    </a:rPr>
                    <a:t>, its value equals </a:t>
                  </a:r>
                  <a14:m>
                    <m:oMath xmlns:m="http://schemas.openxmlformats.org/officeDocument/2006/math">
                      <m:r>
                        <a:rPr lang="en-US" sz="2000" i="1">
                          <a:solidFill>
                            <a:srgbClr val="00619E"/>
                          </a:solidFill>
                          <a:latin typeface="Cambria Math" panose="02040503050406030204" pitchFamily="18" charset="0"/>
                          <a:ea typeface="Times New Roman" panose="02020603050405020304" pitchFamily="18" charset="0"/>
                          <a:cs typeface="Times New Roman" panose="02020603050405020304" pitchFamily="18" charset="0"/>
                        </a:rPr>
                        <m:t>1</m:t>
                      </m:r>
                    </m:oMath>
                  </a14:m>
                  <a:r>
                    <a:rPr lang="en-US" sz="2000" dirty="0">
                      <a:solidFill>
                        <a:srgbClr val="00619E"/>
                      </a:solidFill>
                      <a:latin typeface="Verdana" panose="020B0604030504040204" pitchFamily="34" charset="0"/>
                      <a:ea typeface="Times New Roman" panose="02020603050405020304" pitchFamily="18" charset="0"/>
                      <a:cs typeface="Times New Roman" panose="02020603050405020304" pitchFamily="18" charset="0"/>
                    </a:rPr>
                    <a:t>.</a:t>
                  </a:r>
                  <a:endParaRPr lang="x-none" dirty="0">
                    <a:solidFill>
                      <a:srgbClr val="FFFFFF"/>
                    </a:solidFill>
                    <a:ea typeface="Times New Roman" panose="02020603050405020304" pitchFamily="18" charset="0"/>
                    <a:cs typeface="Times New Roman" panose="02020603050405020304" pitchFamily="18" charset="0"/>
                  </a:endParaRPr>
                </a:p>
              </p:txBody>
            </p:sp>
          </mc:Choice>
          <mc:Fallback xmlns="">
            <p:sp>
              <p:nvSpPr>
                <p:cNvPr id="10" name="Rectangle: Rounded Corners 69">
                  <a:extLst>
                    <a:ext uri="{FF2B5EF4-FFF2-40B4-BE49-F238E27FC236}">
                      <a16:creationId xmlns="" xmlns:a16="http://schemas.microsoft.com/office/drawing/2014/main" id="{D98A6462-204F-D944-AEC6-6E60CF008E43}"/>
                    </a:ext>
                  </a:extLst>
                </p:cNvPr>
                <p:cNvSpPr>
                  <a:spLocks noRot="1" noChangeAspect="1" noMove="1" noResize="1" noEditPoints="1" noAdjustHandles="1" noChangeArrowheads="1" noChangeShapeType="1" noTextEdit="1"/>
                </p:cNvSpPr>
                <p:nvPr/>
              </p:nvSpPr>
              <p:spPr>
                <a:xfrm>
                  <a:off x="706230" y="2709093"/>
                  <a:ext cx="8025394" cy="1367750"/>
                </a:xfrm>
                <a:prstGeom prst="roundRect">
                  <a:avLst/>
                </a:prstGeom>
                <a:blipFill rotWithShape="1">
                  <a:blip r:embed="rId4"/>
                  <a:stretch>
                    <a:fillRect/>
                  </a:stretch>
                </a:blipFill>
                <a:ln>
                  <a:noFill/>
                </a:ln>
                <a:effectLst>
                  <a:outerShdw blurRad="50800" dist="38100" dir="2700000" algn="tl" rotWithShape="0">
                    <a:prstClr val="black">
                      <a:alpha val="40000"/>
                    </a:prstClr>
                  </a:outerShdw>
                </a:effectLst>
              </p:spPr>
              <p:txBody>
                <a:bodyPr/>
                <a:lstStyle/>
                <a:p>
                  <a:r>
                    <a:rPr lang="en-US">
                      <a:noFill/>
                    </a:rPr>
                    <a:t> </a:t>
                  </a:r>
                </a:p>
              </p:txBody>
            </p:sp>
          </mc:Fallback>
        </mc:AlternateContent>
        <p:pic>
          <p:nvPicPr>
            <p:cNvPr id="11" name="Shape 23" descr="Icon&#10;&#10;Description automatically generated">
              <a:extLst>
                <a:ext uri="{FF2B5EF4-FFF2-40B4-BE49-F238E27FC236}">
                  <a16:creationId xmlns:a16="http://schemas.microsoft.com/office/drawing/2014/main" xmlns="" id="{E282A280-9270-4A48-B21D-D0EE28D97F2E}"/>
                </a:ext>
              </a:extLst>
            </p:cNvPr>
            <p:cNvPicPr/>
            <p:nvPr/>
          </p:nvPicPr>
          <p:blipFill rotWithShape="1">
            <a:blip r:embed="rId5" cstate="screen">
              <a:alphaModFix/>
              <a:extLst>
                <a:ext uri="{28A0092B-C50C-407E-A947-70E740481C1C}">
                  <a14:useLocalDpi xmlns:a14="http://schemas.microsoft.com/office/drawing/2010/main"/>
                </a:ext>
              </a:extLst>
            </a:blip>
            <a:srcRect/>
            <a:stretch/>
          </p:blipFill>
          <p:spPr>
            <a:xfrm>
              <a:off x="887206" y="2877898"/>
              <a:ext cx="539750" cy="538920"/>
            </a:xfrm>
            <a:prstGeom prst="rect">
              <a:avLst/>
            </a:prstGeom>
            <a:noFill/>
            <a:ln>
              <a:noFill/>
            </a:ln>
            <a:effectLst>
              <a:outerShdw blurRad="50800" dist="38100" dir="2700000" algn="tl" rotWithShape="0">
                <a:prstClr val="black">
                  <a:alpha val="40000"/>
                </a:prstClr>
              </a:outerShdw>
            </a:effectLst>
          </p:spPr>
        </p:pic>
      </p:grpSp>
      <p:sp>
        <p:nvSpPr>
          <p:cNvPr id="14" name="Rectangle 13">
            <a:extLst>
              <a:ext uri="{FF2B5EF4-FFF2-40B4-BE49-F238E27FC236}">
                <a16:creationId xmlns:a16="http://schemas.microsoft.com/office/drawing/2014/main" xmlns="" id="{5C5D1B9F-A752-AD42-8D60-9B883A2514E7}"/>
              </a:ext>
            </a:extLst>
          </p:cNvPr>
          <p:cNvSpPr>
            <a:spLocks noChangeArrowheads="1"/>
          </p:cNvSpPr>
          <p:nvPr/>
        </p:nvSpPr>
        <p:spPr bwMode="auto">
          <a:xfrm>
            <a:off x="539520" y="339979"/>
            <a:ext cx="7801898"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457200" indent="-457200">
              <a:buFont typeface="+mj-lt"/>
              <a:buAutoNum type="arabicPeriod" startAt="4"/>
            </a:pPr>
            <a:endParaRPr lang="en-PH"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5"/>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5"/>
            </a:pPr>
            <a:r>
              <a:rPr lang="en-US" sz="2400" dirty="0">
                <a:latin typeface="Verdana" panose="020B0604030504040204" pitchFamily="34" charset="0"/>
                <a:ea typeface="Verdana" panose="020B0604030504040204" pitchFamily="34" charset="0"/>
                <a:cs typeface="Verdana" panose="020B0604030504040204" pitchFamily="34" charset="0"/>
              </a:rPr>
              <a:t>Write an example of the zero exponent law.</a:t>
            </a:r>
          </a:p>
        </p:txBody>
      </p:sp>
    </p:spTree>
    <p:extLst>
      <p:ext uri="{BB962C8B-B14F-4D97-AF65-F5344CB8AC3E}">
        <p14:creationId xmlns:p14="http://schemas.microsoft.com/office/powerpoint/2010/main" val="19449658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3845999" y="2766150"/>
            <a:ext cx="7569562"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54B5D1"/>
                </a:solidFill>
                <a:latin typeface="Verdana"/>
                <a:ea typeface="Verdana"/>
                <a:cs typeface="Verdana"/>
                <a:sym typeface="Verdana"/>
              </a:rPr>
              <a:t>Guided Practice</a:t>
            </a:r>
            <a:endParaRPr sz="5100" b="1" dirty="0">
              <a:solidFill>
                <a:srgbClr val="54B5D1"/>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xmlns="" id="{33005AFD-D615-1344-BDC0-5A40F6454816}"/>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85</a:t>
            </a:r>
            <a:endParaRPr i="1" dirty="0">
              <a:latin typeface="Calibri"/>
              <a:ea typeface="Calibri"/>
              <a:cs typeface="Calibri"/>
              <a:sym typeface="Calibri"/>
            </a:endParaRPr>
          </a:p>
        </p:txBody>
      </p:sp>
      <p:pic>
        <p:nvPicPr>
          <p:cNvPr id="9" name="image3.png" descr="Icon&#10;&#10;Description automatically generated">
            <a:extLst>
              <a:ext uri="{FF2B5EF4-FFF2-40B4-BE49-F238E27FC236}">
                <a16:creationId xmlns:a16="http://schemas.microsoft.com/office/drawing/2014/main" xmlns="" id="{0D19F6B6-A388-1443-A380-52938AB2312D}"/>
              </a:ext>
            </a:extLst>
          </p:cNvPr>
          <p:cNvPicPr/>
          <p:nvPr/>
        </p:nvPicPr>
        <p:blipFill>
          <a:blip r:embed="rId4"/>
          <a:srcRect/>
          <a:stretch>
            <a:fillRect/>
          </a:stretch>
        </p:blipFill>
        <p:spPr>
          <a:xfrm>
            <a:off x="3054096" y="2852928"/>
            <a:ext cx="1158151" cy="1158151"/>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1843235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xmlns="" id="{21B1DF8E-16A0-FA4E-8CEB-434668DFA68D}"/>
              </a:ext>
            </a:extLst>
          </p:cNvPr>
          <p:cNvSpPr txBox="1">
            <a:spLocks/>
          </p:cNvSpPr>
          <p:nvPr/>
        </p:nvSpPr>
        <p:spPr>
          <a:xfrm>
            <a:off x="1237463" y="-87966"/>
            <a:ext cx="10399479"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3200" b="1" dirty="0">
                <a:solidFill>
                  <a:srgbClr val="54B5D1"/>
                </a:solidFill>
                <a:latin typeface="Verdana"/>
                <a:ea typeface="Verdana"/>
                <a:cs typeface="Verdana"/>
                <a:sym typeface="Verdana"/>
              </a:rPr>
              <a:t>3.1.6 Guided Practice: Aligning Powers of </a:t>
            </a:r>
            <a:r>
              <a:rPr lang="en-US" sz="3200" b="1" dirty="0" smtClean="0">
                <a:solidFill>
                  <a:srgbClr val="54B5D1"/>
                </a:solidFill>
                <a:latin typeface="Verdana"/>
                <a:ea typeface="Verdana"/>
                <a:cs typeface="Verdana"/>
                <a:sym typeface="Verdana"/>
              </a:rPr>
              <a:t/>
            </a:r>
            <a:br>
              <a:rPr lang="en-US" sz="3200" b="1" dirty="0" smtClean="0">
                <a:solidFill>
                  <a:srgbClr val="54B5D1"/>
                </a:solidFill>
                <a:latin typeface="Verdana"/>
                <a:ea typeface="Verdana"/>
                <a:cs typeface="Verdana"/>
                <a:sym typeface="Verdana"/>
              </a:rPr>
            </a:br>
            <a:r>
              <a:rPr lang="en-US" sz="3200" b="1" dirty="0" smtClean="0">
                <a:solidFill>
                  <a:srgbClr val="54B5D1"/>
                </a:solidFill>
                <a:latin typeface="Verdana"/>
                <a:ea typeface="Verdana"/>
                <a:cs typeface="Verdana"/>
                <a:sym typeface="Verdana"/>
              </a:rPr>
              <a:t>10 </a:t>
            </a:r>
            <a:r>
              <a:rPr lang="en-US" sz="3200" b="1" dirty="0">
                <a:solidFill>
                  <a:srgbClr val="54B5D1"/>
                </a:solidFill>
                <a:latin typeface="Verdana"/>
                <a:ea typeface="Verdana"/>
                <a:cs typeface="Verdana"/>
                <a:sym typeface="Verdana"/>
              </a:rPr>
              <a:t>Statements with the Laws of Exponents</a:t>
            </a:r>
          </a:p>
        </p:txBody>
      </p:sp>
      <p:sp>
        <p:nvSpPr>
          <p:cNvPr id="12" name="Google Shape;282;g104476d1465_1_17">
            <a:extLst>
              <a:ext uri="{FF2B5EF4-FFF2-40B4-BE49-F238E27FC236}">
                <a16:creationId xmlns:a16="http://schemas.microsoft.com/office/drawing/2014/main" xmlns="" id="{B2B1ECCC-8E07-F247-BB16-7B958B8E6B20}"/>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85</a:t>
            </a:r>
            <a:endParaRPr i="1" dirty="0">
              <a:latin typeface="Calibri"/>
              <a:ea typeface="Calibri"/>
              <a:cs typeface="Calibri"/>
              <a:sym typeface="Calibri"/>
            </a:endParaRPr>
          </a:p>
        </p:txBody>
      </p:sp>
      <p:sp>
        <p:nvSpPr>
          <p:cNvPr id="4" name="Rectangle 3">
            <a:extLst>
              <a:ext uri="{FF2B5EF4-FFF2-40B4-BE49-F238E27FC236}">
                <a16:creationId xmlns:a16="http://schemas.microsoft.com/office/drawing/2014/main" xmlns="" id="{FE208A00-51E7-C544-ABDE-AE9DC3DAAB4C}"/>
              </a:ext>
            </a:extLst>
          </p:cNvPr>
          <p:cNvSpPr>
            <a:spLocks noChangeArrowheads="1"/>
          </p:cNvSpPr>
          <p:nvPr/>
        </p:nvSpPr>
        <p:spPr bwMode="auto">
          <a:xfrm>
            <a:off x="730332" y="1391622"/>
            <a:ext cx="11310872"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indent="-457200" eaLnBrk="0" fontAlgn="base" hangingPunct="0">
              <a:spcBef>
                <a:spcPct val="0"/>
              </a:spcBef>
              <a:spcAft>
                <a:spcPct val="0"/>
              </a:spcAft>
              <a:buClrTx/>
              <a:buFont typeface="+mj-lt"/>
              <a:buAutoNum type="arabicPeriod"/>
            </a:pP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Determine which of the mathematical statements align with a law of exponents. Write the law in the table. If no law applies, then write “none.”</a:t>
            </a:r>
          </a:p>
        </p:txBody>
      </p:sp>
      <p:pic>
        <p:nvPicPr>
          <p:cNvPr id="10" name="image3.png" descr="Icon&#10;&#10;Description automatically generated">
            <a:extLst>
              <a:ext uri="{FF2B5EF4-FFF2-40B4-BE49-F238E27FC236}">
                <a16:creationId xmlns:a16="http://schemas.microsoft.com/office/drawing/2014/main" xmlns="" id="{7A2D9D50-9448-8245-B927-6E7175407A67}"/>
              </a:ext>
            </a:extLst>
          </p:cNvPr>
          <p:cNvPicPr/>
          <p:nvPr/>
        </p:nvPicPr>
        <p:blipFill>
          <a:blip r:embed="rId4" cstate="screen">
            <a:extLst>
              <a:ext uri="{28A0092B-C50C-407E-A947-70E740481C1C}">
                <a14:useLocalDpi xmlns:a14="http://schemas.microsoft.com/office/drawing/2010/main"/>
              </a:ext>
            </a:extLst>
          </a:blip>
          <a:srcRect/>
          <a:stretch>
            <a:fillRect/>
          </a:stretch>
        </p:blipFill>
        <p:spPr>
          <a:xfrm>
            <a:off x="356616" y="201168"/>
            <a:ext cx="747432" cy="747432"/>
          </a:xfrm>
          <a:prstGeom prst="rect">
            <a:avLst/>
          </a:prstGeom>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xmlns="" id="{BE8B51E0-8A8D-CE4E-AE88-CF6119AEDD87}"/>
                  </a:ext>
                </a:extLst>
              </p:cNvPr>
              <p:cNvGraphicFramePr>
                <a:graphicFrameLocks noGrp="1"/>
              </p:cNvGraphicFramePr>
              <p:nvPr>
                <p:extLst>
                  <p:ext uri="{D42A27DB-BD31-4B8C-83A1-F6EECF244321}">
                    <p14:modId xmlns:p14="http://schemas.microsoft.com/office/powerpoint/2010/main" val="2810720551"/>
                  </p:ext>
                </p:extLst>
              </p:nvPr>
            </p:nvGraphicFramePr>
            <p:xfrm>
              <a:off x="2724150" y="2277533"/>
              <a:ext cx="6841191" cy="3976242"/>
            </p:xfrm>
            <a:graphic>
              <a:graphicData uri="http://schemas.openxmlformats.org/drawingml/2006/table">
                <a:tbl>
                  <a:tblPr firstRow="1" firstCol="1" bandRow="1"/>
                  <a:tblGrid>
                    <a:gridCol w="2840834">
                      <a:extLst>
                        <a:ext uri="{9D8B030D-6E8A-4147-A177-3AD203B41FA5}">
                          <a16:colId xmlns:a16="http://schemas.microsoft.com/office/drawing/2014/main" xmlns="" val="1160185182"/>
                        </a:ext>
                      </a:extLst>
                    </a:gridCol>
                    <a:gridCol w="4000357">
                      <a:extLst>
                        <a:ext uri="{9D8B030D-6E8A-4147-A177-3AD203B41FA5}">
                          <a16:colId xmlns:a16="http://schemas.microsoft.com/office/drawing/2014/main" xmlns="" val="89024664"/>
                        </a:ext>
                      </a:extLst>
                    </a:gridCol>
                  </a:tblGrid>
                  <a:tr h="462113">
                    <a:tc>
                      <a:txBody>
                        <a:bodyPr/>
                        <a:lstStyle/>
                        <a:p>
                          <a:pPr marL="0" marR="0" algn="ctr">
                            <a:spcBef>
                              <a:spcPts val="0"/>
                            </a:spcBef>
                            <a:spcAft>
                              <a:spcPts val="0"/>
                            </a:spcAft>
                          </a:pPr>
                          <a:r>
                            <a:rPr lang="en-US" sz="2000" b="1" dirty="0">
                              <a:effectLst/>
                              <a:latin typeface="Verdana" panose="020B0604030504040204" pitchFamily="34" charset="0"/>
                              <a:ea typeface="Times New Roman" panose="02020603050405020304" pitchFamily="18" charset="0"/>
                              <a:cs typeface="Times New Roman" panose="02020603050405020304" pitchFamily="18" charset="0"/>
                            </a:rPr>
                            <a:t>Mathematical Statement</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Law of Exponents</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 val="237245869"/>
                      </a:ext>
                    </a:extLst>
                  </a:tr>
                  <a:tr h="532714">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smtClean="0">
                                        <a:effectLst/>
                                        <a:latin typeface="Cambria Math"/>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10</m:t>
                                    </m:r>
                                  </m:e>
                                  <m:sup>
                                    <m:r>
                                      <a:rPr lang="en-US" sz="2000" b="0" i="1" smtClean="0">
                                        <a:effectLst/>
                                        <a:latin typeface="Cambria Math"/>
                                        <a:ea typeface="Times New Roman" panose="02020603050405020304" pitchFamily="18" charset="0"/>
                                        <a:cs typeface="Times New Roman" panose="02020603050405020304" pitchFamily="18" charset="0"/>
                                      </a:rPr>
                                      <m:t>6</m:t>
                                    </m:r>
                                  </m:sup>
                                </m:s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x-none" sz="2000" i="1">
                                        <a:effectLst/>
                                        <a:latin typeface="Cambria Math"/>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10</m:t>
                                    </m:r>
                                  </m:e>
                                  <m:sup>
                                    <m:r>
                                      <a:rPr lang="en-US" sz="2000" b="0" i="1" smtClean="0">
                                        <a:effectLst/>
                                        <a:latin typeface="Cambria Math"/>
                                        <a:ea typeface="Times New Roman" panose="02020603050405020304" pitchFamily="18" charset="0"/>
                                        <a:cs typeface="Times New Roman" panose="02020603050405020304" pitchFamily="18" charset="0"/>
                                      </a:rPr>
                                      <m:t>7</m:t>
                                    </m:r>
                                  </m:sup>
                                </m:sSup>
                              </m:oMath>
                            </m:oMathPara>
                          </a14:m>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835967462"/>
                      </a:ext>
                    </a:extLst>
                  </a:tr>
                  <a:tr h="532714">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10</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sup>
                                </m:s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x-none" sz="2000" i="1">
                                        <a:effectLst/>
                                        <a:latin typeface="Cambria Math"/>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10</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6</m:t>
                                    </m:r>
                                  </m:sup>
                                </m:sSup>
                              </m:oMath>
                            </m:oMathPara>
                          </a14:m>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071264070"/>
                      </a:ext>
                    </a:extLst>
                  </a:tr>
                  <a:tr h="532714">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10</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5</m:t>
                                    </m:r>
                                  </m:sup>
                                </m:s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x-none" sz="2000" i="1">
                                        <a:effectLst/>
                                        <a:latin typeface="Cambria Math"/>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10</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3</m:t>
                                    </m:r>
                                  </m:sup>
                                </m:sSup>
                              </m:oMath>
                            </m:oMathPara>
                          </a14:m>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92362712"/>
                      </a:ext>
                    </a:extLst>
                  </a:tr>
                  <a:tr h="532714">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f>
                                  <m:fPr>
                                    <m:ctrlPr>
                                      <a:rPr lang="x-none" sz="2000" i="1">
                                        <a:effectLst/>
                                        <a:latin typeface="Cambria Math"/>
                                        <a:ea typeface="Times New Roman" panose="02020603050405020304" pitchFamily="18" charset="0"/>
                                        <a:cs typeface="Times New Roman" panose="02020603050405020304" pitchFamily="18" charset="0"/>
                                      </a:rPr>
                                    </m:ctrlPr>
                                  </m:fPr>
                                  <m:num>
                                    <m:sSup>
                                      <m:sSupPr>
                                        <m:ctrlPr>
                                          <a:rPr lang="x-none" sz="2000" i="1">
                                            <a:effectLst/>
                                            <a:latin typeface="Cambria Math"/>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10</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6</m:t>
                                        </m:r>
                                      </m:sup>
                                    </m:sSup>
                                  </m:num>
                                  <m:den>
                                    <m:sSup>
                                      <m:sSupPr>
                                        <m:ctrlPr>
                                          <a:rPr lang="x-none" sz="2000" i="1">
                                            <a:effectLst/>
                                            <a:latin typeface="Cambria Math"/>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10</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4</m:t>
                                        </m:r>
                                      </m:sup>
                                    </m:sSup>
                                  </m:den>
                                </m:f>
                              </m:oMath>
                            </m:oMathPara>
                          </a14:m>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338381163"/>
                      </a:ext>
                    </a:extLst>
                  </a:tr>
                  <a:tr h="532714">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smtClean="0">
                                        <a:effectLst/>
                                        <a:latin typeface="Cambria Math"/>
                                        <a:ea typeface="Times New Roman" panose="02020603050405020304" pitchFamily="18" charset="0"/>
                                        <a:cs typeface="Times New Roman" panose="02020603050405020304" pitchFamily="18" charset="0"/>
                                      </a:rPr>
                                    </m:ctrlPr>
                                  </m:sSupPr>
                                  <m:e>
                                    <m:d>
                                      <m:dPr>
                                        <m:ctrlPr>
                                          <a:rPr lang="x-none" sz="2000" i="1">
                                            <a:effectLst/>
                                            <a:latin typeface="Cambria Math"/>
                                            <a:ea typeface="Times New Roman" panose="02020603050405020304" pitchFamily="18" charset="0"/>
                                            <a:cs typeface="Times New Roman" panose="02020603050405020304" pitchFamily="18" charset="0"/>
                                          </a:rPr>
                                        </m:ctrlPr>
                                      </m:dPr>
                                      <m:e>
                                        <m:sSup>
                                          <m:sSupPr>
                                            <m:ctrlPr>
                                              <a:rPr lang="x-none" sz="2000" i="1">
                                                <a:effectLst/>
                                                <a:latin typeface="Cambria Math"/>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10</m:t>
                                            </m:r>
                                          </m:e>
                                          <m:sup>
                                            <m:r>
                                              <a:rPr lang="en-US" sz="2000" b="0" i="1" smtClean="0">
                                                <a:effectLst/>
                                                <a:latin typeface="Cambria Math"/>
                                                <a:ea typeface="Times New Roman" panose="02020603050405020304" pitchFamily="18" charset="0"/>
                                                <a:cs typeface="Times New Roman" panose="02020603050405020304" pitchFamily="18" charset="0"/>
                                              </a:rPr>
                                              <m:t>4</m:t>
                                            </m:r>
                                          </m:sup>
                                        </m:sSup>
                                      </m:e>
                                    </m:d>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sup>
                                </m:sSup>
                              </m:oMath>
                            </m:oMathPara>
                          </a14:m>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022079977"/>
                      </a:ext>
                    </a:extLst>
                  </a:tr>
                  <a:tr h="532714">
                    <a:tc>
                      <a:txBody>
                        <a:bodyPr/>
                        <a:lstStyle/>
                        <a:p>
                          <a:pPr marL="0" marR="0" algn="ctr">
                            <a:spcBef>
                              <a:spcPts val="0"/>
                            </a:spcBef>
                            <a:spcAft>
                              <a:spcPts val="0"/>
                            </a:spcAft>
                          </a:pPr>
                          <a14:m>
                            <m:oMath xmlns:m="http://schemas.openxmlformats.org/officeDocument/2006/math">
                              <m:f>
                                <m:fPr>
                                  <m:ctrlPr>
                                    <a:rPr lang="x-none" sz="2000" i="1">
                                      <a:effectLst/>
                                      <a:latin typeface="Cambria Math"/>
                                      <a:ea typeface="Times New Roman" panose="02020603050405020304" pitchFamily="18" charset="0"/>
                                      <a:cs typeface="Times New Roman" panose="02020603050405020304" pitchFamily="18" charset="0"/>
                                    </a:rPr>
                                  </m:ctrlPr>
                                </m:fPr>
                                <m:num>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m:t>
                                  </m:r>
                                </m:num>
                                <m:den>
                                  <m:sSup>
                                    <m:sSupPr>
                                      <m:ctrlPr>
                                        <a:rPr lang="x-none" sz="2000" i="1">
                                          <a:effectLst/>
                                          <a:latin typeface="Cambria Math"/>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10</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sup>
                                  </m:sSup>
                                </m:den>
                              </m:f>
                            </m:oMath>
                          </a14:m>
                          <a:r>
                            <a:rPr lang="en-PH" sz="1400" dirty="0">
                              <a:effectLst/>
                              <a:latin typeface="Cambria" panose="02040503050406030204" pitchFamily="18" charset="0"/>
                              <a:ea typeface="Times New Roman" panose="02020603050405020304" pitchFamily="18" charset="0"/>
                              <a:cs typeface="Times New Roman" panose="02020603050405020304" pitchFamily="18" charset="0"/>
                            </a:rPr>
                            <a:t> </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14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212071101"/>
                      </a:ext>
                    </a:extLst>
                  </a:tr>
                </a:tbl>
              </a:graphicData>
            </a:graphic>
          </p:graphicFrame>
        </mc:Choice>
        <mc:Fallback xmlns="">
          <p:graphicFrame>
            <p:nvGraphicFramePr>
              <p:cNvPr id="3" name="Table 2">
                <a:extLst>
                  <a:ext uri="{FF2B5EF4-FFF2-40B4-BE49-F238E27FC236}">
                    <a16:creationId xmlns:a16="http://schemas.microsoft.com/office/drawing/2014/main" xmlns:a14="http://schemas.microsoft.com/office/drawing/2010/main" xmlns="" id="{BE8B51E0-8A8D-CE4E-AE88-CF6119AEDD87}"/>
                  </a:ext>
                </a:extLst>
              </p:cNvPr>
              <p:cNvGraphicFramePr>
                <a:graphicFrameLocks noGrp="1"/>
              </p:cNvGraphicFramePr>
              <p:nvPr>
                <p:extLst>
                  <p:ext uri="{D42A27DB-BD31-4B8C-83A1-F6EECF244321}">
                    <p14:modId xmlns:p14="http://schemas.microsoft.com/office/powerpoint/2010/main" val="2810720551"/>
                  </p:ext>
                </p:extLst>
              </p:nvPr>
            </p:nvGraphicFramePr>
            <p:xfrm>
              <a:off x="2724150" y="2277533"/>
              <a:ext cx="6841191" cy="3976242"/>
            </p:xfrm>
            <a:graphic>
              <a:graphicData uri="http://schemas.openxmlformats.org/drawingml/2006/table">
                <a:tbl>
                  <a:tblPr firstRow="1" firstCol="1" bandRow="1"/>
                  <a:tblGrid>
                    <a:gridCol w="2840834">
                      <a:extLst>
                        <a:ext uri="{9D8B030D-6E8A-4147-A177-3AD203B41FA5}">
                          <a16:colId xmlns:a16="http://schemas.microsoft.com/office/drawing/2014/main" xmlns:a14="http://schemas.microsoft.com/office/drawing/2010/main" xmlns="" val="1160185182"/>
                        </a:ext>
                      </a:extLst>
                    </a:gridCol>
                    <a:gridCol w="4000357">
                      <a:extLst>
                        <a:ext uri="{9D8B030D-6E8A-4147-A177-3AD203B41FA5}">
                          <a16:colId xmlns:a16="http://schemas.microsoft.com/office/drawing/2014/main" xmlns:a14="http://schemas.microsoft.com/office/drawing/2010/main" xmlns="" val="89024664"/>
                        </a:ext>
                      </a:extLst>
                    </a:gridCol>
                  </a:tblGrid>
                  <a:tr h="609600">
                    <a:tc>
                      <a:txBody>
                        <a:bodyPr/>
                        <a:lstStyle/>
                        <a:p>
                          <a:pPr marL="0" marR="0" algn="ctr">
                            <a:spcBef>
                              <a:spcPts val="0"/>
                            </a:spcBef>
                            <a:spcAft>
                              <a:spcPts val="0"/>
                            </a:spcAft>
                          </a:pPr>
                          <a:r>
                            <a:rPr lang="en-US" sz="2000" b="1" dirty="0">
                              <a:effectLst/>
                              <a:latin typeface="Verdana" panose="020B0604030504040204" pitchFamily="34" charset="0"/>
                              <a:ea typeface="Times New Roman" panose="02020603050405020304" pitchFamily="18" charset="0"/>
                              <a:cs typeface="Times New Roman" panose="02020603050405020304" pitchFamily="18" charset="0"/>
                            </a:rPr>
                            <a:t>Mathematical Statement</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Law of Exponents</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a14="http://schemas.microsoft.com/office/drawing/2010/main" xmlns="" val="237245869"/>
                      </a:ext>
                    </a:extLst>
                  </a:tr>
                  <a:tr h="532714">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215" t="-129885" r="-140987" b="-534483"/>
                          </a:stretch>
                        </a:blipFill>
                      </a:tcPr>
                    </a:tc>
                    <a:tc>
                      <a:txBody>
                        <a:bodyPr/>
                        <a:lstStyle/>
                        <a:p>
                          <a:pPr marL="0" marR="0" algn="ctr">
                            <a:spcBef>
                              <a:spcPts val="0"/>
                            </a:spcBef>
                            <a:spcAft>
                              <a:spcPts val="0"/>
                            </a:spcAft>
                          </a:pPr>
                          <a:r>
                            <a:rPr lang="en-US" sz="200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835967462"/>
                      </a:ext>
                    </a:extLst>
                  </a:tr>
                  <a:tr h="532714">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215" t="-227273" r="-140987" b="-428409"/>
                          </a:stretch>
                        </a:blipFill>
                      </a:tcPr>
                    </a:tc>
                    <a:tc>
                      <a:txBody>
                        <a:bodyPr/>
                        <a:lstStyle/>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2071264070"/>
                      </a:ext>
                    </a:extLst>
                  </a:tr>
                  <a:tr h="532714">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215" t="-331034" r="-140987" b="-333333"/>
                          </a:stretch>
                        </a:blipFill>
                      </a:tcPr>
                    </a:tc>
                    <a:tc>
                      <a:txBody>
                        <a:bodyPr/>
                        <a:lstStyle/>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492362712"/>
                      </a:ext>
                    </a:extLst>
                  </a:tr>
                  <a:tr h="703072">
                    <a:tc>
                      <a:txBody>
                        <a:bodyPr/>
                        <a:lstStyle/>
                        <a:p>
                          <a:endParaRPr lang="en-US"/>
                        </a:p>
                      </a:txBody>
                      <a:tcPr marL="68580" marR="68580" marT="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215" t="-326087" r="-140987" b="-152174"/>
                          </a:stretch>
                        </a:blipFill>
                      </a:tcPr>
                    </a:tc>
                    <a:tc>
                      <a:txBody>
                        <a:bodyPr/>
                        <a:lstStyle/>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338381163"/>
                      </a:ext>
                    </a:extLst>
                  </a:tr>
                  <a:tr h="532714">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215" t="-556818" r="-140987" b="-98864"/>
                          </a:stretch>
                        </a:blipFill>
                      </a:tcPr>
                    </a:tc>
                    <a:tc>
                      <a:txBody>
                        <a:bodyPr/>
                        <a:lstStyle/>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2022079977"/>
                      </a:ext>
                    </a:extLst>
                  </a:tr>
                  <a:tr h="532714">
                    <a:tc>
                      <a:txBody>
                        <a:bodyPr/>
                        <a:lstStyle/>
                        <a:p>
                          <a:endParaRPr lang="en-US"/>
                        </a:p>
                      </a:txBody>
                      <a:tcPr marL="68580" marR="68580" marT="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215" t="-664368" r="-140987"/>
                          </a:stretch>
                        </a:blipFill>
                      </a:tcPr>
                    </a:tc>
                    <a:tc>
                      <a:txBody>
                        <a:bodyPr/>
                        <a:lstStyle/>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14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2212071101"/>
                      </a:ext>
                    </a:extLst>
                  </a:tr>
                </a:tbl>
              </a:graphicData>
            </a:graphic>
          </p:graphicFrame>
        </mc:Fallback>
      </mc:AlternateContent>
    </p:spTree>
    <p:extLst>
      <p:ext uri="{BB962C8B-B14F-4D97-AF65-F5344CB8AC3E}">
        <p14:creationId xmlns:p14="http://schemas.microsoft.com/office/powerpoint/2010/main" val="38876743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85</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xmlns="" id="{5C5D1B9F-A752-AD42-8D60-9B883A2514E7}"/>
                  </a:ext>
                </a:extLst>
              </p:cNvPr>
              <p:cNvSpPr>
                <a:spLocks noChangeArrowheads="1"/>
              </p:cNvSpPr>
              <p:nvPr/>
            </p:nvSpPr>
            <p:spPr bwMode="auto">
              <a:xfrm>
                <a:off x="587559" y="388106"/>
                <a:ext cx="11155262" cy="4093428"/>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457200" indent="-457200" eaLnBrk="0" fontAlgn="base" hangingPunct="0">
                  <a:spcBef>
                    <a:spcPct val="0"/>
                  </a:spcBef>
                  <a:spcAft>
                    <a:spcPct val="0"/>
                  </a:spcAft>
                  <a:buClrTx/>
                  <a:buFont typeface="+mj-lt"/>
                  <a:buAutoNum type="arabicPeriod" startAt="2"/>
                </a:pP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Numbers like a quintillion, </a:t>
                </a:r>
                <a14:m>
                  <m:oMath xmlns:m="http://schemas.openxmlformats.org/officeDocument/2006/math">
                    <m:r>
                      <a:rPr lang="en-US" altLang="en-US" sz="20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1,000,000,000,000,000,000</m:t>
                    </m:r>
                  </m:oMath>
                </a14:m>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and a quadrillion, </a:t>
                </a:r>
                <a14:m>
                  <m:oMath xmlns:m="http://schemas.openxmlformats.org/officeDocument/2006/math">
                    <m:r>
                      <a:rPr lang="en-US" altLang="en-US" sz="20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1,000,000,000,000,000</m:t>
                    </m:r>
                  </m:oMath>
                </a14:m>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are often used by scientists. When using such large numbers, scientists have developed a shortened method of writing these numbers called scientific notation. Scientific notation uses the powers of </a:t>
                </a:r>
                <a14:m>
                  <m:oMath xmlns:m="http://schemas.openxmlformats.org/officeDocument/2006/math">
                    <m:r>
                      <a:rPr lang="en-US" altLang="en-US" sz="20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10</m:t>
                    </m:r>
                  </m:oMath>
                </a14:m>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to represent these numbers.</a:t>
                </a:r>
              </a:p>
              <a:p>
                <a:pPr lvl="0" eaLnBrk="0" fontAlgn="base" hangingPunct="0">
                  <a:spcBef>
                    <a:spcPct val="0"/>
                  </a:spcBef>
                  <a:spcAft>
                    <a:spcPct val="0"/>
                  </a:spcAft>
                  <a:buClrTx/>
                </a:pPr>
                <a:endPar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893763" indent="-457200" eaLnBrk="0" fontAlgn="base" hangingPunct="0">
                  <a:spcBef>
                    <a:spcPct val="0"/>
                  </a:spcBef>
                  <a:spcAft>
                    <a:spcPct val="0"/>
                  </a:spcAft>
                  <a:buClrTx/>
                  <a:buFont typeface="+mj-lt"/>
                  <a:buAutoNum type="alphaLcPeriod"/>
                </a:pP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Write </a:t>
                </a:r>
                <a14:m>
                  <m:oMath xmlns:m="http://schemas.openxmlformats.org/officeDocument/2006/math">
                    <m:r>
                      <a:rPr lang="en-US" altLang="en-US" sz="20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1,000,000,000,000,000,000</m:t>
                    </m:r>
                  </m:oMath>
                </a14:m>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using a power of </a:t>
                </a:r>
                <a14:m>
                  <m:oMath xmlns:m="http://schemas.openxmlformats.org/officeDocument/2006/math">
                    <m:r>
                      <a:rPr lang="en-US" altLang="en-US" sz="20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10</m:t>
                    </m:r>
                  </m:oMath>
                </a14:m>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a:t>
                </a:r>
              </a:p>
              <a:p>
                <a:pPr marL="893763" indent="-457200" eaLnBrk="0" fontAlgn="base" hangingPunct="0">
                  <a:spcBef>
                    <a:spcPct val="0"/>
                  </a:spcBef>
                  <a:spcAft>
                    <a:spcPct val="0"/>
                  </a:spcAft>
                  <a:buClrTx/>
                  <a:buFont typeface="+mj-lt"/>
                  <a:buAutoNum type="alphaLcPeriod"/>
                </a:pPr>
                <a:endPar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893763" indent="-457200" eaLnBrk="0" fontAlgn="base" hangingPunct="0">
                  <a:spcBef>
                    <a:spcPct val="0"/>
                  </a:spcBef>
                  <a:spcAft>
                    <a:spcPct val="0"/>
                  </a:spcAft>
                  <a:buClrTx/>
                  <a:buFont typeface="+mj-lt"/>
                  <a:buAutoNum type="alphaLcPeriod"/>
                </a:pPr>
                <a:endPar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893763" indent="-457200" eaLnBrk="0" fontAlgn="base" hangingPunct="0">
                  <a:spcBef>
                    <a:spcPct val="0"/>
                  </a:spcBef>
                  <a:spcAft>
                    <a:spcPct val="0"/>
                  </a:spcAft>
                  <a:buClrTx/>
                  <a:buFont typeface="+mj-lt"/>
                  <a:buAutoNum type="alphaLcPeriod"/>
                </a:pPr>
                <a:endParaRPr lang="en-PH"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893763" indent="-457200" eaLnBrk="0" fontAlgn="base" hangingPunct="0">
                  <a:spcBef>
                    <a:spcPct val="0"/>
                  </a:spcBef>
                  <a:spcAft>
                    <a:spcPct val="0"/>
                  </a:spcAft>
                  <a:buClrTx/>
                  <a:buFont typeface="+mj-lt"/>
                  <a:buAutoNum type="alphaLcPeriod"/>
                </a:pPr>
                <a:endParaRPr lang="en-PH"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893763" indent="-457200" eaLnBrk="0" fontAlgn="base" hangingPunct="0">
                  <a:spcBef>
                    <a:spcPct val="0"/>
                  </a:spcBef>
                  <a:spcAft>
                    <a:spcPct val="0"/>
                  </a:spcAft>
                  <a:buClrTx/>
                  <a:buFont typeface="+mj-lt"/>
                  <a:buAutoNum type="alphaLcPeriod"/>
                </a:pPr>
                <a:endPar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893763" indent="-457200" eaLnBrk="0" fontAlgn="base" hangingPunct="0">
                  <a:spcBef>
                    <a:spcPct val="0"/>
                  </a:spcBef>
                  <a:spcAft>
                    <a:spcPct val="0"/>
                  </a:spcAft>
                  <a:buClrTx/>
                  <a:buFont typeface="+mj-lt"/>
                  <a:buAutoNum type="alphaLcPeriod"/>
                </a:pP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Write </a:t>
                </a:r>
                <a14:m>
                  <m:oMath xmlns:m="http://schemas.openxmlformats.org/officeDocument/2006/math">
                    <m:r>
                      <a:rPr lang="en-US" altLang="en-US" sz="20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1,000,000,000,000,000</m:t>
                    </m:r>
                  </m:oMath>
                </a14:m>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using a power of </a:t>
                </a:r>
                <a14:m>
                  <m:oMath xmlns:m="http://schemas.openxmlformats.org/officeDocument/2006/math">
                    <m:r>
                      <a:rPr lang="en-US" altLang="en-US" sz="20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10</m:t>
                    </m:r>
                  </m:oMath>
                </a14:m>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a:t>
                </a:r>
              </a:p>
            </p:txBody>
          </p:sp>
        </mc:Choice>
        <mc:Fallback xmlns="">
          <p:sp>
            <p:nvSpPr>
              <p:cNvPr id="6" name="Rectangle 5">
                <a:extLst>
                  <a:ext uri="{FF2B5EF4-FFF2-40B4-BE49-F238E27FC236}">
                    <a16:creationId xmlns:a16="http://schemas.microsoft.com/office/drawing/2014/main" id="{5C5D1B9F-A752-AD42-8D60-9B883A2514E7}"/>
                  </a:ext>
                </a:extLst>
              </p:cNvPr>
              <p:cNvSpPr>
                <a:spLocks noRot="1" noChangeAspect="1" noMove="1" noResize="1" noEditPoints="1" noAdjustHandles="1" noChangeArrowheads="1" noChangeShapeType="1" noTextEdit="1"/>
              </p:cNvSpPr>
              <p:nvPr/>
            </p:nvSpPr>
            <p:spPr bwMode="auto">
              <a:xfrm>
                <a:off x="587559" y="388106"/>
                <a:ext cx="11155262" cy="4093428"/>
              </a:xfrm>
              <a:prstGeom prst="rect">
                <a:avLst/>
              </a:prstGeom>
              <a:blipFill>
                <a:blip r:embed="rId4"/>
                <a:stretch>
                  <a:fillRect l="-569" t="-929" b="-1858"/>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spTree>
    <p:extLst>
      <p:ext uri="{BB962C8B-B14F-4D97-AF65-F5344CB8AC3E}">
        <p14:creationId xmlns:p14="http://schemas.microsoft.com/office/powerpoint/2010/main" val="32381065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0" name="Google Shape;310;g104476d1465_1_39"/>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85</a:t>
            </a:r>
            <a:endParaRPr i="1" dirty="0">
              <a:latin typeface="Calibri"/>
              <a:ea typeface="Calibri"/>
              <a:cs typeface="Calibri"/>
              <a:sym typeface="Calibri"/>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3855625" y="2698334"/>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xmlns="" id="{DE95225C-59B5-E847-AFA2-B83DCFFA10D8}"/>
              </a:ext>
            </a:extLst>
          </p:cNvPr>
          <p:cNvPicPr preferRelativeResize="0"/>
          <p:nvPr/>
        </p:nvPicPr>
        <p:blipFill rotWithShape="1">
          <a:blip r:embed="rId4">
            <a:alphaModFix/>
          </a:blip>
          <a:srcRect/>
          <a:stretch/>
        </p:blipFill>
        <p:spPr>
          <a:xfrm>
            <a:off x="3054096" y="2852928"/>
            <a:ext cx="1008299" cy="1016513"/>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6769087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82"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85</a:t>
            </a:r>
            <a:endParaRPr i="1" dirty="0">
              <a:latin typeface="Calibri"/>
              <a:ea typeface="Calibri"/>
              <a:cs typeface="Calibri"/>
              <a:sym typeface="Calibri"/>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xmlns="" id="{68C03D65-F0BF-3F41-B52A-024F47388982}"/>
              </a:ext>
            </a:extLst>
          </p:cNvPr>
          <p:cNvSpPr txBox="1">
            <a:spLocks/>
          </p:cNvSpPr>
          <p:nvPr/>
        </p:nvSpPr>
        <p:spPr>
          <a:xfrm>
            <a:off x="1237332" y="300498"/>
            <a:ext cx="8019300" cy="54864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smtClean="0">
                <a:solidFill>
                  <a:srgbClr val="3F2A67"/>
                </a:solidFill>
                <a:latin typeface="Verdana"/>
                <a:ea typeface="Verdana"/>
                <a:cs typeface="Verdana"/>
                <a:sym typeface="Verdana"/>
              </a:rPr>
              <a:t>3.1.7 </a:t>
            </a:r>
            <a:r>
              <a:rPr lang="en-US" sz="3600" b="1" dirty="0">
                <a:solidFill>
                  <a:srgbClr val="3F2A67"/>
                </a:solidFill>
                <a:latin typeface="Verdana"/>
                <a:ea typeface="Verdana"/>
                <a:cs typeface="Verdana"/>
                <a:sym typeface="Verdana"/>
              </a:rPr>
              <a:t>Wrap-Up: Reflection</a:t>
            </a:r>
          </a:p>
        </p:txBody>
      </p:sp>
      <p:pic>
        <p:nvPicPr>
          <p:cNvPr id="9" name="Google Shape;458;g103996e1364_0_463">
            <a:extLst>
              <a:ext uri="{FF2B5EF4-FFF2-40B4-BE49-F238E27FC236}">
                <a16:creationId xmlns:a16="http://schemas.microsoft.com/office/drawing/2014/main" xmlns="" id="{EEA44D6C-2366-AC41-B1B5-EDDC34786A66}"/>
              </a:ext>
            </a:extLst>
          </p:cNvPr>
          <p:cNvPicPr preferRelativeResize="0"/>
          <p:nvPr/>
        </p:nvPicPr>
        <p:blipFill rotWithShape="1">
          <a:blip r:embed="rId4">
            <a:alphaModFix/>
          </a:blip>
          <a:src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
        <p:nvSpPr>
          <p:cNvPr id="2" name="Rectangle 1">
            <a:extLst>
              <a:ext uri="{FF2B5EF4-FFF2-40B4-BE49-F238E27FC236}">
                <a16:creationId xmlns:a16="http://schemas.microsoft.com/office/drawing/2014/main" xmlns="" id="{AE281112-0763-C941-9DB7-9B28C4EA4745}"/>
              </a:ext>
            </a:extLst>
          </p:cNvPr>
          <p:cNvSpPr/>
          <p:nvPr/>
        </p:nvSpPr>
        <p:spPr>
          <a:xfrm>
            <a:off x="730266" y="1066940"/>
            <a:ext cx="11461734" cy="4401205"/>
          </a:xfrm>
          <a:prstGeom prst="rect">
            <a:avLst/>
          </a:prstGeom>
        </p:spPr>
        <p:txBody>
          <a:bodyPr wrap="square">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Choose the question and sign that best describes your understanding of today’s lesson.</a:t>
            </a:r>
          </a:p>
          <a:p>
            <a:pPr marL="457200" indent="-457200">
              <a:buFont typeface="+mj-lt"/>
              <a:buAutoNum type="arabicPeriod"/>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Briefly explain why you feel this way. </a:t>
            </a:r>
          </a:p>
        </p:txBody>
      </p:sp>
      <p:graphicFrame>
        <p:nvGraphicFramePr>
          <p:cNvPr id="5" name="Table 4">
            <a:extLst>
              <a:ext uri="{FF2B5EF4-FFF2-40B4-BE49-F238E27FC236}">
                <a16:creationId xmlns:a16="http://schemas.microsoft.com/office/drawing/2014/main" xmlns="" id="{8471E057-DF99-644D-BD49-6841E43D5557}"/>
              </a:ext>
            </a:extLst>
          </p:cNvPr>
          <p:cNvGraphicFramePr>
            <a:graphicFrameLocks noGrp="1"/>
          </p:cNvGraphicFramePr>
          <p:nvPr>
            <p:extLst>
              <p:ext uri="{D42A27DB-BD31-4B8C-83A1-F6EECF244321}">
                <p14:modId xmlns:p14="http://schemas.microsoft.com/office/powerpoint/2010/main" val="2803018462"/>
              </p:ext>
            </p:extLst>
          </p:nvPr>
        </p:nvGraphicFramePr>
        <p:xfrm>
          <a:off x="2752725" y="1815051"/>
          <a:ext cx="6686550" cy="2904982"/>
        </p:xfrm>
        <a:graphic>
          <a:graphicData uri="http://schemas.openxmlformats.org/drawingml/2006/table">
            <a:tbl>
              <a:tblPr firstRow="1" firstCol="1" bandRow="1"/>
              <a:tblGrid>
                <a:gridCol w="2239010">
                  <a:extLst>
                    <a:ext uri="{9D8B030D-6E8A-4147-A177-3AD203B41FA5}">
                      <a16:colId xmlns:a16="http://schemas.microsoft.com/office/drawing/2014/main" xmlns="" val="1479796603"/>
                    </a:ext>
                  </a:extLst>
                </a:gridCol>
                <a:gridCol w="2322195">
                  <a:extLst>
                    <a:ext uri="{9D8B030D-6E8A-4147-A177-3AD203B41FA5}">
                      <a16:colId xmlns:a16="http://schemas.microsoft.com/office/drawing/2014/main" xmlns="" val="1672327414"/>
                    </a:ext>
                  </a:extLst>
                </a:gridCol>
                <a:gridCol w="2125345">
                  <a:extLst>
                    <a:ext uri="{9D8B030D-6E8A-4147-A177-3AD203B41FA5}">
                      <a16:colId xmlns:a16="http://schemas.microsoft.com/office/drawing/2014/main" xmlns="" val="1246286221"/>
                    </a:ext>
                  </a:extLst>
                </a:gridCol>
              </a:tblGrid>
              <a:tr h="0">
                <a:tc>
                  <a:txBody>
                    <a:bodyPr/>
                    <a:lstStyle/>
                    <a:p>
                      <a:pPr marL="3175" marR="0" indent="0" algn="ctr">
                        <a:spcBef>
                          <a:spcPts val="0"/>
                        </a:spcBef>
                        <a:spcAft>
                          <a:spcPts val="0"/>
                        </a:spcAft>
                      </a:pPr>
                      <a:r>
                        <a:rPr lang="en-US" sz="2000" b="1" dirty="0">
                          <a:effectLst/>
                          <a:latin typeface="Verdana" panose="020B0604030504040204" pitchFamily="34" charset="0"/>
                          <a:ea typeface="Times New Roman" panose="02020603050405020304" pitchFamily="18" charset="0"/>
                          <a:cs typeface="Times New Roman" panose="02020603050405020304" pitchFamily="18" charset="0"/>
                        </a:rPr>
                        <a:t>Are you confused?</a:t>
                      </a:r>
                      <a:endParaRPr lang="x-none" sz="14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Are you in the school zone?</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Are you ready for the highway?</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 val="3430618390"/>
                  </a:ext>
                </a:extLst>
              </a:tr>
              <a:tr h="1990582">
                <a:tc>
                  <a:txBody>
                    <a:bodyPr/>
                    <a:lstStyle/>
                    <a:p>
                      <a:pPr marL="0" marR="0" algn="ctr">
                        <a:spcBef>
                          <a:spcPts val="0"/>
                        </a:spcBef>
                        <a:spcAft>
                          <a:spcPts val="0"/>
                        </a:spcAft>
                      </a:pPr>
                      <a:r>
                        <a:rPr lang="en-US" sz="180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1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1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8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1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630170187"/>
                  </a:ext>
                </a:extLst>
              </a:tr>
            </a:tbl>
          </a:graphicData>
        </a:graphic>
      </p:graphicFrame>
      <p:pic>
        <p:nvPicPr>
          <p:cNvPr id="13" name="Picture 12">
            <a:extLst>
              <a:ext uri="{FF2B5EF4-FFF2-40B4-BE49-F238E27FC236}">
                <a16:creationId xmlns:a16="http://schemas.microsoft.com/office/drawing/2014/main" xmlns="" id="{DF4157E4-0EB3-1E40-960B-6C617C1D6874}"/>
              </a:ext>
            </a:extLst>
          </p:cNvPr>
          <p:cNvPicPr>
            <a:picLocks noChangeAspect="1"/>
          </p:cNvPicPr>
          <p:nvPr/>
        </p:nvPicPr>
        <p:blipFill>
          <a:blip r:embed="rId5">
            <a:extLst>
              <a:ext uri="{28A0092B-C50C-407E-A947-70E740481C1C}">
                <a14:useLocalDpi xmlns:a14="http://schemas.microsoft.com/office/drawing/2010/main"/>
              </a:ext>
              <a:ext uri="{837473B0-CC2E-450A-ABE3-18F120FF3D39}">
                <a1611:picAttrSrcUrl xmlns:a1611="http://schemas.microsoft.com/office/drawing/2016/11/main" xmlns="" r:id="rId6"/>
              </a:ext>
            </a:extLst>
          </a:blip>
          <a:stretch>
            <a:fillRect/>
          </a:stretch>
        </p:blipFill>
        <p:spPr>
          <a:xfrm>
            <a:off x="2996815" y="2929591"/>
            <a:ext cx="1544320" cy="1544320"/>
          </a:xfrm>
          <a:prstGeom prst="rect">
            <a:avLst/>
          </a:prstGeom>
        </p:spPr>
      </p:pic>
      <p:pic>
        <p:nvPicPr>
          <p:cNvPr id="14" name="Picture 13">
            <a:extLst>
              <a:ext uri="{FF2B5EF4-FFF2-40B4-BE49-F238E27FC236}">
                <a16:creationId xmlns:a16="http://schemas.microsoft.com/office/drawing/2014/main" xmlns="" id="{946BE641-39B6-0142-A5C8-97F2C8A7BE7F}"/>
              </a:ext>
            </a:extLst>
          </p:cNvPr>
          <p:cNvPicPr>
            <a:picLocks noChangeAspect="1"/>
          </p:cNvPicPr>
          <p:nvPr/>
        </p:nvPicPr>
        <p:blipFill>
          <a:blip r:embed="rId7" cstate="screen">
            <a:extLst>
              <a:ext uri="{28A0092B-C50C-407E-A947-70E740481C1C}">
                <a14:useLocalDpi xmlns:a14="http://schemas.microsoft.com/office/drawing/2010/main"/>
              </a:ext>
              <a:ext uri="{837473B0-CC2E-450A-ABE3-18F120FF3D39}">
                <a1611:picAttrSrcUrl xmlns:a1611="http://schemas.microsoft.com/office/drawing/2016/11/main" xmlns="" r:id="rId8"/>
              </a:ext>
            </a:extLst>
          </a:blip>
          <a:stretch>
            <a:fillRect/>
          </a:stretch>
        </p:blipFill>
        <p:spPr>
          <a:xfrm>
            <a:off x="5378767" y="2929591"/>
            <a:ext cx="1434465" cy="1563370"/>
          </a:xfrm>
          <a:prstGeom prst="rect">
            <a:avLst/>
          </a:prstGeom>
        </p:spPr>
      </p:pic>
      <p:pic>
        <p:nvPicPr>
          <p:cNvPr id="15" name="Picture 14">
            <a:extLst>
              <a:ext uri="{FF2B5EF4-FFF2-40B4-BE49-F238E27FC236}">
                <a16:creationId xmlns:a16="http://schemas.microsoft.com/office/drawing/2014/main" xmlns="" id="{97ED68BF-EA96-A84F-AC22-ADDAFD010DA3}"/>
              </a:ext>
            </a:extLst>
          </p:cNvPr>
          <p:cNvPicPr>
            <a:picLocks noChangeAspect="1"/>
          </p:cNvPicPr>
          <p:nvPr/>
        </p:nvPicPr>
        <p:blipFill>
          <a:blip r:embed="rId9" cstate="screen">
            <a:extLst>
              <a:ext uri="{28A0092B-C50C-407E-A947-70E740481C1C}">
                <a14:useLocalDpi xmlns:a14="http://schemas.microsoft.com/office/drawing/2010/main"/>
              </a:ext>
              <a:ext uri="{837473B0-CC2E-450A-ABE3-18F120FF3D39}">
                <a1611:picAttrSrcUrl xmlns:a1611="http://schemas.microsoft.com/office/drawing/2016/11/main" xmlns="" r:id="rId10"/>
              </a:ext>
            </a:extLst>
          </a:blip>
          <a:stretch>
            <a:fillRect/>
          </a:stretch>
        </p:blipFill>
        <p:spPr>
          <a:xfrm>
            <a:off x="7838582" y="3032461"/>
            <a:ext cx="1087120" cy="1357630"/>
          </a:xfrm>
          <a:prstGeom prst="rect">
            <a:avLst/>
          </a:prstGeom>
        </p:spPr>
      </p:pic>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3301</TotalTime>
  <Words>1545</Words>
  <Application>Microsoft Office PowerPoint</Application>
  <PresentationFormat>Custom</PresentationFormat>
  <Paragraphs>300</Paragraphs>
  <Slides>28</Slides>
  <Notes>27</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28</vt:i4>
      </vt:variant>
    </vt:vector>
  </HeadingPairs>
  <TitlesOfParts>
    <vt:vector size="40" baseType="lpstr">
      <vt:lpstr>Arial</vt:lpstr>
      <vt:lpstr>Wingdings</vt:lpstr>
      <vt:lpstr>Calibri</vt:lpstr>
      <vt:lpstr>Arial Black</vt:lpstr>
      <vt:lpstr>Cambria Math</vt:lpstr>
      <vt:lpstr>Cutive</vt:lpstr>
      <vt:lpstr>Courier New</vt:lpstr>
      <vt:lpstr>Times New Roman</vt:lpstr>
      <vt:lpstr>Cambria</vt:lpstr>
      <vt:lpstr>Verdana</vt:lpstr>
      <vt:lpstr>Century Gothic</vt:lpstr>
      <vt:lpstr>1_Office Theme</vt:lpstr>
      <vt:lpstr>8th Grade Math: Pre-Algebra  Unit 3, Lesson 1  Powers of 10  Volume 1, pg. 81  </vt:lpstr>
      <vt:lpstr>Benchmark</vt:lpstr>
      <vt:lpstr>PowerPoint Presentation</vt:lpstr>
      <vt:lpstr>PowerPoint Presentation</vt:lpstr>
      <vt:lpstr>Warm-Up</vt:lpstr>
      <vt:lpstr>PowerPoint Presentation</vt:lpstr>
      <vt:lpstr>PowerPoint Presentation</vt:lpstr>
      <vt:lpstr>Exploration</vt:lpstr>
      <vt:lpstr>PowerPoint Presentation</vt:lpstr>
      <vt:lpstr>PowerPoint Presentation</vt:lpstr>
      <vt:lpstr>PowerPoint Presentation</vt:lpstr>
      <vt:lpstr>Try It</vt:lpstr>
      <vt:lpstr>PowerPoint Presentation</vt:lpstr>
      <vt:lpstr>PowerPoint Presentation</vt:lpstr>
      <vt:lpstr>PowerPoint Presentation</vt:lpstr>
      <vt:lpstr>PowerPoint Presentation</vt:lpstr>
      <vt:lpstr>PowerPoint Presentation</vt:lpstr>
      <vt:lpstr>Refresher</vt:lpstr>
      <vt:lpstr>PowerPoint Presentation</vt:lpstr>
      <vt:lpstr>PowerPoint Presentation</vt:lpstr>
      <vt:lpstr>PowerPoint Presentation</vt:lpstr>
      <vt:lpstr>PowerPoint Presentation</vt:lpstr>
      <vt:lpstr>PowerPoint Presentation</vt:lpstr>
      <vt:lpstr>Guided Practice</vt:lpstr>
      <vt:lpstr>PowerPoint Presentation</vt:lpstr>
      <vt:lpstr>PowerPoint Presentation</vt:lpstr>
      <vt:lpstr>Wrap-Up</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Sensei</cp:lastModifiedBy>
  <cp:revision>53</cp:revision>
  <dcterms:created xsi:type="dcterms:W3CDTF">2015-03-17T18:51:18Z</dcterms:created>
  <dcterms:modified xsi:type="dcterms:W3CDTF">2022-07-13T09:21:00Z</dcterms:modified>
</cp:coreProperties>
</file>