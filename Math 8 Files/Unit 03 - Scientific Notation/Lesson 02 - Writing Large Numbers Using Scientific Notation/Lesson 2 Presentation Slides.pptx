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345" r:id="rId4"/>
    <p:sldId id="286" r:id="rId5"/>
    <p:sldId id="261" r:id="rId6"/>
    <p:sldId id="287" r:id="rId7"/>
    <p:sldId id="395" r:id="rId8"/>
    <p:sldId id="396" r:id="rId9"/>
    <p:sldId id="397" r:id="rId10"/>
    <p:sldId id="399" r:id="rId11"/>
    <p:sldId id="346" r:id="rId12"/>
    <p:sldId id="347" r:id="rId13"/>
    <p:sldId id="349" r:id="rId14"/>
    <p:sldId id="350" r:id="rId15"/>
    <p:sldId id="385" r:id="rId16"/>
    <p:sldId id="386" r:id="rId17"/>
    <p:sldId id="412" r:id="rId18"/>
    <p:sldId id="376" r:id="rId19"/>
    <p:sldId id="377" r:id="rId20"/>
    <p:sldId id="405" r:id="rId21"/>
    <p:sldId id="406" r:id="rId22"/>
    <p:sldId id="407" r:id="rId23"/>
    <p:sldId id="414" r:id="rId24"/>
    <p:sldId id="420" r:id="rId25"/>
    <p:sldId id="417" r:id="rId26"/>
    <p:sldId id="418" r:id="rId27"/>
    <p:sldId id="408" r:id="rId28"/>
    <p:sldId id="409" r:id="rId29"/>
    <p:sldId id="410" r:id="rId30"/>
    <p:sldId id="306" r:id="rId31"/>
    <p:sldId id="307" r:id="rId32"/>
  </p:sldIdLst>
  <p:sldSz cx="12192000" cy="6858000"/>
  <p:notesSz cx="6858000" cy="9144000"/>
  <p:embeddedFontLst>
    <p:embeddedFont>
      <p:font typeface="Calibri" pitchFamily="34" charset="0"/>
      <p:regular r:id="rId34"/>
      <p:bold r:id="rId35"/>
      <p:italic r:id="rId36"/>
      <p:boldItalic r:id="rId37"/>
    </p:embeddedFont>
    <p:embeddedFont>
      <p:font typeface="Arial Black" pitchFamily="34" charset="0"/>
      <p:bold r:id="rId38"/>
    </p:embeddedFont>
    <p:embeddedFont>
      <p:font typeface="Cambria Math" pitchFamily="18" charset="0"/>
      <p:regular r:id="rId39"/>
    </p:embeddedFont>
    <p:embeddedFont>
      <p:font typeface="Cutive" charset="0"/>
      <p:regular r:id="rId40"/>
    </p:embeddedFont>
    <p:embeddedFont>
      <p:font typeface="Cambria" pitchFamily="18" charset="0"/>
      <p:regular r:id="rId41"/>
      <p:bold r:id="rId42"/>
      <p:italic r:id="rId43"/>
      <p:boldItalic r:id="rId44"/>
    </p:embeddedFont>
    <p:embeddedFont>
      <p:font typeface="Verdana" pitchFamily="34" charset="0"/>
      <p:regular r:id="rId45"/>
      <p:bold r:id="rId46"/>
      <p:italic r:id="rId47"/>
      <p:boldItalic r:id="rId48"/>
    </p:embeddedFont>
    <p:embeddedFont>
      <p:font typeface="Century Gothic" pitchFamily="3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9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4E5F"/>
    <a:srgbClr val="FABB42"/>
    <a:srgbClr val="F79B59"/>
    <a:srgbClr val="F26763"/>
    <a:srgbClr val="1765AD"/>
    <a:srgbClr val="1664AC"/>
    <a:srgbClr val="BFBFBF"/>
    <a:srgbClr val="C9DF6F"/>
    <a:srgbClr val="417DBF"/>
    <a:srgbClr val="3F2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4511"/>
    <p:restoredTop sz="94687"/>
  </p:normalViewPr>
  <p:slideViewPr>
    <p:cSldViewPr snapToGrid="0">
      <p:cViewPr varScale="1">
        <p:scale>
          <a:sx n="68" d="100"/>
          <a:sy n="68" d="100"/>
        </p:scale>
        <p:origin x="-126" y="-10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59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8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font" Target="fonts/font18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661629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1511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7444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8717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8843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060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74148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81340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31927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49622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9113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41687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0604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22305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32403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32403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63328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34315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0377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58132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71835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0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398762" y="2212771"/>
            <a:ext cx="5278616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Large Numbers Using Scientific Notation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86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lang="en-US"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90357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7332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6" y="1237668"/>
            <a:ext cx="1101928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MA.8.NSO.1.4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 numbers in scientific notation to represent and approximate very large or very small quantities. Determine how many times larger or smaller one number is compared to a second number.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xmlns="" id="{78632872-3F42-3447-924A-20A16C6976F7}"/>
              </a:ext>
            </a:extLst>
          </p:cNvPr>
          <p:cNvSpPr/>
          <p:nvPr/>
        </p:nvSpPr>
        <p:spPr>
          <a:xfrm>
            <a:off x="2194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Google Shape;281;g104476d1465_1_17">
            <a:extLst>
              <a:ext uri="{FF2B5EF4-FFF2-40B4-BE49-F238E27FC236}">
                <a16:creationId xmlns:a16="http://schemas.microsoft.com/office/drawing/2014/main" xmlns="" id="{D915A027-4791-D04E-90A8-9E6239ED8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xmlns="" id="{983DCB5F-2CE8-A74F-A579-F39E2E9337FB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xmlns="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235138" y="-88032"/>
            <a:ext cx="1060024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xmlns="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730266" y="1320250"/>
            <a:ext cx="11009450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37CC83FF-5C83-CD42-A75D-B443F14E1C19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7332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5" y="1326150"/>
            <a:ext cx="1110777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69913" indent="-569913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express large numbers using scientific notation.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69913" indent="-569913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how many times larger or smaller a number is compared to another expressed in scientific notation.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61357" y="2705953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43D2F04D-C861-A149-B5F8-A913FBED75AE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7332" y="-97184"/>
            <a:ext cx="1000093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3.2.1 Warm-Up: Googol, not Google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27581" y="1490008"/>
                <a:ext cx="1136416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“googol” is a name for a really big number: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followed by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zeros.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you square a googol, how many zeros will the answer have?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Show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your reasoning.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81" y="1490008"/>
                <a:ext cx="11364168" cy="1569660"/>
              </a:xfrm>
              <a:prstGeom prst="rect">
                <a:avLst/>
              </a:prstGeom>
              <a:blipFill rotWithShape="1">
                <a:blip r:embed="rId5"/>
                <a:stretch>
                  <a:fillRect l="-858" t="-3488" b="-775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3">
            <a:extLst>
              <a:ext uri="{FF2B5EF4-FFF2-40B4-BE49-F238E27FC236}">
                <a16:creationId xmlns:a16="http://schemas.microsoft.com/office/drawing/2014/main" xmlns="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xmlns="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xmlns="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xmlns="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0CD40667-98C3-7A43-A8EC-50FA988E094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06241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48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10.png" descr="Icon&#10;&#10;Description automatically generated">
            <a:extLst>
              <a:ext uri="{FF2B5EF4-FFF2-40B4-BE49-F238E27FC236}">
                <a16:creationId xmlns:a16="http://schemas.microsoft.com/office/drawing/2014/main" xmlns="" id="{B30F8F7E-1346-F647-899E-7352E76C500E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9516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9842" y="-86777"/>
            <a:ext cx="1095215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3.2.2 Exploration: Patterns in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Scientific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Notation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B46B19A2-BBA2-0441-AC88-F1F62E75949B}"/>
                  </a:ext>
                </a:extLst>
              </p:cNvPr>
              <p:cNvSpPr txBox="1"/>
              <p:nvPr/>
            </p:nvSpPr>
            <p:spPr>
              <a:xfrm>
                <a:off x="731521" y="1468814"/>
                <a:ext cx="1095215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Very large numbers can be written using powers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a shorthand method called scientific notation.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table.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46B19A2-BBA2-0441-AC88-F1F62E759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1" y="1468814"/>
                <a:ext cx="10952156" cy="1323439"/>
              </a:xfrm>
              <a:prstGeom prst="rect">
                <a:avLst/>
              </a:prstGeom>
              <a:blipFill rotWithShape="1">
                <a:blip r:embed="rId4"/>
                <a:stretch>
                  <a:fillRect l="-556" t="-2304" r="-946" b="-737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10.png" descr="Icon&#10;&#10;Description automatically generated">
            <a:extLst>
              <a:ext uri="{FF2B5EF4-FFF2-40B4-BE49-F238E27FC236}">
                <a16:creationId xmlns:a16="http://schemas.microsoft.com/office/drawing/2014/main" xmlns="" id="{ADD604E3-4EB0-F849-A744-16E843B46083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9811" cy="74981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="" id="{819E9B10-8A9F-FB48-92DC-3785C79BED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3106408"/>
                  </p:ext>
                </p:extLst>
              </p:nvPr>
            </p:nvGraphicFramePr>
            <p:xfrm>
              <a:off x="2745443" y="2924618"/>
              <a:ext cx="7123283" cy="35323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97280">
                      <a:extLst>
                        <a:ext uri="{9D8B030D-6E8A-4147-A177-3AD203B41FA5}">
                          <a16:colId xmlns:a16="http://schemas.microsoft.com/office/drawing/2014/main" xmlns="" val="3150296935"/>
                        </a:ext>
                      </a:extLst>
                    </a:gridCol>
                    <a:gridCol w="2081496">
                      <a:extLst>
                        <a:ext uri="{9D8B030D-6E8A-4147-A177-3AD203B41FA5}">
                          <a16:colId xmlns:a16="http://schemas.microsoft.com/office/drawing/2014/main" xmlns="" val="954982061"/>
                        </a:ext>
                      </a:extLst>
                    </a:gridCol>
                    <a:gridCol w="2119437">
                      <a:extLst>
                        <a:ext uri="{9D8B030D-6E8A-4147-A177-3AD203B41FA5}">
                          <a16:colId xmlns:a16="http://schemas.microsoft.com/office/drawing/2014/main" xmlns="" val="1697208302"/>
                        </a:ext>
                      </a:extLst>
                    </a:gridCol>
                    <a:gridCol w="1825070">
                      <a:extLst>
                        <a:ext uri="{9D8B030D-6E8A-4147-A177-3AD203B41FA5}">
                          <a16:colId xmlns:a16="http://schemas.microsoft.com/office/drawing/2014/main" xmlns="" val="480104639"/>
                        </a:ext>
                      </a:extLst>
                    </a:gridCol>
                  </a:tblGrid>
                  <a:tr h="51945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Power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𝟏𝟎</m:t>
                              </m:r>
                            </m:oMath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Value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Scientific Notation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Word Form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119409900"/>
                      </a:ext>
                    </a:extLst>
                  </a:tr>
                  <a:tr h="4175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1.0 ×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one hundred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751392667"/>
                      </a:ext>
                    </a:extLst>
                  </a:tr>
                  <a:tr h="4175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1.0 ×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88660720"/>
                      </a:ext>
                    </a:extLst>
                  </a:tr>
                  <a:tr h="4175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1.0 ×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ten thousand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807650515"/>
                      </a:ext>
                    </a:extLst>
                  </a:tr>
                  <a:tr h="4175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100,000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     ×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124555533"/>
                      </a:ext>
                    </a:extLst>
                  </a:tr>
                  <a:tr h="4175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     ×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435755735"/>
                      </a:ext>
                    </a:extLst>
                  </a:tr>
                  <a:tr h="4175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1,000,000,000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57338558"/>
                      </a:ext>
                    </a:extLst>
                  </a:tr>
                  <a:tr h="4175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1.0 ×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one trillion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8720276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19E9B10-8A9F-FB48-92DC-3785C79BED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3106408"/>
                  </p:ext>
                </p:extLst>
              </p:nvPr>
            </p:nvGraphicFramePr>
            <p:xfrm>
              <a:off x="2745443" y="2924618"/>
              <a:ext cx="7123283" cy="35323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9728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150296935"/>
                        </a:ext>
                      </a:extLst>
                    </a:gridCol>
                    <a:gridCol w="208149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954982061"/>
                        </a:ext>
                      </a:extLst>
                    </a:gridCol>
                    <a:gridCol w="211943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697208302"/>
                        </a:ext>
                      </a:extLst>
                    </a:gridCol>
                    <a:gridCol w="182507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80104639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13000" r="-549444" b="-4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Value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Scientific Notation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Word Form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119409900"/>
                      </a:ext>
                    </a:extLst>
                  </a:tr>
                  <a:tr h="4175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166176" r="-549444" b="-6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52632" t="-166176" r="-189181" b="-6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50432" t="-166176" r="-86455" b="-6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one hundred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751392667"/>
                      </a:ext>
                    </a:extLst>
                  </a:tr>
                  <a:tr h="4175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262319" r="-549444" b="-5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50432" t="-262319" r="-86455" b="-5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88660720"/>
                      </a:ext>
                    </a:extLst>
                  </a:tr>
                  <a:tr h="4175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50432" t="-367647" r="-86455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ten thousand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807650515"/>
                      </a:ext>
                    </a:extLst>
                  </a:tr>
                  <a:tr h="4175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52632" t="-460870" r="-189181" b="-320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50432" t="-460870" r="-86455" b="-320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124555533"/>
                      </a:ext>
                    </a:extLst>
                  </a:tr>
                  <a:tr h="4175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569118" r="-549444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50432" t="-569118" r="-86455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435755735"/>
                      </a:ext>
                    </a:extLst>
                  </a:tr>
                  <a:tr h="4175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52632" t="-659420" r="-189181" b="-1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057338558"/>
                      </a:ext>
                    </a:extLst>
                  </a:tr>
                  <a:tr h="4175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50432" t="-770588" r="-86455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one trillion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7990" marR="6799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87202767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" name="Group 2"/>
          <p:cNvGrpSpPr/>
          <p:nvPr/>
        </p:nvGrpSpPr>
        <p:grpSpPr>
          <a:xfrm>
            <a:off x="6277204" y="4844089"/>
            <a:ext cx="451038" cy="732387"/>
            <a:chOff x="4753204" y="4690786"/>
            <a:chExt cx="451038" cy="732387"/>
          </a:xfrm>
        </p:grpSpPr>
        <p:sp>
          <p:nvSpPr>
            <p:cNvPr id="12" name="Text Box 1">
              <a:extLst>
                <a:ext uri="{FF2B5EF4-FFF2-40B4-BE49-F238E27FC236}">
                  <a16:creationId xmlns:a16="http://schemas.microsoft.com/office/drawing/2014/main" xmlns="" id="{7F3F735E-42D9-4D4F-9252-E353CC9B693B}"/>
                </a:ext>
              </a:extLst>
            </p:cNvPr>
            <p:cNvSpPr txBox="1"/>
            <p:nvPr/>
          </p:nvSpPr>
          <p:spPr>
            <a:xfrm>
              <a:off x="4753204" y="4690786"/>
              <a:ext cx="451038" cy="312257"/>
            </a:xfrm>
            <a:prstGeom prst="rect">
              <a:avLst/>
            </a:prstGeom>
            <a:noFill/>
            <a:ln w="12700">
              <a:solidFill>
                <a:prstClr val="black"/>
              </a:solidFill>
              <a:prstDash val="dash"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solidFill>
                    <a:schemeClr val="tx1"/>
                  </a:solidFill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x-none" sz="1200">
                <a:solidFill>
                  <a:schemeClr val="tx1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Box 1">
              <a:extLst>
                <a:ext uri="{FF2B5EF4-FFF2-40B4-BE49-F238E27FC236}">
                  <a16:creationId xmlns:a16="http://schemas.microsoft.com/office/drawing/2014/main" xmlns="" id="{EFAB82A9-C8BF-6745-A2BD-3D74922835CC}"/>
                </a:ext>
              </a:extLst>
            </p:cNvPr>
            <p:cNvSpPr txBox="1"/>
            <p:nvPr/>
          </p:nvSpPr>
          <p:spPr>
            <a:xfrm>
              <a:off x="4753204" y="5110916"/>
              <a:ext cx="451038" cy="312257"/>
            </a:xfrm>
            <a:prstGeom prst="rect">
              <a:avLst/>
            </a:prstGeom>
            <a:noFill/>
            <a:ln w="12700">
              <a:solidFill>
                <a:prstClr val="black"/>
              </a:solidFill>
              <a:prstDash val="dash"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solidFill>
                    <a:schemeClr val="tx1"/>
                  </a:solidFill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x-none" sz="1200">
                <a:solidFill>
                  <a:schemeClr val="tx1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 Box 1">
            <a:extLst>
              <a:ext uri="{FF2B5EF4-FFF2-40B4-BE49-F238E27FC236}">
                <a16:creationId xmlns:a16="http://schemas.microsoft.com/office/drawing/2014/main" xmlns="" id="{C99300C0-EB33-3545-B967-F035E8EE9624}"/>
              </a:ext>
            </a:extLst>
          </p:cNvPr>
          <p:cNvSpPr txBox="1"/>
          <p:nvPr/>
        </p:nvSpPr>
        <p:spPr>
          <a:xfrm>
            <a:off x="7390137" y="5230443"/>
            <a:ext cx="265687" cy="181031"/>
          </a:xfrm>
          <a:prstGeom prst="rect">
            <a:avLst/>
          </a:prstGeom>
          <a:noFill/>
          <a:ln w="12700">
            <a:solidFill>
              <a:prstClr val="black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solidFill>
                  <a:schemeClr val="tx1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solidFill>
                <a:schemeClr val="tx1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Box 1">
            <a:extLst>
              <a:ext uri="{FF2B5EF4-FFF2-40B4-BE49-F238E27FC236}">
                <a16:creationId xmlns:a16="http://schemas.microsoft.com/office/drawing/2014/main" xmlns="" id="{F7BC7867-1097-6A4A-862A-EF5510F8DE3E}"/>
              </a:ext>
            </a:extLst>
          </p:cNvPr>
          <p:cNvSpPr txBox="1"/>
          <p:nvPr/>
        </p:nvSpPr>
        <p:spPr>
          <a:xfrm>
            <a:off x="7450590" y="4399926"/>
            <a:ext cx="265687" cy="181031"/>
          </a:xfrm>
          <a:prstGeom prst="rect">
            <a:avLst/>
          </a:prstGeom>
          <a:noFill/>
          <a:ln w="12700">
            <a:solidFill>
              <a:prstClr val="black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solidFill>
                  <a:schemeClr val="tx1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solidFill>
                <a:schemeClr val="tx1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839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E0814DF0-CB0F-CE4A-A504-DEE56AFFF9B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B71B7AA-10E7-9B44-A591-563821260A41}"/>
              </a:ext>
            </a:extLst>
          </p:cNvPr>
          <p:cNvSpPr txBox="1"/>
          <p:nvPr/>
        </p:nvSpPr>
        <p:spPr>
          <a:xfrm>
            <a:off x="536496" y="381202"/>
            <a:ext cx="11288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Select two of the numbers. Work with your partner to name something in the world that is described by those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numbers.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58178411-AE07-6443-A0A5-CCCF9E3AF0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325908"/>
              </p:ext>
            </p:extLst>
          </p:nvPr>
        </p:nvGraphicFramePr>
        <p:xfrm>
          <a:off x="2721928" y="1444880"/>
          <a:ext cx="7107873" cy="2621280"/>
        </p:xfrm>
        <a:graphic>
          <a:graphicData uri="http://schemas.openxmlformats.org/drawingml/2006/table">
            <a:tbl>
              <a:tblPr firstRow="1" firstCol="1" bandRow="1"/>
              <a:tblGrid>
                <a:gridCol w="1711325">
                  <a:extLst>
                    <a:ext uri="{9D8B030D-6E8A-4147-A177-3AD203B41FA5}">
                      <a16:colId xmlns:a16="http://schemas.microsoft.com/office/drawing/2014/main" xmlns="" val="2229984764"/>
                    </a:ext>
                  </a:extLst>
                </a:gridCol>
                <a:gridCol w="5396548">
                  <a:extLst>
                    <a:ext uri="{9D8B030D-6E8A-4147-A177-3AD203B41FA5}">
                      <a16:colId xmlns:a16="http://schemas.microsoft.com/office/drawing/2014/main" xmlns="" val="2161367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What can be described by this number in the real world?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7328856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43372817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799620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544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E0814DF0-CB0F-CE4A-A504-DEE56AFFF9B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4B71B7AA-10E7-9B44-A591-563821260A41}"/>
                  </a:ext>
                </a:extLst>
              </p:cNvPr>
              <p:cNvSpPr txBox="1"/>
              <p:nvPr/>
            </p:nvSpPr>
            <p:spPr>
              <a:xfrm>
                <a:off x="534249" y="385510"/>
                <a:ext cx="10800145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describe at least two patterns in the relationships among the power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numerical value, the scientific notation, and/or the word form.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B71B7AA-10E7-9B44-A591-563821260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49" y="385510"/>
                <a:ext cx="10800145" cy="4154984"/>
              </a:xfrm>
              <a:prstGeom prst="rect">
                <a:avLst/>
              </a:prstGeom>
              <a:blipFill rotWithShape="1">
                <a:blip r:embed="rId4"/>
                <a:stretch>
                  <a:fillRect l="-903" t="-1173" b="-234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064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2246" y="2766150"/>
            <a:ext cx="785607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7.png" descr="Icon&#10;&#10;Description automatically generated">
            <a:extLst>
              <a:ext uri="{FF2B5EF4-FFF2-40B4-BE49-F238E27FC236}">
                <a16:creationId xmlns:a16="http://schemas.microsoft.com/office/drawing/2014/main" xmlns="" id="{4954C524-F5FD-4C4B-A88C-D01E80B53368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462" y="120195"/>
            <a:ext cx="10597921" cy="909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3.2.3 Guided Instruction: Writing Large Numbers in Scientific Notation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="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0331" y="1269848"/>
                <a:ext cx="10871734" cy="2657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ts val="200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Consider the number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2,000,000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ts val="1200"/>
                  </a:spcAft>
                  <a:buClrTx/>
                  <a:buFont typeface="+mj-lt"/>
                  <a:buAutoNum type="alphaL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power of ten represents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million?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 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multiplication sentence to express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2,000,000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using this power of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 10       =2,000,000</m:t>
                    </m:r>
                  </m:oMath>
                </a14:m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0331" y="1269848"/>
                <a:ext cx="10871734" cy="2657138"/>
              </a:xfrm>
              <a:prstGeom prst="rect">
                <a:avLst/>
              </a:prstGeom>
              <a:blipFill>
                <a:blip r:embed="rId4"/>
                <a:stretch>
                  <a:fillRect l="-583" t="-948" b="-23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63AD1692-18A2-FB46-800A-11AFFA2A560C}"/>
              </a:ext>
            </a:extLst>
          </p:cNvPr>
          <p:cNvGrpSpPr/>
          <p:nvPr/>
        </p:nvGrpSpPr>
        <p:grpSpPr>
          <a:xfrm>
            <a:off x="2781300" y="4919169"/>
            <a:ext cx="6629400" cy="812522"/>
            <a:chOff x="2031300" y="3373600"/>
            <a:chExt cx="6629400" cy="8128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3FE34AFB-D60D-F049-8029-A636FDE33D62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x-none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A3A097C6-D3D0-8649-84FD-1F5AA5344900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  <a:endParaRPr lang="x-none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3" name="image7.png" descr="Icon&#10;&#10;Description automatically generated">
            <a:extLst>
              <a:ext uri="{FF2B5EF4-FFF2-40B4-BE49-F238E27FC236}">
                <a16:creationId xmlns:a16="http://schemas.microsoft.com/office/drawing/2014/main" xmlns="" id="{FA3A7B31-9F61-C34F-973B-7D0BEA1DC03D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7431" cy="74743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5D9F5A28-505E-3148-AF8B-50C7B8FF5699}"/>
              </a:ext>
            </a:extLst>
          </p:cNvPr>
          <p:cNvSpPr>
            <a:spLocks noChangeAspect="1"/>
          </p:cNvSpPr>
          <p:nvPr/>
        </p:nvSpPr>
        <p:spPr>
          <a:xfrm>
            <a:off x="7223760" y="1671374"/>
            <a:ext cx="274320" cy="2743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BBC581F5-12DA-DF4C-9851-6ADDD8F23DD9}"/>
              </a:ext>
            </a:extLst>
          </p:cNvPr>
          <p:cNvSpPr>
            <a:spLocks noChangeAspect="1"/>
          </p:cNvSpPr>
          <p:nvPr/>
        </p:nvSpPr>
        <p:spPr>
          <a:xfrm>
            <a:off x="3474720" y="3387934"/>
            <a:ext cx="274320" cy="2743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943BEE9D-BF72-994F-9A40-23EB5ADDF72A}"/>
              </a:ext>
            </a:extLst>
          </p:cNvPr>
          <p:cNvSpPr>
            <a:spLocks noChangeAspect="1"/>
          </p:cNvSpPr>
          <p:nvPr/>
        </p:nvSpPr>
        <p:spPr>
          <a:xfrm>
            <a:off x="2072847" y="3441202"/>
            <a:ext cx="708453" cy="53237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2290746" y="4288972"/>
            <a:ext cx="7610507" cy="1804705"/>
            <a:chOff x="918469" y="2200375"/>
            <a:chExt cx="7610507" cy="18047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ounded Rectangle 18">
                  <a:extLst>
                    <a:ext uri="{FF2B5EF4-FFF2-40B4-BE49-F238E27FC236}">
                      <a16:creationId xmlns:a16="http://schemas.microsoft.com/office/drawing/2014/main" xmlns="" id="{0B8D2B40-F90F-1E46-BF87-2CED596B5247}"/>
                    </a:ext>
                  </a:extLst>
                </p:cNvPr>
                <p:cNvSpPr/>
                <p:nvPr/>
              </p:nvSpPr>
              <p:spPr>
                <a:xfrm>
                  <a:off x="918469" y="2200375"/>
                  <a:ext cx="7610507" cy="1804705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spAutoFit/>
                </a:bodyPr>
                <a:lstStyle/>
                <a:p>
                  <a:pPr marL="723900"/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Scientific notation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a method of writing very large or very small numbers using exponents in which a number is expressed as the product of a power of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10</m:t>
                      </m:r>
                    </m:oMath>
                  </a14:m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and a number that is at least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1</m:t>
                      </m:r>
                    </m:oMath>
                  </a14:m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and less than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10</m:t>
                      </m:r>
                    </m:oMath>
                  </a14:m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.</a:t>
                  </a:r>
                  <a:endParaRPr lang="x-none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Rounded Rectangle 18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0B8D2B40-F90F-1E46-BF87-2CED596B52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469" y="2200375"/>
                  <a:ext cx="7610507" cy="1804705"/>
                </a:xfrm>
                <a:prstGeom prst="roundRect">
                  <a:avLst>
                    <a:gd name="adj" fmla="val 16667"/>
                  </a:avLst>
                </a:prstGeom>
                <a:blipFill rotWithShape="1">
                  <a:blip r:embed="rId6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0" name="Shape 7" descr="Icon&#10;&#10;Description automatically generated">
              <a:extLst>
                <a:ext uri="{FF2B5EF4-FFF2-40B4-BE49-F238E27FC236}">
                  <a16:creationId xmlns:a16="http://schemas.microsoft.com/office/drawing/2014/main" xmlns="" id="{0FD9A46D-9F98-F54C-BE0B-6ACEDC915106}"/>
                </a:ext>
              </a:extLst>
            </p:cNvPr>
            <p:cNvPicPr/>
            <p:nvPr/>
          </p:nvPicPr>
          <p:blipFill rotWithShape="1">
            <a:blip r:embed="rId7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32864" y="2387739"/>
              <a:ext cx="539750" cy="53911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42288" y="383104"/>
                <a:ext cx="10943906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statement.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4500" indent="127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When rewriting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2,000,000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scientific notation, </a:t>
                </a: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factor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	</a:t>
                </a: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    </a:t>
                </a:r>
                <a14:m>
                  <m:oMath xmlns:m="http://schemas.openxmlformats.org/officeDocument/2006/math">
                    <m:r>
                      <a:rPr lang="en-US" altLang="en-US" sz="2000" b="0" i="0" dirty="0" smtClean="0">
                        <a:solidFill>
                          <a:schemeClr val="tx1"/>
                        </a:solidFill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 			</a:t>
                </a:r>
                <a:r>
                  <a:rPr lang="en-US" altLang="en-US" sz="2000" dirty="0">
                    <a:solidFill>
                      <a:schemeClr val="tx1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en-US" sz="2000" dirty="0" smtClean="0">
                    <a:solidFill>
                      <a:schemeClr val="tx1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b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digit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in </a:t>
                </a: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millions 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place. A million expressed as a power of </a:t>
                </a:r>
                <a:endParaRPr lang="es-E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PH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PH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343150" indent="-188595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	</a:t>
                </a: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Therefore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2,000,000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written </a:t>
                </a: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as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 smtClean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 smtClean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scientific notation.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88" y="383104"/>
                <a:ext cx="10943906" cy="5016758"/>
              </a:xfrm>
              <a:prstGeom prst="rect">
                <a:avLst/>
              </a:prstGeom>
              <a:blipFill rotWithShape="1">
                <a:blip r:embed="rId4"/>
                <a:stretch>
                  <a:fillRect l="-613" t="-72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A picture containing icon&#10;&#10;Description automatically generated">
            <a:extLst>
              <a:ext uri="{FF2B5EF4-FFF2-40B4-BE49-F238E27FC236}">
                <a16:creationId xmlns:a16="http://schemas.microsoft.com/office/drawing/2014/main" xmlns="" id="{920AF89F-9F2B-9A43-A277-A9067CFB2C6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491" y="3477113"/>
            <a:ext cx="1123965" cy="836909"/>
          </a:xfrm>
          <a:prstGeom prst="rect">
            <a:avLst/>
          </a:prstGeom>
        </p:spPr>
      </p:pic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DBBDF8AC-22A0-F04E-9A15-FFC282B128B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6533" y="3477113"/>
            <a:ext cx="1415063" cy="836909"/>
          </a:xfrm>
          <a:prstGeom prst="rect">
            <a:avLst/>
          </a:prstGeom>
        </p:spPr>
      </p:pic>
      <p:pic>
        <p:nvPicPr>
          <p:cNvPr id="15" name="Picture 14" descr="Text&#10;&#10;Description automatically generated with medium confidence">
            <a:extLst>
              <a:ext uri="{FF2B5EF4-FFF2-40B4-BE49-F238E27FC236}">
                <a16:creationId xmlns:a16="http://schemas.microsoft.com/office/drawing/2014/main" xmlns="" id="{50E73E45-0734-AE4A-BFBD-F45B586BB64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3971" y="1617304"/>
            <a:ext cx="3531436" cy="840626"/>
          </a:xfrm>
          <a:prstGeom prst="rect">
            <a:avLst/>
          </a:prstGeom>
        </p:spPr>
      </p:pic>
      <p:pic>
        <p:nvPicPr>
          <p:cNvPr id="17" name="Picture 16" descr="Text&#10;&#10;Description automatically generated with medium confidence">
            <a:extLst>
              <a:ext uri="{FF2B5EF4-FFF2-40B4-BE49-F238E27FC236}">
                <a16:creationId xmlns:a16="http://schemas.microsoft.com/office/drawing/2014/main" xmlns="" id="{512786C9-3253-9F48-B7D6-2E6A624EB1E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4185" y="1617304"/>
            <a:ext cx="3531436" cy="84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33271" y="387291"/>
                <a:ext cx="11280996" cy="120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3"/>
                </a:pPr>
                <a:r>
                  <a:rPr lang="en-US" alt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expression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20×</m:t>
                    </m:r>
                    <m:sSup>
                      <m:sSupPr>
                        <m:ctrlPr>
                          <a:rPr lang="en-US" alt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s-ES" alt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also equivalent to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2,000,000</m:t>
                    </m:r>
                  </m:oMath>
                </a14:m>
                <a:r>
                  <a:rPr lang="en-US" alt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Use the definition of scientific notation to explain why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20×</m:t>
                    </m:r>
                    <m:sSup>
                      <m:sSupPr>
                        <m:ctrlPr>
                          <a:rPr lang="en-US" alt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s-ES" alt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not the correct expression of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2,000,000</m:t>
                    </m:r>
                  </m:oMath>
                </a14:m>
                <a:r>
                  <a:rPr lang="en-US" alt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scientific notation.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71" y="387291"/>
                <a:ext cx="11280996" cy="1208664"/>
              </a:xfrm>
              <a:prstGeom prst="rect">
                <a:avLst/>
              </a:prstGeom>
              <a:blipFill rotWithShape="1">
                <a:blip r:embed="rId3"/>
                <a:stretch>
                  <a:fillRect l="-810" t="-4040" b="-1010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2147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531833" y="379476"/>
            <a:ext cx="1123628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 the standard form and scientific notation of the numbers shown in the table.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the similarities and differences between the values expressed in scientific notation.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2FB17631-25E1-2D42-B0D5-8E580B9C8D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9129831"/>
                  </p:ext>
                </p:extLst>
              </p:nvPr>
            </p:nvGraphicFramePr>
            <p:xfrm>
              <a:off x="2758442" y="1235955"/>
              <a:ext cx="6397625" cy="1371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41040">
                      <a:extLst>
                        <a:ext uri="{9D8B030D-6E8A-4147-A177-3AD203B41FA5}">
                          <a16:colId xmlns:a16="http://schemas.microsoft.com/office/drawing/2014/main" xmlns="" val="566387347"/>
                        </a:ext>
                      </a:extLst>
                    </a:gridCol>
                    <a:gridCol w="3156585">
                      <a:extLst>
                        <a:ext uri="{9D8B030D-6E8A-4147-A177-3AD203B41FA5}">
                          <a16:colId xmlns:a16="http://schemas.microsoft.com/office/drawing/2014/main" xmlns="" val="37702920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Standard Form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Scientific Notation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22577816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2,300,000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2.3×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346956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2,030,000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2.03×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2131455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B17631-25E1-2D42-B0D5-8E580B9C8D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9129831"/>
                  </p:ext>
                </p:extLst>
              </p:nvPr>
            </p:nvGraphicFramePr>
            <p:xfrm>
              <a:off x="2758442" y="1235955"/>
              <a:ext cx="6397625" cy="1371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410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566387347"/>
                        </a:ext>
                      </a:extLst>
                    </a:gridCol>
                    <a:gridCol w="315658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7702920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Standard Form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Scientific Notation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22577816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8" t="-101333" r="-9755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2703" t="-10133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46956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8" t="-201333" r="-97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2703" t="-2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21314551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B05D92BA-128F-5C4C-9E2B-906120615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054274"/>
              </p:ext>
            </p:extLst>
          </p:nvPr>
        </p:nvGraphicFramePr>
        <p:xfrm>
          <a:off x="2783841" y="3623312"/>
          <a:ext cx="6400800" cy="2743200"/>
        </p:xfrm>
        <a:graphic>
          <a:graphicData uri="http://schemas.openxmlformats.org/drawingml/2006/table">
            <a:tbl>
              <a:tblPr firstRow="1" firstCol="1" bandRow="1"/>
              <a:tblGrid>
                <a:gridCol w="3227705">
                  <a:extLst>
                    <a:ext uri="{9D8B030D-6E8A-4147-A177-3AD203B41FA5}">
                      <a16:colId xmlns:a16="http://schemas.microsoft.com/office/drawing/2014/main" xmlns="" val="957950516"/>
                    </a:ext>
                  </a:extLst>
                </a:gridCol>
                <a:gridCol w="3173095">
                  <a:extLst>
                    <a:ext uri="{9D8B030D-6E8A-4147-A177-3AD203B41FA5}">
                      <a16:colId xmlns:a16="http://schemas.microsoft.com/office/drawing/2014/main" xmlns="" val="39891523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Similarities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Differences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66220800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1064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835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36163" y="393912"/>
                <a:ext cx="11119833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 explored in the previous lesson, the powers of 10 relate directly to place values.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planet Venus is about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26,000,000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miles from earth.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value between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could be multiplied by a power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result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26,000,000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digit is in the ones place of your answer to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Part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which place value is that digit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26,000,000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63" y="393912"/>
                <a:ext cx="11119833" cy="5016758"/>
              </a:xfrm>
              <a:prstGeom prst="rect">
                <a:avLst/>
              </a:prstGeom>
              <a:blipFill rotWithShape="1">
                <a:blip r:embed="rId4"/>
                <a:stretch>
                  <a:fillRect l="-603" t="-608" r="-713" b="-121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4965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33271" y="379371"/>
                <a:ext cx="11271164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power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relates to this place value?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Express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26,000,000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scientific notation.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2018, funding for education in Florida totaled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$30,100,000,000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Express this value in scientific notation.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71" y="379371"/>
                <a:ext cx="11271164" cy="3170099"/>
              </a:xfrm>
              <a:prstGeom prst="rect">
                <a:avLst/>
              </a:prstGeom>
              <a:blipFill rotWithShape="1">
                <a:blip r:embed="rId3"/>
                <a:stretch>
                  <a:fillRect l="-541" t="-1154" r="-919" b="-250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2928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2984241" y="2766150"/>
            <a:ext cx="900128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3.png" descr="Icon&#10;&#10;Description automatically generated">
            <a:extLst>
              <a:ext uri="{FF2B5EF4-FFF2-40B4-BE49-F238E27FC236}">
                <a16:creationId xmlns:a16="http://schemas.microsoft.com/office/drawing/2014/main" xmlns="" id="{0D19F6B6-A388-1443-A380-52938AB2312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58151" cy="115815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4323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14856" y="208735"/>
            <a:ext cx="1064716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3.2.4 Guided Practice: Writing Large Numbers in Scientific Notation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" y="1468964"/>
            <a:ext cx="1120602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table shows the number of visitors to several amusement parks in Florida in 2019. Express each value in scientific notation.</a:t>
            </a:r>
          </a:p>
        </p:txBody>
      </p:sp>
      <p:pic>
        <p:nvPicPr>
          <p:cNvPr id="10" name="image3.png" descr="Icon&#10;&#10;Description automatically generated">
            <a:extLst>
              <a:ext uri="{FF2B5EF4-FFF2-40B4-BE49-F238E27FC236}">
                <a16:creationId xmlns:a16="http://schemas.microsoft.com/office/drawing/2014/main" xmlns="" id="{7A2D9D50-9448-8245-B927-6E7175407A67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7432" cy="74743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="" id="{F7BA7D56-7C0C-714A-95CF-14294517FD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7768807"/>
                  </p:ext>
                </p:extLst>
              </p:nvPr>
            </p:nvGraphicFramePr>
            <p:xfrm>
              <a:off x="1104048" y="2341241"/>
              <a:ext cx="8820000" cy="3200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="" val="91680728"/>
                        </a:ext>
                      </a:extLst>
                    </a:gridCol>
                    <a:gridCol w="3060000">
                      <a:extLst>
                        <a:ext uri="{9D8B030D-6E8A-4147-A177-3AD203B41FA5}">
                          <a16:colId xmlns:a16="http://schemas.microsoft.com/office/drawing/2014/main" xmlns="" val="2564115874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25207559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Florida </a:t>
                          </a: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/>
                          </a:r>
                          <a:b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</a:b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Theme 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Park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Approximate Number of Visitors in 2019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Equivalent Value in Scientific Notation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1860591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Magic Kingdom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Helvetica Neue" panose="02000503000000020004" pitchFamily="2" charset="0"/>
                                  </a:rPr>
                                  <m:t>20,960,000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52485081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Animal Kingdom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Helvetica Neue" panose="02000503000000020004" pitchFamily="2" charset="0"/>
                                  </a:rPr>
                                  <m:t>13,900,000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64579729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Busch Gardens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Helvetica Neue" panose="02000503000000020004" pitchFamily="2" charset="0"/>
                                  </a:rPr>
                                  <m:t>4,200,000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57408082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Sea World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Helvetica Neue" panose="02000503000000020004" pitchFamily="2" charset="0"/>
                                  </a:rPr>
                                  <m:t>4,640,000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4530065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Adventure Island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Helvetica Neue" panose="02000503000000020004" pitchFamily="2" charset="0"/>
                                  </a:rPr>
                                  <m:t>656,000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65843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7BA7D56-7C0C-714A-95CF-14294517FD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7768807"/>
                  </p:ext>
                </p:extLst>
              </p:nvPr>
            </p:nvGraphicFramePr>
            <p:xfrm>
              <a:off x="1104048" y="2341241"/>
              <a:ext cx="8820000" cy="3200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91680728"/>
                        </a:ext>
                      </a:extLst>
                    </a:gridCol>
                    <a:gridCol w="30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564115874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520755901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Florida </a:t>
                          </a: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/>
                          </a:r>
                          <a:b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</a:b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Theme 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Park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Approximate Number of Visitors in 2019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Equivalent Value in Scientific Notation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1860591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Magic Kingdom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3837" t="-216000" r="-93837" b="-4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52485081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Animal Kingdom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3837" t="-316000" r="-93837" b="-3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64579729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Busch Gardens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3837" t="-416000" r="-93837" b="-2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57408082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Sea World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3837" t="-516000" r="-93837" b="-1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4530065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Adventure Island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3837" t="-616000" r="-93837" b="-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65843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7674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13;g104476d1465_1_39">
            <a:extLst>
              <a:ext uri="{FF2B5EF4-FFF2-40B4-BE49-F238E27FC236}">
                <a16:creationId xmlns:a16="http://schemas.microsoft.com/office/drawing/2014/main" xmlns="" id="{704F9E4B-A4BA-594F-8B53-1BC9CEA0806F}"/>
              </a:ext>
            </a:extLst>
          </p:cNvPr>
          <p:cNvSpPr txBox="1">
            <a:spLocks/>
          </p:cNvSpPr>
          <p:nvPr/>
        </p:nvSpPr>
        <p:spPr>
          <a:xfrm>
            <a:off x="4206241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utive"/>
              <a:buNone/>
            </a:pPr>
            <a:r>
              <a:rPr lang="en-US" sz="4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</a:p>
        </p:txBody>
      </p:sp>
      <p:pic>
        <p:nvPicPr>
          <p:cNvPr id="9" name="image1.png">
            <a:extLst>
              <a:ext uri="{FF2B5EF4-FFF2-40B4-BE49-F238E27FC236}">
                <a16:creationId xmlns:a16="http://schemas.microsoft.com/office/drawing/2014/main" xmlns="" id="{9B8569AE-A995-FF41-98A7-38A9D11EFBE6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946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13210" y="209222"/>
            <a:ext cx="1095215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3.2.5 Collaboration: Comparing Large Numbers Written in Scientific Notation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46B19A2-BBA2-0441-AC88-F1F62E75949B}"/>
              </a:ext>
            </a:extLst>
          </p:cNvPr>
          <p:cNvSpPr txBox="1"/>
          <p:nvPr/>
        </p:nvSpPr>
        <p:spPr>
          <a:xfrm>
            <a:off x="731521" y="1283545"/>
            <a:ext cx="110278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complete the following.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 </a:t>
            </a:r>
          </a:p>
        </p:txBody>
      </p:sp>
      <p:pic>
        <p:nvPicPr>
          <p:cNvPr id="10" name="image1.png">
            <a:extLst>
              <a:ext uri="{FF2B5EF4-FFF2-40B4-BE49-F238E27FC236}">
                <a16:creationId xmlns:a16="http://schemas.microsoft.com/office/drawing/2014/main" xmlns="" id="{1AF91CBA-B101-B543-8A65-E95B3F8CD147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9812" cy="74981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647094EA-09DC-A64F-BF66-900F60BD26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6658139"/>
                  </p:ext>
                </p:extLst>
              </p:nvPr>
            </p:nvGraphicFramePr>
            <p:xfrm>
              <a:off x="3124200" y="2641203"/>
              <a:ext cx="5943600" cy="2286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00400">
                      <a:extLst>
                        <a:ext uri="{9D8B030D-6E8A-4147-A177-3AD203B41FA5}">
                          <a16:colId xmlns:a16="http://schemas.microsoft.com/office/drawing/2014/main" xmlns="" val="32807607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xmlns="" val="89468752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Scientific Notation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Standard Form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4941819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200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5691495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2×10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16500015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2×10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0782606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200,000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291503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47094EA-09DC-A64F-BF66-900F60BD26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6658139"/>
                  </p:ext>
                </p:extLst>
              </p:nvPr>
            </p:nvGraphicFramePr>
            <p:xfrm>
              <a:off x="3124200" y="2641203"/>
              <a:ext cx="5943600" cy="2286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004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2807607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89468752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Scientific Notation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Standard Form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4941819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16889" t="-100000" b="-3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15691495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90" t="-200000" r="-85714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16500015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90" t="-300000" r="-85714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0782606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9454" marR="794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16889" t="-400000" b="-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2915035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99188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E0814DF0-CB0F-CE4A-A504-DEE56AFFF9B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4B71B7AA-10E7-9B44-A591-563821260A41}"/>
                  </a:ext>
                </a:extLst>
              </p:cNvPr>
              <p:cNvSpPr txBox="1"/>
              <p:nvPr/>
            </p:nvSpPr>
            <p:spPr>
              <a:xfrm>
                <a:off x="534156" y="383487"/>
                <a:ext cx="11360585" cy="5020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  <a:tabLst>
                    <a:tab pos="3429000" algn="l"/>
                    <a:tab pos="5943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each statement.</a:t>
                </a:r>
                <a:r>
                  <a:rPr lang="en-PH" sz="2000" i="1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PH" sz="2000" i="1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PH" sz="2000" i="1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PH" sz="2000" i="1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PH" sz="2000" i="1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PH" sz="2000" i="1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2×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	times	than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2×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2×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	times	than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2×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r>
                  <a:rPr lang="en-PH" sz="2000" i="1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PH" sz="2000" i="1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PH" sz="2000" i="1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PH" sz="2000" i="1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PH" sz="2000" i="1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PH" sz="2000" i="1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PH" sz="2000" i="1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PH" sz="2000" i="1" dirty="0">
                    <a:latin typeface="Cambria Math" panose="02040503050406030204" pitchFamily="18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2×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	times	than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2×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2"/>
                  <a:tabLst>
                    <a:tab pos="3429000" algn="l"/>
                    <a:tab pos="5943600" algn="l"/>
                  </a:tabLst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  <a:tabLst>
                    <a:tab pos="3429000" algn="l"/>
                    <a:tab pos="5943600" algn="l"/>
                  </a:tabLst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  <a:tabLst>
                    <a:tab pos="3429000" algn="l"/>
                    <a:tab pos="59436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how to compare numbers written in scientific notation if the factors being multiplied by a power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the same.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B71B7AA-10E7-9B44-A591-563821260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156" y="383487"/>
                <a:ext cx="11360585" cy="5020285"/>
              </a:xfrm>
              <a:prstGeom prst="rect">
                <a:avLst/>
              </a:prstGeom>
              <a:blipFill rotWithShape="1">
                <a:blip r:embed="rId4"/>
                <a:stretch>
                  <a:fillRect t="-729" b="-121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65C745C7-78AA-F240-B174-3161C5A9211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5077" y="936153"/>
            <a:ext cx="1166893" cy="1012823"/>
          </a:xfrm>
          <a:prstGeom prst="rect">
            <a:avLst/>
          </a:prstGeom>
        </p:spPr>
      </p:pic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2D4CEE5A-415F-6247-965D-68C70952011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3676" y="1004211"/>
            <a:ext cx="1570644" cy="876705"/>
          </a:xfrm>
          <a:prstGeom prst="rect">
            <a:avLst/>
          </a:prstGeom>
        </p:spPr>
      </p:pic>
      <p:pic>
        <p:nvPicPr>
          <p:cNvPr id="19" name="Picture 18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65C745C7-78AA-F240-B174-3161C5A9211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5077" y="2157139"/>
            <a:ext cx="1166893" cy="1012823"/>
          </a:xfrm>
          <a:prstGeom prst="rect">
            <a:avLst/>
          </a:prstGeom>
        </p:spPr>
      </p:pic>
      <p:pic>
        <p:nvPicPr>
          <p:cNvPr id="20" name="Picture 19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2D4CEE5A-415F-6247-965D-68C70952011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3676" y="2225197"/>
            <a:ext cx="1570644" cy="876705"/>
          </a:xfrm>
          <a:prstGeom prst="rect">
            <a:avLst/>
          </a:prstGeom>
        </p:spPr>
      </p:pic>
      <p:pic>
        <p:nvPicPr>
          <p:cNvPr id="21" name="Picture 20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65C745C7-78AA-F240-B174-3161C5A9211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5076" y="3341838"/>
            <a:ext cx="1166893" cy="1012823"/>
          </a:xfrm>
          <a:prstGeom prst="rect">
            <a:avLst/>
          </a:prstGeom>
        </p:spPr>
      </p:pic>
      <p:pic>
        <p:nvPicPr>
          <p:cNvPr id="22" name="Picture 21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2D4CEE5A-415F-6247-965D-68C70952011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3676" y="3446183"/>
            <a:ext cx="1570644" cy="87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207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4B71B7AA-10E7-9B44-A591-563821260A41}"/>
                  </a:ext>
                </a:extLst>
              </p:cNvPr>
              <p:cNvSpPr txBox="1"/>
              <p:nvPr/>
            </p:nvSpPr>
            <p:spPr>
              <a:xfrm>
                <a:off x="531387" y="377357"/>
                <a:ext cx="1121310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times larger is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6.4 ×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than </a:t>
                </a:r>
                <a14:m>
                  <m:oMath xmlns:m="http://schemas.openxmlformats.org/officeDocument/2006/math">
                    <m:r>
                      <a:rPr lang="es-E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3.2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×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times smaller is </a:t>
                </a:r>
                <a14:m>
                  <m:oMath xmlns:m="http://schemas.openxmlformats.org/officeDocument/2006/math">
                    <m:r>
                      <a:rPr lang="es-E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3.2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×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than </a:t>
                </a:r>
                <a14:m>
                  <m:oMath xmlns:m="http://schemas.openxmlformats.org/officeDocument/2006/math">
                    <m:r>
                      <a:rPr lang="es-E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9.6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×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how to compare numbers written in scientific notation if the powers of 10 are the same.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B71B7AA-10E7-9B44-A591-563821260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87" y="377357"/>
                <a:ext cx="11213100" cy="5016758"/>
              </a:xfrm>
              <a:prstGeom prst="rect">
                <a:avLst/>
              </a:prstGeom>
              <a:blipFill rotWithShape="1">
                <a:blip r:embed="rId3"/>
                <a:stretch>
                  <a:fillRect l="-543" t="-729" b="-121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E0814DF0-CB0F-CE4A-A504-DEE56AFFF9B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="" id="{475EF717-C3AB-294D-A295-C65B2C815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6903752"/>
                  </p:ext>
                </p:extLst>
              </p:nvPr>
            </p:nvGraphicFramePr>
            <p:xfrm>
              <a:off x="3124200" y="887787"/>
              <a:ext cx="5943600" cy="182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00400">
                      <a:extLst>
                        <a:ext uri="{9D8B030D-6E8A-4147-A177-3AD203B41FA5}">
                          <a16:colId xmlns:a16="http://schemas.microsoft.com/office/drawing/2014/main" xmlns="" val="1924076155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xmlns="" val="268257137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Scientific Notation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Standard Form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9752177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32,000,000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19154364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6.4 ×10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7895091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96,000,000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805987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75EF717-C3AB-294D-A295-C65B2C815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6903752"/>
                  </p:ext>
                </p:extLst>
              </p:nvPr>
            </p:nvGraphicFramePr>
            <p:xfrm>
              <a:off x="3124200" y="887787"/>
              <a:ext cx="5943600" cy="182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004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924076155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68257137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Scientific Notation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Standard Form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9752177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16889" t="-10133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19154364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90" t="-201333" r="-8571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7895091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16889" t="-3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78059873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519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4B71B7AA-10E7-9B44-A591-563821260A41}"/>
                  </a:ext>
                </a:extLst>
              </p:cNvPr>
              <p:cNvSpPr txBox="1"/>
              <p:nvPr/>
            </p:nvSpPr>
            <p:spPr>
              <a:xfrm>
                <a:off x="534737" y="378672"/>
                <a:ext cx="11035753" cy="5023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times larger is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4.2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2.1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times larger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times larger is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4.2×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than </a:t>
                </a:r>
                <a14:m>
                  <m:oMath xmlns:m="http://schemas.openxmlformats.org/officeDocument/2006/math">
                    <m:r>
                      <a:rPr lang="es-E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2.1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tabLst>
                    <a:tab pos="1884363" algn="l"/>
                  </a:tabLst>
                </a:pPr>
                <a:r>
                  <a:rPr lang="en-US" sz="2000" dirty="0"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×                   = __________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times larger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B71B7AA-10E7-9B44-A591-563821260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37" y="378672"/>
                <a:ext cx="11035753" cy="5023811"/>
              </a:xfrm>
              <a:prstGeom prst="rect">
                <a:avLst/>
              </a:prstGeom>
              <a:blipFill rotWithShape="1">
                <a:blip r:embed="rId3"/>
                <a:stretch>
                  <a:fillRect l="-608" t="-728" b="-121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E0814DF0-CB0F-CE4A-A504-DEE56AFFF9B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="" id="{475EF717-C3AB-294D-A295-C65B2C815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0606058"/>
                  </p:ext>
                </p:extLst>
              </p:nvPr>
            </p:nvGraphicFramePr>
            <p:xfrm>
              <a:off x="2556736" y="965398"/>
              <a:ext cx="5943600" cy="182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00400">
                      <a:extLst>
                        <a:ext uri="{9D8B030D-6E8A-4147-A177-3AD203B41FA5}">
                          <a16:colId xmlns:a16="http://schemas.microsoft.com/office/drawing/2014/main" xmlns="" val="1924076155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xmlns="" val="268257137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Scientific Notation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Standard Form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9752177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smtClean="0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2.1×</m:t>
                              </m:r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19154364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smtClean="0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420,000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7895091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smtClean="0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8.4×</m:t>
                              </m:r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805987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75EF717-C3AB-294D-A295-C65B2C815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0606058"/>
                  </p:ext>
                </p:extLst>
              </p:nvPr>
            </p:nvGraphicFramePr>
            <p:xfrm>
              <a:off x="2556736" y="965398"/>
              <a:ext cx="5943600" cy="182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004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924076155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68257137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Scientific Notation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Standard Form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9752177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00000" r="-85905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19154364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16667" t="-200000" r="-222" b="-1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7895091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300000" r="-85905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7805987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 Box 81">
            <a:extLst>
              <a:ext uri="{FF2B5EF4-FFF2-40B4-BE49-F238E27FC236}">
                <a16:creationId xmlns:a16="http://schemas.microsoft.com/office/drawing/2014/main" xmlns="" id="{C839531C-EB49-6843-9D6F-47C24AD108E1}"/>
              </a:ext>
            </a:extLst>
          </p:cNvPr>
          <p:cNvSpPr txBox="1"/>
          <p:nvPr/>
        </p:nvSpPr>
        <p:spPr>
          <a:xfrm>
            <a:off x="6745099" y="3168107"/>
            <a:ext cx="815340" cy="38862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81">
            <a:extLst>
              <a:ext uri="{FF2B5EF4-FFF2-40B4-BE49-F238E27FC236}">
                <a16:creationId xmlns:a16="http://schemas.microsoft.com/office/drawing/2014/main" xmlns="" id="{178502FD-6639-F14C-BD4F-3A953CEFC930}"/>
              </a:ext>
            </a:extLst>
          </p:cNvPr>
          <p:cNvSpPr txBox="1"/>
          <p:nvPr/>
        </p:nvSpPr>
        <p:spPr>
          <a:xfrm>
            <a:off x="6745099" y="3747402"/>
            <a:ext cx="815340" cy="38862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81">
            <a:extLst>
              <a:ext uri="{FF2B5EF4-FFF2-40B4-BE49-F238E27FC236}">
                <a16:creationId xmlns:a16="http://schemas.microsoft.com/office/drawing/2014/main" xmlns="" id="{C839531C-EB49-6843-9D6F-47C24AD108E1}"/>
              </a:ext>
            </a:extLst>
          </p:cNvPr>
          <p:cNvSpPr txBox="1"/>
          <p:nvPr/>
        </p:nvSpPr>
        <p:spPr>
          <a:xfrm>
            <a:off x="1592775" y="4951492"/>
            <a:ext cx="815340" cy="38862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81">
            <a:extLst>
              <a:ext uri="{FF2B5EF4-FFF2-40B4-BE49-F238E27FC236}">
                <a16:creationId xmlns:a16="http://schemas.microsoft.com/office/drawing/2014/main" xmlns="" id="{178502FD-6639-F14C-BD4F-3A953CEFC930}"/>
              </a:ext>
            </a:extLst>
          </p:cNvPr>
          <p:cNvSpPr txBox="1"/>
          <p:nvPr/>
        </p:nvSpPr>
        <p:spPr>
          <a:xfrm>
            <a:off x="2810219" y="4934861"/>
            <a:ext cx="815340" cy="38862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093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4B71B7AA-10E7-9B44-A591-563821260A41}"/>
                  </a:ext>
                </a:extLst>
              </p:cNvPr>
              <p:cNvSpPr txBox="1"/>
              <p:nvPr/>
            </p:nvSpPr>
            <p:spPr>
              <a:xfrm>
                <a:off x="575777" y="409911"/>
                <a:ext cx="1121310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8.4×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              times larger than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value of </a:t>
                </a:r>
                <a14:m>
                  <m:oMath xmlns:m="http://schemas.openxmlformats.org/officeDocument/2006/math">
                    <m:r>
                      <a:rPr lang="es-E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2.1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×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8.4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              times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larger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than </a:t>
                </a:r>
                <a14:m>
                  <m:oMath xmlns:m="http://schemas.openxmlformats.org/officeDocument/2006/math">
                    <m:r>
                      <a:rPr lang="es-E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2.1</m:t>
                    </m:r>
                  </m:oMath>
                </a14:m>
                <a:r>
                  <a:rPr lang="en-US" sz="2000" b="0" i="0" dirty="0" smtClean="0">
                    <a:latin typeface="+mj-lt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             times larger than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       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×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the factors being multiplied by the powers of 10 are different, but one is not a multiple of the other, the comparison of the two values can be 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approximated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B71B7AA-10E7-9B44-A591-563821260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77" y="409911"/>
                <a:ext cx="11213100" cy="4401205"/>
              </a:xfrm>
              <a:prstGeom prst="rect">
                <a:avLst/>
              </a:prstGeom>
              <a:blipFill rotWithShape="1">
                <a:blip r:embed="rId3"/>
                <a:stretch>
                  <a:fillRect l="-543" t="-831" r="-163" b="-152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E0814DF0-CB0F-CE4A-A504-DEE56AFFF9B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Shape, rectangle&#10;&#10;Description automatically generated">
            <a:extLst>
              <a:ext uri="{FF2B5EF4-FFF2-40B4-BE49-F238E27FC236}">
                <a16:creationId xmlns:a16="http://schemas.microsoft.com/office/drawing/2014/main" xmlns="" id="{E1302272-AE5B-A244-9D97-53F9BE7097D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0372" y="843478"/>
            <a:ext cx="1157251" cy="1157251"/>
          </a:xfrm>
          <a:prstGeom prst="rect">
            <a:avLst/>
          </a:prstGeom>
        </p:spPr>
      </p:pic>
      <p:pic>
        <p:nvPicPr>
          <p:cNvPr id="7" name="Picture 6" descr="Rectangle&#10;&#10;Description automatically generated with medium confidence">
            <a:extLst>
              <a:ext uri="{FF2B5EF4-FFF2-40B4-BE49-F238E27FC236}">
                <a16:creationId xmlns:a16="http://schemas.microsoft.com/office/drawing/2014/main" xmlns="" id="{970ED3BD-9BC8-F642-809C-EC9AB7B338A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1786" y="1872350"/>
            <a:ext cx="1001294" cy="1132094"/>
          </a:xfrm>
          <a:prstGeom prst="rect">
            <a:avLst/>
          </a:prstGeom>
        </p:spPr>
      </p:pic>
      <p:pic>
        <p:nvPicPr>
          <p:cNvPr id="15" name="Picture 14" descr="Shape, rectangle&#10;&#10;Description automatically generated">
            <a:extLst>
              <a:ext uri="{FF2B5EF4-FFF2-40B4-BE49-F238E27FC236}">
                <a16:creationId xmlns:a16="http://schemas.microsoft.com/office/drawing/2014/main" xmlns="" id="{45E999E2-B3D4-FD45-81F3-38084E5E9C3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8481" y="2756357"/>
            <a:ext cx="1157251" cy="1132093"/>
          </a:xfrm>
          <a:prstGeom prst="rect">
            <a:avLst/>
          </a:prstGeom>
        </p:spPr>
      </p:pic>
      <p:pic>
        <p:nvPicPr>
          <p:cNvPr id="19" name="Picture 18" descr="Shape, rectangle&#10;&#10;Description automatically generated">
            <a:extLst>
              <a:ext uri="{FF2B5EF4-FFF2-40B4-BE49-F238E27FC236}">
                <a16:creationId xmlns:a16="http://schemas.microsoft.com/office/drawing/2014/main" xmlns="" id="{5FC7C3F7-2912-9043-AC99-979F12C73DA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1434" y="1847193"/>
            <a:ext cx="1157251" cy="1157251"/>
          </a:xfrm>
          <a:prstGeom prst="rect">
            <a:avLst/>
          </a:prstGeom>
        </p:spPr>
      </p:pic>
      <p:sp>
        <p:nvSpPr>
          <p:cNvPr id="20" name="Text Box 91">
            <a:extLst>
              <a:ext uri="{FF2B5EF4-FFF2-40B4-BE49-F238E27FC236}">
                <a16:creationId xmlns:a16="http://schemas.microsoft.com/office/drawing/2014/main" xmlns="" id="{62FB38E3-7EDF-224F-B60B-C5E016137EB3}"/>
              </a:ext>
            </a:extLst>
          </p:cNvPr>
          <p:cNvSpPr txBox="1"/>
          <p:nvPr/>
        </p:nvSpPr>
        <p:spPr>
          <a:xfrm>
            <a:off x="2810760" y="3142862"/>
            <a:ext cx="638810" cy="388620"/>
          </a:xfrm>
          <a:prstGeom prst="rect">
            <a:avLst/>
          </a:prstGeom>
          <a:solidFill>
            <a:sysClr val="window" lastClr="FFFFFF"/>
          </a:solidFill>
          <a:ln w="12700">
            <a:solidFill>
              <a:prstClr val="black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Box 91">
            <a:extLst>
              <a:ext uri="{FF2B5EF4-FFF2-40B4-BE49-F238E27FC236}">
                <a16:creationId xmlns:a16="http://schemas.microsoft.com/office/drawing/2014/main" xmlns="" id="{5FC95340-CA69-1A4C-8262-50FF0B2441AA}"/>
              </a:ext>
            </a:extLst>
          </p:cNvPr>
          <p:cNvSpPr txBox="1"/>
          <p:nvPr/>
        </p:nvSpPr>
        <p:spPr>
          <a:xfrm>
            <a:off x="3802147" y="3142862"/>
            <a:ext cx="638810" cy="388620"/>
          </a:xfrm>
          <a:prstGeom prst="rect">
            <a:avLst/>
          </a:prstGeom>
          <a:solidFill>
            <a:sysClr val="window" lastClr="FFFFFF"/>
          </a:solidFill>
          <a:ln w="12700">
            <a:solidFill>
              <a:prstClr val="black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811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4B71B7AA-10E7-9B44-A591-563821260A41}"/>
                  </a:ext>
                </a:extLst>
              </p:cNvPr>
              <p:cNvSpPr txBox="1"/>
              <p:nvPr/>
            </p:nvSpPr>
            <p:spPr>
              <a:xfrm>
                <a:off x="615105" y="374781"/>
                <a:ext cx="11311423" cy="4411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average distance from Earth to the moon is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2.38855×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miles. The average distance from Earth to the sun is about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9.3×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 to approximate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many times farther the sun is from Earth than the moon.</a:t>
                </a:r>
              </a:p>
              <a:p>
                <a:r>
                  <a:rPr lang="en-PH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PH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9.3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about            times                   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than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2.38855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            times                   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so the value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9.3×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about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 times </a:t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larger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than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2.38855×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B71B7AA-10E7-9B44-A591-563821260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05" y="374781"/>
                <a:ext cx="11311423" cy="4411785"/>
              </a:xfrm>
              <a:prstGeom prst="rect">
                <a:avLst/>
              </a:prstGeom>
              <a:blipFill rotWithShape="1">
                <a:blip r:embed="rId3"/>
                <a:stretch>
                  <a:fillRect l="-593" t="-829" r="-7817" b="-138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E0814DF0-CB0F-CE4A-A504-DEE56AFFF9B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EAA0AD84-6F39-9E48-B12A-B31395C1622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5964" y="2064541"/>
            <a:ext cx="862855" cy="1131685"/>
          </a:xfrm>
          <a:prstGeom prst="rect">
            <a:avLst/>
          </a:prstGeom>
        </p:spPr>
      </p:pic>
      <p:pic>
        <p:nvPicPr>
          <p:cNvPr id="10" name="Picture 9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02EDC05E-22FE-CE49-8540-1688DA43173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3842" y="2153767"/>
            <a:ext cx="1587199" cy="953232"/>
          </a:xfrm>
          <a:prstGeom prst="rect">
            <a:avLst/>
          </a:prstGeom>
        </p:spPr>
      </p:pic>
      <p:pic>
        <p:nvPicPr>
          <p:cNvPr id="11" name="Picture 10" descr="Rectangle&#10;&#10;Description automatically generated with medium confidence">
            <a:extLst>
              <a:ext uri="{FF2B5EF4-FFF2-40B4-BE49-F238E27FC236}">
                <a16:creationId xmlns:a16="http://schemas.microsoft.com/office/drawing/2014/main" xmlns="" id="{6CBEBE20-4C86-F44F-9400-735730F376D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7096" y="2168515"/>
            <a:ext cx="992273" cy="1132094"/>
          </a:xfrm>
          <a:prstGeom prst="rect">
            <a:avLst/>
          </a:prstGeom>
        </p:spPr>
      </p:pic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82803412-ECE4-F141-8570-C7C2DED6D85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8765" y="3196226"/>
            <a:ext cx="1587199" cy="95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223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13;g104476d1465_1_39">
            <a:extLst>
              <a:ext uri="{FF2B5EF4-FFF2-40B4-BE49-F238E27FC236}">
                <a16:creationId xmlns:a16="http://schemas.microsoft.com/office/drawing/2014/main" xmlns="" id="{704F9E4B-A4BA-594F-8B53-1BC9CEA0806F}"/>
              </a:ext>
            </a:extLst>
          </p:cNvPr>
          <p:cNvSpPr txBox="1">
            <a:spLocks/>
          </p:cNvSpPr>
          <p:nvPr/>
        </p:nvSpPr>
        <p:spPr>
          <a:xfrm>
            <a:off x="3792777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utive"/>
              <a:buNone/>
            </a:pPr>
            <a:r>
              <a:rPr lang="en-US" sz="5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lang="en-US" sz="48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image10.png" descr="Icon&#10;&#10;Description automatically generated">
            <a:extLst>
              <a:ext uri="{FF2B5EF4-FFF2-40B4-BE49-F238E27FC236}">
                <a16:creationId xmlns:a16="http://schemas.microsoft.com/office/drawing/2014/main" xmlns="" id="{E09CC7AF-F018-344A-A1A8-DF59E9DB4CD9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52151" cy="115215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83222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28438" y="-8677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2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3.2.6 Your Turn!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B46B19A2-BBA2-0441-AC88-F1F62E75949B}"/>
                  </a:ext>
                </a:extLst>
              </p:cNvPr>
              <p:cNvSpPr txBox="1"/>
              <p:nvPr/>
            </p:nvSpPr>
            <p:spPr>
              <a:xfrm>
                <a:off x="731521" y="1238923"/>
                <a:ext cx="10978698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Each statement contains a quantity. Rewrite each quantity in scientific notation.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There are about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37,000,000,000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cells in the average human body.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Light travels through space at a rate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300,000,000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meters per second.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6B19A2-BBA2-0441-AC88-F1F62E759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1" y="1238923"/>
                <a:ext cx="10978698" cy="3046988"/>
              </a:xfrm>
              <a:prstGeom prst="rect">
                <a:avLst/>
              </a:prstGeom>
              <a:blipFill>
                <a:blip r:embed="rId4"/>
                <a:stretch>
                  <a:fillRect l="-924" t="-1660" r="-346" b="-3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10.png" descr="Icon&#10;&#10;Description automatically generated">
            <a:extLst>
              <a:ext uri="{FF2B5EF4-FFF2-40B4-BE49-F238E27FC236}">
                <a16:creationId xmlns:a16="http://schemas.microsoft.com/office/drawing/2014/main" xmlns="" id="{7A08E686-B94C-1A4B-8B9E-47B66D701989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9811" cy="74981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55790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E0814DF0-CB0F-CE4A-A504-DEE56AFFF9B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4B71B7AA-10E7-9B44-A591-563821260A41}"/>
                  </a:ext>
                </a:extLst>
              </p:cNvPr>
              <p:cNvSpPr txBox="1"/>
              <p:nvPr/>
            </p:nvSpPr>
            <p:spPr>
              <a:xfrm>
                <a:off x="556112" y="502602"/>
                <a:ext cx="11193435" cy="3295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population of Florida was about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2.22×</m:t>
                    </m:r>
                    <m:sSup>
                      <m:sSupPr>
                        <m:ctrlPr>
                          <a:rPr lang="en-US" sz="24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2021. The population of the world was about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7.87×</m:t>
                    </m:r>
                    <m:sSup>
                      <m:sSupPr>
                        <m:ctrlPr>
                          <a:rPr lang="en-US" sz="24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the same year. 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indent="4953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95300">
                  <a:lnSpc>
                    <a:spcPct val="20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2021, the population of the world was about ___________ times larger than the population of Florida.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71B7AA-10E7-9B44-A591-563821260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12" y="502602"/>
                <a:ext cx="11193435" cy="3295454"/>
              </a:xfrm>
              <a:prstGeom prst="rect">
                <a:avLst/>
              </a:prstGeom>
              <a:blipFill>
                <a:blip r:embed="rId4"/>
                <a:stretch>
                  <a:fillRect l="-794" t="-1533" r="-1361" b="-3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58196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855625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37332" y="300498"/>
            <a:ext cx="80193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3.2.7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E281112-0763-C941-9DB7-9B28C4EA4745}"/>
              </a:ext>
            </a:extLst>
          </p:cNvPr>
          <p:cNvSpPr/>
          <p:nvPr/>
        </p:nvSpPr>
        <p:spPr>
          <a:xfrm>
            <a:off x="543835" y="1467055"/>
            <a:ext cx="1075381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an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on each line to indicate where your current learning is related to each target.</a:t>
            </a: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express large numbers using scientific notation.</a:t>
            </a: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how many times larger or smaller a number is compared to another expressed in scientific notation.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249152"/>
              </p:ext>
            </p:extLst>
          </p:nvPr>
        </p:nvGraphicFramePr>
        <p:xfrm>
          <a:off x="2081636" y="2722166"/>
          <a:ext cx="8046720" cy="978408"/>
        </p:xfrm>
        <a:graphic>
          <a:graphicData uri="http://schemas.openxmlformats.org/drawingml/2006/table">
            <a:tbl>
              <a:tblPr firstRow="1" firstCol="1" bandRow="1"/>
              <a:tblGrid>
                <a:gridCol w="21945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68630">
                <a:tc>
                  <a:txBody>
                    <a:bodyPr/>
                    <a:lstStyle/>
                    <a:p>
                      <a:pPr marR="50165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need help.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50165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can’t get </a:t>
                      </a:r>
                      <a:b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started.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I’m getting </a:t>
                      </a:r>
                      <a:b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there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, but I need more practice</a:t>
                      </a: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understand </a:t>
                      </a:r>
                      <a:b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this and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I feel confident.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>
            <a:off x="2343410" y="3810126"/>
            <a:ext cx="713232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05925"/>
              </p:ext>
            </p:extLst>
          </p:nvPr>
        </p:nvGraphicFramePr>
        <p:xfrm>
          <a:off x="2101751" y="5233533"/>
          <a:ext cx="8046720" cy="978408"/>
        </p:xfrm>
        <a:graphic>
          <a:graphicData uri="http://schemas.openxmlformats.org/drawingml/2006/table">
            <a:tbl>
              <a:tblPr firstRow="1" firstCol="1" bandRow="1"/>
              <a:tblGrid>
                <a:gridCol w="21945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68630">
                <a:tc>
                  <a:txBody>
                    <a:bodyPr/>
                    <a:lstStyle/>
                    <a:p>
                      <a:pPr marR="50165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need help.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50165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can’t get </a:t>
                      </a:r>
                      <a:b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started.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I’m getting </a:t>
                      </a:r>
                      <a:b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there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, but I need more practice</a:t>
                      </a: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understand </a:t>
                      </a:r>
                      <a:b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this and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I feel confident.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20" name="Straight Arrow Connector 19"/>
          <p:cNvCxnSpPr/>
          <p:nvPr/>
        </p:nvCxnSpPr>
        <p:spPr>
          <a:xfrm>
            <a:off x="2343410" y="6389766"/>
            <a:ext cx="713232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3599</TotalTime>
  <Words>1229</Words>
  <Application>Microsoft Office PowerPoint</Application>
  <PresentationFormat>Custom</PresentationFormat>
  <Paragraphs>327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Arial</vt:lpstr>
      <vt:lpstr>Wingdings</vt:lpstr>
      <vt:lpstr>Calibri</vt:lpstr>
      <vt:lpstr>Arial Black</vt:lpstr>
      <vt:lpstr>Cambria Math</vt:lpstr>
      <vt:lpstr>Cutive</vt:lpstr>
      <vt:lpstr>Helvetica Neue</vt:lpstr>
      <vt:lpstr>Times New Roman</vt:lpstr>
      <vt:lpstr>Cambria</vt:lpstr>
      <vt:lpstr>Verdana</vt:lpstr>
      <vt:lpstr>Century Gothic</vt:lpstr>
      <vt:lpstr>1_Office Theme</vt:lpstr>
      <vt:lpstr>8th Grade Math: Pre-Algebra  Unit 3, Lesson 2  Writing Large Numbers Using Scientific Notation  Volume 1, pg. 86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68</cp:revision>
  <dcterms:created xsi:type="dcterms:W3CDTF">2015-03-17T18:51:18Z</dcterms:created>
  <dcterms:modified xsi:type="dcterms:W3CDTF">2022-07-13T10:14:37Z</dcterms:modified>
</cp:coreProperties>
</file>