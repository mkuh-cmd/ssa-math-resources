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0"/>
  </p:notesMasterIdLst>
  <p:sldIdLst>
    <p:sldId id="256" r:id="rId2"/>
    <p:sldId id="257" r:id="rId3"/>
    <p:sldId id="285" r:id="rId4"/>
    <p:sldId id="286" r:id="rId5"/>
    <p:sldId id="261" r:id="rId6"/>
    <p:sldId id="287" r:id="rId7"/>
    <p:sldId id="323" r:id="rId8"/>
    <p:sldId id="324" r:id="rId9"/>
    <p:sldId id="367" r:id="rId10"/>
    <p:sldId id="314" r:id="rId11"/>
    <p:sldId id="315" r:id="rId12"/>
    <p:sldId id="362" r:id="rId13"/>
    <p:sldId id="317" r:id="rId14"/>
    <p:sldId id="318" r:id="rId15"/>
    <p:sldId id="364" r:id="rId16"/>
    <p:sldId id="372" r:id="rId17"/>
    <p:sldId id="306" r:id="rId18"/>
    <p:sldId id="307" r:id="rId19"/>
  </p:sldIdLst>
  <p:sldSz cx="12192000" cy="6858000"/>
  <p:notesSz cx="6858000" cy="9144000"/>
  <p:embeddedFontLst>
    <p:embeddedFont>
      <p:font typeface="Arial Black" panose="020B0A04020102020204" pitchFamily="34" charset="0"/>
      <p:regular r:id="rId21"/>
      <p:bold r:id="rId22"/>
    </p:embeddedFont>
    <p:embeddedFont>
      <p:font typeface="Calibri" panose="020F0502020204030204" pitchFamily="34" charset="0"/>
      <p:regular r:id="rId23"/>
      <p:bold r:id="rId24"/>
      <p:italic r:id="rId25"/>
      <p:boldItalic r:id="rId26"/>
    </p:embeddedFont>
    <p:embeddedFont>
      <p:font typeface="Cambria" panose="02040503050406030204" pitchFamily="18" charset="0"/>
      <p:regular r:id="rId27"/>
      <p:bold r:id="rId28"/>
      <p:italic r:id="rId29"/>
      <p:boldItalic r:id="rId30"/>
    </p:embeddedFont>
    <p:embeddedFont>
      <p:font typeface="Cambria Math" panose="02040503050406030204" pitchFamily="18" charset="0"/>
      <p:regular r:id="rId31"/>
    </p:embeddedFont>
    <p:embeddedFont>
      <p:font typeface="Century Gothic" panose="020B0502020202020204" pitchFamily="34" charset="0"/>
      <p:regular r:id="rId32"/>
      <p:bold r:id="rId33"/>
      <p:italic r:id="rId34"/>
      <p:boldItalic r:id="rId35"/>
    </p:embeddedFont>
    <p:embeddedFont>
      <p:font typeface="Verdana" panose="020B0604030504040204" pitchFamily="34" charset="0"/>
      <p:regular r:id="rId36"/>
      <p:bold r:id="rId37"/>
      <p:italic r:id="rId38"/>
      <p:boldItalic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22574"/>
    <a:srgbClr val="3465B0"/>
    <a:srgbClr val="DA4487"/>
    <a:srgbClr val="276C46"/>
    <a:srgbClr val="C9DF6F"/>
    <a:srgbClr val="417DBF"/>
    <a:srgbClr val="3F2A67"/>
    <a:srgbClr val="E24E5F"/>
    <a:srgbClr val="26B7D4"/>
    <a:srgbClr val="54B5D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6202"/>
    <p:restoredTop sz="94479"/>
  </p:normalViewPr>
  <p:slideViewPr>
    <p:cSldViewPr snapToGrid="0">
      <p:cViewPr varScale="1">
        <p:scale>
          <a:sx n="53" d="100"/>
          <a:sy n="53" d="100"/>
        </p:scale>
        <p:origin x="102" y="19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9" Type="http://schemas.openxmlformats.org/officeDocument/2006/relationships/font" Target="fonts/font19.fntdata"/><Relationship Id="rId21" Type="http://schemas.openxmlformats.org/officeDocument/2006/relationships/font" Target="fonts/font1.fntdata"/><Relationship Id="rId34" Type="http://schemas.openxmlformats.org/officeDocument/2006/relationships/font" Target="fonts/font14.fntdata"/><Relationship Id="rId55"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font" Target="fonts/font12.fntdata"/><Relationship Id="rId37" Type="http://schemas.openxmlformats.org/officeDocument/2006/relationships/font" Target="fonts/font17.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font" Target="fonts/font8.fntdata"/><Relationship Id="rId36" Type="http://schemas.openxmlformats.org/officeDocument/2006/relationships/font" Target="fonts/font16.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font" Target="fonts/font10.fntdata"/><Relationship Id="rId35" Type="http://schemas.openxmlformats.org/officeDocument/2006/relationships/font" Target="fonts/font15.fntdata"/><Relationship Id="rId56"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33" Type="http://schemas.openxmlformats.org/officeDocument/2006/relationships/font" Target="fonts/font13.fntdata"/><Relationship Id="rId38" Type="http://schemas.openxmlformats.org/officeDocument/2006/relationships/font" Target="fonts/font18.fntdata"/><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12288088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19353921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28596705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extLst>
      <p:ext uri="{BB962C8B-B14F-4D97-AF65-F5344CB8AC3E}">
        <p14:creationId xmlns:p14="http://schemas.microsoft.com/office/powerpoint/2010/main" val="2580380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30094051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extLst>
      <p:ext uri="{BB962C8B-B14F-4D97-AF65-F5344CB8AC3E}">
        <p14:creationId xmlns:p14="http://schemas.microsoft.com/office/powerpoint/2010/main" val="28030581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36702437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8388277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29542856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extLst>
      <p:ext uri="{BB962C8B-B14F-4D97-AF65-F5344CB8AC3E}">
        <p14:creationId xmlns:p14="http://schemas.microsoft.com/office/powerpoint/2010/main" val="7166881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5" Type="http://schemas.openxmlformats.org/officeDocument/2006/relationships/image" Target="../media/image22.png"/><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5" Type="http://schemas.openxmlformats.org/officeDocument/2006/relationships/image" Target="../media/image25.png"/><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26.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27.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90352" y="2054277"/>
            <a:ext cx="5077649"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8th Grade Math: Pre-Algebra</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12, Lesson 3</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Multiplying Algebraic Expressions</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226</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1929" y="-9144"/>
            <a:ext cx="4094106" cy="6866100"/>
          </a:xfrm>
          <a:prstGeom prst="rect">
            <a:avLst/>
          </a:prstGeom>
          <a:solidFill>
            <a:srgbClr val="822574"/>
          </a:solidFill>
          <a:ln w="9525" cap="flat" cmpd="sng">
            <a:solidFill>
              <a:srgbClr val="822574"/>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4" name="Picture 3" descr="Logo&#10;&#10;Description automatically generated">
            <a:extLst>
              <a:ext uri="{FF2B5EF4-FFF2-40B4-BE49-F238E27FC236}">
                <a16:creationId xmlns:a16="http://schemas.microsoft.com/office/drawing/2014/main" id="{52C00464-EFA3-6346-BE43-A03DFF537B3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87305" y="1597002"/>
            <a:ext cx="2973100" cy="3465785"/>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503" y="-8225"/>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737008" y="136525"/>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Benchmarks</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837497" y="425725"/>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982778"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226</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16778"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1021278" y="1462225"/>
            <a:ext cx="10926080" cy="43435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35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MA.8.AR.1.1</a:t>
            </a:r>
          </a:p>
          <a:p>
            <a:pPr marL="457200" lvl="1" indent="0">
              <a:buSzPts val="1100"/>
              <a:buNone/>
            </a:pPr>
            <a:r>
              <a:rPr lang="en-US" sz="3500" dirty="0">
                <a:latin typeface="Verdana" panose="020B0604030504040204" pitchFamily="34" charset="0"/>
                <a:ea typeface="Verdana" panose="020B0604030504040204" pitchFamily="34" charset="0"/>
                <a:cs typeface="Verdana" panose="020B0604030504040204" pitchFamily="34" charset="0"/>
              </a:rPr>
              <a:t>Apply the Laws of Exponents to generate equivalent algebraic expressions, limited to integer exponents and monomial bases. </a:t>
            </a:r>
          </a:p>
          <a:p>
            <a:pPr marL="0" indent="0">
              <a:buSzPts val="1100"/>
              <a:buNone/>
            </a:pPr>
            <a:r>
              <a:rPr lang="en-US" sz="3500" dirty="0">
                <a:latin typeface="Verdana" panose="020B0604030504040204" pitchFamily="34" charset="0"/>
                <a:ea typeface="Verdana" panose="020B0604030504040204" pitchFamily="34" charset="0"/>
                <a:cs typeface="Verdana" panose="020B0604030504040204" pitchFamily="34" charset="0"/>
              </a:rPr>
              <a:t>MA.8.AR.1.2 </a:t>
            </a:r>
          </a:p>
          <a:p>
            <a:pPr marL="457200" lvl="1" indent="0">
              <a:buSzPts val="1100"/>
              <a:buNone/>
            </a:pPr>
            <a:r>
              <a:rPr lang="en-US" sz="3500" dirty="0">
                <a:latin typeface="Verdana" panose="020B0604030504040204" pitchFamily="34" charset="0"/>
                <a:ea typeface="Verdana" panose="020B0604030504040204" pitchFamily="34" charset="0"/>
                <a:cs typeface="Verdana" panose="020B0604030504040204" pitchFamily="34" charset="0"/>
              </a:rPr>
              <a:t>Apply properties of operations to multiply two linear expressions with rational coefficients.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662" y="-8225"/>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648449" y="418867"/>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68208"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575174" y="129667"/>
            <a:ext cx="9041652"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1033153" y="1596390"/>
            <a:ext cx="9726705"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marL="457200">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marL="457200">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MA.K12.MTR.3.1 Complete tasks with mathematical fluency.</a:t>
            </a:r>
          </a:p>
          <a:p>
            <a:pPr>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latin typeface="Verdana" panose="020B0604030504040204" pitchFamily="34" charset="0"/>
                <a:ea typeface="Verdana" panose="020B0604030504040204" pitchFamily="34" charset="0"/>
                <a:cs typeface="Verdana" panose="020B0604030504040204" pitchFamily="34" charset="0"/>
              </a:rPr>
              <a:t>MA.K12.MTR.4.1 Engage in discussions that reflect on the mathematical thinking of self and others.</a:t>
            </a: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
        <p:nvSpPr>
          <p:cNvPr id="9" name="Google Shape;282;g104476d1465_1_17">
            <a:extLst>
              <a:ext uri="{FF2B5EF4-FFF2-40B4-BE49-F238E27FC236}">
                <a16:creationId xmlns:a16="http://schemas.microsoft.com/office/drawing/2014/main" id="{44BD19D6-D933-8F41-AC2D-A816B63299E2}"/>
              </a:ext>
            </a:extLst>
          </p:cNvPr>
          <p:cNvSpPr txBox="1"/>
          <p:nvPr/>
        </p:nvSpPr>
        <p:spPr>
          <a:xfrm>
            <a:off x="8592405"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226</a:t>
            </a:r>
            <a:endParaRPr i="1" dirty="0">
              <a:latin typeface="Calibri"/>
              <a:ea typeface="Calibri"/>
              <a:cs typeface="Calibri"/>
              <a:sym typeface="Calibri"/>
            </a:endParaRP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0"/>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343156" y="6129037"/>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678701" y="91149"/>
            <a:ext cx="7958400" cy="1224084"/>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654587" y="319860"/>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1045029" y="1498651"/>
            <a:ext cx="10115661"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63550" indent="-463550">
              <a:buFont typeface="Wingdings" pitchFamily="2" charset="2"/>
              <a:buChar char="q"/>
            </a:pPr>
            <a:r>
              <a:rPr lang="en-US" sz="3200" dirty="0">
                <a:latin typeface="Verdana" panose="020B0604030504040204" pitchFamily="34" charset="0"/>
                <a:ea typeface="Verdana" panose="020B0604030504040204" pitchFamily="34" charset="0"/>
                <a:cs typeface="Verdana" panose="020B0604030504040204" pitchFamily="34" charset="0"/>
              </a:rPr>
              <a:t>I can apply properties of operations to multiply two algebraic expressions.</a:t>
            </a:r>
          </a:p>
        </p:txBody>
      </p:sp>
      <p:sp>
        <p:nvSpPr>
          <p:cNvPr id="8" name="Google Shape;282;g104476d1465_1_17">
            <a:extLst>
              <a:ext uri="{FF2B5EF4-FFF2-40B4-BE49-F238E27FC236}">
                <a16:creationId xmlns:a16="http://schemas.microsoft.com/office/drawing/2014/main" id="{BE822EE6-2CC3-DD41-88D6-B362958C6008}"/>
              </a:ext>
            </a:extLst>
          </p:cNvPr>
          <p:cNvSpPr txBox="1"/>
          <p:nvPr/>
        </p:nvSpPr>
        <p:spPr>
          <a:xfrm>
            <a:off x="8709156" y="6401816"/>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226</a:t>
            </a:r>
            <a:endParaRPr i="1" dirty="0">
              <a:latin typeface="Calibri"/>
              <a:ea typeface="Calibri"/>
              <a:cs typeface="Calibri"/>
              <a:sym typeface="Calibri"/>
            </a:endParaRP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0052976" y="6200600"/>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3475350" y="2913120"/>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4980054"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9" name="Google Shape;282;g104476d1465_1_17">
            <a:extLst>
              <a:ext uri="{FF2B5EF4-FFF2-40B4-BE49-F238E27FC236}">
                <a16:creationId xmlns:a16="http://schemas.microsoft.com/office/drawing/2014/main" id="{7F0244DC-901A-7D46-A50E-86F6B481AF7B}"/>
              </a:ext>
            </a:extLst>
          </p:cNvPr>
          <p:cNvSpPr txBox="1"/>
          <p:nvPr/>
        </p:nvSpPr>
        <p:spPr>
          <a:xfrm>
            <a:off x="7314750"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227</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376717" y="612916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804416" y="60326"/>
            <a:ext cx="832523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12.3.1 Warm-Up: Bell Work</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682602" y="349525"/>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E1D7562E-134F-D14B-AF1A-DF40E11EF758}"/>
                  </a:ext>
                </a:extLst>
              </p:cNvPr>
              <p:cNvSpPr txBox="1"/>
              <p:nvPr/>
            </p:nvSpPr>
            <p:spPr>
              <a:xfrm>
                <a:off x="1033153" y="1386026"/>
                <a:ext cx="9354431" cy="2837765"/>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Find the product.</a:t>
                </a:r>
              </a:p>
              <a:p>
                <a:pPr lvl="0"/>
                <a:endParaRPr lang="en-US" sz="2400" dirty="0">
                  <a:latin typeface="Verdana" panose="020B0604030504040204" pitchFamily="34" charset="0"/>
                  <a:ea typeface="Verdana" panose="020B0604030504040204" pitchFamily="34" charset="0"/>
                  <a:cs typeface="Verdana" panose="020B0604030504040204" pitchFamily="34" charset="0"/>
                </a:endParaRPr>
              </a:p>
              <a:p>
                <a:pPr algn="ctr"/>
                <a14:m>
                  <m:oMath xmlns:m="http://schemas.openxmlformats.org/officeDocument/2006/math">
                    <m:sSup>
                      <m:sSupPr>
                        <m:ctrlPr>
                          <a:rPr lang="en-US" sz="2400" i="1">
                            <a:latin typeface="Cambria Math" panose="02040503050406030204" pitchFamily="18" charset="0"/>
                          </a:rPr>
                        </m:ctrlPr>
                      </m:sSupPr>
                      <m:e>
                        <m:f>
                          <m:fPr>
                            <m:ctrlPr>
                              <a:rPr lang="en-US" sz="2400" i="1">
                                <a:latin typeface="Cambria Math" panose="02040503050406030204" pitchFamily="18" charset="0"/>
                              </a:rPr>
                            </m:ctrlPr>
                          </m:fPr>
                          <m:num>
                            <m:r>
                              <a:rPr lang="en-US" sz="2400" i="1">
                                <a:latin typeface="Cambria Math" panose="02040503050406030204" pitchFamily="18" charset="0"/>
                              </a:rPr>
                              <m:t>8</m:t>
                            </m:r>
                          </m:num>
                          <m:den>
                            <m:r>
                              <a:rPr lang="en-US" sz="2400" i="1">
                                <a:latin typeface="Cambria Math" panose="02040503050406030204" pitchFamily="18" charset="0"/>
                              </a:rPr>
                              <m:t>3</m:t>
                            </m:r>
                          </m:den>
                        </m:f>
                        <m:r>
                          <a:rPr lang="en-US" sz="2400" i="1">
                            <a:latin typeface="Cambria Math" panose="02040503050406030204" pitchFamily="18" charset="0"/>
                          </a:rPr>
                          <m:t>𝑔</m:t>
                        </m:r>
                      </m:e>
                      <m:sup>
                        <m:r>
                          <a:rPr lang="en-US" sz="2400" i="1">
                            <a:latin typeface="Cambria Math" panose="02040503050406030204" pitchFamily="18" charset="0"/>
                          </a:rPr>
                          <m:t>2</m:t>
                        </m:r>
                      </m:sup>
                    </m:sSup>
                    <m:sSup>
                      <m:sSupPr>
                        <m:ctrlPr>
                          <a:rPr lang="en-US" sz="2400" i="1">
                            <a:latin typeface="Cambria Math" panose="02040503050406030204" pitchFamily="18" charset="0"/>
                          </a:rPr>
                        </m:ctrlPr>
                      </m:sSupPr>
                      <m:e>
                        <m:r>
                          <a:rPr lang="en-US" sz="2400" i="1">
                            <a:latin typeface="Cambria Math" panose="02040503050406030204" pitchFamily="18" charset="0"/>
                          </a:rPr>
                          <m:t>h</m:t>
                        </m:r>
                      </m:e>
                      <m:sup>
                        <m:r>
                          <a:rPr lang="en-US" sz="2400" i="1">
                            <a:latin typeface="Cambria Math" panose="02040503050406030204" pitchFamily="18" charset="0"/>
                          </a:rPr>
                          <m:t>4</m:t>
                        </m:r>
                      </m:sup>
                    </m:sSup>
                    <m:r>
                      <a:rPr lang="en-US" sz="2400" i="1">
                        <a:latin typeface="Cambria Math" panose="02040503050406030204" pitchFamily="18" charset="0"/>
                      </a:rPr>
                      <m:t>∙</m:t>
                    </m:r>
                    <m:sSup>
                      <m:sSupPr>
                        <m:ctrlPr>
                          <a:rPr lang="en-US" sz="2400" i="1">
                            <a:latin typeface="Cambria Math" panose="02040503050406030204" pitchFamily="18" charset="0"/>
                          </a:rPr>
                        </m:ctrlPr>
                      </m:sSupPr>
                      <m:e>
                        <m:r>
                          <a:rPr lang="en-US" sz="2400" i="1">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5</m:t>
                            </m:r>
                          </m:num>
                          <m:den>
                            <m:r>
                              <a:rPr lang="en-US" sz="2400" i="1">
                                <a:latin typeface="Cambria Math" panose="02040503050406030204" pitchFamily="18" charset="0"/>
                              </a:rPr>
                              <m:t>2</m:t>
                            </m:r>
                          </m:den>
                        </m:f>
                        <m:r>
                          <a:rPr lang="en-US" sz="2400" i="1">
                            <a:latin typeface="Cambria Math" panose="02040503050406030204" pitchFamily="18" charset="0"/>
                          </a:rPr>
                          <m:t>𝑔</m:t>
                        </m:r>
                      </m:e>
                      <m:sup>
                        <m:r>
                          <a:rPr lang="en-US" sz="2400" i="1">
                            <a:latin typeface="Cambria Math" panose="02040503050406030204" pitchFamily="18" charset="0"/>
                          </a:rPr>
                          <m:t>3</m:t>
                        </m:r>
                      </m:sup>
                    </m:sSup>
                    <m:r>
                      <a:rPr lang="en-US" sz="2400" i="1">
                        <a:latin typeface="Cambria Math" panose="02040503050406030204" pitchFamily="18" charset="0"/>
                      </a:rPr>
                      <m:t>h</m:t>
                    </m:r>
                  </m:oMath>
                </a14:m>
                <a:r>
                  <a:rPr lang="en-US" sz="2400" dirty="0">
                    <a:latin typeface="Verdana" panose="020B0604030504040204" pitchFamily="34" charset="0"/>
                    <a:ea typeface="Verdana" panose="020B0604030504040204" pitchFamily="34" charset="0"/>
                    <a:cs typeface="Verdana" panose="020B0604030504040204" pitchFamily="34" charset="0"/>
                  </a:rPr>
                  <a:t> </a:t>
                </a:r>
              </a:p>
              <a:p>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Fill in the blanks in each expression to make the equation true.            </a:t>
                </a:r>
              </a:p>
              <a:p>
                <a:pPr marL="404813" indent="-404813"/>
                <a:r>
                  <a:rPr lang="en-US" sz="2400" dirty="0">
                    <a:latin typeface="Verdana" panose="020B0604030504040204" pitchFamily="34" charset="0"/>
                    <a:ea typeface="Verdana" panose="020B0604030504040204" pitchFamily="34" charset="0"/>
                    <a:cs typeface="Verdana" panose="020B0604030504040204" pitchFamily="34" charset="0"/>
                  </a:rPr>
                  <a:t>                                                                                    </a:t>
                </a:r>
              </a:p>
            </p:txBody>
          </p:sp>
        </mc:Choice>
        <mc:Fallback xmlns="">
          <p:sp>
            <p:nvSpPr>
              <p:cNvPr id="2" name="TextBox 1">
                <a:extLst>
                  <a:ext uri="{FF2B5EF4-FFF2-40B4-BE49-F238E27FC236}">
                    <a16:creationId xmlns:a16="http://schemas.microsoft.com/office/drawing/2014/main" id="{E1D7562E-134F-D14B-AF1A-DF40E11EF758}"/>
                  </a:ext>
                </a:extLst>
              </p:cNvPr>
              <p:cNvSpPr txBox="1">
                <a:spLocks noRot="1" noChangeAspect="1" noMove="1" noResize="1" noEditPoints="1" noAdjustHandles="1" noChangeArrowheads="1" noChangeShapeType="1" noTextEdit="1"/>
              </p:cNvSpPr>
              <p:nvPr/>
            </p:nvSpPr>
            <p:spPr>
              <a:xfrm>
                <a:off x="1033153" y="1386026"/>
                <a:ext cx="9354431" cy="2837765"/>
              </a:xfrm>
              <a:prstGeom prst="rect">
                <a:avLst/>
              </a:prstGeom>
              <a:blipFill>
                <a:blip r:embed="rId5"/>
                <a:stretch>
                  <a:fillRect l="-977" t="-1717"/>
                </a:stretch>
              </a:blipFill>
            </p:spPr>
            <p:txBody>
              <a:bodyPr/>
              <a:lstStyle/>
              <a:p>
                <a:r>
                  <a:rPr lang="en-US">
                    <a:noFill/>
                  </a:rPr>
                  <a:t> </a:t>
                </a:r>
              </a:p>
            </p:txBody>
          </p:sp>
        </mc:Fallback>
      </mc:AlternateContent>
      <p:sp>
        <p:nvSpPr>
          <p:cNvPr id="14" name="Google Shape;282;g104476d1465_1_17">
            <a:extLst>
              <a:ext uri="{FF2B5EF4-FFF2-40B4-BE49-F238E27FC236}">
                <a16:creationId xmlns:a16="http://schemas.microsoft.com/office/drawing/2014/main" id="{8637E541-6209-6345-9154-A5FCF2C9A2F7}"/>
              </a:ext>
            </a:extLst>
          </p:cNvPr>
          <p:cNvSpPr txBox="1"/>
          <p:nvPr/>
        </p:nvSpPr>
        <p:spPr>
          <a:xfrm>
            <a:off x="8655035" y="638623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227</a:t>
            </a:r>
            <a:endParaRPr i="1" dirty="0">
              <a:latin typeface="Calibri"/>
              <a:ea typeface="Calibri"/>
              <a:cs typeface="Calibri"/>
              <a:sym typeface="Calibri"/>
            </a:endParaRPr>
          </a:p>
        </p:txBody>
      </p:sp>
      <p:pic>
        <p:nvPicPr>
          <p:cNvPr id="5" name="Picture 4" descr="Shape&#10;&#10;Description automatically generated">
            <a:extLst>
              <a:ext uri="{FF2B5EF4-FFF2-40B4-BE49-F238E27FC236}">
                <a16:creationId xmlns:a16="http://schemas.microsoft.com/office/drawing/2014/main" id="{0CE4EC67-9FDD-FD49-B27A-6CBC515BE514}"/>
              </a:ext>
            </a:extLst>
          </p:cNvPr>
          <p:cNvPicPr>
            <a:picLocks noChangeAspect="1"/>
          </p:cNvPicPr>
          <p:nvPr/>
        </p:nvPicPr>
        <p:blipFill rotWithShape="1">
          <a:blip r:embed="rId6" cstate="screen">
            <a:extLst>
              <a:ext uri="{28A0092B-C50C-407E-A947-70E740481C1C}">
                <a14:useLocalDpi xmlns:a14="http://schemas.microsoft.com/office/drawing/2010/main"/>
              </a:ext>
            </a:extLst>
          </a:blip>
          <a:srcRect t="27467"/>
          <a:stretch/>
        </p:blipFill>
        <p:spPr>
          <a:xfrm>
            <a:off x="3804239" y="4267205"/>
            <a:ext cx="4325589" cy="718550"/>
          </a:xfrm>
          <a:prstGeom prst="rect">
            <a:avLst/>
          </a:prstGeom>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355682" y="6129037"/>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554649"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Practice</a:t>
            </a:r>
            <a:endParaRPr sz="5100" b="1" dirty="0">
              <a:solidFill>
                <a:srgbClr val="54B5D1"/>
              </a:solidFill>
              <a:latin typeface="Verdana"/>
              <a:ea typeface="Verdana"/>
              <a:cs typeface="Verdana"/>
              <a:sym typeface="Verdana"/>
            </a:endParaRPr>
          </a:p>
        </p:txBody>
      </p:sp>
      <p:pic>
        <p:nvPicPr>
          <p:cNvPr id="9218" name="Picture 2" descr="Icon&#10;&#10;Description automatically generated">
            <a:extLst>
              <a:ext uri="{FF2B5EF4-FFF2-40B4-BE49-F238E27FC236}">
                <a16:creationId xmlns:a16="http://schemas.microsoft.com/office/drawing/2014/main" id="{B02E8C6A-53AD-AA4E-A4ED-406F3B0E370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3402505" y="2939701"/>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Google Shape;282;g104476d1465_1_17">
            <a:extLst>
              <a:ext uri="{FF2B5EF4-FFF2-40B4-BE49-F238E27FC236}">
                <a16:creationId xmlns:a16="http://schemas.microsoft.com/office/drawing/2014/main" id="{36852910-7FBF-C741-BC81-FE693693612C}"/>
              </a:ext>
            </a:extLst>
          </p:cNvPr>
          <p:cNvSpPr txBox="1"/>
          <p:nvPr/>
        </p:nvSpPr>
        <p:spPr>
          <a:xfrm>
            <a:off x="8721682" y="634278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227</a:t>
            </a:r>
            <a:endParaRPr i="1" dirty="0">
              <a:latin typeface="Calibri"/>
              <a:ea typeface="Calibri"/>
              <a:cs typeface="Calibri"/>
              <a:sym typeface="Calibri"/>
            </a:endParaRPr>
          </a:p>
        </p:txBody>
      </p:sp>
    </p:spTree>
    <p:extLst>
      <p:ext uri="{BB962C8B-B14F-4D97-AF65-F5344CB8AC3E}">
        <p14:creationId xmlns:p14="http://schemas.microsoft.com/office/powerpoint/2010/main" val="16930146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48788" y="6129037"/>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520043" y="130177"/>
            <a:ext cx="992874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12.3.2 Guided Practice: Multiplying Monomials by Algebraic Expressions</a:t>
            </a:r>
          </a:p>
        </p:txBody>
      </p:sp>
      <p:pic>
        <p:nvPicPr>
          <p:cNvPr id="8" name="Picture 2" descr="Icon&#10;&#10;Description automatically generated">
            <a:extLst>
              <a:ext uri="{FF2B5EF4-FFF2-40B4-BE49-F238E27FC236}">
                <a16:creationId xmlns:a16="http://schemas.microsoft.com/office/drawing/2014/main" id="{B3C42596-1BDF-794D-A82A-7C54635CB812}"/>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621716" y="287885"/>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1D40250-DEDD-2C41-8538-3D4DD18CCC4A}"/>
                  </a:ext>
                </a:extLst>
              </p:cNvPr>
              <p:cNvSpPr txBox="1"/>
              <p:nvPr/>
            </p:nvSpPr>
            <p:spPr>
              <a:xfrm>
                <a:off x="981425" y="1663106"/>
                <a:ext cx="9928746" cy="1232517"/>
              </a:xfrm>
              <a:prstGeom prst="rect">
                <a:avLst/>
              </a:prstGeom>
              <a:noFill/>
            </p:spPr>
            <p:txBody>
              <a:bodyPr wrap="square" rtlCol="0">
                <a:spAutoFit/>
              </a:bodyPr>
              <a:lstStyle/>
              <a:p>
                <a:pPr marL="465138"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Determine the product of </a:t>
                </a:r>
                <a14:m>
                  <m:oMath xmlns:m="http://schemas.openxmlformats.org/officeDocument/2006/math">
                    <m:sSup>
                      <m:sSupPr>
                        <m:ctrlPr>
                          <a:rPr lang="en-US" sz="2400" i="1">
                            <a:latin typeface="Cambria Math" panose="02040503050406030204" pitchFamily="18" charset="0"/>
                          </a:rPr>
                        </m:ctrlPr>
                      </m:sSupPr>
                      <m:e>
                        <m:r>
                          <a:rPr lang="en-US" sz="2400" i="1">
                            <a:latin typeface="Cambria Math" panose="02040503050406030204" pitchFamily="18" charset="0"/>
                          </a:rPr>
                          <m:t>(−5</m:t>
                        </m:r>
                        <m:r>
                          <a:rPr lang="en-US" sz="2400" i="1">
                            <a:latin typeface="Cambria Math" panose="02040503050406030204" pitchFamily="18" charset="0"/>
                          </a:rPr>
                          <m:t>𝑚</m:t>
                        </m:r>
                      </m:e>
                      <m:sup>
                        <m:r>
                          <a:rPr lang="en-US" sz="2400" i="1">
                            <a:latin typeface="Cambria Math" panose="02040503050406030204" pitchFamily="18" charset="0"/>
                          </a:rPr>
                          <m:t>3</m:t>
                        </m:r>
                      </m:sup>
                    </m:sSup>
                    <m:sSup>
                      <m:sSupPr>
                        <m:ctrlPr>
                          <a:rPr lang="en-US" sz="2400" i="1">
                            <a:latin typeface="Cambria Math" panose="02040503050406030204" pitchFamily="18" charset="0"/>
                          </a:rPr>
                        </m:ctrlPr>
                      </m:sSupPr>
                      <m:e>
                        <m:r>
                          <a:rPr lang="en-US" sz="2400" i="1">
                            <a:latin typeface="Cambria Math" panose="02040503050406030204" pitchFamily="18" charset="0"/>
                          </a:rPr>
                          <m:t>𝑛</m:t>
                        </m:r>
                      </m:e>
                      <m:sup>
                        <m:r>
                          <a:rPr lang="en-US" sz="2400" i="1">
                            <a:latin typeface="Cambria Math" panose="02040503050406030204" pitchFamily="18" charset="0"/>
                          </a:rPr>
                          <m:t>2</m:t>
                        </m:r>
                      </m:sup>
                    </m:sSup>
                    <m:r>
                      <a:rPr lang="en-US" sz="2400" i="1">
                        <a:latin typeface="Cambria Math" panose="02040503050406030204" pitchFamily="18" charset="0"/>
                      </a:rPr>
                      <m:t>)</m:t>
                    </m:r>
                  </m:oMath>
                </a14:m>
                <a:r>
                  <a:rPr lang="en-US" sz="24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400" i="1">
                        <a:latin typeface="Cambria Math" panose="02040503050406030204" pitchFamily="18" charset="0"/>
                      </a:rPr>
                      <m:t>(−</m:t>
                    </m:r>
                    <m:sSup>
                      <m:sSupPr>
                        <m:ctrlPr>
                          <a:rPr lang="en-US" sz="2400" i="1">
                            <a:latin typeface="Cambria Math" panose="02040503050406030204" pitchFamily="18" charset="0"/>
                          </a:rPr>
                        </m:ctrlPr>
                      </m:sSupPr>
                      <m:e>
                        <m:r>
                          <a:rPr lang="en-US" sz="2400" i="1">
                            <a:latin typeface="Cambria Math" panose="02040503050406030204" pitchFamily="18" charset="0"/>
                          </a:rPr>
                          <m:t>2</m:t>
                        </m:r>
                        <m:r>
                          <a:rPr lang="en-US" sz="2400" i="1">
                            <a:latin typeface="Cambria Math" panose="02040503050406030204" pitchFamily="18" charset="0"/>
                          </a:rPr>
                          <m:t>𝑚</m:t>
                        </m:r>
                      </m:e>
                      <m:sup>
                        <m:r>
                          <a:rPr lang="en-US" sz="2400" i="1">
                            <a:latin typeface="Cambria Math" panose="02040503050406030204" pitchFamily="18" charset="0"/>
                          </a:rPr>
                          <m:t>2</m:t>
                        </m:r>
                      </m:sup>
                    </m:sSup>
                    <m:sSup>
                      <m:sSupPr>
                        <m:ctrlPr>
                          <a:rPr lang="en-US" sz="2400" i="1">
                            <a:latin typeface="Cambria Math" panose="02040503050406030204" pitchFamily="18" charset="0"/>
                          </a:rPr>
                        </m:ctrlPr>
                      </m:sSupPr>
                      <m:e>
                        <m:r>
                          <a:rPr lang="en-US" sz="2400" i="1">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9</m:t>
                            </m:r>
                          </m:num>
                          <m:den>
                            <m:r>
                              <a:rPr lang="en-US" sz="2400" i="1">
                                <a:latin typeface="Cambria Math" panose="02040503050406030204" pitchFamily="18" charset="0"/>
                              </a:rPr>
                              <m:t>5</m:t>
                            </m:r>
                          </m:den>
                        </m:f>
                        <m:r>
                          <a:rPr lang="en-US" sz="2400" i="1">
                            <a:latin typeface="Cambria Math" panose="02040503050406030204" pitchFamily="18" charset="0"/>
                          </a:rPr>
                          <m:t>𝑛</m:t>
                        </m:r>
                      </m:e>
                      <m:sup>
                        <m:r>
                          <a:rPr lang="en-US" sz="2400" i="1">
                            <a:latin typeface="Cambria Math" panose="02040503050406030204" pitchFamily="18" charset="0"/>
                          </a:rPr>
                          <m:t>4</m:t>
                        </m:r>
                      </m:sup>
                    </m:sSup>
                    <m:r>
                      <a:rPr lang="en-US" sz="2400" i="1">
                        <a:latin typeface="Cambria Math" panose="02040503050406030204" pitchFamily="18" charset="0"/>
                      </a:rPr>
                      <m:t>)</m:t>
                    </m:r>
                  </m:oMath>
                </a14:m>
                <a:r>
                  <a:rPr lang="en-US" sz="2400" dirty="0">
                    <a:latin typeface="Verdana" panose="020B0604030504040204" pitchFamily="34" charset="0"/>
                    <a:ea typeface="Verdana" panose="020B0604030504040204" pitchFamily="34" charset="0"/>
                    <a:cs typeface="Verdana" panose="020B0604030504040204" pitchFamily="34" charset="0"/>
                  </a:rPr>
                  <a:t> using both methods in the table.</a:t>
                </a:r>
              </a:p>
              <a:p>
                <a:pPr lvl="0"/>
                <a:endParaRPr lang="en-US" sz="1600" dirty="0"/>
              </a:p>
            </p:txBody>
          </p:sp>
        </mc:Choice>
        <mc:Fallback xmlns="">
          <p:sp>
            <p:nvSpPr>
              <p:cNvPr id="10" name="TextBox 9">
                <a:extLst>
                  <a:ext uri="{FF2B5EF4-FFF2-40B4-BE49-F238E27FC236}">
                    <a16:creationId xmlns:a16="http://schemas.microsoft.com/office/drawing/2014/main" id="{31D40250-DEDD-2C41-8538-3D4DD18CCC4A}"/>
                  </a:ext>
                </a:extLst>
              </p:cNvPr>
              <p:cNvSpPr txBox="1">
                <a:spLocks noRot="1" noChangeAspect="1" noMove="1" noResize="1" noEditPoints="1" noAdjustHandles="1" noChangeArrowheads="1" noChangeShapeType="1" noTextEdit="1"/>
              </p:cNvSpPr>
              <p:nvPr/>
            </p:nvSpPr>
            <p:spPr>
              <a:xfrm>
                <a:off x="981425" y="1663106"/>
                <a:ext cx="9928746" cy="1232517"/>
              </a:xfrm>
              <a:prstGeom prst="rect">
                <a:avLst/>
              </a:prstGeom>
              <a:blipFill>
                <a:blip r:embed="rId5"/>
                <a:stretch>
                  <a:fillRect l="-921"/>
                </a:stretch>
              </a:blipFill>
            </p:spPr>
            <p:txBody>
              <a:bodyPr/>
              <a:lstStyle/>
              <a:p>
                <a:r>
                  <a:rPr lang="en-US">
                    <a:noFill/>
                  </a:rPr>
                  <a:t> </a:t>
                </a:r>
              </a:p>
            </p:txBody>
          </p:sp>
        </mc:Fallback>
      </mc:AlternateContent>
      <p:pic>
        <p:nvPicPr>
          <p:cNvPr id="3" name="Picture 2" descr="Chart, box and whisker chart&#10;&#10;Description automatically generated with medium confidence">
            <a:extLst>
              <a:ext uri="{FF2B5EF4-FFF2-40B4-BE49-F238E27FC236}">
                <a16:creationId xmlns:a16="http://schemas.microsoft.com/office/drawing/2014/main" id="{A050B9B7-CBC8-FD45-8894-482B20CCBB68}"/>
              </a:ext>
            </a:extLst>
          </p:cNvPr>
          <p:cNvPicPr>
            <a:picLocks noChangeAspect="1"/>
          </p:cNvPicPr>
          <p:nvPr/>
        </p:nvPicPr>
        <p:blipFill>
          <a:blip r:embed="rId6"/>
          <a:stretch>
            <a:fillRect/>
          </a:stretch>
        </p:blipFill>
        <p:spPr>
          <a:xfrm>
            <a:off x="3037437" y="2869828"/>
            <a:ext cx="5597114" cy="3389022"/>
          </a:xfrm>
          <a:prstGeom prst="rect">
            <a:avLst/>
          </a:prstGeom>
        </p:spPr>
      </p:pic>
      <p:sp>
        <p:nvSpPr>
          <p:cNvPr id="15" name="Google Shape;282;g104476d1465_1_17">
            <a:extLst>
              <a:ext uri="{FF2B5EF4-FFF2-40B4-BE49-F238E27FC236}">
                <a16:creationId xmlns:a16="http://schemas.microsoft.com/office/drawing/2014/main" id="{CB7C900A-1D5B-C94C-A196-66BDC0755F6D}"/>
              </a:ext>
            </a:extLst>
          </p:cNvPr>
          <p:cNvSpPr txBox="1"/>
          <p:nvPr/>
        </p:nvSpPr>
        <p:spPr>
          <a:xfrm>
            <a:off x="8814788" y="640541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227</a:t>
            </a:r>
            <a:endParaRPr i="1" dirty="0">
              <a:latin typeface="Calibri"/>
              <a:ea typeface="Calibri"/>
              <a:cs typeface="Calibri"/>
              <a:sym typeface="Calibri"/>
            </a:endParaRPr>
          </a:p>
        </p:txBody>
      </p:sp>
    </p:spTree>
    <p:extLst>
      <p:ext uri="{BB962C8B-B14F-4D97-AF65-F5344CB8AC3E}">
        <p14:creationId xmlns:p14="http://schemas.microsoft.com/office/powerpoint/2010/main" val="7455233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05787" y="616979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1027134" y="520393"/>
                <a:ext cx="9933140" cy="830997"/>
              </a:xfrm>
              <a:prstGeom prst="rect">
                <a:avLst/>
              </a:prstGeom>
              <a:noFill/>
            </p:spPr>
            <p:txBody>
              <a:bodyPr wrap="square" rtlCol="0">
                <a:spAutoFit/>
              </a:bodyPr>
              <a:lstStyle/>
              <a:p>
                <a:pPr marL="465138"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Work with your partner to find three expressions equivalent to </a:t>
                </a:r>
                <a14:m>
                  <m:oMath xmlns:m="http://schemas.openxmlformats.org/officeDocument/2006/math">
                    <m:r>
                      <a:rPr lang="en-US" sz="2400" i="1">
                        <a:latin typeface="Cambria Math" panose="02040503050406030204" pitchFamily="18" charset="0"/>
                      </a:rPr>
                      <m:t>3</m:t>
                    </m:r>
                    <m:sSup>
                      <m:sSupPr>
                        <m:ctrlPr>
                          <a:rPr lang="en-US" sz="2400" i="1">
                            <a:latin typeface="Cambria Math" panose="02040503050406030204" pitchFamily="18" charset="0"/>
                          </a:rPr>
                        </m:ctrlPr>
                      </m:sSupPr>
                      <m:e>
                        <m:r>
                          <a:rPr lang="en-US" sz="2400" i="1">
                            <a:latin typeface="Cambria Math" panose="02040503050406030204" pitchFamily="18" charset="0"/>
                          </a:rPr>
                          <m:t>𝑥</m:t>
                        </m:r>
                      </m:e>
                      <m:sup>
                        <m:r>
                          <a:rPr lang="en-US" sz="2400" i="1">
                            <a:latin typeface="Cambria Math" panose="02040503050406030204" pitchFamily="18" charset="0"/>
                          </a:rPr>
                          <m:t>2</m:t>
                        </m:r>
                      </m:sup>
                    </m:sSup>
                    <m:r>
                      <a:rPr lang="en-US" sz="2400" i="1">
                        <a:latin typeface="Cambria Math" panose="02040503050406030204" pitchFamily="18" charset="0"/>
                      </a:rPr>
                      <m:t>(−2</m:t>
                    </m:r>
                    <m:sSup>
                      <m:sSupPr>
                        <m:ctrlPr>
                          <a:rPr lang="en-US" sz="2400" i="1">
                            <a:latin typeface="Cambria Math" panose="02040503050406030204" pitchFamily="18" charset="0"/>
                          </a:rPr>
                        </m:ctrlPr>
                      </m:sSupPr>
                      <m:e>
                        <m:r>
                          <a:rPr lang="en-US" sz="2400" i="1">
                            <a:latin typeface="Cambria Math" panose="02040503050406030204" pitchFamily="18" charset="0"/>
                          </a:rPr>
                          <m:t>𝑥</m:t>
                        </m:r>
                      </m:e>
                      <m:sup>
                        <m:r>
                          <a:rPr lang="en-US" sz="2400" i="1">
                            <a:latin typeface="Cambria Math" panose="02040503050406030204" pitchFamily="18" charset="0"/>
                          </a:rPr>
                          <m:t>3</m:t>
                        </m:r>
                      </m:sup>
                    </m:sSup>
                    <m:r>
                      <a:rPr lang="en-US" sz="2400" i="1">
                        <a:latin typeface="Cambria Math" panose="02040503050406030204" pitchFamily="18" charset="0"/>
                      </a:rPr>
                      <m:t>+</m:t>
                    </m:r>
                    <m:r>
                      <a:rPr lang="en-US" sz="2400" i="1">
                        <a:latin typeface="Cambria Math" panose="02040503050406030204" pitchFamily="18" charset="0"/>
                      </a:rPr>
                      <m:t>𝑥</m:t>
                    </m:r>
                    <m:r>
                      <a:rPr lang="en-US" sz="2400" i="1">
                        <a:latin typeface="Cambria Math" panose="02040503050406030204" pitchFamily="18" charset="0"/>
                      </a:rPr>
                      <m:t>)</m:t>
                    </m:r>
                  </m:oMath>
                </a14:m>
                <a:r>
                  <a:rPr lang="en-US" sz="2400" dirty="0">
                    <a:latin typeface="Verdana" panose="020B0604030504040204" pitchFamily="34" charset="0"/>
                    <a:ea typeface="Verdana" panose="020B0604030504040204" pitchFamily="34" charset="0"/>
                    <a:cs typeface="Verdana" panose="020B0604030504040204" pitchFamily="34" charset="0"/>
                  </a:rPr>
                  <a:t>.</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1027134" y="520393"/>
                <a:ext cx="9933140" cy="830997"/>
              </a:xfrm>
              <a:prstGeom prst="rect">
                <a:avLst/>
              </a:prstGeom>
              <a:blipFill>
                <a:blip r:embed="rId4"/>
                <a:stretch>
                  <a:fillRect l="-859" t="-5839" r="-1288" b="-14599"/>
                </a:stretch>
              </a:blipFill>
            </p:spPr>
            <p:txBody>
              <a:bodyPr/>
              <a:lstStyle/>
              <a:p>
                <a:r>
                  <a:rPr lang="en-US">
                    <a:noFill/>
                  </a:rPr>
                  <a:t> </a:t>
                </a:r>
              </a:p>
            </p:txBody>
          </p:sp>
        </mc:Fallback>
      </mc:AlternateContent>
      <p:sp>
        <p:nvSpPr>
          <p:cNvPr id="6" name="Google Shape;282;g104476d1465_1_17">
            <a:extLst>
              <a:ext uri="{FF2B5EF4-FFF2-40B4-BE49-F238E27FC236}">
                <a16:creationId xmlns:a16="http://schemas.microsoft.com/office/drawing/2014/main" id="{5196E0B8-6F36-C948-A80B-73CB506D2C96}"/>
              </a:ext>
            </a:extLst>
          </p:cNvPr>
          <p:cNvSpPr txBox="1"/>
          <p:nvPr/>
        </p:nvSpPr>
        <p:spPr>
          <a:xfrm>
            <a:off x="8771787" y="6385133"/>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227</a:t>
            </a:r>
            <a:endParaRPr i="1" dirty="0">
              <a:latin typeface="Calibri"/>
              <a:ea typeface="Calibri"/>
              <a:cs typeface="Calibri"/>
              <a:sym typeface="Calibri"/>
            </a:endParaRPr>
          </a:p>
        </p:txBody>
      </p:sp>
    </p:spTree>
    <p:extLst>
      <p:ext uri="{BB962C8B-B14F-4D97-AF65-F5344CB8AC3E}">
        <p14:creationId xmlns:p14="http://schemas.microsoft.com/office/powerpoint/2010/main" val="24222232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18313" y="6129037"/>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027455"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pic>
        <p:nvPicPr>
          <p:cNvPr id="3074" name="Picture 2">
            <a:extLst>
              <a:ext uri="{FF2B5EF4-FFF2-40B4-BE49-F238E27FC236}">
                <a16:creationId xmlns:a16="http://schemas.microsoft.com/office/drawing/2014/main" id="{D0821C8B-4657-A74D-94B5-D6CF373A1741}"/>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3511032"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a:extLst>
              <a:ext uri="{FF2B5EF4-FFF2-40B4-BE49-F238E27FC236}">
                <a16:creationId xmlns:a16="http://schemas.microsoft.com/office/drawing/2014/main" id="{42D9050F-4341-B044-9C58-F73D73835476}"/>
              </a:ext>
            </a:extLst>
          </p:cNvPr>
          <p:cNvSpPr txBox="1"/>
          <p:nvPr/>
        </p:nvSpPr>
        <p:spPr>
          <a:xfrm>
            <a:off x="8713197" y="6386113"/>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228</a:t>
            </a:r>
            <a:endParaRPr i="1" dirty="0">
              <a:latin typeface="Calibri"/>
              <a:ea typeface="Calibri"/>
              <a:cs typeface="Calibri"/>
              <a:sym typeface="Calibri"/>
            </a:endParaRPr>
          </a:p>
        </p:txBody>
      </p:sp>
    </p:spTree>
    <p:extLst>
      <p:ext uri="{BB962C8B-B14F-4D97-AF65-F5344CB8AC3E}">
        <p14:creationId xmlns:p14="http://schemas.microsoft.com/office/powerpoint/2010/main" val="35607887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4050"/>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10558"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567543" y="60325"/>
            <a:ext cx="8971607"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12.3.3 Collaboration: Equivalent Expressions</a:t>
            </a:r>
          </a:p>
        </p:txBody>
      </p:sp>
      <p:pic>
        <p:nvPicPr>
          <p:cNvPr id="9" name="Picture 2">
            <a:extLst>
              <a:ext uri="{FF2B5EF4-FFF2-40B4-BE49-F238E27FC236}">
                <a16:creationId xmlns:a16="http://schemas.microsoft.com/office/drawing/2014/main" id="{A80EBD0F-404F-0B4B-AC09-DA5A6DF6026E}"/>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621717" y="348271"/>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E44DF7DE-9172-3E4E-B74A-7A51585FB6EA}"/>
              </a:ext>
            </a:extLst>
          </p:cNvPr>
          <p:cNvSpPr txBox="1"/>
          <p:nvPr/>
        </p:nvSpPr>
        <p:spPr>
          <a:xfrm>
            <a:off x="1045029" y="1285818"/>
            <a:ext cx="10414659" cy="1446550"/>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Two expressions are shown in the table. For each expression, work with your partner to find as many equivalent expressions as you can.</a:t>
            </a:r>
          </a:p>
          <a:p>
            <a:r>
              <a:rPr lang="en-US" sz="1600" dirty="0"/>
              <a:t> </a:t>
            </a:r>
          </a:p>
        </p:txBody>
      </p:sp>
      <p:pic>
        <p:nvPicPr>
          <p:cNvPr id="3" name="Picture 2" descr="Table&#10;&#10;Description automatically generated">
            <a:extLst>
              <a:ext uri="{FF2B5EF4-FFF2-40B4-BE49-F238E27FC236}">
                <a16:creationId xmlns:a16="http://schemas.microsoft.com/office/drawing/2014/main" id="{202244E2-6078-D14B-8CD7-9E27A3BA304A}"/>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822529" y="2213893"/>
            <a:ext cx="4859658" cy="4383682"/>
          </a:xfrm>
          <a:prstGeom prst="rect">
            <a:avLst/>
          </a:prstGeom>
        </p:spPr>
      </p:pic>
      <p:sp>
        <p:nvSpPr>
          <p:cNvPr id="11" name="Google Shape;282;g104476d1465_1_17">
            <a:extLst>
              <a:ext uri="{FF2B5EF4-FFF2-40B4-BE49-F238E27FC236}">
                <a16:creationId xmlns:a16="http://schemas.microsoft.com/office/drawing/2014/main" id="{EDCBCCE1-0177-4047-A057-D19CEAA462B7}"/>
              </a:ext>
            </a:extLst>
          </p:cNvPr>
          <p:cNvSpPr txBox="1"/>
          <p:nvPr/>
        </p:nvSpPr>
        <p:spPr>
          <a:xfrm>
            <a:off x="8976558" y="63974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228</a:t>
            </a:r>
            <a:endParaRPr i="1" dirty="0">
              <a:latin typeface="Calibri"/>
              <a:ea typeface="Calibri"/>
              <a:cs typeface="Calibri"/>
              <a:sym typeface="Calibri"/>
            </a:endParaRPr>
          </a:p>
        </p:txBody>
      </p:sp>
    </p:spTree>
    <p:extLst>
      <p:ext uri="{BB962C8B-B14F-4D97-AF65-F5344CB8AC3E}">
        <p14:creationId xmlns:p14="http://schemas.microsoft.com/office/powerpoint/2010/main" val="16744370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2454" y="-8225"/>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368208" y="6129037"/>
            <a:ext cx="563850" cy="657276"/>
          </a:xfrm>
          <a:prstGeom prst="rect">
            <a:avLst/>
          </a:prstGeom>
          <a:noFill/>
          <a:ln>
            <a:noFill/>
          </a:ln>
          <a:effectLst>
            <a:outerShdw blurRad="57150" dist="19050" dir="5400000" algn="bl" rotWithShape="0">
              <a:srgbClr val="000000">
                <a:alpha val="50000"/>
              </a:srgbClr>
            </a:outerShdw>
          </a:effectLst>
        </p:spPr>
      </p:pic>
      <p:sp>
        <p:nvSpPr>
          <p:cNvPr id="14" name="TextBox 13">
            <a:extLst>
              <a:ext uri="{FF2B5EF4-FFF2-40B4-BE49-F238E27FC236}">
                <a16:creationId xmlns:a16="http://schemas.microsoft.com/office/drawing/2014/main" id="{2FA392D8-3ED3-7940-83A8-1451AA8A08D4}"/>
              </a:ext>
            </a:extLst>
          </p:cNvPr>
          <p:cNvSpPr txBox="1"/>
          <p:nvPr/>
        </p:nvSpPr>
        <p:spPr>
          <a:xfrm>
            <a:off x="1027134" y="520393"/>
            <a:ext cx="9589692" cy="1200329"/>
          </a:xfrm>
          <a:prstGeom prst="rect">
            <a:avLst/>
          </a:prstGeom>
          <a:noFill/>
        </p:spPr>
        <p:txBody>
          <a:bodyPr wrap="square" rtlCol="0">
            <a:spAutoFit/>
          </a:bodyPr>
          <a:lstStyle/>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Find another partner pair and compare your expressions from the previous question. Discuss any differences and add any additional equivalent expressions to your table. </a:t>
            </a:r>
          </a:p>
        </p:txBody>
      </p:sp>
      <p:sp>
        <p:nvSpPr>
          <p:cNvPr id="6" name="Google Shape;282;g104476d1465_1_17">
            <a:extLst>
              <a:ext uri="{FF2B5EF4-FFF2-40B4-BE49-F238E27FC236}">
                <a16:creationId xmlns:a16="http://schemas.microsoft.com/office/drawing/2014/main" id="{CB9FCDED-E9D2-614B-87CF-7CCC6E9A1417}"/>
              </a:ext>
            </a:extLst>
          </p:cNvPr>
          <p:cNvSpPr txBox="1"/>
          <p:nvPr/>
        </p:nvSpPr>
        <p:spPr>
          <a:xfrm>
            <a:off x="8629983" y="62575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228</a:t>
            </a:r>
            <a:endParaRPr i="1" dirty="0">
              <a:latin typeface="Calibri"/>
              <a:ea typeface="Calibri"/>
              <a:cs typeface="Calibri"/>
              <a:sym typeface="Calibri"/>
            </a:endParaRPr>
          </a:p>
        </p:txBody>
      </p:sp>
    </p:spTree>
    <p:extLst>
      <p:ext uri="{BB962C8B-B14F-4D97-AF65-F5344CB8AC3E}">
        <p14:creationId xmlns:p14="http://schemas.microsoft.com/office/powerpoint/2010/main" val="22269735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226"/>
          </a:xfrm>
          <a:prstGeom prst="rect">
            <a:avLst/>
          </a:prstGeom>
          <a:solidFill>
            <a:srgbClr val="822574"/>
          </a:solidFill>
          <a:ln w="9525" cap="flat" cmpd="sng">
            <a:solidFill>
              <a:srgbClr val="822574"/>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0942324" y="6129037"/>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234820" y="2726335"/>
            <a:ext cx="439693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Activity</a:t>
            </a:r>
            <a:endParaRPr sz="5100" b="1" dirty="0">
              <a:solidFill>
                <a:srgbClr val="33BEA6"/>
              </a:solidFill>
              <a:latin typeface="Verdana"/>
              <a:ea typeface="Verdana"/>
              <a:cs typeface="Verdana"/>
              <a:sym typeface="Verdana"/>
            </a:endParaRPr>
          </a:p>
        </p:txBody>
      </p:sp>
      <p:pic>
        <p:nvPicPr>
          <p:cNvPr id="5122" name="Picture 2" descr="Icon&#10;&#10;Description automatically generated">
            <a:extLst>
              <a:ext uri="{FF2B5EF4-FFF2-40B4-BE49-F238E27FC236}">
                <a16:creationId xmlns:a16="http://schemas.microsoft.com/office/drawing/2014/main" id="{217F3A92-AA2C-4D41-A73D-4DC6608D6820}"/>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3294759" y="2788061"/>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a:extLst>
              <a:ext uri="{FF2B5EF4-FFF2-40B4-BE49-F238E27FC236}">
                <a16:creationId xmlns:a16="http://schemas.microsoft.com/office/drawing/2014/main" id="{F751FEE9-6E56-2E42-B7E5-9E93A4910AA2}"/>
              </a:ext>
            </a:extLst>
          </p:cNvPr>
          <p:cNvSpPr txBox="1"/>
          <p:nvPr/>
        </p:nvSpPr>
        <p:spPr>
          <a:xfrm>
            <a:off x="8191572" y="62575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228</a:t>
            </a:r>
            <a:endParaRPr i="1" dirty="0">
              <a:latin typeface="Calibri"/>
              <a:ea typeface="Calibri"/>
              <a:cs typeface="Calibri"/>
              <a:sym typeface="Calibri"/>
            </a:endParaRPr>
          </a:p>
        </p:txBody>
      </p:sp>
    </p:spTree>
    <p:extLst>
      <p:ext uri="{BB962C8B-B14F-4D97-AF65-F5344CB8AC3E}">
        <p14:creationId xmlns:p14="http://schemas.microsoft.com/office/powerpoint/2010/main" val="28161115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43365" y="6165491"/>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531917" y="60325"/>
            <a:ext cx="9132125"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12.3.4 Activity: Scavenger Hunt</a:t>
            </a:r>
          </a:p>
        </p:txBody>
      </p:sp>
      <p:pic>
        <p:nvPicPr>
          <p:cNvPr id="9" name="Picture 2" descr="Icon&#10;&#10;Description automatically generated">
            <a:extLst>
              <a:ext uri="{FF2B5EF4-FFF2-40B4-BE49-F238E27FC236}">
                <a16:creationId xmlns:a16="http://schemas.microsoft.com/office/drawing/2014/main" id="{37999C4E-6AE0-FA43-BC73-665C08EC572F}"/>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621717" y="348271"/>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A3547ABD-563B-A148-B65C-C7679A7B43D4}"/>
              </a:ext>
            </a:extLst>
          </p:cNvPr>
          <p:cNvSpPr txBox="1"/>
          <p:nvPr/>
        </p:nvSpPr>
        <p:spPr>
          <a:xfrm>
            <a:off x="1045029" y="1386026"/>
            <a:ext cx="9705837" cy="1200329"/>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Work with your partner or group to complete the scavenger hunt. Each card in the scavenger hunt appears as shown.</a:t>
            </a:r>
          </a:p>
          <a:p>
            <a:r>
              <a:rPr lang="en-US" sz="2400" dirty="0">
                <a:latin typeface="Verdana" panose="020B0604030504040204" pitchFamily="34" charset="0"/>
                <a:ea typeface="Verdana" panose="020B0604030504040204" pitchFamily="34" charset="0"/>
                <a:cs typeface="Verdana" panose="020B0604030504040204" pitchFamily="34" charset="0"/>
              </a:rPr>
              <a:t> </a:t>
            </a:r>
          </a:p>
        </p:txBody>
      </p:sp>
      <p:sp>
        <p:nvSpPr>
          <p:cNvPr id="26" name="Google Shape;282;g104476d1465_1_17">
            <a:extLst>
              <a:ext uri="{FF2B5EF4-FFF2-40B4-BE49-F238E27FC236}">
                <a16:creationId xmlns:a16="http://schemas.microsoft.com/office/drawing/2014/main" id="{68ECD333-9449-F847-A5A4-97B9C1E6BD22}"/>
              </a:ext>
            </a:extLst>
          </p:cNvPr>
          <p:cNvSpPr txBox="1"/>
          <p:nvPr/>
        </p:nvSpPr>
        <p:spPr>
          <a:xfrm>
            <a:off x="8809365" y="629402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228</a:t>
            </a:r>
            <a:endParaRPr i="1" dirty="0">
              <a:latin typeface="Calibri"/>
              <a:ea typeface="Calibri"/>
              <a:cs typeface="Calibri"/>
              <a:sym typeface="Calibri"/>
            </a:endParaRPr>
          </a:p>
        </p:txBody>
      </p:sp>
      <p:pic>
        <p:nvPicPr>
          <p:cNvPr id="3" name="Picture 2">
            <a:extLst>
              <a:ext uri="{FF2B5EF4-FFF2-40B4-BE49-F238E27FC236}">
                <a16:creationId xmlns:a16="http://schemas.microsoft.com/office/drawing/2014/main" id="{6E87366D-1C56-E51A-B3DA-08139923EC08}"/>
              </a:ext>
            </a:extLst>
          </p:cNvPr>
          <p:cNvPicPr>
            <a:picLocks noChangeAspect="1"/>
          </p:cNvPicPr>
          <p:nvPr/>
        </p:nvPicPr>
        <p:blipFill>
          <a:blip r:embed="rId5"/>
          <a:stretch>
            <a:fillRect/>
          </a:stretch>
        </p:blipFill>
        <p:spPr>
          <a:xfrm>
            <a:off x="2285729" y="2270991"/>
            <a:ext cx="6180285" cy="3096051"/>
          </a:xfrm>
          <a:prstGeom prst="rect">
            <a:avLst/>
          </a:prstGeom>
        </p:spPr>
      </p:pic>
    </p:spTree>
    <p:extLst>
      <p:ext uri="{BB962C8B-B14F-4D97-AF65-F5344CB8AC3E}">
        <p14:creationId xmlns:p14="http://schemas.microsoft.com/office/powerpoint/2010/main" val="40699352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80943" y="6129037"/>
            <a:ext cx="563850" cy="657276"/>
          </a:xfrm>
          <a:prstGeom prst="rect">
            <a:avLst/>
          </a:prstGeom>
          <a:noFill/>
          <a:ln>
            <a:noFill/>
          </a:ln>
          <a:effectLst>
            <a:outerShdw blurRad="57150" dist="19050" dir="5400000" algn="bl" rotWithShape="0">
              <a:srgbClr val="000000">
                <a:alpha val="50000"/>
              </a:srgbClr>
            </a:outerShdw>
          </a:effectLst>
        </p:spPr>
      </p:pic>
      <p:sp>
        <p:nvSpPr>
          <p:cNvPr id="14" name="TextBox 13">
            <a:extLst>
              <a:ext uri="{FF2B5EF4-FFF2-40B4-BE49-F238E27FC236}">
                <a16:creationId xmlns:a16="http://schemas.microsoft.com/office/drawing/2014/main" id="{2FA392D8-3ED3-7940-83A8-1451AA8A08D4}"/>
              </a:ext>
            </a:extLst>
          </p:cNvPr>
          <p:cNvSpPr txBox="1"/>
          <p:nvPr/>
        </p:nvSpPr>
        <p:spPr>
          <a:xfrm>
            <a:off x="1027134" y="520393"/>
            <a:ext cx="10146082" cy="4893647"/>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Write the number of the problem you start with and the given expression in the first row of the table. Then, work with your group or partner to find the product of the given expression.</a:t>
            </a: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Look for the card with your product from the previous problem to find your next problem. </a:t>
            </a: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Repeat this process until your group has completed all the scavenger hunt problems and have ended up back at your original problem.</a:t>
            </a:r>
          </a:p>
        </p:txBody>
      </p:sp>
      <p:sp>
        <p:nvSpPr>
          <p:cNvPr id="6" name="Google Shape;282;g104476d1465_1_17">
            <a:extLst>
              <a:ext uri="{FF2B5EF4-FFF2-40B4-BE49-F238E27FC236}">
                <a16:creationId xmlns:a16="http://schemas.microsoft.com/office/drawing/2014/main" id="{6FB77452-CF58-2E4E-BF33-E2DABD68FB0A}"/>
              </a:ext>
            </a:extLst>
          </p:cNvPr>
          <p:cNvSpPr txBox="1"/>
          <p:nvPr/>
        </p:nvSpPr>
        <p:spPr>
          <a:xfrm>
            <a:off x="8846943" y="62575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228</a:t>
            </a:r>
            <a:endParaRPr i="1" dirty="0">
              <a:latin typeface="Calibri"/>
              <a:ea typeface="Calibri"/>
              <a:cs typeface="Calibri"/>
              <a:sym typeface="Calibri"/>
            </a:endParaRPr>
          </a:p>
        </p:txBody>
      </p:sp>
    </p:spTree>
    <p:extLst>
      <p:ext uri="{BB962C8B-B14F-4D97-AF65-F5344CB8AC3E}">
        <p14:creationId xmlns:p14="http://schemas.microsoft.com/office/powerpoint/2010/main" val="21823201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357288" y="6158389"/>
            <a:ext cx="563850" cy="657276"/>
          </a:xfrm>
          <a:prstGeom prst="rect">
            <a:avLst/>
          </a:prstGeom>
          <a:noFill/>
          <a:ln>
            <a:noFill/>
          </a:ln>
          <a:effectLst>
            <a:outerShdw blurRad="57150" dist="19050" dir="5400000" algn="bl" rotWithShape="0">
              <a:srgbClr val="000000">
                <a:alpha val="50000"/>
              </a:srgbClr>
            </a:outerShdw>
          </a:effectLst>
        </p:spPr>
      </p:pic>
      <p:sp>
        <p:nvSpPr>
          <p:cNvPr id="18" name="Google Shape;282;g104476d1465_1_17">
            <a:extLst>
              <a:ext uri="{FF2B5EF4-FFF2-40B4-BE49-F238E27FC236}">
                <a16:creationId xmlns:a16="http://schemas.microsoft.com/office/drawing/2014/main" id="{1A928C4A-AAE3-E147-A319-95443B559609}"/>
              </a:ext>
            </a:extLst>
          </p:cNvPr>
          <p:cNvSpPr txBox="1"/>
          <p:nvPr/>
        </p:nvSpPr>
        <p:spPr>
          <a:xfrm>
            <a:off x="8723288" y="628692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229</a:t>
            </a:r>
            <a:endParaRPr i="1" dirty="0">
              <a:latin typeface="Calibri"/>
              <a:ea typeface="Calibri"/>
              <a:cs typeface="Calibri"/>
              <a:sym typeface="Calibri"/>
            </a:endParaRPr>
          </a:p>
        </p:txBody>
      </p:sp>
      <p:pic>
        <p:nvPicPr>
          <p:cNvPr id="4" name="Picture 3">
            <a:extLst>
              <a:ext uri="{FF2B5EF4-FFF2-40B4-BE49-F238E27FC236}">
                <a16:creationId xmlns:a16="http://schemas.microsoft.com/office/drawing/2014/main" id="{1BAC32A7-DCBE-188A-D992-0531F369EA96}"/>
              </a:ext>
            </a:extLst>
          </p:cNvPr>
          <p:cNvPicPr>
            <a:picLocks noChangeAspect="1"/>
          </p:cNvPicPr>
          <p:nvPr/>
        </p:nvPicPr>
        <p:blipFill>
          <a:blip r:embed="rId4"/>
          <a:stretch>
            <a:fillRect/>
          </a:stretch>
        </p:blipFill>
        <p:spPr>
          <a:xfrm>
            <a:off x="3468712" y="103866"/>
            <a:ext cx="4839037" cy="6754134"/>
          </a:xfrm>
          <a:prstGeom prst="rect">
            <a:avLst/>
          </a:prstGeom>
        </p:spPr>
      </p:pic>
    </p:spTree>
    <p:extLst>
      <p:ext uri="{BB962C8B-B14F-4D97-AF65-F5344CB8AC3E}">
        <p14:creationId xmlns:p14="http://schemas.microsoft.com/office/powerpoint/2010/main" val="21578498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778"/>
            <a:ext cx="2731200" cy="6875556"/>
          </a:xfrm>
          <a:prstGeom prst="rect">
            <a:avLst/>
          </a:prstGeom>
          <a:solidFill>
            <a:srgbClr val="822574"/>
          </a:solidFill>
          <a:ln w="9525" cap="flat" cmpd="sng">
            <a:solidFill>
              <a:srgbClr val="822574"/>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380734" y="6200599"/>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385445" y="2779099"/>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3377146" y="2933693"/>
            <a:ext cx="1008299" cy="1016513"/>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a:extLst>
              <a:ext uri="{FF2B5EF4-FFF2-40B4-BE49-F238E27FC236}">
                <a16:creationId xmlns:a16="http://schemas.microsoft.com/office/drawing/2014/main" id="{82B06443-D3CC-514D-8771-2862FBA9C27A}"/>
              </a:ext>
            </a:extLst>
          </p:cNvPr>
          <p:cNvSpPr txBox="1"/>
          <p:nvPr/>
        </p:nvSpPr>
        <p:spPr>
          <a:xfrm>
            <a:off x="8746734" y="631651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229</a:t>
            </a:r>
            <a:endParaRPr i="1" dirty="0">
              <a:latin typeface="Calibri"/>
              <a:ea typeface="Calibri"/>
              <a:cs typeface="Calibri"/>
              <a:sym typeface="Calibri"/>
            </a:endParaRPr>
          </a:p>
        </p:txBody>
      </p:sp>
    </p:spTree>
    <p:extLst>
      <p:ext uri="{BB962C8B-B14F-4D97-AF65-F5344CB8AC3E}">
        <p14:creationId xmlns:p14="http://schemas.microsoft.com/office/powerpoint/2010/main" val="6769087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1086" y="-8225"/>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380734" y="6129037"/>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700126" y="-72129"/>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000" b="1" dirty="0">
                <a:solidFill>
                  <a:srgbClr val="3F2A67"/>
                </a:solidFill>
                <a:latin typeface="Verdana"/>
                <a:ea typeface="Verdana"/>
                <a:cs typeface="Verdana"/>
                <a:sym typeface="Verdana"/>
              </a:rPr>
              <a:t>12.3.5 Wrap-Up: Reflection</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670694" y="206629"/>
            <a:ext cx="747300" cy="747300"/>
          </a:xfrm>
          <a:prstGeom prst="rect">
            <a:avLst/>
          </a:prstGeom>
          <a:no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a16="http://schemas.microsoft.com/office/drawing/2014/main" id="{0370EDB7-6994-3D43-ABF9-E04CBAFB9CD9}"/>
              </a:ext>
            </a:extLst>
          </p:cNvPr>
          <p:cNvSpPr txBox="1"/>
          <p:nvPr/>
        </p:nvSpPr>
        <p:spPr>
          <a:xfrm>
            <a:off x="1045029" y="1386025"/>
            <a:ext cx="9342555" cy="1631216"/>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Draw an </a:t>
            </a:r>
            <a:r>
              <a:rPr lang="en-US" sz="2000" b="1" dirty="0">
                <a:latin typeface="Verdana" panose="020B0604030504040204" pitchFamily="34" charset="0"/>
                <a:ea typeface="Verdana" panose="020B0604030504040204" pitchFamily="34" charset="0"/>
                <a:cs typeface="Verdana" panose="020B0604030504040204" pitchFamily="34" charset="0"/>
              </a:rPr>
              <a:t>X</a:t>
            </a:r>
            <a:r>
              <a:rPr lang="en-US" sz="2000" dirty="0">
                <a:latin typeface="Verdana" panose="020B0604030504040204" pitchFamily="34" charset="0"/>
                <a:ea typeface="Verdana" panose="020B0604030504040204" pitchFamily="34" charset="0"/>
                <a:cs typeface="Verdana" panose="020B0604030504040204" pitchFamily="34" charset="0"/>
              </a:rPr>
              <a:t> on the line to indicate how you feel about today’s learning target.</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a:r>
              <a:rPr lang="en-US" sz="2000" dirty="0">
                <a:latin typeface="Verdana" panose="020B0604030504040204" pitchFamily="34" charset="0"/>
                <a:ea typeface="Verdana" panose="020B0604030504040204" pitchFamily="34" charset="0"/>
                <a:cs typeface="Verdana" panose="020B0604030504040204" pitchFamily="34" charset="0"/>
              </a:rPr>
              <a:t>I can apply properties of operations to multiply two algebraic expressions.</a:t>
            </a:r>
          </a:p>
        </p:txBody>
      </p:sp>
      <p:cxnSp>
        <p:nvCxnSpPr>
          <p:cNvPr id="8" name="Straight Arrow Connector 7">
            <a:extLst>
              <a:ext uri="{FF2B5EF4-FFF2-40B4-BE49-F238E27FC236}">
                <a16:creationId xmlns:a16="http://schemas.microsoft.com/office/drawing/2014/main" id="{149D81AA-B62D-AA4B-AF41-DFFFD8EF3802}"/>
              </a:ext>
            </a:extLst>
          </p:cNvPr>
          <p:cNvCxnSpPr/>
          <p:nvPr/>
        </p:nvCxnSpPr>
        <p:spPr>
          <a:xfrm>
            <a:off x="2719978" y="3429000"/>
            <a:ext cx="6619875" cy="0"/>
          </a:xfrm>
          <a:prstGeom prst="straightConnector1">
            <a:avLst/>
          </a:prstGeom>
          <a:ln w="38100">
            <a:solidFill>
              <a:schemeClr val="tx1"/>
            </a:solidFill>
            <a:headEnd type="triangle"/>
            <a:tailEnd type="triangle"/>
          </a:ln>
          <a:effectLst/>
        </p:spPr>
        <p:style>
          <a:lnRef idx="2">
            <a:schemeClr val="dk1"/>
          </a:lnRef>
          <a:fillRef idx="0">
            <a:schemeClr val="dk1"/>
          </a:fillRef>
          <a:effectRef idx="1">
            <a:schemeClr val="dk1"/>
          </a:effectRef>
          <a:fontRef idx="minor">
            <a:schemeClr val="tx1"/>
          </a:fontRef>
        </p:style>
      </p:cxnSp>
      <p:sp>
        <p:nvSpPr>
          <p:cNvPr id="3" name="Rectangle 1">
            <a:extLst>
              <a:ext uri="{FF2B5EF4-FFF2-40B4-BE49-F238E27FC236}">
                <a16:creationId xmlns:a16="http://schemas.microsoft.com/office/drawing/2014/main" id="{8D158F62-466C-D747-BAF9-42CB4BD8665F}"/>
              </a:ext>
            </a:extLst>
          </p:cNvPr>
          <p:cNvSpPr>
            <a:spLocks noChangeArrowheads="1"/>
          </p:cNvSpPr>
          <p:nvPr/>
        </p:nvSpPr>
        <p:spPr bwMode="auto">
          <a:xfrm>
            <a:off x="2719978" y="375988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 name="Rectangle 3">
            <a:extLst>
              <a:ext uri="{FF2B5EF4-FFF2-40B4-BE49-F238E27FC236}">
                <a16:creationId xmlns:a16="http://schemas.microsoft.com/office/drawing/2014/main" id="{AB2EBFFD-524B-214C-9E14-50AF4E7E8589}"/>
              </a:ext>
            </a:extLst>
          </p:cNvPr>
          <p:cNvSpPr/>
          <p:nvPr/>
        </p:nvSpPr>
        <p:spPr>
          <a:xfrm>
            <a:off x="1045029" y="5547744"/>
            <a:ext cx="7331527" cy="400110"/>
          </a:xfrm>
          <a:prstGeom prst="rect">
            <a:avLst/>
          </a:prstGeom>
        </p:spPr>
        <p:txBody>
          <a:bodyPr wrap="square">
            <a:spAutoFit/>
          </a:bodyPr>
          <a:lstStyle/>
          <a:p>
            <a:pPr marL="457200" indent="-457200">
              <a:buSzPct val="100000"/>
              <a:buFont typeface="+mj-lt"/>
              <a:buAutoNum type="arabicPeriod" startAt="2"/>
            </a:pPr>
            <a:r>
              <a:rPr lang="en-US" sz="2000" dirty="0">
                <a:latin typeface="Verdana" panose="020B0604030504040204" pitchFamily="34" charset="0"/>
                <a:ea typeface="Times New Roman" panose="02020603050405020304" pitchFamily="18" charset="0"/>
                <a:cs typeface="Times New Roman" panose="02020603050405020304" pitchFamily="18" charset="0"/>
              </a:rPr>
              <a:t>Explain your placement of “X” on the scale.</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D2F0CA24-DD90-5B4C-A926-C7BCF4415285}"/>
              </a:ext>
            </a:extLst>
          </p:cNvPr>
          <p:cNvSpPr/>
          <p:nvPr/>
        </p:nvSpPr>
        <p:spPr>
          <a:xfrm>
            <a:off x="2852149" y="3429001"/>
            <a:ext cx="2365829" cy="1323439"/>
          </a:xfrm>
          <a:prstGeom prst="rect">
            <a:avLst/>
          </a:prstGeom>
        </p:spPr>
        <p:txBody>
          <a:bodyPr wrap="square">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I need help.</a:t>
            </a:r>
          </a:p>
          <a:p>
            <a:r>
              <a:rPr lang="en-US" sz="2000" dirty="0">
                <a:latin typeface="Verdana" panose="020B0604030504040204" pitchFamily="34" charset="0"/>
                <a:ea typeface="Verdana" panose="020B0604030504040204" pitchFamily="34" charset="0"/>
                <a:cs typeface="Verdana" panose="020B0604030504040204" pitchFamily="34" charset="0"/>
              </a:rPr>
              <a:t>I can’t multiply two algebraic expressions.</a:t>
            </a:r>
          </a:p>
        </p:txBody>
      </p:sp>
      <p:sp>
        <p:nvSpPr>
          <p:cNvPr id="6" name="Rectangle 5">
            <a:extLst>
              <a:ext uri="{FF2B5EF4-FFF2-40B4-BE49-F238E27FC236}">
                <a16:creationId xmlns:a16="http://schemas.microsoft.com/office/drawing/2014/main" id="{1F4F4498-077F-6A40-BF8A-8AB391FBAE67}"/>
              </a:ext>
            </a:extLst>
          </p:cNvPr>
          <p:cNvSpPr/>
          <p:nvPr/>
        </p:nvSpPr>
        <p:spPr>
          <a:xfrm>
            <a:off x="5225144" y="3437687"/>
            <a:ext cx="1653155" cy="707886"/>
          </a:xfrm>
          <a:prstGeom prst="rect">
            <a:avLst/>
          </a:prstGeom>
        </p:spPr>
        <p:txBody>
          <a:bodyPr wrap="square">
            <a:spAutoFit/>
          </a:bodyPr>
          <a:lstStyle/>
          <a:p>
            <a:pPr algn="ctr"/>
            <a:r>
              <a:rPr lang="en-US" sz="2000" dirty="0">
                <a:latin typeface="Verdana" panose="020B0604030504040204" pitchFamily="34" charset="0"/>
                <a:ea typeface="Verdana" panose="020B0604030504040204" pitchFamily="34" charset="0"/>
                <a:cs typeface="Verdana" panose="020B0604030504040204" pitchFamily="34" charset="0"/>
              </a:rPr>
              <a:t>I’m getting there.</a:t>
            </a:r>
          </a:p>
        </p:txBody>
      </p:sp>
      <p:sp>
        <p:nvSpPr>
          <p:cNvPr id="10" name="Rectangle 9">
            <a:extLst>
              <a:ext uri="{FF2B5EF4-FFF2-40B4-BE49-F238E27FC236}">
                <a16:creationId xmlns:a16="http://schemas.microsoft.com/office/drawing/2014/main" id="{E0B8E2B4-0BAD-B747-9538-259E880BFEC2}"/>
              </a:ext>
            </a:extLst>
          </p:cNvPr>
          <p:cNvSpPr/>
          <p:nvPr/>
        </p:nvSpPr>
        <p:spPr>
          <a:xfrm>
            <a:off x="7341927" y="3468821"/>
            <a:ext cx="1838426" cy="1015663"/>
          </a:xfrm>
          <a:prstGeom prst="rect">
            <a:avLst/>
          </a:prstGeom>
        </p:spPr>
        <p:txBody>
          <a:bodyPr wrap="square">
            <a:spAutoFit/>
          </a:bodyPr>
          <a:lstStyle/>
          <a:p>
            <a:pPr algn="r"/>
            <a:r>
              <a:rPr lang="en-US" sz="2000" dirty="0">
                <a:latin typeface="Verdana" panose="020B0604030504040204" pitchFamily="34" charset="0"/>
                <a:ea typeface="Verdana" panose="020B0604030504040204" pitchFamily="34" charset="0"/>
                <a:cs typeface="Verdana" panose="020B0604030504040204" pitchFamily="34" charset="0"/>
              </a:rPr>
              <a:t>I understand and have evidence.</a:t>
            </a:r>
          </a:p>
        </p:txBody>
      </p:sp>
      <p:sp>
        <p:nvSpPr>
          <p:cNvPr id="15" name="Google Shape;282;g104476d1465_1_17">
            <a:extLst>
              <a:ext uri="{FF2B5EF4-FFF2-40B4-BE49-F238E27FC236}">
                <a16:creationId xmlns:a16="http://schemas.microsoft.com/office/drawing/2014/main" id="{A48E6E2A-4FF0-F144-8B85-515F3646A2C3}"/>
              </a:ext>
            </a:extLst>
          </p:cNvPr>
          <p:cNvSpPr txBox="1"/>
          <p:nvPr/>
        </p:nvSpPr>
        <p:spPr>
          <a:xfrm>
            <a:off x="8746734" y="62575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229</a:t>
            </a:r>
            <a:endParaRPr i="1" dirty="0">
              <a:latin typeface="Calibri"/>
              <a:ea typeface="Calibri"/>
              <a:cs typeface="Calibri"/>
              <a:sym typeface="Calibri"/>
            </a:endParaRPr>
          </a:p>
        </p:txBody>
      </p:sp>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1460</TotalTime>
  <Words>588</Words>
  <Application>Microsoft Office PowerPoint</Application>
  <PresentationFormat>Widescreen</PresentationFormat>
  <Paragraphs>89</Paragraphs>
  <Slides>18</Slides>
  <Notes>18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18</vt:i4>
      </vt:variant>
    </vt:vector>
  </HeadingPairs>
  <TitlesOfParts>
    <vt:vector size="27" baseType="lpstr">
      <vt:lpstr>Verdana</vt:lpstr>
      <vt:lpstr>Century Gothic</vt:lpstr>
      <vt:lpstr>Arial</vt:lpstr>
      <vt:lpstr>Cambria Math</vt:lpstr>
      <vt:lpstr>Wingdings</vt:lpstr>
      <vt:lpstr>Calibri</vt:lpstr>
      <vt:lpstr>Cambria</vt:lpstr>
      <vt:lpstr>Arial Black</vt:lpstr>
      <vt:lpstr>1_Office Theme</vt:lpstr>
      <vt:lpstr>8th Grade Math: Pre-Algebra  Unit 12, Lesson 3  Multiplying Algebraic Expressions  Volume 2, pg. 226  </vt:lpstr>
      <vt:lpstr>Benchmarks</vt:lpstr>
      <vt:lpstr>PowerPoint Presentation</vt:lpstr>
      <vt:lpstr>PowerPoint Presentation</vt:lpstr>
      <vt:lpstr>Warm-Up</vt:lpstr>
      <vt:lpstr>PowerPoint Presentation</vt:lpstr>
      <vt:lpstr>Guided Practice</vt:lpstr>
      <vt:lpstr>PowerPoint Presentation</vt:lpstr>
      <vt:lpstr>PowerPoint Presentation</vt:lpstr>
      <vt:lpstr>Collaboration</vt:lpstr>
      <vt:lpstr>PowerPoint Presentation</vt:lpstr>
      <vt:lpstr>PowerPoint Presentation</vt:lpstr>
      <vt:lpstr>Activity</vt:lpstr>
      <vt:lpstr>PowerPoint Presentation</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Cassie O'Connor</cp:lastModifiedBy>
  <cp:revision>33</cp:revision>
  <dcterms:created xsi:type="dcterms:W3CDTF">2015-03-17T18:51:18Z</dcterms:created>
  <dcterms:modified xsi:type="dcterms:W3CDTF">2022-07-21T00:37:34Z</dcterms:modified>
</cp:coreProperties>
</file>