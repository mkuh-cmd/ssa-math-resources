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26" r:id="rId8"/>
    <p:sldId id="327" r:id="rId9"/>
    <p:sldId id="368" r:id="rId10"/>
    <p:sldId id="289" r:id="rId11"/>
    <p:sldId id="290" r:id="rId12"/>
    <p:sldId id="366" r:id="rId13"/>
    <p:sldId id="372" r:id="rId14"/>
    <p:sldId id="373" r:id="rId15"/>
    <p:sldId id="374" r:id="rId16"/>
    <p:sldId id="375" r:id="rId17"/>
    <p:sldId id="376" r:id="rId18"/>
    <p:sldId id="323" r:id="rId19"/>
    <p:sldId id="324" r:id="rId20"/>
    <p:sldId id="302" r:id="rId21"/>
    <p:sldId id="303" r:id="rId22"/>
    <p:sldId id="306" r:id="rId23"/>
    <p:sldId id="307" r:id="rId24"/>
    <p:sldId id="371" r:id="rId25"/>
  </p:sldIdLst>
  <p:sldSz cx="12192000" cy="6858000"/>
  <p:notesSz cx="6858000" cy="9144000"/>
  <p:embeddedFontLst>
    <p:embeddedFont>
      <p:font typeface="Arial Black" panose="020B0A04020102020204" pitchFamily="34" charset="0"/>
      <p:regular r:id="rId27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9"/>
    <p:restoredTop sz="94709"/>
  </p:normalViewPr>
  <p:slideViewPr>
    <p:cSldViewPr snapToGrid="0">
      <p:cViewPr varScale="1">
        <p:scale>
          <a:sx n="55" d="100"/>
          <a:sy n="55" d="100"/>
        </p:scale>
        <p:origin x="18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8335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1173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2588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4831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0359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9399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5582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4010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04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53338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0877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4071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433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99392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46891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8887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34481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8071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https://lh4.googleusercontent.com/bG1UVMbSC4SdYyLzuGQkvAhqqVTEWLwfYIEIpJp0B-K--Rnj0hA-wSKftSYYK6OfuiL2UuPnZTt0WCbEGKMALPhesEI7-HtOICwWif88YsGKTZvCoIputESI9ivPLmytxuAGoYkD" TargetMode="Externa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7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Evaluating Expressions with Radicals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246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83901" y="136525"/>
            <a:ext cx="8007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60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56904" y="1600200"/>
            <a:ext cx="1006829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MA.8.NSO.1.7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multi-step mathematical and real-world problems involving the order of operations with rational numbers, including exponents and radicals.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50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36700" y="129667"/>
            <a:ext cx="83328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56904" y="1596390"/>
            <a:ext cx="1006829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9A55B75-BB3E-FD35-C66D-E702F848B7C1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3F5684EF-720F-2D73-B8A3-BF1623FA658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833274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8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524000" y="1498651"/>
            <a:ext cx="96012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problems involving the order of operations with rational numbers, including exponents and radicals.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FEF3315-483D-C647-188B-57710D3976A2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77337FD-7082-C00B-CD4E-DFFEC7A9EED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625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1580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935DB8A-AAC8-431F-ACFC-8D999BB96CC5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1A4352D7-9101-1716-5B63-9AC091B2BCB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436" y="28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75174" y="60325"/>
            <a:ext cx="89639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12.7.1 Warm-Up: Square Root Expression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666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068779" y="1386025"/>
                <a:ext cx="10069121" cy="4837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Place a digit in each blue box to create an expression with a value as close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possible. Use only the digits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through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at most one time each.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 panose="02040503050406030204" pitchFamily="18" charset="0"/>
                            </a:rPr>
                            <m:t>       </m:t>
                          </m:r>
                        </m:e>
                      </m:rad>
                      <m:r>
                        <a:rPr lang="en-US" sz="6000" i="1">
                          <a:latin typeface="Cambria Math" panose="02040503050406030204" pitchFamily="18" charset="0"/>
                        </a:rPr>
                        <m:t>− </m:t>
                      </m:r>
                      <m:rad>
                        <m:radPr>
                          <m:degHide m:val="on"/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 panose="02040503050406030204" pitchFamily="18" charset="0"/>
                            </a:rPr>
                            <m:t>       </m:t>
                          </m:r>
                        </m:e>
                      </m:rad>
                      <m:r>
                        <a:rPr lang="en-US" sz="6000" i="1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6000" i="1">
                              <a:latin typeface="Cambria Math" panose="02040503050406030204" pitchFamily="18" charset="0"/>
                            </a:rPr>
                            <m:t>    </m:t>
                          </m:r>
                        </m:e>
                      </m:rad>
                    </m:oMath>
                  </m:oMathPara>
                </a14:m>
                <a:endParaRPr lang="en-US" sz="6000" dirty="0"/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08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your strategy in determining where to put the numbers. </a:t>
                </a:r>
              </a:p>
              <a:p>
                <a:pPr marL="914400" indent="-4508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08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08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your expression?</a:t>
                </a:r>
              </a:p>
              <a:p>
                <a:pPr marL="914400" indent="-4508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08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08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Create another expression that is as close or closer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your first.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79" y="1386025"/>
                <a:ext cx="10069121" cy="4837093"/>
              </a:xfrm>
              <a:prstGeom prst="rect">
                <a:avLst/>
              </a:prstGeom>
              <a:blipFill>
                <a:blip r:embed="rId4"/>
                <a:stretch>
                  <a:fillRect l="-666" t="-756" b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50764C09-05C9-BD44-B970-D827B9463991}"/>
              </a:ext>
            </a:extLst>
          </p:cNvPr>
          <p:cNvSpPr>
            <a:spLocks noChangeAspect="1"/>
          </p:cNvSpPr>
          <p:nvPr/>
        </p:nvSpPr>
        <p:spPr>
          <a:xfrm>
            <a:off x="3471437" y="2784148"/>
            <a:ext cx="457200" cy="45720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45E4E1-3B3A-774B-9E1D-B7E8E5AE8EB3}"/>
              </a:ext>
            </a:extLst>
          </p:cNvPr>
          <p:cNvSpPr>
            <a:spLocks noChangeAspect="1"/>
          </p:cNvSpPr>
          <p:nvPr/>
        </p:nvSpPr>
        <p:spPr>
          <a:xfrm>
            <a:off x="4002473" y="2784148"/>
            <a:ext cx="457200" cy="45720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3FB5CE-8E4F-8041-A93F-D600B3D1DB22}"/>
              </a:ext>
            </a:extLst>
          </p:cNvPr>
          <p:cNvSpPr>
            <a:spLocks noChangeAspect="1"/>
          </p:cNvSpPr>
          <p:nvPr/>
        </p:nvSpPr>
        <p:spPr>
          <a:xfrm>
            <a:off x="6204707" y="2784148"/>
            <a:ext cx="457200" cy="45720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F671EA-F0AD-714B-AC0D-74DF76D0ADE9}"/>
              </a:ext>
            </a:extLst>
          </p:cNvPr>
          <p:cNvSpPr>
            <a:spLocks noChangeAspect="1"/>
          </p:cNvSpPr>
          <p:nvPr/>
        </p:nvSpPr>
        <p:spPr>
          <a:xfrm>
            <a:off x="6761171" y="2784148"/>
            <a:ext cx="457200" cy="45720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24E687-303C-5444-82EA-C740863AFA65}"/>
              </a:ext>
            </a:extLst>
          </p:cNvPr>
          <p:cNvSpPr>
            <a:spLocks noChangeAspect="1"/>
          </p:cNvSpPr>
          <p:nvPr/>
        </p:nvSpPr>
        <p:spPr>
          <a:xfrm>
            <a:off x="9013555" y="2784148"/>
            <a:ext cx="457200" cy="45720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1BB6AB9-950C-B402-DE65-E895E443CA8F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>
            <a:extLst>
              <a:ext uri="{FF2B5EF4-FFF2-40B4-BE49-F238E27FC236}">
                <a16:creationId xmlns:a16="http://schemas.microsoft.com/office/drawing/2014/main" id="{78143833-61BB-889E-35E7-98BB64498AE6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10462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4759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DE3AFE4-29E6-8646-A05B-F2C238154473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493A0260-6157-985D-C7C3-35A57FC9A8C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785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516728" y="125492"/>
            <a:ext cx="96189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12.7.2 Refresher: Order of Operations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6920" y="34426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51FF2-AD43-3B4B-B9DE-330920D33388}"/>
              </a:ext>
            </a:extLst>
          </p:cNvPr>
          <p:cNvSpPr txBox="1"/>
          <p:nvPr/>
        </p:nvSpPr>
        <p:spPr>
          <a:xfrm>
            <a:off x="1056362" y="1386026"/>
            <a:ext cx="100792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Recall that the order of operations is an agreed-upon set of rules for how to evaluate an expression.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number each operation so that the operations are in the correct order.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4">
                <a:extLst>
                  <a:ext uri="{FF2B5EF4-FFF2-40B4-BE49-F238E27FC236}">
                    <a16:creationId xmlns:a16="http://schemas.microsoft.com/office/drawing/2014/main" id="{E26AA84C-6B40-AD49-8557-DE76A345F837}"/>
                  </a:ext>
                </a:extLst>
              </p:cNvPr>
              <p:cNvSpPr txBox="1"/>
              <p:nvPr/>
            </p:nvSpPr>
            <p:spPr>
              <a:xfrm>
                <a:off x="3695700" y="3086100"/>
                <a:ext cx="5029200" cy="685800"/>
              </a:xfrm>
              <a:prstGeom prst="rect">
                <a:avLst/>
              </a:prstGeom>
              <a:noFill/>
              <a:ln w="1270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Perform multiplication and division in order from left to right. (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" name="Text Box 24">
                <a:extLst>
                  <a:ext uri="{FF2B5EF4-FFF2-40B4-BE49-F238E27FC236}">
                    <a16:creationId xmlns:a16="http://schemas.microsoft.com/office/drawing/2014/main" id="{E26AA84C-6B40-AD49-8557-DE76A345F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700" y="3086100"/>
                <a:ext cx="5029200" cy="685800"/>
              </a:xfrm>
              <a:prstGeom prst="rect">
                <a:avLst/>
              </a:prstGeom>
              <a:blipFill>
                <a:blip r:embed="rId5"/>
                <a:stretch>
                  <a:fillRect l="-1005" t="-3571" r="-1005" b="-16071"/>
                </a:stretch>
              </a:blipFill>
              <a:ln w="1270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25">
            <a:extLst>
              <a:ext uri="{FF2B5EF4-FFF2-40B4-BE49-F238E27FC236}">
                <a16:creationId xmlns:a16="http://schemas.microsoft.com/office/drawing/2014/main" id="{30C79A60-5628-F140-957C-871157AA512E}"/>
              </a:ext>
            </a:extLst>
          </p:cNvPr>
          <p:cNvSpPr txBox="1"/>
          <p:nvPr/>
        </p:nvSpPr>
        <p:spPr>
          <a:xfrm>
            <a:off x="3709416" y="3988905"/>
            <a:ext cx="5029200" cy="431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Evaluate expressions with exponents.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23">
            <a:extLst>
              <a:ext uri="{FF2B5EF4-FFF2-40B4-BE49-F238E27FC236}">
                <a16:creationId xmlns:a16="http://schemas.microsoft.com/office/drawing/2014/main" id="{16C1A06B-4B07-454C-BB64-E3C5F5FC947A}"/>
              </a:ext>
            </a:extLst>
          </p:cNvPr>
          <p:cNvSpPr txBox="1"/>
          <p:nvPr/>
        </p:nvSpPr>
        <p:spPr>
          <a:xfrm>
            <a:off x="3727780" y="4637710"/>
            <a:ext cx="5029199" cy="73152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 operations inside grouping symbols. 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22">
                <a:extLst>
                  <a:ext uri="{FF2B5EF4-FFF2-40B4-BE49-F238E27FC236}">
                    <a16:creationId xmlns:a16="http://schemas.microsoft.com/office/drawing/2014/main" id="{83E48A97-9138-DD43-BCAD-015EA1A385E9}"/>
                  </a:ext>
                </a:extLst>
              </p:cNvPr>
              <p:cNvSpPr txBox="1"/>
              <p:nvPr/>
            </p:nvSpPr>
            <p:spPr>
              <a:xfrm>
                <a:off x="3727779" y="5582190"/>
                <a:ext cx="5029198" cy="762000"/>
              </a:xfrm>
              <a:prstGeom prst="rect">
                <a:avLst/>
              </a:prstGeom>
              <a:noFill/>
              <a:ln w="1270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Perform addition and subtraction in order from left to right. (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 Box 22">
                <a:extLst>
                  <a:ext uri="{FF2B5EF4-FFF2-40B4-BE49-F238E27FC236}">
                    <a16:creationId xmlns:a16="http://schemas.microsoft.com/office/drawing/2014/main" id="{83E48A97-9138-DD43-BCAD-015EA1A38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779" y="5582190"/>
                <a:ext cx="5029198" cy="762000"/>
              </a:xfrm>
              <a:prstGeom prst="rect">
                <a:avLst/>
              </a:prstGeom>
              <a:blipFill>
                <a:blip r:embed="rId6"/>
                <a:stretch>
                  <a:fillRect l="-1256" t="-4839" b="-4839"/>
                </a:stretch>
              </a:blipFill>
              <a:ln w="12700">
                <a:solidFill>
                  <a:prstClr val="black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51988100-1BC5-A24B-90F9-C9A00632ABA8}"/>
              </a:ext>
            </a:extLst>
          </p:cNvPr>
          <p:cNvSpPr/>
          <p:nvPr/>
        </p:nvSpPr>
        <p:spPr>
          <a:xfrm>
            <a:off x="3114515" y="3220680"/>
            <a:ext cx="422275" cy="412115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8609D0-5D1A-D942-BDBF-570E39F617C6}"/>
              </a:ext>
            </a:extLst>
          </p:cNvPr>
          <p:cNvSpPr/>
          <p:nvPr/>
        </p:nvSpPr>
        <p:spPr>
          <a:xfrm>
            <a:off x="3114515" y="4008591"/>
            <a:ext cx="422275" cy="412115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A96DBD4-A6BA-1D42-9945-850851ADA646}"/>
              </a:ext>
            </a:extLst>
          </p:cNvPr>
          <p:cNvSpPr/>
          <p:nvPr/>
        </p:nvSpPr>
        <p:spPr>
          <a:xfrm>
            <a:off x="3114515" y="4797413"/>
            <a:ext cx="422275" cy="412115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4D88E9-FE48-B54A-A950-74A15ED76304}"/>
              </a:ext>
            </a:extLst>
          </p:cNvPr>
          <p:cNvSpPr/>
          <p:nvPr/>
        </p:nvSpPr>
        <p:spPr>
          <a:xfrm>
            <a:off x="3114515" y="5757133"/>
            <a:ext cx="422275" cy="412115"/>
          </a:xfrm>
          <a:prstGeom prst="ellipse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9" name="Google Shape;282;g104476d1465_1_17">
            <a:extLst>
              <a:ext uri="{FF2B5EF4-FFF2-40B4-BE49-F238E27FC236}">
                <a16:creationId xmlns:a16="http://schemas.microsoft.com/office/drawing/2014/main" id="{DB9D4BF4-340E-9681-C58C-7905A393737E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>
            <a:extLst>
              <a:ext uri="{FF2B5EF4-FFF2-40B4-BE49-F238E27FC236}">
                <a16:creationId xmlns:a16="http://schemas.microsoft.com/office/drawing/2014/main" id="{97E8B5FC-9809-625F-DD2E-836E205C4D11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438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68780" y="520394"/>
            <a:ext cx="10041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what you have learned about radicals, discuss with your partner where you think evaluating radicals falls within the order of operations. Then, write a summary of your discussion.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E62C0AE7-A943-0250-F3C0-64541ADE6DC7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344D5995-BA3F-7DFE-4557-A6E599D1EC4D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8070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85870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5639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C9BF1871-85A2-070B-CA79-2D1DF1D8A2F0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EB9C85D6-C66E-2B65-F0A8-F406092331F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847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525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78250" y="0"/>
            <a:ext cx="976991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12.7.3 Guided Instruction: Evaluating Expressions with Radicals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50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043837" y="1159495"/>
                <a:ext cx="10104328" cy="1623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Evaluating exponents and radicals falls within the same step in the order of operations, where each is evaluated from left to right, after operations within grouping symbols are performed.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Simon evaluated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3−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25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as shown.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37" y="1159495"/>
                <a:ext cx="10104328" cy="1623714"/>
              </a:xfrm>
              <a:prstGeom prst="rect">
                <a:avLst/>
              </a:prstGeom>
              <a:blipFill>
                <a:blip r:embed="rId4"/>
                <a:stretch>
                  <a:fillRect l="-663" t="-1873" r="-1206" b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440DB49-2F93-264E-B63D-2B1AC881DD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955483"/>
                  </p:ext>
                </p:extLst>
              </p:nvPr>
            </p:nvGraphicFramePr>
            <p:xfrm>
              <a:off x="2977380" y="2799527"/>
              <a:ext cx="4883452" cy="399116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273596">
                      <a:extLst>
                        <a:ext uri="{9D8B030D-6E8A-4147-A177-3AD203B41FA5}">
                          <a16:colId xmlns:a16="http://schemas.microsoft.com/office/drawing/2014/main" val="2124796603"/>
                        </a:ext>
                      </a:extLst>
                    </a:gridCol>
                    <a:gridCol w="2609856">
                      <a:extLst>
                        <a:ext uri="{9D8B030D-6E8A-4147-A177-3AD203B41FA5}">
                          <a16:colId xmlns:a16="http://schemas.microsoft.com/office/drawing/2014/main" val="1918437433"/>
                        </a:ext>
                      </a:extLst>
                    </a:gridCol>
                  </a:tblGrid>
                  <a:tr h="9812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Original Expression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2000" i="1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3−</m:t>
                                              </m:r>
                                              <m:rad>
                                                <m:radPr>
                                                  <m:degHide m:val="on"/>
                                                  <m:ctrlPr>
                                                    <a:rPr lang="en-US" sz="2000" i="1">
                                                      <a:effectLst/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radPr>
                                                <m:deg/>
                                                <m:e>
                                                  <m:r>
                                                    <a:rPr lang="en-US" sz="2000">
                                                      <a:effectLst/>
                                                      <a:latin typeface="Cambria Math" panose="02040503050406030204" pitchFamily="18" charset="0"/>
                                                    </a:rPr>
                                                    <m:t>25</m:t>
                                                  </m:r>
                                                </m:e>
                                              </m:rad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0665377"/>
                      </a:ext>
                    </a:extLst>
                  </a:tr>
                  <a:tr h="7524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92D05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3−5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2267582"/>
                      </a:ext>
                    </a:extLst>
                  </a:tr>
                  <a:tr h="7524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FFC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7855760"/>
                      </a:ext>
                    </a:extLst>
                  </a:tr>
                  <a:tr h="7524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B0F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8244529"/>
                      </a:ext>
                    </a:extLst>
                  </a:tr>
                  <a:tr h="7524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7030A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284962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440DB49-2F93-264E-B63D-2B1AC881DD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955483"/>
                  </p:ext>
                </p:extLst>
              </p:nvPr>
            </p:nvGraphicFramePr>
            <p:xfrm>
              <a:off x="2977380" y="2799527"/>
              <a:ext cx="4883452" cy="399116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273596">
                      <a:extLst>
                        <a:ext uri="{9D8B030D-6E8A-4147-A177-3AD203B41FA5}">
                          <a16:colId xmlns:a16="http://schemas.microsoft.com/office/drawing/2014/main" val="2124796603"/>
                        </a:ext>
                      </a:extLst>
                    </a:gridCol>
                    <a:gridCol w="2609856">
                      <a:extLst>
                        <a:ext uri="{9D8B030D-6E8A-4147-A177-3AD203B41FA5}">
                          <a16:colId xmlns:a16="http://schemas.microsoft.com/office/drawing/2014/main" val="1918437433"/>
                        </a:ext>
                      </a:extLst>
                    </a:gridCol>
                  </a:tblGrid>
                  <a:tr h="9812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Original Expression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7179" t="-621" r="-466" b="-3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0665377"/>
                      </a:ext>
                    </a:extLst>
                  </a:tr>
                  <a:tr h="7524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92D05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7179" t="-130645" r="-466" b="-300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267582"/>
                      </a:ext>
                    </a:extLst>
                  </a:tr>
                  <a:tr h="7524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FFC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7179" t="-232520" r="-466" b="-2032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7855760"/>
                      </a:ext>
                    </a:extLst>
                  </a:tr>
                  <a:tr h="7524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B0F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7179" t="-329839" r="-466" b="-1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8244529"/>
                      </a:ext>
                    </a:extLst>
                  </a:tr>
                  <a:tr h="75247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7030A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7179" t="-433333" r="-466" b="-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84962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2A044A7A-251C-8FC2-EFE6-90B20B099B62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121937D5-7927-D60D-F620-384727DBAA93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689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14608" y="520393"/>
            <a:ext cx="10158608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5988" indent="-45085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discuss the steps Simon took to find the value of the expression.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grouping symbols are used in the expression?</a:t>
            </a:r>
          </a:p>
          <a:p>
            <a:pPr marL="915988" indent="-45085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/>
            <a:r>
              <a:rPr lang="en-US" dirty="0"/>
              <a:t> 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162A2958-C925-53F5-DC5E-27AC59668A6C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30E33DE5-0E0E-49B8-5FE6-965FEE3A0CB3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5486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45030" y="520393"/>
                <a:ext cx="10103134" cy="5204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5988" indent="-45085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words or phrases in the bank to complete the statements.</a:t>
                </a:r>
              </a:p>
              <a:p>
                <a:pPr marL="915988" indent="-45085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indent="-45085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indent="-45085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indent="-45085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Simon started by evaluating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3−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the absolute value bars are ___________________. Within the bars, Simon first evaluated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evaluating ______________ comes before ______________. He was able to evaluate the ______________ only after finding the value of the grouped __________________ expression. Finally, he found an ______________ fraction for the expression that remained.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30" y="520393"/>
                <a:ext cx="10103134" cy="5204951"/>
              </a:xfrm>
              <a:prstGeom prst="rect">
                <a:avLst/>
              </a:prstGeom>
              <a:blipFill>
                <a:blip r:embed="rId3"/>
                <a:stretch>
                  <a:fillRect t="-703" r="-1327" b="-1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043D736-5D0F-75CB-7F7A-CFFCD54DCD10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AC64A816-B303-424C-2D1E-DA11A65678E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1FB521-E2F0-435C-BC4E-4CCE2D614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1606" y="1132656"/>
            <a:ext cx="6688787" cy="106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97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6904" y="520394"/>
                <a:ext cx="10053681" cy="1456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the expression. Show your work.</a:t>
                </a:r>
              </a:p>
              <a:p>
                <a:pPr algn="ctr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+9</m:t>
                        </m:r>
                      </m:e>
                    </m:ra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520394"/>
                <a:ext cx="10053681" cy="1456681"/>
              </a:xfrm>
              <a:prstGeom prst="rect">
                <a:avLst/>
              </a:prstGeom>
              <a:blipFill>
                <a:blip r:embed="rId3"/>
                <a:stretch>
                  <a:fillRect l="-909" t="-3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2F179AD6-14B6-53FB-D835-E35E1D586CBB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20B29FC5-B041-D2F8-7FDA-7D1754F63BE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1355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68780" y="520394"/>
                <a:ext cx="10054332" cy="147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Simon, Tonya, and Cassandra evaluated the following expression using substitution and the order of operations. Their work is shown in the table.</a:t>
                </a:r>
                <a:endParaRPr lang="en-US" sz="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56.5−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4.1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=−7.5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80" y="520394"/>
                <a:ext cx="10054332" cy="1478675"/>
              </a:xfrm>
              <a:prstGeom prst="rect">
                <a:avLst/>
              </a:prstGeom>
              <a:blipFill>
                <a:blip r:embed="rId3"/>
                <a:stretch>
                  <a:fillRect l="-667" t="-2469" b="-6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CCC32C5-02A6-EF4B-A65F-E949974033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8196656"/>
                  </p:ext>
                </p:extLst>
              </p:nvPr>
            </p:nvGraphicFramePr>
            <p:xfrm>
              <a:off x="2389415" y="2148610"/>
              <a:ext cx="7559335" cy="322840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08426">
                      <a:extLst>
                        <a:ext uri="{9D8B030D-6E8A-4147-A177-3AD203B41FA5}">
                          <a16:colId xmlns:a16="http://schemas.microsoft.com/office/drawing/2014/main" val="4199780928"/>
                        </a:ext>
                      </a:extLst>
                    </a:gridCol>
                    <a:gridCol w="2508426">
                      <a:extLst>
                        <a:ext uri="{9D8B030D-6E8A-4147-A177-3AD203B41FA5}">
                          <a16:colId xmlns:a16="http://schemas.microsoft.com/office/drawing/2014/main" val="173288892"/>
                        </a:ext>
                      </a:extLst>
                    </a:gridCol>
                    <a:gridCol w="2542483">
                      <a:extLst>
                        <a:ext uri="{9D8B030D-6E8A-4147-A177-3AD203B41FA5}">
                          <a16:colId xmlns:a16="http://schemas.microsoft.com/office/drawing/2014/main" val="150072681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Simon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Tonya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Cassandra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716276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56.5−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56.5−7.5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7−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7−16.81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−9.81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56.5−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56.5+7.5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8+16.81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24.81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56.5−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56.5+7.5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4.1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8−16.81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−8.81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30226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CCC32C5-02A6-EF4B-A65F-E949974033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8196656"/>
                  </p:ext>
                </p:extLst>
              </p:nvPr>
            </p:nvGraphicFramePr>
            <p:xfrm>
              <a:off x="2389415" y="2148610"/>
              <a:ext cx="7559335" cy="322840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08426">
                      <a:extLst>
                        <a:ext uri="{9D8B030D-6E8A-4147-A177-3AD203B41FA5}">
                          <a16:colId xmlns:a16="http://schemas.microsoft.com/office/drawing/2014/main" val="4199780928"/>
                        </a:ext>
                      </a:extLst>
                    </a:gridCol>
                    <a:gridCol w="2508426">
                      <a:extLst>
                        <a:ext uri="{9D8B030D-6E8A-4147-A177-3AD203B41FA5}">
                          <a16:colId xmlns:a16="http://schemas.microsoft.com/office/drawing/2014/main" val="173288892"/>
                        </a:ext>
                      </a:extLst>
                    </a:gridCol>
                    <a:gridCol w="2542483">
                      <a:extLst>
                        <a:ext uri="{9D8B030D-6E8A-4147-A177-3AD203B41FA5}">
                          <a16:colId xmlns:a16="http://schemas.microsoft.com/office/drawing/2014/main" val="150072681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Simon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Tonya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Cassandra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7162761"/>
                      </a:ext>
                    </a:extLst>
                  </a:tr>
                  <a:tr h="29236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5" t="-13420" r="-201515" b="-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505" t="-13420" r="-101515" b="-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8500" t="-13420" r="-500" b="-4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02267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ECAC8EE-1557-D63E-7A29-D01376C7A1FF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CF6ABCED-C5E4-FDFA-BD7A-CC4DABD469ED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8429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45030" y="520394"/>
            <a:ext cx="1007808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5988" indent="-45085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each student’s work with your partner.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steps where you notice differences in the students’ work.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student correctly evaluated the expression?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5988" indent="-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0B0F128B-7633-BF98-A7F9-6FBCE85E9262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60742495-49AB-689C-F695-48D1C639A0C3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2081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56904" y="520393"/>
            <a:ext cx="10091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to describe the error(s) each of the other two students made.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1CD0C5-E971-8A45-A28B-4E761C8F1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760007"/>
              </p:ext>
            </p:extLst>
          </p:nvPr>
        </p:nvGraphicFramePr>
        <p:xfrm>
          <a:off x="2312448" y="1421529"/>
          <a:ext cx="7567103" cy="492529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073229">
                  <a:extLst>
                    <a:ext uri="{9D8B030D-6E8A-4147-A177-3AD203B41FA5}">
                      <a16:colId xmlns:a16="http://schemas.microsoft.com/office/drawing/2014/main" val="2418896534"/>
                    </a:ext>
                  </a:extLst>
                </a:gridCol>
                <a:gridCol w="2746937">
                  <a:extLst>
                    <a:ext uri="{9D8B030D-6E8A-4147-A177-3AD203B41FA5}">
                      <a16:colId xmlns:a16="http://schemas.microsoft.com/office/drawing/2014/main" val="1309259418"/>
                    </a:ext>
                  </a:extLst>
                </a:gridCol>
                <a:gridCol w="2746937">
                  <a:extLst>
                    <a:ext uri="{9D8B030D-6E8A-4147-A177-3AD203B41FA5}">
                      <a16:colId xmlns:a16="http://schemas.microsoft.com/office/drawing/2014/main" val="2928708161"/>
                    </a:ext>
                  </a:extLst>
                </a:gridCol>
              </a:tblGrid>
              <a:tr h="9485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Student’s Name</a:t>
                      </a:r>
                    </a:p>
                  </a:txBody>
                  <a:tcPr marL="32965" marR="329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65" marR="329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65" marR="329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639482"/>
                  </a:ext>
                </a:extLst>
              </a:tr>
              <a:tr h="39767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Error(s) Made When Evaluating</a:t>
                      </a:r>
                    </a:p>
                  </a:txBody>
                  <a:tcPr marL="32965" marR="329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65" marR="329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965" marR="3296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235674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B021C3B-FAD4-64EE-1BAC-206640AF926D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91ED863A-DFF3-B145-76BB-75D52EC9FCF8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242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7407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59912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944F2C3B-32CC-DBCB-F26C-EF29B054E203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436A8859-AC76-C945-3486-B40994891CD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2090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0665" y="23002"/>
            <a:ext cx="95121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12.7.4 Guided Practice: Evaluating Expressions with Radicals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717" y="2507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068779" y="1294932"/>
                <a:ext cx="10104437" cy="3861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the expression. Show your work.</a:t>
                </a:r>
              </a:p>
              <a:p>
                <a:r>
                  <a:rPr lang="en-US" sz="2400" dirty="0"/>
                  <a:t> 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18 − 2 ∙ 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121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 </a:t>
                </a:r>
              </a:p>
              <a:p>
                <a:r>
                  <a:rPr lang="en-US" sz="2400" dirty="0"/>
                  <a:t> </a:t>
                </a:r>
              </a:p>
              <a:p>
                <a:r>
                  <a:rPr lang="en-US" sz="2400" dirty="0"/>
                  <a:t> </a:t>
                </a:r>
              </a:p>
              <a:p>
                <a:r>
                  <a:rPr lang="en-US" sz="2400" dirty="0"/>
                  <a:t> </a:t>
                </a:r>
              </a:p>
              <a:p>
                <a:r>
                  <a:rPr lang="en-US" sz="2400" dirty="0"/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6.2+</m:t>
                        </m:r>
                        <m:rad>
                          <m:ra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ra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400" dirty="0"/>
                  <a:t>,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where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=−27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79" y="1294932"/>
                <a:ext cx="10104437" cy="3861506"/>
              </a:xfrm>
              <a:prstGeom prst="rect">
                <a:avLst/>
              </a:prstGeom>
              <a:blipFill>
                <a:blip r:embed="rId4"/>
                <a:stretch>
                  <a:fillRect l="-905" t="-1262" b="-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87BAAFA-7D13-8A26-B8C9-6D9779DB296E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D33185D1-3EA3-CE4E-2386-91E2D063B722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1620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47048" y="276197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7904" y="2893753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A7C5C46-9D8B-C029-7BBF-EC17D0A6672B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C4709145-568E-7BDB-7585-D7C837D00B3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1133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508166" y="60325"/>
            <a:ext cx="9030984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12.7.5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225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045029" y="1236391"/>
                <a:ext cx="9417327" cy="5430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each expression. Show your work.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 ∙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225</m:t>
                            </m:r>
                          </m:e>
                        </m:rad>
                      </m:den>
                    </m:f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100−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81</m:t>
                            </m:r>
                          </m:e>
                        </m:ra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−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1236391"/>
                <a:ext cx="9417327" cy="5430076"/>
              </a:xfrm>
              <a:prstGeom prst="rect">
                <a:avLst/>
              </a:prstGeom>
              <a:blipFill>
                <a:blip r:embed="rId4"/>
                <a:stretch>
                  <a:fillRect l="-971" t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8C170F0-CE9E-1033-DE4F-8899C4B8C39B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2757508F-5C44-B5D5-676D-A638650EA5B5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3813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96063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9482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DD6B118-B611-2217-7C2E-2128F9E61D17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D1BB5D92-4AAD-A132-64EC-D19CC2F6D50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9906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75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21074" y="-9260"/>
            <a:ext cx="85319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12.7.6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771" y="19177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056904" y="1386025"/>
            <a:ext cx="101163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 point on the grid to indicate your level of interest and how you feel about today’s learning target.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problems involving the order of operations with rational numbers, including exponents and radicals.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8317F8A-38FF-CD40-99B3-45549F991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1448" y="939077"/>
            <a:ext cx="42675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1" name="Picture 15" descr="A picture containing bird, plant&#10;&#10;Description automatically generated">
            <a:extLst>
              <a:ext uri="{FF2B5EF4-FFF2-40B4-BE49-F238E27FC236}">
                <a16:creationId xmlns:a16="http://schemas.microsoft.com/office/drawing/2014/main" id="{12C6B389-07DC-4146-886B-3F0AE8394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17063" y="3386230"/>
            <a:ext cx="3825952" cy="341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4380CBCF-F713-BC15-BC79-AD82CC83042E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AE0499D7-5E7D-7E7D-6652-632BC2CDD4E1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1811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45028" y="520394"/>
            <a:ext cx="10078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one question you still have about this learning target after today’s lesson.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7A6028FF-59C1-C653-6116-469CB0082AAF}"/>
              </a:ext>
            </a:extLst>
          </p:cNvPr>
          <p:cNvSpPr txBox="1"/>
          <p:nvPr/>
        </p:nvSpPr>
        <p:spPr>
          <a:xfrm>
            <a:off x="8701676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36778ED9-442A-C61C-5AD2-EECE3DF5F6AC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5675" y="6129037"/>
            <a:ext cx="646527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153115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8077</TotalTime>
  <Words>985</Words>
  <Application>Microsoft Office PowerPoint</Application>
  <PresentationFormat>Widescreen</PresentationFormat>
  <Paragraphs>191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Verdana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8th Grade Math: Pre-Algebra  Unit 12, Lesson 7  Evaluating Expressions with Radicals  Volume 2, pg. 246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26</cp:revision>
  <dcterms:created xsi:type="dcterms:W3CDTF">2015-03-17T18:51:18Z</dcterms:created>
  <dcterms:modified xsi:type="dcterms:W3CDTF">2022-07-21T01:23:07Z</dcterms:modified>
</cp:coreProperties>
</file>