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64" r:id="rId10"/>
    <p:sldId id="373" r:id="rId11"/>
    <p:sldId id="376" r:id="rId12"/>
    <p:sldId id="372" r:id="rId13"/>
    <p:sldId id="377" r:id="rId14"/>
    <p:sldId id="374" r:id="rId15"/>
    <p:sldId id="375" r:id="rId16"/>
    <p:sldId id="378" r:id="rId17"/>
    <p:sldId id="306" r:id="rId18"/>
    <p:sldId id="307" r:id="rId19"/>
  </p:sldIdLst>
  <p:sldSz cx="12192000" cy="6858000"/>
  <p:notesSz cx="6858000" cy="9144000"/>
  <p:embeddedFontLst>
    <p:embeddedFont>
      <p:font typeface="Arial Black" panose="020B0A04020102020204" pitchFamily="3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60"/>
    <p:restoredTop sz="94709"/>
  </p:normalViewPr>
  <p:slideViewPr>
    <p:cSldViewPr snapToGrid="0">
      <p:cViewPr varScale="1">
        <p:scale>
          <a:sx n="81" d="100"/>
          <a:sy n="81" d="100"/>
        </p:scale>
        <p:origin x="76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145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5505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196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8535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9301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6512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4747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410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8516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172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4440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618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10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Real-World Problems Using the Order of Operations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260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591" y="178294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07225" y="136525"/>
            <a:ext cx="79466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2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56905" y="1600200"/>
            <a:ext cx="100787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multi-step mathematical and real-world problems involving the order of operations with rational numbers, including exponents and radicals.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00" y="30967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6291" y="129667"/>
            <a:ext cx="83732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56904" y="1596390"/>
            <a:ext cx="100912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D6DCC94-82CA-4532-3607-0399E84352E6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36F95291-0DB0-AA56-A4EB-94B4AE3695D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5850" y="172951"/>
            <a:ext cx="8463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50" y="4325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56904" y="1498651"/>
            <a:ext cx="101037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8788" indent="-458788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real-world problems involving the order of operations with rational numbers, including exponents and radicals.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E9F8BC5-B076-4BCF-EE70-AB4FE576C547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E45159A-9EF7-6F0F-000E-ECAB9BA11F2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707" y="290895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87964" y="276197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92315EF-4401-6AEB-C998-BECDC5FE892F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5064F425-D746-91A8-66C2-534A9182E48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3377" y="60326"/>
            <a:ext cx="856217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12.10.1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77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045029" y="1386026"/>
                <a:ext cx="10078083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expression. Show your work.</a:t>
                </a:r>
              </a:p>
              <a:p>
                <a:r>
                  <a:rPr lang="en-US" sz="2400" dirty="0"/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3∙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 </a:t>
                </a: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  </a:t>
                </a: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 </a:t>
                </a: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5.5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− 9.25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11−2</m:t>
                        </m:r>
                      </m:e>
                    </m:rad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 </a:t>
                </a:r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 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386026"/>
                <a:ext cx="10078083" cy="4247317"/>
              </a:xfrm>
              <a:prstGeom prst="rect">
                <a:avLst/>
              </a:prstGeom>
              <a:blipFill>
                <a:blip r:embed="rId4"/>
                <a:stretch>
                  <a:fillRect l="-907" t="-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FAC83CDD-B5FA-D6F1-2410-69B3240343FF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8E592FC6-CC12-1C27-E619-8A2E4AC3CF3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92206" y="2679367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35631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AADF2EF-8BB0-FB05-AEAB-7491FD6FABD7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90328B7-E239-5159-83BA-BEA3B8B0518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276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43792" y="60325"/>
            <a:ext cx="89777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12.10.2 Activity: Station 1: Home Renovations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60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068779" y="1386026"/>
                <a:ext cx="1007938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Liliana is looking to do some home renovations on her apartment. The floor plan of her apartment is shown, where each gridline measures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foot (ft). She plans to re-tile the floor of the bathroom and lay new carpeting on the floor of the bedroom, including the closet.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Her bedroom, including the closet, measures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ft, and her bathroom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79" y="1386026"/>
                <a:ext cx="10079385" cy="2246769"/>
              </a:xfrm>
              <a:prstGeom prst="rect">
                <a:avLst/>
              </a:prstGeom>
              <a:blipFill>
                <a:blip r:embed="rId4"/>
                <a:stretch>
                  <a:fillRect l="-605" t="-135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62B5FF3-EEE6-5C48-89B8-DC2B36CD85D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" t="31737" r="6348" b="6925"/>
          <a:stretch/>
        </p:blipFill>
        <p:spPr bwMode="auto">
          <a:xfrm>
            <a:off x="2968751" y="3940571"/>
            <a:ext cx="6510531" cy="24911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F3CC6F-A2CC-F741-8DAE-CA6E8F708512}"/>
              </a:ext>
            </a:extLst>
          </p:cNvPr>
          <p:cNvSpPr txBox="1"/>
          <p:nvPr/>
        </p:nvSpPr>
        <p:spPr>
          <a:xfrm>
            <a:off x="3342928" y="4226024"/>
            <a:ext cx="11737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Kitchen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2E3365F1-8607-C84B-BDC9-FC5712289826}"/>
              </a:ext>
            </a:extLst>
          </p:cNvPr>
          <p:cNvSpPr txBox="1"/>
          <p:nvPr/>
        </p:nvSpPr>
        <p:spPr>
          <a:xfrm>
            <a:off x="5557639" y="4059565"/>
            <a:ext cx="1480057" cy="400111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Bathroom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01233124-58D9-D645-A614-5C745FDA8EF7}"/>
              </a:ext>
            </a:extLst>
          </p:cNvPr>
          <p:cNvSpPr txBox="1"/>
          <p:nvPr/>
        </p:nvSpPr>
        <p:spPr>
          <a:xfrm>
            <a:off x="7910070" y="4226024"/>
            <a:ext cx="1480056" cy="40011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Bedroom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D58848ED-2D19-954C-84E9-DE9E6C30B67A}"/>
              </a:ext>
            </a:extLst>
          </p:cNvPr>
          <p:cNvSpPr txBox="1"/>
          <p:nvPr/>
        </p:nvSpPr>
        <p:spPr>
          <a:xfrm>
            <a:off x="8363794" y="5730275"/>
            <a:ext cx="1026332" cy="48840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Closet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1E633ACF-C908-3246-9FDA-006D40895E48}"/>
              </a:ext>
            </a:extLst>
          </p:cNvPr>
          <p:cNvSpPr txBox="1"/>
          <p:nvPr/>
        </p:nvSpPr>
        <p:spPr>
          <a:xfrm>
            <a:off x="5724515" y="5730274"/>
            <a:ext cx="1313180" cy="6197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Hallway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34CB463D-432F-3448-B1CA-5FD2FF2B6507}"/>
              </a:ext>
            </a:extLst>
          </p:cNvPr>
          <p:cNvSpPr txBox="1"/>
          <p:nvPr/>
        </p:nvSpPr>
        <p:spPr>
          <a:xfrm>
            <a:off x="3252638" y="5573827"/>
            <a:ext cx="1313180" cy="6197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Sitting Area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Google Shape;282;g104476d1465_1_17">
            <a:extLst>
              <a:ext uri="{FF2B5EF4-FFF2-40B4-BE49-F238E27FC236}">
                <a16:creationId xmlns:a16="http://schemas.microsoft.com/office/drawing/2014/main" id="{91F41A69-DD10-40F9-C938-3CA5C292D8FE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>
            <a:extLst>
              <a:ext uri="{FF2B5EF4-FFF2-40B4-BE49-F238E27FC236}">
                <a16:creationId xmlns:a16="http://schemas.microsoft.com/office/drawing/2014/main" id="{C0EC198E-6B7E-1ED0-DE6F-30C4F814E7C8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9773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503122" y="520393"/>
            <a:ext cx="9657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prices Liliana found for the materials she needs to update the flooring in both rooms is given in the table.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0E0E846-0F9B-B547-B072-491DAB0DD3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828396"/>
                  </p:ext>
                </p:extLst>
              </p:nvPr>
            </p:nvGraphicFramePr>
            <p:xfrm>
              <a:off x="1733798" y="1541294"/>
              <a:ext cx="8319179" cy="32981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546287">
                      <a:extLst>
                        <a:ext uri="{9D8B030D-6E8A-4147-A177-3AD203B41FA5}">
                          <a16:colId xmlns:a16="http://schemas.microsoft.com/office/drawing/2014/main" val="1346214396"/>
                        </a:ext>
                      </a:extLst>
                    </a:gridCol>
                    <a:gridCol w="1557701">
                      <a:extLst>
                        <a:ext uri="{9D8B030D-6E8A-4147-A177-3AD203B41FA5}">
                          <a16:colId xmlns:a16="http://schemas.microsoft.com/office/drawing/2014/main" val="2275336253"/>
                        </a:ext>
                      </a:extLst>
                    </a:gridCol>
                    <a:gridCol w="1333722">
                      <a:extLst>
                        <a:ext uri="{9D8B030D-6E8A-4147-A177-3AD203B41FA5}">
                          <a16:colId xmlns:a16="http://schemas.microsoft.com/office/drawing/2014/main" val="3602991563"/>
                        </a:ext>
                      </a:extLst>
                    </a:gridCol>
                    <a:gridCol w="1474976">
                      <a:extLst>
                        <a:ext uri="{9D8B030D-6E8A-4147-A177-3AD203B41FA5}">
                          <a16:colId xmlns:a16="http://schemas.microsoft.com/office/drawing/2014/main" val="1598462890"/>
                        </a:ext>
                      </a:extLst>
                    </a:gridCol>
                    <a:gridCol w="1474976">
                      <a:extLst>
                        <a:ext uri="{9D8B030D-6E8A-4147-A177-3AD203B41FA5}">
                          <a16:colId xmlns:a16="http://schemas.microsoft.com/office/drawing/2014/main" val="2648832781"/>
                        </a:ext>
                      </a:extLst>
                    </a:gridCol>
                    <a:gridCol w="1931517">
                      <a:extLst>
                        <a:ext uri="{9D8B030D-6E8A-4147-A177-3AD203B41FA5}">
                          <a16:colId xmlns:a16="http://schemas.microsoft.com/office/drawing/2014/main" val="2176722651"/>
                        </a:ext>
                      </a:extLst>
                    </a:gridCol>
                  </a:tblGrid>
                  <a:tr h="233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Bedroom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Bathroom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673983"/>
                      </a:ext>
                    </a:extLst>
                  </a:tr>
                  <a:tr h="467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Carpet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Padding Material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Underlay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Grout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2185789"/>
                      </a:ext>
                    </a:extLst>
                  </a:tr>
                  <a:tr h="1163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Home Decorators Sycamore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Memory Foam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OSA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Marazzi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Polyblend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2218345"/>
                      </a:ext>
                    </a:extLst>
                  </a:tr>
                  <a:tr h="1219835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Price</a:t>
                          </a:r>
                        </a:p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vert="vert2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$2.89/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$0.75/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$1.00/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$1.89/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$13.48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845879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0E0E846-0F9B-B547-B072-491DAB0DD3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828396"/>
                  </p:ext>
                </p:extLst>
              </p:nvPr>
            </p:nvGraphicFramePr>
            <p:xfrm>
              <a:off x="1733798" y="1541294"/>
              <a:ext cx="8319179" cy="32981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546287">
                      <a:extLst>
                        <a:ext uri="{9D8B030D-6E8A-4147-A177-3AD203B41FA5}">
                          <a16:colId xmlns:a16="http://schemas.microsoft.com/office/drawing/2014/main" val="1346214396"/>
                        </a:ext>
                      </a:extLst>
                    </a:gridCol>
                    <a:gridCol w="1557701">
                      <a:extLst>
                        <a:ext uri="{9D8B030D-6E8A-4147-A177-3AD203B41FA5}">
                          <a16:colId xmlns:a16="http://schemas.microsoft.com/office/drawing/2014/main" val="2275336253"/>
                        </a:ext>
                      </a:extLst>
                    </a:gridCol>
                    <a:gridCol w="1333722">
                      <a:extLst>
                        <a:ext uri="{9D8B030D-6E8A-4147-A177-3AD203B41FA5}">
                          <a16:colId xmlns:a16="http://schemas.microsoft.com/office/drawing/2014/main" val="3602991563"/>
                        </a:ext>
                      </a:extLst>
                    </a:gridCol>
                    <a:gridCol w="1474976">
                      <a:extLst>
                        <a:ext uri="{9D8B030D-6E8A-4147-A177-3AD203B41FA5}">
                          <a16:colId xmlns:a16="http://schemas.microsoft.com/office/drawing/2014/main" val="1598462890"/>
                        </a:ext>
                      </a:extLst>
                    </a:gridCol>
                    <a:gridCol w="1474976">
                      <a:extLst>
                        <a:ext uri="{9D8B030D-6E8A-4147-A177-3AD203B41FA5}">
                          <a16:colId xmlns:a16="http://schemas.microsoft.com/office/drawing/2014/main" val="2648832781"/>
                        </a:ext>
                      </a:extLst>
                    </a:gridCol>
                    <a:gridCol w="1931517">
                      <a:extLst>
                        <a:ext uri="{9D8B030D-6E8A-4147-A177-3AD203B41FA5}">
                          <a16:colId xmlns:a16="http://schemas.microsoft.com/office/drawing/2014/main" val="217672265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Bedroom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Bathroom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673983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Carpet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Padding Material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Underlay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Grout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2185789"/>
                      </a:ext>
                    </a:extLst>
                  </a:tr>
                  <a:tr h="1163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Home Decorators Sycamore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Memory Foam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OSA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Marazzi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Polyblend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52218345"/>
                      </a:ext>
                    </a:extLst>
                  </a:tr>
                  <a:tr h="1219835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Price</a:t>
                          </a:r>
                        </a:p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vert="vert2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686" t="-177000" r="-401176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991" t="-177000" r="-367123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2510" t="-177000" r="-230864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884" t="-177000" r="-131818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230" t="-177000" r="-631" b="-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45879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26AA894E-2B5B-8BAA-A3D0-E76C451C43B6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AA33855F-69F1-B162-FA8D-CFF6606F27E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143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68780" y="520393"/>
                <a:ext cx="10066858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Liliana writes the following expression to determine the total cost of installing flooring in both rooms.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2.89+0.75+1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5∙7</m:t>
                          </m:r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1.89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+13.48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expression relates to the materials in the table.</a:t>
                </a:r>
              </a:p>
              <a:p>
                <a:pPr marL="917575" indent="-4587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87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part of the expression that represents the cost of carpeting the bedroom.</a:t>
                </a:r>
              </a:p>
              <a:p>
                <a:pPr marL="917575" indent="-4587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87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Underline the part of the expression that represents the cost of tiling the bathroom. </a:t>
                </a:r>
              </a:p>
              <a:p>
                <a:pPr marL="917575" indent="-45878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80" y="520393"/>
                <a:ext cx="10066858" cy="6001643"/>
              </a:xfrm>
              <a:prstGeom prst="rect">
                <a:avLst/>
              </a:prstGeom>
              <a:blipFill>
                <a:blip r:embed="rId3"/>
                <a:stretch>
                  <a:fillRect l="-908" t="-812" r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44A9010-8B77-2B8D-7DEA-68D3DFDD0D1D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B39169EE-8DC2-BB3C-65AF-CD11B5E5A7C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345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30" y="520394"/>
                <a:ext cx="1009060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75" indent="-458788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the expression to determine how much it will cost Liliana for the materials to replace the flooring in both rooms. Show your work.</a:t>
                </a:r>
              </a:p>
              <a:p>
                <a:pPr marL="917575" indent="-458788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2.89+0.75+1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5∙7</m:t>
                          </m:r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1.89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+13.48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8788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Liliana is concerned about the total cost and wants to know how much it would cost to re-floor the bedroom only. How much would the flooring materials cost for only her bedroom?</a:t>
                </a: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30" y="520394"/>
                <a:ext cx="10090608" cy="5324535"/>
              </a:xfrm>
              <a:prstGeom prst="rect">
                <a:avLst/>
              </a:prstGeom>
              <a:blipFill>
                <a:blip r:embed="rId3"/>
                <a:stretch>
                  <a:fillRect t="-915" r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D2EEA04-47C7-2E87-942F-DA638E9DA306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01F7301C-49C4-B259-30D4-75BAB566B29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6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20042" y="60325"/>
            <a:ext cx="970322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12.10.3 Activity: Station 2: Generating Power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60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968730" y="1386025"/>
                <a:ext cx="1016690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After several power outages caused by storms, Phillip purchased a used generator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$1,380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three years ago. Equipment loses value each year from basic wear and tear and as newer models come on the market. Phillip estimates the generator loses about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its value each year based on prices he sees online.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Phillip uses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1380∙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determine a fair price for which to sell the generator now. What is the fair price Phillip determined?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30" y="1386025"/>
                <a:ext cx="10166908" cy="4524315"/>
              </a:xfrm>
              <a:prstGeom prst="rect">
                <a:avLst/>
              </a:prstGeom>
              <a:blipFill>
                <a:blip r:embed="rId4"/>
                <a:stretch>
                  <a:fillRect l="-959" t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6041C18-E185-C7AB-1EFE-69DB3C58BFBE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559EEB84-D4C2-F11C-7B6A-5EC801488CD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088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48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68780" y="520393"/>
                <a:ext cx="1010443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75" indent="-45878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Phillip’s estimation of how much value the generator loses each year is accurate, he can use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1380∙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determine the price of the generator two years before he bought it when it was new. Evaluate the expression to find the price of the generator when it was new.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80" y="520393"/>
                <a:ext cx="10104436" cy="2308324"/>
              </a:xfrm>
              <a:prstGeom prst="rect">
                <a:avLst/>
              </a:prstGeom>
              <a:blipFill>
                <a:blip r:embed="rId3"/>
                <a:stretch>
                  <a:fillRect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2A7262F1-640C-01D9-7DCF-A6C383225B03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D71452BC-FCDA-3190-647E-21292E5DF8C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499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7855" y="60326"/>
            <a:ext cx="83258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12.10.4 Activity: Station 3: Planting Strawberries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8047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056905" y="1386026"/>
            <a:ext cx="95599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Michaela is considering planting strawberries for the first time on her farm. She has an acre set aside and wants to determine whether the costs and potential profits make sense.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878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After researching, she determines the following information.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26800CA-89D5-564B-9579-60EBE0C6FA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4045736"/>
                  </p:ext>
                </p:extLst>
              </p:nvPr>
            </p:nvGraphicFramePr>
            <p:xfrm>
              <a:off x="2381550" y="4192220"/>
              <a:ext cx="7428900" cy="22720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70608">
                      <a:extLst>
                        <a:ext uri="{9D8B030D-6E8A-4147-A177-3AD203B41FA5}">
                          <a16:colId xmlns:a16="http://schemas.microsoft.com/office/drawing/2014/main" val="4113358323"/>
                        </a:ext>
                      </a:extLst>
                    </a:gridCol>
                    <a:gridCol w="4158292">
                      <a:extLst>
                        <a:ext uri="{9D8B030D-6E8A-4147-A177-3AD203B41FA5}">
                          <a16:colId xmlns:a16="http://schemas.microsoft.com/office/drawing/2014/main" val="21209236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Costs of Planting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Acre of Strawberries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Expected Revenue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Acre of Strawberries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680856"/>
                      </a:ext>
                    </a:extLst>
                  </a:tr>
                  <a:tr h="166243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Plants: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$1500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Labor: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$595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Materials: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$1724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plants: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15,000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Expected percentage available for sale: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70%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Average revenue per plant: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$1.21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80669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26800CA-89D5-564B-9579-60EBE0C6FA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4045736"/>
                  </p:ext>
                </p:extLst>
              </p:nvPr>
            </p:nvGraphicFramePr>
            <p:xfrm>
              <a:off x="2381550" y="4192220"/>
              <a:ext cx="7428900" cy="22720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70608">
                      <a:extLst>
                        <a:ext uri="{9D8B030D-6E8A-4147-A177-3AD203B41FA5}">
                          <a16:colId xmlns:a16="http://schemas.microsoft.com/office/drawing/2014/main" val="4113358323"/>
                        </a:ext>
                      </a:extLst>
                    </a:gridCol>
                    <a:gridCol w="4158292">
                      <a:extLst>
                        <a:ext uri="{9D8B030D-6E8A-4147-A177-3AD203B41FA5}">
                          <a16:colId xmlns:a16="http://schemas.microsoft.com/office/drawing/2014/main" val="21209236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6" t="-12000" r="-127561" b="-2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70" t="-12000" r="-293" b="-2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680856"/>
                      </a:ext>
                    </a:extLst>
                  </a:tr>
                  <a:tr h="16624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6" t="-40876" r="-127561" b="-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70" t="-40876" r="-293" b="-7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80669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F4E81DA-E5B0-FECD-9752-01E7AAD5EF8B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C2BC3BDF-5B25-015A-1B11-9C0BDDB39326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1761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4"/>
                <a:ext cx="1011631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expression shown can be used to find the amount of money Michaela can expect to earn based on her research.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1.21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0.70∙15,000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−(1500+595+1724)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expression relates to the information in the table.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4"/>
                <a:ext cx="10116311" cy="2677656"/>
              </a:xfrm>
              <a:prstGeom prst="rect">
                <a:avLst/>
              </a:prstGeom>
              <a:blipFill>
                <a:blip r:embed="rId3"/>
                <a:stretch>
                  <a:fillRect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28C6698B-6ACA-7870-5A9E-292655529C35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54BF9106-CA07-1DB8-5140-C63A74822FF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630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3"/>
                <a:ext cx="10116311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75" indent="-45878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Profit can be calculated using the equation shown. </a:t>
                </a:r>
              </a:p>
              <a:p>
                <a:pPr marL="917575" indent="-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indent="-45878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Revenue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Costs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Profit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indent="-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explain how this relates to the expression Michaela wrote.</a:t>
                </a:r>
              </a:p>
              <a:p>
                <a:pPr marL="917575" indent="-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7575" indent="-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7575" indent="-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indent="-458788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profit Michaela is expecting to earn based on her research.</a:t>
                </a:r>
              </a:p>
              <a:p>
                <a:pPr marL="917575" indent="-45878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3"/>
                <a:ext cx="10116311" cy="4524315"/>
              </a:xfrm>
              <a:prstGeom prst="rect">
                <a:avLst/>
              </a:prstGeom>
              <a:blipFill>
                <a:blip r:embed="rId3"/>
                <a:stretch>
                  <a:fillRect t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82ED0A7E-738F-B7B3-3A94-439D71BAEFB5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FAB8F67F-260B-0F85-D5A4-FC6EC72BD4D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3180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31391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7146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F73E636-87F9-9433-A901-B50071D8E758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2E9E7EF9-BBCD-345A-6F7D-9070E75EFDD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6988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47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15648" y="105440"/>
            <a:ext cx="92704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12.10.5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586" y="3609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080655" y="1386025"/>
            <a:ext cx="10080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learning target in the table.</a:t>
            </a:r>
          </a:p>
        </p:txBody>
      </p:sp>
      <p:pic>
        <p:nvPicPr>
          <p:cNvPr id="15" name="image29.png" descr="Marketing">
            <a:extLst>
              <a:ext uri="{FF2B5EF4-FFF2-40B4-BE49-F238E27FC236}">
                <a16:creationId xmlns:a16="http://schemas.microsoft.com/office/drawing/2014/main" id="{7AC96432-B14B-FC4C-903A-0C52162CDE39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02001" y="2412279"/>
            <a:ext cx="520065" cy="520065"/>
          </a:xfrm>
          <a:prstGeom prst="rect">
            <a:avLst/>
          </a:prstGeom>
          <a:ln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93D053-CCC3-4448-B2A8-E7115D6B879A}"/>
              </a:ext>
            </a:extLst>
          </p:cNvPr>
          <p:cNvSpPr txBox="1"/>
          <p:nvPr/>
        </p:nvSpPr>
        <p:spPr>
          <a:xfrm>
            <a:off x="3122065" y="2518421"/>
            <a:ext cx="1868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help. </a:t>
            </a:r>
            <a:endParaRPr lang="en-US" sz="2000" dirty="0"/>
          </a:p>
        </p:txBody>
      </p:sp>
      <p:pic>
        <p:nvPicPr>
          <p:cNvPr id="18" name="image28.png" descr="Thumbs up sign">
            <a:extLst>
              <a:ext uri="{FF2B5EF4-FFF2-40B4-BE49-F238E27FC236}">
                <a16:creationId xmlns:a16="http://schemas.microsoft.com/office/drawing/2014/main" id="{820AD62C-3210-9C47-9603-D8E72E529A4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83901" y="2445615"/>
            <a:ext cx="453390" cy="453390"/>
          </a:xfrm>
          <a:prstGeom prst="rect">
            <a:avLst/>
          </a:prstGeom>
          <a:ln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4448037-2251-F345-82E5-4E23952BF415}"/>
              </a:ext>
            </a:extLst>
          </p:cNvPr>
          <p:cNvSpPr txBox="1"/>
          <p:nvPr/>
        </p:nvSpPr>
        <p:spPr>
          <a:xfrm>
            <a:off x="5737292" y="2518421"/>
            <a:ext cx="1269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got it. </a:t>
            </a:r>
            <a:endParaRPr lang="en-US" sz="2000" dirty="0"/>
          </a:p>
        </p:txBody>
      </p:sp>
      <p:pic>
        <p:nvPicPr>
          <p:cNvPr id="21" name="image30.png" descr="Shooting star">
            <a:extLst>
              <a:ext uri="{FF2B5EF4-FFF2-40B4-BE49-F238E27FC236}">
                <a16:creationId xmlns:a16="http://schemas.microsoft.com/office/drawing/2014/main" id="{BD9C9A45-3C87-BD4D-B2DC-04EB030C1CAC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6402" y="2448790"/>
            <a:ext cx="447040" cy="447040"/>
          </a:xfrm>
          <a:prstGeom prst="rect">
            <a:avLst/>
          </a:prstGeom>
          <a:ln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803A43B-B0ED-7D46-96AB-461938952B6E}"/>
              </a:ext>
            </a:extLst>
          </p:cNvPr>
          <p:cNvSpPr txBox="1"/>
          <p:nvPr/>
        </p:nvSpPr>
        <p:spPr>
          <a:xfrm>
            <a:off x="7683443" y="2510214"/>
            <a:ext cx="3102635" cy="41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could help someone.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7989F0-7B45-6949-8B10-6E7E9547B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176898"/>
              </p:ext>
            </p:extLst>
          </p:nvPr>
        </p:nvGraphicFramePr>
        <p:xfrm>
          <a:off x="2438044" y="3455668"/>
          <a:ext cx="7779580" cy="2033144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4521125">
                  <a:extLst>
                    <a:ext uri="{9D8B030D-6E8A-4147-A177-3AD203B41FA5}">
                      <a16:colId xmlns:a16="http://schemas.microsoft.com/office/drawing/2014/main" val="2041901617"/>
                    </a:ext>
                  </a:extLst>
                </a:gridCol>
                <a:gridCol w="3258455">
                  <a:extLst>
                    <a:ext uri="{9D8B030D-6E8A-4147-A177-3AD203B41FA5}">
                      <a16:colId xmlns:a16="http://schemas.microsoft.com/office/drawing/2014/main" val="408383166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Evaluate expressions with rational numbers, exponents, and radicals using the order of operations.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6878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Solve real-world problems by evaluating expressions using the order of operations.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71393"/>
                  </a:ext>
                </a:extLst>
              </a:tr>
            </a:tbl>
          </a:graphicData>
        </a:graphic>
      </p:graphicFrame>
      <p:pic>
        <p:nvPicPr>
          <p:cNvPr id="31" name="image29.png" descr="Marketing">
            <a:extLst>
              <a:ext uri="{FF2B5EF4-FFF2-40B4-BE49-F238E27FC236}">
                <a16:creationId xmlns:a16="http://schemas.microsoft.com/office/drawing/2014/main" id="{110433BD-123B-664C-8B51-163475EA028B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4718" y="3796232"/>
            <a:ext cx="520065" cy="520065"/>
          </a:xfrm>
          <a:prstGeom prst="rect">
            <a:avLst/>
          </a:prstGeom>
          <a:ln/>
        </p:spPr>
      </p:pic>
      <p:pic>
        <p:nvPicPr>
          <p:cNvPr id="32" name="image29.png" descr="Marketing">
            <a:extLst>
              <a:ext uri="{FF2B5EF4-FFF2-40B4-BE49-F238E27FC236}">
                <a16:creationId xmlns:a16="http://schemas.microsoft.com/office/drawing/2014/main" id="{51115907-061D-6149-9281-0B0BC0A13F2A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4718" y="4723227"/>
            <a:ext cx="520065" cy="520065"/>
          </a:xfrm>
          <a:prstGeom prst="rect">
            <a:avLst/>
          </a:prstGeom>
          <a:ln/>
        </p:spPr>
      </p:pic>
      <p:pic>
        <p:nvPicPr>
          <p:cNvPr id="33" name="image28.png" descr="Thumbs up sign">
            <a:extLst>
              <a:ext uri="{FF2B5EF4-FFF2-40B4-BE49-F238E27FC236}">
                <a16:creationId xmlns:a16="http://schemas.microsoft.com/office/drawing/2014/main" id="{847B1DFC-B07F-4B4C-82D9-90517899ADA0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5055" y="3786245"/>
            <a:ext cx="453390" cy="453390"/>
          </a:xfrm>
          <a:prstGeom prst="rect">
            <a:avLst/>
          </a:prstGeom>
          <a:ln/>
        </p:spPr>
      </p:pic>
      <p:pic>
        <p:nvPicPr>
          <p:cNvPr id="34" name="image28.png" descr="Thumbs up sign">
            <a:extLst>
              <a:ext uri="{FF2B5EF4-FFF2-40B4-BE49-F238E27FC236}">
                <a16:creationId xmlns:a16="http://schemas.microsoft.com/office/drawing/2014/main" id="{38780F00-27AF-C343-A2C0-FA9ED7111E6D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5055" y="4762865"/>
            <a:ext cx="453390" cy="453390"/>
          </a:xfrm>
          <a:prstGeom prst="rect">
            <a:avLst/>
          </a:prstGeom>
          <a:ln/>
        </p:spPr>
      </p:pic>
      <p:pic>
        <p:nvPicPr>
          <p:cNvPr id="35" name="image30.png" descr="Shooting star">
            <a:extLst>
              <a:ext uri="{FF2B5EF4-FFF2-40B4-BE49-F238E27FC236}">
                <a16:creationId xmlns:a16="http://schemas.microsoft.com/office/drawing/2014/main" id="{406F3C69-AE4F-4B49-86DC-CD23FDD370EF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01710" y="3832743"/>
            <a:ext cx="447040" cy="447040"/>
          </a:xfrm>
          <a:prstGeom prst="rect">
            <a:avLst/>
          </a:prstGeom>
          <a:ln/>
        </p:spPr>
      </p:pic>
      <p:pic>
        <p:nvPicPr>
          <p:cNvPr id="36" name="image30.png" descr="Shooting star">
            <a:extLst>
              <a:ext uri="{FF2B5EF4-FFF2-40B4-BE49-F238E27FC236}">
                <a16:creationId xmlns:a16="http://schemas.microsoft.com/office/drawing/2014/main" id="{A9BE03D1-A498-F94F-BE0A-616400E6351F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01710" y="4769215"/>
            <a:ext cx="447040" cy="447040"/>
          </a:xfrm>
          <a:prstGeom prst="rect">
            <a:avLst/>
          </a:prstGeom>
          <a:ln/>
        </p:spPr>
      </p:pic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4DAD891B-CDBA-2E1C-6EE4-A3904FA6E8E1}"/>
              </a:ext>
            </a:extLst>
          </p:cNvPr>
          <p:cNvSpPr txBox="1"/>
          <p:nvPr/>
        </p:nvSpPr>
        <p:spPr>
          <a:xfrm>
            <a:off x="8871995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83;g104476d1465_1_17">
            <a:extLst>
              <a:ext uri="{FF2B5EF4-FFF2-40B4-BE49-F238E27FC236}">
                <a16:creationId xmlns:a16="http://schemas.microsoft.com/office/drawing/2014/main" id="{44C11100-0D8B-BD3E-8B35-60E41D7DDAD3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599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36551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2699</TotalTime>
  <Words>981</Words>
  <Application>Microsoft Office PowerPoint</Application>
  <PresentationFormat>Widescreen</PresentationFormat>
  <Paragraphs>155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Verdana</vt:lpstr>
      <vt:lpstr>Times New Roman</vt:lpstr>
      <vt:lpstr>Wingdings</vt:lpstr>
      <vt:lpstr>Century Gothic</vt:lpstr>
      <vt:lpstr>Calibri</vt:lpstr>
      <vt:lpstr>Arial Black</vt:lpstr>
      <vt:lpstr>Symbol</vt:lpstr>
      <vt:lpstr>Cambria Math</vt:lpstr>
      <vt:lpstr>Arial</vt:lpstr>
      <vt:lpstr>1_Office Theme</vt:lpstr>
      <vt:lpstr>8th Grade Math: Pre-Algebra  Unit 12, Lesson 10  Evaluating Real-World Problems Using the Order of Operations – Part 2  Volume 2, pg. 260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26</cp:revision>
  <dcterms:created xsi:type="dcterms:W3CDTF">2015-03-17T18:51:18Z</dcterms:created>
  <dcterms:modified xsi:type="dcterms:W3CDTF">2022-06-20T22:18:39Z</dcterms:modified>
</cp:coreProperties>
</file>