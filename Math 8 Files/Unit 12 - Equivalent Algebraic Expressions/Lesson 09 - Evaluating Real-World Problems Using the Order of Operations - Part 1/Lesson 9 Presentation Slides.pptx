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62" r:id="rId11"/>
    <p:sldId id="372" r:id="rId12"/>
    <p:sldId id="323" r:id="rId13"/>
    <p:sldId id="324" r:id="rId14"/>
    <p:sldId id="367" r:id="rId15"/>
    <p:sldId id="373" r:id="rId16"/>
    <p:sldId id="302" r:id="rId17"/>
    <p:sldId id="303" r:id="rId18"/>
    <p:sldId id="370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A04020102020204" pitchFamily="34" charset="0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02"/>
    <p:restoredTop sz="94709"/>
  </p:normalViewPr>
  <p:slideViewPr>
    <p:cSldViewPr snapToGrid="0">
      <p:cViewPr varScale="1">
        <p:scale>
          <a:sx n="81" d="100"/>
          <a:sy n="81" d="100"/>
        </p:scale>
        <p:origin x="42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9405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9567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3097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7879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0652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6950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8938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1554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5403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5891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413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6.tiff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hyperlink" Target="https://www.pikist.com/free-photo-vhbtu" TargetMode="Externa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gouforit.com/guia-para-comprar-un-televisor-tv-en-2014/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26.jp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hyperlink" Target="http://www.vecteezy.com/spills-splatters/6375-splatter-pack-2" TargetMode="External"/><Relationship Id="rId4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Evaluating Real-World Problems Using the Order of Operations– Part 1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256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6107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75850" y="136525"/>
            <a:ext cx="80152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50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80655" y="1600200"/>
            <a:ext cx="100424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MA.8.NSO.1.7</a:t>
            </a:r>
          </a:p>
          <a:p>
            <a:pPr marL="461963"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multi-step mathematical and real-world problems involving the order of operations with rational numbers, including exponents and radicals.  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50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08166" y="129667"/>
            <a:ext cx="83613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56904" y="1596390"/>
            <a:ext cx="100787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35ECF7F-C39D-6939-5EFF-50772E0BE480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548A460E-EA36-AF19-2891-3AD9624E774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75850" y="30660"/>
            <a:ext cx="8463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50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45029" y="1498651"/>
            <a:ext cx="1010313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963" indent="-461963">
              <a:buFont typeface="Wingdings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real-world problems involving the order of operations with rational numbers, including exponents and radicals. </a:t>
            </a:r>
          </a:p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363000F-8DD5-41C9-E527-2908496624AA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3FAAC9A3-9356-FDC8-5BEB-3507CFC7E74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089" y="276614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00728" y="261917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E90283F-954E-EEDF-C04B-557C48AA2B52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83CEA2E-B310-7C5A-4C7E-A555EA41C02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20042" y="60326"/>
            <a:ext cx="96406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12.9.1 Warm-Up: </a:t>
            </a:r>
            <a:r>
              <a:rPr lang="en-US" sz="3600" b="1" dirty="0" err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FAILure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 Is an Option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02" y="34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031310" y="1386026"/>
            <a:ext cx="1012938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Mark Cuban is an American billionaire entrepreneur. He is the owner of an NBA team, the Dallas Mavericks, and one of the investors on the reality show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Shark Tank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 has been quoted as saying, “I wouldn’t be where I am now if I didn’t fail…a lot. The good, the bad, it’s all part of the success equation.”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Failing can be when you try something that doesn’t work out, but it can also be an opportunity.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63550" indent="-46355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following acronyms for F.A.I.L.</a:t>
            </a:r>
          </a:p>
          <a:p>
            <a:pPr marL="914400" indent="-452438">
              <a:buFont typeface="Arial" panose="020B0604020202020204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irst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ttempt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earning</a:t>
            </a:r>
          </a:p>
          <a:p>
            <a:pPr marL="914400" indent="-452438">
              <a:buFont typeface="Arial" panose="020B0604020202020204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orever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cquiring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mportant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essons</a:t>
            </a:r>
          </a:p>
          <a:p>
            <a:pPr marL="914400" indent="-452438">
              <a:buFont typeface="Arial" panose="020B0604020202020204" pitchFamily="34" charset="0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irst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ction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earning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E624FDD-55C4-E70D-AA95-D2C1521EF2CB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E97716AB-13F4-9728-52DA-E6094A1B80E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688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45030" y="520394"/>
            <a:ext cx="1009060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08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Star the acronym you connect with most. </a:t>
            </a:r>
          </a:p>
          <a:p>
            <a:pPr marL="914400" indent="-4508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can thinking about failure in this way be motivating?</a:t>
            </a:r>
          </a:p>
          <a:p>
            <a:pPr marL="914400" indent="-4508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085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your own acronym to remind you that failure is just “part of the success equation.”</a:t>
            </a:r>
          </a:p>
          <a:p>
            <a:pPr marL="914400" lvl="0" indent="-45085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EFE0C92C-A03B-6ACE-BF4B-A245A927F1EA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A4C58A3A-5F48-AB03-D5F5-09211B30D98F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06287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4759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AF347F1-F6D6-ACCE-13BE-89A062FD7039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0BFC80C4-05BC-EB70-A0DD-B6938013413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068779" y="1386026"/>
                <a:ext cx="10041807" cy="5170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Rodney needs to move some of his possessions into a storage unit. He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cubic boxes that measure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(in.) on each side. He also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cubic boxes that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in. on each side.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1963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determine the amount of space all the boxes will take up, Rodney writes the following expression.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3∙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+2∙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79" y="1386026"/>
                <a:ext cx="10041807" cy="5170646"/>
              </a:xfrm>
              <a:prstGeom prst="rect">
                <a:avLst/>
              </a:prstGeom>
              <a:blipFill>
                <a:blip r:embed="rId3"/>
                <a:stretch>
                  <a:fillRect l="-667" t="-589" r="-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10381" y="60325"/>
            <a:ext cx="960020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12.9.2 Collaboration: Applying the Order of Operations for Expressions in Real-World Contexts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0573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F8C3B2F7-00C8-BB4F-A07A-3E2FD028D9F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329" t="25780" r="6717" b="16826"/>
          <a:stretch/>
        </p:blipFill>
        <p:spPr bwMode="auto">
          <a:xfrm>
            <a:off x="3740580" y="3214089"/>
            <a:ext cx="3749040" cy="17005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BDEF7915-0749-F6CE-D13B-7672609E24E2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E2611F9A-F1E2-4EB3-DDCF-1DCAABF6518A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4" y="520394"/>
                <a:ext cx="10116311" cy="550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1963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Rodney’s calculations are shown.</a:t>
                </a:r>
              </a:p>
              <a:p>
                <a:endParaRPr lang="en-US" sz="22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3∙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+2∙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</m:t>
                          </m:r>
                        </m:e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3∙60+2∙39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180+78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258</m:t>
                      </m:r>
                    </m:oMath>
                  </m:oMathPara>
                </a14:m>
                <a:endParaRPr lang="en-US" sz="22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>
                  <a:buFont typeface="+mj-lt"/>
                  <a:buAutoNum type="alphaLcPeriod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an arrow to the step where Rodney first made an error.</a:t>
                </a:r>
              </a:p>
              <a:p>
                <a:pPr marL="914400" indent="-452438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/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>
                  <a:buFont typeface="+mj-lt"/>
                  <a:buAutoNum type="alphaLcPeriod" startAt="2"/>
                </a:pPr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Correct Rodney’s calculations in the space next to his work.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520394"/>
                <a:ext cx="10116311" cy="5509200"/>
              </a:xfrm>
              <a:prstGeom prst="rect">
                <a:avLst/>
              </a:prstGeom>
              <a:blipFill>
                <a:blip r:embed="rId4"/>
                <a:stretch>
                  <a:fillRect t="-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98BA142-5D20-9B75-6D61-C3E78B160AD3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697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4" y="520394"/>
                <a:ext cx="10091259" cy="4585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2438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cubic inches of storage does Rodney need?</a:t>
                </a:r>
              </a:p>
              <a:p>
                <a:pPr marL="914400" indent="-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2438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the smallest storage unit, which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(ft)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ft, will be large enough for his boxes. </a:t>
                </a:r>
              </a:p>
              <a:p>
                <a:pPr marL="925513" indent="-4635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25513" indent="-463550"/>
                <a:br>
                  <a:rPr lang="en-US" dirty="0"/>
                </a:br>
                <a:r>
                  <a:rPr lang="en-US" dirty="0"/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520394"/>
                <a:ext cx="10091259" cy="4585871"/>
              </a:xfrm>
              <a:prstGeom prst="rect">
                <a:avLst/>
              </a:prstGeom>
              <a:blipFill>
                <a:blip r:embed="rId3"/>
                <a:stretch>
                  <a:fillRect t="-1062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7B92C6A-1DBB-4BDF-E379-56CE9B643EB8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C46C5C01-CC18-78DB-1AC1-B800480A1B7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0277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10462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94759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2745ED3-9718-9966-0543-8128C416F847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9B0F2FFB-081E-2B7B-9F10-AFCF2F7DAC8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9196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90597" y="49869"/>
            <a:ext cx="965756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12.9.3 Guided Practice: Applying the Order of Operations Involving Exponents and Radicals for Real-World Contexts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717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056905" y="1481026"/>
                <a:ext cx="10091260" cy="3676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Doctors use a patient’s Body Mass Index (BMI) as a diagnostic tool when analyzing their health. The following formula is used to calculate BMI,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patient’s weight in pounds (</a:t>
                </a:r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lb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patient’s height in inches (in.).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∙ 703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 </a:t>
                </a:r>
              </a:p>
              <a:p>
                <a:pPr marL="4619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BMI for an adult who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tall and weighs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159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pounds. Round to the nearest tenth.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5" y="1481026"/>
                <a:ext cx="10091260" cy="3676969"/>
              </a:xfrm>
              <a:prstGeom prst="rect">
                <a:avLst/>
              </a:prstGeom>
              <a:blipFill>
                <a:blip r:embed="rId4"/>
                <a:stretch>
                  <a:fillRect l="-906" t="-1327" b="-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456BD90-F05F-6E37-AB1F-271D1A4680CB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D56E47A6-DAE6-E0FE-C690-C82DB323E99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891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4" y="520394"/>
                <a:ext cx="7999413" cy="3918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surface area (SA) of a cone can be found using the formula</a:t>
                </a:r>
              </a:p>
              <a:p>
                <a:pPr marL="461963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radius of the cone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height of the cone. The expression shown can be used to find the surface area of a sugar cone with a radius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2.25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centimeters (cm) and a height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cm.</a:t>
                </a:r>
              </a:p>
              <a:p>
                <a:pPr marL="4619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196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∙2.25∙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2.25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19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520394"/>
                <a:ext cx="7999413" cy="3918893"/>
              </a:xfrm>
              <a:prstGeom prst="rect">
                <a:avLst/>
              </a:prstGeom>
              <a:blipFill>
                <a:blip r:embed="rId3"/>
                <a:stretch>
                  <a:fillRect l="-1142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isolated, ice, cone, cream, crispy, empty, crunch | Pikist">
            <a:extLst>
              <a:ext uri="{FF2B5EF4-FFF2-40B4-BE49-F238E27FC236}">
                <a16:creationId xmlns:a16="http://schemas.microsoft.com/office/drawing/2014/main" id="{8E72953F-FD25-6C47-899C-DC0AB287DF3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830587" y="520393"/>
            <a:ext cx="1504315" cy="3111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010946-7A4A-844E-9A35-7AEC4C68D0C4}"/>
                  </a:ext>
                </a:extLst>
              </p:cNvPr>
              <p:cNvSpPr txBox="1"/>
              <p:nvPr/>
            </p:nvSpPr>
            <p:spPr>
              <a:xfrm>
                <a:off x="1056905" y="4861068"/>
                <a:ext cx="92779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surface area of the sugar cone in square cm. 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approximate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010946-7A4A-844E-9A35-7AEC4C68D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5" y="4861068"/>
                <a:ext cx="9277998" cy="830997"/>
              </a:xfrm>
              <a:prstGeom prst="rect">
                <a:avLst/>
              </a:prstGeom>
              <a:blipFill>
                <a:blip r:embed="rId6"/>
                <a:stretch>
                  <a:fillRect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22BAF028-11C6-0B11-A771-B99D05039562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571FE11B-E835-FA66-703F-6E843ECF34FB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1250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623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45037" y="520394"/>
                <a:ext cx="5245837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Television screen dimensions are advertised using the measure of the diagonal distance across the screen. Kevin plans to buy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-inch television that measures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52.3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in width.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37" y="520394"/>
                <a:ext cx="5245837" cy="2677656"/>
              </a:xfrm>
              <a:prstGeom prst="rect">
                <a:avLst/>
              </a:prstGeom>
              <a:blipFill>
                <a:blip r:embed="rId3"/>
                <a:stretch>
                  <a:fillRect l="-1742" t="-1818" r="-127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Guía para comprar un televisor (TV) en 2014">
            <a:extLst>
              <a:ext uri="{FF2B5EF4-FFF2-40B4-BE49-F238E27FC236}">
                <a16:creationId xmlns:a16="http://schemas.microsoft.com/office/drawing/2014/main" id="{2666FFE2-FA92-1644-8831-199F288D73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4468" r="14138" b="6001"/>
          <a:stretch/>
        </p:blipFill>
        <p:spPr bwMode="auto">
          <a:xfrm>
            <a:off x="6831437" y="354327"/>
            <a:ext cx="3444739" cy="24128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E6FB68F-8A51-2C4E-8B8C-F2614F68B2B3}"/>
              </a:ext>
            </a:extLst>
          </p:cNvPr>
          <p:cNvGrpSpPr/>
          <p:nvPr/>
        </p:nvGrpSpPr>
        <p:grpSpPr>
          <a:xfrm>
            <a:off x="6935763" y="2649842"/>
            <a:ext cx="3236085" cy="444500"/>
            <a:chOff x="0" y="0"/>
            <a:chExt cx="2743200" cy="4445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3D6484C-7490-DA46-9438-40C6435157A6}"/>
                </a:ext>
              </a:extLst>
            </p:cNvPr>
            <p:cNvCxnSpPr/>
            <p:nvPr/>
          </p:nvCxnSpPr>
          <p:spPr>
            <a:xfrm>
              <a:off x="0" y="88900"/>
              <a:ext cx="2743200" cy="0"/>
            </a:xfrm>
            <a:prstGeom prst="line">
              <a:avLst/>
            </a:prstGeom>
            <a:ln>
              <a:solidFill>
                <a:srgbClr val="703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2C9CC7-2327-994B-A355-9EA73CB4ACDC}"/>
                </a:ext>
              </a:extLst>
            </p:cNvPr>
            <p:cNvCxnSpPr/>
            <p:nvPr/>
          </p:nvCxnSpPr>
          <p:spPr>
            <a:xfrm>
              <a:off x="12700" y="12700"/>
              <a:ext cx="0" cy="165100"/>
            </a:xfrm>
            <a:prstGeom prst="line">
              <a:avLst/>
            </a:prstGeom>
            <a:ln>
              <a:solidFill>
                <a:srgbClr val="703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95E07F9-F130-BB40-8649-8E4BEB93AF52}"/>
                </a:ext>
              </a:extLst>
            </p:cNvPr>
            <p:cNvCxnSpPr/>
            <p:nvPr/>
          </p:nvCxnSpPr>
          <p:spPr>
            <a:xfrm>
              <a:off x="2730500" y="0"/>
              <a:ext cx="0" cy="165100"/>
            </a:xfrm>
            <a:prstGeom prst="line">
              <a:avLst/>
            </a:prstGeom>
            <a:ln>
              <a:solidFill>
                <a:srgbClr val="7030A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20">
                  <a:extLst>
                    <a:ext uri="{FF2B5EF4-FFF2-40B4-BE49-F238E27FC236}">
                      <a16:creationId xmlns:a16="http://schemas.microsoft.com/office/drawing/2014/main" id="{AA366A95-ECD8-CA47-A546-2C13BB0404A0}"/>
                    </a:ext>
                  </a:extLst>
                </p:cNvPr>
                <p:cNvSpPr txBox="1"/>
                <p:nvPr/>
              </p:nvSpPr>
              <p:spPr>
                <a:xfrm>
                  <a:off x="901700" y="50800"/>
                  <a:ext cx="1066800" cy="39370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52.3</m:t>
                      </m:r>
                    </m:oMath>
                  </a14:m>
                  <a:r>
                    <a:rPr lang="en-US" sz="2400" dirty="0">
                      <a:solidFill>
                        <a:srgbClr val="7030A0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in.</a:t>
                  </a:r>
                  <a:endPara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 Box 20">
                  <a:extLst>
                    <a:ext uri="{FF2B5EF4-FFF2-40B4-BE49-F238E27FC236}">
                      <a16:creationId xmlns:a16="http://schemas.microsoft.com/office/drawing/2014/main" id="{AA366A95-ECD8-CA47-A546-2C13BB040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700" y="50800"/>
                  <a:ext cx="1066800" cy="393700"/>
                </a:xfrm>
                <a:prstGeom prst="rect">
                  <a:avLst/>
                </a:prstGeom>
                <a:blipFill>
                  <a:blip r:embed="rId7"/>
                  <a:stretch>
                    <a:fillRect l="-990" t="-15625" r="-5941" b="-50000"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36643-EBD4-D34C-B0A9-BC44C36C9C26}"/>
              </a:ext>
            </a:extLst>
          </p:cNvPr>
          <p:cNvCxnSpPr>
            <a:cxnSpLocks/>
          </p:cNvCxnSpPr>
          <p:nvPr/>
        </p:nvCxnSpPr>
        <p:spPr>
          <a:xfrm flipV="1">
            <a:off x="6935763" y="520393"/>
            <a:ext cx="3221103" cy="1891734"/>
          </a:xfrm>
          <a:prstGeom prst="line">
            <a:avLst/>
          </a:prstGeom>
          <a:ln>
            <a:solidFill>
              <a:srgbClr val="00B0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F75B7DE7-CF37-4240-9484-9A71B8B1BF03}"/>
                  </a:ext>
                </a:extLst>
              </p:cNvPr>
              <p:cNvSpPr txBox="1"/>
              <p:nvPr/>
            </p:nvSpPr>
            <p:spPr>
              <a:xfrm>
                <a:off x="8628714" y="1446927"/>
                <a:ext cx="1094906" cy="3937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2400" dirty="0">
                    <a:solidFill>
                      <a:srgbClr val="00B0F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</a:rPr>
                  <a:t> in.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 Box 15">
                <a:extLst>
                  <a:ext uri="{FF2B5EF4-FFF2-40B4-BE49-F238E27FC236}">
                    <a16:creationId xmlns:a16="http://schemas.microsoft.com/office/drawing/2014/main" id="{F75B7DE7-CF37-4240-9484-9A71B8B1B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714" y="1446927"/>
                <a:ext cx="1094906" cy="393700"/>
              </a:xfrm>
              <a:prstGeom prst="rect">
                <a:avLst/>
              </a:prstGeom>
              <a:blipFill>
                <a:blip r:embed="rId8"/>
                <a:stretch>
                  <a:fillRect l="-1149" t="-15625" r="-2299" b="-5000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47249C-A585-BD46-92F6-AE6059D83988}"/>
                  </a:ext>
                </a:extLst>
              </p:cNvPr>
              <p:cNvSpPr txBox="1"/>
              <p:nvPr/>
            </p:nvSpPr>
            <p:spPr>
              <a:xfrm>
                <a:off x="1045037" y="3344178"/>
                <a:ext cx="10128171" cy="3183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61963"/>
                <a:r>
                  <a:rPr lang="en-US" sz="24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Kevin uses the expression shown to find the height of the space he needs to hang the television so there is at least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 inches above and below the screen.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52.3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Helvetica Neue" panose="02000503000000020004" pitchFamily="2" charset="0"/>
                                  <a:cs typeface="Helvetica Neue" panose="02000503000000020004" pitchFamily="2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m:t>+2(3)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algn="ctr">
                  <a:lnSpc>
                    <a:spcPct val="150000"/>
                  </a:lnSpc>
                </a:pPr>
                <a:r>
                  <a:rPr lang="en-US" sz="24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 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 indent="4763"/>
                <a:r>
                  <a:rPr lang="en-US" sz="2400" dirty="0">
                    <a:latin typeface="Verdana" panose="020B0604030504040204" pitchFamily="34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Find the height of the space Kevin needs. Round to the nearest thousandth.</a:t>
                </a:r>
                <a:endParaRPr lang="en-US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047249C-A585-BD46-92F6-AE6059D83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37" y="3344178"/>
                <a:ext cx="10128171" cy="3183885"/>
              </a:xfrm>
              <a:prstGeom prst="rect">
                <a:avLst/>
              </a:prstGeom>
              <a:blipFill>
                <a:blip r:embed="rId9"/>
                <a:stretch>
                  <a:fillRect t="-1533" b="-3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A27B2EB0-A099-DDF6-8044-AE50681E55F3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>
            <a:extLst>
              <a:ext uri="{FF2B5EF4-FFF2-40B4-BE49-F238E27FC236}">
                <a16:creationId xmlns:a16="http://schemas.microsoft.com/office/drawing/2014/main" id="{E317FD84-363C-D9DD-E725-D93CE6AD2521}"/>
              </a:ext>
            </a:extLst>
          </p:cNvPr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4750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86854" y="276197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7807" y="2893753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BBFDE1F-B2B8-8152-CEB2-687B88473C01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4B9AB7EE-6D14-F285-F43A-FD15130EB918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1524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78071" y="210637"/>
            <a:ext cx="8313779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8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12.9.4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225" y="2106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056905" y="1386026"/>
                <a:ext cx="10103786" cy="4449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expression. Show your work.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</m:ra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+4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(7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</a:rPr>
                      <m:t>)−3.75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5" y="1386026"/>
                <a:ext cx="10103786" cy="4449873"/>
              </a:xfrm>
              <a:prstGeom prst="rect">
                <a:avLst/>
              </a:prstGeom>
              <a:blipFill>
                <a:blip r:embed="rId4"/>
                <a:stretch>
                  <a:fillRect l="-905" t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3297616-E86A-243B-32BA-EE5E1C8644D8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E343E2F7-8D23-E1B7-9CC2-3728F9B68751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6958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65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56904" y="520393"/>
                <a:ext cx="10103785" cy="4459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Kinetic energy is the energy of an object in motion. It can be calculated using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mass of an object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object’s velocity.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619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a cyclist has a mass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kilograms (kg), his bicycle has a mass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kg, and he is traveling at a speed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meters (m) per second,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(71+22)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(8)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used to find the kinetic energy stored, measured in Joules. </a:t>
                </a:r>
              </a:p>
              <a:p>
                <a:pPr marL="461963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19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Calculate the kinetic energy. </a:t>
                </a:r>
              </a:p>
              <a:p>
                <a:pPr marL="461963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04" y="520393"/>
                <a:ext cx="10103785" cy="4459426"/>
              </a:xfrm>
              <a:prstGeom prst="rect">
                <a:avLst/>
              </a:prstGeom>
              <a:blipFill>
                <a:blip r:embed="rId3"/>
                <a:stretch>
                  <a:fillRect l="-905" t="-1093" r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3532B330-DBA2-BA81-5BB2-249078063E74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0432D116-382D-0546-959D-442518B71D4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4580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830975" y="276197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6938" y="291656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322D2FA-2A97-190F-512C-2E382006B1C7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1C72ADFC-9423-6125-C4B5-FD8D81C80F9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8767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277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21336" y="9119"/>
            <a:ext cx="84482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12.9.5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036" y="29831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056904" y="1386025"/>
            <a:ext cx="10116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was the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muddiest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(most difficult or confusing) point in today’s lesson on evaluating real-world problems using the order of operations? </a:t>
            </a:r>
          </a:p>
        </p:txBody>
      </p:sp>
      <p:pic>
        <p:nvPicPr>
          <p:cNvPr id="8" name="Picture 7" descr="Splatter pack 2 - Download Free Vector Art, Stock Graphics ...">
            <a:extLst>
              <a:ext uri="{FF2B5EF4-FFF2-40B4-BE49-F238E27FC236}">
                <a16:creationId xmlns:a16="http://schemas.microsoft.com/office/drawing/2014/main" id="{4525125C-D051-4E42-B470-917FB1038D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279900" y="2323460"/>
            <a:ext cx="3632200" cy="2540000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3C7A236-E4AD-C1DA-97CD-4081F41B111E}"/>
              </a:ext>
            </a:extLst>
          </p:cNvPr>
          <p:cNvSpPr txBox="1"/>
          <p:nvPr/>
        </p:nvSpPr>
        <p:spPr>
          <a:xfrm>
            <a:off x="8771787" y="62330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A339CF74-4BD7-DC58-62F8-046252F06897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578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19495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1068</Words>
  <Application>Microsoft Office PowerPoint</Application>
  <PresentationFormat>Widescreen</PresentationFormat>
  <Paragraphs>155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Verdana</vt:lpstr>
      <vt:lpstr>Times New Roman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8th Grade Math: Pre-Algebra  Unit 12, Lesson 9  Evaluating Real-World Problems Using the Order of Operations– Part 1  Volume 2, pg. 256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24</cp:revision>
  <dcterms:created xsi:type="dcterms:W3CDTF">2015-03-17T18:51:18Z</dcterms:created>
  <dcterms:modified xsi:type="dcterms:W3CDTF">2022-06-20T21:52:30Z</dcterms:modified>
</cp:coreProperties>
</file>