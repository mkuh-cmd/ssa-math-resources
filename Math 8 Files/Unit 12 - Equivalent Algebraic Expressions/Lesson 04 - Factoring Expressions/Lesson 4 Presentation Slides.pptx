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68" r:id="rId10"/>
    <p:sldId id="376" r:id="rId11"/>
    <p:sldId id="317" r:id="rId12"/>
    <p:sldId id="318" r:id="rId13"/>
    <p:sldId id="380" r:id="rId14"/>
    <p:sldId id="311" r:id="rId15"/>
    <p:sldId id="312" r:id="rId16"/>
    <p:sldId id="381" r:id="rId17"/>
    <p:sldId id="363" r:id="rId18"/>
    <p:sldId id="372" r:id="rId19"/>
    <p:sldId id="373" r:id="rId20"/>
    <p:sldId id="374" r:id="rId21"/>
    <p:sldId id="377" r:id="rId22"/>
    <p:sldId id="378" r:id="rId23"/>
    <p:sldId id="329" r:id="rId24"/>
    <p:sldId id="330" r:id="rId25"/>
    <p:sldId id="369" r:id="rId26"/>
    <p:sldId id="379" r:id="rId27"/>
    <p:sldId id="320" r:id="rId28"/>
    <p:sldId id="321" r:id="rId29"/>
    <p:sldId id="382" r:id="rId30"/>
    <p:sldId id="306" r:id="rId31"/>
    <p:sldId id="307" r:id="rId32"/>
  </p:sldIdLst>
  <p:sldSz cx="12192000" cy="6858000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Century Gothic" panose="020B0502020202020204" pitchFamily="34" charset="0"/>
      <p:regular r:id="rId45"/>
      <p:bold r:id="rId46"/>
      <p:italic r:id="rId47"/>
      <p:boldItalic r:id="rId48"/>
    </p:embeddedFont>
    <p:embeddedFont>
      <p:font typeface="Verdana" panose="020B060403050404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55"/>
    <p:restoredTop sz="94632"/>
  </p:normalViewPr>
  <p:slideViewPr>
    <p:cSldViewPr snapToGrid="0">
      <p:cViewPr varScale="1">
        <p:scale>
          <a:sx n="53" d="100"/>
          <a:sy n="53" d="100"/>
        </p:scale>
        <p:origin x="102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893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8725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666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9860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667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4444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8105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614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2529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5635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7493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991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Document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8th Grade Math: Pre-Algebra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pg.230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9875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378" y="169610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89413" y="136525"/>
            <a:ext cx="77500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72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56904" y="1600200"/>
            <a:ext cx="101037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MA.8.AR.1.3</a:t>
            </a:r>
          </a:p>
          <a:p>
            <a:pPr marL="74930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the sum of two algebraic expressions having a common monomial factor as a common factor multiplied by the sum of two algebraic expressions.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79418" y="129667"/>
            <a:ext cx="90374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45029" y="1596390"/>
            <a:ext cx="967914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C757CA74-9DF3-DC3D-7A54-403DB80CE06B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CF8CEDCF-4997-DB14-3949-D731E7B0AED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3124" y="30660"/>
            <a:ext cx="814650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56905" y="1498651"/>
            <a:ext cx="95599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an algebraic expression with a common factor using the distributive property.</a:t>
            </a:r>
          </a:p>
          <a:p>
            <a:endParaRPr lang="en-US" dirty="0"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948BF90-EA0F-072E-FE1A-39713920F852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EACE75A-2F11-B60A-79CA-C4C430D5CDC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369" y="290895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91288" y="276197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74A64E11-E31F-E9B3-F895-5274F2EC1FC1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86F40B1-65FF-8C13-9E7F-1920EA9BFD5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81468" y="60325"/>
            <a:ext cx="89576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12.4.1 Warm-Up: Number Puzzle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02" y="2350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056904" y="1386026"/>
            <a:ext cx="9330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puzzle by filling in each blank cell. The values in the blue box represent the products of the values at the end of each row and column.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A27D47B-340D-8E44-B9CD-DC4BB2D9A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48066"/>
              </p:ext>
            </p:extLst>
          </p:nvPr>
        </p:nvGraphicFramePr>
        <p:xfrm>
          <a:off x="2936943" y="2996748"/>
          <a:ext cx="5943600" cy="303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0848" imgH="3044559" progId="Word.Document.12">
                  <p:embed/>
                </p:oleObj>
              </mc:Choice>
              <mc:Fallback>
                <p:oleObj name="Document" r:id="rId4" imgW="5940848" imgH="30445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6943" y="2996748"/>
                        <a:ext cx="5943600" cy="303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16DD3DA-2ED7-E44D-74BC-6B13CC7FC892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20B9843-F9B3-41CD-C06D-91C3CA417C91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01392" y="2679367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8010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BC13A52-7E98-23F8-7975-C5600CB91D11}"/>
              </a:ext>
            </a:extLst>
          </p:cNvPr>
          <p:cNvSpPr txBox="1"/>
          <p:nvPr/>
        </p:nvSpPr>
        <p:spPr>
          <a:xfrm>
            <a:off x="8664476" y="62575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3CC0D5DE-25CB-443C-B1A5-D4505ABDBDC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90805" y="-85979"/>
            <a:ext cx="98454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12.4.2 Refresher: Common Factors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2019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1052186" y="1053873"/>
            <a:ext cx="96575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multiplication expressions, the numbers being multiplied are called factors and the result is called the product.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Numbers can have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common factors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CAC951-7E2E-8347-B7FB-675481162452}"/>
              </a:ext>
            </a:extLst>
          </p:cNvPr>
          <p:cNvGrpSpPr/>
          <p:nvPr/>
        </p:nvGrpSpPr>
        <p:grpSpPr>
          <a:xfrm>
            <a:off x="2697162" y="2447942"/>
            <a:ext cx="6797675" cy="786130"/>
            <a:chOff x="-168442" y="-40105"/>
            <a:chExt cx="6797842" cy="7862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30F49FA-0F2D-9B44-A05C-6EE330F06DDC}"/>
                </a:ext>
              </a:extLst>
            </p:cNvPr>
            <p:cNvGrpSpPr/>
            <p:nvPr/>
          </p:nvGrpSpPr>
          <p:grpSpPr>
            <a:xfrm>
              <a:off x="-168442" y="-40105"/>
              <a:ext cx="6797842" cy="786258"/>
              <a:chOff x="1862858" y="3335365"/>
              <a:chExt cx="6797842" cy="100853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2B4900A-149F-4445-B784-36FCE950A9D3}"/>
                  </a:ext>
                </a:extLst>
              </p:cNvPr>
              <p:cNvGrpSpPr/>
              <p:nvPr/>
            </p:nvGrpSpPr>
            <p:grpSpPr>
              <a:xfrm>
                <a:off x="1862858" y="3335365"/>
                <a:ext cx="6797842" cy="1008530"/>
                <a:chOff x="-168442" y="-51443"/>
                <a:chExt cx="6797842" cy="1008530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A71EA06C-1EAE-2E4B-907A-403E9051A77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B7EC3C3-2C03-2D4B-9434-430F21C175C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5A04BE05-E52E-F543-A32C-FD6088378AB7}"/>
                    </a:ext>
                  </a:extLst>
                </p:cNvPr>
                <p:cNvSpPr/>
                <p:nvPr/>
              </p:nvSpPr>
              <p:spPr>
                <a:xfrm>
                  <a:off x="-168442" y="-51443"/>
                  <a:ext cx="6629400" cy="10085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</p:grpSp>
        </p:grpSp>
        <p:pic>
          <p:nvPicPr>
            <p:cNvPr id="17" name="image15.png" descr="Icon&#10;&#10;Description automatically generated">
              <a:extLst>
                <a:ext uri="{FF2B5EF4-FFF2-40B4-BE49-F238E27FC236}">
                  <a16:creationId xmlns:a16="http://schemas.microsoft.com/office/drawing/2014/main" id="{37137ADD-AF1D-B647-BA39-A1EEF463279A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50471" y="81023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C6BDC7C-31D1-1C4A-A968-D69BC7F145F5}"/>
              </a:ext>
            </a:extLst>
          </p:cNvPr>
          <p:cNvSpPr/>
          <p:nvPr/>
        </p:nvSpPr>
        <p:spPr>
          <a:xfrm>
            <a:off x="3648748" y="2477168"/>
            <a:ext cx="54696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common factor</a:t>
            </a:r>
            <a:r>
              <a:rPr lang="en-US" sz="2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two numbers is a factor that they both share.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8F7449-A3AD-8447-BA65-C7C92F7E2A78}"/>
                  </a:ext>
                </a:extLst>
              </p:cNvPr>
              <p:cNvSpPr/>
              <p:nvPr/>
            </p:nvSpPr>
            <p:spPr>
              <a:xfrm>
                <a:off x="1052187" y="6071662"/>
                <a:ext cx="1010850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9BBB59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greatest common factor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8F7449-A3AD-8447-BA65-C7C92F7E2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187" y="6071662"/>
                <a:ext cx="10108504" cy="400110"/>
              </a:xfrm>
              <a:prstGeom prst="rect">
                <a:avLst/>
              </a:prstGeom>
              <a:blipFill>
                <a:blip r:embed="rId6"/>
                <a:stretch>
                  <a:fillRect l="-66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A443A64-B8AC-7949-9E17-1536266A3956}"/>
              </a:ext>
            </a:extLst>
          </p:cNvPr>
          <p:cNvGrpSpPr/>
          <p:nvPr/>
        </p:nvGrpSpPr>
        <p:grpSpPr>
          <a:xfrm>
            <a:off x="2781300" y="4521361"/>
            <a:ext cx="6629400" cy="1403474"/>
            <a:chOff x="0" y="-36669"/>
            <a:chExt cx="6629400" cy="14039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D6E8A89C-0F3D-C745-A1BE-9AB4566E7BDC}"/>
                </a:ext>
              </a:extLst>
            </p:cNvPr>
            <p:cNvSpPr/>
            <p:nvPr/>
          </p:nvSpPr>
          <p:spPr>
            <a:xfrm>
              <a:off x="0" y="-36669"/>
              <a:ext cx="6629400" cy="1403981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685800">
                <a:spcAft>
                  <a:spcPts val="1000"/>
                </a:spcAft>
              </a:pPr>
              <a:r>
                <a:rPr lang="en-US" sz="12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  <a:p>
              <a:pPr marL="685800">
                <a:spcAft>
                  <a:spcPts val="1000"/>
                </a:spcAft>
              </a:pPr>
              <a:r>
                <a:rPr lang="en-US" sz="2000" dirty="0">
                  <a:solidFill>
                    <a:schemeClr val="accent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</a:t>
              </a:r>
              <a:r>
                <a:rPr lang="en-US" sz="2000" b="1" i="1" dirty="0">
                  <a:solidFill>
                    <a:schemeClr val="accent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greatest common factor </a:t>
              </a:r>
              <a:r>
                <a:rPr lang="en-US" sz="2000" dirty="0">
                  <a:solidFill>
                    <a:schemeClr val="accent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(GCF) of two or more whole numbers is the largest whole number that evenly divides the given whole numbers.</a:t>
              </a:r>
            </a:p>
            <a:p>
              <a:pPr marL="685800">
                <a:spcAft>
                  <a:spcPts val="1000"/>
                </a:spcAft>
              </a:pPr>
              <a:endPara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Shape 7" descr="Icon&#10;&#10;Description automatically generated">
              <a:extLst>
                <a:ext uri="{FF2B5EF4-FFF2-40B4-BE49-F238E27FC236}">
                  <a16:creationId xmlns:a16="http://schemas.microsoft.com/office/drawing/2014/main" id="{10532B6F-BA8B-EF47-A33D-B72E1B92735F}"/>
                </a:ext>
              </a:extLst>
            </p:cNvPr>
            <p:cNvPicPr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0677" y="98473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3C26F29F-2A47-9F7E-92F1-3404CCA05CDB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83;g104476d1465_1_17">
            <a:extLst>
              <a:ext uri="{FF2B5EF4-FFF2-40B4-BE49-F238E27FC236}">
                <a16:creationId xmlns:a16="http://schemas.microsoft.com/office/drawing/2014/main" id="{A026CFB4-2D32-0028-F643-5F7B65F22F3F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6E3A90-7C68-E6A6-F38C-4154BD458E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1727" y="3295783"/>
            <a:ext cx="454405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27135" y="520393"/>
            <a:ext cx="10133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number pairs in the table, list the common factors. Then, identify the GCF.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8D28E26-855D-2B49-86E0-2FC15E3DC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107465"/>
              </p:ext>
            </p:extLst>
          </p:nvPr>
        </p:nvGraphicFramePr>
        <p:xfrm>
          <a:off x="2311400" y="1397000"/>
          <a:ext cx="68072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05225" imgH="3025637" progId="Word.Document.12">
                  <p:embed/>
                </p:oleObj>
              </mc:Choice>
              <mc:Fallback>
                <p:oleObj name="Document" r:id="rId3" imgW="5905225" imgH="30256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0" y="1397000"/>
                        <a:ext cx="6807200" cy="346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05F0587-6DC1-0A4C-89A3-3CA3CFA70377}"/>
              </a:ext>
            </a:extLst>
          </p:cNvPr>
          <p:cNvSpPr/>
          <p:nvPr/>
        </p:nvSpPr>
        <p:spPr>
          <a:xfrm>
            <a:off x="1027135" y="4721878"/>
            <a:ext cx="9382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738">
              <a:spcBef>
                <a:spcPts val="180"/>
              </a:spcBef>
              <a:spcAft>
                <a:spcPts val="180"/>
              </a:spcAf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factors can be used to rewrite numeric expressions.</a:t>
            </a:r>
            <a:endParaRPr lang="en-US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35EADAA-CC07-69A8-D0C0-9CB9F34B69EC}"/>
              </a:ext>
            </a:extLst>
          </p:cNvPr>
          <p:cNvSpPr txBox="1"/>
          <p:nvPr/>
        </p:nvSpPr>
        <p:spPr>
          <a:xfrm>
            <a:off x="8664476" y="62575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BDDDC60-C832-2BA1-9AA1-74A825864AB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691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232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21278" y="520394"/>
                <a:ext cx="10101834" cy="5847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24+32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6088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List all common factors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6088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6088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6088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steps to rewrite the sum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their GCF.</a:t>
                </a:r>
              </a:p>
              <a:p>
                <a:pPr algn="ctr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lang="en-US" sz="2200" i="1" dirty="0">
                  <a:solidFill>
                    <a:schemeClr val="accent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(8×______)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(8×______)</m:t>
                      </m:r>
                    </m:oMath>
                  </m:oMathPara>
                </a14:m>
                <a:endParaRPr lang="en-US" sz="22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8(</m:t>
                      </m:r>
                      <m:r>
                        <a:rPr lang="en-US" sz="22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another </a:t>
                </a:r>
                <a:r>
                  <a:rPr lang="en-US" sz="22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common factor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write a different equivalent expression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24+32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24+32</m:t>
                      </m:r>
                    </m:oMath>
                  </m:oMathPara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×______)+(</m:t>
                      </m:r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×______)</m:t>
                      </m:r>
                    </m:oMath>
                  </m:oMathPara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(______+______)</m:t>
                      </m:r>
                    </m:oMath>
                  </m:oMathPara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278" y="520394"/>
                <a:ext cx="10101834" cy="5847755"/>
              </a:xfrm>
              <a:prstGeom prst="rect">
                <a:avLst/>
              </a:prstGeom>
              <a:blipFill>
                <a:blip r:embed="rId4"/>
                <a:stretch>
                  <a:fillRect l="-845" t="-833" r="-1267" b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7AEBBCB-4AF8-6CD2-AB63-DE275C3E0F1A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486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225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020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F5D89DF-7CBA-425D-FDEF-529962455CB6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B4D1A93-B5DE-4771-2AC7-A89E8254434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43792" y="60325"/>
            <a:ext cx="83326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12.4.3 Activity: Card Sort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31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045030" y="1418712"/>
            <a:ext cx="101031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numeric expressions are shown. Work with your partner to find at least one equivalent expression for each. Expressions may have one, two, or three matches.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 the letter(s) of the equivalent expressions in the space provided under each expression.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D703F28D-FA8E-3091-FA5D-3A4CBBD6DB0C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03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alendar&#10;&#10;Description automatically generated">
            <a:extLst>
              <a:ext uri="{FF2B5EF4-FFF2-40B4-BE49-F238E27FC236}">
                <a16:creationId xmlns:a16="http://schemas.microsoft.com/office/drawing/2014/main" id="{3E457DA0-D187-DC4E-91F0-0073BA91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783" y="390353"/>
            <a:ext cx="6390435" cy="6067323"/>
          </a:xfrm>
          <a:prstGeom prst="rect">
            <a:avLst/>
          </a:prstGeom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8AC4398-A9AD-134C-CD3C-8896D4AF4A06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54A513C6-DBE8-FE05-6FED-945818B9B26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2991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02294" y="2785114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8633" y="286985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F9B3246-7D1B-22C0-D03F-D1415F88B298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6101D59-3F26-9DA3-8876-EA5513846FE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03122" y="199472"/>
            <a:ext cx="96450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12.4.4 Exploration: Equivalent Forms of Algebraic Expressions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249" y="28280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056904" y="1634150"/>
            <a:ext cx="9559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Common factors can also be used to rewrite algebraic expressions.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understanding of common factors to complete the area models shown.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7F8AE69-7D28-41B6-5605-D4803C47E385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C2FF5D79-EEEA-B506-8A65-1A02C7EBBF9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DFA44141-CE3F-2848-9E9C-9EE1AFAD19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8506" y="621612"/>
            <a:ext cx="8908321" cy="5007292"/>
          </a:xfrm>
          <a:prstGeom prst="rect">
            <a:avLst/>
          </a:prstGeom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B79941E4-B148-7B9C-6199-6D606FB7ECC6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0608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27134" y="587235"/>
                <a:ext cx="10133556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area model can be used to show the relationship between equivalent forms of algebraic expressions.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area models in the previous problem, the factored form of an expression is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𝑤𝑖𝑑𝑡h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𝑙𝑒𝑛𝑔𝑡h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larger rectangle. An equivalent form can be represented by the sum of the areas of each smaller rectangle.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34" y="587235"/>
                <a:ext cx="10133556" cy="2985433"/>
              </a:xfrm>
              <a:prstGeom prst="rect">
                <a:avLst/>
              </a:prstGeom>
              <a:blipFill>
                <a:blip r:embed="rId3"/>
                <a:stretch>
                  <a:fillRect l="-902" t="-1633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BE0901C-6602-18A7-3357-CECB9890F303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2808C8C-245A-73D0-8320-73AEAEC30C1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39660" y="328763"/>
            <a:ext cx="10095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1963" indent="-461963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using the area models from the previous problem.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06A3A6-B13F-AB4E-904C-91B26AD04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761796"/>
              </p:ext>
            </p:extLst>
          </p:nvPr>
        </p:nvGraphicFramePr>
        <p:xfrm>
          <a:off x="2728355" y="1159760"/>
          <a:ext cx="5870167" cy="590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4087" imgH="5974679" progId="Word.Document.12">
                  <p:embed/>
                </p:oleObj>
              </mc:Choice>
              <mc:Fallback>
                <p:oleObj name="Document" r:id="rId3" imgW="5944087" imgH="5974679" progId="Word.Documen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76A572C-E746-A44C-94A5-357B298284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8355" y="1159760"/>
                        <a:ext cx="5870167" cy="5906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93F0474-0B88-9998-400F-C7A83965B345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38635A7-466B-8DF8-1179-7A72BFBBE2D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4616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27134" y="451263"/>
            <a:ext cx="101460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work with your partner. Discuss any differences and make any corrections as needed.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using area models, complete the table.</a:t>
            </a:r>
          </a:p>
          <a:p>
            <a:pPr lvl="0"/>
            <a:endParaRPr lang="en-US" sz="2400" dirty="0"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C731950-7ED4-F881-4FAD-9A745175B0B7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1DA9300-8C99-DE5A-44CE-32BFC22C672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9242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613FD4A-9669-8247-A0D7-D10E0AA27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331145"/>
                  </p:ext>
                </p:extLst>
              </p:nvPr>
            </p:nvGraphicFramePr>
            <p:xfrm>
              <a:off x="3308187" y="361675"/>
              <a:ext cx="5585792" cy="609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92896">
                      <a:extLst>
                        <a:ext uri="{9D8B030D-6E8A-4147-A177-3AD203B41FA5}">
                          <a16:colId xmlns:a16="http://schemas.microsoft.com/office/drawing/2014/main" val="3252380888"/>
                        </a:ext>
                      </a:extLst>
                    </a:gridCol>
                    <a:gridCol w="2792896">
                      <a:extLst>
                        <a:ext uri="{9D8B030D-6E8A-4147-A177-3AD203B41FA5}">
                          <a16:colId xmlns:a16="http://schemas.microsoft.com/office/drawing/2014/main" val="3911370327"/>
                        </a:ext>
                      </a:extLst>
                    </a:gridCol>
                  </a:tblGrid>
                  <a:tr h="4351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54392" marR="5439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54392" marR="5439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4447045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−4(2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1572575772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96974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3276889102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−11)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3300023282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1391916865"/>
                      </a:ext>
                    </a:extLst>
                  </a:tr>
                  <a:tr h="652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6107928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613FD4A-9669-8247-A0D7-D10E0AA27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331145"/>
                  </p:ext>
                </p:extLst>
              </p:nvPr>
            </p:nvGraphicFramePr>
            <p:xfrm>
              <a:off x="3308187" y="361675"/>
              <a:ext cx="5585792" cy="609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92896">
                      <a:extLst>
                        <a:ext uri="{9D8B030D-6E8A-4147-A177-3AD203B41FA5}">
                          <a16:colId xmlns:a16="http://schemas.microsoft.com/office/drawing/2014/main" val="3252380888"/>
                        </a:ext>
                      </a:extLst>
                    </a:gridCol>
                    <a:gridCol w="2792896">
                      <a:extLst>
                        <a:ext uri="{9D8B030D-6E8A-4147-A177-3AD203B41FA5}">
                          <a16:colId xmlns:a16="http://schemas.microsoft.com/office/drawing/2014/main" val="3911370327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54392" marR="5439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54392" marR="5439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444704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218" t="-75333" r="-100436" b="-5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157257577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218" t="-175333" r="-100436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969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100437" t="-273510" r="-655" b="-299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68891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218" t="-376000" r="-100436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330002328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100437" t="-476000" r="-655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91686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blipFill>
                          <a:blip r:embed="rId3"/>
                          <a:stretch>
                            <a:fillRect l="-218" t="-576000" r="-100436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4392" marR="54392" marT="0" marB="0" anchor="ctr"/>
                    </a:tc>
                    <a:extLst>
                      <a:ext uri="{0D108BD9-81ED-4DB2-BD59-A6C34878D82A}">
                        <a16:rowId xmlns:a16="http://schemas.microsoft.com/office/drawing/2014/main" val="6107928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41974F0-4F12-D7D7-493B-A2459E8DF0AC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18F1572-0125-D27D-393C-87E73E5DD5B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4251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29" y="520394"/>
                <a:ext cx="9289872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determined the factored form of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−25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520394"/>
                <a:ext cx="9289872" cy="1508105"/>
              </a:xfrm>
              <a:prstGeom prst="rect">
                <a:avLst/>
              </a:prstGeom>
              <a:blipFill>
                <a:blip r:embed="rId4"/>
                <a:stretch>
                  <a:fillRect t="-3226" r="-1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00EF08E-855B-B84F-D475-388DA4A1E170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4979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30" y="520394"/>
                <a:ext cx="957179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4488" indent="-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5. For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Pao and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Camiya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wrote different factored forms of the expression.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0" y="520394"/>
                <a:ext cx="9571796" cy="1692771"/>
              </a:xfrm>
              <a:prstGeom prst="rect">
                <a:avLst/>
              </a:prstGeom>
              <a:blipFill>
                <a:blip r:embed="rId3"/>
                <a:stretch>
                  <a:fillRect l="-637" t="-1799" r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87C2EB7-2FA7-5D40-863C-ADC5716CE7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394705"/>
                  </p:ext>
                </p:extLst>
              </p:nvPr>
            </p:nvGraphicFramePr>
            <p:xfrm>
              <a:off x="2809062" y="1551812"/>
              <a:ext cx="6685712" cy="13227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342856">
                      <a:extLst>
                        <a:ext uri="{9D8B030D-6E8A-4147-A177-3AD203B41FA5}">
                          <a16:colId xmlns:a16="http://schemas.microsoft.com/office/drawing/2014/main" val="1494998688"/>
                        </a:ext>
                      </a:extLst>
                    </a:gridCol>
                    <a:gridCol w="3342856">
                      <a:extLst>
                        <a:ext uri="{9D8B030D-6E8A-4147-A177-3AD203B41FA5}">
                          <a16:colId xmlns:a16="http://schemas.microsoft.com/office/drawing/2014/main" val="1167869424"/>
                        </a:ext>
                      </a:extLst>
                    </a:gridCol>
                  </a:tblGrid>
                  <a:tr h="6613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Pao’s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Camiya’s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1237330"/>
                      </a:ext>
                    </a:extLst>
                  </a:tr>
                  <a:tr h="6613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10(2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3615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87C2EB7-2FA7-5D40-863C-ADC5716CE7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394705"/>
                  </p:ext>
                </p:extLst>
              </p:nvPr>
            </p:nvGraphicFramePr>
            <p:xfrm>
              <a:off x="2809062" y="1551812"/>
              <a:ext cx="6685712" cy="13227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342856">
                      <a:extLst>
                        <a:ext uri="{9D8B030D-6E8A-4147-A177-3AD203B41FA5}">
                          <a16:colId xmlns:a16="http://schemas.microsoft.com/office/drawing/2014/main" val="1494998688"/>
                        </a:ext>
                      </a:extLst>
                    </a:gridCol>
                    <a:gridCol w="3342856">
                      <a:extLst>
                        <a:ext uri="{9D8B030D-6E8A-4147-A177-3AD203B41FA5}">
                          <a16:colId xmlns:a16="http://schemas.microsoft.com/office/drawing/2014/main" val="1167869424"/>
                        </a:ext>
                      </a:extLst>
                    </a:gridCol>
                  </a:tblGrid>
                  <a:tr h="6613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Pao’s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Camiya’s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1237330"/>
                      </a:ext>
                    </a:extLst>
                  </a:tr>
                  <a:tr h="66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82" t="-100917" r="-100364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0182" t="-100917" r="-364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61578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DDCFB1-876B-AB4B-8D4E-9453DE9B2AAC}"/>
                  </a:ext>
                </a:extLst>
              </p:cNvPr>
              <p:cNvSpPr/>
              <p:nvPr/>
            </p:nvSpPr>
            <p:spPr>
              <a:xfrm>
                <a:off x="1045029" y="3244584"/>
                <a:ext cx="9571796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who wrote a correct equivalent expression in factored form.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another equivalent expression using a different common factor?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expression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using the GCF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DDCFB1-876B-AB4B-8D4E-9453DE9B2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3244584"/>
                <a:ext cx="9571796" cy="3170099"/>
              </a:xfrm>
              <a:prstGeom prst="rect">
                <a:avLst/>
              </a:prstGeom>
              <a:blipFill>
                <a:blip r:embed="rId5"/>
                <a:stretch>
                  <a:fillRect t="-134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DDAFC3B-A500-02A9-67B0-3F3966E20D8B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31C0198C-DDB6-B252-8660-F54F3401092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9576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71074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00154" y="26329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9605" y="280645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0052541-4448-7638-A101-1E82B8464534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531EB819-FBF9-ECCC-AA49-F89C26366E7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1525" y="-12827"/>
            <a:ext cx="97766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12.4.5 Bring It Together: Factoring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1056905" y="1386026"/>
                <a:ext cx="965284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Properties of operations can be used in different ways to create equivalent expressions.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distributive property can be used to expand an expression. For example,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+3(5)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distributive property can also be used to factor an expression. For example,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2(4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4(2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Equivalent expressions can also be generated using the commutative property of addition or multiplication.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+6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4(3+2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5" y="1386026"/>
                <a:ext cx="9652848" cy="4401205"/>
              </a:xfrm>
              <a:prstGeom prst="rect">
                <a:avLst/>
              </a:prstGeom>
              <a:blipFill>
                <a:blip r:embed="rId3"/>
                <a:stretch>
                  <a:fillRect l="-631" t="-693" r="-126" b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C83A8687-31CC-0249-9695-539B96D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27511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BFD46BE-7E48-83A9-C6B0-FFB73525F0AE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9F15C4AC-B9CE-190D-1EE6-1F807680239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184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33153" y="505122"/>
                <a:ext cx="10120677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 to factor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−36.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a common factor of the terms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lvl="4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result of dividing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the common factor selected?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result of dividing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the common factor selected?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answers to Parts A-C to write an expression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factored form.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−36=______(______ + ______)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a different common factor from Part A, and use it to write a different equivalent expression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−36=______(______ + ______)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3" y="505122"/>
                <a:ext cx="10120677" cy="5940088"/>
              </a:xfrm>
              <a:prstGeom prst="rect">
                <a:avLst/>
              </a:prstGeom>
              <a:blipFill>
                <a:blip r:embed="rId3"/>
                <a:stretch>
                  <a:fillRect l="-662" t="-719" b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5BA4D60-5545-6647-9F82-E34E447DCE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5693" y="1660899"/>
            <a:ext cx="4701209" cy="456428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2AC1330-E8C5-402E-5B36-1C6F77C53BA0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A0B7AC2-F435-B331-A2A0-D6E664C1078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434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27134" y="520394"/>
            <a:ext cx="9307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expressions are shown.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ADA30A-2C7E-A642-8199-64B2D14814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709812"/>
                  </p:ext>
                </p:extLst>
              </p:nvPr>
            </p:nvGraphicFramePr>
            <p:xfrm>
              <a:off x="2925763" y="1247762"/>
              <a:ext cx="6340475" cy="166497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99945">
                      <a:extLst>
                        <a:ext uri="{9D8B030D-6E8A-4147-A177-3AD203B41FA5}">
                          <a16:colId xmlns:a16="http://schemas.microsoft.com/office/drawing/2014/main" val="4200474109"/>
                        </a:ext>
                      </a:extLst>
                    </a:gridCol>
                    <a:gridCol w="2120265">
                      <a:extLst>
                        <a:ext uri="{9D8B030D-6E8A-4147-A177-3AD203B41FA5}">
                          <a16:colId xmlns:a16="http://schemas.microsoft.com/office/drawing/2014/main" val="311072549"/>
                        </a:ext>
                      </a:extLst>
                    </a:gridCol>
                    <a:gridCol w="2120265">
                      <a:extLst>
                        <a:ext uri="{9D8B030D-6E8A-4147-A177-3AD203B41FA5}">
                          <a16:colId xmlns:a16="http://schemas.microsoft.com/office/drawing/2014/main" val="5865797"/>
                        </a:ext>
                      </a:extLst>
                    </a:gridCol>
                  </a:tblGrid>
                  <a:tr h="8324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8(3+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2(8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+12)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+6)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14591471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+8)3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1+3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12+4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04628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ADA30A-2C7E-A642-8199-64B2D14814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709812"/>
                  </p:ext>
                </p:extLst>
              </p:nvPr>
            </p:nvGraphicFramePr>
            <p:xfrm>
              <a:off x="2925763" y="1247762"/>
              <a:ext cx="6340475" cy="166497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99945">
                      <a:extLst>
                        <a:ext uri="{9D8B030D-6E8A-4147-A177-3AD203B41FA5}">
                          <a16:colId xmlns:a16="http://schemas.microsoft.com/office/drawing/2014/main" val="4200474109"/>
                        </a:ext>
                      </a:extLst>
                    </a:gridCol>
                    <a:gridCol w="2120265">
                      <a:extLst>
                        <a:ext uri="{9D8B030D-6E8A-4147-A177-3AD203B41FA5}">
                          <a16:colId xmlns:a16="http://schemas.microsoft.com/office/drawing/2014/main" val="311072549"/>
                        </a:ext>
                      </a:extLst>
                    </a:gridCol>
                    <a:gridCol w="2120265">
                      <a:extLst>
                        <a:ext uri="{9D8B030D-6E8A-4147-A177-3AD203B41FA5}">
                          <a16:colId xmlns:a16="http://schemas.microsoft.com/office/drawing/2014/main" val="5865797"/>
                        </a:ext>
                      </a:extLst>
                    </a:gridCol>
                  </a:tblGrid>
                  <a:tr h="8324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0" t="-730" r="-202609" b="-1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9140" t="-730" r="-100287" b="-1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99713" t="-730" r="-575" b="-10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4591471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0" t="-100730" r="-202609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9140" t="-100730" r="-100287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99713" t="-100730" r="-575" b="-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4628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DEB668E-A2E4-E647-AC20-9AEE013DAF96}"/>
                  </a:ext>
                </a:extLst>
              </p:cNvPr>
              <p:cNvSpPr/>
              <p:nvPr/>
            </p:nvSpPr>
            <p:spPr>
              <a:xfrm>
                <a:off x="1027134" y="3155986"/>
                <a:ext cx="10133556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expressions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Put an asterisk (*) next to the equivalent expression that has the GCF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one of its factors.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Put a smiley face (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Wingdings" pitchFamily="2" charset="2"/>
                  </a:rPr>
                  <a:t>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next to an expression where more than one property of operations can be used to show it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DEB668E-A2E4-E647-AC20-9AEE013DA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34" y="3155986"/>
                <a:ext cx="10133556" cy="2862322"/>
              </a:xfrm>
              <a:prstGeom prst="rect">
                <a:avLst/>
              </a:prstGeom>
              <a:blipFill>
                <a:blip r:embed="rId4"/>
                <a:stretch>
                  <a:fillRect t="-1493" r="-102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3B0BE9A-2223-992B-E515-52302BA93D30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5A63F85-2BBA-6CFB-9D40-1145619CD0A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2828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6150"/>
            <a:ext cx="35076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E7C1D4D-941F-6D14-57DB-45B50812D4F0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1D26F52-4E85-84ED-1420-E5398DE6F88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541" y="60325"/>
            <a:ext cx="10097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12.4.6 Try It: Factoring Expressions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045029" y="1386025"/>
                <a:ext cx="934255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expression in an equivalent factored form.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+20=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−32=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−27−12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386025"/>
                <a:ext cx="9342555" cy="4524315"/>
              </a:xfrm>
              <a:prstGeom prst="rect">
                <a:avLst/>
              </a:prstGeom>
              <a:blipFill>
                <a:blip r:embed="rId4"/>
                <a:stretch>
                  <a:fillRect l="-978" t="-1077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528A36B5-9F60-D629-944F-1DBBD9BC1BD0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F3CCB5E1-8772-269A-40E3-8A0F19BE147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039660" y="376627"/>
                <a:ext cx="10108504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the blanks of the equation to make it true.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109220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=____(____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60" y="376627"/>
                <a:ext cx="10108504" cy="1415772"/>
              </a:xfrm>
              <a:prstGeom prst="rect">
                <a:avLst/>
              </a:prstGeom>
              <a:blipFill>
                <a:blip r:embed="rId4"/>
                <a:stretch>
                  <a:fillRect l="-1005" t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AD2B02D1-67BE-6680-2BD5-4DB56D959974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831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61824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1990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B64557B-0111-54DC-0F5F-C87CA7941202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0E2416C-23AB-AC15-5B12-B9C6E0F10F6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8166" y="58706"/>
            <a:ext cx="83658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30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056904" y="1386025"/>
                <a:ext cx="1009126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Janelle missed math class today. She understands using the distributive property to expand an expression, but she doesn’t know how to rewrite the sum of two terms with a common factor in factored form.</a:t>
                </a:r>
              </a:p>
              <a:p>
                <a:pPr fontAlgn="base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3550" indent="-4635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Explain to Janelle how to rewrite an expression like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an equivalent factored form.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1386025"/>
                <a:ext cx="10091260" cy="2677656"/>
              </a:xfrm>
              <a:prstGeom prst="rect">
                <a:avLst/>
              </a:prstGeom>
              <a:blipFill>
                <a:blip r:embed="rId4"/>
                <a:stretch>
                  <a:fillRect l="-906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2E5CDB6A-715F-A948-F1D9-6C62432C7618}"/>
              </a:ext>
            </a:extLst>
          </p:cNvPr>
          <p:cNvSpPr txBox="1"/>
          <p:nvPr/>
        </p:nvSpPr>
        <p:spPr>
          <a:xfrm>
            <a:off x="86644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EC5C2BC2-FB08-DA0F-5806-25B7587906D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1381</Words>
  <Application>Microsoft Office PowerPoint</Application>
  <PresentationFormat>Widescreen</PresentationFormat>
  <Paragraphs>234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Document</vt:lpstr>
      <vt:lpstr>8th Grade Math: Pre-Algebra   Unit 12, Lesson 4  Factoring Expressions  Volume 2, pg.230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37</cp:revision>
  <dcterms:created xsi:type="dcterms:W3CDTF">2015-03-17T18:51:18Z</dcterms:created>
  <dcterms:modified xsi:type="dcterms:W3CDTF">2022-07-21T00:51:26Z</dcterms:modified>
</cp:coreProperties>
</file>