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theme/theme6.xml" ContentType="application/vnd.openxmlformats-officedocument.theme+xml"/>
  <Override PartName="/ppt/slideLayouts/slideLayout1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 id="2147483662" r:id="rId3"/>
    <p:sldMasterId id="2147483664" r:id="rId4"/>
    <p:sldMasterId id="2147483666" r:id="rId5"/>
    <p:sldMasterId id="2147483668" r:id="rId6"/>
    <p:sldMasterId id="2147483670" r:id="rId7"/>
  </p:sldMasterIdLst>
  <p:notesMasterIdLst>
    <p:notesMasterId r:id="rId35"/>
  </p:notesMasterIdLst>
  <p:sldIdLst>
    <p:sldId id="256" r:id="rId8"/>
    <p:sldId id="257" r:id="rId9"/>
    <p:sldId id="258" r:id="rId10"/>
    <p:sldId id="286" r:id="rId11"/>
    <p:sldId id="260" r:id="rId12"/>
    <p:sldId id="261" r:id="rId13"/>
    <p:sldId id="262" r:id="rId14"/>
    <p:sldId id="263" r:id="rId15"/>
    <p:sldId id="264" r:id="rId16"/>
    <p:sldId id="287" r:id="rId17"/>
    <p:sldId id="265" r:id="rId18"/>
    <p:sldId id="266" r:id="rId19"/>
    <p:sldId id="267" r:id="rId20"/>
    <p:sldId id="268" r:id="rId21"/>
    <p:sldId id="269" r:id="rId22"/>
    <p:sldId id="270" r:id="rId23"/>
    <p:sldId id="271" r:id="rId24"/>
    <p:sldId id="272" r:id="rId25"/>
    <p:sldId id="273" r:id="rId26"/>
    <p:sldId id="288" r:id="rId27"/>
    <p:sldId id="274" r:id="rId28"/>
    <p:sldId id="289" r:id="rId29"/>
    <p:sldId id="275" r:id="rId30"/>
    <p:sldId id="276" r:id="rId31"/>
    <p:sldId id="277" r:id="rId32"/>
    <p:sldId id="278" r:id="rId33"/>
    <p:sldId id="279" r:id="rId34"/>
  </p:sldIdLst>
  <p:sldSz cx="12192000" cy="6858000"/>
  <p:notesSz cx="6858000" cy="9144000"/>
  <p:embeddedFontLst>
    <p:embeddedFont>
      <p:font typeface="Arial Black" panose="020B0604020202020204" pitchFamily="34" charset="0"/>
      <p:regular r:id="rId36"/>
      <p:bold r:id="rId37"/>
    </p:embeddedFont>
    <p:embeddedFont>
      <p:font typeface="Calibri" panose="020F0502020204030204" pitchFamily="34" charset="0"/>
      <p:regular r:id="rId38"/>
      <p:bold r:id="rId39"/>
      <p:italic r:id="rId40"/>
      <p:boldItalic r:id="rId41"/>
    </p:embeddedFont>
    <p:embeddedFont>
      <p:font typeface="Cambria" panose="02040503050406030204" pitchFamily="18" charset="0"/>
      <p:regular r:id="rId42"/>
      <p:bold r:id="rId43"/>
      <p:italic r:id="rId44"/>
      <p:boldItalic r:id="rId45"/>
    </p:embeddedFont>
    <p:embeddedFont>
      <p:font typeface="Cambria Math" panose="02040503050406030204" pitchFamily="18" charset="0"/>
      <p:regular r:id="rId46"/>
    </p:embeddedFont>
    <p:embeddedFont>
      <p:font typeface="Century Gothic" panose="020B0502020202020204" pitchFamily="34" charset="0"/>
      <p:regular r:id="rId47"/>
      <p:bold r:id="rId48"/>
      <p:italic r:id="rId49"/>
      <p:boldItalic r:id="rId50"/>
    </p:embeddedFont>
    <p:embeddedFont>
      <p:font typeface="Verdana" panose="020B0604030504040204" pitchFamily="34" charset="0"/>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000000"/>
          </p15:clr>
        </p15:guide>
        <p15:guide id="2" pos="3840" userDrawn="1">
          <p15:clr>
            <a:srgbClr val="000000"/>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D5Sb0jGyDzz0WGEJx1kFf4A/5Q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19"/>
    <p:restoredTop sz="96970"/>
  </p:normalViewPr>
  <p:slideViewPr>
    <p:cSldViewPr snapToGrid="0">
      <p:cViewPr varScale="1">
        <p:scale>
          <a:sx n="100" d="100"/>
          <a:sy n="100" d="100"/>
        </p:scale>
        <p:origin x="168" y="7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font" Target="fonts/font4.fntdata"/><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55" Type="http://customschemas.google.com/relationships/presentationmetadata" Target="metadata"/><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font" Target="fonts/font18.fntdata"/><Relationship Id="rId58" Type="http://schemas.openxmlformats.org/officeDocument/2006/relationships/theme" Target="theme/theme1.xml"/><Relationship Id="rId5" Type="http://schemas.openxmlformats.org/officeDocument/2006/relationships/slideMaster" Target="slideMasters/slideMaster5.xml"/><Relationship Id="rId19"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56"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font" Target="fonts/font16.fntdata"/><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font" Target="fonts/font3.fntdata"/><Relationship Id="rId46" Type="http://schemas.openxmlformats.org/officeDocument/2006/relationships/font" Target="fonts/font11.fntdata"/><Relationship Id="rId59" Type="http://schemas.openxmlformats.org/officeDocument/2006/relationships/tableStyles" Target="tableStyles.xml"/><Relationship Id="rId20" Type="http://schemas.openxmlformats.org/officeDocument/2006/relationships/slide" Target="slides/slide13.xml"/><Relationship Id="rId41" Type="http://schemas.openxmlformats.org/officeDocument/2006/relationships/font" Target="fonts/font6.fntdata"/><Relationship Id="rId54"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font" Target="fonts/font1.fntdata"/><Relationship Id="rId49" Type="http://schemas.openxmlformats.org/officeDocument/2006/relationships/font" Target="fonts/font14.fntdata"/><Relationship Id="rId57" Type="http://schemas.openxmlformats.org/officeDocument/2006/relationships/viewProps" Target="viewProp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font" Target="fonts/font9.fntdata"/><Relationship Id="rId52"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878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2: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3: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5: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6: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7: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8: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9: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9: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10</a:t>
            </a:fld>
            <a:endParaRPr/>
          </a:p>
        </p:txBody>
      </p:sp>
    </p:spTree>
    <p:extLst>
      <p:ext uri="{BB962C8B-B14F-4D97-AF65-F5344CB8AC3E}">
        <p14:creationId xmlns:p14="http://schemas.microsoft.com/office/powerpoint/2010/main" val="21141719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 name="Google Shape;22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10: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11: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12: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13: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Google Shape;275;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14: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6" name="Google Shape;286;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p15: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 name="Google Shape;298;p16: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17: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2" name="Google Shape;322;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18: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2" name="Google Shape;322;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18: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20</a:t>
            </a:fld>
            <a:endParaRPr/>
          </a:p>
        </p:txBody>
      </p:sp>
    </p:spTree>
    <p:extLst>
      <p:ext uri="{BB962C8B-B14F-4D97-AF65-F5344CB8AC3E}">
        <p14:creationId xmlns:p14="http://schemas.microsoft.com/office/powerpoint/2010/main" val="18202197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19: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19: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22</a:t>
            </a:fld>
            <a:endParaRPr/>
          </a:p>
        </p:txBody>
      </p:sp>
    </p:spTree>
    <p:extLst>
      <p:ext uri="{BB962C8B-B14F-4D97-AF65-F5344CB8AC3E}">
        <p14:creationId xmlns:p14="http://schemas.microsoft.com/office/powerpoint/2010/main" val="10532221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7" name="Google Shape;347;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20: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8" name="Google Shape;358;p21: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p22: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8" name="Google Shape;378;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9" name="Google Shape;379;p23: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8" name="Google Shape;388;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9" name="Google Shape;389;p24:notes"/>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a:solidFill>
                  <a:srgbClr val="000000"/>
                </a:solidFill>
                <a:latin typeface="Arial"/>
                <a:ea typeface="Arial"/>
                <a:cs typeface="Arial"/>
                <a:sym typeface="Arial"/>
              </a:rPr>
              <a:t>27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6"/>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6"/>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6"/>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9"/>
        <p:cNvGrpSpPr/>
        <p:nvPr/>
      </p:nvGrpSpPr>
      <p:grpSpPr>
        <a:xfrm>
          <a:off x="0" y="0"/>
          <a:ext cx="0" cy="0"/>
          <a:chOff x="0" y="0"/>
          <a:chExt cx="0" cy="0"/>
        </a:xfrm>
      </p:grpSpPr>
      <p:sp>
        <p:nvSpPr>
          <p:cNvPr id="20" name="Google Shape;20;p2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2" name="Google Shape;22;p27"/>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7"/>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7"/>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5"/>
        <p:cNvGrpSpPr/>
        <p:nvPr/>
      </p:nvGrpSpPr>
      <p:grpSpPr>
        <a:xfrm>
          <a:off x="0" y="0"/>
          <a:ext cx="0" cy="0"/>
          <a:chOff x="0" y="0"/>
          <a:chExt cx="0" cy="0"/>
        </a:xfrm>
      </p:grpSpPr>
      <p:sp>
        <p:nvSpPr>
          <p:cNvPr id="26" name="Google Shape;26;p2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8"/>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8" name="Google Shape;28;p28"/>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8"/>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8"/>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1"/>
        <p:cNvGrpSpPr/>
        <p:nvPr/>
      </p:nvGrpSpPr>
      <p:grpSpPr>
        <a:xfrm>
          <a:off x="0" y="0"/>
          <a:ext cx="0" cy="0"/>
          <a:chOff x="0" y="0"/>
          <a:chExt cx="0" cy="0"/>
        </a:xfrm>
      </p:grpSpPr>
      <p:sp>
        <p:nvSpPr>
          <p:cNvPr id="32" name="Google Shape;32;p29"/>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9"/>
          <p:cNvSpPr>
            <a:spLocks noGrp="1"/>
          </p:cNvSpPr>
          <p:nvPr>
            <p:ph type="pic" idx="2"/>
          </p:nvPr>
        </p:nvSpPr>
        <p:spPr>
          <a:xfrm>
            <a:off x="5183188" y="987426"/>
            <a:ext cx="6172400" cy="4873500"/>
          </a:xfrm>
          <a:prstGeom prst="rect">
            <a:avLst/>
          </a:prstGeom>
          <a:noFill/>
          <a:ln>
            <a:noFill/>
          </a:ln>
        </p:spPr>
      </p:sp>
      <p:sp>
        <p:nvSpPr>
          <p:cNvPr id="34" name="Google Shape;34;p29"/>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35" name="Google Shape;35;p29"/>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9"/>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9"/>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8"/>
        <p:cNvGrpSpPr/>
        <p:nvPr/>
      </p:nvGrpSpPr>
      <p:grpSpPr>
        <a:xfrm>
          <a:off x="0" y="0"/>
          <a:ext cx="0" cy="0"/>
          <a:chOff x="0" y="0"/>
          <a:chExt cx="0" cy="0"/>
        </a:xfrm>
      </p:grpSpPr>
      <p:sp>
        <p:nvSpPr>
          <p:cNvPr id="39" name="Google Shape;39;p30"/>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30"/>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41" name="Google Shape;41;p30"/>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42" name="Google Shape;42;p30"/>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0"/>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0"/>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31"/>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1"/>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1"/>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31"/>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0"/>
        <p:cNvGrpSpPr/>
        <p:nvPr/>
      </p:nvGrpSpPr>
      <p:grpSpPr>
        <a:xfrm>
          <a:off x="0" y="0"/>
          <a:ext cx="0" cy="0"/>
          <a:chOff x="0" y="0"/>
          <a:chExt cx="0" cy="0"/>
        </a:xfrm>
      </p:grpSpPr>
      <p:sp>
        <p:nvSpPr>
          <p:cNvPr id="51" name="Google Shape;51;p32"/>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2"/>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3" name="Google Shape;53;p32"/>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4" name="Google Shape;54;p32"/>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5" name="Google Shape;55;p32"/>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6" name="Google Shape;56;p32"/>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2"/>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32"/>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9"/>
        <p:cNvGrpSpPr/>
        <p:nvPr/>
      </p:nvGrpSpPr>
      <p:grpSpPr>
        <a:xfrm>
          <a:off x="0" y="0"/>
          <a:ext cx="0" cy="0"/>
          <a:chOff x="0" y="0"/>
          <a:chExt cx="0" cy="0"/>
        </a:xfrm>
      </p:grpSpPr>
      <p:sp>
        <p:nvSpPr>
          <p:cNvPr id="60" name="Google Shape;60;p33"/>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3"/>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2" name="Google Shape;62;p33"/>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3" name="Google Shape;63;p33"/>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3"/>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33"/>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6"/>
        <p:cNvGrpSpPr/>
        <p:nvPr/>
      </p:nvGrpSpPr>
      <p:grpSpPr>
        <a:xfrm>
          <a:off x="0" y="0"/>
          <a:ext cx="0" cy="0"/>
          <a:chOff x="0" y="0"/>
          <a:chExt cx="0" cy="0"/>
        </a:xfrm>
      </p:grpSpPr>
      <p:sp>
        <p:nvSpPr>
          <p:cNvPr id="67" name="Google Shape;67;p34"/>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4"/>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69" name="Google Shape;69;p34"/>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4"/>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4"/>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2"/>
        <p:cNvGrpSpPr/>
        <p:nvPr/>
      </p:nvGrpSpPr>
      <p:grpSpPr>
        <a:xfrm>
          <a:off x="0" y="0"/>
          <a:ext cx="0" cy="0"/>
          <a:chOff x="0" y="0"/>
          <a:chExt cx="0" cy="0"/>
        </a:xfrm>
      </p:grpSpPr>
      <p:sp>
        <p:nvSpPr>
          <p:cNvPr id="73" name="Google Shape;73;p3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5" name="Google Shape;75;p3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8"/>
        <p:cNvGrpSpPr/>
        <p:nvPr/>
      </p:nvGrpSpPr>
      <p:grpSpPr>
        <a:xfrm>
          <a:off x="0" y="0"/>
          <a:ext cx="0" cy="0"/>
          <a:chOff x="0" y="0"/>
          <a:chExt cx="0" cy="0"/>
        </a:xfrm>
      </p:grpSpPr>
      <p:sp>
        <p:nvSpPr>
          <p:cNvPr id="79" name="Google Shape;79;p36"/>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6"/>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81" name="Google Shape;81;p36"/>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6"/>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6"/>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b="0" i="0" u="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7"/>
        <p:cNvGrpSpPr/>
        <p:nvPr/>
      </p:nvGrpSpPr>
      <p:grpSpPr>
        <a:xfrm>
          <a:off x="0" y="0"/>
          <a:ext cx="0" cy="0"/>
          <a:chOff x="0" y="0"/>
          <a:chExt cx="0" cy="0"/>
        </a:xfrm>
      </p:grpSpPr>
      <p:sp>
        <p:nvSpPr>
          <p:cNvPr id="88" name="Google Shape;88;p38"/>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spTree>
      <p:nvGrpSpPr>
        <p:cNvPr id="1" name="Shape 9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102"/>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11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118"/>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2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4.xml"/><Relationship Id="rId1" Type="http://schemas.openxmlformats.org/officeDocument/2006/relationships/slideLayout" Target="../slideLayouts/slideLayout14.xml"/><Relationship Id="rId4"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theme" Target="../theme/theme5.xml"/><Relationship Id="rId1" Type="http://schemas.openxmlformats.org/officeDocument/2006/relationships/slideLayout" Target="../slideLayouts/slideLayout15.xml"/><Relationship Id="rId4"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theme" Target="../theme/theme6.xml"/><Relationship Id="rId1" Type="http://schemas.openxmlformats.org/officeDocument/2006/relationships/slideLayout" Target="../slideLayouts/slideLayout16.xml"/><Relationship Id="rId4"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theme" Target="../theme/theme7.xml"/><Relationship Id="rId1" Type="http://schemas.openxmlformats.org/officeDocument/2006/relationships/slideLayout" Target="../slideLayouts/slideLayout17.xml"/><Relationship Id="rId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5"/>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1" name="Google Shape;11;p25"/>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2" name="Google Shape;12;p2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3" name="Google Shape;13;p2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4" name="Google Shape;14;p2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4"/>
        <p:cNvGrpSpPr/>
        <p:nvPr/>
      </p:nvGrpSpPr>
      <p:grpSpPr>
        <a:xfrm>
          <a:off x="0" y="0"/>
          <a:ext cx="0" cy="0"/>
          <a:chOff x="0" y="0"/>
          <a:chExt cx="0" cy="0"/>
        </a:xfrm>
      </p:grpSpPr>
      <p:sp>
        <p:nvSpPr>
          <p:cNvPr id="85" name="Google Shape;85;p37"/>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86" name="Google Shape;86;p37"/>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9"/>
        <p:cNvGrpSpPr/>
        <p:nvPr/>
      </p:nvGrpSpPr>
      <p:grpSpPr>
        <a:xfrm>
          <a:off x="0" y="0"/>
          <a:ext cx="0" cy="0"/>
          <a:chOff x="0" y="0"/>
          <a:chExt cx="0" cy="0"/>
        </a:xfrm>
      </p:grpSpPr>
      <p:pic>
        <p:nvPicPr>
          <p:cNvPr id="90" name="Google Shape;90;p39" descr="A picture containing text, sign, seat&#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76734" y="5603875"/>
            <a:ext cx="3414183" cy="1828800"/>
          </a:xfrm>
          <a:prstGeom prst="rect">
            <a:avLst/>
          </a:prstGeom>
          <a:noFill/>
          <a:ln>
            <a:noFill/>
          </a:ln>
        </p:spPr>
      </p:pic>
      <p:sp>
        <p:nvSpPr>
          <p:cNvPr id="91" name="Google Shape;91;p39"/>
          <p:cNvSpPr txBox="1"/>
          <p:nvPr/>
        </p:nvSpPr>
        <p:spPr>
          <a:xfrm>
            <a:off x="1" y="0"/>
            <a:ext cx="198967"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92" name="Google Shape;92;p39"/>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93" name="Google Shape;93;p39"/>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5"/>
        <p:cNvGrpSpPr/>
        <p:nvPr/>
      </p:nvGrpSpPr>
      <p:grpSpPr>
        <a:xfrm>
          <a:off x="0" y="0"/>
          <a:ext cx="0" cy="0"/>
          <a:chOff x="0" y="0"/>
          <a:chExt cx="0" cy="0"/>
        </a:xfrm>
      </p:grpSpPr>
      <p:pic>
        <p:nvPicPr>
          <p:cNvPr id="96" name="Google Shape;96;p41" descr="ANation-PPT22_5.jp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0" y="0"/>
            <a:ext cx="12192000" cy="6858000"/>
          </a:xfrm>
          <a:prstGeom prst="rect">
            <a:avLst/>
          </a:prstGeom>
          <a:noFill/>
          <a:ln>
            <a:noFill/>
          </a:ln>
        </p:spPr>
      </p:pic>
      <p:sp>
        <p:nvSpPr>
          <p:cNvPr id="97" name="Google Shape;97;p41"/>
          <p:cNvSpPr txBox="1"/>
          <p:nvPr/>
        </p:nvSpPr>
        <p:spPr>
          <a:xfrm>
            <a:off x="0" y="0"/>
            <a:ext cx="201083" cy="6858000"/>
          </a:xfrm>
          <a:prstGeom prst="rect">
            <a:avLst/>
          </a:prstGeom>
          <a:solidFill>
            <a:srgbClr val="296CA4">
              <a:alpha val="85882"/>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98" name="Google Shape;98;p41"/>
          <p:cNvSpPr txBox="1"/>
          <p:nvPr/>
        </p:nvSpPr>
        <p:spPr>
          <a:xfrm>
            <a:off x="4851400" y="0"/>
            <a:ext cx="7340600" cy="6858000"/>
          </a:xfrm>
          <a:prstGeom prst="rect">
            <a:avLst/>
          </a:prstGeom>
          <a:solidFill>
            <a:srgbClr val="296CA4">
              <a:alpha val="85882"/>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pic>
        <p:nvPicPr>
          <p:cNvPr id="99" name="Google Shape;99;p41" descr="Text&#10;&#10;Description automatically generated with low confidence"/>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8549217" y="5553076"/>
            <a:ext cx="3475567" cy="1862137"/>
          </a:xfrm>
          <a:prstGeom prst="rect">
            <a:avLst/>
          </a:prstGeom>
          <a:noFill/>
          <a:ln>
            <a:noFill/>
          </a:ln>
        </p:spPr>
      </p:pic>
      <p:sp>
        <p:nvSpPr>
          <p:cNvPr id="100" name="Google Shape;100;p41"/>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01" name="Google Shape;101;p41"/>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3"/>
        <p:cNvGrpSpPr/>
        <p:nvPr/>
      </p:nvGrpSpPr>
      <p:grpSpPr>
        <a:xfrm>
          <a:off x="0" y="0"/>
          <a:ext cx="0" cy="0"/>
          <a:chOff x="0" y="0"/>
          <a:chExt cx="0" cy="0"/>
        </a:xfrm>
      </p:grpSpPr>
      <p:pic>
        <p:nvPicPr>
          <p:cNvPr id="104" name="Google Shape;104;p43" descr="ANation-PPT22_6.jp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0" y="0"/>
            <a:ext cx="12192000" cy="6858000"/>
          </a:xfrm>
          <a:prstGeom prst="rect">
            <a:avLst/>
          </a:prstGeom>
          <a:noFill/>
          <a:ln>
            <a:noFill/>
          </a:ln>
        </p:spPr>
      </p:pic>
      <p:sp>
        <p:nvSpPr>
          <p:cNvPr id="105" name="Google Shape;105;p43"/>
          <p:cNvSpPr txBox="1"/>
          <p:nvPr/>
        </p:nvSpPr>
        <p:spPr>
          <a:xfrm>
            <a:off x="0" y="0"/>
            <a:ext cx="201083" cy="6858000"/>
          </a:xfrm>
          <a:prstGeom prst="rect">
            <a:avLst/>
          </a:prstGeom>
          <a:solidFill>
            <a:srgbClr val="296CA4">
              <a:alpha val="85882"/>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06" name="Google Shape;106;p43"/>
          <p:cNvSpPr txBox="1"/>
          <p:nvPr/>
        </p:nvSpPr>
        <p:spPr>
          <a:xfrm>
            <a:off x="4851400" y="0"/>
            <a:ext cx="7340600" cy="6858000"/>
          </a:xfrm>
          <a:prstGeom prst="rect">
            <a:avLst/>
          </a:prstGeom>
          <a:solidFill>
            <a:srgbClr val="296CA4">
              <a:alpha val="85882"/>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pic>
        <p:nvPicPr>
          <p:cNvPr id="107" name="Google Shape;107;p43" descr="Text&#10;&#10;Description automatically generated with low confidence"/>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8549217" y="5553076"/>
            <a:ext cx="3475567" cy="1862137"/>
          </a:xfrm>
          <a:prstGeom prst="rect">
            <a:avLst/>
          </a:prstGeom>
          <a:noFill/>
          <a:ln>
            <a:noFill/>
          </a:ln>
        </p:spPr>
      </p:pic>
      <p:sp>
        <p:nvSpPr>
          <p:cNvPr id="108" name="Google Shape;108;p43"/>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09" name="Google Shape;109;p43"/>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1"/>
        <p:cNvGrpSpPr/>
        <p:nvPr/>
      </p:nvGrpSpPr>
      <p:grpSpPr>
        <a:xfrm>
          <a:off x="0" y="0"/>
          <a:ext cx="0" cy="0"/>
          <a:chOff x="0" y="0"/>
          <a:chExt cx="0" cy="0"/>
        </a:xfrm>
      </p:grpSpPr>
      <p:pic>
        <p:nvPicPr>
          <p:cNvPr id="112" name="Google Shape;112;p45" descr="ANation-PPT22_2.jp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0" y="0"/>
            <a:ext cx="12192000" cy="6858000"/>
          </a:xfrm>
          <a:prstGeom prst="rect">
            <a:avLst/>
          </a:prstGeom>
          <a:noFill/>
          <a:ln>
            <a:noFill/>
          </a:ln>
        </p:spPr>
      </p:pic>
      <p:sp>
        <p:nvSpPr>
          <p:cNvPr id="113" name="Google Shape;113;p45"/>
          <p:cNvSpPr txBox="1"/>
          <p:nvPr/>
        </p:nvSpPr>
        <p:spPr>
          <a:xfrm>
            <a:off x="0" y="0"/>
            <a:ext cx="201083" cy="6858000"/>
          </a:xfrm>
          <a:prstGeom prst="rect">
            <a:avLst/>
          </a:prstGeom>
          <a:solidFill>
            <a:srgbClr val="296CA4">
              <a:alpha val="85882"/>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14" name="Google Shape;114;p45"/>
          <p:cNvSpPr txBox="1"/>
          <p:nvPr/>
        </p:nvSpPr>
        <p:spPr>
          <a:xfrm>
            <a:off x="4851400" y="0"/>
            <a:ext cx="7340600" cy="6858000"/>
          </a:xfrm>
          <a:prstGeom prst="rect">
            <a:avLst/>
          </a:prstGeom>
          <a:solidFill>
            <a:srgbClr val="296CA4">
              <a:alpha val="85882"/>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pic>
        <p:nvPicPr>
          <p:cNvPr id="115" name="Google Shape;115;p45" descr="Text&#10;&#10;Description automatically generated with low confidence"/>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8549217" y="5553076"/>
            <a:ext cx="3475567" cy="1862137"/>
          </a:xfrm>
          <a:prstGeom prst="rect">
            <a:avLst/>
          </a:prstGeom>
          <a:noFill/>
          <a:ln>
            <a:noFill/>
          </a:ln>
        </p:spPr>
      </p:pic>
      <p:sp>
        <p:nvSpPr>
          <p:cNvPr id="116" name="Google Shape;116;p45"/>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17" name="Google Shape;117;p45"/>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9"/>
        <p:cNvGrpSpPr/>
        <p:nvPr/>
      </p:nvGrpSpPr>
      <p:grpSpPr>
        <a:xfrm>
          <a:off x="0" y="0"/>
          <a:ext cx="0" cy="0"/>
          <a:chOff x="0" y="0"/>
          <a:chExt cx="0" cy="0"/>
        </a:xfrm>
      </p:grpSpPr>
      <p:pic>
        <p:nvPicPr>
          <p:cNvPr id="120" name="Google Shape;120;p47" descr="ANation-PPT2_7.jp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0" y="0"/>
            <a:ext cx="12192000" cy="6858000"/>
          </a:xfrm>
          <a:prstGeom prst="rect">
            <a:avLst/>
          </a:prstGeom>
          <a:noFill/>
          <a:ln>
            <a:noFill/>
          </a:ln>
        </p:spPr>
      </p:pic>
      <p:sp>
        <p:nvSpPr>
          <p:cNvPr id="121" name="Google Shape;121;p47"/>
          <p:cNvSpPr txBox="1"/>
          <p:nvPr/>
        </p:nvSpPr>
        <p:spPr>
          <a:xfrm>
            <a:off x="0" y="0"/>
            <a:ext cx="201083" cy="6858000"/>
          </a:xfrm>
          <a:prstGeom prst="rect">
            <a:avLst/>
          </a:prstGeom>
          <a:solidFill>
            <a:srgbClr val="296CA4">
              <a:alpha val="85882"/>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sp>
        <p:nvSpPr>
          <p:cNvPr id="122" name="Google Shape;122;p47"/>
          <p:cNvSpPr txBox="1"/>
          <p:nvPr/>
        </p:nvSpPr>
        <p:spPr>
          <a:xfrm>
            <a:off x="4851400" y="0"/>
            <a:ext cx="7340600" cy="6858000"/>
          </a:xfrm>
          <a:prstGeom prst="rect">
            <a:avLst/>
          </a:prstGeom>
          <a:solidFill>
            <a:srgbClr val="296CA4">
              <a:alpha val="85882"/>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a:solidFill>
                <a:srgbClr val="000000"/>
              </a:solidFill>
              <a:latin typeface="Arial"/>
              <a:ea typeface="Arial"/>
              <a:cs typeface="Arial"/>
              <a:sym typeface="Arial"/>
            </a:endParaRPr>
          </a:p>
        </p:txBody>
      </p:sp>
      <p:pic>
        <p:nvPicPr>
          <p:cNvPr id="123" name="Google Shape;123;p47" descr="Text&#10;&#10;Description automatically generated with low confidence"/>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8549217" y="5553076"/>
            <a:ext cx="3475567" cy="1862137"/>
          </a:xfrm>
          <a:prstGeom prst="rect">
            <a:avLst/>
          </a:prstGeom>
          <a:noFill/>
          <a:ln>
            <a:noFill/>
          </a:ln>
        </p:spPr>
      </p:pic>
      <p:sp>
        <p:nvSpPr>
          <p:cNvPr id="124" name="Google Shape;124;p47"/>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25" name="Google Shape;125;p47"/>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2.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0.png"/><Relationship Id="rId5" Type="http://schemas.openxmlformats.org/officeDocument/2006/relationships/image" Target="../media/image12.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3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12.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2.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12.png"/><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12.png"/><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
          <p:cNvSpPr txBox="1">
            <a:spLocks noGrp="1"/>
          </p:cNvSpPr>
          <p:nvPr>
            <p:ph type="ctrTitle" idx="4294967295"/>
          </p:nvPr>
        </p:nvSpPr>
        <p:spPr>
          <a:xfrm>
            <a:off x="5173580" y="2054225"/>
            <a:ext cx="5787188" cy="3194050"/>
          </a:xfrm>
          <a:prstGeom prst="rect">
            <a:avLst/>
          </a:prstGeom>
          <a:noFill/>
          <a:ln>
            <a:noFill/>
          </a:ln>
        </p:spPr>
        <p:txBody>
          <a:bodyPr spcFirstLastPara="1" wrap="square" lIns="91425" tIns="45700" rIns="91425" bIns="45700" anchor="ctr" anchorCtr="0">
            <a:noAutofit/>
          </a:bodyPr>
          <a:lstStyle/>
          <a:p>
            <a:pPr algn="ctr">
              <a:lnSpc>
                <a:spcPct val="75000"/>
              </a:lnSpc>
              <a:buSzPts val="3800"/>
            </a:pPr>
            <a:r>
              <a:rPr lang="en-US" sz="3800" b="1" dirty="0">
                <a:solidFill>
                  <a:srgbClr val="417DBF"/>
                </a:solidFill>
                <a:latin typeface="Verdana"/>
                <a:ea typeface="Verdana"/>
                <a:cs typeface="Verdana"/>
                <a:sym typeface="Verdana"/>
              </a:rPr>
              <a:t>8th Grade Math: Pre-Algebra</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Unit 12, Lesson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Applying the Distributive Property with Variables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217</a:t>
            </a:r>
            <a:br>
              <a:rPr lang="en-US" sz="3300" dirty="0">
                <a:latin typeface="Calibri"/>
                <a:ea typeface="Calibri"/>
                <a:cs typeface="Calibri"/>
                <a:sym typeface="Calibri"/>
              </a:rPr>
            </a:br>
            <a:br>
              <a:rPr lang="en-US" sz="3400" b="1" dirty="0">
                <a:solidFill>
                  <a:srgbClr val="417DBF"/>
                </a:solidFill>
                <a:latin typeface="Verdana"/>
                <a:ea typeface="Verdana"/>
                <a:cs typeface="Verdana"/>
                <a:sym typeface="Verdana"/>
              </a:rPr>
            </a:br>
            <a:endParaRPr dirty="0"/>
          </a:p>
        </p:txBody>
      </p:sp>
      <p:cxnSp>
        <p:nvCxnSpPr>
          <p:cNvPr id="132" name="Google Shape;132;p1"/>
          <p:cNvCxnSpPr/>
          <p:nvPr/>
        </p:nvCxnSpPr>
        <p:spPr>
          <a:xfrm>
            <a:off x="-1573212" y="3938587"/>
            <a:ext cx="1152525" cy="0"/>
          </a:xfrm>
          <a:prstGeom prst="straightConnector1">
            <a:avLst/>
          </a:prstGeom>
          <a:noFill/>
          <a:ln w="9525" cap="flat" cmpd="sng">
            <a:solidFill>
              <a:schemeClr val="lt1"/>
            </a:solidFill>
            <a:prstDash val="solid"/>
            <a:miter lim="800000"/>
            <a:headEnd type="none" w="med" len="med"/>
            <a:tailEnd type="none" w="med" len="med"/>
          </a:ln>
        </p:spPr>
      </p:cxnSp>
      <p:pic>
        <p:nvPicPr>
          <p:cNvPr id="133" name="Google Shape;133;p1"/>
          <p:cNvPicPr preferRelativeResize="0"/>
          <p:nvPr/>
        </p:nvPicPr>
        <p:blipFill>
          <a:blip r:embed="rId3">
            <a:alphaModFix/>
          </a:blip>
          <a:stretch>
            <a:fillRect/>
          </a:stretch>
        </p:blipFill>
        <p:spPr>
          <a:xfrm>
            <a:off x="-33453" y="-44604"/>
            <a:ext cx="4259850" cy="7026975"/>
          </a:xfrm>
          <a:prstGeom prst="rect">
            <a:avLst/>
          </a:prstGeom>
          <a:noFill/>
          <a:ln>
            <a:noFill/>
          </a:ln>
        </p:spPr>
      </p:pic>
      <p:pic>
        <p:nvPicPr>
          <p:cNvPr id="6" name="Picture 5" descr="Logo&#10;&#10;Description automatically generated">
            <a:extLst>
              <a:ext uri="{FF2B5EF4-FFF2-40B4-BE49-F238E27FC236}">
                <a16:creationId xmlns:a16="http://schemas.microsoft.com/office/drawing/2014/main" id="{C2FBB1F1-093C-754D-ACF2-EFBF5D335E3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2316" y="1609034"/>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
          <p:cNvSpPr txBox="1">
            <a:spLocks noGrp="1"/>
          </p:cNvSpPr>
          <p:nvPr>
            <p:ph type="title" idx="4294967295"/>
          </p:nvPr>
        </p:nvSpPr>
        <p:spPr>
          <a:xfrm>
            <a:off x="1712494" y="136525"/>
            <a:ext cx="7510462" cy="1325562"/>
          </a:xfrm>
          <a:prstGeom prst="rect">
            <a:avLst/>
          </a:prstGeom>
          <a:noFill/>
          <a:ln>
            <a:noFill/>
          </a:ln>
        </p:spPr>
        <p:txBody>
          <a:bodyPr spcFirstLastPara="1" wrap="square" lIns="91425" tIns="45700" rIns="91425" bIns="45700" anchor="ctr" anchorCtr="0">
            <a:noAutofit/>
          </a:bodyPr>
          <a:lstStyle/>
          <a:p>
            <a:pPr>
              <a:lnSpc>
                <a:spcPct val="90000"/>
              </a:lnSpc>
              <a:buSzPts val="4700"/>
            </a:pPr>
            <a:r>
              <a:rPr lang="en-US" sz="4700" b="1" dirty="0">
                <a:solidFill>
                  <a:srgbClr val="54B5D1"/>
                </a:solidFill>
                <a:latin typeface="Verdana"/>
                <a:ea typeface="Verdana"/>
                <a:cs typeface="Verdana"/>
                <a:sym typeface="Verdana"/>
              </a:rPr>
              <a:t>Benchmark</a:t>
            </a:r>
            <a:endParaRPr dirty="0"/>
          </a:p>
        </p:txBody>
      </p:sp>
      <p:pic>
        <p:nvPicPr>
          <p:cNvPr id="141" name="Google Shape;141;p2"/>
          <p:cNvPicPr preferRelativeResize="0"/>
          <p:nvPr/>
        </p:nvPicPr>
        <p:blipFill rotWithShape="1">
          <a:blip r:embed="rId3">
            <a:alphaModFix/>
          </a:blip>
          <a:srcRect/>
          <a:stretch/>
        </p:blipFill>
        <p:spPr>
          <a:xfrm>
            <a:off x="805223" y="372300"/>
            <a:ext cx="747300" cy="747300"/>
          </a:xfrm>
          <a:prstGeom prst="rect">
            <a:avLst/>
          </a:prstGeom>
          <a:noFill/>
          <a:ln>
            <a:noFill/>
          </a:ln>
          <a:effectLst>
            <a:outerShdw blurRad="57150" dist="19050" dir="5400000" algn="bl" rotWithShape="0">
              <a:srgbClr val="000000">
                <a:alpha val="49019"/>
              </a:srgbClr>
            </a:outerShdw>
          </a:effectLst>
        </p:spPr>
      </p:pic>
      <p:sp>
        <p:nvSpPr>
          <p:cNvPr id="142" name="Google Shape;142;p2"/>
          <p:cNvSpPr txBox="1"/>
          <p:nvPr/>
        </p:nvSpPr>
        <p:spPr>
          <a:xfrm>
            <a:off x="8542425" y="6457950"/>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217</a:t>
            </a:r>
            <a:endParaRPr/>
          </a:p>
        </p:txBody>
      </p:sp>
      <p:pic>
        <p:nvPicPr>
          <p:cNvPr id="143" name="Google Shape;143;p2"/>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388489" y="6200600"/>
            <a:ext cx="563850" cy="657276"/>
          </a:xfrm>
          <a:prstGeom prst="rect">
            <a:avLst/>
          </a:prstGeom>
          <a:noFill/>
          <a:ln>
            <a:noFill/>
          </a:ln>
          <a:effectLst>
            <a:outerShdw blurRad="57150" dist="19050" dir="5400000" algn="bl" rotWithShape="0">
              <a:srgbClr val="000000">
                <a:alpha val="49019"/>
              </a:srgbClr>
            </a:outerShdw>
          </a:effectLst>
        </p:spPr>
      </p:pic>
      <p:sp>
        <p:nvSpPr>
          <p:cNvPr id="144" name="Google Shape;144;p2"/>
          <p:cNvSpPr txBox="1"/>
          <p:nvPr/>
        </p:nvSpPr>
        <p:spPr>
          <a:xfrm>
            <a:off x="1552523" y="1600201"/>
            <a:ext cx="10057951" cy="4205287"/>
          </a:xfrm>
          <a:prstGeom prst="rect">
            <a:avLst/>
          </a:prstGeom>
          <a:noFill/>
          <a:ln>
            <a:noFill/>
          </a:ln>
        </p:spPr>
        <p:txBody>
          <a:bodyPr spcFirstLastPara="1" wrap="square" lIns="91425" tIns="45700" rIns="91425" bIns="45700" anchor="t" anchorCtr="0">
            <a:normAutofit/>
          </a:bodyPr>
          <a:lstStyle/>
          <a:p>
            <a:pPr>
              <a:lnSpc>
                <a:spcPct val="90000"/>
              </a:lnSpc>
              <a:buSzPts val="4800"/>
            </a:pPr>
            <a:r>
              <a:rPr lang="en-US" sz="3500" dirty="0">
                <a:latin typeface="Verdana" panose="020B0604030504040204" pitchFamily="34" charset="0"/>
                <a:ea typeface="Verdana" panose="020B0604030504040204" pitchFamily="34" charset="0"/>
                <a:cs typeface="Verdana" panose="020B0604030504040204" pitchFamily="34" charset="0"/>
                <a:sym typeface="Verdana"/>
              </a:rPr>
              <a:t>MA.8.AR.1.2</a:t>
            </a:r>
            <a:endParaRPr sz="3500" dirty="0">
              <a:latin typeface="Verdana" panose="020B0604030504040204" pitchFamily="34" charset="0"/>
              <a:ea typeface="Verdana" panose="020B0604030504040204" pitchFamily="34" charset="0"/>
              <a:cs typeface="Verdana" panose="020B0604030504040204" pitchFamily="34" charset="0"/>
            </a:endParaRPr>
          </a:p>
          <a:p>
            <a:pPr marL="458788">
              <a:lnSpc>
                <a:spcPct val="90000"/>
              </a:lnSpc>
              <a:spcBef>
                <a:spcPts val="700"/>
              </a:spcBef>
              <a:buSzPts val="2400"/>
            </a:pPr>
            <a:r>
              <a:rPr lang="en-US" sz="3500" dirty="0">
                <a:latin typeface="Verdana" panose="020B0604030504040204" pitchFamily="34" charset="0"/>
                <a:ea typeface="Verdana" panose="020B0604030504040204" pitchFamily="34" charset="0"/>
                <a:cs typeface="Verdana" panose="020B0604030504040204" pitchFamily="34" charset="0"/>
                <a:sym typeface="Verdana"/>
              </a:rPr>
              <a:t>Apply properties of operations to multiply two linear expressions with rational coefficients. </a:t>
            </a:r>
            <a:endParaRPr sz="3500" dirty="0">
              <a:latin typeface="Verdana" panose="020B0604030504040204" pitchFamily="34" charset="0"/>
              <a:ea typeface="Verdana" panose="020B0604030504040204" pitchFamily="34" charset="0"/>
              <a:cs typeface="Verdana" panose="020B0604030504040204" pitchFamily="34" charset="0"/>
            </a:endParaRPr>
          </a:p>
        </p:txBody>
      </p:sp>
      <p:pic>
        <p:nvPicPr>
          <p:cNvPr id="145" name="Google Shape;145;p2"/>
          <p:cNvPicPr preferRelativeResize="0"/>
          <p:nvPr/>
        </p:nvPicPr>
        <p:blipFill>
          <a:blip r:embed="rId5">
            <a:alphaModFix/>
          </a:blip>
          <a:stretch>
            <a:fillRect/>
          </a:stretch>
        </p:blipFill>
        <p:spPr>
          <a:xfrm>
            <a:off x="-59279" y="-109979"/>
            <a:ext cx="339425" cy="70463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151" name="Google Shape;151;p3"/>
          <p:cNvPicPr preferRelativeResize="0"/>
          <p:nvPr/>
        </p:nvPicPr>
        <p:blipFill rotWithShape="1">
          <a:blip r:embed="rId3">
            <a:alphaModFix/>
          </a:blip>
          <a:srcRect/>
          <a:stretch/>
        </p:blipFill>
        <p:spPr>
          <a:xfrm>
            <a:off x="682636" y="322675"/>
            <a:ext cx="747300" cy="747300"/>
          </a:xfrm>
          <a:prstGeom prst="rect">
            <a:avLst/>
          </a:prstGeom>
          <a:noFill/>
          <a:ln>
            <a:noFill/>
          </a:ln>
          <a:effectLst>
            <a:outerShdw blurRad="57150" dist="19050" dir="5400000" algn="bl" rotWithShape="0">
              <a:srgbClr val="000000">
                <a:alpha val="49019"/>
              </a:srgbClr>
            </a:outerShdw>
          </a:effectLst>
        </p:spPr>
      </p:pic>
      <p:pic>
        <p:nvPicPr>
          <p:cNvPr id="152" name="Google Shape;152;p3"/>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0690" y="6129312"/>
            <a:ext cx="563850" cy="657276"/>
          </a:xfrm>
          <a:prstGeom prst="rect">
            <a:avLst/>
          </a:prstGeom>
          <a:noFill/>
          <a:ln>
            <a:noFill/>
          </a:ln>
          <a:effectLst>
            <a:outerShdw blurRad="57150" dist="19050" dir="5400000" algn="bl" rotWithShape="0">
              <a:srgbClr val="000000">
                <a:alpha val="49019"/>
              </a:srgbClr>
            </a:outerShdw>
          </a:effectLst>
        </p:spPr>
      </p:pic>
      <p:sp>
        <p:nvSpPr>
          <p:cNvPr id="153" name="Google Shape;153;p3"/>
          <p:cNvSpPr txBox="1"/>
          <p:nvPr/>
        </p:nvSpPr>
        <p:spPr>
          <a:xfrm>
            <a:off x="1528011" y="130175"/>
            <a:ext cx="9589168" cy="1325562"/>
          </a:xfrm>
          <a:prstGeom prst="rect">
            <a:avLst/>
          </a:prstGeom>
          <a:noFill/>
          <a:ln>
            <a:noFill/>
          </a:ln>
        </p:spPr>
        <p:txBody>
          <a:bodyPr spcFirstLastPara="1" wrap="square" lIns="91425" tIns="45700" rIns="91425" bIns="45700" anchor="ctr" anchorCtr="0">
            <a:noAutofit/>
          </a:bodyPr>
          <a:lstStyle/>
          <a:p>
            <a:pPr>
              <a:lnSpc>
                <a:spcPct val="90000"/>
              </a:lnSpc>
              <a:buClr>
                <a:srgbClr val="54B5D1"/>
              </a:buClr>
              <a:buSzPts val="3000"/>
            </a:pPr>
            <a:r>
              <a:rPr lang="en-US" sz="3200" b="1" dirty="0">
                <a:solidFill>
                  <a:srgbClr val="54B5D1"/>
                </a:solidFill>
                <a:latin typeface="Verdana"/>
                <a:ea typeface="Verdana"/>
                <a:cs typeface="Verdana"/>
                <a:sym typeface="Verdana"/>
              </a:rPr>
              <a:t>Integrated Mathematical Thinking and Reasoning Standards</a:t>
            </a:r>
            <a:endParaRPr sz="1600" dirty="0"/>
          </a:p>
        </p:txBody>
      </p:sp>
      <p:sp>
        <p:nvSpPr>
          <p:cNvPr id="154" name="Google Shape;154;p3"/>
          <p:cNvSpPr txBox="1"/>
          <p:nvPr/>
        </p:nvSpPr>
        <p:spPr>
          <a:xfrm>
            <a:off x="8807028" y="6371499"/>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217</a:t>
            </a:r>
            <a:endParaRPr/>
          </a:p>
        </p:txBody>
      </p:sp>
      <p:sp>
        <p:nvSpPr>
          <p:cNvPr id="155" name="Google Shape;155;p3"/>
          <p:cNvSpPr txBox="1"/>
          <p:nvPr/>
        </p:nvSpPr>
        <p:spPr>
          <a:xfrm>
            <a:off x="1429936" y="1597026"/>
            <a:ext cx="9927875" cy="4205287"/>
          </a:xfrm>
          <a:prstGeom prst="rect">
            <a:avLst/>
          </a:prstGeom>
          <a:noFill/>
          <a:ln>
            <a:noFill/>
          </a:ln>
        </p:spPr>
        <p:txBody>
          <a:bodyPr spcFirstLastPara="1" wrap="square" lIns="91425" tIns="45700" rIns="91425" bIns="45700" anchor="t" anchorCtr="0">
            <a:noAutofit/>
          </a:bodyPr>
          <a:lstStyle/>
          <a:p>
            <a:pPr>
              <a:buSzPts val="1800"/>
            </a:pPr>
            <a:r>
              <a:rPr lang="en-US" sz="2400" dirty="0">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endParaRPr sz="2400" dirty="0">
              <a:latin typeface="Verdana" panose="020B0604030504040204" pitchFamily="34" charset="0"/>
              <a:ea typeface="Verdana" panose="020B0604030504040204" pitchFamily="34" charset="0"/>
              <a:cs typeface="Verdana" panose="020B0604030504040204" pitchFamily="34" charset="0"/>
            </a:endParaRPr>
          </a:p>
          <a:p>
            <a:pPr>
              <a:buSzPts val="1800"/>
            </a:pPr>
            <a:endParaRPr sz="2400" dirty="0">
              <a:latin typeface="Verdana" panose="020B0604030504040204" pitchFamily="34" charset="0"/>
              <a:ea typeface="Verdana" panose="020B0604030504040204" pitchFamily="34" charset="0"/>
              <a:cs typeface="Verdana" panose="020B0604030504040204" pitchFamily="34" charset="0"/>
              <a:sym typeface="Verdana"/>
            </a:endParaRPr>
          </a:p>
          <a:p>
            <a:pPr>
              <a:buSzPts val="1800"/>
            </a:pPr>
            <a:r>
              <a:rPr lang="en-US" sz="2400" dirty="0">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endParaRPr sz="2400" dirty="0">
              <a:latin typeface="Verdana" panose="020B0604030504040204" pitchFamily="34" charset="0"/>
              <a:ea typeface="Verdana" panose="020B0604030504040204" pitchFamily="34" charset="0"/>
              <a:cs typeface="Verdana" panose="020B0604030504040204" pitchFamily="34" charset="0"/>
            </a:endParaRPr>
          </a:p>
          <a:p>
            <a:pPr>
              <a:buSzPts val="1800"/>
            </a:pPr>
            <a:endParaRPr sz="2400" dirty="0">
              <a:latin typeface="Verdana" panose="020B0604030504040204" pitchFamily="34" charset="0"/>
              <a:ea typeface="Verdana" panose="020B0604030504040204" pitchFamily="34" charset="0"/>
              <a:cs typeface="Verdana" panose="020B0604030504040204" pitchFamily="34" charset="0"/>
              <a:sym typeface="Verdana"/>
            </a:endParaRPr>
          </a:p>
          <a:p>
            <a:pPr>
              <a:buSzPts val="1800"/>
            </a:pPr>
            <a:r>
              <a:rPr lang="en-US" sz="2400" dirty="0">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endParaRPr sz="2400" dirty="0">
              <a:latin typeface="Verdana" panose="020B0604030504040204" pitchFamily="34" charset="0"/>
              <a:ea typeface="Verdana" panose="020B0604030504040204" pitchFamily="34" charset="0"/>
              <a:cs typeface="Verdana" panose="020B0604030504040204" pitchFamily="34" charset="0"/>
            </a:endParaRPr>
          </a:p>
        </p:txBody>
      </p:sp>
      <p:pic>
        <p:nvPicPr>
          <p:cNvPr id="156" name="Google Shape;156;p3"/>
          <p:cNvPicPr preferRelativeResize="0"/>
          <p:nvPr/>
        </p:nvPicPr>
        <p:blipFill>
          <a:blip r:embed="rId5">
            <a:alphaModFix/>
          </a:blip>
          <a:stretch>
            <a:fillRect/>
          </a:stretch>
        </p:blipFill>
        <p:spPr>
          <a:xfrm>
            <a:off x="-59279" y="-72915"/>
            <a:ext cx="339425" cy="700382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84959" y="6129037"/>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73978" y="30660"/>
            <a:ext cx="906499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625389"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50959" y="64238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217</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473978" y="1498651"/>
            <a:ext cx="1029290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600" dirty="0">
                <a:latin typeface="Verdana"/>
                <a:ea typeface="Verdana"/>
                <a:cs typeface="Verdana"/>
                <a:sym typeface="Verdana"/>
              </a:rPr>
              <a:t>I can write equivalent algebraic expressions by applying the distributive property.</a:t>
            </a:r>
            <a:endParaRPr lang="en-US" sz="3500" dirty="0">
              <a:solidFill>
                <a:schemeClr val="tx1"/>
              </a:solidFill>
              <a:latin typeface="Verdana"/>
              <a:ea typeface="Verdana"/>
              <a:cs typeface="Verdana"/>
              <a:sym typeface="Verdana"/>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pic>
        <p:nvPicPr>
          <p:cNvPr id="173" name="Google Shape;173;p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20828" y="6129188"/>
            <a:ext cx="563850" cy="657276"/>
          </a:xfrm>
          <a:prstGeom prst="rect">
            <a:avLst/>
          </a:prstGeom>
          <a:noFill/>
          <a:ln>
            <a:noFill/>
          </a:ln>
          <a:effectLst>
            <a:outerShdw blurRad="57150" dist="19050" dir="5400000" algn="bl" rotWithShape="0">
              <a:srgbClr val="000000">
                <a:alpha val="49019"/>
              </a:srgbClr>
            </a:outerShdw>
          </a:effectLst>
        </p:spPr>
      </p:pic>
      <p:pic>
        <p:nvPicPr>
          <p:cNvPr id="174" name="Google Shape;174;p5"/>
          <p:cNvPicPr preferRelativeResize="0"/>
          <p:nvPr/>
        </p:nvPicPr>
        <p:blipFill rotWithShape="1">
          <a:blip r:embed="rId4">
            <a:alphaModFix/>
          </a:blip>
          <a:srcRect/>
          <a:stretch/>
        </p:blipFill>
        <p:spPr>
          <a:xfrm>
            <a:off x="3320799" y="2913125"/>
            <a:ext cx="1031750" cy="1031750"/>
          </a:xfrm>
          <a:prstGeom prst="rect">
            <a:avLst/>
          </a:prstGeom>
          <a:noFill/>
          <a:ln>
            <a:noFill/>
          </a:ln>
          <a:effectLst>
            <a:outerShdw blurRad="50800" dist="38100" dir="2700000" algn="tl" rotWithShape="0">
              <a:srgbClr val="000000">
                <a:alpha val="40000"/>
              </a:srgbClr>
            </a:outerShdw>
          </a:effectLst>
        </p:spPr>
      </p:pic>
      <p:sp>
        <p:nvSpPr>
          <p:cNvPr id="175" name="Google Shape;175;p5"/>
          <p:cNvSpPr txBox="1">
            <a:spLocks noGrp="1"/>
          </p:cNvSpPr>
          <p:nvPr>
            <p:ph type="title" idx="4294967295"/>
          </p:nvPr>
        </p:nvSpPr>
        <p:spPr>
          <a:xfrm>
            <a:off x="2861511" y="2765425"/>
            <a:ext cx="7031788" cy="1327150"/>
          </a:xfrm>
          <a:prstGeom prst="rect">
            <a:avLst/>
          </a:prstGeom>
          <a:noFill/>
          <a:ln>
            <a:noFill/>
          </a:ln>
        </p:spPr>
        <p:txBody>
          <a:bodyPr spcFirstLastPara="1" wrap="square" lIns="91425" tIns="45700" rIns="91425" bIns="45700" anchor="ctr" anchorCtr="0">
            <a:noAutofit/>
          </a:bodyPr>
          <a:lstStyle/>
          <a:p>
            <a:pPr algn="ctr">
              <a:lnSpc>
                <a:spcPct val="90000"/>
              </a:lnSpc>
              <a:buSzPts val="5500"/>
            </a:pPr>
            <a:r>
              <a:rPr lang="en-US" sz="5500" b="1" dirty="0">
                <a:solidFill>
                  <a:srgbClr val="3F2A67"/>
                </a:solidFill>
                <a:latin typeface="Verdana"/>
                <a:ea typeface="Verdana"/>
                <a:cs typeface="Verdana"/>
                <a:sym typeface="Verdana"/>
              </a:rPr>
              <a:t>Warm-Up</a:t>
            </a:r>
            <a:endParaRPr dirty="0"/>
          </a:p>
        </p:txBody>
      </p:sp>
      <p:sp>
        <p:nvSpPr>
          <p:cNvPr id="176" name="Google Shape;176;p5"/>
          <p:cNvSpPr txBox="1"/>
          <p:nvPr/>
        </p:nvSpPr>
        <p:spPr>
          <a:xfrm>
            <a:off x="8887166" y="6418848"/>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217</a:t>
            </a:r>
            <a:endParaRPr/>
          </a:p>
        </p:txBody>
      </p:sp>
      <p:pic>
        <p:nvPicPr>
          <p:cNvPr id="177" name="Google Shape;177;p5"/>
          <p:cNvPicPr preferRelativeResize="0"/>
          <p:nvPr/>
        </p:nvPicPr>
        <p:blipFill>
          <a:blip r:embed="rId5">
            <a:alphaModFix/>
          </a:blip>
          <a:stretch>
            <a:fillRect/>
          </a:stretch>
        </p:blipFill>
        <p:spPr>
          <a:xfrm>
            <a:off x="-24064" y="-24064"/>
            <a:ext cx="2885575" cy="702874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p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60677" y="6200600"/>
            <a:ext cx="563850" cy="657276"/>
          </a:xfrm>
          <a:prstGeom prst="rect">
            <a:avLst/>
          </a:prstGeom>
          <a:noFill/>
          <a:ln>
            <a:noFill/>
          </a:ln>
          <a:effectLst>
            <a:outerShdw blurRad="57150" dist="19050" dir="5400000" algn="bl" rotWithShape="0">
              <a:srgbClr val="000000">
                <a:alpha val="49019"/>
              </a:srgbClr>
            </a:outerShdw>
          </a:effectLst>
        </p:spPr>
      </p:pic>
      <p:sp>
        <p:nvSpPr>
          <p:cNvPr id="184" name="Google Shape;184;p6"/>
          <p:cNvSpPr txBox="1"/>
          <p:nvPr/>
        </p:nvSpPr>
        <p:spPr>
          <a:xfrm>
            <a:off x="1295648" y="60325"/>
            <a:ext cx="9243764" cy="1325562"/>
          </a:xfrm>
          <a:prstGeom prst="rect">
            <a:avLst/>
          </a:prstGeom>
          <a:noFill/>
          <a:ln>
            <a:noFill/>
          </a:ln>
        </p:spPr>
        <p:txBody>
          <a:bodyPr spcFirstLastPara="1" wrap="square" lIns="91425" tIns="45700" rIns="91425" bIns="45700" anchor="ctr" anchorCtr="0">
            <a:noAutofit/>
          </a:bodyPr>
          <a:lstStyle/>
          <a:p>
            <a:pPr>
              <a:lnSpc>
                <a:spcPct val="90000"/>
              </a:lnSpc>
              <a:buClr>
                <a:srgbClr val="3F2A67"/>
              </a:buClr>
              <a:buSzPts val="3600"/>
            </a:pPr>
            <a:r>
              <a:rPr lang="en-US" sz="4000" b="1" dirty="0">
                <a:solidFill>
                  <a:srgbClr val="3F2A67"/>
                </a:solidFill>
                <a:latin typeface="Verdana"/>
                <a:ea typeface="Verdana"/>
                <a:cs typeface="Verdana"/>
                <a:sym typeface="Verdana"/>
              </a:rPr>
              <a:t>12.1.1</a:t>
            </a:r>
            <a:r>
              <a:rPr lang="en-US" sz="3600" b="1" dirty="0">
                <a:solidFill>
                  <a:srgbClr val="3F2A67"/>
                </a:solidFill>
                <a:latin typeface="Verdana"/>
                <a:ea typeface="Verdana"/>
                <a:cs typeface="Verdana"/>
                <a:sym typeface="Verdana"/>
              </a:rPr>
              <a:t> Warm-Up: Growth Mindset</a:t>
            </a:r>
            <a:endParaRPr sz="1600" dirty="0"/>
          </a:p>
        </p:txBody>
      </p:sp>
      <p:pic>
        <p:nvPicPr>
          <p:cNvPr id="185" name="Google Shape;185;p6"/>
          <p:cNvPicPr preferRelativeResize="0"/>
          <p:nvPr/>
        </p:nvPicPr>
        <p:blipFill rotWithShape="1">
          <a:blip r:embed="rId4">
            <a:alphaModFix/>
          </a:blip>
          <a:srcRect/>
          <a:stretch/>
        </p:blipFill>
        <p:spPr>
          <a:xfrm>
            <a:off x="359030" y="257643"/>
            <a:ext cx="747300" cy="747300"/>
          </a:xfrm>
          <a:prstGeom prst="rect">
            <a:avLst/>
          </a:prstGeom>
          <a:noFill/>
          <a:ln>
            <a:noFill/>
          </a:ln>
          <a:effectLst>
            <a:outerShdw blurRad="50800" dist="38100" dir="2700000" algn="tl" rotWithShape="0">
              <a:srgbClr val="000000">
                <a:alpha val="40000"/>
              </a:srgbClr>
            </a:outerShdw>
          </a:effectLst>
        </p:spPr>
      </p:pic>
      <p:sp>
        <p:nvSpPr>
          <p:cNvPr id="186" name="Google Shape;186;p6"/>
          <p:cNvSpPr txBox="1"/>
          <p:nvPr/>
        </p:nvSpPr>
        <p:spPr>
          <a:xfrm>
            <a:off x="8891335" y="6457950"/>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217</a:t>
            </a:r>
            <a:endParaRPr/>
          </a:p>
        </p:txBody>
      </p:sp>
      <p:pic>
        <p:nvPicPr>
          <p:cNvPr id="189" name="Google Shape;189;p6"/>
          <p:cNvPicPr preferRelativeResize="0"/>
          <p:nvPr/>
        </p:nvPicPr>
        <p:blipFill>
          <a:blip r:embed="rId5">
            <a:alphaModFix/>
          </a:blip>
          <a:stretch>
            <a:fillRect/>
          </a:stretch>
        </p:blipFill>
        <p:spPr>
          <a:xfrm>
            <a:off x="-59279" y="-35931"/>
            <a:ext cx="339425" cy="7012706"/>
          </a:xfrm>
          <a:prstGeom prst="rect">
            <a:avLst/>
          </a:prstGeom>
          <a:noFill/>
          <a:ln>
            <a:noFill/>
          </a:ln>
        </p:spPr>
      </p:pic>
      <p:sp>
        <p:nvSpPr>
          <p:cNvPr id="2" name="TextBox 1">
            <a:extLst>
              <a:ext uri="{FF2B5EF4-FFF2-40B4-BE49-F238E27FC236}">
                <a16:creationId xmlns:a16="http://schemas.microsoft.com/office/drawing/2014/main" id="{35596DD0-64D1-0040-ACA9-15F577F2CA70}"/>
              </a:ext>
            </a:extLst>
          </p:cNvPr>
          <p:cNvSpPr txBox="1"/>
          <p:nvPr/>
        </p:nvSpPr>
        <p:spPr>
          <a:xfrm>
            <a:off x="1106330" y="1442677"/>
            <a:ext cx="9654199"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On a scale from </a:t>
            </a:r>
            <a:r>
              <a:rPr lang="en-US" sz="2400" dirty="0">
                <a:latin typeface="Cambria Math" panose="02040503050406030204" pitchFamily="18" charset="0"/>
                <a:ea typeface="Cambria Math" panose="02040503050406030204" pitchFamily="18" charset="0"/>
                <a:cs typeface="Verdana" panose="020B0604030504040204" pitchFamily="34" charset="0"/>
              </a:rPr>
              <a:t>1</a:t>
            </a:r>
            <a:r>
              <a:rPr lang="en-US" sz="2400" dirty="0">
                <a:latin typeface="Verdana" panose="020B0604030504040204" pitchFamily="34" charset="0"/>
                <a:ea typeface="Verdana" panose="020B0604030504040204" pitchFamily="34" charset="0"/>
                <a:cs typeface="Verdana" panose="020B0604030504040204" pitchFamily="34" charset="0"/>
              </a:rPr>
              <a:t> to </a:t>
            </a:r>
            <a:r>
              <a:rPr lang="en-US" sz="2400" dirty="0">
                <a:latin typeface="Cambria Math" panose="02040503050406030204" pitchFamily="18" charset="0"/>
                <a:ea typeface="Cambria Math" panose="02040503050406030204" pitchFamily="18" charset="0"/>
                <a:cs typeface="Verdana" panose="020B0604030504040204" pitchFamily="34" charset="0"/>
              </a:rPr>
              <a:t>5</a:t>
            </a:r>
            <a:r>
              <a:rPr lang="en-US" sz="2400" dirty="0">
                <a:latin typeface="Verdana" panose="020B0604030504040204" pitchFamily="34" charset="0"/>
                <a:ea typeface="Verdana" panose="020B0604030504040204" pitchFamily="34" charset="0"/>
                <a:cs typeface="Verdana" panose="020B0604030504040204" pitchFamily="34" charset="0"/>
              </a:rPr>
              <a:t>, rate each of the following statements by circling the number that matches your belief.</a:t>
            </a:r>
          </a:p>
        </p:txBody>
      </p:sp>
      <p:pic>
        <p:nvPicPr>
          <p:cNvPr id="4" name="Picture 3">
            <a:extLst>
              <a:ext uri="{FF2B5EF4-FFF2-40B4-BE49-F238E27FC236}">
                <a16:creationId xmlns:a16="http://schemas.microsoft.com/office/drawing/2014/main" id="{41D02660-9F09-984E-C5E7-C3C9C9EBC78F}"/>
              </a:ext>
            </a:extLst>
          </p:cNvPr>
          <p:cNvPicPr>
            <a:picLocks noChangeAspect="1"/>
          </p:cNvPicPr>
          <p:nvPr/>
        </p:nvPicPr>
        <p:blipFill>
          <a:blip r:embed="rId6"/>
          <a:stretch>
            <a:fillRect/>
          </a:stretch>
        </p:blipFill>
        <p:spPr>
          <a:xfrm>
            <a:off x="2031330" y="2712496"/>
            <a:ext cx="8842620" cy="361210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0052976" y="6200600"/>
            <a:ext cx="563850" cy="657276"/>
          </a:xfrm>
          <a:prstGeom prst="rect">
            <a:avLst/>
          </a:prstGeom>
          <a:noFill/>
          <a:ln>
            <a:noFill/>
          </a:ln>
          <a:effectLst>
            <a:outerShdw blurRad="57150" dist="19050" dir="5400000" algn="bl" rotWithShape="0">
              <a:srgbClr val="000000">
                <a:alpha val="49019"/>
              </a:srgbClr>
            </a:outerShdw>
          </a:effectLst>
        </p:spPr>
      </p:pic>
      <p:sp>
        <p:nvSpPr>
          <p:cNvPr id="196" name="Google Shape;196;p7"/>
          <p:cNvSpPr txBox="1"/>
          <p:nvPr/>
        </p:nvSpPr>
        <p:spPr>
          <a:xfrm>
            <a:off x="697832" y="633413"/>
            <a:ext cx="9562181" cy="2677616"/>
          </a:xfrm>
          <a:prstGeom prst="rect">
            <a:avLst/>
          </a:prstGeom>
          <a:noFill/>
          <a:ln>
            <a:noFill/>
          </a:ln>
        </p:spPr>
        <p:txBody>
          <a:bodyPr spcFirstLastPara="1" wrap="square" lIns="91425" tIns="45700" rIns="91425" bIns="45700" anchor="t" anchorCtr="0">
            <a:spAutoFit/>
          </a:bodyPr>
          <a:lstStyle/>
          <a:p>
            <a:pPr marL="457200" indent="-457200">
              <a:buSzPts val="2400"/>
              <a:buFont typeface="+mj-lt"/>
              <a:buAutoNum type="arabicPeriod" startAt="2"/>
            </a:pPr>
            <a:r>
              <a:rPr lang="en-US" sz="2400" dirty="0">
                <a:latin typeface="Verdana"/>
                <a:ea typeface="Verdana"/>
                <a:cs typeface="Verdana"/>
                <a:sym typeface="Verdana"/>
              </a:rPr>
              <a:t>Which statement did you agree with most? ____</a:t>
            </a:r>
          </a:p>
          <a:p>
            <a:pPr marL="457200" indent="-457200">
              <a:buSzPts val="2400"/>
              <a:buFont typeface="+mj-lt"/>
              <a:buAutoNum type="arabicPeriod" startAt="2"/>
            </a:pPr>
            <a:endParaRPr lang="en-US" sz="2400" dirty="0">
              <a:latin typeface="Verdana"/>
              <a:ea typeface="Verdana"/>
              <a:cs typeface="Verdana"/>
              <a:sym typeface="Verdana"/>
            </a:endParaRPr>
          </a:p>
          <a:p>
            <a:pPr marL="457200" indent="-457200">
              <a:buSzPts val="2400"/>
              <a:buFont typeface="+mj-lt"/>
              <a:buAutoNum type="arabicPeriod" startAt="2"/>
            </a:pPr>
            <a:endParaRPr lang="en-US" sz="2400" dirty="0">
              <a:latin typeface="Verdana"/>
              <a:ea typeface="Verdana"/>
              <a:cs typeface="Verdana"/>
              <a:sym typeface="Verdana"/>
            </a:endParaRPr>
          </a:p>
          <a:p>
            <a:pPr marL="457200" indent="-457200">
              <a:buSzPts val="2400"/>
              <a:buFont typeface="+mj-lt"/>
              <a:buAutoNum type="arabicPeriod" startAt="2"/>
            </a:pPr>
            <a:endParaRPr lang="en-US" sz="2400" dirty="0">
              <a:latin typeface="Verdana"/>
              <a:ea typeface="Verdana"/>
              <a:cs typeface="Verdana"/>
              <a:sym typeface="Verdana"/>
            </a:endParaRPr>
          </a:p>
          <a:p>
            <a:pPr marL="457200" indent="-457200">
              <a:buSzPts val="2400"/>
              <a:buFont typeface="+mj-lt"/>
              <a:buAutoNum type="arabicPeriod" startAt="2"/>
            </a:pPr>
            <a:endParaRPr lang="en-US" sz="2400" dirty="0">
              <a:latin typeface="Verdana"/>
              <a:ea typeface="Verdana"/>
              <a:cs typeface="Verdana"/>
              <a:sym typeface="Verdana"/>
            </a:endParaRPr>
          </a:p>
          <a:p>
            <a:pPr marL="457200" indent="-457200">
              <a:buSzPts val="2400"/>
              <a:buFont typeface="+mj-lt"/>
              <a:buAutoNum type="arabicPeriod" startAt="2"/>
            </a:pPr>
            <a:endParaRPr lang="en-US" sz="2400" dirty="0">
              <a:latin typeface="Verdana"/>
              <a:ea typeface="Verdana"/>
              <a:cs typeface="Verdana"/>
              <a:sym typeface="Verdana"/>
            </a:endParaRPr>
          </a:p>
          <a:p>
            <a:pPr marL="457200" indent="-457200">
              <a:buSzPts val="2400"/>
              <a:buFont typeface="+mj-lt"/>
              <a:buAutoNum type="arabicPeriod" startAt="2"/>
            </a:pPr>
            <a:r>
              <a:rPr lang="en-US" sz="2400" dirty="0">
                <a:latin typeface="Verdana"/>
                <a:ea typeface="Verdana"/>
                <a:cs typeface="Verdana"/>
                <a:sym typeface="Verdana"/>
              </a:rPr>
              <a:t>Explain why you agree with it most.</a:t>
            </a:r>
            <a:endParaRPr dirty="0"/>
          </a:p>
        </p:txBody>
      </p:sp>
      <p:sp>
        <p:nvSpPr>
          <p:cNvPr id="197" name="Google Shape;197;p7"/>
          <p:cNvSpPr txBox="1"/>
          <p:nvPr/>
        </p:nvSpPr>
        <p:spPr>
          <a:xfrm>
            <a:off x="7315200" y="6457950"/>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217</a:t>
            </a:r>
            <a:endParaRPr/>
          </a:p>
        </p:txBody>
      </p:sp>
      <p:pic>
        <p:nvPicPr>
          <p:cNvPr id="198" name="Google Shape;198;p7"/>
          <p:cNvPicPr preferRelativeResize="0"/>
          <p:nvPr/>
        </p:nvPicPr>
        <p:blipFill>
          <a:blip r:embed="rId4">
            <a:alphaModFix/>
          </a:blip>
          <a:stretch>
            <a:fillRect/>
          </a:stretch>
        </p:blipFill>
        <p:spPr>
          <a:xfrm>
            <a:off x="-59279" y="-69223"/>
            <a:ext cx="339425" cy="70463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04" name="Google Shape;204;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72702" y="6129188"/>
            <a:ext cx="563850" cy="657276"/>
          </a:xfrm>
          <a:prstGeom prst="rect">
            <a:avLst/>
          </a:prstGeom>
          <a:noFill/>
          <a:ln>
            <a:noFill/>
          </a:ln>
          <a:effectLst>
            <a:outerShdw blurRad="57150" dist="19050" dir="5400000" algn="bl" rotWithShape="0">
              <a:srgbClr val="000000">
                <a:alpha val="49019"/>
              </a:srgbClr>
            </a:outerShdw>
          </a:effectLst>
        </p:spPr>
      </p:pic>
      <p:sp>
        <p:nvSpPr>
          <p:cNvPr id="205" name="Google Shape;205;p8"/>
          <p:cNvSpPr txBox="1">
            <a:spLocks noGrp="1"/>
          </p:cNvSpPr>
          <p:nvPr>
            <p:ph type="title" idx="4294967295"/>
          </p:nvPr>
        </p:nvSpPr>
        <p:spPr>
          <a:xfrm>
            <a:off x="3104147" y="2765425"/>
            <a:ext cx="6895515" cy="1327150"/>
          </a:xfrm>
          <a:prstGeom prst="rect">
            <a:avLst/>
          </a:prstGeom>
          <a:noFill/>
          <a:ln>
            <a:noFill/>
          </a:ln>
        </p:spPr>
        <p:txBody>
          <a:bodyPr spcFirstLastPara="1" wrap="square" lIns="91425" tIns="45700" rIns="91425" bIns="45700" anchor="ctr" anchorCtr="0">
            <a:noAutofit/>
          </a:bodyPr>
          <a:lstStyle/>
          <a:p>
            <a:pPr algn="ctr">
              <a:lnSpc>
                <a:spcPct val="90000"/>
              </a:lnSpc>
              <a:buSzPts val="5500"/>
            </a:pPr>
            <a:r>
              <a:rPr lang="en-US" sz="5500" b="1" dirty="0">
                <a:solidFill>
                  <a:srgbClr val="54B5D1"/>
                </a:solidFill>
                <a:latin typeface="Verdana"/>
                <a:ea typeface="Verdana"/>
                <a:cs typeface="Verdana"/>
                <a:sym typeface="Verdana"/>
              </a:rPr>
              <a:t>Refresher</a:t>
            </a:r>
            <a:endParaRPr dirty="0"/>
          </a:p>
        </p:txBody>
      </p:sp>
      <p:pic>
        <p:nvPicPr>
          <p:cNvPr id="206" name="Google Shape;206;p8" descr="Icon&#10;&#10;Description automatically generated"/>
          <p:cNvPicPr preferRelativeResize="0"/>
          <p:nvPr/>
        </p:nvPicPr>
        <p:blipFill rotWithShape="1">
          <a:blip r:embed="rId4">
            <a:alphaModFix/>
          </a:blip>
          <a:srcRect/>
          <a:stretch/>
        </p:blipFill>
        <p:spPr>
          <a:xfrm>
            <a:off x="3205055" y="2852928"/>
            <a:ext cx="1152144" cy="1152144"/>
          </a:xfrm>
          <a:prstGeom prst="rect">
            <a:avLst/>
          </a:prstGeom>
          <a:noFill/>
          <a:ln>
            <a:noFill/>
          </a:ln>
          <a:effectLst>
            <a:outerShdw blurRad="50800" dist="38100" dir="2700000" algn="tl" rotWithShape="0">
              <a:srgbClr val="000000">
                <a:alpha val="40000"/>
              </a:srgbClr>
            </a:outerShdw>
          </a:effectLst>
        </p:spPr>
      </p:pic>
      <p:sp>
        <p:nvSpPr>
          <p:cNvPr id="207" name="Google Shape;207;p8"/>
          <p:cNvSpPr txBox="1"/>
          <p:nvPr/>
        </p:nvSpPr>
        <p:spPr>
          <a:xfrm>
            <a:off x="8839040" y="6386414"/>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218</a:t>
            </a:r>
            <a:endParaRPr/>
          </a:p>
        </p:txBody>
      </p:sp>
      <p:pic>
        <p:nvPicPr>
          <p:cNvPr id="208" name="Google Shape;208;p8"/>
          <p:cNvPicPr preferRelativeResize="0"/>
          <p:nvPr/>
        </p:nvPicPr>
        <p:blipFill>
          <a:blip r:embed="rId5">
            <a:alphaModFix/>
          </a:blip>
          <a:stretch>
            <a:fillRect/>
          </a:stretch>
        </p:blipFill>
        <p:spPr>
          <a:xfrm>
            <a:off x="-34334" y="-24064"/>
            <a:ext cx="2885575" cy="70376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96766" y="6129312"/>
            <a:ext cx="563850" cy="657276"/>
          </a:xfrm>
          <a:prstGeom prst="rect">
            <a:avLst/>
          </a:prstGeom>
          <a:noFill/>
          <a:ln>
            <a:noFill/>
          </a:ln>
          <a:effectLst>
            <a:outerShdw blurRad="57150" dist="19050" dir="5400000" algn="bl" rotWithShape="0">
              <a:srgbClr val="000000">
                <a:alpha val="49019"/>
              </a:srgbClr>
            </a:outerShdw>
          </a:effectLst>
        </p:spPr>
      </p:pic>
      <p:sp>
        <p:nvSpPr>
          <p:cNvPr id="215" name="Google Shape;215;p9"/>
          <p:cNvSpPr txBox="1"/>
          <p:nvPr/>
        </p:nvSpPr>
        <p:spPr>
          <a:xfrm>
            <a:off x="1165337" y="-85725"/>
            <a:ext cx="9374075" cy="1325562"/>
          </a:xfrm>
          <a:prstGeom prst="rect">
            <a:avLst/>
          </a:prstGeom>
          <a:noFill/>
          <a:ln>
            <a:noFill/>
          </a:ln>
        </p:spPr>
        <p:txBody>
          <a:bodyPr spcFirstLastPara="1" wrap="square" lIns="91425" tIns="45700" rIns="91425" bIns="45700" anchor="ctr" anchorCtr="0">
            <a:noAutofit/>
          </a:bodyPr>
          <a:lstStyle/>
          <a:p>
            <a:pPr>
              <a:lnSpc>
                <a:spcPct val="90000"/>
              </a:lnSpc>
              <a:buClr>
                <a:srgbClr val="54B5D1"/>
              </a:buClr>
              <a:buSzPts val="3600"/>
            </a:pPr>
            <a:r>
              <a:rPr lang="en-US" sz="3600" b="1" dirty="0">
                <a:solidFill>
                  <a:srgbClr val="54B5D1"/>
                </a:solidFill>
                <a:latin typeface="Verdana"/>
                <a:ea typeface="Verdana"/>
                <a:cs typeface="Verdana"/>
                <a:sym typeface="Verdana"/>
              </a:rPr>
              <a:t>12.1.2 Refresher: Multiplying with Exponents</a:t>
            </a:r>
            <a:endParaRPr dirty="0"/>
          </a:p>
        </p:txBody>
      </p:sp>
      <p:pic>
        <p:nvPicPr>
          <p:cNvPr id="216" name="Google Shape;216;p9"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415529" y="202152"/>
            <a:ext cx="749808" cy="749808"/>
          </a:xfrm>
          <a:prstGeom prst="rect">
            <a:avLst/>
          </a:prstGeom>
          <a:noFill/>
          <a:ln>
            <a:noFill/>
          </a:ln>
          <a:effectLst>
            <a:outerShdw blurRad="50800" dist="38100" dir="2700000" algn="tl" rotWithShape="0">
              <a:srgbClr val="000000">
                <a:alpha val="40000"/>
              </a:srgbClr>
            </a:outerShdw>
          </a:effectLst>
        </p:spPr>
      </p:pic>
      <p:sp>
        <p:nvSpPr>
          <p:cNvPr id="221" name="Google Shape;221;p9"/>
          <p:cNvSpPr txBox="1"/>
          <p:nvPr/>
        </p:nvSpPr>
        <p:spPr>
          <a:xfrm>
            <a:off x="8789119" y="6457950"/>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218</a:t>
            </a:r>
            <a:endParaRPr dirty="0"/>
          </a:p>
        </p:txBody>
      </p:sp>
      <p:pic>
        <p:nvPicPr>
          <p:cNvPr id="222" name="Google Shape;222;p9"/>
          <p:cNvPicPr preferRelativeResize="0"/>
          <p:nvPr/>
        </p:nvPicPr>
        <p:blipFill>
          <a:blip r:embed="rId5">
            <a:alphaModFix/>
          </a:blip>
          <a:stretch>
            <a:fillRect/>
          </a:stretch>
        </p:blipFill>
        <p:spPr>
          <a:xfrm>
            <a:off x="-61347" y="-46174"/>
            <a:ext cx="339425" cy="6994951"/>
          </a:xfrm>
          <a:prstGeom prst="rect">
            <a:avLst/>
          </a:prstGeom>
          <a:noFill/>
          <a:ln>
            <a:noFill/>
          </a:ln>
        </p:spPr>
      </p:pic>
      <mc:AlternateContent xmlns:mc="http://schemas.openxmlformats.org/markup-compatibility/2006" xmlns:a14="http://schemas.microsoft.com/office/drawing/2010/main">
        <mc:Choice Requires="a14">
          <p:sp>
            <p:nvSpPr>
              <p:cNvPr id="223" name="Google Shape;223;p9"/>
              <p:cNvSpPr txBox="1"/>
              <p:nvPr/>
            </p:nvSpPr>
            <p:spPr>
              <a:xfrm>
                <a:off x="1165337" y="1347739"/>
                <a:ext cx="10096221" cy="1723518"/>
              </a:xfrm>
              <a:prstGeom prst="rect">
                <a:avLst/>
              </a:prstGeom>
              <a:noFill/>
              <a:ln>
                <a:noFill/>
              </a:ln>
            </p:spPr>
            <p:txBody>
              <a:bodyPr spcFirstLastPara="1" wrap="square" lIns="91425" tIns="91425" rIns="91425" bIns="91425"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Any variable, </a:t>
                </a:r>
                <a14:m>
                  <m:oMath xmlns:m="http://schemas.openxmlformats.org/officeDocument/2006/math">
                    <m:r>
                      <a:rPr lang="en-US" sz="2000" i="1">
                        <a:latin typeface="Cambria Math" panose="02040503050406030204" pitchFamily="18" charset="0"/>
                      </a:rPr>
                      <m:t>𝑎</m:t>
                    </m:r>
                  </m:oMath>
                </a14:m>
                <a:r>
                  <a:rPr lang="en-US" sz="2000" dirty="0">
                    <a:latin typeface="Verdana" panose="020B0604030504040204" pitchFamily="34" charset="0"/>
                    <a:ea typeface="Verdana" panose="020B0604030504040204" pitchFamily="34" charset="0"/>
                    <a:cs typeface="Verdana" panose="020B0604030504040204" pitchFamily="34" charset="0"/>
                  </a:rPr>
                  <a:t>, can be rewritten using the exponent </a:t>
                </a:r>
                <a14:m>
                  <m:oMath xmlns:m="http://schemas.openxmlformats.org/officeDocument/2006/math">
                    <m:r>
                      <a:rPr lang="en-US" sz="2000" i="1">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as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𝑎</m:t>
                        </m:r>
                      </m:e>
                      <m:sup>
                        <m:r>
                          <a:rPr lang="en-US" sz="2000" i="1">
                            <a:latin typeface="Cambria Math" panose="02040503050406030204" pitchFamily="18" charset="0"/>
                          </a:rPr>
                          <m:t>1</m:t>
                        </m:r>
                      </m:sup>
                    </m:sSup>
                    <m:r>
                      <a:rPr lang="en-US" sz="2000" i="1">
                        <a:latin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This is the identity exponent law. </a:t>
                </a:r>
                <a:r>
                  <a:rPr lang="en-US" sz="2000" dirty="0">
                    <a:latin typeface="Verdana" panose="020B0604030504040204" pitchFamily="34" charset="0"/>
                    <a:ea typeface="Verdana" panose="020B0604030504040204" pitchFamily="34" charset="0"/>
                    <a:cs typeface="Verdana" panose="020B0604030504040204" pitchFamily="34" charset="0"/>
                    <a:sym typeface="Verdana"/>
                  </a:rPr>
                  <a:t> </a:t>
                </a:r>
                <a:endParaRPr sz="2000" dirty="0">
                  <a:latin typeface="Verdana" panose="020B0604030504040204" pitchFamily="34" charset="0"/>
                  <a:ea typeface="Verdana" panose="020B0604030504040204" pitchFamily="34" charset="0"/>
                  <a:cs typeface="Verdana" panose="020B0604030504040204" pitchFamily="34" charset="0"/>
                  <a:sym typeface="Verdana"/>
                </a:endParaRPr>
              </a:p>
              <a:p>
                <a:endParaRPr sz="2000" dirty="0">
                  <a:latin typeface="Verdana"/>
                  <a:ea typeface="Verdana"/>
                  <a:cs typeface="Verdana"/>
                  <a:sym typeface="Verdana"/>
                </a:endParaRPr>
              </a:p>
              <a:p>
                <a:pPr marL="457200" indent="-355600">
                  <a:buSzPts val="2000"/>
                  <a:buFont typeface="Verdana"/>
                  <a:buAutoNum type="arabicPeriod"/>
                </a:pPr>
                <a:r>
                  <a:rPr lang="en-US" sz="2000" dirty="0">
                    <a:latin typeface="Verdana"/>
                    <a:ea typeface="Verdana"/>
                    <a:cs typeface="Verdana"/>
                    <a:sym typeface="Verdana"/>
                  </a:rPr>
                  <a:t>Complete the table by applying the identity exponent law and product of powers law to each given expression. The first row has been started.</a:t>
                </a:r>
                <a:endParaRPr sz="2000" dirty="0">
                  <a:latin typeface="Verdana"/>
                  <a:ea typeface="Verdana"/>
                  <a:cs typeface="Verdana"/>
                  <a:sym typeface="Verdana"/>
                </a:endParaRPr>
              </a:p>
            </p:txBody>
          </p:sp>
        </mc:Choice>
        <mc:Fallback xmlns="">
          <p:sp>
            <p:nvSpPr>
              <p:cNvPr id="223" name="Google Shape;223;p9"/>
              <p:cNvSpPr txBox="1">
                <a:spLocks noRot="1" noChangeAspect="1" noMove="1" noResize="1" noEditPoints="1" noAdjustHandles="1" noChangeArrowheads="1" noChangeShapeType="1" noTextEdit="1"/>
              </p:cNvSpPr>
              <p:nvPr/>
            </p:nvSpPr>
            <p:spPr>
              <a:xfrm>
                <a:off x="1165337" y="1347739"/>
                <a:ext cx="10096221" cy="1723518"/>
              </a:xfrm>
              <a:prstGeom prst="rect">
                <a:avLst/>
              </a:prstGeom>
              <a:blipFill>
                <a:blip r:embed="rId6"/>
                <a:stretch>
                  <a:fillRect l="-628" b="-2941"/>
                </a:stretch>
              </a:blipFill>
              <a:ln>
                <a:noFill/>
              </a:ln>
            </p:spPr>
            <p:txBody>
              <a:bodyPr/>
              <a:lstStyle/>
              <a:p>
                <a:r>
                  <a:rPr lang="en-US">
                    <a:noFill/>
                  </a:rPr>
                  <a:t> </a:t>
                </a:r>
              </a:p>
            </p:txBody>
          </p:sp>
        </mc:Fallback>
      </mc:AlternateContent>
      <p:pic>
        <p:nvPicPr>
          <p:cNvPr id="2" name="Picture 1">
            <a:extLst>
              <a:ext uri="{FF2B5EF4-FFF2-40B4-BE49-F238E27FC236}">
                <a16:creationId xmlns:a16="http://schemas.microsoft.com/office/drawing/2014/main" id="{020BC715-E90A-F948-B752-6845946A9F42}"/>
              </a:ext>
            </a:extLst>
          </p:cNvPr>
          <p:cNvPicPr>
            <a:picLocks noChangeAspect="1"/>
          </p:cNvPicPr>
          <p:nvPr/>
        </p:nvPicPr>
        <p:blipFill>
          <a:blip r:embed="rId7"/>
          <a:stretch>
            <a:fillRect/>
          </a:stretch>
        </p:blipFill>
        <p:spPr>
          <a:xfrm>
            <a:off x="3105150" y="3302922"/>
            <a:ext cx="6331373" cy="315502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81198" y="6129312"/>
            <a:ext cx="563850" cy="657276"/>
          </a:xfrm>
          <a:prstGeom prst="rect">
            <a:avLst/>
          </a:prstGeom>
          <a:noFill/>
          <a:ln>
            <a:noFill/>
          </a:ln>
          <a:effectLst>
            <a:outerShdw blurRad="57150" dist="19050" dir="5400000" algn="bl" rotWithShape="0">
              <a:srgbClr val="000000">
                <a:alpha val="49019"/>
              </a:srgbClr>
            </a:outerShdw>
          </a:effectLst>
        </p:spPr>
      </p:pic>
      <p:sp>
        <p:nvSpPr>
          <p:cNvPr id="221" name="Google Shape;221;p9"/>
          <p:cNvSpPr txBox="1"/>
          <p:nvPr/>
        </p:nvSpPr>
        <p:spPr>
          <a:xfrm>
            <a:off x="8751097" y="6386538"/>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218</a:t>
            </a:r>
            <a:endParaRPr/>
          </a:p>
        </p:txBody>
      </p:sp>
      <p:pic>
        <p:nvPicPr>
          <p:cNvPr id="222" name="Google Shape;222;p9"/>
          <p:cNvPicPr preferRelativeResize="0"/>
          <p:nvPr/>
        </p:nvPicPr>
        <p:blipFill>
          <a:blip r:embed="rId4">
            <a:alphaModFix/>
          </a:blip>
          <a:stretch>
            <a:fillRect/>
          </a:stretch>
        </p:blipFill>
        <p:spPr>
          <a:xfrm>
            <a:off x="-59279" y="-61764"/>
            <a:ext cx="339425" cy="7003829"/>
          </a:xfrm>
          <a:prstGeom prst="rect">
            <a:avLst/>
          </a:prstGeom>
          <a:noFill/>
          <a:ln>
            <a:noFill/>
          </a:ln>
        </p:spPr>
      </p:pic>
      <mc:AlternateContent xmlns:mc="http://schemas.openxmlformats.org/markup-compatibility/2006" xmlns:a14="http://schemas.microsoft.com/office/drawing/2010/main">
        <mc:Choice Requires="a14">
          <p:sp>
            <p:nvSpPr>
              <p:cNvPr id="223" name="Google Shape;223;p9"/>
              <p:cNvSpPr txBox="1"/>
              <p:nvPr/>
            </p:nvSpPr>
            <p:spPr>
              <a:xfrm>
                <a:off x="625642" y="444425"/>
                <a:ext cx="10347158" cy="1661963"/>
              </a:xfrm>
              <a:prstGeom prst="rect">
                <a:avLst/>
              </a:prstGeom>
              <a:noFill/>
              <a:ln>
                <a:noFill/>
              </a:ln>
            </p:spPr>
            <p:txBody>
              <a:bodyPr spcFirstLastPara="1" wrap="square" lIns="91425" tIns="91425" rIns="91425" bIns="91425" anchor="t" anchorCtr="0">
                <a:spAutoFit/>
              </a:bodyPr>
              <a:lstStyle/>
              <a:p>
                <a:pPr marL="457200" indent="-457200">
                  <a:buFont typeface="+mj-lt"/>
                  <a:buAutoNum type="arabicPeriod" startAt="2"/>
                </a:pPr>
                <a:r>
                  <a:rPr lang="en-US" sz="2400" dirty="0">
                    <a:latin typeface="Verdana"/>
                    <a:ea typeface="Verdana"/>
                    <a:cs typeface="Verdana"/>
                    <a:sym typeface="Verdana"/>
                  </a:rPr>
                  <a:t>Complete the statement.</a:t>
                </a:r>
              </a:p>
              <a:p>
                <a:pPr marL="457200" indent="-457200">
                  <a:buFont typeface="+mj-lt"/>
                  <a:buAutoNum type="arabicPeriod" startAt="2"/>
                </a:pPr>
                <a:endParaRPr lang="en-US" sz="2400" dirty="0">
                  <a:latin typeface="Verdana"/>
                  <a:ea typeface="Verdana"/>
                  <a:cs typeface="Verdana"/>
                  <a:sym typeface="Verdana"/>
                </a:endParaRPr>
              </a:p>
              <a:p>
                <a:pPr marL="457200">
                  <a:lnSpc>
                    <a:spcPct val="200000"/>
                  </a:lnSpc>
                </a:pPr>
                <a:r>
                  <a:rPr lang="en-US" sz="2400" dirty="0">
                    <a:latin typeface="Verdana"/>
                    <a:ea typeface="Verdana"/>
                    <a:cs typeface="Verdana"/>
                    <a:sym typeface="Verdana"/>
                  </a:rPr>
                  <a:t>Any variable, </a:t>
                </a:r>
                <a14:m>
                  <m:oMath xmlns:m="http://schemas.openxmlformats.org/officeDocument/2006/math">
                    <m:r>
                      <a:rPr lang="en-US" sz="2400" i="1" dirty="0">
                        <a:latin typeface="Cambria Math" panose="02040503050406030204" pitchFamily="18" charset="0"/>
                        <a:ea typeface="Verdana"/>
                        <a:cs typeface="Verdana"/>
                        <a:sym typeface="Verdana"/>
                      </a:rPr>
                      <m:t>𝑎</m:t>
                    </m:r>
                  </m:oMath>
                </a14:m>
                <a:r>
                  <a:rPr lang="en-US" sz="2400" dirty="0">
                    <a:latin typeface="Verdana"/>
                    <a:ea typeface="Verdana"/>
                    <a:cs typeface="Verdana"/>
                    <a:sym typeface="Verdana"/>
                  </a:rPr>
                  <a:t>, multiplied by itself can be rewritten as </a:t>
                </a:r>
                <a14:m>
                  <m:oMath xmlns:m="http://schemas.openxmlformats.org/officeDocument/2006/math">
                    <m:r>
                      <a:rPr lang="en-US" sz="2400" i="1" dirty="0">
                        <a:latin typeface="Cambria Math" panose="02040503050406030204" pitchFamily="18" charset="0"/>
                        <a:ea typeface="Verdana"/>
                        <a:cs typeface="Verdana"/>
                        <a:sym typeface="Verdana"/>
                      </a:rPr>
                      <m:t>𝑎</m:t>
                    </m:r>
                  </m:oMath>
                </a14:m>
                <a:r>
                  <a:rPr lang="en-US" sz="2400" dirty="0">
                    <a:latin typeface="Verdana"/>
                    <a:ea typeface="Verdana"/>
                    <a:cs typeface="Verdana"/>
                    <a:sym typeface="Verdana"/>
                  </a:rPr>
                  <a:t>   .</a:t>
                </a:r>
                <a:endParaRPr sz="2400" dirty="0">
                  <a:latin typeface="Verdana"/>
                  <a:ea typeface="Verdana"/>
                  <a:cs typeface="Verdana"/>
                  <a:sym typeface="Verdana"/>
                </a:endParaRPr>
              </a:p>
            </p:txBody>
          </p:sp>
        </mc:Choice>
        <mc:Fallback xmlns="">
          <p:sp>
            <p:nvSpPr>
              <p:cNvPr id="223" name="Google Shape;223;p9"/>
              <p:cNvSpPr txBox="1">
                <a:spLocks noRot="1" noChangeAspect="1" noMove="1" noResize="1" noEditPoints="1" noAdjustHandles="1" noChangeArrowheads="1" noChangeShapeType="1" noTextEdit="1"/>
              </p:cNvSpPr>
              <p:nvPr/>
            </p:nvSpPr>
            <p:spPr>
              <a:xfrm>
                <a:off x="625642" y="444425"/>
                <a:ext cx="10347158" cy="1661963"/>
              </a:xfrm>
              <a:prstGeom prst="rect">
                <a:avLst/>
              </a:prstGeom>
              <a:blipFill>
                <a:blip r:embed="rId5"/>
                <a:stretch>
                  <a:fillRect l="-980" t="-758"/>
                </a:stretch>
              </a:blipFill>
              <a:ln>
                <a:noFill/>
              </a:ln>
            </p:spPr>
            <p:txBody>
              <a:bodyPr/>
              <a:lstStyle/>
              <a:p>
                <a:r>
                  <a:rPr lang="en-US">
                    <a:noFill/>
                  </a:rPr>
                  <a:t> </a:t>
                </a:r>
              </a:p>
            </p:txBody>
          </p:sp>
        </mc:Fallback>
      </mc:AlternateContent>
      <p:sp>
        <p:nvSpPr>
          <p:cNvPr id="19" name="Rectangle 18">
            <a:extLst>
              <a:ext uri="{FF2B5EF4-FFF2-40B4-BE49-F238E27FC236}">
                <a16:creationId xmlns:a16="http://schemas.microsoft.com/office/drawing/2014/main" id="{8E9007D0-9435-6340-9979-FAD5EF703478}"/>
              </a:ext>
            </a:extLst>
          </p:cNvPr>
          <p:cNvSpPr/>
          <p:nvPr/>
        </p:nvSpPr>
        <p:spPr>
          <a:xfrm>
            <a:off x="9959640" y="1481807"/>
            <a:ext cx="238125" cy="238125"/>
          </a:xfrm>
          <a:prstGeom prst="rect">
            <a:avLst/>
          </a:prstGeom>
          <a:solidFill>
            <a:schemeClr val="lt1"/>
          </a:solidFill>
          <a:ln w="9525"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Cambria" panose="02040503050406030204" pitchFamily="18" charset="0"/>
              </a:rPr>
              <a:t> </a:t>
            </a:r>
          </a:p>
        </p:txBody>
      </p:sp>
    </p:spTree>
    <p:extLst>
      <p:ext uri="{BB962C8B-B14F-4D97-AF65-F5344CB8AC3E}">
        <p14:creationId xmlns:p14="http://schemas.microsoft.com/office/powerpoint/2010/main" val="93766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230" name="Google Shape;230;p1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20828" y="6129312"/>
            <a:ext cx="563850" cy="657276"/>
          </a:xfrm>
          <a:prstGeom prst="rect">
            <a:avLst/>
          </a:prstGeom>
          <a:noFill/>
          <a:ln>
            <a:noFill/>
          </a:ln>
          <a:effectLst>
            <a:outerShdw blurRad="57150" dist="19050" dir="5400000" algn="bl" rotWithShape="0">
              <a:srgbClr val="000000">
                <a:alpha val="49019"/>
              </a:srgbClr>
            </a:outerShdw>
          </a:effectLst>
        </p:spPr>
      </p:pic>
      <p:sp>
        <p:nvSpPr>
          <p:cNvPr id="231" name="Google Shape;231;p10"/>
          <p:cNvSpPr txBox="1">
            <a:spLocks noGrp="1"/>
          </p:cNvSpPr>
          <p:nvPr>
            <p:ph type="title" idx="4294967295"/>
          </p:nvPr>
        </p:nvSpPr>
        <p:spPr>
          <a:xfrm>
            <a:off x="4387767" y="2850886"/>
            <a:ext cx="4397375" cy="1327150"/>
          </a:xfrm>
          <a:prstGeom prst="rect">
            <a:avLst/>
          </a:prstGeom>
          <a:noFill/>
          <a:ln>
            <a:noFill/>
          </a:ln>
        </p:spPr>
        <p:txBody>
          <a:bodyPr spcFirstLastPara="1" wrap="square" lIns="91425" tIns="45700" rIns="91425" bIns="45700" anchor="ctr" anchorCtr="0">
            <a:normAutofit/>
          </a:bodyPr>
          <a:lstStyle/>
          <a:p>
            <a:pPr algn="ctr">
              <a:lnSpc>
                <a:spcPct val="90000"/>
              </a:lnSpc>
              <a:buSzPts val="5000"/>
            </a:pPr>
            <a:r>
              <a:rPr lang="en-US" sz="5000" b="1" dirty="0">
                <a:solidFill>
                  <a:srgbClr val="33BEA6"/>
                </a:solidFill>
                <a:latin typeface="Verdana"/>
                <a:ea typeface="Verdana"/>
                <a:cs typeface="Verdana"/>
                <a:sym typeface="Verdana"/>
              </a:rPr>
              <a:t>Exploration</a:t>
            </a:r>
            <a:endParaRPr dirty="0"/>
          </a:p>
        </p:txBody>
      </p:sp>
      <p:pic>
        <p:nvPicPr>
          <p:cNvPr id="232" name="Google Shape;232;p10" descr="Icon&#10;&#10;Description automatically generated"/>
          <p:cNvPicPr preferRelativeResize="0"/>
          <p:nvPr/>
        </p:nvPicPr>
        <p:blipFill rotWithShape="1">
          <a:blip r:embed="rId4">
            <a:alphaModFix/>
          </a:blip>
          <a:srcRect/>
          <a:stretch/>
        </p:blipFill>
        <p:spPr>
          <a:xfrm>
            <a:off x="3103203" y="2850886"/>
            <a:ext cx="1156228" cy="1156228"/>
          </a:xfrm>
          <a:prstGeom prst="rect">
            <a:avLst/>
          </a:prstGeom>
          <a:noFill/>
          <a:ln>
            <a:noFill/>
          </a:ln>
          <a:effectLst>
            <a:outerShdw blurRad="50800" dist="38100" dir="2700000" algn="tl" rotWithShape="0">
              <a:srgbClr val="000000">
                <a:alpha val="40000"/>
              </a:srgbClr>
            </a:outerShdw>
          </a:effectLst>
        </p:spPr>
      </p:pic>
      <p:sp>
        <p:nvSpPr>
          <p:cNvPr id="233" name="Google Shape;233;p10"/>
          <p:cNvSpPr txBox="1"/>
          <p:nvPr/>
        </p:nvSpPr>
        <p:spPr>
          <a:xfrm>
            <a:off x="8785142" y="6386538"/>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218</a:t>
            </a:r>
            <a:endParaRPr/>
          </a:p>
        </p:txBody>
      </p:sp>
      <p:pic>
        <p:nvPicPr>
          <p:cNvPr id="234" name="Google Shape;234;p10"/>
          <p:cNvPicPr preferRelativeResize="0"/>
          <p:nvPr/>
        </p:nvPicPr>
        <p:blipFill>
          <a:blip r:embed="rId5">
            <a:alphaModFix/>
          </a:blip>
          <a:stretch>
            <a:fillRect/>
          </a:stretch>
        </p:blipFill>
        <p:spPr>
          <a:xfrm>
            <a:off x="-19840" y="-43026"/>
            <a:ext cx="2885575" cy="703862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pic>
        <p:nvPicPr>
          <p:cNvPr id="240" name="Google Shape;240;p1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371476" y="6129312"/>
            <a:ext cx="563850" cy="657276"/>
          </a:xfrm>
          <a:prstGeom prst="rect">
            <a:avLst/>
          </a:prstGeom>
          <a:noFill/>
          <a:ln>
            <a:noFill/>
          </a:ln>
          <a:effectLst>
            <a:outerShdw blurRad="57150" dist="19050" dir="5400000" algn="bl" rotWithShape="0">
              <a:srgbClr val="000000">
                <a:alpha val="49019"/>
              </a:srgbClr>
            </a:outerShdw>
          </a:effectLst>
        </p:spPr>
      </p:pic>
      <p:sp>
        <p:nvSpPr>
          <p:cNvPr id="241" name="Google Shape;241;p11"/>
          <p:cNvSpPr txBox="1"/>
          <p:nvPr/>
        </p:nvSpPr>
        <p:spPr>
          <a:xfrm>
            <a:off x="1251505" y="60325"/>
            <a:ext cx="10683821" cy="1325562"/>
          </a:xfrm>
          <a:prstGeom prst="rect">
            <a:avLst/>
          </a:prstGeom>
          <a:noFill/>
          <a:ln>
            <a:noFill/>
          </a:ln>
        </p:spPr>
        <p:txBody>
          <a:bodyPr spcFirstLastPara="1" wrap="square" lIns="91425" tIns="45700" rIns="91425" bIns="45700" anchor="ctr" anchorCtr="0">
            <a:noAutofit/>
          </a:bodyPr>
          <a:lstStyle/>
          <a:p>
            <a:pPr>
              <a:lnSpc>
                <a:spcPct val="90000"/>
              </a:lnSpc>
              <a:buClr>
                <a:srgbClr val="33BEA6"/>
              </a:buClr>
              <a:buSzPts val="3600"/>
            </a:pPr>
            <a:r>
              <a:rPr lang="en-US" sz="3600" b="1" dirty="0">
                <a:solidFill>
                  <a:srgbClr val="33BEA6"/>
                </a:solidFill>
                <a:latin typeface="Verdana"/>
                <a:ea typeface="Verdana"/>
                <a:cs typeface="Verdana"/>
                <a:sym typeface="Verdana"/>
              </a:rPr>
              <a:t>12.1.3 Exploration: Areas of Rectangles</a:t>
            </a:r>
            <a:endParaRPr dirty="0"/>
          </a:p>
        </p:txBody>
      </p:sp>
      <p:pic>
        <p:nvPicPr>
          <p:cNvPr id="242" name="Google Shape;242;p11"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499251" y="346979"/>
            <a:ext cx="752254" cy="752254"/>
          </a:xfrm>
          <a:prstGeom prst="rect">
            <a:avLst/>
          </a:prstGeom>
          <a:noFill/>
          <a:ln>
            <a:noFill/>
          </a:ln>
          <a:effectLst>
            <a:outerShdw blurRad="50800" dist="38100" dir="2700000" algn="tl" rotWithShape="0">
              <a:srgbClr val="000000">
                <a:alpha val="40000"/>
              </a:srgbClr>
            </a:outerShdw>
          </a:effectLst>
        </p:spPr>
      </p:pic>
      <p:pic>
        <p:nvPicPr>
          <p:cNvPr id="243" name="Google Shape;243;p11"/>
          <p:cNvPicPr preferRelativeResize="0"/>
          <p:nvPr/>
        </p:nvPicPr>
        <p:blipFill rotWithShape="1">
          <a:blip r:embed="rId5">
            <a:alphaModFix/>
          </a:blip>
          <a:srcRect/>
          <a:stretch/>
        </p:blipFill>
        <p:spPr>
          <a:xfrm>
            <a:off x="2222512" y="2917287"/>
            <a:ext cx="7747000" cy="2514600"/>
          </a:xfrm>
          <a:prstGeom prst="rect">
            <a:avLst/>
          </a:prstGeom>
          <a:noFill/>
          <a:ln>
            <a:noFill/>
          </a:ln>
        </p:spPr>
      </p:pic>
      <p:sp>
        <p:nvSpPr>
          <p:cNvPr id="244" name="Google Shape;244;p11"/>
          <p:cNvSpPr txBox="1"/>
          <p:nvPr/>
        </p:nvSpPr>
        <p:spPr>
          <a:xfrm>
            <a:off x="8652681" y="6430879"/>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218</a:t>
            </a:r>
            <a:endParaRPr dirty="0"/>
          </a:p>
        </p:txBody>
      </p:sp>
      <p:pic>
        <p:nvPicPr>
          <p:cNvPr id="245" name="Google Shape;245;p11"/>
          <p:cNvPicPr preferRelativeResize="0"/>
          <p:nvPr/>
        </p:nvPicPr>
        <p:blipFill>
          <a:blip r:embed="rId6">
            <a:alphaModFix/>
          </a:blip>
          <a:stretch>
            <a:fillRect/>
          </a:stretch>
        </p:blipFill>
        <p:spPr>
          <a:xfrm>
            <a:off x="-60241" y="-61764"/>
            <a:ext cx="339425" cy="7003829"/>
          </a:xfrm>
          <a:prstGeom prst="rect">
            <a:avLst/>
          </a:prstGeom>
          <a:noFill/>
          <a:ln>
            <a:noFill/>
          </a:ln>
        </p:spPr>
      </p:pic>
      <mc:AlternateContent xmlns:mc="http://schemas.openxmlformats.org/markup-compatibility/2006" xmlns:a14="http://schemas.microsoft.com/office/drawing/2010/main">
        <mc:Choice Requires="a14">
          <p:sp>
            <p:nvSpPr>
              <p:cNvPr id="246" name="Google Shape;246;p11"/>
              <p:cNvSpPr txBox="1"/>
              <p:nvPr/>
            </p:nvSpPr>
            <p:spPr>
              <a:xfrm>
                <a:off x="1251504" y="1358200"/>
                <a:ext cx="9961927" cy="1108200"/>
              </a:xfrm>
              <a:prstGeom prst="rect">
                <a:avLst/>
              </a:prstGeom>
              <a:noFill/>
              <a:ln>
                <a:noFill/>
              </a:ln>
            </p:spPr>
            <p:txBody>
              <a:bodyPr spcFirstLastPara="1" wrap="square" lIns="91425" tIns="91425" rIns="91425" bIns="91425" anchor="t" anchorCtr="0">
                <a:spAutoFit/>
              </a:bodyPr>
              <a:lstStyle/>
              <a:p>
                <a:pPr marL="457200" indent="-457200">
                  <a:buSzPts val="2000"/>
                  <a:buFont typeface="+mj-lt"/>
                  <a:buAutoNum type="arabicPeriod"/>
                </a:pPr>
                <a:r>
                  <a:rPr lang="en-US" sz="2000" dirty="0">
                    <a:latin typeface="Verdana"/>
                    <a:ea typeface="Verdana"/>
                    <a:cs typeface="Verdana"/>
                    <a:sym typeface="Verdana"/>
                  </a:rPr>
                  <a:t>Two rectangles are shown. The length and width of Rectangle B are 6 and 3. The width of Rectangle A is also 3, but its length is unknown, so it is labeled </a:t>
                </a:r>
                <a14:m>
                  <m:oMath xmlns:m="http://schemas.openxmlformats.org/officeDocument/2006/math">
                    <m:r>
                      <a:rPr lang="en-US" sz="2000" i="1" dirty="0">
                        <a:latin typeface="Cambria Math" panose="02040503050406030204" pitchFamily="18" charset="0"/>
                        <a:ea typeface="Verdana"/>
                        <a:cs typeface="Verdana"/>
                        <a:sym typeface="Verdana"/>
                      </a:rPr>
                      <m:t>𝑥</m:t>
                    </m:r>
                  </m:oMath>
                </a14:m>
                <a:r>
                  <a:rPr lang="en-US" sz="2000" dirty="0">
                    <a:latin typeface="Verdana"/>
                    <a:ea typeface="Verdana"/>
                    <a:cs typeface="Verdana"/>
                    <a:sym typeface="Verdana"/>
                  </a:rPr>
                  <a:t>.</a:t>
                </a:r>
                <a:endParaRPr sz="2000" dirty="0">
                  <a:latin typeface="Verdana"/>
                  <a:ea typeface="Verdana"/>
                  <a:cs typeface="Verdana"/>
                  <a:sym typeface="Verdana"/>
                </a:endParaRPr>
              </a:p>
            </p:txBody>
          </p:sp>
        </mc:Choice>
        <mc:Fallback xmlns="">
          <p:sp>
            <p:nvSpPr>
              <p:cNvPr id="246" name="Google Shape;246;p11"/>
              <p:cNvSpPr txBox="1">
                <a:spLocks noRot="1" noChangeAspect="1" noMove="1" noResize="1" noEditPoints="1" noAdjustHandles="1" noChangeArrowheads="1" noChangeShapeType="1" noTextEdit="1"/>
              </p:cNvSpPr>
              <p:nvPr/>
            </p:nvSpPr>
            <p:spPr>
              <a:xfrm>
                <a:off x="1251504" y="1358200"/>
                <a:ext cx="9961927" cy="1108200"/>
              </a:xfrm>
              <a:prstGeom prst="rect">
                <a:avLst/>
              </a:prstGeom>
              <a:blipFill>
                <a:blip r:embed="rId7"/>
                <a:stretch>
                  <a:fillRect l="-637" b="-4545"/>
                </a:stretch>
              </a:blipFill>
              <a:ln>
                <a:noFill/>
              </a:ln>
            </p:spPr>
            <p:txBody>
              <a:bodyPr/>
              <a:lstStyle/>
              <a:p>
                <a:r>
                  <a:rPr 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9" name="Google Shape;259;p12"/>
          <p:cNvSpPr txBox="1"/>
          <p:nvPr/>
        </p:nvSpPr>
        <p:spPr>
          <a:xfrm>
            <a:off x="709863" y="475986"/>
            <a:ext cx="11081084" cy="5724614"/>
          </a:xfrm>
          <a:prstGeom prst="rect">
            <a:avLst/>
          </a:prstGeom>
          <a:noFill/>
          <a:ln>
            <a:noFill/>
          </a:ln>
        </p:spPr>
        <p:txBody>
          <a:bodyPr spcFirstLastPara="1" wrap="square" lIns="91425" tIns="91425" rIns="91425" bIns="91425" anchor="t" anchorCtr="0">
            <a:spAutoFit/>
          </a:bodyPr>
          <a:lstStyle/>
          <a:p>
            <a:pPr marL="914400" indent="-457200">
              <a:buSzPts val="2000"/>
              <a:buFont typeface="Verdana"/>
              <a:buAutoNum type="alphaLcPeriod"/>
            </a:pPr>
            <a:r>
              <a:rPr lang="en-US" sz="2000" dirty="0">
                <a:latin typeface="Verdana"/>
                <a:ea typeface="Verdana"/>
                <a:cs typeface="Verdana"/>
                <a:sym typeface="Verdana"/>
              </a:rPr>
              <a:t>Write an expression to represent the sum of the areas of Rectangles A and B</a:t>
            </a:r>
            <a:endParaRPr sz="2000" dirty="0">
              <a:latin typeface="Verdana"/>
              <a:ea typeface="Verdana"/>
              <a:cs typeface="Verdana"/>
              <a:sym typeface="Verdana"/>
            </a:endParaRPr>
          </a:p>
          <a:p>
            <a:pPr marL="914400" indent="-457200"/>
            <a:endParaRPr sz="2000" dirty="0">
              <a:latin typeface="Verdana"/>
              <a:ea typeface="Verdana"/>
              <a:cs typeface="Verdana"/>
              <a:sym typeface="Verdana"/>
            </a:endParaRPr>
          </a:p>
          <a:p>
            <a:pPr marL="914400" indent="-457200"/>
            <a:endParaRPr sz="2000" dirty="0">
              <a:latin typeface="Verdana"/>
              <a:ea typeface="Verdana"/>
              <a:cs typeface="Verdana"/>
              <a:sym typeface="Verdana"/>
            </a:endParaRPr>
          </a:p>
          <a:p>
            <a:pPr marL="914400" indent="-457200"/>
            <a:endParaRPr sz="2000" dirty="0">
              <a:latin typeface="Verdana"/>
              <a:ea typeface="Verdana"/>
              <a:cs typeface="Verdana"/>
              <a:sym typeface="Verdana"/>
            </a:endParaRPr>
          </a:p>
          <a:p>
            <a:pPr marL="914400" indent="-457200">
              <a:buSzPts val="2000"/>
              <a:buFont typeface="+mj-lt"/>
              <a:buAutoNum type="alphaLcPeriod" startAt="2"/>
            </a:pPr>
            <a:r>
              <a:rPr lang="en-US" sz="2000" dirty="0">
                <a:latin typeface="Verdana"/>
                <a:ea typeface="Verdana"/>
                <a:cs typeface="Verdana"/>
                <a:sym typeface="Verdana"/>
              </a:rPr>
              <a:t>Rectangles A and B can be composed into one larger rectangle, as shown.</a:t>
            </a:r>
          </a:p>
          <a:p>
            <a:pPr marL="457200" indent="-457200">
              <a:buSzPts val="2000"/>
              <a:buFont typeface="+mj-lt"/>
              <a:buAutoNum type="alphaLcPeriod" startAt="2"/>
            </a:pPr>
            <a:endParaRPr lang="en-US" sz="2000" dirty="0">
              <a:latin typeface="Verdana"/>
              <a:ea typeface="Verdana"/>
              <a:cs typeface="Verdana"/>
              <a:sym typeface="Verdana"/>
            </a:endParaRPr>
          </a:p>
          <a:p>
            <a:pPr marL="457200" indent="-457200">
              <a:buSzPts val="2000"/>
              <a:buFont typeface="+mj-lt"/>
              <a:buAutoNum type="alphaLcPeriod" startAt="2"/>
            </a:pPr>
            <a:endParaRPr lang="en-US" sz="2000" dirty="0">
              <a:latin typeface="Verdana"/>
              <a:ea typeface="Verdana"/>
              <a:cs typeface="Verdana"/>
              <a:sym typeface="Verdana"/>
            </a:endParaRPr>
          </a:p>
          <a:p>
            <a:pPr marL="457200" indent="-457200">
              <a:buSzPts val="2000"/>
              <a:buFont typeface="+mj-lt"/>
              <a:buAutoNum type="alphaLcPeriod" startAt="2"/>
            </a:pPr>
            <a:endParaRPr lang="en-US" sz="2000" dirty="0">
              <a:latin typeface="Verdana"/>
              <a:ea typeface="Verdana"/>
              <a:cs typeface="Verdana"/>
              <a:sym typeface="Verdana"/>
            </a:endParaRPr>
          </a:p>
          <a:p>
            <a:pPr marL="457200" indent="-457200">
              <a:buSzPts val="2000"/>
              <a:buFont typeface="+mj-lt"/>
              <a:buAutoNum type="alphaLcPeriod" startAt="2"/>
            </a:pPr>
            <a:endParaRPr lang="en-US" sz="2000" dirty="0">
              <a:latin typeface="Verdana"/>
              <a:ea typeface="Verdana"/>
              <a:cs typeface="Verdana"/>
              <a:sym typeface="Verdana"/>
            </a:endParaRPr>
          </a:p>
          <a:p>
            <a:pPr marL="457200" indent="-457200">
              <a:buSzPts val="2000"/>
              <a:buFont typeface="+mj-lt"/>
              <a:buAutoNum type="alphaLcPeriod" startAt="2"/>
            </a:pPr>
            <a:endParaRPr lang="en-US" sz="2000" dirty="0">
              <a:latin typeface="Verdana"/>
              <a:ea typeface="Verdana"/>
              <a:cs typeface="Verdana"/>
              <a:sym typeface="Verdana"/>
            </a:endParaRPr>
          </a:p>
          <a:p>
            <a:pPr marL="914400">
              <a:buSzPts val="2000"/>
            </a:pPr>
            <a:endParaRPr lang="en-US" sz="2000" dirty="0">
              <a:latin typeface="Verdana"/>
              <a:ea typeface="Verdana"/>
              <a:cs typeface="Verdana"/>
              <a:sym typeface="Verdana"/>
            </a:endParaRPr>
          </a:p>
          <a:p>
            <a:pPr marL="914400">
              <a:buSzPts val="2000"/>
            </a:pPr>
            <a:r>
              <a:rPr lang="en-US" sz="2000" dirty="0">
                <a:latin typeface="Verdana"/>
                <a:ea typeface="Verdana"/>
                <a:cs typeface="Verdana"/>
                <a:sym typeface="Verdana"/>
              </a:rPr>
              <a:t>Complete the statement. </a:t>
            </a:r>
            <a:endParaRPr lang="en-US" dirty="0"/>
          </a:p>
          <a:p>
            <a:pPr marL="914400">
              <a:buSzPts val="2000"/>
            </a:pPr>
            <a:endParaRPr lang="en-US" sz="2000" dirty="0">
              <a:latin typeface="Verdana"/>
              <a:ea typeface="Verdana"/>
              <a:cs typeface="Verdana"/>
              <a:sym typeface="Verdana"/>
            </a:endParaRPr>
          </a:p>
          <a:p>
            <a:pPr marL="914400">
              <a:buSzPts val="2000"/>
            </a:pPr>
            <a:r>
              <a:rPr lang="en-US" sz="2000" dirty="0">
                <a:latin typeface="Verdana"/>
                <a:ea typeface="Verdana"/>
                <a:cs typeface="Verdana"/>
                <a:sym typeface="Verdana"/>
              </a:rPr>
              <a:t>The width of the new rectangle is </a:t>
            </a:r>
            <a:r>
              <a:rPr lang="en-US" dirty="0">
                <a:ea typeface="Verdana"/>
              </a:rPr>
              <a:t>                        </a:t>
            </a:r>
            <a:r>
              <a:rPr lang="en-US" sz="2000" dirty="0">
                <a:latin typeface="Verdana" panose="020B0604030504040204" pitchFamily="34" charset="0"/>
                <a:ea typeface="Verdana" panose="020B0604030504040204" pitchFamily="34" charset="0"/>
                <a:cs typeface="Verdana" panose="020B0604030504040204" pitchFamily="34" charset="0"/>
              </a:rPr>
              <a:t>a</a:t>
            </a:r>
            <a:r>
              <a:rPr lang="en-US" sz="2000" dirty="0">
                <a:latin typeface="Verdana"/>
                <a:ea typeface="Verdana"/>
                <a:cs typeface="Verdana"/>
                <a:sym typeface="Verdana"/>
              </a:rPr>
              <a:t>nd the length </a:t>
            </a:r>
          </a:p>
          <a:p>
            <a:pPr marL="914400">
              <a:buSzPts val="2000"/>
            </a:pPr>
            <a:endParaRPr lang="en-US" sz="2000" dirty="0">
              <a:latin typeface="Verdana"/>
              <a:ea typeface="Verdana"/>
              <a:cs typeface="Verdana"/>
              <a:sym typeface="Verdana"/>
            </a:endParaRPr>
          </a:p>
          <a:p>
            <a:pPr marL="914400">
              <a:buSzPts val="2000"/>
            </a:pPr>
            <a:endParaRPr lang="en-US" sz="2000" dirty="0">
              <a:latin typeface="Verdana"/>
              <a:ea typeface="Verdana"/>
              <a:cs typeface="Verdana"/>
              <a:sym typeface="Verdana"/>
            </a:endParaRPr>
          </a:p>
          <a:p>
            <a:pPr marL="914400">
              <a:buSzPts val="2000"/>
            </a:pPr>
            <a:r>
              <a:rPr lang="en-US" sz="2000" dirty="0">
                <a:latin typeface="Verdana"/>
                <a:ea typeface="Verdana"/>
                <a:cs typeface="Verdana"/>
                <a:sym typeface="Verdana"/>
              </a:rPr>
              <a:t>is</a:t>
            </a:r>
            <a:endParaRPr lang="en-US" sz="2000" dirty="0"/>
          </a:p>
          <a:p>
            <a:pPr marL="457200" indent="-457200">
              <a:buSzPts val="2000"/>
              <a:buFont typeface="+mj-lt"/>
              <a:buAutoNum type="alphaLcPeriod" startAt="2"/>
            </a:pPr>
            <a:endParaRPr sz="2000" dirty="0">
              <a:latin typeface="Verdana"/>
              <a:ea typeface="Verdana"/>
              <a:cs typeface="Verdana"/>
              <a:sym typeface="Verdana"/>
            </a:endParaRPr>
          </a:p>
        </p:txBody>
      </p:sp>
      <p:pic>
        <p:nvPicPr>
          <p:cNvPr id="252" name="Google Shape;252;p1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09022" y="6200724"/>
            <a:ext cx="563850" cy="657276"/>
          </a:xfrm>
          <a:prstGeom prst="rect">
            <a:avLst/>
          </a:prstGeom>
          <a:noFill/>
          <a:ln>
            <a:noFill/>
          </a:ln>
          <a:effectLst>
            <a:outerShdw blurRad="57150" dist="19050" dir="5400000" algn="bl" rotWithShape="0">
              <a:srgbClr val="000000">
                <a:alpha val="49019"/>
              </a:srgbClr>
            </a:outerShdw>
          </a:effectLst>
        </p:spPr>
      </p:pic>
      <p:pic>
        <p:nvPicPr>
          <p:cNvPr id="253" name="Google Shape;253;p12"/>
          <p:cNvPicPr preferRelativeResize="0"/>
          <p:nvPr/>
        </p:nvPicPr>
        <p:blipFill rotWithShape="1">
          <a:blip r:embed="rId4">
            <a:alphaModFix/>
          </a:blip>
          <a:srcRect/>
          <a:stretch/>
        </p:blipFill>
        <p:spPr>
          <a:xfrm>
            <a:off x="4034255" y="2159937"/>
            <a:ext cx="4432300" cy="1587500"/>
          </a:xfrm>
          <a:prstGeom prst="rect">
            <a:avLst/>
          </a:prstGeom>
          <a:noFill/>
          <a:ln>
            <a:noFill/>
          </a:ln>
        </p:spPr>
      </p:pic>
      <p:sp>
        <p:nvSpPr>
          <p:cNvPr id="257" name="Google Shape;257;p12"/>
          <p:cNvSpPr txBox="1"/>
          <p:nvPr/>
        </p:nvSpPr>
        <p:spPr>
          <a:xfrm>
            <a:off x="8851073" y="6457826"/>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218</a:t>
            </a:r>
            <a:endParaRPr/>
          </a:p>
        </p:txBody>
      </p:sp>
      <p:pic>
        <p:nvPicPr>
          <p:cNvPr id="258" name="Google Shape;258;p12"/>
          <p:cNvPicPr preferRelativeResize="0"/>
          <p:nvPr/>
        </p:nvPicPr>
        <p:blipFill>
          <a:blip r:embed="rId5">
            <a:alphaModFix/>
          </a:blip>
          <a:stretch>
            <a:fillRect/>
          </a:stretch>
        </p:blipFill>
        <p:spPr>
          <a:xfrm>
            <a:off x="-56853" y="-105225"/>
            <a:ext cx="339425" cy="7047563"/>
          </a:xfrm>
          <a:prstGeom prst="rect">
            <a:avLst/>
          </a:prstGeom>
          <a:noFill/>
          <a:ln>
            <a:noFill/>
          </a:ln>
        </p:spPr>
      </p:pic>
      <p:pic>
        <p:nvPicPr>
          <p:cNvPr id="260" name="Google Shape;260;p12"/>
          <p:cNvPicPr preferRelativeResize="0"/>
          <p:nvPr/>
        </p:nvPicPr>
        <p:blipFill>
          <a:blip r:embed="rId6">
            <a:alphaModFix/>
          </a:blip>
          <a:stretch>
            <a:fillRect/>
          </a:stretch>
        </p:blipFill>
        <p:spPr>
          <a:xfrm>
            <a:off x="4702487" y="1080299"/>
            <a:ext cx="2787025" cy="475325"/>
          </a:xfrm>
          <a:prstGeom prst="rect">
            <a:avLst/>
          </a:prstGeom>
          <a:noFill/>
          <a:ln>
            <a:noFill/>
          </a:ln>
        </p:spPr>
      </p:pic>
      <p:sp>
        <p:nvSpPr>
          <p:cNvPr id="10" name="Rounded Rectangle 9">
            <a:extLst>
              <a:ext uri="{FF2B5EF4-FFF2-40B4-BE49-F238E27FC236}">
                <a16:creationId xmlns:a16="http://schemas.microsoft.com/office/drawing/2014/main" id="{D2C2A4BB-4D5F-D8E1-9899-6A30449F54C9}"/>
              </a:ext>
            </a:extLst>
          </p:cNvPr>
          <p:cNvSpPr/>
          <p:nvPr/>
        </p:nvSpPr>
        <p:spPr>
          <a:xfrm>
            <a:off x="2058824" y="4951718"/>
            <a:ext cx="1775265" cy="1377495"/>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Courier New" panose="02070309020205020404" pitchFamily="49" charset="0"/>
              <a:buChar char="o"/>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3.</a:t>
            </a:r>
          </a:p>
          <a:p>
            <a:pPr marL="285750" indent="-285750">
              <a:buFont typeface="Courier New" panose="02070309020205020404" pitchFamily="49" charset="0"/>
              <a:buChar char="o"/>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(3 + </a:t>
            </a:r>
            <a:r>
              <a:rPr lang="en-US" sz="2000" i="1" dirty="0">
                <a:solidFill>
                  <a:schemeClr val="tx1"/>
                </a:solidFill>
                <a:latin typeface="Verdana" panose="020B0604030504040204" pitchFamily="34" charset="0"/>
                <a:ea typeface="Verdana" panose="020B0604030504040204" pitchFamily="34" charset="0"/>
                <a:cs typeface="Verdana" panose="020B0604030504040204" pitchFamily="34" charset="0"/>
              </a:rPr>
              <a:t>x</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t>
            </a:r>
          </a:p>
          <a:p>
            <a:pPr marL="285750" indent="-285750">
              <a:buFont typeface="Courier New" panose="02070309020205020404" pitchFamily="49" charset="0"/>
              <a:buChar char="o"/>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6.</a:t>
            </a:r>
          </a:p>
          <a:p>
            <a:pPr marL="285750" indent="-285750">
              <a:buFont typeface="Courier New" panose="02070309020205020404" pitchFamily="49" charset="0"/>
              <a:buChar char="o"/>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(6 + </a:t>
            </a:r>
            <a:r>
              <a:rPr lang="en-US" sz="2000" i="1" dirty="0">
                <a:solidFill>
                  <a:schemeClr val="tx1"/>
                </a:solidFill>
                <a:latin typeface="Verdana" panose="020B0604030504040204" pitchFamily="34" charset="0"/>
                <a:ea typeface="Verdana" panose="020B0604030504040204" pitchFamily="34" charset="0"/>
                <a:cs typeface="Verdana" panose="020B0604030504040204" pitchFamily="34" charset="0"/>
              </a:rPr>
              <a:t>x</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 </a:t>
            </a:r>
          </a:p>
        </p:txBody>
      </p:sp>
      <p:sp>
        <p:nvSpPr>
          <p:cNvPr id="11" name="Rounded Rectangle 10">
            <a:extLst>
              <a:ext uri="{FF2B5EF4-FFF2-40B4-BE49-F238E27FC236}">
                <a16:creationId xmlns:a16="http://schemas.microsoft.com/office/drawing/2014/main" id="{F296F35F-5C15-B845-FBAE-C727821B6FDD}"/>
              </a:ext>
            </a:extLst>
          </p:cNvPr>
          <p:cNvSpPr/>
          <p:nvPr/>
        </p:nvSpPr>
        <p:spPr>
          <a:xfrm>
            <a:off x="6095999" y="3955328"/>
            <a:ext cx="1100688" cy="1377495"/>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Courier New" panose="02070309020205020404" pitchFamily="49" charset="0"/>
              <a:buChar char="o"/>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3</a:t>
            </a:r>
          </a:p>
          <a:p>
            <a:pPr marL="285750" indent="-285750">
              <a:buFont typeface="Courier New" panose="02070309020205020404" pitchFamily="49" charset="0"/>
              <a:buChar char="o"/>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3</a:t>
            </a:r>
            <a:r>
              <a:rPr lang="en-US" sz="2000" i="1" dirty="0">
                <a:solidFill>
                  <a:schemeClr val="tx1"/>
                </a:solidFill>
                <a:latin typeface="Verdana" panose="020B0604030504040204" pitchFamily="34" charset="0"/>
                <a:ea typeface="Verdana" panose="020B0604030504040204" pitchFamily="34" charset="0"/>
                <a:cs typeface="Verdana" panose="020B0604030504040204" pitchFamily="34" charset="0"/>
              </a:rPr>
              <a:t>x</a:t>
            </a:r>
          </a:p>
          <a:p>
            <a:pPr marL="285750" indent="-285750">
              <a:buFont typeface="Courier New" panose="02070309020205020404" pitchFamily="49" charset="0"/>
              <a:buChar char="o"/>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6</a:t>
            </a:r>
          </a:p>
          <a:p>
            <a:pPr marL="285750" indent="-285750">
              <a:buFont typeface="Courier New" panose="02070309020205020404" pitchFamily="49" charset="0"/>
              <a:buChar char="o"/>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18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pic>
        <p:nvPicPr>
          <p:cNvPr id="266" name="Google Shape;266;p1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95256" y="6129312"/>
            <a:ext cx="563850" cy="657276"/>
          </a:xfrm>
          <a:prstGeom prst="rect">
            <a:avLst/>
          </a:prstGeom>
          <a:noFill/>
          <a:ln>
            <a:noFill/>
          </a:ln>
          <a:effectLst>
            <a:outerShdw blurRad="57150" dist="19050" dir="5400000" algn="bl" rotWithShape="0">
              <a:srgbClr val="000000">
                <a:alpha val="49019"/>
              </a:srgbClr>
            </a:outerShdw>
          </a:effectLst>
        </p:spPr>
      </p:pic>
      <p:sp>
        <p:nvSpPr>
          <p:cNvPr id="267" name="Google Shape;267;p13"/>
          <p:cNvSpPr txBox="1"/>
          <p:nvPr/>
        </p:nvSpPr>
        <p:spPr>
          <a:xfrm>
            <a:off x="8861594" y="6386538"/>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219</a:t>
            </a:r>
            <a:endParaRPr/>
          </a:p>
        </p:txBody>
      </p:sp>
      <p:sp>
        <p:nvSpPr>
          <p:cNvPr id="268" name="Google Shape;268;p13"/>
          <p:cNvSpPr txBox="1"/>
          <p:nvPr/>
        </p:nvSpPr>
        <p:spPr>
          <a:xfrm>
            <a:off x="890337" y="411163"/>
            <a:ext cx="10455441" cy="922337"/>
          </a:xfrm>
          <a:prstGeom prst="rect">
            <a:avLst/>
          </a:prstGeom>
          <a:noFill/>
          <a:ln>
            <a:noFill/>
          </a:ln>
        </p:spPr>
        <p:txBody>
          <a:bodyPr spcFirstLastPara="1" wrap="square" lIns="91425" tIns="45700" rIns="91425" bIns="45700" anchor="t" anchorCtr="0">
            <a:spAutoFit/>
          </a:bodyPr>
          <a:lstStyle/>
          <a:p>
            <a:pPr marL="914400" indent="-457200">
              <a:buSzPts val="2000"/>
              <a:buFont typeface="+mj-lt"/>
              <a:buAutoNum type="alphaLcPeriod" startAt="3"/>
            </a:pPr>
            <a:r>
              <a:rPr lang="en-US" sz="2000" dirty="0" err="1">
                <a:latin typeface="Verdana"/>
                <a:ea typeface="Verdana"/>
                <a:cs typeface="Verdana"/>
                <a:sym typeface="Verdana"/>
              </a:rPr>
              <a:t>Tajae</a:t>
            </a:r>
            <a:r>
              <a:rPr lang="en-US" sz="2000" dirty="0">
                <a:latin typeface="Verdana"/>
                <a:ea typeface="Verdana"/>
                <a:cs typeface="Verdana"/>
                <a:sym typeface="Verdana"/>
              </a:rPr>
              <a:t> and Elyse wrote different expressions to represent the area of the larger rectangle</a:t>
            </a:r>
            <a:r>
              <a:rPr lang="en-US" dirty="0"/>
              <a:t>.</a:t>
            </a:r>
            <a:endParaRPr dirty="0"/>
          </a:p>
          <a:p>
            <a:pPr>
              <a:buSzPts val="1400"/>
            </a:pPr>
            <a:r>
              <a:rPr lang="en-US" dirty="0"/>
              <a:t> </a:t>
            </a:r>
            <a:endParaRPr dirty="0"/>
          </a:p>
        </p:txBody>
      </p:sp>
      <p:sp>
        <p:nvSpPr>
          <p:cNvPr id="270" name="Google Shape;270;p13"/>
          <p:cNvSpPr txBox="1"/>
          <p:nvPr/>
        </p:nvSpPr>
        <p:spPr>
          <a:xfrm>
            <a:off x="481263" y="2659062"/>
            <a:ext cx="11044990" cy="1014412"/>
          </a:xfrm>
          <a:prstGeom prst="rect">
            <a:avLst/>
          </a:prstGeom>
          <a:noFill/>
          <a:ln>
            <a:noFill/>
          </a:ln>
        </p:spPr>
        <p:txBody>
          <a:bodyPr spcFirstLastPara="1" wrap="square" lIns="91425" tIns="45700" rIns="91425" bIns="45700" anchor="t" anchorCtr="0">
            <a:spAutoFit/>
          </a:bodyPr>
          <a:lstStyle/>
          <a:p>
            <a:pPr marL="1371600">
              <a:buSzPts val="2000"/>
            </a:pPr>
            <a:r>
              <a:rPr lang="en-US" sz="2000" dirty="0">
                <a:latin typeface="Verdana"/>
                <a:ea typeface="Verdana"/>
                <a:cs typeface="Verdana"/>
                <a:sym typeface="Verdana"/>
              </a:rPr>
              <a:t>Discuss with your partner whether </a:t>
            </a:r>
            <a:r>
              <a:rPr lang="en-US" sz="2000" dirty="0" err="1">
                <a:latin typeface="Verdana"/>
                <a:ea typeface="Verdana"/>
                <a:cs typeface="Verdana"/>
                <a:sym typeface="Verdana"/>
              </a:rPr>
              <a:t>Tajae</a:t>
            </a:r>
            <a:r>
              <a:rPr lang="en-US" sz="2000" dirty="0">
                <a:latin typeface="Verdana"/>
                <a:ea typeface="Verdana"/>
                <a:cs typeface="Verdana"/>
                <a:sym typeface="Verdana"/>
              </a:rPr>
              <a:t>, Elyse, or both students wrote a correct expression of the area.</a:t>
            </a:r>
            <a:endParaRPr dirty="0"/>
          </a:p>
          <a:p>
            <a:pPr marL="1371600">
              <a:buSzPts val="2000"/>
            </a:pPr>
            <a:r>
              <a:rPr lang="en-US" sz="2000" dirty="0">
                <a:latin typeface="Verdana"/>
                <a:ea typeface="Verdana"/>
                <a:cs typeface="Verdana"/>
                <a:sym typeface="Verdana"/>
              </a:rPr>
              <a:t> </a:t>
            </a:r>
            <a:endParaRPr dirty="0"/>
          </a:p>
        </p:txBody>
      </p:sp>
      <p:sp>
        <p:nvSpPr>
          <p:cNvPr id="271" name="Google Shape;271;p13"/>
          <p:cNvSpPr txBox="1"/>
          <p:nvPr/>
        </p:nvSpPr>
        <p:spPr>
          <a:xfrm>
            <a:off x="859341" y="3673474"/>
            <a:ext cx="10635915" cy="400069"/>
          </a:xfrm>
          <a:prstGeom prst="rect">
            <a:avLst/>
          </a:prstGeom>
          <a:noFill/>
          <a:ln>
            <a:noFill/>
          </a:ln>
        </p:spPr>
        <p:txBody>
          <a:bodyPr spcFirstLastPara="1" wrap="square" lIns="91425" tIns="45700" rIns="91425" bIns="45700" anchor="t" anchorCtr="0">
            <a:spAutoFit/>
          </a:bodyPr>
          <a:lstStyle/>
          <a:p>
            <a:pPr marL="914400" indent="-457200">
              <a:buSzPts val="2000"/>
              <a:buFont typeface="+mj-lt"/>
              <a:buAutoNum type="alphaLcPeriod" startAt="4"/>
            </a:pPr>
            <a:r>
              <a:rPr lang="en-US" sz="2000" dirty="0">
                <a:latin typeface="Verdana"/>
                <a:ea typeface="Verdana"/>
                <a:cs typeface="Verdana"/>
                <a:sym typeface="Verdana"/>
              </a:rPr>
              <a:t>Write another expression to represent the area of the larger rectangle.</a:t>
            </a:r>
            <a:endParaRPr dirty="0"/>
          </a:p>
        </p:txBody>
      </p:sp>
      <p:pic>
        <p:nvPicPr>
          <p:cNvPr id="272" name="Google Shape;272;p13"/>
          <p:cNvPicPr preferRelativeResize="0"/>
          <p:nvPr/>
        </p:nvPicPr>
        <p:blipFill>
          <a:blip r:embed="rId4">
            <a:alphaModFix/>
          </a:blip>
          <a:stretch>
            <a:fillRect/>
          </a:stretch>
        </p:blipFill>
        <p:spPr>
          <a:xfrm>
            <a:off x="-59279" y="-77353"/>
            <a:ext cx="339425" cy="7012706"/>
          </a:xfrm>
          <a:prstGeom prst="rect">
            <a:avLst/>
          </a:prstGeom>
          <a:noFill/>
          <a:ln>
            <a:noFill/>
          </a:ln>
        </p:spPr>
      </p:pic>
      <mc:AlternateContent xmlns:mc="http://schemas.openxmlformats.org/markup-compatibility/2006" xmlns:a14="http://schemas.microsoft.com/office/drawing/2010/main">
        <mc:Choice Requires="a14">
          <p:graphicFrame>
            <p:nvGraphicFramePr>
              <p:cNvPr id="9" name="Table 4">
                <a:extLst>
                  <a:ext uri="{FF2B5EF4-FFF2-40B4-BE49-F238E27FC236}">
                    <a16:creationId xmlns:a16="http://schemas.microsoft.com/office/drawing/2014/main" id="{D6639188-0152-B20F-2322-53D1DEC0A710}"/>
                  </a:ext>
                </a:extLst>
              </p:cNvPr>
              <p:cNvGraphicFramePr>
                <a:graphicFrameLocks noGrp="1"/>
              </p:cNvGraphicFramePr>
              <p:nvPr>
                <p:extLst>
                  <p:ext uri="{D42A27DB-BD31-4B8C-83A1-F6EECF244321}">
                    <p14:modId xmlns:p14="http://schemas.microsoft.com/office/powerpoint/2010/main" val="4049029101"/>
                  </p:ext>
                </p:extLst>
              </p:nvPr>
            </p:nvGraphicFramePr>
            <p:xfrm>
              <a:off x="3160295" y="1402443"/>
              <a:ext cx="6096000" cy="79248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199702989"/>
                        </a:ext>
                      </a:extLst>
                    </a:gridCol>
                    <a:gridCol w="3048000">
                      <a:extLst>
                        <a:ext uri="{9D8B030D-6E8A-4147-A177-3AD203B41FA5}">
                          <a16:colId xmlns:a16="http://schemas.microsoft.com/office/drawing/2014/main" val="311985575"/>
                        </a:ext>
                      </a:extLst>
                    </a:gridCol>
                  </a:tblGrid>
                  <a:tr h="370840">
                    <a:tc>
                      <a:txBody>
                        <a:bodyPr/>
                        <a:lstStyle/>
                        <a:p>
                          <a:pPr algn="ctr"/>
                          <a:r>
                            <a:rPr lang="en-US" sz="2000" b="1" dirty="0" err="1">
                              <a:solidFill>
                                <a:schemeClr val="tx1"/>
                              </a:solidFill>
                              <a:latin typeface="Verdana" panose="020B0604030504040204" pitchFamily="34" charset="0"/>
                              <a:ea typeface="Verdana" panose="020B0604030504040204" pitchFamily="34" charset="0"/>
                              <a:cs typeface="Verdana" panose="020B0604030504040204" pitchFamily="34" charset="0"/>
                            </a:rPr>
                            <a:t>Tajae</a:t>
                          </a:r>
                          <a:endParaRPr lang="en-US" sz="20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Elyse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159675367"/>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sz="2000" smtClean="0">
                                    <a:effectLst/>
                                    <a:latin typeface="Cambria Math" panose="02040503050406030204" pitchFamily="18" charset="0"/>
                                  </a:rPr>
                                  <m:t>3(</m:t>
                                </m:r>
                                <m:r>
                                  <a:rPr lang="en-US" sz="2000" smtClean="0">
                                    <a:effectLst/>
                                    <a:latin typeface="Cambria Math" panose="02040503050406030204" pitchFamily="18" charset="0"/>
                                  </a:rPr>
                                  <m:t>𝑥</m:t>
                                </m:r>
                                <m:r>
                                  <a:rPr lang="en-US" sz="2000" smtClean="0">
                                    <a:effectLst/>
                                    <a:latin typeface="Cambria Math" panose="02040503050406030204" pitchFamily="18" charset="0"/>
                                  </a:rPr>
                                  <m:t>)+3(6)</m:t>
                                </m:r>
                              </m:oMath>
                            </m:oMathPara>
                          </a14:m>
                          <a:endParaRPr lang="en-US" sz="2000" dirty="0">
                            <a:effectLst/>
                            <a:latin typeface="Cambria" panose="02040503050406030204" pitchFamily="18" charset="0"/>
                            <a:ea typeface="Times New Roman" panose="02020603050405020304" pitchFamily="18" charset="0"/>
                            <a:cs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sz="2000" smtClean="0">
                                    <a:effectLst/>
                                    <a:latin typeface="Cambria Math" panose="02040503050406030204" pitchFamily="18" charset="0"/>
                                  </a:rPr>
                                  <m:t>3(</m:t>
                                </m:r>
                                <m:r>
                                  <a:rPr lang="en-US" sz="2000" smtClean="0">
                                    <a:effectLst/>
                                    <a:latin typeface="Cambria Math" panose="02040503050406030204" pitchFamily="18" charset="0"/>
                                  </a:rPr>
                                  <m:t>𝑥</m:t>
                                </m:r>
                                <m:r>
                                  <a:rPr lang="en-US" sz="2000" smtClean="0">
                                    <a:effectLst/>
                                    <a:latin typeface="Cambria Math" panose="02040503050406030204" pitchFamily="18" charset="0"/>
                                  </a:rPr>
                                  <m:t>+6)</m:t>
                                </m:r>
                              </m:oMath>
                            </m:oMathPara>
                          </a14:m>
                          <a:endParaRPr lang="en-US" sz="2000" dirty="0">
                            <a:effectLst/>
                            <a:latin typeface="Cambria" panose="02040503050406030204" pitchFamily="18" charset="0"/>
                            <a:ea typeface="Times New Roman" panose="02020603050405020304" pitchFamily="18" charset="0"/>
                            <a:cs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9711395"/>
                      </a:ext>
                    </a:extLst>
                  </a:tr>
                </a:tbl>
              </a:graphicData>
            </a:graphic>
          </p:graphicFrame>
        </mc:Choice>
        <mc:Fallback xmlns="">
          <p:graphicFrame>
            <p:nvGraphicFramePr>
              <p:cNvPr id="9" name="Table 4">
                <a:extLst>
                  <a:ext uri="{FF2B5EF4-FFF2-40B4-BE49-F238E27FC236}">
                    <a16:creationId xmlns:a16="http://schemas.microsoft.com/office/drawing/2014/main" id="{D6639188-0152-B20F-2322-53D1DEC0A710}"/>
                  </a:ext>
                </a:extLst>
              </p:cNvPr>
              <p:cNvGraphicFramePr>
                <a:graphicFrameLocks noGrp="1"/>
              </p:cNvGraphicFramePr>
              <p:nvPr>
                <p:extLst>
                  <p:ext uri="{D42A27DB-BD31-4B8C-83A1-F6EECF244321}">
                    <p14:modId xmlns:p14="http://schemas.microsoft.com/office/powerpoint/2010/main" val="4049029101"/>
                  </p:ext>
                </p:extLst>
              </p:nvPr>
            </p:nvGraphicFramePr>
            <p:xfrm>
              <a:off x="3160295" y="1402443"/>
              <a:ext cx="6096000" cy="79248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199702989"/>
                        </a:ext>
                      </a:extLst>
                    </a:gridCol>
                    <a:gridCol w="3048000">
                      <a:extLst>
                        <a:ext uri="{9D8B030D-6E8A-4147-A177-3AD203B41FA5}">
                          <a16:colId xmlns:a16="http://schemas.microsoft.com/office/drawing/2014/main" val="311985575"/>
                        </a:ext>
                      </a:extLst>
                    </a:gridCol>
                  </a:tblGrid>
                  <a:tr h="396240">
                    <a:tc>
                      <a:txBody>
                        <a:bodyPr/>
                        <a:lstStyle/>
                        <a:p>
                          <a:pPr algn="ctr"/>
                          <a:r>
                            <a:rPr lang="en-US" sz="2000" b="1" dirty="0" err="1">
                              <a:solidFill>
                                <a:schemeClr val="tx1"/>
                              </a:solidFill>
                              <a:latin typeface="Verdana" panose="020B0604030504040204" pitchFamily="34" charset="0"/>
                              <a:ea typeface="Verdana" panose="020B0604030504040204" pitchFamily="34" charset="0"/>
                              <a:cs typeface="Verdana" panose="020B0604030504040204" pitchFamily="34" charset="0"/>
                            </a:rPr>
                            <a:t>Tajae</a:t>
                          </a:r>
                          <a:endParaRPr lang="en-US" sz="20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Elyse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159675367"/>
                      </a:ext>
                    </a:extLst>
                  </a:tr>
                  <a:tr h="39624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109677" r="-100415" b="-16129"/>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417" t="-109677" r="-833" b="-16129"/>
                          </a:stretch>
                        </a:blipFill>
                      </a:tcPr>
                    </a:tc>
                    <a:extLst>
                      <a:ext uri="{0D108BD9-81ED-4DB2-BD59-A6C34878D82A}">
                        <a16:rowId xmlns:a16="http://schemas.microsoft.com/office/drawing/2014/main" val="2729711395"/>
                      </a:ext>
                    </a:extLst>
                  </a:tr>
                </a:tbl>
              </a:graphicData>
            </a:graphic>
          </p:graphicFrame>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78" name="Google Shape;278;p1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73377" y="6200724"/>
            <a:ext cx="563850" cy="657276"/>
          </a:xfrm>
          <a:prstGeom prst="rect">
            <a:avLst/>
          </a:prstGeom>
          <a:noFill/>
          <a:ln>
            <a:noFill/>
          </a:ln>
          <a:effectLst>
            <a:outerShdw blurRad="57150" dist="19050" dir="5400000" algn="bl" rotWithShape="0">
              <a:srgbClr val="000000">
                <a:alpha val="49019"/>
              </a:srgbClr>
            </a:outerShdw>
          </a:effectLst>
        </p:spPr>
      </p:pic>
      <p:sp>
        <p:nvSpPr>
          <p:cNvPr id="281" name="Google Shape;281;p14"/>
          <p:cNvSpPr txBox="1"/>
          <p:nvPr/>
        </p:nvSpPr>
        <p:spPr>
          <a:xfrm>
            <a:off x="8939715" y="6457950"/>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219</a:t>
            </a:r>
            <a:endParaRPr dirty="0"/>
          </a:p>
        </p:txBody>
      </p:sp>
      <p:pic>
        <p:nvPicPr>
          <p:cNvPr id="282" name="Google Shape;282;p14"/>
          <p:cNvPicPr preferRelativeResize="0"/>
          <p:nvPr/>
        </p:nvPicPr>
        <p:blipFill>
          <a:blip r:embed="rId4">
            <a:alphaModFix/>
          </a:blip>
          <a:stretch>
            <a:fillRect/>
          </a:stretch>
        </p:blipFill>
        <p:spPr>
          <a:xfrm>
            <a:off x="-59279" y="-72915"/>
            <a:ext cx="339425" cy="7003829"/>
          </a:xfrm>
          <a:prstGeom prst="rect">
            <a:avLst/>
          </a:prstGeom>
          <a:noFill/>
          <a:ln>
            <a:noFill/>
          </a:ln>
        </p:spPr>
      </p:pic>
      <p:sp>
        <p:nvSpPr>
          <p:cNvPr id="283" name="Google Shape;283;p14"/>
          <p:cNvSpPr txBox="1"/>
          <p:nvPr/>
        </p:nvSpPr>
        <p:spPr>
          <a:xfrm>
            <a:off x="637674" y="117773"/>
            <a:ext cx="11153273" cy="2131322"/>
          </a:xfrm>
          <a:prstGeom prst="rect">
            <a:avLst/>
          </a:prstGeom>
          <a:noFill/>
          <a:ln>
            <a:noFill/>
          </a:ln>
        </p:spPr>
        <p:txBody>
          <a:bodyPr spcFirstLastPara="1" wrap="square" lIns="91425" tIns="91425" rIns="91425" bIns="91425" anchor="t" anchorCtr="0">
            <a:spAutoFit/>
          </a:bodyPr>
          <a:lstStyle/>
          <a:p>
            <a:pPr marL="457200" indent="-457200">
              <a:lnSpc>
                <a:spcPct val="115000"/>
              </a:lnSpc>
              <a:buClr>
                <a:schemeClr val="dk1"/>
              </a:buClr>
              <a:buSzPts val="2000"/>
              <a:buFont typeface="+mj-lt"/>
              <a:buAutoNum type="arabicPeriod" startAt="2"/>
            </a:pPr>
            <a:r>
              <a:rPr lang="en-US" sz="2200" dirty="0">
                <a:solidFill>
                  <a:schemeClr val="dk1"/>
                </a:solidFill>
                <a:latin typeface="Verdana"/>
                <a:ea typeface="Verdana"/>
                <a:cs typeface="Verdana"/>
                <a:sym typeface="Verdana"/>
              </a:rPr>
              <a:t>For each rectangle, complete the table.</a:t>
            </a:r>
          </a:p>
          <a:p>
            <a:pPr marL="457200">
              <a:lnSpc>
                <a:spcPct val="115000"/>
              </a:lnSpc>
              <a:buClr>
                <a:schemeClr val="dk1"/>
              </a:buClr>
              <a:buSzPts val="2000"/>
            </a:pPr>
            <a:r>
              <a:rPr lang="en-US" sz="2200" dirty="0">
                <a:solidFill>
                  <a:schemeClr val="dk1"/>
                </a:solidFill>
                <a:latin typeface="Verdana"/>
                <a:ea typeface="Verdana"/>
                <a:cs typeface="Verdana"/>
                <a:sym typeface="Verdana"/>
              </a:rPr>
              <a:t>In the first two columns, write an expression to represent the width and length of the rectangle. Then, in the next two columns, express the area of the rectangle in two different ways using either multiplication or addition.</a:t>
            </a:r>
            <a:endParaRPr sz="2200" dirty="0"/>
          </a:p>
        </p:txBody>
      </p:sp>
      <p:pic>
        <p:nvPicPr>
          <p:cNvPr id="3" name="Picture 2" descr="Table&#10;&#10;Description automatically generated">
            <a:extLst>
              <a:ext uri="{FF2B5EF4-FFF2-40B4-BE49-F238E27FC236}">
                <a16:creationId xmlns:a16="http://schemas.microsoft.com/office/drawing/2014/main" id="{3A149F1B-0D61-2046-82A7-E30EFC58A60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666437" y="2264372"/>
            <a:ext cx="5058823" cy="2089150"/>
          </a:xfrm>
          <a:prstGeom prst="rect">
            <a:avLst/>
          </a:prstGeom>
        </p:spPr>
      </p:pic>
      <p:pic>
        <p:nvPicPr>
          <p:cNvPr id="5" name="Picture 4" descr="Table&#10;&#10;Description automatically generated">
            <a:extLst>
              <a:ext uri="{FF2B5EF4-FFF2-40B4-BE49-F238E27FC236}">
                <a16:creationId xmlns:a16="http://schemas.microsoft.com/office/drawing/2014/main" id="{E5431D9D-E484-1F4C-BCE3-37B2F0E44E78}"/>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666437" y="4619327"/>
            <a:ext cx="5101716" cy="21209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pic>
        <p:nvPicPr>
          <p:cNvPr id="289" name="Google Shape;289;p1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60896" y="6200724"/>
            <a:ext cx="563850" cy="657276"/>
          </a:xfrm>
          <a:prstGeom prst="rect">
            <a:avLst/>
          </a:prstGeom>
          <a:noFill/>
          <a:ln>
            <a:noFill/>
          </a:ln>
          <a:effectLst>
            <a:outerShdw blurRad="57150" dist="19050" dir="5400000" algn="bl" rotWithShape="0">
              <a:srgbClr val="000000">
                <a:alpha val="49019"/>
              </a:srgbClr>
            </a:outerShdw>
          </a:effectLst>
        </p:spPr>
      </p:pic>
      <p:sp>
        <p:nvSpPr>
          <p:cNvPr id="293" name="Google Shape;293;p15"/>
          <p:cNvSpPr txBox="1"/>
          <p:nvPr/>
        </p:nvSpPr>
        <p:spPr>
          <a:xfrm>
            <a:off x="8827234" y="6425227"/>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219</a:t>
            </a:r>
            <a:endParaRPr dirty="0"/>
          </a:p>
        </p:txBody>
      </p:sp>
      <p:pic>
        <p:nvPicPr>
          <p:cNvPr id="294" name="Google Shape;294;p15"/>
          <p:cNvPicPr preferRelativeResize="0"/>
          <p:nvPr/>
        </p:nvPicPr>
        <p:blipFill>
          <a:blip r:embed="rId4">
            <a:alphaModFix/>
          </a:blip>
          <a:stretch>
            <a:fillRect/>
          </a:stretch>
        </p:blipFill>
        <p:spPr>
          <a:xfrm>
            <a:off x="-60241" y="-48128"/>
            <a:ext cx="339425" cy="7002053"/>
          </a:xfrm>
          <a:prstGeom prst="rect">
            <a:avLst/>
          </a:prstGeom>
          <a:noFill/>
          <a:ln>
            <a:noFill/>
          </a:ln>
        </p:spPr>
      </p:pic>
      <p:pic>
        <p:nvPicPr>
          <p:cNvPr id="3" name="Picture 2" descr="Table&#10;&#10;Description automatically generated">
            <a:extLst>
              <a:ext uri="{FF2B5EF4-FFF2-40B4-BE49-F238E27FC236}">
                <a16:creationId xmlns:a16="http://schemas.microsoft.com/office/drawing/2014/main" id="{2BA73251-926A-7A45-A224-B023DB941D6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769439" y="2118580"/>
            <a:ext cx="4653122" cy="2261243"/>
          </a:xfrm>
          <a:prstGeom prst="rect">
            <a:avLst/>
          </a:prstGeom>
        </p:spPr>
      </p:pic>
      <p:pic>
        <p:nvPicPr>
          <p:cNvPr id="5" name="Picture 4" descr="Table&#10;&#10;Description automatically generated with medium confidence">
            <a:extLst>
              <a:ext uri="{FF2B5EF4-FFF2-40B4-BE49-F238E27FC236}">
                <a16:creationId xmlns:a16="http://schemas.microsoft.com/office/drawing/2014/main" id="{36A6C7C7-5385-1C45-87D1-217DC8BF585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769439" y="4474129"/>
            <a:ext cx="4653122" cy="2151123"/>
          </a:xfrm>
          <a:prstGeom prst="rect">
            <a:avLst/>
          </a:prstGeom>
        </p:spPr>
      </p:pic>
      <p:sp>
        <p:nvSpPr>
          <p:cNvPr id="8" name="Google Shape;283;p14">
            <a:extLst>
              <a:ext uri="{FF2B5EF4-FFF2-40B4-BE49-F238E27FC236}">
                <a16:creationId xmlns:a16="http://schemas.microsoft.com/office/drawing/2014/main" id="{989CADC2-FF31-9E00-890E-0D38C73CDC5D}"/>
              </a:ext>
            </a:extLst>
          </p:cNvPr>
          <p:cNvSpPr txBox="1"/>
          <p:nvPr/>
        </p:nvSpPr>
        <p:spPr>
          <a:xfrm>
            <a:off x="637674" y="117773"/>
            <a:ext cx="11153273" cy="2131322"/>
          </a:xfrm>
          <a:prstGeom prst="rect">
            <a:avLst/>
          </a:prstGeom>
          <a:noFill/>
          <a:ln>
            <a:noFill/>
          </a:ln>
        </p:spPr>
        <p:txBody>
          <a:bodyPr spcFirstLastPara="1" wrap="square" lIns="91425" tIns="91425" rIns="91425" bIns="91425" anchor="t" anchorCtr="0">
            <a:spAutoFit/>
          </a:bodyPr>
          <a:lstStyle/>
          <a:p>
            <a:pPr marL="457200" indent="-457200">
              <a:lnSpc>
                <a:spcPct val="115000"/>
              </a:lnSpc>
              <a:buClr>
                <a:schemeClr val="dk1"/>
              </a:buClr>
              <a:buSzPts val="2000"/>
              <a:buFont typeface="+mj-lt"/>
              <a:buAutoNum type="arabicPeriod" startAt="2"/>
            </a:pPr>
            <a:r>
              <a:rPr lang="en-US" sz="2200" dirty="0">
                <a:solidFill>
                  <a:schemeClr val="dk1"/>
                </a:solidFill>
                <a:latin typeface="Verdana"/>
                <a:ea typeface="Verdana"/>
                <a:cs typeface="Verdana"/>
                <a:sym typeface="Verdana"/>
              </a:rPr>
              <a:t>For each rectangle, complete the table.</a:t>
            </a:r>
          </a:p>
          <a:p>
            <a:pPr marL="457200">
              <a:lnSpc>
                <a:spcPct val="115000"/>
              </a:lnSpc>
              <a:buClr>
                <a:schemeClr val="dk1"/>
              </a:buClr>
              <a:buSzPts val="2000"/>
            </a:pPr>
            <a:r>
              <a:rPr lang="en-US" sz="2200" dirty="0">
                <a:solidFill>
                  <a:schemeClr val="dk1"/>
                </a:solidFill>
                <a:latin typeface="Verdana"/>
                <a:ea typeface="Verdana"/>
                <a:cs typeface="Verdana"/>
                <a:sym typeface="Verdana"/>
              </a:rPr>
              <a:t>In the first two columns, write an expression to represent the width and length of the rectangle. Then, in the next two columns, express the area of the rectangle in two different ways using either multiplication or addition.</a:t>
            </a:r>
            <a:endParaRPr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pic>
        <p:nvPicPr>
          <p:cNvPr id="300" name="Google Shape;300;p1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6710" y="6182436"/>
            <a:ext cx="563850" cy="657276"/>
          </a:xfrm>
          <a:prstGeom prst="rect">
            <a:avLst/>
          </a:prstGeom>
          <a:noFill/>
          <a:ln>
            <a:noFill/>
          </a:ln>
          <a:effectLst>
            <a:outerShdw blurRad="57150" dist="19050" dir="5400000" algn="bl" rotWithShape="0">
              <a:srgbClr val="000000">
                <a:alpha val="49019"/>
              </a:srgbClr>
            </a:outerShdw>
          </a:effectLst>
        </p:spPr>
      </p:pic>
      <p:sp>
        <p:nvSpPr>
          <p:cNvPr id="301" name="Google Shape;301;p16"/>
          <p:cNvSpPr txBox="1">
            <a:spLocks noGrp="1"/>
          </p:cNvSpPr>
          <p:nvPr>
            <p:ph type="title" idx="4294967295"/>
          </p:nvPr>
        </p:nvSpPr>
        <p:spPr>
          <a:xfrm>
            <a:off x="3247628" y="2765420"/>
            <a:ext cx="5696743" cy="1327150"/>
          </a:xfrm>
          <a:prstGeom prst="rect">
            <a:avLst/>
          </a:prstGeom>
          <a:noFill/>
          <a:ln>
            <a:noFill/>
          </a:ln>
        </p:spPr>
        <p:txBody>
          <a:bodyPr spcFirstLastPara="1" wrap="square" lIns="91425" tIns="45700" rIns="91425" bIns="45700" anchor="ctr" anchorCtr="0">
            <a:normAutofit fontScale="90000"/>
          </a:bodyPr>
          <a:lstStyle/>
          <a:p>
            <a:pPr algn="ctr">
              <a:lnSpc>
                <a:spcPct val="90000"/>
              </a:lnSpc>
              <a:buSzPts val="5000"/>
            </a:pPr>
            <a:r>
              <a:rPr lang="en-US" sz="5000" b="1" dirty="0">
                <a:solidFill>
                  <a:srgbClr val="26B7D4"/>
                </a:solidFill>
                <a:latin typeface="Verdana"/>
                <a:ea typeface="Verdana"/>
                <a:cs typeface="Verdana"/>
                <a:sym typeface="Verdana"/>
              </a:rPr>
              <a:t>Bring It Together</a:t>
            </a:r>
            <a:endParaRPr dirty="0"/>
          </a:p>
        </p:txBody>
      </p:sp>
      <p:sp>
        <p:nvSpPr>
          <p:cNvPr id="302" name="Google Shape;302;p16"/>
          <p:cNvSpPr txBox="1"/>
          <p:nvPr/>
        </p:nvSpPr>
        <p:spPr>
          <a:xfrm>
            <a:off x="8796528" y="6457950"/>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220</a:t>
            </a:r>
            <a:endParaRPr dirty="0"/>
          </a:p>
        </p:txBody>
      </p:sp>
      <p:pic>
        <p:nvPicPr>
          <p:cNvPr id="303" name="Google Shape;303;p16" descr="Icon&#10;&#10;Description automatically generated"/>
          <p:cNvPicPr preferRelativeResize="0"/>
          <p:nvPr/>
        </p:nvPicPr>
        <p:blipFill rotWithShape="1">
          <a:blip r:embed="rId4">
            <a:alphaModFix/>
          </a:blip>
          <a:srcRect/>
          <a:stretch/>
        </p:blipFill>
        <p:spPr>
          <a:xfrm>
            <a:off x="3150775" y="2852923"/>
            <a:ext cx="1152144" cy="1152144"/>
          </a:xfrm>
          <a:prstGeom prst="rect">
            <a:avLst/>
          </a:prstGeom>
          <a:noFill/>
          <a:ln>
            <a:noFill/>
          </a:ln>
          <a:effectLst>
            <a:outerShdw blurRad="50800" dist="38100" dir="2700000" algn="tl" rotWithShape="0">
              <a:srgbClr val="000000">
                <a:alpha val="40000"/>
              </a:srgbClr>
            </a:outerShdw>
          </a:effectLst>
        </p:spPr>
      </p:pic>
      <p:pic>
        <p:nvPicPr>
          <p:cNvPr id="304" name="Google Shape;304;p16"/>
          <p:cNvPicPr preferRelativeResize="0"/>
          <p:nvPr/>
        </p:nvPicPr>
        <p:blipFill>
          <a:blip r:embed="rId5">
            <a:alphaModFix/>
          </a:blip>
          <a:stretch>
            <a:fillRect/>
          </a:stretch>
        </p:blipFill>
        <p:spPr>
          <a:xfrm>
            <a:off x="-18288" y="-65852"/>
            <a:ext cx="2885575" cy="701199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pic>
        <p:nvPicPr>
          <p:cNvPr id="310" name="Google Shape;310;p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38481" y="6129312"/>
            <a:ext cx="563850" cy="657276"/>
          </a:xfrm>
          <a:prstGeom prst="rect">
            <a:avLst/>
          </a:prstGeom>
          <a:noFill/>
          <a:ln>
            <a:noFill/>
          </a:ln>
          <a:effectLst>
            <a:outerShdw blurRad="57150" dist="19050" dir="5400000" algn="bl" rotWithShape="0">
              <a:srgbClr val="000000">
                <a:alpha val="49019"/>
              </a:srgbClr>
            </a:outerShdw>
          </a:effectLst>
        </p:spPr>
      </p:pic>
      <p:sp>
        <p:nvSpPr>
          <p:cNvPr id="311" name="Google Shape;311;p17"/>
          <p:cNvSpPr txBox="1"/>
          <p:nvPr/>
        </p:nvSpPr>
        <p:spPr>
          <a:xfrm>
            <a:off x="1412090" y="-12700"/>
            <a:ext cx="10308316" cy="1325562"/>
          </a:xfrm>
          <a:prstGeom prst="rect">
            <a:avLst/>
          </a:prstGeom>
          <a:noFill/>
          <a:ln>
            <a:noFill/>
          </a:ln>
        </p:spPr>
        <p:txBody>
          <a:bodyPr spcFirstLastPara="1" wrap="square" lIns="91425" tIns="45700" rIns="91425" bIns="45700" anchor="ctr" anchorCtr="0">
            <a:noAutofit/>
          </a:bodyPr>
          <a:lstStyle/>
          <a:p>
            <a:pPr>
              <a:lnSpc>
                <a:spcPct val="90000"/>
              </a:lnSpc>
              <a:buClr>
                <a:srgbClr val="54B5D1"/>
              </a:buClr>
              <a:buSzPts val="4300"/>
            </a:pPr>
            <a:r>
              <a:rPr lang="en-US" sz="3600" b="1" dirty="0">
                <a:solidFill>
                  <a:srgbClr val="54B5D1"/>
                </a:solidFill>
                <a:latin typeface="Verdana"/>
                <a:ea typeface="Verdana"/>
                <a:cs typeface="Verdana"/>
                <a:sym typeface="Verdana"/>
              </a:rPr>
              <a:t>12.1.4 Bring It Together: Distributive Property</a:t>
            </a:r>
            <a:endParaRPr sz="1200" dirty="0"/>
          </a:p>
        </p:txBody>
      </p:sp>
      <p:sp>
        <p:nvSpPr>
          <p:cNvPr id="312" name="Google Shape;312;p17"/>
          <p:cNvSpPr txBox="1"/>
          <p:nvPr/>
        </p:nvSpPr>
        <p:spPr>
          <a:xfrm>
            <a:off x="1037064" y="1385887"/>
            <a:ext cx="9349949" cy="1015622"/>
          </a:xfrm>
          <a:prstGeom prst="rect">
            <a:avLst/>
          </a:prstGeom>
          <a:noFill/>
          <a:ln>
            <a:noFill/>
          </a:ln>
        </p:spPr>
        <p:txBody>
          <a:bodyPr spcFirstLastPara="1" wrap="square" lIns="91425" tIns="45700" rIns="91425" bIns="45700" anchor="t" anchorCtr="0">
            <a:spAutoFit/>
          </a:bodyPr>
          <a:lstStyle/>
          <a:p>
            <a:pPr>
              <a:buSzPts val="2000"/>
            </a:pPr>
            <a:r>
              <a:rPr lang="en-US" sz="2000" dirty="0">
                <a:latin typeface="Verdana"/>
                <a:ea typeface="Verdana"/>
                <a:cs typeface="Verdana"/>
                <a:sym typeface="Verdana"/>
              </a:rPr>
              <a:t>The area models used throughout the Exploration demonstrate the </a:t>
            </a:r>
            <a:r>
              <a:rPr lang="en-US" sz="2000" b="1" i="1" dirty="0">
                <a:latin typeface="Verdana"/>
                <a:ea typeface="Verdana"/>
                <a:cs typeface="Verdana"/>
                <a:sym typeface="Verdana"/>
              </a:rPr>
              <a:t>distributive property of multiplication over addition</a:t>
            </a:r>
            <a:r>
              <a:rPr lang="en-US" sz="2000" dirty="0">
                <a:latin typeface="Verdana"/>
                <a:ea typeface="Verdana"/>
                <a:cs typeface="Verdana"/>
                <a:sym typeface="Verdana"/>
              </a:rPr>
              <a:t>. </a:t>
            </a:r>
            <a:endParaRPr dirty="0"/>
          </a:p>
          <a:p>
            <a:endParaRPr sz="2000" dirty="0">
              <a:latin typeface="Verdana"/>
              <a:ea typeface="Verdana"/>
              <a:cs typeface="Verdana"/>
              <a:sym typeface="Verdana"/>
            </a:endParaRPr>
          </a:p>
        </p:txBody>
      </p:sp>
      <p:pic>
        <p:nvPicPr>
          <p:cNvPr id="313" name="Google Shape;313;p17"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471594" y="83966"/>
            <a:ext cx="749808" cy="749808"/>
          </a:xfrm>
          <a:prstGeom prst="rect">
            <a:avLst/>
          </a:prstGeom>
          <a:noFill/>
          <a:ln>
            <a:noFill/>
          </a:ln>
          <a:effectLst>
            <a:outerShdw blurRad="50800" dist="38100" dir="2700000" algn="tl" rotWithShape="0">
              <a:srgbClr val="000000">
                <a:alpha val="40000"/>
              </a:srgbClr>
            </a:outerShdw>
          </a:effectLst>
        </p:spPr>
      </p:pic>
      <p:sp>
        <p:nvSpPr>
          <p:cNvPr id="317" name="Google Shape;317;p17"/>
          <p:cNvSpPr txBox="1"/>
          <p:nvPr/>
        </p:nvSpPr>
        <p:spPr>
          <a:xfrm>
            <a:off x="1037064" y="3669683"/>
            <a:ext cx="9502350" cy="1938952"/>
          </a:xfrm>
          <a:prstGeom prst="rect">
            <a:avLst/>
          </a:prstGeom>
          <a:noFill/>
          <a:ln>
            <a:noFill/>
          </a:ln>
        </p:spPr>
        <p:txBody>
          <a:bodyPr spcFirstLastPara="1" wrap="square" lIns="91425" tIns="45700" rIns="91425" bIns="45700" anchor="t" anchorCtr="0">
            <a:spAutoFit/>
          </a:bodyPr>
          <a:lstStyle/>
          <a:p>
            <a:pPr>
              <a:buSzPts val="2000"/>
            </a:pPr>
            <a:r>
              <a:rPr lang="en-US" sz="2000" dirty="0">
                <a:latin typeface="Verdana"/>
                <a:ea typeface="Verdana"/>
                <a:cs typeface="Verdana"/>
                <a:sym typeface="Verdana"/>
              </a:rPr>
              <a:t>The factor outside of parentheses is “distributed” to each part of the factor within a set of parentheses. With the distributive property, multiplication is performed over (before) addition or subtraction. </a:t>
            </a:r>
            <a:endParaRPr sz="2000" dirty="0">
              <a:latin typeface="Verdana"/>
              <a:ea typeface="Verdana"/>
              <a:cs typeface="Verdana"/>
              <a:sym typeface="Verdana"/>
            </a:endParaRPr>
          </a:p>
          <a:p>
            <a:pPr>
              <a:buSzPts val="2000"/>
            </a:pPr>
            <a:endParaRPr sz="2000" dirty="0">
              <a:latin typeface="Verdana"/>
              <a:ea typeface="Verdana"/>
              <a:cs typeface="Verdana"/>
              <a:sym typeface="Verdana"/>
            </a:endParaRPr>
          </a:p>
          <a:p>
            <a:pPr marL="457200" lvl="3" indent="-457200">
              <a:buSzPts val="2000"/>
              <a:buFont typeface="Arial"/>
              <a:buAutoNum type="arabicPeriod"/>
            </a:pPr>
            <a:r>
              <a:rPr lang="en-US" sz="2000" dirty="0">
                <a:latin typeface="Verdana"/>
                <a:ea typeface="Verdana"/>
                <a:cs typeface="Verdana"/>
                <a:sym typeface="Verdana"/>
              </a:rPr>
              <a:t>Discuss with your partner how multiplication being performed before addition or subtraction relates to the order of operations.</a:t>
            </a:r>
            <a:endParaRPr dirty="0"/>
          </a:p>
        </p:txBody>
      </p:sp>
      <p:sp>
        <p:nvSpPr>
          <p:cNvPr id="318" name="Google Shape;318;p17"/>
          <p:cNvSpPr txBox="1"/>
          <p:nvPr/>
        </p:nvSpPr>
        <p:spPr>
          <a:xfrm>
            <a:off x="8804819" y="6423660"/>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220</a:t>
            </a:r>
            <a:endParaRPr/>
          </a:p>
        </p:txBody>
      </p:sp>
      <p:pic>
        <p:nvPicPr>
          <p:cNvPr id="319" name="Google Shape;319;p17"/>
          <p:cNvPicPr preferRelativeResize="0"/>
          <p:nvPr/>
        </p:nvPicPr>
        <p:blipFill>
          <a:blip r:embed="rId5">
            <a:alphaModFix/>
          </a:blip>
          <a:stretch>
            <a:fillRect/>
          </a:stretch>
        </p:blipFill>
        <p:spPr>
          <a:xfrm>
            <a:off x="-58519" y="-44327"/>
            <a:ext cx="339425" cy="6995543"/>
          </a:xfrm>
          <a:prstGeom prst="rect">
            <a:avLst/>
          </a:prstGeom>
          <a:noFill/>
          <a:ln>
            <a:noFill/>
          </a:ln>
        </p:spPr>
      </p:pic>
      <p:pic>
        <p:nvPicPr>
          <p:cNvPr id="3" name="Picture 2">
            <a:extLst>
              <a:ext uri="{FF2B5EF4-FFF2-40B4-BE49-F238E27FC236}">
                <a16:creationId xmlns:a16="http://schemas.microsoft.com/office/drawing/2014/main" id="{200077FC-AF45-C847-E3B0-25858853C841}"/>
              </a:ext>
            </a:extLst>
          </p:cNvPr>
          <p:cNvPicPr>
            <a:picLocks noChangeAspect="1"/>
          </p:cNvPicPr>
          <p:nvPr/>
        </p:nvPicPr>
        <p:blipFill>
          <a:blip r:embed="rId6"/>
          <a:stretch>
            <a:fillRect/>
          </a:stretch>
        </p:blipFill>
        <p:spPr>
          <a:xfrm>
            <a:off x="2512921" y="2085159"/>
            <a:ext cx="6236465" cy="134384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pic>
        <p:nvPicPr>
          <p:cNvPr id="325" name="Google Shape;325;p1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4304" y="6200600"/>
            <a:ext cx="563850" cy="657276"/>
          </a:xfrm>
          <a:prstGeom prst="rect">
            <a:avLst/>
          </a:prstGeom>
          <a:noFill/>
          <a:ln>
            <a:noFill/>
          </a:ln>
          <a:effectLst>
            <a:outerShdw blurRad="57150" dist="19050" dir="5400000" algn="bl" rotWithShape="0">
              <a:srgbClr val="000000">
                <a:alpha val="49019"/>
              </a:srgbClr>
            </a:outerShdw>
          </a:effectLst>
        </p:spPr>
      </p:pic>
      <p:sp>
        <p:nvSpPr>
          <p:cNvPr id="326" name="Google Shape;326;p18"/>
          <p:cNvSpPr txBox="1"/>
          <p:nvPr/>
        </p:nvSpPr>
        <p:spPr>
          <a:xfrm>
            <a:off x="859536" y="450851"/>
            <a:ext cx="10680192" cy="1323975"/>
          </a:xfrm>
          <a:prstGeom prst="rect">
            <a:avLst/>
          </a:prstGeom>
          <a:noFill/>
          <a:ln>
            <a:noFill/>
          </a:ln>
        </p:spPr>
        <p:txBody>
          <a:bodyPr spcFirstLastPara="1" wrap="square" lIns="91425" tIns="45700" rIns="91425" bIns="45700" anchor="t" anchorCtr="0">
            <a:spAutoFit/>
          </a:bodyPr>
          <a:lstStyle/>
          <a:p>
            <a:pPr marL="457200" indent="-457200">
              <a:buSzPts val="2000"/>
              <a:buFont typeface="+mj-lt"/>
              <a:buAutoNum type="arabicPeriod" startAt="2"/>
            </a:pPr>
            <a:r>
              <a:rPr lang="en-US" sz="2000" dirty="0">
                <a:latin typeface="Verdana"/>
                <a:ea typeface="Verdana"/>
                <a:cs typeface="Verdana"/>
                <a:sym typeface="Verdana"/>
              </a:rPr>
              <a:t>Consider the example that shows the application of the distributive property to multiply. </a:t>
            </a:r>
            <a:endParaRPr dirty="0"/>
          </a:p>
          <a:p>
            <a:pPr marL="293687" indent="-166686">
              <a:buSzPts val="2000"/>
            </a:pPr>
            <a:endParaRPr sz="2000" dirty="0">
              <a:latin typeface="Verdana"/>
              <a:ea typeface="Verdana"/>
              <a:cs typeface="Verdana"/>
              <a:sym typeface="Verdana"/>
            </a:endParaRPr>
          </a:p>
          <a:p>
            <a:endParaRPr sz="2000" dirty="0">
              <a:latin typeface="Verdana"/>
              <a:ea typeface="Verdana"/>
              <a:cs typeface="Verdana"/>
              <a:sym typeface="Verdana"/>
            </a:endParaRPr>
          </a:p>
        </p:txBody>
      </p:sp>
      <p:pic>
        <p:nvPicPr>
          <p:cNvPr id="327" name="Google Shape;327;p18"/>
          <p:cNvPicPr preferRelativeResize="0"/>
          <p:nvPr/>
        </p:nvPicPr>
        <p:blipFill rotWithShape="1">
          <a:blip r:embed="rId4">
            <a:alphaModFix/>
          </a:blip>
          <a:srcRect/>
          <a:stretch/>
        </p:blipFill>
        <p:spPr>
          <a:xfrm>
            <a:off x="4508500" y="1290637"/>
            <a:ext cx="3175000" cy="800100"/>
          </a:xfrm>
          <a:prstGeom prst="rect">
            <a:avLst/>
          </a:prstGeom>
          <a:noFill/>
          <a:ln>
            <a:noFill/>
          </a:ln>
        </p:spPr>
      </p:pic>
      <p:sp>
        <p:nvSpPr>
          <p:cNvPr id="328" name="Google Shape;328;p18"/>
          <p:cNvSpPr txBox="1"/>
          <p:nvPr/>
        </p:nvSpPr>
        <p:spPr>
          <a:xfrm>
            <a:off x="859536" y="2124076"/>
            <a:ext cx="10680191" cy="3293169"/>
          </a:xfrm>
          <a:prstGeom prst="rect">
            <a:avLst/>
          </a:prstGeom>
          <a:noFill/>
          <a:ln>
            <a:noFill/>
          </a:ln>
        </p:spPr>
        <p:txBody>
          <a:bodyPr spcFirstLastPara="1" wrap="square" lIns="91425" tIns="45700" rIns="91425" bIns="45700" anchor="t" anchorCtr="0">
            <a:spAutoFit/>
          </a:bodyPr>
          <a:lstStyle/>
          <a:p>
            <a:pPr marL="914400" indent="-457200">
              <a:buSzPts val="2000"/>
              <a:buFont typeface="Arial"/>
              <a:buAutoNum type="alphaLcPeriod"/>
            </a:pPr>
            <a:r>
              <a:rPr lang="en-US" sz="2000" dirty="0">
                <a:latin typeface="Verdana"/>
                <a:ea typeface="Verdana"/>
                <a:cs typeface="Verdana"/>
                <a:sym typeface="Verdana"/>
              </a:rPr>
              <a:t>Complete the area model to represent the same expressions by filling in the blanks for each factor.</a:t>
            </a:r>
            <a:endParaRPr dirty="0"/>
          </a:p>
          <a:p>
            <a:pPr marL="342900" indent="-215900">
              <a:buSzPts val="2000"/>
            </a:pPr>
            <a:endParaRPr sz="2000" dirty="0">
              <a:latin typeface="Verdana"/>
              <a:ea typeface="Verdana"/>
              <a:cs typeface="Verdana"/>
              <a:sym typeface="Verdana"/>
            </a:endParaRPr>
          </a:p>
          <a:p>
            <a:pPr marL="342900" indent="-215900">
              <a:buSzPts val="2000"/>
            </a:pPr>
            <a:endParaRPr sz="2000" dirty="0">
              <a:latin typeface="Verdana"/>
              <a:ea typeface="Verdana"/>
              <a:cs typeface="Verdana"/>
              <a:sym typeface="Verdana"/>
            </a:endParaRPr>
          </a:p>
          <a:p>
            <a:pPr marL="342900" indent="-215900">
              <a:buSzPts val="2000"/>
            </a:pPr>
            <a:endParaRPr sz="2000" dirty="0">
              <a:latin typeface="Verdana"/>
              <a:ea typeface="Verdana"/>
              <a:cs typeface="Verdana"/>
              <a:sym typeface="Verdana"/>
            </a:endParaRPr>
          </a:p>
          <a:p>
            <a:pPr marL="342900" indent="-215900">
              <a:buSzPts val="2000"/>
            </a:pPr>
            <a:endParaRPr sz="2000" dirty="0">
              <a:latin typeface="Verdana"/>
              <a:ea typeface="Verdana"/>
              <a:cs typeface="Verdana"/>
              <a:sym typeface="Verdana"/>
            </a:endParaRPr>
          </a:p>
          <a:p>
            <a:pPr marL="342900" indent="-215900">
              <a:buSzPts val="2000"/>
            </a:pPr>
            <a:endParaRPr sz="2000" dirty="0">
              <a:latin typeface="Verdana"/>
              <a:ea typeface="Verdana"/>
              <a:cs typeface="Verdana"/>
              <a:sym typeface="Verdana"/>
            </a:endParaRPr>
          </a:p>
          <a:p>
            <a:pPr marL="914400" indent="-457200">
              <a:buSzPts val="2000"/>
              <a:buFont typeface="+mj-lt"/>
              <a:buAutoNum type="alphaLcPeriod" startAt="2"/>
            </a:pPr>
            <a:r>
              <a:rPr lang="en-US" sz="2000" dirty="0">
                <a:latin typeface="Verdana"/>
                <a:ea typeface="Verdana"/>
                <a:cs typeface="Verdana"/>
                <a:sym typeface="Verdana"/>
              </a:rPr>
              <a:t>Discuss with your partner how the area model shows the distributive property.</a:t>
            </a:r>
            <a:endParaRPr dirty="0"/>
          </a:p>
          <a:p>
            <a:pPr>
              <a:buSzPts val="2000"/>
            </a:pPr>
            <a:br>
              <a:rPr lang="en-US" dirty="0"/>
            </a:br>
            <a:endParaRPr dirty="0"/>
          </a:p>
        </p:txBody>
      </p:sp>
      <p:pic>
        <p:nvPicPr>
          <p:cNvPr id="329" name="Google Shape;329;p18"/>
          <p:cNvPicPr preferRelativeResize="0"/>
          <p:nvPr/>
        </p:nvPicPr>
        <p:blipFill rotWithShape="1">
          <a:blip r:embed="rId5">
            <a:alphaModFix/>
          </a:blip>
          <a:srcRect/>
          <a:stretch/>
        </p:blipFill>
        <p:spPr>
          <a:xfrm>
            <a:off x="4220199" y="2804160"/>
            <a:ext cx="3751603" cy="1514228"/>
          </a:xfrm>
          <a:prstGeom prst="rect">
            <a:avLst/>
          </a:prstGeom>
          <a:noFill/>
          <a:ln>
            <a:noFill/>
          </a:ln>
        </p:spPr>
      </p:pic>
      <p:sp>
        <p:nvSpPr>
          <p:cNvPr id="330" name="Google Shape;330;p18"/>
          <p:cNvSpPr txBox="1"/>
          <p:nvPr/>
        </p:nvSpPr>
        <p:spPr>
          <a:xfrm>
            <a:off x="8979408" y="6457950"/>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220</a:t>
            </a:r>
            <a:endParaRPr/>
          </a:p>
        </p:txBody>
      </p:sp>
      <p:pic>
        <p:nvPicPr>
          <p:cNvPr id="331" name="Google Shape;331;p18"/>
          <p:cNvPicPr preferRelativeResize="0"/>
          <p:nvPr/>
        </p:nvPicPr>
        <p:blipFill>
          <a:blip r:embed="rId6">
            <a:alphaModFix/>
          </a:blip>
          <a:stretch>
            <a:fillRect/>
          </a:stretch>
        </p:blipFill>
        <p:spPr>
          <a:xfrm>
            <a:off x="-57578" y="-52613"/>
            <a:ext cx="339425" cy="700382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pic>
        <p:nvPicPr>
          <p:cNvPr id="325" name="Google Shape;325;p1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79440" y="6200600"/>
            <a:ext cx="563850" cy="657276"/>
          </a:xfrm>
          <a:prstGeom prst="rect">
            <a:avLst/>
          </a:prstGeom>
          <a:noFill/>
          <a:ln>
            <a:noFill/>
          </a:ln>
          <a:effectLst>
            <a:outerShdw blurRad="57150" dist="19050" dir="5400000" algn="bl" rotWithShape="0">
              <a:srgbClr val="000000">
                <a:alpha val="49019"/>
              </a:srgbClr>
            </a:outerShdw>
          </a:effectLst>
        </p:spPr>
      </p:pic>
      <mc:AlternateContent xmlns:mc="http://schemas.openxmlformats.org/markup-compatibility/2006" xmlns:a14="http://schemas.microsoft.com/office/drawing/2010/main">
        <mc:Choice Requires="a14">
          <p:sp>
            <p:nvSpPr>
              <p:cNvPr id="328" name="Google Shape;328;p18"/>
              <p:cNvSpPr txBox="1"/>
              <p:nvPr/>
            </p:nvSpPr>
            <p:spPr>
              <a:xfrm>
                <a:off x="822959" y="521694"/>
                <a:ext cx="10972801" cy="3785611"/>
              </a:xfrm>
              <a:prstGeom prst="rect">
                <a:avLst/>
              </a:prstGeom>
              <a:noFill/>
              <a:ln>
                <a:noFill/>
              </a:ln>
            </p:spPr>
            <p:txBody>
              <a:bodyPr spcFirstLastPara="1" wrap="square" lIns="91425" tIns="45700" rIns="91425" bIns="45700" anchor="t" anchorCtr="0">
                <a:spAutoFit/>
              </a:bodyPr>
              <a:lstStyle/>
              <a:p>
                <a:pPr marL="914400" indent="-457200">
                  <a:buSzPct val="100000"/>
                  <a:buFont typeface="+mj-lt"/>
                  <a:buAutoNum type="alphaLcPeriod" startAt="3"/>
                </a:pPr>
                <a:r>
                  <a:rPr lang="en-US" sz="2400" dirty="0">
                    <a:latin typeface="Verdana"/>
                    <a:ea typeface="Verdana"/>
                    <a:cs typeface="Verdana"/>
                    <a:sym typeface="Verdana"/>
                  </a:rPr>
                  <a:t>In the </a:t>
                </a:r>
                <a:r>
                  <a:rPr lang="en-US" sz="2400" dirty="0">
                    <a:latin typeface="Verdana" panose="020B0604030504040204" pitchFamily="34" charset="0"/>
                    <a:ea typeface="Verdana" panose="020B0604030504040204" pitchFamily="34" charset="0"/>
                    <a:cs typeface="Verdana" panose="020B0604030504040204" pitchFamily="34" charset="0"/>
                    <a:sym typeface="Verdana"/>
                  </a:rPr>
                  <a:t>product</a:t>
                </a: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latin typeface="Cambria Math" panose="02040503050406030204" pitchFamily="18" charset="0"/>
                      </a:rPr>
                      <m:t>12−4</m:t>
                    </m:r>
                    <m:r>
                      <a:rPr lang="en-US" sz="2400" i="1">
                        <a:latin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a:t>
                </a:r>
                <a:r>
                  <a:rPr lang="en-US" sz="2400" dirty="0">
                    <a:latin typeface="Verdana"/>
                    <a:ea typeface="Verdana"/>
                    <a:cs typeface="Verdana"/>
                    <a:sym typeface="Verdana"/>
                  </a:rPr>
                  <a:t>explain why the constant term is positive and the variable term is negative.</a:t>
                </a:r>
              </a:p>
              <a:p>
                <a:pPr marL="914400" indent="-457200">
                  <a:buSzPts val="2000"/>
                  <a:buFont typeface="+mj-lt"/>
                  <a:buAutoNum type="alphaLcPeriod" startAt="3"/>
                </a:pPr>
                <a:endParaRPr lang="en-US" sz="2400" dirty="0">
                  <a:latin typeface="Verdana"/>
                  <a:ea typeface="Verdana"/>
                  <a:cs typeface="Verdana"/>
                  <a:sym typeface="Verdana"/>
                </a:endParaRPr>
              </a:p>
              <a:p>
                <a:pPr marL="914400" indent="-457200">
                  <a:buSzPts val="2000"/>
                </a:pPr>
                <a:endParaRPr sz="2400" dirty="0"/>
              </a:p>
              <a:p>
                <a:pPr marL="914400" indent="-457200">
                  <a:buSzPts val="2000"/>
                  <a:buFont typeface="+mj-lt"/>
                  <a:buAutoNum type="alphaLcPeriod" startAt="4"/>
                </a:pPr>
                <a:endParaRPr lang="en-US" sz="2400" dirty="0">
                  <a:latin typeface="Verdana"/>
                  <a:ea typeface="Verdana"/>
                  <a:cs typeface="Verdana"/>
                  <a:sym typeface="Verdana"/>
                </a:endParaRPr>
              </a:p>
              <a:p>
                <a:pPr marL="914400" indent="-457200">
                  <a:buSzPts val="2000"/>
                  <a:buFont typeface="+mj-lt"/>
                  <a:buAutoNum type="alphaLcPeriod" startAt="4"/>
                </a:pPr>
                <a:endParaRPr lang="en-US" sz="2400" dirty="0">
                  <a:latin typeface="Verdana"/>
                  <a:ea typeface="Verdana"/>
                  <a:cs typeface="Verdana"/>
                  <a:sym typeface="Verdana"/>
                </a:endParaRPr>
              </a:p>
              <a:p>
                <a:pPr marL="914400" indent="-457200">
                  <a:buSzPts val="2000"/>
                  <a:buFont typeface="+mj-lt"/>
                  <a:buAutoNum type="alphaLcPeriod" startAt="4"/>
                </a:pPr>
                <a:endParaRPr lang="en-US" sz="2400" dirty="0">
                  <a:latin typeface="Verdana"/>
                  <a:ea typeface="Verdana"/>
                  <a:cs typeface="Verdana"/>
                  <a:sym typeface="Verdana"/>
                </a:endParaRPr>
              </a:p>
              <a:p>
                <a:pPr marL="914400" indent="-457200">
                  <a:buSzPct val="100000"/>
                  <a:buFont typeface="+mj-lt"/>
                  <a:buAutoNum type="alphaLcPeriod" startAt="4"/>
                </a:pPr>
                <a:r>
                  <a:rPr lang="en-US" sz="2400" dirty="0">
                    <a:latin typeface="Verdana"/>
                    <a:ea typeface="Verdana"/>
                    <a:cs typeface="Verdana"/>
                    <a:sym typeface="Verdana"/>
                  </a:rPr>
                  <a:t>Zion says the product could also be written as </a:t>
                </a:r>
                <a14:m>
                  <m:oMath xmlns:m="http://schemas.openxmlformats.org/officeDocument/2006/math">
                    <m:r>
                      <a:rPr lang="en-US" sz="2400" i="1">
                        <a:latin typeface="Cambria Math" panose="02040503050406030204" pitchFamily="18" charset="0"/>
                      </a:rPr>
                      <m:t>−4</m:t>
                    </m:r>
                    <m:r>
                      <a:rPr lang="en-US" sz="2400" i="1">
                        <a:latin typeface="Cambria Math" panose="02040503050406030204" pitchFamily="18" charset="0"/>
                      </a:rPr>
                      <m:t>𝑥</m:t>
                    </m:r>
                    <m:r>
                      <a:rPr lang="en-US" sz="2400" i="1">
                        <a:latin typeface="Cambria Math" panose="02040503050406030204" pitchFamily="18" charset="0"/>
                      </a:rPr>
                      <m:t>+12</m:t>
                    </m:r>
                  </m:oMath>
                </a14:m>
                <a:r>
                  <a:rPr lang="en-US" sz="2400" dirty="0">
                    <a:latin typeface="Verdana" panose="020B0604030504040204" pitchFamily="34" charset="0"/>
                    <a:ea typeface="Verdana" panose="020B0604030504040204" pitchFamily="34" charset="0"/>
                    <a:cs typeface="Verdana" panose="020B0604030504040204" pitchFamily="34" charset="0"/>
                  </a:rPr>
                  <a:t>. </a:t>
                </a:r>
                <a:r>
                  <a:rPr lang="en-US" sz="2400" dirty="0">
                    <a:latin typeface="Verdana"/>
                    <a:ea typeface="Verdana"/>
                    <a:cs typeface="Verdana"/>
                    <a:sym typeface="Verdana"/>
                  </a:rPr>
                  <a:t>Explain whether or not this is true.</a:t>
                </a:r>
                <a:br>
                  <a:rPr lang="en-US" sz="2400" dirty="0"/>
                </a:br>
                <a:endParaRPr sz="2400" dirty="0"/>
              </a:p>
            </p:txBody>
          </p:sp>
        </mc:Choice>
        <mc:Fallback xmlns="">
          <p:sp>
            <p:nvSpPr>
              <p:cNvPr id="328" name="Google Shape;328;p18"/>
              <p:cNvSpPr txBox="1">
                <a:spLocks noRot="1" noChangeAspect="1" noMove="1" noResize="1" noEditPoints="1" noAdjustHandles="1" noChangeArrowheads="1" noChangeShapeType="1" noTextEdit="1"/>
              </p:cNvSpPr>
              <p:nvPr/>
            </p:nvSpPr>
            <p:spPr>
              <a:xfrm>
                <a:off x="822959" y="521694"/>
                <a:ext cx="10972801" cy="3785611"/>
              </a:xfrm>
              <a:prstGeom prst="rect">
                <a:avLst/>
              </a:prstGeom>
              <a:blipFill>
                <a:blip r:embed="rId4"/>
                <a:stretch>
                  <a:fillRect t="-1449" r="-1167"/>
                </a:stretch>
              </a:blipFill>
              <a:ln>
                <a:noFill/>
              </a:ln>
            </p:spPr>
            <p:txBody>
              <a:bodyPr/>
              <a:lstStyle/>
              <a:p>
                <a:r>
                  <a:rPr lang="en-US">
                    <a:noFill/>
                  </a:rPr>
                  <a:t> </a:t>
                </a:r>
              </a:p>
            </p:txBody>
          </p:sp>
        </mc:Fallback>
      </mc:AlternateContent>
      <p:sp>
        <p:nvSpPr>
          <p:cNvPr id="330" name="Google Shape;330;p18"/>
          <p:cNvSpPr txBox="1"/>
          <p:nvPr/>
        </p:nvSpPr>
        <p:spPr>
          <a:xfrm>
            <a:off x="8814816" y="6457950"/>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220</a:t>
            </a:r>
            <a:endParaRPr/>
          </a:p>
        </p:txBody>
      </p:sp>
      <p:pic>
        <p:nvPicPr>
          <p:cNvPr id="331" name="Google Shape;331;p18"/>
          <p:cNvPicPr preferRelativeResize="0"/>
          <p:nvPr/>
        </p:nvPicPr>
        <p:blipFill>
          <a:blip r:embed="rId5">
            <a:alphaModFix/>
          </a:blip>
          <a:stretch>
            <a:fillRect/>
          </a:stretch>
        </p:blipFill>
        <p:spPr>
          <a:xfrm>
            <a:off x="-57578" y="-52613"/>
            <a:ext cx="339425" cy="6994951"/>
          </a:xfrm>
          <a:prstGeom prst="rect">
            <a:avLst/>
          </a:prstGeom>
          <a:noFill/>
          <a:ln>
            <a:noFill/>
          </a:ln>
        </p:spPr>
      </p:pic>
    </p:spTree>
    <p:extLst>
      <p:ext uri="{BB962C8B-B14F-4D97-AF65-F5344CB8AC3E}">
        <p14:creationId xmlns:p14="http://schemas.microsoft.com/office/powerpoint/2010/main" val="28022049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pic>
        <p:nvPicPr>
          <p:cNvPr id="337" name="Google Shape;337;p1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52592" y="6200600"/>
            <a:ext cx="563850" cy="657276"/>
          </a:xfrm>
          <a:prstGeom prst="rect">
            <a:avLst/>
          </a:prstGeom>
          <a:noFill/>
          <a:ln>
            <a:noFill/>
          </a:ln>
          <a:effectLst>
            <a:outerShdw blurRad="57150" dist="19050" dir="5400000" algn="bl" rotWithShape="0">
              <a:srgbClr val="000000">
                <a:alpha val="49019"/>
              </a:srgbClr>
            </a:outerShdw>
          </a:effectLst>
        </p:spPr>
      </p:pic>
      <p:sp>
        <p:nvSpPr>
          <p:cNvPr id="338" name="Google Shape;338;p19"/>
          <p:cNvSpPr txBox="1"/>
          <p:nvPr/>
        </p:nvSpPr>
        <p:spPr>
          <a:xfrm>
            <a:off x="566928" y="411162"/>
            <a:ext cx="11045952" cy="1200288"/>
          </a:xfrm>
          <a:prstGeom prst="rect">
            <a:avLst/>
          </a:prstGeom>
          <a:noFill/>
          <a:ln>
            <a:noFill/>
          </a:ln>
        </p:spPr>
        <p:txBody>
          <a:bodyPr spcFirstLastPara="1" wrap="square" lIns="91425" tIns="45700" rIns="91425" bIns="45700" anchor="t" anchorCtr="0">
            <a:spAutoFit/>
          </a:bodyPr>
          <a:lstStyle/>
          <a:p>
            <a:pPr marL="465139" indent="-457200">
              <a:buSzPct val="100000"/>
              <a:buFont typeface="+mj-lt"/>
              <a:buAutoNum type="arabicPeriod" startAt="3"/>
            </a:pPr>
            <a:r>
              <a:rPr lang="en-US" sz="2400" dirty="0">
                <a:latin typeface="Verdana"/>
                <a:ea typeface="Verdana"/>
                <a:cs typeface="Verdana"/>
                <a:sym typeface="Verdana"/>
              </a:rPr>
              <a:t>The distributive property can also be used to multiply algebraic expressions where variables are included in both factors. An example is shown.</a:t>
            </a:r>
            <a:endParaRPr sz="1600" dirty="0"/>
          </a:p>
        </p:txBody>
      </p:sp>
      <p:pic>
        <p:nvPicPr>
          <p:cNvPr id="339" name="Google Shape;339;p19"/>
          <p:cNvPicPr preferRelativeResize="0"/>
          <p:nvPr/>
        </p:nvPicPr>
        <p:blipFill rotWithShape="1">
          <a:blip r:embed="rId4">
            <a:alphaModFix/>
          </a:blip>
          <a:srcRect/>
          <a:stretch/>
        </p:blipFill>
        <p:spPr>
          <a:xfrm>
            <a:off x="4933640" y="1927380"/>
            <a:ext cx="2146300" cy="660400"/>
          </a:xfrm>
          <a:prstGeom prst="rect">
            <a:avLst/>
          </a:prstGeom>
          <a:noFill/>
          <a:ln>
            <a:noFill/>
          </a:ln>
        </p:spPr>
      </p:pic>
      <p:sp>
        <p:nvSpPr>
          <p:cNvPr id="341" name="Google Shape;341;p19"/>
          <p:cNvSpPr txBox="1"/>
          <p:nvPr/>
        </p:nvSpPr>
        <p:spPr>
          <a:xfrm>
            <a:off x="8869680" y="6457950"/>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220</a:t>
            </a:r>
            <a:endParaRPr/>
          </a:p>
        </p:txBody>
      </p:sp>
      <p:pic>
        <p:nvPicPr>
          <p:cNvPr id="342" name="Google Shape;342;p19"/>
          <p:cNvPicPr preferRelativeResize="0"/>
          <p:nvPr/>
        </p:nvPicPr>
        <p:blipFill>
          <a:blip r:embed="rId5">
            <a:alphaModFix/>
          </a:blip>
          <a:stretch>
            <a:fillRect/>
          </a:stretch>
        </p:blipFill>
        <p:spPr>
          <a:xfrm>
            <a:off x="-52622" y="-52613"/>
            <a:ext cx="339425" cy="7003829"/>
          </a:xfrm>
          <a:prstGeom prst="rect">
            <a:avLst/>
          </a:prstGeom>
          <a:noFill/>
          <a:ln>
            <a:noFill/>
          </a:ln>
        </p:spPr>
      </p:pic>
      <p:sp>
        <p:nvSpPr>
          <p:cNvPr id="343" name="Google Shape;343;p19"/>
          <p:cNvSpPr txBox="1"/>
          <p:nvPr/>
        </p:nvSpPr>
        <p:spPr>
          <a:xfrm>
            <a:off x="4575200" y="5451975"/>
            <a:ext cx="5509500" cy="400200"/>
          </a:xfrm>
          <a:prstGeom prst="rect">
            <a:avLst/>
          </a:prstGeom>
          <a:noFill/>
          <a:ln>
            <a:noFill/>
          </a:ln>
        </p:spPr>
        <p:txBody>
          <a:bodyPr spcFirstLastPara="1" wrap="square" lIns="91425" tIns="91425" rIns="91425" bIns="91425" anchor="t" anchorCtr="0">
            <a:spAutoFit/>
          </a:bodyPr>
          <a:lstStyle/>
          <a:p>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pic>
        <p:nvPicPr>
          <p:cNvPr id="337" name="Google Shape;337;p1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89168" y="6200600"/>
            <a:ext cx="563850" cy="657276"/>
          </a:xfrm>
          <a:prstGeom prst="rect">
            <a:avLst/>
          </a:prstGeom>
          <a:noFill/>
          <a:ln>
            <a:noFill/>
          </a:ln>
          <a:effectLst>
            <a:outerShdw blurRad="57150" dist="19050" dir="5400000" algn="bl" rotWithShape="0">
              <a:srgbClr val="000000">
                <a:alpha val="49019"/>
              </a:srgbClr>
            </a:outerShdw>
          </a:effectLst>
        </p:spPr>
      </p:pic>
      <p:sp>
        <p:nvSpPr>
          <p:cNvPr id="341" name="Google Shape;341;p19"/>
          <p:cNvSpPr txBox="1"/>
          <p:nvPr/>
        </p:nvSpPr>
        <p:spPr>
          <a:xfrm>
            <a:off x="8887968" y="6457950"/>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220</a:t>
            </a:r>
            <a:endParaRPr dirty="0"/>
          </a:p>
        </p:txBody>
      </p:sp>
      <p:pic>
        <p:nvPicPr>
          <p:cNvPr id="342" name="Google Shape;342;p19"/>
          <p:cNvPicPr preferRelativeResize="0"/>
          <p:nvPr/>
        </p:nvPicPr>
        <p:blipFill>
          <a:blip r:embed="rId4">
            <a:alphaModFix/>
          </a:blip>
          <a:stretch>
            <a:fillRect/>
          </a:stretch>
        </p:blipFill>
        <p:spPr>
          <a:xfrm>
            <a:off x="-56359" y="-52613"/>
            <a:ext cx="339425" cy="7003829"/>
          </a:xfrm>
          <a:prstGeom prst="rect">
            <a:avLst/>
          </a:prstGeom>
          <a:noFill/>
          <a:ln>
            <a:noFill/>
          </a:ln>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3DCE2CF-DB7F-0340-B332-EBC33D9E90CD}"/>
                  </a:ext>
                </a:extLst>
              </p:cNvPr>
              <p:cNvSpPr txBox="1"/>
              <p:nvPr/>
            </p:nvSpPr>
            <p:spPr>
              <a:xfrm>
                <a:off x="518589" y="408284"/>
                <a:ext cx="11154822" cy="4863191"/>
              </a:xfrm>
              <a:prstGeom prst="rect">
                <a:avLst/>
              </a:prstGeom>
              <a:noFill/>
            </p:spPr>
            <p:txBody>
              <a:bodyPr wrap="square">
                <a:spAutoFit/>
              </a:bodyPr>
              <a:lstStyle/>
              <a:p>
                <a:pPr marL="292100" marR="0" indent="-49213">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Complete the statements.</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292100" indent="-49213">
                  <a:lnSpc>
                    <a:spcPct val="300000"/>
                  </a:lnSpc>
                </a:pPr>
                <a:r>
                  <a:rPr lang="en-US" sz="2000" dirty="0">
                    <a:latin typeface="Verdana" panose="020B0604030504040204" pitchFamily="34" charset="0"/>
                    <a:ea typeface="Verdana" panose="020B0604030504040204" pitchFamily="34" charset="0"/>
                    <a:cs typeface="Verdana" panose="020B0604030504040204" pitchFamily="34" charset="0"/>
                  </a:rPr>
                  <a:t>The product of </a:t>
                </a:r>
                <a14:m>
                  <m:oMath xmlns:m="http://schemas.openxmlformats.org/officeDocument/2006/math">
                    <m:r>
                      <a:rPr lang="en-US" sz="2000" i="1">
                        <a:latin typeface="Cambria Math" panose="02040503050406030204" pitchFamily="18" charset="0"/>
                      </a:rPr>
                      <m:t>𝑥</m:t>
                    </m:r>
                    <m:r>
                      <a:rPr lang="en-US" sz="2000" i="1">
                        <a:latin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is</a:t>
                </a:r>
                <a:r>
                  <a:rPr lang="en-US" sz="2000" dirty="0">
                    <a:effectLst/>
                    <a:latin typeface="Verdana" panose="020B0604030504040204" pitchFamily="34" charset="0"/>
                    <a:ea typeface="Verdana" panose="020B0604030504040204" pitchFamily="34" charset="0"/>
                    <a:cs typeface="Verdana" panose="020B0604030504040204" pitchFamily="34" charset="0"/>
                  </a:rPr>
                  <a:t>    </a:t>
                </a:r>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effectLst/>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The exponent of </a:t>
                </a:r>
                <a14:m>
                  <m:oMath xmlns:m="http://schemas.openxmlformats.org/officeDocument/2006/math">
                    <m:r>
                      <a:rPr lang="en-US" sz="2000" i="1">
                        <a:latin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 in this term is          as explained by the                                    The  product of </a:t>
                </a:r>
                <a14:m>
                  <m:oMath xmlns:m="http://schemas.openxmlformats.org/officeDocument/2006/math">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is               The exponent of this term is          as explained by the                                    Therefore, the                      		   of </a:t>
                </a:r>
                <a14:m>
                  <m:oMath xmlns:m="http://schemas.openxmlformats.org/officeDocument/2006/math">
                    <m:r>
                      <a:rPr lang="en-US" sz="2000" i="1">
                        <a:latin typeface="Cambria Math" panose="02040503050406030204" pitchFamily="18" charset="0"/>
                      </a:rPr>
                      <m:t>𝑥</m:t>
                    </m:r>
                    <m:r>
                      <a:rPr lang="en-US" sz="2000" i="1">
                        <a:latin typeface="Cambria Math" panose="02040503050406030204" pitchFamily="18" charset="0"/>
                      </a:rPr>
                      <m:t>(3−</m:t>
                    </m:r>
                    <m:r>
                      <a:rPr lang="en-US" sz="2000" i="1">
                        <a:latin typeface="Cambria Math" panose="02040503050406030204" pitchFamily="18" charset="0"/>
                      </a:rPr>
                      <m:t>𝑥</m:t>
                    </m:r>
                    <m:r>
                      <a:rPr lang="en-US" sz="2000" i="1">
                        <a:latin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is </a:t>
                </a:r>
                <a14:m>
                  <m:oMath xmlns:m="http://schemas.openxmlformats.org/officeDocument/2006/math">
                    <m:r>
                      <a:rPr lang="en-US" sz="2000" i="1">
                        <a:latin typeface="Cambria Math" panose="02040503050406030204" pitchFamily="18" charset="0"/>
                      </a:rPr>
                      <m:t>3</m:t>
                    </m:r>
                    <m:r>
                      <a:rPr lang="en-US" sz="2000" i="1">
                        <a:latin typeface="Cambria Math" panose="02040503050406030204" pitchFamily="18" charset="0"/>
                      </a:rPr>
                      <m:t>𝑥</m:t>
                    </m:r>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𝑥</m:t>
                        </m:r>
                      </m:e>
                      <m:sup>
                        <m:r>
                          <a:rPr lang="en-US" sz="2000" i="1">
                            <a:latin typeface="Cambria Math" panose="02040503050406030204" pitchFamily="18" charset="0"/>
                          </a:rPr>
                          <m:t>2</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which is determined by applying the distributive property to multiply the                      </a:t>
                </a:r>
                <a14:m>
                  <m:oMath xmlns:m="http://schemas.openxmlformats.org/officeDocument/2006/math">
                    <m:r>
                      <a:rPr lang="en-US" sz="2000" i="1">
                        <a:latin typeface="Cambria Math" panose="02040503050406030204" pitchFamily="18"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rPr>
                      <m:t>(3−</m:t>
                    </m:r>
                    <m:r>
                      <a:rPr lang="en-US" sz="2000" i="1">
                        <a:latin typeface="Cambria Math" panose="02040503050406030204" pitchFamily="18" charset="0"/>
                      </a:rPr>
                      <m:t>𝑥</m:t>
                    </m:r>
                    <m:r>
                      <a:rPr lang="en-US" sz="2000" i="1">
                        <a:latin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a:t>
                </a:r>
                <a:r>
                  <a:rPr lang="en-US" sz="2000" dirty="0">
                    <a:effectLst/>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9" name="TextBox 8">
                <a:extLst>
                  <a:ext uri="{FF2B5EF4-FFF2-40B4-BE49-F238E27FC236}">
                    <a16:creationId xmlns:a16="http://schemas.microsoft.com/office/drawing/2014/main" id="{B3DCE2CF-DB7F-0340-B332-EBC33D9E90CD}"/>
                  </a:ext>
                </a:extLst>
              </p:cNvPr>
              <p:cNvSpPr txBox="1">
                <a:spLocks noRot="1" noChangeAspect="1" noMove="1" noResize="1" noEditPoints="1" noAdjustHandles="1" noChangeArrowheads="1" noChangeShapeType="1" noTextEdit="1"/>
              </p:cNvSpPr>
              <p:nvPr/>
            </p:nvSpPr>
            <p:spPr>
              <a:xfrm>
                <a:off x="518589" y="408284"/>
                <a:ext cx="11154822" cy="4863191"/>
              </a:xfrm>
              <a:prstGeom prst="rect">
                <a:avLst/>
              </a:prstGeom>
              <a:blipFill>
                <a:blip r:embed="rId5"/>
                <a:stretch>
                  <a:fillRect t="-752" r="-10710" b="-877"/>
                </a:stretch>
              </a:blipFill>
            </p:spPr>
            <p:txBody>
              <a:bodyPr/>
              <a:lstStyle/>
              <a:p>
                <a:r>
                  <a:rPr lang="en-US">
                    <a:noFill/>
                  </a:rPr>
                  <a:t> </a:t>
                </a:r>
              </a:p>
            </p:txBody>
          </p:sp>
        </mc:Fallback>
      </mc:AlternateContent>
      <p:sp>
        <p:nvSpPr>
          <p:cNvPr id="10" name="Rounded Rectangle 9">
            <a:extLst>
              <a:ext uri="{FF2B5EF4-FFF2-40B4-BE49-F238E27FC236}">
                <a16:creationId xmlns:a16="http://schemas.microsoft.com/office/drawing/2014/main" id="{AED04AC4-31C0-F138-8573-43F6058E3681}"/>
              </a:ext>
            </a:extLst>
          </p:cNvPr>
          <p:cNvSpPr/>
          <p:nvPr/>
        </p:nvSpPr>
        <p:spPr>
          <a:xfrm>
            <a:off x="3586014" y="963565"/>
            <a:ext cx="1118508" cy="842211"/>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Courier New" panose="02070309020205020404" pitchFamily="49" charset="0"/>
              <a:buChar char="o"/>
            </a:pPr>
            <a:r>
              <a:rPr lang="en-US" sz="2000" dirty="0">
                <a:solidFill>
                  <a:schemeClr val="tx1"/>
                </a:solidFill>
                <a:latin typeface="Cambria Math" panose="02040503050406030204" pitchFamily="18" charset="0"/>
                <a:ea typeface="Cambria Math" panose="02040503050406030204" pitchFamily="18" charset="0"/>
                <a:cs typeface="Verdana" panose="020B0604030504040204" pitchFamily="34" charset="0"/>
              </a:rPr>
              <a:t>3</a:t>
            </a:r>
            <a:r>
              <a:rPr lang="en-US" sz="2000" i="1" dirty="0">
                <a:solidFill>
                  <a:schemeClr val="tx1"/>
                </a:solidFill>
                <a:latin typeface="Cambria Math" panose="02040503050406030204" pitchFamily="18" charset="0"/>
                <a:ea typeface="Cambria Math" panose="02040503050406030204" pitchFamily="18" charset="0"/>
                <a:cs typeface="Verdana" panose="020B0604030504040204" pitchFamily="34" charset="0"/>
              </a:rPr>
              <a:t>x.</a:t>
            </a:r>
          </a:p>
          <a:p>
            <a:pPr marL="285750" indent="-285750">
              <a:buFont typeface="Courier New" panose="02070309020205020404" pitchFamily="49" charset="0"/>
              <a:buChar char="o"/>
            </a:pPr>
            <a:r>
              <a:rPr lang="en-US" sz="2000" i="1" dirty="0">
                <a:solidFill>
                  <a:schemeClr val="tx1"/>
                </a:solidFill>
                <a:latin typeface="Cambria Math" panose="02040503050406030204" pitchFamily="18" charset="0"/>
                <a:ea typeface="Cambria Math" panose="02040503050406030204" pitchFamily="18" charset="0"/>
                <a:cs typeface="Verdana" panose="020B0604030504040204" pitchFamily="34" charset="0"/>
              </a:rPr>
              <a:t>⎻ x </a:t>
            </a:r>
            <a:r>
              <a:rPr lang="en-US" sz="2000" i="1" baseline="30000" dirty="0">
                <a:solidFill>
                  <a:schemeClr val="tx1"/>
                </a:solidFill>
                <a:latin typeface="Cambria Math" panose="02040503050406030204" pitchFamily="18" charset="0"/>
                <a:ea typeface="Cambria Math" panose="02040503050406030204" pitchFamily="18" charset="0"/>
                <a:cs typeface="Verdana" panose="020B0604030504040204" pitchFamily="34" charset="0"/>
              </a:rPr>
              <a:t>2.</a:t>
            </a:r>
            <a:endParaRPr lang="en-US" sz="2000" i="1" dirty="0">
              <a:solidFill>
                <a:schemeClr val="tx1"/>
              </a:solidFill>
              <a:latin typeface="Cambria Math" panose="02040503050406030204" pitchFamily="18" charset="0"/>
              <a:ea typeface="Cambria Math" panose="02040503050406030204" pitchFamily="18" charset="0"/>
              <a:cs typeface="Verdana" panose="020B0604030504040204" pitchFamily="34" charset="0"/>
            </a:endParaRPr>
          </a:p>
        </p:txBody>
      </p:sp>
      <p:sp>
        <p:nvSpPr>
          <p:cNvPr id="11" name="Rounded Rectangle 10">
            <a:extLst>
              <a:ext uri="{FF2B5EF4-FFF2-40B4-BE49-F238E27FC236}">
                <a16:creationId xmlns:a16="http://schemas.microsoft.com/office/drawing/2014/main" id="{179DD6BB-0330-678D-27D1-AFCA5321DDB0}"/>
              </a:ext>
            </a:extLst>
          </p:cNvPr>
          <p:cNvSpPr/>
          <p:nvPr/>
        </p:nvSpPr>
        <p:spPr>
          <a:xfrm>
            <a:off x="9071102" y="950304"/>
            <a:ext cx="751073" cy="842211"/>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Courier New" panose="02070309020205020404" pitchFamily="49" charset="0"/>
              <a:buChar char="o"/>
            </a:pPr>
            <a:r>
              <a:rPr lang="en-US" sz="2000" dirty="0">
                <a:solidFill>
                  <a:schemeClr val="tx1"/>
                </a:solidFill>
                <a:latin typeface="Cambria Math" panose="02040503050406030204" pitchFamily="18" charset="0"/>
                <a:ea typeface="Cambria Math" panose="02040503050406030204" pitchFamily="18" charset="0"/>
                <a:cs typeface="Verdana" panose="020B0604030504040204" pitchFamily="34" charset="0"/>
              </a:rPr>
              <a:t>1</a:t>
            </a:r>
          </a:p>
          <a:p>
            <a:pPr marL="285750" indent="-285750">
              <a:buFont typeface="Courier New" panose="02070309020205020404" pitchFamily="49" charset="0"/>
              <a:buChar char="o"/>
            </a:pPr>
            <a:r>
              <a:rPr lang="en-US" sz="2000" dirty="0">
                <a:solidFill>
                  <a:schemeClr val="tx1"/>
                </a:solidFill>
                <a:latin typeface="Cambria Math" panose="02040503050406030204" pitchFamily="18" charset="0"/>
                <a:ea typeface="Cambria Math" panose="02040503050406030204" pitchFamily="18" charset="0"/>
                <a:cs typeface="Verdana" panose="020B0604030504040204" pitchFamily="34" charset="0"/>
              </a:rPr>
              <a:t>2</a:t>
            </a:r>
          </a:p>
        </p:txBody>
      </p:sp>
      <p:sp>
        <p:nvSpPr>
          <p:cNvPr id="12" name="Rounded Rectangle 11">
            <a:extLst>
              <a:ext uri="{FF2B5EF4-FFF2-40B4-BE49-F238E27FC236}">
                <a16:creationId xmlns:a16="http://schemas.microsoft.com/office/drawing/2014/main" id="{D4E423E6-12E7-082F-40EF-1378583BE4DE}"/>
              </a:ext>
            </a:extLst>
          </p:cNvPr>
          <p:cNvSpPr/>
          <p:nvPr/>
        </p:nvSpPr>
        <p:spPr>
          <a:xfrm>
            <a:off x="1768939" y="1879587"/>
            <a:ext cx="3054576" cy="842211"/>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Courier New" panose="02070309020205020404" pitchFamily="49" charset="0"/>
              <a:buChar char="o"/>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identity exponent.</a:t>
            </a:r>
          </a:p>
          <a:p>
            <a:pPr marL="285750" indent="-285750">
              <a:buFont typeface="Courier New" panose="02070309020205020404" pitchFamily="49" charset="0"/>
              <a:buChar char="o"/>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product of powers.</a:t>
            </a:r>
          </a:p>
        </p:txBody>
      </p:sp>
      <p:sp>
        <p:nvSpPr>
          <p:cNvPr id="13" name="Rounded Rectangle 12">
            <a:extLst>
              <a:ext uri="{FF2B5EF4-FFF2-40B4-BE49-F238E27FC236}">
                <a16:creationId xmlns:a16="http://schemas.microsoft.com/office/drawing/2014/main" id="{9624207A-EC55-8C1B-D427-75B963ED7B9F}"/>
              </a:ext>
            </a:extLst>
          </p:cNvPr>
          <p:cNvSpPr/>
          <p:nvPr/>
        </p:nvSpPr>
        <p:spPr>
          <a:xfrm>
            <a:off x="8208853" y="1846725"/>
            <a:ext cx="1137830" cy="842211"/>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Courier New" panose="02070309020205020404" pitchFamily="49" charset="0"/>
              <a:buChar char="o"/>
            </a:pPr>
            <a:r>
              <a:rPr lang="en-US" sz="2000" dirty="0">
                <a:solidFill>
                  <a:schemeClr val="tx1"/>
                </a:solidFill>
                <a:latin typeface="Cambria Math" panose="02040503050406030204" pitchFamily="18" charset="0"/>
                <a:ea typeface="Cambria Math" panose="02040503050406030204" pitchFamily="18" charset="0"/>
                <a:cs typeface="Verdana" panose="020B0604030504040204" pitchFamily="34" charset="0"/>
              </a:rPr>
              <a:t>3</a:t>
            </a:r>
            <a:r>
              <a:rPr lang="en-US" sz="2000" i="1" dirty="0">
                <a:solidFill>
                  <a:schemeClr val="tx1"/>
                </a:solidFill>
                <a:latin typeface="Cambria Math" panose="02040503050406030204" pitchFamily="18" charset="0"/>
                <a:ea typeface="Cambria Math" panose="02040503050406030204" pitchFamily="18" charset="0"/>
                <a:cs typeface="Verdana" panose="020B0604030504040204" pitchFamily="34" charset="0"/>
              </a:rPr>
              <a:t>x </a:t>
            </a:r>
            <a:r>
              <a:rPr lang="en-US" sz="2000" dirty="0">
                <a:solidFill>
                  <a:schemeClr val="tx1"/>
                </a:solidFill>
                <a:latin typeface="Cambria Math" panose="02040503050406030204" pitchFamily="18" charset="0"/>
                <a:ea typeface="Cambria Math" panose="02040503050406030204" pitchFamily="18" charset="0"/>
                <a:cs typeface="Verdana" panose="020B0604030504040204" pitchFamily="34" charset="0"/>
              </a:rPr>
              <a:t>.</a:t>
            </a:r>
          </a:p>
          <a:p>
            <a:pPr marL="285750" indent="-285750">
              <a:buFont typeface="Courier New" panose="02070309020205020404" pitchFamily="49" charset="0"/>
              <a:buChar char="o"/>
            </a:pPr>
            <a:r>
              <a:rPr lang="en-US" sz="2000" i="1" dirty="0">
                <a:solidFill>
                  <a:schemeClr val="tx1"/>
                </a:solidFill>
                <a:latin typeface="Cambria Math" panose="02040503050406030204" pitchFamily="18" charset="0"/>
                <a:ea typeface="Cambria Math" panose="02040503050406030204" pitchFamily="18" charset="0"/>
                <a:cs typeface="Verdana" panose="020B0604030504040204" pitchFamily="34" charset="0"/>
              </a:rPr>
              <a:t>⎻ x </a:t>
            </a:r>
            <a:r>
              <a:rPr lang="en-US" sz="2000" baseline="30000" dirty="0">
                <a:solidFill>
                  <a:schemeClr val="tx1"/>
                </a:solidFill>
                <a:latin typeface="Cambria Math" panose="02040503050406030204" pitchFamily="18" charset="0"/>
                <a:ea typeface="Cambria Math" panose="02040503050406030204" pitchFamily="18" charset="0"/>
                <a:cs typeface="Verdana" panose="020B0604030504040204" pitchFamily="34" charset="0"/>
              </a:rPr>
              <a:t>2</a:t>
            </a:r>
            <a:r>
              <a:rPr lang="en-US" sz="2000" dirty="0">
                <a:solidFill>
                  <a:schemeClr val="tx1"/>
                </a:solidFill>
                <a:latin typeface="Cambria Math" panose="02040503050406030204" pitchFamily="18" charset="0"/>
                <a:ea typeface="Cambria Math" panose="02040503050406030204" pitchFamily="18" charset="0"/>
                <a:cs typeface="Verdana" panose="020B0604030504040204" pitchFamily="34" charset="0"/>
              </a:rPr>
              <a:t>.</a:t>
            </a:r>
          </a:p>
        </p:txBody>
      </p:sp>
      <p:sp>
        <p:nvSpPr>
          <p:cNvPr id="14" name="Rounded Rectangle 13">
            <a:extLst>
              <a:ext uri="{FF2B5EF4-FFF2-40B4-BE49-F238E27FC236}">
                <a16:creationId xmlns:a16="http://schemas.microsoft.com/office/drawing/2014/main" id="{A5973D77-94F8-069F-4126-DE49916FA660}"/>
              </a:ext>
            </a:extLst>
          </p:cNvPr>
          <p:cNvSpPr/>
          <p:nvPr/>
        </p:nvSpPr>
        <p:spPr>
          <a:xfrm>
            <a:off x="2407534" y="2792067"/>
            <a:ext cx="751073" cy="842211"/>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Courier New" panose="02070309020205020404" pitchFamily="49" charset="0"/>
              <a:buChar char="o"/>
            </a:pPr>
            <a:r>
              <a:rPr lang="en-US" sz="2000" dirty="0">
                <a:solidFill>
                  <a:schemeClr val="tx1"/>
                </a:solidFill>
                <a:latin typeface="Cambria Math" panose="02040503050406030204" pitchFamily="18" charset="0"/>
                <a:ea typeface="Cambria Math" panose="02040503050406030204" pitchFamily="18" charset="0"/>
                <a:cs typeface="Verdana" panose="020B0604030504040204" pitchFamily="34" charset="0"/>
              </a:rPr>
              <a:t>2</a:t>
            </a:r>
          </a:p>
          <a:p>
            <a:pPr marL="285750" indent="-285750">
              <a:buFont typeface="Courier New" panose="02070309020205020404" pitchFamily="49" charset="0"/>
              <a:buChar char="o"/>
            </a:pPr>
            <a:r>
              <a:rPr lang="en-US" sz="2000" dirty="0">
                <a:solidFill>
                  <a:schemeClr val="tx1"/>
                </a:solidFill>
                <a:latin typeface="Cambria Math" panose="02040503050406030204" pitchFamily="18" charset="0"/>
                <a:ea typeface="Cambria Math" panose="02040503050406030204" pitchFamily="18" charset="0"/>
                <a:cs typeface="Verdana" panose="020B0604030504040204" pitchFamily="34" charset="0"/>
              </a:rPr>
              <a:t>1</a:t>
            </a:r>
          </a:p>
        </p:txBody>
      </p:sp>
      <p:sp>
        <p:nvSpPr>
          <p:cNvPr id="15" name="Rounded Rectangle 14">
            <a:extLst>
              <a:ext uri="{FF2B5EF4-FFF2-40B4-BE49-F238E27FC236}">
                <a16:creationId xmlns:a16="http://schemas.microsoft.com/office/drawing/2014/main" id="{05ECB22B-F4BA-933C-C5A4-CDCEF87D63C1}"/>
              </a:ext>
            </a:extLst>
          </p:cNvPr>
          <p:cNvSpPr/>
          <p:nvPr/>
        </p:nvSpPr>
        <p:spPr>
          <a:xfrm>
            <a:off x="5833392" y="2792067"/>
            <a:ext cx="3054576" cy="842211"/>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Courier New" panose="02070309020205020404" pitchFamily="49" charset="0"/>
              <a:buChar char="o"/>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identity exponent.</a:t>
            </a:r>
          </a:p>
          <a:p>
            <a:pPr marL="285750" indent="-285750">
              <a:buFont typeface="Courier New" panose="02070309020205020404" pitchFamily="49" charset="0"/>
              <a:buChar char="o"/>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product of powers.</a:t>
            </a:r>
          </a:p>
        </p:txBody>
      </p:sp>
      <p:sp>
        <p:nvSpPr>
          <p:cNvPr id="16" name="Rounded Rectangle 15">
            <a:extLst>
              <a:ext uri="{FF2B5EF4-FFF2-40B4-BE49-F238E27FC236}">
                <a16:creationId xmlns:a16="http://schemas.microsoft.com/office/drawing/2014/main" id="{382CCEF6-3319-4040-3547-779DE9BBE164}"/>
              </a:ext>
            </a:extLst>
          </p:cNvPr>
          <p:cNvSpPr/>
          <p:nvPr/>
        </p:nvSpPr>
        <p:spPr>
          <a:xfrm>
            <a:off x="881306" y="3719019"/>
            <a:ext cx="1775265" cy="842211"/>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Courier New" panose="02070309020205020404" pitchFamily="49" charset="0"/>
              <a:buChar char="o"/>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factors</a:t>
            </a:r>
          </a:p>
          <a:p>
            <a:pPr marL="285750" indent="-285750">
              <a:buFont typeface="Courier New" panose="02070309020205020404" pitchFamily="49" charset="0"/>
              <a:buChar char="o"/>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product</a:t>
            </a:r>
          </a:p>
        </p:txBody>
      </p:sp>
      <p:sp>
        <p:nvSpPr>
          <p:cNvPr id="17" name="Rounded Rectangle 16">
            <a:extLst>
              <a:ext uri="{FF2B5EF4-FFF2-40B4-BE49-F238E27FC236}">
                <a16:creationId xmlns:a16="http://schemas.microsoft.com/office/drawing/2014/main" id="{356896E4-4995-DD85-4729-C9D4682A6D6C}"/>
              </a:ext>
            </a:extLst>
          </p:cNvPr>
          <p:cNvSpPr/>
          <p:nvPr/>
        </p:nvSpPr>
        <p:spPr>
          <a:xfrm>
            <a:off x="4058127" y="4601396"/>
            <a:ext cx="1775265" cy="842211"/>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Courier New" panose="02070309020205020404" pitchFamily="49" charset="0"/>
              <a:buChar char="o"/>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factors</a:t>
            </a:r>
          </a:p>
          <a:p>
            <a:pPr marL="285750" indent="-285750">
              <a:buFont typeface="Courier New" panose="02070309020205020404" pitchFamily="49" charset="0"/>
              <a:buChar char="o"/>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product</a:t>
            </a:r>
          </a:p>
        </p:txBody>
      </p:sp>
    </p:spTree>
    <p:extLst>
      <p:ext uri="{BB962C8B-B14F-4D97-AF65-F5344CB8AC3E}">
        <p14:creationId xmlns:p14="http://schemas.microsoft.com/office/powerpoint/2010/main" val="2972911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pic>
        <p:nvPicPr>
          <p:cNvPr id="350" name="Google Shape;350;p2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16016" y="6200600"/>
            <a:ext cx="563850" cy="657276"/>
          </a:xfrm>
          <a:prstGeom prst="rect">
            <a:avLst/>
          </a:prstGeom>
          <a:noFill/>
          <a:ln>
            <a:noFill/>
          </a:ln>
          <a:effectLst>
            <a:outerShdw blurRad="57150" dist="19050" dir="5400000" algn="bl" rotWithShape="0">
              <a:srgbClr val="000000">
                <a:alpha val="49019"/>
              </a:srgbClr>
            </a:outerShdw>
          </a:effectLst>
        </p:spPr>
      </p:pic>
      <p:sp>
        <p:nvSpPr>
          <p:cNvPr id="351" name="Google Shape;351;p20"/>
          <p:cNvSpPr txBox="1">
            <a:spLocks noGrp="1"/>
          </p:cNvSpPr>
          <p:nvPr>
            <p:ph type="title" idx="4294967295"/>
          </p:nvPr>
        </p:nvSpPr>
        <p:spPr>
          <a:xfrm>
            <a:off x="4529330" y="2765420"/>
            <a:ext cx="4479925" cy="1327150"/>
          </a:xfrm>
          <a:prstGeom prst="rect">
            <a:avLst/>
          </a:prstGeom>
          <a:noFill/>
          <a:ln>
            <a:noFill/>
          </a:ln>
        </p:spPr>
        <p:txBody>
          <a:bodyPr spcFirstLastPara="1" wrap="square" lIns="91425" tIns="45700" rIns="91425" bIns="45700" anchor="ctr" anchorCtr="0">
            <a:normAutofit fontScale="90000"/>
          </a:bodyPr>
          <a:lstStyle/>
          <a:p>
            <a:pPr algn="ctr">
              <a:lnSpc>
                <a:spcPct val="90000"/>
              </a:lnSpc>
              <a:buSzPts val="5000"/>
            </a:pPr>
            <a:r>
              <a:rPr lang="en-US" sz="5000" b="1">
                <a:solidFill>
                  <a:srgbClr val="54B5D1"/>
                </a:solidFill>
                <a:latin typeface="Verdana"/>
                <a:ea typeface="Verdana"/>
                <a:cs typeface="Verdana"/>
                <a:sym typeface="Verdana"/>
              </a:rPr>
              <a:t>Guided Practice</a:t>
            </a:r>
            <a:endParaRPr/>
          </a:p>
        </p:txBody>
      </p:sp>
      <p:sp>
        <p:nvSpPr>
          <p:cNvPr id="352" name="Google Shape;352;p20"/>
          <p:cNvSpPr txBox="1"/>
          <p:nvPr/>
        </p:nvSpPr>
        <p:spPr>
          <a:xfrm>
            <a:off x="8814816" y="6457950"/>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221</a:t>
            </a:r>
            <a:endParaRPr/>
          </a:p>
        </p:txBody>
      </p:sp>
      <p:pic>
        <p:nvPicPr>
          <p:cNvPr id="353" name="Google Shape;353;p20" descr="Icon&#10;&#10;Description automatically generated"/>
          <p:cNvPicPr preferRelativeResize="0"/>
          <p:nvPr/>
        </p:nvPicPr>
        <p:blipFill rotWithShape="1">
          <a:blip r:embed="rId4">
            <a:alphaModFix/>
          </a:blip>
          <a:srcRect/>
          <a:stretch/>
        </p:blipFill>
        <p:spPr>
          <a:xfrm>
            <a:off x="3360579" y="2852923"/>
            <a:ext cx="1152144" cy="1152144"/>
          </a:xfrm>
          <a:prstGeom prst="rect">
            <a:avLst/>
          </a:prstGeom>
          <a:noFill/>
          <a:ln>
            <a:noFill/>
          </a:ln>
          <a:effectLst>
            <a:outerShdw blurRad="50800" dist="38100" dir="2700000" algn="tl" rotWithShape="0">
              <a:srgbClr val="000000">
                <a:alpha val="40000"/>
              </a:srgbClr>
            </a:outerShdw>
          </a:effectLst>
        </p:spPr>
      </p:pic>
      <p:pic>
        <p:nvPicPr>
          <p:cNvPr id="354" name="Google Shape;354;p20"/>
          <p:cNvPicPr preferRelativeResize="0"/>
          <p:nvPr/>
        </p:nvPicPr>
        <p:blipFill>
          <a:blip r:embed="rId5">
            <a:alphaModFix/>
          </a:blip>
          <a:stretch>
            <a:fillRect/>
          </a:stretch>
        </p:blipFill>
        <p:spPr>
          <a:xfrm>
            <a:off x="-21277" y="-43025"/>
            <a:ext cx="2885575" cy="700311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pic>
        <p:nvPicPr>
          <p:cNvPr id="360" name="Google Shape;360;p2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16016" y="6200600"/>
            <a:ext cx="563850" cy="657276"/>
          </a:xfrm>
          <a:prstGeom prst="rect">
            <a:avLst/>
          </a:prstGeom>
          <a:noFill/>
          <a:ln>
            <a:noFill/>
          </a:ln>
          <a:effectLst>
            <a:outerShdw blurRad="57150" dist="19050" dir="5400000" algn="bl" rotWithShape="0">
              <a:srgbClr val="000000">
                <a:alpha val="49019"/>
              </a:srgbClr>
            </a:outerShdw>
          </a:effectLst>
        </p:spPr>
      </p:pic>
      <p:sp>
        <p:nvSpPr>
          <p:cNvPr id="361" name="Google Shape;361;p21"/>
          <p:cNvSpPr txBox="1"/>
          <p:nvPr/>
        </p:nvSpPr>
        <p:spPr>
          <a:xfrm>
            <a:off x="1349419" y="128587"/>
            <a:ext cx="9189994" cy="1325562"/>
          </a:xfrm>
          <a:prstGeom prst="rect">
            <a:avLst/>
          </a:prstGeom>
          <a:noFill/>
          <a:ln>
            <a:noFill/>
          </a:ln>
        </p:spPr>
        <p:txBody>
          <a:bodyPr spcFirstLastPara="1" wrap="square" lIns="91425" tIns="45700" rIns="91425" bIns="45700" anchor="ctr" anchorCtr="0">
            <a:noAutofit/>
          </a:bodyPr>
          <a:lstStyle/>
          <a:p>
            <a:pPr>
              <a:lnSpc>
                <a:spcPct val="90000"/>
              </a:lnSpc>
              <a:buClr>
                <a:srgbClr val="54B5D1"/>
              </a:buClr>
              <a:buSzPts val="3600"/>
            </a:pPr>
            <a:r>
              <a:rPr lang="en-US" sz="3200" b="1" dirty="0">
                <a:solidFill>
                  <a:srgbClr val="54B5D1"/>
                </a:solidFill>
                <a:latin typeface="Verdana"/>
                <a:ea typeface="Verdana"/>
                <a:cs typeface="Verdana"/>
                <a:sym typeface="Verdana"/>
              </a:rPr>
              <a:t>12.1.5 Guided Practice: Distributing Terms with Variables</a:t>
            </a:r>
            <a:endParaRPr sz="1200" dirty="0"/>
          </a:p>
        </p:txBody>
      </p:sp>
      <p:pic>
        <p:nvPicPr>
          <p:cNvPr id="362" name="Google Shape;362;p21"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443207" y="229176"/>
            <a:ext cx="749808" cy="749808"/>
          </a:xfrm>
          <a:prstGeom prst="rect">
            <a:avLst/>
          </a:prstGeom>
          <a:noFill/>
          <a:ln>
            <a:noFill/>
          </a:ln>
          <a:effectLst>
            <a:outerShdw blurRad="50800" dist="38100" dir="2700000" algn="tl" rotWithShape="0">
              <a:srgbClr val="000000">
                <a:alpha val="40000"/>
              </a:srgbClr>
            </a:outerShdw>
          </a:effectLst>
        </p:spPr>
      </p:pic>
      <p:sp>
        <p:nvSpPr>
          <p:cNvPr id="363" name="Google Shape;363;p21"/>
          <p:cNvSpPr txBox="1"/>
          <p:nvPr/>
        </p:nvSpPr>
        <p:spPr>
          <a:xfrm>
            <a:off x="981307" y="1511301"/>
            <a:ext cx="9353319" cy="1200288"/>
          </a:xfrm>
          <a:prstGeom prst="rect">
            <a:avLst/>
          </a:prstGeom>
          <a:noFill/>
          <a:ln>
            <a:noFill/>
          </a:ln>
        </p:spPr>
        <p:txBody>
          <a:bodyPr spcFirstLastPara="1" wrap="square" lIns="91425" tIns="45700" rIns="91425" bIns="45700" anchor="t" anchorCtr="0">
            <a:spAutoFit/>
          </a:bodyPr>
          <a:lstStyle/>
          <a:p>
            <a:pPr marL="457200" indent="-457200">
              <a:buSzPct val="100000"/>
              <a:buFont typeface="+mj-lt"/>
              <a:buAutoNum type="arabicPeriod"/>
            </a:pPr>
            <a:r>
              <a:rPr lang="en-US" sz="2400" dirty="0">
                <a:latin typeface="Verdana"/>
                <a:ea typeface="Verdana"/>
                <a:cs typeface="Verdana"/>
                <a:sym typeface="Verdana"/>
              </a:rPr>
              <a:t>Generate an equivalent algebraic expression for each given expression by applying the distributive property.</a:t>
            </a:r>
            <a:endParaRPr sz="2400" dirty="0"/>
          </a:p>
          <a:p>
            <a:pPr marL="342900" indent="-342900">
              <a:buSzPts val="1400"/>
            </a:pPr>
            <a:r>
              <a:rPr lang="en-US" sz="2400" dirty="0"/>
              <a:t> </a:t>
            </a:r>
            <a:endParaRPr sz="2400" dirty="0"/>
          </a:p>
        </p:txBody>
      </p:sp>
      <p:sp>
        <p:nvSpPr>
          <p:cNvPr id="364" name="Google Shape;364;p21"/>
          <p:cNvSpPr txBox="1"/>
          <p:nvPr/>
        </p:nvSpPr>
        <p:spPr>
          <a:xfrm>
            <a:off x="8851392" y="6457950"/>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221</a:t>
            </a:r>
            <a:endParaRPr/>
          </a:p>
        </p:txBody>
      </p:sp>
      <p:pic>
        <p:nvPicPr>
          <p:cNvPr id="365" name="Google Shape;365;p21"/>
          <p:cNvPicPr preferRelativeResize="0"/>
          <p:nvPr/>
        </p:nvPicPr>
        <p:blipFill>
          <a:blip r:embed="rId5">
            <a:alphaModFix/>
          </a:blip>
          <a:stretch>
            <a:fillRect/>
          </a:stretch>
        </p:blipFill>
        <p:spPr>
          <a:xfrm>
            <a:off x="-52622" y="-41462"/>
            <a:ext cx="339425" cy="7003829"/>
          </a:xfrm>
          <a:prstGeom prst="rect">
            <a:avLst/>
          </a:prstGeom>
          <a:noFill/>
          <a:ln>
            <a:noFill/>
          </a:ln>
        </p:spPr>
      </p:pic>
      <p:pic>
        <p:nvPicPr>
          <p:cNvPr id="6" name="Picture 5" descr="A picture containing text&#10;&#10;Description automatically generated">
            <a:extLst>
              <a:ext uri="{FF2B5EF4-FFF2-40B4-BE49-F238E27FC236}">
                <a16:creationId xmlns:a16="http://schemas.microsoft.com/office/drawing/2014/main" id="{5B061003-6724-9C4A-B71E-3EED556151C5}"/>
              </a:ext>
            </a:extLst>
          </p:cNvPr>
          <p:cNvPicPr>
            <a:picLocks noChangeAspect="1"/>
          </p:cNvPicPr>
          <p:nvPr/>
        </p:nvPicPr>
        <p:blipFill>
          <a:blip r:embed="rId6"/>
          <a:stretch>
            <a:fillRect/>
          </a:stretch>
        </p:blipFill>
        <p:spPr>
          <a:xfrm>
            <a:off x="1431312" y="2535827"/>
            <a:ext cx="2634262" cy="392212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pic>
        <p:nvPicPr>
          <p:cNvPr id="372" name="Google Shape;372;p2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70880" y="6200600"/>
            <a:ext cx="563850" cy="657276"/>
          </a:xfrm>
          <a:prstGeom prst="rect">
            <a:avLst/>
          </a:prstGeom>
          <a:noFill/>
          <a:ln>
            <a:noFill/>
          </a:ln>
          <a:effectLst>
            <a:outerShdw blurRad="57150" dist="19050" dir="5400000" algn="bl" rotWithShape="0">
              <a:srgbClr val="000000">
                <a:alpha val="49019"/>
              </a:srgbClr>
            </a:outerShdw>
          </a:effectLst>
        </p:spPr>
      </p:pic>
      <p:sp>
        <p:nvSpPr>
          <p:cNvPr id="373" name="Google Shape;373;p22"/>
          <p:cNvSpPr txBox="1"/>
          <p:nvPr/>
        </p:nvSpPr>
        <p:spPr>
          <a:xfrm>
            <a:off x="8997696" y="6457950"/>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221</a:t>
            </a:r>
            <a:endParaRPr/>
          </a:p>
        </p:txBody>
      </p:sp>
      <p:pic>
        <p:nvPicPr>
          <p:cNvPr id="374" name="Google Shape;374;p22"/>
          <p:cNvPicPr preferRelativeResize="0"/>
          <p:nvPr/>
        </p:nvPicPr>
        <p:blipFill>
          <a:blip r:embed="rId4">
            <a:alphaModFix/>
          </a:blip>
          <a:stretch>
            <a:fillRect/>
          </a:stretch>
        </p:blipFill>
        <p:spPr>
          <a:xfrm>
            <a:off x="-57578" y="-52613"/>
            <a:ext cx="339425" cy="7012706"/>
          </a:xfrm>
          <a:prstGeom prst="rect">
            <a:avLst/>
          </a:prstGeom>
          <a:noFill/>
          <a:ln>
            <a:noFill/>
          </a:ln>
        </p:spPr>
      </p:pic>
      <mc:AlternateContent xmlns:mc="http://schemas.openxmlformats.org/markup-compatibility/2006" xmlns:a14="http://schemas.microsoft.com/office/drawing/2010/main">
        <mc:Choice Requires="a14">
          <p:sp>
            <p:nvSpPr>
              <p:cNvPr id="375" name="Google Shape;375;p22"/>
              <p:cNvSpPr txBox="1"/>
              <p:nvPr/>
            </p:nvSpPr>
            <p:spPr>
              <a:xfrm>
                <a:off x="713232" y="162600"/>
                <a:ext cx="10936224" cy="1705052"/>
              </a:xfrm>
              <a:prstGeom prst="rect">
                <a:avLst/>
              </a:prstGeom>
              <a:noFill/>
              <a:ln>
                <a:noFill/>
              </a:ln>
            </p:spPr>
            <p:txBody>
              <a:bodyPr spcFirstLastPara="1" wrap="square" lIns="171450" tIns="91425" rIns="91425" bIns="91425" anchor="t" anchorCtr="0">
                <a:spAutoFit/>
              </a:bodyPr>
              <a:lstStyle/>
              <a:p>
                <a:pPr marL="457200" indent="-355600">
                  <a:lnSpc>
                    <a:spcPct val="115000"/>
                  </a:lnSpc>
                  <a:buClr>
                    <a:schemeClr val="lt1"/>
                  </a:buClr>
                  <a:buSzPts val="2000"/>
                  <a:buFont typeface="Verdana"/>
                  <a:buAutoNum type="arabicPeriod"/>
                </a:pPr>
                <a:endParaRPr sz="2400" dirty="0">
                  <a:latin typeface="Verdana"/>
                  <a:ea typeface="Verdana"/>
                  <a:cs typeface="Verdana"/>
                  <a:sym typeface="Verdana"/>
                </a:endParaRPr>
              </a:p>
              <a:p>
                <a:pPr marL="457200" indent="-457200">
                  <a:lnSpc>
                    <a:spcPct val="115000"/>
                  </a:lnSpc>
                  <a:buSzPct val="100000"/>
                  <a:buFont typeface="+mj-lt"/>
                  <a:buAutoNum type="arabicPeriod" startAt="2"/>
                </a:pPr>
                <a:r>
                  <a:rPr lang="en-US" sz="2400" dirty="0">
                    <a:latin typeface="Verdana"/>
                    <a:ea typeface="Verdana"/>
                    <a:cs typeface="Verdana"/>
                    <a:sym typeface="Verdana"/>
                  </a:rPr>
                  <a:t>What is another equivalent expression for </a:t>
                </a:r>
                <a14:m>
                  <m:oMath xmlns:m="http://schemas.openxmlformats.org/officeDocument/2006/math">
                    <m:r>
                      <a:rPr lang="en-US" sz="2400" i="1" dirty="0" smtClean="0">
                        <a:latin typeface="Cambria Math" panose="02040503050406030204" pitchFamily="18" charset="0"/>
                        <a:ea typeface="Verdana"/>
                        <a:cs typeface="Verdana"/>
                        <a:sym typeface="Verdana"/>
                      </a:rPr>
                      <m:t>−4</m:t>
                    </m:r>
                    <m:r>
                      <a:rPr lang="en-US" sz="2400" i="1" dirty="0" smtClean="0">
                        <a:latin typeface="Cambria Math" panose="02040503050406030204" pitchFamily="18" charset="0"/>
                        <a:ea typeface="Verdana"/>
                        <a:cs typeface="Verdana"/>
                        <a:sym typeface="Verdana"/>
                      </a:rPr>
                      <m:t>𝑥</m:t>
                    </m:r>
                    <m:r>
                      <a:rPr lang="en-US" sz="2400" i="1" dirty="0" smtClean="0">
                        <a:latin typeface="Cambria Math" panose="02040503050406030204" pitchFamily="18" charset="0"/>
                        <a:ea typeface="Verdana"/>
                        <a:cs typeface="Verdana"/>
                        <a:sym typeface="Verdana"/>
                      </a:rPr>
                      <m:t>(</m:t>
                    </m:r>
                    <m:r>
                      <a:rPr lang="en-US" sz="2400" i="1" dirty="0" smtClean="0">
                        <a:latin typeface="Cambria Math" panose="02040503050406030204" pitchFamily="18" charset="0"/>
                        <a:ea typeface="Verdana"/>
                        <a:cs typeface="Verdana"/>
                        <a:sym typeface="Verdana"/>
                      </a:rPr>
                      <m:t>𝑥</m:t>
                    </m:r>
                    <m:r>
                      <a:rPr lang="en-US" sz="2400" i="1" dirty="0" smtClean="0">
                        <a:latin typeface="Cambria Math" panose="02040503050406030204" pitchFamily="18" charset="0"/>
                        <a:ea typeface="Verdana"/>
                        <a:cs typeface="Verdana"/>
                        <a:sym typeface="Verdana"/>
                      </a:rPr>
                      <m:t>−7) </m:t>
                    </m:r>
                  </m:oMath>
                </a14:m>
                <a:r>
                  <a:rPr lang="en-US" sz="2400" dirty="0">
                    <a:latin typeface="Verdana"/>
                    <a:ea typeface="Verdana"/>
                    <a:cs typeface="Verdana"/>
                    <a:sym typeface="Verdana"/>
                  </a:rPr>
                  <a:t>using the commutative property?</a:t>
                </a:r>
                <a:endParaRPr sz="2400" dirty="0">
                  <a:latin typeface="Verdana"/>
                  <a:ea typeface="Verdana"/>
                  <a:cs typeface="Verdana"/>
                  <a:sym typeface="Verdana"/>
                </a:endParaRPr>
              </a:p>
              <a:p>
                <a:endParaRPr sz="1600" dirty="0"/>
              </a:p>
            </p:txBody>
          </p:sp>
        </mc:Choice>
        <mc:Fallback xmlns="">
          <p:sp>
            <p:nvSpPr>
              <p:cNvPr id="375" name="Google Shape;375;p22"/>
              <p:cNvSpPr txBox="1">
                <a:spLocks noRot="1" noChangeAspect="1" noMove="1" noResize="1" noEditPoints="1" noAdjustHandles="1" noChangeArrowheads="1" noChangeShapeType="1" noTextEdit="1"/>
              </p:cNvSpPr>
              <p:nvPr/>
            </p:nvSpPr>
            <p:spPr>
              <a:xfrm>
                <a:off x="713232" y="162600"/>
                <a:ext cx="10936224" cy="1705052"/>
              </a:xfrm>
              <a:prstGeom prst="rect">
                <a:avLst/>
              </a:prstGeom>
              <a:blipFill>
                <a:blip r:embed="rId5"/>
                <a:stretch>
                  <a:fillRect l="-111"/>
                </a:stretch>
              </a:blipFill>
              <a:ln>
                <a:noFill/>
              </a:ln>
            </p:spPr>
            <p:txBody>
              <a:bodyPr/>
              <a:lstStyle/>
              <a:p>
                <a:r>
                  <a:rPr 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pic>
        <p:nvPicPr>
          <p:cNvPr id="381" name="Google Shape;381;p2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79440" y="6200600"/>
            <a:ext cx="563850" cy="657276"/>
          </a:xfrm>
          <a:prstGeom prst="rect">
            <a:avLst/>
          </a:prstGeom>
          <a:noFill/>
          <a:ln>
            <a:noFill/>
          </a:ln>
          <a:effectLst>
            <a:outerShdw blurRad="57150" dist="19050" dir="5400000" algn="bl" rotWithShape="0">
              <a:srgbClr val="000000">
                <a:alpha val="49019"/>
              </a:srgbClr>
            </a:outerShdw>
          </a:effectLst>
        </p:spPr>
      </p:pic>
      <p:sp>
        <p:nvSpPr>
          <p:cNvPr id="382" name="Google Shape;382;p23"/>
          <p:cNvSpPr txBox="1">
            <a:spLocks noGrp="1"/>
          </p:cNvSpPr>
          <p:nvPr>
            <p:ph type="title" idx="4294967295"/>
          </p:nvPr>
        </p:nvSpPr>
        <p:spPr>
          <a:xfrm>
            <a:off x="3969702" y="2779712"/>
            <a:ext cx="4481512" cy="1325562"/>
          </a:xfrm>
          <a:prstGeom prst="rect">
            <a:avLst/>
          </a:prstGeom>
          <a:noFill/>
          <a:ln>
            <a:noFill/>
          </a:ln>
        </p:spPr>
        <p:txBody>
          <a:bodyPr spcFirstLastPara="1" wrap="square" lIns="91425" tIns="45700" rIns="91425" bIns="45700" anchor="ctr" anchorCtr="0">
            <a:noAutofit/>
          </a:bodyPr>
          <a:lstStyle/>
          <a:p>
            <a:pPr algn="ctr">
              <a:lnSpc>
                <a:spcPct val="90000"/>
              </a:lnSpc>
              <a:buSzPts val="5500"/>
            </a:pPr>
            <a:r>
              <a:rPr lang="en-US" sz="5500" b="1" dirty="0">
                <a:solidFill>
                  <a:srgbClr val="3F2A67"/>
                </a:solidFill>
                <a:latin typeface="Verdana"/>
                <a:ea typeface="Verdana"/>
                <a:cs typeface="Verdana"/>
                <a:sym typeface="Verdana"/>
              </a:rPr>
              <a:t>Wrap-Up</a:t>
            </a:r>
            <a:endParaRPr dirty="0"/>
          </a:p>
        </p:txBody>
      </p:sp>
      <p:pic>
        <p:nvPicPr>
          <p:cNvPr id="383" name="Google Shape;383;p23"/>
          <p:cNvPicPr preferRelativeResize="0"/>
          <p:nvPr/>
        </p:nvPicPr>
        <p:blipFill rotWithShape="1">
          <a:blip r:embed="rId4">
            <a:alphaModFix/>
          </a:blip>
          <a:srcRect/>
          <a:stretch/>
        </p:blipFill>
        <p:spPr>
          <a:xfrm>
            <a:off x="3222325" y="2933695"/>
            <a:ext cx="1008299" cy="1016513"/>
          </a:xfrm>
          <a:prstGeom prst="rect">
            <a:avLst/>
          </a:prstGeom>
          <a:noFill/>
          <a:ln>
            <a:noFill/>
          </a:ln>
          <a:effectLst>
            <a:outerShdw blurRad="50800" dist="38100" dir="2700000" algn="tl" rotWithShape="0">
              <a:srgbClr val="000000">
                <a:alpha val="40000"/>
              </a:srgbClr>
            </a:outerShdw>
          </a:effectLst>
        </p:spPr>
      </p:pic>
      <p:sp>
        <p:nvSpPr>
          <p:cNvPr id="384" name="Google Shape;384;p23"/>
          <p:cNvSpPr txBox="1"/>
          <p:nvPr/>
        </p:nvSpPr>
        <p:spPr>
          <a:xfrm>
            <a:off x="8851392" y="6457950"/>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221</a:t>
            </a:r>
            <a:endParaRPr/>
          </a:p>
        </p:txBody>
      </p:sp>
      <p:pic>
        <p:nvPicPr>
          <p:cNvPr id="385" name="Google Shape;385;p23"/>
          <p:cNvPicPr preferRelativeResize="0"/>
          <p:nvPr/>
        </p:nvPicPr>
        <p:blipFill>
          <a:blip r:embed="rId5">
            <a:alphaModFix/>
          </a:blip>
          <a:stretch>
            <a:fillRect/>
          </a:stretch>
        </p:blipFill>
        <p:spPr>
          <a:xfrm>
            <a:off x="-21277" y="-43025"/>
            <a:ext cx="2885575" cy="701199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pic>
        <p:nvPicPr>
          <p:cNvPr id="391" name="Google Shape;391;p2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71594" y="6129312"/>
            <a:ext cx="563850" cy="657276"/>
          </a:xfrm>
          <a:prstGeom prst="rect">
            <a:avLst/>
          </a:prstGeom>
          <a:noFill/>
          <a:ln>
            <a:noFill/>
          </a:ln>
          <a:effectLst>
            <a:outerShdw blurRad="57150" dist="19050" dir="5400000" algn="bl" rotWithShape="0">
              <a:srgbClr val="000000">
                <a:alpha val="49019"/>
              </a:srgbClr>
            </a:outerShdw>
          </a:effectLst>
        </p:spPr>
      </p:pic>
      <p:sp>
        <p:nvSpPr>
          <p:cNvPr id="392" name="Google Shape;392;p24"/>
          <p:cNvSpPr txBox="1"/>
          <p:nvPr/>
        </p:nvSpPr>
        <p:spPr>
          <a:xfrm>
            <a:off x="1367707" y="-82550"/>
            <a:ext cx="10203888" cy="1325562"/>
          </a:xfrm>
          <a:prstGeom prst="rect">
            <a:avLst/>
          </a:prstGeom>
          <a:noFill/>
          <a:ln>
            <a:noFill/>
          </a:ln>
        </p:spPr>
        <p:txBody>
          <a:bodyPr spcFirstLastPara="1" wrap="square" lIns="91425" tIns="45700" rIns="91425" bIns="45700" anchor="ctr" anchorCtr="0">
            <a:noAutofit/>
          </a:bodyPr>
          <a:lstStyle/>
          <a:p>
            <a:pPr>
              <a:lnSpc>
                <a:spcPct val="90000"/>
              </a:lnSpc>
              <a:buClr>
                <a:srgbClr val="3F2A67"/>
              </a:buClr>
              <a:buSzPts val="3600"/>
            </a:pPr>
            <a:r>
              <a:rPr lang="en-US" sz="3600" b="1" dirty="0">
                <a:solidFill>
                  <a:srgbClr val="3F2A67"/>
                </a:solidFill>
                <a:latin typeface="Verdana"/>
                <a:ea typeface="Verdana"/>
                <a:cs typeface="Verdana"/>
                <a:sym typeface="Verdana"/>
              </a:rPr>
              <a:t>12.1.6 Wrap-Up: Ticket Out the Door</a:t>
            </a:r>
            <a:endParaRPr dirty="0"/>
          </a:p>
        </p:txBody>
      </p:sp>
      <p:pic>
        <p:nvPicPr>
          <p:cNvPr id="393" name="Google Shape;393;p24"/>
          <p:cNvPicPr preferRelativeResize="0"/>
          <p:nvPr/>
        </p:nvPicPr>
        <p:blipFill rotWithShape="1">
          <a:blip r:embed="rId4">
            <a:alphaModFix/>
          </a:blip>
          <a:srcRect/>
          <a:stretch/>
        </p:blipFill>
        <p:spPr>
          <a:xfrm>
            <a:off x="586181" y="171838"/>
            <a:ext cx="747300" cy="747300"/>
          </a:xfrm>
          <a:prstGeom prst="rect">
            <a:avLst/>
          </a:prstGeom>
          <a:noFill/>
          <a:ln>
            <a:noFill/>
          </a:ln>
          <a:effectLst>
            <a:outerShdw blurRad="50800" dist="38100" dir="2700000" algn="tl" rotWithShape="0">
              <a:srgbClr val="000000">
                <a:alpha val="40000"/>
              </a:srgbClr>
            </a:outerShdw>
          </a:effectLst>
        </p:spPr>
      </p:pic>
      <p:sp>
        <p:nvSpPr>
          <p:cNvPr id="394" name="Google Shape;394;p24"/>
          <p:cNvSpPr txBox="1"/>
          <p:nvPr/>
        </p:nvSpPr>
        <p:spPr>
          <a:xfrm>
            <a:off x="9034272" y="6421374"/>
            <a:ext cx="2633662" cy="40005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221</a:t>
            </a:r>
            <a:endParaRPr/>
          </a:p>
        </p:txBody>
      </p:sp>
      <p:pic>
        <p:nvPicPr>
          <p:cNvPr id="395" name="Google Shape;395;p24"/>
          <p:cNvPicPr preferRelativeResize="0"/>
          <p:nvPr/>
        </p:nvPicPr>
        <p:blipFill>
          <a:blip r:embed="rId5">
            <a:alphaModFix/>
          </a:blip>
          <a:stretch>
            <a:fillRect/>
          </a:stretch>
        </p:blipFill>
        <p:spPr>
          <a:xfrm>
            <a:off x="-70504" y="-52613"/>
            <a:ext cx="339425" cy="7012706"/>
          </a:xfrm>
          <a:prstGeom prst="rect">
            <a:avLst/>
          </a:prstGeom>
          <a:noFill/>
          <a:ln>
            <a:noFill/>
          </a:ln>
        </p:spPr>
      </p:pic>
      <p:sp>
        <p:nvSpPr>
          <p:cNvPr id="396" name="Google Shape;396;p24"/>
          <p:cNvSpPr txBox="1"/>
          <p:nvPr/>
        </p:nvSpPr>
        <p:spPr>
          <a:xfrm>
            <a:off x="1048215" y="1339101"/>
            <a:ext cx="9004785" cy="3767155"/>
          </a:xfrm>
          <a:prstGeom prst="rect">
            <a:avLst/>
          </a:prstGeom>
          <a:noFill/>
          <a:ln>
            <a:noFill/>
          </a:ln>
        </p:spPr>
        <p:txBody>
          <a:bodyPr spcFirstLastPara="1" wrap="square" lIns="91425" tIns="91425" rIns="91425" bIns="91425"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Rewrite each expression using the distributive property.</a:t>
            </a:r>
          </a:p>
          <a:p>
            <a:endParaRPr sz="2000" dirty="0">
              <a:latin typeface="Verdana" panose="020B0604030504040204" pitchFamily="34" charset="0"/>
              <a:ea typeface="Verdana" panose="020B0604030504040204" pitchFamily="34" charset="0"/>
              <a:cs typeface="Verdana" panose="020B0604030504040204" pitchFamily="34" charset="0"/>
            </a:endParaRPr>
          </a:p>
          <a:p>
            <a:pPr>
              <a:lnSpc>
                <a:spcPct val="115000"/>
              </a:lnSpc>
            </a:pPr>
            <a:r>
              <a:rPr lang="en-US" sz="2000" dirty="0">
                <a:latin typeface="Verdana" panose="020B0604030504040204" pitchFamily="34" charset="0"/>
                <a:ea typeface="Verdana" panose="020B0604030504040204" pitchFamily="34" charset="0"/>
                <a:cs typeface="Verdana" panose="020B0604030504040204" pitchFamily="34" charset="0"/>
                <a:sym typeface="Verdana"/>
              </a:rPr>
              <a:t> </a:t>
            </a:r>
            <a:endParaRPr sz="2000" dirty="0">
              <a:latin typeface="Verdana" panose="020B0604030504040204" pitchFamily="34" charset="0"/>
              <a:ea typeface="Verdana" panose="020B0604030504040204" pitchFamily="34" charset="0"/>
              <a:cs typeface="Verdana" panose="020B0604030504040204" pitchFamily="34" charset="0"/>
              <a:sym typeface="Verdana"/>
            </a:endParaRPr>
          </a:p>
          <a:p>
            <a:pPr marL="457200" indent="-355600">
              <a:lnSpc>
                <a:spcPct val="115000"/>
              </a:lnSpc>
              <a:spcBef>
                <a:spcPts val="1000"/>
              </a:spcBef>
              <a:buSzPts val="2000"/>
              <a:buFont typeface="Verdana"/>
              <a:buAutoNum type="arabicPeriod"/>
            </a:pPr>
            <a:endParaRPr sz="2000" dirty="0">
              <a:latin typeface="Verdana"/>
              <a:ea typeface="Verdana"/>
              <a:cs typeface="Verdana"/>
              <a:sym typeface="Verdana"/>
            </a:endParaRPr>
          </a:p>
          <a:p>
            <a:pPr>
              <a:lnSpc>
                <a:spcPct val="115000"/>
              </a:lnSpc>
              <a:spcBef>
                <a:spcPts val="1000"/>
              </a:spcBef>
            </a:pPr>
            <a:endParaRPr sz="1800" dirty="0">
              <a:latin typeface="Verdana"/>
              <a:ea typeface="Verdana"/>
              <a:cs typeface="Verdana"/>
              <a:sym typeface="Verdana"/>
            </a:endParaRPr>
          </a:p>
          <a:p>
            <a:pPr>
              <a:lnSpc>
                <a:spcPct val="115000"/>
              </a:lnSpc>
              <a:spcBef>
                <a:spcPts val="1000"/>
              </a:spcBef>
            </a:pPr>
            <a:endParaRPr sz="1800" dirty="0">
              <a:latin typeface="Verdana"/>
              <a:ea typeface="Verdana"/>
              <a:cs typeface="Verdana"/>
              <a:sym typeface="Verdana"/>
            </a:endParaRPr>
          </a:p>
          <a:p>
            <a:pPr>
              <a:lnSpc>
                <a:spcPct val="115000"/>
              </a:lnSpc>
              <a:spcBef>
                <a:spcPts val="1000"/>
              </a:spcBef>
            </a:pPr>
            <a:endParaRPr sz="1800" dirty="0">
              <a:latin typeface="Verdana"/>
              <a:ea typeface="Verdana"/>
              <a:cs typeface="Verdana"/>
              <a:sym typeface="Verdana"/>
            </a:endParaRPr>
          </a:p>
          <a:p>
            <a:pPr marL="457200" indent="-342900">
              <a:lnSpc>
                <a:spcPct val="115000"/>
              </a:lnSpc>
              <a:spcBef>
                <a:spcPts val="1000"/>
              </a:spcBef>
              <a:buSzPts val="1800"/>
              <a:buFont typeface="Verdana"/>
              <a:buAutoNum type="arabicPeriod"/>
            </a:pPr>
            <a:endParaRPr sz="1800" dirty="0">
              <a:latin typeface="Verdana"/>
              <a:ea typeface="Verdana"/>
              <a:cs typeface="Verdana"/>
              <a:sym typeface="Verdana"/>
            </a:endParaRPr>
          </a:p>
          <a:p>
            <a:pPr>
              <a:spcBef>
                <a:spcPts val="1000"/>
              </a:spcBef>
            </a:pPr>
            <a:endParaRPr dirty="0"/>
          </a:p>
        </p:txBody>
      </p:sp>
      <p:pic>
        <p:nvPicPr>
          <p:cNvPr id="5" name="Picture 4" descr="Text&#10;&#10;Description automatically generated">
            <a:extLst>
              <a:ext uri="{FF2B5EF4-FFF2-40B4-BE49-F238E27FC236}">
                <a16:creationId xmlns:a16="http://schemas.microsoft.com/office/drawing/2014/main" id="{19DBAAE1-7C30-C641-BD7B-E3E0E2773D60}"/>
              </a:ext>
            </a:extLst>
          </p:cNvPr>
          <p:cNvPicPr>
            <a:picLocks noChangeAspect="1"/>
          </p:cNvPicPr>
          <p:nvPr/>
        </p:nvPicPr>
        <p:blipFill rotWithShape="1">
          <a:blip r:embed="rId6"/>
          <a:srcRect t="7143"/>
          <a:stretch/>
        </p:blipFill>
        <p:spPr>
          <a:xfrm>
            <a:off x="1333481" y="2115431"/>
            <a:ext cx="3739215" cy="3141461"/>
          </a:xfrm>
          <a:prstGeom prst="rect">
            <a:avLst/>
          </a:prstGeom>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5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6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7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1583</TotalTime>
  <Words>1063</Words>
  <Application>Microsoft Macintosh PowerPoint</Application>
  <PresentationFormat>Widescreen</PresentationFormat>
  <Paragraphs>180</Paragraphs>
  <Slides>27</Slides>
  <Notes>27</Notes>
  <HiddenSlides>0</HiddenSlides>
  <MMClips>0</MMClips>
  <ScaleCrop>false</ScaleCrop>
  <HeadingPairs>
    <vt:vector size="6" baseType="variant">
      <vt:variant>
        <vt:lpstr>Fonts Used</vt:lpstr>
      </vt:variant>
      <vt:variant>
        <vt:i4>8</vt:i4>
      </vt:variant>
      <vt:variant>
        <vt:lpstr>Theme</vt:lpstr>
      </vt:variant>
      <vt:variant>
        <vt:i4>7</vt:i4>
      </vt:variant>
      <vt:variant>
        <vt:lpstr>Slide Titles</vt:lpstr>
      </vt:variant>
      <vt:variant>
        <vt:i4>27</vt:i4>
      </vt:variant>
    </vt:vector>
  </HeadingPairs>
  <TitlesOfParts>
    <vt:vector size="42" baseType="lpstr">
      <vt:lpstr>Verdana</vt:lpstr>
      <vt:lpstr>Courier New</vt:lpstr>
      <vt:lpstr>Arial</vt:lpstr>
      <vt:lpstr>Cambria</vt:lpstr>
      <vt:lpstr>Century Gothic</vt:lpstr>
      <vt:lpstr>Calibri</vt:lpstr>
      <vt:lpstr>Arial Black</vt:lpstr>
      <vt:lpstr>Cambria Math</vt:lpstr>
      <vt:lpstr>1_Office Theme</vt:lpstr>
      <vt:lpstr>2_Office Theme</vt:lpstr>
      <vt:lpstr>3_Office Theme</vt:lpstr>
      <vt:lpstr>4_Office Theme</vt:lpstr>
      <vt:lpstr>5_Office Theme</vt:lpstr>
      <vt:lpstr>6_Office Theme</vt:lpstr>
      <vt:lpstr>7_Office Theme</vt:lpstr>
      <vt:lpstr>8th Grade Math: Pre-Algebra  Unit 12, Lesson 1  Applying the Distributive Property with Variables  Volume 2, pg. 217  </vt:lpstr>
      <vt:lpstr>Benchmark</vt:lpstr>
      <vt:lpstr>PowerPoint Presentation</vt:lpstr>
      <vt:lpstr>PowerPoint Presentation</vt:lpstr>
      <vt:lpstr>Warm-Up</vt:lpstr>
      <vt:lpstr>PowerPoint Presentation</vt:lpstr>
      <vt:lpstr>PowerPoint Presentation</vt:lpstr>
      <vt:lpstr>Refresher</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8th Grade Math: Pre-Algebra  Unit 12, Lesson 1  Applying the Distributive Property with Variables  Volume 2, pg. 217</dc:title>
  <dc:creator>Karen McKenzie</dc:creator>
  <cp:lastModifiedBy>Diana Barnett</cp:lastModifiedBy>
  <cp:revision>13</cp:revision>
  <dcterms:created xsi:type="dcterms:W3CDTF">2015-03-17T18:51:18Z</dcterms:created>
  <dcterms:modified xsi:type="dcterms:W3CDTF">2023-02-09T16:10:01Z</dcterms:modified>
</cp:coreProperties>
</file>