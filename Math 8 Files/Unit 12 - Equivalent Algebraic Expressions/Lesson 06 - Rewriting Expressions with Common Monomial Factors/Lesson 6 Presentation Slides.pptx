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288" r:id="rId8"/>
    <p:sldId id="289" r:id="rId9"/>
    <p:sldId id="290" r:id="rId10"/>
    <p:sldId id="366" r:id="rId11"/>
    <p:sldId id="362" r:id="rId12"/>
    <p:sldId id="373" r:id="rId13"/>
    <p:sldId id="314" r:id="rId14"/>
    <p:sldId id="315" r:id="rId15"/>
    <p:sldId id="372" r:id="rId16"/>
    <p:sldId id="363" r:id="rId17"/>
    <p:sldId id="317" r:id="rId18"/>
    <p:sldId id="318" r:id="rId19"/>
    <p:sldId id="364" r:id="rId20"/>
    <p:sldId id="302" r:id="rId21"/>
    <p:sldId id="303" r:id="rId22"/>
    <p:sldId id="306" r:id="rId23"/>
    <p:sldId id="307" r:id="rId24"/>
  </p:sldIdLst>
  <p:sldSz cx="12192000" cy="6858000"/>
  <p:notesSz cx="6858000" cy="9144000"/>
  <p:embeddedFontLst>
    <p:embeddedFont>
      <p:font typeface="Arial Black" panose="020B0A04020102020204" pitchFamily="34" charset="0"/>
      <p:regular r:id="rId26"/>
      <p:bold r:id="rId27"/>
    </p:embeddedFont>
    <p:embeddedFont>
      <p:font typeface="Calibri" panose="020F0502020204030204" pitchFamily="34" charset="0"/>
      <p:regular r:id="rId28"/>
      <p:bold r:id="rId29"/>
      <p:italic r:id="rId30"/>
      <p:boldItalic r:id="rId31"/>
    </p:embeddedFont>
    <p:embeddedFont>
      <p:font typeface="Cambria Math" panose="02040503050406030204" pitchFamily="18" charset="0"/>
      <p:regular r:id="rId32"/>
    </p:embeddedFont>
    <p:embeddedFont>
      <p:font typeface="Century Gothic" panose="020B0502020202020204" pitchFamily="34" charset="0"/>
      <p:regular r:id="rId33"/>
      <p:bold r:id="rId34"/>
      <p:italic r:id="rId35"/>
      <p:boldItalic r:id="rId36"/>
    </p:embeddedFont>
    <p:embeddedFont>
      <p:font typeface="Verdana" panose="020B060403050404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2A67"/>
    <a:srgbClr val="822574"/>
    <a:srgbClr val="3465B0"/>
    <a:srgbClr val="DA4487"/>
    <a:srgbClr val="276C46"/>
    <a:srgbClr val="C9DF6F"/>
    <a:srgbClr val="417DBF"/>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8" autoAdjust="0"/>
    <p:restoredTop sz="94709"/>
  </p:normalViewPr>
  <p:slideViewPr>
    <p:cSldViewPr snapToGrid="0">
      <p:cViewPr varScale="1">
        <p:scale>
          <a:sx n="59" d="100"/>
          <a:sy n="59" d="100"/>
        </p:scale>
        <p:origin x="294"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055767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86618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80913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009405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6691778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8442154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6924062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416472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593925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0119224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8269253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070251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6208678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688852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3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0.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10.png"/><Relationship Id="rId4" Type="http://schemas.openxmlformats.org/officeDocument/2006/relationships/image" Target="../media/image31.png"/><Relationship Id="rId9"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12, Lesson 6</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Rewriting Expressions with Common Monomial Factors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242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9065" y="169610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96291" y="136525"/>
            <a:ext cx="7857559"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59925"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56905" y="1600200"/>
            <a:ext cx="1010378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MA.8.AR.1.3</a:t>
            </a:r>
          </a:p>
          <a:p>
            <a:pPr marL="460375" indent="0">
              <a:buNone/>
            </a:pPr>
            <a:r>
              <a:rPr lang="en-US" sz="2800" dirty="0">
                <a:latin typeface="Verdana" panose="020B0604030504040204" pitchFamily="34" charset="0"/>
                <a:ea typeface="Verdana" panose="020B0604030504040204" pitchFamily="34" charset="0"/>
                <a:cs typeface="Verdana" panose="020B0604030504040204" pitchFamily="34" charset="0"/>
              </a:rPr>
              <a:t>Rewrite the sum of two algebraic expressions having a common monomial factor as a common factor multiplied by the sum of two algebraic expressions.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48780" y="418867"/>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90597" y="270690"/>
            <a:ext cx="835548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045029" y="1596390"/>
            <a:ext cx="1011566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
        <p:nvSpPr>
          <p:cNvPr id="9" name="Google Shape;282;g104476d1465_1_17">
            <a:extLst>
              <a:ext uri="{FF2B5EF4-FFF2-40B4-BE49-F238E27FC236}">
                <a16:creationId xmlns:a16="http://schemas.microsoft.com/office/drawing/2014/main" id="{9782DAAD-92CA-B07D-D843-3C6025F924B7}"/>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pic>
        <p:nvPicPr>
          <p:cNvPr id="12" name="Google Shape;283;g104476d1465_1_17">
            <a:extLst>
              <a:ext uri="{FF2B5EF4-FFF2-40B4-BE49-F238E27FC236}">
                <a16:creationId xmlns:a16="http://schemas.microsoft.com/office/drawing/2014/main" id="{0B645C0A-5E29-E9BE-01A3-03A88353C1E4}"/>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543792" y="82477"/>
            <a:ext cx="82478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54587"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45029" y="1498651"/>
            <a:ext cx="1011566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0375" indent="-460375">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rewrite the sum of two algebraic expressions having a common monomial factor as a common factor multiplied by the sum of two algebraic expressions. </a:t>
            </a:r>
            <a:br>
              <a:rPr lang="en-US" sz="2800" dirty="0"/>
            </a:br>
            <a:r>
              <a:rPr lang="en-US" sz="2800" dirty="0"/>
              <a:t> </a:t>
            </a:r>
          </a:p>
        </p:txBody>
      </p:sp>
      <p:sp>
        <p:nvSpPr>
          <p:cNvPr id="8" name="Google Shape;282;g104476d1465_1_17">
            <a:extLst>
              <a:ext uri="{FF2B5EF4-FFF2-40B4-BE49-F238E27FC236}">
                <a16:creationId xmlns:a16="http://schemas.microsoft.com/office/drawing/2014/main" id="{52776ECB-BF28-812C-6D7D-3E703945B0C0}"/>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ED245141-C861-3F40-B6CF-DFB26B1AE093}"/>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965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256025"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812600"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5F9481CB-DF5C-C511-3509-765EB4CE228D}"/>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DB9AEB4B-0B2E-05E3-480C-F3AAA7138D64}"/>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91294" y="60325"/>
            <a:ext cx="96668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12.6.1 Warm-Up: Matching Solutions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21488" y="3495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056904" y="1244649"/>
                <a:ext cx="10078734" cy="2123658"/>
              </a:xfrm>
              <a:prstGeom prst="rect">
                <a:avLst/>
              </a:prstGeom>
              <a:noFill/>
            </p:spPr>
            <p:txBody>
              <a:bodyPr wrap="square" rtlCol="0">
                <a:spAutoFit/>
              </a:bodyPr>
              <a:lstStyle/>
              <a:p>
                <a:pPr marL="460375" indent="-4445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Consider the unfinished equation </a:t>
                </a:r>
              </a:p>
              <a:p>
                <a:pPr indent="460375"/>
                <a14:m>
                  <m:oMath xmlns:m="http://schemas.openxmlformats.org/officeDocument/2006/math">
                    <m:r>
                      <a:rPr lang="en-US" sz="2200" i="1">
                        <a:latin typeface="Cambria Math" panose="02040503050406030204" pitchFamily="18" charset="0"/>
                      </a:rPr>
                      <m:t>12</m:t>
                    </m:r>
                    <m:d>
                      <m:dPr>
                        <m:ctrlPr>
                          <a:rPr lang="en-US" sz="2200" i="1">
                            <a:latin typeface="Cambria Math" panose="02040503050406030204" pitchFamily="18" charset="0"/>
                          </a:rPr>
                        </m:ctrlPr>
                      </m:dPr>
                      <m:e>
                        <m:r>
                          <a:rPr lang="en-US" sz="2200" i="1">
                            <a:latin typeface="Cambria Math" panose="02040503050406030204" pitchFamily="18" charset="0"/>
                          </a:rPr>
                          <m:t>𝑥</m:t>
                        </m:r>
                        <m:r>
                          <a:rPr lang="en-US" sz="2200" i="1">
                            <a:latin typeface="Cambria Math" panose="02040503050406030204" pitchFamily="18" charset="0"/>
                          </a:rPr>
                          <m:t>−3</m:t>
                        </m:r>
                      </m:e>
                    </m:d>
                    <m:r>
                      <a:rPr lang="en-US" sz="2200" i="1">
                        <a:latin typeface="Cambria Math" panose="02040503050406030204" pitchFamily="18" charset="0"/>
                      </a:rPr>
                      <m:t>+18= _____________</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indent="460375"/>
                <a:endParaRPr lang="en-US" sz="22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Match the following expressions with the number of solutions the equation would have if that expression were on the right side of the equation.</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056904" y="1244649"/>
                <a:ext cx="10078734" cy="2123658"/>
              </a:xfrm>
              <a:prstGeom prst="rect">
                <a:avLst/>
              </a:prstGeom>
              <a:blipFill>
                <a:blip r:embed="rId4"/>
                <a:stretch>
                  <a:fillRect l="-605" t="-2006" b="-5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9927FF9-E8C2-0F4B-A45C-CF6CD4B80DAE}"/>
                  </a:ext>
                </a:extLst>
              </p:cNvPr>
              <p:cNvGraphicFramePr>
                <a:graphicFrameLocks noGrp="1"/>
              </p:cNvGraphicFramePr>
              <p:nvPr>
                <p:extLst>
                  <p:ext uri="{D42A27DB-BD31-4B8C-83A1-F6EECF244321}">
                    <p14:modId xmlns:p14="http://schemas.microsoft.com/office/powerpoint/2010/main" val="4004998794"/>
                  </p:ext>
                </p:extLst>
              </p:nvPr>
            </p:nvGraphicFramePr>
            <p:xfrm>
              <a:off x="2664694" y="3408428"/>
              <a:ext cx="6106256" cy="3352800"/>
            </p:xfrm>
            <a:graphic>
              <a:graphicData uri="http://schemas.openxmlformats.org/drawingml/2006/table">
                <a:tbl>
                  <a:tblPr firstRow="1" firstCol="1" bandRow="1">
                    <a:tableStyleId>{A91F0D33-8C57-4600-99A7-42BC86742BE1}</a:tableStyleId>
                  </a:tblPr>
                  <a:tblGrid>
                    <a:gridCol w="2032754">
                      <a:extLst>
                        <a:ext uri="{9D8B030D-6E8A-4147-A177-3AD203B41FA5}">
                          <a16:colId xmlns:a16="http://schemas.microsoft.com/office/drawing/2014/main" val="1795538414"/>
                        </a:ext>
                      </a:extLst>
                    </a:gridCol>
                    <a:gridCol w="4073502">
                      <a:extLst>
                        <a:ext uri="{9D8B030D-6E8A-4147-A177-3AD203B41FA5}">
                          <a16:colId xmlns:a16="http://schemas.microsoft.com/office/drawing/2014/main" val="727815937"/>
                        </a:ext>
                      </a:extLst>
                    </a:gridCol>
                  </a:tblGrid>
                  <a:tr h="586284">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Solutions to the Equation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26066222"/>
                      </a:ext>
                    </a:extLst>
                  </a:tr>
                  <a:tr h="879427">
                    <a:tc>
                      <a:txBody>
                        <a:bodyPr/>
                        <a:lstStyle/>
                        <a:p>
                          <a:pPr marL="0" marR="0" algn="ctr">
                            <a:spcBef>
                              <a:spcPts val="0"/>
                            </a:spcBef>
                            <a:spcAft>
                              <a:spcPts val="0"/>
                            </a:spcAft>
                          </a:pPr>
                          <a:r>
                            <a:rPr lang="en-US" sz="2000" dirty="0">
                              <a:effectLst/>
                            </a:rPr>
                            <a:t> </a:t>
                          </a:r>
                        </a:p>
                        <a:p>
                          <a:pPr marL="0" marR="0" algn="ctr">
                            <a:spcBef>
                              <a:spcPts val="0"/>
                            </a:spcBef>
                            <a:spcAft>
                              <a:spcPts val="0"/>
                            </a:spcAft>
                          </a:pPr>
                          <a14:m>
                            <m:oMath xmlns:m="http://schemas.openxmlformats.org/officeDocument/2006/math">
                              <m:r>
                                <a:rPr lang="en-US" sz="2000">
                                  <a:effectLst/>
                                  <a:latin typeface="Cambria Math" panose="02040503050406030204" pitchFamily="18" charset="0"/>
                                </a:rPr>
                                <m:t>6(2</m:t>
                              </m:r>
                              <m:r>
                                <a:rPr lang="en-US" sz="2000">
                                  <a:effectLst/>
                                  <a:latin typeface="Cambria Math" panose="02040503050406030204" pitchFamily="18" charset="0"/>
                                </a:rPr>
                                <m:t>𝑥</m:t>
                              </m:r>
                              <m:r>
                                <a:rPr lang="en-US" sz="2000">
                                  <a:effectLst/>
                                  <a:latin typeface="Cambria Math" panose="02040503050406030204" pitchFamily="18" charset="0"/>
                                </a:rPr>
                                <m:t>−3)</m:t>
                              </m:r>
                            </m:oMath>
                          </a14:m>
                          <a:r>
                            <a:rPr lang="en-US" sz="2000" dirty="0">
                              <a:effectLst/>
                            </a:rPr>
                            <a:t> </a:t>
                          </a:r>
                        </a:p>
                        <a:p>
                          <a:pPr marL="0" marR="0" algn="ctr">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dirty="0">
                              <a:effectLst/>
                            </a:rPr>
                            <a:t>one solution</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2071795"/>
                      </a:ext>
                    </a:extLst>
                  </a:tr>
                  <a:tr h="879427">
                    <a:tc>
                      <a:txBody>
                        <a:bodyPr/>
                        <a:lstStyle/>
                        <a:p>
                          <a:pPr marL="0" marR="0" algn="ctr">
                            <a:spcBef>
                              <a:spcPts val="0"/>
                            </a:spcBef>
                            <a:spcAft>
                              <a:spcPts val="0"/>
                            </a:spcAft>
                          </a:pPr>
                          <a:r>
                            <a:rPr lang="en-US" sz="2000" dirty="0">
                              <a:effectLst/>
                            </a:rPr>
                            <a:t> </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4(3</m:t>
                                </m:r>
                                <m:r>
                                  <a:rPr lang="en-US" sz="2000">
                                    <a:effectLst/>
                                    <a:latin typeface="Cambria Math" panose="02040503050406030204" pitchFamily="18" charset="0"/>
                                  </a:rPr>
                                  <m:t>𝑥</m:t>
                                </m:r>
                                <m:r>
                                  <a:rPr lang="en-US" sz="2000">
                                    <a:effectLst/>
                                    <a:latin typeface="Cambria Math" panose="02040503050406030204" pitchFamily="18" charset="0"/>
                                  </a:rPr>
                                  <m:t>−3)</m:t>
                                </m:r>
                              </m:oMath>
                            </m:oMathPara>
                          </a14:m>
                          <a:endParaRPr lang="en-US" sz="2000" dirty="0">
                            <a:effectLst/>
                          </a:endParaRPr>
                        </a:p>
                        <a:p>
                          <a:pPr marL="0" marR="0" algn="ctr">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dirty="0">
                              <a:effectLst/>
                            </a:rPr>
                            <a:t>no solutions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498863"/>
                      </a:ext>
                    </a:extLst>
                  </a:tr>
                  <a:tr h="879427">
                    <a:tc>
                      <a:txBody>
                        <a:bodyPr/>
                        <a:lstStyle/>
                        <a:p>
                          <a:pPr marL="0" marR="0" algn="ctr">
                            <a:spcBef>
                              <a:spcPts val="0"/>
                            </a:spcBef>
                            <a:spcAft>
                              <a:spcPts val="0"/>
                            </a:spcAft>
                          </a:pPr>
                          <a:r>
                            <a:rPr lang="en-US" sz="2000" dirty="0">
                              <a:effectLst/>
                            </a:rPr>
                            <a:t> </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4(2</m:t>
                                </m:r>
                                <m:r>
                                  <a:rPr lang="en-US" sz="2000">
                                    <a:effectLst/>
                                    <a:latin typeface="Cambria Math" panose="02040503050406030204" pitchFamily="18" charset="0"/>
                                  </a:rPr>
                                  <m:t>𝑥</m:t>
                                </m:r>
                                <m:r>
                                  <a:rPr lang="en-US" sz="2000">
                                    <a:effectLst/>
                                    <a:latin typeface="Cambria Math" panose="02040503050406030204" pitchFamily="18" charset="0"/>
                                  </a:rPr>
                                  <m:t>−3)</m:t>
                                </m:r>
                              </m:oMath>
                            </m:oMathPara>
                          </a14:m>
                          <a:endParaRPr lang="en-US" sz="2000" dirty="0">
                            <a:effectLst/>
                          </a:endParaRPr>
                        </a:p>
                        <a:p>
                          <a:pPr marL="0" marR="0" algn="ctr">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dirty="0">
                              <a:effectLst/>
                            </a:rPr>
                            <a:t>infinitely many solutions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686836"/>
                      </a:ext>
                    </a:extLst>
                  </a:tr>
                </a:tbl>
              </a:graphicData>
            </a:graphic>
          </p:graphicFrame>
        </mc:Choice>
        <mc:Fallback xmlns="">
          <p:graphicFrame>
            <p:nvGraphicFramePr>
              <p:cNvPr id="3" name="Table 2">
                <a:extLst>
                  <a:ext uri="{FF2B5EF4-FFF2-40B4-BE49-F238E27FC236}">
                    <a16:creationId xmlns:a16="http://schemas.microsoft.com/office/drawing/2014/main" id="{B9927FF9-E8C2-0F4B-A45C-CF6CD4B80DAE}"/>
                  </a:ext>
                </a:extLst>
              </p:cNvPr>
              <p:cNvGraphicFramePr>
                <a:graphicFrameLocks noGrp="1"/>
              </p:cNvGraphicFramePr>
              <p:nvPr>
                <p:extLst>
                  <p:ext uri="{D42A27DB-BD31-4B8C-83A1-F6EECF244321}">
                    <p14:modId xmlns:p14="http://schemas.microsoft.com/office/powerpoint/2010/main" val="4004998794"/>
                  </p:ext>
                </p:extLst>
              </p:nvPr>
            </p:nvGraphicFramePr>
            <p:xfrm>
              <a:off x="2664694" y="3408428"/>
              <a:ext cx="6106256" cy="3352800"/>
            </p:xfrm>
            <a:graphic>
              <a:graphicData uri="http://schemas.openxmlformats.org/drawingml/2006/table">
                <a:tbl>
                  <a:tblPr firstRow="1" firstCol="1" bandRow="1">
                    <a:tableStyleId>{A91F0D33-8C57-4600-99A7-42BC86742BE1}</a:tableStyleId>
                  </a:tblPr>
                  <a:tblGrid>
                    <a:gridCol w="2032754">
                      <a:extLst>
                        <a:ext uri="{9D8B030D-6E8A-4147-A177-3AD203B41FA5}">
                          <a16:colId xmlns:a16="http://schemas.microsoft.com/office/drawing/2014/main" val="1795538414"/>
                        </a:ext>
                      </a:extLst>
                    </a:gridCol>
                    <a:gridCol w="4073502">
                      <a:extLst>
                        <a:ext uri="{9D8B030D-6E8A-4147-A177-3AD203B41FA5}">
                          <a16:colId xmlns:a16="http://schemas.microsoft.com/office/drawing/2014/main" val="727815937"/>
                        </a:ext>
                      </a:extLst>
                    </a:gridCol>
                  </a:tblGrid>
                  <a:tr h="609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Solutions to the Equation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26066222"/>
                      </a:ext>
                    </a:extLst>
                  </a:tr>
                  <a:tr h="9144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9" t="-75333" r="-200599" b="-202000"/>
                          </a:stretch>
                        </a:blipFill>
                      </a:tcPr>
                    </a:tc>
                    <a:tc>
                      <a:txBody>
                        <a:bodyPr/>
                        <a:lstStyle/>
                        <a:p>
                          <a:pPr marL="0" marR="0" algn="ctr">
                            <a:spcBef>
                              <a:spcPts val="0"/>
                            </a:spcBef>
                            <a:spcAft>
                              <a:spcPts val="1000"/>
                            </a:spcAft>
                          </a:pPr>
                          <a:r>
                            <a:rPr lang="en-US" sz="2000" dirty="0">
                              <a:effectLst/>
                            </a:rPr>
                            <a:t>one solution</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2071795"/>
                      </a:ext>
                    </a:extLst>
                  </a:tr>
                  <a:tr h="9144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9" t="-174172" r="-200599" b="-100662"/>
                          </a:stretch>
                        </a:blipFill>
                      </a:tcPr>
                    </a:tc>
                    <a:tc>
                      <a:txBody>
                        <a:bodyPr/>
                        <a:lstStyle/>
                        <a:p>
                          <a:pPr marL="0" marR="0" algn="ctr">
                            <a:spcBef>
                              <a:spcPts val="0"/>
                            </a:spcBef>
                            <a:spcAft>
                              <a:spcPts val="1000"/>
                            </a:spcAft>
                          </a:pPr>
                          <a:r>
                            <a:rPr lang="en-US" sz="2000" dirty="0">
                              <a:effectLst/>
                            </a:rPr>
                            <a:t>no solutions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498863"/>
                      </a:ext>
                    </a:extLst>
                  </a:tr>
                  <a:tr h="9144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9" t="-276000" r="-200599" b="-1333"/>
                          </a:stretch>
                        </a:blipFill>
                      </a:tcPr>
                    </a:tc>
                    <a:tc>
                      <a:txBody>
                        <a:bodyPr/>
                        <a:lstStyle/>
                        <a:p>
                          <a:pPr marL="0" marR="0" algn="ctr">
                            <a:spcBef>
                              <a:spcPts val="0"/>
                            </a:spcBef>
                            <a:spcAft>
                              <a:spcPts val="1000"/>
                            </a:spcAft>
                          </a:pPr>
                          <a:r>
                            <a:rPr lang="en-US" sz="2000" dirty="0">
                              <a:effectLst/>
                            </a:rPr>
                            <a:t>infinitely many solutions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686836"/>
                      </a:ext>
                    </a:extLst>
                  </a:tr>
                </a:tbl>
              </a:graphicData>
            </a:graphic>
          </p:graphicFrame>
        </mc:Fallback>
      </mc:AlternateContent>
      <p:sp>
        <p:nvSpPr>
          <p:cNvPr id="9" name="Google Shape;282;g104476d1465_1_17">
            <a:extLst>
              <a:ext uri="{FF2B5EF4-FFF2-40B4-BE49-F238E27FC236}">
                <a16:creationId xmlns:a16="http://schemas.microsoft.com/office/drawing/2014/main" id="{F16E1445-272A-428C-A2AF-5DBF97905CA9}"/>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989923B1-F25E-C2B3-98EE-F287D4278F1B}"/>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033152" y="520394"/>
            <a:ext cx="10102485" cy="830997"/>
          </a:xfrm>
          <a:prstGeom prst="rect">
            <a:avLst/>
          </a:prstGeom>
          <a:noFill/>
        </p:spPr>
        <p:txBody>
          <a:bodyPr wrap="square" rtlCol="0">
            <a:spAutoFit/>
          </a:bodyPr>
          <a:lstStyle/>
          <a:p>
            <a:pPr marL="914400"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how you determined which expression would result in an equation with infinitely many solutions.</a:t>
            </a:r>
          </a:p>
        </p:txBody>
      </p:sp>
      <p:sp>
        <p:nvSpPr>
          <p:cNvPr id="6" name="Google Shape;282;g104476d1465_1_17">
            <a:extLst>
              <a:ext uri="{FF2B5EF4-FFF2-40B4-BE49-F238E27FC236}">
                <a16:creationId xmlns:a16="http://schemas.microsoft.com/office/drawing/2014/main" id="{11115218-6516-AFFF-7C1C-9CEED628349D}"/>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pic>
        <p:nvPicPr>
          <p:cNvPr id="7" name="Google Shape;283;g104476d1465_1_17">
            <a:extLst>
              <a:ext uri="{FF2B5EF4-FFF2-40B4-BE49-F238E27FC236}">
                <a16:creationId xmlns:a16="http://schemas.microsoft.com/office/drawing/2014/main" id="{BB437875-A06B-8EA5-81F7-87BB365120C2}"/>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84732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3216368"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3A0D6E0E-C5C9-ACED-2BD4-742338E7658E}"/>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243</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BBA2763D-90B2-F47D-26ED-75CFA31BA2A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59160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3954"/>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515473" y="-85979"/>
            <a:ext cx="985273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12.6.2 Guided Instruction: Factoring Monomials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768174" y="20322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056904" y="1386025"/>
                <a:ext cx="10103786" cy="4901983"/>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While the area model is helpful for visually representing the factors of an expression, it is not the only strategy.</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Area models normally are used to represent multiplication but can be used in the reverse to find the factors of an expression. Similarly, the distributive property is normally used to multiply expressions but the reverse, division, can be used to find the factors multiplied.</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Consider the expression </a:t>
                </a:r>
                <a14:m>
                  <m:oMath xmlns:m="http://schemas.openxmlformats.org/officeDocument/2006/math">
                    <m:r>
                      <a:rPr lang="en-US" sz="2400" i="1">
                        <a:latin typeface="Cambria Math" panose="02040503050406030204" pitchFamily="18" charset="0"/>
                      </a:rPr>
                      <m:t>6</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5</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2</m:t>
                        </m:r>
                        <m:r>
                          <a:rPr lang="en-US" sz="2400" i="1">
                            <a:latin typeface="Cambria Math" panose="02040503050406030204" pitchFamily="18" charset="0"/>
                          </a:rPr>
                          <m:t>𝑥</m:t>
                        </m:r>
                      </m:e>
                      <m:sup>
                        <m:r>
                          <a:rPr lang="en-US" sz="2400" i="1">
                            <a:latin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greatest common factor of </a:t>
                </a:r>
                <a14:m>
                  <m:oMath xmlns:m="http://schemas.openxmlformats.org/officeDocument/2006/math">
                    <m:r>
                      <a:rPr lang="en-US" sz="2400" i="1">
                        <a:latin typeface="Cambria Math" panose="02040503050406030204" pitchFamily="18" charset="0"/>
                      </a:rPr>
                      <m:t>6</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5</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2</m:t>
                        </m:r>
                        <m:r>
                          <a:rPr lang="en-US" sz="2400" i="1">
                            <a:latin typeface="Cambria Math" panose="02040503050406030204" pitchFamily="18" charset="0"/>
                          </a:rPr>
                          <m:t>𝑥</m:t>
                        </m:r>
                      </m:e>
                      <m:sup>
                        <m:r>
                          <a:rPr lang="en-US" sz="2400" i="1">
                            <a:latin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1056904" y="1386025"/>
                <a:ext cx="10103786" cy="4901983"/>
              </a:xfrm>
              <a:prstGeom prst="rect">
                <a:avLst/>
              </a:prstGeom>
              <a:blipFill>
                <a:blip r:embed="rId4"/>
                <a:stretch>
                  <a:fillRect l="-905" t="-995"/>
                </a:stretch>
              </a:blipFill>
            </p:spPr>
            <p:txBody>
              <a:bodyPr/>
              <a:lstStyle/>
              <a:p>
                <a:r>
                  <a:rPr lang="en-US">
                    <a:noFill/>
                  </a:rPr>
                  <a:t> </a:t>
                </a:r>
              </a:p>
            </p:txBody>
          </p:sp>
        </mc:Fallback>
      </mc:AlternateContent>
      <p:sp>
        <p:nvSpPr>
          <p:cNvPr id="8" name="Google Shape;282;g104476d1465_1_17">
            <a:extLst>
              <a:ext uri="{FF2B5EF4-FFF2-40B4-BE49-F238E27FC236}">
                <a16:creationId xmlns:a16="http://schemas.microsoft.com/office/drawing/2014/main" id="{D2B7FE4B-3093-BD5B-2AC4-0790B6A408B2}"/>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243</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CA39B260-BF96-F3AF-1B9C-7C57B5DCB5D2}"/>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11567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1039660" y="520394"/>
                <a:ext cx="10108504" cy="520257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Recall the quotient of powers law of exponents.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𝑎</m:t>
                              </m:r>
                            </m:e>
                            <m:sup>
                              <m:r>
                                <a:rPr lang="en-US" sz="2000" i="1">
                                  <a:latin typeface="Cambria Math" panose="02040503050406030204" pitchFamily="18" charset="0"/>
                                  <a:ea typeface="Cambria Math" panose="02040503050406030204" pitchFamily="18" charset="0"/>
                                </a:rPr>
                                <m:t>𝑚</m:t>
                              </m:r>
                            </m:sup>
                          </m:sSup>
                        </m:num>
                        <m:den>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𝑎</m:t>
                              </m:r>
                            </m:e>
                            <m:sup>
                              <m:r>
                                <a:rPr lang="en-US" sz="2000" i="1">
                                  <a:latin typeface="Cambria Math" panose="02040503050406030204" pitchFamily="18" charset="0"/>
                                  <a:ea typeface="Cambria Math" panose="02040503050406030204" pitchFamily="18" charset="0"/>
                                </a:rPr>
                                <m:t>𝑛</m:t>
                              </m:r>
                            </m:sup>
                          </m:sSup>
                        </m:den>
                      </m:f>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𝑎</m:t>
                          </m:r>
                        </m:e>
                        <m:sup>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𝑛</m:t>
                          </m:r>
                        </m:sup>
                      </m:sSup>
                    </m:oMath>
                  </m:oMathPara>
                </a14:m>
                <a:endParaRPr lang="en-US" sz="2000" dirty="0">
                  <a:latin typeface="Cambria Math" panose="02040503050406030204" pitchFamily="18" charset="0"/>
                  <a:ea typeface="Cambria Math" panose="02040503050406030204" pitchFamily="18" charset="0"/>
                </a:endParaRPr>
              </a:p>
              <a:p>
                <a:endParaRPr lang="en-US" sz="2000" dirty="0">
                  <a:latin typeface="Cambria Math" panose="02040503050406030204" pitchFamily="18" charset="0"/>
                  <a:ea typeface="Cambria Math" panose="02040503050406030204" pitchFamily="18" charset="0"/>
                </a:endParaRPr>
              </a:p>
              <a:p>
                <a:pPr marL="914400" indent="-45402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Divide both terms in the expression by the </a:t>
                </a:r>
                <a:r>
                  <a:rPr lang="en-US" sz="2000" dirty="0">
                    <a:solidFill>
                      <a:srgbClr val="00B050"/>
                    </a:solidFill>
                    <a:latin typeface="Verdana" panose="020B0604030504040204" pitchFamily="34" charset="0"/>
                    <a:ea typeface="Verdana" panose="020B0604030504040204" pitchFamily="34" charset="0"/>
                    <a:cs typeface="Verdana" panose="020B0604030504040204" pitchFamily="34" charset="0"/>
                  </a:rPr>
                  <a:t>GCF</a:t>
                </a:r>
                <a:r>
                  <a:rPr lang="en-US" sz="2000" dirty="0">
                    <a:latin typeface="Verdana" panose="020B0604030504040204" pitchFamily="34" charset="0"/>
                    <a:ea typeface="Verdana" panose="020B0604030504040204" pitchFamily="34" charset="0"/>
                    <a:cs typeface="Verdana" panose="020B0604030504040204" pitchFamily="34" charset="0"/>
                  </a:rPr>
                  <a:t> determined in Part A.</a:t>
                </a:r>
              </a:p>
              <a:p>
                <a:endParaRPr lang="en-US" sz="2400" dirty="0">
                  <a:latin typeface="Cambria Math" panose="02040503050406030204" pitchFamily="18" charset="0"/>
                  <a:ea typeface="Cambria Math" panose="02040503050406030204" pitchFamily="18" charset="0"/>
                </a:endParaRPr>
              </a:p>
              <a:p>
                <a:pPr marL="1381125">
                  <a:tabLst>
                    <a:tab pos="4572000" algn="l"/>
                  </a:tabLst>
                </a:pP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6</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5</m:t>
                            </m:r>
                          </m:sup>
                        </m:sSup>
                      </m:num>
                      <m:den>
                        <m:r>
                          <a:rPr lang="en-US" sz="2400" i="1">
                            <a:latin typeface="Cambria Math" panose="02040503050406030204" pitchFamily="18" charset="0"/>
                            <a:ea typeface="Cambria Math" panose="02040503050406030204" pitchFamily="18" charset="0"/>
                          </a:rPr>
                          <m:t>             </m:t>
                        </m:r>
                      </m:den>
                    </m:f>
                    <m:r>
                      <a:rPr lang="en-US" sz="2400" i="1">
                        <a:latin typeface="Cambria Math" panose="02040503050406030204" pitchFamily="18" charset="0"/>
                        <a:ea typeface="Cambria Math" panose="02040503050406030204" pitchFamily="18" charset="0"/>
                      </a:rPr>
                      <m:t>=</m:t>
                    </m:r>
                  </m:oMath>
                </a14:m>
                <a:r>
                  <a:rPr lang="en-US" sz="2400" dirty="0">
                    <a:latin typeface="Cambria Math" panose="02040503050406030204" pitchFamily="18" charset="0"/>
                    <a:ea typeface="Cambria Math" panose="02040503050406030204" pitchFamily="18" charset="0"/>
                  </a:rPr>
                  <a:t> </a:t>
                </a:r>
                <a:r>
                  <a:rPr lang="en-US" sz="2400" dirty="0"/>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2</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num>
                      <m:den>
                        <m:r>
                          <a:rPr lang="en-US" sz="2400" i="1">
                            <a:latin typeface="Cambria Math" panose="02040503050406030204" pitchFamily="18" charset="0"/>
                          </a:rPr>
                          <m:t>             </m:t>
                        </m:r>
                      </m:den>
                    </m:f>
                    <m:r>
                      <a:rPr lang="en-US" sz="2400" i="1">
                        <a:latin typeface="Cambria Math" panose="02040503050406030204" pitchFamily="18" charset="0"/>
                      </a:rPr>
                      <m:t>=</m:t>
                    </m:r>
                  </m:oMath>
                </a14:m>
                <a:r>
                  <a:rPr lang="en-US" sz="2400" dirty="0"/>
                  <a:t> </a:t>
                </a:r>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1381125"/>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1381125"/>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914400" indent="-454025">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Rewrite the expression using the distributive property.</a:t>
                </a:r>
              </a:p>
              <a:p>
                <a:pPr marL="2413000" indent="-1952625">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81125" indent="-920750"/>
                <a:r>
                  <a:rPr lang="en-US" sz="2400" dirty="0">
                    <a:latin typeface="Cambria Math" panose="02040503050406030204" pitchFamily="18" charset="0"/>
                    <a:ea typeface="Cambria Math" panose="02040503050406030204" pitchFamily="18" charset="0"/>
                    <a:cs typeface="Verdana" panose="020B0604030504040204" pitchFamily="34" charset="0"/>
                  </a:rPr>
                  <a:t>                                        (             +              )</a:t>
                </a:r>
              </a:p>
              <a:p>
                <a:pPr marL="1381125" indent="-920750"/>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1381125" indent="-920750"/>
                <a:endParaRPr lang="en-US" sz="2400" dirty="0">
                  <a:latin typeface="Cambria Math" panose="02040503050406030204" pitchFamily="18" charset="0"/>
                  <a:ea typeface="Cambria Math" panose="02040503050406030204" pitchFamily="18"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039660" y="520394"/>
                <a:ext cx="10108504" cy="5202578"/>
              </a:xfrm>
              <a:prstGeom prst="rect">
                <a:avLst/>
              </a:prstGeom>
              <a:blipFill>
                <a:blip r:embed="rId3"/>
                <a:stretch>
                  <a:fillRect l="-663" t="-585"/>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3BE37C8C-E68A-D54D-8B41-217D62009575}"/>
              </a:ext>
            </a:extLst>
          </p:cNvPr>
          <p:cNvSpPr/>
          <p:nvPr/>
        </p:nvSpPr>
        <p:spPr>
          <a:xfrm>
            <a:off x="2433586" y="3121683"/>
            <a:ext cx="698500" cy="457200"/>
          </a:xfrm>
          <a:prstGeom prst="rect">
            <a:avLst/>
          </a:prstGeom>
          <a:noFill/>
          <a:ln>
            <a:solidFill>
              <a:srgbClr val="00B05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Rectangle 6">
            <a:extLst>
              <a:ext uri="{FF2B5EF4-FFF2-40B4-BE49-F238E27FC236}">
                <a16:creationId xmlns:a16="http://schemas.microsoft.com/office/drawing/2014/main" id="{2760D311-20F9-AF4C-BFBE-98701707D973}"/>
              </a:ext>
            </a:extLst>
          </p:cNvPr>
          <p:cNvSpPr/>
          <p:nvPr/>
        </p:nvSpPr>
        <p:spPr>
          <a:xfrm>
            <a:off x="3532739" y="2792285"/>
            <a:ext cx="698500" cy="457200"/>
          </a:xfrm>
          <a:prstGeom prst="rect">
            <a:avLst/>
          </a:prstGeom>
          <a:noFill/>
          <a:ln>
            <a:solidFill>
              <a:srgbClr val="7030A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7">
            <a:extLst>
              <a:ext uri="{FF2B5EF4-FFF2-40B4-BE49-F238E27FC236}">
                <a16:creationId xmlns:a16="http://schemas.microsoft.com/office/drawing/2014/main" id="{11AA0DF9-9BF5-1348-BD6F-ACC186432435}"/>
              </a:ext>
            </a:extLst>
          </p:cNvPr>
          <p:cNvSpPr/>
          <p:nvPr/>
        </p:nvSpPr>
        <p:spPr>
          <a:xfrm>
            <a:off x="6790875" y="2802460"/>
            <a:ext cx="698500" cy="457200"/>
          </a:xfrm>
          <a:prstGeom prst="rect">
            <a:avLst/>
          </a:prstGeom>
          <a:noFill/>
          <a:ln>
            <a:solidFill>
              <a:schemeClr val="accent6">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8">
            <a:extLst>
              <a:ext uri="{FF2B5EF4-FFF2-40B4-BE49-F238E27FC236}">
                <a16:creationId xmlns:a16="http://schemas.microsoft.com/office/drawing/2014/main" id="{B358746C-0444-CF48-9FB0-DD966F7C3C32}"/>
              </a:ext>
            </a:extLst>
          </p:cNvPr>
          <p:cNvSpPr/>
          <p:nvPr/>
        </p:nvSpPr>
        <p:spPr>
          <a:xfrm>
            <a:off x="5625165" y="3171664"/>
            <a:ext cx="698500" cy="457200"/>
          </a:xfrm>
          <a:prstGeom prst="rect">
            <a:avLst/>
          </a:prstGeom>
          <a:noFill/>
          <a:ln>
            <a:solidFill>
              <a:srgbClr val="00B05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id="{BA4D84C5-E5D9-1C43-B4E9-B151B87DD897}"/>
              </a:ext>
            </a:extLst>
          </p:cNvPr>
          <p:cNvSpPr/>
          <p:nvPr/>
        </p:nvSpPr>
        <p:spPr>
          <a:xfrm>
            <a:off x="4411119" y="4505001"/>
            <a:ext cx="698500" cy="457200"/>
          </a:xfrm>
          <a:prstGeom prst="rect">
            <a:avLst/>
          </a:prstGeom>
          <a:noFill/>
          <a:ln>
            <a:solidFill>
              <a:srgbClr val="00B05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id="{C8CAD7E3-77B3-6346-90AB-0B4F32012D34}"/>
              </a:ext>
            </a:extLst>
          </p:cNvPr>
          <p:cNvSpPr/>
          <p:nvPr/>
        </p:nvSpPr>
        <p:spPr>
          <a:xfrm>
            <a:off x="5509967" y="4506096"/>
            <a:ext cx="698500" cy="457200"/>
          </a:xfrm>
          <a:prstGeom prst="rect">
            <a:avLst/>
          </a:prstGeom>
          <a:noFill/>
          <a:ln>
            <a:solidFill>
              <a:srgbClr val="7030A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ectangle 12">
            <a:extLst>
              <a:ext uri="{FF2B5EF4-FFF2-40B4-BE49-F238E27FC236}">
                <a16:creationId xmlns:a16="http://schemas.microsoft.com/office/drawing/2014/main" id="{396BEFFD-9744-1C4A-A39A-38A915A988D4}"/>
              </a:ext>
            </a:extLst>
          </p:cNvPr>
          <p:cNvSpPr/>
          <p:nvPr/>
        </p:nvSpPr>
        <p:spPr>
          <a:xfrm>
            <a:off x="6531717" y="4505001"/>
            <a:ext cx="698500" cy="457200"/>
          </a:xfrm>
          <a:prstGeom prst="rect">
            <a:avLst/>
          </a:prstGeom>
          <a:noFill/>
          <a:ln>
            <a:solidFill>
              <a:schemeClr val="accent6">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Google Shape;282;g104476d1465_1_17">
            <a:extLst>
              <a:ext uri="{FF2B5EF4-FFF2-40B4-BE49-F238E27FC236}">
                <a16:creationId xmlns:a16="http://schemas.microsoft.com/office/drawing/2014/main" id="{1FE8E3E3-680B-AA8E-1670-A69279EA6195}"/>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243</a:t>
            </a:r>
            <a:endParaRPr i="1" dirty="0">
              <a:latin typeface="Calibri"/>
              <a:ea typeface="Calibri"/>
              <a:cs typeface="Calibri"/>
              <a:sym typeface="Calibri"/>
            </a:endParaRPr>
          </a:p>
        </p:txBody>
      </p:sp>
      <p:pic>
        <p:nvPicPr>
          <p:cNvPr id="16" name="Google Shape;283;g104476d1465_1_17">
            <a:extLst>
              <a:ext uri="{FF2B5EF4-FFF2-40B4-BE49-F238E27FC236}">
                <a16:creationId xmlns:a16="http://schemas.microsoft.com/office/drawing/2014/main" id="{C16B0334-62B8-9A55-D487-33968B4A1DA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90595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056904" y="520394"/>
                <a:ext cx="10103785" cy="5640647"/>
              </a:xfrm>
              <a:prstGeom prst="rect">
                <a:avLst/>
              </a:prstGeom>
              <a:noFill/>
            </p:spPr>
            <p:txBody>
              <a:bodyPr wrap="square" rtlCol="0">
                <a:spAutoFit/>
              </a:bodyPr>
              <a:lstStyle/>
              <a:p>
                <a:pPr marL="914400" lvl="1" indent="-454025">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Verify using the distributive property that the expression you determined in Part C is equivalent to </a:t>
                </a:r>
                <a14:m>
                  <m:oMath xmlns:m="http://schemas.openxmlformats.org/officeDocument/2006/math">
                    <m:r>
                      <a:rPr lang="en-US" sz="2400" i="1">
                        <a:latin typeface="Cambria Math" panose="02040503050406030204" pitchFamily="18" charset="0"/>
                      </a:rPr>
                      <m:t>6</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5</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2</m:t>
                        </m:r>
                        <m:r>
                          <a:rPr lang="en-US" sz="2400" i="1">
                            <a:latin typeface="Cambria Math" panose="02040503050406030204" pitchFamily="18" charset="0"/>
                          </a:rPr>
                          <m:t>𝑥</m:t>
                        </m:r>
                      </m:e>
                      <m:sup>
                        <m:r>
                          <a:rPr lang="en-US" sz="2400" i="1">
                            <a:latin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4025">
                  <a:buFont typeface="+mj-lt"/>
                  <a:buAutoNum type="alphaLcPeriod" startAt="5"/>
                </a:pPr>
                <a:r>
                  <a:rPr lang="en-US" sz="2400" dirty="0">
                    <a:latin typeface="Verdana" panose="020B0604030504040204" pitchFamily="34" charset="0"/>
                    <a:ea typeface="Verdana" panose="020B0604030504040204" pitchFamily="34" charset="0"/>
                    <a:cs typeface="Verdana" panose="020B0604030504040204" pitchFamily="34" charset="0"/>
                  </a:rPr>
                  <a:t>Choose two different common factors to rewrite </a:t>
                </a:r>
                <a14:m>
                  <m:oMath xmlns:m="http://schemas.openxmlformats.org/officeDocument/2006/math">
                    <m:r>
                      <a:rPr lang="en-US" sz="2400" i="1">
                        <a:latin typeface="Cambria Math" panose="02040503050406030204" pitchFamily="18" charset="0"/>
                      </a:rPr>
                      <m:t>6</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5</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2</m:t>
                        </m:r>
                        <m:r>
                          <a:rPr lang="en-US" sz="2400" i="1">
                            <a:latin typeface="Cambria Math" panose="02040503050406030204" pitchFamily="18" charset="0"/>
                          </a:rPr>
                          <m:t>𝑥</m:t>
                        </m:r>
                      </m:e>
                      <m:sup>
                        <m:r>
                          <a:rPr lang="en-US" sz="2400" i="1">
                            <a:latin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lgn="ctr"/>
                <a14:m>
                  <m:oMath xmlns:m="http://schemas.openxmlformats.org/officeDocument/2006/math">
                    <m:r>
                      <a:rPr lang="en-US" sz="2400" i="1">
                        <a:latin typeface="Cambria Math" panose="02040503050406030204" pitchFamily="18" charset="0"/>
                      </a:rPr>
                      <m:t>_______(_______+ _______)</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rPr>
                      <m:t>_______(_______+ _______)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Confirm using the distributive property that the expressions are equivalent.</a:t>
                </a:r>
              </a:p>
              <a:p>
                <a:endParaRPr lang="en-US" sz="2400" dirty="0"/>
              </a:p>
              <a:p>
                <a:r>
                  <a:rPr lang="en-US" sz="2400" dirty="0"/>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056904" y="520394"/>
                <a:ext cx="10103785" cy="5640647"/>
              </a:xfrm>
              <a:prstGeom prst="rect">
                <a:avLst/>
              </a:prstGeom>
              <a:blipFill>
                <a:blip r:embed="rId3"/>
                <a:stretch>
                  <a:fillRect t="-864" r="-121"/>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DE241F6A-D252-1C20-1B47-512D00E07FB3}"/>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243</a:t>
            </a:r>
            <a:endParaRPr i="1" dirty="0">
              <a:latin typeface="Calibri"/>
              <a:ea typeface="Calibri"/>
              <a:cs typeface="Calibri"/>
              <a:sym typeface="Calibri"/>
            </a:endParaRPr>
          </a:p>
        </p:txBody>
      </p:sp>
      <p:pic>
        <p:nvPicPr>
          <p:cNvPr id="7" name="Google Shape;283;g104476d1465_1_17">
            <a:extLst>
              <a:ext uri="{FF2B5EF4-FFF2-40B4-BE49-F238E27FC236}">
                <a16:creationId xmlns:a16="http://schemas.microsoft.com/office/drawing/2014/main" id="{EFBC1AB6-4F36-ACEE-05D8-489479D8F82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26973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1056904" y="520393"/>
                <a:ext cx="10103785" cy="564064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Consider the expression </a:t>
                </a:r>
                <a14:m>
                  <m:oMath xmlns:m="http://schemas.openxmlformats.org/officeDocument/2006/math">
                    <m:r>
                      <a:rPr lang="en-US" sz="2400" i="1">
                        <a:latin typeface="Cambria Math" panose="02040503050406030204" pitchFamily="18" charset="0"/>
                      </a:rPr>
                      <m:t>9</m:t>
                    </m:r>
                    <m:sSup>
                      <m:sSupPr>
                        <m:ctrlPr>
                          <a:rPr lang="en-US" sz="2400" i="1">
                            <a:latin typeface="Cambria Math" panose="02040503050406030204" pitchFamily="18" charset="0"/>
                          </a:rPr>
                        </m:ctrlPr>
                      </m:sSupPr>
                      <m:e>
                        <m:r>
                          <a:rPr lang="en-US" sz="2400" i="1">
                            <a:latin typeface="Cambria Math" panose="02040503050406030204" pitchFamily="18" charset="0"/>
                          </a:rPr>
                          <m:t>𝑔</m:t>
                        </m:r>
                      </m:e>
                      <m:sup>
                        <m:r>
                          <a:rPr lang="en-US" sz="2400" i="1">
                            <a:latin typeface="Cambria Math" panose="02040503050406030204" pitchFamily="18" charset="0"/>
                          </a:rPr>
                          <m:t>4</m:t>
                        </m:r>
                      </m:sup>
                    </m:sSup>
                    <m:sSup>
                      <m:sSupPr>
                        <m:ctrlPr>
                          <a:rPr lang="en-US" sz="2400" i="1">
                            <a:latin typeface="Cambria Math" panose="02040503050406030204" pitchFamily="18" charset="0"/>
                          </a:rPr>
                        </m:ctrlPr>
                      </m:sSupPr>
                      <m:e>
                        <m:r>
                          <a:rPr lang="en-US" sz="2400" i="1">
                            <a:latin typeface="Cambria Math" panose="02040503050406030204" pitchFamily="18" charset="0"/>
                          </a:rPr>
                          <m:t>h</m:t>
                        </m:r>
                      </m:e>
                      <m:sup>
                        <m:r>
                          <a:rPr lang="en-US" sz="2400" i="1">
                            <a:latin typeface="Cambria Math" panose="02040503050406030204" pitchFamily="18" charset="0"/>
                          </a:rPr>
                          <m:t>5</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12</m:t>
                        </m:r>
                        <m:r>
                          <a:rPr lang="en-US" sz="2400" i="1">
                            <a:latin typeface="Cambria Math" panose="02040503050406030204" pitchFamily="18" charset="0"/>
                          </a:rPr>
                          <m:t>𝑔h</m:t>
                        </m:r>
                      </m:e>
                      <m:sup>
                        <m:r>
                          <a:rPr lang="en-US" sz="2400" i="1">
                            <a:latin typeface="Cambria Math" panose="02040503050406030204" pitchFamily="18" charset="0"/>
                          </a:rPr>
                          <m:t>3</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GCF of the two terms in the expression?</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Rewrite </a:t>
                </a:r>
                <a14:m>
                  <m:oMath xmlns:m="http://schemas.openxmlformats.org/officeDocument/2006/math">
                    <m:r>
                      <a:rPr lang="en-US" sz="2400" i="1">
                        <a:latin typeface="Cambria Math" panose="02040503050406030204" pitchFamily="18" charset="0"/>
                      </a:rPr>
                      <m:t>9</m:t>
                    </m:r>
                    <m:sSup>
                      <m:sSupPr>
                        <m:ctrlPr>
                          <a:rPr lang="en-US" sz="2400" i="1">
                            <a:latin typeface="Cambria Math" panose="02040503050406030204" pitchFamily="18" charset="0"/>
                          </a:rPr>
                        </m:ctrlPr>
                      </m:sSupPr>
                      <m:e>
                        <m:r>
                          <a:rPr lang="en-US" sz="2400" i="1">
                            <a:latin typeface="Cambria Math" panose="02040503050406030204" pitchFamily="18" charset="0"/>
                          </a:rPr>
                          <m:t>𝑔</m:t>
                        </m:r>
                      </m:e>
                      <m:sup>
                        <m:r>
                          <a:rPr lang="en-US" sz="2400" i="1">
                            <a:latin typeface="Cambria Math" panose="02040503050406030204" pitchFamily="18" charset="0"/>
                          </a:rPr>
                          <m:t>4</m:t>
                        </m:r>
                      </m:sup>
                    </m:sSup>
                    <m:sSup>
                      <m:sSupPr>
                        <m:ctrlPr>
                          <a:rPr lang="en-US" sz="2400" i="1">
                            <a:latin typeface="Cambria Math" panose="02040503050406030204" pitchFamily="18" charset="0"/>
                          </a:rPr>
                        </m:ctrlPr>
                      </m:sSupPr>
                      <m:e>
                        <m:r>
                          <a:rPr lang="en-US" sz="2400" i="1">
                            <a:latin typeface="Cambria Math" panose="02040503050406030204" pitchFamily="18" charset="0"/>
                          </a:rPr>
                          <m:t>h</m:t>
                        </m:r>
                      </m:e>
                      <m:sup>
                        <m:r>
                          <a:rPr lang="en-US" sz="2400" i="1">
                            <a:latin typeface="Cambria Math" panose="02040503050406030204" pitchFamily="18" charset="0"/>
                          </a:rPr>
                          <m:t>5</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12</m:t>
                        </m:r>
                        <m:r>
                          <a:rPr lang="en-US" sz="2400" i="1">
                            <a:latin typeface="Cambria Math" panose="02040503050406030204" pitchFamily="18" charset="0"/>
                          </a:rPr>
                          <m:t>𝑔h</m:t>
                        </m:r>
                      </m:e>
                      <m:sup>
                        <m:r>
                          <a:rPr lang="en-US" sz="2400" i="1">
                            <a:latin typeface="Cambria Math" panose="02040503050406030204" pitchFamily="18" charset="0"/>
                          </a:rPr>
                          <m:t>3</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using the </a:t>
                </a:r>
                <a:r>
                  <a:rPr lang="en-US" sz="2400" dirty="0">
                    <a:solidFill>
                      <a:srgbClr val="3F2A67"/>
                    </a:solidFill>
                    <a:latin typeface="Verdana" panose="020B0604030504040204" pitchFamily="34" charset="0"/>
                    <a:ea typeface="Verdana" panose="020B0604030504040204" pitchFamily="34" charset="0"/>
                    <a:cs typeface="Verdana" panose="020B0604030504040204" pitchFamily="34" charset="0"/>
                  </a:rPr>
                  <a:t>GCF</a:t>
                </a:r>
                <a:r>
                  <a:rPr lang="en-US" sz="2400" dirty="0">
                    <a:latin typeface="Verdana" panose="020B0604030504040204" pitchFamily="34" charset="0"/>
                    <a:ea typeface="Verdana" panose="020B0604030504040204" pitchFamily="34" charset="0"/>
                    <a:cs typeface="Verdana" panose="020B0604030504040204" pitchFamily="34" charset="0"/>
                  </a:rPr>
                  <a:t> as one of the factors.</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4025">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Verify using the distributive property that the expression you determined in Part B is equivalent to the original expression.</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056904" y="520393"/>
                <a:ext cx="10103785" cy="5640647"/>
              </a:xfrm>
              <a:prstGeom prst="rect">
                <a:avLst/>
              </a:prstGeom>
              <a:blipFill>
                <a:blip r:embed="rId3"/>
                <a:stretch>
                  <a:fillRect l="-905" t="-864" r="-181" b="-1404"/>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90EEDF05-A4AD-F3DD-9C3A-57CE566CAF60}"/>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243</a:t>
            </a:r>
            <a:endParaRPr i="1" dirty="0">
              <a:latin typeface="Calibri"/>
              <a:ea typeface="Calibri"/>
              <a:cs typeface="Calibri"/>
              <a:sym typeface="Calibri"/>
            </a:endParaRPr>
          </a:p>
        </p:txBody>
      </p:sp>
      <p:pic>
        <p:nvPicPr>
          <p:cNvPr id="7" name="Google Shape;283;g104476d1465_1_17">
            <a:extLst>
              <a:ext uri="{FF2B5EF4-FFF2-40B4-BE49-F238E27FC236}">
                <a16:creationId xmlns:a16="http://schemas.microsoft.com/office/drawing/2014/main" id="{94D5E662-8F92-C2A4-531D-FD1604825788}"/>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53964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967596" y="276197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273326" y="284875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6142A8F9-B4AD-AF01-A376-9EDB475F8A0A}"/>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244</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DDE048B7-6A0F-C2D7-AB8F-6AF0A7F7202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78071" y="60326"/>
            <a:ext cx="831127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12.6.3 Collaboration: Which Is Equivalent? </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21717"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056905" y="1386026"/>
                <a:ext cx="10103786" cy="3937873"/>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err="1">
                    <a:latin typeface="Verdana" panose="020B0604030504040204" pitchFamily="34" charset="0"/>
                    <a:ea typeface="Verdana" panose="020B0604030504040204" pitchFamily="34" charset="0"/>
                    <a:cs typeface="Verdana" panose="020B0604030504040204" pitchFamily="34" charset="0"/>
                  </a:rPr>
                  <a:t>Orly</a:t>
                </a:r>
                <a:r>
                  <a:rPr lang="en-US" sz="2400" dirty="0">
                    <a:latin typeface="Verdana" panose="020B0604030504040204" pitchFamily="34" charset="0"/>
                    <a:ea typeface="Verdana" panose="020B0604030504040204" pitchFamily="34" charset="0"/>
                    <a:cs typeface="Verdana" panose="020B0604030504040204" pitchFamily="34" charset="0"/>
                  </a:rPr>
                  <a:t> says the expressions </a:t>
                </a:r>
                <a14:m>
                  <m:oMath xmlns:m="http://schemas.openxmlformats.org/officeDocument/2006/math">
                    <m:sSup>
                      <m:sSupPr>
                        <m:ctrlPr>
                          <a:rPr lang="en-US" sz="2400" i="1">
                            <a:latin typeface="Cambria Math" panose="02040503050406030204" pitchFamily="18" charset="0"/>
                          </a:rPr>
                        </m:ctrlPr>
                      </m:sSupPr>
                      <m:e>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r>
                          <a:rPr lang="en-US" sz="2400" i="1">
                            <a:latin typeface="Cambria Math" panose="02040503050406030204" pitchFamily="18" charset="0"/>
                          </a:rPr>
                          <m:t>𝑥</m:t>
                        </m:r>
                      </m:e>
                      <m:sup>
                        <m:r>
                          <a:rPr lang="en-US" sz="2400" i="1">
                            <a:latin typeface="Cambria Math" panose="02040503050406030204" pitchFamily="18" charset="0"/>
                          </a:rPr>
                          <m:t>3</m:t>
                        </m:r>
                      </m:sup>
                    </m:sSup>
                    <m:r>
                      <a:rPr lang="en-US" sz="2400" i="1">
                        <a:latin typeface="Cambria Math" panose="02040503050406030204" pitchFamily="18" charset="0"/>
                      </a:rPr>
                      <m:t>(8</m:t>
                    </m:r>
                    <m:r>
                      <a:rPr lang="en-US" sz="2400" i="1">
                        <a:latin typeface="Cambria Math" panose="02040503050406030204" pitchFamily="18" charset="0"/>
                      </a:rPr>
                      <m:t>𝑥</m:t>
                    </m:r>
                    <m:r>
                      <a:rPr lang="en-US" sz="2400" i="1">
                        <a:latin typeface="Cambria Math" panose="02040503050406030204" pitchFamily="18" charset="0"/>
                      </a:rPr>
                      <m:t>+10</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6</m:t>
                        </m:r>
                      </m:sup>
                    </m:sSup>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4</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5</m:t>
                        </m:r>
                        <m:r>
                          <a:rPr lang="en-US" sz="2400" i="1">
                            <a:latin typeface="Cambria Math" panose="02040503050406030204" pitchFamily="18" charset="0"/>
                          </a:rPr>
                          <m:t>𝑥</m:t>
                        </m:r>
                      </m:e>
                      <m:sup>
                        <m:r>
                          <a:rPr lang="en-US" sz="2400" i="1">
                            <a:latin typeface="Cambria Math" panose="02040503050406030204" pitchFamily="18" charset="0"/>
                          </a:rPr>
                          <m:t>5</m:t>
                        </m:r>
                      </m:sup>
                    </m:sSup>
                    <m:r>
                      <a:rPr lang="en-US" sz="2400" i="1">
                        <a:latin typeface="Cambria Math" panose="02040503050406030204" pitchFamily="18"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are equivalent.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635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Do you agree with </a:t>
                </a:r>
                <a:r>
                  <a:rPr lang="en-US" sz="2400" dirty="0" err="1">
                    <a:latin typeface="Verdana" panose="020B0604030504040204" pitchFamily="34" charset="0"/>
                    <a:ea typeface="Verdana" panose="020B0604030504040204" pitchFamily="34" charset="0"/>
                    <a:cs typeface="Verdana" panose="020B0604030504040204" pitchFamily="34" charset="0"/>
                  </a:rPr>
                  <a:t>Orly</a:t>
                </a:r>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6355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6355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6355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why or why not.</a:t>
                </a:r>
              </a:p>
              <a:p>
                <a:pPr marL="914400" indent="-463550"/>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056905" y="1386026"/>
                <a:ext cx="10103786" cy="3937873"/>
              </a:xfrm>
              <a:prstGeom prst="rect">
                <a:avLst/>
              </a:prstGeom>
              <a:blipFill>
                <a:blip r:embed="rId4"/>
                <a:stretch>
                  <a:fillRect l="-905" t="-1238"/>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BEA69A74-7255-B0FB-2BA2-B5499F0BFA85}"/>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244</a:t>
            </a:r>
            <a:endParaRPr i="1" dirty="0">
              <a:latin typeface="Calibri"/>
              <a:ea typeface="Calibri"/>
              <a:cs typeface="Calibri"/>
              <a:sym typeface="Calibri"/>
            </a:endParaRPr>
          </a:p>
        </p:txBody>
      </p:sp>
      <p:pic>
        <p:nvPicPr>
          <p:cNvPr id="12" name="Google Shape;283;g104476d1465_1_17">
            <a:extLst>
              <a:ext uri="{FF2B5EF4-FFF2-40B4-BE49-F238E27FC236}">
                <a16:creationId xmlns:a16="http://schemas.microsoft.com/office/drawing/2014/main" id="{A578013A-9797-291F-04C5-19BB2CDF7202}"/>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889"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056904" y="520393"/>
                <a:ext cx="10116311" cy="5632311"/>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Zeke and Ford each rewrote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3</m:t>
                        </m:r>
                        <m:r>
                          <a:rPr lang="en-US" sz="2400" i="1">
                            <a:latin typeface="Cambria Math" panose="02040503050406030204" pitchFamily="18" charset="0"/>
                          </a:rPr>
                          <m:t>𝑤</m:t>
                        </m:r>
                      </m:e>
                      <m:sup>
                        <m:r>
                          <a:rPr lang="en-US" sz="2400" i="1">
                            <a:latin typeface="Cambria Math" panose="02040503050406030204" pitchFamily="18" charset="0"/>
                          </a:rPr>
                          <m:t>2</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(3</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+3</m:t>
                    </m:r>
                    <m:sSup>
                      <m:sSupPr>
                        <m:ctrlPr>
                          <a:rPr lang="en-US" sz="2400" i="1">
                            <a:latin typeface="Cambria Math" panose="02040503050406030204" pitchFamily="18" charset="0"/>
                          </a:rPr>
                        </m:ctrlPr>
                      </m:sSupPr>
                      <m:e>
                        <m:r>
                          <a:rPr lang="en-US" sz="2400" i="1">
                            <a:latin typeface="Cambria Math" panose="02040503050406030204" pitchFamily="18" charset="0"/>
                          </a:rPr>
                          <m:t>𝑤</m:t>
                        </m:r>
                      </m:e>
                      <m:sup>
                        <m:r>
                          <a:rPr lang="en-US" sz="2400" i="1">
                            <a:latin typeface="Cambria Math" panose="02040503050406030204" pitchFamily="18" charset="0"/>
                          </a:rPr>
                          <m:t>6</m:t>
                        </m:r>
                      </m:sup>
                    </m:sSup>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Their expressions are shown.</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Who wrote an expression equivalent to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3</m:t>
                        </m:r>
                        <m:r>
                          <a:rPr lang="en-US" sz="2400" i="1">
                            <a:latin typeface="Cambria Math" panose="02040503050406030204" pitchFamily="18" charset="0"/>
                          </a:rPr>
                          <m:t>𝑤</m:t>
                        </m:r>
                      </m:e>
                      <m:sup>
                        <m:r>
                          <a:rPr lang="en-US" sz="2400" i="1">
                            <a:latin typeface="Cambria Math" panose="02040503050406030204" pitchFamily="18" charset="0"/>
                          </a:rPr>
                          <m:t>2</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(3</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+3</m:t>
                    </m:r>
                    <m:sSup>
                      <m:sSupPr>
                        <m:ctrlPr>
                          <a:rPr lang="en-US" sz="2400" i="1">
                            <a:latin typeface="Cambria Math" panose="02040503050406030204" pitchFamily="18" charset="0"/>
                          </a:rPr>
                        </m:ctrlPr>
                      </m:sSupPr>
                      <m:e>
                        <m:r>
                          <a:rPr lang="en-US" sz="2400" i="1">
                            <a:latin typeface="Cambria Math" panose="02040503050406030204" pitchFamily="18" charset="0"/>
                          </a:rPr>
                          <m:t>𝑤</m:t>
                        </m:r>
                      </m:e>
                      <m:sup>
                        <m:r>
                          <a:rPr lang="en-US" sz="2400" i="1">
                            <a:latin typeface="Cambria Math" panose="02040503050406030204" pitchFamily="18" charset="0"/>
                          </a:rPr>
                          <m:t>6</m:t>
                        </m:r>
                      </m:sup>
                    </m:sSup>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1381125" lvl="2" indent="-460375">
                  <a:buFont typeface="Courier New" panose="02070309020205020404" pitchFamily="49" charset="0"/>
                  <a:buChar char="o"/>
                </a:pPr>
                <a:r>
                  <a:rPr lang="en-US" sz="2400" dirty="0">
                    <a:latin typeface="Verdana" panose="020B0604030504040204" pitchFamily="34" charset="0"/>
                    <a:ea typeface="Verdana" panose="020B0604030504040204" pitchFamily="34" charset="0"/>
                    <a:cs typeface="Verdana" panose="020B0604030504040204" pitchFamily="34" charset="0"/>
                  </a:rPr>
                  <a:t>Zeke</a:t>
                </a:r>
              </a:p>
              <a:p>
                <a:pPr marL="1381125" lvl="2" indent="-460375">
                  <a:buFont typeface="Courier New" panose="02070309020205020404" pitchFamily="49" charset="0"/>
                  <a:buChar char="o"/>
                </a:pPr>
                <a:r>
                  <a:rPr lang="en-US" sz="2400" dirty="0">
                    <a:latin typeface="Verdana" panose="020B0604030504040204" pitchFamily="34" charset="0"/>
                    <a:ea typeface="Verdana" panose="020B0604030504040204" pitchFamily="34" charset="0"/>
                    <a:cs typeface="Verdana" panose="020B0604030504040204" pitchFamily="34" charset="0"/>
                  </a:rPr>
                  <a:t>Ford</a:t>
                </a:r>
              </a:p>
              <a:p>
                <a:pPr marL="1381125" lvl="2" indent="-460375">
                  <a:buFont typeface="Courier New" panose="02070309020205020404" pitchFamily="49" charset="0"/>
                  <a:buChar char="o"/>
                </a:pPr>
                <a:r>
                  <a:rPr lang="en-US" sz="2400" dirty="0">
                    <a:latin typeface="Verdana" panose="020B0604030504040204" pitchFamily="34" charset="0"/>
                    <a:ea typeface="Verdana" panose="020B0604030504040204" pitchFamily="34" charset="0"/>
                    <a:cs typeface="Verdana" panose="020B0604030504040204" pitchFamily="34" charset="0"/>
                  </a:rPr>
                  <a:t>Both Zeke and Ford</a:t>
                </a:r>
              </a:p>
              <a:p>
                <a:pPr marL="920750" indent="-46037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If one of the students wrote an expression that was not equivalent, write a note explaining how to avoid the same mistake in the future. If both students were correct, explain how they can both be correct.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056904" y="520393"/>
                <a:ext cx="10116311" cy="5632311"/>
              </a:xfrm>
              <a:prstGeom prst="rect">
                <a:avLst/>
              </a:prstGeom>
              <a:blipFill>
                <a:blip r:embed="rId3"/>
                <a:stretch>
                  <a:fillRect l="-904" t="-974" r="-1265"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ACE7A135-35B3-6C4D-BE86-9A21B76E20EA}"/>
                  </a:ext>
                </a:extLst>
              </p:cNvPr>
              <p:cNvGraphicFramePr>
                <a:graphicFrameLocks noGrp="1"/>
              </p:cNvGraphicFramePr>
              <p:nvPr>
                <p:extLst>
                  <p:ext uri="{D42A27DB-BD31-4B8C-83A1-F6EECF244321}">
                    <p14:modId xmlns:p14="http://schemas.microsoft.com/office/powerpoint/2010/main" val="3421045765"/>
                  </p:ext>
                </p:extLst>
              </p:nvPr>
            </p:nvGraphicFramePr>
            <p:xfrm>
              <a:off x="2917508" y="1494270"/>
              <a:ext cx="6356985" cy="713105"/>
            </p:xfrm>
            <a:graphic>
              <a:graphicData uri="http://schemas.openxmlformats.org/drawingml/2006/table">
                <a:tbl>
                  <a:tblPr firstRow="1" firstCol="1" bandRow="1">
                    <a:tableStyleId>{A91F0D33-8C57-4600-99A7-42BC86742BE1}</a:tableStyleId>
                  </a:tblPr>
                  <a:tblGrid>
                    <a:gridCol w="3178175">
                      <a:extLst>
                        <a:ext uri="{9D8B030D-6E8A-4147-A177-3AD203B41FA5}">
                          <a16:colId xmlns:a16="http://schemas.microsoft.com/office/drawing/2014/main" val="3191486216"/>
                        </a:ext>
                      </a:extLst>
                    </a:gridCol>
                    <a:gridCol w="3178810">
                      <a:extLst>
                        <a:ext uri="{9D8B030D-6E8A-4147-A177-3AD203B41FA5}">
                          <a16:colId xmlns:a16="http://schemas.microsoft.com/office/drawing/2014/main" val="1962740884"/>
                        </a:ext>
                      </a:extLst>
                    </a:gridCol>
                  </a:tblGrid>
                  <a:tr h="31115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Zeke’s Expression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Ford’s Expression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479315597"/>
                      </a:ext>
                    </a:extLst>
                  </a:tr>
                  <a:tr h="4019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9</m:t>
                                    </m:r>
                                    <m:r>
                                      <a:rPr lang="en-US" sz="2000">
                                        <a:effectLst/>
                                        <a:latin typeface="Cambria Math" panose="02040503050406030204" pitchFamily="18" charset="0"/>
                                      </a:rPr>
                                      <m:t>𝑤</m:t>
                                    </m:r>
                                  </m:e>
                                  <m:sup>
                                    <m:r>
                                      <a:rPr lang="en-US" sz="2000">
                                        <a:effectLst/>
                                        <a:latin typeface="Cambria Math" panose="02040503050406030204" pitchFamily="18" charset="0"/>
                                      </a:rPr>
                                      <m:t>2</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𝑥</m:t>
                                    </m:r>
                                  </m:e>
                                  <m:sup>
                                    <m:r>
                                      <a:rPr lang="en-US" sz="2000">
                                        <a:effectLst/>
                                        <a:latin typeface="Cambria Math" panose="02040503050406030204" pitchFamily="18" charset="0"/>
                                      </a:rPr>
                                      <m:t>4</m:t>
                                    </m:r>
                                  </m:sup>
                                </m:sSup>
                                <m:r>
                                  <a:rPr lang="en-US" sz="2000">
                                    <a:effectLst/>
                                    <a:latin typeface="Cambria Math" panose="02040503050406030204" pitchFamily="18" charset="0"/>
                                  </a:rPr>
                                  <m:t>+3</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𝑤</m:t>
                                    </m:r>
                                  </m:e>
                                  <m:sup>
                                    <m:r>
                                      <a:rPr lang="en-US" sz="2000">
                                        <a:effectLst/>
                                        <a:latin typeface="Cambria Math" panose="02040503050406030204" pitchFamily="18" charset="0"/>
                                      </a:rPr>
                                      <m:t>6</m:t>
                                    </m:r>
                                  </m:sup>
                                </m:sSup>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9</m:t>
                                    </m:r>
                                    <m:r>
                                      <a:rPr lang="en-US" sz="2000">
                                        <a:effectLst/>
                                        <a:latin typeface="Cambria Math" panose="02040503050406030204" pitchFamily="18" charset="0"/>
                                      </a:rPr>
                                      <m:t>𝑤</m:t>
                                    </m:r>
                                  </m:e>
                                  <m:sup>
                                    <m:r>
                                      <a:rPr lang="en-US" sz="2000">
                                        <a:effectLst/>
                                        <a:latin typeface="Cambria Math" panose="02040503050406030204" pitchFamily="18" charset="0"/>
                                      </a:rPr>
                                      <m:t>2</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𝑥</m:t>
                                    </m:r>
                                  </m:e>
                                  <m:sup>
                                    <m:r>
                                      <a:rPr lang="en-US" sz="2000">
                                        <a:effectLst/>
                                        <a:latin typeface="Cambria Math" panose="02040503050406030204" pitchFamily="18" charset="0"/>
                                      </a:rPr>
                                      <m:t>4</m:t>
                                    </m:r>
                                  </m:sup>
                                </m:sSup>
                                <m:r>
                                  <a:rPr lang="en-US" sz="2000">
                                    <a:effectLst/>
                                    <a:latin typeface="Cambria Math" panose="02040503050406030204" pitchFamily="18" charset="0"/>
                                  </a:rPr>
                                  <m:t>+9</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𝑤</m:t>
                                    </m:r>
                                  </m:e>
                                  <m:sup>
                                    <m:r>
                                      <a:rPr lang="en-US" sz="2000">
                                        <a:effectLst/>
                                        <a:latin typeface="Cambria Math" panose="02040503050406030204" pitchFamily="18" charset="0"/>
                                      </a:rPr>
                                      <m:t>8</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𝑥</m:t>
                                    </m:r>
                                  </m:e>
                                  <m:sup>
                                    <m:r>
                                      <a:rPr lang="en-US" sz="2000">
                                        <a:effectLst/>
                                        <a:latin typeface="Cambria Math" panose="02040503050406030204" pitchFamily="18" charset="0"/>
                                      </a:rPr>
                                      <m:t>2</m:t>
                                    </m:r>
                                  </m:sup>
                                </m:sSup>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5696724"/>
                      </a:ext>
                    </a:extLst>
                  </a:tr>
                </a:tbl>
              </a:graphicData>
            </a:graphic>
          </p:graphicFrame>
        </mc:Choice>
        <mc:Fallback xmlns="">
          <p:graphicFrame>
            <p:nvGraphicFramePr>
              <p:cNvPr id="2" name="Table 1">
                <a:extLst>
                  <a:ext uri="{FF2B5EF4-FFF2-40B4-BE49-F238E27FC236}">
                    <a16:creationId xmlns:a16="http://schemas.microsoft.com/office/drawing/2014/main" id="{ACE7A135-35B3-6C4D-BE86-9A21B76E20EA}"/>
                  </a:ext>
                </a:extLst>
              </p:cNvPr>
              <p:cNvGraphicFramePr>
                <a:graphicFrameLocks noGrp="1"/>
              </p:cNvGraphicFramePr>
              <p:nvPr>
                <p:extLst>
                  <p:ext uri="{D42A27DB-BD31-4B8C-83A1-F6EECF244321}">
                    <p14:modId xmlns:p14="http://schemas.microsoft.com/office/powerpoint/2010/main" val="3421045765"/>
                  </p:ext>
                </p:extLst>
              </p:nvPr>
            </p:nvGraphicFramePr>
            <p:xfrm>
              <a:off x="2917508" y="1494270"/>
              <a:ext cx="6356985" cy="713105"/>
            </p:xfrm>
            <a:graphic>
              <a:graphicData uri="http://schemas.openxmlformats.org/drawingml/2006/table">
                <a:tbl>
                  <a:tblPr firstRow="1" firstCol="1" bandRow="1">
                    <a:tableStyleId>{A91F0D33-8C57-4600-99A7-42BC86742BE1}</a:tableStyleId>
                  </a:tblPr>
                  <a:tblGrid>
                    <a:gridCol w="3178175">
                      <a:extLst>
                        <a:ext uri="{9D8B030D-6E8A-4147-A177-3AD203B41FA5}">
                          <a16:colId xmlns:a16="http://schemas.microsoft.com/office/drawing/2014/main" val="3191486216"/>
                        </a:ext>
                      </a:extLst>
                    </a:gridCol>
                    <a:gridCol w="3178810">
                      <a:extLst>
                        <a:ext uri="{9D8B030D-6E8A-4147-A177-3AD203B41FA5}">
                          <a16:colId xmlns:a16="http://schemas.microsoft.com/office/drawing/2014/main" val="1962740884"/>
                        </a:ext>
                      </a:extLst>
                    </a:gridCol>
                  </a:tblGrid>
                  <a:tr h="31115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Zeke’s Expression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Ford’s Expression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479315597"/>
                      </a:ext>
                    </a:extLst>
                  </a:tr>
                  <a:tr h="40195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98" t="-96875" r="-100398" b="-625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98" t="-96875" r="-398" b="-6250"/>
                          </a:stretch>
                        </a:blipFill>
                      </a:tcPr>
                    </a:tc>
                    <a:extLst>
                      <a:ext uri="{0D108BD9-81ED-4DB2-BD59-A6C34878D82A}">
                        <a16:rowId xmlns:a16="http://schemas.microsoft.com/office/drawing/2014/main" val="815696724"/>
                      </a:ext>
                    </a:extLst>
                  </a:tr>
                </a:tbl>
              </a:graphicData>
            </a:graphic>
          </p:graphicFrame>
        </mc:Fallback>
      </mc:AlternateContent>
      <p:sp>
        <p:nvSpPr>
          <p:cNvPr id="7" name="Google Shape;282;g104476d1465_1_17">
            <a:extLst>
              <a:ext uri="{FF2B5EF4-FFF2-40B4-BE49-F238E27FC236}">
                <a16:creationId xmlns:a16="http://schemas.microsoft.com/office/drawing/2014/main" id="{FECA279A-59B7-B144-DD6A-96E5B43A099D}"/>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244</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421A48C9-3717-C142-BEC5-1832E8E3D1A4}"/>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57470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068780" y="520393"/>
                <a:ext cx="10066858" cy="6001643"/>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Lucía and Faye each rewrote </a:t>
                </a:r>
                <a14:m>
                  <m:oMath xmlns:m="http://schemas.openxmlformats.org/officeDocument/2006/math">
                    <m:r>
                      <a:rPr lang="en-US" sz="2400" i="1">
                        <a:latin typeface="Cambria Math" panose="02040503050406030204" pitchFamily="18" charset="0"/>
                      </a:rPr>
                      <m:t>−21</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3</m:t>
                        </m:r>
                      </m:sup>
                    </m:sSup>
                    <m:r>
                      <a:rPr lang="en-US" sz="2400" i="1">
                        <a:latin typeface="Cambria Math" panose="02040503050406030204" pitchFamily="18" charset="0"/>
                      </a:rPr>
                      <m:t>−9</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4</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using a common monomial factor.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Who wrote an expression equivalent to </a:t>
                </a:r>
                <a14:m>
                  <m:oMath xmlns:m="http://schemas.openxmlformats.org/officeDocument/2006/math">
                    <m:r>
                      <a:rPr lang="en-US" sz="2400" i="1">
                        <a:latin typeface="Cambria Math" panose="02040503050406030204" pitchFamily="18" charset="0"/>
                      </a:rPr>
                      <m:t>−21</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3</m:t>
                        </m:r>
                      </m:sup>
                    </m:sSup>
                    <m:r>
                      <a:rPr lang="en-US" sz="2400" i="1">
                        <a:latin typeface="Cambria Math" panose="02040503050406030204" pitchFamily="18" charset="0"/>
                      </a:rPr>
                      <m:t>−9</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4</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1381125" lvl="2" indent="-466725">
                  <a:buFont typeface="Courier New" panose="02070309020205020404" pitchFamily="49" charset="0"/>
                  <a:buChar char="o"/>
                </a:pPr>
                <a:r>
                  <a:rPr lang="en-US" sz="2400" dirty="0">
                    <a:latin typeface="Verdana" panose="020B0604030504040204" pitchFamily="34" charset="0"/>
                    <a:ea typeface="Verdana" panose="020B0604030504040204" pitchFamily="34" charset="0"/>
                    <a:cs typeface="Verdana" panose="020B0604030504040204" pitchFamily="34" charset="0"/>
                  </a:rPr>
                  <a:t>Lucía </a:t>
                </a:r>
              </a:p>
              <a:p>
                <a:pPr marL="1381125" lvl="2" indent="-466725">
                  <a:buFont typeface="Courier New" panose="02070309020205020404" pitchFamily="49" charset="0"/>
                  <a:buChar char="o"/>
                </a:pPr>
                <a:r>
                  <a:rPr lang="en-US" sz="2400" dirty="0">
                    <a:latin typeface="Verdana" panose="020B0604030504040204" pitchFamily="34" charset="0"/>
                    <a:ea typeface="Verdana" panose="020B0604030504040204" pitchFamily="34" charset="0"/>
                    <a:cs typeface="Verdana" panose="020B0604030504040204" pitchFamily="34" charset="0"/>
                  </a:rPr>
                  <a:t>Faye</a:t>
                </a:r>
              </a:p>
              <a:p>
                <a:pPr marL="1381125" lvl="2" indent="-466725">
                  <a:buFont typeface="Courier New" panose="02070309020205020404" pitchFamily="49" charset="0"/>
                  <a:buChar char="o"/>
                </a:pPr>
                <a:r>
                  <a:rPr lang="en-US" sz="2400" dirty="0">
                    <a:latin typeface="Verdana" panose="020B0604030504040204" pitchFamily="34" charset="0"/>
                    <a:ea typeface="Verdana" panose="020B0604030504040204" pitchFamily="34" charset="0"/>
                    <a:cs typeface="Verdana" panose="020B0604030504040204" pitchFamily="34" charset="0"/>
                  </a:rPr>
                  <a:t>Both Lucía and Faye</a:t>
                </a:r>
              </a:p>
              <a:p>
                <a:pPr marL="920750" indent="-460375"/>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4025">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4025">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If one of the students wrote an expression that was not equivalent, write a note explaining how to avoid the same mistake in the future. If both students were correct, explain how they can both be correct.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068780" y="520393"/>
                <a:ext cx="10066858" cy="6001643"/>
              </a:xfrm>
              <a:prstGeom prst="rect">
                <a:avLst/>
              </a:prstGeom>
              <a:blipFill>
                <a:blip r:embed="rId3"/>
                <a:stretch>
                  <a:fillRect l="-908" t="-914" r="-1755" b="-13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189926D5-CC0C-0141-B9E1-6A6B0C8599A7}"/>
                  </a:ext>
                </a:extLst>
              </p:cNvPr>
              <p:cNvGraphicFramePr>
                <a:graphicFrameLocks noGrp="1"/>
              </p:cNvGraphicFramePr>
              <p:nvPr>
                <p:extLst>
                  <p:ext uri="{D42A27DB-BD31-4B8C-83A1-F6EECF244321}">
                    <p14:modId xmlns:p14="http://schemas.microsoft.com/office/powerpoint/2010/main" val="1381403908"/>
                  </p:ext>
                </p:extLst>
              </p:nvPr>
            </p:nvGraphicFramePr>
            <p:xfrm>
              <a:off x="3069486" y="1575317"/>
              <a:ext cx="6227445" cy="765175"/>
            </p:xfrm>
            <a:graphic>
              <a:graphicData uri="http://schemas.openxmlformats.org/drawingml/2006/table">
                <a:tbl>
                  <a:tblPr firstRow="1" firstCol="1" bandRow="1">
                    <a:tableStyleId>{A91F0D33-8C57-4600-99A7-42BC86742BE1}</a:tableStyleId>
                  </a:tblPr>
                  <a:tblGrid>
                    <a:gridCol w="3113405">
                      <a:extLst>
                        <a:ext uri="{9D8B030D-6E8A-4147-A177-3AD203B41FA5}">
                          <a16:colId xmlns:a16="http://schemas.microsoft.com/office/drawing/2014/main" val="3568818191"/>
                        </a:ext>
                      </a:extLst>
                    </a:gridCol>
                    <a:gridCol w="3114040">
                      <a:extLst>
                        <a:ext uri="{9D8B030D-6E8A-4147-A177-3AD203B41FA5}">
                          <a16:colId xmlns:a16="http://schemas.microsoft.com/office/drawing/2014/main" val="806227855"/>
                        </a:ext>
                      </a:extLst>
                    </a:gridCol>
                  </a:tblGrid>
                  <a:tr h="33401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Lucía’s Expression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Faye’s Expression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22715825"/>
                      </a:ext>
                    </a:extLst>
                  </a:tr>
                  <a:tr h="43116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𝑦</m:t>
                                    </m:r>
                                  </m:e>
                                  <m:sup>
                                    <m:r>
                                      <a:rPr lang="en-US" sz="2000">
                                        <a:effectLst/>
                                        <a:latin typeface="Cambria Math" panose="02040503050406030204" pitchFamily="18" charset="0"/>
                                      </a:rPr>
                                      <m:t>3</m:t>
                                    </m:r>
                                  </m:sup>
                                </m:sSup>
                                <m:d>
                                  <m:dPr>
                                    <m:ctrlPr>
                                      <a:rPr lang="en-US" sz="2000" i="1">
                                        <a:effectLst/>
                                        <a:latin typeface="Cambria Math" panose="02040503050406030204" pitchFamily="18" charset="0"/>
                                      </a:rPr>
                                    </m:ctrlPr>
                                  </m:dPr>
                                  <m:e>
                                    <m:r>
                                      <a:rPr lang="en-US" sz="2000">
                                        <a:effectLst/>
                                        <a:latin typeface="Cambria Math" panose="02040503050406030204" pitchFamily="18" charset="0"/>
                                      </a:rPr>
                                      <m:t>7+3</m:t>
                                    </m:r>
                                    <m:r>
                                      <a:rPr lang="en-US" sz="2000">
                                        <a:effectLst/>
                                        <a:latin typeface="Cambria Math" panose="02040503050406030204" pitchFamily="18" charset="0"/>
                                      </a:rPr>
                                      <m:t>𝑦</m:t>
                                    </m:r>
                                  </m:e>
                                </m:d>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𝑦</m:t>
                                    </m:r>
                                  </m:e>
                                  <m:sup>
                                    <m:r>
                                      <a:rPr lang="en-US" sz="2000">
                                        <a:effectLst/>
                                        <a:latin typeface="Cambria Math" panose="02040503050406030204" pitchFamily="18" charset="0"/>
                                      </a:rPr>
                                      <m:t>3</m:t>
                                    </m:r>
                                  </m:sup>
                                </m:sSup>
                                <m:d>
                                  <m:dPr>
                                    <m:ctrlPr>
                                      <a:rPr lang="en-US" sz="2000" i="1">
                                        <a:effectLst/>
                                        <a:latin typeface="Cambria Math" panose="02040503050406030204" pitchFamily="18" charset="0"/>
                                      </a:rPr>
                                    </m:ctrlPr>
                                  </m:dPr>
                                  <m:e>
                                    <m:r>
                                      <a:rPr lang="en-US" sz="2000">
                                        <a:effectLst/>
                                        <a:latin typeface="Cambria Math" panose="02040503050406030204" pitchFamily="18" charset="0"/>
                                      </a:rPr>
                                      <m:t>7−3</m:t>
                                    </m:r>
                                    <m:r>
                                      <a:rPr lang="en-US" sz="2000">
                                        <a:effectLst/>
                                        <a:latin typeface="Cambria Math" panose="02040503050406030204" pitchFamily="18" charset="0"/>
                                      </a:rPr>
                                      <m:t>𝑦</m:t>
                                    </m:r>
                                  </m:e>
                                </m:d>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283942"/>
                      </a:ext>
                    </a:extLst>
                  </a:tr>
                </a:tbl>
              </a:graphicData>
            </a:graphic>
          </p:graphicFrame>
        </mc:Choice>
        <mc:Fallback xmlns="">
          <p:graphicFrame>
            <p:nvGraphicFramePr>
              <p:cNvPr id="2" name="Table 1">
                <a:extLst>
                  <a:ext uri="{FF2B5EF4-FFF2-40B4-BE49-F238E27FC236}">
                    <a16:creationId xmlns:a16="http://schemas.microsoft.com/office/drawing/2014/main" id="{189926D5-CC0C-0141-B9E1-6A6B0C8599A7}"/>
                  </a:ext>
                </a:extLst>
              </p:cNvPr>
              <p:cNvGraphicFramePr>
                <a:graphicFrameLocks noGrp="1"/>
              </p:cNvGraphicFramePr>
              <p:nvPr>
                <p:extLst>
                  <p:ext uri="{D42A27DB-BD31-4B8C-83A1-F6EECF244321}">
                    <p14:modId xmlns:p14="http://schemas.microsoft.com/office/powerpoint/2010/main" val="1381403908"/>
                  </p:ext>
                </p:extLst>
              </p:nvPr>
            </p:nvGraphicFramePr>
            <p:xfrm>
              <a:off x="3069486" y="1575317"/>
              <a:ext cx="6227445" cy="765175"/>
            </p:xfrm>
            <a:graphic>
              <a:graphicData uri="http://schemas.openxmlformats.org/drawingml/2006/table">
                <a:tbl>
                  <a:tblPr firstRow="1" firstCol="1" bandRow="1">
                    <a:tableStyleId>{A91F0D33-8C57-4600-99A7-42BC86742BE1}</a:tableStyleId>
                  </a:tblPr>
                  <a:tblGrid>
                    <a:gridCol w="3113405">
                      <a:extLst>
                        <a:ext uri="{9D8B030D-6E8A-4147-A177-3AD203B41FA5}">
                          <a16:colId xmlns:a16="http://schemas.microsoft.com/office/drawing/2014/main" val="3568818191"/>
                        </a:ext>
                      </a:extLst>
                    </a:gridCol>
                    <a:gridCol w="3114040">
                      <a:extLst>
                        <a:ext uri="{9D8B030D-6E8A-4147-A177-3AD203B41FA5}">
                          <a16:colId xmlns:a16="http://schemas.microsoft.com/office/drawing/2014/main" val="806227855"/>
                        </a:ext>
                      </a:extLst>
                    </a:gridCol>
                  </a:tblGrid>
                  <a:tr h="33401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Lucía’s Expression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Faye’s Expression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22715825"/>
                      </a:ext>
                    </a:extLst>
                  </a:tr>
                  <a:tr h="43116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 t="-95775" r="-100587" b="-9859"/>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95775" r="-391" b="-9859"/>
                          </a:stretch>
                        </a:blipFill>
                      </a:tcPr>
                    </a:tc>
                    <a:extLst>
                      <a:ext uri="{0D108BD9-81ED-4DB2-BD59-A6C34878D82A}">
                        <a16:rowId xmlns:a16="http://schemas.microsoft.com/office/drawing/2014/main" val="1543283942"/>
                      </a:ext>
                    </a:extLst>
                  </a:tr>
                </a:tbl>
              </a:graphicData>
            </a:graphic>
          </p:graphicFrame>
        </mc:Fallback>
      </mc:AlternateContent>
      <p:sp>
        <p:nvSpPr>
          <p:cNvPr id="7" name="Google Shape;282;g104476d1465_1_17">
            <a:extLst>
              <a:ext uri="{FF2B5EF4-FFF2-40B4-BE49-F238E27FC236}">
                <a16:creationId xmlns:a16="http://schemas.microsoft.com/office/drawing/2014/main" id="{607BBF7A-B48B-90BD-C2BB-4EBB3F67EBAA}"/>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244</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833E1193-7282-CF76-A7BC-D944FEB8FD42}"/>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91604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001950" y="276197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294759" y="284875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5F9090E8-5D95-CC42-7122-844E8EE40EF4}"/>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245</a:t>
            </a:r>
            <a:endParaRPr i="1" dirty="0">
              <a:latin typeface="Calibri"/>
              <a:ea typeface="Calibri"/>
              <a:cs typeface="Calibri"/>
              <a:sym typeface="Calibri"/>
            </a:endParaRPr>
          </a:p>
        </p:txBody>
      </p:sp>
    </p:spTree>
    <p:extLst>
      <p:ext uri="{BB962C8B-B14F-4D97-AF65-F5344CB8AC3E}">
        <p14:creationId xmlns:p14="http://schemas.microsoft.com/office/powerpoint/2010/main" val="3961527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3282"/>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31917" y="60326"/>
            <a:ext cx="103077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12.6.4 Activity: Matching Expressions</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260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1056904" y="1386026"/>
            <a:ext cx="10078734"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Six expressions are provided in the table.</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find two expressions from the card set that are equivalent to each given expression. Write the letter of each card in the columns labeled Card 1 and Card 2. Then, create an additional equivalent expression not included on either card in the last column.</a:t>
            </a:r>
          </a:p>
        </p:txBody>
      </p:sp>
      <p:sp>
        <p:nvSpPr>
          <p:cNvPr id="11" name="Google Shape;282;g104476d1465_1_17">
            <a:extLst>
              <a:ext uri="{FF2B5EF4-FFF2-40B4-BE49-F238E27FC236}">
                <a16:creationId xmlns:a16="http://schemas.microsoft.com/office/drawing/2014/main" id="{7EB3D2B2-DE9B-BFA9-63FC-FD66441E3D0B}"/>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245</a:t>
            </a:r>
            <a:endParaRPr i="1" dirty="0">
              <a:latin typeface="Calibri"/>
              <a:ea typeface="Calibri"/>
              <a:cs typeface="Calibri"/>
              <a:sym typeface="Calibri"/>
            </a:endParaRPr>
          </a:p>
        </p:txBody>
      </p:sp>
      <p:pic>
        <p:nvPicPr>
          <p:cNvPr id="12" name="Google Shape;283;g104476d1465_1_17">
            <a:extLst>
              <a:ext uri="{FF2B5EF4-FFF2-40B4-BE49-F238E27FC236}">
                <a16:creationId xmlns:a16="http://schemas.microsoft.com/office/drawing/2014/main" id="{8835CD4E-9A8E-6857-47B0-CBBF12E7526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17696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F407814-9334-FB45-AE0C-DE0BBC9F080A}"/>
                  </a:ext>
                </a:extLst>
              </p:cNvPr>
              <p:cNvGraphicFramePr>
                <a:graphicFrameLocks noGrp="1"/>
              </p:cNvGraphicFramePr>
              <p:nvPr>
                <p:extLst>
                  <p:ext uri="{D42A27DB-BD31-4B8C-83A1-F6EECF244321}">
                    <p14:modId xmlns:p14="http://schemas.microsoft.com/office/powerpoint/2010/main" val="654382226"/>
                  </p:ext>
                </p:extLst>
              </p:nvPr>
            </p:nvGraphicFramePr>
            <p:xfrm>
              <a:off x="2101517" y="368969"/>
              <a:ext cx="8233387" cy="5502441"/>
            </p:xfrm>
            <a:graphic>
              <a:graphicData uri="http://schemas.openxmlformats.org/drawingml/2006/table">
                <a:tbl>
                  <a:tblPr firstRow="1" firstCol="1" bandRow="1">
                    <a:tableStyleId>{A91F0D33-8C57-4600-99A7-42BC86742BE1}</a:tableStyleId>
                  </a:tblPr>
                  <a:tblGrid>
                    <a:gridCol w="2610195">
                      <a:extLst>
                        <a:ext uri="{9D8B030D-6E8A-4147-A177-3AD203B41FA5}">
                          <a16:colId xmlns:a16="http://schemas.microsoft.com/office/drawing/2014/main" val="2175545360"/>
                        </a:ext>
                      </a:extLst>
                    </a:gridCol>
                    <a:gridCol w="1650958">
                      <a:extLst>
                        <a:ext uri="{9D8B030D-6E8A-4147-A177-3AD203B41FA5}">
                          <a16:colId xmlns:a16="http://schemas.microsoft.com/office/drawing/2014/main" val="2102481961"/>
                        </a:ext>
                      </a:extLst>
                    </a:gridCol>
                    <a:gridCol w="1650958">
                      <a:extLst>
                        <a:ext uri="{9D8B030D-6E8A-4147-A177-3AD203B41FA5}">
                          <a16:colId xmlns:a16="http://schemas.microsoft.com/office/drawing/2014/main" val="3100707203"/>
                        </a:ext>
                      </a:extLst>
                    </a:gridCol>
                    <a:gridCol w="2321276">
                      <a:extLst>
                        <a:ext uri="{9D8B030D-6E8A-4147-A177-3AD203B41FA5}">
                          <a16:colId xmlns:a16="http://schemas.microsoft.com/office/drawing/2014/main" val="1123991381"/>
                        </a:ext>
                      </a:extLst>
                    </a:gridCol>
                  </a:tblGrid>
                  <a:tr h="92683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 Expression</a:t>
                          </a: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Equivalent Card 1</a:t>
                          </a: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Card 2</a:t>
                          </a: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Expression</a:t>
                          </a: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3995726"/>
                      </a:ext>
                    </a:extLst>
                  </a:tr>
                  <a:tr h="7409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14</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𝑞</m:t>
                                    </m:r>
                                  </m:e>
                                  <m:sup>
                                    <m:r>
                                      <a:rPr lang="en-US" sz="2000">
                                        <a:effectLst/>
                                        <a:latin typeface="Cambria Math" panose="02040503050406030204" pitchFamily="18" charset="0"/>
                                      </a:rPr>
                                      <m:t>5</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𝑟</m:t>
                                    </m:r>
                                  </m:e>
                                  <m:sup>
                                    <m:r>
                                      <a:rPr lang="en-US" sz="2000">
                                        <a:effectLst/>
                                        <a:latin typeface="Cambria Math" panose="02040503050406030204" pitchFamily="18" charset="0"/>
                                      </a:rPr>
                                      <m:t>2</m:t>
                                    </m:r>
                                  </m:sup>
                                </m:sSup>
                                <m:r>
                                  <a:rPr lang="en-US" sz="2000">
                                    <a:effectLst/>
                                    <a:latin typeface="Cambria Math" panose="02040503050406030204" pitchFamily="18" charset="0"/>
                                  </a:rPr>
                                  <m:t>−28</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𝑞</m:t>
                                    </m:r>
                                  </m:e>
                                  <m:sup>
                                    <m:r>
                                      <a:rPr lang="en-US" sz="2000">
                                        <a:effectLst/>
                                        <a:latin typeface="Cambria Math" panose="02040503050406030204" pitchFamily="18" charset="0"/>
                                      </a:rPr>
                                      <m:t>6</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𝑟</m:t>
                                    </m:r>
                                  </m:e>
                                  <m:sup>
                                    <m:r>
                                      <a:rPr lang="en-US" sz="2000">
                                        <a:effectLst/>
                                        <a:latin typeface="Cambria Math" panose="02040503050406030204" pitchFamily="18" charset="0"/>
                                      </a:rPr>
                                      <m:t>4</m:t>
                                    </m:r>
                                  </m:sup>
                                </m:sSup>
                              </m:oMath>
                            </m:oMathPara>
                          </a14:m>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2628838"/>
                      </a:ext>
                    </a:extLst>
                  </a:tr>
                  <a:tr h="7409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m:t>
                                    </m:r>
                                    <m:r>
                                      <a:rPr lang="en-US" sz="2000">
                                        <a:effectLst/>
                                        <a:latin typeface="Cambria Math" panose="02040503050406030204" pitchFamily="18" charset="0"/>
                                      </a:rPr>
                                      <m:t>𝑞</m:t>
                                    </m:r>
                                  </m:e>
                                  <m:sup>
                                    <m:r>
                                      <a:rPr lang="en-US" sz="2000">
                                        <a:effectLst/>
                                        <a:latin typeface="Cambria Math" panose="02040503050406030204" pitchFamily="18" charset="0"/>
                                      </a:rPr>
                                      <m:t>3</m:t>
                                    </m:r>
                                  </m:sup>
                                </m:sSup>
                                <m:r>
                                  <a:rPr lang="en-US" sz="2000">
                                    <a:effectLst/>
                                    <a:latin typeface="Cambria Math" panose="02040503050406030204" pitchFamily="18" charset="0"/>
                                  </a:rPr>
                                  <m:t>𝑟</m:t>
                                </m:r>
                                <m:r>
                                  <a:rPr lang="en-US" sz="2000">
                                    <a:effectLst/>
                                    <a:latin typeface="Cambria Math" panose="02040503050406030204" pitchFamily="18" charset="0"/>
                                  </a:rPr>
                                  <m:t>+2</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𝑞</m:t>
                                    </m:r>
                                  </m:e>
                                  <m:sup>
                                    <m:r>
                                      <a:rPr lang="en-US" sz="2000">
                                        <a:effectLst/>
                                        <a:latin typeface="Cambria Math" panose="02040503050406030204" pitchFamily="18" charset="0"/>
                                      </a:rPr>
                                      <m:t>2</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𝑟</m:t>
                                    </m:r>
                                  </m:e>
                                  <m:sup>
                                    <m:r>
                                      <a:rPr lang="en-US" sz="2000">
                                        <a:effectLst/>
                                        <a:latin typeface="Cambria Math" panose="02040503050406030204" pitchFamily="18" charset="0"/>
                                      </a:rPr>
                                      <m:t>8</m:t>
                                    </m:r>
                                  </m:sup>
                                </m:sSup>
                                <m:r>
                                  <a:rPr lang="en-US" sz="2000">
                                    <a:effectLst/>
                                    <a:latin typeface="Cambria Math" panose="02040503050406030204" pitchFamily="18" charset="0"/>
                                  </a:rPr>
                                  <m:t>)</m:t>
                                </m:r>
                              </m:oMath>
                            </m:oMathPara>
                          </a14:m>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9819"/>
                      </a:ext>
                    </a:extLst>
                  </a:tr>
                  <a:tr h="87064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2</m:t>
                                    </m:r>
                                  </m:num>
                                  <m:den>
                                    <m:r>
                                      <a:rPr lang="en-US" sz="2000">
                                        <a:effectLst/>
                                        <a:latin typeface="Cambria Math" panose="02040503050406030204" pitchFamily="18" charset="0"/>
                                      </a:rPr>
                                      <m:t>3</m:t>
                                    </m:r>
                                  </m:den>
                                </m:f>
                                <m:r>
                                  <a:rPr lang="en-US" sz="2000">
                                    <a:effectLst/>
                                    <a:latin typeface="Cambria Math" panose="02040503050406030204" pitchFamily="18" charset="0"/>
                                  </a:rPr>
                                  <m:t>(9</m:t>
                                </m:r>
                                <m:r>
                                  <a:rPr lang="en-US" sz="2000">
                                    <a:effectLst/>
                                    <a:latin typeface="Cambria Math" panose="02040503050406030204" pitchFamily="18" charset="0"/>
                                  </a:rPr>
                                  <m:t>𝑞</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𝑟</m:t>
                                    </m:r>
                                  </m:e>
                                  <m:sup>
                                    <m:r>
                                      <a:rPr lang="en-US" sz="2000">
                                        <a:effectLst/>
                                        <a:latin typeface="Cambria Math" panose="02040503050406030204" pitchFamily="18" charset="0"/>
                                      </a:rPr>
                                      <m:t>3</m:t>
                                    </m:r>
                                  </m:sup>
                                </m:sSup>
                                <m:r>
                                  <a:rPr lang="en-US" sz="2000">
                                    <a:effectLst/>
                                    <a:latin typeface="Cambria Math" panose="02040503050406030204" pitchFamily="18" charset="0"/>
                                  </a:rPr>
                                  <m:t>+18</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𝑞</m:t>
                                    </m:r>
                                  </m:e>
                                  <m:sup>
                                    <m:r>
                                      <a:rPr lang="en-US" sz="2000">
                                        <a:effectLst/>
                                        <a:latin typeface="Cambria Math" panose="02040503050406030204" pitchFamily="18" charset="0"/>
                                      </a:rPr>
                                      <m:t>5</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𝑟</m:t>
                                    </m:r>
                                  </m:e>
                                  <m:sup>
                                    <m:r>
                                      <a:rPr lang="en-US" sz="2000">
                                        <a:effectLst/>
                                        <a:latin typeface="Cambria Math" panose="02040503050406030204" pitchFamily="18" charset="0"/>
                                      </a:rPr>
                                      <m:t>2</m:t>
                                    </m:r>
                                  </m:sup>
                                </m:sSup>
                                <m:r>
                                  <a:rPr lang="en-US" sz="2000">
                                    <a:effectLst/>
                                    <a:latin typeface="Cambria Math" panose="02040503050406030204" pitchFamily="18" charset="0"/>
                                  </a:rPr>
                                  <m:t>)</m:t>
                                </m:r>
                              </m:oMath>
                            </m:oMathPara>
                          </a14:m>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7168295"/>
                      </a:ext>
                    </a:extLst>
                  </a:tr>
                  <a:tr h="7409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𝑞</m:t>
                                    </m:r>
                                  </m:e>
                                  <m:sup>
                                    <m:r>
                                      <a:rPr lang="en-US" sz="2000">
                                        <a:effectLst/>
                                        <a:latin typeface="Cambria Math" panose="02040503050406030204" pitchFamily="18" charset="0"/>
                                      </a:rPr>
                                      <m:t>7</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𝑟</m:t>
                                    </m:r>
                                  </m:e>
                                  <m:sup>
                                    <m:r>
                                      <a:rPr lang="en-US" sz="2000">
                                        <a:effectLst/>
                                        <a:latin typeface="Cambria Math" panose="02040503050406030204" pitchFamily="18" charset="0"/>
                                      </a:rPr>
                                      <m:t>4</m:t>
                                    </m:r>
                                  </m:sup>
                                </m:sSup>
                                <m:r>
                                  <a:rPr lang="en-US" sz="2000">
                                    <a:effectLst/>
                                    <a:latin typeface="Cambria Math" panose="02040503050406030204" pitchFamily="18" charset="0"/>
                                  </a:rPr>
                                  <m:t>−6</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𝑞</m:t>
                                    </m:r>
                                  </m:e>
                                  <m:sup>
                                    <m:r>
                                      <a:rPr lang="en-US" sz="2000">
                                        <a:effectLst/>
                                        <a:latin typeface="Cambria Math" panose="02040503050406030204" pitchFamily="18" charset="0"/>
                                      </a:rPr>
                                      <m:t>4</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𝑟</m:t>
                                    </m:r>
                                  </m:e>
                                  <m:sup>
                                    <m:r>
                                      <a:rPr lang="en-US" sz="2000">
                                        <a:effectLst/>
                                        <a:latin typeface="Cambria Math" panose="02040503050406030204" pitchFamily="18" charset="0"/>
                                      </a:rPr>
                                      <m:t>4</m:t>
                                    </m:r>
                                  </m:sup>
                                </m:sSup>
                              </m:oMath>
                            </m:oMathPara>
                          </a14:m>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6210620"/>
                      </a:ext>
                    </a:extLst>
                  </a:tr>
                  <a:tr h="7409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2(10</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𝑞</m:t>
                                    </m:r>
                                  </m:e>
                                  <m:sup>
                                    <m:r>
                                      <a:rPr lang="en-US" sz="2000">
                                        <a:effectLst/>
                                        <a:latin typeface="Cambria Math" panose="02040503050406030204" pitchFamily="18" charset="0"/>
                                      </a:rPr>
                                      <m:t>4</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𝑟</m:t>
                                    </m:r>
                                  </m:e>
                                  <m:sup>
                                    <m:r>
                                      <a:rPr lang="en-US" sz="2000">
                                        <a:effectLst/>
                                        <a:latin typeface="Cambria Math" panose="02040503050406030204" pitchFamily="18" charset="0"/>
                                      </a:rPr>
                                      <m:t>7</m:t>
                                    </m:r>
                                  </m:sup>
                                </m:sSup>
                                <m:r>
                                  <a:rPr lang="en-US" sz="2000">
                                    <a:effectLst/>
                                    <a:latin typeface="Cambria Math" panose="02040503050406030204" pitchFamily="18" charset="0"/>
                                  </a:rPr>
                                  <m:t>+20</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𝑞</m:t>
                                    </m:r>
                                  </m:e>
                                  <m:sup>
                                    <m:r>
                                      <a:rPr lang="en-US" sz="2000">
                                        <a:effectLst/>
                                        <a:latin typeface="Cambria Math" panose="02040503050406030204" pitchFamily="18" charset="0"/>
                                      </a:rPr>
                                      <m:t>2</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𝑟</m:t>
                                    </m:r>
                                  </m:e>
                                  <m:sup>
                                    <m:r>
                                      <a:rPr lang="en-US" sz="2000">
                                        <a:effectLst/>
                                        <a:latin typeface="Cambria Math" panose="02040503050406030204" pitchFamily="18" charset="0"/>
                                      </a:rPr>
                                      <m:t>3</m:t>
                                    </m:r>
                                  </m:sup>
                                </m:sSup>
                                <m:r>
                                  <a:rPr lang="en-US" sz="2000">
                                    <a:effectLst/>
                                    <a:latin typeface="Cambria Math" panose="02040503050406030204" pitchFamily="18" charset="0"/>
                                  </a:rPr>
                                  <m:t>)</m:t>
                                </m:r>
                              </m:oMath>
                            </m:oMathPara>
                          </a14:m>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4882160"/>
                      </a:ext>
                    </a:extLst>
                  </a:tr>
                  <a:tr h="7409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𝑞</m:t>
                                    </m:r>
                                  </m:e>
                                  <m:sup>
                                    <m:r>
                                      <a:rPr lang="en-US" sz="2000">
                                        <a:effectLst/>
                                        <a:latin typeface="Cambria Math" panose="02040503050406030204" pitchFamily="18" charset="0"/>
                                      </a:rPr>
                                      <m:t>3</m:t>
                                    </m:r>
                                  </m:sup>
                                </m:sSup>
                                <m:r>
                                  <a:rPr lang="en-US" sz="2000">
                                    <a:effectLst/>
                                    <a:latin typeface="Cambria Math" panose="02040503050406030204" pitchFamily="18" charset="0"/>
                                  </a:rPr>
                                  <m:t>𝑟</m:t>
                                </m:r>
                                <m:r>
                                  <a:rPr lang="en-US" sz="2000">
                                    <a:effectLst/>
                                    <a:latin typeface="Cambria Math" panose="02040503050406030204" pitchFamily="18" charset="0"/>
                                  </a:rPr>
                                  <m:t>+15</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𝑞</m:t>
                                    </m:r>
                                  </m:e>
                                  <m:sup>
                                    <m:r>
                                      <a:rPr lang="en-US" sz="2000">
                                        <a:effectLst/>
                                        <a:latin typeface="Cambria Math" panose="02040503050406030204" pitchFamily="18" charset="0"/>
                                      </a:rPr>
                                      <m:t>2</m:t>
                                    </m:r>
                                  </m:sup>
                                </m:sSup>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𝑟</m:t>
                                    </m:r>
                                  </m:e>
                                  <m:sup>
                                    <m:r>
                                      <a:rPr lang="en-US" sz="2000">
                                        <a:effectLst/>
                                        <a:latin typeface="Cambria Math" panose="02040503050406030204" pitchFamily="18" charset="0"/>
                                      </a:rPr>
                                      <m:t>5</m:t>
                                    </m:r>
                                  </m:sup>
                                </m:sSup>
                              </m:oMath>
                            </m:oMathPara>
                          </a14:m>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9163234"/>
                      </a:ext>
                    </a:extLst>
                  </a:tr>
                </a:tbl>
              </a:graphicData>
            </a:graphic>
          </p:graphicFrame>
        </mc:Choice>
        <mc:Fallback xmlns="">
          <p:graphicFrame>
            <p:nvGraphicFramePr>
              <p:cNvPr id="2" name="Table 1">
                <a:extLst>
                  <a:ext uri="{FF2B5EF4-FFF2-40B4-BE49-F238E27FC236}">
                    <a16:creationId xmlns:a16="http://schemas.microsoft.com/office/drawing/2014/main" id="{9F407814-9334-FB45-AE0C-DE0BBC9F080A}"/>
                  </a:ext>
                </a:extLst>
              </p:cNvPr>
              <p:cNvGraphicFramePr>
                <a:graphicFrameLocks noGrp="1"/>
              </p:cNvGraphicFramePr>
              <p:nvPr>
                <p:extLst>
                  <p:ext uri="{D42A27DB-BD31-4B8C-83A1-F6EECF244321}">
                    <p14:modId xmlns:p14="http://schemas.microsoft.com/office/powerpoint/2010/main" val="654382226"/>
                  </p:ext>
                </p:extLst>
              </p:nvPr>
            </p:nvGraphicFramePr>
            <p:xfrm>
              <a:off x="2101517" y="368969"/>
              <a:ext cx="8233387" cy="5502441"/>
            </p:xfrm>
            <a:graphic>
              <a:graphicData uri="http://schemas.openxmlformats.org/drawingml/2006/table">
                <a:tbl>
                  <a:tblPr firstRow="1" firstCol="1" bandRow="1">
                    <a:tableStyleId>{A91F0D33-8C57-4600-99A7-42BC86742BE1}</a:tableStyleId>
                  </a:tblPr>
                  <a:tblGrid>
                    <a:gridCol w="2610195">
                      <a:extLst>
                        <a:ext uri="{9D8B030D-6E8A-4147-A177-3AD203B41FA5}">
                          <a16:colId xmlns:a16="http://schemas.microsoft.com/office/drawing/2014/main" val="2175545360"/>
                        </a:ext>
                      </a:extLst>
                    </a:gridCol>
                    <a:gridCol w="1650958">
                      <a:extLst>
                        <a:ext uri="{9D8B030D-6E8A-4147-A177-3AD203B41FA5}">
                          <a16:colId xmlns:a16="http://schemas.microsoft.com/office/drawing/2014/main" val="2102481961"/>
                        </a:ext>
                      </a:extLst>
                    </a:gridCol>
                    <a:gridCol w="1650958">
                      <a:extLst>
                        <a:ext uri="{9D8B030D-6E8A-4147-A177-3AD203B41FA5}">
                          <a16:colId xmlns:a16="http://schemas.microsoft.com/office/drawing/2014/main" val="3100707203"/>
                        </a:ext>
                      </a:extLst>
                    </a:gridCol>
                    <a:gridCol w="2321276">
                      <a:extLst>
                        <a:ext uri="{9D8B030D-6E8A-4147-A177-3AD203B41FA5}">
                          <a16:colId xmlns:a16="http://schemas.microsoft.com/office/drawing/2014/main" val="1123991381"/>
                        </a:ext>
                      </a:extLst>
                    </a:gridCol>
                  </a:tblGrid>
                  <a:tr h="92683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Given Expression</a:t>
                          </a: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Equivalent Card 1</a:t>
                          </a: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Equivalent Card 2</a:t>
                          </a: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Expression</a:t>
                          </a: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3995726"/>
                      </a:ext>
                    </a:extLst>
                  </a:tr>
                  <a:tr h="740994">
                    <a:tc>
                      <a:txBody>
                        <a:bodyPr/>
                        <a:lstStyle/>
                        <a:p>
                          <a:endParaRPr lang="en-US"/>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85" t="-125424" r="-216019" b="-513559"/>
                          </a:stretch>
                        </a:blipFill>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2628838"/>
                      </a:ext>
                    </a:extLst>
                  </a:tr>
                  <a:tr h="740994">
                    <a:tc>
                      <a:txBody>
                        <a:bodyPr/>
                        <a:lstStyle/>
                        <a:p>
                          <a:endParaRPr lang="en-US"/>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85" t="-229310" r="-216019" b="-422414"/>
                          </a:stretch>
                        </a:blipFill>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489819"/>
                      </a:ext>
                    </a:extLst>
                  </a:tr>
                  <a:tr h="870641">
                    <a:tc>
                      <a:txBody>
                        <a:bodyPr/>
                        <a:lstStyle/>
                        <a:p>
                          <a:endParaRPr lang="en-US"/>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85" t="-276812" r="-216019" b="-255072"/>
                          </a:stretch>
                        </a:blipFill>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7168295"/>
                      </a:ext>
                    </a:extLst>
                  </a:tr>
                  <a:tr h="740994">
                    <a:tc>
                      <a:txBody>
                        <a:bodyPr/>
                        <a:lstStyle/>
                        <a:p>
                          <a:endParaRPr lang="en-US"/>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85" t="-448276" r="-216019" b="-203448"/>
                          </a:stretch>
                        </a:blipFill>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6210620"/>
                      </a:ext>
                    </a:extLst>
                  </a:tr>
                  <a:tr h="740994">
                    <a:tc>
                      <a:txBody>
                        <a:bodyPr/>
                        <a:lstStyle/>
                        <a:p>
                          <a:endParaRPr lang="en-US"/>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85" t="-538983" r="-216019" b="-100000"/>
                          </a:stretch>
                        </a:blipFill>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4882160"/>
                      </a:ext>
                    </a:extLst>
                  </a:tr>
                  <a:tr h="740994">
                    <a:tc>
                      <a:txBody>
                        <a:bodyPr/>
                        <a:lstStyle/>
                        <a:p>
                          <a:endParaRPr lang="en-US"/>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85" t="-650000" r="-216019" b="-1724"/>
                          </a:stretch>
                        </a:blipFill>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2387" marR="423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9163234"/>
                      </a:ext>
                    </a:extLst>
                  </a:tr>
                </a:tbl>
              </a:graphicData>
            </a:graphic>
          </p:graphicFrame>
        </mc:Fallback>
      </mc:AlternateContent>
      <p:sp>
        <p:nvSpPr>
          <p:cNvPr id="6" name="Google Shape;282;g104476d1465_1_17">
            <a:extLst>
              <a:ext uri="{FF2B5EF4-FFF2-40B4-BE49-F238E27FC236}">
                <a16:creationId xmlns:a16="http://schemas.microsoft.com/office/drawing/2014/main" id="{7FFD7EF9-B57A-F9F6-AA7E-654030A55FA3}"/>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245</a:t>
            </a:r>
            <a:endParaRPr i="1" dirty="0">
              <a:latin typeface="Calibri"/>
              <a:ea typeface="Calibri"/>
              <a:cs typeface="Calibri"/>
              <a:sym typeface="Calibri"/>
            </a:endParaRPr>
          </a:p>
        </p:txBody>
      </p:sp>
      <p:pic>
        <p:nvPicPr>
          <p:cNvPr id="7" name="Google Shape;283;g104476d1465_1_17">
            <a:extLst>
              <a:ext uri="{FF2B5EF4-FFF2-40B4-BE49-F238E27FC236}">
                <a16:creationId xmlns:a16="http://schemas.microsoft.com/office/drawing/2014/main" id="{E5499361-AF6B-F3C0-9499-BC64B010E4BE}"/>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96616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29226" y="284468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3368993" y="2976461"/>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DADF4446-E2AC-5626-0F2D-F79C03FF7E84}"/>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245</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390FB17C-4D87-987C-0E5C-12C50C9E0D33}"/>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60547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90597" y="149356"/>
            <a:ext cx="8301253"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12.6.5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24225" y="11851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759C3E41-93EC-B84D-963F-86A3B15AC1C6}"/>
              </a:ext>
            </a:extLst>
          </p:cNvPr>
          <p:cNvSpPr txBox="1"/>
          <p:nvPr/>
        </p:nvSpPr>
        <p:spPr>
          <a:xfrm>
            <a:off x="1490597" y="1001014"/>
            <a:ext cx="8982739" cy="461665"/>
          </a:xfrm>
          <a:prstGeom prst="rect">
            <a:avLst/>
          </a:prstGeom>
          <a:noFill/>
        </p:spPr>
        <p:txBody>
          <a:bodyPr wrap="square" rtlCol="0">
            <a:spAutoFit/>
          </a:bodyPr>
          <a:lstStyle/>
          <a:p>
            <a:pPr marL="457200" lvl="3"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C26A807A-84D6-7649-8B86-E3953690C629}"/>
                  </a:ext>
                </a:extLst>
              </p:cNvPr>
              <p:cNvGraphicFramePr>
                <a:graphicFrameLocks noGrp="1"/>
              </p:cNvGraphicFramePr>
              <p:nvPr>
                <p:extLst>
                  <p:ext uri="{D42A27DB-BD31-4B8C-83A1-F6EECF244321}">
                    <p14:modId xmlns:p14="http://schemas.microsoft.com/office/powerpoint/2010/main" val="2861087130"/>
                  </p:ext>
                </p:extLst>
              </p:nvPr>
            </p:nvGraphicFramePr>
            <p:xfrm>
              <a:off x="2146200" y="1825626"/>
              <a:ext cx="8103936" cy="4044126"/>
            </p:xfrm>
            <a:graphic>
              <a:graphicData uri="http://schemas.openxmlformats.org/drawingml/2006/table">
                <a:tbl>
                  <a:tblPr firstRow="1" firstCol="1" bandRow="1">
                    <a:tableStyleId>{A91F0D33-8C57-4600-99A7-42BC86742BE1}</a:tableStyleId>
                  </a:tblPr>
                  <a:tblGrid>
                    <a:gridCol w="4109608">
                      <a:extLst>
                        <a:ext uri="{9D8B030D-6E8A-4147-A177-3AD203B41FA5}">
                          <a16:colId xmlns:a16="http://schemas.microsoft.com/office/drawing/2014/main" val="3662708067"/>
                        </a:ext>
                      </a:extLst>
                    </a:gridCol>
                    <a:gridCol w="3994328">
                      <a:extLst>
                        <a:ext uri="{9D8B030D-6E8A-4147-A177-3AD203B41FA5}">
                          <a16:colId xmlns:a16="http://schemas.microsoft.com/office/drawing/2014/main" val="3818147822"/>
                        </a:ext>
                      </a:extLst>
                    </a:gridCol>
                  </a:tblGrid>
                  <a:tr h="38783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Factored Expression</a:t>
                          </a: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981386242"/>
                      </a:ext>
                    </a:extLst>
                  </a:tr>
                  <a:tr h="121876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16</m:t>
                                    </m:r>
                                    <m:r>
                                      <a:rPr lang="en-US" sz="2000">
                                        <a:effectLst/>
                                        <a:latin typeface="Cambria Math" panose="02040503050406030204" pitchFamily="18" charset="0"/>
                                      </a:rPr>
                                      <m:t>𝑡</m:t>
                                    </m:r>
                                  </m:e>
                                  <m:sup>
                                    <m:r>
                                      <a:rPr lang="en-US" sz="2000">
                                        <a:effectLst/>
                                        <a:latin typeface="Cambria Math" panose="02040503050406030204" pitchFamily="18" charset="0"/>
                                      </a:rPr>
                                      <m:t>6</m:t>
                                    </m:r>
                                  </m:sup>
                                </m:sSup>
                                <m:r>
                                  <a:rPr lang="en-US" sz="2000">
                                    <a:effectLst/>
                                    <a:latin typeface="Cambria Math" panose="02040503050406030204" pitchFamily="18" charset="0"/>
                                  </a:rPr>
                                  <m:t>+20</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𝑡</m:t>
                                    </m:r>
                                  </m:e>
                                  <m:sup>
                                    <m:r>
                                      <a:rPr lang="en-US" sz="2000">
                                        <a:effectLst/>
                                        <a:latin typeface="Cambria Math" panose="02040503050406030204" pitchFamily="18" charset="0"/>
                                      </a:rPr>
                                      <m:t>4</m:t>
                                    </m:r>
                                  </m:sup>
                                </m:sSup>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530286"/>
                      </a:ext>
                    </a:extLst>
                  </a:tr>
                  <a:tr h="1218765">
                    <a:tc>
                      <a:txBody>
                        <a:bodyPr/>
                        <a:lstStyle/>
                        <a:p>
                          <a:pPr marL="0" marR="0" algn="ctr">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3</m:t>
                                    </m:r>
                                    <m:r>
                                      <a:rPr lang="en-US" sz="2000">
                                        <a:effectLst/>
                                        <a:latin typeface="Cambria Math" panose="02040503050406030204" pitchFamily="18" charset="0"/>
                                      </a:rPr>
                                      <m:t>𝑘</m:t>
                                    </m:r>
                                  </m:e>
                                  <m:sup>
                                    <m:r>
                                      <a:rPr lang="en-US" sz="2000">
                                        <a:effectLst/>
                                        <a:latin typeface="Cambria Math" panose="02040503050406030204" pitchFamily="18" charset="0"/>
                                      </a:rPr>
                                      <m:t>3</m:t>
                                    </m:r>
                                  </m:sup>
                                </m:sSup>
                                <m:r>
                                  <a:rPr lang="en-US" sz="2000">
                                    <a:effectLst/>
                                    <a:latin typeface="Cambria Math" panose="02040503050406030204" pitchFamily="18" charset="0"/>
                                  </a:rPr>
                                  <m:t>(−2</m:t>
                                </m:r>
                                <m:r>
                                  <a:rPr lang="en-US" sz="2000">
                                    <a:effectLst/>
                                    <a:latin typeface="Cambria Math" panose="02040503050406030204" pitchFamily="18" charset="0"/>
                                  </a:rPr>
                                  <m:t>𝑘</m:t>
                                </m:r>
                                <m:r>
                                  <a:rPr lang="en-US" sz="2000">
                                    <a:effectLst/>
                                    <a:latin typeface="Cambria Math" panose="02040503050406030204" pitchFamily="18" charset="0"/>
                                  </a:rPr>
                                  <m:t>+5)</m:t>
                                </m:r>
                              </m:oMath>
                            </m:oMathPara>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4266005"/>
                      </a:ext>
                    </a:extLst>
                  </a:tr>
                  <a:tr h="121876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21</m:t>
                                    </m:r>
                                    <m:r>
                                      <a:rPr lang="en-US" sz="2000">
                                        <a:effectLst/>
                                        <a:latin typeface="Cambria Math" panose="02040503050406030204" pitchFamily="18" charset="0"/>
                                      </a:rPr>
                                      <m:t>𝑚</m:t>
                                    </m:r>
                                  </m:e>
                                  <m:sup>
                                    <m:r>
                                      <a:rPr lang="en-US" sz="2000">
                                        <a:effectLst/>
                                        <a:latin typeface="Cambria Math" panose="02040503050406030204" pitchFamily="18" charset="0"/>
                                      </a:rPr>
                                      <m:t>4</m:t>
                                    </m:r>
                                  </m:sup>
                                </m:sSup>
                                <m:r>
                                  <a:rPr lang="en-US" sz="2000">
                                    <a:effectLst/>
                                    <a:latin typeface="Cambria Math" panose="02040503050406030204" pitchFamily="18" charset="0"/>
                                  </a:rPr>
                                  <m:t>𝑛</m:t>
                                </m:r>
                                <m:r>
                                  <a:rPr lang="en-US" sz="2000">
                                    <a:effectLst/>
                                    <a:latin typeface="Cambria Math" panose="02040503050406030204" pitchFamily="18" charset="0"/>
                                  </a:rPr>
                                  <m:t>−27</m:t>
                                </m:r>
                                <m:r>
                                  <a:rPr lang="en-US" sz="2000">
                                    <a:effectLst/>
                                    <a:latin typeface="Cambria Math" panose="02040503050406030204" pitchFamily="18" charset="0"/>
                                  </a:rPr>
                                  <m:t>𝑚</m:t>
                                </m:r>
                                <m:sSup>
                                  <m:sSupPr>
                                    <m:ctrlPr>
                                      <a:rPr lang="en-US" sz="2000" i="1">
                                        <a:effectLst/>
                                        <a:latin typeface="Cambria Math" panose="02040503050406030204" pitchFamily="18" charset="0"/>
                                      </a:rPr>
                                    </m:ctrlPr>
                                  </m:sSupPr>
                                  <m:e>
                                    <m:r>
                                      <a:rPr lang="en-US" sz="2000">
                                        <a:effectLst/>
                                        <a:latin typeface="Cambria Math" panose="02040503050406030204" pitchFamily="18" charset="0"/>
                                      </a:rPr>
                                      <m:t>𝑛</m:t>
                                    </m:r>
                                  </m:e>
                                  <m:sup>
                                    <m:r>
                                      <a:rPr lang="en-US" sz="2000">
                                        <a:effectLst/>
                                        <a:latin typeface="Cambria Math" panose="02040503050406030204" pitchFamily="18" charset="0"/>
                                      </a:rPr>
                                      <m:t>3</m:t>
                                    </m:r>
                                  </m:sup>
                                </m:sSup>
                              </m:oMath>
                            </m:oMathPara>
                          </a14:m>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3948691"/>
                      </a:ext>
                    </a:extLst>
                  </a:tr>
                </a:tbl>
              </a:graphicData>
            </a:graphic>
          </p:graphicFrame>
        </mc:Choice>
        <mc:Fallback xmlns="">
          <p:graphicFrame>
            <p:nvGraphicFramePr>
              <p:cNvPr id="2" name="Table 1">
                <a:extLst>
                  <a:ext uri="{FF2B5EF4-FFF2-40B4-BE49-F238E27FC236}">
                    <a16:creationId xmlns:a16="http://schemas.microsoft.com/office/drawing/2014/main" id="{C26A807A-84D6-7649-8B86-E3953690C629}"/>
                  </a:ext>
                </a:extLst>
              </p:cNvPr>
              <p:cNvGraphicFramePr>
                <a:graphicFrameLocks noGrp="1"/>
              </p:cNvGraphicFramePr>
              <p:nvPr>
                <p:extLst>
                  <p:ext uri="{D42A27DB-BD31-4B8C-83A1-F6EECF244321}">
                    <p14:modId xmlns:p14="http://schemas.microsoft.com/office/powerpoint/2010/main" val="2861087130"/>
                  </p:ext>
                </p:extLst>
              </p:nvPr>
            </p:nvGraphicFramePr>
            <p:xfrm>
              <a:off x="2146200" y="1825626"/>
              <a:ext cx="8103936" cy="4044126"/>
            </p:xfrm>
            <a:graphic>
              <a:graphicData uri="http://schemas.openxmlformats.org/drawingml/2006/table">
                <a:tbl>
                  <a:tblPr firstRow="1" firstCol="1" bandRow="1">
                    <a:tableStyleId>{A91F0D33-8C57-4600-99A7-42BC86742BE1}</a:tableStyleId>
                  </a:tblPr>
                  <a:tblGrid>
                    <a:gridCol w="4109608">
                      <a:extLst>
                        <a:ext uri="{9D8B030D-6E8A-4147-A177-3AD203B41FA5}">
                          <a16:colId xmlns:a16="http://schemas.microsoft.com/office/drawing/2014/main" val="3662708067"/>
                        </a:ext>
                      </a:extLst>
                    </a:gridCol>
                    <a:gridCol w="3994328">
                      <a:extLst>
                        <a:ext uri="{9D8B030D-6E8A-4147-A177-3AD203B41FA5}">
                          <a16:colId xmlns:a16="http://schemas.microsoft.com/office/drawing/2014/main" val="3818147822"/>
                        </a:ext>
                      </a:extLst>
                    </a:gridCol>
                  </a:tblGrid>
                  <a:tr h="387831">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Expression</a:t>
                          </a: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Factored Expression</a:t>
                          </a: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981386242"/>
                      </a:ext>
                    </a:extLst>
                  </a:tr>
                  <a:tr h="1218765">
                    <a:tc>
                      <a:txBody>
                        <a:bodyPr/>
                        <a:lstStyle/>
                        <a:p>
                          <a:endParaRPr lang="en-US"/>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35417" r="-97231" b="-202083"/>
                          </a:stretch>
                        </a:blipFill>
                      </a:tcPr>
                    </a:tc>
                    <a:tc>
                      <a:txBody>
                        <a:bodyPr/>
                        <a:lstStyle/>
                        <a:p>
                          <a:pPr marL="0" marR="0" algn="ctr">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530286"/>
                      </a:ext>
                    </a:extLst>
                  </a:tr>
                  <a:tr h="1218765">
                    <a:tc>
                      <a:txBody>
                        <a:bodyPr/>
                        <a:lstStyle/>
                        <a:p>
                          <a:pPr marL="0" marR="0" algn="ctr">
                            <a:spcBef>
                              <a:spcPts val="0"/>
                            </a:spcBef>
                            <a:spcAft>
                              <a:spcPts val="0"/>
                            </a:spcAft>
                          </a:pPr>
                          <a:r>
                            <a:rPr lang="en-US" sz="2000">
                              <a:effectLst/>
                            </a:rPr>
                            <a:t>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3175" t="-134021" r="-317" b="-100000"/>
                          </a:stretch>
                        </a:blipFill>
                      </a:tcPr>
                    </a:tc>
                    <a:extLst>
                      <a:ext uri="{0D108BD9-81ED-4DB2-BD59-A6C34878D82A}">
                        <a16:rowId xmlns:a16="http://schemas.microsoft.com/office/drawing/2014/main" val="3114266005"/>
                      </a:ext>
                    </a:extLst>
                  </a:tr>
                  <a:tr h="1218765">
                    <a:tc>
                      <a:txBody>
                        <a:bodyPr/>
                        <a:lstStyle/>
                        <a:p>
                          <a:endParaRPr lang="en-US"/>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36458" r="-97231" b="-1042"/>
                          </a:stretch>
                        </a:blipFill>
                      </a:tcPr>
                    </a:tc>
                    <a:tc>
                      <a:txBody>
                        <a:bodyPr/>
                        <a:lstStyle/>
                        <a:p>
                          <a:pPr marL="0" marR="0" algn="ctr">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3524" marR="5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3948691"/>
                      </a:ext>
                    </a:extLst>
                  </a:tr>
                </a:tbl>
              </a:graphicData>
            </a:graphic>
          </p:graphicFrame>
        </mc:Fallback>
      </mc:AlternateContent>
      <p:sp>
        <p:nvSpPr>
          <p:cNvPr id="10" name="Google Shape;282;g104476d1465_1_17">
            <a:extLst>
              <a:ext uri="{FF2B5EF4-FFF2-40B4-BE49-F238E27FC236}">
                <a16:creationId xmlns:a16="http://schemas.microsoft.com/office/drawing/2014/main" id="{5EB66BF6-A3B1-9008-EBB9-4F02CE99C941}"/>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245</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5E1D54F8-37B7-6BD1-CD7B-BB7DB64DF054}"/>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7228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906131" y="2779099"/>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3314516" y="2933693"/>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F27BC6F3-708E-FF30-5427-86E246B2C180}"/>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246</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CB6FF551-9586-07F1-992E-DE2101ACA27A}"/>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82005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121"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21914" y="60325"/>
            <a:ext cx="845208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12.6.6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74614" y="304796"/>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056904" y="1386025"/>
            <a:ext cx="10078734" cy="230832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Rate your understanding of today’s learning target on the emoji scale.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20750" indent="-46037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rewrite the sum of two algebraic expressions having a common monomial factor as a common factor multiplied by the sum of two algebraic expressions.</a:t>
            </a:r>
          </a:p>
        </p:txBody>
      </p:sp>
      <p:pic>
        <p:nvPicPr>
          <p:cNvPr id="8" name="Picture 7" descr="Chart&#10;&#10;Description automatically generated">
            <a:extLst>
              <a:ext uri="{FF2B5EF4-FFF2-40B4-BE49-F238E27FC236}">
                <a16:creationId xmlns:a16="http://schemas.microsoft.com/office/drawing/2014/main" id="{05EBBC0A-A9BF-4C48-87B9-369404765B59}"/>
              </a:ext>
            </a:extLst>
          </p:cNvPr>
          <p:cNvPicPr>
            <a:picLocks noChangeAspect="1"/>
          </p:cNvPicPr>
          <p:nvPr/>
        </p:nvPicPr>
        <p:blipFill>
          <a:blip r:embed="rId4" cstate="screen">
            <a:extLst>
              <a:ext uri="{28A0092B-C50C-407E-A947-70E740481C1C}">
                <a14:useLocalDpi xmlns:a14="http://schemas.microsoft.com/office/drawing/2010/main"/>
              </a:ext>
            </a:extLst>
          </a:blip>
          <a:srcRect t="46060" b="42612"/>
          <a:stretch>
            <a:fillRect/>
          </a:stretch>
        </p:blipFill>
        <p:spPr bwMode="auto">
          <a:xfrm>
            <a:off x="3124200" y="5415143"/>
            <a:ext cx="5943600" cy="438785"/>
          </a:xfrm>
          <a:prstGeom prst="rect">
            <a:avLst/>
          </a:prstGeom>
          <a:noFill/>
          <a:ln>
            <a:noFill/>
          </a:ln>
        </p:spPr>
      </p:pic>
      <p:pic>
        <p:nvPicPr>
          <p:cNvPr id="10" name="Picture 9" descr="Icon&#10;&#10;Description automatically generated">
            <a:extLst>
              <a:ext uri="{FF2B5EF4-FFF2-40B4-BE49-F238E27FC236}">
                <a16:creationId xmlns:a16="http://schemas.microsoft.com/office/drawing/2014/main" id="{56343104-724A-2D43-BC27-6E0D6AF4A437}"/>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667000" y="4299184"/>
            <a:ext cx="914400" cy="914400"/>
          </a:xfrm>
          <a:prstGeom prst="rect">
            <a:avLst/>
          </a:prstGeom>
          <a:noFill/>
          <a:ln>
            <a:noFill/>
          </a:ln>
        </p:spPr>
      </p:pic>
      <p:pic>
        <p:nvPicPr>
          <p:cNvPr id="11" name="Picture 10" descr="Icon&#10;&#10;Description automatically generated">
            <a:extLst>
              <a:ext uri="{FF2B5EF4-FFF2-40B4-BE49-F238E27FC236}">
                <a16:creationId xmlns:a16="http://schemas.microsoft.com/office/drawing/2014/main" id="{AB5856FF-BFC2-9C48-A6F1-F07154E1AD19}"/>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610600" y="4299184"/>
            <a:ext cx="914400" cy="914400"/>
          </a:xfrm>
          <a:prstGeom prst="rect">
            <a:avLst/>
          </a:prstGeom>
          <a:noFill/>
          <a:ln>
            <a:noFill/>
          </a:ln>
        </p:spPr>
      </p:pic>
      <p:pic>
        <p:nvPicPr>
          <p:cNvPr id="13" name="Picture 12" descr="Icon&#10;&#10;Description automatically generated">
            <a:extLst>
              <a:ext uri="{FF2B5EF4-FFF2-40B4-BE49-F238E27FC236}">
                <a16:creationId xmlns:a16="http://schemas.microsoft.com/office/drawing/2014/main" id="{3FE7E160-AF6E-8B49-ACC1-9F833D4AB83E}"/>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7429387" y="4299184"/>
            <a:ext cx="914400" cy="914400"/>
          </a:xfrm>
          <a:prstGeom prst="rect">
            <a:avLst/>
          </a:prstGeom>
          <a:noFill/>
          <a:ln>
            <a:noFill/>
          </a:ln>
        </p:spPr>
      </p:pic>
      <p:pic>
        <p:nvPicPr>
          <p:cNvPr id="14" name="Picture 13" descr="Icon&#10;&#10;Description automatically generated">
            <a:extLst>
              <a:ext uri="{FF2B5EF4-FFF2-40B4-BE49-F238E27FC236}">
                <a16:creationId xmlns:a16="http://schemas.microsoft.com/office/drawing/2014/main" id="{25655290-7B99-F447-94CC-78F5F20BD427}"/>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bwMode="auto">
          <a:xfrm>
            <a:off x="3848212" y="4299184"/>
            <a:ext cx="914400" cy="914400"/>
          </a:xfrm>
          <a:prstGeom prst="rect">
            <a:avLst/>
          </a:prstGeom>
          <a:noFill/>
          <a:ln>
            <a:noFill/>
          </a:ln>
        </p:spPr>
      </p:pic>
      <p:pic>
        <p:nvPicPr>
          <p:cNvPr id="15" name="Picture 14" descr="Icon&#10;&#10;Description automatically generated">
            <a:extLst>
              <a:ext uri="{FF2B5EF4-FFF2-40B4-BE49-F238E27FC236}">
                <a16:creationId xmlns:a16="http://schemas.microsoft.com/office/drawing/2014/main" id="{FAF5FD2E-8610-9D41-8981-E11B7F06A526}"/>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bwMode="auto">
          <a:xfrm>
            <a:off x="5029424" y="4299184"/>
            <a:ext cx="914400" cy="914400"/>
          </a:xfrm>
          <a:prstGeom prst="rect">
            <a:avLst/>
          </a:prstGeom>
          <a:noFill/>
          <a:ln>
            <a:noFill/>
          </a:ln>
        </p:spPr>
      </p:pic>
      <p:pic>
        <p:nvPicPr>
          <p:cNvPr id="16" name="Picture 15" descr="Icon&#10;&#10;Description automatically generated">
            <a:extLst>
              <a:ext uri="{FF2B5EF4-FFF2-40B4-BE49-F238E27FC236}">
                <a16:creationId xmlns:a16="http://schemas.microsoft.com/office/drawing/2014/main" id="{74D72E52-B537-1C4F-9E72-2C8670CD718C}"/>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248175" y="4299184"/>
            <a:ext cx="914400" cy="914400"/>
          </a:xfrm>
          <a:prstGeom prst="rect">
            <a:avLst/>
          </a:prstGeom>
          <a:noFill/>
          <a:ln>
            <a:noFill/>
          </a:ln>
        </p:spPr>
      </p:pic>
      <p:sp>
        <p:nvSpPr>
          <p:cNvPr id="17" name="Google Shape;282;g104476d1465_1_17">
            <a:extLst>
              <a:ext uri="{FF2B5EF4-FFF2-40B4-BE49-F238E27FC236}">
                <a16:creationId xmlns:a16="http://schemas.microsoft.com/office/drawing/2014/main" id="{C838FBA9-4095-73FA-CA14-766987365E84}"/>
              </a:ext>
            </a:extLst>
          </p:cNvPr>
          <p:cNvSpPr txBox="1"/>
          <p:nvPr/>
        </p:nvSpPr>
        <p:spPr>
          <a:xfrm>
            <a:off x="8771787" y="62022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246</a:t>
            </a:r>
            <a:endParaRPr i="1" dirty="0">
              <a:latin typeface="Calibri"/>
              <a:ea typeface="Calibri"/>
              <a:cs typeface="Calibri"/>
              <a:sym typeface="Calibri"/>
            </a:endParaRPr>
          </a:p>
        </p:txBody>
      </p:sp>
      <p:pic>
        <p:nvPicPr>
          <p:cNvPr id="18" name="Google Shape;283;g104476d1465_1_17">
            <a:extLst>
              <a:ext uri="{FF2B5EF4-FFF2-40B4-BE49-F238E27FC236}">
                <a16:creationId xmlns:a16="http://schemas.microsoft.com/office/drawing/2014/main" id="{4D529CED-8E6F-33F6-70C4-76AAFD7C9354}"/>
              </a:ext>
            </a:extLst>
          </p:cNvPr>
          <p:cNvPicPr preferRelativeResize="0"/>
          <p:nvPr/>
        </p:nvPicPr>
        <p:blipFill>
          <a:blip r:embed="rId10" cstate="screen">
            <a:alphaModFix/>
            <a:extLst>
              <a:ext uri="{28A0092B-C50C-407E-A947-70E740481C1C}">
                <a14:useLocalDpi xmlns:a14="http://schemas.microsoft.com/office/drawing/2010/main"/>
              </a:ext>
            </a:extLst>
          </a:blip>
          <a:stretch>
            <a:fillRect/>
          </a:stretch>
        </p:blipFill>
        <p:spPr>
          <a:xfrm>
            <a:off x="11405787" y="612903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665984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3688</TotalTime>
  <Words>1126</Words>
  <Application>Microsoft Office PowerPoint</Application>
  <PresentationFormat>Widescreen</PresentationFormat>
  <Paragraphs>217</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Verdana</vt:lpstr>
      <vt:lpstr>Courier New</vt:lpstr>
      <vt:lpstr>Century Gothic</vt:lpstr>
      <vt:lpstr>Arial</vt:lpstr>
      <vt:lpstr>Cambria Math</vt:lpstr>
      <vt:lpstr>Wingdings</vt:lpstr>
      <vt:lpstr>Calibri</vt:lpstr>
      <vt:lpstr>Times New Roman</vt:lpstr>
      <vt:lpstr>Arial Black</vt:lpstr>
      <vt:lpstr>1_Office Theme</vt:lpstr>
      <vt:lpstr>8th Grade Math: Pre-Algebra  Unit 12, Lesson 6  Rewriting Expressions with Common Monomial Factors  Volume 2, pg. 242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Activity</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28</cp:revision>
  <dcterms:created xsi:type="dcterms:W3CDTF">2015-03-17T18:51:18Z</dcterms:created>
  <dcterms:modified xsi:type="dcterms:W3CDTF">2022-07-21T01:11:45Z</dcterms:modified>
</cp:coreProperties>
</file>