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23" r:id="rId8"/>
    <p:sldId id="324" r:id="rId9"/>
    <p:sldId id="367" r:id="rId10"/>
    <p:sldId id="314" r:id="rId11"/>
    <p:sldId id="315" r:id="rId12"/>
    <p:sldId id="362" r:id="rId13"/>
    <p:sldId id="372" r:id="rId14"/>
    <p:sldId id="373" r:id="rId15"/>
    <p:sldId id="374" r:id="rId16"/>
    <p:sldId id="375" r:id="rId17"/>
    <p:sldId id="376" r:id="rId18"/>
    <p:sldId id="320" r:id="rId19"/>
    <p:sldId id="321" r:id="rId20"/>
    <p:sldId id="365" r:id="rId21"/>
    <p:sldId id="377" r:id="rId22"/>
    <p:sldId id="378" r:id="rId23"/>
    <p:sldId id="379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A04020102020204" pitchFamily="34" charset="0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4"/>
    <p:restoredTop sz="94709"/>
  </p:normalViewPr>
  <p:slideViewPr>
    <p:cSldViewPr snapToGrid="0">
      <p:cViewPr varScale="1">
        <p:scale>
          <a:sx n="81" d="100"/>
          <a:sy n="81" d="100"/>
        </p:scale>
        <p:origin x="76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05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8530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4090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698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8107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484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9782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699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7987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1313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Expressions Using the Order of Operations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251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591" y="169610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03123" y="136525"/>
            <a:ext cx="785072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2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68779" y="1600200"/>
            <a:ext cx="1007938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MA.8.NSO.1.7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multi-step mathematical and real-world problems involving the order of operations with rational numbers, including exponents and radicals.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78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0597" y="129667"/>
            <a:ext cx="83554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56905" y="1596390"/>
            <a:ext cx="100787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C39F479-3FC8-F728-131F-79C86813E19C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648D06BE-1C32-04B1-F6E9-BF582C99009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31917" y="82477"/>
            <a:ext cx="82597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8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68779" y="1498651"/>
            <a:ext cx="1010443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involving the order of operations with rational numbers, including exponents and radicals.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3AA1846-8547-A173-C713-B2311E3F553D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F121954B-6267-D509-A7EE-0B42055C349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025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1260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725B735-FC31-639A-2622-DB366939BA5C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BE8405F-3829-61B1-8076-843B6088EEC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8071" y="148008"/>
            <a:ext cx="96826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12.8.1 Warm-Up: Between Two Numbers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25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031311" y="1386026"/>
                <a:ext cx="1012938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octopus is capable of laying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56,000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eggs at one time. Each egg is about the size of a single grain of rice, approximately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grams (g).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ostrich, on the other hand, can lay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eggs at a time with each egg weighing as much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kilograms (kg).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kg</a:t>
                </a:r>
              </a:p>
              <a:p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Approximately how many octopus’ eggs would weigh the same as one ostrich’s egg?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11" y="1386026"/>
                <a:ext cx="10129380" cy="4154984"/>
              </a:xfrm>
              <a:prstGeom prst="rect">
                <a:avLst/>
              </a:prstGeom>
              <a:blipFill>
                <a:blip r:embed="rId4"/>
                <a:stretch>
                  <a:fillRect l="-903" t="-1320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B84B130-0F67-0F4F-B058-ADA4DFC63029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DCE02DD6-9FF3-EEE8-C002-1EB442B0D0DB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679367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66992DE-BEEF-5A98-E51D-920FDB0E494B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C32D34A-3AF0-8D4C-1742-66122AC7E26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97855" y="0"/>
            <a:ext cx="994609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12.8.2 Guided Practice: Evaluating Expressions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8047" y="15386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080655" y="1386026"/>
                <a:ext cx="9306929" cy="3928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expression. Show your work.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∙4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∙12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−125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55" y="1386026"/>
                <a:ext cx="9306929" cy="3928255"/>
              </a:xfrm>
              <a:prstGeom prst="rect">
                <a:avLst/>
              </a:prstGeom>
              <a:blipFill>
                <a:blip r:embed="rId4"/>
                <a:stretch>
                  <a:fillRect l="-982" t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FC5EC32-DE84-E620-5CB1-B6BA37AD3BE9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76F59A25-E8CE-EC22-3049-A6F3A14102FD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3"/>
                <a:ext cx="9277997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3"/>
                <a:ext cx="9277997" cy="616515"/>
              </a:xfrm>
              <a:prstGeom prst="rect">
                <a:avLst/>
              </a:prstGeom>
              <a:blipFill>
                <a:blip r:embed="rId3"/>
                <a:stretch>
                  <a:fillRect l="-986"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EBC4F2D-21D0-A036-D3D4-4BD4EC8D9FA3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33FF7A0B-EEB2-27E4-DA76-6222DD6673C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76197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6A3C7A7-1727-4EA9-016B-62E0D4C8B048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501AB3EE-6783-510C-0207-A560BDA2A65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31917" y="60325"/>
            <a:ext cx="90072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12.8.3 Collaboration: Analyzing Student Work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3071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068779" y="1386025"/>
                <a:ext cx="10091911" cy="305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Veronica and Roscoe were discussing how the value of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−11)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would change for different values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Veronica said it is possible for the value of the expression to be negative, but Roscoe says that’s impossible.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  <a:tabLst>
                    <a:tab pos="906463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Before performing any calculations, explain who you think is correct.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79" y="1386025"/>
                <a:ext cx="10091911" cy="3051092"/>
              </a:xfrm>
              <a:prstGeom prst="rect">
                <a:avLst/>
              </a:prstGeom>
              <a:blipFill>
                <a:blip r:embed="rId4"/>
                <a:stretch>
                  <a:fillRect l="-906" t="-1597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97D7FC0-6787-4DAB-4065-C379CB0D1E7C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876FDCF-C86D-7279-DED7-DE2D42012CAA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68780" y="520394"/>
                <a:ext cx="100668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evaluate the expression for each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given in the table. Show your work in the space provided.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80" y="520394"/>
                <a:ext cx="10066858" cy="1200329"/>
              </a:xfrm>
              <a:prstGeom prst="rect">
                <a:avLst/>
              </a:prstGeom>
              <a:blipFill>
                <a:blip r:embed="rId3"/>
                <a:stretch>
                  <a:fillRect t="-4061" r="-60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2F585E9-D233-DE45-A0B4-EB22882C3C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5957374"/>
                  </p:ext>
                </p:extLst>
              </p:nvPr>
            </p:nvGraphicFramePr>
            <p:xfrm>
              <a:off x="2007765" y="1935048"/>
              <a:ext cx="7863840" cy="410820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978901">
                      <a:extLst>
                        <a:ext uri="{9D8B030D-6E8A-4147-A177-3AD203B41FA5}">
                          <a16:colId xmlns:a16="http://schemas.microsoft.com/office/drawing/2014/main" val="1971774898"/>
                        </a:ext>
                      </a:extLst>
                    </a:gridCol>
                    <a:gridCol w="4763987">
                      <a:extLst>
                        <a:ext uri="{9D8B030D-6E8A-4147-A177-3AD203B41FA5}">
                          <a16:colId xmlns:a16="http://schemas.microsoft.com/office/drawing/2014/main" val="1720927295"/>
                        </a:ext>
                      </a:extLst>
                    </a:gridCol>
                    <a:gridCol w="2120952">
                      <a:extLst>
                        <a:ext uri="{9D8B030D-6E8A-4147-A177-3AD203B41FA5}">
                          <a16:colId xmlns:a16="http://schemas.microsoft.com/office/drawing/2014/main" val="3703335803"/>
                        </a:ext>
                      </a:extLst>
                    </a:gridCol>
                  </a:tblGrid>
                  <a:tr h="80763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Show Your Work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2000" b="1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b="1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rad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𝟏𝟏</m:t>
                                  </m:r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6652206"/>
                      </a:ext>
                    </a:extLst>
                  </a:tr>
                  <a:tr h="11001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95424855"/>
                      </a:ext>
                    </a:extLst>
                  </a:tr>
                  <a:tr h="11001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0565609"/>
                      </a:ext>
                    </a:extLst>
                  </a:tr>
                  <a:tr h="11001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24067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2F585E9-D233-DE45-A0B4-EB22882C3C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5957374"/>
                  </p:ext>
                </p:extLst>
              </p:nvPr>
            </p:nvGraphicFramePr>
            <p:xfrm>
              <a:off x="2007765" y="1935048"/>
              <a:ext cx="7863840" cy="410820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978901">
                      <a:extLst>
                        <a:ext uri="{9D8B030D-6E8A-4147-A177-3AD203B41FA5}">
                          <a16:colId xmlns:a16="http://schemas.microsoft.com/office/drawing/2014/main" val="1971774898"/>
                        </a:ext>
                      </a:extLst>
                    </a:gridCol>
                    <a:gridCol w="4763987">
                      <a:extLst>
                        <a:ext uri="{9D8B030D-6E8A-4147-A177-3AD203B41FA5}">
                          <a16:colId xmlns:a16="http://schemas.microsoft.com/office/drawing/2014/main" val="1720927295"/>
                        </a:ext>
                      </a:extLst>
                    </a:gridCol>
                    <a:gridCol w="2120952">
                      <a:extLst>
                        <a:ext uri="{9D8B030D-6E8A-4147-A177-3AD203B41FA5}">
                          <a16:colId xmlns:a16="http://schemas.microsoft.com/office/drawing/2014/main" val="3703335803"/>
                        </a:ext>
                      </a:extLst>
                    </a:gridCol>
                  </a:tblGrid>
                  <a:tr h="807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1" t="-752" r="-703106" b="-409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Show Your Work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1264" t="-752" r="-575" b="-4090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6652206"/>
                      </a:ext>
                    </a:extLst>
                  </a:tr>
                  <a:tr h="11001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1" t="-74444" r="-703106" b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95424855"/>
                      </a:ext>
                    </a:extLst>
                  </a:tr>
                  <a:tr h="11001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1" t="-173481" r="-703106" b="-10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0565609"/>
                      </a:ext>
                    </a:extLst>
                  </a:tr>
                  <a:tr h="11001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1" t="-273481" r="-703106" b="-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6620" marR="5662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24067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57C5901-5251-0203-E220-E05422501DA7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0D95D034-562B-13FB-592B-5DF964B4778E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6973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21278" y="520394"/>
                <a:ext cx="10151937" cy="5267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discuss what you notice about the value of the expression for each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Veronica or Roscoe is correct. </a:t>
                </a:r>
              </a:p>
              <a:p>
                <a:pPr marL="914400" indent="-449263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if removing the parentheses, so the expression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would change which values are possible for the expression.</a:t>
                </a:r>
              </a:p>
              <a:p>
                <a:r>
                  <a:rPr lang="en-US" sz="2400" dirty="0"/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278" y="520394"/>
                <a:ext cx="10151937" cy="5267083"/>
              </a:xfrm>
              <a:prstGeom prst="rect">
                <a:avLst/>
              </a:prstGeom>
              <a:blipFill>
                <a:blip r:embed="rId3"/>
                <a:stretch>
                  <a:fillRect t="-926" r="-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79FA82A4-7D54-88CB-3DF5-E15054EEBA83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373839FD-A903-6FF9-08D7-B529082EFF9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0307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80655" y="460418"/>
                <a:ext cx="10262501" cy="6284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Liesel evaluated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−11 +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Her work is shown, beginning with the original expression.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−11 +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−11 + 8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−9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−2.5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55" y="460418"/>
                <a:ext cx="10262501" cy="6284349"/>
              </a:xfrm>
              <a:prstGeom prst="rect">
                <a:avLst/>
              </a:prstGeom>
              <a:blipFill>
                <a:blip r:embed="rId3"/>
                <a:stretch>
                  <a:fillRect l="-653" t="-583" r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8AC09524-19C6-A065-D676-7E40CBB5BC9F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47A36375-FAB5-9DEF-5328-24C4AE5441C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257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68780" y="520394"/>
            <a:ext cx="1009191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Liesel made errors when evaluating the expression. 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where Liesel made errors. 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Correct her work in the space provided beside Liesel’s work. 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Liesel a short note with advice on how to avoid similar mistakes in the future.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AC3BB20-3DA4-A7FC-B849-77033450EC4D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92122DA5-9254-511C-E2AE-1804D177BCFC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1646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29" y="520394"/>
                <a:ext cx="10103135" cy="5400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Deshawn is evaluating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36</m:t>
                            </m:r>
                          </m:e>
                        </m:ra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+21</m:t>
                        </m: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Instead of first performing operations within the parentheses, he multiplied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both terms in the parentheses, as shown.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e>
                          </m:ra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=(−4∙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)+(−4∙21)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property of operations did Deshawn use?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Evaluate both expressions Deshawn set equal to each other using the order of operations.</a:t>
                </a:r>
              </a:p>
              <a:p>
                <a:r>
                  <a:rPr lang="en-US" sz="2400" dirty="0"/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520394"/>
                <a:ext cx="10103135" cy="5400581"/>
              </a:xfrm>
              <a:prstGeom prst="rect">
                <a:avLst/>
              </a:prstGeom>
              <a:blipFill>
                <a:blip r:embed="rId3"/>
                <a:stretch>
                  <a:fillRect l="-905" t="-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92762491-4361-F13F-F02B-7527DA788096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9DBB5AB9-0AA3-8D52-08B2-C78B2D9B1CF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6980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68779" y="520394"/>
            <a:ext cx="92661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the values of the two expressions compare.</a:t>
            </a:r>
          </a:p>
          <a:p>
            <a:pPr marL="922337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223838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551B9851-6494-9FBB-D2A3-1B1E96065229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CE8D7C48-706C-4BDD-754E-7A1FF960CF35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6169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66460" y="2761975"/>
            <a:ext cx="386446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72758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431CAFF-4A04-6A61-95AD-E346F17D606D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67C0C52C-11E0-EFFA-A55A-32D5F49883B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953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15649" y="60325"/>
            <a:ext cx="965756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12.8.4 Try It: The Impact of Grouping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50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018785" y="1386025"/>
                <a:ext cx="10154432" cy="3120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Chandler says that when following the order of operations, the two expressions below are equivalent and the parentheses are not needed.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−3∙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121</m:t>
                              </m:r>
                            </m:e>
                          </m:ra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+19=−3∙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121</m:t>
                          </m:r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+19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Chandler is correct. Justify mathematically.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85" y="1386025"/>
                <a:ext cx="10154432" cy="3120150"/>
              </a:xfrm>
              <a:prstGeom prst="rect">
                <a:avLst/>
              </a:prstGeom>
              <a:blipFill>
                <a:blip r:embed="rId4"/>
                <a:stretch>
                  <a:fillRect l="-900" t="-1563" b="-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4F42CA9F-AB9C-197E-0AC2-1D1AF1095B32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7CF3F0AE-F7EC-95CB-BBA3-8F8998CA0EF9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80656" y="520394"/>
                <a:ext cx="10042456" cy="1236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the parentheses would change the value of the expression if they were around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121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+19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instead.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56" y="520394"/>
                <a:ext cx="10042456" cy="1236300"/>
              </a:xfrm>
              <a:prstGeom prst="rect">
                <a:avLst/>
              </a:prstGeom>
              <a:blipFill>
                <a:blip r:embed="rId3"/>
                <a:stretch>
                  <a:fillRect t="-3941" r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60932047-01C1-5851-BB58-DBE0AE45CDDD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D2A2BE5B-852A-9ECA-AB6B-C648E616D5F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9249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56904" y="520394"/>
            <a:ext cx="101037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expressions are shown. One does not include any grouping symbols, while the others have parentheses placed around different parts of the expression. 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562CC36-AD3E-074E-B921-A878BA54F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099234"/>
                  </p:ext>
                </p:extLst>
              </p:nvPr>
            </p:nvGraphicFramePr>
            <p:xfrm>
              <a:off x="2466110" y="2104893"/>
              <a:ext cx="6487114" cy="336251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3220">
                      <a:extLst>
                        <a:ext uri="{9D8B030D-6E8A-4147-A177-3AD203B41FA5}">
                          <a16:colId xmlns:a16="http://schemas.microsoft.com/office/drawing/2014/main" val="4004965435"/>
                        </a:ext>
                      </a:extLst>
                    </a:gridCol>
                    <a:gridCol w="3243894">
                      <a:extLst>
                        <a:ext uri="{9D8B030D-6E8A-4147-A177-3AD203B41FA5}">
                          <a16:colId xmlns:a16="http://schemas.microsoft.com/office/drawing/2014/main" val="1323551734"/>
                        </a:ext>
                      </a:extLst>
                    </a:gridCol>
                  </a:tblGrid>
                  <a:tr h="3686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B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4182322"/>
                      </a:ext>
                    </a:extLst>
                  </a:tr>
                  <a:tr h="12711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∙5−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64</m:t>
                                      </m:r>
                                    </m:e>
                                  </m:ra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5−</m:t>
                                      </m:r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den>
                                      </m:f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5131359"/>
                      </a:ext>
                    </a:extLst>
                  </a:tr>
                  <a:tr h="3686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C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D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5369370"/>
                      </a:ext>
                    </a:extLst>
                  </a:tr>
                  <a:tr h="135406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∙5−</m:t>
                                      </m:r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den>
                                      </m:f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∙5−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64</m:t>
                                      </m:r>
                                    </m:e>
                                  </m:ra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874044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562CC36-AD3E-074E-B921-A878BA54F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099234"/>
                  </p:ext>
                </p:extLst>
              </p:nvPr>
            </p:nvGraphicFramePr>
            <p:xfrm>
              <a:off x="2466110" y="2104893"/>
              <a:ext cx="6487114" cy="336251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3220">
                      <a:extLst>
                        <a:ext uri="{9D8B030D-6E8A-4147-A177-3AD203B41FA5}">
                          <a16:colId xmlns:a16="http://schemas.microsoft.com/office/drawing/2014/main" val="4004965435"/>
                        </a:ext>
                      </a:extLst>
                    </a:gridCol>
                    <a:gridCol w="3243894">
                      <a:extLst>
                        <a:ext uri="{9D8B030D-6E8A-4147-A177-3AD203B41FA5}">
                          <a16:colId xmlns:a16="http://schemas.microsoft.com/office/drawing/2014/main" val="1323551734"/>
                        </a:ext>
                      </a:extLst>
                    </a:gridCol>
                  </a:tblGrid>
                  <a:tr h="3686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B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4182322"/>
                      </a:ext>
                    </a:extLst>
                  </a:tr>
                  <a:tr h="12711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8" t="-32692" r="-100564" b="-137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2692" r="-375" b="-1370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5131359"/>
                      </a:ext>
                    </a:extLst>
                  </a:tr>
                  <a:tr h="3686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C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D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5369370"/>
                      </a:ext>
                    </a:extLst>
                  </a:tr>
                  <a:tr h="1354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8" t="-151802" r="-100564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51802" r="-375" b="-9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87404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9D341C1-AB7D-8684-E353-9646582846C4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4290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45030" y="520394"/>
            <a:ext cx="100906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evaluate each expression. Show your work in the space provided.</a:t>
            </a: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the placement of parentheses can impact the value of an expression.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CED94D-5C61-6246-A16B-C9810736C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111347"/>
              </p:ext>
            </p:extLst>
          </p:nvPr>
        </p:nvGraphicFramePr>
        <p:xfrm>
          <a:off x="3846499" y="1644865"/>
          <a:ext cx="3353435" cy="237640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925884">
                  <a:extLst>
                    <a:ext uri="{9D8B030D-6E8A-4147-A177-3AD203B41FA5}">
                      <a16:colId xmlns:a16="http://schemas.microsoft.com/office/drawing/2014/main" val="1251246836"/>
                    </a:ext>
                  </a:extLst>
                </a:gridCol>
                <a:gridCol w="1427551">
                  <a:extLst>
                    <a:ext uri="{9D8B030D-6E8A-4147-A177-3AD203B41FA5}">
                      <a16:colId xmlns:a16="http://schemas.microsoft.com/office/drawing/2014/main" val="3818636258"/>
                    </a:ext>
                  </a:extLst>
                </a:gridCol>
              </a:tblGrid>
              <a:tr h="3396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Expression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Value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88745"/>
                  </a:ext>
                </a:extLst>
              </a:tr>
              <a:tr h="5091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260834"/>
                  </a:ext>
                </a:extLst>
              </a:tr>
              <a:tr h="5091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615583"/>
                  </a:ext>
                </a:extLst>
              </a:tr>
              <a:tr h="5091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682386"/>
                  </a:ext>
                </a:extLst>
              </a:tr>
              <a:tr h="5091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656598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55E6447-7A7E-9745-DC49-F780231DD81E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A65D99A-5F0E-99FB-B97F-F2732900F2E4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4938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520393"/>
            <a:ext cx="8327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384BB5-9166-4E4E-924C-3541E2204EEB}"/>
              </a:ext>
            </a:extLst>
          </p:cNvPr>
          <p:cNvGrpSpPr/>
          <p:nvPr/>
        </p:nvGrpSpPr>
        <p:grpSpPr>
          <a:xfrm>
            <a:off x="2007765" y="874336"/>
            <a:ext cx="7067731" cy="1497965"/>
            <a:chOff x="-230053" y="0"/>
            <a:chExt cx="7067793" cy="149882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C77674-943C-C94E-9D7F-688CCDE10221}"/>
                </a:ext>
              </a:extLst>
            </p:cNvPr>
            <p:cNvGrpSpPr/>
            <p:nvPr/>
          </p:nvGrpSpPr>
          <p:grpSpPr>
            <a:xfrm>
              <a:off x="-230053" y="0"/>
              <a:ext cx="7067793" cy="1498822"/>
              <a:chOff x="1801247" y="3386808"/>
              <a:chExt cx="7067793" cy="149882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FACA9AD-CFE1-7B4B-BD91-0476ADC1AD07}"/>
                  </a:ext>
                </a:extLst>
              </p:cNvPr>
              <p:cNvGrpSpPr/>
              <p:nvPr/>
            </p:nvGrpSpPr>
            <p:grpSpPr>
              <a:xfrm>
                <a:off x="1801247" y="3386808"/>
                <a:ext cx="7067793" cy="1498822"/>
                <a:chOff x="-230053" y="0"/>
                <a:chExt cx="7067793" cy="1498822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D874C5F-E8F6-D942-B5E2-4FC9F23711B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ED65ECF-BA06-9246-96BD-D2E21A8EF10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0FAFDF85-D87A-994E-BD94-81DB1A73C182}"/>
                    </a:ext>
                  </a:extLst>
                </p:cNvPr>
                <p:cNvSpPr/>
                <p:nvPr/>
              </p:nvSpPr>
              <p:spPr>
                <a:xfrm>
                  <a:off x="-230053" y="132927"/>
                  <a:ext cx="7067793" cy="136589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endParaRPr lang="en-US" sz="20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When the placement of grouping symbols changes the order in which the operations are performed, the value of the expression changes.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 </a:t>
                  </a:r>
                </a:p>
              </p:txBody>
            </p:sp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DBFCDB49-8531-4444-A672-F84EBD2915E1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61536" y="332973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6BCC8F39-72C3-9338-D385-827C27B4956B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>
            <a:extLst>
              <a:ext uri="{FF2B5EF4-FFF2-40B4-BE49-F238E27FC236}">
                <a16:creationId xmlns:a16="http://schemas.microsoft.com/office/drawing/2014/main" id="{95B0CBE2-0D9E-E35D-FA47-D5BC87488A0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06131" y="27619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4516" y="291656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64EF5D-2A18-B20E-7D59-61A57CEF75AB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4BEB7E1C-24C2-62E1-1B93-78812E003CF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96291" y="35273"/>
            <a:ext cx="962682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300" y="3233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045029" y="1386025"/>
                <a:ext cx="10078083" cy="195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Without a calculator, find the value of the expression. Show your work.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− 1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− 0.75 +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386025"/>
                <a:ext cx="10078083" cy="1951881"/>
              </a:xfrm>
              <a:prstGeom prst="rect">
                <a:avLst/>
              </a:prstGeom>
              <a:blipFill>
                <a:blip r:embed="rId4"/>
                <a:stretch>
                  <a:fillRect l="-907" t="-2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1B12F2B-D014-5537-F6A2-730FF25B9096}"/>
              </a:ext>
            </a:extLst>
          </p:cNvPr>
          <p:cNvSpPr txBox="1"/>
          <p:nvPr/>
        </p:nvSpPr>
        <p:spPr>
          <a:xfrm>
            <a:off x="8629983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86262000-C79A-4785-B1DB-8E5E864C877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32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988</Words>
  <Application>Microsoft Office PowerPoint</Application>
  <PresentationFormat>Widescreen</PresentationFormat>
  <Paragraphs>205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Verdana</vt:lpstr>
      <vt:lpstr>Century Gothic</vt:lpstr>
      <vt:lpstr>Calibri</vt:lpstr>
      <vt:lpstr>Arial Black</vt:lpstr>
      <vt:lpstr>Cambria Math</vt:lpstr>
      <vt:lpstr>Arial</vt:lpstr>
      <vt:lpstr>Cambria</vt:lpstr>
      <vt:lpstr>1_Office Theme</vt:lpstr>
      <vt:lpstr>8th Grade  Unit 12, Lesson 8  Evaluating Expressions Using the Order of Operations  Volume 2, pg. 251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22</cp:revision>
  <dcterms:created xsi:type="dcterms:W3CDTF">2015-03-17T18:51:18Z</dcterms:created>
  <dcterms:modified xsi:type="dcterms:W3CDTF">2022-06-20T19:31:30Z</dcterms:modified>
</cp:coreProperties>
</file>