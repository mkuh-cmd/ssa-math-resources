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63" r:id="rId10"/>
    <p:sldId id="372" r:id="rId11"/>
    <p:sldId id="373" r:id="rId12"/>
    <p:sldId id="374" r:id="rId13"/>
    <p:sldId id="329" r:id="rId14"/>
    <p:sldId id="330" r:id="rId15"/>
    <p:sldId id="362" r:id="rId16"/>
    <p:sldId id="376" r:id="rId17"/>
    <p:sldId id="323" r:id="rId18"/>
    <p:sldId id="324" r:id="rId19"/>
    <p:sldId id="375" r:id="rId20"/>
    <p:sldId id="314" r:id="rId21"/>
    <p:sldId id="315" r:id="rId22"/>
    <p:sldId id="366" r:id="rId23"/>
    <p:sldId id="306" r:id="rId24"/>
    <p:sldId id="307" r:id="rId25"/>
  </p:sldIdLst>
  <p:sldSz cx="12192000" cy="6858000"/>
  <p:notesSz cx="6858000" cy="9144000"/>
  <p:embeddedFontLst>
    <p:embeddedFont>
      <p:font typeface="Arial Black" panose="020B0A04020102020204" pitchFamily="34" charset="0"/>
      <p:regular r:id="rId27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49"/>
    <p:restoredTop sz="94709"/>
  </p:normalViewPr>
  <p:slideViewPr>
    <p:cSldViewPr snapToGrid="0">
      <p:cViewPr varScale="1">
        <p:scale>
          <a:sx n="81" d="100"/>
          <a:sy n="81" d="100"/>
        </p:scale>
        <p:origin x="34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406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654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5251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42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94051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5540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02294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5624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0.png"/><Relationship Id="rId4" Type="http://schemas.openxmlformats.org/officeDocument/2006/relationships/image" Target="../media/image21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5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Factoring Common Monomials Factors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236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696107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84960" y="136525"/>
            <a:ext cx="790614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50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85088" y="1600200"/>
            <a:ext cx="1007560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MA.8.AR.1.3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the sum of two algebraic expressions having a common monomial factor as a common factor multiplied by the sum of two algebraic expressions. 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78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536192" y="129667"/>
            <a:ext cx="908063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36321" y="1596390"/>
            <a:ext cx="1011184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C4098119-0025-464E-C0BF-0E0651DA6082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140E2549-5728-D2CF-1E94-5E7FA29C528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3123" y="82477"/>
            <a:ext cx="828855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58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45029" y="1498651"/>
            <a:ext cx="1011566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rewrite an algebraic expression with two terms that have a common monomial factor using the distributive property.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497936E-EB11-9F2A-5154-872686BE07C5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ED9F47A7-9D1C-9D24-5C48-2FB871074D3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025" y="290895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812600" y="276197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68CD9B7-3B72-D746-3862-01FA537457B4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2ECE2BDF-D21C-8B48-17E6-5EBFF8DA90E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91294" y="0"/>
            <a:ext cx="87962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12.5.1 Warm-Up: Visual Patterns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182" y="25354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123313" y="1386025"/>
            <a:ext cx="9264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The first four steps in a pattern are shown.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FFD55AD-FBB0-A84A-91CC-C7ABE0860D91}"/>
                  </a:ext>
                </a:extLst>
              </p:cNvPr>
              <p:cNvSpPr/>
              <p:nvPr/>
            </p:nvSpPr>
            <p:spPr>
              <a:xfrm>
                <a:off x="1123313" y="3715038"/>
                <a:ext cx="9586439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6355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Describe how the pattern is changing in each step.</a:t>
                </a:r>
              </a:p>
              <a:p>
                <a:pPr marL="914400" lvl="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purple circles will be in step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lvl="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step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the pattern.</a:t>
                </a: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FFD55AD-FBB0-A84A-91CC-C7ABE0860D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313" y="3715038"/>
                <a:ext cx="9586439" cy="2677656"/>
              </a:xfrm>
              <a:prstGeom prst="rect">
                <a:avLst/>
              </a:prstGeom>
              <a:blipFill>
                <a:blip r:embed="rId4"/>
                <a:stretch>
                  <a:fillRect t="-1818" b="-3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Chart, bubble chart&#10;&#10;Description automatically generated">
            <a:extLst>
              <a:ext uri="{FF2B5EF4-FFF2-40B4-BE49-F238E27FC236}">
                <a16:creationId xmlns:a16="http://schemas.microsoft.com/office/drawing/2014/main" id="{E64D8361-A461-F14B-A347-926C68D019E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7822" y="1748778"/>
            <a:ext cx="4402044" cy="1925894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B9C683E0-9486-67A9-66BF-8CF3FA60A091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9C7617BA-4C99-7F51-075C-190E345C4C27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20321"/>
            <a:ext cx="2731200" cy="6898631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873506" y="2766144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24239" y="2850880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F5E72E7-631F-DAB2-7051-8B72879A429A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9A15968B-6037-9FA2-3CB0-74F78C92243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90597" y="60325"/>
            <a:ext cx="964504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12.5.2 Exploration: Finding Common Factors of Monomials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7249" y="34704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1045029" y="1386026"/>
                <a:ext cx="949412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monomial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area model below shows two possible factors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1386026"/>
                <a:ext cx="9494121" cy="1569660"/>
              </a:xfrm>
              <a:prstGeom prst="rect">
                <a:avLst/>
              </a:prstGeom>
              <a:blipFill>
                <a:blip r:embed="rId4"/>
                <a:stretch>
                  <a:fillRect l="-963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F219BDD6-A859-624D-BDC4-5C5F90B8A6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271" y="2687240"/>
            <a:ext cx="2201636" cy="22701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76DD2-BCCA-9840-98D1-A1C33B14BF7A}"/>
                  </a:ext>
                </a:extLst>
              </p:cNvPr>
              <p:cNvSpPr/>
              <p:nvPr/>
            </p:nvSpPr>
            <p:spPr>
              <a:xfrm>
                <a:off x="1045029" y="4957371"/>
                <a:ext cx="9571797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lvl="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equation by filling in the blanks with the factors from the area model.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=_______∙_______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76DD2-BCCA-9840-98D1-A1C33B14BF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4957371"/>
                <a:ext cx="9571797" cy="1569660"/>
              </a:xfrm>
              <a:prstGeom prst="rect">
                <a:avLst/>
              </a:prstGeom>
              <a:blipFill>
                <a:blip r:embed="rId6"/>
                <a:stretch>
                  <a:fillRect t="-3101" r="-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7C88154F-611F-5EF3-1341-C1584A6E9297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C75349F4-59B4-BAAF-1F71-2786861B42BA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14608" y="523612"/>
                <a:ext cx="10158608" cy="71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identify two other possible pairs of factors for the monomial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608" y="523612"/>
                <a:ext cx="10158608" cy="714876"/>
              </a:xfrm>
              <a:prstGeom prst="rect">
                <a:avLst/>
              </a:prstGeom>
              <a:blipFill>
                <a:blip r:embed="rId3"/>
                <a:stretch>
                  <a:fillRect t="-5983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504CFB1F-F6F4-3D49-9357-736E13D94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772" y="1419439"/>
            <a:ext cx="5597979" cy="1652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39101D0-3B30-7142-9217-6973AD741303}"/>
                  </a:ext>
                </a:extLst>
              </p:cNvPr>
              <p:cNvSpPr/>
              <p:nvPr/>
            </p:nvSpPr>
            <p:spPr>
              <a:xfrm>
                <a:off x="2867383" y="3256269"/>
                <a:ext cx="251774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∙</m:t>
                      </m:r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39101D0-3B30-7142-9217-6973AD7413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383" y="3256269"/>
                <a:ext cx="251774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CE7A16F-9538-5B47-B935-69A81F6ADB33}"/>
                  </a:ext>
                </a:extLst>
              </p:cNvPr>
              <p:cNvSpPr/>
              <p:nvPr/>
            </p:nvSpPr>
            <p:spPr>
              <a:xfrm>
                <a:off x="6404789" y="3302435"/>
                <a:ext cx="24985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∙</m:t>
                      </m:r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CE7A16F-9538-5B47-B935-69A81F6ADB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789" y="3302435"/>
                <a:ext cx="249850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FA6DB33-14E1-FB4A-81BA-3CF9D63824AB}"/>
                  </a:ext>
                </a:extLst>
              </p:cNvPr>
              <p:cNvSpPr/>
              <p:nvPr/>
            </p:nvSpPr>
            <p:spPr>
              <a:xfrm>
                <a:off x="1014608" y="4095721"/>
                <a:ext cx="10158607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lvl="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what strategy you used to identify factor pairs that multiply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FA6DB33-14E1-FB4A-81BA-3CF9D6382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608" y="4095721"/>
                <a:ext cx="10158607" cy="707886"/>
              </a:xfrm>
              <a:prstGeom prst="rect">
                <a:avLst/>
              </a:prstGeom>
              <a:blipFill>
                <a:blip r:embed="rId8"/>
                <a:stretch>
                  <a:fillRect t="-6034" r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70B02135-AE3A-7D53-4E5B-38DD7DB1397F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98C7E9D9-0A13-34E2-AEF3-C66B3B77F0B0}"/>
              </a:ext>
            </a:extLst>
          </p:cNvPr>
          <p:cNvPicPr preferRelativeResize="0"/>
          <p:nvPr/>
        </p:nvPicPr>
        <p:blipFill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1604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35485" y="667433"/>
                <a:ext cx="10121029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 Consider 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determine which of the terms shown are common factors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Explain how you made your choices.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85" y="667433"/>
                <a:ext cx="10121029" cy="4154984"/>
              </a:xfrm>
              <a:prstGeom prst="rect">
                <a:avLst/>
              </a:prstGeom>
              <a:blipFill>
                <a:blip r:embed="rId3"/>
                <a:stretch>
                  <a:fillRect l="-964" t="-1320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0EBB63C2-F464-8A40-B244-6AB52CC83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017" y="2456553"/>
            <a:ext cx="7747964" cy="1503020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9A2CD25-0618-0BBB-AC06-4D2A5802857F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78989AE6-FA03-C659-1499-B21EC61E3C0F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6672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88A946D-5D98-4E43-B35C-C3DD74A52FED}"/>
                  </a:ext>
                </a:extLst>
              </p:cNvPr>
              <p:cNvSpPr/>
              <p:nvPr/>
            </p:nvSpPr>
            <p:spPr>
              <a:xfrm>
                <a:off x="1004305" y="547015"/>
                <a:ext cx="10121030" cy="5052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63550">
                  <a:spcAft>
                    <a:spcPts val="1000"/>
                  </a:spcAft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Choose one of the common factors from Part A. Work with your partner to complete the area model using the common factor.</a:t>
                </a:r>
              </a:p>
              <a:p>
                <a:pPr marL="914400" indent="-463550">
                  <a:spcAft>
                    <a:spcPts val="1000"/>
                  </a:spcAft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spcAft>
                    <a:spcPts val="1000"/>
                  </a:spcAft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spcAft>
                    <a:spcPts val="1000"/>
                  </a:spcAft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spcAft>
                    <a:spcPts val="1000"/>
                  </a:spcAft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spcAft>
                    <a:spcPts val="1000"/>
                  </a:spcAft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spcAft>
                    <a:spcPts val="1000"/>
                  </a:spcAft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3550">
                  <a:spcAft>
                    <a:spcPts val="1000"/>
                  </a:spcAft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+12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factored form using the factors determined in Part C.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88A946D-5D98-4E43-B35C-C3DD74A52F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305" y="547015"/>
                <a:ext cx="10121030" cy="5052665"/>
              </a:xfrm>
              <a:prstGeom prst="rect">
                <a:avLst/>
              </a:prstGeom>
              <a:blipFill>
                <a:blip r:embed="rId3"/>
                <a:stretch>
                  <a:fillRect t="-965" r="-1867" b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703BC75E-B801-9646-A274-50479694A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708" y="1771615"/>
            <a:ext cx="3517446" cy="26034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E01D019-8724-D042-BBDD-E2C98EC72A01}"/>
                  </a:ext>
                </a:extLst>
              </p:cNvPr>
              <p:cNvSpPr/>
              <p:nvPr/>
            </p:nvSpPr>
            <p:spPr>
              <a:xfrm>
                <a:off x="4656485" y="6057565"/>
                <a:ext cx="281666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lit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_______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m:rPr>
                              <m:lit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_______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E01D019-8724-D042-BBDD-E2C98EC72A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485" y="6057565"/>
                <a:ext cx="281666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C515826-A0AC-D51B-C58F-40E404FC4FEA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4260A5A9-338D-AC13-70C7-F944C748A061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9618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39660" y="630287"/>
                <a:ext cx="10095978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rewritten using other common factors. </a:t>
                </a: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find three other equivalent expressions using different common factors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660" y="630287"/>
                <a:ext cx="10095978" cy="3046988"/>
              </a:xfrm>
              <a:prstGeom prst="rect">
                <a:avLst/>
              </a:prstGeom>
              <a:blipFill>
                <a:blip r:embed="rId3"/>
                <a:stretch>
                  <a:fillRect l="-966" t="-1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1D6A9FC-1348-AF44-B11D-6A568DBA9867}"/>
                  </a:ext>
                </a:extLst>
              </p:cNvPr>
              <p:cNvSpPr/>
              <p:nvPr/>
            </p:nvSpPr>
            <p:spPr>
              <a:xfrm>
                <a:off x="4611466" y="3638293"/>
                <a:ext cx="281666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lit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_______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m:rPr>
                              <m:lit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_______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1D6A9FC-1348-AF44-B11D-6A568DBA9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466" y="3638293"/>
                <a:ext cx="281666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BFF4562-8A12-3F44-A2DD-70DD14846BD8}"/>
                  </a:ext>
                </a:extLst>
              </p:cNvPr>
              <p:cNvSpPr/>
              <p:nvPr/>
            </p:nvSpPr>
            <p:spPr>
              <a:xfrm>
                <a:off x="4592229" y="4712789"/>
                <a:ext cx="283590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lit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_______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m:rPr>
                              <m:lit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_______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BFF4562-8A12-3F44-A2DD-70DD14846B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229" y="4712789"/>
                <a:ext cx="283590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E67877A-A211-C44F-BC8E-2C5CA0419E43}"/>
                  </a:ext>
                </a:extLst>
              </p:cNvPr>
              <p:cNvSpPr/>
              <p:nvPr/>
            </p:nvSpPr>
            <p:spPr>
              <a:xfrm>
                <a:off x="4611466" y="5809363"/>
                <a:ext cx="281666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000">
                          <a:latin typeface="Cambria Math" panose="02040503050406030204" pitchFamily="18" charset="0"/>
                        </a:rPr>
                        <m:t>_______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lit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_______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m:rPr>
                              <m:lit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_______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E67877A-A211-C44F-BC8E-2C5CA0419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466" y="5809363"/>
                <a:ext cx="2816669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52A0C21-001D-00FE-398E-1B11FBAE1F83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3070739A-631D-0133-FFFB-C77A160ADC96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4755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3199"/>
            <a:ext cx="2731200" cy="6871074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10462" y="262806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4759" y="2766145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CE6C6445-A4D4-576E-A9E6-28B7A548BE61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959D2455-19F7-2EE4-077C-9C1DCFC87EBC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90598" y="-12827"/>
            <a:ext cx="967009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12.5.3 Bring It Together: Finding Common Factors of Monomials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1031310" y="1214571"/>
            <a:ext cx="101293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Similar to whole numbers, common factors of monomials can be found by considering the factors each term shares.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520700" indent="-5207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table. The first row has been completed.</a:t>
            </a: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C83A8687-31CC-0249-9695-539B96DF0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8753" y="27511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94331C1-2EA3-164B-AAB6-41A0F1C6EE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179618"/>
                  </p:ext>
                </p:extLst>
              </p:nvPr>
            </p:nvGraphicFramePr>
            <p:xfrm>
              <a:off x="911474" y="2924449"/>
              <a:ext cx="8861918" cy="378341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621582">
                      <a:extLst>
                        <a:ext uri="{9D8B030D-6E8A-4147-A177-3AD203B41FA5}">
                          <a16:colId xmlns:a16="http://schemas.microsoft.com/office/drawing/2014/main" val="1884821902"/>
                        </a:ext>
                      </a:extLst>
                    </a:gridCol>
                    <a:gridCol w="2149714">
                      <a:extLst>
                        <a:ext uri="{9D8B030D-6E8A-4147-A177-3AD203B41FA5}">
                          <a16:colId xmlns:a16="http://schemas.microsoft.com/office/drawing/2014/main" val="2730396680"/>
                        </a:ext>
                      </a:extLst>
                    </a:gridCol>
                    <a:gridCol w="2149714">
                      <a:extLst>
                        <a:ext uri="{9D8B030D-6E8A-4147-A177-3AD203B41FA5}">
                          <a16:colId xmlns:a16="http://schemas.microsoft.com/office/drawing/2014/main" val="1080772065"/>
                        </a:ext>
                      </a:extLst>
                    </a:gridCol>
                    <a:gridCol w="1940908">
                      <a:extLst>
                        <a:ext uri="{9D8B030D-6E8A-4147-A177-3AD203B41FA5}">
                          <a16:colId xmlns:a16="http://schemas.microsoft.com/office/drawing/2014/main" val="1528379663"/>
                        </a:ext>
                      </a:extLst>
                    </a:gridCol>
                  </a:tblGrid>
                  <a:tr h="123144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Monomial Terms</a:t>
                          </a:r>
                        </a:p>
                      </a:txBody>
                      <a:tcPr marL="49952" marR="49952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Which factor(s) do the coefficients share?</a:t>
                          </a:r>
                        </a:p>
                      </a:txBody>
                      <a:tcPr marL="49952" marR="49952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Which variable factor(s) do the terms share?</a:t>
                          </a:r>
                        </a:p>
                      </a:txBody>
                      <a:tcPr marL="49952" marR="49952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Common Factors of the Monomials</a:t>
                          </a:r>
                        </a:p>
                      </a:txBody>
                      <a:tcPr marL="49952" marR="49952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2148924"/>
                      </a:ext>
                    </a:extLst>
                  </a:tr>
                  <a:tr h="75313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</a:rPr>
                                <m:t>15</m:t>
                              </m:r>
                              <m:sSup>
                                <m:sSupPr>
                                  <m:ctrlPr>
                                    <a:rPr lang="en-US" sz="2000">
                                      <a:effectLst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 and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</a:rPr>
                                <m:t>30</m:t>
                              </m:r>
                              <m:r>
                                <a:rPr lang="en-US" sz="2000">
                                  <a:effectLst/>
                                </a:rPr>
                                <m:t>𝑤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</a:rPr>
                                <m:t>10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</a:rPr>
                                <m:t>3</m:t>
                              </m:r>
                              <m:r>
                                <a:rPr lang="en-US" sz="2000">
                                  <a:effectLst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</a:rPr>
                                <m:t>5</m:t>
                              </m:r>
                              <m:r>
                                <a:rPr lang="en-US" sz="2000">
                                  <a:effectLst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</a:rPr>
                                <m:t>10</m:t>
                              </m:r>
                              <m:r>
                                <a:rPr lang="en-US" sz="2000">
                                  <a:effectLst/>
                                </a:rPr>
                                <m:t>𝑤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extLst>
                      <a:ext uri="{0D108BD9-81ED-4DB2-BD59-A6C34878D82A}">
                        <a16:rowId xmlns:a16="http://schemas.microsoft.com/office/drawing/2014/main" val="3116050740"/>
                      </a:ext>
                    </a:extLst>
                  </a:tr>
                  <a:tr h="75313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</a:rPr>
                                <m:t>4</m:t>
                              </m:r>
                              <m:r>
                                <a:rPr lang="en-US" sz="2000">
                                  <a:effectLst/>
                                </a:rPr>
                                <m:t>𝑐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</a:rPr>
                                <m:t>16</m:t>
                              </m:r>
                              <m:sSup>
                                <m:sSupPr>
                                  <m:ctrlPr>
                                    <a:rPr lang="en-US" sz="2000">
                                      <a:effectLst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extLst>
                      <a:ext uri="{0D108BD9-81ED-4DB2-BD59-A6C34878D82A}">
                        <a16:rowId xmlns:a16="http://schemas.microsoft.com/office/drawing/2014/main" val="166454826"/>
                      </a:ext>
                    </a:extLst>
                  </a:tr>
                  <a:tr h="75313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</a:rPr>
                                <m:t>10</m:t>
                              </m:r>
                              <m:sSup>
                                <m:sSupPr>
                                  <m:ctrlPr>
                                    <a:rPr lang="en-US" sz="2000">
                                      <a:effectLst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000">
                                      <a:effectLst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 and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</a:rPr>
                                <m:t>20</m:t>
                              </m:r>
                              <m:r>
                                <a:rPr lang="en-US" sz="2000">
                                  <a:effectLst/>
                                </a:rPr>
                                <m:t>𝑔</m:t>
                              </m:r>
                              <m:sSup>
                                <m:sSupPr>
                                  <m:ctrlPr>
                                    <a:rPr lang="en-US" sz="2000">
                                      <a:effectLst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extLst>
                      <a:ext uri="{0D108BD9-81ED-4DB2-BD59-A6C34878D82A}">
                        <a16:rowId xmlns:a16="http://schemas.microsoft.com/office/drawing/2014/main" val="32301781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94331C1-2EA3-164B-AAB6-41A0F1C6EE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179618"/>
                  </p:ext>
                </p:extLst>
              </p:nvPr>
            </p:nvGraphicFramePr>
            <p:xfrm>
              <a:off x="911474" y="2924449"/>
              <a:ext cx="8861918" cy="3783417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621582">
                      <a:extLst>
                        <a:ext uri="{9D8B030D-6E8A-4147-A177-3AD203B41FA5}">
                          <a16:colId xmlns:a16="http://schemas.microsoft.com/office/drawing/2014/main" val="1884821902"/>
                        </a:ext>
                      </a:extLst>
                    </a:gridCol>
                    <a:gridCol w="2149714">
                      <a:extLst>
                        <a:ext uri="{9D8B030D-6E8A-4147-A177-3AD203B41FA5}">
                          <a16:colId xmlns:a16="http://schemas.microsoft.com/office/drawing/2014/main" val="2730396680"/>
                        </a:ext>
                      </a:extLst>
                    </a:gridCol>
                    <a:gridCol w="2149714">
                      <a:extLst>
                        <a:ext uri="{9D8B030D-6E8A-4147-A177-3AD203B41FA5}">
                          <a16:colId xmlns:a16="http://schemas.microsoft.com/office/drawing/2014/main" val="1080772065"/>
                        </a:ext>
                      </a:extLst>
                    </a:gridCol>
                    <a:gridCol w="1940908">
                      <a:extLst>
                        <a:ext uri="{9D8B030D-6E8A-4147-A177-3AD203B41FA5}">
                          <a16:colId xmlns:a16="http://schemas.microsoft.com/office/drawing/2014/main" val="1528379663"/>
                        </a:ext>
                      </a:extLst>
                    </a:gridCol>
                  </a:tblGrid>
                  <a:tr h="1524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Monomial Terms</a:t>
                          </a:r>
                        </a:p>
                      </a:txBody>
                      <a:tcPr marL="49952" marR="49952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Which factor(s) do the coefficients share?</a:t>
                          </a:r>
                        </a:p>
                      </a:txBody>
                      <a:tcPr marL="49952" marR="49952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Which variable factor(s) do the terms share?</a:t>
                          </a:r>
                        </a:p>
                      </a:txBody>
                      <a:tcPr marL="49952" marR="49952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Common Factors of the Monomials</a:t>
                          </a:r>
                        </a:p>
                      </a:txBody>
                      <a:tcPr marL="49952" marR="49952" marT="0" marB="0" anchor="ctr"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2148924"/>
                      </a:ext>
                    </a:extLst>
                  </a:tr>
                  <a:tr h="7531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952" marR="49952" marT="0" marB="0" anchor="ctr">
                        <a:blipFill>
                          <a:blip r:embed="rId4"/>
                          <a:stretch>
                            <a:fillRect l="-233" t="-213821" r="-238837" b="-2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952" marR="49952" marT="0" marB="0" anchor="ctr">
                        <a:blipFill>
                          <a:blip r:embed="rId4"/>
                          <a:stretch>
                            <a:fillRect l="-122096" t="-213821" r="-190935" b="-2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952" marR="49952" marT="0" marB="0" anchor="ctr">
                        <a:blipFill>
                          <a:blip r:embed="rId4"/>
                          <a:stretch>
                            <a:fillRect l="-222096" t="-213821" r="-90935" b="-2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952" marR="49952" marT="0" marB="0" anchor="ctr">
                        <a:blipFill>
                          <a:blip r:embed="rId4"/>
                          <a:stretch>
                            <a:fillRect l="-356426" t="-213821" r="-627" b="-2032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6050740"/>
                      </a:ext>
                    </a:extLst>
                  </a:tr>
                  <a:tr h="7531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952" marR="49952" marT="0" marB="0" anchor="ctr">
                        <a:blipFill>
                          <a:blip r:embed="rId4"/>
                          <a:stretch>
                            <a:fillRect l="-233" t="-311290" r="-238837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extLst>
                      <a:ext uri="{0D108BD9-81ED-4DB2-BD59-A6C34878D82A}">
                        <a16:rowId xmlns:a16="http://schemas.microsoft.com/office/drawing/2014/main" val="166454826"/>
                      </a:ext>
                    </a:extLst>
                  </a:tr>
                  <a:tr h="7531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952" marR="49952" marT="0" marB="0" anchor="ctr">
                        <a:blipFill>
                          <a:blip r:embed="rId4"/>
                          <a:stretch>
                            <a:fillRect l="-233" t="-411290" r="-238837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9952" marR="49952" marT="0" marB="0" anchor="ctr"/>
                    </a:tc>
                    <a:extLst>
                      <a:ext uri="{0D108BD9-81ED-4DB2-BD59-A6C34878D82A}">
                        <a16:rowId xmlns:a16="http://schemas.microsoft.com/office/drawing/2014/main" val="32301781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19E5AC67-31E6-4829-192D-7FCBCE770AEE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3F173C3F-CE6E-E2AB-CED8-292C0A54A458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56903" y="400325"/>
                <a:ext cx="1011213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Common factors of monomial terms can be used to rewrite sums of two algebraic expressions in an equivalent factored form.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𝑞𝑟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lvl="1" indent="-4635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635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area models in the table to find two equivalent expressions in factored form.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3" y="400325"/>
                <a:ext cx="10112137" cy="2862322"/>
              </a:xfrm>
              <a:prstGeom prst="rect">
                <a:avLst/>
              </a:prstGeom>
              <a:blipFill>
                <a:blip r:embed="rId3"/>
                <a:stretch>
                  <a:fillRect l="-663" t="-1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hape, table&#10;&#10;Description automatically generated">
            <a:extLst>
              <a:ext uri="{FF2B5EF4-FFF2-40B4-BE49-F238E27FC236}">
                <a16:creationId xmlns:a16="http://schemas.microsoft.com/office/drawing/2014/main" id="{E369E7A5-B271-2948-AEE1-50A3935F5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580" y="2583835"/>
            <a:ext cx="5856291" cy="4073940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84261C3-1018-21BE-B12B-853E1D75BB34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998FEA0B-E853-8630-C6A8-1220BAC2843A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6973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ACC4DAB-F94F-7D4D-AAEC-89ED11C15D3B}"/>
                  </a:ext>
                </a:extLst>
              </p:cNvPr>
              <p:cNvSpPr/>
              <p:nvPr/>
            </p:nvSpPr>
            <p:spPr>
              <a:xfrm>
                <a:off x="1056904" y="861547"/>
                <a:ext cx="9559921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lvl="1" indent="-457200"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how the first expression would change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−4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had been used as the common factor instead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>
                  <a:spcAft>
                    <a:spcPts val="1000"/>
                  </a:spcAft>
                </a:pP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ACC4DAB-F94F-7D4D-AAEC-89ED11C15D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4" y="861547"/>
                <a:ext cx="9559921" cy="1569660"/>
              </a:xfrm>
              <a:prstGeom prst="rect">
                <a:avLst/>
              </a:prstGeom>
              <a:blipFill>
                <a:blip r:embed="rId3"/>
                <a:stretch>
                  <a:fillRect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0F6DEB9C-D4AB-CFB6-B9DC-482C7CE5E235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8CABD5F0-627D-4158-6992-7459839B422F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0390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57526" y="276197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8291" y="284875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6061B0D-5D3C-91C6-D718-41116BC6FA3B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9C626BBC-11C0-0900-246A-33534D097CE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90597" y="142573"/>
            <a:ext cx="968261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12.5.4 Guided Practice: Rewriting Expressions Using a Common Monomial Factor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8075" y="28794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068779" y="1596811"/>
                <a:ext cx="1010443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20700" indent="-5207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   Use the area model to find an equivalent expression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32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+8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factored form.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79" y="1596811"/>
                <a:ext cx="10104437" cy="1200329"/>
              </a:xfrm>
              <a:prstGeom prst="rect">
                <a:avLst/>
              </a:prstGeom>
              <a:blipFill>
                <a:blip r:embed="rId4"/>
                <a:stretch>
                  <a:fillRect l="-905" t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0CBA8FA9-DDC9-8E4D-90A6-689E0F26D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6547" y="2800337"/>
            <a:ext cx="6505788" cy="2267954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6A57C77-2F4F-80D6-CFCB-C0CFD0403191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A7166683-C9BA-A4EC-A96F-551C32F07B11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45030" y="237366"/>
                <a:ext cx="1005303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expression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14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−35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lvl="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area models in the table to find two equivalent expressions in factored form.</a:t>
                </a:r>
              </a:p>
              <a:p>
                <a:pPr marL="914400" lvl="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Verify that the expressions are equivalent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14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−35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the distributive property.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30" y="237366"/>
                <a:ext cx="10053030" cy="3046988"/>
              </a:xfrm>
              <a:prstGeom prst="rect">
                <a:avLst/>
              </a:prstGeom>
              <a:blipFill>
                <a:blip r:embed="rId3"/>
                <a:stretch>
                  <a:fillRect l="-909" t="-1800" b="-3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Shape, table&#10;&#10;Description automatically generated">
            <a:extLst>
              <a:ext uri="{FF2B5EF4-FFF2-40B4-BE49-F238E27FC236}">
                <a16:creationId xmlns:a16="http://schemas.microsoft.com/office/drawing/2014/main" id="{B4EB3AFC-15F7-9B49-A94E-0A9650E85C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3" t="1915"/>
          <a:stretch/>
        </p:blipFill>
        <p:spPr>
          <a:xfrm>
            <a:off x="2945080" y="3424825"/>
            <a:ext cx="5497286" cy="3306031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4B7ECEF-FCE3-4EE4-EF69-2A7B62B6DB3D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0F71AB0A-5264-EB11-48AA-79C824155647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9503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10462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4759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3C8659F-13AF-173B-FEC0-8D67B2C8A956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31877CD2-234A-F380-5CF4-D0DB9ED2806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482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03122" y="60325"/>
            <a:ext cx="9398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12.5.5 Collaboration: Error Analysis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1351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056904" y="1280458"/>
            <a:ext cx="1009125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student’s work rewriting sums of algebraic expressions using common factors is shown in the table. Work with your partner to analyze the student's work and complete the table. </a:t>
            </a:r>
          </a:p>
          <a:p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176FE626-F8BC-564B-901E-A76AB07982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88" r="621"/>
          <a:stretch/>
        </p:blipFill>
        <p:spPr>
          <a:xfrm>
            <a:off x="3469574" y="2453410"/>
            <a:ext cx="4724400" cy="4344265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89CEE3DA-7898-1563-B92D-D25AC09E7BFF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20F08F35-D753-4A87-89BF-D778CB99803F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9B53084D-E1A2-D741-AA01-7E37BEF49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881" y="85457"/>
            <a:ext cx="5056051" cy="6678737"/>
          </a:xfrm>
          <a:prstGeom prst="rect">
            <a:avLst/>
          </a:prstGeom>
        </p:spPr>
      </p:pic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D9C395F2-B823-4B44-806D-954CE4E4B2FE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02620525-CD96-4A70-F095-AC4077E3A47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3172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780871" y="277909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51886" y="293369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EC59DDB-D56C-1BDE-B77F-BC5C6393F401}"/>
              </a:ext>
            </a:extLst>
          </p:cNvPr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375F8FFB-8B3E-70CD-04A9-DC15B8B4993C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771787" y="62575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03123" y="-20425"/>
            <a:ext cx="8816535" cy="111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12.5.6 Wrap-Up: Growth Mindset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225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0304B29-FA4B-7742-B11A-CE4DADE2AEC9}"/>
              </a:ext>
            </a:extLst>
          </p:cNvPr>
          <p:cNvSpPr/>
          <p:nvPr/>
        </p:nvSpPr>
        <p:spPr>
          <a:xfrm>
            <a:off x="1045029" y="1096825"/>
            <a:ext cx="927462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 based on today’s lesson. </a:t>
            </a:r>
          </a:p>
          <a:p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 fontAlgn="base">
              <a:buFont typeface="+mj-lt"/>
              <a:buAutoNum type="arabicPeriod"/>
              <a:tabLst>
                <a:tab pos="742950" algn="l"/>
              </a:tabLs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Today I am still unsure about …</a:t>
            </a:r>
          </a:p>
          <a:p>
            <a:pPr marL="463550" indent="-463550" fontAlgn="base">
              <a:buFont typeface="+mj-lt"/>
              <a:buAutoNum type="arabicPeriod"/>
              <a:tabLst>
                <a:tab pos="742950" algn="l"/>
              </a:tabLst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 fontAlgn="base">
              <a:buFont typeface="+mj-lt"/>
              <a:buAutoNum type="arabicPeriod"/>
              <a:tabLst>
                <a:tab pos="742950" algn="l"/>
              </a:tabLst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 fontAlgn="base">
              <a:buFont typeface="+mj-lt"/>
              <a:buAutoNum type="arabicPeriod"/>
              <a:tabLst>
                <a:tab pos="742950" algn="l"/>
              </a:tabLst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 fontAlgn="base">
              <a:buFont typeface="+mj-lt"/>
              <a:buAutoNum type="arabicPeriod"/>
              <a:tabLst>
                <a:tab pos="742950" algn="l"/>
              </a:tabLst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 fontAlgn="base">
              <a:buFont typeface="+mj-lt"/>
              <a:buAutoNum type="arabicPeriod"/>
              <a:tabLst>
                <a:tab pos="742950" algn="l"/>
              </a:tabLs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will try to build my confidence by … </a:t>
            </a:r>
          </a:p>
          <a:p>
            <a:pPr marL="463550" indent="-463550" fontAlgn="base">
              <a:buFont typeface="+mj-lt"/>
              <a:buAutoNum type="arabicPeriod"/>
              <a:tabLst>
                <a:tab pos="742950" algn="l"/>
              </a:tabLst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A4E4F12F-029C-0789-F307-A43932FD102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</TotalTime>
  <Words>886</Words>
  <Application>Microsoft Office PowerPoint</Application>
  <PresentationFormat>Widescreen</PresentationFormat>
  <Paragraphs>158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Verdana</vt:lpstr>
      <vt:lpstr>Wingdings</vt:lpstr>
      <vt:lpstr>Century Gothic</vt:lpstr>
      <vt:lpstr>Calibri</vt:lpstr>
      <vt:lpstr>Arial Black</vt:lpstr>
      <vt:lpstr>Cambria Math</vt:lpstr>
      <vt:lpstr>Arial</vt:lpstr>
      <vt:lpstr>1_Office Theme</vt:lpstr>
      <vt:lpstr>8th Grade Math  Unit 12, Lesson 5  Factoring Common Monomials Factors  Volume 2, pg. 236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Collaboration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25</cp:revision>
  <dcterms:created xsi:type="dcterms:W3CDTF">2015-03-17T18:51:18Z</dcterms:created>
  <dcterms:modified xsi:type="dcterms:W3CDTF">2022-06-20T16:27:38Z</dcterms:modified>
</cp:coreProperties>
</file>