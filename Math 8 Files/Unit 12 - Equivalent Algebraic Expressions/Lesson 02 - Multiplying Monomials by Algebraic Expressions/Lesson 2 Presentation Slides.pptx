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62" r:id="rId10"/>
    <p:sldId id="372" r:id="rId11"/>
    <p:sldId id="373" r:id="rId12"/>
    <p:sldId id="374" r:id="rId13"/>
    <p:sldId id="375" r:id="rId14"/>
    <p:sldId id="376" r:id="rId15"/>
    <p:sldId id="289" r:id="rId16"/>
    <p:sldId id="290" r:id="rId17"/>
    <p:sldId id="323" r:id="rId18"/>
    <p:sldId id="324" r:id="rId19"/>
    <p:sldId id="302" r:id="rId20"/>
    <p:sldId id="303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50"/>
    <p:restoredTop sz="94555"/>
  </p:normalViewPr>
  <p:slideViewPr>
    <p:cSldViewPr snapToGrid="0">
      <p:cViewPr varScale="1">
        <p:scale>
          <a:sx n="57" d="100"/>
          <a:sy n="57" d="100"/>
        </p:scale>
        <p:origin x="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04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7388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65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9768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0795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8th Grade Math: Pre-Algebra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Monomials by Algebraic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222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3965" y="-9144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175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0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91833" y="831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3901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69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33153" y="1321975"/>
            <a:ext cx="103848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MA.8.AR.1.1 </a:t>
            </a:r>
          </a:p>
          <a:p>
            <a:pPr marL="344488" indent="-249238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Apply the Laws of Exponents to generate equivalent algebraic expressions, limited to integer exponents and monomial bases.</a:t>
            </a:r>
          </a:p>
          <a:p>
            <a:pPr marL="95250" indent="0">
              <a:buNone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MA.8.AR.1.2 </a:t>
            </a:r>
          </a:p>
          <a:p>
            <a:pPr marL="344488" indent="-249238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Apply properties of operations to multiply two linear expressions with rational coefficients.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00" y="3241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89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15979" y="129667"/>
            <a:ext cx="91008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68779" y="1596390"/>
            <a:ext cx="98318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2D824DF3-E80B-914C-9AB0-D7D3C693A308}"/>
              </a:ext>
            </a:extLst>
          </p:cNvPr>
          <p:cNvSpPr txBox="1"/>
          <p:nvPr/>
        </p:nvSpPr>
        <p:spPr>
          <a:xfrm>
            <a:off x="895104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97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6927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727791" y="30660"/>
            <a:ext cx="88111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494" y="3559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33153" y="1498651"/>
            <a:ext cx="1013215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apply properties of operations to multiply two linear expressions.</a:t>
            </a:r>
          </a:p>
          <a:p>
            <a:pPr marL="463550" indent="-46355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multiply a monomial by an algebraic expression.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6922968-D6F9-3F48-9B3E-DC6A9EA620A3}"/>
              </a:ext>
            </a:extLst>
          </p:cNvPr>
          <p:cNvSpPr txBox="1"/>
          <p:nvPr/>
        </p:nvSpPr>
        <p:spPr>
          <a:xfrm>
            <a:off x="892697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30" y="-9144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83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075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83550" y="2761056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8BD94AE-966D-214A-A3DC-8A6889F4C627}"/>
              </a:ext>
            </a:extLst>
          </p:cNvPr>
          <p:cNvSpPr txBox="1"/>
          <p:nvPr/>
        </p:nvSpPr>
        <p:spPr>
          <a:xfrm>
            <a:off x="88187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606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4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52073" y="60325"/>
            <a:ext cx="99019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75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5DAFD2-1EED-294A-9D7D-C4D44F53F300}"/>
              </a:ext>
            </a:extLst>
          </p:cNvPr>
          <p:cNvSpPr txBox="1"/>
          <p:nvPr/>
        </p:nvSpPr>
        <p:spPr>
          <a:xfrm>
            <a:off x="878260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D2E40-D142-45C7-B9CB-C3C62E4EF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902" y="1386024"/>
            <a:ext cx="7506271" cy="46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368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83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16146" y="276197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2341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83419F1-6231-AC42-8D1F-7C5B069657A6}"/>
              </a:ext>
            </a:extLst>
          </p:cNvPr>
          <p:cNvSpPr txBox="1"/>
          <p:nvPr/>
        </p:nvSpPr>
        <p:spPr>
          <a:xfrm>
            <a:off x="88066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9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6767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6291" y="156119"/>
            <a:ext cx="105643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12.2.2 Collaboration: Applying Properties of Operations to Multiply Linear Expressions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009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16281" y="1773680"/>
            <a:ext cx="10049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determine who is Partner A and who is Partner B.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the distributive property to re-write each expression in your column in the space provided below each given expression.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C003B09-FA8D-614C-99AF-3534CFA892F6}"/>
              </a:ext>
            </a:extLst>
          </p:cNvPr>
          <p:cNvSpPr txBox="1"/>
          <p:nvPr/>
        </p:nvSpPr>
        <p:spPr>
          <a:xfrm>
            <a:off x="889088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9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89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04405" y="5298132"/>
            <a:ext cx="100608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6355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work with your partner. The expressions in each row are equivalent. If your expressions are not equivalent, work together to find and correct any error(s).</a:t>
            </a:r>
          </a:p>
          <a:p>
            <a:r>
              <a:rPr lang="en-US" dirty="0"/>
              <a:t> 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277445-A9E8-584D-A6C7-A9AD9A23A9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779078"/>
                  </p:ext>
                </p:extLst>
              </p:nvPr>
            </p:nvGraphicFramePr>
            <p:xfrm>
              <a:off x="3570901" y="714258"/>
              <a:ext cx="4978899" cy="43513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12274">
                      <a:extLst>
                        <a:ext uri="{9D8B030D-6E8A-4147-A177-3AD203B41FA5}">
                          <a16:colId xmlns:a16="http://schemas.microsoft.com/office/drawing/2014/main" val="1244759711"/>
                        </a:ext>
                      </a:extLst>
                    </a:gridCol>
                    <a:gridCol w="2566625">
                      <a:extLst>
                        <a:ext uri="{9D8B030D-6E8A-4147-A177-3AD203B41FA5}">
                          <a16:colId xmlns:a16="http://schemas.microsoft.com/office/drawing/2014/main" val="3306227638"/>
                        </a:ext>
                      </a:extLst>
                    </a:gridCol>
                  </a:tblGrid>
                  <a:tr h="3679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</a:rPr>
                            <a:t>Partner A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</a:rPr>
                            <a:t>Partner B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758865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(3−8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extLst>
                      <a:ext uri="{0D108BD9-81ED-4DB2-BD59-A6C34878D82A}">
                        <a16:rowId xmlns:a16="http://schemas.microsoft.com/office/drawing/2014/main" val="2670838179"/>
                      </a:ext>
                    </a:extLst>
                  </a:tr>
                  <a:tr h="8670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+9)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extLst>
                      <a:ext uri="{0D108BD9-81ED-4DB2-BD59-A6C34878D82A}">
                        <a16:rowId xmlns:a16="http://schemas.microsoft.com/office/drawing/2014/main" val="1699256126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−15)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extLst>
                      <a:ext uri="{0D108BD9-81ED-4DB2-BD59-A6C34878D82A}">
                        <a16:rowId xmlns:a16="http://schemas.microsoft.com/office/drawing/2014/main" val="688236114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)12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extLst>
                      <a:ext uri="{0D108BD9-81ED-4DB2-BD59-A6C34878D82A}">
                        <a16:rowId xmlns:a16="http://schemas.microsoft.com/office/drawing/2014/main" val="1538099589"/>
                      </a:ext>
                    </a:extLst>
                  </a:tr>
                  <a:tr h="8753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(10+16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/>
                    </a:tc>
                    <a:extLst>
                      <a:ext uri="{0D108BD9-81ED-4DB2-BD59-A6C34878D82A}">
                        <a16:rowId xmlns:a16="http://schemas.microsoft.com/office/drawing/2014/main" val="3499369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277445-A9E8-584D-A6C7-A9AD9A23A9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779078"/>
                  </p:ext>
                </p:extLst>
              </p:nvPr>
            </p:nvGraphicFramePr>
            <p:xfrm>
              <a:off x="3570901" y="714258"/>
              <a:ext cx="4978899" cy="43513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12274">
                      <a:extLst>
                        <a:ext uri="{9D8B030D-6E8A-4147-A177-3AD203B41FA5}">
                          <a16:colId xmlns:a16="http://schemas.microsoft.com/office/drawing/2014/main" val="1244759711"/>
                        </a:ext>
                      </a:extLst>
                    </a:gridCol>
                    <a:gridCol w="2566625">
                      <a:extLst>
                        <a:ext uri="{9D8B030D-6E8A-4147-A177-3AD203B41FA5}">
                          <a16:colId xmlns:a16="http://schemas.microsoft.com/office/drawing/2014/main" val="3306227638"/>
                        </a:ext>
                      </a:extLst>
                    </a:gridCol>
                  </a:tblGrid>
                  <a:tr h="3679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</a:rPr>
                            <a:t>Partner A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</a:rPr>
                            <a:t>Partner B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047" marR="50047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758865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253" t="-54472" r="-107071" b="-4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94076" t="-54472" r="-474" b="-4341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838179"/>
                      </a:ext>
                    </a:extLst>
                  </a:tr>
                  <a:tr h="867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253" t="-133803" r="-107071" b="-276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94076" t="-133803" r="-474" b="-276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9256126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253" t="-269919" r="-107071" b="-218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94076" t="-269919" r="-474" b="-218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8236114"/>
                      </a:ext>
                    </a:extLst>
                  </a:tr>
                  <a:tr h="7470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253" t="-372951" r="-107071" b="-12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94076" t="-372951" r="-474" b="-12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099589"/>
                      </a:ext>
                    </a:extLst>
                  </a:tr>
                  <a:tr h="8753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253" t="-400694" r="-107071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47" marR="50047" marT="0" marB="0" anchor="ctr">
                        <a:blipFill>
                          <a:blip r:embed="rId4"/>
                          <a:stretch>
                            <a:fillRect l="-94076" t="-400694" r="-474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93699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E6F92F8-5DDC-314B-89C2-5BE8A777189A}"/>
              </a:ext>
            </a:extLst>
          </p:cNvPr>
          <p:cNvSpPr txBox="1"/>
          <p:nvPr/>
        </p:nvSpPr>
        <p:spPr>
          <a:xfrm>
            <a:off x="885479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858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047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3379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8767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17A3C93-FF78-AD4B-9BFC-32F7E9CBFF14}"/>
              </a:ext>
            </a:extLst>
          </p:cNvPr>
          <p:cNvSpPr txBox="1"/>
          <p:nvPr/>
        </p:nvSpPr>
        <p:spPr>
          <a:xfrm>
            <a:off x="897510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396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9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6923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31917" y="156119"/>
            <a:ext cx="100326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12.2.3 Collaboration: Defining Monomials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405" y="32420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04405" y="1562300"/>
            <a:ext cx="9512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charts below show several examples and non-examples of monomials.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B427197-6587-D648-8DE4-6FABD8F6A9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46" y="2764768"/>
            <a:ext cx="8047490" cy="2667035"/>
          </a:xfrm>
          <a:prstGeom prst="rect">
            <a:avLst/>
          </a:prstGeom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9EDE122E-BFA8-4042-9164-992834D5B267}"/>
              </a:ext>
            </a:extLst>
          </p:cNvPr>
          <p:cNvSpPr txBox="1"/>
          <p:nvPr/>
        </p:nvSpPr>
        <p:spPr>
          <a:xfrm>
            <a:off x="890292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035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0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89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90649" y="395207"/>
            <a:ext cx="1082810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6355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 list of identifying features monomials can have versus features they cannot have.</a:t>
            </a: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lists with your partner. Add any additional features you found after your discussion.</a:t>
            </a: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write a definition of a monomial. </a:t>
            </a: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3550"/>
            <a:r>
              <a:rPr lang="en-US" dirty="0"/>
              <a:t> </a:t>
            </a:r>
            <a:endParaRPr lang="en-US" sz="105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3BEFA9-B4F6-504C-970B-BE39A9D93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689706"/>
              </p:ext>
            </p:extLst>
          </p:nvPr>
        </p:nvGraphicFramePr>
        <p:xfrm>
          <a:off x="2135209" y="1259159"/>
          <a:ext cx="7745062" cy="23992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73236">
                  <a:extLst>
                    <a:ext uri="{9D8B030D-6E8A-4147-A177-3AD203B41FA5}">
                      <a16:colId xmlns:a16="http://schemas.microsoft.com/office/drawing/2014/main" val="2518049281"/>
                    </a:ext>
                  </a:extLst>
                </a:gridCol>
                <a:gridCol w="3971826">
                  <a:extLst>
                    <a:ext uri="{9D8B030D-6E8A-4147-A177-3AD203B41FA5}">
                      <a16:colId xmlns:a16="http://schemas.microsoft.com/office/drawing/2014/main" val="2010817970"/>
                    </a:ext>
                  </a:extLst>
                </a:gridCol>
              </a:tblGrid>
              <a:tr h="6088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Monomials Can Have ...</a:t>
                      </a: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Monomials Cannot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Have …</a:t>
                      </a: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19888"/>
                  </a:ext>
                </a:extLst>
              </a:tr>
              <a:tr h="17896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001956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A673643-602C-0F48-84F3-8488BFE47A2D}"/>
              </a:ext>
            </a:extLst>
          </p:cNvPr>
          <p:cNvSpPr txBox="1"/>
          <p:nvPr/>
        </p:nvSpPr>
        <p:spPr>
          <a:xfrm>
            <a:off x="885479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428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F5680B-AB47-7947-8522-A66BB23C1227}"/>
              </a:ext>
            </a:extLst>
          </p:cNvPr>
          <p:cNvSpPr txBox="1"/>
          <p:nvPr/>
        </p:nvSpPr>
        <p:spPr>
          <a:xfrm>
            <a:off x="914400" y="420184"/>
            <a:ext cx="10744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6355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other pairs of partners about the definition they wrote. Listen to their definition and write a summary.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accurate.</a:t>
            </a: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35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3550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the definitions with your partner and make any necessary adjustments to your own definition.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-4124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8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39CA97-9518-C049-89B8-0B05F8ECE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364974"/>
              </p:ext>
            </p:extLst>
          </p:nvPr>
        </p:nvGraphicFramePr>
        <p:xfrm>
          <a:off x="2619585" y="2099397"/>
          <a:ext cx="7329165" cy="2946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6138959">
                  <a:extLst>
                    <a:ext uri="{9D8B030D-6E8A-4147-A177-3AD203B41FA5}">
                      <a16:colId xmlns:a16="http://schemas.microsoft.com/office/drawing/2014/main" val="3530761013"/>
                    </a:ext>
                  </a:extLst>
                </a:gridCol>
                <a:gridCol w="1190206">
                  <a:extLst>
                    <a:ext uri="{9D8B030D-6E8A-4147-A177-3AD203B41FA5}">
                      <a16:colId xmlns:a16="http://schemas.microsoft.com/office/drawing/2014/main" val="2584417385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 Definition of a Monomial</a:t>
                      </a: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68580" marR="68580" marT="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87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1798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6842011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275CD40-2D52-9E47-AE1F-7EB5B598C140}"/>
              </a:ext>
            </a:extLst>
          </p:cNvPr>
          <p:cNvSpPr txBox="1"/>
          <p:nvPr/>
        </p:nvSpPr>
        <p:spPr>
          <a:xfrm>
            <a:off x="88187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5016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0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89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F5680B-AB47-7947-8522-A66BB23C1227}"/>
              </a:ext>
            </a:extLst>
          </p:cNvPr>
          <p:cNvSpPr txBox="1"/>
          <p:nvPr/>
        </p:nvSpPr>
        <p:spPr>
          <a:xfrm>
            <a:off x="986589" y="395206"/>
            <a:ext cx="10684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statement. Select all that apply. </a:t>
            </a:r>
          </a:p>
          <a:p>
            <a:pPr marL="463550">
              <a:lnSpc>
                <a:spcPct val="3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monomial is a 						with                                exponents. 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en-US" sz="2000" dirty="0"/>
              <a:t> 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BA6AC9-0935-A94B-88B2-7251B318C4AA}"/>
              </a:ext>
            </a:extLst>
          </p:cNvPr>
          <p:cNvSpPr/>
          <p:nvPr/>
        </p:nvSpPr>
        <p:spPr>
          <a:xfrm>
            <a:off x="3724378" y="828359"/>
            <a:ext cx="4572000" cy="113157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number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variable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 of numbers and variables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 of numbers and variables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0EF434-552D-C748-869E-D35340E52AC5}"/>
              </a:ext>
            </a:extLst>
          </p:cNvPr>
          <p:cNvSpPr/>
          <p:nvPr/>
        </p:nvSpPr>
        <p:spPr>
          <a:xfrm>
            <a:off x="9048394" y="828359"/>
            <a:ext cx="2317115" cy="113157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whole number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rational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EFD5B10-1827-E24F-9F49-341B0E5A953C}"/>
              </a:ext>
            </a:extLst>
          </p:cNvPr>
          <p:cNvSpPr txBox="1"/>
          <p:nvPr/>
        </p:nvSpPr>
        <p:spPr>
          <a:xfrm>
            <a:off x="88187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6625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3629" y="-13194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8803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2640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388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0252ED9-7B46-F449-9BF8-65329D4CA2F7}"/>
              </a:ext>
            </a:extLst>
          </p:cNvPr>
          <p:cNvSpPr txBox="1"/>
          <p:nvPr/>
        </p:nvSpPr>
        <p:spPr>
          <a:xfrm>
            <a:off x="878260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373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2703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31187" y="-65512"/>
            <a:ext cx="98988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12.2.4 Guided Instruction: Multiplying a Monomial by a Linear Expression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360" y="2203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001799" y="1281236"/>
                <a:ext cx="9898812" cy="2413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Monomials can also be multiplied by linear expressions by applying properties of operations and laws of exponents.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monomial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linear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both methods in the table.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799" y="1281236"/>
                <a:ext cx="9898812" cy="2413225"/>
              </a:xfrm>
              <a:prstGeom prst="rect">
                <a:avLst/>
              </a:prstGeom>
              <a:blipFill>
                <a:blip r:embed="rId5"/>
                <a:stretch>
                  <a:fillRect l="-677" t="-1263" r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831E9ADC-7C19-1443-9C18-BBFE9F53577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921" y="3556065"/>
            <a:ext cx="5659141" cy="25168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041051-AE87-FC44-B6FB-18BA178C5F4E}"/>
              </a:ext>
            </a:extLst>
          </p:cNvPr>
          <p:cNvSpPr txBox="1"/>
          <p:nvPr/>
        </p:nvSpPr>
        <p:spPr>
          <a:xfrm>
            <a:off x="1001800" y="6072955"/>
            <a:ext cx="9471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another expression equivalent to the product.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BC7D3CE-BE15-A144-8F81-B1159BDE4AF6}"/>
              </a:ext>
            </a:extLst>
          </p:cNvPr>
          <p:cNvSpPr txBox="1"/>
          <p:nvPr/>
        </p:nvSpPr>
        <p:spPr>
          <a:xfrm>
            <a:off x="88066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5173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738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5968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753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71DCDA7-F512-6449-937D-1BB2DBBE0893}"/>
              </a:ext>
            </a:extLst>
          </p:cNvPr>
          <p:cNvSpPr txBox="1"/>
          <p:nvPr/>
        </p:nvSpPr>
        <p:spPr>
          <a:xfrm>
            <a:off x="891494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377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67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5137" y="215773"/>
            <a:ext cx="1007982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12.2.5 Guided Practice: Multiplying a Monomial by a Linear Expression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041" y="35741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056904" y="1632403"/>
                <a:ext cx="9277997" cy="3787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product using your preferred method.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−2.4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(−9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−3.16)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4.79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(0.3+2.1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−7.8)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1632403"/>
                <a:ext cx="9277997" cy="3787255"/>
              </a:xfrm>
              <a:prstGeom prst="rect">
                <a:avLst/>
              </a:prstGeom>
              <a:blipFill>
                <a:blip r:embed="rId5"/>
                <a:stretch>
                  <a:fillRect l="-986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03B01B1-F358-624F-AEA4-04079F8CE5B1}"/>
              </a:ext>
            </a:extLst>
          </p:cNvPr>
          <p:cNvSpPr txBox="1"/>
          <p:nvPr/>
        </p:nvSpPr>
        <p:spPr>
          <a:xfrm>
            <a:off x="87946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29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83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062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0201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49F1F7D-173A-A749-8547-B2D36C101999}"/>
              </a:ext>
            </a:extLst>
          </p:cNvPr>
          <p:cNvSpPr txBox="1"/>
          <p:nvPr/>
        </p:nvSpPr>
        <p:spPr>
          <a:xfrm>
            <a:off x="884276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263" y="-1556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867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617481" y="15353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488" y="1084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045029" y="1231648"/>
                <a:ext cx="9342555" cy="5264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product using your preferred method.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(12.7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+9.2)(4.01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(2.005−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)∙(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231648"/>
                <a:ext cx="9342555" cy="5264583"/>
              </a:xfrm>
              <a:prstGeom prst="rect">
                <a:avLst/>
              </a:prstGeom>
              <a:blipFill>
                <a:blip r:embed="rId5"/>
                <a:stretch>
                  <a:fillRect l="-978" t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9473582-7290-614D-999B-5158EBEA6E29}"/>
              </a:ext>
            </a:extLst>
          </p:cNvPr>
          <p:cNvSpPr txBox="1"/>
          <p:nvPr/>
        </p:nvSpPr>
        <p:spPr>
          <a:xfrm>
            <a:off x="890291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902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14934" y="2779100"/>
            <a:ext cx="621615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4934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16F5D33-DF3E-8B48-94A9-8256082DDFE4}"/>
              </a:ext>
            </a:extLst>
          </p:cNvPr>
          <p:cNvSpPr txBox="1"/>
          <p:nvPr/>
        </p:nvSpPr>
        <p:spPr>
          <a:xfrm>
            <a:off x="893900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55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8958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711667" y="-82571"/>
            <a:ext cx="94536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12.2.7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773" y="1806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033153" y="1386025"/>
                <a:ext cx="10132152" cy="3846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3550" indent="-46355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Elijah multiplied the monomial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linear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His resulting expression is shown.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algn="ctr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note to Elijah explaining what he did correctly and what error(s) he made when finding the product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3" y="1386025"/>
                <a:ext cx="10132152" cy="3846951"/>
              </a:xfrm>
              <a:prstGeom prst="rect">
                <a:avLst/>
              </a:prstGeom>
              <a:blipFill>
                <a:blip r:embed="rId5"/>
                <a:stretch>
                  <a:fillRect l="-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80DE723-1BE6-2548-AAE9-39CA688555CF}"/>
              </a:ext>
            </a:extLst>
          </p:cNvPr>
          <p:cNvSpPr txBox="1"/>
          <p:nvPr/>
        </p:nvSpPr>
        <p:spPr>
          <a:xfrm>
            <a:off x="884276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892</Words>
  <Application>Microsoft Office PowerPoint</Application>
  <PresentationFormat>Widescreen</PresentationFormat>
  <Paragraphs>180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Verdana</vt:lpstr>
      <vt:lpstr>Courier New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8th Grade Math: Pre-Algebra   Unit 12, Lesson 2  Multiplying Monomials by Algebraic Expressions  Volume 2, pg. 222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39</cp:revision>
  <dcterms:created xsi:type="dcterms:W3CDTF">2015-03-17T18:51:18Z</dcterms:created>
  <dcterms:modified xsi:type="dcterms:W3CDTF">2022-07-20T02:59:50Z</dcterms:modified>
</cp:coreProperties>
</file>