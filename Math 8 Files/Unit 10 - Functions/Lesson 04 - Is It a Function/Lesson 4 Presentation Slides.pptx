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85" r:id="rId4"/>
    <p:sldId id="286" r:id="rId5"/>
    <p:sldId id="261" r:id="rId6"/>
    <p:sldId id="287" r:id="rId7"/>
    <p:sldId id="289" r:id="rId8"/>
    <p:sldId id="290" r:id="rId9"/>
    <p:sldId id="308" r:id="rId10"/>
    <p:sldId id="322" r:id="rId11"/>
    <p:sldId id="327" r:id="rId12"/>
    <p:sldId id="326" r:id="rId13"/>
    <p:sldId id="330" r:id="rId14"/>
    <p:sldId id="325" r:id="rId15"/>
    <p:sldId id="329" r:id="rId16"/>
    <p:sldId id="328" r:id="rId17"/>
    <p:sldId id="320" r:id="rId18"/>
    <p:sldId id="321" r:id="rId19"/>
    <p:sldId id="324" r:id="rId20"/>
    <p:sldId id="341" r:id="rId21"/>
    <p:sldId id="342" r:id="rId22"/>
    <p:sldId id="334" r:id="rId23"/>
    <p:sldId id="335" r:id="rId24"/>
    <p:sldId id="336" r:id="rId25"/>
    <p:sldId id="339" r:id="rId26"/>
    <p:sldId id="340" r:id="rId27"/>
    <p:sldId id="306" r:id="rId28"/>
    <p:sldId id="307" r:id="rId29"/>
    <p:sldId id="337" r:id="rId30"/>
    <p:sldId id="338" r:id="rId31"/>
  </p:sldIdLst>
  <p:sldSz cx="12192000" cy="6858000"/>
  <p:notesSz cx="6858000" cy="9144000"/>
  <p:embeddedFontLst>
    <p:embeddedFont>
      <p:font typeface="Arial Black" panose="020B0A04020102020204" pitchFamily="34" charset="0"/>
      <p:regular r:id="rId33"/>
      <p:bold r:id="rId34"/>
    </p:embeddedFont>
    <p:embeddedFont>
      <p:font typeface="Calibri" panose="020F0502020204030204" pitchFamily="34" charset="0"/>
      <p:regular r:id="rId35"/>
      <p:bold r:id="rId36"/>
      <p:italic r:id="rId37"/>
      <p:boldItalic r:id="rId38"/>
    </p:embeddedFont>
    <p:embeddedFont>
      <p:font typeface="Cambria" panose="02040503050406030204" pitchFamily="18" charset="0"/>
      <p:regular r:id="rId39"/>
      <p:bold r:id="rId40"/>
      <p:italic r:id="rId41"/>
      <p:boldItalic r:id="rId42"/>
    </p:embeddedFont>
    <p:embeddedFont>
      <p:font typeface="Cambria Math" panose="02040503050406030204" pitchFamily="18" charset="0"/>
      <p:regular r:id="rId43"/>
    </p:embeddedFont>
    <p:embeddedFont>
      <p:font typeface="Century Gothic" panose="020B0502020202020204" pitchFamily="34" charset="0"/>
      <p:regular r:id="rId44"/>
      <p:bold r:id="rId45"/>
      <p:italic r:id="rId46"/>
      <p:boldItalic r:id="rId47"/>
    </p:embeddedFont>
    <p:embeddedFont>
      <p:font typeface="Verdana" panose="020B0604030504040204" pitchFamily="3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1F3165"/>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615"/>
    <p:restoredTop sz="94694"/>
  </p:normalViewPr>
  <p:slideViewPr>
    <p:cSldViewPr snapToGrid="0">
      <p:cViewPr varScale="1">
        <p:scale>
          <a:sx n="50" d="100"/>
          <a:sy n="50" d="100"/>
        </p:scale>
        <p:origin x="54" y="2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2974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480886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7540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966481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602938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8052699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080772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845986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121133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27557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4466163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689582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688986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6350706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5164937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0512776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2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22901" y="2054277"/>
            <a:ext cx="548639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Is It a Function?</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135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MA.8.F.1.1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set of ordered pairs, a table, a graph, or mapping diagram, determine whether the relationship is a function. Identify the domain and range of the relation.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576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6576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 I can determine whether a relation is a function.</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909353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10.4.1 Warm-Up: Sticking With It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6576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135</a:t>
            </a:r>
            <a:endParaRPr i="1" dirty="0">
              <a:latin typeface="Calibri"/>
              <a:ea typeface="Calibri"/>
              <a:cs typeface="Calibri"/>
              <a:sym typeface="Calibri"/>
            </a:endParaRPr>
          </a:p>
        </p:txBody>
      </p:sp>
      <p:sp>
        <p:nvSpPr>
          <p:cNvPr id="3" name="Rectangle 2">
            <a:extLst>
              <a:ext uri="{FF2B5EF4-FFF2-40B4-BE49-F238E27FC236}">
                <a16:creationId xmlns:a16="http://schemas.microsoft.com/office/drawing/2014/main" id="{287C5FEC-A86F-3B40-BDC7-FA3BB8FD6EBF}"/>
              </a:ext>
            </a:extLst>
          </p:cNvPr>
          <p:cNvSpPr/>
          <p:nvPr/>
        </p:nvSpPr>
        <p:spPr>
          <a:xfrm>
            <a:off x="914400" y="1197765"/>
            <a:ext cx="10515600" cy="5509200"/>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rPr>
              <a:t>Engineering students learn many lessons both in and out of the classroom. One student shared what she learned: “Sometimes there is a lot of pressure that can cause unwanted strain, but it is what happens at the point of failure that reveals the amount of strength that is really inside.”</a:t>
            </a:r>
          </a:p>
          <a:p>
            <a:r>
              <a:rPr lang="en-US" sz="2200" dirty="0">
                <a:latin typeface="Verdana" panose="020B0604030504040204" pitchFamily="34" charset="0"/>
                <a:ea typeface="Times New Roman" panose="02020603050405020304" pitchFamily="18" charset="0"/>
              </a:rPr>
              <a:t> </a:t>
            </a:r>
          </a:p>
          <a:p>
            <a:pPr marL="457200" indent="-457200">
              <a:buFont typeface="+mj-lt"/>
              <a:buAutoNum type="arabicPeriod"/>
            </a:pPr>
            <a:r>
              <a:rPr lang="en-US" sz="2200" dirty="0">
                <a:latin typeface="Verdana" panose="020B0604030504040204" pitchFamily="34" charset="0"/>
                <a:ea typeface="Times New Roman" panose="02020603050405020304" pitchFamily="18" charset="0"/>
              </a:rPr>
              <a:t>What is one life lesson you have learned this school year?</a:t>
            </a: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7200" indent="-457200">
              <a:buFont typeface="+mj-lt"/>
              <a:buAutoNum type="arabicPeriod"/>
            </a:pPr>
            <a:r>
              <a:rPr lang="en-US" sz="2200" dirty="0">
                <a:latin typeface="Verdana" panose="020B0604030504040204" pitchFamily="34" charset="0"/>
                <a:ea typeface="Times New Roman" panose="02020603050405020304" pitchFamily="18" charset="0"/>
              </a:rPr>
              <a:t>When is a time when you have had to stick with something that was hard in order to reach a goal?</a:t>
            </a:r>
          </a:p>
          <a:p>
            <a:endParaRPr lang="en-US" sz="2200" dirty="0">
              <a:latin typeface="Verdana" panose="020B0604030504040204" pitchFamily="34" charset="0"/>
              <a:ea typeface="Times New Roman" panose="02020603050405020304" pitchFamily="18" charset="0"/>
            </a:endParaRPr>
          </a:p>
          <a:p>
            <a:r>
              <a:rPr lang="en-US" sz="2200" dirty="0">
                <a:latin typeface="Verdana" panose="020B0604030504040204" pitchFamily="34" charset="0"/>
                <a:ea typeface="Times New Roman" panose="02020603050405020304" pitchFamily="18" charset="0"/>
              </a:rPr>
              <a:t>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9" name="image12.png" descr="Icon&#10;&#10;Description automatically generated">
            <a:extLst>
              <a:ext uri="{FF2B5EF4-FFF2-40B4-BE49-F238E27FC236}">
                <a16:creationId xmlns:a16="http://schemas.microsoft.com/office/drawing/2014/main" id="{E1A77B0D-D274-714F-9D9A-FDA9DAD02431}"/>
              </a:ext>
            </a:extLst>
          </p:cNvPr>
          <p:cNvPicPr/>
          <p:nvPr/>
        </p:nvPicPr>
        <p:blipFill>
          <a:blip r:embed="rId4"/>
          <a:srcRect/>
          <a:stretch>
            <a:fillRect/>
          </a:stretch>
        </p:blipFill>
        <p:spPr>
          <a:xfrm>
            <a:off x="3054096" y="2859275"/>
            <a:ext cx="1151971" cy="115197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2999" y="-190909"/>
            <a:ext cx="978229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10.4.2 Guided Practice: Is It a Function?</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996284"/>
            <a:ext cx="10515600" cy="1938992"/>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 function is a mathematical relation for which each element in the domain corresponds to exactly one element in the range.</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Two relations are shown below.</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10" name="image12.png" descr="Icon&#10;&#10;Description automatically generated">
            <a:extLst>
              <a:ext uri="{FF2B5EF4-FFF2-40B4-BE49-F238E27FC236}">
                <a16:creationId xmlns:a16="http://schemas.microsoft.com/office/drawing/2014/main" id="{B1D82FD5-466B-C24F-80BB-9CE5B665260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1285"/>
            <a:ext cx="747301" cy="747301"/>
          </a:xfrm>
          <a:prstGeom prst="rect">
            <a:avLst/>
          </a:prstGeom>
          <a:ln/>
        </p:spPr>
      </p:pic>
      <p:graphicFrame>
        <p:nvGraphicFramePr>
          <p:cNvPr id="19" name="Table 18">
            <a:extLst>
              <a:ext uri="{FF2B5EF4-FFF2-40B4-BE49-F238E27FC236}">
                <a16:creationId xmlns:a16="http://schemas.microsoft.com/office/drawing/2014/main" id="{D8F0002C-D6D1-AA49-9A96-52A358AEDB47}"/>
              </a:ext>
            </a:extLst>
          </p:cNvPr>
          <p:cNvGraphicFramePr>
            <a:graphicFrameLocks noGrp="1"/>
          </p:cNvGraphicFramePr>
          <p:nvPr>
            <p:extLst>
              <p:ext uri="{D42A27DB-BD31-4B8C-83A1-F6EECF244321}">
                <p14:modId xmlns:p14="http://schemas.microsoft.com/office/powerpoint/2010/main" val="2302662595"/>
              </p:ext>
            </p:extLst>
          </p:nvPr>
        </p:nvGraphicFramePr>
        <p:xfrm>
          <a:off x="2695575" y="3039259"/>
          <a:ext cx="6800850" cy="3028675"/>
        </p:xfrm>
        <a:graphic>
          <a:graphicData uri="http://schemas.openxmlformats.org/drawingml/2006/table">
            <a:tbl>
              <a:tblPr firstRow="1" firstCol="1" bandRow="1">
                <a:tableStyleId>{A91F0D33-8C57-4600-99A7-42BC86742BE1}</a:tableStyleId>
              </a:tblPr>
              <a:tblGrid>
                <a:gridCol w="3416300">
                  <a:extLst>
                    <a:ext uri="{9D8B030D-6E8A-4147-A177-3AD203B41FA5}">
                      <a16:colId xmlns:a16="http://schemas.microsoft.com/office/drawing/2014/main" val="3678203622"/>
                    </a:ext>
                  </a:extLst>
                </a:gridCol>
                <a:gridCol w="3384550">
                  <a:extLst>
                    <a:ext uri="{9D8B030D-6E8A-4147-A177-3AD203B41FA5}">
                      <a16:colId xmlns:a16="http://schemas.microsoft.com/office/drawing/2014/main" val="1872988294"/>
                    </a:ext>
                  </a:extLst>
                </a:gridCol>
              </a:tblGrid>
              <a:tr h="45047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Relation 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Relation B</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865721700"/>
                  </a:ext>
                </a:extLst>
              </a:tr>
              <a:tr h="2578205">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3709489"/>
                  </a:ext>
                </a:extLst>
              </a:tr>
            </a:tbl>
          </a:graphicData>
        </a:graphic>
      </p:graphicFrame>
      <p:grpSp>
        <p:nvGrpSpPr>
          <p:cNvPr id="22" name="Group 21">
            <a:extLst>
              <a:ext uri="{FF2B5EF4-FFF2-40B4-BE49-F238E27FC236}">
                <a16:creationId xmlns:a16="http://schemas.microsoft.com/office/drawing/2014/main" id="{B696F7C8-327A-F94A-9ED0-44360359EC7B}"/>
              </a:ext>
            </a:extLst>
          </p:cNvPr>
          <p:cNvGrpSpPr/>
          <p:nvPr/>
        </p:nvGrpSpPr>
        <p:grpSpPr>
          <a:xfrm>
            <a:off x="3492059" y="3830910"/>
            <a:ext cx="1786256" cy="1838325"/>
            <a:chOff x="0" y="0"/>
            <a:chExt cx="1786295" cy="1838528"/>
          </a:xfrm>
        </p:grpSpPr>
        <mc:AlternateContent xmlns:mc="http://schemas.openxmlformats.org/markup-compatibility/2006" xmlns:a14="http://schemas.microsoft.com/office/drawing/2010/main">
          <mc:Choice Requires="a14">
            <p:sp>
              <p:nvSpPr>
                <p:cNvPr id="23" name="Oval 22">
                  <a:extLst>
                    <a:ext uri="{FF2B5EF4-FFF2-40B4-BE49-F238E27FC236}">
                      <a16:creationId xmlns:a16="http://schemas.microsoft.com/office/drawing/2014/main" id="{75A5E876-E336-7B47-98CD-71F16C58A925}"/>
                    </a:ext>
                  </a:extLst>
                </p:cNvPr>
                <p:cNvSpPr>
                  <a:spLocks noChangeAspect="1"/>
                </p:cNvSpPr>
                <p:nvPr/>
              </p:nvSpPr>
              <p:spPr>
                <a:xfrm>
                  <a:off x="0" y="0"/>
                  <a:ext cx="687070" cy="18385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sz="1800">
                            <a:solidFill>
                              <a:srgbClr val="000000"/>
                            </a:solidFill>
                            <a:latin typeface="Cambria Math" panose="02040503050406030204" pitchFamily="18" charset="0"/>
                            <a:ea typeface="Times New Roman" panose="02020603050405020304" pitchFamily="18" charset="0"/>
                          </a:rPr>
                          <m:t>6</m:t>
                        </m:r>
                      </m:oMath>
                    </m:oMathPara>
                  </a14:m>
                  <a:endParaRPr lang="en-CO" sz="120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8</m:t>
                        </m:r>
                      </m:oMath>
                    </m:oMathPara>
                  </a14:m>
                  <a:endParaRPr lang="en-CO" sz="120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80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15</m:t>
                        </m:r>
                      </m:oMath>
                    </m:oMathPara>
                  </a14:m>
                  <a:endParaRPr lang="en-CO" sz="1200">
                    <a:latin typeface="Times New Roman" panose="02020603050405020304" pitchFamily="18" charset="0"/>
                    <a:ea typeface="Times New Roman" panose="02020603050405020304" pitchFamily="18" charset="0"/>
                  </a:endParaRPr>
                </a:p>
              </p:txBody>
            </p:sp>
          </mc:Choice>
          <mc:Fallback xmlns="">
            <p:sp>
              <p:nvSpPr>
                <p:cNvPr id="23" name="Oval 22">
                  <a:extLst>
                    <a:ext uri="{FF2B5EF4-FFF2-40B4-BE49-F238E27FC236}">
                      <a16:creationId xmlns:a16="http://schemas.microsoft.com/office/drawing/2014/main" id="{75A5E876-E336-7B47-98CD-71F16C58A925}"/>
                    </a:ext>
                  </a:extLst>
                </p:cNvPr>
                <p:cNvSpPr>
                  <a:spLocks noRot="1" noChangeAspect="1" noMove="1" noResize="1" noEditPoints="1" noAdjustHandles="1" noChangeArrowheads="1" noChangeShapeType="1" noTextEdit="1"/>
                </p:cNvSpPr>
                <p:nvPr/>
              </p:nvSpPr>
              <p:spPr>
                <a:xfrm>
                  <a:off x="0" y="0"/>
                  <a:ext cx="687070" cy="1838528"/>
                </a:xfrm>
                <a:prstGeom prst="ellipse">
                  <a:avLst/>
                </a:prstGeom>
                <a:blipFill>
                  <a:blip r:embed="rId5"/>
                  <a:stretch>
                    <a:fillRect/>
                  </a:stretch>
                </a:blipFill>
                <a:ln>
                  <a:solidFill>
                    <a:schemeClr val="tx1"/>
                  </a:solid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24" name="Oval 23">
                  <a:extLst>
                    <a:ext uri="{FF2B5EF4-FFF2-40B4-BE49-F238E27FC236}">
                      <a16:creationId xmlns:a16="http://schemas.microsoft.com/office/drawing/2014/main" id="{B34C1983-581A-0A48-B8B6-5980ACF034D3}"/>
                    </a:ext>
                  </a:extLst>
                </p:cNvPr>
                <p:cNvSpPr/>
                <p:nvPr/>
              </p:nvSpPr>
              <p:spPr>
                <a:xfrm>
                  <a:off x="1099225" y="0"/>
                  <a:ext cx="687070" cy="1838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20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m:t>
                        </m:r>
                        <m:r>
                          <a:rPr lang="en-US" sz="1800">
                            <a:solidFill>
                              <a:srgbClr val="000000"/>
                            </a:solidFill>
                            <a:latin typeface="Cambria Math" panose="02040503050406030204" pitchFamily="18" charset="0"/>
                            <a:ea typeface="Times New Roman" panose="02020603050405020304" pitchFamily="18" charset="0"/>
                          </a:rPr>
                          <m:t>3</m:t>
                        </m:r>
                      </m:oMath>
                    </m:oMathPara>
                  </a14:m>
                  <a:endParaRPr lang="en-CO" sz="1200" dirty="0">
                    <a:latin typeface="Times New Roman" panose="02020603050405020304" pitchFamily="18" charset="0"/>
                    <a:ea typeface="Times New Roman" panose="02020603050405020304" pitchFamily="18" charset="0"/>
                  </a:endParaRPr>
                </a:p>
                <a:p>
                  <a:pPr algn="ctr">
                    <a:lnSpc>
                      <a:spcPct val="20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5</m:t>
                        </m:r>
                      </m:oMath>
                    </m:oMathPara>
                  </a14:m>
                  <a:endParaRPr lang="en-CO" sz="1200" dirty="0">
                    <a:latin typeface="Times New Roman" panose="02020603050405020304" pitchFamily="18" charset="0"/>
                    <a:ea typeface="Times New Roman" panose="02020603050405020304" pitchFamily="18" charset="0"/>
                  </a:endParaRPr>
                </a:p>
              </p:txBody>
            </p:sp>
          </mc:Choice>
          <mc:Fallback xmlns="">
            <p:sp>
              <p:nvSpPr>
                <p:cNvPr id="24" name="Oval 23">
                  <a:extLst>
                    <a:ext uri="{FF2B5EF4-FFF2-40B4-BE49-F238E27FC236}">
                      <a16:creationId xmlns:a16="http://schemas.microsoft.com/office/drawing/2014/main" id="{B34C1983-581A-0A48-B8B6-5980ACF034D3}"/>
                    </a:ext>
                  </a:extLst>
                </p:cNvPr>
                <p:cNvSpPr>
                  <a:spLocks noRot="1" noChangeAspect="1" noMove="1" noResize="1" noEditPoints="1" noAdjustHandles="1" noChangeArrowheads="1" noChangeShapeType="1" noTextEdit="1"/>
                </p:cNvSpPr>
                <p:nvPr/>
              </p:nvSpPr>
              <p:spPr>
                <a:xfrm>
                  <a:off x="1099225" y="0"/>
                  <a:ext cx="687070" cy="1838325"/>
                </a:xfrm>
                <a:prstGeom prst="ellipse">
                  <a:avLst/>
                </a:prstGeom>
                <a:blipFill>
                  <a:blip r:embed="rId6"/>
                  <a:stretch>
                    <a:fillRect/>
                  </a:stretch>
                </a:blipFill>
                <a:ln>
                  <a:solidFill>
                    <a:schemeClr val="tx1"/>
                  </a:solidFill>
                </a:ln>
              </p:spPr>
              <p:txBody>
                <a:bodyPr/>
                <a:lstStyle/>
                <a:p>
                  <a:r>
                    <a:rPr lang="en-CO">
                      <a:noFill/>
                    </a:rPr>
                    <a:t> </a:t>
                  </a:r>
                </a:p>
              </p:txBody>
            </p:sp>
          </mc:Fallback>
        </mc:AlternateContent>
        <p:cxnSp>
          <p:nvCxnSpPr>
            <p:cNvPr id="25" name="Straight Arrow Connector 24">
              <a:extLst>
                <a:ext uri="{FF2B5EF4-FFF2-40B4-BE49-F238E27FC236}">
                  <a16:creationId xmlns:a16="http://schemas.microsoft.com/office/drawing/2014/main" id="{B8533CED-9331-834F-AD0C-C81DDE14C317}"/>
                </a:ext>
              </a:extLst>
            </p:cNvPr>
            <p:cNvCxnSpPr/>
            <p:nvPr/>
          </p:nvCxnSpPr>
          <p:spPr>
            <a:xfrm>
              <a:off x="457200" y="430989"/>
              <a:ext cx="815975" cy="680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798575F-BC99-4740-84CD-98D212047097}"/>
                </a:ext>
              </a:extLst>
            </p:cNvPr>
            <p:cNvCxnSpPr/>
            <p:nvPr/>
          </p:nvCxnSpPr>
          <p:spPr>
            <a:xfrm flipV="1">
              <a:off x="457200" y="612032"/>
              <a:ext cx="817093" cy="2723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033506D-33CD-D948-8377-24C142114CAC}"/>
                </a:ext>
              </a:extLst>
            </p:cNvPr>
            <p:cNvCxnSpPr/>
            <p:nvPr/>
          </p:nvCxnSpPr>
          <p:spPr>
            <a:xfrm flipV="1">
              <a:off x="544749" y="1101387"/>
              <a:ext cx="729544" cy="1517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FE989DF-68C4-8F4D-AA4A-FBBDEF5E33D4}"/>
                </a:ext>
              </a:extLst>
            </p:cNvPr>
            <p:cNvCxnSpPr/>
            <p:nvPr/>
          </p:nvCxnSpPr>
          <p:spPr>
            <a:xfrm>
              <a:off x="457200" y="496110"/>
              <a:ext cx="815894" cy="5318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7FA5AFBB-97F1-D341-9663-4CBAC934DA1E}"/>
              </a:ext>
            </a:extLst>
          </p:cNvPr>
          <p:cNvGrpSpPr/>
          <p:nvPr/>
        </p:nvGrpSpPr>
        <p:grpSpPr>
          <a:xfrm>
            <a:off x="6861326" y="3939589"/>
            <a:ext cx="1786256" cy="1838325"/>
            <a:chOff x="0" y="0"/>
            <a:chExt cx="1786295" cy="1838528"/>
          </a:xfrm>
        </p:grpSpPr>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3C9F6A77-7F78-FF4F-B469-0DFEE3565F12}"/>
                    </a:ext>
                  </a:extLst>
                </p:cNvPr>
                <p:cNvSpPr>
                  <a:spLocks noChangeAspect="1"/>
                </p:cNvSpPr>
                <p:nvPr/>
              </p:nvSpPr>
              <p:spPr>
                <a:xfrm>
                  <a:off x="0" y="0"/>
                  <a:ext cx="687070" cy="18385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50000"/>
                    </a:lnSpc>
                  </a:pPr>
                  <a14:m>
                    <m:oMathPara xmlns:m="http://schemas.openxmlformats.org/officeDocument/2006/math">
                      <m:oMathParaPr>
                        <m:jc m:val="centerGroup"/>
                      </m:oMathParaPr>
                      <m:oMath xmlns:m="http://schemas.openxmlformats.org/officeDocument/2006/math">
                        <m:r>
                          <a:rPr lang="en-US" sz="1800">
                            <a:solidFill>
                              <a:srgbClr val="000000"/>
                            </a:solidFill>
                            <a:latin typeface="Cambria Math" panose="02040503050406030204" pitchFamily="18" charset="0"/>
                            <a:ea typeface="Times New Roman" panose="02020603050405020304" pitchFamily="18" charset="0"/>
                          </a:rPr>
                          <m:t>6</m:t>
                        </m:r>
                      </m:oMath>
                    </m:oMathPara>
                  </a14:m>
                  <a:endParaRPr lang="en-CO" sz="1200" dirty="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8</m:t>
                        </m:r>
                      </m:oMath>
                    </m:oMathPara>
                  </a14:m>
                  <a:endParaRPr lang="en-CO" sz="1200" dirty="0">
                    <a:latin typeface="Times New Roman" panose="02020603050405020304" pitchFamily="18" charset="0"/>
                    <a:ea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180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15</m:t>
                        </m:r>
                      </m:oMath>
                    </m:oMathPara>
                  </a14:m>
                  <a:endParaRPr lang="en-CO" sz="1200" dirty="0">
                    <a:latin typeface="Times New Roman" panose="02020603050405020304" pitchFamily="18" charset="0"/>
                    <a:ea typeface="Times New Roman" panose="02020603050405020304" pitchFamily="18" charset="0"/>
                  </a:endParaRPr>
                </a:p>
              </p:txBody>
            </p:sp>
          </mc:Choice>
          <mc:Fallback xmlns="">
            <p:sp>
              <p:nvSpPr>
                <p:cNvPr id="30" name="Oval 29">
                  <a:extLst>
                    <a:ext uri="{FF2B5EF4-FFF2-40B4-BE49-F238E27FC236}">
                      <a16:creationId xmlns:a16="http://schemas.microsoft.com/office/drawing/2014/main" id="{3C9F6A77-7F78-FF4F-B469-0DFEE3565F12}"/>
                    </a:ext>
                  </a:extLst>
                </p:cNvPr>
                <p:cNvSpPr>
                  <a:spLocks noRot="1" noChangeAspect="1" noMove="1" noResize="1" noEditPoints="1" noAdjustHandles="1" noChangeArrowheads="1" noChangeShapeType="1" noTextEdit="1"/>
                </p:cNvSpPr>
                <p:nvPr/>
              </p:nvSpPr>
              <p:spPr>
                <a:xfrm>
                  <a:off x="0" y="0"/>
                  <a:ext cx="687070" cy="1838528"/>
                </a:xfrm>
                <a:prstGeom prst="ellipse">
                  <a:avLst/>
                </a:prstGeom>
                <a:blipFill>
                  <a:blip r:embed="rId7"/>
                  <a:stretch>
                    <a:fillRect/>
                  </a:stretch>
                </a:blipFill>
                <a:ln>
                  <a:solidFill>
                    <a:schemeClr val="tx1"/>
                  </a:solid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31" name="Oval 30">
                  <a:extLst>
                    <a:ext uri="{FF2B5EF4-FFF2-40B4-BE49-F238E27FC236}">
                      <a16:creationId xmlns:a16="http://schemas.microsoft.com/office/drawing/2014/main" id="{3E5DD647-2DB1-B04C-83DA-1D779E2101F1}"/>
                    </a:ext>
                  </a:extLst>
                </p:cNvPr>
                <p:cNvSpPr/>
                <p:nvPr/>
              </p:nvSpPr>
              <p:spPr>
                <a:xfrm>
                  <a:off x="1099225" y="0"/>
                  <a:ext cx="687070" cy="1838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20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m:t>
                        </m:r>
                        <m:r>
                          <a:rPr lang="en-US" sz="1800">
                            <a:solidFill>
                              <a:srgbClr val="000000"/>
                            </a:solidFill>
                            <a:latin typeface="Cambria Math" panose="02040503050406030204" pitchFamily="18" charset="0"/>
                            <a:ea typeface="Times New Roman" panose="02020603050405020304" pitchFamily="18" charset="0"/>
                          </a:rPr>
                          <m:t>3</m:t>
                        </m:r>
                      </m:oMath>
                    </m:oMathPara>
                  </a14:m>
                  <a:endParaRPr lang="en-CO" sz="1200">
                    <a:latin typeface="Times New Roman" panose="02020603050405020304" pitchFamily="18" charset="0"/>
                    <a:ea typeface="Times New Roman" panose="02020603050405020304" pitchFamily="18" charset="0"/>
                  </a:endParaRPr>
                </a:p>
                <a:p>
                  <a:pPr algn="ctr">
                    <a:lnSpc>
                      <a:spcPct val="200000"/>
                    </a:lnSpc>
                  </a:pPr>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Times New Roman" panose="02020603050405020304" pitchFamily="18" charset="0"/>
                          </a:rPr>
                          <m:t>5</m:t>
                        </m:r>
                      </m:oMath>
                    </m:oMathPara>
                  </a14:m>
                  <a:endParaRPr lang="en-CO" sz="1200">
                    <a:latin typeface="Times New Roman" panose="02020603050405020304" pitchFamily="18" charset="0"/>
                    <a:ea typeface="Times New Roman" panose="02020603050405020304" pitchFamily="18" charset="0"/>
                  </a:endParaRPr>
                </a:p>
              </p:txBody>
            </p:sp>
          </mc:Choice>
          <mc:Fallback xmlns="">
            <p:sp>
              <p:nvSpPr>
                <p:cNvPr id="31" name="Oval 30">
                  <a:extLst>
                    <a:ext uri="{FF2B5EF4-FFF2-40B4-BE49-F238E27FC236}">
                      <a16:creationId xmlns:a16="http://schemas.microsoft.com/office/drawing/2014/main" id="{3E5DD647-2DB1-B04C-83DA-1D779E2101F1}"/>
                    </a:ext>
                  </a:extLst>
                </p:cNvPr>
                <p:cNvSpPr>
                  <a:spLocks noRot="1" noChangeAspect="1" noMove="1" noResize="1" noEditPoints="1" noAdjustHandles="1" noChangeArrowheads="1" noChangeShapeType="1" noTextEdit="1"/>
                </p:cNvSpPr>
                <p:nvPr/>
              </p:nvSpPr>
              <p:spPr>
                <a:xfrm>
                  <a:off x="1099225" y="0"/>
                  <a:ext cx="687070" cy="1838325"/>
                </a:xfrm>
                <a:prstGeom prst="ellipse">
                  <a:avLst/>
                </a:prstGeom>
                <a:blipFill>
                  <a:blip r:embed="rId8"/>
                  <a:stretch>
                    <a:fillRect/>
                  </a:stretch>
                </a:blipFill>
                <a:ln>
                  <a:solidFill>
                    <a:schemeClr val="tx1"/>
                  </a:solidFill>
                </a:ln>
              </p:spPr>
              <p:txBody>
                <a:bodyPr/>
                <a:lstStyle/>
                <a:p>
                  <a:r>
                    <a:rPr lang="en-CO">
                      <a:noFill/>
                    </a:rPr>
                    <a:t> </a:t>
                  </a:r>
                </a:p>
              </p:txBody>
            </p:sp>
          </mc:Fallback>
        </mc:AlternateContent>
        <p:cxnSp>
          <p:nvCxnSpPr>
            <p:cNvPr id="32" name="Straight Arrow Connector 31">
              <a:extLst>
                <a:ext uri="{FF2B5EF4-FFF2-40B4-BE49-F238E27FC236}">
                  <a16:creationId xmlns:a16="http://schemas.microsoft.com/office/drawing/2014/main" id="{F03E3245-FE8D-C84F-8B8A-C091601668F2}"/>
                </a:ext>
              </a:extLst>
            </p:cNvPr>
            <p:cNvCxnSpPr/>
            <p:nvPr/>
          </p:nvCxnSpPr>
          <p:spPr>
            <a:xfrm>
              <a:off x="457200" y="430989"/>
              <a:ext cx="815975" cy="680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F799500-461E-2A48-AB9A-48C629A6A8B1}"/>
                </a:ext>
              </a:extLst>
            </p:cNvPr>
            <p:cNvCxnSpPr/>
            <p:nvPr/>
          </p:nvCxnSpPr>
          <p:spPr>
            <a:xfrm flipV="1">
              <a:off x="457200" y="612032"/>
              <a:ext cx="817093" cy="2723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DE60753-E12C-FD4C-BD92-27FF72188C40}"/>
                </a:ext>
              </a:extLst>
            </p:cNvPr>
            <p:cNvCxnSpPr/>
            <p:nvPr/>
          </p:nvCxnSpPr>
          <p:spPr>
            <a:xfrm flipV="1">
              <a:off x="544749" y="1101387"/>
              <a:ext cx="729544" cy="1517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7" name="Rectangle 16">
            <a:extLst>
              <a:ext uri="{FF2B5EF4-FFF2-40B4-BE49-F238E27FC236}">
                <a16:creationId xmlns:a16="http://schemas.microsoft.com/office/drawing/2014/main" id="{C5C0689E-8B16-904F-A555-0BF540A1D1D2}"/>
              </a:ext>
            </a:extLst>
          </p:cNvPr>
          <p:cNvSpPr/>
          <p:nvPr/>
        </p:nvSpPr>
        <p:spPr>
          <a:xfrm>
            <a:off x="914400" y="291046"/>
            <a:ext cx="10515600" cy="4636654"/>
          </a:xfrm>
          <a:prstGeom prst="rect">
            <a:avLst/>
          </a:prstGeom>
        </p:spPr>
        <p:txBody>
          <a:bodyPr wrap="square">
            <a:spAutoFit/>
          </a:bodyPr>
          <a:lstStyle/>
          <a:p>
            <a:pPr marL="914400" indent="-463550">
              <a:buFont typeface="Arial" panose="020B0604020202020204" pitchFamily="34" charset="0"/>
              <a:buChar char="•"/>
            </a:pPr>
            <a:r>
              <a:rPr lang="en-US" sz="2200" dirty="0">
                <a:latin typeface="Verdana" panose="020B0604030504040204" pitchFamily="34" charset="0"/>
                <a:ea typeface="Times New Roman" panose="02020603050405020304" pitchFamily="18" charset="0"/>
              </a:rPr>
              <a:t>Mila said that neither Relation A nor Relation B is a function.</a:t>
            </a:r>
          </a:p>
          <a:p>
            <a:pPr marL="914400" indent="-463550">
              <a:buFont typeface="Arial" panose="020B0604020202020204" pitchFamily="34" charset="0"/>
              <a:buChar char="•"/>
            </a:pPr>
            <a:r>
              <a:rPr lang="en-US" sz="2200" dirty="0" err="1">
                <a:latin typeface="Verdana" panose="020B0604030504040204" pitchFamily="34" charset="0"/>
                <a:ea typeface="Times New Roman" panose="02020603050405020304" pitchFamily="18" charset="0"/>
              </a:rPr>
              <a:t>K’Drien</a:t>
            </a:r>
            <a:r>
              <a:rPr lang="en-US" sz="2200" dirty="0">
                <a:latin typeface="Verdana" panose="020B0604030504040204" pitchFamily="34" charset="0"/>
                <a:ea typeface="Times New Roman" panose="02020603050405020304" pitchFamily="18" charset="0"/>
              </a:rPr>
              <a:t> said that Relation A is not a function, but reasoned that Relation B is a function.</a:t>
            </a:r>
          </a:p>
          <a:p>
            <a:pPr marL="342900" indent="-342900">
              <a:buFont typeface="Arial" panose="020B0604020202020204" pitchFamily="34" charset="0"/>
              <a:buChar char="•"/>
            </a:pPr>
            <a:endParaRPr lang="en-US" sz="2200" dirty="0">
              <a:latin typeface="Verdana" panose="020B0604030504040204" pitchFamily="34" charset="0"/>
              <a:ea typeface="Times New Roman" panose="02020603050405020304" pitchFamily="18" charset="0"/>
            </a:endParaRPr>
          </a:p>
          <a:p>
            <a:pPr marL="463550"/>
            <a:r>
              <a:rPr lang="en-US" sz="2200" dirty="0">
                <a:latin typeface="Verdana" panose="020B0604030504040204" pitchFamily="34" charset="0"/>
                <a:ea typeface="Times New Roman" panose="02020603050405020304" pitchFamily="18" charset="0"/>
              </a:rPr>
              <a:t>Complete the statements.</a:t>
            </a:r>
          </a:p>
          <a:p>
            <a:pPr marL="463550">
              <a:lnSpc>
                <a:spcPct val="300000"/>
              </a:lnSpc>
            </a:pPr>
            <a:r>
              <a:rPr lang="en-US" sz="2200" dirty="0">
                <a:latin typeface="Verdana" panose="020B0604030504040204" pitchFamily="34" charset="0"/>
                <a:ea typeface="Times New Roman" panose="02020603050405020304" pitchFamily="18" charset="0"/>
              </a:rPr>
              <a:t>I agree with                    I know that Relation B                 a function because each element in the                               correspond with exactly one element in the </a:t>
            </a:r>
          </a:p>
        </p:txBody>
      </p:sp>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pic>
        <p:nvPicPr>
          <p:cNvPr id="3" name="Picture 2" descr="A picture containing shape&#10;&#10;Description automatically generated">
            <a:extLst>
              <a:ext uri="{FF2B5EF4-FFF2-40B4-BE49-F238E27FC236}">
                <a16:creationId xmlns:a16="http://schemas.microsoft.com/office/drawing/2014/main" id="{5F403E3C-6272-E942-BC08-6A0F24CD218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85195" y="2253127"/>
            <a:ext cx="1851537" cy="930156"/>
          </a:xfrm>
          <a:prstGeom prst="rect">
            <a:avLst/>
          </a:prstGeom>
        </p:spPr>
      </p:pic>
      <p:pic>
        <p:nvPicPr>
          <p:cNvPr id="5" name="Picture 4" descr="A picture containing shape&#10;&#10;Description automatically generated">
            <a:extLst>
              <a:ext uri="{FF2B5EF4-FFF2-40B4-BE49-F238E27FC236}">
                <a16:creationId xmlns:a16="http://schemas.microsoft.com/office/drawing/2014/main" id="{5F6045B7-148A-D649-8801-5373D1A1ADC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360687" y="2146249"/>
            <a:ext cx="1417484" cy="923688"/>
          </a:xfrm>
          <a:prstGeom prst="rect">
            <a:avLst/>
          </a:prstGeom>
        </p:spPr>
      </p:pic>
      <p:pic>
        <p:nvPicPr>
          <p:cNvPr id="7" name="Picture 6" descr="Shape&#10;&#10;Description automatically generated with low confidence">
            <a:extLst>
              <a:ext uri="{FF2B5EF4-FFF2-40B4-BE49-F238E27FC236}">
                <a16:creationId xmlns:a16="http://schemas.microsoft.com/office/drawing/2014/main" id="{EF93DBD7-CAAB-4640-8852-5859B150DC5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870284" y="3185409"/>
            <a:ext cx="1754679" cy="930156"/>
          </a:xfrm>
          <a:prstGeom prst="rect">
            <a:avLst/>
          </a:prstGeom>
        </p:spPr>
      </p:pic>
      <p:pic>
        <p:nvPicPr>
          <p:cNvPr id="9" name="Picture 8" descr="Shape&#10;&#10;Description automatically generated with low confidence">
            <a:extLst>
              <a:ext uri="{FF2B5EF4-FFF2-40B4-BE49-F238E27FC236}">
                <a16:creationId xmlns:a16="http://schemas.microsoft.com/office/drawing/2014/main" id="{0E4BF40A-5A10-7A45-83A9-41259D1DF4FD}"/>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672463" y="3185408"/>
            <a:ext cx="1944874" cy="930157"/>
          </a:xfrm>
          <a:prstGeom prst="rect">
            <a:avLst/>
          </a:prstGeom>
        </p:spPr>
      </p:pic>
      <p:pic>
        <p:nvPicPr>
          <p:cNvPr id="11" name="Picture 10" descr="Shape&#10;&#10;Description automatically generated with medium confidence">
            <a:extLst>
              <a:ext uri="{FF2B5EF4-FFF2-40B4-BE49-F238E27FC236}">
                <a16:creationId xmlns:a16="http://schemas.microsoft.com/office/drawing/2014/main" id="{4BA37E3B-21C6-0C4A-8106-03B8A2027B1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639235" y="4240560"/>
            <a:ext cx="1754679" cy="929122"/>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40CB3A2-EA4C-2F4B-A3B3-ADA27BC9F465}"/>
                  </a:ext>
                </a:extLst>
              </p:cNvPr>
              <p:cNvSpPr/>
              <p:nvPr/>
            </p:nvSpPr>
            <p:spPr>
              <a:xfrm>
                <a:off x="914400" y="240726"/>
                <a:ext cx="10515600" cy="2462213"/>
              </a:xfrm>
              <a:prstGeom prst="rect">
                <a:avLst/>
              </a:prstGeom>
            </p:spPr>
            <p:txBody>
              <a:bodyPr wrap="square">
                <a:spAutoFit/>
              </a:bodyPr>
              <a:lstStyle/>
              <a:p>
                <a:pPr marL="463550" indent="-46355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A relation is given as a set of ordered pairs.</a:t>
                </a:r>
              </a:p>
              <a:p>
                <a:pPr marL="393700" indent="-342900"/>
                <a:r>
                  <a:rPr lang="en-US" sz="2200" dirty="0">
                    <a:latin typeface="Verdana" panose="020B0604030504040204" pitchFamily="34" charset="0"/>
                    <a:ea typeface="Verdana" panose="020B0604030504040204" pitchFamily="34" charset="0"/>
                    <a:cs typeface="Verdana" panose="020B0604030504040204" pitchFamily="34" charset="0"/>
                  </a:rPr>
                  <a:t> </a:t>
                </a:r>
              </a:p>
              <a:p>
                <a:pPr marL="393700" indent="-342900"/>
                <a14:m>
                  <m:oMathPara xmlns:m="http://schemas.openxmlformats.org/officeDocument/2006/math">
                    <m:oMathParaPr>
                      <m:jc m:val="centerGroup"/>
                    </m:oMathParaPr>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{(2, 4), (1, 1), (−1, 4), (−3, 1), (0, −3)}</m:t>
                      </m:r>
                    </m:oMath>
                  </m:oMathPara>
                </a14:m>
                <a:endParaRPr lang="en-US" sz="2200" dirty="0">
                  <a:latin typeface="Verdana" panose="020B0604030504040204" pitchFamily="34" charset="0"/>
                  <a:ea typeface="Verdana" panose="020B0604030504040204" pitchFamily="34" charset="0"/>
                  <a:cs typeface="Verdana" panose="020B0604030504040204" pitchFamily="34" charset="0"/>
                </a:endParaRPr>
              </a:p>
              <a:p>
                <a:pPr marL="393700" indent="-342900"/>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Determine with your partner who will be Partner A and who will be Partner B. Represent the relation using the method associated with your letter.</a:t>
                </a:r>
              </a:p>
            </p:txBody>
          </p:sp>
        </mc:Choice>
        <mc:Fallback xmlns="">
          <p:sp>
            <p:nvSpPr>
              <p:cNvPr id="2" name="Rectangle 1">
                <a:extLst>
                  <a:ext uri="{FF2B5EF4-FFF2-40B4-BE49-F238E27FC236}">
                    <a16:creationId xmlns:a16="http://schemas.microsoft.com/office/drawing/2014/main" id="{040CB3A2-EA4C-2F4B-A3B3-ADA27BC9F465}"/>
                  </a:ext>
                </a:extLst>
              </p:cNvPr>
              <p:cNvSpPr>
                <a:spLocks noRot="1" noChangeAspect="1" noMove="1" noResize="1" noEditPoints="1" noAdjustHandles="1" noChangeArrowheads="1" noChangeShapeType="1" noTextEdit="1"/>
              </p:cNvSpPr>
              <p:nvPr/>
            </p:nvSpPr>
            <p:spPr>
              <a:xfrm>
                <a:off x="914400" y="240726"/>
                <a:ext cx="10515600" cy="2462213"/>
              </a:xfrm>
              <a:prstGeom prst="rect">
                <a:avLst/>
              </a:prstGeom>
              <a:blipFill>
                <a:blip r:embed="rId4"/>
                <a:stretch>
                  <a:fillRect l="-754" t="-1733" r="-1391" b="-4455"/>
                </a:stretch>
              </a:blipFill>
            </p:spPr>
            <p:txBody>
              <a:bodyPr/>
              <a:lstStyle/>
              <a:p>
                <a:r>
                  <a:rPr lang="en-US">
                    <a:noFill/>
                  </a:rPr>
                  <a:t> </a:t>
                </a:r>
              </a:p>
            </p:txBody>
          </p:sp>
        </mc:Fallback>
      </mc:AlternateContent>
      <p:sp>
        <p:nvSpPr>
          <p:cNvPr id="9" name="Google Shape;282;g104476d1465_1_17">
            <a:extLst>
              <a:ext uri="{FF2B5EF4-FFF2-40B4-BE49-F238E27FC236}">
                <a16:creationId xmlns:a16="http://schemas.microsoft.com/office/drawing/2014/main" id="{B1912BF8-3524-4C47-AFC3-32BDAE40D3D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A8663018-E272-5749-90C8-8E14B59D83E3}"/>
              </a:ext>
            </a:extLst>
          </p:cNvPr>
          <p:cNvGraphicFramePr>
            <a:graphicFrameLocks noGrp="1"/>
          </p:cNvGraphicFramePr>
          <p:nvPr>
            <p:extLst>
              <p:ext uri="{D42A27DB-BD31-4B8C-83A1-F6EECF244321}">
                <p14:modId xmlns:p14="http://schemas.microsoft.com/office/powerpoint/2010/main" val="3819263883"/>
              </p:ext>
            </p:extLst>
          </p:nvPr>
        </p:nvGraphicFramePr>
        <p:xfrm>
          <a:off x="2856672" y="2728872"/>
          <a:ext cx="6797675" cy="3963302"/>
        </p:xfrm>
        <a:graphic>
          <a:graphicData uri="http://schemas.openxmlformats.org/drawingml/2006/table">
            <a:tbl>
              <a:tblPr firstRow="1" firstCol="1" bandRow="1">
                <a:tableStyleId>{A91F0D33-8C57-4600-99A7-42BC86742BE1}</a:tableStyleId>
              </a:tblPr>
              <a:tblGrid>
                <a:gridCol w="2620010">
                  <a:extLst>
                    <a:ext uri="{9D8B030D-6E8A-4147-A177-3AD203B41FA5}">
                      <a16:colId xmlns:a16="http://schemas.microsoft.com/office/drawing/2014/main" val="2231802928"/>
                    </a:ext>
                  </a:extLst>
                </a:gridCol>
                <a:gridCol w="4177665">
                  <a:extLst>
                    <a:ext uri="{9D8B030D-6E8A-4147-A177-3AD203B41FA5}">
                      <a16:colId xmlns:a16="http://schemas.microsoft.com/office/drawing/2014/main" val="3685293093"/>
                    </a:ext>
                  </a:extLst>
                </a:gridCol>
              </a:tblGrid>
              <a:tr h="49601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Mapping Diagram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(Partner 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Graph</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(Partner B)</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80576313"/>
                  </a:ext>
                </a:extLst>
              </a:tr>
              <a:tr h="3414662">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2140873"/>
                  </a:ext>
                </a:extLst>
              </a:tr>
            </a:tbl>
          </a:graphicData>
        </a:graphic>
      </p:graphicFrame>
      <p:sp>
        <p:nvSpPr>
          <p:cNvPr id="8" name="Oval 7">
            <a:extLst>
              <a:ext uri="{FF2B5EF4-FFF2-40B4-BE49-F238E27FC236}">
                <a16:creationId xmlns:a16="http://schemas.microsoft.com/office/drawing/2014/main" id="{9F4208C4-083B-584F-8A6A-AC2085E77477}"/>
              </a:ext>
            </a:extLst>
          </p:cNvPr>
          <p:cNvSpPr/>
          <p:nvPr/>
        </p:nvSpPr>
        <p:spPr>
          <a:xfrm>
            <a:off x="2965402" y="3811883"/>
            <a:ext cx="1090295" cy="21297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CO" sz="1800">
                <a:solidFill>
                  <a:srgbClr val="000000"/>
                </a:solidFill>
                <a:ea typeface="Times New Roman" panose="02020603050405020304" pitchFamily="18" charset="0"/>
                <a:cs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sp>
        <p:nvSpPr>
          <p:cNvPr id="10" name="Oval 9">
            <a:extLst>
              <a:ext uri="{FF2B5EF4-FFF2-40B4-BE49-F238E27FC236}">
                <a16:creationId xmlns:a16="http://schemas.microsoft.com/office/drawing/2014/main" id="{5AACD831-D7A1-DC4F-B12E-57D4E7A5D55F}"/>
              </a:ext>
            </a:extLst>
          </p:cNvPr>
          <p:cNvSpPr/>
          <p:nvPr/>
        </p:nvSpPr>
        <p:spPr>
          <a:xfrm>
            <a:off x="4269788" y="3811883"/>
            <a:ext cx="1090295" cy="21297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CO" sz="1800">
                <a:solidFill>
                  <a:srgbClr val="000000"/>
                </a:solidFill>
                <a:ea typeface="Times New Roman" panose="02020603050405020304" pitchFamily="18" charset="0"/>
                <a:cs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pic>
        <p:nvPicPr>
          <p:cNvPr id="11" name="Picture 10" descr="Chart, line chart&#10;&#10;Description automatically generated">
            <a:extLst>
              <a:ext uri="{FF2B5EF4-FFF2-40B4-BE49-F238E27FC236}">
                <a16:creationId xmlns:a16="http://schemas.microsoft.com/office/drawing/2014/main" id="{DA3EEDB4-D2D6-4848-A821-E319A1C8A8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78445" y="3496516"/>
            <a:ext cx="3454267" cy="3032722"/>
          </a:xfrm>
          <a:prstGeom prst="rect">
            <a:avLst/>
          </a:prstGeom>
        </p:spPr>
      </p:pic>
    </p:spTree>
    <p:extLst>
      <p:ext uri="{BB962C8B-B14F-4D97-AF65-F5344CB8AC3E}">
        <p14:creationId xmlns:p14="http://schemas.microsoft.com/office/powerpoint/2010/main" val="2161466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2347CCE-34A7-8044-BA67-B5895157AE55}"/>
              </a:ext>
            </a:extLst>
          </p:cNvPr>
          <p:cNvSpPr txBox="1"/>
          <p:nvPr/>
        </p:nvSpPr>
        <p:spPr>
          <a:xfrm>
            <a:off x="914400" y="939641"/>
            <a:ext cx="10515600" cy="1200329"/>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Check your partner’s representation. Once you both agree that each representation is correct, complete the other representation in your book.</a:t>
            </a:r>
          </a:p>
        </p:txBody>
      </p:sp>
      <p:sp>
        <p:nvSpPr>
          <p:cNvPr id="6" name="Google Shape;282;g104476d1465_1_17">
            <a:extLst>
              <a:ext uri="{FF2B5EF4-FFF2-40B4-BE49-F238E27FC236}">
                <a16:creationId xmlns:a16="http://schemas.microsoft.com/office/drawing/2014/main" id="{C4EE9A6A-5310-5441-BFD6-B3057861896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136</a:t>
            </a:r>
            <a:endParaRPr i="1" dirty="0">
              <a:latin typeface="Calibri"/>
              <a:ea typeface="Calibri"/>
              <a:cs typeface="Calibri"/>
              <a:sym typeface="Calibri"/>
            </a:endParaRPr>
          </a:p>
        </p:txBody>
      </p:sp>
    </p:spTree>
    <p:extLst>
      <p:ext uri="{BB962C8B-B14F-4D97-AF65-F5344CB8AC3E}">
        <p14:creationId xmlns:p14="http://schemas.microsoft.com/office/powerpoint/2010/main" val="410318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0899934E-89B1-D740-8F16-83159E2AC85B}"/>
              </a:ext>
            </a:extLst>
          </p:cNvPr>
          <p:cNvSpPr/>
          <p:nvPr/>
        </p:nvSpPr>
        <p:spPr>
          <a:xfrm>
            <a:off x="914400" y="411491"/>
            <a:ext cx="10515600" cy="3941785"/>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rPr>
              <a:t>Complete the statements to explain how each representation shows whether the relation is a function.</a:t>
            </a:r>
          </a:p>
          <a:p>
            <a:pPr marL="914400">
              <a:lnSpc>
                <a:spcPct val="300000"/>
              </a:lnSpc>
            </a:pPr>
            <a:r>
              <a:rPr lang="en-US" sz="2400" dirty="0">
                <a:latin typeface="Verdana" panose="020B0604030504040204" pitchFamily="34" charset="0"/>
                <a:ea typeface="Times New Roman" panose="02020603050405020304" pitchFamily="18" charset="0"/>
              </a:rPr>
              <a:t>The </a:t>
            </a:r>
            <a:r>
              <a:rPr lang="en-US" sz="2400" b="1" dirty="0">
                <a:latin typeface="Verdana" panose="020B0604030504040204" pitchFamily="34" charset="0"/>
                <a:ea typeface="Times New Roman" panose="02020603050405020304" pitchFamily="18" charset="0"/>
              </a:rPr>
              <a:t>mapping diagram </a:t>
            </a:r>
            <a:r>
              <a:rPr lang="en-US" sz="2400" dirty="0">
                <a:latin typeface="Verdana" panose="020B0604030504040204" pitchFamily="34" charset="0"/>
                <a:ea typeface="Times New Roman" panose="02020603050405020304" pitchFamily="18" charset="0"/>
              </a:rPr>
              <a:t>has 				      each element in the		  to its corresponding element in the   	      therefore the relation              a function.</a:t>
            </a:r>
          </a:p>
        </p:txBody>
      </p:sp>
      <p:sp>
        <p:nvSpPr>
          <p:cNvPr id="18" name="Google Shape;282;g104476d1465_1_17">
            <a:extLst>
              <a:ext uri="{FF2B5EF4-FFF2-40B4-BE49-F238E27FC236}">
                <a16:creationId xmlns:a16="http://schemas.microsoft.com/office/drawing/2014/main" id="{2553DFD6-0E70-E14D-9EBF-16052598AAD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137</a:t>
            </a:r>
            <a:endParaRPr i="1" dirty="0">
              <a:latin typeface="Calibri"/>
              <a:ea typeface="Calibri"/>
              <a:cs typeface="Calibri"/>
              <a:sym typeface="Calibri"/>
            </a:endParaRPr>
          </a:p>
        </p:txBody>
      </p:sp>
      <p:pic>
        <p:nvPicPr>
          <p:cNvPr id="5" name="Picture 4" descr="Text&#10;&#10;Description automatically generated">
            <a:extLst>
              <a:ext uri="{FF2B5EF4-FFF2-40B4-BE49-F238E27FC236}">
                <a16:creationId xmlns:a16="http://schemas.microsoft.com/office/drawing/2014/main" id="{DE164D4A-4AD4-0344-BC9F-333B9C0A265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15401" y="1301184"/>
            <a:ext cx="3541119" cy="1333918"/>
          </a:xfrm>
          <a:prstGeom prst="rect">
            <a:avLst/>
          </a:prstGeom>
        </p:spPr>
      </p:pic>
      <p:pic>
        <p:nvPicPr>
          <p:cNvPr id="12" name="Picture 11" descr="Shape&#10;&#10;Description automatically generated with medium confidence">
            <a:extLst>
              <a:ext uri="{FF2B5EF4-FFF2-40B4-BE49-F238E27FC236}">
                <a16:creationId xmlns:a16="http://schemas.microsoft.com/office/drawing/2014/main" id="{B672B168-2BC0-AA49-AC41-A6D3376E0B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77333" y="2614766"/>
            <a:ext cx="1465621" cy="814234"/>
          </a:xfrm>
          <a:prstGeom prst="rect">
            <a:avLst/>
          </a:prstGeom>
        </p:spPr>
      </p:pic>
      <p:pic>
        <p:nvPicPr>
          <p:cNvPr id="19" name="Picture 18" descr="Shape&#10;&#10;Description automatically generated">
            <a:extLst>
              <a:ext uri="{FF2B5EF4-FFF2-40B4-BE49-F238E27FC236}">
                <a16:creationId xmlns:a16="http://schemas.microsoft.com/office/drawing/2014/main" id="{D4CAC8E5-45D2-9F41-A7BC-AF67C6EBABE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11928" y="3675669"/>
            <a:ext cx="1502212" cy="814235"/>
          </a:xfrm>
          <a:prstGeom prst="rect">
            <a:avLst/>
          </a:prstGeom>
        </p:spPr>
      </p:pic>
      <p:pic>
        <p:nvPicPr>
          <p:cNvPr id="21" name="Picture 20" descr="A picture containing text&#10;&#10;Description automatically generated">
            <a:extLst>
              <a:ext uri="{FF2B5EF4-FFF2-40B4-BE49-F238E27FC236}">
                <a16:creationId xmlns:a16="http://schemas.microsoft.com/office/drawing/2014/main" id="{36EBE3B2-2DD6-0F48-800F-A7EBF631DCE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839463" y="3675669"/>
            <a:ext cx="1335809" cy="814235"/>
          </a:xfrm>
          <a:prstGeom prst="rect">
            <a:avLst/>
          </a:prstGeom>
        </p:spPr>
      </p:pic>
    </p:spTree>
    <p:extLst>
      <p:ext uri="{BB962C8B-B14F-4D97-AF65-F5344CB8AC3E}">
        <p14:creationId xmlns:p14="http://schemas.microsoft.com/office/powerpoint/2010/main" val="391134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2347CCE-34A7-8044-BA67-B5895157AE55}"/>
              </a:ext>
            </a:extLst>
          </p:cNvPr>
          <p:cNvSpPr txBox="1"/>
          <p:nvPr/>
        </p:nvSpPr>
        <p:spPr>
          <a:xfrm>
            <a:off x="914400" y="806905"/>
            <a:ext cx="10515600" cy="3785652"/>
          </a:xfrm>
          <a:prstGeom prst="rect">
            <a:avLst/>
          </a:prstGeom>
          <a:noFill/>
        </p:spPr>
        <p:txBody>
          <a:bodyPr wrap="square" rtlCol="0">
            <a:spAutoFit/>
          </a:bodyPr>
          <a:lstStyle/>
          <a:p>
            <a:pPr marL="914400" indent="9525">
              <a:lnSpc>
                <a:spcPct val="300000"/>
              </a:lnSpc>
            </a:pPr>
            <a:r>
              <a:rPr lang="en-US" sz="2400" dirty="0">
                <a:latin typeface="Verdana" panose="020B0604030504040204" pitchFamily="34" charset="0"/>
                <a:ea typeface="Verdana" panose="020B0604030504040204" pitchFamily="34" charset="0"/>
                <a:cs typeface="Verdana" panose="020B0604030504040204" pitchFamily="34" charset="0"/>
              </a:rPr>
              <a:t>The </a:t>
            </a:r>
            <a:r>
              <a:rPr lang="en-US" sz="2400" b="1" dirty="0">
                <a:latin typeface="Verdana" panose="020B0604030504040204" pitchFamily="34" charset="0"/>
                <a:ea typeface="Verdana" panose="020B0604030504040204" pitchFamily="34" charset="0"/>
                <a:cs typeface="Verdana" panose="020B0604030504040204" pitchFamily="34" charset="0"/>
              </a:rPr>
              <a:t>graph</a:t>
            </a:r>
            <a:r>
              <a:rPr lang="en-US" sz="2400" dirty="0">
                <a:latin typeface="Verdana" panose="020B0604030504040204" pitchFamily="34" charset="0"/>
                <a:ea typeface="Verdana" panose="020B0604030504040204" pitchFamily="34" charset="0"/>
                <a:cs typeface="Verdana" panose="020B0604030504040204" pitchFamily="34" charset="0"/>
              </a:rPr>
              <a:t> demonstrates the relation              a function because 					corresponds to  					 	on the graph.                                </a:t>
            </a:r>
          </a:p>
          <a:p>
            <a:pPr marL="393700" indent="-39370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82;g104476d1465_1_17">
            <a:extLst>
              <a:ext uri="{FF2B5EF4-FFF2-40B4-BE49-F238E27FC236}">
                <a16:creationId xmlns:a16="http://schemas.microsoft.com/office/drawing/2014/main" id="{C791B0BA-75C9-9F4A-8C0F-A68A1AD17D1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137</a:t>
            </a:r>
            <a:endParaRPr i="1" dirty="0">
              <a:latin typeface="Calibri"/>
              <a:ea typeface="Calibri"/>
              <a:cs typeface="Calibri"/>
              <a:sym typeface="Calibri"/>
            </a:endParaRPr>
          </a:p>
        </p:txBody>
      </p:sp>
      <p:pic>
        <p:nvPicPr>
          <p:cNvPr id="4" name="Picture 3" descr="A picture containing shape&#10;&#10;Description automatically generated">
            <a:extLst>
              <a:ext uri="{FF2B5EF4-FFF2-40B4-BE49-F238E27FC236}">
                <a16:creationId xmlns:a16="http://schemas.microsoft.com/office/drawing/2014/main" id="{883B39F3-3066-0245-A58E-8A53F243C4E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41697" y="1088920"/>
            <a:ext cx="1375082" cy="901410"/>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B2E96233-99DE-9348-844D-9A5B3A83D50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31645" y="3388607"/>
            <a:ext cx="3583859" cy="1030724"/>
          </a:xfrm>
          <a:prstGeom prst="rect">
            <a:avLst/>
          </a:prstGeom>
        </p:spPr>
      </p:pic>
      <p:pic>
        <p:nvPicPr>
          <p:cNvPr id="10" name="Picture 9" descr="Text&#10;&#10;Description automatically generated with medium confidence">
            <a:extLst>
              <a:ext uri="{FF2B5EF4-FFF2-40B4-BE49-F238E27FC236}">
                <a16:creationId xmlns:a16="http://schemas.microsoft.com/office/drawing/2014/main" id="{335BF701-6A76-7344-A3C3-7FA0B80F071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243198" y="2184080"/>
            <a:ext cx="4100052" cy="1031302"/>
          </a:xfrm>
          <a:prstGeom prst="rect">
            <a:avLst/>
          </a:prstGeom>
        </p:spPr>
      </p:pic>
    </p:spTree>
    <p:extLst>
      <p:ext uri="{BB962C8B-B14F-4D97-AF65-F5344CB8AC3E}">
        <p14:creationId xmlns:p14="http://schemas.microsoft.com/office/powerpoint/2010/main" val="3335091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4" name="Rectangle 3">
            <a:extLst>
              <a:ext uri="{FF2B5EF4-FFF2-40B4-BE49-F238E27FC236}">
                <a16:creationId xmlns:a16="http://schemas.microsoft.com/office/drawing/2014/main" id="{75A363DB-0BDC-7D4E-AEE8-29249A0BB0C5}"/>
              </a:ext>
            </a:extLst>
          </p:cNvPr>
          <p:cNvSpPr/>
          <p:nvPr/>
        </p:nvSpPr>
        <p:spPr>
          <a:xfrm>
            <a:off x="914400" y="712603"/>
            <a:ext cx="10515600" cy="1938992"/>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The table below gives the number of letters of the winning word of the Scripps National Spelling Bee, and the number of people killed by venomous spiders for the years 1996-2006 (CDC).</a:t>
            </a:r>
          </a:p>
        </p:txBody>
      </p:sp>
      <p:sp>
        <p:nvSpPr>
          <p:cNvPr id="18" name="Google Shape;282;g104476d1465_1_17">
            <a:extLst>
              <a:ext uri="{FF2B5EF4-FFF2-40B4-BE49-F238E27FC236}">
                <a16:creationId xmlns:a16="http://schemas.microsoft.com/office/drawing/2014/main" id="{EF7F3BC5-C509-0E4D-B32D-069A0977673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911DD79D-421F-7145-8111-4B2D4FB29D71}"/>
                  </a:ext>
                </a:extLst>
              </p:cNvPr>
              <p:cNvGraphicFramePr>
                <a:graphicFrameLocks noGrp="1"/>
              </p:cNvGraphicFramePr>
              <p:nvPr>
                <p:extLst>
                  <p:ext uri="{D42A27DB-BD31-4B8C-83A1-F6EECF244321}">
                    <p14:modId xmlns:p14="http://schemas.microsoft.com/office/powerpoint/2010/main" val="1406939477"/>
                  </p:ext>
                </p:extLst>
              </p:nvPr>
            </p:nvGraphicFramePr>
            <p:xfrm>
              <a:off x="2101932" y="2908671"/>
              <a:ext cx="8441990" cy="2438400"/>
            </p:xfrm>
            <a:graphic>
              <a:graphicData uri="http://schemas.openxmlformats.org/drawingml/2006/table">
                <a:tbl>
                  <a:tblPr firstRow="1" firstCol="1" bandRow="1">
                    <a:tableStyleId>{A91F0D33-8C57-4600-99A7-42BC86742BE1}</a:tableStyleId>
                  </a:tblPr>
                  <a:tblGrid>
                    <a:gridCol w="1474122">
                      <a:extLst>
                        <a:ext uri="{9D8B030D-6E8A-4147-A177-3AD203B41FA5}">
                          <a16:colId xmlns:a16="http://schemas.microsoft.com/office/drawing/2014/main" val="396684039"/>
                        </a:ext>
                      </a:extLst>
                    </a:gridCol>
                    <a:gridCol w="870397">
                      <a:extLst>
                        <a:ext uri="{9D8B030D-6E8A-4147-A177-3AD203B41FA5}">
                          <a16:colId xmlns:a16="http://schemas.microsoft.com/office/drawing/2014/main" val="3833911905"/>
                        </a:ext>
                      </a:extLst>
                    </a:gridCol>
                    <a:gridCol w="871179">
                      <a:extLst>
                        <a:ext uri="{9D8B030D-6E8A-4147-A177-3AD203B41FA5}">
                          <a16:colId xmlns:a16="http://schemas.microsoft.com/office/drawing/2014/main" val="3054133397"/>
                        </a:ext>
                      </a:extLst>
                    </a:gridCol>
                    <a:gridCol w="871179">
                      <a:extLst>
                        <a:ext uri="{9D8B030D-6E8A-4147-A177-3AD203B41FA5}">
                          <a16:colId xmlns:a16="http://schemas.microsoft.com/office/drawing/2014/main" val="1690043685"/>
                        </a:ext>
                      </a:extLst>
                    </a:gridCol>
                    <a:gridCol w="871179">
                      <a:extLst>
                        <a:ext uri="{9D8B030D-6E8A-4147-A177-3AD203B41FA5}">
                          <a16:colId xmlns:a16="http://schemas.microsoft.com/office/drawing/2014/main" val="191394290"/>
                        </a:ext>
                      </a:extLst>
                    </a:gridCol>
                    <a:gridCol w="870397">
                      <a:extLst>
                        <a:ext uri="{9D8B030D-6E8A-4147-A177-3AD203B41FA5}">
                          <a16:colId xmlns:a16="http://schemas.microsoft.com/office/drawing/2014/main" val="1848355239"/>
                        </a:ext>
                      </a:extLst>
                    </a:gridCol>
                    <a:gridCol w="871179">
                      <a:extLst>
                        <a:ext uri="{9D8B030D-6E8A-4147-A177-3AD203B41FA5}">
                          <a16:colId xmlns:a16="http://schemas.microsoft.com/office/drawing/2014/main" val="354989689"/>
                        </a:ext>
                      </a:extLst>
                    </a:gridCol>
                    <a:gridCol w="871179">
                      <a:extLst>
                        <a:ext uri="{9D8B030D-6E8A-4147-A177-3AD203B41FA5}">
                          <a16:colId xmlns:a16="http://schemas.microsoft.com/office/drawing/2014/main" val="3070915818"/>
                        </a:ext>
                      </a:extLst>
                    </a:gridCol>
                    <a:gridCol w="871179">
                      <a:extLst>
                        <a:ext uri="{9D8B030D-6E8A-4147-A177-3AD203B41FA5}">
                          <a16:colId xmlns:a16="http://schemas.microsoft.com/office/drawing/2014/main" val="2862380293"/>
                        </a:ext>
                      </a:extLst>
                    </a:gridCol>
                  </a:tblGrid>
                  <a:tr h="2933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1999</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2000</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2001</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2002</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2003</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2004</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2005</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2006</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290219160"/>
                      </a:ext>
                    </a:extLst>
                  </a:tr>
                  <a:tr h="509905">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Letters in winning word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0192556"/>
                      </a:ext>
                    </a:extLst>
                  </a:tr>
                  <a:tr h="49657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People killed by venomous spider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235161"/>
                      </a:ext>
                    </a:extLst>
                  </a:tr>
                </a:tbl>
              </a:graphicData>
            </a:graphic>
          </p:graphicFrame>
        </mc:Choice>
        <mc:Fallback xmlns="">
          <p:graphicFrame>
            <p:nvGraphicFramePr>
              <p:cNvPr id="2" name="Table 1">
                <a:extLst>
                  <a:ext uri="{FF2B5EF4-FFF2-40B4-BE49-F238E27FC236}">
                    <a16:creationId xmlns:a16="http://schemas.microsoft.com/office/drawing/2014/main" id="{911DD79D-421F-7145-8111-4B2D4FB29D71}"/>
                  </a:ext>
                </a:extLst>
              </p:cNvPr>
              <p:cNvGraphicFramePr>
                <a:graphicFrameLocks noGrp="1"/>
              </p:cNvGraphicFramePr>
              <p:nvPr>
                <p:extLst>
                  <p:ext uri="{D42A27DB-BD31-4B8C-83A1-F6EECF244321}">
                    <p14:modId xmlns:p14="http://schemas.microsoft.com/office/powerpoint/2010/main" val="1406939477"/>
                  </p:ext>
                </p:extLst>
              </p:nvPr>
            </p:nvGraphicFramePr>
            <p:xfrm>
              <a:off x="2101932" y="2908671"/>
              <a:ext cx="8441990" cy="2438400"/>
            </p:xfrm>
            <a:graphic>
              <a:graphicData uri="http://schemas.openxmlformats.org/drawingml/2006/table">
                <a:tbl>
                  <a:tblPr firstRow="1" firstCol="1" bandRow="1">
                    <a:tableStyleId>{A91F0D33-8C57-4600-99A7-42BC86742BE1}</a:tableStyleId>
                  </a:tblPr>
                  <a:tblGrid>
                    <a:gridCol w="1474122">
                      <a:extLst>
                        <a:ext uri="{9D8B030D-6E8A-4147-A177-3AD203B41FA5}">
                          <a16:colId xmlns:a16="http://schemas.microsoft.com/office/drawing/2014/main" val="396684039"/>
                        </a:ext>
                      </a:extLst>
                    </a:gridCol>
                    <a:gridCol w="870397">
                      <a:extLst>
                        <a:ext uri="{9D8B030D-6E8A-4147-A177-3AD203B41FA5}">
                          <a16:colId xmlns:a16="http://schemas.microsoft.com/office/drawing/2014/main" val="3833911905"/>
                        </a:ext>
                      </a:extLst>
                    </a:gridCol>
                    <a:gridCol w="871179">
                      <a:extLst>
                        <a:ext uri="{9D8B030D-6E8A-4147-A177-3AD203B41FA5}">
                          <a16:colId xmlns:a16="http://schemas.microsoft.com/office/drawing/2014/main" val="3054133397"/>
                        </a:ext>
                      </a:extLst>
                    </a:gridCol>
                    <a:gridCol w="871179">
                      <a:extLst>
                        <a:ext uri="{9D8B030D-6E8A-4147-A177-3AD203B41FA5}">
                          <a16:colId xmlns:a16="http://schemas.microsoft.com/office/drawing/2014/main" val="1690043685"/>
                        </a:ext>
                      </a:extLst>
                    </a:gridCol>
                    <a:gridCol w="871179">
                      <a:extLst>
                        <a:ext uri="{9D8B030D-6E8A-4147-A177-3AD203B41FA5}">
                          <a16:colId xmlns:a16="http://schemas.microsoft.com/office/drawing/2014/main" val="191394290"/>
                        </a:ext>
                      </a:extLst>
                    </a:gridCol>
                    <a:gridCol w="870397">
                      <a:extLst>
                        <a:ext uri="{9D8B030D-6E8A-4147-A177-3AD203B41FA5}">
                          <a16:colId xmlns:a16="http://schemas.microsoft.com/office/drawing/2014/main" val="1848355239"/>
                        </a:ext>
                      </a:extLst>
                    </a:gridCol>
                    <a:gridCol w="871179">
                      <a:extLst>
                        <a:ext uri="{9D8B030D-6E8A-4147-A177-3AD203B41FA5}">
                          <a16:colId xmlns:a16="http://schemas.microsoft.com/office/drawing/2014/main" val="354989689"/>
                        </a:ext>
                      </a:extLst>
                    </a:gridCol>
                    <a:gridCol w="871179">
                      <a:extLst>
                        <a:ext uri="{9D8B030D-6E8A-4147-A177-3AD203B41FA5}">
                          <a16:colId xmlns:a16="http://schemas.microsoft.com/office/drawing/2014/main" val="3070915818"/>
                        </a:ext>
                      </a:extLst>
                    </a:gridCol>
                    <a:gridCol w="871179">
                      <a:extLst>
                        <a:ext uri="{9D8B030D-6E8A-4147-A177-3AD203B41FA5}">
                          <a16:colId xmlns:a16="http://schemas.microsoft.com/office/drawing/2014/main" val="2862380293"/>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1999</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2000</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2001</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2002</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2003</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2004</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2005</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2006</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290219160"/>
                      </a:ext>
                    </a:extLst>
                  </a:tr>
                  <a:tr h="91440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Letters in winning word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9930" t="-41722" r="-7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69930" t="-41722" r="-6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69930" t="-41722" r="-5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69930" t="-41722" r="-4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9930" t="-41722" r="-3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69930" t="-41722" r="-2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9930" t="-41722" r="-101399" b="-14900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9930" t="-41722" r="-1399" b="-149007"/>
                          </a:stretch>
                        </a:blipFill>
                      </a:tcPr>
                    </a:tc>
                    <a:extLst>
                      <a:ext uri="{0D108BD9-81ED-4DB2-BD59-A6C34878D82A}">
                        <a16:rowId xmlns:a16="http://schemas.microsoft.com/office/drawing/2014/main" val="1990192556"/>
                      </a:ext>
                    </a:extLst>
                  </a:tr>
                  <a:tr h="12192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People killed by venomous spider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69930" t="-107000" r="-7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69930" t="-107000" r="-6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69930" t="-107000" r="-5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69930" t="-107000" r="-4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69930" t="-107000" r="-3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69930" t="-107000" r="-2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9930" t="-107000" r="-101399"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9930" t="-107000" r="-1399" b="-12500"/>
                          </a:stretch>
                        </a:blipFill>
                      </a:tcPr>
                    </a:tc>
                    <a:extLst>
                      <a:ext uri="{0D108BD9-81ED-4DB2-BD59-A6C34878D82A}">
                        <a16:rowId xmlns:a16="http://schemas.microsoft.com/office/drawing/2014/main" val="607235161"/>
                      </a:ext>
                    </a:extLst>
                  </a:tr>
                </a:tbl>
              </a:graphicData>
            </a:graphic>
          </p:graphicFrame>
        </mc:Fallback>
      </mc:AlternateContent>
    </p:spTree>
    <p:extLst>
      <p:ext uri="{BB962C8B-B14F-4D97-AF65-F5344CB8AC3E}">
        <p14:creationId xmlns:p14="http://schemas.microsoft.com/office/powerpoint/2010/main" val="3731720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2347CCE-34A7-8044-BA67-B5895157AE55}"/>
              </a:ext>
            </a:extLst>
          </p:cNvPr>
          <p:cNvSpPr txBox="1"/>
          <p:nvPr/>
        </p:nvSpPr>
        <p:spPr>
          <a:xfrm>
            <a:off x="914400" y="349706"/>
            <a:ext cx="10515600" cy="1200329"/>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Using the same partner letters as in the previous problem, represent the relation with a mapping diagram and as a graph.</a:t>
            </a:r>
          </a:p>
        </p:txBody>
      </p:sp>
      <p:sp>
        <p:nvSpPr>
          <p:cNvPr id="8" name="Google Shape;282;g104476d1465_1_17">
            <a:extLst>
              <a:ext uri="{FF2B5EF4-FFF2-40B4-BE49-F238E27FC236}">
                <a16:creationId xmlns:a16="http://schemas.microsoft.com/office/drawing/2014/main" id="{A62B7685-8D43-B048-B48D-B9FBB636ACB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137</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26B770F8-F767-D54C-AB38-D3B510A5296C}"/>
              </a:ext>
            </a:extLst>
          </p:cNvPr>
          <p:cNvGraphicFramePr>
            <a:graphicFrameLocks noGrp="1"/>
          </p:cNvGraphicFramePr>
          <p:nvPr>
            <p:extLst>
              <p:ext uri="{D42A27DB-BD31-4B8C-83A1-F6EECF244321}">
                <p14:modId xmlns:p14="http://schemas.microsoft.com/office/powerpoint/2010/main" val="943614736"/>
              </p:ext>
            </p:extLst>
          </p:nvPr>
        </p:nvGraphicFramePr>
        <p:xfrm>
          <a:off x="2668588" y="1518915"/>
          <a:ext cx="6854825" cy="3607314"/>
        </p:xfrm>
        <a:graphic>
          <a:graphicData uri="http://schemas.openxmlformats.org/drawingml/2006/table">
            <a:tbl>
              <a:tblPr firstRow="1" firstCol="1" bandRow="1">
                <a:tableStyleId>{A91F0D33-8C57-4600-99A7-42BC86742BE1}</a:tableStyleId>
              </a:tblPr>
              <a:tblGrid>
                <a:gridCol w="3864610">
                  <a:extLst>
                    <a:ext uri="{9D8B030D-6E8A-4147-A177-3AD203B41FA5}">
                      <a16:colId xmlns:a16="http://schemas.microsoft.com/office/drawing/2014/main" val="1551998703"/>
                    </a:ext>
                  </a:extLst>
                </a:gridCol>
                <a:gridCol w="2990215">
                  <a:extLst>
                    <a:ext uri="{9D8B030D-6E8A-4147-A177-3AD203B41FA5}">
                      <a16:colId xmlns:a16="http://schemas.microsoft.com/office/drawing/2014/main" val="1587201274"/>
                    </a:ext>
                  </a:extLst>
                </a:gridCol>
              </a:tblGrid>
              <a:tr h="49202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Graph</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Mapping Diagram</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73240437"/>
                  </a:ext>
                </a:extLst>
              </a:tr>
              <a:tr h="2997714">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7742164"/>
                  </a:ext>
                </a:extLst>
              </a:tr>
            </a:tbl>
          </a:graphicData>
        </a:graphic>
      </p:graphicFrame>
      <p:pic>
        <p:nvPicPr>
          <p:cNvPr id="9" name="Picture 8" descr="Chart, line chart&#10;&#10;Description automatically generated">
            <a:extLst>
              <a:ext uri="{FF2B5EF4-FFF2-40B4-BE49-F238E27FC236}">
                <a16:creationId xmlns:a16="http://schemas.microsoft.com/office/drawing/2014/main" id="{9D707392-D3D0-C64F-97DB-529A414E4AA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33089" y="2204867"/>
            <a:ext cx="3248132" cy="2851384"/>
          </a:xfrm>
          <a:prstGeom prst="rect">
            <a:avLst/>
          </a:prstGeom>
        </p:spPr>
      </p:pic>
      <p:sp>
        <p:nvSpPr>
          <p:cNvPr id="10" name="Oval 9">
            <a:extLst>
              <a:ext uri="{FF2B5EF4-FFF2-40B4-BE49-F238E27FC236}">
                <a16:creationId xmlns:a16="http://schemas.microsoft.com/office/drawing/2014/main" id="{04A249EC-48A4-1342-9F61-3F7E42721549}"/>
              </a:ext>
            </a:extLst>
          </p:cNvPr>
          <p:cNvSpPr/>
          <p:nvPr/>
        </p:nvSpPr>
        <p:spPr>
          <a:xfrm>
            <a:off x="6832591" y="2483353"/>
            <a:ext cx="1090295" cy="21297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CO" sz="1800">
                <a:solidFill>
                  <a:srgbClr val="000000"/>
                </a:solidFill>
                <a:ea typeface="Times New Roman" panose="02020603050405020304" pitchFamily="18" charset="0"/>
                <a:cs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sp>
        <p:nvSpPr>
          <p:cNvPr id="11" name="Oval 10">
            <a:extLst>
              <a:ext uri="{FF2B5EF4-FFF2-40B4-BE49-F238E27FC236}">
                <a16:creationId xmlns:a16="http://schemas.microsoft.com/office/drawing/2014/main" id="{17D9270A-8672-F441-B3B8-E2D9A9C9795E}"/>
              </a:ext>
            </a:extLst>
          </p:cNvPr>
          <p:cNvSpPr/>
          <p:nvPr/>
        </p:nvSpPr>
        <p:spPr>
          <a:xfrm>
            <a:off x="8127991" y="2486528"/>
            <a:ext cx="1090295" cy="21297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25000"/>
              </a:lnSpc>
            </a:pPr>
            <a:r>
              <a:rPr lang="en-CO" sz="1800">
                <a:solidFill>
                  <a:srgbClr val="000000"/>
                </a:solidFill>
                <a:ea typeface="Times New Roman" panose="02020603050405020304" pitchFamily="18" charset="0"/>
                <a:cs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sp>
        <p:nvSpPr>
          <p:cNvPr id="12" name="TextBox 11">
            <a:extLst>
              <a:ext uri="{FF2B5EF4-FFF2-40B4-BE49-F238E27FC236}">
                <a16:creationId xmlns:a16="http://schemas.microsoft.com/office/drawing/2014/main" id="{EDA27C0E-2F01-E04F-BC6D-FC254EDE93DF}"/>
              </a:ext>
            </a:extLst>
          </p:cNvPr>
          <p:cNvSpPr txBox="1"/>
          <p:nvPr/>
        </p:nvSpPr>
        <p:spPr>
          <a:xfrm>
            <a:off x="914400" y="5339086"/>
            <a:ext cx="10515600" cy="1200329"/>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Check your partner’s representation. Once you both agree that each representation is correct, then complete the other representation.</a:t>
            </a:r>
          </a:p>
        </p:txBody>
      </p:sp>
    </p:spTree>
    <p:extLst>
      <p:ext uri="{BB962C8B-B14F-4D97-AF65-F5344CB8AC3E}">
        <p14:creationId xmlns:p14="http://schemas.microsoft.com/office/powerpoint/2010/main" val="441075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22347CCE-34A7-8044-BA67-B5895157AE55}"/>
              </a:ext>
            </a:extLst>
          </p:cNvPr>
          <p:cNvSpPr txBox="1"/>
          <p:nvPr/>
        </p:nvSpPr>
        <p:spPr>
          <a:xfrm>
            <a:off x="914400" y="349705"/>
            <a:ext cx="10515600" cy="1569660"/>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Use the definition of a function to justify whether the relationship between the number of letters of the winning word of the Scripps National Spelling Bee and the number of people killed by venomous spiders is a function or not.</a:t>
            </a:r>
          </a:p>
        </p:txBody>
      </p:sp>
      <p:sp>
        <p:nvSpPr>
          <p:cNvPr id="13" name="Google Shape;282;g104476d1465_1_17">
            <a:extLst>
              <a:ext uri="{FF2B5EF4-FFF2-40B4-BE49-F238E27FC236}">
                <a16:creationId xmlns:a16="http://schemas.microsoft.com/office/drawing/2014/main" id="{239DE06A-570B-0E4B-98E6-445C9B35717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spTree>
    <p:extLst>
      <p:ext uri="{BB962C8B-B14F-4D97-AF65-F5344CB8AC3E}">
        <p14:creationId xmlns:p14="http://schemas.microsoft.com/office/powerpoint/2010/main" val="1433262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87119" y="281602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50DF525-7D96-0A48-BC23-9FB6AABE67A9}"/>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pic>
        <p:nvPicPr>
          <p:cNvPr id="7" name="image8.png" descr="Icon&#10;&#10;Description automatically generated">
            <a:extLst>
              <a:ext uri="{FF2B5EF4-FFF2-40B4-BE49-F238E27FC236}">
                <a16:creationId xmlns:a16="http://schemas.microsoft.com/office/drawing/2014/main" id="{BAF142C2-6310-F745-87A4-D9EF265DC686}"/>
              </a:ext>
            </a:extLst>
          </p:cNvPr>
          <p:cNvPicPr/>
          <p:nvPr/>
        </p:nvPicPr>
        <p:blipFill>
          <a:blip r:embed="rId4"/>
          <a:srcRect/>
          <a:stretch>
            <a:fillRect/>
          </a:stretch>
        </p:blipFill>
        <p:spPr>
          <a:xfrm>
            <a:off x="3054096" y="2857304"/>
            <a:ext cx="1152143" cy="1152143"/>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1148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10.4.3 Exploration: Vertical Line Test</a:t>
            </a:r>
          </a:p>
        </p:txBody>
      </p:sp>
      <p:sp>
        <p:nvSpPr>
          <p:cNvPr id="10" name="TextBox 9">
            <a:extLst>
              <a:ext uri="{FF2B5EF4-FFF2-40B4-BE49-F238E27FC236}">
                <a16:creationId xmlns:a16="http://schemas.microsoft.com/office/drawing/2014/main" id="{0AB6A3A1-5A0D-C84F-AC89-57E6782F43E5}"/>
              </a:ext>
            </a:extLst>
          </p:cNvPr>
          <p:cNvSpPr txBox="1"/>
          <p:nvPr/>
        </p:nvSpPr>
        <p:spPr>
          <a:xfrm>
            <a:off x="914400" y="2424291"/>
            <a:ext cx="10515600" cy="1938992"/>
          </a:xfrm>
          <a:prstGeom prst="rect">
            <a:avLst/>
          </a:prstGeom>
          <a:noFill/>
        </p:spPr>
        <p:txBody>
          <a:bodyPr wrap="square" rtlCol="0">
            <a:spAutoFit/>
          </a:bodyPr>
          <a:lstStyle/>
          <a:p>
            <a:pPr marL="14288" indent="-14288"/>
            <a:r>
              <a:rPr lang="en-US" sz="2400" dirty="0">
                <a:latin typeface="Verdana" panose="020B0604030504040204" pitchFamily="34" charset="0"/>
                <a:ea typeface="Verdana" panose="020B0604030504040204" pitchFamily="34" charset="0"/>
                <a:cs typeface="Verdana" panose="020B0604030504040204" pitchFamily="34" charset="0"/>
              </a:rPr>
              <a:t>The vertical lines drawn on the graph of a function show whether each 𝑥-value corresponds to exactly one 𝑦-value.</a:t>
            </a:r>
          </a:p>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 </a:t>
            </a:r>
          </a:p>
          <a:p>
            <a:pPr marL="14288" indent="-14288"/>
            <a:r>
              <a:rPr lang="en-US" sz="2400" dirty="0">
                <a:latin typeface="Verdana" panose="020B0604030504040204" pitchFamily="34" charset="0"/>
                <a:ea typeface="Verdana" panose="020B0604030504040204" pitchFamily="34" charset="0"/>
                <a:cs typeface="Verdana" panose="020B0604030504040204" pitchFamily="34" charset="0"/>
              </a:rPr>
              <a:t>A graph of a relation and a function are shown with three different vertical lines drawn on each.</a:t>
            </a:r>
          </a:p>
        </p:txBody>
      </p:sp>
      <p:sp>
        <p:nvSpPr>
          <p:cNvPr id="11" name="Google Shape;282;g104476d1465_1_17">
            <a:extLst>
              <a:ext uri="{FF2B5EF4-FFF2-40B4-BE49-F238E27FC236}">
                <a16:creationId xmlns:a16="http://schemas.microsoft.com/office/drawing/2014/main" id="{3BDEDD68-7AB9-314A-BB80-0D600DD8DB3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 </a:t>
            </a:r>
            <a:endParaRPr i="1" dirty="0">
              <a:latin typeface="Calibri"/>
              <a:ea typeface="Calibri"/>
              <a:cs typeface="Calibri"/>
              <a:sym typeface="Calibri"/>
            </a:endParaRPr>
          </a:p>
        </p:txBody>
      </p:sp>
      <p:pic>
        <p:nvPicPr>
          <p:cNvPr id="12" name="image8.png" descr="Icon&#10;&#10;Description automatically generated">
            <a:extLst>
              <a:ext uri="{FF2B5EF4-FFF2-40B4-BE49-F238E27FC236}">
                <a16:creationId xmlns:a16="http://schemas.microsoft.com/office/drawing/2014/main" id="{77AD2813-748F-B743-AD59-E4D4AD9BA21B}"/>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330639"/>
            <a:ext cx="778039" cy="778039"/>
          </a:xfrm>
          <a:prstGeom prst="rect">
            <a:avLst/>
          </a:prstGeom>
          <a:ln/>
        </p:spPr>
      </p:pic>
      <p:grpSp>
        <p:nvGrpSpPr>
          <p:cNvPr id="22" name="Group 21">
            <a:extLst>
              <a:ext uri="{FF2B5EF4-FFF2-40B4-BE49-F238E27FC236}">
                <a16:creationId xmlns:a16="http://schemas.microsoft.com/office/drawing/2014/main" id="{B1E88589-17B0-E748-BAD2-D1C4C3E2C2A0}"/>
              </a:ext>
            </a:extLst>
          </p:cNvPr>
          <p:cNvGrpSpPr/>
          <p:nvPr/>
        </p:nvGrpSpPr>
        <p:grpSpPr>
          <a:xfrm>
            <a:off x="2781300" y="1205636"/>
            <a:ext cx="6629400" cy="1008380"/>
            <a:chOff x="2031300" y="3275735"/>
            <a:chExt cx="6629400" cy="1008530"/>
          </a:xfrm>
        </p:grpSpPr>
        <p:grpSp>
          <p:nvGrpSpPr>
            <p:cNvPr id="23" name="Group 22">
              <a:extLst>
                <a:ext uri="{FF2B5EF4-FFF2-40B4-BE49-F238E27FC236}">
                  <a16:creationId xmlns:a16="http://schemas.microsoft.com/office/drawing/2014/main" id="{DB14E53E-AC4D-DD4F-A1A7-34DD6A7AD52C}"/>
                </a:ext>
              </a:extLst>
            </p:cNvPr>
            <p:cNvGrpSpPr/>
            <p:nvPr/>
          </p:nvGrpSpPr>
          <p:grpSpPr>
            <a:xfrm>
              <a:off x="2031300" y="3275735"/>
              <a:ext cx="6629400" cy="1008530"/>
              <a:chOff x="0" y="0"/>
              <a:chExt cx="6629400" cy="1008530"/>
            </a:xfrm>
          </p:grpSpPr>
          <p:sp>
            <p:nvSpPr>
              <p:cNvPr id="24" name="Rectangle 23">
                <a:extLst>
                  <a:ext uri="{FF2B5EF4-FFF2-40B4-BE49-F238E27FC236}">
                    <a16:creationId xmlns:a16="http://schemas.microsoft.com/office/drawing/2014/main" id="{CC697CDC-CE66-CA4C-B3D0-3D2B42782F3E}"/>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grpSp>
            <p:nvGrpSpPr>
              <p:cNvPr id="25" name="Group 24">
                <a:extLst>
                  <a:ext uri="{FF2B5EF4-FFF2-40B4-BE49-F238E27FC236}">
                    <a16:creationId xmlns:a16="http://schemas.microsoft.com/office/drawing/2014/main" id="{5991E6CF-B936-FE43-8D4C-157FBE1CDD80}"/>
                  </a:ext>
                </a:extLst>
              </p:cNvPr>
              <p:cNvGrpSpPr/>
              <p:nvPr/>
            </p:nvGrpSpPr>
            <p:grpSpPr>
              <a:xfrm>
                <a:off x="0" y="0"/>
                <a:ext cx="6629400" cy="1008530"/>
                <a:chOff x="0" y="0"/>
                <a:chExt cx="6629400" cy="1008530"/>
              </a:xfrm>
            </p:grpSpPr>
            <p:sp>
              <p:nvSpPr>
                <p:cNvPr id="27" name="Rectangle 26">
                  <a:extLst>
                    <a:ext uri="{FF2B5EF4-FFF2-40B4-BE49-F238E27FC236}">
                      <a16:creationId xmlns:a16="http://schemas.microsoft.com/office/drawing/2014/main" id="{A1BBD64B-8F16-BC48-8801-F45658FFDBE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sp>
              <p:nvSpPr>
                <p:cNvPr id="28" name="Rectangle 27">
                  <a:extLst>
                    <a:ext uri="{FF2B5EF4-FFF2-40B4-BE49-F238E27FC236}">
                      <a16:creationId xmlns:a16="http://schemas.microsoft.com/office/drawing/2014/main" id="{A0854E26-661A-AB48-A5F5-18C494E5C398}"/>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en-CO" sz="1200">
                    <a:latin typeface="Times New Roman" panose="02020603050405020304" pitchFamily="18" charset="0"/>
                    <a:ea typeface="Times New Roman" panose="02020603050405020304" pitchFamily="18" charset="0"/>
                  </a:endParaRPr>
                </a:p>
              </p:txBody>
            </p:sp>
            <p:sp>
              <p:nvSpPr>
                <p:cNvPr id="29" name="Rounded Rectangle 28">
                  <a:extLst>
                    <a:ext uri="{FF2B5EF4-FFF2-40B4-BE49-F238E27FC236}">
                      <a16:creationId xmlns:a16="http://schemas.microsoft.com/office/drawing/2014/main" id="{D4C1574C-1608-CC45-93E0-6C54FC047286}"/>
                    </a:ext>
                  </a:extLst>
                </p:cNvPr>
                <p:cNvSpPr/>
                <p:nvPr/>
              </p:nvSpPr>
              <p:spPr>
                <a:xfrm>
                  <a:off x="0" y="0"/>
                  <a:ext cx="6629400" cy="1008530"/>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1800" dirty="0">
                      <a:solidFill>
                        <a:srgbClr val="00619E"/>
                      </a:solidFill>
                      <a:latin typeface="Verdana" panose="020B0604030504040204" pitchFamily="34" charset="0"/>
                      <a:ea typeface="Times New Roman" panose="02020603050405020304" pitchFamily="18" charset="0"/>
                    </a:rPr>
                    <a:t>The vertical line test can be used to determine if a relation represented by a graph is a function.</a:t>
                  </a:r>
                  <a:r>
                    <a:rPr lang="en-US" sz="1200" dirty="0">
                      <a:latin typeface="Times New Roman" panose="02020603050405020304" pitchFamily="18" charset="0"/>
                      <a:ea typeface="Times New Roman" panose="02020603050405020304" pitchFamily="18" charset="0"/>
                    </a:rPr>
                    <a:t> </a:t>
                  </a:r>
                  <a:endParaRPr lang="en-CO" sz="1200" dirty="0">
                    <a:latin typeface="Times New Roman" panose="02020603050405020304" pitchFamily="18" charset="0"/>
                    <a:ea typeface="Times New Roman" panose="02020603050405020304" pitchFamily="18" charset="0"/>
                  </a:endParaRPr>
                </a:p>
              </p:txBody>
            </p:sp>
          </p:grpSp>
          <p:pic>
            <p:nvPicPr>
              <p:cNvPr id="26" name="Shape 15" descr="Icon&#10;&#10;Description automatically generated">
                <a:extLst>
                  <a:ext uri="{FF2B5EF4-FFF2-40B4-BE49-F238E27FC236}">
                    <a16:creationId xmlns:a16="http://schemas.microsoft.com/office/drawing/2014/main" id="{DDFBFA2D-4AB6-EC42-8259-585FAAC833E5}"/>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4" name="Picture 3" descr="Chart, scatter chart&#10;&#10;Description automatically generated">
            <a:extLst>
              <a:ext uri="{FF2B5EF4-FFF2-40B4-BE49-F238E27FC236}">
                <a16:creationId xmlns:a16="http://schemas.microsoft.com/office/drawing/2014/main" id="{0C4E2D50-B816-2E4D-A890-CCFCA155B8C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781300" y="4384890"/>
            <a:ext cx="6355080" cy="1944248"/>
          </a:xfrm>
          <a:prstGeom prst="rect">
            <a:avLst/>
          </a:prstGeom>
        </p:spPr>
      </p:pic>
    </p:spTree>
    <p:extLst>
      <p:ext uri="{BB962C8B-B14F-4D97-AF65-F5344CB8AC3E}">
        <p14:creationId xmlns:p14="http://schemas.microsoft.com/office/powerpoint/2010/main" val="3840359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310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138</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B8C1B70C-F594-2440-8A83-215000B12FD7}"/>
              </a:ext>
            </a:extLst>
          </p:cNvPr>
          <p:cNvSpPr txBox="1"/>
          <p:nvPr/>
        </p:nvSpPr>
        <p:spPr>
          <a:xfrm>
            <a:off x="914400" y="488812"/>
            <a:ext cx="10515600"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explanation that describes how the vertical line test can be used to show the relation represented by a graph is not a function.</a:t>
            </a:r>
          </a:p>
          <a:p>
            <a:pPr marL="463550" lvl="0">
              <a:lnSpc>
                <a:spcPct val="300000"/>
              </a:lnSpc>
            </a:pPr>
            <a:r>
              <a:rPr lang="en-US" sz="2400" dirty="0">
                <a:latin typeface="Verdana" panose="020B0604030504040204" pitchFamily="34" charset="0"/>
                <a:ea typeface="Verdana" panose="020B0604030504040204" pitchFamily="34" charset="0"/>
                <a:cs typeface="Verdana" panose="020B0604030504040204" pitchFamily="34" charset="0"/>
              </a:rPr>
              <a:t>The 	           line shows that the relation is not a function because the line demonstrates that for the 𝑥-value of  	     there is more than one 𝑦-value.</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a:extLst>
              <a:ext uri="{FF2B5EF4-FFF2-40B4-BE49-F238E27FC236}">
                <a16:creationId xmlns:a16="http://schemas.microsoft.com/office/drawing/2014/main" id="{C53174D9-A747-F1DF-49CE-6809CA63EF33}"/>
              </a:ext>
            </a:extLst>
          </p:cNvPr>
          <p:cNvPicPr>
            <a:picLocks noChangeAspect="1"/>
          </p:cNvPicPr>
          <p:nvPr/>
        </p:nvPicPr>
        <p:blipFill>
          <a:blip r:embed="rId4"/>
          <a:stretch>
            <a:fillRect/>
          </a:stretch>
        </p:blipFill>
        <p:spPr>
          <a:xfrm>
            <a:off x="2134482" y="1782270"/>
            <a:ext cx="1755079" cy="1346921"/>
          </a:xfrm>
          <a:prstGeom prst="rect">
            <a:avLst/>
          </a:prstGeom>
        </p:spPr>
      </p:pic>
      <p:pic>
        <p:nvPicPr>
          <p:cNvPr id="9" name="Picture 8">
            <a:extLst>
              <a:ext uri="{FF2B5EF4-FFF2-40B4-BE49-F238E27FC236}">
                <a16:creationId xmlns:a16="http://schemas.microsoft.com/office/drawing/2014/main" id="{07D0F1FF-72B0-F96F-5107-FAB1C77CF580}"/>
              </a:ext>
            </a:extLst>
          </p:cNvPr>
          <p:cNvPicPr>
            <a:picLocks noChangeAspect="1"/>
          </p:cNvPicPr>
          <p:nvPr/>
        </p:nvPicPr>
        <p:blipFill>
          <a:blip r:embed="rId5"/>
          <a:stretch>
            <a:fillRect/>
          </a:stretch>
        </p:blipFill>
        <p:spPr>
          <a:xfrm>
            <a:off x="9753600" y="2723841"/>
            <a:ext cx="1245708" cy="1346922"/>
          </a:xfrm>
          <a:prstGeom prst="rect">
            <a:avLst/>
          </a:prstGeom>
        </p:spPr>
      </p:pic>
    </p:spTree>
    <p:extLst>
      <p:ext uri="{BB962C8B-B14F-4D97-AF65-F5344CB8AC3E}">
        <p14:creationId xmlns:p14="http://schemas.microsoft.com/office/powerpoint/2010/main" val="811292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B8C1B70C-F594-2440-8A83-215000B12FD7}"/>
              </a:ext>
            </a:extLst>
          </p:cNvPr>
          <p:cNvSpPr txBox="1"/>
          <p:nvPr/>
        </p:nvSpPr>
        <p:spPr>
          <a:xfrm>
            <a:off x="914400" y="396439"/>
            <a:ext cx="1051560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Sort the relations into each category by writing the letters that label the relations in the table.</a:t>
            </a:r>
          </a:p>
        </p:txBody>
      </p:sp>
      <p:graphicFrame>
        <p:nvGraphicFramePr>
          <p:cNvPr id="2" name="Table 1">
            <a:extLst>
              <a:ext uri="{FF2B5EF4-FFF2-40B4-BE49-F238E27FC236}">
                <a16:creationId xmlns:a16="http://schemas.microsoft.com/office/drawing/2014/main" id="{1EAA384E-B676-1B47-BE07-989D48D088A0}"/>
              </a:ext>
            </a:extLst>
          </p:cNvPr>
          <p:cNvGraphicFramePr>
            <a:graphicFrameLocks noGrp="1"/>
          </p:cNvGraphicFramePr>
          <p:nvPr>
            <p:extLst>
              <p:ext uri="{D42A27DB-BD31-4B8C-83A1-F6EECF244321}">
                <p14:modId xmlns:p14="http://schemas.microsoft.com/office/powerpoint/2010/main" val="3941351412"/>
              </p:ext>
            </p:extLst>
          </p:nvPr>
        </p:nvGraphicFramePr>
        <p:xfrm>
          <a:off x="2934716" y="1876695"/>
          <a:ext cx="6578600" cy="2451465"/>
        </p:xfrm>
        <a:graphic>
          <a:graphicData uri="http://schemas.openxmlformats.org/drawingml/2006/table">
            <a:tbl>
              <a:tblPr firstRow="1" firstCol="1" bandRow="1">
                <a:tableStyleId>{A91F0D33-8C57-4600-99A7-42BC86742BE1}</a:tableStyleId>
              </a:tblPr>
              <a:tblGrid>
                <a:gridCol w="3289300">
                  <a:extLst>
                    <a:ext uri="{9D8B030D-6E8A-4147-A177-3AD203B41FA5}">
                      <a16:colId xmlns:a16="http://schemas.microsoft.com/office/drawing/2014/main" val="1734555090"/>
                    </a:ext>
                  </a:extLst>
                </a:gridCol>
                <a:gridCol w="3289300">
                  <a:extLst>
                    <a:ext uri="{9D8B030D-6E8A-4147-A177-3AD203B41FA5}">
                      <a16:colId xmlns:a16="http://schemas.microsoft.com/office/drawing/2014/main" val="1380865816"/>
                    </a:ext>
                  </a:extLst>
                </a:gridCol>
              </a:tblGrid>
              <a:tr h="54298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Functions</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Not Functions</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09004344"/>
                  </a:ext>
                </a:extLst>
              </a:tr>
              <a:tr h="1908483">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3943980"/>
                  </a:ext>
                </a:extLst>
              </a:tr>
            </a:tbl>
          </a:graphicData>
        </a:graphic>
      </p:graphicFrame>
    </p:spTree>
    <p:extLst>
      <p:ext uri="{BB962C8B-B14F-4D97-AF65-F5344CB8AC3E}">
        <p14:creationId xmlns:p14="http://schemas.microsoft.com/office/powerpoint/2010/main" val="3662728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9" name="Picture 8">
            <a:extLst>
              <a:ext uri="{FF2B5EF4-FFF2-40B4-BE49-F238E27FC236}">
                <a16:creationId xmlns:a16="http://schemas.microsoft.com/office/drawing/2014/main" id="{DC783558-456E-EF46-9131-9489492B8A1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57208" y="250315"/>
            <a:ext cx="5277584" cy="6207360"/>
          </a:xfrm>
          <a:prstGeom prst="rect">
            <a:avLst/>
          </a:prstGeom>
        </p:spPr>
      </p:pic>
    </p:spTree>
    <p:extLst>
      <p:ext uri="{BB962C8B-B14F-4D97-AF65-F5344CB8AC3E}">
        <p14:creationId xmlns:p14="http://schemas.microsoft.com/office/powerpoint/2010/main" val="1909836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50DF525-7D96-0A48-BC23-9FB6AABE67A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7" name="image3.png" descr="Icon&#10;&#10;Description automatically generated">
            <a:extLst>
              <a:ext uri="{FF2B5EF4-FFF2-40B4-BE49-F238E27FC236}">
                <a16:creationId xmlns:a16="http://schemas.microsoft.com/office/drawing/2014/main" id="{3095E965-AD0B-2648-9D91-108BF51A3603}"/>
              </a:ext>
            </a:extLst>
          </p:cNvPr>
          <p:cNvPicPr/>
          <p:nvPr/>
        </p:nvPicPr>
        <p:blipFill>
          <a:blip r:embed="rId4"/>
          <a:srcRect/>
          <a:stretch>
            <a:fillRect/>
          </a:stretch>
        </p:blipFill>
        <p:spPr>
          <a:xfrm>
            <a:off x="3054096" y="2849052"/>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90523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10.4.4 Your Turn!</a:t>
            </a:r>
          </a:p>
        </p:txBody>
      </p:sp>
      <p:sp>
        <p:nvSpPr>
          <p:cNvPr id="10" name="TextBox 9">
            <a:extLst>
              <a:ext uri="{FF2B5EF4-FFF2-40B4-BE49-F238E27FC236}">
                <a16:creationId xmlns:a16="http://schemas.microsoft.com/office/drawing/2014/main" id="{0AB6A3A1-5A0D-C84F-AC89-57E6782F43E5}"/>
              </a:ext>
            </a:extLst>
          </p:cNvPr>
          <p:cNvSpPr txBox="1"/>
          <p:nvPr/>
        </p:nvSpPr>
        <p:spPr>
          <a:xfrm>
            <a:off x="914400" y="1386026"/>
            <a:ext cx="105156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group of students were discussing whether the relationship on the graph is a function.  </a:t>
            </a:r>
          </a:p>
        </p:txBody>
      </p:sp>
      <p:sp>
        <p:nvSpPr>
          <p:cNvPr id="11" name="Google Shape;282;g104476d1465_1_17">
            <a:extLst>
              <a:ext uri="{FF2B5EF4-FFF2-40B4-BE49-F238E27FC236}">
                <a16:creationId xmlns:a16="http://schemas.microsoft.com/office/drawing/2014/main" id="{3BDEDD68-7AB9-314A-BB80-0D600DD8DB3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p:pic>
        <p:nvPicPr>
          <p:cNvPr id="12" name="image3.png" descr="Icon&#10;&#10;Description automatically generated">
            <a:extLst>
              <a:ext uri="{FF2B5EF4-FFF2-40B4-BE49-F238E27FC236}">
                <a16:creationId xmlns:a16="http://schemas.microsoft.com/office/drawing/2014/main" id="{2F9F2965-202D-6F4E-814C-85A3B10C1FA9}"/>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348271"/>
            <a:ext cx="749808" cy="749808"/>
          </a:xfrm>
          <a:prstGeom prst="rect">
            <a:avLst/>
          </a:prstGeom>
          <a:ln/>
        </p:spPr>
      </p:pic>
      <p:pic>
        <p:nvPicPr>
          <p:cNvPr id="13" name="Picture 12">
            <a:extLst>
              <a:ext uri="{FF2B5EF4-FFF2-40B4-BE49-F238E27FC236}">
                <a16:creationId xmlns:a16="http://schemas.microsoft.com/office/drawing/2014/main" id="{ACFAEAF1-C4C7-C443-92B1-EAADFEE91B7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13530" y="2504968"/>
            <a:ext cx="3964940" cy="3481070"/>
          </a:xfrm>
          <a:prstGeom prst="rect">
            <a:avLst/>
          </a:prstGeom>
        </p:spPr>
      </p:pic>
    </p:spTree>
    <p:extLst>
      <p:ext uri="{BB962C8B-B14F-4D97-AF65-F5344CB8AC3E}">
        <p14:creationId xmlns:p14="http://schemas.microsoft.com/office/powerpoint/2010/main" val="2864359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058EFC-FC96-BE4B-A9A8-2E0AA26B4EA1}"/>
                  </a:ext>
                </a:extLst>
              </p:cNvPr>
              <p:cNvSpPr txBox="1"/>
              <p:nvPr/>
            </p:nvSpPr>
            <p:spPr>
              <a:xfrm>
                <a:off x="914400" y="618583"/>
                <a:ext cx="10515600" cy="4524315"/>
              </a:xfrm>
              <a:prstGeom prst="rect">
                <a:avLst/>
              </a:prstGeom>
              <a:noFill/>
            </p:spPr>
            <p:txBody>
              <a:bodyPr wrap="square" rtlCol="0">
                <a:spAutoFit/>
              </a:bodyPr>
              <a:lstStyle/>
              <a:p>
                <a:pPr lvl="0"/>
                <a:r>
                  <a:rPr lang="en-US" sz="2400" b="1" i="1" dirty="0">
                    <a:latin typeface="Verdana" panose="020B0604030504040204" pitchFamily="34" charset="0"/>
                    <a:ea typeface="Verdana" panose="020B0604030504040204" pitchFamily="34" charset="0"/>
                    <a:cs typeface="Verdana" panose="020B0604030504040204" pitchFamily="34" charset="0"/>
                  </a:rPr>
                  <a:t>Ed:  </a:t>
                </a:r>
                <a:r>
                  <a:rPr lang="en-US" sz="2400" dirty="0">
                    <a:latin typeface="Verdana" panose="020B0604030504040204" pitchFamily="34" charset="0"/>
                    <a:ea typeface="Verdana" panose="020B0604030504040204" pitchFamily="34" charset="0"/>
                    <a:cs typeface="Verdana" panose="020B0604030504040204" pitchFamily="34" charset="0"/>
                  </a:rPr>
                  <a:t>The relationship is not a function because if I draw a horizontal line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𝑦</m:t>
                    </m:r>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the horizonal line crosses the graph at two points.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b="1" i="1" dirty="0">
                    <a:latin typeface="Verdana" panose="020B0604030504040204" pitchFamily="34" charset="0"/>
                    <a:ea typeface="Verdana" panose="020B0604030504040204" pitchFamily="34" charset="0"/>
                    <a:cs typeface="Verdana" panose="020B0604030504040204" pitchFamily="34" charset="0"/>
                  </a:rPr>
                  <a:t>Debra:  </a:t>
                </a:r>
                <a:r>
                  <a:rPr lang="en-US" sz="2400" dirty="0">
                    <a:latin typeface="Verdana" panose="020B0604030504040204" pitchFamily="34" charset="0"/>
                    <a:ea typeface="Verdana" panose="020B0604030504040204" pitchFamily="34" charset="0"/>
                    <a:cs typeface="Verdana" panose="020B0604030504040204" pitchFamily="34" charset="0"/>
                  </a:rPr>
                  <a:t>The relationship is a function because it is a graph of two different lines.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r>
                  <a:rPr lang="en-US" sz="2400" b="1" i="1" dirty="0">
                    <a:latin typeface="Verdana" panose="020B0604030504040204" pitchFamily="34" charset="0"/>
                    <a:ea typeface="Verdana" panose="020B0604030504040204" pitchFamily="34" charset="0"/>
                    <a:cs typeface="Verdana" panose="020B0604030504040204" pitchFamily="34" charset="0"/>
                  </a:rPr>
                  <a:t>Alejandro:  </a:t>
                </a:r>
                <a:r>
                  <a:rPr lang="en-US" sz="2400" dirty="0">
                    <a:latin typeface="Verdana" panose="020B0604030504040204" pitchFamily="34" charset="0"/>
                    <a:ea typeface="Verdana" panose="020B0604030504040204" pitchFamily="34" charset="0"/>
                    <a:cs typeface="Verdana" panose="020B0604030504040204" pitchFamily="34" charset="0"/>
                  </a:rPr>
                  <a:t>The relationship is not a function because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has two different 𝑦-values.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Which students are </a:t>
                </a:r>
                <a:r>
                  <a:rPr lang="en-US" sz="2400" b="1" dirty="0">
                    <a:latin typeface="Verdana" panose="020B0604030504040204" pitchFamily="34" charset="0"/>
                    <a:ea typeface="Verdana" panose="020B0604030504040204" pitchFamily="34" charset="0"/>
                    <a:cs typeface="Verdana" panose="020B0604030504040204" pitchFamily="34" charset="0"/>
                  </a:rPr>
                  <a:t>not</a:t>
                </a:r>
                <a:r>
                  <a:rPr lang="en-US" sz="2400" dirty="0">
                    <a:latin typeface="Verdana" panose="020B0604030504040204" pitchFamily="34" charset="0"/>
                    <a:ea typeface="Verdana" panose="020B0604030504040204" pitchFamily="34" charset="0"/>
                    <a:cs typeface="Verdana" panose="020B0604030504040204" pitchFamily="34" charset="0"/>
                  </a:rPr>
                  <a:t> correct and what is the flaw in their argument?</a:t>
                </a:r>
              </a:p>
            </p:txBody>
          </p:sp>
        </mc:Choice>
        <mc:Fallback xmlns="">
          <p:sp>
            <p:nvSpPr>
              <p:cNvPr id="6" name="TextBox 5">
                <a:extLst>
                  <a:ext uri="{FF2B5EF4-FFF2-40B4-BE49-F238E27FC236}">
                    <a16:creationId xmlns:a16="http://schemas.microsoft.com/office/drawing/2014/main" id="{98058EFC-FC96-BE4B-A9A8-2E0AA26B4EA1}"/>
                  </a:ext>
                </a:extLst>
              </p:cNvPr>
              <p:cNvSpPr txBox="1">
                <a:spLocks noRot="1" noChangeAspect="1" noMove="1" noResize="1" noEditPoints="1" noAdjustHandles="1" noChangeArrowheads="1" noChangeShapeType="1" noTextEdit="1"/>
              </p:cNvSpPr>
              <p:nvPr/>
            </p:nvSpPr>
            <p:spPr>
              <a:xfrm>
                <a:off x="914400" y="618583"/>
                <a:ext cx="10515600" cy="4524315"/>
              </a:xfrm>
              <a:prstGeom prst="rect">
                <a:avLst/>
              </a:prstGeom>
              <a:blipFill>
                <a:blip r:embed="rId4"/>
                <a:stretch>
                  <a:fillRect l="-965" t="-1117" r="-724" b="-2235"/>
                </a:stretch>
              </a:blipFill>
            </p:spPr>
            <p:txBody>
              <a:bodyPr/>
              <a:lstStyle/>
              <a:p>
                <a:r>
                  <a:rPr lang="en-US">
                    <a:noFill/>
                  </a:rPr>
                  <a:t> </a:t>
                </a:r>
              </a:p>
            </p:txBody>
          </p:sp>
        </mc:Fallback>
      </mc:AlternateContent>
    </p:spTree>
    <p:extLst>
      <p:ext uri="{BB962C8B-B14F-4D97-AF65-F5344CB8AC3E}">
        <p14:creationId xmlns:p14="http://schemas.microsoft.com/office/powerpoint/2010/main" val="3993049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98058EFC-FC96-BE4B-A9A8-2E0AA26B4EA1}"/>
              </a:ext>
            </a:extLst>
          </p:cNvPr>
          <p:cNvSpPr txBox="1"/>
          <p:nvPr/>
        </p:nvSpPr>
        <p:spPr>
          <a:xfrm>
            <a:off x="914400" y="259353"/>
            <a:ext cx="9809018"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Consider the following incomplete mapping diagrams. </a:t>
            </a:r>
          </a:p>
        </p:txBody>
      </p:sp>
      <p:sp>
        <p:nvSpPr>
          <p:cNvPr id="2" name="Oval 516">
            <a:extLst>
              <a:ext uri="{FF2B5EF4-FFF2-40B4-BE49-F238E27FC236}">
                <a16:creationId xmlns:a16="http://schemas.microsoft.com/office/drawing/2014/main" id="{BD5909F0-1699-9A40-B09F-A0E41D971D1C}"/>
              </a:ext>
            </a:extLst>
          </p:cNvPr>
          <p:cNvSpPr>
            <a:spLocks noChangeAspect="1"/>
          </p:cNvSpPr>
          <p:nvPr/>
        </p:nvSpPr>
        <p:spPr bwMode="auto">
          <a:xfrm>
            <a:off x="3599491" y="1426481"/>
            <a:ext cx="687388" cy="18002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buClrTx/>
            </a:pPr>
            <a:r>
              <a:rPr lang="en-US" altLang="en-CO" sz="1800">
                <a:latin typeface="Cambria" panose="02040503050406030204" pitchFamily="18" charset="0"/>
                <a:ea typeface="Times New Roman" panose="02020603050405020304" pitchFamily="18" charset="0"/>
                <a:cs typeface="Times New Roman" panose="02020603050405020304" pitchFamily="18" charset="0"/>
              </a:rPr>
              <a:t>3</a:t>
            </a:r>
            <a:endParaRPr lang="en-US" altLang="en-CO" sz="800">
              <a:solidFill>
                <a:schemeClr val="tx1"/>
              </a:solidFill>
            </a:endParaRPr>
          </a:p>
          <a:p>
            <a:pPr algn="ctr" eaLnBrk="0" fontAlgn="base" hangingPunct="0">
              <a:spcBef>
                <a:spcPct val="0"/>
              </a:spcBef>
              <a:spcAft>
                <a:spcPct val="0"/>
              </a:spcAft>
              <a:buClrTx/>
            </a:pPr>
            <a:r>
              <a:rPr lang="en-US" altLang="en-CO" sz="1800">
                <a:latin typeface="Cambria" panose="02040503050406030204" pitchFamily="18" charset="0"/>
                <a:ea typeface="Times New Roman" panose="02020603050405020304" pitchFamily="18" charset="0"/>
                <a:cs typeface="Times New Roman" panose="02020603050405020304" pitchFamily="18" charset="0"/>
              </a:rPr>
              <a:t>2</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cs typeface="Times New Roman" panose="02020603050405020304" pitchFamily="18" charset="0"/>
              </a:rPr>
              <a:t>-1</a:t>
            </a:r>
            <a:endParaRPr lang="en-US" altLang="en-CO" sz="1800">
              <a:solidFill>
                <a:schemeClr val="tx1"/>
              </a:solidFill>
              <a:latin typeface="Arial" panose="020B0604020202020204" pitchFamily="34" charset="0"/>
            </a:endParaRPr>
          </a:p>
        </p:txBody>
      </p:sp>
      <p:sp>
        <p:nvSpPr>
          <p:cNvPr id="3" name="Oval 517">
            <a:extLst>
              <a:ext uri="{FF2B5EF4-FFF2-40B4-BE49-F238E27FC236}">
                <a16:creationId xmlns:a16="http://schemas.microsoft.com/office/drawing/2014/main" id="{26B280AD-0EDB-8E47-8146-3C3586332D9D}"/>
              </a:ext>
            </a:extLst>
          </p:cNvPr>
          <p:cNvSpPr>
            <a:spLocks noChangeAspect="1"/>
          </p:cNvSpPr>
          <p:nvPr/>
        </p:nvSpPr>
        <p:spPr bwMode="auto">
          <a:xfrm>
            <a:off x="4390066" y="1423306"/>
            <a:ext cx="687388" cy="18002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buClrTx/>
            </a:pPr>
            <a:r>
              <a:rPr lang="en-US" altLang="en-CO" sz="1800">
                <a:latin typeface="Cambria Math" panose="02040503050406030204" pitchFamily="18" charset="0"/>
                <a:ea typeface="Times New Roman" panose="02020603050405020304" pitchFamily="18" charset="0"/>
              </a:rPr>
              <a:t>5</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5</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5</a:t>
            </a:r>
            <a:endParaRPr lang="en-US" altLang="en-CO" sz="1800">
              <a:solidFill>
                <a:schemeClr val="tx1"/>
              </a:solidFill>
              <a:latin typeface="Arial" panose="020B0604020202020204" pitchFamily="34" charset="0"/>
            </a:endParaRPr>
          </a:p>
        </p:txBody>
      </p:sp>
      <p:sp>
        <p:nvSpPr>
          <p:cNvPr id="4" name="Oval 518">
            <a:extLst>
              <a:ext uri="{FF2B5EF4-FFF2-40B4-BE49-F238E27FC236}">
                <a16:creationId xmlns:a16="http://schemas.microsoft.com/office/drawing/2014/main" id="{BDC97442-570C-0043-80EE-1B49A1A9F1C6}"/>
              </a:ext>
            </a:extLst>
          </p:cNvPr>
          <p:cNvSpPr>
            <a:spLocks noChangeAspect="1"/>
          </p:cNvSpPr>
          <p:nvPr/>
        </p:nvSpPr>
        <p:spPr bwMode="auto">
          <a:xfrm>
            <a:off x="5547129" y="1421719"/>
            <a:ext cx="687388" cy="18002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buClrTx/>
            </a:pPr>
            <a:r>
              <a:rPr lang="en-US" altLang="en-CO" sz="1800">
                <a:latin typeface="Cambria Math" panose="02040503050406030204" pitchFamily="18" charset="0"/>
                <a:ea typeface="Times New Roman" panose="02020603050405020304" pitchFamily="18" charset="0"/>
              </a:rPr>
              <a:t>3</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2</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-1</a:t>
            </a:r>
            <a:endParaRPr lang="en-US" altLang="en-CO" sz="1800">
              <a:solidFill>
                <a:schemeClr val="tx1"/>
              </a:solidFill>
              <a:latin typeface="Arial" panose="020B0604020202020204" pitchFamily="34" charset="0"/>
            </a:endParaRPr>
          </a:p>
        </p:txBody>
      </p:sp>
      <p:sp>
        <p:nvSpPr>
          <p:cNvPr id="5" name="Oval 519">
            <a:extLst>
              <a:ext uri="{FF2B5EF4-FFF2-40B4-BE49-F238E27FC236}">
                <a16:creationId xmlns:a16="http://schemas.microsoft.com/office/drawing/2014/main" id="{2266538A-8B59-5F4B-9FDB-434FCFB402E8}"/>
              </a:ext>
            </a:extLst>
          </p:cNvPr>
          <p:cNvSpPr>
            <a:spLocks noChangeAspect="1"/>
          </p:cNvSpPr>
          <p:nvPr/>
        </p:nvSpPr>
        <p:spPr bwMode="auto">
          <a:xfrm>
            <a:off x="6337704" y="1418544"/>
            <a:ext cx="687388" cy="18002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buClrTx/>
            </a:pPr>
            <a:r>
              <a:rPr lang="en-US" altLang="en-CO" sz="1800">
                <a:latin typeface="Cambria Math" panose="02040503050406030204" pitchFamily="18" charset="0"/>
                <a:ea typeface="Times New Roman" panose="02020603050405020304" pitchFamily="18" charset="0"/>
              </a:rPr>
              <a:t>5</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5</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5</a:t>
            </a:r>
            <a:endParaRPr lang="en-US" altLang="en-CO" sz="1800">
              <a:solidFill>
                <a:schemeClr val="tx1"/>
              </a:solidFill>
              <a:latin typeface="Arial" panose="020B0604020202020204" pitchFamily="34" charset="0"/>
            </a:endParaRPr>
          </a:p>
        </p:txBody>
      </p:sp>
      <p:sp>
        <p:nvSpPr>
          <p:cNvPr id="7" name="Oval 520">
            <a:extLst>
              <a:ext uri="{FF2B5EF4-FFF2-40B4-BE49-F238E27FC236}">
                <a16:creationId xmlns:a16="http://schemas.microsoft.com/office/drawing/2014/main" id="{1F66E6A5-D335-A84D-99B8-C880115E429E}"/>
              </a:ext>
            </a:extLst>
          </p:cNvPr>
          <p:cNvSpPr>
            <a:spLocks noChangeAspect="1"/>
          </p:cNvSpPr>
          <p:nvPr/>
        </p:nvSpPr>
        <p:spPr bwMode="auto">
          <a:xfrm>
            <a:off x="7443966" y="1436006"/>
            <a:ext cx="687388" cy="18002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buClrTx/>
            </a:pPr>
            <a:r>
              <a:rPr lang="en-US" altLang="en-CO" sz="1800">
                <a:latin typeface="Cambria Math" panose="02040503050406030204" pitchFamily="18" charset="0"/>
                <a:ea typeface="Times New Roman" panose="02020603050405020304" pitchFamily="18" charset="0"/>
              </a:rPr>
              <a:t>5</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5</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5</a:t>
            </a:r>
            <a:endParaRPr lang="en-US" altLang="en-CO" sz="1800">
              <a:solidFill>
                <a:schemeClr val="tx1"/>
              </a:solidFill>
              <a:latin typeface="Arial" panose="020B0604020202020204" pitchFamily="34" charset="0"/>
            </a:endParaRPr>
          </a:p>
        </p:txBody>
      </p:sp>
      <p:sp>
        <p:nvSpPr>
          <p:cNvPr id="9" name="Oval 521">
            <a:extLst>
              <a:ext uri="{FF2B5EF4-FFF2-40B4-BE49-F238E27FC236}">
                <a16:creationId xmlns:a16="http://schemas.microsoft.com/office/drawing/2014/main" id="{29572B7C-C689-8D46-A949-BB7076B129E9}"/>
              </a:ext>
            </a:extLst>
          </p:cNvPr>
          <p:cNvSpPr>
            <a:spLocks noChangeAspect="1"/>
          </p:cNvSpPr>
          <p:nvPr/>
        </p:nvSpPr>
        <p:spPr bwMode="auto">
          <a:xfrm>
            <a:off x="8232955" y="1432831"/>
            <a:ext cx="687387" cy="180022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buClrTx/>
            </a:pPr>
            <a:r>
              <a:rPr lang="en-US" altLang="en-CO" sz="1800">
                <a:latin typeface="Cambria Math" panose="02040503050406030204" pitchFamily="18" charset="0"/>
                <a:ea typeface="Times New Roman" panose="02020603050405020304" pitchFamily="18" charset="0"/>
              </a:rPr>
              <a:t>3</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2</a:t>
            </a:r>
            <a:endParaRPr lang="en-US" altLang="en-CO" sz="800">
              <a:solidFill>
                <a:schemeClr val="tx1"/>
              </a:solidFill>
            </a:endParaRPr>
          </a:p>
          <a:p>
            <a:pPr algn="ctr" eaLnBrk="0" fontAlgn="base" hangingPunct="0">
              <a:spcBef>
                <a:spcPct val="0"/>
              </a:spcBef>
              <a:spcAft>
                <a:spcPct val="0"/>
              </a:spcAft>
              <a:buClrTx/>
            </a:pPr>
            <a:r>
              <a:rPr lang="en-US" altLang="en-CO" sz="1800" i="1">
                <a:latin typeface="Cambria Math" panose="02040503050406030204" pitchFamily="18" charset="0"/>
                <a:ea typeface="Times New Roman" panose="02020603050405020304" pitchFamily="18" charset="0"/>
              </a:rPr>
              <a:t>-1</a:t>
            </a:r>
            <a:endParaRPr lang="en-US" altLang="en-CO" sz="1800">
              <a:solidFill>
                <a:schemeClr val="tx1"/>
              </a:solidFill>
              <a:latin typeface="Arial" panose="020B0604020202020204" pitchFamily="34" charset="0"/>
            </a:endParaRPr>
          </a:p>
        </p:txBody>
      </p:sp>
      <p:sp>
        <p:nvSpPr>
          <p:cNvPr id="10" name="Rectangle 7">
            <a:extLst>
              <a:ext uri="{FF2B5EF4-FFF2-40B4-BE49-F238E27FC236}">
                <a16:creationId xmlns:a16="http://schemas.microsoft.com/office/drawing/2014/main" id="{B0348D08-B5F9-D24F-947B-C2CBF5F949E4}"/>
              </a:ext>
            </a:extLst>
          </p:cNvPr>
          <p:cNvSpPr>
            <a:spLocks noChangeArrowheads="1"/>
          </p:cNvSpPr>
          <p:nvPr/>
        </p:nvSpPr>
        <p:spPr bwMode="auto">
          <a:xfrm>
            <a:off x="3522142" y="894406"/>
            <a:ext cx="55619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buClrTx/>
            </a:pPr>
            <a:r>
              <a:rPr lang="en-US" altLang="en-CO" sz="1800" dirty="0">
                <a:solidFill>
                  <a:schemeClr val="tx1"/>
                </a:solidFill>
                <a:latin typeface="Verdana" panose="020B0604030504040204" pitchFamily="34" charset="0"/>
                <a:ea typeface="Times New Roman" panose="02020603050405020304" pitchFamily="18" charset="0"/>
              </a:rPr>
              <a:t>Diagram A	  Diagram B	  Diagram C</a:t>
            </a:r>
            <a:endParaRPr lang="en-US" altLang="en-CO" sz="800" dirty="0">
              <a:solidFill>
                <a:schemeClr val="tx1"/>
              </a:solidFill>
            </a:endParaRPr>
          </a:p>
          <a:p>
            <a:pPr algn="ctr" eaLnBrk="0" fontAlgn="base" hangingPunct="0">
              <a:spcBef>
                <a:spcPct val="0"/>
              </a:spcBef>
              <a:spcAft>
                <a:spcPct val="0"/>
              </a:spcAft>
              <a:buClrTx/>
            </a:pPr>
            <a:endParaRPr lang="en-US" altLang="en-CO" sz="1800" dirty="0">
              <a:solidFill>
                <a:schemeClr val="tx1"/>
              </a:solidFill>
              <a:latin typeface="Arial" panose="020B0604020202020204" pitchFamily="34" charset="0"/>
            </a:endParaRPr>
          </a:p>
        </p:txBody>
      </p:sp>
      <p:sp>
        <p:nvSpPr>
          <p:cNvPr id="11" name="Rectangle 14">
            <a:extLst>
              <a:ext uri="{FF2B5EF4-FFF2-40B4-BE49-F238E27FC236}">
                <a16:creationId xmlns:a16="http://schemas.microsoft.com/office/drawing/2014/main" id="{835C6FB8-79C0-3343-A525-5A76F2A516F3}"/>
              </a:ext>
            </a:extLst>
          </p:cNvPr>
          <p:cNvSpPr>
            <a:spLocks noChangeArrowheads="1"/>
          </p:cNvSpPr>
          <p:nvPr/>
        </p:nvSpPr>
        <p:spPr bwMode="auto">
          <a:xfrm>
            <a:off x="2667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O"/>
          </a:p>
        </p:txBody>
      </p:sp>
      <p:sp>
        <p:nvSpPr>
          <p:cNvPr id="14" name="TextBox 13">
            <a:extLst>
              <a:ext uri="{FF2B5EF4-FFF2-40B4-BE49-F238E27FC236}">
                <a16:creationId xmlns:a16="http://schemas.microsoft.com/office/drawing/2014/main" id="{CAE89C92-27D3-2947-AAE1-62F1A2579B1B}"/>
              </a:ext>
            </a:extLst>
          </p:cNvPr>
          <p:cNvSpPr txBox="1"/>
          <p:nvPr/>
        </p:nvSpPr>
        <p:spPr>
          <a:xfrm>
            <a:off x="914400" y="3508740"/>
            <a:ext cx="10515600" cy="2677656"/>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Diagram A so that it is a function.</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Is it possible to complete Diagram B so that it is not a function? If so, complete the diagram to show a relation, but not a function. If not, justify your reasoning.</a:t>
            </a:r>
          </a:p>
        </p:txBody>
      </p:sp>
    </p:spTree>
    <p:extLst>
      <p:ext uri="{BB962C8B-B14F-4D97-AF65-F5344CB8AC3E}">
        <p14:creationId xmlns:p14="http://schemas.microsoft.com/office/powerpoint/2010/main" val="32721840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8058EFC-FC96-BE4B-A9A8-2E0AA26B4EA1}"/>
                  </a:ext>
                </a:extLst>
              </p:cNvPr>
              <p:cNvSpPr txBox="1"/>
              <p:nvPr/>
            </p:nvSpPr>
            <p:spPr>
              <a:xfrm>
                <a:off x="914400" y="259354"/>
                <a:ext cx="10515600" cy="6001643"/>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Is it possible to complete the mapping diagram for Diagram C so it represents a function? If so, complete the diagram to show a function. If not, justify your reasoning.</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Select all the relations that are </a:t>
                </a:r>
                <a:r>
                  <a:rPr lang="en-US" sz="2400" b="1" dirty="0">
                    <a:latin typeface="Verdana" panose="020B0604030504040204" pitchFamily="34" charset="0"/>
                    <a:ea typeface="Verdana" panose="020B0604030504040204" pitchFamily="34" charset="0"/>
                    <a:cs typeface="Verdana" panose="020B0604030504040204" pitchFamily="34" charset="0"/>
                  </a:rPr>
                  <a:t>not</a:t>
                </a:r>
                <a:r>
                  <a:rPr lang="en-US" sz="2400" dirty="0">
                    <a:latin typeface="Verdana" panose="020B0604030504040204" pitchFamily="34" charset="0"/>
                    <a:ea typeface="Verdana" panose="020B0604030504040204" pitchFamily="34" charset="0"/>
                    <a:cs typeface="Verdana" panose="020B0604030504040204" pitchFamily="34" charset="0"/>
                  </a:rPr>
                  <a:t> functions.</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 3), (3, 7), (5, 11), (7, 15), (9, 19)}</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 3), (1, 7), (5, 11), (5, 15), (9, 19)}</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 4), (−1, 1), (0, 0), (1, 1), (2, 4)}</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 4), (1, 1), (0, 0), (1, −1), (2, −4)}</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 3), (4, 1), (2, 1), (0, −1), (−2, −3)}</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 3), (3, 7), (3, 11), (7, 15), (9, 19)}</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Wingdings" pitchFamily="2" charset="2"/>
                  <a:buChar char="q"/>
                </a:pP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 3), (3, 7), (5, 11), (9, 15), (9, 19)}</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6" name="TextBox 5">
                <a:extLst>
                  <a:ext uri="{FF2B5EF4-FFF2-40B4-BE49-F238E27FC236}">
                    <a16:creationId xmlns:a16="http://schemas.microsoft.com/office/drawing/2014/main" id="{98058EFC-FC96-BE4B-A9A8-2E0AA26B4EA1}"/>
                  </a:ext>
                </a:extLst>
              </p:cNvPr>
              <p:cNvSpPr txBox="1">
                <a:spLocks noRot="1" noChangeAspect="1" noMove="1" noResize="1" noEditPoints="1" noAdjustHandles="1" noChangeArrowheads="1" noChangeShapeType="1" noTextEdit="1"/>
              </p:cNvSpPr>
              <p:nvPr/>
            </p:nvSpPr>
            <p:spPr>
              <a:xfrm>
                <a:off x="914400" y="259354"/>
                <a:ext cx="10515600" cy="6001643"/>
              </a:xfrm>
              <a:prstGeom prst="rect">
                <a:avLst/>
              </a:prstGeom>
              <a:blipFill>
                <a:blip r:embed="rId4"/>
                <a:stretch>
                  <a:fillRect l="-870" t="-813" r="-870" b="-1220"/>
                </a:stretch>
              </a:blipFill>
            </p:spPr>
            <p:txBody>
              <a:bodyPr/>
              <a:lstStyle/>
              <a:p>
                <a:r>
                  <a:rPr lang="en-US">
                    <a:noFill/>
                  </a:rPr>
                  <a:t> </a:t>
                </a:r>
              </a:p>
            </p:txBody>
          </p:sp>
        </mc:Fallback>
      </mc:AlternateContent>
      <p:sp>
        <p:nvSpPr>
          <p:cNvPr id="11" name="Rectangle 14">
            <a:extLst>
              <a:ext uri="{FF2B5EF4-FFF2-40B4-BE49-F238E27FC236}">
                <a16:creationId xmlns:a16="http://schemas.microsoft.com/office/drawing/2014/main" id="{835C6FB8-79C0-3343-A525-5A76F2A516F3}"/>
              </a:ext>
            </a:extLst>
          </p:cNvPr>
          <p:cNvSpPr>
            <a:spLocks noChangeArrowheads="1"/>
          </p:cNvSpPr>
          <p:nvPr/>
        </p:nvSpPr>
        <p:spPr bwMode="auto">
          <a:xfrm>
            <a:off x="2667001" y="3033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O"/>
          </a:p>
        </p:txBody>
      </p:sp>
    </p:spTree>
    <p:extLst>
      <p:ext uri="{BB962C8B-B14F-4D97-AF65-F5344CB8AC3E}">
        <p14:creationId xmlns:p14="http://schemas.microsoft.com/office/powerpoint/2010/main" val="922153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20743"/>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DCA26F36-85FB-6F47-BFE1-9526A3AAF9F3}"/>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84171"/>
            <a:ext cx="91291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10.4.5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65760" y="603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C5015EC-6F43-1C4A-AD6C-B1BEBDFEE113}"/>
                  </a:ext>
                </a:extLst>
              </p:cNvPr>
              <p:cNvSpPr/>
              <p:nvPr/>
            </p:nvSpPr>
            <p:spPr>
              <a:xfrm>
                <a:off x="914400" y="1178057"/>
                <a:ext cx="10515600"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table shows the gold-medal winners of the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-meter dash in the Olympic games since 1980.  </a:t>
                </a:r>
              </a:p>
            </p:txBody>
          </p:sp>
        </mc:Choice>
        <mc:Fallback xmlns="">
          <p:sp>
            <p:nvSpPr>
              <p:cNvPr id="2" name="Rectangle 1">
                <a:extLst>
                  <a:ext uri="{FF2B5EF4-FFF2-40B4-BE49-F238E27FC236}">
                    <a16:creationId xmlns:a16="http://schemas.microsoft.com/office/drawing/2014/main" id="{5C5015EC-6F43-1C4A-AD6C-B1BEBDFEE113}"/>
                  </a:ext>
                </a:extLst>
              </p:cNvPr>
              <p:cNvSpPr>
                <a:spLocks noRot="1" noChangeAspect="1" noMove="1" noResize="1" noEditPoints="1" noAdjustHandles="1" noChangeArrowheads="1" noChangeShapeType="1" noTextEdit="1"/>
              </p:cNvSpPr>
              <p:nvPr/>
            </p:nvSpPr>
            <p:spPr>
              <a:xfrm>
                <a:off x="914400" y="1178057"/>
                <a:ext cx="10515600" cy="830997"/>
              </a:xfrm>
              <a:prstGeom prst="rect">
                <a:avLst/>
              </a:prstGeom>
              <a:blipFill>
                <a:blip r:embed="rId5"/>
                <a:stretch>
                  <a:fillRect l="-965" t="-5970" b="-14925"/>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7F80344-247C-014E-B69C-DADAC3DBC9EF}"/>
                  </a:ext>
                </a:extLst>
              </p:cNvPr>
              <p:cNvGraphicFramePr>
                <a:graphicFrameLocks noGrp="1"/>
              </p:cNvGraphicFramePr>
              <p:nvPr>
                <p:extLst>
                  <p:ext uri="{D42A27DB-BD31-4B8C-83A1-F6EECF244321}">
                    <p14:modId xmlns:p14="http://schemas.microsoft.com/office/powerpoint/2010/main" val="2512886538"/>
                  </p:ext>
                </p:extLst>
              </p:nvPr>
            </p:nvGraphicFramePr>
            <p:xfrm>
              <a:off x="2602001" y="2305844"/>
              <a:ext cx="7082327" cy="3657600"/>
            </p:xfrm>
            <a:graphic>
              <a:graphicData uri="http://schemas.openxmlformats.org/drawingml/2006/table">
                <a:tbl>
                  <a:tblPr firstRow="1" firstCol="1" bandRow="1">
                    <a:tableStyleId>{A91F0D33-8C57-4600-99A7-42BC86742BE1}</a:tableStyleId>
                  </a:tblPr>
                  <a:tblGrid>
                    <a:gridCol w="3280236">
                      <a:extLst>
                        <a:ext uri="{9D8B030D-6E8A-4147-A177-3AD203B41FA5}">
                          <a16:colId xmlns:a16="http://schemas.microsoft.com/office/drawing/2014/main" val="3215513206"/>
                        </a:ext>
                      </a:extLst>
                    </a:gridCol>
                    <a:gridCol w="1938321">
                      <a:extLst>
                        <a:ext uri="{9D8B030D-6E8A-4147-A177-3AD203B41FA5}">
                          <a16:colId xmlns:a16="http://schemas.microsoft.com/office/drawing/2014/main" val="3470664428"/>
                        </a:ext>
                      </a:extLst>
                    </a:gridCol>
                    <a:gridCol w="1863770">
                      <a:extLst>
                        <a:ext uri="{9D8B030D-6E8A-4147-A177-3AD203B41FA5}">
                          <a16:colId xmlns:a16="http://schemas.microsoft.com/office/drawing/2014/main" val="1439553283"/>
                        </a:ext>
                      </a:extLst>
                    </a:gridCol>
                  </a:tblGrid>
                  <a:tr h="585511">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libri" panose="020F0502020204030204" pitchFamily="34" charset="0"/>
                            </a:rPr>
                            <a:t>Winner</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Height (meters)</a:t>
                          </a:r>
                          <a:endParaRPr lang="en-CO" sz="20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Time (seconds)</a:t>
                          </a:r>
                          <a:endParaRPr lang="en-CO" sz="20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14077062"/>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Allan Wells (GBR)</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1.83</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10.25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6944493"/>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Carl Lewis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1.88</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9.99</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507797"/>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Carl Lewis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1.88</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9.92</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291755"/>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Linford Christie (GBR)</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1.87</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9.96</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789015"/>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Donovan Bailey (CAN)</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9.84</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2270535"/>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Maurice Greene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1.76</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9.87</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9091755"/>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Justin Gatlin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1.86</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9.85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5249719"/>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Usain Bolt (JAM)</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1.95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9.69</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607521"/>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Usain Bolt (JAM)</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1.95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9.63</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929393"/>
                      </a:ext>
                    </a:extLst>
                  </a:tr>
                  <a:tr h="292755">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Usain Bolt (JAM)</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1.95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9.81</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0474661"/>
                      </a:ext>
                    </a:extLst>
                  </a:tr>
                </a:tbl>
              </a:graphicData>
            </a:graphic>
          </p:graphicFrame>
        </mc:Choice>
        <mc:Fallback xmlns="">
          <p:graphicFrame>
            <p:nvGraphicFramePr>
              <p:cNvPr id="3" name="Table 2">
                <a:extLst>
                  <a:ext uri="{FF2B5EF4-FFF2-40B4-BE49-F238E27FC236}">
                    <a16:creationId xmlns:a16="http://schemas.microsoft.com/office/drawing/2014/main" id="{07F80344-247C-014E-B69C-DADAC3DBC9EF}"/>
                  </a:ext>
                </a:extLst>
              </p:cNvPr>
              <p:cNvGraphicFramePr>
                <a:graphicFrameLocks noGrp="1"/>
              </p:cNvGraphicFramePr>
              <p:nvPr>
                <p:extLst>
                  <p:ext uri="{D42A27DB-BD31-4B8C-83A1-F6EECF244321}">
                    <p14:modId xmlns:p14="http://schemas.microsoft.com/office/powerpoint/2010/main" val="2512886538"/>
                  </p:ext>
                </p:extLst>
              </p:nvPr>
            </p:nvGraphicFramePr>
            <p:xfrm>
              <a:off x="2602001" y="2305844"/>
              <a:ext cx="7082327" cy="3657600"/>
            </p:xfrm>
            <a:graphic>
              <a:graphicData uri="http://schemas.openxmlformats.org/drawingml/2006/table">
                <a:tbl>
                  <a:tblPr firstRow="1" firstCol="1" bandRow="1">
                    <a:tableStyleId>{A91F0D33-8C57-4600-99A7-42BC86742BE1}</a:tableStyleId>
                  </a:tblPr>
                  <a:tblGrid>
                    <a:gridCol w="3280236">
                      <a:extLst>
                        <a:ext uri="{9D8B030D-6E8A-4147-A177-3AD203B41FA5}">
                          <a16:colId xmlns:a16="http://schemas.microsoft.com/office/drawing/2014/main" val="3215513206"/>
                        </a:ext>
                      </a:extLst>
                    </a:gridCol>
                    <a:gridCol w="1938321">
                      <a:extLst>
                        <a:ext uri="{9D8B030D-6E8A-4147-A177-3AD203B41FA5}">
                          <a16:colId xmlns:a16="http://schemas.microsoft.com/office/drawing/2014/main" val="3470664428"/>
                        </a:ext>
                      </a:extLst>
                    </a:gridCol>
                    <a:gridCol w="1863770">
                      <a:extLst>
                        <a:ext uri="{9D8B030D-6E8A-4147-A177-3AD203B41FA5}">
                          <a16:colId xmlns:a16="http://schemas.microsoft.com/office/drawing/2014/main" val="1439553283"/>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libri" panose="020F0502020204030204" pitchFamily="34" charset="0"/>
                            </a:rPr>
                            <a:t>Winner</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Height (meters)</a:t>
                          </a:r>
                          <a:endParaRPr lang="en-CO" sz="20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Time (seconds)</a:t>
                          </a:r>
                          <a:endParaRPr lang="en-CO" sz="20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914077062"/>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Allan Wells (GBR)</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226000" r="-96855" b="-95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226000" r="-654" b="-952000"/>
                          </a:stretch>
                        </a:blipFill>
                      </a:tcPr>
                    </a:tc>
                    <a:extLst>
                      <a:ext uri="{0D108BD9-81ED-4DB2-BD59-A6C34878D82A}">
                        <a16:rowId xmlns:a16="http://schemas.microsoft.com/office/drawing/2014/main" val="916944493"/>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Carl Lewis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326000" r="-96855" b="-85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326000" r="-654" b="-852000"/>
                          </a:stretch>
                        </a:blipFill>
                      </a:tcPr>
                    </a:tc>
                    <a:extLst>
                      <a:ext uri="{0D108BD9-81ED-4DB2-BD59-A6C34878D82A}">
                        <a16:rowId xmlns:a16="http://schemas.microsoft.com/office/drawing/2014/main" val="1918507797"/>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Carl Lewis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426000" r="-96855" b="-752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426000" r="-654" b="-752000"/>
                          </a:stretch>
                        </a:blipFill>
                      </a:tcPr>
                    </a:tc>
                    <a:extLst>
                      <a:ext uri="{0D108BD9-81ED-4DB2-BD59-A6C34878D82A}">
                        <a16:rowId xmlns:a16="http://schemas.microsoft.com/office/drawing/2014/main" val="4105291755"/>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Linford Christie (GBR)</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515686" r="-96855" b="-63725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515686" r="-654" b="-637255"/>
                          </a:stretch>
                        </a:blipFill>
                      </a:tcPr>
                    </a:tc>
                    <a:extLst>
                      <a:ext uri="{0D108BD9-81ED-4DB2-BD59-A6C34878D82A}">
                        <a16:rowId xmlns:a16="http://schemas.microsoft.com/office/drawing/2014/main" val="4014789015"/>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Donovan Bailey (CAN)</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628000" r="-96855" b="-55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628000" r="-654" b="-550000"/>
                          </a:stretch>
                        </a:blipFill>
                      </a:tcPr>
                    </a:tc>
                    <a:extLst>
                      <a:ext uri="{0D108BD9-81ED-4DB2-BD59-A6C34878D82A}">
                        <a16:rowId xmlns:a16="http://schemas.microsoft.com/office/drawing/2014/main" val="3322270535"/>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Maurice Greene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728000" r="-96855" b="-45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728000" r="-654" b="-450000"/>
                          </a:stretch>
                        </a:blipFill>
                      </a:tcPr>
                    </a:tc>
                    <a:extLst>
                      <a:ext uri="{0D108BD9-81ED-4DB2-BD59-A6C34878D82A}">
                        <a16:rowId xmlns:a16="http://schemas.microsoft.com/office/drawing/2014/main" val="4089091755"/>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Justin Gatlin (USA)</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828000" r="-96855" b="-35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828000" r="-654" b="-350000"/>
                          </a:stretch>
                        </a:blipFill>
                      </a:tcPr>
                    </a:tc>
                    <a:extLst>
                      <a:ext uri="{0D108BD9-81ED-4DB2-BD59-A6C34878D82A}">
                        <a16:rowId xmlns:a16="http://schemas.microsoft.com/office/drawing/2014/main" val="3305249719"/>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Usain Bolt (JAM)</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928000" r="-96855" b="-25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928000" r="-654" b="-250000"/>
                          </a:stretch>
                        </a:blipFill>
                      </a:tcPr>
                    </a:tc>
                    <a:extLst>
                      <a:ext uri="{0D108BD9-81ED-4DB2-BD59-A6C34878D82A}">
                        <a16:rowId xmlns:a16="http://schemas.microsoft.com/office/drawing/2014/main" val="4037607521"/>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Usain Bolt (JAM)</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1028000" r="-96855" b="-15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1028000" r="-654" b="-150000"/>
                          </a:stretch>
                        </a:blipFill>
                      </a:tcPr>
                    </a:tc>
                    <a:extLst>
                      <a:ext uri="{0D108BD9-81ED-4DB2-BD59-A6C34878D82A}">
                        <a16:rowId xmlns:a16="http://schemas.microsoft.com/office/drawing/2014/main" val="2546929393"/>
                      </a:ext>
                    </a:extLst>
                  </a:tr>
                  <a:tr h="304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Usain Bolt (JAM)</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69811" t="-1128000" r="-96855" b="-5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80392" t="-1128000" r="-654" b="-50000"/>
                          </a:stretch>
                        </a:blipFill>
                      </a:tcPr>
                    </a:tc>
                    <a:extLst>
                      <a:ext uri="{0D108BD9-81ED-4DB2-BD59-A6C34878D82A}">
                        <a16:rowId xmlns:a16="http://schemas.microsoft.com/office/drawing/2014/main" val="1470474661"/>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909389"/>
            <a:ext cx="10515600" cy="830997"/>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Both Olivia and Liam wrote an explanation about whether the table of values represents a function.</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2BE8B7AF-0DBE-7E40-B702-4B0FCA1C8F05}"/>
              </a:ext>
            </a:extLst>
          </p:cNvPr>
          <p:cNvGraphicFramePr>
            <a:graphicFrameLocks noGrp="1"/>
          </p:cNvGraphicFramePr>
          <p:nvPr>
            <p:extLst>
              <p:ext uri="{D42A27DB-BD31-4B8C-83A1-F6EECF244321}">
                <p14:modId xmlns:p14="http://schemas.microsoft.com/office/powerpoint/2010/main" val="1252214233"/>
              </p:ext>
            </p:extLst>
          </p:nvPr>
        </p:nvGraphicFramePr>
        <p:xfrm>
          <a:off x="2164195" y="2386604"/>
          <a:ext cx="8104910" cy="2076442"/>
        </p:xfrm>
        <a:graphic>
          <a:graphicData uri="http://schemas.openxmlformats.org/drawingml/2006/table">
            <a:tbl>
              <a:tblPr firstRow="1" firstCol="1" bandRow="1">
                <a:tableStyleId>{A91F0D33-8C57-4600-99A7-42BC86742BE1}</a:tableStyleId>
              </a:tblPr>
              <a:tblGrid>
                <a:gridCol w="3337315">
                  <a:extLst>
                    <a:ext uri="{9D8B030D-6E8A-4147-A177-3AD203B41FA5}">
                      <a16:colId xmlns:a16="http://schemas.microsoft.com/office/drawing/2014/main" val="1965107538"/>
                    </a:ext>
                  </a:extLst>
                </a:gridCol>
                <a:gridCol w="4767595">
                  <a:extLst>
                    <a:ext uri="{9D8B030D-6E8A-4147-A177-3AD203B41FA5}">
                      <a16:colId xmlns:a16="http://schemas.microsoft.com/office/drawing/2014/main" val="1799801851"/>
                    </a:ext>
                  </a:extLst>
                </a:gridCol>
              </a:tblGrid>
              <a:tr h="346074">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rPr>
                        <a:t>Olivia’s Explanation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rPr>
                        <a:t>Liam’s Explanation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225328768"/>
                  </a:ext>
                </a:extLst>
              </a:tr>
              <a:tr h="1730368">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table of values of the gold-medal winners is a function because the winners competed in different years.</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table of values of the gold-medal winners is a function. Although there are some inputs that give different outputs, those inputs are for the same person.</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6563745"/>
                  </a:ext>
                </a:extLst>
              </a:tr>
            </a:tbl>
          </a:graphicData>
        </a:graphic>
      </p:graphicFrame>
    </p:spTree>
    <p:extLst>
      <p:ext uri="{BB962C8B-B14F-4D97-AF65-F5344CB8AC3E}">
        <p14:creationId xmlns:p14="http://schemas.microsoft.com/office/powerpoint/2010/main" val="2742486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452189"/>
            <a:ext cx="10515600" cy="4154984"/>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to evaluate both explanations. </a:t>
            </a:r>
          </a:p>
          <a:p>
            <a:pPr marL="463550">
              <a:lnSpc>
                <a:spcPct val="300000"/>
              </a:lnSpc>
            </a:pPr>
            <a:r>
              <a:rPr lang="en-US" sz="2400" dirty="0">
                <a:latin typeface="Verdana" panose="020B0604030504040204" pitchFamily="34" charset="0"/>
                <a:ea typeface="Verdana" panose="020B0604030504040204" pitchFamily="34" charset="0"/>
                <a:cs typeface="Verdana" panose="020B0604030504040204" pitchFamily="34" charset="0"/>
              </a:rPr>
              <a:t>I agree with 				  				       the correct               to determine if the relation in the table is a function.</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140</a:t>
            </a:r>
            <a:endParaRPr i="1" dirty="0">
              <a:latin typeface="Calibri"/>
              <a:ea typeface="Calibri"/>
              <a:cs typeface="Calibri"/>
              <a:sym typeface="Calibri"/>
            </a:endParaRPr>
          </a:p>
        </p:txBody>
      </p:sp>
      <p:pic>
        <p:nvPicPr>
          <p:cNvPr id="5" name="Picture 4" descr="Graphical user interface, text&#10;&#10;Description automatically generated">
            <a:extLst>
              <a:ext uri="{FF2B5EF4-FFF2-40B4-BE49-F238E27FC236}">
                <a16:creationId xmlns:a16="http://schemas.microsoft.com/office/drawing/2014/main" id="{0C48D564-34A1-A746-BA6B-AA0F6F6E9A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74623" y="1029887"/>
            <a:ext cx="3678722" cy="1107857"/>
          </a:xfrm>
          <a:prstGeom prst="rect">
            <a:avLst/>
          </a:prstGeom>
        </p:spPr>
      </p:pic>
      <p:pic>
        <p:nvPicPr>
          <p:cNvPr id="7" name="Picture 6" descr="Text&#10;&#10;Description automatically generated">
            <a:extLst>
              <a:ext uri="{FF2B5EF4-FFF2-40B4-BE49-F238E27FC236}">
                <a16:creationId xmlns:a16="http://schemas.microsoft.com/office/drawing/2014/main" id="{0803FCEF-7886-C24E-8D81-5066CAF8ED0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148562" y="1029887"/>
            <a:ext cx="4186221" cy="1107857"/>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78541074-A5A0-F644-9E46-9D3671131F3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230061" y="2285843"/>
            <a:ext cx="1476664" cy="859198"/>
          </a:xfrm>
          <a:prstGeom prst="rect">
            <a:avLst/>
          </a:prstGeom>
        </p:spPr>
      </p:pic>
    </p:spTree>
    <p:extLst>
      <p:ext uri="{BB962C8B-B14F-4D97-AF65-F5344CB8AC3E}">
        <p14:creationId xmlns:p14="http://schemas.microsoft.com/office/powerpoint/2010/main" val="89294408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1628</TotalTime>
  <Words>1687</Words>
  <Application>Microsoft Office PowerPoint</Application>
  <PresentationFormat>Widescreen</PresentationFormat>
  <Paragraphs>272</Paragraphs>
  <Slides>30</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Verdana</vt:lpstr>
      <vt:lpstr>Century Gothic</vt:lpstr>
      <vt:lpstr>Arial</vt:lpstr>
      <vt:lpstr>Cambria Math</vt:lpstr>
      <vt:lpstr>Wingdings</vt:lpstr>
      <vt:lpstr>Calibri</vt:lpstr>
      <vt:lpstr>Times New Roman</vt:lpstr>
      <vt:lpstr>Arial Black</vt:lpstr>
      <vt:lpstr>Cambria</vt:lpstr>
      <vt:lpstr>1_Office Theme</vt:lpstr>
      <vt:lpstr>8th Grade Math:  Pre-Algebra  Unit 10, Lesson 4  Is It a Function?  Volume 2, pg. 135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23</cp:revision>
  <dcterms:created xsi:type="dcterms:W3CDTF">2015-03-17T18:51:18Z</dcterms:created>
  <dcterms:modified xsi:type="dcterms:W3CDTF">2022-07-20T00:56:18Z</dcterms:modified>
</cp:coreProperties>
</file>