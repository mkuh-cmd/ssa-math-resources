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1"/>
  </p:notesMasterIdLst>
  <p:sldIdLst>
    <p:sldId id="256" r:id="rId2"/>
    <p:sldId id="257" r:id="rId3"/>
    <p:sldId id="285" r:id="rId4"/>
    <p:sldId id="286" r:id="rId5"/>
    <p:sldId id="261" r:id="rId6"/>
    <p:sldId id="287" r:id="rId7"/>
    <p:sldId id="343" r:id="rId8"/>
    <p:sldId id="320" r:id="rId9"/>
    <p:sldId id="321" r:id="rId10"/>
    <p:sldId id="324" r:id="rId11"/>
    <p:sldId id="344" r:id="rId12"/>
    <p:sldId id="345" r:id="rId13"/>
    <p:sldId id="346" r:id="rId14"/>
    <p:sldId id="347" r:id="rId15"/>
    <p:sldId id="348" r:id="rId16"/>
    <p:sldId id="289" r:id="rId17"/>
    <p:sldId id="290" r:id="rId18"/>
    <p:sldId id="308" r:id="rId19"/>
    <p:sldId id="322" r:id="rId20"/>
    <p:sldId id="334" r:id="rId21"/>
    <p:sldId id="335" r:id="rId22"/>
    <p:sldId id="336" r:id="rId23"/>
    <p:sldId id="349" r:id="rId24"/>
    <p:sldId id="337" r:id="rId25"/>
    <p:sldId id="338" r:id="rId26"/>
    <p:sldId id="340" r:id="rId27"/>
    <p:sldId id="341" r:id="rId28"/>
    <p:sldId id="306" r:id="rId29"/>
    <p:sldId id="307" r:id="rId30"/>
  </p:sldIdLst>
  <p:sldSz cx="12192000" cy="6858000"/>
  <p:notesSz cx="6858000" cy="9144000"/>
  <p:embeddedFontLst>
    <p:embeddedFont>
      <p:font typeface="Arial Black" panose="020B0A04020102020204" pitchFamily="34" charset="0"/>
      <p:regular r:id="rId32"/>
      <p:bold r:id="rId33"/>
    </p:embeddedFont>
    <p:embeddedFont>
      <p:font typeface="Calibri" panose="020F0502020204030204" pitchFamily="34" charset="0"/>
      <p:regular r:id="rId34"/>
      <p:bold r:id="rId35"/>
      <p:italic r:id="rId36"/>
      <p:boldItalic r:id="rId37"/>
    </p:embeddedFont>
    <p:embeddedFont>
      <p:font typeface="Cambria" panose="02040503050406030204" pitchFamily="18" charset="0"/>
      <p:regular r:id="rId38"/>
      <p:bold r:id="rId39"/>
      <p:italic r:id="rId40"/>
      <p:boldItalic r:id="rId41"/>
    </p:embeddedFont>
    <p:embeddedFont>
      <p:font typeface="Cambria Math" panose="02040503050406030204" pitchFamily="18" charset="0"/>
      <p:regular r:id="rId42"/>
    </p:embeddedFont>
    <p:embeddedFont>
      <p:font typeface="Century Gothic" panose="020B0502020202020204" pitchFamily="34" charset="0"/>
      <p:regular r:id="rId43"/>
      <p:bold r:id="rId44"/>
      <p:italic r:id="rId45"/>
      <p:boldItalic r:id="rId46"/>
    </p:embeddedFont>
    <p:embeddedFont>
      <p:font typeface="Verdana" panose="020B0604030504040204" pitchFamily="34"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4E5F"/>
    <a:srgbClr val="1F3165"/>
    <a:srgbClr val="C9DF6F"/>
    <a:srgbClr val="417DBF"/>
    <a:srgbClr val="3F2A67"/>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113"/>
    <p:restoredTop sz="94694"/>
  </p:normalViewPr>
  <p:slideViewPr>
    <p:cSldViewPr snapToGrid="0">
      <p:cViewPr varScale="1">
        <p:scale>
          <a:sx n="81" d="100"/>
          <a:sy n="81" d="100"/>
        </p:scale>
        <p:origin x="132"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font" Target="fonts/font16.fntdata"/><Relationship Id="rId50" Type="http://schemas.openxmlformats.org/officeDocument/2006/relationships/font" Target="fonts/font19.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49" Type="http://schemas.openxmlformats.org/officeDocument/2006/relationships/font" Target="fonts/font18.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font" Target="fonts/font17.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11487190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0807727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42039251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3122852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9233147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40611858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2215563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22467688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16057576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24189744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38191295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34996304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15133043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8719454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25797495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29321824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29.png"/><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8.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8.xml"/><Relationship Id="rId6" Type="http://schemas.openxmlformats.org/officeDocument/2006/relationships/image" Target="../media/image39.png"/><Relationship Id="rId5" Type="http://schemas.openxmlformats.org/officeDocument/2006/relationships/image" Target="../media/image360.pn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422901" y="2054277"/>
            <a:ext cx="548639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8</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Pre-Algebra</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10, Lesson 3</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Relations and Functions</a:t>
            </a:r>
            <a:br>
              <a:rPr lang="en-US" sz="36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129</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70701"/>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ADCE3FE7-B71C-E44E-AEBC-574B47F8940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603831"/>
            <a:ext cx="3126752" cy="364490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4300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65760"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129</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914400" y="1600200"/>
            <a:ext cx="1051560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800" dirty="0">
                <a:solidFill>
                  <a:schemeClr val="tx1"/>
                </a:solidFill>
                <a:latin typeface="Verdana"/>
                <a:ea typeface="Verdana"/>
                <a:cs typeface="Verdana"/>
                <a:sym typeface="Verdana"/>
              </a:rPr>
              <a:t>MA.8.F.1.1</a:t>
            </a:r>
          </a:p>
          <a:p>
            <a:pPr indent="0">
              <a:buNone/>
            </a:pPr>
            <a:r>
              <a:rPr lang="en-US" sz="2800" dirty="0">
                <a:latin typeface="Verdana" panose="020B0604030504040204" pitchFamily="34" charset="0"/>
                <a:ea typeface="Verdana" panose="020B0604030504040204" pitchFamily="34" charset="0"/>
                <a:cs typeface="Verdana" panose="020B0604030504040204" pitchFamily="34" charset="0"/>
              </a:rPr>
              <a:t>Given a set of ordered pairs, a table, a graph, or mapping diagram, determine whether the relationship is a function. Identify the domain and range of the relation. </a:t>
            </a: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65760" y="418867"/>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43000" y="129667"/>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129</a:t>
            </a:r>
            <a:endParaRPr i="1" dirty="0">
              <a:latin typeface="Calibri"/>
              <a:ea typeface="Calibri"/>
              <a:cs typeface="Calibri"/>
              <a:sym typeface="Calibri"/>
            </a:endParaRP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914400" y="159639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43000"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65760" y="30480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129</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914400" y="1547093"/>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3550" indent="-463550">
              <a:buFont typeface="Wingdings" pitchFamily="2" charset="2"/>
              <a:buChar char="q"/>
            </a:pPr>
            <a:r>
              <a:rPr lang="en-US" sz="2800" dirty="0">
                <a:latin typeface="Verdana" panose="020B0604030504040204" pitchFamily="34" charset="0"/>
                <a:ea typeface="Verdana" panose="020B0604030504040204" pitchFamily="34" charset="0"/>
                <a:cs typeface="Verdana" panose="020B0604030504040204" pitchFamily="34" charset="0"/>
              </a:rPr>
              <a:t> I can identify the domain and range of a relation. </a:t>
            </a:r>
          </a:p>
          <a:p>
            <a:pPr marL="463550" indent="-463550">
              <a:buFont typeface="Wingdings" pitchFamily="2" charset="2"/>
              <a:buChar char="q"/>
            </a:pPr>
            <a:endParaRPr lang="en-US" sz="2800" dirty="0">
              <a:latin typeface="Verdana" panose="020B0604030504040204" pitchFamily="34" charset="0"/>
              <a:ea typeface="Verdana" panose="020B0604030504040204" pitchFamily="34" charset="0"/>
              <a:cs typeface="Verdana" panose="020B0604030504040204" pitchFamily="34" charset="0"/>
            </a:endParaRPr>
          </a:p>
          <a:p>
            <a:pPr marL="463550" indent="-463550">
              <a:buFont typeface="Wingdings" pitchFamily="2" charset="2"/>
              <a:buChar char="q"/>
            </a:pPr>
            <a:r>
              <a:rPr lang="en-US" sz="2800" dirty="0">
                <a:latin typeface="Verdana" panose="020B0604030504040204" pitchFamily="34" charset="0"/>
                <a:ea typeface="Verdana" panose="020B0604030504040204" pitchFamily="34" charset="0"/>
                <a:cs typeface="Verdana" panose="020B0604030504040204" pitchFamily="34" charset="0"/>
              </a:rPr>
              <a:t> I can determine if a relation is a function.</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7368"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130</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10.3.1 Warm-Up: Square Me</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56616" y="197485"/>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130</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3" name="Rectangle 2">
                <a:extLst>
                  <a:ext uri="{FF2B5EF4-FFF2-40B4-BE49-F238E27FC236}">
                    <a16:creationId xmlns:a16="http://schemas.microsoft.com/office/drawing/2014/main" id="{287C5FEC-A86F-3B40-BDC7-FA3BB8FD6EBF}"/>
                  </a:ext>
                </a:extLst>
              </p:cNvPr>
              <p:cNvSpPr/>
              <p:nvPr/>
            </p:nvSpPr>
            <p:spPr>
              <a:xfrm>
                <a:off x="914400" y="1197765"/>
                <a:ext cx="10515600" cy="4477123"/>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rPr>
                  <a:t>Consider the list of numbers shown.</a:t>
                </a:r>
              </a:p>
              <a:p>
                <a:r>
                  <a:rPr lang="en-US" sz="2400" dirty="0">
                    <a:latin typeface="Verdana" panose="020B0604030504040204" pitchFamily="34" charset="0"/>
                    <a:ea typeface="Times New Roman" panose="02020603050405020304" pitchFamily="18" charset="0"/>
                  </a:rPr>
                  <a:t> </a:t>
                </a:r>
              </a:p>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ea typeface="Times New Roman" panose="02020603050405020304" pitchFamily="18" charset="0"/>
                        </a:rPr>
                        <m:t>1, −3, −0.5, 3, 2, </m:t>
                      </m:r>
                      <m:f>
                        <m:fPr>
                          <m:ctrlPr>
                            <a:rPr lang="en-US" sz="2400" i="1" dirty="0">
                              <a:latin typeface="Cambria Math" panose="02040503050406030204" pitchFamily="18" charset="0"/>
                            </a:rPr>
                          </m:ctrlPr>
                        </m:fPr>
                        <m:num>
                          <m:r>
                            <a:rPr lang="es-ES" sz="2400" i="1" dirty="0">
                              <a:latin typeface="Cambria Math" panose="02040503050406030204" pitchFamily="18" charset="0"/>
                            </a:rPr>
                            <m:t>1</m:t>
                          </m:r>
                        </m:num>
                        <m:den>
                          <m:r>
                            <a:rPr lang="es-ES" sz="2400" i="1" dirty="0">
                              <a:latin typeface="Cambria Math" panose="02040503050406030204" pitchFamily="18" charset="0"/>
                            </a:rPr>
                            <m:t>4</m:t>
                          </m:r>
                        </m:den>
                      </m:f>
                      <m:r>
                        <a:rPr lang="en-US" sz="2400" i="1" dirty="0">
                          <a:latin typeface="Cambria Math" panose="02040503050406030204" pitchFamily="18" charset="0"/>
                          <a:ea typeface="Times New Roman" panose="02020603050405020304" pitchFamily="18" charset="0"/>
                        </a:rPr>
                        <m:t>, 0.5 </m:t>
                      </m:r>
                    </m:oMath>
                  </m:oMathPara>
                </a14:m>
                <a:endParaRPr lang="en-US" sz="2400" dirty="0">
                  <a:latin typeface="Verdana" panose="020B0604030504040204" pitchFamily="34" charset="0"/>
                  <a:ea typeface="Times New Roman" panose="02020603050405020304" pitchFamily="18" charset="0"/>
                </a:endParaRPr>
              </a:p>
              <a:p>
                <a:r>
                  <a:rPr lang="en-US" sz="2400" dirty="0">
                    <a:latin typeface="Verdana" panose="020B0604030504040204" pitchFamily="34" charset="0"/>
                    <a:ea typeface="Times New Roman" panose="02020603050405020304" pitchFamily="18" charset="0"/>
                  </a:rPr>
                  <a:t> </a:t>
                </a:r>
              </a:p>
              <a:p>
                <a:pPr marL="457200" indent="-457200">
                  <a:buFont typeface="+mj-lt"/>
                  <a:buAutoNum type="arabicPeriod"/>
                </a:pPr>
                <a:r>
                  <a:rPr lang="en-US" sz="2400" dirty="0">
                    <a:latin typeface="Verdana" panose="020B0604030504040204" pitchFamily="34" charset="0"/>
                    <a:ea typeface="Times New Roman" panose="02020603050405020304" pitchFamily="18" charset="0"/>
                  </a:rPr>
                  <a:t>How many different values are in the list?</a:t>
                </a:r>
              </a:p>
              <a:p>
                <a:r>
                  <a:rPr lang="en-US" sz="2400" dirty="0">
                    <a:latin typeface="Verdana" panose="020B0604030504040204" pitchFamily="34" charset="0"/>
                    <a:ea typeface="Times New Roman" panose="02020603050405020304" pitchFamily="18" charset="0"/>
                  </a:rPr>
                  <a:t> </a:t>
                </a:r>
              </a:p>
              <a:p>
                <a:r>
                  <a:rPr lang="en-US" sz="2400" dirty="0">
                    <a:latin typeface="Verdana" panose="020B0604030504040204" pitchFamily="34" charset="0"/>
                    <a:ea typeface="Times New Roman" panose="02020603050405020304" pitchFamily="18" charset="0"/>
                  </a:rPr>
                  <a:t> </a:t>
                </a:r>
              </a:p>
              <a:p>
                <a:r>
                  <a:rPr lang="en-US" sz="2400" dirty="0">
                    <a:latin typeface="Verdana" panose="020B0604030504040204" pitchFamily="34" charset="0"/>
                    <a:ea typeface="Times New Roman" panose="02020603050405020304" pitchFamily="18" charset="0"/>
                  </a:rPr>
                  <a:t> </a:t>
                </a:r>
              </a:p>
              <a:p>
                <a:r>
                  <a:rPr lang="en-US" sz="2400" dirty="0">
                    <a:latin typeface="Verdana" panose="020B0604030504040204" pitchFamily="34" charset="0"/>
                    <a:ea typeface="Times New Roman" panose="02020603050405020304" pitchFamily="18" charset="0"/>
                  </a:rPr>
                  <a:t> </a:t>
                </a:r>
              </a:p>
              <a:p>
                <a:pPr marL="457200" indent="-457200">
                  <a:buFont typeface="+mj-lt"/>
                  <a:buAutoNum type="arabicPeriod" startAt="2"/>
                </a:pPr>
                <a:r>
                  <a:rPr lang="en-US" sz="2400" dirty="0">
                    <a:latin typeface="Verdana" panose="020B0604030504040204" pitchFamily="34" charset="0"/>
                    <a:ea typeface="Times New Roman" panose="02020603050405020304" pitchFamily="18" charset="0"/>
                  </a:rPr>
                  <a:t>Make a new list that contains the squares of the numbers in the original list.</a:t>
                </a:r>
              </a:p>
            </p:txBody>
          </p:sp>
        </mc:Choice>
        <mc:Fallback>
          <p:sp>
            <p:nvSpPr>
              <p:cNvPr id="3" name="Rectangle 2">
                <a:extLst>
                  <a:ext uri="{FF2B5EF4-FFF2-40B4-BE49-F238E27FC236}">
                    <a16:creationId xmlns:a16="http://schemas.microsoft.com/office/drawing/2014/main" id="{287C5FEC-A86F-3B40-BDC7-FA3BB8FD6EBF}"/>
                  </a:ext>
                </a:extLst>
              </p:cNvPr>
              <p:cNvSpPr>
                <a:spLocks noRot="1" noChangeAspect="1" noMove="1" noResize="1" noEditPoints="1" noAdjustHandles="1" noChangeArrowheads="1" noChangeShapeType="1" noTextEdit="1"/>
              </p:cNvSpPr>
              <p:nvPr/>
            </p:nvSpPr>
            <p:spPr>
              <a:xfrm>
                <a:off x="914400" y="1197765"/>
                <a:ext cx="10515600" cy="4477123"/>
              </a:xfrm>
              <a:prstGeom prst="rect">
                <a:avLst/>
              </a:prstGeom>
              <a:blipFill>
                <a:blip r:embed="rId5"/>
                <a:stretch>
                  <a:fillRect l="-870" t="-1088" r="-1623" b="-2041"/>
                </a:stretch>
              </a:blipFill>
            </p:spPr>
            <p:txBody>
              <a:bodyPr/>
              <a:lstStyle/>
              <a:p>
                <a:r>
                  <a:rPr lang="en-US">
                    <a:noFill/>
                  </a:rPr>
                  <a:t> </a:t>
                </a:r>
              </a:p>
            </p:txBody>
          </p:sp>
        </mc:Fallback>
      </mc:AlternateContent>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130</a:t>
            </a:r>
            <a:endParaRPr i="1" dirty="0">
              <a:latin typeface="Calibri"/>
              <a:ea typeface="Calibri"/>
              <a:cs typeface="Calibri"/>
              <a:sym typeface="Calibri"/>
            </a:endParaRPr>
          </a:p>
        </p:txBody>
      </p:sp>
      <p:sp>
        <p:nvSpPr>
          <p:cNvPr id="3" name="Rectangle 2">
            <a:extLst>
              <a:ext uri="{FF2B5EF4-FFF2-40B4-BE49-F238E27FC236}">
                <a16:creationId xmlns:a16="http://schemas.microsoft.com/office/drawing/2014/main" id="{287C5FEC-A86F-3B40-BDC7-FA3BB8FD6EBF}"/>
              </a:ext>
            </a:extLst>
          </p:cNvPr>
          <p:cNvSpPr/>
          <p:nvPr/>
        </p:nvSpPr>
        <p:spPr>
          <a:xfrm>
            <a:off x="914400" y="548640"/>
            <a:ext cx="10515600" cy="3046988"/>
          </a:xfrm>
          <a:prstGeom prst="rect">
            <a:avLst/>
          </a:prstGeom>
        </p:spPr>
        <p:txBody>
          <a:bodyPr wrap="square">
            <a:spAutoFit/>
          </a:bodyPr>
          <a:lstStyle/>
          <a:p>
            <a:pPr marL="457200" indent="-457200">
              <a:buFont typeface="+mj-lt"/>
              <a:buAutoNum type="arabicPeriod" startAt="3"/>
            </a:pPr>
            <a:r>
              <a:rPr lang="en-US" sz="2400" dirty="0">
                <a:latin typeface="Verdana" panose="020B0604030504040204" pitchFamily="34" charset="0"/>
                <a:ea typeface="Times New Roman" panose="02020603050405020304" pitchFamily="18" charset="0"/>
              </a:rPr>
              <a:t>How many different values are in the new list?</a:t>
            </a:r>
          </a:p>
          <a:p>
            <a:r>
              <a:rPr lang="en-US" sz="2400" dirty="0">
                <a:latin typeface="Verdana" panose="020B0604030504040204" pitchFamily="34" charset="0"/>
                <a:ea typeface="Times New Roman" panose="02020603050405020304" pitchFamily="18" charset="0"/>
              </a:rPr>
              <a:t> </a:t>
            </a:r>
          </a:p>
          <a:p>
            <a:r>
              <a:rPr lang="en-US" sz="2400" dirty="0">
                <a:latin typeface="Verdana" panose="020B0604030504040204" pitchFamily="34" charset="0"/>
                <a:ea typeface="Times New Roman" panose="02020603050405020304" pitchFamily="18" charset="0"/>
              </a:rPr>
              <a:t> </a:t>
            </a:r>
          </a:p>
          <a:p>
            <a:r>
              <a:rPr lang="en-US" sz="2400" dirty="0">
                <a:latin typeface="Verdana" panose="020B0604030504040204" pitchFamily="34" charset="0"/>
                <a:ea typeface="Times New Roman" panose="02020603050405020304" pitchFamily="18" charset="0"/>
              </a:rPr>
              <a:t> </a:t>
            </a:r>
          </a:p>
          <a:p>
            <a:endParaRPr lang="en-US" sz="2400" dirty="0">
              <a:latin typeface="Verdana" panose="020B0604030504040204" pitchFamily="34" charset="0"/>
              <a:ea typeface="Times New Roman" panose="02020603050405020304" pitchFamily="18" charset="0"/>
            </a:endParaRPr>
          </a:p>
          <a:p>
            <a:endParaRPr lang="en-US" sz="2400" dirty="0">
              <a:latin typeface="Verdana" panose="020B0604030504040204" pitchFamily="34" charset="0"/>
              <a:ea typeface="Times New Roman" panose="02020603050405020304" pitchFamily="18" charset="0"/>
            </a:endParaRPr>
          </a:p>
          <a:p>
            <a:pPr marL="457200" indent="-457200">
              <a:buFont typeface="+mj-lt"/>
              <a:buAutoNum type="arabicPeriod" startAt="4"/>
            </a:pPr>
            <a:r>
              <a:rPr lang="en-US" sz="2400" dirty="0">
                <a:latin typeface="Verdana" panose="020B0604030504040204" pitchFamily="34" charset="0"/>
                <a:ea typeface="Times New Roman" panose="02020603050405020304" pitchFamily="18" charset="0"/>
              </a:rPr>
              <a:t>Compare the number of values on the original list to the number of values on the new list. What do you notice?</a:t>
            </a:r>
          </a:p>
        </p:txBody>
      </p:sp>
    </p:spTree>
    <p:extLst>
      <p:ext uri="{BB962C8B-B14F-4D97-AF65-F5344CB8AC3E}">
        <p14:creationId xmlns:p14="http://schemas.microsoft.com/office/powerpoint/2010/main" val="2102335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70248" y="2766150"/>
            <a:ext cx="4396930" cy="1325700"/>
          </a:xfrm>
          <a:prstGeom prst="rect">
            <a:avLst/>
          </a:prstGeom>
          <a:noFill/>
          <a:ln>
            <a:noFill/>
          </a:ln>
        </p:spPr>
        <p:txBody>
          <a:bodyPr spcFirstLastPara="1" wrap="square" lIns="91425" tIns="45700" rIns="91425" bIns="45700" anchor="ctr" anchorCtr="0">
            <a:noAutofit/>
          </a:bodyPr>
          <a:lstStyle/>
          <a:p>
            <a:pPr algn="ctr">
              <a:buClr>
                <a:schemeClr val="lt1"/>
              </a:buClr>
              <a:buSzPts val="4800"/>
            </a:pPr>
            <a:r>
              <a:rPr lang="en-US" sz="4400" b="1" dirty="0">
                <a:solidFill>
                  <a:srgbClr val="33BEA6"/>
                </a:solidFill>
                <a:latin typeface="Verdana"/>
                <a:ea typeface="Verdana"/>
                <a:cs typeface="Verdana"/>
                <a:sym typeface="Verdana"/>
              </a:rPr>
              <a:t>Collaboration</a:t>
            </a:r>
            <a:endParaRPr sz="4000" b="1" dirty="0">
              <a:solidFill>
                <a:srgbClr val="33BEA6"/>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B50DF525-7D96-0A48-BC23-9FB6AABE67A9}"/>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130</a:t>
            </a:r>
            <a:endParaRPr i="1" dirty="0">
              <a:latin typeface="Calibri"/>
              <a:ea typeface="Calibri"/>
              <a:cs typeface="Calibri"/>
              <a:sym typeface="Calibri"/>
            </a:endParaRPr>
          </a:p>
        </p:txBody>
      </p:sp>
      <p:pic>
        <p:nvPicPr>
          <p:cNvPr id="7" name="image4.png">
            <a:extLst>
              <a:ext uri="{FF2B5EF4-FFF2-40B4-BE49-F238E27FC236}">
                <a16:creationId xmlns:a16="http://schemas.microsoft.com/office/drawing/2014/main" id="{6A2AE815-B31C-B84E-9403-BDF793538602}"/>
              </a:ext>
            </a:extLst>
          </p:cNvPr>
          <p:cNvPicPr/>
          <p:nvPr/>
        </p:nvPicPr>
        <p:blipFill>
          <a:blip r:embed="rId4"/>
          <a:srcRect/>
          <a:stretch>
            <a:fillRect/>
          </a:stretch>
        </p:blipFill>
        <p:spPr>
          <a:xfrm>
            <a:off x="3054096" y="2782479"/>
            <a:ext cx="1152143" cy="1152143"/>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0068580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60325"/>
            <a:ext cx="1069238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10.3.2 Collaboration: Exploring Relationships</a:t>
            </a:r>
          </a:p>
        </p:txBody>
      </p:sp>
      <p:sp>
        <p:nvSpPr>
          <p:cNvPr id="10" name="TextBox 9">
            <a:extLst>
              <a:ext uri="{FF2B5EF4-FFF2-40B4-BE49-F238E27FC236}">
                <a16:creationId xmlns:a16="http://schemas.microsoft.com/office/drawing/2014/main" id="{0AB6A3A1-5A0D-C84F-AC89-57E6782F43E5}"/>
              </a:ext>
            </a:extLst>
          </p:cNvPr>
          <p:cNvSpPr txBox="1"/>
          <p:nvPr/>
        </p:nvSpPr>
        <p:spPr>
          <a:xfrm>
            <a:off x="914400" y="1386025"/>
            <a:ext cx="10515600" cy="1446550"/>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The independent and dependent variables for several relationships are described. Work with your partner to come up with examples of the domain and range for each relationship. Draw arrows from the elements in the domain to the corresponding elements in the range.</a:t>
            </a:r>
          </a:p>
        </p:txBody>
      </p:sp>
      <p:sp>
        <p:nvSpPr>
          <p:cNvPr id="11" name="Google Shape;282;g104476d1465_1_17">
            <a:extLst>
              <a:ext uri="{FF2B5EF4-FFF2-40B4-BE49-F238E27FC236}">
                <a16:creationId xmlns:a16="http://schemas.microsoft.com/office/drawing/2014/main" id="{3BDEDD68-7AB9-314A-BB80-0D600DD8DB39}"/>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130</a:t>
            </a:r>
            <a:endParaRPr i="1" dirty="0">
              <a:latin typeface="Calibri"/>
              <a:ea typeface="Calibri"/>
              <a:cs typeface="Calibri"/>
              <a:sym typeface="Calibri"/>
            </a:endParaRPr>
          </a:p>
        </p:txBody>
      </p:sp>
      <p:pic>
        <p:nvPicPr>
          <p:cNvPr id="12" name="image4.png">
            <a:extLst>
              <a:ext uri="{FF2B5EF4-FFF2-40B4-BE49-F238E27FC236}">
                <a16:creationId xmlns:a16="http://schemas.microsoft.com/office/drawing/2014/main" id="{0F2EF3B9-7E8B-A948-8132-B9FBDD8825CE}"/>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56616" y="353136"/>
            <a:ext cx="749809" cy="749809"/>
          </a:xfrm>
          <a:prstGeom prst="rect">
            <a:avLst/>
          </a:prstGeom>
          <a:ln/>
        </p:spPr>
      </p:pic>
      <p:graphicFrame>
        <p:nvGraphicFramePr>
          <p:cNvPr id="2" name="Table 1">
            <a:extLst>
              <a:ext uri="{FF2B5EF4-FFF2-40B4-BE49-F238E27FC236}">
                <a16:creationId xmlns:a16="http://schemas.microsoft.com/office/drawing/2014/main" id="{848389BB-AD1C-824F-AD1E-F37EFDA9D459}"/>
              </a:ext>
            </a:extLst>
          </p:cNvPr>
          <p:cNvGraphicFramePr>
            <a:graphicFrameLocks noGrp="1"/>
          </p:cNvGraphicFramePr>
          <p:nvPr>
            <p:extLst>
              <p:ext uri="{D42A27DB-BD31-4B8C-83A1-F6EECF244321}">
                <p14:modId xmlns:p14="http://schemas.microsoft.com/office/powerpoint/2010/main" val="811317261"/>
              </p:ext>
            </p:extLst>
          </p:nvPr>
        </p:nvGraphicFramePr>
        <p:xfrm>
          <a:off x="3107245" y="3089650"/>
          <a:ext cx="6129909" cy="3502360"/>
        </p:xfrm>
        <a:graphic>
          <a:graphicData uri="http://schemas.openxmlformats.org/drawingml/2006/table">
            <a:tbl>
              <a:tblPr firstRow="1" firstCol="1" bandRow="1">
                <a:tableStyleId>{A91F0D33-8C57-4600-99A7-42BC86742BE1}</a:tableStyleId>
              </a:tblPr>
              <a:tblGrid>
                <a:gridCol w="3079263">
                  <a:extLst>
                    <a:ext uri="{9D8B030D-6E8A-4147-A177-3AD203B41FA5}">
                      <a16:colId xmlns:a16="http://schemas.microsoft.com/office/drawing/2014/main" val="1941976083"/>
                    </a:ext>
                  </a:extLst>
                </a:gridCol>
                <a:gridCol w="3050646">
                  <a:extLst>
                    <a:ext uri="{9D8B030D-6E8A-4147-A177-3AD203B41FA5}">
                      <a16:colId xmlns:a16="http://schemas.microsoft.com/office/drawing/2014/main" val="3616044886"/>
                    </a:ext>
                  </a:extLst>
                </a:gridCol>
              </a:tblGrid>
              <a:tr h="315012">
                <a:tc gridSpan="2">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Relationship A</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82419" marR="82419" marT="41209" marB="412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hMerge="1">
                  <a:txBody>
                    <a:bodyPr/>
                    <a:lstStyle/>
                    <a:p>
                      <a:endParaRPr lang="en-CO"/>
                    </a:p>
                  </a:txBody>
                  <a:tcPr/>
                </a:tc>
                <a:extLst>
                  <a:ext uri="{0D108BD9-81ED-4DB2-BD59-A6C34878D82A}">
                    <a16:rowId xmlns:a16="http://schemas.microsoft.com/office/drawing/2014/main" val="1703591530"/>
                  </a:ext>
                </a:extLst>
              </a:tr>
              <a:tr h="843896">
                <a:tc gridSpan="2">
                  <a:txBody>
                    <a:bodyPr/>
                    <a:lstStyle/>
                    <a:p>
                      <a:pPr marL="0" marR="0">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82419" marR="82419" marT="41209" marB="412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CO"/>
                    </a:p>
                  </a:txBody>
                  <a:tcPr/>
                </a:tc>
                <a:extLst>
                  <a:ext uri="{0D108BD9-81ED-4DB2-BD59-A6C34878D82A}">
                    <a16:rowId xmlns:a16="http://schemas.microsoft.com/office/drawing/2014/main" val="58216941"/>
                  </a:ext>
                </a:extLst>
              </a:tr>
              <a:tr h="238734">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Domain</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814" marR="6181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Range</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814" marR="6181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602622092"/>
                  </a:ext>
                </a:extLst>
              </a:tr>
              <a:tr h="2088366">
                <a:tc>
                  <a:txBody>
                    <a:bodyPr/>
                    <a:lstStyle/>
                    <a:p>
                      <a:pPr marL="0" marR="0" algn="ctr">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61814" marR="6181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61814" marR="6181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2769339"/>
                  </a:ext>
                </a:extLst>
              </a:tr>
            </a:tbl>
          </a:graphicData>
        </a:graphic>
      </p:graphicFrame>
      <p:graphicFrame>
        <p:nvGraphicFramePr>
          <p:cNvPr id="4" name="Table 3">
            <a:extLst>
              <a:ext uri="{FF2B5EF4-FFF2-40B4-BE49-F238E27FC236}">
                <a16:creationId xmlns:a16="http://schemas.microsoft.com/office/drawing/2014/main" id="{72FFAC2E-6553-9A4E-94F0-E2D33842F5F6}"/>
              </a:ext>
            </a:extLst>
          </p:cNvPr>
          <p:cNvGraphicFramePr>
            <a:graphicFrameLocks noGrp="1"/>
          </p:cNvGraphicFramePr>
          <p:nvPr>
            <p:extLst>
              <p:ext uri="{D42A27DB-BD31-4B8C-83A1-F6EECF244321}">
                <p14:modId xmlns:p14="http://schemas.microsoft.com/office/powerpoint/2010/main" val="3945684880"/>
              </p:ext>
            </p:extLst>
          </p:nvPr>
        </p:nvGraphicFramePr>
        <p:xfrm>
          <a:off x="3510882" y="3566492"/>
          <a:ext cx="5346384" cy="548640"/>
        </p:xfrm>
        <a:graphic>
          <a:graphicData uri="http://schemas.openxmlformats.org/drawingml/2006/table">
            <a:tbl>
              <a:tblPr firstRow="1" firstCol="1" bandRow="1">
                <a:tableStyleId>{A91F0D33-8C57-4600-99A7-42BC86742BE1}</a:tableStyleId>
              </a:tblPr>
              <a:tblGrid>
                <a:gridCol w="2673192">
                  <a:extLst>
                    <a:ext uri="{9D8B030D-6E8A-4147-A177-3AD203B41FA5}">
                      <a16:colId xmlns:a16="http://schemas.microsoft.com/office/drawing/2014/main" val="1702900833"/>
                    </a:ext>
                  </a:extLst>
                </a:gridCol>
                <a:gridCol w="2673192">
                  <a:extLst>
                    <a:ext uri="{9D8B030D-6E8A-4147-A177-3AD203B41FA5}">
                      <a16:colId xmlns:a16="http://schemas.microsoft.com/office/drawing/2014/main" val="417506566"/>
                    </a:ext>
                  </a:extLst>
                </a:gridCol>
              </a:tblGrid>
              <a:tr h="0">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Independent Variable</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Student</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3953508"/>
                  </a:ext>
                </a:extLst>
              </a:tr>
              <a:tr h="274320">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Dependent Variable</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Hair color</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0441971"/>
                  </a:ext>
                </a:extLst>
              </a:tr>
            </a:tbl>
          </a:graphicData>
        </a:graphic>
      </p:graphicFrame>
    </p:spTree>
    <p:extLst>
      <p:ext uri="{BB962C8B-B14F-4D97-AF65-F5344CB8AC3E}">
        <p14:creationId xmlns:p14="http://schemas.microsoft.com/office/powerpoint/2010/main" val="3840359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BCC9BA22-8728-BB40-B10C-AF20C0214D1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130</a:t>
            </a:r>
            <a:endParaRPr i="1" dirty="0">
              <a:latin typeface="Calibri"/>
              <a:ea typeface="Calibri"/>
              <a:cs typeface="Calibri"/>
              <a:sym typeface="Calibri"/>
            </a:endParaRPr>
          </a:p>
        </p:txBody>
      </p:sp>
      <p:graphicFrame>
        <p:nvGraphicFramePr>
          <p:cNvPr id="7" name="Table 6">
            <a:extLst>
              <a:ext uri="{FF2B5EF4-FFF2-40B4-BE49-F238E27FC236}">
                <a16:creationId xmlns:a16="http://schemas.microsoft.com/office/drawing/2014/main" id="{BB2F4252-FD6B-D24E-9A25-17505E5DFF27}"/>
              </a:ext>
            </a:extLst>
          </p:cNvPr>
          <p:cNvGraphicFramePr>
            <a:graphicFrameLocks noGrp="1"/>
          </p:cNvGraphicFramePr>
          <p:nvPr>
            <p:extLst>
              <p:ext uri="{D42A27DB-BD31-4B8C-83A1-F6EECF244321}">
                <p14:modId xmlns:p14="http://schemas.microsoft.com/office/powerpoint/2010/main" val="3371110315"/>
              </p:ext>
            </p:extLst>
          </p:nvPr>
        </p:nvGraphicFramePr>
        <p:xfrm>
          <a:off x="1294410" y="864726"/>
          <a:ext cx="9307482" cy="4811679"/>
        </p:xfrm>
        <a:graphic>
          <a:graphicData uri="http://schemas.openxmlformats.org/drawingml/2006/table">
            <a:tbl>
              <a:tblPr firstRow="1" firstCol="1" bandRow="1">
                <a:tableStyleId>{A91F0D33-8C57-4600-99A7-42BC86742BE1}</a:tableStyleId>
              </a:tblPr>
              <a:tblGrid>
                <a:gridCol w="4675466">
                  <a:extLst>
                    <a:ext uri="{9D8B030D-6E8A-4147-A177-3AD203B41FA5}">
                      <a16:colId xmlns:a16="http://schemas.microsoft.com/office/drawing/2014/main" val="1941976083"/>
                    </a:ext>
                  </a:extLst>
                </a:gridCol>
                <a:gridCol w="4632016">
                  <a:extLst>
                    <a:ext uri="{9D8B030D-6E8A-4147-A177-3AD203B41FA5}">
                      <a16:colId xmlns:a16="http://schemas.microsoft.com/office/drawing/2014/main" val="3616044886"/>
                    </a:ext>
                  </a:extLst>
                </a:gridCol>
              </a:tblGrid>
              <a:tr h="473646">
                <a:tc gridSpan="2">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Relationship B</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108552" marR="108552" marT="54276" marB="542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hMerge="1">
                  <a:txBody>
                    <a:bodyPr/>
                    <a:lstStyle/>
                    <a:p>
                      <a:endParaRPr lang="en-CO"/>
                    </a:p>
                  </a:txBody>
                  <a:tcPr/>
                </a:tc>
                <a:extLst>
                  <a:ext uri="{0D108BD9-81ED-4DB2-BD59-A6C34878D82A}">
                    <a16:rowId xmlns:a16="http://schemas.microsoft.com/office/drawing/2014/main" val="1703591530"/>
                  </a:ext>
                </a:extLst>
              </a:tr>
              <a:tr h="1147957">
                <a:tc gridSpan="2">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108552" marR="108552" marT="54276" marB="542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CO"/>
                    </a:p>
                  </a:txBody>
                  <a:tcPr/>
                </a:tc>
                <a:extLst>
                  <a:ext uri="{0D108BD9-81ED-4DB2-BD59-A6C34878D82A}">
                    <a16:rowId xmlns:a16="http://schemas.microsoft.com/office/drawing/2014/main" val="58216941"/>
                  </a:ext>
                </a:extLst>
              </a:tr>
              <a:tr h="34926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Domain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73382" marR="733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Range</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73382" marR="733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602622092"/>
                  </a:ext>
                </a:extLst>
              </a:tr>
              <a:tr h="2840816">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73382" marR="733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73382" marR="733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2769339"/>
                  </a:ext>
                </a:extLst>
              </a:tr>
            </a:tbl>
          </a:graphicData>
        </a:graphic>
      </p:graphicFrame>
      <p:graphicFrame>
        <p:nvGraphicFramePr>
          <p:cNvPr id="9" name="Table 8">
            <a:extLst>
              <a:ext uri="{FF2B5EF4-FFF2-40B4-BE49-F238E27FC236}">
                <a16:creationId xmlns:a16="http://schemas.microsoft.com/office/drawing/2014/main" id="{22EA6C48-386B-4641-97E4-6DF247A2CE73}"/>
              </a:ext>
            </a:extLst>
          </p:cNvPr>
          <p:cNvGraphicFramePr>
            <a:graphicFrameLocks noGrp="1"/>
          </p:cNvGraphicFramePr>
          <p:nvPr>
            <p:extLst>
              <p:ext uri="{D42A27DB-BD31-4B8C-83A1-F6EECF244321}">
                <p14:modId xmlns:p14="http://schemas.microsoft.com/office/powerpoint/2010/main" val="3455776326"/>
              </p:ext>
            </p:extLst>
          </p:nvPr>
        </p:nvGraphicFramePr>
        <p:xfrm>
          <a:off x="2405213" y="1463509"/>
          <a:ext cx="7109626" cy="935256"/>
        </p:xfrm>
        <a:graphic>
          <a:graphicData uri="http://schemas.openxmlformats.org/drawingml/2006/table">
            <a:tbl>
              <a:tblPr firstRow="1" firstCol="1" bandRow="1">
                <a:tableStyleId>{A91F0D33-8C57-4600-99A7-42BC86742BE1}</a:tableStyleId>
              </a:tblPr>
              <a:tblGrid>
                <a:gridCol w="3554813">
                  <a:extLst>
                    <a:ext uri="{9D8B030D-6E8A-4147-A177-3AD203B41FA5}">
                      <a16:colId xmlns:a16="http://schemas.microsoft.com/office/drawing/2014/main" val="1702900833"/>
                    </a:ext>
                  </a:extLst>
                </a:gridCol>
                <a:gridCol w="3554813">
                  <a:extLst>
                    <a:ext uri="{9D8B030D-6E8A-4147-A177-3AD203B41FA5}">
                      <a16:colId xmlns:a16="http://schemas.microsoft.com/office/drawing/2014/main" val="417506566"/>
                    </a:ext>
                  </a:extLst>
                </a:gridCol>
              </a:tblGrid>
              <a:tr h="325656">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Independent Variable</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81414" marR="8141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Month</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81414" marR="8141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3953508"/>
                  </a:ext>
                </a:extLst>
              </a:tr>
              <a:tr h="325656">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Dependent Variable</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81414" marR="8141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Number of days in the month</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81414" marR="8141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0441971"/>
                  </a:ext>
                </a:extLst>
              </a:tr>
            </a:tbl>
          </a:graphicData>
        </a:graphic>
      </p:graphicFrame>
    </p:spTree>
    <p:extLst>
      <p:ext uri="{BB962C8B-B14F-4D97-AF65-F5344CB8AC3E}">
        <p14:creationId xmlns:p14="http://schemas.microsoft.com/office/powerpoint/2010/main" val="811292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BCC9BA22-8728-BB40-B10C-AF20C0214D1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131</a:t>
            </a:r>
            <a:endParaRPr i="1" dirty="0">
              <a:latin typeface="Calibri"/>
              <a:ea typeface="Calibri"/>
              <a:cs typeface="Calibri"/>
              <a:sym typeface="Calibri"/>
            </a:endParaRPr>
          </a:p>
        </p:txBody>
      </p:sp>
      <p:graphicFrame>
        <p:nvGraphicFramePr>
          <p:cNvPr id="7" name="Table 6">
            <a:extLst>
              <a:ext uri="{FF2B5EF4-FFF2-40B4-BE49-F238E27FC236}">
                <a16:creationId xmlns:a16="http://schemas.microsoft.com/office/drawing/2014/main" id="{BB2F4252-FD6B-D24E-9A25-17505E5DFF27}"/>
              </a:ext>
            </a:extLst>
          </p:cNvPr>
          <p:cNvGraphicFramePr>
            <a:graphicFrameLocks noGrp="1"/>
          </p:cNvGraphicFramePr>
          <p:nvPr>
            <p:extLst>
              <p:ext uri="{D42A27DB-BD31-4B8C-83A1-F6EECF244321}">
                <p14:modId xmlns:p14="http://schemas.microsoft.com/office/powerpoint/2010/main" val="1817197024"/>
              </p:ext>
            </p:extLst>
          </p:nvPr>
        </p:nvGraphicFramePr>
        <p:xfrm>
          <a:off x="1294412" y="678775"/>
          <a:ext cx="8642464" cy="5500449"/>
        </p:xfrm>
        <a:graphic>
          <a:graphicData uri="http://schemas.openxmlformats.org/drawingml/2006/table">
            <a:tbl>
              <a:tblPr firstRow="1" firstCol="1" bandRow="1">
                <a:tableStyleId>{A91F0D33-8C57-4600-99A7-42BC86742BE1}</a:tableStyleId>
              </a:tblPr>
              <a:tblGrid>
                <a:gridCol w="4341405">
                  <a:extLst>
                    <a:ext uri="{9D8B030D-6E8A-4147-A177-3AD203B41FA5}">
                      <a16:colId xmlns:a16="http://schemas.microsoft.com/office/drawing/2014/main" val="1941976083"/>
                    </a:ext>
                  </a:extLst>
                </a:gridCol>
                <a:gridCol w="4301059">
                  <a:extLst>
                    <a:ext uri="{9D8B030D-6E8A-4147-A177-3AD203B41FA5}">
                      <a16:colId xmlns:a16="http://schemas.microsoft.com/office/drawing/2014/main" val="3616044886"/>
                    </a:ext>
                  </a:extLst>
                </a:gridCol>
              </a:tblGrid>
              <a:tr h="525297">
                <a:tc gridSpan="2">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Relationship C</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108552" marR="108552" marT="54276" marB="542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hMerge="1">
                  <a:txBody>
                    <a:bodyPr/>
                    <a:lstStyle/>
                    <a:p>
                      <a:endParaRPr lang="en-CO"/>
                    </a:p>
                  </a:txBody>
                  <a:tcPr/>
                </a:tc>
                <a:extLst>
                  <a:ext uri="{0D108BD9-81ED-4DB2-BD59-A6C34878D82A}">
                    <a16:rowId xmlns:a16="http://schemas.microsoft.com/office/drawing/2014/main" val="1703591530"/>
                  </a:ext>
                </a:extLst>
              </a:tr>
              <a:tr h="1321877">
                <a:tc gridSpan="2">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108552" marR="108552" marT="54276" marB="542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CO"/>
                    </a:p>
                  </a:txBody>
                  <a:tcPr/>
                </a:tc>
                <a:extLst>
                  <a:ext uri="{0D108BD9-81ED-4DB2-BD59-A6C34878D82A}">
                    <a16:rowId xmlns:a16="http://schemas.microsoft.com/office/drawing/2014/main" val="58216941"/>
                  </a:ext>
                </a:extLst>
              </a:tr>
              <a:tr h="38206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Domain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73382" marR="733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Range</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73382" marR="733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602622092"/>
                  </a:ext>
                </a:extLst>
              </a:tr>
              <a:tr h="327121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73382" marR="733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73382" marR="733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2769339"/>
                  </a:ext>
                </a:extLst>
              </a:tr>
            </a:tbl>
          </a:graphicData>
        </a:graphic>
      </p:graphicFrame>
      <p:graphicFrame>
        <p:nvGraphicFramePr>
          <p:cNvPr id="9" name="Table 8">
            <a:extLst>
              <a:ext uri="{FF2B5EF4-FFF2-40B4-BE49-F238E27FC236}">
                <a16:creationId xmlns:a16="http://schemas.microsoft.com/office/drawing/2014/main" id="{22EA6C48-386B-4641-97E4-6DF247A2CE73}"/>
              </a:ext>
            </a:extLst>
          </p:cNvPr>
          <p:cNvGraphicFramePr>
            <a:graphicFrameLocks noGrp="1"/>
          </p:cNvGraphicFramePr>
          <p:nvPr>
            <p:extLst>
              <p:ext uri="{D42A27DB-BD31-4B8C-83A1-F6EECF244321}">
                <p14:modId xmlns:p14="http://schemas.microsoft.com/office/powerpoint/2010/main" val="685153278"/>
              </p:ext>
            </p:extLst>
          </p:nvPr>
        </p:nvGraphicFramePr>
        <p:xfrm>
          <a:off x="1994923" y="1546637"/>
          <a:ext cx="7265192" cy="651312"/>
        </p:xfrm>
        <a:graphic>
          <a:graphicData uri="http://schemas.openxmlformats.org/drawingml/2006/table">
            <a:tbl>
              <a:tblPr firstRow="1" firstCol="1" bandRow="1">
                <a:tableStyleId>{A91F0D33-8C57-4600-99A7-42BC86742BE1}</a:tableStyleId>
              </a:tblPr>
              <a:tblGrid>
                <a:gridCol w="3632596">
                  <a:extLst>
                    <a:ext uri="{9D8B030D-6E8A-4147-A177-3AD203B41FA5}">
                      <a16:colId xmlns:a16="http://schemas.microsoft.com/office/drawing/2014/main" val="1702900833"/>
                    </a:ext>
                  </a:extLst>
                </a:gridCol>
                <a:gridCol w="3632596">
                  <a:extLst>
                    <a:ext uri="{9D8B030D-6E8A-4147-A177-3AD203B41FA5}">
                      <a16:colId xmlns:a16="http://schemas.microsoft.com/office/drawing/2014/main" val="417506566"/>
                    </a:ext>
                  </a:extLst>
                </a:gridCol>
              </a:tblGrid>
              <a:tr h="325656">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Independent Variable</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81414" marR="8141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Length of a square</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81414" marR="8141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3953508"/>
                  </a:ext>
                </a:extLst>
              </a:tr>
              <a:tr h="325656">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Dependent Variable</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81414" marR="8141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Area of the same square</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81414" marR="8141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0441971"/>
                  </a:ext>
                </a:extLst>
              </a:tr>
            </a:tbl>
          </a:graphicData>
        </a:graphic>
      </p:graphicFrame>
    </p:spTree>
    <p:extLst>
      <p:ext uri="{BB962C8B-B14F-4D97-AF65-F5344CB8AC3E}">
        <p14:creationId xmlns:p14="http://schemas.microsoft.com/office/powerpoint/2010/main" val="38253676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BCC9BA22-8728-BB40-B10C-AF20C0214D1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131</a:t>
            </a:r>
            <a:endParaRPr i="1" dirty="0">
              <a:latin typeface="Calibri"/>
              <a:ea typeface="Calibri"/>
              <a:cs typeface="Calibri"/>
              <a:sym typeface="Calibri"/>
            </a:endParaRPr>
          </a:p>
        </p:txBody>
      </p:sp>
      <p:graphicFrame>
        <p:nvGraphicFramePr>
          <p:cNvPr id="7" name="Table 6">
            <a:extLst>
              <a:ext uri="{FF2B5EF4-FFF2-40B4-BE49-F238E27FC236}">
                <a16:creationId xmlns:a16="http://schemas.microsoft.com/office/drawing/2014/main" id="{BB2F4252-FD6B-D24E-9A25-17505E5DFF27}"/>
              </a:ext>
            </a:extLst>
          </p:cNvPr>
          <p:cNvGraphicFramePr>
            <a:graphicFrameLocks noGrp="1"/>
          </p:cNvGraphicFramePr>
          <p:nvPr>
            <p:extLst>
              <p:ext uri="{D42A27DB-BD31-4B8C-83A1-F6EECF244321}">
                <p14:modId xmlns:p14="http://schemas.microsoft.com/office/powerpoint/2010/main" val="2167614313"/>
              </p:ext>
            </p:extLst>
          </p:nvPr>
        </p:nvGraphicFramePr>
        <p:xfrm>
          <a:off x="1395343" y="674721"/>
          <a:ext cx="8963098" cy="5165968"/>
        </p:xfrm>
        <a:graphic>
          <a:graphicData uri="http://schemas.openxmlformats.org/drawingml/2006/table">
            <a:tbl>
              <a:tblPr firstRow="1" firstCol="1" bandRow="1">
                <a:tableStyleId>{A91F0D33-8C57-4600-99A7-42BC86742BE1}</a:tableStyleId>
              </a:tblPr>
              <a:tblGrid>
                <a:gridCol w="4502471">
                  <a:extLst>
                    <a:ext uri="{9D8B030D-6E8A-4147-A177-3AD203B41FA5}">
                      <a16:colId xmlns:a16="http://schemas.microsoft.com/office/drawing/2014/main" val="1941976083"/>
                    </a:ext>
                  </a:extLst>
                </a:gridCol>
                <a:gridCol w="4460627">
                  <a:extLst>
                    <a:ext uri="{9D8B030D-6E8A-4147-A177-3AD203B41FA5}">
                      <a16:colId xmlns:a16="http://schemas.microsoft.com/office/drawing/2014/main" val="3616044886"/>
                    </a:ext>
                  </a:extLst>
                </a:gridCol>
              </a:tblGrid>
              <a:tr h="508521">
                <a:tc gridSpan="2">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Relationship D</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108552" marR="108552" marT="54276" marB="542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hMerge="1">
                  <a:txBody>
                    <a:bodyPr/>
                    <a:lstStyle/>
                    <a:p>
                      <a:endParaRPr lang="en-CO"/>
                    </a:p>
                  </a:txBody>
                  <a:tcPr/>
                </a:tc>
                <a:extLst>
                  <a:ext uri="{0D108BD9-81ED-4DB2-BD59-A6C34878D82A}">
                    <a16:rowId xmlns:a16="http://schemas.microsoft.com/office/drawing/2014/main" val="1703591530"/>
                  </a:ext>
                </a:extLst>
              </a:tr>
              <a:tr h="1232482">
                <a:tc gridSpan="2">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108552" marR="108552" marT="54276" marB="542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CO"/>
                    </a:p>
                  </a:txBody>
                  <a:tcPr/>
                </a:tc>
                <a:extLst>
                  <a:ext uri="{0D108BD9-81ED-4DB2-BD59-A6C34878D82A}">
                    <a16:rowId xmlns:a16="http://schemas.microsoft.com/office/drawing/2014/main" val="58216941"/>
                  </a:ext>
                </a:extLst>
              </a:tr>
              <a:tr h="374977">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Domain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73382" marR="733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Range</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73382" marR="733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602622092"/>
                  </a:ext>
                </a:extLst>
              </a:tr>
              <a:tr h="3049988">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73382" marR="733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73382" marR="733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2769339"/>
                  </a:ext>
                </a:extLst>
              </a:tr>
            </a:tbl>
          </a:graphicData>
        </a:graphic>
      </p:graphicFrame>
      <p:graphicFrame>
        <p:nvGraphicFramePr>
          <p:cNvPr id="9" name="Table 8">
            <a:extLst>
              <a:ext uri="{FF2B5EF4-FFF2-40B4-BE49-F238E27FC236}">
                <a16:creationId xmlns:a16="http://schemas.microsoft.com/office/drawing/2014/main" id="{22EA6C48-386B-4641-97E4-6DF247A2CE73}"/>
              </a:ext>
            </a:extLst>
          </p:cNvPr>
          <p:cNvGraphicFramePr>
            <a:graphicFrameLocks noGrp="1"/>
          </p:cNvGraphicFramePr>
          <p:nvPr>
            <p:extLst>
              <p:ext uri="{D42A27DB-BD31-4B8C-83A1-F6EECF244321}">
                <p14:modId xmlns:p14="http://schemas.microsoft.com/office/powerpoint/2010/main" val="2773408930"/>
              </p:ext>
            </p:extLst>
          </p:nvPr>
        </p:nvGraphicFramePr>
        <p:xfrm>
          <a:off x="2411143" y="1297255"/>
          <a:ext cx="6978998" cy="935256"/>
        </p:xfrm>
        <a:graphic>
          <a:graphicData uri="http://schemas.openxmlformats.org/drawingml/2006/table">
            <a:tbl>
              <a:tblPr firstRow="1" firstCol="1" bandRow="1">
                <a:tableStyleId>{A91F0D33-8C57-4600-99A7-42BC86742BE1}</a:tableStyleId>
              </a:tblPr>
              <a:tblGrid>
                <a:gridCol w="3489499">
                  <a:extLst>
                    <a:ext uri="{9D8B030D-6E8A-4147-A177-3AD203B41FA5}">
                      <a16:colId xmlns:a16="http://schemas.microsoft.com/office/drawing/2014/main" val="1702900833"/>
                    </a:ext>
                  </a:extLst>
                </a:gridCol>
                <a:gridCol w="3489499">
                  <a:extLst>
                    <a:ext uri="{9D8B030D-6E8A-4147-A177-3AD203B41FA5}">
                      <a16:colId xmlns:a16="http://schemas.microsoft.com/office/drawing/2014/main" val="417506566"/>
                    </a:ext>
                  </a:extLst>
                </a:gridCol>
              </a:tblGrid>
              <a:tr h="325656">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Independent Variable</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81414" marR="8141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Length of a rectangle</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81414" marR="8141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3953508"/>
                  </a:ext>
                </a:extLst>
              </a:tr>
              <a:tr h="313831">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Dependent Variable</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81414" marR="8141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Area of the same rectangle</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81414" marR="8141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0441971"/>
                  </a:ext>
                </a:extLst>
              </a:tr>
            </a:tbl>
          </a:graphicData>
        </a:graphic>
      </p:graphicFrame>
    </p:spTree>
    <p:extLst>
      <p:ext uri="{BB962C8B-B14F-4D97-AF65-F5344CB8AC3E}">
        <p14:creationId xmlns:p14="http://schemas.microsoft.com/office/powerpoint/2010/main" val="26516081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BCC9BA22-8728-BB40-B10C-AF20C0214D1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131</a:t>
            </a:r>
            <a:endParaRPr i="1" dirty="0">
              <a:latin typeface="Calibri"/>
              <a:ea typeface="Calibri"/>
              <a:cs typeface="Calibri"/>
              <a:sym typeface="Calibri"/>
            </a:endParaRPr>
          </a:p>
        </p:txBody>
      </p:sp>
      <p:graphicFrame>
        <p:nvGraphicFramePr>
          <p:cNvPr id="7" name="Table 6">
            <a:extLst>
              <a:ext uri="{FF2B5EF4-FFF2-40B4-BE49-F238E27FC236}">
                <a16:creationId xmlns:a16="http://schemas.microsoft.com/office/drawing/2014/main" id="{BB2F4252-FD6B-D24E-9A25-17505E5DFF27}"/>
              </a:ext>
            </a:extLst>
          </p:cNvPr>
          <p:cNvGraphicFramePr>
            <a:graphicFrameLocks noGrp="1"/>
          </p:cNvGraphicFramePr>
          <p:nvPr>
            <p:extLst>
              <p:ext uri="{D42A27DB-BD31-4B8C-83A1-F6EECF244321}">
                <p14:modId xmlns:p14="http://schemas.microsoft.com/office/powerpoint/2010/main" val="3298581411"/>
              </p:ext>
            </p:extLst>
          </p:nvPr>
        </p:nvGraphicFramePr>
        <p:xfrm>
          <a:off x="2149434" y="1042856"/>
          <a:ext cx="7799316" cy="4431669"/>
        </p:xfrm>
        <a:graphic>
          <a:graphicData uri="http://schemas.openxmlformats.org/drawingml/2006/table">
            <a:tbl>
              <a:tblPr firstRow="1" firstCol="1" bandRow="1">
                <a:tableStyleId>{A91F0D33-8C57-4600-99A7-42BC86742BE1}</a:tableStyleId>
              </a:tblPr>
              <a:tblGrid>
                <a:gridCol w="3917863">
                  <a:extLst>
                    <a:ext uri="{9D8B030D-6E8A-4147-A177-3AD203B41FA5}">
                      <a16:colId xmlns:a16="http://schemas.microsoft.com/office/drawing/2014/main" val="1941976083"/>
                    </a:ext>
                  </a:extLst>
                </a:gridCol>
                <a:gridCol w="3881453">
                  <a:extLst>
                    <a:ext uri="{9D8B030D-6E8A-4147-A177-3AD203B41FA5}">
                      <a16:colId xmlns:a16="http://schemas.microsoft.com/office/drawing/2014/main" val="3616044886"/>
                    </a:ext>
                  </a:extLst>
                </a:gridCol>
              </a:tblGrid>
              <a:tr h="423228">
                <a:tc gridSpan="2">
                  <a:txBody>
                    <a:bodyPr/>
                    <a:lstStyle/>
                    <a:p>
                      <a:pPr marL="0" marR="0" algn="ctr">
                        <a:spcBef>
                          <a:spcPts val="0"/>
                        </a:spcBef>
                        <a:spcAft>
                          <a:spcPts val="0"/>
                        </a:spcAft>
                      </a:pPr>
                      <a:r>
                        <a:rPr lang="en-US" sz="1900" b="1" dirty="0">
                          <a:effectLst/>
                          <a:latin typeface="Verdana" panose="020B0604030504040204" pitchFamily="34" charset="0"/>
                          <a:ea typeface="Verdana" panose="020B0604030504040204" pitchFamily="34" charset="0"/>
                          <a:cs typeface="Verdana" panose="020B0604030504040204" pitchFamily="34" charset="0"/>
                        </a:rPr>
                        <a:t>Relationship E</a:t>
                      </a:r>
                      <a:endParaRPr lang="en-CO" sz="1300" b="1" dirty="0">
                        <a:effectLst/>
                        <a:latin typeface="Verdana" panose="020B0604030504040204" pitchFamily="34" charset="0"/>
                        <a:ea typeface="Verdana" panose="020B0604030504040204" pitchFamily="34" charset="0"/>
                        <a:cs typeface="Verdana" panose="020B0604030504040204" pitchFamily="34" charset="0"/>
                      </a:endParaRPr>
                    </a:p>
                  </a:txBody>
                  <a:tcPr marL="108552" marR="108552" marT="54276" marB="542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hMerge="1">
                  <a:txBody>
                    <a:bodyPr/>
                    <a:lstStyle/>
                    <a:p>
                      <a:endParaRPr lang="en-CO"/>
                    </a:p>
                  </a:txBody>
                  <a:tcPr/>
                </a:tc>
                <a:extLst>
                  <a:ext uri="{0D108BD9-81ED-4DB2-BD59-A6C34878D82A}">
                    <a16:rowId xmlns:a16="http://schemas.microsoft.com/office/drawing/2014/main" val="1703591530"/>
                  </a:ext>
                </a:extLst>
              </a:tr>
              <a:tr h="1065026">
                <a:tc gridSpan="2">
                  <a:txBody>
                    <a:bodyPr/>
                    <a:lstStyle/>
                    <a:p>
                      <a:pPr marL="0" marR="0">
                        <a:spcBef>
                          <a:spcPts val="0"/>
                        </a:spcBef>
                        <a:spcAft>
                          <a:spcPts val="0"/>
                        </a:spcAft>
                      </a:pPr>
                      <a:r>
                        <a:rPr lang="en-US" sz="1900" dirty="0">
                          <a:effectLst/>
                          <a:latin typeface="Verdana" panose="020B0604030504040204" pitchFamily="34" charset="0"/>
                          <a:ea typeface="Verdana" panose="020B0604030504040204" pitchFamily="34" charset="0"/>
                          <a:cs typeface="Verdana" panose="020B0604030504040204" pitchFamily="34" charset="0"/>
                        </a:rPr>
                        <a:t> </a:t>
                      </a:r>
                      <a:endParaRPr lang="en-CO" sz="1300" dirty="0">
                        <a:effectLst/>
                        <a:latin typeface="Verdana" panose="020B0604030504040204" pitchFamily="34" charset="0"/>
                        <a:ea typeface="Verdana" panose="020B0604030504040204" pitchFamily="34" charset="0"/>
                        <a:cs typeface="Verdana" panose="020B0604030504040204" pitchFamily="34" charset="0"/>
                      </a:endParaRPr>
                    </a:p>
                  </a:txBody>
                  <a:tcPr marL="108552" marR="108552" marT="54276" marB="542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CO"/>
                    </a:p>
                  </a:txBody>
                  <a:tcPr/>
                </a:tc>
                <a:extLst>
                  <a:ext uri="{0D108BD9-81ED-4DB2-BD59-A6C34878D82A}">
                    <a16:rowId xmlns:a16="http://schemas.microsoft.com/office/drawing/2014/main" val="58216941"/>
                  </a:ext>
                </a:extLst>
              </a:tr>
              <a:tr h="307827">
                <a:tc>
                  <a:txBody>
                    <a:bodyPr/>
                    <a:lstStyle/>
                    <a:p>
                      <a:pPr marL="0" marR="0" algn="ctr">
                        <a:spcBef>
                          <a:spcPts val="0"/>
                        </a:spcBef>
                        <a:spcAft>
                          <a:spcPts val="0"/>
                        </a:spcAft>
                      </a:pPr>
                      <a:r>
                        <a:rPr lang="en-US" sz="1900" b="1" dirty="0">
                          <a:effectLst/>
                          <a:latin typeface="Verdana" panose="020B0604030504040204" pitchFamily="34" charset="0"/>
                          <a:ea typeface="Verdana" panose="020B0604030504040204" pitchFamily="34" charset="0"/>
                          <a:cs typeface="Verdana" panose="020B0604030504040204" pitchFamily="34" charset="0"/>
                        </a:rPr>
                        <a:t>Domain</a:t>
                      </a:r>
                      <a:endParaRPr lang="en-CO" sz="1300" b="1" dirty="0">
                        <a:effectLst/>
                        <a:latin typeface="Verdana" panose="020B0604030504040204" pitchFamily="34" charset="0"/>
                        <a:ea typeface="Verdana" panose="020B0604030504040204" pitchFamily="34" charset="0"/>
                        <a:cs typeface="Verdana" panose="020B0604030504040204" pitchFamily="34" charset="0"/>
                      </a:endParaRPr>
                    </a:p>
                  </a:txBody>
                  <a:tcPr marL="73382" marR="733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900" b="1" dirty="0">
                          <a:effectLst/>
                          <a:latin typeface="Verdana" panose="020B0604030504040204" pitchFamily="34" charset="0"/>
                          <a:ea typeface="Verdana" panose="020B0604030504040204" pitchFamily="34" charset="0"/>
                          <a:cs typeface="Verdana" panose="020B0604030504040204" pitchFamily="34" charset="0"/>
                        </a:rPr>
                        <a:t>Range</a:t>
                      </a:r>
                      <a:endParaRPr lang="en-CO" sz="1300" b="1" dirty="0">
                        <a:effectLst/>
                        <a:latin typeface="Verdana" panose="020B0604030504040204" pitchFamily="34" charset="0"/>
                        <a:ea typeface="Verdana" panose="020B0604030504040204" pitchFamily="34" charset="0"/>
                        <a:cs typeface="Verdana" panose="020B0604030504040204" pitchFamily="34" charset="0"/>
                      </a:endParaRPr>
                    </a:p>
                  </a:txBody>
                  <a:tcPr marL="73382" marR="733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602622092"/>
                  </a:ext>
                </a:extLst>
              </a:tr>
              <a:tr h="2635588">
                <a:tc>
                  <a:txBody>
                    <a:bodyPr/>
                    <a:lstStyle/>
                    <a:p>
                      <a:pPr marL="0" marR="0" algn="ctr">
                        <a:spcBef>
                          <a:spcPts val="0"/>
                        </a:spcBef>
                        <a:spcAft>
                          <a:spcPts val="0"/>
                        </a:spcAft>
                      </a:pPr>
                      <a:r>
                        <a:rPr lang="en-US" sz="1900" dirty="0">
                          <a:effectLst/>
                          <a:latin typeface="Verdana" panose="020B0604030504040204" pitchFamily="34" charset="0"/>
                          <a:ea typeface="Verdana" panose="020B0604030504040204" pitchFamily="34" charset="0"/>
                          <a:cs typeface="Verdana" panose="020B0604030504040204" pitchFamily="34" charset="0"/>
                        </a:rPr>
                        <a:t> </a:t>
                      </a:r>
                      <a:endParaRPr lang="en-CO" sz="1300" dirty="0">
                        <a:effectLst/>
                        <a:latin typeface="Verdana" panose="020B0604030504040204" pitchFamily="34" charset="0"/>
                        <a:ea typeface="Verdana" panose="020B0604030504040204" pitchFamily="34" charset="0"/>
                        <a:cs typeface="Verdana" panose="020B0604030504040204" pitchFamily="34" charset="0"/>
                      </a:endParaRPr>
                    </a:p>
                  </a:txBody>
                  <a:tcPr marL="73382" marR="733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900" dirty="0">
                          <a:effectLst/>
                          <a:latin typeface="Verdana" panose="020B0604030504040204" pitchFamily="34" charset="0"/>
                          <a:ea typeface="Verdana" panose="020B0604030504040204" pitchFamily="34" charset="0"/>
                          <a:cs typeface="Verdana" panose="020B0604030504040204" pitchFamily="34" charset="0"/>
                        </a:rPr>
                        <a:t> </a:t>
                      </a:r>
                      <a:endParaRPr lang="en-CO" sz="1300" dirty="0">
                        <a:effectLst/>
                        <a:latin typeface="Verdana" panose="020B0604030504040204" pitchFamily="34" charset="0"/>
                        <a:ea typeface="Verdana" panose="020B0604030504040204" pitchFamily="34" charset="0"/>
                        <a:cs typeface="Verdana" panose="020B0604030504040204" pitchFamily="34" charset="0"/>
                      </a:endParaRPr>
                    </a:p>
                  </a:txBody>
                  <a:tcPr marL="73382" marR="733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2769339"/>
                  </a:ext>
                </a:extLst>
              </a:tr>
            </a:tbl>
          </a:graphicData>
        </a:graphic>
      </p:graphicFrame>
      <p:graphicFrame>
        <p:nvGraphicFramePr>
          <p:cNvPr id="9" name="Table 8">
            <a:extLst>
              <a:ext uri="{FF2B5EF4-FFF2-40B4-BE49-F238E27FC236}">
                <a16:creationId xmlns:a16="http://schemas.microsoft.com/office/drawing/2014/main" id="{22EA6C48-386B-4641-97E4-6DF247A2CE73}"/>
              </a:ext>
            </a:extLst>
          </p:cNvPr>
          <p:cNvGraphicFramePr>
            <a:graphicFrameLocks noGrp="1"/>
          </p:cNvGraphicFramePr>
          <p:nvPr>
            <p:extLst>
              <p:ext uri="{D42A27DB-BD31-4B8C-83A1-F6EECF244321}">
                <p14:modId xmlns:p14="http://schemas.microsoft.com/office/powerpoint/2010/main" val="2843631951"/>
              </p:ext>
            </p:extLst>
          </p:nvPr>
        </p:nvGraphicFramePr>
        <p:xfrm>
          <a:off x="2647932" y="1666007"/>
          <a:ext cx="6848632" cy="651312"/>
        </p:xfrm>
        <a:graphic>
          <a:graphicData uri="http://schemas.openxmlformats.org/drawingml/2006/table">
            <a:tbl>
              <a:tblPr firstRow="1" firstCol="1" bandRow="1">
                <a:tableStyleId>{A91F0D33-8C57-4600-99A7-42BC86742BE1}</a:tableStyleId>
              </a:tblPr>
              <a:tblGrid>
                <a:gridCol w="3424316">
                  <a:extLst>
                    <a:ext uri="{9D8B030D-6E8A-4147-A177-3AD203B41FA5}">
                      <a16:colId xmlns:a16="http://schemas.microsoft.com/office/drawing/2014/main" val="1702900833"/>
                    </a:ext>
                  </a:extLst>
                </a:gridCol>
                <a:gridCol w="3424316">
                  <a:extLst>
                    <a:ext uri="{9D8B030D-6E8A-4147-A177-3AD203B41FA5}">
                      <a16:colId xmlns:a16="http://schemas.microsoft.com/office/drawing/2014/main" val="417506566"/>
                    </a:ext>
                  </a:extLst>
                </a:gridCol>
              </a:tblGrid>
              <a:tr h="325656">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Independent Variable</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81414" marR="8141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Student</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81414" marR="8141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3953508"/>
                  </a:ext>
                </a:extLst>
              </a:tr>
              <a:tr h="325656">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Dependent Variable</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81414" marR="8141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Height</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81414" marR="8141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0441971"/>
                  </a:ext>
                </a:extLst>
              </a:tr>
            </a:tbl>
          </a:graphicData>
        </a:graphic>
      </p:graphicFrame>
    </p:spTree>
    <p:extLst>
      <p:ext uri="{BB962C8B-B14F-4D97-AF65-F5344CB8AC3E}">
        <p14:creationId xmlns:p14="http://schemas.microsoft.com/office/powerpoint/2010/main" val="6213323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BCC9BA22-8728-BB40-B10C-AF20C0214D1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131</a:t>
            </a:r>
            <a:endParaRPr i="1" dirty="0">
              <a:latin typeface="Calibri"/>
              <a:ea typeface="Calibri"/>
              <a:cs typeface="Calibri"/>
              <a:sym typeface="Calibri"/>
            </a:endParaRPr>
          </a:p>
        </p:txBody>
      </p:sp>
      <p:sp>
        <p:nvSpPr>
          <p:cNvPr id="10" name="TextBox 9">
            <a:extLst>
              <a:ext uri="{FF2B5EF4-FFF2-40B4-BE49-F238E27FC236}">
                <a16:creationId xmlns:a16="http://schemas.microsoft.com/office/drawing/2014/main" id="{B1C8943C-E983-7349-B5E0-2E0CC7B4C40F}"/>
              </a:ext>
            </a:extLst>
          </p:cNvPr>
          <p:cNvSpPr txBox="1"/>
          <p:nvPr/>
        </p:nvSpPr>
        <p:spPr>
          <a:xfrm>
            <a:off x="914400" y="457339"/>
            <a:ext cx="10515600" cy="3785652"/>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Work with your partner to complete the following.</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List the relationships for which each independent variable is paired with its own unique dependent variable.</a:t>
            </a:r>
          </a:p>
          <a:p>
            <a:pPr marL="4572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List the relationships for which some independent variables are paired with more than one dependent variable. </a:t>
            </a:r>
          </a:p>
        </p:txBody>
      </p:sp>
    </p:spTree>
    <p:extLst>
      <p:ext uri="{BB962C8B-B14F-4D97-AF65-F5344CB8AC3E}">
        <p14:creationId xmlns:p14="http://schemas.microsoft.com/office/powerpoint/2010/main" val="18436546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BCC9BA22-8728-BB40-B10C-AF20C0214D1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131</a:t>
            </a:r>
            <a:endParaRPr i="1" dirty="0">
              <a:latin typeface="Calibri"/>
              <a:ea typeface="Calibri"/>
              <a:cs typeface="Calibri"/>
              <a:sym typeface="Calibri"/>
            </a:endParaRPr>
          </a:p>
        </p:txBody>
      </p:sp>
      <p:sp>
        <p:nvSpPr>
          <p:cNvPr id="10" name="TextBox 9">
            <a:extLst>
              <a:ext uri="{FF2B5EF4-FFF2-40B4-BE49-F238E27FC236}">
                <a16:creationId xmlns:a16="http://schemas.microsoft.com/office/drawing/2014/main" id="{B1C8943C-E983-7349-B5E0-2E0CC7B4C40F}"/>
              </a:ext>
            </a:extLst>
          </p:cNvPr>
          <p:cNvSpPr txBox="1"/>
          <p:nvPr/>
        </p:nvSpPr>
        <p:spPr>
          <a:xfrm>
            <a:off x="914400" y="457338"/>
            <a:ext cx="10515600" cy="2308324"/>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Find another pair of partners to form a group of four. Compare your responses on the previous two questions. Discuss any differences and make revisions to your work if necessary.</a:t>
            </a:r>
          </a:p>
          <a:p>
            <a:pPr lvl="0"/>
            <a:r>
              <a:rPr lang="en-US" sz="2400" dirty="0">
                <a:latin typeface="Verdana" panose="020B0604030504040204" pitchFamily="34" charset="0"/>
                <a:ea typeface="Verdana" panose="020B0604030504040204" pitchFamily="34" charset="0"/>
                <a:cs typeface="Verdana" panose="020B0604030504040204" pitchFamily="34" charset="0"/>
              </a:rPr>
              <a:t> </a:t>
            </a:r>
          </a:p>
          <a:p>
            <a:pPr marL="469900"/>
            <a:r>
              <a:rPr lang="en-US" sz="2400" dirty="0">
                <a:latin typeface="Verdana" panose="020B0604030504040204" pitchFamily="34" charset="0"/>
                <a:ea typeface="Verdana" panose="020B0604030504040204" pitchFamily="34" charset="0"/>
                <a:cs typeface="Verdana" panose="020B0604030504040204" pitchFamily="34" charset="0"/>
              </a:rPr>
              <a:t>List any relationships for which your group cannot come to agreement.</a:t>
            </a:r>
          </a:p>
        </p:txBody>
      </p:sp>
    </p:spTree>
    <p:extLst>
      <p:ext uri="{BB962C8B-B14F-4D97-AF65-F5344CB8AC3E}">
        <p14:creationId xmlns:p14="http://schemas.microsoft.com/office/powerpoint/2010/main" val="8912398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Bring It Together</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132</a:t>
            </a:r>
            <a:endParaRPr i="1" dirty="0">
              <a:latin typeface="Calibri"/>
              <a:ea typeface="Calibri"/>
              <a:cs typeface="Calibri"/>
              <a:sym typeface="Calibri"/>
            </a:endParaRPr>
          </a:p>
        </p:txBody>
      </p:sp>
      <p:pic>
        <p:nvPicPr>
          <p:cNvPr id="9" name="image13.png" descr="Icon&#10;&#10;Description automatically generated">
            <a:extLst>
              <a:ext uri="{FF2B5EF4-FFF2-40B4-BE49-F238E27FC236}">
                <a16:creationId xmlns:a16="http://schemas.microsoft.com/office/drawing/2014/main" id="{E7334CB3-8E18-944D-BD43-217DFAAE3DE4}"/>
              </a:ext>
            </a:extLst>
          </p:cNvPr>
          <p:cNvPicPr/>
          <p:nvPr/>
        </p:nvPicPr>
        <p:blipFill>
          <a:blip r:embed="rId4"/>
          <a:srcRect/>
          <a:stretch>
            <a:fillRect/>
          </a:stretch>
        </p:blipFill>
        <p:spPr>
          <a:xfrm>
            <a:off x="3054096" y="2849925"/>
            <a:ext cx="1158150" cy="1158150"/>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026124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3000" y="-82296"/>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10.3.3 Bring It Together: Relations and Functions</a:t>
            </a:r>
          </a:p>
        </p:txBody>
      </p:sp>
      <p:sp>
        <p:nvSpPr>
          <p:cNvPr id="13" name="TextBox 12">
            <a:extLst>
              <a:ext uri="{FF2B5EF4-FFF2-40B4-BE49-F238E27FC236}">
                <a16:creationId xmlns:a16="http://schemas.microsoft.com/office/drawing/2014/main" id="{C01B13E8-EC8D-E443-A329-C5E3593DD13A}"/>
              </a:ext>
            </a:extLst>
          </p:cNvPr>
          <p:cNvSpPr txBox="1"/>
          <p:nvPr/>
        </p:nvSpPr>
        <p:spPr>
          <a:xfrm>
            <a:off x="914400" y="1386025"/>
            <a:ext cx="10515600" cy="1569660"/>
          </a:xfrm>
          <a:prstGeom prst="rect">
            <a:avLst/>
          </a:prstGeom>
          <a:noFill/>
        </p:spPr>
        <p:txBody>
          <a:bodyPr wrap="square" rtlCol="0">
            <a:spAutoFit/>
          </a:bodyPr>
          <a:lstStyle/>
          <a:p>
            <a:pPr lvl="0"/>
            <a:r>
              <a:rPr lang="en-US" sz="2400" dirty="0">
                <a:latin typeface="Verdana" panose="020B0604030504040204" pitchFamily="34" charset="0"/>
                <a:ea typeface="Verdana" panose="020B0604030504040204" pitchFamily="34" charset="0"/>
                <a:cs typeface="Verdana" panose="020B0604030504040204" pitchFamily="34" charset="0"/>
              </a:rPr>
              <a:t>Relationships C and E from the collaboration represent functions because each element in the domain corresponds to a unique element in the range.</a:t>
            </a:r>
          </a:p>
        </p:txBody>
      </p:sp>
      <p:sp>
        <p:nvSpPr>
          <p:cNvPr id="8" name="Google Shape;282;g104476d1465_1_17">
            <a:extLst>
              <a:ext uri="{FF2B5EF4-FFF2-40B4-BE49-F238E27FC236}">
                <a16:creationId xmlns:a16="http://schemas.microsoft.com/office/drawing/2014/main" id="{46EBFD37-657E-6D48-AB68-B97E54ABC53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132</a:t>
            </a:r>
            <a:endParaRPr i="1" dirty="0">
              <a:latin typeface="Calibri"/>
              <a:ea typeface="Calibri"/>
              <a:cs typeface="Calibri"/>
              <a:sym typeface="Calibri"/>
            </a:endParaRPr>
          </a:p>
        </p:txBody>
      </p:sp>
      <p:pic>
        <p:nvPicPr>
          <p:cNvPr id="10" name="image13.png" descr="Icon&#10;&#10;Description automatically generated">
            <a:extLst>
              <a:ext uri="{FF2B5EF4-FFF2-40B4-BE49-F238E27FC236}">
                <a16:creationId xmlns:a16="http://schemas.microsoft.com/office/drawing/2014/main" id="{0C735B51-6F89-824A-8767-67F0065798B4}"/>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65760" y="107637"/>
            <a:ext cx="747300" cy="747300"/>
          </a:xfrm>
          <a:prstGeom prst="rect">
            <a:avLst/>
          </a:prstGeom>
          <a:ln/>
        </p:spPr>
      </p:pic>
      <p:grpSp>
        <p:nvGrpSpPr>
          <p:cNvPr id="11" name="Group 10">
            <a:extLst>
              <a:ext uri="{FF2B5EF4-FFF2-40B4-BE49-F238E27FC236}">
                <a16:creationId xmlns:a16="http://schemas.microsoft.com/office/drawing/2014/main" id="{BDEEF7F5-8BA3-BF48-B2F1-E6665B1CCC49}"/>
              </a:ext>
            </a:extLst>
          </p:cNvPr>
          <p:cNvGrpSpPr/>
          <p:nvPr/>
        </p:nvGrpSpPr>
        <p:grpSpPr>
          <a:xfrm>
            <a:off x="2342466" y="3125530"/>
            <a:ext cx="7606284" cy="1054100"/>
            <a:chOff x="2031300" y="3262288"/>
            <a:chExt cx="7606284" cy="1035424"/>
          </a:xfrm>
        </p:grpSpPr>
        <p:grpSp>
          <p:nvGrpSpPr>
            <p:cNvPr id="12" name="Group 11">
              <a:extLst>
                <a:ext uri="{FF2B5EF4-FFF2-40B4-BE49-F238E27FC236}">
                  <a16:creationId xmlns:a16="http://schemas.microsoft.com/office/drawing/2014/main" id="{291A1713-8EA2-C047-96BC-E8210721752A}"/>
                </a:ext>
              </a:extLst>
            </p:cNvPr>
            <p:cNvGrpSpPr/>
            <p:nvPr/>
          </p:nvGrpSpPr>
          <p:grpSpPr>
            <a:xfrm>
              <a:off x="2031300" y="3262288"/>
              <a:ext cx="7606284" cy="1035424"/>
              <a:chOff x="2031300" y="3373600"/>
              <a:chExt cx="7606284" cy="1035424"/>
            </a:xfrm>
          </p:grpSpPr>
          <p:sp>
            <p:nvSpPr>
              <p:cNvPr id="14" name="Rectangle 13">
                <a:extLst>
                  <a:ext uri="{FF2B5EF4-FFF2-40B4-BE49-F238E27FC236}">
                    <a16:creationId xmlns:a16="http://schemas.microsoft.com/office/drawing/2014/main" id="{5513F726-D9A3-E34C-87DD-0B4C5B47465E}"/>
                  </a:ext>
                </a:extLst>
              </p:cNvPr>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en-CO"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15" name="Group 14">
                <a:extLst>
                  <a:ext uri="{FF2B5EF4-FFF2-40B4-BE49-F238E27FC236}">
                    <a16:creationId xmlns:a16="http://schemas.microsoft.com/office/drawing/2014/main" id="{E6E51EED-9924-834D-B4BB-571932DD5D3E}"/>
                  </a:ext>
                </a:extLst>
              </p:cNvPr>
              <p:cNvGrpSpPr/>
              <p:nvPr/>
            </p:nvGrpSpPr>
            <p:grpSpPr>
              <a:xfrm>
                <a:off x="2031300" y="3373600"/>
                <a:ext cx="7606284" cy="1035424"/>
                <a:chOff x="2031300" y="3373600"/>
                <a:chExt cx="7606284" cy="1035424"/>
              </a:xfrm>
            </p:grpSpPr>
            <p:sp>
              <p:nvSpPr>
                <p:cNvPr id="16" name="Rectangle 15">
                  <a:extLst>
                    <a:ext uri="{FF2B5EF4-FFF2-40B4-BE49-F238E27FC236}">
                      <a16:creationId xmlns:a16="http://schemas.microsoft.com/office/drawing/2014/main" id="{012553D8-AE0D-D349-8892-9A5489C618A8}"/>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en-CO"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17" name="Group 16">
                  <a:extLst>
                    <a:ext uri="{FF2B5EF4-FFF2-40B4-BE49-F238E27FC236}">
                      <a16:creationId xmlns:a16="http://schemas.microsoft.com/office/drawing/2014/main" id="{05046504-8412-9D49-A55F-2E113E149CA9}"/>
                    </a:ext>
                  </a:extLst>
                </p:cNvPr>
                <p:cNvGrpSpPr/>
                <p:nvPr/>
              </p:nvGrpSpPr>
              <p:grpSpPr>
                <a:xfrm>
                  <a:off x="2031300" y="3373600"/>
                  <a:ext cx="7606284" cy="1035424"/>
                  <a:chOff x="0" y="0"/>
                  <a:chExt cx="7606284" cy="1035424"/>
                </a:xfrm>
              </p:grpSpPr>
              <p:sp>
                <p:nvSpPr>
                  <p:cNvPr id="18" name="Rectangle 17">
                    <a:extLst>
                      <a:ext uri="{FF2B5EF4-FFF2-40B4-BE49-F238E27FC236}">
                        <a16:creationId xmlns:a16="http://schemas.microsoft.com/office/drawing/2014/main" id="{B2230B8A-F9CD-D94E-8587-2C4582B53769}"/>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en-CO"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9" name="Rounded Rectangle 18">
                    <a:extLst>
                      <a:ext uri="{FF2B5EF4-FFF2-40B4-BE49-F238E27FC236}">
                        <a16:creationId xmlns:a16="http://schemas.microsoft.com/office/drawing/2014/main" id="{C1B4B412-061E-0E4A-A512-EE25D4EBC330}"/>
                      </a:ext>
                    </a:extLst>
                  </p:cNvPr>
                  <p:cNvSpPr/>
                  <p:nvPr/>
                </p:nvSpPr>
                <p:spPr>
                  <a:xfrm>
                    <a:off x="0" y="0"/>
                    <a:ext cx="7606284" cy="1035424"/>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a:spcAft>
                        <a:spcPts val="1000"/>
                      </a:spcAft>
                    </a:pPr>
                    <a:r>
                      <a:rPr lang="en-US" sz="1800" dirty="0">
                        <a:solidFill>
                          <a:srgbClr val="6D983E"/>
                        </a:solidFill>
                        <a:latin typeface="Verdana" panose="020B0604030504040204" pitchFamily="34" charset="0"/>
                        <a:ea typeface="Times New Roman" panose="02020603050405020304" pitchFamily="18" charset="0"/>
                        <a:cs typeface="Times New Roman" panose="02020603050405020304" pitchFamily="18" charset="0"/>
                      </a:rPr>
                      <a:t>A </a:t>
                    </a:r>
                    <a:r>
                      <a:rPr lang="en-US" sz="1800" b="1" i="1" dirty="0">
                        <a:solidFill>
                          <a:srgbClr val="6D983E"/>
                        </a:solidFill>
                        <a:latin typeface="Verdana" panose="020B0604030504040204" pitchFamily="34" charset="0"/>
                        <a:ea typeface="Times New Roman" panose="02020603050405020304" pitchFamily="18" charset="0"/>
                        <a:cs typeface="Times New Roman" panose="02020603050405020304" pitchFamily="18" charset="0"/>
                      </a:rPr>
                      <a:t>function</a:t>
                    </a:r>
                    <a:r>
                      <a:rPr lang="en-US" sz="1800" b="1" dirty="0">
                        <a:solidFill>
                          <a:srgbClr val="6D983E"/>
                        </a:solidFill>
                        <a:latin typeface="Verdana" panose="020B0604030504040204" pitchFamily="34" charset="0"/>
                        <a:ea typeface="Times New Roman" panose="02020603050405020304" pitchFamily="18" charset="0"/>
                        <a:cs typeface="Times New Roman" panose="02020603050405020304" pitchFamily="18" charset="0"/>
                      </a:rPr>
                      <a:t> </a:t>
                    </a:r>
                    <a:r>
                      <a:rPr lang="en-US" sz="1800" dirty="0">
                        <a:solidFill>
                          <a:srgbClr val="6D983E"/>
                        </a:solidFill>
                        <a:latin typeface="Verdana" panose="020B0604030504040204" pitchFamily="34" charset="0"/>
                        <a:ea typeface="Times New Roman" panose="02020603050405020304" pitchFamily="18" charset="0"/>
                        <a:cs typeface="Times New Roman" panose="02020603050405020304" pitchFamily="18" charset="0"/>
                      </a:rPr>
                      <a:t>is a mathematical relation for which each element in the domain corresponds to exactly one element in the range.</a:t>
                    </a:r>
                    <a:endParaRPr lang="en-CO" sz="1200"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20" name="Shape 9" descr="Icon&#10;&#10;Description automatically generated">
                    <a:extLst>
                      <a:ext uri="{FF2B5EF4-FFF2-40B4-BE49-F238E27FC236}">
                        <a16:creationId xmlns:a16="http://schemas.microsoft.com/office/drawing/2014/main" id="{3761379D-4AED-7044-9DF1-50095170FAC3}"/>
                      </a:ext>
                    </a:extLst>
                  </p:cNvPr>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38545" y="92367"/>
                    <a:ext cx="539750" cy="539750"/>
                  </a:xfrm>
                  <a:prstGeom prst="rect">
                    <a:avLst/>
                  </a:prstGeom>
                  <a:noFill/>
                  <a:ln>
                    <a:noFill/>
                  </a:ln>
                  <a:effectLst>
                    <a:outerShdw blurRad="50800" dist="38100" dir="2700000" algn="tl" rotWithShape="0">
                      <a:prstClr val="black">
                        <a:alpha val="40000"/>
                      </a:prstClr>
                    </a:outerShdw>
                  </a:effectLst>
                </p:spPr>
              </p:pic>
            </p:grpSp>
          </p:grpSp>
        </p:grpSp>
      </p:grpSp>
    </p:spTree>
    <p:extLst>
      <p:ext uri="{BB962C8B-B14F-4D97-AF65-F5344CB8AC3E}">
        <p14:creationId xmlns:p14="http://schemas.microsoft.com/office/powerpoint/2010/main" val="39024578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17" name="Rectangle 16">
                <a:extLst>
                  <a:ext uri="{FF2B5EF4-FFF2-40B4-BE49-F238E27FC236}">
                    <a16:creationId xmlns:a16="http://schemas.microsoft.com/office/drawing/2014/main" id="{C5C0689E-8B16-904F-A555-0BF540A1D1D2}"/>
                  </a:ext>
                </a:extLst>
              </p:cNvPr>
              <p:cNvSpPr/>
              <p:nvPr/>
            </p:nvSpPr>
            <p:spPr>
              <a:xfrm>
                <a:off x="914400" y="265548"/>
                <a:ext cx="10515600" cy="3987951"/>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rPr>
                  <a:t>Complete each statement to describe these relationships.</a:t>
                </a:r>
              </a:p>
              <a:p>
                <a:pPr marL="457200" indent="-457200">
                  <a:lnSpc>
                    <a:spcPct val="250000"/>
                  </a:lnSpc>
                  <a:buFont typeface="+mj-lt"/>
                  <a:buAutoNum type="arabicPeriod"/>
                </a:pPr>
                <a:r>
                  <a:rPr lang="en-US" sz="2400" dirty="0">
                    <a:latin typeface="Verdana" panose="020B0604030504040204" pitchFamily="34" charset="0"/>
                    <a:ea typeface="Times New Roman" panose="02020603050405020304" pitchFamily="18" charset="0"/>
                  </a:rPr>
                  <a:t>The              of a square depends on the 		of the square. Since all </a:t>
                </a:r>
                <a14:m>
                  <m:oMath xmlns:m="http://schemas.openxmlformats.org/officeDocument/2006/math">
                    <m:r>
                      <a:rPr lang="en-US" sz="2400" i="1" dirty="0">
                        <a:latin typeface="Cambria Math" panose="02040503050406030204" pitchFamily="18" charset="0"/>
                        <a:ea typeface="Times New Roman" panose="02020603050405020304" pitchFamily="18" charset="0"/>
                      </a:rPr>
                      <m:t>4</m:t>
                    </m:r>
                  </m:oMath>
                </a14:m>
                <a:r>
                  <a:rPr lang="en-US" sz="2400" dirty="0">
                    <a:latin typeface="Verdana" panose="020B0604030504040204" pitchFamily="34" charset="0"/>
                    <a:ea typeface="Times New Roman" panose="02020603050405020304" pitchFamily="18" charset="0"/>
                  </a:rPr>
                  <a:t> sides of a square are the same, the length can be                      to find the area, which results in one unique area for each square length.</a:t>
                </a:r>
              </a:p>
            </p:txBody>
          </p:sp>
        </mc:Choice>
        <mc:Fallback>
          <p:sp>
            <p:nvSpPr>
              <p:cNvPr id="17" name="Rectangle 16">
                <a:extLst>
                  <a:ext uri="{FF2B5EF4-FFF2-40B4-BE49-F238E27FC236}">
                    <a16:creationId xmlns:a16="http://schemas.microsoft.com/office/drawing/2014/main" id="{C5C0689E-8B16-904F-A555-0BF540A1D1D2}"/>
                  </a:ext>
                </a:extLst>
              </p:cNvPr>
              <p:cNvSpPr>
                <a:spLocks noRot="1" noChangeAspect="1" noMove="1" noResize="1" noEditPoints="1" noAdjustHandles="1" noChangeArrowheads="1" noChangeShapeType="1" noTextEdit="1"/>
              </p:cNvSpPr>
              <p:nvPr/>
            </p:nvSpPr>
            <p:spPr>
              <a:xfrm>
                <a:off x="914400" y="265548"/>
                <a:ext cx="10515600" cy="3987951"/>
              </a:xfrm>
              <a:prstGeom prst="rect">
                <a:avLst/>
              </a:prstGeom>
              <a:blipFill>
                <a:blip r:embed="rId4"/>
                <a:stretch>
                  <a:fillRect l="-870" t="-1223" b="-2599"/>
                </a:stretch>
              </a:blipFill>
            </p:spPr>
            <p:txBody>
              <a:bodyPr/>
              <a:lstStyle/>
              <a:p>
                <a:r>
                  <a:rPr lang="en-US">
                    <a:noFill/>
                  </a:rPr>
                  <a:t> </a:t>
                </a:r>
              </a:p>
            </p:txBody>
          </p:sp>
        </mc:Fallback>
      </mc:AlternateContent>
      <p:sp>
        <p:nvSpPr>
          <p:cNvPr id="31" name="Google Shape;282;g104476d1465_1_17">
            <a:extLst>
              <a:ext uri="{FF2B5EF4-FFF2-40B4-BE49-F238E27FC236}">
                <a16:creationId xmlns:a16="http://schemas.microsoft.com/office/drawing/2014/main" id="{CDEBEDDD-594C-B74D-9DDD-81F550FCEF3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132</a:t>
            </a:r>
            <a:endParaRPr i="1" dirty="0">
              <a:latin typeface="Calibri"/>
              <a:ea typeface="Calibri"/>
              <a:cs typeface="Calibri"/>
              <a:sym typeface="Calibri"/>
            </a:endParaRPr>
          </a:p>
        </p:txBody>
      </p:sp>
      <p:pic>
        <p:nvPicPr>
          <p:cNvPr id="3" name="Picture 2" descr="A picture containing shape&#10;&#10;Description automatically generated">
            <a:extLst>
              <a:ext uri="{FF2B5EF4-FFF2-40B4-BE49-F238E27FC236}">
                <a16:creationId xmlns:a16="http://schemas.microsoft.com/office/drawing/2014/main" id="{5F5DCE1F-380A-B346-AC42-09CD5D64CA86}"/>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103438" y="837124"/>
            <a:ext cx="1349972" cy="759202"/>
          </a:xfrm>
          <a:prstGeom prst="rect">
            <a:avLst/>
          </a:prstGeom>
        </p:spPr>
      </p:pic>
      <p:pic>
        <p:nvPicPr>
          <p:cNvPr id="5" name="Picture 4" descr="A picture containing shape&#10;&#10;Description automatically generated">
            <a:extLst>
              <a:ext uri="{FF2B5EF4-FFF2-40B4-BE49-F238E27FC236}">
                <a16:creationId xmlns:a16="http://schemas.microsoft.com/office/drawing/2014/main" id="{581A214E-A6E8-2946-A036-1682BCC1627E}"/>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612484" y="2668878"/>
            <a:ext cx="2176272" cy="760122"/>
          </a:xfrm>
          <a:prstGeom prst="rect">
            <a:avLst/>
          </a:prstGeom>
        </p:spPr>
      </p:pic>
      <p:pic>
        <p:nvPicPr>
          <p:cNvPr id="20" name="Picture 19" descr="A picture containing shape&#10;&#10;Description automatically generated">
            <a:extLst>
              <a:ext uri="{FF2B5EF4-FFF2-40B4-BE49-F238E27FC236}">
                <a16:creationId xmlns:a16="http://schemas.microsoft.com/office/drawing/2014/main" id="{D29E87E3-E57D-BD46-9D36-ACDC1B2CB380}"/>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851940" y="837124"/>
            <a:ext cx="1349972" cy="759202"/>
          </a:xfrm>
          <a:prstGeom prst="rect">
            <a:avLst/>
          </a:prstGeom>
        </p:spPr>
      </p:pic>
    </p:spTree>
    <p:extLst>
      <p:ext uri="{BB962C8B-B14F-4D97-AF65-F5344CB8AC3E}">
        <p14:creationId xmlns:p14="http://schemas.microsoft.com/office/powerpoint/2010/main" val="33938133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040CB3A2-EA4C-2F4B-A3B3-ADA27BC9F465}"/>
              </a:ext>
            </a:extLst>
          </p:cNvPr>
          <p:cNvSpPr/>
          <p:nvPr/>
        </p:nvSpPr>
        <p:spPr>
          <a:xfrm>
            <a:off x="914400" y="938149"/>
            <a:ext cx="10515600" cy="2695290"/>
          </a:xfrm>
          <a:prstGeom prst="rect">
            <a:avLst/>
          </a:prstGeom>
        </p:spPr>
        <p:txBody>
          <a:bodyPr wrap="square">
            <a:spAutoFit/>
          </a:bodyPr>
          <a:lstStyle/>
          <a:p>
            <a:pPr marL="508000" indent="-457200">
              <a:lnSpc>
                <a:spcPct val="250000"/>
              </a:lnSpc>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                depends on                 the student is. Each student has     			 height, so a student’s height is a function of who the student is.</a:t>
            </a:r>
          </a:p>
        </p:txBody>
      </p:sp>
      <p:sp>
        <p:nvSpPr>
          <p:cNvPr id="9" name="Google Shape;282;g104476d1465_1_17">
            <a:extLst>
              <a:ext uri="{FF2B5EF4-FFF2-40B4-BE49-F238E27FC236}">
                <a16:creationId xmlns:a16="http://schemas.microsoft.com/office/drawing/2014/main" id="{B1912BF8-3524-4C47-AFC3-32BDAE40D3D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132</a:t>
            </a:r>
            <a:endParaRPr i="1" dirty="0">
              <a:latin typeface="Calibri"/>
              <a:ea typeface="Calibri"/>
              <a:cs typeface="Calibri"/>
              <a:sym typeface="Calibri"/>
            </a:endParaRPr>
          </a:p>
        </p:txBody>
      </p:sp>
      <p:pic>
        <p:nvPicPr>
          <p:cNvPr id="5" name="Picture 4" descr="A picture containing shape&#10;&#10;Description automatically generated">
            <a:extLst>
              <a:ext uri="{FF2B5EF4-FFF2-40B4-BE49-F238E27FC236}">
                <a16:creationId xmlns:a16="http://schemas.microsoft.com/office/drawing/2014/main" id="{E5075E17-934A-9D47-A315-65B2FF13546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496347" y="1090056"/>
            <a:ext cx="1689650" cy="886787"/>
          </a:xfrm>
          <a:prstGeom prst="rect">
            <a:avLst/>
          </a:prstGeom>
        </p:spPr>
      </p:pic>
      <p:pic>
        <p:nvPicPr>
          <p:cNvPr id="7" name="Picture 6" descr="A picture containing shape&#10;&#10;Description automatically generated">
            <a:extLst>
              <a:ext uri="{FF2B5EF4-FFF2-40B4-BE49-F238E27FC236}">
                <a16:creationId xmlns:a16="http://schemas.microsoft.com/office/drawing/2014/main" id="{60B449F3-ABA0-AA4B-AD19-9F50C29CF41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158981" y="1090056"/>
            <a:ext cx="1620677" cy="886786"/>
          </a:xfrm>
          <a:prstGeom prst="rect">
            <a:avLst/>
          </a:prstGeom>
        </p:spPr>
      </p:pic>
      <p:pic>
        <p:nvPicPr>
          <p:cNvPr id="10" name="Picture 9" descr="A picture containing shape&#10;&#10;Description automatically generated">
            <a:extLst>
              <a:ext uri="{FF2B5EF4-FFF2-40B4-BE49-F238E27FC236}">
                <a16:creationId xmlns:a16="http://schemas.microsoft.com/office/drawing/2014/main" id="{5C00A150-8812-4947-BF96-4D35C9FF336D}"/>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175607" y="2056450"/>
            <a:ext cx="2530858" cy="886786"/>
          </a:xfrm>
          <a:prstGeom prst="rect">
            <a:avLst/>
          </a:prstGeom>
        </p:spPr>
      </p:pic>
    </p:spTree>
    <p:extLst>
      <p:ext uri="{BB962C8B-B14F-4D97-AF65-F5344CB8AC3E}">
        <p14:creationId xmlns:p14="http://schemas.microsoft.com/office/powerpoint/2010/main" val="21614666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3054096"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132</a:t>
            </a:r>
            <a:endParaRPr i="1" dirty="0">
              <a:latin typeface="Calibri"/>
              <a:ea typeface="Calibri"/>
              <a:cs typeface="Calibri"/>
              <a:sym typeface="Calibri"/>
            </a:endParaRPr>
          </a:p>
        </p:txBody>
      </p:sp>
    </p:spTree>
    <p:extLst>
      <p:ext uri="{BB962C8B-B14F-4D97-AF65-F5344CB8AC3E}">
        <p14:creationId xmlns:p14="http://schemas.microsoft.com/office/powerpoint/2010/main" val="40838842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3000" y="-85979"/>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10.3.4 Guided Instruction: Determining If a Relation Is a Function</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365760" y="121285"/>
            <a:ext cx="747300" cy="747300"/>
          </a:xfrm>
          <a:prstGeom prst="rect">
            <a:avLst/>
          </a:prstGeom>
          <a:noFill/>
          <a:ln>
            <a:noFill/>
          </a:ln>
          <a:effectLst>
            <a:outerShdw blurRad="50800" dist="38100" dir="2700000" algn="tl" rotWithShape="0">
              <a:prstClr val="black">
                <a:alpha val="40000"/>
              </a:prstClr>
            </a:outerShdw>
          </a:effectLst>
        </p:spPr>
      </p:pic>
      <p:sp>
        <p:nvSpPr>
          <p:cNvPr id="13" name="TextBox 12">
            <a:extLst>
              <a:ext uri="{FF2B5EF4-FFF2-40B4-BE49-F238E27FC236}">
                <a16:creationId xmlns:a16="http://schemas.microsoft.com/office/drawing/2014/main" id="{C01B13E8-EC8D-E443-A329-C5E3593DD13A}"/>
              </a:ext>
            </a:extLst>
          </p:cNvPr>
          <p:cNvSpPr txBox="1"/>
          <p:nvPr/>
        </p:nvSpPr>
        <p:spPr>
          <a:xfrm>
            <a:off x="914400" y="1239722"/>
            <a:ext cx="10515600" cy="830997"/>
          </a:xfrm>
          <a:prstGeom prst="rect">
            <a:avLst/>
          </a:prstGeom>
          <a:noFill/>
        </p:spPr>
        <p:txBody>
          <a:bodyPr wrap="square" rtlCol="0">
            <a:spAutoFit/>
          </a:bodyPr>
          <a:lstStyle/>
          <a:p>
            <a:pPr lvl="0"/>
            <a:r>
              <a:rPr lang="en-US" sz="2400" dirty="0">
                <a:latin typeface="Verdana" panose="020B0604030504040204" pitchFamily="34" charset="0"/>
                <a:ea typeface="Verdana" panose="020B0604030504040204" pitchFamily="34" charset="0"/>
                <a:cs typeface="Verdana" panose="020B0604030504040204" pitchFamily="34" charset="0"/>
              </a:rPr>
              <a:t>Relations and functions can be represented using a mapping diagram, a table of values, a set of ordered pairs, or on a graph. </a:t>
            </a:r>
          </a:p>
        </p:txBody>
      </p:sp>
      <p:sp>
        <p:nvSpPr>
          <p:cNvPr id="8" name="Google Shape;282;g104476d1465_1_17">
            <a:extLst>
              <a:ext uri="{FF2B5EF4-FFF2-40B4-BE49-F238E27FC236}">
                <a16:creationId xmlns:a16="http://schemas.microsoft.com/office/drawing/2014/main" id="{46EBFD37-657E-6D48-AB68-B97E54ABC53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132</a:t>
            </a:r>
            <a:endParaRPr i="1" dirty="0">
              <a:latin typeface="Calibri"/>
              <a:ea typeface="Calibri"/>
              <a:cs typeface="Calibri"/>
              <a:sym typeface="Calibri"/>
            </a:endParaRPr>
          </a:p>
        </p:txBody>
      </p:sp>
      <p:pic>
        <p:nvPicPr>
          <p:cNvPr id="3" name="Picture 2" descr="Diagram&#10;&#10;Description automatically generated">
            <a:extLst>
              <a:ext uri="{FF2B5EF4-FFF2-40B4-BE49-F238E27FC236}">
                <a16:creationId xmlns:a16="http://schemas.microsoft.com/office/drawing/2014/main" id="{77012A55-EBB6-5646-9737-B9473B4F599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893468" y="2177331"/>
            <a:ext cx="5966847" cy="4351907"/>
          </a:xfrm>
          <a:prstGeom prst="rect">
            <a:avLst/>
          </a:prstGeom>
        </p:spPr>
      </p:pic>
    </p:spTree>
    <p:extLst>
      <p:ext uri="{BB962C8B-B14F-4D97-AF65-F5344CB8AC3E}">
        <p14:creationId xmlns:p14="http://schemas.microsoft.com/office/powerpoint/2010/main" val="13917394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 name="Google Shape;282;g104476d1465_1_17">
            <a:extLst>
              <a:ext uri="{FF2B5EF4-FFF2-40B4-BE49-F238E27FC236}">
                <a16:creationId xmlns:a16="http://schemas.microsoft.com/office/drawing/2014/main" id="{CDEBEDDD-594C-B74D-9DDD-81F550FCEF3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132</a:t>
            </a:r>
            <a:endParaRPr i="1" dirty="0">
              <a:latin typeface="Calibri"/>
              <a:ea typeface="Calibri"/>
              <a:cs typeface="Calibri"/>
              <a:sym typeface="Calibri"/>
            </a:endParaRPr>
          </a:p>
        </p:txBody>
      </p:sp>
      <p:pic>
        <p:nvPicPr>
          <p:cNvPr id="3" name="Picture 2" descr="Chart&#10;&#10;Description automatically generated">
            <a:extLst>
              <a:ext uri="{FF2B5EF4-FFF2-40B4-BE49-F238E27FC236}">
                <a16:creationId xmlns:a16="http://schemas.microsoft.com/office/drawing/2014/main" id="{6FA0C8A1-0B2E-2340-8F37-A2F50DB03FE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312270" y="479982"/>
            <a:ext cx="7567461" cy="5889687"/>
          </a:xfrm>
          <a:prstGeom prst="rect">
            <a:avLst/>
          </a:prstGeom>
        </p:spPr>
      </p:pic>
    </p:spTree>
    <p:extLst>
      <p:ext uri="{BB962C8B-B14F-4D97-AF65-F5344CB8AC3E}">
        <p14:creationId xmlns:p14="http://schemas.microsoft.com/office/powerpoint/2010/main" val="18396607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 name="Google Shape;282;g104476d1465_1_17">
            <a:extLst>
              <a:ext uri="{FF2B5EF4-FFF2-40B4-BE49-F238E27FC236}">
                <a16:creationId xmlns:a16="http://schemas.microsoft.com/office/drawing/2014/main" id="{CDEBEDDD-594C-B74D-9DDD-81F550FCEF3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133</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C134CC60-3A32-D645-B088-AE6A926B2B11}"/>
              </a:ext>
            </a:extLst>
          </p:cNvPr>
          <p:cNvSpPr txBox="1"/>
          <p:nvPr/>
        </p:nvSpPr>
        <p:spPr>
          <a:xfrm>
            <a:off x="914400" y="418312"/>
            <a:ext cx="10515600" cy="5632311"/>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Complete the statement.</a:t>
            </a:r>
          </a:p>
          <a:p>
            <a:pPr marL="469900">
              <a:lnSpc>
                <a:spcPct val="250000"/>
              </a:lnSpc>
            </a:pPr>
            <a:r>
              <a:rPr lang="en-US" sz="2400" dirty="0">
                <a:latin typeface="Verdana" panose="020B0604030504040204" pitchFamily="34" charset="0"/>
                <a:ea typeface="Verdana" panose="020B0604030504040204" pitchFamily="34" charset="0"/>
                <a:cs typeface="Verdana" panose="020B0604030504040204" pitchFamily="34" charset="0"/>
              </a:rPr>
              <a:t>For each function represented, each element in the 		   corresponds to only one element in the</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For each relation represented that is not a function, circle the element(s) in the domain that correspond to more than one element in the range.</a:t>
            </a:r>
          </a:p>
          <a:p>
            <a:pPr lvl="0"/>
            <a:r>
              <a:rPr lang="en-US" sz="2400" dirty="0">
                <a:latin typeface="Verdana" panose="020B0604030504040204" pitchFamily="34" charset="0"/>
                <a:ea typeface="Verdana" panose="020B0604030504040204" pitchFamily="34" charset="0"/>
                <a:cs typeface="Verdana" panose="020B0604030504040204" pitchFamily="34" charset="0"/>
              </a:rPr>
              <a:t> </a:t>
            </a:r>
          </a:p>
          <a:p>
            <a:pPr lvl="0"/>
            <a:r>
              <a:rPr lang="en-US" sz="2400" dirty="0">
                <a:latin typeface="Verdana" panose="020B0604030504040204" pitchFamily="34" charset="0"/>
                <a:ea typeface="Verdana" panose="020B0604030504040204" pitchFamily="34" charset="0"/>
                <a:cs typeface="Verdana" panose="020B0604030504040204" pitchFamily="34" charset="0"/>
              </a:rPr>
              <a:t> </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4" name="Picture 3" descr="A picture containing shape&#10;&#10;Description automatically generated">
            <a:extLst>
              <a:ext uri="{FF2B5EF4-FFF2-40B4-BE49-F238E27FC236}">
                <a16:creationId xmlns:a16="http://schemas.microsoft.com/office/drawing/2014/main" id="{AA325D74-FA14-A24B-9182-EC475906447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438740" y="944848"/>
            <a:ext cx="1688440" cy="949177"/>
          </a:xfrm>
          <a:prstGeom prst="rect">
            <a:avLst/>
          </a:prstGeom>
        </p:spPr>
      </p:pic>
      <p:pic>
        <p:nvPicPr>
          <p:cNvPr id="7" name="Picture 6" descr="A picture containing shape&#10;&#10;Description automatically generated">
            <a:extLst>
              <a:ext uri="{FF2B5EF4-FFF2-40B4-BE49-F238E27FC236}">
                <a16:creationId xmlns:a16="http://schemas.microsoft.com/office/drawing/2014/main" id="{EE26E5EA-E749-5A41-8E64-73C2A57D4DCD}"/>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538810" y="1945972"/>
            <a:ext cx="1803436" cy="949177"/>
          </a:xfrm>
          <a:prstGeom prst="rect">
            <a:avLst/>
          </a:prstGeom>
        </p:spPr>
      </p:pic>
    </p:spTree>
    <p:extLst>
      <p:ext uri="{BB962C8B-B14F-4D97-AF65-F5344CB8AC3E}">
        <p14:creationId xmlns:p14="http://schemas.microsoft.com/office/powerpoint/2010/main" val="17190735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133</a:t>
            </a:r>
            <a:endParaRPr i="1" dirty="0">
              <a:latin typeface="Calibri"/>
              <a:ea typeface="Calibri"/>
              <a:cs typeface="Calibri"/>
              <a:sym typeface="Calibri"/>
            </a:endParaRPr>
          </a:p>
        </p:txBody>
      </p:sp>
      <p:pic>
        <p:nvPicPr>
          <p:cNvPr id="9" name="image12.png" descr="Icon&#10;&#10;Description automatically generated">
            <a:extLst>
              <a:ext uri="{FF2B5EF4-FFF2-40B4-BE49-F238E27FC236}">
                <a16:creationId xmlns:a16="http://schemas.microsoft.com/office/drawing/2014/main" id="{C9B52917-01FC-5144-90CC-67C37918E9F7}"/>
              </a:ext>
            </a:extLst>
          </p:cNvPr>
          <p:cNvPicPr/>
          <p:nvPr/>
        </p:nvPicPr>
        <p:blipFill>
          <a:blip r:embed="rId4"/>
          <a:srcRect/>
          <a:stretch>
            <a:fillRect/>
          </a:stretch>
        </p:blipFill>
        <p:spPr>
          <a:xfrm>
            <a:off x="3054096" y="2856098"/>
            <a:ext cx="1151972" cy="1151972"/>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2083917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3000" y="-85979"/>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10.3.5 Guided Practice: Determining If a Relation Is a Function</a:t>
            </a:r>
          </a:p>
        </p:txBody>
      </p:sp>
      <p:sp>
        <p:nvSpPr>
          <p:cNvPr id="13" name="TextBox 12">
            <a:extLst>
              <a:ext uri="{FF2B5EF4-FFF2-40B4-BE49-F238E27FC236}">
                <a16:creationId xmlns:a16="http://schemas.microsoft.com/office/drawing/2014/main" id="{C01B13E8-EC8D-E443-A329-C5E3593DD13A}"/>
              </a:ext>
            </a:extLst>
          </p:cNvPr>
          <p:cNvSpPr txBox="1"/>
          <p:nvPr/>
        </p:nvSpPr>
        <p:spPr>
          <a:xfrm>
            <a:off x="914400" y="1207238"/>
            <a:ext cx="10515600" cy="83099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Determine if each relation is a function. Then, explain your reasoning.</a:t>
            </a:r>
          </a:p>
        </p:txBody>
      </p:sp>
      <p:sp>
        <p:nvSpPr>
          <p:cNvPr id="8" name="Google Shape;282;g104476d1465_1_17">
            <a:extLst>
              <a:ext uri="{FF2B5EF4-FFF2-40B4-BE49-F238E27FC236}">
                <a16:creationId xmlns:a16="http://schemas.microsoft.com/office/drawing/2014/main" id="{46EBFD37-657E-6D48-AB68-B97E54ABC53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133</a:t>
            </a:r>
            <a:endParaRPr i="1" dirty="0">
              <a:latin typeface="Calibri"/>
              <a:ea typeface="Calibri"/>
              <a:cs typeface="Calibri"/>
              <a:sym typeface="Calibri"/>
            </a:endParaRPr>
          </a:p>
        </p:txBody>
      </p:sp>
      <p:pic>
        <p:nvPicPr>
          <p:cNvPr id="10" name="image12.png" descr="Icon&#10;&#10;Description automatically generated">
            <a:extLst>
              <a:ext uri="{FF2B5EF4-FFF2-40B4-BE49-F238E27FC236}">
                <a16:creationId xmlns:a16="http://schemas.microsoft.com/office/drawing/2014/main" id="{7DE67484-7CA9-DC46-B94A-45307B67F13B}"/>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65760" y="121287"/>
            <a:ext cx="747299" cy="747299"/>
          </a:xfrm>
          <a:prstGeom prst="rect">
            <a:avLst/>
          </a:prstGeom>
          <a:ln/>
        </p:spPr>
      </p:pic>
      <p:graphicFrame>
        <p:nvGraphicFramePr>
          <p:cNvPr id="2" name="Table 1">
            <a:extLst>
              <a:ext uri="{FF2B5EF4-FFF2-40B4-BE49-F238E27FC236}">
                <a16:creationId xmlns:a16="http://schemas.microsoft.com/office/drawing/2014/main" id="{667E54EB-00AF-534D-BA5F-98406388B4A2}"/>
              </a:ext>
            </a:extLst>
          </p:cNvPr>
          <p:cNvGraphicFramePr>
            <a:graphicFrameLocks noGrp="1"/>
          </p:cNvGraphicFramePr>
          <p:nvPr>
            <p:extLst>
              <p:ext uri="{D42A27DB-BD31-4B8C-83A1-F6EECF244321}">
                <p14:modId xmlns:p14="http://schemas.microsoft.com/office/powerpoint/2010/main" val="3070857933"/>
              </p:ext>
            </p:extLst>
          </p:nvPr>
        </p:nvGraphicFramePr>
        <p:xfrm>
          <a:off x="2228540" y="2243656"/>
          <a:ext cx="7824437" cy="4146950"/>
        </p:xfrm>
        <a:graphic>
          <a:graphicData uri="http://schemas.openxmlformats.org/drawingml/2006/table">
            <a:tbl>
              <a:tblPr firstRow="1" firstCol="1" bandRow="1">
                <a:tableStyleId>{A91F0D33-8C57-4600-99A7-42BC86742BE1}</a:tableStyleId>
              </a:tblPr>
              <a:tblGrid>
                <a:gridCol w="3518439">
                  <a:extLst>
                    <a:ext uri="{9D8B030D-6E8A-4147-A177-3AD203B41FA5}">
                      <a16:colId xmlns:a16="http://schemas.microsoft.com/office/drawing/2014/main" val="2034341304"/>
                    </a:ext>
                  </a:extLst>
                </a:gridCol>
                <a:gridCol w="1843967">
                  <a:extLst>
                    <a:ext uri="{9D8B030D-6E8A-4147-A177-3AD203B41FA5}">
                      <a16:colId xmlns:a16="http://schemas.microsoft.com/office/drawing/2014/main" val="3416660259"/>
                    </a:ext>
                  </a:extLst>
                </a:gridCol>
                <a:gridCol w="2462031">
                  <a:extLst>
                    <a:ext uri="{9D8B030D-6E8A-4147-A177-3AD203B41FA5}">
                      <a16:colId xmlns:a16="http://schemas.microsoft.com/office/drawing/2014/main" val="1373920009"/>
                    </a:ext>
                  </a:extLst>
                </a:gridCol>
              </a:tblGrid>
              <a:tr h="294120">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Relation</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38577" marR="3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Description</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38577" marR="3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Explanation</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38577" marR="3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6204689"/>
                  </a:ext>
                </a:extLst>
              </a:tr>
              <a:tr h="1926415">
                <a:tc>
                  <a:txBody>
                    <a:bodyPr/>
                    <a:lstStyle/>
                    <a:p>
                      <a:pPr marL="0" marR="0" algn="ctr">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38577" marR="3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1600" dirty="0">
                          <a:effectLst/>
                          <a:latin typeface="Verdana" panose="020B0604030504040204" pitchFamily="34" charset="0"/>
                          <a:ea typeface="Verdana" panose="020B0604030504040204" pitchFamily="34" charset="0"/>
                          <a:cs typeface="Verdana" panose="020B0604030504040204" pitchFamily="34" charset="0"/>
                        </a:rPr>
                        <a:t>function</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spcBef>
                          <a:spcPts val="0"/>
                        </a:spcBef>
                        <a:spcAft>
                          <a:spcPts val="0"/>
                        </a:spcAft>
                        <a:buFont typeface="Courier New" panose="02070309020205020404" pitchFamily="49" charset="0"/>
                        <a:buChar char="o"/>
                      </a:pPr>
                      <a:r>
                        <a:rPr lang="en-US" sz="1600" dirty="0">
                          <a:effectLst/>
                          <a:latin typeface="Verdana" panose="020B0604030504040204" pitchFamily="34" charset="0"/>
                          <a:ea typeface="Verdana" panose="020B0604030504040204" pitchFamily="34" charset="0"/>
                          <a:cs typeface="Verdana" panose="020B0604030504040204" pitchFamily="34" charset="0"/>
                        </a:rPr>
                        <a:t>not a function</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38577" marR="3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38577" marR="3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5143233"/>
                  </a:ext>
                </a:extLst>
              </a:tr>
              <a:tr h="1926415">
                <a:tc>
                  <a:txBody>
                    <a:bodyPr/>
                    <a:lstStyle/>
                    <a:p>
                      <a:pPr marL="0" marR="0" algn="ctr">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38577" marR="3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1600">
                          <a:effectLst/>
                          <a:latin typeface="Verdana" panose="020B0604030504040204" pitchFamily="34" charset="0"/>
                          <a:ea typeface="Verdana" panose="020B0604030504040204" pitchFamily="34" charset="0"/>
                          <a:cs typeface="Verdana" panose="020B0604030504040204" pitchFamily="34" charset="0"/>
                        </a:rPr>
                        <a:t>function</a:t>
                      </a:r>
                      <a:endParaRPr lang="en-CO" sz="110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spcBef>
                          <a:spcPts val="0"/>
                        </a:spcBef>
                        <a:spcAft>
                          <a:spcPts val="0"/>
                        </a:spcAft>
                        <a:buFont typeface="Courier New" panose="02070309020205020404" pitchFamily="49" charset="0"/>
                        <a:buChar char="o"/>
                      </a:pPr>
                      <a:r>
                        <a:rPr lang="en-US" sz="1600">
                          <a:effectLst/>
                          <a:latin typeface="Verdana" panose="020B0604030504040204" pitchFamily="34" charset="0"/>
                          <a:ea typeface="Verdana" panose="020B0604030504040204" pitchFamily="34" charset="0"/>
                          <a:cs typeface="Verdana" panose="020B0604030504040204" pitchFamily="34" charset="0"/>
                        </a:rPr>
                        <a:t>not a function</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38577" marR="3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38577" marR="3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0814410"/>
                  </a:ext>
                </a:extLst>
              </a:tr>
            </a:tbl>
          </a:graphicData>
        </a:graphic>
      </p:graphicFrame>
      <p:pic>
        <p:nvPicPr>
          <p:cNvPr id="11" name="Picture 10" descr="Chart, line chart&#10;&#10;Description automatically generated">
            <a:extLst>
              <a:ext uri="{FF2B5EF4-FFF2-40B4-BE49-F238E27FC236}">
                <a16:creationId xmlns:a16="http://schemas.microsoft.com/office/drawing/2014/main" id="{990E1165-8CC6-5C4D-881A-9DB6879F007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074486" y="2603192"/>
            <a:ext cx="1792320" cy="1792320"/>
          </a:xfrm>
          <a:prstGeom prst="rect">
            <a:avLst/>
          </a:prstGeom>
        </p:spPr>
      </p:pic>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EF67E747-F28C-3E4D-90DD-6B86C08EF55A}"/>
                  </a:ext>
                </a:extLst>
              </p:cNvPr>
              <p:cNvGraphicFramePr>
                <a:graphicFrameLocks noGrp="1"/>
              </p:cNvGraphicFramePr>
              <p:nvPr>
                <p:extLst>
                  <p:ext uri="{D42A27DB-BD31-4B8C-83A1-F6EECF244321}">
                    <p14:modId xmlns:p14="http://schemas.microsoft.com/office/powerpoint/2010/main" val="1822127816"/>
                  </p:ext>
                </p:extLst>
              </p:nvPr>
            </p:nvGraphicFramePr>
            <p:xfrm>
              <a:off x="3389429" y="4538912"/>
              <a:ext cx="1162434" cy="1792319"/>
            </p:xfrm>
            <a:graphic>
              <a:graphicData uri="http://schemas.openxmlformats.org/drawingml/2006/table">
                <a:tbl>
                  <a:tblPr firstRow="1" firstCol="1" bandRow="1">
                    <a:tableStyleId>{A91F0D33-8C57-4600-99A7-42BC86742BE1}</a:tableStyleId>
                  </a:tblPr>
                  <a:tblGrid>
                    <a:gridCol w="581217">
                      <a:extLst>
                        <a:ext uri="{9D8B030D-6E8A-4147-A177-3AD203B41FA5}">
                          <a16:colId xmlns:a16="http://schemas.microsoft.com/office/drawing/2014/main" val="1211031457"/>
                        </a:ext>
                      </a:extLst>
                    </a:gridCol>
                    <a:gridCol w="581217">
                      <a:extLst>
                        <a:ext uri="{9D8B030D-6E8A-4147-A177-3AD203B41FA5}">
                          <a16:colId xmlns:a16="http://schemas.microsoft.com/office/drawing/2014/main" val="1499225150"/>
                        </a:ext>
                      </a:extLst>
                    </a:gridCol>
                  </a:tblGrid>
                  <a:tr h="270126">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200">
                                    <a:effectLst/>
                                    <a:latin typeface="Cambria Math" panose="02040503050406030204" pitchFamily="18" charset="0"/>
                                  </a:rPr>
                                  <m:t>𝒙</m:t>
                                </m:r>
                              </m:oMath>
                            </m:oMathPara>
                          </a14:m>
                          <a:endParaRPr lang="en-CO" sz="700" dirty="0">
                            <a:effectLst/>
                            <a:latin typeface="Verdana" panose="020B0604030504040204" pitchFamily="34" charset="0"/>
                            <a:ea typeface="Verdana" panose="020B0604030504040204" pitchFamily="34" charset="0"/>
                            <a:cs typeface="Verdana" panose="020B0604030504040204" pitchFamily="34" charset="0"/>
                          </a:endParaRPr>
                        </a:p>
                      </a:txBody>
                      <a:tcPr marL="43804" marR="4380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200">
                                    <a:effectLst/>
                                    <a:latin typeface="Cambria Math" panose="02040503050406030204" pitchFamily="18" charset="0"/>
                                  </a:rPr>
                                  <m:t>𝒚</m:t>
                                </m:r>
                              </m:oMath>
                            </m:oMathPara>
                          </a14:m>
                          <a:endParaRPr lang="en-CO" sz="700" dirty="0">
                            <a:effectLst/>
                            <a:latin typeface="Verdana" panose="020B0604030504040204" pitchFamily="34" charset="0"/>
                            <a:ea typeface="Verdana" panose="020B0604030504040204" pitchFamily="34" charset="0"/>
                            <a:cs typeface="Verdana" panose="020B0604030504040204" pitchFamily="34" charset="0"/>
                          </a:endParaRPr>
                        </a:p>
                      </a:txBody>
                      <a:tcPr marL="43804" marR="4380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1059959984"/>
                      </a:ext>
                    </a:extLst>
                  </a:tr>
                  <a:tr h="369902">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200">
                                    <a:effectLst/>
                                    <a:latin typeface="Cambria Math" panose="02040503050406030204" pitchFamily="18" charset="0"/>
                                  </a:rPr>
                                  <m:t>−2.5</m:t>
                                </m:r>
                              </m:oMath>
                            </m:oMathPara>
                          </a14:m>
                          <a:endParaRPr lang="en-CO" sz="700">
                            <a:effectLst/>
                            <a:latin typeface="Cambria" panose="02040503050406030204" pitchFamily="18" charset="0"/>
                            <a:ea typeface="Times New Roman" panose="02020603050405020304" pitchFamily="18" charset="0"/>
                            <a:cs typeface="Times New Roman" panose="02020603050405020304" pitchFamily="18" charset="0"/>
                          </a:endParaRPr>
                        </a:p>
                      </a:txBody>
                      <a:tcPr marL="43804" marR="4380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f>
                                <m:fPr>
                                  <m:ctrlPr>
                                    <a:rPr lang="en-CO" sz="1200" i="1">
                                      <a:effectLst/>
                                      <a:latin typeface="Cambria Math" panose="02040503050406030204" pitchFamily="18" charset="0"/>
                                    </a:rPr>
                                  </m:ctrlPr>
                                </m:fPr>
                                <m:num>
                                  <m:r>
                                    <a:rPr lang="en-US" sz="1200">
                                      <a:effectLst/>
                                      <a:latin typeface="Cambria Math" panose="02040503050406030204" pitchFamily="18" charset="0"/>
                                    </a:rPr>
                                    <m:t>3</m:t>
                                  </m:r>
                                </m:num>
                                <m:den>
                                  <m:r>
                                    <a:rPr lang="en-US" sz="1200">
                                      <a:effectLst/>
                                      <a:latin typeface="Cambria Math" panose="02040503050406030204" pitchFamily="18" charset="0"/>
                                    </a:rPr>
                                    <m:t>4</m:t>
                                  </m:r>
                                </m:den>
                              </m:f>
                            </m:oMath>
                          </a14:m>
                          <a:r>
                            <a:rPr lang="en-US" sz="1200" dirty="0">
                              <a:effectLst/>
                            </a:rPr>
                            <a:t> </a:t>
                          </a:r>
                          <a:endParaRPr lang="en-CO" sz="7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43804" marR="4380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9291254"/>
                      </a:ext>
                    </a:extLst>
                  </a:tr>
                  <a:tr h="384097">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200">
                                    <a:effectLst/>
                                    <a:latin typeface="Cambria Math" panose="02040503050406030204" pitchFamily="18" charset="0"/>
                                  </a:rPr>
                                  <m:t>−1.7</m:t>
                                </m:r>
                              </m:oMath>
                            </m:oMathPara>
                          </a14:m>
                          <a:endParaRPr lang="en-CO" sz="700">
                            <a:effectLst/>
                            <a:latin typeface="Cambria" panose="02040503050406030204" pitchFamily="18" charset="0"/>
                            <a:ea typeface="Times New Roman" panose="02020603050405020304" pitchFamily="18" charset="0"/>
                            <a:cs typeface="Times New Roman" panose="02020603050405020304" pitchFamily="18" charset="0"/>
                          </a:endParaRPr>
                        </a:p>
                      </a:txBody>
                      <a:tcPr marL="43804" marR="4380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f>
                                <m:fPr>
                                  <m:ctrlPr>
                                    <a:rPr lang="en-CO" sz="1200" i="1">
                                      <a:effectLst/>
                                      <a:latin typeface="Cambria Math" panose="02040503050406030204" pitchFamily="18" charset="0"/>
                                    </a:rPr>
                                  </m:ctrlPr>
                                </m:fPr>
                                <m:num>
                                  <m:r>
                                    <a:rPr lang="en-US" sz="1200">
                                      <a:effectLst/>
                                      <a:latin typeface="Cambria Math" panose="02040503050406030204" pitchFamily="18" charset="0"/>
                                    </a:rPr>
                                    <m:t>3</m:t>
                                  </m:r>
                                </m:num>
                                <m:den>
                                  <m:r>
                                    <a:rPr lang="en-US" sz="1200">
                                      <a:effectLst/>
                                      <a:latin typeface="Cambria Math" panose="02040503050406030204" pitchFamily="18" charset="0"/>
                                    </a:rPr>
                                    <m:t>4</m:t>
                                  </m:r>
                                </m:den>
                              </m:f>
                            </m:oMath>
                          </a14:m>
                          <a:r>
                            <a:rPr lang="en-US" sz="1200">
                              <a:effectLst/>
                            </a:rPr>
                            <a:t> </a:t>
                          </a:r>
                          <a:endParaRPr lang="en-CO" sz="700">
                            <a:effectLst/>
                            <a:latin typeface="Cambria" panose="02040503050406030204" pitchFamily="18" charset="0"/>
                            <a:ea typeface="Times New Roman" panose="02020603050405020304" pitchFamily="18" charset="0"/>
                            <a:cs typeface="Times New Roman" panose="02020603050405020304" pitchFamily="18" charset="0"/>
                          </a:endParaRPr>
                        </a:p>
                      </a:txBody>
                      <a:tcPr marL="43804" marR="4380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7497960"/>
                      </a:ext>
                    </a:extLst>
                  </a:tr>
                  <a:tr h="384097">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200">
                                    <a:effectLst/>
                                    <a:latin typeface="Cambria Math" panose="02040503050406030204" pitchFamily="18" charset="0"/>
                                  </a:rPr>
                                  <m:t>0</m:t>
                                </m:r>
                              </m:oMath>
                            </m:oMathPara>
                          </a14:m>
                          <a:endParaRPr lang="en-CO" sz="700">
                            <a:effectLst/>
                            <a:latin typeface="Cambria" panose="02040503050406030204" pitchFamily="18" charset="0"/>
                            <a:ea typeface="Times New Roman" panose="02020603050405020304" pitchFamily="18" charset="0"/>
                            <a:cs typeface="Times New Roman" panose="02020603050405020304" pitchFamily="18" charset="0"/>
                          </a:endParaRPr>
                        </a:p>
                      </a:txBody>
                      <a:tcPr marL="43804" marR="4380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f>
                                <m:fPr>
                                  <m:ctrlPr>
                                    <a:rPr lang="en-CO" sz="1200" i="1">
                                      <a:effectLst/>
                                      <a:latin typeface="Cambria Math" panose="02040503050406030204" pitchFamily="18" charset="0"/>
                                    </a:rPr>
                                  </m:ctrlPr>
                                </m:fPr>
                                <m:num>
                                  <m:r>
                                    <a:rPr lang="en-US" sz="1200">
                                      <a:effectLst/>
                                      <a:latin typeface="Cambria Math" panose="02040503050406030204" pitchFamily="18" charset="0"/>
                                    </a:rPr>
                                    <m:t>3</m:t>
                                  </m:r>
                                </m:num>
                                <m:den>
                                  <m:r>
                                    <a:rPr lang="en-US" sz="1200">
                                      <a:effectLst/>
                                      <a:latin typeface="Cambria Math" panose="02040503050406030204" pitchFamily="18" charset="0"/>
                                    </a:rPr>
                                    <m:t>4</m:t>
                                  </m:r>
                                </m:den>
                              </m:f>
                            </m:oMath>
                          </a14:m>
                          <a:r>
                            <a:rPr lang="en-US" sz="1200">
                              <a:effectLst/>
                            </a:rPr>
                            <a:t> </a:t>
                          </a:r>
                          <a:endParaRPr lang="en-CO" sz="700">
                            <a:effectLst/>
                            <a:latin typeface="Cambria" panose="02040503050406030204" pitchFamily="18" charset="0"/>
                            <a:ea typeface="Times New Roman" panose="02020603050405020304" pitchFamily="18" charset="0"/>
                            <a:cs typeface="Times New Roman" panose="02020603050405020304" pitchFamily="18" charset="0"/>
                          </a:endParaRPr>
                        </a:p>
                      </a:txBody>
                      <a:tcPr marL="43804" marR="4380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9960965"/>
                      </a:ext>
                    </a:extLst>
                  </a:tr>
                  <a:tr h="384097">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200">
                                    <a:effectLst/>
                                    <a:latin typeface="Cambria Math" panose="02040503050406030204" pitchFamily="18" charset="0"/>
                                  </a:rPr>
                                  <m:t>8</m:t>
                                </m:r>
                              </m:oMath>
                            </m:oMathPara>
                          </a14:m>
                          <a:endParaRPr lang="en-CO" sz="700">
                            <a:effectLst/>
                            <a:latin typeface="Cambria" panose="02040503050406030204" pitchFamily="18" charset="0"/>
                            <a:ea typeface="Times New Roman" panose="02020603050405020304" pitchFamily="18" charset="0"/>
                            <a:cs typeface="Times New Roman" panose="02020603050405020304" pitchFamily="18" charset="0"/>
                          </a:endParaRPr>
                        </a:p>
                      </a:txBody>
                      <a:tcPr marL="43804" marR="4380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f>
                                <m:fPr>
                                  <m:ctrlPr>
                                    <a:rPr lang="en-CO" sz="1200" i="1">
                                      <a:effectLst/>
                                      <a:latin typeface="Cambria Math" panose="02040503050406030204" pitchFamily="18" charset="0"/>
                                    </a:rPr>
                                  </m:ctrlPr>
                                </m:fPr>
                                <m:num>
                                  <m:r>
                                    <a:rPr lang="en-US" sz="1200">
                                      <a:effectLst/>
                                      <a:latin typeface="Cambria Math" panose="02040503050406030204" pitchFamily="18" charset="0"/>
                                    </a:rPr>
                                    <m:t>3</m:t>
                                  </m:r>
                                </m:num>
                                <m:den>
                                  <m:r>
                                    <a:rPr lang="en-US" sz="1200">
                                      <a:effectLst/>
                                      <a:latin typeface="Cambria Math" panose="02040503050406030204" pitchFamily="18" charset="0"/>
                                    </a:rPr>
                                    <m:t>4</m:t>
                                  </m:r>
                                </m:den>
                              </m:f>
                            </m:oMath>
                          </a14:m>
                          <a:r>
                            <a:rPr lang="en-US" sz="1200" dirty="0">
                              <a:effectLst/>
                            </a:rPr>
                            <a:t> </a:t>
                          </a:r>
                          <a:endParaRPr lang="en-CO" sz="7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43804" marR="4380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1002609"/>
                      </a:ext>
                    </a:extLst>
                  </a:tr>
                </a:tbl>
              </a:graphicData>
            </a:graphic>
          </p:graphicFrame>
        </mc:Choice>
        <mc:Fallback>
          <p:graphicFrame>
            <p:nvGraphicFramePr>
              <p:cNvPr id="3" name="Table 2">
                <a:extLst>
                  <a:ext uri="{FF2B5EF4-FFF2-40B4-BE49-F238E27FC236}">
                    <a16:creationId xmlns:a16="http://schemas.microsoft.com/office/drawing/2014/main" id="{EF67E747-F28C-3E4D-90DD-6B86C08EF55A}"/>
                  </a:ext>
                </a:extLst>
              </p:cNvPr>
              <p:cNvGraphicFramePr>
                <a:graphicFrameLocks noGrp="1"/>
              </p:cNvGraphicFramePr>
              <p:nvPr>
                <p:extLst>
                  <p:ext uri="{D42A27DB-BD31-4B8C-83A1-F6EECF244321}">
                    <p14:modId xmlns:p14="http://schemas.microsoft.com/office/powerpoint/2010/main" val="1822127816"/>
                  </p:ext>
                </p:extLst>
              </p:nvPr>
            </p:nvGraphicFramePr>
            <p:xfrm>
              <a:off x="3389429" y="4538912"/>
              <a:ext cx="1162434" cy="1792319"/>
            </p:xfrm>
            <a:graphic>
              <a:graphicData uri="http://schemas.openxmlformats.org/drawingml/2006/table">
                <a:tbl>
                  <a:tblPr firstRow="1" firstCol="1" bandRow="1">
                    <a:tableStyleId>{A91F0D33-8C57-4600-99A7-42BC86742BE1}</a:tableStyleId>
                  </a:tblPr>
                  <a:tblGrid>
                    <a:gridCol w="581217">
                      <a:extLst>
                        <a:ext uri="{9D8B030D-6E8A-4147-A177-3AD203B41FA5}">
                          <a16:colId xmlns:a16="http://schemas.microsoft.com/office/drawing/2014/main" val="1211031457"/>
                        </a:ext>
                      </a:extLst>
                    </a:gridCol>
                    <a:gridCol w="581217">
                      <a:extLst>
                        <a:ext uri="{9D8B030D-6E8A-4147-A177-3AD203B41FA5}">
                          <a16:colId xmlns:a16="http://schemas.microsoft.com/office/drawing/2014/main" val="1499225150"/>
                        </a:ext>
                      </a:extLst>
                    </a:gridCol>
                  </a:tblGrid>
                  <a:tr h="270126">
                    <a:tc>
                      <a:txBody>
                        <a:bodyPr/>
                        <a:lstStyle/>
                        <a:p>
                          <a:endParaRPr lang="en-US"/>
                        </a:p>
                      </a:txBody>
                      <a:tcPr marL="43804" marR="4380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083" t="-2273" r="-101042" b="-575000"/>
                          </a:stretch>
                        </a:blipFill>
                      </a:tcPr>
                    </a:tc>
                    <a:tc>
                      <a:txBody>
                        <a:bodyPr/>
                        <a:lstStyle/>
                        <a:p>
                          <a:endParaRPr lang="en-US"/>
                        </a:p>
                      </a:txBody>
                      <a:tcPr marL="43804" marR="4380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3158" t="-2273" r="-2105" b="-575000"/>
                          </a:stretch>
                        </a:blipFill>
                      </a:tcPr>
                    </a:tc>
                    <a:extLst>
                      <a:ext uri="{0D108BD9-81ED-4DB2-BD59-A6C34878D82A}">
                        <a16:rowId xmlns:a16="http://schemas.microsoft.com/office/drawing/2014/main" val="1059959984"/>
                      </a:ext>
                    </a:extLst>
                  </a:tr>
                  <a:tr h="369902">
                    <a:tc>
                      <a:txBody>
                        <a:bodyPr/>
                        <a:lstStyle/>
                        <a:p>
                          <a:endParaRPr lang="en-US"/>
                        </a:p>
                      </a:txBody>
                      <a:tcPr marL="43804" marR="4380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083" t="-73770" r="-101042" b="-314754"/>
                          </a:stretch>
                        </a:blipFill>
                      </a:tcPr>
                    </a:tc>
                    <a:tc>
                      <a:txBody>
                        <a:bodyPr/>
                        <a:lstStyle/>
                        <a:p>
                          <a:endParaRPr lang="en-US"/>
                        </a:p>
                      </a:txBody>
                      <a:tcPr marL="43804" marR="4380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3158" t="-73770" r="-2105" b="-314754"/>
                          </a:stretch>
                        </a:blipFill>
                      </a:tcPr>
                    </a:tc>
                    <a:extLst>
                      <a:ext uri="{0D108BD9-81ED-4DB2-BD59-A6C34878D82A}">
                        <a16:rowId xmlns:a16="http://schemas.microsoft.com/office/drawing/2014/main" val="2549291254"/>
                      </a:ext>
                    </a:extLst>
                  </a:tr>
                  <a:tr h="384097">
                    <a:tc>
                      <a:txBody>
                        <a:bodyPr/>
                        <a:lstStyle/>
                        <a:p>
                          <a:endParaRPr lang="en-US"/>
                        </a:p>
                      </a:txBody>
                      <a:tcPr marL="43804" marR="4380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083" t="-165625" r="-101042" b="-200000"/>
                          </a:stretch>
                        </a:blipFill>
                      </a:tcPr>
                    </a:tc>
                    <a:tc>
                      <a:txBody>
                        <a:bodyPr/>
                        <a:lstStyle/>
                        <a:p>
                          <a:endParaRPr lang="en-US"/>
                        </a:p>
                      </a:txBody>
                      <a:tcPr marL="43804" marR="4380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3158" t="-165625" r="-2105" b="-200000"/>
                          </a:stretch>
                        </a:blipFill>
                      </a:tcPr>
                    </a:tc>
                    <a:extLst>
                      <a:ext uri="{0D108BD9-81ED-4DB2-BD59-A6C34878D82A}">
                        <a16:rowId xmlns:a16="http://schemas.microsoft.com/office/drawing/2014/main" val="1797497960"/>
                      </a:ext>
                    </a:extLst>
                  </a:tr>
                  <a:tr h="384097">
                    <a:tc>
                      <a:txBody>
                        <a:bodyPr/>
                        <a:lstStyle/>
                        <a:p>
                          <a:endParaRPr lang="en-US"/>
                        </a:p>
                      </a:txBody>
                      <a:tcPr marL="43804" marR="4380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083" t="-269841" r="-101042" b="-103175"/>
                          </a:stretch>
                        </a:blipFill>
                      </a:tcPr>
                    </a:tc>
                    <a:tc>
                      <a:txBody>
                        <a:bodyPr/>
                        <a:lstStyle/>
                        <a:p>
                          <a:endParaRPr lang="en-US"/>
                        </a:p>
                      </a:txBody>
                      <a:tcPr marL="43804" marR="4380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3158" t="-269841" r="-2105" b="-103175"/>
                          </a:stretch>
                        </a:blipFill>
                      </a:tcPr>
                    </a:tc>
                    <a:extLst>
                      <a:ext uri="{0D108BD9-81ED-4DB2-BD59-A6C34878D82A}">
                        <a16:rowId xmlns:a16="http://schemas.microsoft.com/office/drawing/2014/main" val="3239960965"/>
                      </a:ext>
                    </a:extLst>
                  </a:tr>
                  <a:tr h="384097">
                    <a:tc>
                      <a:txBody>
                        <a:bodyPr/>
                        <a:lstStyle/>
                        <a:p>
                          <a:endParaRPr lang="en-US"/>
                        </a:p>
                      </a:txBody>
                      <a:tcPr marL="43804" marR="4380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083" t="-369841" r="-101042" b="-3175"/>
                          </a:stretch>
                        </a:blipFill>
                      </a:tcPr>
                    </a:tc>
                    <a:tc>
                      <a:txBody>
                        <a:bodyPr/>
                        <a:lstStyle/>
                        <a:p>
                          <a:endParaRPr lang="en-US"/>
                        </a:p>
                      </a:txBody>
                      <a:tcPr marL="43804" marR="4380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3158" t="-369841" r="-2105" b="-3175"/>
                          </a:stretch>
                        </a:blipFill>
                      </a:tcPr>
                    </a:tc>
                    <a:extLst>
                      <a:ext uri="{0D108BD9-81ED-4DB2-BD59-A6C34878D82A}">
                        <a16:rowId xmlns:a16="http://schemas.microsoft.com/office/drawing/2014/main" val="881002609"/>
                      </a:ext>
                    </a:extLst>
                  </a:tr>
                </a:tbl>
              </a:graphicData>
            </a:graphic>
          </p:graphicFrame>
        </mc:Fallback>
      </mc:AlternateContent>
    </p:spTree>
    <p:extLst>
      <p:ext uri="{BB962C8B-B14F-4D97-AF65-F5344CB8AC3E}">
        <p14:creationId xmlns:p14="http://schemas.microsoft.com/office/powerpoint/2010/main" val="5346170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134</a:t>
            </a:r>
            <a:endParaRPr i="1" dirty="0">
              <a:latin typeface="Calibri"/>
              <a:ea typeface="Calibri"/>
              <a:cs typeface="Calibri"/>
              <a:sym typeface="Calibri"/>
            </a:endParaRPr>
          </a:p>
        </p:txBody>
      </p:sp>
      <p:pic>
        <p:nvPicPr>
          <p:cNvPr id="9" name="image3.png" descr="Icon&#10;&#10;Description automatically generated">
            <a:extLst>
              <a:ext uri="{FF2B5EF4-FFF2-40B4-BE49-F238E27FC236}">
                <a16:creationId xmlns:a16="http://schemas.microsoft.com/office/drawing/2014/main" id="{C71A7D81-B1F7-2349-BDCC-9B1A37F84A1F}"/>
              </a:ext>
            </a:extLst>
          </p:cNvPr>
          <p:cNvPicPr/>
          <p:nvPr/>
        </p:nvPicPr>
        <p:blipFill>
          <a:blip r:embed="rId4"/>
          <a:srcRect/>
          <a:stretch>
            <a:fillRect/>
          </a:stretch>
        </p:blipFill>
        <p:spPr>
          <a:xfrm>
            <a:off x="3054096" y="2855398"/>
            <a:ext cx="1152672" cy="1152672"/>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7323294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3000" y="-85979"/>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400" b="1" dirty="0">
                <a:solidFill>
                  <a:srgbClr val="E24E5F"/>
                </a:solidFill>
                <a:latin typeface="Verdana"/>
                <a:ea typeface="Verdana"/>
                <a:cs typeface="Verdana"/>
                <a:sym typeface="Verdana"/>
              </a:rPr>
              <a:t>10.3.6 Your Turn!</a:t>
            </a:r>
          </a:p>
        </p:txBody>
      </p:sp>
      <p:sp>
        <p:nvSpPr>
          <p:cNvPr id="13" name="TextBox 12">
            <a:extLst>
              <a:ext uri="{FF2B5EF4-FFF2-40B4-BE49-F238E27FC236}">
                <a16:creationId xmlns:a16="http://schemas.microsoft.com/office/drawing/2014/main" id="{C01B13E8-EC8D-E443-A329-C5E3593DD13A}"/>
              </a:ext>
            </a:extLst>
          </p:cNvPr>
          <p:cNvSpPr txBox="1"/>
          <p:nvPr/>
        </p:nvSpPr>
        <p:spPr>
          <a:xfrm>
            <a:off x="914400" y="1056912"/>
            <a:ext cx="10343408" cy="400110"/>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Determine if each relation is a function. Then, explain your reasoning.</a:t>
            </a:r>
          </a:p>
        </p:txBody>
      </p:sp>
      <p:sp>
        <p:nvSpPr>
          <p:cNvPr id="8" name="Google Shape;282;g104476d1465_1_17">
            <a:extLst>
              <a:ext uri="{FF2B5EF4-FFF2-40B4-BE49-F238E27FC236}">
                <a16:creationId xmlns:a16="http://schemas.microsoft.com/office/drawing/2014/main" id="{46EBFD37-657E-6D48-AB68-B97E54ABC53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134</a:t>
            </a:r>
            <a:endParaRPr i="1" dirty="0">
              <a:latin typeface="Calibri"/>
              <a:ea typeface="Calibri"/>
              <a:cs typeface="Calibri"/>
              <a:sym typeface="Calibri"/>
            </a:endParaRPr>
          </a:p>
        </p:txBody>
      </p:sp>
      <p:pic>
        <p:nvPicPr>
          <p:cNvPr id="10" name="image3.png" descr="Icon&#10;&#10;Description automatically generated">
            <a:extLst>
              <a:ext uri="{FF2B5EF4-FFF2-40B4-BE49-F238E27FC236}">
                <a16:creationId xmlns:a16="http://schemas.microsoft.com/office/drawing/2014/main" id="{F097D0B4-9ADF-404A-AB11-9950F64312A7}"/>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65760" y="121286"/>
            <a:ext cx="747300" cy="747300"/>
          </a:xfrm>
          <a:prstGeom prst="rect">
            <a:avLst/>
          </a:prstGeom>
          <a:ln/>
        </p:spPr>
      </p:pic>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id="{A7D9688E-D72A-094C-B9BB-04B40625A61D}"/>
                  </a:ext>
                </a:extLst>
              </p:cNvPr>
              <p:cNvGraphicFramePr>
                <a:graphicFrameLocks noGrp="1"/>
              </p:cNvGraphicFramePr>
              <p:nvPr>
                <p:extLst>
                  <p:ext uri="{D42A27DB-BD31-4B8C-83A1-F6EECF244321}">
                    <p14:modId xmlns:p14="http://schemas.microsoft.com/office/powerpoint/2010/main" val="3834128599"/>
                  </p:ext>
                </p:extLst>
              </p:nvPr>
            </p:nvGraphicFramePr>
            <p:xfrm>
              <a:off x="2024933" y="1628880"/>
              <a:ext cx="7911943" cy="5025252"/>
            </p:xfrm>
            <a:graphic>
              <a:graphicData uri="http://schemas.openxmlformats.org/drawingml/2006/table">
                <a:tbl>
                  <a:tblPr firstRow="1" firstCol="1" bandRow="1">
                    <a:tableStyleId>{A91F0D33-8C57-4600-99A7-42BC86742BE1}</a:tableStyleId>
                  </a:tblPr>
                  <a:tblGrid>
                    <a:gridCol w="3302536">
                      <a:extLst>
                        <a:ext uri="{9D8B030D-6E8A-4147-A177-3AD203B41FA5}">
                          <a16:colId xmlns:a16="http://schemas.microsoft.com/office/drawing/2014/main" val="3347328863"/>
                        </a:ext>
                      </a:extLst>
                    </a:gridCol>
                    <a:gridCol w="1843763">
                      <a:extLst>
                        <a:ext uri="{9D8B030D-6E8A-4147-A177-3AD203B41FA5}">
                          <a16:colId xmlns:a16="http://schemas.microsoft.com/office/drawing/2014/main" val="2986885062"/>
                        </a:ext>
                      </a:extLst>
                    </a:gridCol>
                    <a:gridCol w="2765644">
                      <a:extLst>
                        <a:ext uri="{9D8B030D-6E8A-4147-A177-3AD203B41FA5}">
                          <a16:colId xmlns:a16="http://schemas.microsoft.com/office/drawing/2014/main" val="3303846378"/>
                        </a:ext>
                      </a:extLst>
                    </a:gridCol>
                  </a:tblGrid>
                  <a:tr h="279146">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Relation</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Description</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Explanation</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104350829"/>
                      </a:ext>
                    </a:extLst>
                  </a:tr>
                  <a:tr h="988493">
                    <a:tc>
                      <a:txBody>
                        <a:bodyPr/>
                        <a:lstStyle/>
                        <a:p>
                          <a:pPr marL="0" marR="0" algn="ctr">
                            <a:spcBef>
                              <a:spcPts val="0"/>
                            </a:spcBef>
                            <a:spcAft>
                              <a:spcPts val="0"/>
                            </a:spcAft>
                          </a:pPr>
                          <a14:m>
                            <m:oMath xmlns:m="http://schemas.openxmlformats.org/officeDocument/2006/math">
                              <m:r>
                                <a:rPr lang="en-US" sz="1800">
                                  <a:effectLst/>
                                  <a:latin typeface="Cambria Math" panose="02040503050406030204" pitchFamily="18" charset="0"/>
                                </a:rPr>
                                <m:t>{(3, 7), </m:t>
                              </m:r>
                              <m:d>
                                <m:dPr>
                                  <m:ctrlPr>
                                    <a:rPr lang="en-CO" sz="1800" i="1">
                                      <a:effectLst/>
                                      <a:latin typeface="Cambria Math" panose="02040503050406030204" pitchFamily="18" charset="0"/>
                                    </a:rPr>
                                  </m:ctrlPr>
                                </m:dPr>
                                <m:e>
                                  <m:f>
                                    <m:fPr>
                                      <m:ctrlPr>
                                        <a:rPr lang="en-CO" sz="1800" i="1">
                                          <a:effectLst/>
                                          <a:latin typeface="Cambria Math" panose="02040503050406030204" pitchFamily="18" charset="0"/>
                                        </a:rPr>
                                      </m:ctrlPr>
                                    </m:fPr>
                                    <m:num>
                                      <m:r>
                                        <a:rPr lang="en-US" sz="1800">
                                          <a:effectLst/>
                                          <a:latin typeface="Cambria Math" panose="02040503050406030204" pitchFamily="18" charset="0"/>
                                        </a:rPr>
                                        <m:t>1</m:t>
                                      </m:r>
                                    </m:num>
                                    <m:den>
                                      <m:r>
                                        <a:rPr lang="en-US" sz="1800">
                                          <a:effectLst/>
                                          <a:latin typeface="Cambria Math" panose="02040503050406030204" pitchFamily="18" charset="0"/>
                                        </a:rPr>
                                        <m:t>3</m:t>
                                      </m:r>
                                    </m:den>
                                  </m:f>
                                  <m:r>
                                    <a:rPr lang="en-US" sz="1800">
                                      <a:effectLst/>
                                      <a:latin typeface="Cambria Math" panose="02040503050406030204" pitchFamily="18" charset="0"/>
                                    </a:rPr>
                                    <m:t>, 2</m:t>
                                  </m:r>
                                </m:e>
                              </m:d>
                              <m:r>
                                <a:rPr lang="en-US" sz="1800">
                                  <a:effectLst/>
                                  <a:latin typeface="Cambria Math" panose="02040503050406030204" pitchFamily="18" charset="0"/>
                                </a:rPr>
                                <m:t>, (−4, 0.6), (0, 2)}</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40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1400">
                              <a:effectLst/>
                              <a:latin typeface="Verdana" panose="020B0604030504040204" pitchFamily="34" charset="0"/>
                              <a:ea typeface="Verdana" panose="020B0604030504040204" pitchFamily="34" charset="0"/>
                              <a:cs typeface="Verdana" panose="020B0604030504040204" pitchFamily="34" charset="0"/>
                            </a:rPr>
                            <a:t>function</a:t>
                          </a:r>
                          <a:endParaRPr lang="en-CO" sz="110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spcBef>
                              <a:spcPts val="0"/>
                            </a:spcBef>
                            <a:spcAft>
                              <a:spcPts val="0"/>
                            </a:spcAft>
                            <a:buFont typeface="Courier New" panose="02070309020205020404" pitchFamily="49" charset="0"/>
                            <a:buChar char="o"/>
                          </a:pPr>
                          <a:r>
                            <a:rPr lang="en-US" sz="1400">
                              <a:effectLst/>
                              <a:latin typeface="Verdana" panose="020B0604030504040204" pitchFamily="34" charset="0"/>
                              <a:ea typeface="Verdana" panose="020B0604030504040204" pitchFamily="34" charset="0"/>
                              <a:cs typeface="Verdana" panose="020B0604030504040204" pitchFamily="34" charset="0"/>
                            </a:rPr>
                            <a:t>not a function</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3527938"/>
                      </a:ext>
                    </a:extLst>
                  </a:tr>
                  <a:tr h="2143125">
                    <a:tc>
                      <a:txBody>
                        <a:bodyPr/>
                        <a:lstStyle/>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1400" dirty="0">
                              <a:effectLst/>
                              <a:latin typeface="Verdana" panose="020B0604030504040204" pitchFamily="34" charset="0"/>
                              <a:ea typeface="Verdana" panose="020B0604030504040204" pitchFamily="34" charset="0"/>
                              <a:cs typeface="Verdana" panose="020B0604030504040204" pitchFamily="34" charset="0"/>
                            </a:rPr>
                            <a:t>function</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spcBef>
                              <a:spcPts val="0"/>
                            </a:spcBef>
                            <a:spcAft>
                              <a:spcPts val="0"/>
                            </a:spcAft>
                            <a:buFont typeface="Courier New" panose="02070309020205020404" pitchFamily="49" charset="0"/>
                            <a:buChar char="o"/>
                          </a:pPr>
                          <a:r>
                            <a:rPr lang="en-US" sz="1400" dirty="0">
                              <a:effectLst/>
                              <a:latin typeface="Verdana" panose="020B0604030504040204" pitchFamily="34" charset="0"/>
                              <a:ea typeface="Verdana" panose="020B0604030504040204" pitchFamily="34" charset="0"/>
                              <a:cs typeface="Verdana" panose="020B0604030504040204" pitchFamily="34" charset="0"/>
                            </a:rPr>
                            <a:t>not a function</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7914187"/>
                      </a:ext>
                    </a:extLst>
                  </a:tr>
                  <a:tr h="1614488">
                    <a:tc>
                      <a:txBody>
                        <a:bodyPr/>
                        <a:lstStyle/>
                        <a:p>
                          <a:pPr marL="0" marR="0" algn="ctr">
                            <a:spcBef>
                              <a:spcPts val="0"/>
                            </a:spcBef>
                            <a:spcAft>
                              <a:spcPts val="0"/>
                            </a:spcAft>
                          </a:pPr>
                          <a:r>
                            <a:rPr lang="en-US" sz="11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1400">
                              <a:effectLst/>
                              <a:latin typeface="Verdana" panose="020B0604030504040204" pitchFamily="34" charset="0"/>
                              <a:ea typeface="Verdana" panose="020B0604030504040204" pitchFamily="34" charset="0"/>
                              <a:cs typeface="Verdana" panose="020B0604030504040204" pitchFamily="34" charset="0"/>
                            </a:rPr>
                            <a:t>function</a:t>
                          </a:r>
                          <a:endParaRPr lang="en-CO" sz="110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spcBef>
                              <a:spcPts val="0"/>
                            </a:spcBef>
                            <a:spcAft>
                              <a:spcPts val="0"/>
                            </a:spcAft>
                            <a:buFont typeface="Courier New" panose="02070309020205020404" pitchFamily="49" charset="0"/>
                            <a:buChar char="o"/>
                          </a:pPr>
                          <a:r>
                            <a:rPr lang="en-US" sz="1400">
                              <a:effectLst/>
                              <a:latin typeface="Verdana" panose="020B0604030504040204" pitchFamily="34" charset="0"/>
                              <a:ea typeface="Verdana" panose="020B0604030504040204" pitchFamily="34" charset="0"/>
                              <a:cs typeface="Verdana" panose="020B0604030504040204" pitchFamily="34" charset="0"/>
                            </a:rPr>
                            <a:t>not a function</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4005115"/>
                      </a:ext>
                    </a:extLst>
                  </a:tr>
                </a:tbl>
              </a:graphicData>
            </a:graphic>
          </p:graphicFrame>
        </mc:Choice>
        <mc:Fallback>
          <p:graphicFrame>
            <p:nvGraphicFramePr>
              <p:cNvPr id="2" name="Table 1">
                <a:extLst>
                  <a:ext uri="{FF2B5EF4-FFF2-40B4-BE49-F238E27FC236}">
                    <a16:creationId xmlns:a16="http://schemas.microsoft.com/office/drawing/2014/main" id="{A7D9688E-D72A-094C-B9BB-04B40625A61D}"/>
                  </a:ext>
                </a:extLst>
              </p:cNvPr>
              <p:cNvGraphicFramePr>
                <a:graphicFrameLocks noGrp="1"/>
              </p:cNvGraphicFramePr>
              <p:nvPr>
                <p:extLst>
                  <p:ext uri="{D42A27DB-BD31-4B8C-83A1-F6EECF244321}">
                    <p14:modId xmlns:p14="http://schemas.microsoft.com/office/powerpoint/2010/main" val="3834128599"/>
                  </p:ext>
                </p:extLst>
              </p:nvPr>
            </p:nvGraphicFramePr>
            <p:xfrm>
              <a:off x="2024933" y="1628880"/>
              <a:ext cx="7911943" cy="5025252"/>
            </p:xfrm>
            <a:graphic>
              <a:graphicData uri="http://schemas.openxmlformats.org/drawingml/2006/table">
                <a:tbl>
                  <a:tblPr firstRow="1" firstCol="1" bandRow="1">
                    <a:tableStyleId>{A91F0D33-8C57-4600-99A7-42BC86742BE1}</a:tableStyleId>
                  </a:tblPr>
                  <a:tblGrid>
                    <a:gridCol w="3302536">
                      <a:extLst>
                        <a:ext uri="{9D8B030D-6E8A-4147-A177-3AD203B41FA5}">
                          <a16:colId xmlns:a16="http://schemas.microsoft.com/office/drawing/2014/main" val="3347328863"/>
                        </a:ext>
                      </a:extLst>
                    </a:gridCol>
                    <a:gridCol w="1843763">
                      <a:extLst>
                        <a:ext uri="{9D8B030D-6E8A-4147-A177-3AD203B41FA5}">
                          <a16:colId xmlns:a16="http://schemas.microsoft.com/office/drawing/2014/main" val="2986885062"/>
                        </a:ext>
                      </a:extLst>
                    </a:gridCol>
                    <a:gridCol w="2765644">
                      <a:extLst>
                        <a:ext uri="{9D8B030D-6E8A-4147-A177-3AD203B41FA5}">
                          <a16:colId xmlns:a16="http://schemas.microsoft.com/office/drawing/2014/main" val="3303846378"/>
                        </a:ext>
                      </a:extLst>
                    </a:gridCol>
                  </a:tblGrid>
                  <a:tr h="279146">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Relation</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Description</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Explanation</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104350829"/>
                      </a:ext>
                    </a:extLst>
                  </a:tr>
                  <a:tr h="988493">
                    <a:tc>
                      <a:txBody>
                        <a:bodyPr/>
                        <a:lstStyle/>
                        <a:p>
                          <a:endParaRPr lang="en-US"/>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85" t="-30864" r="-140037" b="-382099"/>
                          </a:stretch>
                        </a:blipFill>
                      </a:tcPr>
                    </a:tc>
                    <a:tc>
                      <a:txBody>
                        <a:bodyPr/>
                        <a:lstStyle/>
                        <a:p>
                          <a:pPr marL="342900" marR="0" lvl="0" indent="-342900">
                            <a:spcBef>
                              <a:spcPts val="0"/>
                            </a:spcBef>
                            <a:spcAft>
                              <a:spcPts val="0"/>
                            </a:spcAft>
                            <a:buFont typeface="Courier New" panose="02070309020205020404" pitchFamily="49" charset="0"/>
                            <a:buChar char="o"/>
                          </a:pPr>
                          <a:r>
                            <a:rPr lang="en-US" sz="1400">
                              <a:effectLst/>
                              <a:latin typeface="Verdana" panose="020B0604030504040204" pitchFamily="34" charset="0"/>
                              <a:ea typeface="Verdana" panose="020B0604030504040204" pitchFamily="34" charset="0"/>
                              <a:cs typeface="Verdana" panose="020B0604030504040204" pitchFamily="34" charset="0"/>
                            </a:rPr>
                            <a:t>function</a:t>
                          </a:r>
                          <a:endParaRPr lang="en-CO" sz="110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spcBef>
                              <a:spcPts val="0"/>
                            </a:spcBef>
                            <a:spcAft>
                              <a:spcPts val="0"/>
                            </a:spcAft>
                            <a:buFont typeface="Courier New" panose="02070309020205020404" pitchFamily="49" charset="0"/>
                            <a:buChar char="o"/>
                          </a:pPr>
                          <a:r>
                            <a:rPr lang="en-US" sz="1400">
                              <a:effectLst/>
                              <a:latin typeface="Verdana" panose="020B0604030504040204" pitchFamily="34" charset="0"/>
                              <a:ea typeface="Verdana" panose="020B0604030504040204" pitchFamily="34" charset="0"/>
                              <a:cs typeface="Verdana" panose="020B0604030504040204" pitchFamily="34" charset="0"/>
                            </a:rPr>
                            <a:t>not a function</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3527938"/>
                      </a:ext>
                    </a:extLst>
                  </a:tr>
                  <a:tr h="2143125">
                    <a:tc>
                      <a:txBody>
                        <a:bodyPr/>
                        <a:lstStyle/>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1400" dirty="0">
                              <a:effectLst/>
                              <a:latin typeface="Verdana" panose="020B0604030504040204" pitchFamily="34" charset="0"/>
                              <a:ea typeface="Verdana" panose="020B0604030504040204" pitchFamily="34" charset="0"/>
                              <a:cs typeface="Verdana" panose="020B0604030504040204" pitchFamily="34" charset="0"/>
                            </a:rPr>
                            <a:t>function</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spcBef>
                              <a:spcPts val="0"/>
                            </a:spcBef>
                            <a:spcAft>
                              <a:spcPts val="0"/>
                            </a:spcAft>
                            <a:buFont typeface="Courier New" panose="02070309020205020404" pitchFamily="49" charset="0"/>
                            <a:buChar char="o"/>
                          </a:pPr>
                          <a:r>
                            <a:rPr lang="en-US" sz="1400" dirty="0">
                              <a:effectLst/>
                              <a:latin typeface="Verdana" panose="020B0604030504040204" pitchFamily="34" charset="0"/>
                              <a:ea typeface="Verdana" panose="020B0604030504040204" pitchFamily="34" charset="0"/>
                              <a:cs typeface="Verdana" panose="020B0604030504040204" pitchFamily="34" charset="0"/>
                            </a:rPr>
                            <a:t>not a function</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7914187"/>
                      </a:ext>
                    </a:extLst>
                  </a:tr>
                  <a:tr h="1614488">
                    <a:tc>
                      <a:txBody>
                        <a:bodyPr/>
                        <a:lstStyle/>
                        <a:p>
                          <a:pPr marL="0" marR="0" algn="ctr">
                            <a:spcBef>
                              <a:spcPts val="0"/>
                            </a:spcBef>
                            <a:spcAft>
                              <a:spcPts val="0"/>
                            </a:spcAft>
                          </a:pPr>
                          <a:r>
                            <a:rPr lang="en-US" sz="11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1400">
                              <a:effectLst/>
                              <a:latin typeface="Verdana" panose="020B0604030504040204" pitchFamily="34" charset="0"/>
                              <a:ea typeface="Verdana" panose="020B0604030504040204" pitchFamily="34" charset="0"/>
                              <a:cs typeface="Verdana" panose="020B0604030504040204" pitchFamily="34" charset="0"/>
                            </a:rPr>
                            <a:t>function</a:t>
                          </a:r>
                          <a:endParaRPr lang="en-CO" sz="110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spcBef>
                              <a:spcPts val="0"/>
                            </a:spcBef>
                            <a:spcAft>
                              <a:spcPts val="0"/>
                            </a:spcAft>
                            <a:buFont typeface="Courier New" panose="02070309020205020404" pitchFamily="49" charset="0"/>
                            <a:buChar char="o"/>
                          </a:pPr>
                          <a:r>
                            <a:rPr lang="en-US" sz="1400">
                              <a:effectLst/>
                              <a:latin typeface="Verdana" panose="020B0604030504040204" pitchFamily="34" charset="0"/>
                              <a:ea typeface="Verdana" panose="020B0604030504040204" pitchFamily="34" charset="0"/>
                              <a:cs typeface="Verdana" panose="020B0604030504040204" pitchFamily="34" charset="0"/>
                            </a:rPr>
                            <a:t>not a function</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4005115"/>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5" name="Table 4">
                <a:extLst>
                  <a:ext uri="{FF2B5EF4-FFF2-40B4-BE49-F238E27FC236}">
                    <a16:creationId xmlns:a16="http://schemas.microsoft.com/office/drawing/2014/main" id="{10799303-B58E-1544-B0F7-56053524AE5F}"/>
                  </a:ext>
                </a:extLst>
              </p:cNvPr>
              <p:cNvGraphicFramePr>
                <a:graphicFrameLocks noGrp="1"/>
              </p:cNvGraphicFramePr>
              <p:nvPr>
                <p:extLst>
                  <p:ext uri="{D42A27DB-BD31-4B8C-83A1-F6EECF244321}">
                    <p14:modId xmlns:p14="http://schemas.microsoft.com/office/powerpoint/2010/main" val="1546091501"/>
                  </p:ext>
                </p:extLst>
              </p:nvPr>
            </p:nvGraphicFramePr>
            <p:xfrm>
              <a:off x="3084543" y="5175268"/>
              <a:ext cx="1220414" cy="1369822"/>
            </p:xfrm>
            <a:graphic>
              <a:graphicData uri="http://schemas.openxmlformats.org/drawingml/2006/table">
                <a:tbl>
                  <a:tblPr firstRow="1" firstCol="1" bandRow="1">
                    <a:tableStyleId>{A91F0D33-8C57-4600-99A7-42BC86742BE1}</a:tableStyleId>
                  </a:tblPr>
                  <a:tblGrid>
                    <a:gridCol w="610207">
                      <a:extLst>
                        <a:ext uri="{9D8B030D-6E8A-4147-A177-3AD203B41FA5}">
                          <a16:colId xmlns:a16="http://schemas.microsoft.com/office/drawing/2014/main" val="2919595169"/>
                        </a:ext>
                      </a:extLst>
                    </a:gridCol>
                    <a:gridCol w="610207">
                      <a:extLst>
                        <a:ext uri="{9D8B030D-6E8A-4147-A177-3AD203B41FA5}">
                          <a16:colId xmlns:a16="http://schemas.microsoft.com/office/drawing/2014/main" val="4040621291"/>
                        </a:ext>
                      </a:extLst>
                    </a:gridCol>
                  </a:tblGrid>
                  <a:tr h="183062">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𝒙</m:t>
                                </m:r>
                              </m:oMath>
                            </m:oMathPara>
                          </a14:m>
                          <a:endParaRPr lang="en-CO" sz="900" dirty="0">
                            <a:effectLst/>
                            <a:latin typeface="Verdana" panose="020B0604030504040204" pitchFamily="34" charset="0"/>
                            <a:ea typeface="Verdana" panose="020B0604030504040204" pitchFamily="34" charset="0"/>
                            <a:cs typeface="Verdana" panose="020B0604030504040204" pitchFamily="34" charset="0"/>
                          </a:endParaRPr>
                        </a:p>
                      </a:txBody>
                      <a:tcPr marL="45765" marR="4576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𝒚</m:t>
                                </m:r>
                              </m:oMath>
                            </m:oMathPara>
                          </a14:m>
                          <a:endParaRPr lang="en-CO" sz="900" dirty="0">
                            <a:effectLst/>
                            <a:latin typeface="Verdana" panose="020B0604030504040204" pitchFamily="34" charset="0"/>
                            <a:ea typeface="Verdana" panose="020B0604030504040204" pitchFamily="34" charset="0"/>
                            <a:cs typeface="Verdana" panose="020B0604030504040204" pitchFamily="34" charset="0"/>
                          </a:endParaRPr>
                        </a:p>
                      </a:txBody>
                      <a:tcPr marL="45765" marR="4576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44833782"/>
                      </a:ext>
                    </a:extLst>
                  </a:tr>
                  <a:tr h="183062">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−8</m:t>
                                </m:r>
                              </m:oMath>
                            </m:oMathPara>
                          </a14:m>
                          <a:endParaRPr lang="en-CO" sz="900">
                            <a:effectLst/>
                            <a:latin typeface="Verdana" panose="020B0604030504040204" pitchFamily="34" charset="0"/>
                            <a:ea typeface="Verdana" panose="020B0604030504040204" pitchFamily="34" charset="0"/>
                            <a:cs typeface="Verdana" panose="020B0604030504040204" pitchFamily="34" charset="0"/>
                          </a:endParaRPr>
                        </a:p>
                      </a:txBody>
                      <a:tcPr marL="45765" marR="4576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2.7</m:t>
                                </m:r>
                              </m:oMath>
                            </m:oMathPara>
                          </a14:m>
                          <a:endParaRPr lang="en-CO" sz="900">
                            <a:effectLst/>
                            <a:latin typeface="Verdana" panose="020B0604030504040204" pitchFamily="34" charset="0"/>
                            <a:ea typeface="Verdana" panose="020B0604030504040204" pitchFamily="34" charset="0"/>
                            <a:cs typeface="Verdana" panose="020B0604030504040204" pitchFamily="34" charset="0"/>
                          </a:endParaRPr>
                        </a:p>
                      </a:txBody>
                      <a:tcPr marL="45765" marR="4576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0506729"/>
                      </a:ext>
                    </a:extLst>
                  </a:tr>
                  <a:tr h="183062">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0</m:t>
                                </m:r>
                              </m:oMath>
                            </m:oMathPara>
                          </a14:m>
                          <a:endParaRPr lang="en-CO" sz="900">
                            <a:effectLst/>
                            <a:latin typeface="Verdana" panose="020B0604030504040204" pitchFamily="34" charset="0"/>
                            <a:ea typeface="Verdana" panose="020B0604030504040204" pitchFamily="34" charset="0"/>
                            <a:cs typeface="Verdana" panose="020B0604030504040204" pitchFamily="34" charset="0"/>
                          </a:endParaRPr>
                        </a:p>
                      </a:txBody>
                      <a:tcPr marL="45765" marR="4576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13</m:t>
                                </m:r>
                              </m:oMath>
                            </m:oMathPara>
                          </a14:m>
                          <a:endParaRPr lang="en-CO" sz="900">
                            <a:effectLst/>
                            <a:latin typeface="Verdana" panose="020B0604030504040204" pitchFamily="34" charset="0"/>
                            <a:ea typeface="Verdana" panose="020B0604030504040204" pitchFamily="34" charset="0"/>
                            <a:cs typeface="Verdana" panose="020B0604030504040204" pitchFamily="34" charset="0"/>
                          </a:endParaRPr>
                        </a:p>
                      </a:txBody>
                      <a:tcPr marL="45765" marR="4576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1919567"/>
                      </a:ext>
                    </a:extLst>
                  </a:tr>
                  <a:tr h="293238">
                    <a:tc>
                      <a:txBody>
                        <a:bodyPr/>
                        <a:lstStyle/>
                        <a:p>
                          <a:pPr marL="0" marR="0" algn="ctr">
                            <a:spcBef>
                              <a:spcPts val="0"/>
                            </a:spcBef>
                            <a:spcAft>
                              <a:spcPts val="0"/>
                            </a:spcAft>
                          </a:pPr>
                          <a14:m>
                            <m:oMath xmlns:m="http://schemas.openxmlformats.org/officeDocument/2006/math">
                              <m:f>
                                <m:fPr>
                                  <m:ctrlPr>
                                    <a:rPr lang="en-CO" sz="1400" i="1">
                                      <a:effectLst/>
                                      <a:latin typeface="Cambria Math" panose="02040503050406030204" pitchFamily="18" charset="0"/>
                                    </a:rPr>
                                  </m:ctrlPr>
                                </m:fPr>
                                <m:num>
                                  <m:r>
                                    <a:rPr lang="en-US" sz="1400">
                                      <a:effectLst/>
                                      <a:latin typeface="Cambria Math" panose="02040503050406030204" pitchFamily="18" charset="0"/>
                                    </a:rPr>
                                    <m:t>2</m:t>
                                  </m:r>
                                </m:num>
                                <m:den>
                                  <m:r>
                                    <a:rPr lang="en-US" sz="1400">
                                      <a:effectLst/>
                                      <a:latin typeface="Cambria Math" panose="02040503050406030204" pitchFamily="18" charset="0"/>
                                    </a:rPr>
                                    <m:t>5</m:t>
                                  </m:r>
                                </m:den>
                              </m:f>
                            </m:oMath>
                          </a14:m>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900">
                            <a:effectLst/>
                            <a:latin typeface="Verdana" panose="020B0604030504040204" pitchFamily="34" charset="0"/>
                            <a:ea typeface="Verdana" panose="020B0604030504040204" pitchFamily="34" charset="0"/>
                            <a:cs typeface="Verdana" panose="020B0604030504040204" pitchFamily="34" charset="0"/>
                          </a:endParaRPr>
                        </a:p>
                      </a:txBody>
                      <a:tcPr marL="45765" marR="4576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0</m:t>
                                </m:r>
                              </m:oMath>
                            </m:oMathPara>
                          </a14:m>
                          <a:endParaRPr lang="en-CO" sz="900" dirty="0">
                            <a:effectLst/>
                            <a:latin typeface="Verdana" panose="020B0604030504040204" pitchFamily="34" charset="0"/>
                            <a:ea typeface="Verdana" panose="020B0604030504040204" pitchFamily="34" charset="0"/>
                            <a:cs typeface="Verdana" panose="020B0604030504040204" pitchFamily="34" charset="0"/>
                          </a:endParaRPr>
                        </a:p>
                      </a:txBody>
                      <a:tcPr marL="45765" marR="4576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7137433"/>
                      </a:ext>
                    </a:extLst>
                  </a:tr>
                  <a:tr h="183062">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−8</m:t>
                                </m:r>
                              </m:oMath>
                            </m:oMathPara>
                          </a14:m>
                          <a:endParaRPr lang="en-CO" sz="900">
                            <a:effectLst/>
                            <a:latin typeface="Verdana" panose="020B0604030504040204" pitchFamily="34" charset="0"/>
                            <a:ea typeface="Verdana" panose="020B0604030504040204" pitchFamily="34" charset="0"/>
                            <a:cs typeface="Verdana" panose="020B0604030504040204" pitchFamily="34" charset="0"/>
                          </a:endParaRPr>
                        </a:p>
                      </a:txBody>
                      <a:tcPr marL="45765" marR="4576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−2.7</m:t>
                                </m:r>
                              </m:oMath>
                            </m:oMathPara>
                          </a14:m>
                          <a:endParaRPr lang="en-CO" sz="900">
                            <a:effectLst/>
                            <a:latin typeface="Verdana" panose="020B0604030504040204" pitchFamily="34" charset="0"/>
                            <a:ea typeface="Verdana" panose="020B0604030504040204" pitchFamily="34" charset="0"/>
                            <a:cs typeface="Verdana" panose="020B0604030504040204" pitchFamily="34" charset="0"/>
                          </a:endParaRPr>
                        </a:p>
                      </a:txBody>
                      <a:tcPr marL="45765" marR="4576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7041833"/>
                      </a:ext>
                    </a:extLst>
                  </a:tr>
                  <a:tr h="183062">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16</m:t>
                                </m:r>
                              </m:oMath>
                            </m:oMathPara>
                          </a14:m>
                          <a:endParaRPr lang="en-CO" sz="900">
                            <a:effectLst/>
                            <a:latin typeface="Verdana" panose="020B0604030504040204" pitchFamily="34" charset="0"/>
                            <a:ea typeface="Verdana" panose="020B0604030504040204" pitchFamily="34" charset="0"/>
                            <a:cs typeface="Verdana" panose="020B0604030504040204" pitchFamily="34" charset="0"/>
                          </a:endParaRPr>
                        </a:p>
                      </a:txBody>
                      <a:tcPr marL="45765" marR="4576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19.1</m:t>
                                </m:r>
                              </m:oMath>
                            </m:oMathPara>
                          </a14:m>
                          <a:endParaRPr lang="en-CO" sz="900" dirty="0">
                            <a:effectLst/>
                            <a:latin typeface="Verdana" panose="020B0604030504040204" pitchFamily="34" charset="0"/>
                            <a:ea typeface="Verdana" panose="020B0604030504040204" pitchFamily="34" charset="0"/>
                            <a:cs typeface="Verdana" panose="020B0604030504040204" pitchFamily="34" charset="0"/>
                          </a:endParaRPr>
                        </a:p>
                      </a:txBody>
                      <a:tcPr marL="45765" marR="4576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5168587"/>
                      </a:ext>
                    </a:extLst>
                  </a:tr>
                </a:tbl>
              </a:graphicData>
            </a:graphic>
          </p:graphicFrame>
        </mc:Choice>
        <mc:Fallback>
          <p:graphicFrame>
            <p:nvGraphicFramePr>
              <p:cNvPr id="5" name="Table 4">
                <a:extLst>
                  <a:ext uri="{FF2B5EF4-FFF2-40B4-BE49-F238E27FC236}">
                    <a16:creationId xmlns:a16="http://schemas.microsoft.com/office/drawing/2014/main" id="{10799303-B58E-1544-B0F7-56053524AE5F}"/>
                  </a:ext>
                </a:extLst>
              </p:cNvPr>
              <p:cNvGraphicFramePr>
                <a:graphicFrameLocks noGrp="1"/>
              </p:cNvGraphicFramePr>
              <p:nvPr>
                <p:extLst>
                  <p:ext uri="{D42A27DB-BD31-4B8C-83A1-F6EECF244321}">
                    <p14:modId xmlns:p14="http://schemas.microsoft.com/office/powerpoint/2010/main" val="1546091501"/>
                  </p:ext>
                </p:extLst>
              </p:nvPr>
            </p:nvGraphicFramePr>
            <p:xfrm>
              <a:off x="3084543" y="5175268"/>
              <a:ext cx="1220414" cy="1369822"/>
            </p:xfrm>
            <a:graphic>
              <a:graphicData uri="http://schemas.openxmlformats.org/drawingml/2006/table">
                <a:tbl>
                  <a:tblPr firstRow="1" firstCol="1" bandRow="1">
                    <a:tableStyleId>{A91F0D33-8C57-4600-99A7-42BC86742BE1}</a:tableStyleId>
                  </a:tblPr>
                  <a:tblGrid>
                    <a:gridCol w="610207">
                      <a:extLst>
                        <a:ext uri="{9D8B030D-6E8A-4147-A177-3AD203B41FA5}">
                          <a16:colId xmlns:a16="http://schemas.microsoft.com/office/drawing/2014/main" val="2919595169"/>
                        </a:ext>
                      </a:extLst>
                    </a:gridCol>
                    <a:gridCol w="610207">
                      <a:extLst>
                        <a:ext uri="{9D8B030D-6E8A-4147-A177-3AD203B41FA5}">
                          <a16:colId xmlns:a16="http://schemas.microsoft.com/office/drawing/2014/main" val="4040621291"/>
                        </a:ext>
                      </a:extLst>
                    </a:gridCol>
                  </a:tblGrid>
                  <a:tr h="213360">
                    <a:tc>
                      <a:txBody>
                        <a:bodyPr/>
                        <a:lstStyle/>
                        <a:p>
                          <a:endParaRPr lang="en-US"/>
                        </a:p>
                      </a:txBody>
                      <a:tcPr marL="45765" marR="4576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990" t="-2857" r="-101980" b="-557143"/>
                          </a:stretch>
                        </a:blipFill>
                      </a:tcPr>
                    </a:tc>
                    <a:tc>
                      <a:txBody>
                        <a:bodyPr/>
                        <a:lstStyle/>
                        <a:p>
                          <a:endParaRPr lang="en-US"/>
                        </a:p>
                      </a:txBody>
                      <a:tcPr marL="45765" marR="4576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0990" t="-2857" r="-1980" b="-557143"/>
                          </a:stretch>
                        </a:blipFill>
                      </a:tcPr>
                    </a:tc>
                    <a:extLst>
                      <a:ext uri="{0D108BD9-81ED-4DB2-BD59-A6C34878D82A}">
                        <a16:rowId xmlns:a16="http://schemas.microsoft.com/office/drawing/2014/main" val="244833782"/>
                      </a:ext>
                    </a:extLst>
                  </a:tr>
                  <a:tr h="213360">
                    <a:tc>
                      <a:txBody>
                        <a:bodyPr/>
                        <a:lstStyle/>
                        <a:p>
                          <a:endParaRPr lang="en-US"/>
                        </a:p>
                      </a:txBody>
                      <a:tcPr marL="45765" marR="4576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990" t="-102857" r="-101980" b="-457143"/>
                          </a:stretch>
                        </a:blipFill>
                      </a:tcPr>
                    </a:tc>
                    <a:tc>
                      <a:txBody>
                        <a:bodyPr/>
                        <a:lstStyle/>
                        <a:p>
                          <a:endParaRPr lang="en-US"/>
                        </a:p>
                      </a:txBody>
                      <a:tcPr marL="45765" marR="4576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0990" t="-102857" r="-1980" b="-457143"/>
                          </a:stretch>
                        </a:blipFill>
                      </a:tcPr>
                    </a:tc>
                    <a:extLst>
                      <a:ext uri="{0D108BD9-81ED-4DB2-BD59-A6C34878D82A}">
                        <a16:rowId xmlns:a16="http://schemas.microsoft.com/office/drawing/2014/main" val="1710506729"/>
                      </a:ext>
                    </a:extLst>
                  </a:tr>
                  <a:tr h="213360">
                    <a:tc>
                      <a:txBody>
                        <a:bodyPr/>
                        <a:lstStyle/>
                        <a:p>
                          <a:endParaRPr lang="en-US"/>
                        </a:p>
                      </a:txBody>
                      <a:tcPr marL="45765" marR="4576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990" t="-197222" r="-101980" b="-344444"/>
                          </a:stretch>
                        </a:blipFill>
                      </a:tcPr>
                    </a:tc>
                    <a:tc>
                      <a:txBody>
                        <a:bodyPr/>
                        <a:lstStyle/>
                        <a:p>
                          <a:endParaRPr lang="en-US"/>
                        </a:p>
                      </a:txBody>
                      <a:tcPr marL="45765" marR="4576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0990" t="-197222" r="-1980" b="-344444"/>
                          </a:stretch>
                        </a:blipFill>
                      </a:tcPr>
                    </a:tc>
                    <a:extLst>
                      <a:ext uri="{0D108BD9-81ED-4DB2-BD59-A6C34878D82A}">
                        <a16:rowId xmlns:a16="http://schemas.microsoft.com/office/drawing/2014/main" val="3291919567"/>
                      </a:ext>
                    </a:extLst>
                  </a:tr>
                  <a:tr h="303022">
                    <a:tc>
                      <a:txBody>
                        <a:bodyPr/>
                        <a:lstStyle/>
                        <a:p>
                          <a:endParaRPr lang="en-US"/>
                        </a:p>
                      </a:txBody>
                      <a:tcPr marL="45765" marR="4576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990" t="-214000" r="-101980" b="-148000"/>
                          </a:stretch>
                        </a:blipFill>
                      </a:tcPr>
                    </a:tc>
                    <a:tc>
                      <a:txBody>
                        <a:bodyPr/>
                        <a:lstStyle/>
                        <a:p>
                          <a:endParaRPr lang="en-US"/>
                        </a:p>
                      </a:txBody>
                      <a:tcPr marL="45765" marR="4576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0990" t="-214000" r="-1980" b="-148000"/>
                          </a:stretch>
                        </a:blipFill>
                      </a:tcPr>
                    </a:tc>
                    <a:extLst>
                      <a:ext uri="{0D108BD9-81ED-4DB2-BD59-A6C34878D82A}">
                        <a16:rowId xmlns:a16="http://schemas.microsoft.com/office/drawing/2014/main" val="1737137433"/>
                      </a:ext>
                    </a:extLst>
                  </a:tr>
                  <a:tr h="213360">
                    <a:tc>
                      <a:txBody>
                        <a:bodyPr/>
                        <a:lstStyle/>
                        <a:p>
                          <a:endParaRPr lang="en-US"/>
                        </a:p>
                      </a:txBody>
                      <a:tcPr marL="45765" marR="4576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990" t="-448571" r="-101980" b="-111429"/>
                          </a:stretch>
                        </a:blipFill>
                      </a:tcPr>
                    </a:tc>
                    <a:tc>
                      <a:txBody>
                        <a:bodyPr/>
                        <a:lstStyle/>
                        <a:p>
                          <a:endParaRPr lang="en-US"/>
                        </a:p>
                      </a:txBody>
                      <a:tcPr marL="45765" marR="4576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0990" t="-448571" r="-1980" b="-111429"/>
                          </a:stretch>
                        </a:blipFill>
                      </a:tcPr>
                    </a:tc>
                    <a:extLst>
                      <a:ext uri="{0D108BD9-81ED-4DB2-BD59-A6C34878D82A}">
                        <a16:rowId xmlns:a16="http://schemas.microsoft.com/office/drawing/2014/main" val="1797041833"/>
                      </a:ext>
                    </a:extLst>
                  </a:tr>
                  <a:tr h="213360">
                    <a:tc>
                      <a:txBody>
                        <a:bodyPr/>
                        <a:lstStyle/>
                        <a:p>
                          <a:endParaRPr lang="en-US"/>
                        </a:p>
                      </a:txBody>
                      <a:tcPr marL="45765" marR="4576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990" t="-548571" r="-101980" b="-11429"/>
                          </a:stretch>
                        </a:blipFill>
                      </a:tcPr>
                    </a:tc>
                    <a:tc>
                      <a:txBody>
                        <a:bodyPr/>
                        <a:lstStyle/>
                        <a:p>
                          <a:endParaRPr lang="en-US"/>
                        </a:p>
                      </a:txBody>
                      <a:tcPr marL="45765" marR="4576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0990" t="-548571" r="-1980" b="-11429"/>
                          </a:stretch>
                        </a:blipFill>
                      </a:tcPr>
                    </a:tc>
                    <a:extLst>
                      <a:ext uri="{0D108BD9-81ED-4DB2-BD59-A6C34878D82A}">
                        <a16:rowId xmlns:a16="http://schemas.microsoft.com/office/drawing/2014/main" val="3005168587"/>
                      </a:ext>
                    </a:extLst>
                  </a:tr>
                </a:tbl>
              </a:graphicData>
            </a:graphic>
          </p:graphicFrame>
        </mc:Fallback>
      </mc:AlternateContent>
      <p:pic>
        <p:nvPicPr>
          <p:cNvPr id="3" name="Picture 2">
            <a:extLst>
              <a:ext uri="{FF2B5EF4-FFF2-40B4-BE49-F238E27FC236}">
                <a16:creationId xmlns:a16="http://schemas.microsoft.com/office/drawing/2014/main" id="{5DE622D6-FC2E-304D-81F0-7DEE5B923B16}"/>
              </a:ext>
            </a:extLst>
          </p:cNvPr>
          <p:cNvPicPr>
            <a:picLocks noChangeAspect="1"/>
          </p:cNvPicPr>
          <p:nvPr/>
        </p:nvPicPr>
        <p:blipFill>
          <a:blip r:embed="rId7"/>
          <a:stretch>
            <a:fillRect/>
          </a:stretch>
        </p:blipFill>
        <p:spPr>
          <a:xfrm>
            <a:off x="2886925" y="2925880"/>
            <a:ext cx="1615650" cy="2022468"/>
          </a:xfrm>
          <a:prstGeom prst="rect">
            <a:avLst/>
          </a:prstGeom>
        </p:spPr>
      </p:pic>
    </p:spTree>
    <p:extLst>
      <p:ext uri="{BB962C8B-B14F-4D97-AF65-F5344CB8AC3E}">
        <p14:creationId xmlns:p14="http://schemas.microsoft.com/office/powerpoint/2010/main" val="6077732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DCA26F36-85FB-6F47-BFE1-9526A3AAF9F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134</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43000" y="-184171"/>
            <a:ext cx="968729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10.3.7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65760" y="60325"/>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id="{5C5015EC-6F43-1C4A-AD6C-B1BEBDFEE113}"/>
              </a:ext>
            </a:extLst>
          </p:cNvPr>
          <p:cNvSpPr/>
          <p:nvPr/>
        </p:nvSpPr>
        <p:spPr>
          <a:xfrm>
            <a:off x="914399" y="956863"/>
            <a:ext cx="9240793" cy="400110"/>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Determine if each relation is a function. Then, identify the domain.</a:t>
            </a:r>
          </a:p>
        </p:txBody>
      </p:sp>
      <p:sp>
        <p:nvSpPr>
          <p:cNvPr id="10" name="Google Shape;282;g104476d1465_1_17">
            <a:extLst>
              <a:ext uri="{FF2B5EF4-FFF2-40B4-BE49-F238E27FC236}">
                <a16:creationId xmlns:a16="http://schemas.microsoft.com/office/drawing/2014/main" id="{5DDDAB21-3A33-3F47-AE46-A181D54ACE99}"/>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134</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8D48FF44-87B0-CD4A-8BA3-4A5D01F486BA}"/>
                  </a:ext>
                </a:extLst>
              </p:cNvPr>
              <p:cNvGraphicFramePr>
                <a:graphicFrameLocks noGrp="1"/>
              </p:cNvGraphicFramePr>
              <p:nvPr>
                <p:extLst>
                  <p:ext uri="{D42A27DB-BD31-4B8C-83A1-F6EECF244321}">
                    <p14:modId xmlns:p14="http://schemas.microsoft.com/office/powerpoint/2010/main" val="1865315388"/>
                  </p:ext>
                </p:extLst>
              </p:nvPr>
            </p:nvGraphicFramePr>
            <p:xfrm>
              <a:off x="2036807" y="1475433"/>
              <a:ext cx="7759656" cy="4953942"/>
            </p:xfrm>
            <a:graphic>
              <a:graphicData uri="http://schemas.openxmlformats.org/drawingml/2006/table">
                <a:tbl>
                  <a:tblPr firstRow="1" firstCol="1" bandRow="1">
                    <a:tableStyleId>{A91F0D33-8C57-4600-99A7-42BC86742BE1}</a:tableStyleId>
                  </a:tblPr>
                  <a:tblGrid>
                    <a:gridCol w="3430543">
                      <a:extLst>
                        <a:ext uri="{9D8B030D-6E8A-4147-A177-3AD203B41FA5}">
                          <a16:colId xmlns:a16="http://schemas.microsoft.com/office/drawing/2014/main" val="3347328863"/>
                        </a:ext>
                      </a:extLst>
                    </a:gridCol>
                    <a:gridCol w="1857375">
                      <a:extLst>
                        <a:ext uri="{9D8B030D-6E8A-4147-A177-3AD203B41FA5}">
                          <a16:colId xmlns:a16="http://schemas.microsoft.com/office/drawing/2014/main" val="2986885062"/>
                        </a:ext>
                      </a:extLst>
                    </a:gridCol>
                    <a:gridCol w="2471738">
                      <a:extLst>
                        <a:ext uri="{9D8B030D-6E8A-4147-A177-3AD203B41FA5}">
                          <a16:colId xmlns:a16="http://schemas.microsoft.com/office/drawing/2014/main" val="3303846378"/>
                        </a:ext>
                      </a:extLst>
                    </a:gridCol>
                  </a:tblGrid>
                  <a:tr h="294034">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Relation</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Description</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Domain</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104350829"/>
                      </a:ext>
                    </a:extLst>
                  </a:tr>
                  <a:tr h="1916708">
                    <a:tc>
                      <a:txBody>
                        <a:bodyPr/>
                        <a:lstStyle/>
                        <a:p>
                          <a:pPr marL="0" marR="0" algn="ctr">
                            <a:spcBef>
                              <a:spcPts val="0"/>
                            </a:spcBef>
                            <a:spcAft>
                              <a:spcPts val="0"/>
                            </a:spcAft>
                          </a:pP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1400">
                              <a:effectLst/>
                              <a:latin typeface="Verdana" panose="020B0604030504040204" pitchFamily="34" charset="0"/>
                              <a:ea typeface="Verdana" panose="020B0604030504040204" pitchFamily="34" charset="0"/>
                              <a:cs typeface="Verdana" panose="020B0604030504040204" pitchFamily="34" charset="0"/>
                            </a:rPr>
                            <a:t>function</a:t>
                          </a:r>
                          <a:endParaRPr lang="en-CO" sz="110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spcBef>
                              <a:spcPts val="0"/>
                            </a:spcBef>
                            <a:spcAft>
                              <a:spcPts val="0"/>
                            </a:spcAft>
                            <a:buFont typeface="Courier New" panose="02070309020205020404" pitchFamily="49" charset="0"/>
                            <a:buChar char="o"/>
                          </a:pPr>
                          <a:r>
                            <a:rPr lang="en-US" sz="1400">
                              <a:effectLst/>
                              <a:latin typeface="Verdana" panose="020B0604030504040204" pitchFamily="34" charset="0"/>
                              <a:ea typeface="Verdana" panose="020B0604030504040204" pitchFamily="34" charset="0"/>
                              <a:cs typeface="Verdana" panose="020B0604030504040204" pitchFamily="34" charset="0"/>
                            </a:rPr>
                            <a:t>not a function</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3527938"/>
                      </a:ext>
                    </a:extLst>
                  </a:tr>
                  <a:tr h="971550">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{(−4, 2), </m:t>
                                </m:r>
                                <m:d>
                                  <m:dPr>
                                    <m:ctrlPr>
                                      <a:rPr lang="en-CO" sz="18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CO" sz="1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3</m:t>
                                        </m:r>
                                      </m:den>
                                    </m:f>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2</m:t>
                                    </m:r>
                                  </m:e>
                                </m:d>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(−4, 0.6), (0, 2)}</m:t>
                                </m:r>
                              </m:oMath>
                            </m:oMathPara>
                          </a14:m>
                          <a:endParaRPr lang="en-CO"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1400">
                              <a:effectLst/>
                              <a:latin typeface="Verdana" panose="020B0604030504040204" pitchFamily="34" charset="0"/>
                              <a:ea typeface="Verdana" panose="020B0604030504040204" pitchFamily="34" charset="0"/>
                              <a:cs typeface="Verdana" panose="020B0604030504040204" pitchFamily="34" charset="0"/>
                            </a:rPr>
                            <a:t>function</a:t>
                          </a:r>
                          <a:endParaRPr lang="en-CO" sz="110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spcBef>
                              <a:spcPts val="0"/>
                            </a:spcBef>
                            <a:spcAft>
                              <a:spcPts val="0"/>
                            </a:spcAft>
                            <a:buFont typeface="Courier New" panose="02070309020205020404" pitchFamily="49" charset="0"/>
                            <a:buChar char="o"/>
                          </a:pPr>
                          <a:r>
                            <a:rPr lang="en-US" sz="1400">
                              <a:effectLst/>
                              <a:latin typeface="Verdana" panose="020B0604030504040204" pitchFamily="34" charset="0"/>
                              <a:ea typeface="Verdana" panose="020B0604030504040204" pitchFamily="34" charset="0"/>
                              <a:cs typeface="Verdana" panose="020B0604030504040204" pitchFamily="34" charset="0"/>
                            </a:rPr>
                            <a:t>not a function</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7914187"/>
                      </a:ext>
                    </a:extLst>
                  </a:tr>
                  <a:tr h="1771650">
                    <a:tc>
                      <a:txBody>
                        <a:bodyPr/>
                        <a:lstStyle/>
                        <a:p>
                          <a:pPr marL="0" marR="0" algn="ctr">
                            <a:spcBef>
                              <a:spcPts val="0"/>
                            </a:spcBef>
                            <a:spcAft>
                              <a:spcPts val="0"/>
                            </a:spcAft>
                          </a:pPr>
                          <a:r>
                            <a:rPr lang="en-US" sz="11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1400" dirty="0">
                              <a:effectLst/>
                              <a:latin typeface="Verdana" panose="020B0604030504040204" pitchFamily="34" charset="0"/>
                              <a:ea typeface="Verdana" panose="020B0604030504040204" pitchFamily="34" charset="0"/>
                              <a:cs typeface="Verdana" panose="020B0604030504040204" pitchFamily="34" charset="0"/>
                            </a:rPr>
                            <a:t>function</a:t>
                          </a:r>
                          <a:endParaRPr lang="en-CO" sz="110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spcBef>
                              <a:spcPts val="0"/>
                            </a:spcBef>
                            <a:spcAft>
                              <a:spcPts val="0"/>
                            </a:spcAft>
                            <a:buFont typeface="Courier New" panose="02070309020205020404" pitchFamily="49" charset="0"/>
                            <a:buChar char="o"/>
                          </a:pPr>
                          <a:r>
                            <a:rPr lang="en-US" sz="1400" dirty="0">
                              <a:effectLst/>
                              <a:latin typeface="Verdana" panose="020B0604030504040204" pitchFamily="34" charset="0"/>
                              <a:ea typeface="Verdana" panose="020B0604030504040204" pitchFamily="34" charset="0"/>
                              <a:cs typeface="Verdana" panose="020B0604030504040204" pitchFamily="34" charset="0"/>
                            </a:rPr>
                            <a:t>not a function</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4005115"/>
                      </a:ext>
                    </a:extLst>
                  </a:tr>
                </a:tbl>
              </a:graphicData>
            </a:graphic>
          </p:graphicFrame>
        </mc:Choice>
        <mc:Fallback xmlns="">
          <p:graphicFrame>
            <p:nvGraphicFramePr>
              <p:cNvPr id="8" name="Table 7">
                <a:extLst>
                  <a:ext uri="{FF2B5EF4-FFF2-40B4-BE49-F238E27FC236}">
                    <a16:creationId xmlns:a16="http://schemas.microsoft.com/office/drawing/2014/main" id="{8D48FF44-87B0-CD4A-8BA3-4A5D01F486BA}"/>
                  </a:ext>
                </a:extLst>
              </p:cNvPr>
              <p:cNvGraphicFramePr>
                <a:graphicFrameLocks noGrp="1"/>
              </p:cNvGraphicFramePr>
              <p:nvPr>
                <p:extLst>
                  <p:ext uri="{D42A27DB-BD31-4B8C-83A1-F6EECF244321}">
                    <p14:modId xmlns:p14="http://schemas.microsoft.com/office/powerpoint/2010/main" val="1865315388"/>
                  </p:ext>
                </p:extLst>
              </p:nvPr>
            </p:nvGraphicFramePr>
            <p:xfrm>
              <a:off x="2036807" y="1475433"/>
              <a:ext cx="7759656" cy="4953942"/>
            </p:xfrm>
            <a:graphic>
              <a:graphicData uri="http://schemas.openxmlformats.org/drawingml/2006/table">
                <a:tbl>
                  <a:tblPr firstRow="1" firstCol="1" bandRow="1">
                    <a:tableStyleId>{A91F0D33-8C57-4600-99A7-42BC86742BE1}</a:tableStyleId>
                  </a:tblPr>
                  <a:tblGrid>
                    <a:gridCol w="3430543">
                      <a:extLst>
                        <a:ext uri="{9D8B030D-6E8A-4147-A177-3AD203B41FA5}">
                          <a16:colId xmlns:a16="http://schemas.microsoft.com/office/drawing/2014/main" val="3347328863"/>
                        </a:ext>
                      </a:extLst>
                    </a:gridCol>
                    <a:gridCol w="1857375">
                      <a:extLst>
                        <a:ext uri="{9D8B030D-6E8A-4147-A177-3AD203B41FA5}">
                          <a16:colId xmlns:a16="http://schemas.microsoft.com/office/drawing/2014/main" val="2986885062"/>
                        </a:ext>
                      </a:extLst>
                    </a:gridCol>
                    <a:gridCol w="2471738">
                      <a:extLst>
                        <a:ext uri="{9D8B030D-6E8A-4147-A177-3AD203B41FA5}">
                          <a16:colId xmlns:a16="http://schemas.microsoft.com/office/drawing/2014/main" val="3303846378"/>
                        </a:ext>
                      </a:extLst>
                    </a:gridCol>
                  </a:tblGrid>
                  <a:tr h="294034">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Relation</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Description</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Domain</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104350829"/>
                      </a:ext>
                    </a:extLst>
                  </a:tr>
                  <a:tr h="1916708">
                    <a:tc>
                      <a:txBody>
                        <a:bodyPr/>
                        <a:lstStyle/>
                        <a:p>
                          <a:pPr marL="0" marR="0" algn="ctr">
                            <a:spcBef>
                              <a:spcPts val="0"/>
                            </a:spcBef>
                            <a:spcAft>
                              <a:spcPts val="0"/>
                            </a:spcAft>
                          </a:pP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1400">
                              <a:effectLst/>
                              <a:latin typeface="Verdana" panose="020B0604030504040204" pitchFamily="34" charset="0"/>
                              <a:ea typeface="Verdana" panose="020B0604030504040204" pitchFamily="34" charset="0"/>
                              <a:cs typeface="Verdana" panose="020B0604030504040204" pitchFamily="34" charset="0"/>
                            </a:rPr>
                            <a:t>function</a:t>
                          </a:r>
                          <a:endParaRPr lang="en-CO" sz="110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spcBef>
                              <a:spcPts val="0"/>
                            </a:spcBef>
                            <a:spcAft>
                              <a:spcPts val="0"/>
                            </a:spcAft>
                            <a:buFont typeface="Courier New" panose="02070309020205020404" pitchFamily="49" charset="0"/>
                            <a:buChar char="o"/>
                          </a:pPr>
                          <a:r>
                            <a:rPr lang="en-US" sz="1400">
                              <a:effectLst/>
                              <a:latin typeface="Verdana" panose="020B0604030504040204" pitchFamily="34" charset="0"/>
                              <a:ea typeface="Verdana" panose="020B0604030504040204" pitchFamily="34" charset="0"/>
                              <a:cs typeface="Verdana" panose="020B0604030504040204" pitchFamily="34" charset="0"/>
                            </a:rPr>
                            <a:t>not a function</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3527938"/>
                      </a:ext>
                    </a:extLst>
                  </a:tr>
                  <a:tr h="97155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69" t="-228571" r="-126199" b="-183117"/>
                          </a:stretch>
                        </a:blipFill>
                      </a:tcPr>
                    </a:tc>
                    <a:tc>
                      <a:txBody>
                        <a:bodyPr/>
                        <a:lstStyle/>
                        <a:p>
                          <a:pPr marL="342900" marR="0" lvl="0" indent="-342900">
                            <a:spcBef>
                              <a:spcPts val="0"/>
                            </a:spcBef>
                            <a:spcAft>
                              <a:spcPts val="0"/>
                            </a:spcAft>
                            <a:buFont typeface="Courier New" panose="02070309020205020404" pitchFamily="49" charset="0"/>
                            <a:buChar char="o"/>
                          </a:pPr>
                          <a:r>
                            <a:rPr lang="en-US" sz="1400">
                              <a:effectLst/>
                              <a:latin typeface="Verdana" panose="020B0604030504040204" pitchFamily="34" charset="0"/>
                              <a:ea typeface="Verdana" panose="020B0604030504040204" pitchFamily="34" charset="0"/>
                              <a:cs typeface="Verdana" panose="020B0604030504040204" pitchFamily="34" charset="0"/>
                            </a:rPr>
                            <a:t>function</a:t>
                          </a:r>
                          <a:endParaRPr lang="en-CO" sz="110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spcBef>
                              <a:spcPts val="0"/>
                            </a:spcBef>
                            <a:spcAft>
                              <a:spcPts val="0"/>
                            </a:spcAft>
                            <a:buFont typeface="Courier New" panose="02070309020205020404" pitchFamily="49" charset="0"/>
                            <a:buChar char="o"/>
                          </a:pPr>
                          <a:r>
                            <a:rPr lang="en-US" sz="1400">
                              <a:effectLst/>
                              <a:latin typeface="Verdana" panose="020B0604030504040204" pitchFamily="34" charset="0"/>
                              <a:ea typeface="Verdana" panose="020B0604030504040204" pitchFamily="34" charset="0"/>
                              <a:cs typeface="Verdana" panose="020B0604030504040204" pitchFamily="34" charset="0"/>
                            </a:rPr>
                            <a:t>not a function</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7914187"/>
                      </a:ext>
                    </a:extLst>
                  </a:tr>
                  <a:tr h="1771650">
                    <a:tc>
                      <a:txBody>
                        <a:bodyPr/>
                        <a:lstStyle/>
                        <a:p>
                          <a:pPr marL="0" marR="0" algn="ctr">
                            <a:spcBef>
                              <a:spcPts val="0"/>
                            </a:spcBef>
                            <a:spcAft>
                              <a:spcPts val="0"/>
                            </a:spcAft>
                          </a:pPr>
                          <a:r>
                            <a:rPr lang="en-US" sz="11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1400" dirty="0">
                              <a:effectLst/>
                              <a:latin typeface="Verdana" panose="020B0604030504040204" pitchFamily="34" charset="0"/>
                              <a:ea typeface="Verdana" panose="020B0604030504040204" pitchFamily="34" charset="0"/>
                              <a:cs typeface="Verdana" panose="020B0604030504040204" pitchFamily="34" charset="0"/>
                            </a:rPr>
                            <a:t>function</a:t>
                          </a:r>
                          <a:endParaRPr lang="en-CO" sz="110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spcBef>
                              <a:spcPts val="0"/>
                            </a:spcBef>
                            <a:spcAft>
                              <a:spcPts val="0"/>
                            </a:spcAft>
                            <a:buFont typeface="Courier New" panose="02070309020205020404" pitchFamily="49" charset="0"/>
                            <a:buChar char="o"/>
                          </a:pPr>
                          <a:r>
                            <a:rPr lang="en-US" sz="1400" dirty="0">
                              <a:effectLst/>
                              <a:latin typeface="Verdana" panose="020B0604030504040204" pitchFamily="34" charset="0"/>
                              <a:ea typeface="Verdana" panose="020B0604030504040204" pitchFamily="34" charset="0"/>
                              <a:cs typeface="Verdana" panose="020B0604030504040204" pitchFamily="34" charset="0"/>
                            </a:rPr>
                            <a:t>not a function</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32100" marR="321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4005115"/>
                      </a:ext>
                    </a:extLst>
                  </a:tr>
                </a:tbl>
              </a:graphicData>
            </a:graphic>
          </p:graphicFrame>
        </mc:Fallback>
      </mc:AlternateContent>
      <p:pic>
        <p:nvPicPr>
          <p:cNvPr id="11" name="Picture 10" descr="Chart, scatter chart&#10;&#10;Description automatically generated">
            <a:extLst>
              <a:ext uri="{FF2B5EF4-FFF2-40B4-BE49-F238E27FC236}">
                <a16:creationId xmlns:a16="http://schemas.microsoft.com/office/drawing/2014/main" id="{64E636E0-6581-0049-8771-3EA977DEAF25}"/>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804244" y="1785016"/>
            <a:ext cx="1816918" cy="1816918"/>
          </a:xfrm>
          <a:prstGeom prst="rect">
            <a:avLst/>
          </a:prstGeom>
        </p:spPr>
      </p:pic>
      <p:pic>
        <p:nvPicPr>
          <p:cNvPr id="4" name="Picture 3" descr="Diagram, venn diagram&#10;&#10;Description automatically generated">
            <a:extLst>
              <a:ext uri="{FF2B5EF4-FFF2-40B4-BE49-F238E27FC236}">
                <a16:creationId xmlns:a16="http://schemas.microsoft.com/office/drawing/2014/main" id="{F657421B-94EE-CF4E-A193-A1493C4C5455}"/>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847108" y="4702154"/>
            <a:ext cx="1816918" cy="1692471"/>
          </a:xfrm>
          <a:prstGeom prst="rect">
            <a:avLst/>
          </a:prstGeom>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1563</TotalTime>
  <Words>1088</Words>
  <Application>Microsoft Office PowerPoint</Application>
  <PresentationFormat>Widescreen</PresentationFormat>
  <Paragraphs>246</Paragraphs>
  <Slides>29</Slides>
  <Notes>29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Calibri</vt:lpstr>
      <vt:lpstr>Arial Black</vt:lpstr>
      <vt:lpstr>Cambria Math</vt:lpstr>
      <vt:lpstr>Courier New</vt:lpstr>
      <vt:lpstr>Arial</vt:lpstr>
      <vt:lpstr>Cambria</vt:lpstr>
      <vt:lpstr>Verdana</vt:lpstr>
      <vt:lpstr>Wingdings</vt:lpstr>
      <vt:lpstr>Century Gothic</vt:lpstr>
      <vt:lpstr>1_Office Theme</vt:lpstr>
      <vt:lpstr>8th Grade Math:  Pre-Algebra  Unit 10, Lesson 3  Relations and Functions  Volume 2, pg. 129  </vt:lpstr>
      <vt:lpstr>Benchmark</vt:lpstr>
      <vt:lpstr>PowerPoint Presentation</vt:lpstr>
      <vt:lpstr>PowerPoint Presentation</vt:lpstr>
      <vt:lpstr>Warm-Up</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Bring It Together</vt:lpstr>
      <vt:lpstr>PowerPoint Presentation</vt:lpstr>
      <vt:lpstr>PowerPoint Presentation</vt:lpstr>
      <vt:lpstr>PowerPoint Presentation</vt:lpstr>
      <vt:lpstr>Guided Instruction</vt:lpstr>
      <vt:lpstr>PowerPoint Presentation</vt:lpstr>
      <vt:lpstr>PowerPoint Presentation</vt:lpstr>
      <vt:lpstr>PowerPoint Presentation</vt:lpstr>
      <vt:lpstr>Guided Practice</vt:lpstr>
      <vt:lpstr>PowerPoint Presentation</vt:lpstr>
      <vt:lpstr>Your Turn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19</cp:revision>
  <dcterms:created xsi:type="dcterms:W3CDTF">2015-03-17T18:51:18Z</dcterms:created>
  <dcterms:modified xsi:type="dcterms:W3CDTF">2022-06-18T18:18:44Z</dcterms:modified>
</cp:coreProperties>
</file>