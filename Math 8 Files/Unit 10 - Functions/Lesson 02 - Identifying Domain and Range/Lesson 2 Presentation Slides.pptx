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08" r:id="rId10"/>
    <p:sldId id="322" r:id="rId11"/>
    <p:sldId id="327" r:id="rId12"/>
    <p:sldId id="326" r:id="rId13"/>
    <p:sldId id="330" r:id="rId14"/>
    <p:sldId id="325" r:id="rId15"/>
    <p:sldId id="329" r:id="rId16"/>
    <p:sldId id="328" r:id="rId17"/>
    <p:sldId id="333" r:id="rId18"/>
    <p:sldId id="332" r:id="rId19"/>
    <p:sldId id="320" r:id="rId20"/>
    <p:sldId id="321" r:id="rId21"/>
    <p:sldId id="324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regular r:id="rId26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165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69"/>
    <p:restoredTop sz="94694"/>
  </p:normalViewPr>
  <p:slideViewPr>
    <p:cSldViewPr snapToGrid="0">
      <p:cViewPr varScale="1">
        <p:scale>
          <a:sx n="81" d="100"/>
          <a:sy n="81" d="100"/>
        </p:scale>
        <p:origin x="52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974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0886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7540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6481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9383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5269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9825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3388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7727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22901" y="2054277"/>
            <a:ext cx="548639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</a:t>
            </a: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Identifying Domain and Range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124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ADCE3FE7-B71C-E44E-AEBC-574B47F894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603831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MA.8.F.1.1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set of ordered pairs, a table, a graph, or mapping diagram, determine whether the relationship is a function. Identify the domain and range of the relation.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relate domain and range to independent and dependent variables in a relation.</a:t>
            </a:r>
          </a:p>
          <a:p>
            <a:pPr marL="463550" lvl="0" indent="-463550"/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the domain and range of a relation.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8805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10.2.1 Warm-Up: Math Talk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7C5FEC-A86F-3B40-BDC7-FA3BB8FD6EBF}"/>
                  </a:ext>
                </a:extLst>
              </p:cNvPr>
              <p:cNvSpPr/>
              <p:nvPr/>
            </p:nvSpPr>
            <p:spPr>
              <a:xfrm>
                <a:off x="914400" y="1197766"/>
                <a:ext cx="10515600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 self-serve frozen yogurt store sells servings up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ounces. It charges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$0.50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per ounce for a serving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ounces,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$4.00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for any serving greater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ounces and up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ounces. Four graphs are shown.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7C5FEC-A86F-3B40-BDC7-FA3BB8FD6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197766"/>
                <a:ext cx="10515600" cy="1323439"/>
              </a:xfrm>
              <a:prstGeom prst="rect">
                <a:avLst/>
              </a:prstGeom>
              <a:blipFill>
                <a:blip r:embed="rId5"/>
                <a:stretch>
                  <a:fillRect l="-603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15B54F3B-F3C4-EA4B-BEC7-5B4065AC4B7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1931" y="2477050"/>
            <a:ext cx="5113084" cy="40521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626942-0F6A-EA4E-9BC2-3B7E5489E00F}"/>
              </a:ext>
            </a:extLst>
          </p:cNvPr>
          <p:cNvSpPr txBox="1"/>
          <p:nvPr/>
        </p:nvSpPr>
        <p:spPr>
          <a:xfrm>
            <a:off x="914400" y="2692401"/>
            <a:ext cx="41801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which graph best represents the price as a function of the weight of a serving of yogurt.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3240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8597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10.2.2 Guided Instruction: Identifying the Domain and Range of a Relation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914400" y="1386025"/>
                <a:ext cx="1051560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statements shown.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3550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12 ÷ 3 = 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12 = 4 ∙ 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63550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6 ÷ 0 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6 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∙ 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635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35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second statement, what value can be used in place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so that the statement is true?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86025"/>
                <a:ext cx="10515600" cy="3046988"/>
              </a:xfrm>
              <a:prstGeom prst="rect">
                <a:avLst/>
              </a:prstGeom>
              <a:blipFill>
                <a:blip r:embed="rId5"/>
                <a:stretch>
                  <a:fillRect l="-870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6EBFD37-657E-6D48-AB68-B97E54ABC53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5C0689E-8B16-904F-A555-0BF540A1D1D2}"/>
              </a:ext>
            </a:extLst>
          </p:cNvPr>
          <p:cNvSpPr/>
          <p:nvPr/>
        </p:nvSpPr>
        <p:spPr>
          <a:xfrm>
            <a:off x="914400" y="792491"/>
            <a:ext cx="8559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The inputs of a relation are described as its </a:t>
            </a:r>
            <a:r>
              <a:rPr lang="en-US" sz="2400" b="1" i="1" dirty="0">
                <a:latin typeface="Verdana" panose="020B0604030504040204" pitchFamily="34" charset="0"/>
                <a:ea typeface="Times New Roman" panose="02020603050405020304" pitchFamily="18" charset="0"/>
              </a:rPr>
              <a:t>domain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482EFEE-2AFB-BF40-9C9B-9EEE1555752B}"/>
              </a:ext>
            </a:extLst>
          </p:cNvPr>
          <p:cNvGrpSpPr/>
          <p:nvPr/>
        </p:nvGrpSpPr>
        <p:grpSpPr>
          <a:xfrm>
            <a:off x="1994750" y="1682750"/>
            <a:ext cx="8482750" cy="2508250"/>
            <a:chOff x="2031300" y="3262288"/>
            <a:chExt cx="8482750" cy="246381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E761AE7-C04A-8D4D-9E04-DAC928C27B7A}"/>
                </a:ext>
              </a:extLst>
            </p:cNvPr>
            <p:cNvGrpSpPr/>
            <p:nvPr/>
          </p:nvGrpSpPr>
          <p:grpSpPr>
            <a:xfrm>
              <a:off x="2031300" y="3262288"/>
              <a:ext cx="8482750" cy="2463810"/>
              <a:chOff x="2031300" y="3373600"/>
              <a:chExt cx="8482750" cy="246381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913CD92-50C7-BD43-BC16-788BC7B35FCF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8ADB2F1F-8445-DC49-B6C9-906E44BD2A6E}"/>
                  </a:ext>
                </a:extLst>
              </p:cNvPr>
              <p:cNvGrpSpPr/>
              <p:nvPr/>
            </p:nvGrpSpPr>
            <p:grpSpPr>
              <a:xfrm>
                <a:off x="2031300" y="3373600"/>
                <a:ext cx="8482750" cy="2463810"/>
                <a:chOff x="2031300" y="3373600"/>
                <a:chExt cx="8482750" cy="2463810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93B3D9E-1F42-0E44-A7BB-AD160DB72F2F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694A8F5A-880E-364C-8EFE-2719DC7B8327}"/>
                    </a:ext>
                  </a:extLst>
                </p:cNvPr>
                <p:cNvGrpSpPr/>
                <p:nvPr/>
              </p:nvGrpSpPr>
              <p:grpSpPr>
                <a:xfrm>
                  <a:off x="2031300" y="3373600"/>
                  <a:ext cx="8482750" cy="2463810"/>
                  <a:chOff x="0" y="0"/>
                  <a:chExt cx="8482750" cy="2463810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313345CB-9791-E540-AB4E-75AA34ED0FC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sp>
                <p:nvSpPr>
                  <p:cNvPr id="28" name="Rounded Rectangle 27">
                    <a:extLst>
                      <a:ext uri="{FF2B5EF4-FFF2-40B4-BE49-F238E27FC236}">
                        <a16:creationId xmlns:a16="http://schemas.microsoft.com/office/drawing/2014/main" id="{DE875DBC-0C9C-E04E-8CCF-F5B7606CBCD6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482750" cy="246381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1079500"/>
                    <a:r>
                      <a:rPr lang="en-US" sz="24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The </a:t>
                    </a:r>
                    <a:r>
                      <a:rPr lang="en-US" sz="24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domain</a:t>
                    </a:r>
                    <a:r>
                      <a:rPr lang="en-US" sz="24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is the complete set of possible values of the input of a function or relation. The domain may vary depending on the context.</a:t>
                    </a:r>
                    <a:endParaRPr lang="en-US" sz="24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pic>
                <p:nvPicPr>
                  <p:cNvPr id="29" name="Shape 9" descr="Icon&#10;&#10;Description automatically generated">
                    <a:extLst>
                      <a:ext uri="{FF2B5EF4-FFF2-40B4-BE49-F238E27FC236}">
                        <a16:creationId xmlns:a16="http://schemas.microsoft.com/office/drawing/2014/main" id="{1A5BCE32-4CA0-244F-B943-AF828E39B09B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/>
                  <a:stretch/>
                </p:blipFill>
                <p:spPr>
                  <a:xfrm>
                    <a:off x="151244" y="648984"/>
                    <a:ext cx="940105" cy="94010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</p:grpSp>
          </p:grpSp>
        </p:grp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9177939-808C-9742-B0D5-DC648224308B}"/>
              </a:ext>
            </a:extLst>
          </p:cNvPr>
          <p:cNvSpPr/>
          <p:nvPr/>
        </p:nvSpPr>
        <p:spPr>
          <a:xfrm>
            <a:off x="914400" y="4578868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Sometimes one or more values are not allowed in the domain.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" name="Google Shape;282;g104476d1465_1_17">
            <a:extLst>
              <a:ext uri="{FF2B5EF4-FFF2-40B4-BE49-F238E27FC236}">
                <a16:creationId xmlns:a16="http://schemas.microsoft.com/office/drawing/2014/main" id="{CDEBEDDD-594C-B74D-9DDD-81F550FCEF3F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40CB3A2-EA4C-2F4B-A3B3-ADA27BC9F465}"/>
              </a:ext>
            </a:extLst>
          </p:cNvPr>
          <p:cNvSpPr/>
          <p:nvPr/>
        </p:nvSpPr>
        <p:spPr>
          <a:xfrm>
            <a:off x="914400" y="240725"/>
            <a:ext cx="1051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46355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rule to complete the table of values to represent the relation described by the rule and answer the subsequent questions.</a:t>
            </a: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085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of values.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1D511766-9FF3-6B4D-8AE1-5346092F2D4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3340" y="2191738"/>
            <a:ext cx="5995170" cy="4466037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B1912BF8-3524-4C47-AFC3-32BDAE40D3D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7965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914400" y="349706"/>
                <a:ext cx="10515600" cy="3201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0" indent="-46355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this relation, _____ is not an allowable input. Therefore, the domain does not include ____. </a:t>
                </a:r>
              </a:p>
              <a:p>
                <a:pPr marL="914400" lvl="0" indent="-4635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635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635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6355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0" indent="-46355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determine if there is another input that is not allowable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49706"/>
                <a:ext cx="10515600" cy="3201197"/>
              </a:xfrm>
              <a:prstGeom prst="rect">
                <a:avLst/>
              </a:prstGeom>
              <a:blipFill>
                <a:blip r:embed="rId4"/>
                <a:stretch>
                  <a:fillRect t="-1524" b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C4EE9A6A-5310-5441-BFD6-B3057861896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318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2553DFD6-0E70-E14D-9EBF-16052598AAD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1182C46-52BF-704E-BEE0-6EDA4032BDB5}"/>
                  </a:ext>
                </a:extLst>
              </p:cNvPr>
              <p:cNvSpPr/>
              <p:nvPr/>
            </p:nvSpPr>
            <p:spPr>
              <a:xfrm>
                <a:off x="914400" y="210000"/>
                <a:ext cx="105156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domain of Rule A can be represented using inequalities for the input values defined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&gt;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­­____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&lt;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____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These two inequalities can also be written as one,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≠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1182C46-52BF-704E-BEE0-6EDA4032B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10000"/>
                <a:ext cx="10515600" cy="2677656"/>
              </a:xfrm>
              <a:prstGeom prst="rect">
                <a:avLst/>
              </a:prstGeom>
              <a:blipFill>
                <a:blip r:embed="rId4"/>
                <a:stretch>
                  <a:fillRect l="-965" t="-1887" r="-1448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D9357B97-2E82-AD4D-B770-62BE32BA88A9}"/>
              </a:ext>
            </a:extLst>
          </p:cNvPr>
          <p:cNvSpPr/>
          <p:nvPr/>
        </p:nvSpPr>
        <p:spPr>
          <a:xfrm>
            <a:off x="914400" y="3395991"/>
            <a:ext cx="8470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The outputs of a relation are described as its </a:t>
            </a:r>
            <a:r>
              <a:rPr lang="en-US" sz="2400" b="1" i="1" dirty="0">
                <a:latin typeface="Verdana" panose="020B0604030504040204" pitchFamily="34" charset="0"/>
                <a:ea typeface="Times New Roman" panose="02020603050405020304" pitchFamily="18" charset="0"/>
              </a:rPr>
              <a:t>range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4B16188-726C-5649-B644-C17FAF7471AE}"/>
              </a:ext>
            </a:extLst>
          </p:cNvPr>
          <p:cNvGrpSpPr/>
          <p:nvPr/>
        </p:nvGrpSpPr>
        <p:grpSpPr>
          <a:xfrm>
            <a:off x="2260600" y="4067408"/>
            <a:ext cx="7658100" cy="2118043"/>
            <a:chOff x="2031300" y="2126965"/>
            <a:chExt cx="7658100" cy="217074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E1CD6BC-947A-A349-B239-D0FAC903A9A8}"/>
                </a:ext>
              </a:extLst>
            </p:cNvPr>
            <p:cNvGrpSpPr/>
            <p:nvPr/>
          </p:nvGrpSpPr>
          <p:grpSpPr>
            <a:xfrm>
              <a:off x="2031300" y="2126965"/>
              <a:ext cx="7658100" cy="2170747"/>
              <a:chOff x="2031300" y="2238277"/>
              <a:chExt cx="7658100" cy="2170747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EAC93A2-599A-2148-B832-6AC7DE4B53FB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10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71883D5B-EA42-5848-9E41-ABDB81A68DCF}"/>
                  </a:ext>
                </a:extLst>
              </p:cNvPr>
              <p:cNvGrpSpPr/>
              <p:nvPr/>
            </p:nvGrpSpPr>
            <p:grpSpPr>
              <a:xfrm>
                <a:off x="2031300" y="2238277"/>
                <a:ext cx="7658100" cy="2170747"/>
                <a:chOff x="2031300" y="2238277"/>
                <a:chExt cx="7658100" cy="2170747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99EB171-5D87-EA48-B4C1-07AAD2DDD0BB}"/>
                    </a:ext>
                  </a:extLst>
                </p:cNvPr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8B252EB2-89C4-6A4B-92DA-FF62852847DC}"/>
                    </a:ext>
                  </a:extLst>
                </p:cNvPr>
                <p:cNvGrpSpPr/>
                <p:nvPr/>
              </p:nvGrpSpPr>
              <p:grpSpPr>
                <a:xfrm>
                  <a:off x="2031300" y="2238277"/>
                  <a:ext cx="7658100" cy="2170747"/>
                  <a:chOff x="0" y="-1135323"/>
                  <a:chExt cx="7658100" cy="2170747"/>
                </a:xfrm>
              </p:grpSpPr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D1632144-2E7A-DD42-AB47-72B7766C1703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sp>
                <p:nvSpPr>
                  <p:cNvPr id="36" name="Rounded Rectangle 35">
                    <a:extLst>
                      <a:ext uri="{FF2B5EF4-FFF2-40B4-BE49-F238E27FC236}">
                        <a16:creationId xmlns:a16="http://schemas.microsoft.com/office/drawing/2014/main" id="{D4D02788-529E-3944-A0DC-BBB5F5FE33FE}"/>
                      </a:ext>
                    </a:extLst>
                  </p:cNvPr>
                  <p:cNvSpPr/>
                  <p:nvPr/>
                </p:nvSpPr>
                <p:spPr>
                  <a:xfrm>
                    <a:off x="0" y="-1135323"/>
                    <a:ext cx="7658100" cy="2170747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1028700"/>
                    <a:r>
                      <a:rPr lang="en-US" sz="24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The </a:t>
                    </a:r>
                    <a:r>
                      <a:rPr lang="en-US" sz="2400" b="1" i="1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range</a:t>
                    </a:r>
                    <a:r>
                      <a:rPr lang="en-US" sz="2400" dirty="0">
                        <a:solidFill>
                          <a:srgbClr val="6C993D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is the complete set of possible values of the output of a relation or function.</a:t>
                    </a:r>
                    <a:endParaRPr lang="en-US" sz="24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  <a:p>
                    <a:pPr marL="685800" indent="685800"/>
                    <a:r>
                      <a:rPr lang="en-US" sz="24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pic>
                <p:nvPicPr>
                  <p:cNvPr id="37" name="Shape 9" descr="Icon&#10;&#10;Description automatically generated">
                    <a:extLst>
                      <a:ext uri="{FF2B5EF4-FFF2-40B4-BE49-F238E27FC236}">
                        <a16:creationId xmlns:a16="http://schemas.microsoft.com/office/drawing/2014/main" id="{82C90750-4EA6-704C-9D8A-EAB49DAFB217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/>
                  <a:stretch/>
                </p:blipFill>
                <p:spPr>
                  <a:xfrm>
                    <a:off x="138544" y="-655770"/>
                    <a:ext cx="979055" cy="97905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</p:grpSp>
          </p:grpSp>
        </p:grpSp>
      </p:grpSp>
    </p:spTree>
    <p:extLst>
      <p:ext uri="{BB962C8B-B14F-4D97-AF65-F5344CB8AC3E}">
        <p14:creationId xmlns:p14="http://schemas.microsoft.com/office/powerpoint/2010/main" val="3911349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349705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550" indent="-46355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rule to complete the mapping diagram and answer the subsequent questions.</a:t>
            </a:r>
          </a:p>
          <a:p>
            <a:pPr marL="914400" indent="-457200">
              <a:buFont typeface="+mj-lt"/>
              <a:buAutoNum type="alphaLcPeriod"/>
              <a:tabLst>
                <a:tab pos="344488" algn="l"/>
              </a:tabLst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  <a:tabLst>
                <a:tab pos="344488" algn="l"/>
              </a:tabLs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mapping diagram.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0390573C-2CD3-2541-A4C7-17E2A2E9E5B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5493" y="2139954"/>
            <a:ext cx="8219183" cy="3905247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791B0BA-75C9-9F4A-8C0F-A68A1AD17D1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5091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A363DB-0BDC-7D4E-AEE8-29249A0BB0C5}"/>
              </a:ext>
            </a:extLst>
          </p:cNvPr>
          <p:cNvSpPr/>
          <p:nvPr/>
        </p:nvSpPr>
        <p:spPr>
          <a:xfrm>
            <a:off x="914400" y="373391"/>
            <a:ext cx="10515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the rule, what type of output values are unattainable for this relation?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 inequality to represent the range of this relation. </a:t>
            </a:r>
          </a:p>
          <a:p>
            <a:pPr marL="393700" indent="-3937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93700" indent="-3937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93700" indent="-3937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93700" indent="-3937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93700" indent="-3937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 times, the domain and range of a relation can be represented using a list of numbers. </a:t>
            </a:r>
          </a:p>
          <a:p>
            <a:pPr marL="393700" indent="-3937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5" name="Picture 14" descr="Shape, circle&#10;&#10;Description automatically generated">
            <a:extLst>
              <a:ext uri="{FF2B5EF4-FFF2-40B4-BE49-F238E27FC236}">
                <a16:creationId xmlns:a16="http://schemas.microsoft.com/office/drawing/2014/main" id="{F37A82A9-20C8-A341-8861-952BF78DBC4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5825" y="2464578"/>
            <a:ext cx="2800350" cy="1283853"/>
          </a:xfrm>
          <a:prstGeom prst="rect">
            <a:avLst/>
          </a:prstGeom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EF7F3BC5-C509-0E4D-B32D-069A0977673D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1720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349706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550" indent="-46355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relation, write the domain and range as a set of numbers. </a:t>
            </a: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346EB219-A1A2-D845-B746-0DD99271E32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9416" y="1276117"/>
            <a:ext cx="6204976" cy="5181558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62B7685-8D43-B048-B48D-B9FBB636ACB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1075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349706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 are also instances where the domain and range of a relation can be represented by a compound inequality.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27A0E2-9DB8-8C4E-8F74-21370EE110A4}"/>
              </a:ext>
            </a:extLst>
          </p:cNvPr>
          <p:cNvGrpSpPr/>
          <p:nvPr/>
        </p:nvGrpSpPr>
        <p:grpSpPr>
          <a:xfrm>
            <a:off x="2082800" y="2016760"/>
            <a:ext cx="8176768" cy="1768584"/>
            <a:chOff x="-292100" y="0"/>
            <a:chExt cx="8176768" cy="23107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8EE363-7F6A-C541-B774-F58FD9F60A33}"/>
                </a:ext>
              </a:extLst>
            </p:cNvPr>
            <p:cNvSpPr/>
            <p:nvPr/>
          </p:nvSpPr>
          <p:spPr>
            <a:xfrm>
              <a:off x="0" y="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CD7E602-8444-414E-90C2-A638FD964316}"/>
                </a:ext>
              </a:extLst>
            </p:cNvPr>
            <p:cNvSpPr/>
            <p:nvPr/>
          </p:nvSpPr>
          <p:spPr>
            <a:xfrm>
              <a:off x="-292100" y="0"/>
              <a:ext cx="8176768" cy="2310764"/>
            </a:xfrm>
            <a:prstGeom prst="roundRect">
              <a:avLst>
                <a:gd name="adj" fmla="val 16667"/>
              </a:avLst>
            </a:prstGeom>
            <a:solidFill>
              <a:srgbClr val="E2EED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1143000"/>
              <a:r>
                <a:rPr lang="en-US" sz="24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 </a:t>
              </a:r>
              <a:r>
                <a:rPr lang="en-US" sz="2400" b="1" i="1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compound inequality</a:t>
              </a:r>
              <a:r>
                <a:rPr lang="en-US" sz="2400" dirty="0">
                  <a:solidFill>
                    <a:srgbClr val="6C993D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is a conjunction of two or more inequalities.</a:t>
              </a:r>
              <a:endPara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685800" indent="685800"/>
              <a:r>
                <a: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pic>
          <p:nvPicPr>
            <p:cNvPr id="9" name="Shape 9" descr="Icon&#10;&#10;Description automatically generated">
              <a:extLst>
                <a:ext uri="{FF2B5EF4-FFF2-40B4-BE49-F238E27FC236}">
                  <a16:creationId xmlns:a16="http://schemas.microsoft.com/office/drawing/2014/main" id="{4CD640DA-9117-D349-8246-E2544EC872D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406952"/>
              <a:ext cx="812800" cy="107866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070860-01F9-AC41-BCC3-C2B4ED128C13}"/>
                  </a:ext>
                </a:extLst>
              </p:cNvPr>
              <p:cNvSpPr/>
              <p:nvPr/>
            </p:nvSpPr>
            <p:spPr>
              <a:xfrm>
                <a:off x="914400" y="4251962"/>
                <a:ext cx="10515600" cy="24048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example,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−4≤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compound inequality that is read, “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less than or equal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which is less than or 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.” This inequality is true for any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including either of those values.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070860-01F9-AC41-BCC3-C2B4ED128C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251962"/>
                <a:ext cx="10515600" cy="2404889"/>
              </a:xfrm>
              <a:prstGeom prst="rect">
                <a:avLst/>
              </a:prstGeom>
              <a:blipFill>
                <a:blip r:embed="rId5"/>
                <a:stretch>
                  <a:fillRect l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39DE06A-570B-0E4B-98E6-445C9B35717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3262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914400" y="552906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graph is shown.</a:t>
            </a: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B4317209-29F6-AC4B-AD22-14A4D13D4DF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0862" y="268926"/>
            <a:ext cx="4310063" cy="42955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620321-4DEC-ED4C-B623-EBFDD3F9F439}"/>
              </a:ext>
            </a:extLst>
          </p:cNvPr>
          <p:cNvSpPr/>
          <p:nvPr/>
        </p:nvSpPr>
        <p:spPr>
          <a:xfrm>
            <a:off x="914399" y="1432972"/>
            <a:ext cx="585453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6355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Represent the domain and range of the graph using compound inequalities.</a:t>
            </a:r>
          </a:p>
          <a:p>
            <a:pPr marL="914400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Domain: ___________</a:t>
            </a:r>
          </a:p>
          <a:p>
            <a:pPr marL="91440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Range: ____________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A740C-C9A5-D443-83C0-017A946113C3}"/>
              </a:ext>
            </a:extLst>
          </p:cNvPr>
          <p:cNvSpPr txBox="1"/>
          <p:nvPr/>
        </p:nvSpPr>
        <p:spPr>
          <a:xfrm>
            <a:off x="914399" y="4672323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this graph to Relation A in the previous problem. Discuss with your partner why representing the domain and range of this graph could not be done by writing the elements of each in a list.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ABE9986-9747-2A44-B596-E92194B3F6F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298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8973B7D-457E-CB40-9EB9-281F66956F50}"/>
              </a:ext>
            </a:extLst>
          </p:cNvPr>
          <p:cNvGrpSpPr/>
          <p:nvPr/>
        </p:nvGrpSpPr>
        <p:grpSpPr>
          <a:xfrm>
            <a:off x="1674420" y="1089827"/>
            <a:ext cx="8618650" cy="3526473"/>
            <a:chOff x="1121550" y="2691404"/>
            <a:chExt cx="8618650" cy="352726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E99B676-1775-D045-A430-ADCF3474752E}"/>
                </a:ext>
              </a:extLst>
            </p:cNvPr>
            <p:cNvGrpSpPr/>
            <p:nvPr/>
          </p:nvGrpSpPr>
          <p:grpSpPr>
            <a:xfrm>
              <a:off x="1121550" y="2691404"/>
              <a:ext cx="8618650" cy="3527261"/>
              <a:chOff x="1121550" y="2691404"/>
              <a:chExt cx="8618650" cy="3527261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B6B916E-D0F3-914C-BC0A-8EF9B5E4B17C}"/>
                  </a:ext>
                </a:extLst>
              </p:cNvPr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2EA7EE4-5E26-3948-B39F-A7F852480E78}"/>
                  </a:ext>
                </a:extLst>
              </p:cNvPr>
              <p:cNvGrpSpPr/>
              <p:nvPr/>
            </p:nvGrpSpPr>
            <p:grpSpPr>
              <a:xfrm>
                <a:off x="1121550" y="2691404"/>
                <a:ext cx="8618650" cy="3527261"/>
                <a:chOff x="-909750" y="-584331"/>
                <a:chExt cx="8618650" cy="3527261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52D65FE-F436-C446-BDF8-C26F896AAE8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5796713D-5436-E946-BAB0-9468A6673D20}"/>
                    </a:ext>
                  </a:extLst>
                </p:cNvPr>
                <p:cNvGrpSpPr/>
                <p:nvPr/>
              </p:nvGrpSpPr>
              <p:grpSpPr>
                <a:xfrm>
                  <a:off x="-909750" y="-584331"/>
                  <a:ext cx="8618650" cy="3527261"/>
                  <a:chOff x="-909750" y="-584331"/>
                  <a:chExt cx="8618650" cy="3527261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6B50A946-E5FF-8F4F-A2C7-E0D80E91A3ED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7863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C683DC04-B87E-1249-8C48-9720A37E8A3C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629400" cy="7863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sp>
                <p:nvSpPr>
                  <p:cNvPr id="16" name="Rounded Rectangle 15">
                    <a:extLst>
                      <a:ext uri="{FF2B5EF4-FFF2-40B4-BE49-F238E27FC236}">
                        <a16:creationId xmlns:a16="http://schemas.microsoft.com/office/drawing/2014/main" id="{0D1C31C0-FD47-5540-9812-23D98BBF43A0}"/>
                      </a:ext>
                    </a:extLst>
                  </p:cNvPr>
                  <p:cNvSpPr/>
                  <p:nvPr/>
                </p:nvSpPr>
                <p:spPr>
                  <a:xfrm>
                    <a:off x="-909750" y="-584331"/>
                    <a:ext cx="8618650" cy="3527261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B8E6F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1143000">
                      <a:lnSpc>
                        <a:spcPct val="150000"/>
                      </a:lnSpc>
                    </a:pPr>
                    <a:r>
                      <a:rPr lang="en-US" sz="2400" b="1" dirty="0">
                        <a:solidFill>
                          <a:srgbClr val="3465B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Representing Domain and Range</a:t>
                    </a:r>
                    <a:endParaRPr lang="en-US" sz="24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  <a:p>
                    <a:pPr marL="1143000"/>
                    <a:r>
                      <a:rPr lang="en-US" sz="2400" dirty="0">
                        <a:solidFill>
                          <a:srgbClr val="3465B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When the elements of the domain or range consist of </a:t>
                    </a:r>
                    <a:r>
                      <a:rPr lang="en-US" sz="2400" b="1" dirty="0">
                        <a:solidFill>
                          <a:srgbClr val="3465B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a set number of values</a:t>
                    </a:r>
                    <a:r>
                      <a:rPr lang="en-US" sz="2400" dirty="0">
                        <a:solidFill>
                          <a:srgbClr val="3465B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, each can be </a:t>
                    </a:r>
                    <a:r>
                      <a:rPr lang="en-US" sz="2400" b="1" dirty="0">
                        <a:solidFill>
                          <a:srgbClr val="3465B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represented by a list</a:t>
                    </a:r>
                    <a:r>
                      <a:rPr lang="en-US" sz="2400" dirty="0">
                        <a:solidFill>
                          <a:srgbClr val="3465B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. </a:t>
                    </a:r>
                    <a:endParaRPr lang="en-US" sz="24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  <a:p>
                    <a:pPr marL="1143000"/>
                    <a:r>
                      <a:rPr lang="en-US" sz="2400" dirty="0">
                        <a:solidFill>
                          <a:srgbClr val="3465B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When the elements of the domain or range consist of </a:t>
                    </a:r>
                    <a:r>
                      <a:rPr lang="en-US" sz="2400" b="1" dirty="0">
                        <a:solidFill>
                          <a:srgbClr val="3465B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an infinite number of points</a:t>
                    </a:r>
                    <a:r>
                      <a:rPr lang="en-US" sz="2400" dirty="0">
                        <a:solidFill>
                          <a:srgbClr val="3465B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</a:t>
                    </a:r>
                    <a:r>
                      <a:rPr lang="en-US" sz="2400" b="1" dirty="0">
                        <a:solidFill>
                          <a:srgbClr val="3465B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between specified values</a:t>
                    </a:r>
                    <a:r>
                      <a:rPr lang="en-US" sz="2400" dirty="0">
                        <a:solidFill>
                          <a:srgbClr val="3465B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, an inequality is best. </a:t>
                    </a:r>
                    <a:endParaRPr lang="en-US" sz="24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  <a:p>
                    <a:pPr marL="742950" indent="1485900"/>
                    <a:r>
                      <a:rPr lang="en-US" sz="2400" dirty="0">
                        <a:solidFill>
                          <a:srgbClr val="3465B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  <a:endParaRPr lang="en-US" sz="24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pic>
              <p:nvPicPr>
                <p:cNvPr id="13" name="Shape 19" descr="Icon&#10;&#10;Description automatically generated">
                  <a:extLst>
                    <a:ext uri="{FF2B5EF4-FFF2-40B4-BE49-F238E27FC236}">
                      <a16:creationId xmlns:a16="http://schemas.microsoft.com/office/drawing/2014/main" id="{A50A2502-B536-1F4F-A996-8D5CB7E1377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-731476" y="-349324"/>
                  <a:ext cx="1135700" cy="1135699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sp>
        <p:nvSpPr>
          <p:cNvPr id="17" name="Google Shape;282;g104476d1465_1_17">
            <a:extLst>
              <a:ext uri="{FF2B5EF4-FFF2-40B4-BE49-F238E27FC236}">
                <a16:creationId xmlns:a16="http://schemas.microsoft.com/office/drawing/2014/main" id="{52B62CC7-03C8-C64B-8764-5D0B24B5D46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8614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510592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50DF525-7D96-0A48-BC23-9FB6AABE67A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10.2.3 Try It: Identifying the Domain and Range of a Relation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760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914400" y="1386026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550" indent="-4635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Identify the domain and range of each relation. Represent the domain as a list or using an inequality.</a:t>
            </a: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D3490305-96B0-144E-90DA-659A77DA27B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8891" y="2547475"/>
            <a:ext cx="7170250" cy="3910201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BDEDD68-7AB9-314A-BB80-0D600DD8DB3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Picture 2" descr="Table&#10;&#10;Description automatically generated with low confidence">
            <a:extLst>
              <a:ext uri="{FF2B5EF4-FFF2-40B4-BE49-F238E27FC236}">
                <a16:creationId xmlns:a16="http://schemas.microsoft.com/office/drawing/2014/main" id="{8F9107C8-4531-3249-9E1E-7973B3307B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6970" y="328690"/>
            <a:ext cx="7858060" cy="5985155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CC9BA22-8728-BB40-B10C-AF20C0214D1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1292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2074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CA26F36-85FB-6F47-BFE1-9526A3AAF9F3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184171"/>
            <a:ext cx="1068324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10.2.4 Wrap-Up: Growth Mindset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603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5015EC-6F43-1C4A-AD6C-B1BEBDFEE113}"/>
              </a:ext>
            </a:extLst>
          </p:cNvPr>
          <p:cNvSpPr/>
          <p:nvPr/>
        </p:nvSpPr>
        <p:spPr>
          <a:xfrm>
            <a:off x="914400" y="1178056"/>
            <a:ext cx="8597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63550" indent="-46355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Today I am still unsure about…</a:t>
            </a:r>
          </a:p>
          <a:p>
            <a:pPr marL="463550" indent="-46355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fill this gap, I intend to…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DDDAB21-3A33-3F47-AE46-A181D54ACE9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pg.129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972</Words>
  <Application>Microsoft Office PowerPoint</Application>
  <PresentationFormat>Widescreen</PresentationFormat>
  <Paragraphs>143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Verdana</vt:lpstr>
      <vt:lpstr>Times New Roman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8th Grade Math:  Pre-Algebra  Unit 10, Lesson 2  Identifying Domain and Range  Volume 2, pg. 124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21</cp:revision>
  <dcterms:created xsi:type="dcterms:W3CDTF">2015-03-17T18:51:18Z</dcterms:created>
  <dcterms:modified xsi:type="dcterms:W3CDTF">2022-06-18T17:12:53Z</dcterms:modified>
</cp:coreProperties>
</file>