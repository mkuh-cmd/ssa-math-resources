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34" r:id="rId8"/>
    <p:sldId id="289" r:id="rId9"/>
    <p:sldId id="290" r:id="rId10"/>
    <p:sldId id="308" r:id="rId11"/>
    <p:sldId id="322" r:id="rId12"/>
    <p:sldId id="327" r:id="rId13"/>
    <p:sldId id="326" r:id="rId14"/>
    <p:sldId id="330" r:id="rId15"/>
    <p:sldId id="325" r:id="rId16"/>
    <p:sldId id="329" r:id="rId17"/>
    <p:sldId id="328" r:id="rId18"/>
    <p:sldId id="333" r:id="rId19"/>
    <p:sldId id="332" r:id="rId20"/>
    <p:sldId id="335" r:id="rId21"/>
    <p:sldId id="336" r:id="rId22"/>
    <p:sldId id="320" r:id="rId23"/>
    <p:sldId id="321" r:id="rId24"/>
    <p:sldId id="324" r:id="rId25"/>
    <p:sldId id="306" r:id="rId26"/>
    <p:sldId id="307" r:id="rId27"/>
    <p:sldId id="337" r:id="rId28"/>
    <p:sldId id="338" r:id="rId29"/>
  </p:sldIdLst>
  <p:sldSz cx="12192000" cy="6858000"/>
  <p:notesSz cx="6858000" cy="9144000"/>
  <p:embeddedFontLst>
    <p:embeddedFont>
      <p:font typeface="Arial Black" panose="020B0A04020102020204" pitchFamily="34" charset="0"/>
      <p:regular r:id="rId31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1F3165"/>
    <a:srgbClr val="C9DF6F"/>
    <a:srgbClr val="417DBF"/>
    <a:srgbClr val="3F2A67"/>
    <a:srgbClr val="E24E5F"/>
    <a:srgbClr val="26B7D4"/>
    <a:srgbClr val="54B5D1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0"/>
    <p:restoredTop sz="94694"/>
  </p:normalViewPr>
  <p:slideViewPr>
    <p:cSldViewPr snapToGrid="0">
      <p:cViewPr varScale="1">
        <p:scale>
          <a:sx n="59" d="100"/>
          <a:sy n="59" d="100"/>
        </p:scale>
        <p:origin x="10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68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74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86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7540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6481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938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5269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825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388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7880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6521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1227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16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30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22901" y="2054277"/>
            <a:ext cx="548639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Sketching Graphs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of Functions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146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MA.8.F.1.3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Analyze a real-world written description or graphical representation of a functional relationship between two quantities and identify where the function is increasing, decreasing, or constant.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31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independent and dependent variables being related in a functional relationship.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sketch a graph from a description of a functional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10.6.1 Warm-Up: Dog Run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1197765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Below are five pictures of a dog that were taken at equal intervals of time.</a:t>
            </a:r>
          </a:p>
        </p:txBody>
      </p:sp>
      <p:pic>
        <p:nvPicPr>
          <p:cNvPr id="10" name="Picture" descr="A picture containing grass, outdoor, grassy&#10;&#10;Description automatically generated">
            <a:extLst>
              <a:ext uri="{FF2B5EF4-FFF2-40B4-BE49-F238E27FC236}">
                <a16:creationId xmlns:a16="http://schemas.microsoft.com/office/drawing/2014/main" id="{5DEC2F0D-AF74-FA48-884A-BF707D8C8A7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660333" y="2069457"/>
            <a:ext cx="6871335" cy="15925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2F26AE-EE1B-2446-BEE7-37EB10A4CF9E}"/>
              </a:ext>
            </a:extLst>
          </p:cNvPr>
          <p:cNvSpPr/>
          <p:nvPr/>
        </p:nvSpPr>
        <p:spPr>
          <a:xfrm>
            <a:off x="914400" y="3913669"/>
            <a:ext cx="10616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Diego and Lin drew different graphs to represent this situation.</a:t>
            </a:r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1DDEA09C-1597-7C4E-BBBC-B89C5CC1B3C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7183" y="4688982"/>
            <a:ext cx="1913612" cy="1712669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091704C1-EB5D-3E46-B89F-73A85A40738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688982"/>
            <a:ext cx="1913613" cy="17126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49FD98-D4E1-2D4C-9B11-683E3B87A709}"/>
              </a:ext>
            </a:extLst>
          </p:cNvPr>
          <p:cNvSpPr txBox="1"/>
          <p:nvPr/>
        </p:nvSpPr>
        <p:spPr>
          <a:xfrm>
            <a:off x="3551569" y="4399332"/>
            <a:ext cx="464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Diego’s Graph	</a:t>
            </a:r>
            <a:r>
              <a:rPr lang="en-US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Lin’s Graph</a:t>
            </a:r>
            <a:r>
              <a:rPr lang="en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914400" y="392547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They both used time as the independent variable. What represents the dependent variable on each person’s graph?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1F18D4-7AB5-2B43-BE45-1FA7A61BA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952307"/>
              </p:ext>
            </p:extLst>
          </p:nvPr>
        </p:nvGraphicFramePr>
        <p:xfrm>
          <a:off x="2695575" y="1593116"/>
          <a:ext cx="6800850" cy="143256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16300">
                  <a:extLst>
                    <a:ext uri="{9D8B030D-6E8A-4147-A177-3AD203B41FA5}">
                      <a16:colId xmlns:a16="http://schemas.microsoft.com/office/drawing/2014/main" val="132897011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406888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Diego’s 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Lin’s 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  <a:endParaRPr lang="en-CO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01384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489909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58E0CBF-39B7-564E-8D84-1787015E2B66}"/>
              </a:ext>
            </a:extLst>
          </p:cNvPr>
          <p:cNvSpPr/>
          <p:nvPr/>
        </p:nvSpPr>
        <p:spPr>
          <a:xfrm>
            <a:off x="914400" y="3395054"/>
            <a:ext cx="858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Explain your reasoning. </a:t>
            </a:r>
          </a:p>
        </p:txBody>
      </p:sp>
    </p:spTree>
    <p:extLst>
      <p:ext uri="{BB962C8B-B14F-4D97-AF65-F5344CB8AC3E}">
        <p14:creationId xmlns:p14="http://schemas.microsoft.com/office/powerpoint/2010/main" val="138924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7.png" descr="Icon&#10;&#10;Description automatically generated">
            <a:extLst>
              <a:ext uri="{FF2B5EF4-FFF2-40B4-BE49-F238E27FC236}">
                <a16:creationId xmlns:a16="http://schemas.microsoft.com/office/drawing/2014/main" id="{526645D0-5FC1-8349-B0DB-2137BA6FDED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37392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86303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10.6.2 Activity: Graphing Stories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838200" y="1618798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this activity, several videos will be shown. If you are not able to view the videos, screenshots and brief descriptions are included for your reference.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EBFD37-657E-6D48-AB68-B97E54ABC53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7.png" descr="Icon&#10;&#10;Description automatically generated">
            <a:extLst>
              <a:ext uri="{FF2B5EF4-FFF2-40B4-BE49-F238E27FC236}">
                <a16:creationId xmlns:a16="http://schemas.microsoft.com/office/drawing/2014/main" id="{772E5EE1-958D-DB4E-9A9F-D7C6C0619F1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760" y="115335"/>
            <a:ext cx="753250" cy="753250"/>
          </a:xfrm>
          <a:prstGeom prst="rect">
            <a:avLst/>
          </a:prstGeom>
          <a:ln/>
        </p:spPr>
      </p:pic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22C91C1-970F-6C4C-B084-2D615C8625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4321" y="2947665"/>
            <a:ext cx="5958234" cy="3581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0476A3-0682-C0BE-7B99-DF5F5C4DA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4587" y="141466"/>
            <a:ext cx="1499213" cy="14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CDEBEDDD-594C-B74D-9DDD-81F550FCEF3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text, tree, outdoor, sign&#10;&#10;Description automatically generated">
            <a:extLst>
              <a:ext uri="{FF2B5EF4-FFF2-40B4-BE49-F238E27FC236}">
                <a16:creationId xmlns:a16="http://schemas.microsoft.com/office/drawing/2014/main" id="{BB8A329C-C5BF-D044-B2E3-1D6FF60B40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8474" y="1115725"/>
            <a:ext cx="6578252" cy="46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0CB3A2-EA4C-2F4B-A3B3-ADA27BC9F465}"/>
              </a:ext>
            </a:extLst>
          </p:cNvPr>
          <p:cNvSpPr/>
          <p:nvPr/>
        </p:nvSpPr>
        <p:spPr>
          <a:xfrm>
            <a:off x="914400" y="240725"/>
            <a:ext cx="10515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1488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some different measurements that are changing over time in this story?</a:t>
            </a:r>
          </a:p>
          <a:p>
            <a:pPr marL="471488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71488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71488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71488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71488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the graph of the relationship between the height of the man’s waist above the ground, in feet, and time, in seconds.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1912BF8-3524-4C47-AFC3-32BDAE40D3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C791A2-3D39-7D45-8122-991249516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7176" y="3287713"/>
            <a:ext cx="3998348" cy="3323169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4F5C2046-FBFF-DB45-963D-6DBF2442018A}"/>
              </a:ext>
            </a:extLst>
          </p:cNvPr>
          <p:cNvSpPr txBox="1"/>
          <p:nvPr/>
        </p:nvSpPr>
        <p:spPr>
          <a:xfrm>
            <a:off x="4965890" y="6528925"/>
            <a:ext cx="2541270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latin typeface="Verdana" panose="020B0604030504040204" pitchFamily="34" charset="0"/>
                <a:ea typeface="Times New Roman" panose="02020603050405020304" pitchFamily="18" charset="0"/>
              </a:rPr>
              <a:t>Time (in seconds)</a:t>
            </a:r>
            <a:endParaRPr lang="en-CO" sz="105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7F2A7BB9-BC13-9746-BD2C-87D69BDCE819}"/>
              </a:ext>
            </a:extLst>
          </p:cNvPr>
          <p:cNvSpPr txBox="1"/>
          <p:nvPr/>
        </p:nvSpPr>
        <p:spPr>
          <a:xfrm rot="16200000">
            <a:off x="2504079" y="4527504"/>
            <a:ext cx="2862322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Times New Roman" panose="02020603050405020304" pitchFamily="18" charset="0"/>
              </a:rPr>
              <a:t>Height of Waist Above the </a:t>
            </a:r>
          </a:p>
          <a:p>
            <a:pPr algn="ctr"/>
            <a:r>
              <a:rPr lang="en-US" sz="1200" b="1" dirty="0">
                <a:latin typeface="Verdana" panose="020B0604030504040204" pitchFamily="34" charset="0"/>
                <a:ea typeface="Times New Roman" panose="02020603050405020304" pitchFamily="18" charset="0"/>
              </a:rPr>
              <a:t>Ground (in feet)</a:t>
            </a:r>
            <a:endParaRPr lang="en-CO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graph with your partner. Discuss your graphs and make any changes, if necessary.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4EE9A6A-5310-5441-BFD6-B3057861896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28D4E-F7EF-8341-AB82-5048D5C92BCF}"/>
              </a:ext>
            </a:extLst>
          </p:cNvPr>
          <p:cNvSpPr txBox="1"/>
          <p:nvPr/>
        </p:nvSpPr>
        <p:spPr>
          <a:xfrm>
            <a:off x="914400" y="2090015"/>
            <a:ext cx="3958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Peter sketched the graph shown to represent the situation.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27A6734C-2D2D-3347-92A7-2E581446C0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0990" y="2188632"/>
            <a:ext cx="4274836" cy="3552964"/>
          </a:xfrm>
          <a:prstGeom prst="rect">
            <a:avLst/>
          </a:prstGeom>
        </p:spPr>
      </p:pic>
      <p:sp>
        <p:nvSpPr>
          <p:cNvPr id="9" name="Text Box 35">
            <a:extLst>
              <a:ext uri="{FF2B5EF4-FFF2-40B4-BE49-F238E27FC236}">
                <a16:creationId xmlns:a16="http://schemas.microsoft.com/office/drawing/2014/main" id="{5AB9D5EB-7703-AE4C-BBF7-8578DF1B2DD7}"/>
              </a:ext>
            </a:extLst>
          </p:cNvPr>
          <p:cNvSpPr txBox="1"/>
          <p:nvPr/>
        </p:nvSpPr>
        <p:spPr>
          <a:xfrm rot="16200000">
            <a:off x="3629980" y="3593638"/>
            <a:ext cx="3846195" cy="74295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Times New Roman" panose="02020603050405020304" pitchFamily="18" charset="0"/>
              </a:rPr>
              <a:t>Height of Waist Above the Ground (in feet)</a:t>
            </a:r>
            <a:endParaRPr lang="en-CO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6050D0B6-90FD-0547-B6D6-6D1D229E8CB5}"/>
              </a:ext>
            </a:extLst>
          </p:cNvPr>
          <p:cNvSpPr txBox="1"/>
          <p:nvPr/>
        </p:nvSpPr>
        <p:spPr>
          <a:xfrm>
            <a:off x="6916203" y="5770575"/>
            <a:ext cx="2264410" cy="33591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Time (in seconds)</a:t>
            </a:r>
            <a:endParaRPr lang="en-CO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18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99934E-89B1-D740-8F16-83159E2AC85B}"/>
              </a:ext>
            </a:extLst>
          </p:cNvPr>
          <p:cNvSpPr/>
          <p:nvPr/>
        </p:nvSpPr>
        <p:spPr>
          <a:xfrm>
            <a:off x="914400" y="411491"/>
            <a:ext cx="10515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635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Compare Peter’s graph to your graph. Describe a feature Peter included on his graph that provides additional or different information than yours.</a:t>
            </a: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What is the domain of Peter’s graphical representation?</a:t>
            </a: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635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Discuss with your partner how the sketch of the graph would change if the 𝑦-axis measured “height of the man’s feet above the ground (feet)” instead of “height of waist.”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2553DFD6-0E70-E14D-9EBF-16052598AA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1349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23171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 indent="-142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screenshots and descriptions for three more stories to sketch a graph representing each story.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791B0BA-75C9-9F4A-8C0F-A68A1AD17D1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CA34B9-6309-564E-84F5-6D29DE333B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9055037"/>
                  </p:ext>
                </p:extLst>
              </p:nvPr>
            </p:nvGraphicFramePr>
            <p:xfrm>
              <a:off x="1932432" y="1051804"/>
              <a:ext cx="8327136" cy="540587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532278">
                      <a:extLst>
                        <a:ext uri="{9D8B030D-6E8A-4147-A177-3AD203B41FA5}">
                          <a16:colId xmlns:a16="http://schemas.microsoft.com/office/drawing/2014/main" val="112711120"/>
                        </a:ext>
                      </a:extLst>
                    </a:gridCol>
                    <a:gridCol w="3794858">
                      <a:extLst>
                        <a:ext uri="{9D8B030D-6E8A-4147-A177-3AD203B41FA5}">
                          <a16:colId xmlns:a16="http://schemas.microsoft.com/office/drawing/2014/main" val="2348065969"/>
                        </a:ext>
                      </a:extLst>
                    </a:gridCol>
                  </a:tblGrid>
                  <a:tr h="315004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Story 2 – Filling with Water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8861654"/>
                      </a:ext>
                    </a:extLst>
                  </a:tr>
                  <a:tr h="3150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  <a:endParaRPr lang="en-CO" sz="12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691394"/>
                      </a:ext>
                    </a:extLst>
                  </a:tr>
                  <a:tr h="15750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bowl and measuring cup each contain some water. The bowl is filled with water at a constant rate from a faucet.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1498879"/>
                      </a:ext>
                    </a:extLst>
                  </a:tr>
                  <a:tr h="164614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After about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seconds, someone pours the water from the measuring cup into the bowl as the faucet continues to run.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3894765"/>
                      </a:ext>
                    </a:extLst>
                  </a:tr>
                  <a:tr h="155469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faucet continues to run for the next several seconds.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2994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CA34B9-6309-564E-84F5-6D29DE333B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9055037"/>
                  </p:ext>
                </p:extLst>
              </p:nvPr>
            </p:nvGraphicFramePr>
            <p:xfrm>
              <a:off x="1932432" y="1051804"/>
              <a:ext cx="8327136" cy="540587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532278">
                      <a:extLst>
                        <a:ext uri="{9D8B030D-6E8A-4147-A177-3AD203B41FA5}">
                          <a16:colId xmlns:a16="http://schemas.microsoft.com/office/drawing/2014/main" val="112711120"/>
                        </a:ext>
                      </a:extLst>
                    </a:gridCol>
                    <a:gridCol w="3794858">
                      <a:extLst>
                        <a:ext uri="{9D8B030D-6E8A-4147-A177-3AD203B41FA5}">
                          <a16:colId xmlns:a16="http://schemas.microsoft.com/office/drawing/2014/main" val="2348065969"/>
                        </a:ext>
                      </a:extLst>
                    </a:gridCol>
                  </a:tblGrid>
                  <a:tr h="315004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Story 2 – Filling with Water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8861654"/>
                      </a:ext>
                    </a:extLst>
                  </a:tr>
                  <a:tr h="3150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Screenshot</a:t>
                          </a:r>
                          <a:endParaRPr lang="en-CO" sz="12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691394"/>
                      </a:ext>
                    </a:extLst>
                  </a:tr>
                  <a:tr h="15750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bowl and measuring cup each contain some water. The bowl is filled with water at a constant rate from a faucet.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11498879"/>
                      </a:ext>
                    </a:extLst>
                  </a:tr>
                  <a:tr h="164614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9583" t="-138007" r="-482" b="-948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3894765"/>
                      </a:ext>
                    </a:extLst>
                  </a:tr>
                  <a:tr h="155469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faucet continues to run for the next several seconds.</a:t>
                          </a:r>
                          <a:endParaRPr lang="en-CO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4392" marR="54392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2994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53C9D63-8077-4B42-8E3C-F2FD093F42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8427" y="1807072"/>
            <a:ext cx="2476274" cy="1366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27A6B-7BF1-E14D-ACDF-395262E48D9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8427" y="3314499"/>
            <a:ext cx="2476274" cy="1507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441307-B85E-4947-BB22-5B92C119583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6606" y="4978722"/>
            <a:ext cx="2476220" cy="138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91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A363DB-0BDC-7D4E-AEE8-29249A0BB0C5}"/>
              </a:ext>
            </a:extLst>
          </p:cNvPr>
          <p:cNvSpPr/>
          <p:nvPr/>
        </p:nvSpPr>
        <p:spPr>
          <a:xfrm>
            <a:off x="914400" y="373391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the graph of the relationship between the amount of water in the bowl, in liters, and time, in seconds. 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EF7F3BC5-C509-0E4D-B32D-069A0977673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79134-1847-A148-A4BE-529FBDC7B9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9618" y="1920919"/>
            <a:ext cx="4792765" cy="4066776"/>
          </a:xfrm>
          <a:prstGeom prst="rect">
            <a:avLst/>
          </a:prstGeom>
        </p:spPr>
      </p:pic>
      <p:sp>
        <p:nvSpPr>
          <p:cNvPr id="8" name="Text Box 15">
            <a:extLst>
              <a:ext uri="{FF2B5EF4-FFF2-40B4-BE49-F238E27FC236}">
                <a16:creationId xmlns:a16="http://schemas.microsoft.com/office/drawing/2014/main" id="{9EE069D5-9DB9-C444-82B4-C3CE8CBF1B0B}"/>
              </a:ext>
            </a:extLst>
          </p:cNvPr>
          <p:cNvSpPr txBox="1"/>
          <p:nvPr/>
        </p:nvSpPr>
        <p:spPr>
          <a:xfrm rot="16200000">
            <a:off x="1871452" y="3507149"/>
            <a:ext cx="3656330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Water in the Bowl (in liters)</a:t>
            </a:r>
            <a:endParaRPr lang="en-CO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47853C67-1E28-7643-9D91-B1D0442709D4}"/>
              </a:ext>
            </a:extLst>
          </p:cNvPr>
          <p:cNvSpPr txBox="1"/>
          <p:nvPr/>
        </p:nvSpPr>
        <p:spPr>
          <a:xfrm>
            <a:off x="4773480" y="5733240"/>
            <a:ext cx="2541270" cy="4673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Time (in seconds)</a:t>
            </a:r>
            <a:endParaRPr lang="en-CO" sz="11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720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62B7685-8D43-B048-B48D-B9FBB636AC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63710EC-87AB-1A4C-98A3-6044D83AB6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6133" y="693174"/>
            <a:ext cx="6147562" cy="54716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8427D7-8C11-0D14-6583-27CBB0B63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520" y="265174"/>
            <a:ext cx="1528656" cy="154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75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39DE06A-570B-0E4B-98E6-445C9B35717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C75B6D7-B7DB-604A-9DF4-BE435D3E37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331" y="1626329"/>
            <a:ext cx="6653339" cy="360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6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878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the graph of the relationship between the number of eggs in the carton and time, in seconds.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ABE9986-9747-2A44-B596-E92194B3F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3F1221-F2C4-4F4E-971C-145A2B237F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904" y="1840184"/>
            <a:ext cx="5502193" cy="4669032"/>
          </a:xfrm>
          <a:prstGeom prst="rect">
            <a:avLst/>
          </a:prstGeom>
        </p:spPr>
      </p:pic>
      <p:sp>
        <p:nvSpPr>
          <p:cNvPr id="11" name="Text Box 19">
            <a:extLst>
              <a:ext uri="{FF2B5EF4-FFF2-40B4-BE49-F238E27FC236}">
                <a16:creationId xmlns:a16="http://schemas.microsoft.com/office/drawing/2014/main" id="{D8C42319-74C8-9B4C-AC53-3AF882ECF4B6}"/>
              </a:ext>
            </a:extLst>
          </p:cNvPr>
          <p:cNvSpPr txBox="1"/>
          <p:nvPr/>
        </p:nvSpPr>
        <p:spPr>
          <a:xfrm rot="16200000">
            <a:off x="1675541" y="3804525"/>
            <a:ext cx="3175451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Number of Eggs in Carton</a:t>
            </a:r>
            <a:endParaRPr lang="en-CO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B5B1CCCA-9618-AB46-869D-FB64AB3001BF}"/>
              </a:ext>
            </a:extLst>
          </p:cNvPr>
          <p:cNvSpPr txBox="1"/>
          <p:nvPr/>
        </p:nvSpPr>
        <p:spPr>
          <a:xfrm>
            <a:off x="4721367" y="6215740"/>
            <a:ext cx="2541270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Time (in seconds)</a:t>
            </a:r>
            <a:endParaRPr lang="en-CO" sz="11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98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52B62CC7-03C8-C64B-8764-5D0B24B5D46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BF995AE-4F1F-F746-AB0F-C0654597D6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0764" y="380383"/>
            <a:ext cx="4911445" cy="6073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EFD8F1-6998-7DEA-DDB7-A190FF70A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156" y="364054"/>
            <a:ext cx="1952213" cy="184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14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434919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the graph of the relationship between the distance of the man from the camera, in feet, and time, in seconds.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ABE9986-9747-2A44-B596-E92194B3F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FB2200-4E40-4047-98F1-3C34530557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779" b="16255"/>
          <a:stretch/>
        </p:blipFill>
        <p:spPr>
          <a:xfrm>
            <a:off x="3662516" y="2050027"/>
            <a:ext cx="4866968" cy="4084625"/>
          </a:xfrm>
          <a:prstGeom prst="rect">
            <a:avLst/>
          </a:prstGeom>
        </p:spPr>
      </p:pic>
      <p:sp>
        <p:nvSpPr>
          <p:cNvPr id="14" name="Text Box 26">
            <a:extLst>
              <a:ext uri="{FF2B5EF4-FFF2-40B4-BE49-F238E27FC236}">
                <a16:creationId xmlns:a16="http://schemas.microsoft.com/office/drawing/2014/main" id="{74E38C3E-30BE-9148-B8AF-E1A79983A6A1}"/>
              </a:ext>
            </a:extLst>
          </p:cNvPr>
          <p:cNvSpPr txBox="1"/>
          <p:nvPr/>
        </p:nvSpPr>
        <p:spPr>
          <a:xfrm rot="16200000">
            <a:off x="1545264" y="3804525"/>
            <a:ext cx="3750637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</a:rPr>
              <a:t>Distance from the Camera (in feet)</a:t>
            </a:r>
            <a:endParaRPr lang="en-CO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20A62676-D21A-4641-AD05-9605ECD00B44}"/>
              </a:ext>
            </a:extLst>
          </p:cNvPr>
          <p:cNvSpPr txBox="1"/>
          <p:nvPr/>
        </p:nvSpPr>
        <p:spPr>
          <a:xfrm>
            <a:off x="4900698" y="6173905"/>
            <a:ext cx="2541270" cy="4838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>
                <a:latin typeface="Verdana" panose="020B0604030504040204" pitchFamily="34" charset="0"/>
                <a:ea typeface="Times New Roman" panose="02020603050405020304" pitchFamily="18" charset="0"/>
              </a:rPr>
              <a:t>Time (in seconds)</a:t>
            </a:r>
            <a:endParaRPr lang="en-CO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262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434918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graphs for stories 2 and 4 with your partner. Discuss any differences and make changes to your graphs based on your discussion, if necessary.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ABE9986-9747-2A44-B596-E92194B3F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6433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473407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60325"/>
            <a:ext cx="83691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10.6.3 Try It: Create a Story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76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914400" y="1236581"/>
                <a:ext cx="10515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Antonio and Juan are in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-mile bike race. The graph shows the distance of each racer, in miles, as a function of time, in minutes.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36581"/>
                <a:ext cx="10515600" cy="1200329"/>
              </a:xfrm>
              <a:prstGeom prst="rect">
                <a:avLst/>
              </a:prstGeom>
              <a:blipFill>
                <a:blip r:embed="rId5"/>
                <a:stretch>
                  <a:fillRect l="-870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28DBA-6015-B3DB-DBC6-4168EC104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612" y="2096972"/>
            <a:ext cx="4558688" cy="452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C9A75-C52C-1144-B99B-8E723CF51746}"/>
              </a:ext>
            </a:extLst>
          </p:cNvPr>
          <p:cNvSpPr txBox="1"/>
          <p:nvPr/>
        </p:nvSpPr>
        <p:spPr>
          <a:xfrm>
            <a:off x="914400" y="1236580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Who won the race? Explain your reasoning.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Imagine you were watching the race and had to announce it over the radio. Write a story describing the race as a sports commentator would.</a:t>
            </a:r>
          </a:p>
        </p:txBody>
      </p:sp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CA26F36-85FB-6F47-BFE1-9526A3AAF9F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2999" y="-184171"/>
            <a:ext cx="86541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1635256"/>
            <a:ext cx="10515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story below describes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Nima’s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Saturday afternoon.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0798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Nima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was at home. He got on his bike and rode to his friend’s house and stayed there for a while. Then, he rode home again. Later, he rode to the park. Then, he rode home again.”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499631"/>
            <a:ext cx="8597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Sketch a graph of this story.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">
            <a:extLst>
              <a:ext uri="{FF2B5EF4-FFF2-40B4-BE49-F238E27FC236}">
                <a16:creationId xmlns:a16="http://schemas.microsoft.com/office/drawing/2014/main" id="{C0845217-D9BB-574E-896D-FBCC3C1FE93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5" b="19220"/>
          <a:stretch/>
        </p:blipFill>
        <p:spPr bwMode="auto">
          <a:xfrm>
            <a:off x="3192780" y="1435282"/>
            <a:ext cx="5806440" cy="42913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1966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499630"/>
            <a:ext cx="10515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axes of your graph with the names and units of measure for the two quantities being compared.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your graph, is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Nima’s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friend’s house or the park closer to his house? Explain how you know.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7131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1019</Words>
  <Application>Microsoft Office PowerPoint</Application>
  <PresentationFormat>Widescreen</PresentationFormat>
  <Paragraphs>148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Verdana</vt:lpstr>
      <vt:lpstr>Century Gothic</vt:lpstr>
      <vt:lpstr>Arial</vt:lpstr>
      <vt:lpstr>Cambria Math</vt:lpstr>
      <vt:lpstr>Wingdings</vt:lpstr>
      <vt:lpstr>Calibri</vt:lpstr>
      <vt:lpstr>Times New Roman</vt:lpstr>
      <vt:lpstr>Arial Black</vt:lpstr>
      <vt:lpstr>1_Office Theme</vt:lpstr>
      <vt:lpstr>8th Grade Math:  Pre-Algebra  Unit 10, Lesson 6  Sketching Graphs  of Functions  Volume 2, pg. 146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19</cp:revision>
  <dcterms:created xsi:type="dcterms:W3CDTF">2015-03-17T18:51:18Z</dcterms:created>
  <dcterms:modified xsi:type="dcterms:W3CDTF">2022-07-20T01:42:26Z</dcterms:modified>
</cp:coreProperties>
</file>