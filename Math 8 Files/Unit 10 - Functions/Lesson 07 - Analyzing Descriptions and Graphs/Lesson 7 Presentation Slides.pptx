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333" r:id="rId8"/>
    <p:sldId id="334" r:id="rId9"/>
    <p:sldId id="320" r:id="rId10"/>
    <p:sldId id="321" r:id="rId11"/>
    <p:sldId id="324" r:id="rId12"/>
    <p:sldId id="289" r:id="rId13"/>
    <p:sldId id="290" r:id="rId14"/>
    <p:sldId id="308" r:id="rId15"/>
    <p:sldId id="328" r:id="rId16"/>
    <p:sldId id="329" r:id="rId17"/>
    <p:sldId id="330" r:id="rId18"/>
    <p:sldId id="331" r:id="rId19"/>
    <p:sldId id="332" r:id="rId20"/>
    <p:sldId id="306" r:id="rId21"/>
    <p:sldId id="307" r:id="rId22"/>
  </p:sldIdLst>
  <p:sldSz cx="12192000" cy="6858000"/>
  <p:notesSz cx="6858000" cy="9144000"/>
  <p:embeddedFontLst>
    <p:embeddedFont>
      <p:font typeface="Arial Black" panose="020B0A04020102020204" pitchFamily="34" charset="0"/>
      <p:regular r:id="rId24"/>
      <p:bold r:id="rId25"/>
    </p:embeddedFont>
    <p:embeddedFont>
      <p:font typeface="Calibri" panose="020F0502020204030204" pitchFamily="34" charset="0"/>
      <p:regular r:id="rId26"/>
      <p:bold r:id="rId27"/>
      <p:italic r:id="rId28"/>
      <p:boldItalic r:id="rId29"/>
    </p:embeddedFont>
    <p:embeddedFont>
      <p:font typeface="Cambria" panose="02040503050406030204" pitchFamily="18" charset="0"/>
      <p:regular r:id="rId30"/>
      <p:bold r:id="rId31"/>
      <p:italic r:id="rId32"/>
      <p:boldItalic r:id="rId33"/>
    </p:embeddedFont>
    <p:embeddedFont>
      <p:font typeface="Cambria Math" panose="02040503050406030204" pitchFamily="18" charset="0"/>
      <p:regular r:id="rId34"/>
    </p:embeddedFont>
    <p:embeddedFont>
      <p:font typeface="Century Gothic" panose="020B0502020202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33BEA6"/>
    <a:srgbClr val="1F3165"/>
    <a:srgbClr val="C9DF6F"/>
    <a:srgbClr val="417DBF"/>
    <a:srgbClr val="3F2A67"/>
    <a:srgbClr val="26B7D4"/>
    <a:srgbClr val="54B5D1"/>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65"/>
    <p:restoredTop sz="94694"/>
  </p:normalViewPr>
  <p:slideViewPr>
    <p:cSldViewPr snapToGrid="0">
      <p:cViewPr varScale="1">
        <p:scale>
          <a:sx n="81" d="100"/>
          <a:sy n="81" d="100"/>
        </p:scale>
        <p:origin x="57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1.fntdata"/><Relationship Id="rId42" Type="http://schemas.openxmlformats.org/officeDocument/2006/relationships/font" Target="fonts/font19.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443716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4293798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080772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160742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1159634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246198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8615701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279479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tiff"/><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7.tiff"/><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1.tiff"/><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2.tiff"/><Relationship Id="rId4" Type="http://schemas.openxmlformats.org/officeDocument/2006/relationships/image" Target="../media/image20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22901" y="2054277"/>
            <a:ext cx="548639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8</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10, Lesson 7</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Analyzing Descriptions and Graphs</a:t>
            </a:r>
            <a:br>
              <a:rPr lang="en-US" sz="36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153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1148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a:ea typeface="Verdana"/>
                <a:cs typeface="Verdana"/>
                <a:sym typeface="Verdana"/>
              </a:rPr>
              <a:t>MA.8.F.1.3</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Analyze a real-world written description or graphical representation of a functional relationship between two quantities and identify where the function is increasing, decreasing or constant.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6576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153</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73297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65760"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153</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020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analyze a graph representing a real-world functional relationship.</a:t>
            </a:r>
          </a:p>
          <a:p>
            <a:pPr marL="463550" indent="-463550">
              <a:buFont typeface="Wingdings" pitchFamily="2" charset="2"/>
              <a:buChar char="q"/>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analyze a written description of a real-world functional relationship.</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10.7.1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11480"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153</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39626942-0F6A-EA4E-9BC2-3B7E5489E00F}"/>
              </a:ext>
            </a:extLst>
          </p:cNvPr>
          <p:cNvSpPr txBox="1"/>
          <p:nvPr/>
        </p:nvSpPr>
        <p:spPr>
          <a:xfrm>
            <a:off x="914400" y="1706562"/>
            <a:ext cx="4715354" cy="1569660"/>
          </a:xfrm>
          <a:prstGeom prst="rect">
            <a:avLst/>
          </a:prstGeom>
          <a:noFill/>
        </p:spPr>
        <p:txBody>
          <a:bodyPr wrap="square" rtlCol="0">
            <a:spAutoFit/>
          </a:bodyPr>
          <a:lstStyle/>
          <a:p>
            <a:pPr marL="12700" indent="-12700"/>
            <a:r>
              <a:rPr lang="en-US" sz="2400" dirty="0">
                <a:latin typeface="Verdana" panose="020B0604030504040204" pitchFamily="34" charset="0"/>
                <a:ea typeface="Verdana" panose="020B0604030504040204" pitchFamily="34" charset="0"/>
                <a:cs typeface="Verdana" panose="020B0604030504040204" pitchFamily="34" charset="0"/>
              </a:rPr>
              <a:t>Three stories are given. </a:t>
            </a:r>
          </a:p>
          <a:p>
            <a:pPr marL="342900" indent="-342900"/>
            <a:r>
              <a:rPr lang="en-US" sz="2400" dirty="0">
                <a:latin typeface="Verdana" panose="020B0604030504040204" pitchFamily="34" charset="0"/>
                <a:ea typeface="Verdana" panose="020B0604030504040204" pitchFamily="34" charset="0"/>
                <a:cs typeface="Verdana" panose="020B0604030504040204" pitchFamily="34" charset="0"/>
              </a:rPr>
              <a:t> </a:t>
            </a:r>
          </a:p>
          <a:p>
            <a:pPr marL="12700" indent="-12700"/>
            <a:r>
              <a:rPr lang="en-US" sz="2400" dirty="0">
                <a:latin typeface="Verdana" panose="020B0604030504040204" pitchFamily="34" charset="0"/>
                <a:ea typeface="Verdana" panose="020B0604030504040204" pitchFamily="34" charset="0"/>
                <a:cs typeface="Verdana" panose="020B0604030504040204" pitchFamily="34" charset="0"/>
              </a:rPr>
              <a:t>One of the stories matches the graph shown.</a:t>
            </a:r>
          </a:p>
        </p:txBody>
      </p:sp>
      <p:pic>
        <p:nvPicPr>
          <p:cNvPr id="10" name="Picture 9">
            <a:extLst>
              <a:ext uri="{FF2B5EF4-FFF2-40B4-BE49-F238E27FC236}">
                <a16:creationId xmlns:a16="http://schemas.microsoft.com/office/drawing/2014/main" id="{4D2FAD35-380F-1544-9E90-5E77E8DF494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748226" y="1774457"/>
            <a:ext cx="4200525" cy="3300736"/>
          </a:xfrm>
          <a:prstGeom prst="rect">
            <a:avLst/>
          </a:prstGeom>
        </p:spPr>
      </p:pic>
      <p:sp>
        <p:nvSpPr>
          <p:cNvPr id="11" name="Text Box 5">
            <a:extLst>
              <a:ext uri="{FF2B5EF4-FFF2-40B4-BE49-F238E27FC236}">
                <a16:creationId xmlns:a16="http://schemas.microsoft.com/office/drawing/2014/main" id="{90CD40E9-1908-1845-964A-7C9FB09F717D}"/>
              </a:ext>
            </a:extLst>
          </p:cNvPr>
          <p:cNvSpPr txBox="1"/>
          <p:nvPr/>
        </p:nvSpPr>
        <p:spPr>
          <a:xfrm>
            <a:off x="7586381" y="4942113"/>
            <a:ext cx="1021715" cy="4838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600" b="1">
                <a:latin typeface="Verdana" panose="020B0604030504040204" pitchFamily="34" charset="0"/>
                <a:ea typeface="Times New Roman" panose="02020603050405020304" pitchFamily="18" charset="0"/>
                <a:cs typeface="Times New Roman" panose="02020603050405020304" pitchFamily="18" charset="0"/>
              </a:rPr>
              <a:t>Time </a:t>
            </a:r>
            <a:endParaRPr lang="en-CO"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2" name="Text Box 1">
            <a:extLst>
              <a:ext uri="{FF2B5EF4-FFF2-40B4-BE49-F238E27FC236}">
                <a16:creationId xmlns:a16="http://schemas.microsoft.com/office/drawing/2014/main" id="{E7853952-60DC-5240-AD22-AE70168EEADD}"/>
              </a:ext>
            </a:extLst>
          </p:cNvPr>
          <p:cNvSpPr txBox="1"/>
          <p:nvPr/>
        </p:nvSpPr>
        <p:spPr>
          <a:xfrm rot="16200000">
            <a:off x="4361977" y="2830018"/>
            <a:ext cx="3019425" cy="4838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600" b="1">
                <a:latin typeface="Verdana" panose="020B0604030504040204" pitchFamily="34" charset="0"/>
                <a:ea typeface="Times New Roman" panose="02020603050405020304" pitchFamily="18" charset="0"/>
                <a:cs typeface="Times New Roman" panose="02020603050405020304" pitchFamily="18" charset="0"/>
              </a:rPr>
              <a:t>Distance from Home</a:t>
            </a:r>
            <a:endParaRPr lang="en-CO" sz="120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153</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A0A62034-4DDB-3444-B2E9-A923591527A3}"/>
              </a:ext>
            </a:extLst>
          </p:cNvPr>
          <p:cNvGraphicFramePr>
            <a:graphicFrameLocks noGrp="1"/>
          </p:cNvGraphicFramePr>
          <p:nvPr>
            <p:extLst>
              <p:ext uri="{D42A27DB-BD31-4B8C-83A1-F6EECF244321}">
                <p14:modId xmlns:p14="http://schemas.microsoft.com/office/powerpoint/2010/main" val="1275193354"/>
              </p:ext>
            </p:extLst>
          </p:nvPr>
        </p:nvGraphicFramePr>
        <p:xfrm>
          <a:off x="1827810" y="1104384"/>
          <a:ext cx="8536379" cy="4254947"/>
        </p:xfrm>
        <a:graphic>
          <a:graphicData uri="http://schemas.openxmlformats.org/drawingml/2006/table">
            <a:tbl>
              <a:tblPr firstRow="1" firstCol="1" bandRow="1">
                <a:tableStyleId>{A91F0D33-8C57-4600-99A7-42BC86742BE1}</a:tableStyleId>
              </a:tblPr>
              <a:tblGrid>
                <a:gridCol w="2834301">
                  <a:extLst>
                    <a:ext uri="{9D8B030D-6E8A-4147-A177-3AD203B41FA5}">
                      <a16:colId xmlns:a16="http://schemas.microsoft.com/office/drawing/2014/main" val="3999244322"/>
                    </a:ext>
                  </a:extLst>
                </a:gridCol>
                <a:gridCol w="2906832">
                  <a:extLst>
                    <a:ext uri="{9D8B030D-6E8A-4147-A177-3AD203B41FA5}">
                      <a16:colId xmlns:a16="http://schemas.microsoft.com/office/drawing/2014/main" val="1834920240"/>
                    </a:ext>
                  </a:extLst>
                </a:gridCol>
                <a:gridCol w="2795246">
                  <a:extLst>
                    <a:ext uri="{9D8B030D-6E8A-4147-A177-3AD203B41FA5}">
                      <a16:colId xmlns:a16="http://schemas.microsoft.com/office/drawing/2014/main" val="3224173530"/>
                    </a:ext>
                  </a:extLst>
                </a:gridCol>
              </a:tblGrid>
              <a:tr h="345737">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Story A</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Story B</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Story C</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3575190"/>
                  </a:ext>
                </a:extLst>
              </a:tr>
              <a:tr h="3909210">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Yadiel rode his bike toward his friend’s house. After riding for a few minutes, he started riding faster until he remembered he forgot his phone, so he turned around and rode home to get it. </a:t>
                      </a:r>
                      <a:endParaRPr lang="en-CO"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Yadiel and his brother rode their bikes up the hill on their street. The hill is steep before it flattens out. Once they got to the top, they rode smoothly down the other side to their neighbor’s house.</a:t>
                      </a:r>
                      <a:endParaRPr lang="en-CO"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Yadiel rode his bike quickly to meet up with his neighbor. Once they met up, they rode a little bit slower to meet up with another friend before turning around and riding back to Yadiel’s house to hang out. </a:t>
                      </a:r>
                      <a:endParaRPr lang="en-CO"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8008577"/>
                  </a:ext>
                </a:extLst>
              </a:tr>
            </a:tbl>
          </a:graphicData>
        </a:graphic>
      </p:graphicFrame>
    </p:spTree>
    <p:extLst>
      <p:ext uri="{BB962C8B-B14F-4D97-AF65-F5344CB8AC3E}">
        <p14:creationId xmlns:p14="http://schemas.microsoft.com/office/powerpoint/2010/main" val="2196477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153</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DEC4B6BF-7E9E-234B-B5F1-FBF6BC9E481C}"/>
              </a:ext>
            </a:extLst>
          </p:cNvPr>
          <p:cNvSpPr txBox="1"/>
          <p:nvPr/>
        </p:nvSpPr>
        <p:spPr>
          <a:xfrm>
            <a:off x="914399" y="1277937"/>
            <a:ext cx="10515600" cy="341632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Determine which story matches the graph.</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Describe which clues from the graph or the story you used to match the story and the graph. </a:t>
            </a:r>
          </a:p>
        </p:txBody>
      </p:sp>
    </p:spTree>
    <p:extLst>
      <p:ext uri="{BB962C8B-B14F-4D97-AF65-F5344CB8AC3E}">
        <p14:creationId xmlns:p14="http://schemas.microsoft.com/office/powerpoint/2010/main" val="2780422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B50DF525-7D96-0A48-BC23-9FB6AABE67A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154</a:t>
            </a:r>
            <a:endParaRPr i="1" dirty="0">
              <a:latin typeface="Calibri"/>
              <a:ea typeface="Calibri"/>
              <a:cs typeface="Calibri"/>
              <a:sym typeface="Calibri"/>
            </a:endParaRPr>
          </a:p>
        </p:txBody>
      </p:sp>
      <p:pic>
        <p:nvPicPr>
          <p:cNvPr id="7" name="image7.png" descr="Icon&#10;&#10;Description automatically generated">
            <a:extLst>
              <a:ext uri="{FF2B5EF4-FFF2-40B4-BE49-F238E27FC236}">
                <a16:creationId xmlns:a16="http://schemas.microsoft.com/office/drawing/2014/main" id="{33A048A3-6559-2A4D-BA36-7303475848D4}"/>
              </a:ext>
            </a:extLst>
          </p:cNvPr>
          <p:cNvPicPr/>
          <p:nvPr/>
        </p:nvPicPr>
        <p:blipFill>
          <a:blip r:embed="rId4"/>
          <a:srcRect/>
          <a:stretch>
            <a:fillRect/>
          </a:stretch>
        </p:blipFill>
        <p:spPr>
          <a:xfrm>
            <a:off x="3054096" y="2870248"/>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006858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10.7.2 Activity: Card Sort</a:t>
            </a:r>
          </a:p>
        </p:txBody>
      </p:sp>
      <p:sp>
        <p:nvSpPr>
          <p:cNvPr id="10" name="TextBox 9">
            <a:extLst>
              <a:ext uri="{FF2B5EF4-FFF2-40B4-BE49-F238E27FC236}">
                <a16:creationId xmlns:a16="http://schemas.microsoft.com/office/drawing/2014/main" id="{0AB6A3A1-5A0D-C84F-AC89-57E6782F43E5}"/>
              </a:ext>
            </a:extLst>
          </p:cNvPr>
          <p:cNvSpPr txBox="1"/>
          <p:nvPr/>
        </p:nvSpPr>
        <p:spPr>
          <a:xfrm>
            <a:off x="914400" y="1297937"/>
            <a:ext cx="10515600" cy="1569660"/>
          </a:xfrm>
          <a:prstGeom prst="rect">
            <a:avLst/>
          </a:prstGeom>
          <a:noFill/>
        </p:spPr>
        <p:txBody>
          <a:bodyPr wrap="square" rtlCol="0">
            <a:spAutoFit/>
          </a:bodyPr>
          <a:lstStyle/>
          <a:p>
            <a:pPr marL="393700" indent="-393700"/>
            <a:r>
              <a:rPr lang="en-US" sz="2400" dirty="0">
                <a:latin typeface="Verdana" panose="020B0604030504040204" pitchFamily="34" charset="0"/>
                <a:ea typeface="Verdana" panose="020B0604030504040204" pitchFamily="34" charset="0"/>
                <a:cs typeface="Verdana" panose="020B0604030504040204" pitchFamily="34" charset="0"/>
              </a:rPr>
              <a:t>Work with your partner on the following.</a:t>
            </a:r>
          </a:p>
          <a:p>
            <a:pPr marL="393700" indent="-393700"/>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Match the cards. Write the number of the interpretation that matches the graph.</a:t>
            </a:r>
          </a:p>
        </p:txBody>
      </p:sp>
      <p:sp>
        <p:nvSpPr>
          <p:cNvPr id="11" name="Google Shape;282;g104476d1465_1_17">
            <a:extLst>
              <a:ext uri="{FF2B5EF4-FFF2-40B4-BE49-F238E27FC236}">
                <a16:creationId xmlns:a16="http://schemas.microsoft.com/office/drawing/2014/main" id="{3BDEDD68-7AB9-314A-BB80-0D600DD8DB3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154</a:t>
            </a:r>
            <a:endParaRPr i="1" dirty="0">
              <a:latin typeface="Calibri"/>
              <a:ea typeface="Calibri"/>
              <a:cs typeface="Calibri"/>
              <a:sym typeface="Calibri"/>
            </a:endParaRPr>
          </a:p>
        </p:txBody>
      </p:sp>
      <p:pic>
        <p:nvPicPr>
          <p:cNvPr id="12" name="image7.png" descr="Icon&#10;&#10;Description automatically generated">
            <a:extLst>
              <a:ext uri="{FF2B5EF4-FFF2-40B4-BE49-F238E27FC236}">
                <a16:creationId xmlns:a16="http://schemas.microsoft.com/office/drawing/2014/main" id="{73677D7D-F6F5-9846-941C-754EA5ACF5D2}"/>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5760" y="374902"/>
            <a:ext cx="749808" cy="749808"/>
          </a:xfrm>
          <a:prstGeom prst="rect">
            <a:avLst/>
          </a:prstGeom>
          <a:ln/>
        </p:spPr>
      </p:pic>
      <p:graphicFrame>
        <p:nvGraphicFramePr>
          <p:cNvPr id="2" name="Table 1">
            <a:extLst>
              <a:ext uri="{FF2B5EF4-FFF2-40B4-BE49-F238E27FC236}">
                <a16:creationId xmlns:a16="http://schemas.microsoft.com/office/drawing/2014/main" id="{329D4835-9688-D34A-A5E5-D98AF414F7ED}"/>
              </a:ext>
            </a:extLst>
          </p:cNvPr>
          <p:cNvGraphicFramePr>
            <a:graphicFrameLocks noGrp="1"/>
          </p:cNvGraphicFramePr>
          <p:nvPr>
            <p:extLst>
              <p:ext uri="{D42A27DB-BD31-4B8C-83A1-F6EECF244321}">
                <p14:modId xmlns:p14="http://schemas.microsoft.com/office/powerpoint/2010/main" val="317601169"/>
              </p:ext>
            </p:extLst>
          </p:nvPr>
        </p:nvGraphicFramePr>
        <p:xfrm>
          <a:off x="2399678" y="3040824"/>
          <a:ext cx="7392644" cy="3137337"/>
        </p:xfrm>
        <a:graphic>
          <a:graphicData uri="http://schemas.openxmlformats.org/drawingml/2006/table">
            <a:tbl>
              <a:tblPr firstRow="1" firstCol="1" bandRow="1">
                <a:tableStyleId>{A91F0D33-8C57-4600-99A7-42BC86742BE1}</a:tableStyleId>
              </a:tblPr>
              <a:tblGrid>
                <a:gridCol w="3504691">
                  <a:extLst>
                    <a:ext uri="{9D8B030D-6E8A-4147-A177-3AD203B41FA5}">
                      <a16:colId xmlns:a16="http://schemas.microsoft.com/office/drawing/2014/main" val="305504397"/>
                    </a:ext>
                  </a:extLst>
                </a:gridCol>
                <a:gridCol w="3887953">
                  <a:extLst>
                    <a:ext uri="{9D8B030D-6E8A-4147-A177-3AD203B41FA5}">
                      <a16:colId xmlns:a16="http://schemas.microsoft.com/office/drawing/2014/main" val="3596429467"/>
                    </a:ext>
                  </a:extLst>
                </a:gridCol>
              </a:tblGrid>
              <a:tr h="44819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Graph</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Interpretation</a:t>
                      </a:r>
                      <a:endParaRPr lang="en-CO" sz="1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339284007"/>
                  </a:ext>
                </a:extLst>
              </a:tr>
              <a:tr h="448191">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A</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9353540"/>
                  </a:ext>
                </a:extLst>
              </a:tr>
              <a:tr h="448191">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B</a:t>
                      </a:r>
                      <a:endParaRPr lang="en-CO"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5931512"/>
                  </a:ext>
                </a:extLst>
              </a:tr>
              <a:tr h="448191">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C</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620376"/>
                  </a:ext>
                </a:extLst>
              </a:tr>
              <a:tr h="448191">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D</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4569295"/>
                  </a:ext>
                </a:extLst>
              </a:tr>
              <a:tr h="448191">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E</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2451630"/>
                  </a:ext>
                </a:extLst>
              </a:tr>
              <a:tr h="448191">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F</a:t>
                      </a:r>
                      <a:endParaRPr lang="en-CO" sz="1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1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5563947"/>
                  </a:ext>
                </a:extLst>
              </a:tr>
            </a:tbl>
          </a:graphicData>
        </a:graphic>
      </p:graphicFrame>
    </p:spTree>
    <p:extLst>
      <p:ext uri="{BB962C8B-B14F-4D97-AF65-F5344CB8AC3E}">
        <p14:creationId xmlns:p14="http://schemas.microsoft.com/office/powerpoint/2010/main" val="3840359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BCC9BA22-8728-BB40-B10C-AF20C0214D1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154</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351E58B-755A-5A45-9ED5-34070284FE65}"/>
                  </a:ext>
                </a:extLst>
              </p:cNvPr>
              <p:cNvSpPr txBox="1"/>
              <p:nvPr/>
            </p:nvSpPr>
            <p:spPr>
              <a:xfrm>
                <a:off x="914400" y="509661"/>
                <a:ext cx="10515600"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For the graph that matches Interpretation Card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m:t>
                    </m:r>
                  </m:oMath>
                </a14:m>
                <a:r>
                  <a:rPr lang="en-US" sz="2400" dirty="0">
                    <a:latin typeface="Verdana" panose="020B0604030504040204" pitchFamily="34" charset="0"/>
                    <a:ea typeface="Verdana" panose="020B0604030504040204" pitchFamily="34" charset="0"/>
                    <a:cs typeface="Verdana" panose="020B0604030504040204" pitchFamily="34" charset="0"/>
                  </a:rPr>
                  <a:t>, write a story that matches this graph.</a:t>
                </a:r>
              </a:p>
            </p:txBody>
          </p:sp>
        </mc:Choice>
        <mc:Fallback>
          <p:sp>
            <p:nvSpPr>
              <p:cNvPr id="6" name="TextBox 5">
                <a:extLst>
                  <a:ext uri="{FF2B5EF4-FFF2-40B4-BE49-F238E27FC236}">
                    <a16:creationId xmlns:a16="http://schemas.microsoft.com/office/drawing/2014/main" id="{D351E58B-755A-5A45-9ED5-34070284FE65}"/>
                  </a:ext>
                </a:extLst>
              </p:cNvPr>
              <p:cNvSpPr txBox="1">
                <a:spLocks noRot="1" noChangeAspect="1" noMove="1" noResize="1" noEditPoints="1" noAdjustHandles="1" noChangeArrowheads="1" noChangeShapeType="1" noTextEdit="1"/>
              </p:cNvSpPr>
              <p:nvPr/>
            </p:nvSpPr>
            <p:spPr>
              <a:xfrm>
                <a:off x="914400" y="509661"/>
                <a:ext cx="10515600" cy="830997"/>
              </a:xfrm>
              <a:prstGeom prst="rect">
                <a:avLst/>
              </a:prstGeom>
              <a:blipFill>
                <a:blip r:embed="rId4"/>
                <a:stretch>
                  <a:fillRect l="-870" t="-6618" r="-464" b="-1617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3F53E24-B4A9-CC47-A14A-139F0F5D42DD}"/>
              </a:ext>
            </a:extLst>
          </p:cNvPr>
          <p:cNvSpPr txBox="1"/>
          <p:nvPr/>
        </p:nvSpPr>
        <p:spPr>
          <a:xfrm>
            <a:off x="914400" y="2562687"/>
            <a:ext cx="4738255" cy="3416320"/>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A graph that shows the distance from home versus time is shown. </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4025"/>
            <a:r>
              <a:rPr lang="en-US" sz="2400" dirty="0">
                <a:latin typeface="Verdana" panose="020B0604030504040204" pitchFamily="34" charset="0"/>
                <a:ea typeface="Verdana" panose="020B0604030504040204" pitchFamily="34" charset="0"/>
                <a:cs typeface="Verdana" panose="020B0604030504040204" pitchFamily="34" charset="0"/>
              </a:rPr>
              <a:t>Alexandra says the relationship represented by the graph is not possible. Explain why.</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10" name="Picture 9">
            <a:extLst>
              <a:ext uri="{FF2B5EF4-FFF2-40B4-BE49-F238E27FC236}">
                <a16:creationId xmlns:a16="http://schemas.microsoft.com/office/drawing/2014/main" id="{B8AF4D02-F222-1F47-9388-D11A5CB7F95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332942" y="2751873"/>
            <a:ext cx="3720035" cy="3144430"/>
          </a:xfrm>
          <a:prstGeom prst="rect">
            <a:avLst/>
          </a:prstGeom>
        </p:spPr>
      </p:pic>
      <p:sp>
        <p:nvSpPr>
          <p:cNvPr id="11" name="Text Box 7">
            <a:extLst>
              <a:ext uri="{FF2B5EF4-FFF2-40B4-BE49-F238E27FC236}">
                <a16:creationId xmlns:a16="http://schemas.microsoft.com/office/drawing/2014/main" id="{3A2F3BF6-8C78-E143-B639-54D94A25843D}"/>
              </a:ext>
            </a:extLst>
          </p:cNvPr>
          <p:cNvSpPr txBox="1"/>
          <p:nvPr/>
        </p:nvSpPr>
        <p:spPr>
          <a:xfrm rot="16200000">
            <a:off x="4967176" y="4082153"/>
            <a:ext cx="2513680" cy="4838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600" b="1">
                <a:latin typeface="Verdana" panose="020B0604030504040204" pitchFamily="34" charset="0"/>
                <a:ea typeface="Times New Roman" panose="02020603050405020304" pitchFamily="18" charset="0"/>
                <a:cs typeface="Times New Roman" panose="02020603050405020304" pitchFamily="18" charset="0"/>
              </a:rPr>
              <a:t>Distance from Home</a:t>
            </a:r>
            <a:endParaRPr lang="en-CO"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2" name="Text Box 6">
            <a:extLst>
              <a:ext uri="{FF2B5EF4-FFF2-40B4-BE49-F238E27FC236}">
                <a16:creationId xmlns:a16="http://schemas.microsoft.com/office/drawing/2014/main" id="{A3884F94-2A32-334F-8EF4-D6BADA310E13}"/>
              </a:ext>
            </a:extLst>
          </p:cNvPr>
          <p:cNvSpPr txBox="1"/>
          <p:nvPr/>
        </p:nvSpPr>
        <p:spPr>
          <a:xfrm>
            <a:off x="7748607" y="5451184"/>
            <a:ext cx="1021715" cy="4838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600" b="1">
                <a:latin typeface="Verdana" panose="020B0604030504040204" pitchFamily="34" charset="0"/>
                <a:ea typeface="Times New Roman" panose="02020603050405020304" pitchFamily="18" charset="0"/>
                <a:cs typeface="Times New Roman" panose="02020603050405020304" pitchFamily="18" charset="0"/>
              </a:rPr>
              <a:t>Time </a:t>
            </a:r>
            <a:endParaRPr lang="en-CO" sz="120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1292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246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Bring It Together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155</a:t>
            </a:r>
            <a:endParaRPr i="1" dirty="0">
              <a:latin typeface="Calibri"/>
              <a:ea typeface="Calibri"/>
              <a:cs typeface="Calibri"/>
              <a:sym typeface="Calibri"/>
            </a:endParaRPr>
          </a:p>
        </p:txBody>
      </p:sp>
      <p:pic>
        <p:nvPicPr>
          <p:cNvPr id="9" name="image13.png" descr="Icon&#10;&#10;Description automatically generated">
            <a:extLst>
              <a:ext uri="{FF2B5EF4-FFF2-40B4-BE49-F238E27FC236}">
                <a16:creationId xmlns:a16="http://schemas.microsoft.com/office/drawing/2014/main" id="{EAB97AA4-61F0-0245-9936-332A4B8FAF6C}"/>
              </a:ext>
            </a:extLst>
          </p:cNvPr>
          <p:cNvPicPr/>
          <p:nvPr/>
        </p:nvPicPr>
        <p:blipFill>
          <a:blip r:embed="rId4"/>
          <a:srcRect/>
          <a:stretch>
            <a:fillRect/>
          </a:stretch>
        </p:blipFill>
        <p:spPr>
          <a:xfrm>
            <a:off x="3054096" y="2849920"/>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02612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10.7.3 Bring It Together: Analyzing Graphs Representing Real-World Contexts</a:t>
            </a:r>
          </a:p>
        </p:txBody>
      </p:sp>
      <p:sp>
        <p:nvSpPr>
          <p:cNvPr id="13" name="TextBox 12">
            <a:extLst>
              <a:ext uri="{FF2B5EF4-FFF2-40B4-BE49-F238E27FC236}">
                <a16:creationId xmlns:a16="http://schemas.microsoft.com/office/drawing/2014/main" id="{C01B13E8-EC8D-E443-A329-C5E3593DD13A}"/>
              </a:ext>
            </a:extLst>
          </p:cNvPr>
          <p:cNvSpPr txBox="1"/>
          <p:nvPr/>
        </p:nvSpPr>
        <p:spPr>
          <a:xfrm>
            <a:off x="914400" y="1042016"/>
            <a:ext cx="10515600" cy="2308324"/>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Consider some of the graphs and stories you have analyzed over the last few lessons. </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are some strategies you have learned and key tips that are helpful for you to keep in mind when analyzing or sketching graphs of functional relationships?</a:t>
            </a:r>
          </a:p>
        </p:txBody>
      </p:sp>
      <p:sp>
        <p:nvSpPr>
          <p:cNvPr id="8" name="Google Shape;282;g104476d1465_1_17">
            <a:extLst>
              <a:ext uri="{FF2B5EF4-FFF2-40B4-BE49-F238E27FC236}">
                <a16:creationId xmlns:a16="http://schemas.microsoft.com/office/drawing/2014/main" id="{46EBFD37-657E-6D48-AB68-B97E54ABC53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155</a:t>
            </a:r>
            <a:endParaRPr i="1" dirty="0">
              <a:latin typeface="Calibri"/>
              <a:ea typeface="Calibri"/>
              <a:cs typeface="Calibri"/>
              <a:sym typeface="Calibri"/>
            </a:endParaRPr>
          </a:p>
        </p:txBody>
      </p:sp>
      <p:pic>
        <p:nvPicPr>
          <p:cNvPr id="10" name="image13.png" descr="Icon&#10;&#10;Description automatically generated">
            <a:extLst>
              <a:ext uri="{FF2B5EF4-FFF2-40B4-BE49-F238E27FC236}">
                <a16:creationId xmlns:a16="http://schemas.microsoft.com/office/drawing/2014/main" id="{5576F922-D7F1-8B4A-ABD2-F114A0AA1CC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5760" y="124460"/>
            <a:ext cx="747301" cy="747301"/>
          </a:xfrm>
          <a:prstGeom prst="rect">
            <a:avLst/>
          </a:prstGeom>
          <a:ln/>
        </p:spPr>
      </p:pic>
      <p:graphicFrame>
        <p:nvGraphicFramePr>
          <p:cNvPr id="2" name="Table 1">
            <a:extLst>
              <a:ext uri="{FF2B5EF4-FFF2-40B4-BE49-F238E27FC236}">
                <a16:creationId xmlns:a16="http://schemas.microsoft.com/office/drawing/2014/main" id="{42AC208E-CC24-C24F-BE5A-AE9B2DA9BA54}"/>
              </a:ext>
            </a:extLst>
          </p:cNvPr>
          <p:cNvGraphicFramePr>
            <a:graphicFrameLocks noGrp="1"/>
          </p:cNvGraphicFramePr>
          <p:nvPr>
            <p:extLst>
              <p:ext uri="{D42A27DB-BD31-4B8C-83A1-F6EECF244321}">
                <p14:modId xmlns:p14="http://schemas.microsoft.com/office/powerpoint/2010/main" val="1966473220"/>
              </p:ext>
            </p:extLst>
          </p:nvPr>
        </p:nvGraphicFramePr>
        <p:xfrm>
          <a:off x="2411298" y="3428332"/>
          <a:ext cx="7802550" cy="3059822"/>
        </p:xfrm>
        <a:graphic>
          <a:graphicData uri="http://schemas.openxmlformats.org/drawingml/2006/table">
            <a:tbl>
              <a:tblPr firstRow="1" firstCol="1" bandRow="1">
                <a:tableStyleId>{A91F0D33-8C57-4600-99A7-42BC86742BE1}</a:tableStyleId>
              </a:tblPr>
              <a:tblGrid>
                <a:gridCol w="3919488">
                  <a:extLst>
                    <a:ext uri="{9D8B030D-6E8A-4147-A177-3AD203B41FA5}">
                      <a16:colId xmlns:a16="http://schemas.microsoft.com/office/drawing/2014/main" val="1223827472"/>
                    </a:ext>
                  </a:extLst>
                </a:gridCol>
                <a:gridCol w="3883062">
                  <a:extLst>
                    <a:ext uri="{9D8B030D-6E8A-4147-A177-3AD203B41FA5}">
                      <a16:colId xmlns:a16="http://schemas.microsoft.com/office/drawing/2014/main" val="204723617"/>
                    </a:ext>
                  </a:extLst>
                </a:gridCol>
              </a:tblGrid>
              <a:tr h="152696">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Helpful Tips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56702" marR="567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Strategies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56702" marR="567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577025075"/>
                  </a:ext>
                </a:extLst>
              </a:tr>
              <a:tr h="2755022">
                <a:tc>
                  <a:txBody>
                    <a:bodyPr/>
                    <a:lstStyle/>
                    <a:p>
                      <a:pPr marL="0" marR="0">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56702" marR="567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56702" marR="56702"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5135128"/>
                  </a:ext>
                </a:extLst>
              </a:tr>
            </a:tbl>
          </a:graphicData>
        </a:graphic>
      </p:graphicFrame>
    </p:spTree>
    <p:extLst>
      <p:ext uri="{BB962C8B-B14F-4D97-AF65-F5344CB8AC3E}">
        <p14:creationId xmlns:p14="http://schemas.microsoft.com/office/powerpoint/2010/main" val="390245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7" name="Rectangle 16">
            <a:extLst>
              <a:ext uri="{FF2B5EF4-FFF2-40B4-BE49-F238E27FC236}">
                <a16:creationId xmlns:a16="http://schemas.microsoft.com/office/drawing/2014/main" id="{C5C0689E-8B16-904F-A555-0BF540A1D1D2}"/>
              </a:ext>
            </a:extLst>
          </p:cNvPr>
          <p:cNvSpPr/>
          <p:nvPr/>
        </p:nvSpPr>
        <p:spPr>
          <a:xfrm>
            <a:off x="914400" y="792491"/>
            <a:ext cx="10515600" cy="1200329"/>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rPr>
              <a:t>Compare and discuss your list with your partner. Add any tips or strategies your partner shares that you find helpful to your list.</a:t>
            </a:r>
          </a:p>
        </p:txBody>
      </p:sp>
      <p:sp>
        <p:nvSpPr>
          <p:cNvPr id="31" name="Google Shape;282;g104476d1465_1_17">
            <a:extLst>
              <a:ext uri="{FF2B5EF4-FFF2-40B4-BE49-F238E27FC236}">
                <a16:creationId xmlns:a16="http://schemas.microsoft.com/office/drawing/2014/main" id="{CDEBEDDD-594C-B74D-9DDD-81F550FCEF3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155</a:t>
            </a:r>
            <a:endParaRPr i="1" dirty="0">
              <a:latin typeface="Calibri"/>
              <a:ea typeface="Calibri"/>
              <a:cs typeface="Calibri"/>
              <a:sym typeface="Calibri"/>
            </a:endParaRPr>
          </a:p>
        </p:txBody>
      </p:sp>
    </p:spTree>
    <p:extLst>
      <p:ext uri="{BB962C8B-B14F-4D97-AF65-F5344CB8AC3E}">
        <p14:creationId xmlns:p14="http://schemas.microsoft.com/office/powerpoint/2010/main" val="3393813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155</a:t>
            </a:r>
            <a:endParaRPr i="1" dirty="0">
              <a:latin typeface="Calibri"/>
              <a:ea typeface="Calibri"/>
              <a:cs typeface="Calibri"/>
              <a:sym typeface="Calibri"/>
            </a:endParaRPr>
          </a:p>
        </p:txBody>
      </p:sp>
      <p:pic>
        <p:nvPicPr>
          <p:cNvPr id="9" name="image3.png" descr="Icon&#10;&#10;Description automatically generated">
            <a:extLst>
              <a:ext uri="{FF2B5EF4-FFF2-40B4-BE49-F238E27FC236}">
                <a16:creationId xmlns:a16="http://schemas.microsoft.com/office/drawing/2014/main" id="{D7880FC8-2059-6E4A-A40A-EFD5C510F4C7}"/>
              </a:ext>
            </a:extLst>
          </p:cNvPr>
          <p:cNvPicPr/>
          <p:nvPr/>
        </p:nvPicPr>
        <p:blipFill>
          <a:blip r:embed="rId4"/>
          <a:srcRect/>
          <a:stretch>
            <a:fillRect/>
          </a:stretch>
        </p:blipFill>
        <p:spPr>
          <a:xfrm>
            <a:off x="3054096" y="2845586"/>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717413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8597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10.7.4 Your Turn!</a:t>
            </a:r>
          </a:p>
        </p:txBody>
      </p:sp>
      <p:sp>
        <p:nvSpPr>
          <p:cNvPr id="13" name="TextBox 12">
            <a:extLst>
              <a:ext uri="{FF2B5EF4-FFF2-40B4-BE49-F238E27FC236}">
                <a16:creationId xmlns:a16="http://schemas.microsoft.com/office/drawing/2014/main" id="{C01B13E8-EC8D-E443-A329-C5E3593DD13A}"/>
              </a:ext>
            </a:extLst>
          </p:cNvPr>
          <p:cNvSpPr txBox="1"/>
          <p:nvPr/>
        </p:nvSpPr>
        <p:spPr>
          <a:xfrm>
            <a:off x="914400" y="1192222"/>
            <a:ext cx="10515600"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Emma fills her aquarium with water. The graph shows the height of the water, in cm, in the aquarium as a function of time, in minutes.</a:t>
            </a:r>
          </a:p>
        </p:txBody>
      </p:sp>
      <p:sp>
        <p:nvSpPr>
          <p:cNvPr id="8" name="Google Shape;282;g104476d1465_1_17">
            <a:extLst>
              <a:ext uri="{FF2B5EF4-FFF2-40B4-BE49-F238E27FC236}">
                <a16:creationId xmlns:a16="http://schemas.microsoft.com/office/drawing/2014/main" id="{46EBFD37-657E-6D48-AB68-B97E54ABC53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155</a:t>
            </a:r>
            <a:endParaRPr i="1" dirty="0">
              <a:latin typeface="Calibri"/>
              <a:ea typeface="Calibri"/>
              <a:cs typeface="Calibri"/>
              <a:sym typeface="Calibri"/>
            </a:endParaRPr>
          </a:p>
        </p:txBody>
      </p:sp>
      <p:pic>
        <p:nvPicPr>
          <p:cNvPr id="10" name="image3.png" descr="Icon&#10;&#10;Description automatically generated">
            <a:extLst>
              <a:ext uri="{FF2B5EF4-FFF2-40B4-BE49-F238E27FC236}">
                <a16:creationId xmlns:a16="http://schemas.microsoft.com/office/drawing/2014/main" id="{8D48373F-5ED8-1249-8658-5A03468FECF1}"/>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65760" y="125858"/>
            <a:ext cx="747300" cy="747300"/>
          </a:xfrm>
          <a:prstGeom prst="rect">
            <a:avLst/>
          </a:prstGeom>
          <a:ln/>
        </p:spPr>
      </p:pic>
      <p:pic>
        <p:nvPicPr>
          <p:cNvPr id="11" name="Picture 10" descr="Chart, line chart&#10;&#10;Description automatically generated">
            <a:extLst>
              <a:ext uri="{FF2B5EF4-FFF2-40B4-BE49-F238E27FC236}">
                <a16:creationId xmlns:a16="http://schemas.microsoft.com/office/drawing/2014/main" id="{17E409F7-84B5-2C41-9A77-00ECFEBB06C0}"/>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b="17916"/>
          <a:stretch/>
        </p:blipFill>
        <p:spPr>
          <a:xfrm>
            <a:off x="4126296" y="2528005"/>
            <a:ext cx="3939408" cy="2763801"/>
          </a:xfrm>
          <a:prstGeom prst="rect">
            <a:avLst/>
          </a:prstGeom>
        </p:spPr>
      </p:pic>
      <p:sp>
        <p:nvSpPr>
          <p:cNvPr id="12" name="Text Box 10">
            <a:extLst>
              <a:ext uri="{FF2B5EF4-FFF2-40B4-BE49-F238E27FC236}">
                <a16:creationId xmlns:a16="http://schemas.microsoft.com/office/drawing/2014/main" id="{61FF155C-A55B-664C-8C79-B691F844EAD0}"/>
              </a:ext>
            </a:extLst>
          </p:cNvPr>
          <p:cNvSpPr txBox="1"/>
          <p:nvPr/>
        </p:nvSpPr>
        <p:spPr>
          <a:xfrm>
            <a:off x="4999217" y="5348730"/>
            <a:ext cx="2327910" cy="4838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600" b="1" dirty="0">
                <a:latin typeface="Verdana" panose="020B0604030504040204" pitchFamily="34" charset="0"/>
                <a:ea typeface="Times New Roman" panose="02020603050405020304" pitchFamily="18" charset="0"/>
                <a:cs typeface="Times New Roman" panose="02020603050405020304" pitchFamily="18" charset="0"/>
              </a:rPr>
              <a:t>Time (in minutes)</a:t>
            </a:r>
            <a:endParaRPr lang="en-CO"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4" name="Text Box 11">
            <a:extLst>
              <a:ext uri="{FF2B5EF4-FFF2-40B4-BE49-F238E27FC236}">
                <a16:creationId xmlns:a16="http://schemas.microsoft.com/office/drawing/2014/main" id="{878D85D6-0255-4C4A-9629-0D62EB3CC933}"/>
              </a:ext>
            </a:extLst>
          </p:cNvPr>
          <p:cNvSpPr txBox="1"/>
          <p:nvPr/>
        </p:nvSpPr>
        <p:spPr>
          <a:xfrm rot="16200000">
            <a:off x="2441064" y="3564780"/>
            <a:ext cx="3155282" cy="4838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600" b="1" dirty="0">
                <a:latin typeface="Verdana" panose="020B0604030504040204" pitchFamily="34" charset="0"/>
                <a:ea typeface="Times New Roman" panose="02020603050405020304" pitchFamily="18" charset="0"/>
                <a:cs typeface="Times New Roman" panose="02020603050405020304" pitchFamily="18" charset="0"/>
              </a:rPr>
              <a:t>Height (in centimeters)</a:t>
            </a:r>
            <a:endParaRPr lang="en-CO"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606BE66-E455-9549-8264-3A607168592E}"/>
              </a:ext>
            </a:extLst>
          </p:cNvPr>
          <p:cNvSpPr txBox="1"/>
          <p:nvPr/>
        </p:nvSpPr>
        <p:spPr>
          <a:xfrm>
            <a:off x="914400" y="5761845"/>
            <a:ext cx="10515600" cy="830997"/>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Write a story to match the graph that describes how Emma fills the aquarium.</a:t>
            </a:r>
          </a:p>
        </p:txBody>
      </p:sp>
    </p:spTree>
    <p:extLst>
      <p:ext uri="{BB962C8B-B14F-4D97-AF65-F5344CB8AC3E}">
        <p14:creationId xmlns:p14="http://schemas.microsoft.com/office/powerpoint/2010/main" val="2912676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C5C0689E-8B16-904F-A555-0BF540A1D1D2}"/>
                  </a:ext>
                </a:extLst>
              </p:cNvPr>
              <p:cNvSpPr/>
              <p:nvPr/>
            </p:nvSpPr>
            <p:spPr>
              <a:xfrm>
                <a:off x="914400" y="277101"/>
                <a:ext cx="10515600" cy="1938992"/>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rPr>
                  <a:t>Mason was riding his bike along the Lake Okeechobee Scenic Trail. The graph shows his trip. The trail has markers every </a:t>
                </a:r>
                <a14:m>
                  <m:oMath xmlns:m="http://schemas.openxmlformats.org/officeDocument/2006/math">
                    <m:r>
                      <a:rPr lang="en-US" sz="2400" i="1" dirty="0">
                        <a:latin typeface="Cambria Math" panose="02040503050406030204" pitchFamily="18" charset="0"/>
                        <a:ea typeface="Times New Roman" panose="02020603050405020304" pitchFamily="18" charset="0"/>
                      </a:rPr>
                      <m:t>0.5</m:t>
                    </m:r>
                  </m:oMath>
                </a14:m>
                <a:r>
                  <a:rPr lang="en-US" sz="2400" dirty="0">
                    <a:latin typeface="Verdana" panose="020B0604030504040204" pitchFamily="34" charset="0"/>
                    <a:ea typeface="Times New Roman" panose="02020603050405020304" pitchFamily="18" charset="0"/>
                  </a:rPr>
                  <a:t> kilometers (km), showing the distance from the beginning of the trail.</a:t>
                </a:r>
              </a:p>
            </p:txBody>
          </p:sp>
        </mc:Choice>
        <mc:Fallback xmlns="">
          <p:sp>
            <p:nvSpPr>
              <p:cNvPr id="17" name="Rectangle 16">
                <a:extLst>
                  <a:ext uri="{FF2B5EF4-FFF2-40B4-BE49-F238E27FC236}">
                    <a16:creationId xmlns:a16="http://schemas.microsoft.com/office/drawing/2014/main" id="{C5C0689E-8B16-904F-A555-0BF540A1D1D2}"/>
                  </a:ext>
                </a:extLst>
              </p:cNvPr>
              <p:cNvSpPr>
                <a:spLocks noRot="1" noChangeAspect="1" noMove="1" noResize="1" noEditPoints="1" noAdjustHandles="1" noChangeArrowheads="1" noChangeShapeType="1" noTextEdit="1"/>
              </p:cNvSpPr>
              <p:nvPr/>
            </p:nvSpPr>
            <p:spPr>
              <a:xfrm>
                <a:off x="914400" y="277101"/>
                <a:ext cx="10515600" cy="1938992"/>
              </a:xfrm>
              <a:prstGeom prst="rect">
                <a:avLst/>
              </a:prstGeom>
              <a:blipFill>
                <a:blip r:embed="rId4"/>
                <a:stretch>
                  <a:fillRect l="-965" t="-2597"/>
                </a:stretch>
              </a:blipFill>
            </p:spPr>
            <p:txBody>
              <a:bodyPr/>
              <a:lstStyle/>
              <a:p>
                <a:r>
                  <a:rPr lang="en-US">
                    <a:noFill/>
                  </a:rPr>
                  <a:t> </a:t>
                </a:r>
              </a:p>
            </p:txBody>
          </p:sp>
        </mc:Fallback>
      </mc:AlternateContent>
      <p:sp>
        <p:nvSpPr>
          <p:cNvPr id="31" name="Google Shape;282;g104476d1465_1_17">
            <a:extLst>
              <a:ext uri="{FF2B5EF4-FFF2-40B4-BE49-F238E27FC236}">
                <a16:creationId xmlns:a16="http://schemas.microsoft.com/office/drawing/2014/main" id="{CDEBEDDD-594C-B74D-9DDD-81F550FCEF3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156</a:t>
            </a:r>
            <a:endParaRPr i="1" dirty="0">
              <a:latin typeface="Calibri"/>
              <a:ea typeface="Calibri"/>
              <a:cs typeface="Calibri"/>
              <a:sym typeface="Calibri"/>
            </a:endParaRPr>
          </a:p>
        </p:txBody>
      </p:sp>
      <p:pic>
        <p:nvPicPr>
          <p:cNvPr id="16" name="Picture 15" descr="Chart, line chart&#10;&#10;Description automatically generated">
            <a:extLst>
              <a:ext uri="{FF2B5EF4-FFF2-40B4-BE49-F238E27FC236}">
                <a16:creationId xmlns:a16="http://schemas.microsoft.com/office/drawing/2014/main" id="{147A347B-7C16-2C4B-AC25-E8BA6AD05E6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230673" y="2287638"/>
            <a:ext cx="5749550" cy="3912962"/>
          </a:xfrm>
          <a:prstGeom prst="rect">
            <a:avLst/>
          </a:prstGeom>
        </p:spPr>
      </p:pic>
      <p:sp>
        <p:nvSpPr>
          <p:cNvPr id="19" name="Text Box 14">
            <a:extLst>
              <a:ext uri="{FF2B5EF4-FFF2-40B4-BE49-F238E27FC236}">
                <a16:creationId xmlns:a16="http://schemas.microsoft.com/office/drawing/2014/main" id="{14B8759C-A95E-3443-965B-D37E54A93B05}"/>
              </a:ext>
            </a:extLst>
          </p:cNvPr>
          <p:cNvSpPr txBox="1"/>
          <p:nvPr/>
        </p:nvSpPr>
        <p:spPr>
          <a:xfrm rot="16200000">
            <a:off x="1642947" y="4236565"/>
            <a:ext cx="3090592" cy="483870"/>
          </a:xfrm>
          <a:prstGeom prst="rect">
            <a:avLst/>
          </a:prstGeom>
          <a:noFill/>
          <a:ln w="6350">
            <a:noFill/>
          </a:ln>
        </p:spPr>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1000"/>
              </a:spcAft>
            </a:pPr>
            <a:r>
              <a:rPr lang="en-US" sz="1600" b="1" dirty="0">
                <a:latin typeface="Verdana" panose="020B0604030504040204" pitchFamily="34" charset="0"/>
                <a:ea typeface="Times New Roman" panose="02020603050405020304" pitchFamily="18" charset="0"/>
                <a:cs typeface="Times New Roman" panose="02020603050405020304" pitchFamily="18" charset="0"/>
              </a:rPr>
              <a:t>Distance from Beginning (in kilometers)</a:t>
            </a:r>
            <a:endParaRPr lang="en-CO" sz="12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20" name="Text Box 13">
            <a:extLst>
              <a:ext uri="{FF2B5EF4-FFF2-40B4-BE49-F238E27FC236}">
                <a16:creationId xmlns:a16="http://schemas.microsoft.com/office/drawing/2014/main" id="{11F9BE6A-0ABD-164C-98B7-D7E794089C0E}"/>
              </a:ext>
            </a:extLst>
          </p:cNvPr>
          <p:cNvSpPr txBox="1"/>
          <p:nvPr/>
        </p:nvSpPr>
        <p:spPr>
          <a:xfrm>
            <a:off x="5054283" y="6215740"/>
            <a:ext cx="2083435" cy="4838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r>
              <a:rPr lang="en-US" sz="1600" b="1">
                <a:latin typeface="Verdana" panose="020B0604030504040204" pitchFamily="34" charset="0"/>
                <a:ea typeface="Times New Roman" panose="02020603050405020304" pitchFamily="18" charset="0"/>
                <a:cs typeface="Times New Roman" panose="02020603050405020304" pitchFamily="18" charset="0"/>
              </a:rPr>
              <a:t>Time (in hours)</a:t>
            </a:r>
            <a:endParaRPr lang="en-CO" sz="1200">
              <a:latin typeface="Cambria" panose="020405030504060302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5910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040CB3A2-EA4C-2F4B-A3B3-ADA27BC9F465}"/>
              </a:ext>
            </a:extLst>
          </p:cNvPr>
          <p:cNvSpPr/>
          <p:nvPr/>
        </p:nvSpPr>
        <p:spPr>
          <a:xfrm>
            <a:off x="914400" y="340478"/>
            <a:ext cx="10515600" cy="5262979"/>
          </a:xfrm>
          <a:prstGeom prst="rect">
            <a:avLst/>
          </a:prstGeom>
        </p:spPr>
        <p:txBody>
          <a:bodyPr wrap="square">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domain of Mason’s bike ride? </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range of Mason’s bike ride?</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Between which times was Mason going the fastest?</a:t>
            </a:r>
          </a:p>
          <a:p>
            <a:pPr marL="473075"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82;g104476d1465_1_17">
            <a:extLst>
              <a:ext uri="{FF2B5EF4-FFF2-40B4-BE49-F238E27FC236}">
                <a16:creationId xmlns:a16="http://schemas.microsoft.com/office/drawing/2014/main" id="{B1912BF8-3524-4C47-AFC3-32BDAE40D3D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156</a:t>
            </a:r>
            <a:endParaRPr i="1" dirty="0">
              <a:latin typeface="Calibri"/>
              <a:ea typeface="Calibri"/>
              <a:cs typeface="Calibri"/>
              <a:sym typeface="Calibri"/>
            </a:endParaRPr>
          </a:p>
        </p:txBody>
      </p:sp>
    </p:spTree>
    <p:extLst>
      <p:ext uri="{BB962C8B-B14F-4D97-AF65-F5344CB8AC3E}">
        <p14:creationId xmlns:p14="http://schemas.microsoft.com/office/powerpoint/2010/main" val="2419205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282;g104476d1465_1_17">
            <a:extLst>
              <a:ext uri="{FF2B5EF4-FFF2-40B4-BE49-F238E27FC236}">
                <a16:creationId xmlns:a16="http://schemas.microsoft.com/office/drawing/2014/main" id="{C4EE9A6A-5310-5441-BFD6-B30578618962}"/>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156</a:t>
            </a:r>
            <a:endParaRPr i="1" dirty="0">
              <a:latin typeface="Calibri"/>
              <a:ea typeface="Calibri"/>
              <a:cs typeface="Calibri"/>
              <a:sym typeface="Calibri"/>
            </a:endParaRPr>
          </a:p>
        </p:txBody>
      </p:sp>
      <p:sp>
        <p:nvSpPr>
          <p:cNvPr id="8" name="Rectangle 7">
            <a:extLst>
              <a:ext uri="{FF2B5EF4-FFF2-40B4-BE49-F238E27FC236}">
                <a16:creationId xmlns:a16="http://schemas.microsoft.com/office/drawing/2014/main" id="{64798852-B57D-D845-B53D-D54664640691}"/>
              </a:ext>
            </a:extLst>
          </p:cNvPr>
          <p:cNvSpPr/>
          <p:nvPr/>
        </p:nvSpPr>
        <p:spPr>
          <a:xfrm>
            <a:off x="914400" y="340478"/>
            <a:ext cx="10515600" cy="5262979"/>
          </a:xfrm>
          <a:prstGeom prst="rect">
            <a:avLst/>
          </a:prstGeom>
        </p:spPr>
        <p:txBody>
          <a:bodyPr wrap="square">
            <a:spAutoFit/>
          </a:bodyPr>
          <a:lstStyle/>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Between which times was Mason riding away from the beginning of the trail?</a:t>
            </a: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Between which times was Mason riding back to the beginning of the trail?</a:t>
            </a: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400" dirty="0">
                <a:latin typeface="Verdana" panose="020B0604030504040204" pitchFamily="34" charset="0"/>
                <a:ea typeface="Verdana" panose="020B0604030504040204" pitchFamily="34" charset="0"/>
                <a:cs typeface="Verdana" panose="020B0604030504040204" pitchFamily="34" charset="0"/>
              </a:rPr>
              <a:t>Between which times was Mason stopped?</a:t>
            </a:r>
          </a:p>
        </p:txBody>
      </p:sp>
    </p:spTree>
    <p:extLst>
      <p:ext uri="{BB962C8B-B14F-4D97-AF65-F5344CB8AC3E}">
        <p14:creationId xmlns:p14="http://schemas.microsoft.com/office/powerpoint/2010/main" val="2784345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DCA26F36-85FB-6F47-BFE1-9526A3AAF9F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3000" y="-1841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10.7.5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65760" y="60325"/>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5C5015EC-6F43-1C4A-AD6C-B1BEBDFEE113}"/>
              </a:ext>
            </a:extLst>
          </p:cNvPr>
          <p:cNvSpPr/>
          <p:nvPr/>
        </p:nvSpPr>
        <p:spPr>
          <a:xfrm>
            <a:off x="914400" y="1178056"/>
            <a:ext cx="10515600" cy="1938992"/>
          </a:xfrm>
          <a:prstGeom prst="rect">
            <a:avLst/>
          </a:prstGeom>
        </p:spPr>
        <p:txBody>
          <a:bodyPr wrap="square">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Color in the arrow up to the statement that best describes your current understanding of the benchmark below.</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361950"/>
            <a:r>
              <a:rPr lang="en-US" sz="2000" dirty="0">
                <a:latin typeface="Verdana" panose="020B0604030504040204" pitchFamily="34" charset="0"/>
                <a:ea typeface="Verdana" panose="020B0604030504040204" pitchFamily="34" charset="0"/>
                <a:cs typeface="Verdana" panose="020B0604030504040204" pitchFamily="34" charset="0"/>
              </a:rPr>
              <a:t>Analyze a real-world written description or graphical representation of a functional relationship between two quantities and identify where the function is increasing, decreasing or constant.</a:t>
            </a:r>
          </a:p>
        </p:txBody>
      </p:sp>
      <p:sp>
        <p:nvSpPr>
          <p:cNvPr id="10" name="Google Shape;282;g104476d1465_1_17">
            <a:extLst>
              <a:ext uri="{FF2B5EF4-FFF2-40B4-BE49-F238E27FC236}">
                <a16:creationId xmlns:a16="http://schemas.microsoft.com/office/drawing/2014/main" id="{5DDDAB21-3A33-3F47-AE46-A181D54ACE9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157</a:t>
            </a:r>
            <a:endParaRPr i="1" dirty="0">
              <a:latin typeface="Calibri"/>
              <a:ea typeface="Calibri"/>
              <a:cs typeface="Calibri"/>
              <a:sym typeface="Calibri"/>
            </a:endParaRPr>
          </a:p>
        </p:txBody>
      </p:sp>
      <p:sp>
        <p:nvSpPr>
          <p:cNvPr id="8" name="Arrow: Up 5">
            <a:extLst>
              <a:ext uri="{FF2B5EF4-FFF2-40B4-BE49-F238E27FC236}">
                <a16:creationId xmlns:a16="http://schemas.microsoft.com/office/drawing/2014/main" id="{568F2509-A0D7-014F-84F1-8D6D96F2DC32}"/>
              </a:ext>
            </a:extLst>
          </p:cNvPr>
          <p:cNvSpPr/>
          <p:nvPr/>
        </p:nvSpPr>
        <p:spPr>
          <a:xfrm>
            <a:off x="2979334" y="3111963"/>
            <a:ext cx="813435" cy="3345713"/>
          </a:xfrm>
          <a:prstGeom prst="upArrow">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aphicFrame>
        <p:nvGraphicFramePr>
          <p:cNvPr id="3" name="Table 2">
            <a:extLst>
              <a:ext uri="{FF2B5EF4-FFF2-40B4-BE49-F238E27FC236}">
                <a16:creationId xmlns:a16="http://schemas.microsoft.com/office/drawing/2014/main" id="{50496042-4516-7341-9801-115ADA2CE878}"/>
              </a:ext>
            </a:extLst>
          </p:cNvPr>
          <p:cNvGraphicFramePr>
            <a:graphicFrameLocks noGrp="1"/>
          </p:cNvGraphicFramePr>
          <p:nvPr>
            <p:extLst>
              <p:ext uri="{D42A27DB-BD31-4B8C-83A1-F6EECF244321}">
                <p14:modId xmlns:p14="http://schemas.microsoft.com/office/powerpoint/2010/main" val="3250093020"/>
              </p:ext>
            </p:extLst>
          </p:nvPr>
        </p:nvGraphicFramePr>
        <p:xfrm>
          <a:off x="4030021" y="3186004"/>
          <a:ext cx="6420264" cy="3202715"/>
        </p:xfrm>
        <a:graphic>
          <a:graphicData uri="http://schemas.openxmlformats.org/drawingml/2006/table">
            <a:tbl>
              <a:tblPr firstRow="1" bandRow="1">
                <a:tableStyleId>{A91F0D33-8C57-4600-99A7-42BC86742BE1}</a:tableStyleId>
              </a:tblPr>
              <a:tblGrid>
                <a:gridCol w="6420264">
                  <a:extLst>
                    <a:ext uri="{9D8B030D-6E8A-4147-A177-3AD203B41FA5}">
                      <a16:colId xmlns:a16="http://schemas.microsoft.com/office/drawing/2014/main" val="4213729817"/>
                    </a:ext>
                  </a:extLst>
                </a:gridCol>
              </a:tblGrid>
              <a:tr h="847152">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I’m so confident, I could explain how to analyze or sketch graphs of functional relationships to someone else!</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82295" marR="82295" marT="41147" marB="4114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6410655"/>
                  </a:ext>
                </a:extLst>
              </a:tr>
              <a:tr h="972141">
                <a:tc>
                  <a:txBody>
                    <a:bodyPr/>
                    <a:lstStyle/>
                    <a:p>
                      <a:pPr marL="0" marR="0">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I can get to the right answer, but I don’t understand well enough to explain how to analyze or sketch graphs yet.</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82295" marR="82295" marT="41147" marB="4114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1440534"/>
                  </a:ext>
                </a:extLst>
              </a:tr>
              <a:tr h="694386">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I understand some of this, but I don’t understand all of it yet.</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82295" marR="82295" marT="41147" marB="4114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9645098"/>
                  </a:ext>
                </a:extLst>
              </a:tr>
              <a:tr h="577959">
                <a:tc>
                  <a:txBody>
                    <a:bodyPr/>
                    <a:lstStyle/>
                    <a:p>
                      <a:pPr marL="0" marR="0">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I have been trying hard, but I am finding this challenging.</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82295" marR="82295" marT="41147" marB="4114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5671351"/>
                  </a:ext>
                </a:extLst>
              </a:tr>
            </a:tbl>
          </a:graphicData>
        </a:graphic>
      </p:graphicFrame>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1589</TotalTime>
  <Words>971</Words>
  <Application>Microsoft Office PowerPoint</Application>
  <PresentationFormat>Widescreen</PresentationFormat>
  <Paragraphs>157</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Cambria</vt:lpstr>
      <vt:lpstr>Verdana</vt:lpstr>
      <vt:lpstr>Wingdings</vt:lpstr>
      <vt:lpstr>Century Gothic</vt:lpstr>
      <vt:lpstr>Calibri</vt:lpstr>
      <vt:lpstr>Arial Black</vt:lpstr>
      <vt:lpstr>Cambria Math</vt:lpstr>
      <vt:lpstr>Arial</vt:lpstr>
      <vt:lpstr>1_Office Theme</vt:lpstr>
      <vt:lpstr>8th Grade Math:  Pre-Algebra  Unit 10, Lesson 7  Analyzing Descriptions and Graphs  Volume 2, pg. 153  </vt:lpstr>
      <vt:lpstr>Benchmark</vt:lpstr>
      <vt:lpstr>PowerPoint Presentation</vt:lpstr>
      <vt:lpstr>PowerPoint Presentation</vt:lpstr>
      <vt:lpstr>Warm-Up</vt:lpstr>
      <vt:lpstr>PowerPoint Presentation</vt:lpstr>
      <vt:lpstr>PowerPoint Presentation</vt:lpstr>
      <vt:lpstr>PowerPoint Presentation</vt:lpstr>
      <vt:lpstr>Activity</vt:lpstr>
      <vt:lpstr>PowerPoint Presentation</vt:lpstr>
      <vt:lpstr>PowerPoint Presentation</vt:lpstr>
      <vt:lpstr>Bring It Together</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18</cp:revision>
  <dcterms:created xsi:type="dcterms:W3CDTF">2015-03-17T18:51:18Z</dcterms:created>
  <dcterms:modified xsi:type="dcterms:W3CDTF">2022-06-19T00:19:13Z</dcterms:modified>
</cp:coreProperties>
</file>