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37" r:id="rId8"/>
    <p:sldId id="320" r:id="rId9"/>
    <p:sldId id="321" r:id="rId10"/>
    <p:sldId id="324" r:id="rId11"/>
    <p:sldId id="338" r:id="rId12"/>
    <p:sldId id="339" r:id="rId13"/>
    <p:sldId id="340" r:id="rId14"/>
    <p:sldId id="341" r:id="rId15"/>
    <p:sldId id="334" r:id="rId16"/>
    <p:sldId id="335" r:id="rId17"/>
    <p:sldId id="336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06" r:id="rId27"/>
    <p:sldId id="307" r:id="rId28"/>
  </p:sldIdLst>
  <p:sldSz cx="12192000" cy="6858000"/>
  <p:notesSz cx="6858000" cy="9144000"/>
  <p:embeddedFontLst>
    <p:embeddedFont>
      <p:font typeface="Arial Black" panose="020B0A04020102020204" pitchFamily="3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" panose="02040503050406030204" pitchFamily="18" charset="0"/>
      <p:regular r:id="rId36"/>
      <p:bold r:id="rId37"/>
      <p:italic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Century Gothic" panose="020B0502020202020204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02" autoAdjust="0"/>
    <p:restoredTop sz="94694"/>
  </p:normalViewPr>
  <p:slideViewPr>
    <p:cSldViewPr snapToGrid="0">
      <p:cViewPr varScale="1">
        <p:scale>
          <a:sx n="55" d="100"/>
          <a:sy n="55" d="100"/>
        </p:scale>
        <p:origin x="90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9832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927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5485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8234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43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979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5031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002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8905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2427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3542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2265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990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050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9073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9927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22901" y="2054277"/>
            <a:ext cx="548639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Functions Using Equations, Tables, and Graphs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400" y="1274139"/>
                <a:ext cx="10515600" cy="4857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26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MA.8.F.1.2</a:t>
                </a:r>
              </a:p>
              <a:p>
                <a:pPr indent="0">
                  <a:buNone/>
                </a:pPr>
                <a:r>
                  <a:rPr lang="en-US" sz="2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 function defined by a graph or an equation, determine whether the function is a linear function. Given an input-output table, determine whether it could represent a linear function. </a:t>
                </a:r>
              </a:p>
              <a:p>
                <a:pPr indent="0">
                  <a:buNone/>
                </a:pPr>
                <a:endParaRPr lang="en-US" sz="2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Century Gothic"/>
                </a:endParaRPr>
              </a:p>
              <a:p>
                <a:pPr marL="0" indent="0">
                  <a:buSzPts val="1100"/>
                  <a:buNone/>
                </a:pPr>
                <a:r>
                  <a:rPr lang="en-US" sz="26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MA.8.AR.2.3</a:t>
                </a:r>
              </a:p>
              <a:p>
                <a:pPr indent="0">
                  <a:buNone/>
                </a:pPr>
                <a:r>
                  <a:rPr lang="en-US" sz="2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6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𝑞</m:t>
                    </m:r>
                  </m:oMath>
                </a14:m>
                <a:r>
                  <a:rPr lang="en-US" sz="2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en-US" sz="2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 and 𝑞 is an integer, determine the real solutions. </a:t>
                </a:r>
                <a:endParaRPr lang="en-US" sz="2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74139"/>
                <a:ext cx="10515600" cy="4857475"/>
              </a:xfrm>
              <a:prstGeom prst="rect">
                <a:avLst/>
              </a:prstGeom>
              <a:blipFill>
                <a:blip r:embed="rId5"/>
                <a:stretch>
                  <a:fillRect l="-1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455368"/>
            <a:ext cx="10515600" cy="473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create a table of values from the equation of a function. 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graph a function using a table of values.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42843"/>
            <a:ext cx="93785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10.8.1 Warm-Up: Bigger and Smaller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1185113"/>
            <a:ext cx="858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Three graphs are shown.</a:t>
            </a: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E65DAB44-B6D7-6C41-A235-54727E1D00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7024" y="1865839"/>
            <a:ext cx="2240280" cy="2011680"/>
          </a:xfrm>
          <a:prstGeom prst="rect">
            <a:avLst/>
          </a:prstGeom>
        </p:spPr>
      </p:pic>
      <p:pic>
        <p:nvPicPr>
          <p:cNvPr id="11" name="Picture 10" descr="Chart, box and whisker chart&#10;&#10;Description automatically generated">
            <a:extLst>
              <a:ext uri="{FF2B5EF4-FFF2-40B4-BE49-F238E27FC236}">
                <a16:creationId xmlns:a16="http://schemas.microsoft.com/office/drawing/2014/main" id="{597C527A-6A94-CF4B-9EC5-B8A4BB2C5B9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2747" y="1861664"/>
            <a:ext cx="2240280" cy="201168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3F9590BD-3894-1348-B372-AEF86B0917A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8470" y="1861664"/>
            <a:ext cx="2240280" cy="20116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7AB632C-03D5-DD4C-BA2C-25B7C68D4740}"/>
              </a:ext>
            </a:extLst>
          </p:cNvPr>
          <p:cNvSpPr/>
          <p:nvPr/>
        </p:nvSpPr>
        <p:spPr>
          <a:xfrm>
            <a:off x="914400" y="4082572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Diego said, “The graphs are ordered from smallest to largest.” Maya disagreed and said, “No. They are ordered from largest to smallest.” 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But these are graphs, not numbers!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542975"/>
            <a:ext cx="858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What do you think Diego and Maya are thinking?</a:t>
            </a:r>
          </a:p>
        </p:txBody>
      </p:sp>
    </p:spTree>
    <p:extLst>
      <p:ext uri="{BB962C8B-B14F-4D97-AF65-F5344CB8AC3E}">
        <p14:creationId xmlns:p14="http://schemas.microsoft.com/office/powerpoint/2010/main" val="390463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9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4.png">
            <a:extLst>
              <a:ext uri="{FF2B5EF4-FFF2-40B4-BE49-F238E27FC236}">
                <a16:creationId xmlns:a16="http://schemas.microsoft.com/office/drawing/2014/main" id="{4E5CEB9D-6242-6643-AAD0-DD0D191FCE1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9"/>
            <a:ext cx="1154063" cy="115406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10.8.2 Collaboration: Revisiting Squares and Cubes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386026"/>
            <a:ext cx="8327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on the following.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 for 𝑥. Show your work.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4.png">
            <a:extLst>
              <a:ext uri="{FF2B5EF4-FFF2-40B4-BE49-F238E27FC236}">
                <a16:creationId xmlns:a16="http://schemas.microsoft.com/office/drawing/2014/main" id="{008BCF41-1F95-F84D-8286-CEC8A313920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341921"/>
            <a:ext cx="749808" cy="749808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F8ADDE-0EB9-994A-A6B6-47B60EAFF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761039"/>
                  </p:ext>
                </p:extLst>
              </p:nvPr>
            </p:nvGraphicFramePr>
            <p:xfrm>
              <a:off x="1481728" y="2944250"/>
              <a:ext cx="6852062" cy="340872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26031">
                      <a:extLst>
                        <a:ext uri="{9D8B030D-6E8A-4147-A177-3AD203B41FA5}">
                          <a16:colId xmlns:a16="http://schemas.microsoft.com/office/drawing/2014/main" val="2206995692"/>
                        </a:ext>
                      </a:extLst>
                    </a:gridCol>
                    <a:gridCol w="3426031">
                      <a:extLst>
                        <a:ext uri="{9D8B030D-6E8A-4147-A177-3AD203B41FA5}">
                          <a16:colId xmlns:a16="http://schemas.microsoft.com/office/drawing/2014/main" val="894096723"/>
                        </a:ext>
                      </a:extLst>
                    </a:gridCol>
                  </a:tblGrid>
                  <a:tr h="12751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O" sz="20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16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1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CO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42830243"/>
                      </a:ext>
                    </a:extLst>
                  </a:tr>
                  <a:tr h="12751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36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100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50375299"/>
                      </a:ext>
                    </a:extLst>
                  </a:tr>
                  <a:tr h="4250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CO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920613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F8ADDE-0EB9-994A-A6B6-47B60EAFF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761039"/>
                  </p:ext>
                </p:extLst>
              </p:nvPr>
            </p:nvGraphicFramePr>
            <p:xfrm>
              <a:off x="1481728" y="2944250"/>
              <a:ext cx="6852062" cy="340872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26031">
                      <a:extLst>
                        <a:ext uri="{9D8B030D-6E8A-4147-A177-3AD203B41FA5}">
                          <a16:colId xmlns:a16="http://schemas.microsoft.com/office/drawing/2014/main" val="2206995692"/>
                        </a:ext>
                      </a:extLst>
                    </a:gridCol>
                    <a:gridCol w="3426031">
                      <a:extLst>
                        <a:ext uri="{9D8B030D-6E8A-4147-A177-3AD203B41FA5}">
                          <a16:colId xmlns:a16="http://schemas.microsoft.com/office/drawing/2014/main" val="894096723"/>
                        </a:ext>
                      </a:extLst>
                    </a:gridCol>
                  </a:tblGrid>
                  <a:tr h="152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99822" b="-1235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178" b="-1235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2830243"/>
                      </a:ext>
                    </a:extLst>
                  </a:tr>
                  <a:tr h="12751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19524" r="-99822" b="-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178" t="-119524" b="-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0375299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61000" r="-998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8502" marR="48502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920613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892EA-E472-8449-9741-61C86C01974C}"/>
                  </a:ext>
                </a:extLst>
              </p:cNvPr>
              <p:cNvSpPr txBox="1"/>
              <p:nvPr/>
            </p:nvSpPr>
            <p:spPr>
              <a:xfrm>
                <a:off x="914400" y="861914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solutions to the previous equations to complete a table of values for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892EA-E472-8449-9741-61C86C019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61914"/>
                <a:ext cx="10515600" cy="830997"/>
              </a:xfrm>
              <a:prstGeom prst="rect">
                <a:avLst/>
              </a:prstGeom>
              <a:blipFill>
                <a:blip r:embed="rId4"/>
                <a:stretch>
                  <a:fillRect l="-870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8F034F2-0B54-984C-849C-7E313D5B5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9654765"/>
                  </p:ext>
                </p:extLst>
              </p:nvPr>
            </p:nvGraphicFramePr>
            <p:xfrm>
              <a:off x="2126040" y="2094570"/>
              <a:ext cx="7084899" cy="10528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321">
                      <a:extLst>
                        <a:ext uri="{9D8B030D-6E8A-4147-A177-3AD203B41FA5}">
                          <a16:colId xmlns:a16="http://schemas.microsoft.com/office/drawing/2014/main" val="115268089"/>
                        </a:ext>
                      </a:extLst>
                    </a:gridCol>
                    <a:gridCol w="707794">
                      <a:extLst>
                        <a:ext uri="{9D8B030D-6E8A-4147-A177-3AD203B41FA5}">
                          <a16:colId xmlns:a16="http://schemas.microsoft.com/office/drawing/2014/main" val="49532090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824502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0484796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48033427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4114944355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73334972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53025951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24866737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1990590562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2427281"/>
                      </a:ext>
                    </a:extLst>
                  </a:tr>
                  <a:tr h="5175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83668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8F034F2-0B54-984C-849C-7E313D5B5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9654765"/>
                  </p:ext>
                </p:extLst>
              </p:nvPr>
            </p:nvGraphicFramePr>
            <p:xfrm>
              <a:off x="2126040" y="2094570"/>
              <a:ext cx="7084899" cy="10528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321">
                      <a:extLst>
                        <a:ext uri="{9D8B030D-6E8A-4147-A177-3AD203B41FA5}">
                          <a16:colId xmlns:a16="http://schemas.microsoft.com/office/drawing/2014/main" val="115268089"/>
                        </a:ext>
                      </a:extLst>
                    </a:gridCol>
                    <a:gridCol w="707794">
                      <a:extLst>
                        <a:ext uri="{9D8B030D-6E8A-4147-A177-3AD203B41FA5}">
                          <a16:colId xmlns:a16="http://schemas.microsoft.com/office/drawing/2014/main" val="49532090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824502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0484796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48033427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4114944355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73334972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53025951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24866737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1990590562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47" t="-1136" r="-888136" b="-10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2427281"/>
                      </a:ext>
                    </a:extLst>
                  </a:tr>
                  <a:tr h="517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47" t="-103488" r="-888136" b="-5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83668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892EA-E472-8449-9741-61C86C01974C}"/>
              </a:ext>
            </a:extLst>
          </p:cNvPr>
          <p:cNvSpPr txBox="1"/>
          <p:nvPr/>
        </p:nvSpPr>
        <p:spPr>
          <a:xfrm>
            <a:off x="914400" y="689552"/>
            <a:ext cx="8556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 for 𝑥. Show your work.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0E1567B-7E2D-FA47-B6BF-D6C4FEA62A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603595"/>
                  </p:ext>
                </p:extLst>
              </p:nvPr>
            </p:nvGraphicFramePr>
            <p:xfrm>
              <a:off x="1737212" y="1433448"/>
              <a:ext cx="6910754" cy="50554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411326">
                      <a:extLst>
                        <a:ext uri="{9D8B030D-6E8A-4147-A177-3AD203B41FA5}">
                          <a16:colId xmlns:a16="http://schemas.microsoft.com/office/drawing/2014/main" val="813846033"/>
                        </a:ext>
                      </a:extLst>
                    </a:gridCol>
                    <a:gridCol w="2359935">
                      <a:extLst>
                        <a:ext uri="{9D8B030D-6E8A-4147-A177-3AD203B41FA5}">
                          <a16:colId xmlns:a16="http://schemas.microsoft.com/office/drawing/2014/main" val="2513637843"/>
                        </a:ext>
                      </a:extLst>
                    </a:gridCol>
                    <a:gridCol w="2139493">
                      <a:extLst>
                        <a:ext uri="{9D8B030D-6E8A-4147-A177-3AD203B41FA5}">
                          <a16:colId xmlns:a16="http://schemas.microsoft.com/office/drawing/2014/main" val="3539519488"/>
                        </a:ext>
                      </a:extLst>
                    </a:gridCol>
                  </a:tblGrid>
                  <a:tr h="194181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8</m:t>
                                </m:r>
                              </m:oMath>
                            </m:oMathPara>
                          </a14:m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 </a:t>
                          </a:r>
                          <a:endParaRPr lang="en-CO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−64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24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2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−1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2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52258674"/>
                      </a:ext>
                    </a:extLst>
                  </a:tr>
                  <a:tr h="194181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125</m:t>
                                </m:r>
                              </m:oMath>
                            </m:oMathPara>
                          </a14:m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 </a:t>
                          </a:r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2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64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1112157"/>
                      </a:ext>
                    </a:extLst>
                  </a:tr>
                  <a:tr h="117179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−125</m:t>
                                </m:r>
                              </m:oMath>
                            </m:oMathPara>
                          </a14:m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24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−8</m:t>
                                </m:r>
                              </m:oMath>
                            </m:oMathPara>
                          </a14:m>
                          <a:endParaRPr lang="en-CO" sz="2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1</m:t>
                                </m:r>
                              </m:oMath>
                            </m:oMathPara>
                          </a14:m>
                          <a:endParaRPr lang="en-CO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79626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0E1567B-7E2D-FA47-B6BF-D6C4FEA62A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603595"/>
                  </p:ext>
                </p:extLst>
              </p:nvPr>
            </p:nvGraphicFramePr>
            <p:xfrm>
              <a:off x="1737212" y="1433448"/>
              <a:ext cx="6910754" cy="50554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411326">
                      <a:extLst>
                        <a:ext uri="{9D8B030D-6E8A-4147-A177-3AD203B41FA5}">
                          <a16:colId xmlns:a16="http://schemas.microsoft.com/office/drawing/2014/main" val="813846033"/>
                        </a:ext>
                      </a:extLst>
                    </a:gridCol>
                    <a:gridCol w="2359935">
                      <a:extLst>
                        <a:ext uri="{9D8B030D-6E8A-4147-A177-3AD203B41FA5}">
                          <a16:colId xmlns:a16="http://schemas.microsoft.com/office/drawing/2014/main" val="2513637843"/>
                        </a:ext>
                      </a:extLst>
                    </a:gridCol>
                    <a:gridCol w="2139493">
                      <a:extLst>
                        <a:ext uri="{9D8B030D-6E8A-4147-A177-3AD203B41FA5}">
                          <a16:colId xmlns:a16="http://schemas.microsoft.com/office/drawing/2014/main" val="3539519488"/>
                        </a:ext>
                      </a:extLst>
                    </a:gridCol>
                  </a:tblGrid>
                  <a:tr h="19418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86616" b="-160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2062" r="-90464" b="-160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3362" b="-160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2258674"/>
                      </a:ext>
                    </a:extLst>
                  </a:tr>
                  <a:tr h="19418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186616" b="-60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2062" t="-100000" r="-90464" b="-60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3362" t="-100000" b="-60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112157"/>
                      </a:ext>
                    </a:extLst>
                  </a:tr>
                  <a:tr h="11717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32292" r="-1866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2062" t="-332292" r="-90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297" marR="47297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3362" t="-3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9626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915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892EA-E472-8449-9741-61C86C01974C}"/>
                  </a:ext>
                </a:extLst>
              </p:cNvPr>
              <p:cNvSpPr txBox="1"/>
              <p:nvPr/>
            </p:nvSpPr>
            <p:spPr>
              <a:xfrm>
                <a:off x="914400" y="731286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solutions to the previous equations to complete a table of values for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892EA-E472-8449-9741-61C86C019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731286"/>
                <a:ext cx="10515600" cy="830997"/>
              </a:xfrm>
              <a:prstGeom prst="rect">
                <a:avLst/>
              </a:prstGeom>
              <a:blipFill>
                <a:blip r:embed="rId4"/>
                <a:stretch>
                  <a:fillRect l="-870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8F034F2-0B54-984C-849C-7E313D5B5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037582"/>
                  </p:ext>
                </p:extLst>
              </p:nvPr>
            </p:nvGraphicFramePr>
            <p:xfrm>
              <a:off x="2334442" y="1999568"/>
              <a:ext cx="7084899" cy="10528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321">
                      <a:extLst>
                        <a:ext uri="{9D8B030D-6E8A-4147-A177-3AD203B41FA5}">
                          <a16:colId xmlns:a16="http://schemas.microsoft.com/office/drawing/2014/main" val="115268089"/>
                        </a:ext>
                      </a:extLst>
                    </a:gridCol>
                    <a:gridCol w="707794">
                      <a:extLst>
                        <a:ext uri="{9D8B030D-6E8A-4147-A177-3AD203B41FA5}">
                          <a16:colId xmlns:a16="http://schemas.microsoft.com/office/drawing/2014/main" val="49532090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824502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0484796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48033427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4114944355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73334972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53025951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24866737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1990590562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2427281"/>
                      </a:ext>
                    </a:extLst>
                  </a:tr>
                  <a:tr h="5175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83668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8F034F2-0B54-984C-849C-7E313D5B5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037582"/>
                  </p:ext>
                </p:extLst>
              </p:nvPr>
            </p:nvGraphicFramePr>
            <p:xfrm>
              <a:off x="2334442" y="1999568"/>
              <a:ext cx="7084899" cy="10528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321">
                      <a:extLst>
                        <a:ext uri="{9D8B030D-6E8A-4147-A177-3AD203B41FA5}">
                          <a16:colId xmlns:a16="http://schemas.microsoft.com/office/drawing/2014/main" val="115268089"/>
                        </a:ext>
                      </a:extLst>
                    </a:gridCol>
                    <a:gridCol w="707794">
                      <a:extLst>
                        <a:ext uri="{9D8B030D-6E8A-4147-A177-3AD203B41FA5}">
                          <a16:colId xmlns:a16="http://schemas.microsoft.com/office/drawing/2014/main" val="49532090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824502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10484796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480334277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4114944355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733349724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353025951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2248667379"/>
                        </a:ext>
                      </a:extLst>
                    </a:gridCol>
                    <a:gridCol w="707098">
                      <a:extLst>
                        <a:ext uri="{9D8B030D-6E8A-4147-A177-3AD203B41FA5}">
                          <a16:colId xmlns:a16="http://schemas.microsoft.com/office/drawing/2014/main" val="1990590562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47" t="-2273" r="-888136" b="-10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2427281"/>
                      </a:ext>
                    </a:extLst>
                  </a:tr>
                  <a:tr h="517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47" t="-105882" r="-888136" b="-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</a:rPr>
                            <a:t> 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83668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4553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892EA-E472-8449-9741-61C86C01974C}"/>
              </a:ext>
            </a:extLst>
          </p:cNvPr>
          <p:cNvSpPr txBox="1"/>
          <p:nvPr/>
        </p:nvSpPr>
        <p:spPr>
          <a:xfrm>
            <a:off x="914400" y="31336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of both equations are shown. Write the equation that matches each graph based on the tables of values created in the previous problems.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8F31BB88-EA13-FB47-9925-D974D4EFA6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3716" y="1626330"/>
            <a:ext cx="6664569" cy="471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6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A75672BB-9F07-E247-AF67-F8DDDCED02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1463" y="1280373"/>
            <a:ext cx="6680927" cy="428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10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8.png" descr="Icon&#10;&#10;Description automatically generated">
            <a:extLst>
              <a:ext uri="{FF2B5EF4-FFF2-40B4-BE49-F238E27FC236}">
                <a16:creationId xmlns:a16="http://schemas.microsoft.com/office/drawing/2014/main" id="{E9E1806C-824D-8448-A90C-5DE405175F6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49038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020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10.8.3 Exploration: Equations and Their Graphs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386026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5" indent="-158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Relations between two variables can be represented using equations, tables of values, and graphs.</a:t>
            </a:r>
          </a:p>
          <a:p>
            <a:pPr marL="393700" indent="-3937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of the equations given, work with your partner to create a table of values. Then, plot each ordered pair from the table of values, using them to create a rough sketch of the graph by connecting the points.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127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of the graphs and its corresponding table from the collaboration activity have already been included.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8.png" descr="Icon&#10;&#10;Description automatically generated">
            <a:extLst>
              <a:ext uri="{FF2B5EF4-FFF2-40B4-BE49-F238E27FC236}">
                <a16:creationId xmlns:a16="http://schemas.microsoft.com/office/drawing/2014/main" id="{3604BA8B-601C-9945-9302-7BD7393DA88D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351446"/>
            <a:ext cx="749808" cy="74980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6061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58C9D6BF-4B56-E645-97B6-A58F7288FD9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1127" y="737353"/>
            <a:ext cx="7609746" cy="537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0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1379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BDB368EA-4E2E-BD41-B34D-6104CE718C7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7187" y="745703"/>
            <a:ext cx="7723676" cy="55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55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ED526DC3-4803-6F4A-9D6B-D6597A00D6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7187" y="598076"/>
            <a:ext cx="7723676" cy="56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5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2D6D7BCE-D907-5F40-9EE8-1F01E53B1D8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7187" y="599192"/>
            <a:ext cx="7723676" cy="565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8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7946666-6B0D-004F-8B42-8CF325E4AE8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7188" y="614123"/>
            <a:ext cx="7671563" cy="56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07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757AF3CA-FE29-EF4D-A9B2-CF3F9A2B4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7187" y="544315"/>
            <a:ext cx="7637626" cy="576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73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B2793-1174-C148-A12D-747F3D58EC29}"/>
              </a:ext>
            </a:extLst>
          </p:cNvPr>
          <p:cNvSpPr txBox="1"/>
          <p:nvPr/>
        </p:nvSpPr>
        <p:spPr>
          <a:xfrm>
            <a:off x="914400" y="26307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table below to record your answers to Parts A and B based on the exploration.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BAE4B28-29D1-D54D-A356-FEB80E2D80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9349853"/>
                  </p:ext>
                </p:extLst>
              </p:nvPr>
            </p:nvGraphicFramePr>
            <p:xfrm>
              <a:off x="2504051" y="1458667"/>
              <a:ext cx="7746039" cy="177334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2013">
                      <a:extLst>
                        <a:ext uri="{9D8B030D-6E8A-4147-A177-3AD203B41FA5}">
                          <a16:colId xmlns:a16="http://schemas.microsoft.com/office/drawing/2014/main" val="3611434505"/>
                        </a:ext>
                      </a:extLst>
                    </a:gridCol>
                    <a:gridCol w="2582013">
                      <a:extLst>
                        <a:ext uri="{9D8B030D-6E8A-4147-A177-3AD203B41FA5}">
                          <a16:colId xmlns:a16="http://schemas.microsoft.com/office/drawing/2014/main" val="1451317928"/>
                        </a:ext>
                      </a:extLst>
                    </a:gridCol>
                    <a:gridCol w="2582013">
                      <a:extLst>
                        <a:ext uri="{9D8B030D-6E8A-4147-A177-3AD203B41FA5}">
                          <a16:colId xmlns:a16="http://schemas.microsoft.com/office/drawing/2014/main" val="1132891647"/>
                        </a:ext>
                      </a:extLst>
                    </a:gridCol>
                  </a:tblGrid>
                  <a:tr h="8731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1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3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300">
                                  <a:effectLst/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23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300">
                                  <a:effectLst/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oMath>
                          </a14:m>
                          <a:r>
                            <a:rPr lang="en-US" sz="23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</a:t>
                          </a:r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2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p>
                                  <m:sSupPr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3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p>
                                  <m:sSupPr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0155981"/>
                      </a:ext>
                    </a:extLst>
                  </a:tr>
                  <a:tr h="9001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4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= 4</m:t>
                                </m:r>
                              </m:oMath>
                            </m:oMathPara>
                          </a14:m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5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p>
                                  <m:sSupPr>
                                    <m:ctrlPr>
                                      <a:rPr lang="en-CO" sz="2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6</a:t>
                          </a:r>
                          <a:endParaRPr lang="en-CO" sz="15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= −3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300">
                                    <a:effectLst/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CO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65146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BAE4B28-29D1-D54D-A356-FEB80E2D80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9349853"/>
                  </p:ext>
                </p:extLst>
              </p:nvPr>
            </p:nvGraphicFramePr>
            <p:xfrm>
              <a:off x="2504051" y="1458667"/>
              <a:ext cx="7746039" cy="177334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2013">
                      <a:extLst>
                        <a:ext uri="{9D8B030D-6E8A-4147-A177-3AD203B41FA5}">
                          <a16:colId xmlns:a16="http://schemas.microsoft.com/office/drawing/2014/main" val="3611434505"/>
                        </a:ext>
                      </a:extLst>
                    </a:gridCol>
                    <a:gridCol w="2582013">
                      <a:extLst>
                        <a:ext uri="{9D8B030D-6E8A-4147-A177-3AD203B41FA5}">
                          <a16:colId xmlns:a16="http://schemas.microsoft.com/office/drawing/2014/main" val="1451317928"/>
                        </a:ext>
                      </a:extLst>
                    </a:gridCol>
                    <a:gridCol w="2582013">
                      <a:extLst>
                        <a:ext uri="{9D8B030D-6E8A-4147-A177-3AD203B41FA5}">
                          <a16:colId xmlns:a16="http://schemas.microsoft.com/office/drawing/2014/main" val="1132891647"/>
                        </a:ext>
                      </a:extLst>
                    </a:gridCol>
                  </a:tblGrid>
                  <a:tr h="873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0" t="-10145" r="-200000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85" t="-10145" r="-100985" b="-10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45" r="-490" b="-105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0155981"/>
                      </a:ext>
                    </a:extLst>
                  </a:tr>
                  <a:tr h="900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0" t="-105556" r="-200000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85" t="-105556" r="-100985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218" marR="88218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5556" r="-490" b="-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65146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96DE77-2540-D143-A206-615B7AC21B06}"/>
              </a:ext>
            </a:extLst>
          </p:cNvPr>
          <p:cNvSpPr txBox="1"/>
          <p:nvPr/>
        </p:nvSpPr>
        <p:spPr>
          <a:xfrm>
            <a:off x="914400" y="3680046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Put an asterisk (*) next to each equation that corresponds to a linear graph.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each equation that corresponds to a graph that is NOT linear.</a:t>
            </a:r>
          </a:p>
        </p:txBody>
      </p:sp>
    </p:spTree>
    <p:extLst>
      <p:ext uri="{BB962C8B-B14F-4D97-AF65-F5344CB8AC3E}">
        <p14:creationId xmlns:p14="http://schemas.microsoft.com/office/powerpoint/2010/main" val="4172585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B2793-1174-C148-A12D-747F3D58EC29}"/>
              </a:ext>
            </a:extLst>
          </p:cNvPr>
          <p:cNvSpPr txBox="1"/>
          <p:nvPr/>
        </p:nvSpPr>
        <p:spPr>
          <a:xfrm>
            <a:off x="914400" y="26307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the equations that are linear to those that are not linear.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55A2EC-A4AE-5440-99C3-9ACFC0091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42992"/>
              </p:ext>
            </p:extLst>
          </p:nvPr>
        </p:nvGraphicFramePr>
        <p:xfrm>
          <a:off x="2325811" y="1212610"/>
          <a:ext cx="7888301" cy="2941119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62564">
                  <a:extLst>
                    <a:ext uri="{9D8B030D-6E8A-4147-A177-3AD203B41FA5}">
                      <a16:colId xmlns:a16="http://schemas.microsoft.com/office/drawing/2014/main" val="2028995494"/>
                    </a:ext>
                  </a:extLst>
                </a:gridCol>
                <a:gridCol w="3925737">
                  <a:extLst>
                    <a:ext uri="{9D8B030D-6E8A-4147-A177-3AD203B41FA5}">
                      <a16:colId xmlns:a16="http://schemas.microsoft.com/office/drawing/2014/main" val="3376873560"/>
                    </a:ext>
                  </a:extLst>
                </a:gridCol>
              </a:tblGrid>
              <a:tr h="769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do the equations that are linear have in common?</a:t>
                      </a:r>
                      <a:endParaRPr lang="en-CO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0795" marR="607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do the equations that are NOT linear have in common?</a:t>
                      </a:r>
                      <a:endParaRPr lang="en-CO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0795" marR="6079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007760"/>
                  </a:ext>
                </a:extLst>
              </a:tr>
              <a:tr h="2026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0795" marR="607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0795" marR="607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3856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0BFA3C-1466-CE4D-A1A5-D535607CD4B5}"/>
              </a:ext>
            </a:extLst>
          </p:cNvPr>
          <p:cNvSpPr txBox="1"/>
          <p:nvPr/>
        </p:nvSpPr>
        <p:spPr>
          <a:xfrm>
            <a:off x="914400" y="427226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 conjecture about the types of equations that are not linear.</a:t>
            </a:r>
          </a:p>
        </p:txBody>
      </p:sp>
    </p:spTree>
    <p:extLst>
      <p:ext uri="{BB962C8B-B14F-4D97-AF65-F5344CB8AC3E}">
        <p14:creationId xmlns:p14="http://schemas.microsoft.com/office/powerpoint/2010/main" val="31404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B2793-1174-C148-A12D-747F3D58EC29}"/>
              </a:ext>
            </a:extLst>
          </p:cNvPr>
          <p:cNvSpPr txBox="1"/>
          <p:nvPr/>
        </p:nvSpPr>
        <p:spPr>
          <a:xfrm>
            <a:off x="914400" y="263078"/>
            <a:ext cx="10515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their conjectures. Record their conjectures and write your summary of their reasons. </a:t>
            </a:r>
          </a:p>
          <a:p>
            <a:pPr marL="412750">
              <a:tabLst>
                <a:tab pos="349250" algn="l"/>
              </a:tabLst>
            </a:pP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3BD5A6-7644-CD40-ADFB-5C4A15AFA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138408"/>
              </p:ext>
            </p:extLst>
          </p:nvPr>
        </p:nvGraphicFramePr>
        <p:xfrm>
          <a:off x="1934491" y="2272486"/>
          <a:ext cx="7705500" cy="4385289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889562">
                  <a:extLst>
                    <a:ext uri="{9D8B030D-6E8A-4147-A177-3AD203B41FA5}">
                      <a16:colId xmlns:a16="http://schemas.microsoft.com/office/drawing/2014/main" val="378286324"/>
                    </a:ext>
                  </a:extLst>
                </a:gridCol>
                <a:gridCol w="3531688">
                  <a:extLst>
                    <a:ext uri="{9D8B030D-6E8A-4147-A177-3AD203B41FA5}">
                      <a16:colId xmlns:a16="http://schemas.microsoft.com/office/drawing/2014/main" val="3534600415"/>
                    </a:ext>
                  </a:extLst>
                </a:gridCol>
                <a:gridCol w="1284250">
                  <a:extLst>
                    <a:ext uri="{9D8B030D-6E8A-4147-A177-3AD203B41FA5}">
                      <a16:colId xmlns:a16="http://schemas.microsoft.com/office/drawing/2014/main" val="1598040049"/>
                    </a:ext>
                  </a:extLst>
                </a:gridCol>
              </a:tblGrid>
              <a:tr h="3185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Conjectures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Reasons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11722"/>
                  </a:ext>
                </a:extLst>
              </a:tr>
              <a:tr h="179160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722110"/>
                  </a:ext>
                </a:extLst>
              </a:tr>
              <a:tr h="19840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322" marR="4232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28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812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CA26F36-85FB-6F47-BFE1-9526A3AAF9F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4171"/>
            <a:ext cx="95091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1178056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Eleven equations are shown. Based on your conjecture about the types of equations that are not linear, circle the equations you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predict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will produce a graph that is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line. Use your best judgement. You will have an opportunity to make revisions during the next lesson.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0F832B-343A-0E4F-929A-44276144B2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3662973"/>
                  </p:ext>
                </p:extLst>
              </p:nvPr>
            </p:nvGraphicFramePr>
            <p:xfrm>
              <a:off x="1946159" y="3429000"/>
              <a:ext cx="7861466" cy="2771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20249">
                      <a:extLst>
                        <a:ext uri="{9D8B030D-6E8A-4147-A177-3AD203B41FA5}">
                          <a16:colId xmlns:a16="http://schemas.microsoft.com/office/drawing/2014/main" val="836591464"/>
                        </a:ext>
                      </a:extLst>
                    </a:gridCol>
                    <a:gridCol w="2620249">
                      <a:extLst>
                        <a:ext uri="{9D8B030D-6E8A-4147-A177-3AD203B41FA5}">
                          <a16:colId xmlns:a16="http://schemas.microsoft.com/office/drawing/2014/main" val="200820630"/>
                        </a:ext>
                      </a:extLst>
                    </a:gridCol>
                    <a:gridCol w="2620968">
                      <a:extLst>
                        <a:ext uri="{9D8B030D-6E8A-4147-A177-3AD203B41FA5}">
                          <a16:colId xmlns:a16="http://schemas.microsoft.com/office/drawing/2014/main" val="1174488375"/>
                        </a:ext>
                      </a:extLst>
                    </a:gridCol>
                  </a:tblGrid>
                  <a:tr h="7379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−2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ad>
                                <m:radPr>
                                  <m:degHide m:val="on"/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– 1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</a:rPr>
                            <a:t> 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O" sz="2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</a:rPr>
                            <a:t> 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483242719"/>
                      </a:ext>
                    </a:extLst>
                  </a:tr>
                  <a:tr h="6400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−</m:t>
                                </m:r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= 6 + 3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</a:rPr>
                            <a:t> 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5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3720875"/>
                      </a:ext>
                    </a:extLst>
                  </a:tr>
                  <a:tr h="6970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– 7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</a:rPr>
                            <a:t> 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en-CO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965802"/>
                      </a:ext>
                    </a:extLst>
                  </a:tr>
                  <a:tr h="6966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</a:rPr>
                            <a:t> 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=|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|−5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9173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0F832B-343A-0E4F-929A-44276144B2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3662973"/>
                  </p:ext>
                </p:extLst>
              </p:nvPr>
            </p:nvGraphicFramePr>
            <p:xfrm>
              <a:off x="1946159" y="3429000"/>
              <a:ext cx="7861466" cy="2771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20249">
                      <a:extLst>
                        <a:ext uri="{9D8B030D-6E8A-4147-A177-3AD203B41FA5}">
                          <a16:colId xmlns:a16="http://schemas.microsoft.com/office/drawing/2014/main" val="836591464"/>
                        </a:ext>
                      </a:extLst>
                    </a:gridCol>
                    <a:gridCol w="2620249">
                      <a:extLst>
                        <a:ext uri="{9D8B030D-6E8A-4147-A177-3AD203B41FA5}">
                          <a16:colId xmlns:a16="http://schemas.microsoft.com/office/drawing/2014/main" val="200820630"/>
                        </a:ext>
                      </a:extLst>
                    </a:gridCol>
                    <a:gridCol w="2620968">
                      <a:extLst>
                        <a:ext uri="{9D8B030D-6E8A-4147-A177-3AD203B41FA5}">
                          <a16:colId xmlns:a16="http://schemas.microsoft.com/office/drawing/2014/main" val="1174488375"/>
                        </a:ext>
                      </a:extLst>
                    </a:gridCol>
                  </a:tblGrid>
                  <a:tr h="7379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200000" b="-276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100000" b="-276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b="-276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242719"/>
                      </a:ext>
                    </a:extLst>
                  </a:tr>
                  <a:tr h="6400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14151" r="-200000" b="-2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14151" r="-100000" b="-2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14151" b="-2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720875"/>
                      </a:ext>
                    </a:extLst>
                  </a:tr>
                  <a:tr h="6970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9123" r="-200000" b="-1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99123" r="-100000" b="-1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99123" b="-1008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65802"/>
                      </a:ext>
                    </a:extLst>
                  </a:tr>
                  <a:tr h="696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96522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96522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91737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1075</Words>
  <Application>Microsoft Office PowerPoint</Application>
  <PresentationFormat>Widescreen</PresentationFormat>
  <Paragraphs>222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Verdana</vt:lpstr>
      <vt:lpstr>Century Gothic</vt:lpstr>
      <vt:lpstr>Arial</vt:lpstr>
      <vt:lpstr>Wingdings</vt:lpstr>
      <vt:lpstr>Cambria Math</vt:lpstr>
      <vt:lpstr>Calibri</vt:lpstr>
      <vt:lpstr>Cambria</vt:lpstr>
      <vt:lpstr>Arial Black</vt:lpstr>
      <vt:lpstr>1_Office Theme</vt:lpstr>
      <vt:lpstr>8th Grade Math:  Pre-Algebra  Unit 10, Lesson 8  Exploring  Functions Using Equations, Tables, and Graphs  Volume 2, pg. 157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20</cp:revision>
  <dcterms:created xsi:type="dcterms:W3CDTF">2015-03-17T18:51:18Z</dcterms:created>
  <dcterms:modified xsi:type="dcterms:W3CDTF">2022-07-20T02:09:53Z</dcterms:modified>
</cp:coreProperties>
</file>