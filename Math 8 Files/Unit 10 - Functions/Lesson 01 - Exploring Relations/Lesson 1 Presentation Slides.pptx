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20" r:id="rId8"/>
    <p:sldId id="321" r:id="rId9"/>
    <p:sldId id="324" r:id="rId10"/>
    <p:sldId id="334" r:id="rId11"/>
    <p:sldId id="335" r:id="rId12"/>
    <p:sldId id="336" r:id="rId13"/>
    <p:sldId id="337" r:id="rId14"/>
    <p:sldId id="338" r:id="rId15"/>
    <p:sldId id="339" r:id="rId16"/>
    <p:sldId id="340" r:id="rId17"/>
    <p:sldId id="341" r:id="rId18"/>
    <p:sldId id="342" r:id="rId19"/>
    <p:sldId id="289" r:id="rId20"/>
    <p:sldId id="290" r:id="rId21"/>
    <p:sldId id="306" r:id="rId22"/>
    <p:sldId id="307" r:id="rId23"/>
  </p:sldIdLst>
  <p:sldSz cx="12192000" cy="6858000"/>
  <p:notesSz cx="6858000" cy="9144000"/>
  <p:embeddedFontLst>
    <p:embeddedFont>
      <p:font typeface="Arial Black" panose="020B0A04020102020204" pitchFamily="34" charset="0"/>
      <p:regular r:id="rId25"/>
      <p:bold r:id="rId26"/>
    </p:embeddedFont>
    <p:embeddedFont>
      <p:font typeface="Calibri" panose="020F0502020204030204" pitchFamily="34"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3"/>
    <p:restoredTop sz="94694"/>
  </p:normalViewPr>
  <p:slideViewPr>
    <p:cSldViewPr snapToGrid="0">
      <p:cViewPr varScale="1">
        <p:scale>
          <a:sx n="81" d="100"/>
          <a:sy n="81" d="100"/>
        </p:scale>
        <p:origin x="85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139501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19841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201452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54644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439336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4162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14840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242723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03731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0.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22901" y="205427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Exploring Relations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MA.8.F.1.1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set of ordered pairs, a table, a graph, or mapping diagram, determine whether the relationship is a function. Identify the domain and range of the relation.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576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6576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recognize relations represented in different forms.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2999" y="60325"/>
            <a:ext cx="97347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10.1.1 Warm-Up: Create a Pattern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6576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287C5FEC-A86F-3B40-BDC7-FA3BB8FD6EBF}"/>
                  </a:ext>
                </a:extLst>
              </p:cNvPr>
              <p:cNvSpPr/>
              <p:nvPr/>
            </p:nvSpPr>
            <p:spPr>
              <a:xfrm>
                <a:off x="914400" y="1304642"/>
                <a:ext cx="10515600" cy="120032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Place a digit in each blue box so that the numbers change by the same amount each time. Use only digits </a:t>
                </a:r>
                <a14:m>
                  <m:oMath xmlns:m="http://schemas.openxmlformats.org/officeDocument/2006/math">
                    <m:r>
                      <a:rPr lang="en-US" sz="2400" i="1" dirty="0">
                        <a:latin typeface="Cambria Math" panose="02040503050406030204" pitchFamily="18" charset="0"/>
                        <a:ea typeface="Times New Roman" panose="02020603050405020304" pitchFamily="18" charset="0"/>
                      </a:rPr>
                      <m:t>0</m:t>
                    </m:r>
                  </m:oMath>
                </a14:m>
                <a:r>
                  <a:rPr lang="en-US" sz="2400" dirty="0">
                    <a:latin typeface="Verdana" panose="020B0604030504040204" pitchFamily="34" charset="0"/>
                    <a:ea typeface="Times New Roman" panose="02020603050405020304" pitchFamily="18" charset="0"/>
                  </a:rPr>
                  <a:t> to </a:t>
                </a:r>
                <a14:m>
                  <m:oMath xmlns:m="http://schemas.openxmlformats.org/officeDocument/2006/math">
                    <m:r>
                      <a:rPr lang="en-US" sz="2400" i="1" dirty="0">
                        <a:latin typeface="Cambria Math" panose="02040503050406030204" pitchFamily="18" charset="0"/>
                        <a:ea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rPr>
                  <a:t>, at most one time each. </a:t>
                </a:r>
              </a:p>
            </p:txBody>
          </p:sp>
        </mc:Choice>
        <mc:Fallback>
          <p:sp>
            <p:nvSpPr>
              <p:cNvPr id="3" name="Rectangle 2">
                <a:extLst>
                  <a:ext uri="{FF2B5EF4-FFF2-40B4-BE49-F238E27FC236}">
                    <a16:creationId xmlns:a16="http://schemas.microsoft.com/office/drawing/2014/main" id="{287C5FEC-A86F-3B40-BDC7-FA3BB8FD6EBF}"/>
                  </a:ext>
                </a:extLst>
              </p:cNvPr>
              <p:cNvSpPr>
                <a:spLocks noRot="1" noChangeAspect="1" noMove="1" noResize="1" noEditPoints="1" noAdjustHandles="1" noChangeArrowheads="1" noChangeShapeType="1" noTextEdit="1"/>
              </p:cNvSpPr>
              <p:nvPr/>
            </p:nvSpPr>
            <p:spPr>
              <a:xfrm>
                <a:off x="914400" y="1304642"/>
                <a:ext cx="10515600" cy="1200329"/>
              </a:xfrm>
              <a:prstGeom prst="rect">
                <a:avLst/>
              </a:prstGeom>
              <a:blipFill>
                <a:blip r:embed="rId5"/>
                <a:stretch>
                  <a:fillRect l="-870" t="-4061" r="-1391" b="-1066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9682A30C-786B-0342-ADE3-54FCCA8CFC3C}"/>
              </a:ext>
            </a:extLst>
          </p:cNvPr>
          <p:cNvSpPr>
            <a:spLocks noChangeAspect="1"/>
          </p:cNvSpPr>
          <p:nvPr/>
        </p:nvSpPr>
        <p:spPr>
          <a:xfrm>
            <a:off x="2915921" y="3114992"/>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DF4665B5-29F2-E047-9393-4009FECFB71A}"/>
              </a:ext>
            </a:extLst>
          </p:cNvPr>
          <p:cNvSpPr>
            <a:spLocks noChangeAspect="1"/>
          </p:cNvSpPr>
          <p:nvPr/>
        </p:nvSpPr>
        <p:spPr>
          <a:xfrm>
            <a:off x="3653791" y="310927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D88CD7B8-E9D3-C642-A3AE-C2B2BF8AD5E5}"/>
              </a:ext>
            </a:extLst>
          </p:cNvPr>
          <p:cNvSpPr>
            <a:spLocks noChangeAspect="1"/>
          </p:cNvSpPr>
          <p:nvPr/>
        </p:nvSpPr>
        <p:spPr>
          <a:xfrm>
            <a:off x="4555491" y="310927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id="{8EEC1132-C8D9-E245-B88B-9AAB64C0A5F6}"/>
              </a:ext>
            </a:extLst>
          </p:cNvPr>
          <p:cNvSpPr>
            <a:spLocks noChangeAspect="1"/>
          </p:cNvSpPr>
          <p:nvPr/>
        </p:nvSpPr>
        <p:spPr>
          <a:xfrm>
            <a:off x="5280026" y="310419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93BBAEF8-5504-1542-AD51-987AE19F0012}"/>
              </a:ext>
            </a:extLst>
          </p:cNvPr>
          <p:cNvSpPr>
            <a:spLocks noChangeAspect="1"/>
          </p:cNvSpPr>
          <p:nvPr/>
        </p:nvSpPr>
        <p:spPr>
          <a:xfrm>
            <a:off x="6263006" y="310292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9CB64446-91E1-6243-B28A-A781BCC4B4E8}"/>
              </a:ext>
            </a:extLst>
          </p:cNvPr>
          <p:cNvSpPr>
            <a:spLocks noChangeAspect="1"/>
          </p:cNvSpPr>
          <p:nvPr/>
        </p:nvSpPr>
        <p:spPr>
          <a:xfrm>
            <a:off x="7001511" y="311308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Rectangle 17">
            <a:extLst>
              <a:ext uri="{FF2B5EF4-FFF2-40B4-BE49-F238E27FC236}">
                <a16:creationId xmlns:a16="http://schemas.microsoft.com/office/drawing/2014/main" id="{3B30C8F3-31A9-024B-BA6B-11BD9E05988C}"/>
              </a:ext>
            </a:extLst>
          </p:cNvPr>
          <p:cNvSpPr>
            <a:spLocks noChangeAspect="1"/>
          </p:cNvSpPr>
          <p:nvPr/>
        </p:nvSpPr>
        <p:spPr>
          <a:xfrm>
            <a:off x="7870826" y="3114992"/>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id="{B1413EF8-244E-5349-8FB0-43463747F08A}"/>
              </a:ext>
            </a:extLst>
          </p:cNvPr>
          <p:cNvSpPr>
            <a:spLocks noChangeAspect="1"/>
          </p:cNvSpPr>
          <p:nvPr/>
        </p:nvSpPr>
        <p:spPr>
          <a:xfrm>
            <a:off x="8622666" y="3113087"/>
            <a:ext cx="653415" cy="64008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id="{4313802C-8F54-DA49-B365-AB272FB01746}"/>
              </a:ext>
            </a:extLst>
          </p:cNvPr>
          <p:cNvSpPr/>
          <p:nvPr/>
        </p:nvSpPr>
        <p:spPr>
          <a:xfrm>
            <a:off x="4281271" y="3422967"/>
            <a:ext cx="5870182" cy="400110"/>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rPr>
              <a:t>,                 ,                   ,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pic>
        <p:nvPicPr>
          <p:cNvPr id="7" name="image8.png" descr="Icon&#10;&#10;Description automatically generated">
            <a:extLst>
              <a:ext uri="{FF2B5EF4-FFF2-40B4-BE49-F238E27FC236}">
                <a16:creationId xmlns:a16="http://schemas.microsoft.com/office/drawing/2014/main" id="{CAE57986-3845-8C45-9489-5897B84B7DC6}"/>
              </a:ext>
            </a:extLst>
          </p:cNvPr>
          <p:cNvPicPr/>
          <p:nvPr/>
        </p:nvPicPr>
        <p:blipFill>
          <a:blip r:embed="rId4"/>
          <a:srcRect/>
          <a:stretch>
            <a:fillRect/>
          </a:stretch>
        </p:blipFill>
        <p:spPr>
          <a:xfrm>
            <a:off x="3054096" y="2885562"/>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10.1.2 Exploration: Representing Mathematical Rules and Relations</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1386026"/>
            <a:ext cx="10515600" cy="830997"/>
          </a:xfrm>
          <a:prstGeom prst="rect">
            <a:avLst/>
          </a:prstGeom>
          <a:noFill/>
        </p:spPr>
        <p:txBody>
          <a:bodyPr wrap="square" rtlCol="0">
            <a:spAutoFit/>
          </a:bodyPr>
          <a:lstStyle/>
          <a:p>
            <a:pPr marL="15875" indent="-15875"/>
            <a:r>
              <a:rPr lang="en-US" sz="2400" dirty="0">
                <a:latin typeface="Verdana" panose="020B0604030504040204" pitchFamily="34" charset="0"/>
                <a:ea typeface="Verdana" panose="020B0604030504040204" pitchFamily="34" charset="0"/>
                <a:cs typeface="Verdana" panose="020B0604030504040204" pitchFamily="34" charset="0"/>
              </a:rPr>
              <a:t>An input-output rule is a rule that takes an input value and uses it to determine an output value.</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pic>
        <p:nvPicPr>
          <p:cNvPr id="12" name="image8.png" descr="Icon&#10;&#10;Description automatically generated">
            <a:extLst>
              <a:ext uri="{FF2B5EF4-FFF2-40B4-BE49-F238E27FC236}">
                <a16:creationId xmlns:a16="http://schemas.microsoft.com/office/drawing/2014/main" id="{CF2190FD-9964-3A4C-82C8-B8F04362168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348271"/>
            <a:ext cx="749808" cy="749808"/>
          </a:xfrm>
          <a:prstGeom prst="rect">
            <a:avLst/>
          </a:prstGeom>
          <a:ln/>
        </p:spPr>
      </p:pic>
      <p:grpSp>
        <p:nvGrpSpPr>
          <p:cNvPr id="13" name="Group 12">
            <a:extLst>
              <a:ext uri="{FF2B5EF4-FFF2-40B4-BE49-F238E27FC236}">
                <a16:creationId xmlns:a16="http://schemas.microsoft.com/office/drawing/2014/main" id="{5F8604E8-A3C0-D84F-87A8-B28DDE02EC9C}"/>
              </a:ext>
            </a:extLst>
          </p:cNvPr>
          <p:cNvGrpSpPr>
            <a:grpSpLocks noChangeAspect="1"/>
          </p:cNvGrpSpPr>
          <p:nvPr/>
        </p:nvGrpSpPr>
        <p:grpSpPr>
          <a:xfrm>
            <a:off x="4319906" y="2457001"/>
            <a:ext cx="3552189" cy="640080"/>
            <a:chOff x="0" y="0"/>
            <a:chExt cx="3725450" cy="671208"/>
          </a:xfrm>
        </p:grpSpPr>
        <p:sp>
          <p:nvSpPr>
            <p:cNvPr id="14" name="Rectangle 13">
              <a:extLst>
                <a:ext uri="{FF2B5EF4-FFF2-40B4-BE49-F238E27FC236}">
                  <a16:creationId xmlns:a16="http://schemas.microsoft.com/office/drawing/2014/main" id="{F1B265F5-CFF6-7F4B-87EF-D4F819EE08F8}"/>
                </a:ext>
              </a:extLst>
            </p:cNvPr>
            <p:cNvSpPr/>
            <p:nvPr/>
          </p:nvSpPr>
          <p:spPr>
            <a:xfrm>
              <a:off x="1284051" y="0"/>
              <a:ext cx="1011676" cy="671208"/>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800" dirty="0">
                  <a:solidFill>
                    <a:srgbClr val="000000"/>
                  </a:solidFill>
                  <a:latin typeface="Verdana" panose="020B0604030504040204" pitchFamily="34" charset="0"/>
                  <a:ea typeface="Times New Roman" panose="02020603050405020304" pitchFamily="18" charset="0"/>
                </a:rPr>
                <a:t>rule</a:t>
              </a:r>
              <a:endParaRPr lang="en-CO" sz="1200" dirty="0">
                <a:latin typeface="Times New Roman" panose="02020603050405020304" pitchFamily="18" charset="0"/>
                <a:ea typeface="Times New Roman" panose="02020603050405020304" pitchFamily="18" charset="0"/>
              </a:endParaRPr>
            </a:p>
          </p:txBody>
        </p:sp>
        <p:sp>
          <p:nvSpPr>
            <p:cNvPr id="15" name="Right Arrow 14">
              <a:extLst>
                <a:ext uri="{FF2B5EF4-FFF2-40B4-BE49-F238E27FC236}">
                  <a16:creationId xmlns:a16="http://schemas.microsoft.com/office/drawing/2014/main" id="{7FFF13A4-7B35-C445-B96E-3EF5CE839AA2}"/>
                </a:ext>
              </a:extLst>
            </p:cNvPr>
            <p:cNvSpPr/>
            <p:nvPr/>
          </p:nvSpPr>
          <p:spPr>
            <a:xfrm>
              <a:off x="2354093" y="226709"/>
              <a:ext cx="359410" cy="2139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ight Arrow 15">
              <a:extLst>
                <a:ext uri="{FF2B5EF4-FFF2-40B4-BE49-F238E27FC236}">
                  <a16:creationId xmlns:a16="http://schemas.microsoft.com/office/drawing/2014/main" id="{C3E65798-EB9B-714E-A8D6-B4A7C743FAAF}"/>
                </a:ext>
              </a:extLst>
            </p:cNvPr>
            <p:cNvSpPr/>
            <p:nvPr/>
          </p:nvSpPr>
          <p:spPr>
            <a:xfrm>
              <a:off x="865761" y="226709"/>
              <a:ext cx="359923" cy="2140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63974109-F88E-694B-8BD9-CA3FA0E191EC}"/>
                </a:ext>
              </a:extLst>
            </p:cNvPr>
            <p:cNvSpPr/>
            <p:nvPr/>
          </p:nvSpPr>
          <p:spPr>
            <a:xfrm>
              <a:off x="0" y="107005"/>
              <a:ext cx="942975"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800" dirty="0">
                  <a:solidFill>
                    <a:srgbClr val="000000"/>
                  </a:solidFill>
                  <a:latin typeface="Verdana" panose="020B0604030504040204" pitchFamily="34" charset="0"/>
                  <a:ea typeface="Times New Roman" panose="02020603050405020304" pitchFamily="18" charset="0"/>
                </a:rPr>
                <a:t>input</a:t>
              </a:r>
              <a:endParaRPr lang="en-CO" sz="1200" dirty="0">
                <a:latin typeface="Times New Roman" panose="02020603050405020304" pitchFamily="18" charset="0"/>
                <a:ea typeface="Times New Roman" panose="02020603050405020304" pitchFamily="18" charset="0"/>
              </a:endParaRPr>
            </a:p>
          </p:txBody>
        </p:sp>
        <p:sp>
          <p:nvSpPr>
            <p:cNvPr id="18" name="Rectangle 17">
              <a:extLst>
                <a:ext uri="{FF2B5EF4-FFF2-40B4-BE49-F238E27FC236}">
                  <a16:creationId xmlns:a16="http://schemas.microsoft.com/office/drawing/2014/main" id="{38204DD1-CB71-5C49-B6A9-030D10038A71}"/>
                </a:ext>
              </a:extLst>
            </p:cNvPr>
            <p:cNvSpPr/>
            <p:nvPr/>
          </p:nvSpPr>
          <p:spPr>
            <a:xfrm>
              <a:off x="2616740" y="107005"/>
              <a:ext cx="110871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800">
                  <a:solidFill>
                    <a:srgbClr val="000000"/>
                  </a:solidFill>
                  <a:latin typeface="Verdana" panose="020B0604030504040204" pitchFamily="34" charset="0"/>
                  <a:ea typeface="Times New Roman" panose="02020603050405020304" pitchFamily="18" charset="0"/>
                </a:rPr>
                <a:t>output</a:t>
              </a:r>
              <a:endParaRPr lang="en-CO" sz="1200">
                <a:latin typeface="Times New Roman" panose="02020603050405020304" pitchFamily="18" charset="0"/>
                <a:ea typeface="Times New Roman" panose="02020603050405020304" pitchFamily="18" charset="0"/>
              </a:endParaRPr>
            </a:p>
          </p:txBody>
        </p:sp>
      </p:grpSp>
      <p:sp>
        <p:nvSpPr>
          <p:cNvPr id="19" name="TextBox 18">
            <a:extLst>
              <a:ext uri="{FF2B5EF4-FFF2-40B4-BE49-F238E27FC236}">
                <a16:creationId xmlns:a16="http://schemas.microsoft.com/office/drawing/2014/main" id="{8D46F330-B721-9940-9745-DC0BB413DAE5}"/>
              </a:ext>
            </a:extLst>
          </p:cNvPr>
          <p:cNvSpPr txBox="1"/>
          <p:nvPr/>
        </p:nvSpPr>
        <p:spPr>
          <a:xfrm>
            <a:off x="914400" y="3312797"/>
            <a:ext cx="10515600" cy="1200329"/>
          </a:xfrm>
          <a:prstGeom prst="rect">
            <a:avLst/>
          </a:prstGeom>
          <a:noFill/>
        </p:spPr>
        <p:txBody>
          <a:bodyPr wrap="square" rtlCol="0">
            <a:spAutoFit/>
          </a:bodyPr>
          <a:lstStyle/>
          <a:p>
            <a:pPr marL="15875" indent="-15875"/>
            <a:r>
              <a:rPr lang="en-US" sz="2400" dirty="0">
                <a:latin typeface="Verdana" panose="020B0604030504040204" pitchFamily="34" charset="0"/>
                <a:ea typeface="Verdana" panose="020B0604030504040204" pitchFamily="34" charset="0"/>
                <a:cs typeface="Verdana" panose="020B0604030504040204" pitchFamily="34" charset="0"/>
              </a:rPr>
              <a:t>For example, in the table shown, a rule was used to get each output value from its corresponding input value.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CACB8F6-0A14-294B-9D24-A145EDED7A7F}"/>
                  </a:ext>
                </a:extLst>
              </p:cNvPr>
              <p:cNvGraphicFramePr>
                <a:graphicFrameLocks noGrp="1"/>
              </p:cNvGraphicFramePr>
              <p:nvPr>
                <p:extLst>
                  <p:ext uri="{D42A27DB-BD31-4B8C-83A1-F6EECF244321}">
                    <p14:modId xmlns:p14="http://schemas.microsoft.com/office/powerpoint/2010/main" val="4227287524"/>
                  </p:ext>
                </p:extLst>
              </p:nvPr>
            </p:nvGraphicFramePr>
            <p:xfrm>
              <a:off x="3130550" y="4864250"/>
              <a:ext cx="5930900" cy="1193165"/>
            </p:xfrm>
            <a:graphic>
              <a:graphicData uri="http://schemas.openxmlformats.org/drawingml/2006/table">
                <a:tbl>
                  <a:tblPr firstRow="1" firstCol="1" bandRow="1">
                    <a:tableStyleId>{A91F0D33-8C57-4600-99A7-42BC86742BE1}</a:tableStyleId>
                  </a:tblPr>
                  <a:tblGrid>
                    <a:gridCol w="1371600">
                      <a:extLst>
                        <a:ext uri="{9D8B030D-6E8A-4147-A177-3AD203B41FA5}">
                          <a16:colId xmlns:a16="http://schemas.microsoft.com/office/drawing/2014/main" val="642513079"/>
                        </a:ext>
                      </a:extLst>
                    </a:gridCol>
                    <a:gridCol w="1017270">
                      <a:extLst>
                        <a:ext uri="{9D8B030D-6E8A-4147-A177-3AD203B41FA5}">
                          <a16:colId xmlns:a16="http://schemas.microsoft.com/office/drawing/2014/main" val="3556533598"/>
                        </a:ext>
                      </a:extLst>
                    </a:gridCol>
                    <a:gridCol w="897255">
                      <a:extLst>
                        <a:ext uri="{9D8B030D-6E8A-4147-A177-3AD203B41FA5}">
                          <a16:colId xmlns:a16="http://schemas.microsoft.com/office/drawing/2014/main" val="778819146"/>
                        </a:ext>
                      </a:extLst>
                    </a:gridCol>
                    <a:gridCol w="867410">
                      <a:extLst>
                        <a:ext uri="{9D8B030D-6E8A-4147-A177-3AD203B41FA5}">
                          <a16:colId xmlns:a16="http://schemas.microsoft.com/office/drawing/2014/main" val="3526779962"/>
                        </a:ext>
                      </a:extLst>
                    </a:gridCol>
                    <a:gridCol w="892175">
                      <a:extLst>
                        <a:ext uri="{9D8B030D-6E8A-4147-A177-3AD203B41FA5}">
                          <a16:colId xmlns:a16="http://schemas.microsoft.com/office/drawing/2014/main" val="1681725581"/>
                        </a:ext>
                      </a:extLst>
                    </a:gridCol>
                    <a:gridCol w="885190">
                      <a:extLst>
                        <a:ext uri="{9D8B030D-6E8A-4147-A177-3AD203B41FA5}">
                          <a16:colId xmlns:a16="http://schemas.microsoft.com/office/drawing/2014/main" val="2715860272"/>
                        </a:ext>
                      </a:extLst>
                    </a:gridCol>
                  </a:tblGrid>
                  <a:tr h="63373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Input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m:t>
                                </m:r>
                                <m:f>
                                  <m:fPr>
                                    <m:ctrlPr>
                                      <a:rPr lang="en-CO"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3</m:t>
                                    </m:r>
                                  </m:den>
                                </m:f>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2.5</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058115"/>
                      </a:ext>
                    </a:extLst>
                  </a:tr>
                  <a:tr h="5594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Output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−15</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7.5</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18</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261113"/>
                      </a:ext>
                    </a:extLst>
                  </a:tr>
                </a:tbl>
              </a:graphicData>
            </a:graphic>
          </p:graphicFrame>
        </mc:Choice>
        <mc:Fallback xmlns="">
          <p:graphicFrame>
            <p:nvGraphicFramePr>
              <p:cNvPr id="2" name="Table 1">
                <a:extLst>
                  <a:ext uri="{FF2B5EF4-FFF2-40B4-BE49-F238E27FC236}">
                    <a16:creationId xmlns:a16="http://schemas.microsoft.com/office/drawing/2014/main" id="{FCACB8F6-0A14-294B-9D24-A145EDED7A7F}"/>
                  </a:ext>
                </a:extLst>
              </p:cNvPr>
              <p:cNvGraphicFramePr>
                <a:graphicFrameLocks noGrp="1"/>
              </p:cNvGraphicFramePr>
              <p:nvPr>
                <p:extLst>
                  <p:ext uri="{D42A27DB-BD31-4B8C-83A1-F6EECF244321}">
                    <p14:modId xmlns:p14="http://schemas.microsoft.com/office/powerpoint/2010/main" val="4227287524"/>
                  </p:ext>
                </p:extLst>
              </p:nvPr>
            </p:nvGraphicFramePr>
            <p:xfrm>
              <a:off x="3130550" y="4864250"/>
              <a:ext cx="5930900" cy="1193165"/>
            </p:xfrm>
            <a:graphic>
              <a:graphicData uri="http://schemas.openxmlformats.org/drawingml/2006/table">
                <a:tbl>
                  <a:tblPr firstRow="1" firstCol="1" bandRow="1">
                    <a:tableStyleId>{A91F0D33-8C57-4600-99A7-42BC86742BE1}</a:tableStyleId>
                  </a:tblPr>
                  <a:tblGrid>
                    <a:gridCol w="1371600">
                      <a:extLst>
                        <a:ext uri="{9D8B030D-6E8A-4147-A177-3AD203B41FA5}">
                          <a16:colId xmlns:a16="http://schemas.microsoft.com/office/drawing/2014/main" val="642513079"/>
                        </a:ext>
                      </a:extLst>
                    </a:gridCol>
                    <a:gridCol w="1017270">
                      <a:extLst>
                        <a:ext uri="{9D8B030D-6E8A-4147-A177-3AD203B41FA5}">
                          <a16:colId xmlns:a16="http://schemas.microsoft.com/office/drawing/2014/main" val="3556533598"/>
                        </a:ext>
                      </a:extLst>
                    </a:gridCol>
                    <a:gridCol w="897255">
                      <a:extLst>
                        <a:ext uri="{9D8B030D-6E8A-4147-A177-3AD203B41FA5}">
                          <a16:colId xmlns:a16="http://schemas.microsoft.com/office/drawing/2014/main" val="778819146"/>
                        </a:ext>
                      </a:extLst>
                    </a:gridCol>
                    <a:gridCol w="867410">
                      <a:extLst>
                        <a:ext uri="{9D8B030D-6E8A-4147-A177-3AD203B41FA5}">
                          <a16:colId xmlns:a16="http://schemas.microsoft.com/office/drawing/2014/main" val="3526779962"/>
                        </a:ext>
                      </a:extLst>
                    </a:gridCol>
                    <a:gridCol w="892175">
                      <a:extLst>
                        <a:ext uri="{9D8B030D-6E8A-4147-A177-3AD203B41FA5}">
                          <a16:colId xmlns:a16="http://schemas.microsoft.com/office/drawing/2014/main" val="1681725581"/>
                        </a:ext>
                      </a:extLst>
                    </a:gridCol>
                    <a:gridCol w="885190">
                      <a:extLst>
                        <a:ext uri="{9D8B030D-6E8A-4147-A177-3AD203B41FA5}">
                          <a16:colId xmlns:a16="http://schemas.microsoft.com/office/drawing/2014/main" val="2715860272"/>
                        </a:ext>
                      </a:extLst>
                    </a:gridCol>
                  </a:tblGrid>
                  <a:tr h="63373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Input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4568" t="-2000" r="-345679" b="-9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1429" t="-2000" r="-300000" b="-9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6812" t="-2000" r="-204348" b="-9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0000" t="-2000" r="-101429" b="-9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70000" t="-2000" r="-1429" b="-92000"/>
                          </a:stretch>
                        </a:blipFill>
                      </a:tcPr>
                    </a:tc>
                    <a:extLst>
                      <a:ext uri="{0D108BD9-81ED-4DB2-BD59-A6C34878D82A}">
                        <a16:rowId xmlns:a16="http://schemas.microsoft.com/office/drawing/2014/main" val="2927058115"/>
                      </a:ext>
                    </a:extLst>
                  </a:tr>
                  <a:tr h="5594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Output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4568" t="-115909" r="-345679" b="-454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1429" t="-115909" r="-300000" b="-454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6812" t="-115909" r="-204348" b="-454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0000" t="-115909" r="-101429" b="-454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70000" t="-115909" r="-1429" b="-4545"/>
                          </a:stretch>
                        </a:blipFill>
                      </a:tcPr>
                    </a:tc>
                    <a:extLst>
                      <a:ext uri="{0D108BD9-81ED-4DB2-BD59-A6C34878D82A}">
                        <a16:rowId xmlns:a16="http://schemas.microsoft.com/office/drawing/2014/main" val="3985261113"/>
                      </a:ext>
                    </a:extLst>
                  </a:tr>
                </a:tbl>
              </a:graphicData>
            </a:graphic>
          </p:graphicFrame>
        </mc:Fallback>
      </mc:AlternateContent>
    </p:spTree>
    <p:extLst>
      <p:ext uri="{BB962C8B-B14F-4D97-AF65-F5344CB8AC3E}">
        <p14:creationId xmlns:p14="http://schemas.microsoft.com/office/powerpoint/2010/main" val="384035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308339"/>
            <a:ext cx="10515600" cy="283378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determine the rule for the previous table. Then, complete the statement to describe the rule.</a:t>
            </a:r>
          </a:p>
          <a:p>
            <a:pPr marL="463550" indent="-15875">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Each               value is the result of taking the		      and </a:t>
            </a:r>
          </a:p>
        </p:txBody>
      </p:sp>
      <p:pic>
        <p:nvPicPr>
          <p:cNvPr id="4" name="Picture 3" descr="A picture containing shape&#10;&#10;Description automatically generated">
            <a:extLst>
              <a:ext uri="{FF2B5EF4-FFF2-40B4-BE49-F238E27FC236}">
                <a16:creationId xmlns:a16="http://schemas.microsoft.com/office/drawing/2014/main" id="{58812835-7AE5-6249-BD2E-E95AAAF57E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51439" y="1338822"/>
            <a:ext cx="1473918" cy="951593"/>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36A1E726-DB38-EC4E-B350-7065149CE34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732135" y="1333605"/>
            <a:ext cx="1473918" cy="951593"/>
          </a:xfrm>
          <a:prstGeom prst="rect">
            <a:avLst/>
          </a:prstGeom>
        </p:spPr>
      </p:pic>
      <p:pic>
        <p:nvPicPr>
          <p:cNvPr id="7" name="Picture 6" descr="Text&#10;&#10;Description automatically generated">
            <a:extLst>
              <a:ext uri="{FF2B5EF4-FFF2-40B4-BE49-F238E27FC236}">
                <a16:creationId xmlns:a16="http://schemas.microsoft.com/office/drawing/2014/main" id="{D594ADF6-91CA-0249-813F-4B53378C6B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64145" y="2288195"/>
            <a:ext cx="3913604" cy="1707865"/>
          </a:xfrm>
          <a:prstGeom prst="rect">
            <a:avLst/>
          </a:prstGeom>
        </p:spPr>
      </p:pic>
    </p:spTree>
    <p:extLst>
      <p:ext uri="{BB962C8B-B14F-4D97-AF65-F5344CB8AC3E}">
        <p14:creationId xmlns:p14="http://schemas.microsoft.com/office/powerpoint/2010/main" val="811292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161381"/>
            <a:ext cx="10515600"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input-output table for each of the following rules. The first row has been completed as an example.</a:t>
            </a:r>
          </a:p>
        </p:txBody>
      </p:sp>
      <p:graphicFrame>
        <p:nvGraphicFramePr>
          <p:cNvPr id="18" name="Table 17">
            <a:extLst>
              <a:ext uri="{FF2B5EF4-FFF2-40B4-BE49-F238E27FC236}">
                <a16:creationId xmlns:a16="http://schemas.microsoft.com/office/drawing/2014/main" id="{E2ADAF85-6E91-DF47-8A3B-2F5603A3EB42}"/>
              </a:ext>
            </a:extLst>
          </p:cNvPr>
          <p:cNvGraphicFramePr>
            <a:graphicFrameLocks noGrp="1"/>
          </p:cNvGraphicFramePr>
          <p:nvPr>
            <p:extLst>
              <p:ext uri="{D42A27DB-BD31-4B8C-83A1-F6EECF244321}">
                <p14:modId xmlns:p14="http://schemas.microsoft.com/office/powerpoint/2010/main" val="3417662749"/>
              </p:ext>
            </p:extLst>
          </p:nvPr>
        </p:nvGraphicFramePr>
        <p:xfrm>
          <a:off x="2229176" y="1618785"/>
          <a:ext cx="7984672" cy="4838020"/>
        </p:xfrm>
        <a:graphic>
          <a:graphicData uri="http://schemas.openxmlformats.org/drawingml/2006/table">
            <a:tbl>
              <a:tblPr firstRow="1" firstCol="1" bandRow="1">
                <a:tableStyleId>{A91F0D33-8C57-4600-99A7-42BC86742BE1}</a:tableStyleId>
              </a:tblPr>
              <a:tblGrid>
                <a:gridCol w="3820886">
                  <a:extLst>
                    <a:ext uri="{9D8B030D-6E8A-4147-A177-3AD203B41FA5}">
                      <a16:colId xmlns:a16="http://schemas.microsoft.com/office/drawing/2014/main" val="1944902157"/>
                    </a:ext>
                  </a:extLst>
                </a:gridCol>
                <a:gridCol w="4163786">
                  <a:extLst>
                    <a:ext uri="{9D8B030D-6E8A-4147-A177-3AD203B41FA5}">
                      <a16:colId xmlns:a16="http://schemas.microsoft.com/office/drawing/2014/main" val="3162290295"/>
                    </a:ext>
                  </a:extLst>
                </a:gridCol>
              </a:tblGrid>
              <a:tr h="299619">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Rule</a:t>
                      </a:r>
                      <a:endParaRPr lang="en-CO" sz="900" b="1" dirty="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Table of Values</a:t>
                      </a:r>
                      <a:endParaRPr lang="en-CO" sz="900" b="1" dirty="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80380830"/>
                  </a:ext>
                </a:extLst>
              </a:tr>
              <a:tr h="229541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076876"/>
                  </a:ext>
                </a:extLst>
              </a:tr>
              <a:tr h="2242984">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0422" marR="404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9634416"/>
                  </a:ext>
                </a:extLst>
              </a:tr>
            </a:tbl>
          </a:graphicData>
        </a:graphic>
      </p:graphicFrame>
      <p:grpSp>
        <p:nvGrpSpPr>
          <p:cNvPr id="21" name="Group 20">
            <a:extLst>
              <a:ext uri="{FF2B5EF4-FFF2-40B4-BE49-F238E27FC236}">
                <a16:creationId xmlns:a16="http://schemas.microsoft.com/office/drawing/2014/main" id="{859D2C93-93DC-BA4B-BE70-01067B4E5A7F}"/>
              </a:ext>
            </a:extLst>
          </p:cNvPr>
          <p:cNvGrpSpPr/>
          <p:nvPr/>
        </p:nvGrpSpPr>
        <p:grpSpPr>
          <a:xfrm>
            <a:off x="2335258" y="2460011"/>
            <a:ext cx="3760742" cy="1217567"/>
            <a:chOff x="178420" y="-189574"/>
            <a:chExt cx="4247683" cy="1092561"/>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62169E0-50A8-1748-A3FB-712ED43CC97C}"/>
                    </a:ext>
                  </a:extLst>
                </p:cNvPr>
                <p:cNvSpPr/>
                <p:nvPr/>
              </p:nvSpPr>
              <p:spPr>
                <a:xfrm>
                  <a:off x="1286759" y="-189574"/>
                  <a:ext cx="1660204" cy="1092561"/>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dirty="0">
                      <a:solidFill>
                        <a:srgbClr val="000000"/>
                      </a:solidFill>
                      <a:latin typeface="Verdana" panose="020B0604030504040204" pitchFamily="34" charset="0"/>
                      <a:ea typeface="Times New Roman" panose="02020603050405020304" pitchFamily="18" charset="0"/>
                    </a:rPr>
                    <a:t>add </a:t>
                  </a:r>
                  <a14:m>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1</m:t>
                      </m:r>
                    </m:oMath>
                  </a14:m>
                  <a:r>
                    <a:rPr lang="en-US" dirty="0">
                      <a:solidFill>
                        <a:srgbClr val="000000"/>
                      </a:solidFill>
                      <a:latin typeface="Verdana" panose="020B0604030504040204" pitchFamily="34" charset="0"/>
                      <a:ea typeface="Times New Roman" panose="02020603050405020304" pitchFamily="18" charset="0"/>
                    </a:rPr>
                    <a:t>, then multiply </a:t>
                  </a:r>
                  <a:endParaRPr lang="en-CO" sz="1050" dirty="0">
                    <a:latin typeface="Times New Roman" panose="02020603050405020304" pitchFamily="18" charset="0"/>
                    <a:ea typeface="Times New Roman" panose="02020603050405020304" pitchFamily="18" charset="0"/>
                  </a:endParaRPr>
                </a:p>
                <a:p>
                  <a:pPr algn="ctr"/>
                  <a:r>
                    <a:rPr lang="en-US" dirty="0">
                      <a:solidFill>
                        <a:srgbClr val="000000"/>
                      </a:solidFill>
                      <a:latin typeface="Verdana" panose="020B0604030504040204" pitchFamily="34" charset="0"/>
                      <a:ea typeface="Times New Roman" panose="02020603050405020304" pitchFamily="18" charset="0"/>
                    </a:rPr>
                    <a:t>by </a:t>
                  </a:r>
                  <a14:m>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4</m:t>
                      </m:r>
                    </m:oMath>
                  </a14:m>
                  <a:endParaRPr lang="en-CO" sz="1050" dirty="0">
                    <a:latin typeface="Times New Roman" panose="02020603050405020304" pitchFamily="18" charset="0"/>
                    <a:ea typeface="Times New Roman" panose="02020603050405020304" pitchFamily="18" charset="0"/>
                  </a:endParaRPr>
                </a:p>
              </p:txBody>
            </p:sp>
          </mc:Choice>
          <mc:Fallback xmlns="">
            <p:sp>
              <p:nvSpPr>
                <p:cNvPr id="22" name="Rectangle 21">
                  <a:extLst>
                    <a:ext uri="{FF2B5EF4-FFF2-40B4-BE49-F238E27FC236}">
                      <a16:creationId xmlns:a16="http://schemas.microsoft.com/office/drawing/2014/main" id="{A62169E0-50A8-1748-A3FB-712ED43CC97C}"/>
                    </a:ext>
                  </a:extLst>
                </p:cNvPr>
                <p:cNvSpPr>
                  <a:spLocks noRot="1" noChangeAspect="1" noMove="1" noResize="1" noEditPoints="1" noAdjustHandles="1" noChangeArrowheads="1" noChangeShapeType="1" noTextEdit="1"/>
                </p:cNvSpPr>
                <p:nvPr/>
              </p:nvSpPr>
              <p:spPr>
                <a:xfrm>
                  <a:off x="1286759" y="-189574"/>
                  <a:ext cx="1660204" cy="1092561"/>
                </a:xfrm>
                <a:prstGeom prst="rect">
                  <a:avLst/>
                </a:prstGeom>
                <a:blipFill>
                  <a:blip r:embed="rId4"/>
                  <a:stretch>
                    <a:fillRect/>
                  </a:stretch>
                </a:blipFill>
                <a:ln>
                  <a:solidFill>
                    <a:schemeClr val="tx1"/>
                  </a:solidFill>
                </a:ln>
                <a:effectLst/>
              </p:spPr>
              <p:txBody>
                <a:bodyPr/>
                <a:lstStyle/>
                <a:p>
                  <a:r>
                    <a:rPr lang="en-CO">
                      <a:noFill/>
                    </a:rPr>
                    <a:t> </a:t>
                  </a:r>
                </a:p>
              </p:txBody>
            </p:sp>
          </mc:Fallback>
        </mc:AlternateContent>
        <p:sp>
          <p:nvSpPr>
            <p:cNvPr id="23" name="Right Arrow 22">
              <a:extLst>
                <a:ext uri="{FF2B5EF4-FFF2-40B4-BE49-F238E27FC236}">
                  <a16:creationId xmlns:a16="http://schemas.microsoft.com/office/drawing/2014/main" id="{B216FB43-B594-E046-B244-79552BD825F3}"/>
                </a:ext>
              </a:extLst>
            </p:cNvPr>
            <p:cNvSpPr/>
            <p:nvPr/>
          </p:nvSpPr>
          <p:spPr>
            <a:xfrm>
              <a:off x="3016754" y="226708"/>
              <a:ext cx="359923" cy="2140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p:sp>
          <p:nvSpPr>
            <p:cNvPr id="24" name="Right Arrow 23">
              <a:extLst>
                <a:ext uri="{FF2B5EF4-FFF2-40B4-BE49-F238E27FC236}">
                  <a16:creationId xmlns:a16="http://schemas.microsoft.com/office/drawing/2014/main" id="{C4E83A16-349D-9B4B-A431-CA9809BA5F18}"/>
                </a:ext>
              </a:extLst>
            </p:cNvPr>
            <p:cNvSpPr/>
            <p:nvPr/>
          </p:nvSpPr>
          <p:spPr>
            <a:xfrm>
              <a:off x="865762" y="226708"/>
              <a:ext cx="359923" cy="2140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p:sp>
          <p:nvSpPr>
            <p:cNvPr id="25" name="Rectangle 24">
              <a:extLst>
                <a:ext uri="{FF2B5EF4-FFF2-40B4-BE49-F238E27FC236}">
                  <a16:creationId xmlns:a16="http://schemas.microsoft.com/office/drawing/2014/main" id="{4F6BD470-CED6-0041-A86F-497C8BD08CF7}"/>
                </a:ext>
              </a:extLst>
            </p:cNvPr>
            <p:cNvSpPr/>
            <p:nvPr/>
          </p:nvSpPr>
          <p:spPr>
            <a:xfrm>
              <a:off x="178420" y="107002"/>
              <a:ext cx="764449" cy="41783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000000"/>
                  </a:solidFill>
                  <a:latin typeface="Verdana" panose="020B0604030504040204" pitchFamily="34" charset="0"/>
                  <a:ea typeface="Times New Roman" panose="02020603050405020304" pitchFamily="18" charset="0"/>
                </a:rPr>
                <a:t>input</a:t>
              </a:r>
              <a:endParaRPr lang="en-CO" sz="1050">
                <a:latin typeface="Times New Roman" panose="02020603050405020304" pitchFamily="18" charset="0"/>
                <a:ea typeface="Times New Roman" panose="02020603050405020304" pitchFamily="18" charset="0"/>
              </a:endParaRPr>
            </a:p>
          </p:txBody>
        </p:sp>
        <p:sp>
          <p:nvSpPr>
            <p:cNvPr id="26" name="Rectangle 25">
              <a:extLst>
                <a:ext uri="{FF2B5EF4-FFF2-40B4-BE49-F238E27FC236}">
                  <a16:creationId xmlns:a16="http://schemas.microsoft.com/office/drawing/2014/main" id="{4BD38FCE-3352-4C4E-B2F2-9BFEA9142B42}"/>
                </a:ext>
              </a:extLst>
            </p:cNvPr>
            <p:cNvSpPr/>
            <p:nvPr/>
          </p:nvSpPr>
          <p:spPr>
            <a:xfrm>
              <a:off x="3317393" y="129307"/>
              <a:ext cx="110871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000000"/>
                  </a:solidFill>
                  <a:latin typeface="Verdana" panose="020B0604030504040204" pitchFamily="34" charset="0"/>
                  <a:ea typeface="Times New Roman" panose="02020603050405020304" pitchFamily="18" charset="0"/>
                </a:rPr>
                <a:t>output</a:t>
              </a:r>
              <a:endParaRPr lang="en-CO" sz="1050">
                <a:latin typeface="Times New Roman" panose="02020603050405020304" pitchFamily="18" charset="0"/>
                <a:ea typeface="Times New Roman" panose="02020603050405020304" pitchFamily="18" charset="0"/>
              </a:endParaRPr>
            </a:p>
          </p:txBody>
        </p:sp>
      </p:grpSp>
      <p:grpSp>
        <p:nvGrpSpPr>
          <p:cNvPr id="27" name="Group 26">
            <a:extLst>
              <a:ext uri="{FF2B5EF4-FFF2-40B4-BE49-F238E27FC236}">
                <a16:creationId xmlns:a16="http://schemas.microsoft.com/office/drawing/2014/main" id="{006747C0-9B79-664C-90BC-294189CB74FF}"/>
              </a:ext>
            </a:extLst>
          </p:cNvPr>
          <p:cNvGrpSpPr/>
          <p:nvPr/>
        </p:nvGrpSpPr>
        <p:grpSpPr>
          <a:xfrm>
            <a:off x="2335258" y="4625069"/>
            <a:ext cx="3433444" cy="1293495"/>
            <a:chOff x="0" y="0"/>
            <a:chExt cx="3433864" cy="1293495"/>
          </a:xfrm>
        </p:grpSpPr>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57ABA3A-E135-9F43-83B6-9EE54AEEFA24}"/>
                    </a:ext>
                  </a:extLst>
                </p:cNvPr>
                <p:cNvSpPr/>
                <p:nvPr/>
              </p:nvSpPr>
              <p:spPr>
                <a:xfrm>
                  <a:off x="807396" y="0"/>
                  <a:ext cx="1799271" cy="1293495"/>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dirty="0">
                      <a:solidFill>
                        <a:srgbClr val="000000"/>
                      </a:solidFill>
                      <a:latin typeface="Verdana" panose="020B0604030504040204" pitchFamily="34" charset="0"/>
                      <a:ea typeface="Times New Roman" panose="02020603050405020304" pitchFamily="18" charset="0"/>
                    </a:rPr>
                    <a:t>write </a:t>
                  </a:r>
                  <a14:m>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1</m:t>
                      </m:r>
                    </m:oMath>
                  </a14:m>
                  <a:r>
                    <a:rPr lang="en-US" dirty="0">
                      <a:solidFill>
                        <a:srgbClr val="000000"/>
                      </a:solidFill>
                      <a:latin typeface="Verdana" panose="020B0604030504040204" pitchFamily="34" charset="0"/>
                      <a:ea typeface="Times New Roman" panose="02020603050405020304" pitchFamily="18" charset="0"/>
                    </a:rPr>
                    <a:t> if the input is odd; write </a:t>
                  </a:r>
                  <a14:m>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0</m:t>
                      </m:r>
                    </m:oMath>
                  </a14:m>
                  <a:r>
                    <a:rPr lang="en-US" dirty="0">
                      <a:solidFill>
                        <a:srgbClr val="000000"/>
                      </a:solidFill>
                      <a:latin typeface="Verdana" panose="020B0604030504040204" pitchFamily="34" charset="0"/>
                      <a:ea typeface="Times New Roman" panose="02020603050405020304" pitchFamily="18" charset="0"/>
                    </a:rPr>
                    <a:t> if the input is even</a:t>
                  </a:r>
                  <a:endParaRPr lang="en-CO" sz="1050" dirty="0">
                    <a:latin typeface="Times New Roman" panose="02020603050405020304" pitchFamily="18" charset="0"/>
                    <a:ea typeface="Times New Roman" panose="02020603050405020304" pitchFamily="18" charset="0"/>
                  </a:endParaRPr>
                </a:p>
              </p:txBody>
            </p:sp>
          </mc:Choice>
          <mc:Fallback xmlns="">
            <p:sp>
              <p:nvSpPr>
                <p:cNvPr id="28" name="Rectangle 27">
                  <a:extLst>
                    <a:ext uri="{FF2B5EF4-FFF2-40B4-BE49-F238E27FC236}">
                      <a16:creationId xmlns:a16="http://schemas.microsoft.com/office/drawing/2014/main" id="{657ABA3A-E135-9F43-83B6-9EE54AEEFA24}"/>
                    </a:ext>
                  </a:extLst>
                </p:cNvPr>
                <p:cNvSpPr>
                  <a:spLocks noRot="1" noChangeAspect="1" noMove="1" noResize="1" noEditPoints="1" noAdjustHandles="1" noChangeArrowheads="1" noChangeShapeType="1" noTextEdit="1"/>
                </p:cNvSpPr>
                <p:nvPr/>
              </p:nvSpPr>
              <p:spPr>
                <a:xfrm>
                  <a:off x="807396" y="0"/>
                  <a:ext cx="1799271" cy="1293495"/>
                </a:xfrm>
                <a:prstGeom prst="rect">
                  <a:avLst/>
                </a:prstGeom>
                <a:blipFill>
                  <a:blip r:embed="rId5"/>
                  <a:stretch>
                    <a:fillRect/>
                  </a:stretch>
                </a:blipFill>
                <a:ln>
                  <a:solidFill>
                    <a:schemeClr val="tx1"/>
                  </a:solidFill>
                </a:ln>
                <a:effectLst/>
              </p:spPr>
              <p:txBody>
                <a:bodyPr/>
                <a:lstStyle/>
                <a:p>
                  <a:r>
                    <a:rPr lang="en-CO">
                      <a:noFill/>
                    </a:rPr>
                    <a:t> </a:t>
                  </a:r>
                </a:p>
              </p:txBody>
            </p:sp>
          </mc:Fallback>
        </mc:AlternateContent>
        <p:sp>
          <p:nvSpPr>
            <p:cNvPr id="29" name="Right Arrow 28">
              <a:extLst>
                <a:ext uri="{FF2B5EF4-FFF2-40B4-BE49-F238E27FC236}">
                  <a16:creationId xmlns:a16="http://schemas.microsoft.com/office/drawing/2014/main" id="{BCF05C63-4E13-D145-AD7E-9C8972113C88}"/>
                </a:ext>
              </a:extLst>
            </p:cNvPr>
            <p:cNvSpPr/>
            <p:nvPr/>
          </p:nvSpPr>
          <p:spPr>
            <a:xfrm>
              <a:off x="2675106" y="557449"/>
              <a:ext cx="359410" cy="2139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p:sp>
          <p:nvSpPr>
            <p:cNvPr id="30" name="Right Arrow 29">
              <a:extLst>
                <a:ext uri="{FF2B5EF4-FFF2-40B4-BE49-F238E27FC236}">
                  <a16:creationId xmlns:a16="http://schemas.microsoft.com/office/drawing/2014/main" id="{4A531B96-2085-0843-89FE-60FEAE735A7B}"/>
                </a:ext>
              </a:extLst>
            </p:cNvPr>
            <p:cNvSpPr/>
            <p:nvPr/>
          </p:nvSpPr>
          <p:spPr>
            <a:xfrm>
              <a:off x="389106" y="557449"/>
              <a:ext cx="359410" cy="2139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D0A13B41-8BEE-BB4A-A3FB-25AD11FF7BF4}"/>
                    </a:ext>
                  </a:extLst>
                </p:cNvPr>
                <p:cNvSpPr/>
                <p:nvPr/>
              </p:nvSpPr>
              <p:spPr>
                <a:xfrm>
                  <a:off x="0" y="437744"/>
                  <a:ext cx="46609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𝑥</m:t>
                        </m:r>
                      </m:oMath>
                    </m:oMathPara>
                  </a14:m>
                  <a:endParaRPr lang="en-CO" sz="1050">
                    <a:latin typeface="Times New Roman" panose="02020603050405020304" pitchFamily="18" charset="0"/>
                    <a:ea typeface="Times New Roman" panose="02020603050405020304" pitchFamily="18" charset="0"/>
                  </a:endParaRPr>
                </a:p>
              </p:txBody>
            </p:sp>
          </mc:Choice>
          <mc:Fallback xmlns="">
            <p:sp>
              <p:nvSpPr>
                <p:cNvPr id="31" name="Rectangle 30">
                  <a:extLst>
                    <a:ext uri="{FF2B5EF4-FFF2-40B4-BE49-F238E27FC236}">
                      <a16:creationId xmlns:a16="http://schemas.microsoft.com/office/drawing/2014/main" id="{D0A13B41-8BEE-BB4A-A3FB-25AD11FF7BF4}"/>
                    </a:ext>
                  </a:extLst>
                </p:cNvPr>
                <p:cNvSpPr>
                  <a:spLocks noRot="1" noChangeAspect="1" noMove="1" noResize="1" noEditPoints="1" noAdjustHandles="1" noChangeArrowheads="1" noChangeShapeType="1" noTextEdit="1"/>
                </p:cNvSpPr>
                <p:nvPr/>
              </p:nvSpPr>
              <p:spPr>
                <a:xfrm>
                  <a:off x="0" y="437744"/>
                  <a:ext cx="466090" cy="417830"/>
                </a:xfrm>
                <a:prstGeom prst="rect">
                  <a:avLst/>
                </a:prstGeom>
                <a:blipFill>
                  <a:blip r:embed="rId6"/>
                  <a:stretch>
                    <a:fillRect/>
                  </a:stretch>
                </a:blipFill>
                <a:ln>
                  <a:noFill/>
                </a:ln>
                <a:effectLst/>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87E8EBB1-8FEA-F847-99BB-41A0653FC461}"/>
                    </a:ext>
                  </a:extLst>
                </p:cNvPr>
                <p:cNvSpPr/>
                <p:nvPr/>
              </p:nvSpPr>
              <p:spPr>
                <a:xfrm>
                  <a:off x="2976664" y="428017"/>
                  <a:ext cx="45720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𝑦</m:t>
                        </m:r>
                      </m:oMath>
                    </m:oMathPara>
                  </a14:m>
                  <a:endParaRPr lang="en-CO" sz="1050">
                    <a:latin typeface="Times New Roman" panose="02020603050405020304" pitchFamily="18" charset="0"/>
                    <a:ea typeface="Times New Roman" panose="02020603050405020304" pitchFamily="18" charset="0"/>
                  </a:endParaRPr>
                </a:p>
              </p:txBody>
            </p:sp>
          </mc:Choice>
          <mc:Fallback xmlns="">
            <p:sp>
              <p:nvSpPr>
                <p:cNvPr id="32" name="Rectangle 31">
                  <a:extLst>
                    <a:ext uri="{FF2B5EF4-FFF2-40B4-BE49-F238E27FC236}">
                      <a16:creationId xmlns:a16="http://schemas.microsoft.com/office/drawing/2014/main" id="{87E8EBB1-8FEA-F847-99BB-41A0653FC461}"/>
                    </a:ext>
                  </a:extLst>
                </p:cNvPr>
                <p:cNvSpPr>
                  <a:spLocks noRot="1" noChangeAspect="1" noMove="1" noResize="1" noEditPoints="1" noAdjustHandles="1" noChangeArrowheads="1" noChangeShapeType="1" noTextEdit="1"/>
                </p:cNvSpPr>
                <p:nvPr/>
              </p:nvSpPr>
              <p:spPr>
                <a:xfrm>
                  <a:off x="2976664" y="428017"/>
                  <a:ext cx="457200" cy="417830"/>
                </a:xfrm>
                <a:prstGeom prst="rect">
                  <a:avLst/>
                </a:prstGeom>
                <a:blipFill>
                  <a:blip r:embed="rId7"/>
                  <a:stretch>
                    <a:fillRect/>
                  </a:stretch>
                </a:blipFill>
                <a:ln>
                  <a:noFill/>
                </a:ln>
                <a:effectLst/>
              </p:spPr>
              <p:txBody>
                <a:bodyPr/>
                <a:lstStyle/>
                <a:p>
                  <a:r>
                    <a:rPr lang="en-CO">
                      <a:noFill/>
                    </a:rPr>
                    <a:t> </a:t>
                  </a:r>
                </a:p>
              </p:txBody>
            </p:sp>
          </mc:Fallback>
        </mc:AlternateContent>
      </p:grpSp>
      <mc:AlternateContent xmlns:mc="http://schemas.openxmlformats.org/markup-compatibility/2006">
        <mc:Choice xmlns:a14="http://schemas.microsoft.com/office/drawing/2010/main" Requires="a14">
          <p:graphicFrame>
            <p:nvGraphicFramePr>
              <p:cNvPr id="19" name="Table 18">
                <a:extLst>
                  <a:ext uri="{FF2B5EF4-FFF2-40B4-BE49-F238E27FC236}">
                    <a16:creationId xmlns:a16="http://schemas.microsoft.com/office/drawing/2014/main" id="{8AC44B44-CC02-054D-BFB2-25471E356149}"/>
                  </a:ext>
                </a:extLst>
              </p:cNvPr>
              <p:cNvGraphicFramePr>
                <a:graphicFrameLocks noGrp="1"/>
              </p:cNvGraphicFramePr>
              <p:nvPr>
                <p:extLst>
                  <p:ext uri="{D42A27DB-BD31-4B8C-83A1-F6EECF244321}">
                    <p14:modId xmlns:p14="http://schemas.microsoft.com/office/powerpoint/2010/main" val="1450929060"/>
                  </p:ext>
                </p:extLst>
              </p:nvPr>
            </p:nvGraphicFramePr>
            <p:xfrm>
              <a:off x="6850289" y="2026875"/>
              <a:ext cx="2635250" cy="2083838"/>
            </p:xfrm>
            <a:graphic>
              <a:graphicData uri="http://schemas.openxmlformats.org/drawingml/2006/table">
                <a:tbl>
                  <a:tblPr firstRow="1" firstCol="1" bandRow="1">
                    <a:tableStyleId>{A91F0D33-8C57-4600-99A7-42BC86742BE1}</a:tableStyleId>
                  </a:tblPr>
                  <a:tblGrid>
                    <a:gridCol w="1317625">
                      <a:extLst>
                        <a:ext uri="{9D8B030D-6E8A-4147-A177-3AD203B41FA5}">
                          <a16:colId xmlns:a16="http://schemas.microsoft.com/office/drawing/2014/main" val="3460235045"/>
                        </a:ext>
                      </a:extLst>
                    </a:gridCol>
                    <a:gridCol w="1317625">
                      <a:extLst>
                        <a:ext uri="{9D8B030D-6E8A-4147-A177-3AD203B41FA5}">
                          <a16:colId xmlns:a16="http://schemas.microsoft.com/office/drawing/2014/main" val="2794592609"/>
                        </a:ext>
                      </a:extLst>
                    </a:gridCol>
                  </a:tblGrid>
                  <a:tr h="30215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Input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Output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281373209"/>
                      </a:ext>
                    </a:extLst>
                  </a:tr>
                  <a:tr h="445422">
                    <a:tc>
                      <a:txBody>
                        <a:bodyPr/>
                        <a:lstStyle/>
                        <a:p>
                          <a:pPr marL="0" marR="0" algn="ctr">
                            <a:lnSpc>
                              <a:spcPct val="115000"/>
                            </a:lnSpc>
                            <a:spcBef>
                              <a:spcPts val="0"/>
                            </a:spcBef>
                            <a:spcAft>
                              <a:spcPts val="0"/>
                            </a:spcAft>
                          </a:pPr>
                          <a14:m>
                            <m:oMath xmlns:m="http://schemas.openxmlformats.org/officeDocument/2006/math">
                              <m:f>
                                <m:fPr>
                                  <m:ctrlPr>
                                    <a:rPr lang="en-CO" sz="1600" i="1">
                                      <a:effectLst/>
                                      <a:latin typeface="Cambria Math" panose="02040503050406030204" pitchFamily="18" charset="0"/>
                                    </a:rPr>
                                  </m:ctrlPr>
                                </m:fPr>
                                <m:num>
                                  <m:r>
                                    <a:rPr lang="en-US" sz="1600">
                                      <a:effectLst/>
                                      <a:latin typeface="Cambria Math" panose="02040503050406030204" pitchFamily="18" charset="0"/>
                                    </a:rPr>
                                    <m:t>3</m:t>
                                  </m:r>
                                </m:num>
                                <m:den>
                                  <m:r>
                                    <a:rPr lang="en-US" sz="1600">
                                      <a:effectLst/>
                                      <a:latin typeface="Cambria Math" panose="02040503050406030204" pitchFamily="18" charset="0"/>
                                    </a:rPr>
                                    <m:t>4</m:t>
                                  </m:r>
                                </m:den>
                              </m:f>
                            </m:oMath>
                          </a14:m>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7</m:t>
                                </m:r>
                              </m:oMath>
                            </m:oMathPara>
                          </a14:m>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869183"/>
                      </a:ext>
                    </a:extLst>
                  </a:tr>
                  <a:tr h="445422">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2.35</m:t>
                                </m:r>
                              </m:oMath>
                            </m:oMathPara>
                          </a14:m>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9433050"/>
                      </a:ext>
                    </a:extLst>
                  </a:tr>
                  <a:tr h="445422">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42</m:t>
                                </m:r>
                              </m:oMath>
                            </m:oMathPara>
                          </a14:m>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990849"/>
                      </a:ext>
                    </a:extLst>
                  </a:tr>
                  <a:tr h="445422">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m:t>
                                </m:r>
                              </m:oMath>
                            </m:oMathPara>
                          </a14:m>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6692733"/>
                      </a:ext>
                    </a:extLst>
                  </a:tr>
                </a:tbl>
              </a:graphicData>
            </a:graphic>
          </p:graphicFrame>
        </mc:Choice>
        <mc:Fallback>
          <p:graphicFrame>
            <p:nvGraphicFramePr>
              <p:cNvPr id="19" name="Table 18">
                <a:extLst>
                  <a:ext uri="{FF2B5EF4-FFF2-40B4-BE49-F238E27FC236}">
                    <a16:creationId xmlns:a16="http://schemas.microsoft.com/office/drawing/2014/main" id="{8AC44B44-CC02-054D-BFB2-25471E356149}"/>
                  </a:ext>
                </a:extLst>
              </p:cNvPr>
              <p:cNvGraphicFramePr>
                <a:graphicFrameLocks noGrp="1"/>
              </p:cNvGraphicFramePr>
              <p:nvPr>
                <p:extLst>
                  <p:ext uri="{D42A27DB-BD31-4B8C-83A1-F6EECF244321}">
                    <p14:modId xmlns:p14="http://schemas.microsoft.com/office/powerpoint/2010/main" val="1450929060"/>
                  </p:ext>
                </p:extLst>
              </p:nvPr>
            </p:nvGraphicFramePr>
            <p:xfrm>
              <a:off x="6850289" y="2026875"/>
              <a:ext cx="2635250" cy="2083838"/>
            </p:xfrm>
            <a:graphic>
              <a:graphicData uri="http://schemas.openxmlformats.org/drawingml/2006/table">
                <a:tbl>
                  <a:tblPr firstRow="1" firstCol="1" bandRow="1">
                    <a:tableStyleId>{A91F0D33-8C57-4600-99A7-42BC86742BE1}</a:tableStyleId>
                  </a:tblPr>
                  <a:tblGrid>
                    <a:gridCol w="1317625">
                      <a:extLst>
                        <a:ext uri="{9D8B030D-6E8A-4147-A177-3AD203B41FA5}">
                          <a16:colId xmlns:a16="http://schemas.microsoft.com/office/drawing/2014/main" val="3460235045"/>
                        </a:ext>
                      </a:extLst>
                    </a:gridCol>
                    <a:gridCol w="1317625">
                      <a:extLst>
                        <a:ext uri="{9D8B030D-6E8A-4147-A177-3AD203B41FA5}">
                          <a16:colId xmlns:a16="http://schemas.microsoft.com/office/drawing/2014/main" val="2794592609"/>
                        </a:ext>
                      </a:extLst>
                    </a:gridCol>
                  </a:tblGrid>
                  <a:tr h="30215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Input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Output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281373209"/>
                      </a:ext>
                    </a:extLst>
                  </a:tr>
                  <a:tr h="44542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1" t="-75342" r="-100922" b="-30411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461" t="-75342" r="-922" b="-304110"/>
                          </a:stretch>
                        </a:blipFill>
                      </a:tcPr>
                    </a:tc>
                    <a:extLst>
                      <a:ext uri="{0D108BD9-81ED-4DB2-BD59-A6C34878D82A}">
                        <a16:rowId xmlns:a16="http://schemas.microsoft.com/office/drawing/2014/main" val="2727869183"/>
                      </a:ext>
                    </a:extLst>
                  </a:tr>
                  <a:tr h="44542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1" t="-175342" r="-100922" b="-204110"/>
                          </a:stretch>
                        </a:blipFill>
                      </a:tcPr>
                    </a:tc>
                    <a:tc>
                      <a:txBody>
                        <a:bodyPr/>
                        <a:lstStyle/>
                        <a:p>
                          <a:pPr marL="0" marR="0" algn="ctr">
                            <a:lnSpc>
                              <a:spcPct val="115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9433050"/>
                      </a:ext>
                    </a:extLst>
                  </a:tr>
                  <a:tr h="44542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1" t="-271622" r="-100922" b="-101351"/>
                          </a:stretch>
                        </a:blipFill>
                      </a:tcPr>
                    </a:tc>
                    <a:tc>
                      <a:txBody>
                        <a:bodyPr/>
                        <a:lstStyle/>
                        <a:p>
                          <a:pPr marL="0" marR="0" algn="ctr">
                            <a:lnSpc>
                              <a:spcPct val="115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990849"/>
                      </a:ext>
                    </a:extLst>
                  </a:tr>
                  <a:tr h="44542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1" t="-376712" r="-100922" b="-2740"/>
                          </a:stretch>
                        </a:blipFill>
                      </a:tcPr>
                    </a:tc>
                    <a:tc>
                      <a:txBody>
                        <a:bodyPr/>
                        <a:lstStyle/>
                        <a:p>
                          <a:pPr marL="0" marR="0" algn="ctr">
                            <a:lnSpc>
                              <a:spcPct val="115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669273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20" name="Table 19">
                <a:extLst>
                  <a:ext uri="{FF2B5EF4-FFF2-40B4-BE49-F238E27FC236}">
                    <a16:creationId xmlns:a16="http://schemas.microsoft.com/office/drawing/2014/main" id="{ECF37817-6939-6049-9365-EB92475376ED}"/>
                  </a:ext>
                </a:extLst>
              </p:cNvPr>
              <p:cNvGraphicFramePr>
                <a:graphicFrameLocks noGrp="1"/>
              </p:cNvGraphicFramePr>
              <p:nvPr>
                <p:extLst>
                  <p:ext uri="{D42A27DB-BD31-4B8C-83A1-F6EECF244321}">
                    <p14:modId xmlns:p14="http://schemas.microsoft.com/office/powerpoint/2010/main" val="3161643882"/>
                  </p:ext>
                </p:extLst>
              </p:nvPr>
            </p:nvGraphicFramePr>
            <p:xfrm>
              <a:off x="6856639" y="4529005"/>
              <a:ext cx="2628900" cy="1735016"/>
            </p:xfrm>
            <a:graphic>
              <a:graphicData uri="http://schemas.openxmlformats.org/drawingml/2006/table">
                <a:tbl>
                  <a:tblPr firstRow="1" firstCol="1" bandRow="1">
                    <a:tableStyleId>{A91F0D33-8C57-4600-99A7-42BC86742BE1}</a:tableStyleId>
                  </a:tblPr>
                  <a:tblGrid>
                    <a:gridCol w="1314450">
                      <a:extLst>
                        <a:ext uri="{9D8B030D-6E8A-4147-A177-3AD203B41FA5}">
                          <a16:colId xmlns:a16="http://schemas.microsoft.com/office/drawing/2014/main" val="4229436685"/>
                        </a:ext>
                      </a:extLst>
                    </a:gridCol>
                    <a:gridCol w="1314450">
                      <a:extLst>
                        <a:ext uri="{9D8B030D-6E8A-4147-A177-3AD203B41FA5}">
                          <a16:colId xmlns:a16="http://schemas.microsoft.com/office/drawing/2014/main" val="4178614877"/>
                        </a:ext>
                      </a:extLst>
                    </a:gridCol>
                  </a:tblGrid>
                  <a:tr h="2691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rPr>
                                  <m:t>𝒙</m:t>
                                </m:r>
                              </m:oMath>
                            </m:oMathPara>
                          </a14:m>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rPr>
                                  <m:t>𝒚</m:t>
                                </m:r>
                              </m:oMath>
                            </m:oMathPara>
                          </a14:m>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22482927"/>
                      </a:ext>
                    </a:extLst>
                  </a:tr>
                  <a:tr h="36517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−12</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587635"/>
                      </a:ext>
                    </a:extLst>
                  </a:tr>
                  <a:tr h="36517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2853799"/>
                      </a:ext>
                    </a:extLst>
                  </a:tr>
                  <a:tr h="36517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867911"/>
                      </a:ext>
                    </a:extLst>
                  </a:tr>
                  <a:tr h="36517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711229"/>
                      </a:ext>
                    </a:extLst>
                  </a:tr>
                </a:tbl>
              </a:graphicData>
            </a:graphic>
          </p:graphicFrame>
        </mc:Choice>
        <mc:Fallback>
          <p:graphicFrame>
            <p:nvGraphicFramePr>
              <p:cNvPr id="20" name="Table 19">
                <a:extLst>
                  <a:ext uri="{FF2B5EF4-FFF2-40B4-BE49-F238E27FC236}">
                    <a16:creationId xmlns:a16="http://schemas.microsoft.com/office/drawing/2014/main" id="{ECF37817-6939-6049-9365-EB92475376ED}"/>
                  </a:ext>
                </a:extLst>
              </p:cNvPr>
              <p:cNvGraphicFramePr>
                <a:graphicFrameLocks noGrp="1"/>
              </p:cNvGraphicFramePr>
              <p:nvPr>
                <p:extLst>
                  <p:ext uri="{D42A27DB-BD31-4B8C-83A1-F6EECF244321}">
                    <p14:modId xmlns:p14="http://schemas.microsoft.com/office/powerpoint/2010/main" val="3161643882"/>
                  </p:ext>
                </p:extLst>
              </p:nvPr>
            </p:nvGraphicFramePr>
            <p:xfrm>
              <a:off x="6856639" y="4529005"/>
              <a:ext cx="2628900" cy="1735016"/>
            </p:xfrm>
            <a:graphic>
              <a:graphicData uri="http://schemas.openxmlformats.org/drawingml/2006/table">
                <a:tbl>
                  <a:tblPr firstRow="1" firstCol="1" bandRow="1">
                    <a:tableStyleId>{A91F0D33-8C57-4600-99A7-42BC86742BE1}</a:tableStyleId>
                  </a:tblPr>
                  <a:tblGrid>
                    <a:gridCol w="1314450">
                      <a:extLst>
                        <a:ext uri="{9D8B030D-6E8A-4147-A177-3AD203B41FA5}">
                          <a16:colId xmlns:a16="http://schemas.microsoft.com/office/drawing/2014/main" val="4229436685"/>
                        </a:ext>
                      </a:extLst>
                    </a:gridCol>
                    <a:gridCol w="1314450">
                      <a:extLst>
                        <a:ext uri="{9D8B030D-6E8A-4147-A177-3AD203B41FA5}">
                          <a16:colId xmlns:a16="http://schemas.microsoft.com/office/drawing/2014/main" val="4178614877"/>
                        </a:ext>
                      </a:extLst>
                    </a:gridCol>
                  </a:tblGrid>
                  <a:tr h="2743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1" t="-2222" r="-100461" b="-54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00926" t="-2222" r="-926" b="-540000"/>
                          </a:stretch>
                        </a:blipFill>
                      </a:tcPr>
                    </a:tc>
                    <a:extLst>
                      <a:ext uri="{0D108BD9-81ED-4DB2-BD59-A6C34878D82A}">
                        <a16:rowId xmlns:a16="http://schemas.microsoft.com/office/drawing/2014/main" val="3922482927"/>
                      </a:ext>
                    </a:extLst>
                  </a:tr>
                  <a:tr h="36517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1" t="-76667" r="-100461" b="-305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587635"/>
                      </a:ext>
                    </a:extLst>
                  </a:tr>
                  <a:tr h="36517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1" t="-173770" r="-100461" b="-200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2853799"/>
                      </a:ext>
                    </a:extLst>
                  </a:tr>
                  <a:tr h="36517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1" t="-278333" r="-100461" b="-103333"/>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867911"/>
                      </a:ext>
                    </a:extLst>
                  </a:tr>
                  <a:tr h="36517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1" t="-378333" r="-100461" b="-3333"/>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711229"/>
                      </a:ext>
                    </a:extLst>
                  </a:tr>
                </a:tbl>
              </a:graphicData>
            </a:graphic>
          </p:graphicFrame>
        </mc:Fallback>
      </mc:AlternateContent>
    </p:spTree>
    <p:extLst>
      <p:ext uri="{BB962C8B-B14F-4D97-AF65-F5344CB8AC3E}">
        <p14:creationId xmlns:p14="http://schemas.microsoft.com/office/powerpoint/2010/main" val="3519723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863510"/>
            <a:ext cx="8330183"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Each of the tables represent a </a:t>
            </a:r>
            <a:r>
              <a:rPr lang="en-US" sz="2400" b="1" i="1" dirty="0">
                <a:latin typeface="Verdana" panose="020B0604030504040204" pitchFamily="34" charset="0"/>
                <a:ea typeface="Verdana" panose="020B0604030504040204" pitchFamily="34" charset="0"/>
                <a:cs typeface="Verdana" panose="020B0604030504040204" pitchFamily="34" charset="0"/>
              </a:rPr>
              <a:t>relation</a:t>
            </a:r>
            <a:r>
              <a:rPr lang="en-US" sz="2400" dirty="0">
                <a:latin typeface="Verdana" panose="020B0604030504040204" pitchFamily="34" charset="0"/>
                <a:ea typeface="Verdana" panose="020B0604030504040204" pitchFamily="34" charset="0"/>
                <a:cs typeface="Verdana" panose="020B0604030504040204" pitchFamily="34" charset="0"/>
              </a:rPr>
              <a:t>.</a:t>
            </a:r>
          </a:p>
        </p:txBody>
      </p:sp>
      <p:sp>
        <p:nvSpPr>
          <p:cNvPr id="33" name="Rounded Rectangle 32">
            <a:extLst>
              <a:ext uri="{FF2B5EF4-FFF2-40B4-BE49-F238E27FC236}">
                <a16:creationId xmlns:a16="http://schemas.microsoft.com/office/drawing/2014/main" id="{8DBB132B-235F-7F42-B46E-1E46F2365B5B}"/>
              </a:ext>
            </a:extLst>
          </p:cNvPr>
          <p:cNvSpPr/>
          <p:nvPr/>
        </p:nvSpPr>
        <p:spPr>
          <a:xfrm>
            <a:off x="2781300" y="2050143"/>
            <a:ext cx="6629400" cy="86360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relation</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 set of input-output pairs.</a:t>
            </a:r>
            <a:endParaRPr lang="en-CO" sz="1200" dirty="0">
              <a:latin typeface="Times New Roman" panose="02020603050405020304" pitchFamily="18" charset="0"/>
              <a:ea typeface="Times New Roman" panose="02020603050405020304" pitchFamily="18" charset="0"/>
            </a:endParaRPr>
          </a:p>
        </p:txBody>
      </p:sp>
      <p:pic>
        <p:nvPicPr>
          <p:cNvPr id="34" name="Shape 9" descr="Icon&#10;&#10;Description automatically generated">
            <a:extLst>
              <a:ext uri="{FF2B5EF4-FFF2-40B4-BE49-F238E27FC236}">
                <a16:creationId xmlns:a16="http://schemas.microsoft.com/office/drawing/2014/main" id="{79ABAA7E-C433-B948-B8B4-00C9B65D262C}"/>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3001282" y="2218418"/>
            <a:ext cx="539750" cy="5270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27103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CA3BD6-5823-324E-9895-4E1BE981A260}"/>
                  </a:ext>
                </a:extLst>
              </p:cNvPr>
              <p:cNvSpPr txBox="1"/>
              <p:nvPr/>
            </p:nvSpPr>
            <p:spPr>
              <a:xfrm>
                <a:off x="914400" y="680397"/>
                <a:ext cx="10515600"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Relations can also be represented by mapping diagrams. The mapping diagram below shows input-output pairs for the rule: “divide by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then add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6" name="TextBox 5">
                <a:extLst>
                  <a:ext uri="{FF2B5EF4-FFF2-40B4-BE49-F238E27FC236}">
                    <a16:creationId xmlns:a16="http://schemas.microsoft.com/office/drawing/2014/main" id="{46CA3BD6-5823-324E-9895-4E1BE981A260}"/>
                  </a:ext>
                </a:extLst>
              </p:cNvPr>
              <p:cNvSpPr txBox="1">
                <a:spLocks noRot="1" noChangeAspect="1" noMove="1" noResize="1" noEditPoints="1" noAdjustHandles="1" noChangeArrowheads="1" noChangeShapeType="1" noTextEdit="1"/>
              </p:cNvSpPr>
              <p:nvPr/>
            </p:nvSpPr>
            <p:spPr>
              <a:xfrm>
                <a:off x="914400" y="680397"/>
                <a:ext cx="10515600" cy="1200329"/>
              </a:xfrm>
              <a:prstGeom prst="rect">
                <a:avLst/>
              </a:prstGeom>
              <a:blipFill>
                <a:blip r:embed="rId4"/>
                <a:stretch>
                  <a:fillRect l="-965" t="-4167" b="-9375"/>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26576041-8FE7-2144-A8B5-917C2A411058}"/>
              </a:ext>
            </a:extLst>
          </p:cNvPr>
          <p:cNvGrpSpPr/>
          <p:nvPr/>
        </p:nvGrpSpPr>
        <p:grpSpPr>
          <a:xfrm>
            <a:off x="5143501" y="3322857"/>
            <a:ext cx="1904999" cy="1771650"/>
            <a:chOff x="0" y="0"/>
            <a:chExt cx="1786296" cy="1647190"/>
          </a:xfrm>
        </p:grpSpPr>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C5693B3A-DC1F-4941-BD4F-B9BDB52B5373}"/>
                    </a:ext>
                  </a:extLst>
                </p:cNvPr>
                <p:cNvSpPr/>
                <p:nvPr/>
              </p:nvSpPr>
              <p:spPr>
                <a:xfrm>
                  <a:off x="0" y="0"/>
                  <a:ext cx="687669" cy="16471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−8</m:t>
                        </m:r>
                      </m:oMath>
                    </m:oMathPara>
                  </a14:m>
                  <a:endParaRPr lang="en-CO" sz="1200" dirty="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1</m:t>
                        </m:r>
                      </m:oMath>
                    </m:oMathPara>
                  </a14:m>
                  <a:endParaRPr lang="en-CO" sz="1200" dirty="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8</m:t>
                        </m:r>
                      </m:oMath>
                    </m:oMathPara>
                  </a14:m>
                  <a:endParaRPr lang="en-CO" sz="1200" dirty="0">
                    <a:latin typeface="Times New Roman" panose="02020603050405020304" pitchFamily="18" charset="0"/>
                    <a:ea typeface="Times New Roman" panose="02020603050405020304" pitchFamily="18" charset="0"/>
                  </a:endParaRPr>
                </a:p>
              </p:txBody>
            </p:sp>
          </mc:Choice>
          <mc:Fallback xmlns="">
            <p:sp>
              <p:nvSpPr>
                <p:cNvPr id="16" name="Oval 15">
                  <a:extLst>
                    <a:ext uri="{FF2B5EF4-FFF2-40B4-BE49-F238E27FC236}">
                      <a16:creationId xmlns:a16="http://schemas.microsoft.com/office/drawing/2014/main" id="{C5693B3A-DC1F-4941-BD4F-B9BDB52B5373}"/>
                    </a:ext>
                  </a:extLst>
                </p:cNvPr>
                <p:cNvSpPr>
                  <a:spLocks noRot="1" noChangeAspect="1" noMove="1" noResize="1" noEditPoints="1" noAdjustHandles="1" noChangeArrowheads="1" noChangeShapeType="1" noTextEdit="1"/>
                </p:cNvSpPr>
                <p:nvPr/>
              </p:nvSpPr>
              <p:spPr>
                <a:xfrm>
                  <a:off x="0" y="0"/>
                  <a:ext cx="687669" cy="1647190"/>
                </a:xfrm>
                <a:prstGeom prst="ellipse">
                  <a:avLst/>
                </a:prstGeom>
                <a:blipFill>
                  <a:blip r:embed="rId5"/>
                  <a:stretch>
                    <a:fillRect/>
                  </a:stretch>
                </a:blipFill>
                <a:ln>
                  <a:solidFill>
                    <a:schemeClr val="tx1"/>
                  </a:solid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B3C151C7-E1ED-D043-9BA9-B568F3D0F896}"/>
                    </a:ext>
                  </a:extLst>
                </p:cNvPr>
                <p:cNvSpPr/>
                <p:nvPr/>
              </p:nvSpPr>
              <p:spPr>
                <a:xfrm>
                  <a:off x="1099226" y="0"/>
                  <a:ext cx="687070" cy="16471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4</m:t>
                        </m:r>
                      </m:oMath>
                    </m:oMathPara>
                  </a14:m>
                  <a:endParaRPr lang="en-CO" sz="1200" dirty="0">
                    <a:latin typeface="Times New Roman" panose="02020603050405020304" pitchFamily="18" charset="0"/>
                    <a:ea typeface="Times New Roman" panose="02020603050405020304" pitchFamily="18" charset="0"/>
                  </a:endParaRPr>
                </a:p>
                <a:p>
                  <a:pPr algn="ctr">
                    <a:lnSpc>
                      <a:spcPct val="125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0</m:t>
                        </m:r>
                      </m:oMath>
                    </m:oMathPara>
                  </a14:m>
                  <a:endParaRPr lang="en-CO" sz="1200" dirty="0">
                    <a:latin typeface="Times New Roman" panose="02020603050405020304" pitchFamily="18" charset="0"/>
                    <a:ea typeface="Times New Roman" panose="02020603050405020304" pitchFamily="18" charset="0"/>
                  </a:endParaRPr>
                </a:p>
                <a:p>
                  <a:pPr algn="ctr">
                    <a:lnSpc>
                      <a:spcPct val="125000"/>
                    </a:lnSpc>
                  </a:pPr>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2</m:t>
                      </m:r>
                      <m:f>
                        <m:fPr>
                          <m:ctrlPr>
                            <a:rPr lang="en-CO" sz="1800" i="1">
                              <a:solidFill>
                                <a:srgbClr val="000000"/>
                              </a:solidFill>
                              <a:latin typeface="Cambria Math" panose="02040503050406030204" pitchFamily="18" charset="0"/>
                              <a:ea typeface="Times New Roman" panose="02020603050405020304" pitchFamily="18" charset="0"/>
                            </a:rPr>
                          </m:ctrlPr>
                        </m:fPr>
                        <m:num>
                          <m:r>
                            <a:rPr lang="en-US" sz="1800" i="1">
                              <a:solidFill>
                                <a:srgbClr val="000000"/>
                              </a:solidFill>
                              <a:latin typeface="Cambria Math" panose="02040503050406030204" pitchFamily="18" charset="0"/>
                              <a:ea typeface="Times New Roman" panose="02020603050405020304" pitchFamily="18" charset="0"/>
                            </a:rPr>
                            <m:t>1</m:t>
                          </m:r>
                        </m:num>
                        <m:den>
                          <m:r>
                            <a:rPr lang="en-US" sz="1800" i="1">
                              <a:solidFill>
                                <a:srgbClr val="000000"/>
                              </a:solidFill>
                              <a:latin typeface="Cambria Math" panose="02040503050406030204" pitchFamily="18" charset="0"/>
                              <a:ea typeface="Times New Roman" panose="02020603050405020304" pitchFamily="18" charset="0"/>
                            </a:rPr>
                            <m:t>4</m:t>
                          </m:r>
                        </m:den>
                      </m:f>
                    </m:oMath>
                  </a14:m>
                  <a:r>
                    <a:rPr lang="en-US" sz="1800" dirty="0">
                      <a:solidFill>
                        <a:srgbClr val="000000"/>
                      </a:solidFill>
                      <a:ea typeface="Times New Roman" panose="02020603050405020304" pitchFamily="18" charset="0"/>
                      <a:cs typeface="Times New Roman" panose="02020603050405020304" pitchFamily="18" charset="0"/>
                    </a:rPr>
                    <a:t> </a:t>
                  </a:r>
                  <a:endParaRPr lang="en-CO" sz="1200" dirty="0">
                    <a:latin typeface="Times New Roman" panose="02020603050405020304" pitchFamily="18" charset="0"/>
                    <a:ea typeface="Times New Roman" panose="02020603050405020304" pitchFamily="18" charset="0"/>
                  </a:endParaRPr>
                </a:p>
              </p:txBody>
            </p:sp>
          </mc:Choice>
          <mc:Fallback xmlns="">
            <p:sp>
              <p:nvSpPr>
                <p:cNvPr id="17" name="Oval 16">
                  <a:extLst>
                    <a:ext uri="{FF2B5EF4-FFF2-40B4-BE49-F238E27FC236}">
                      <a16:creationId xmlns:a16="http://schemas.microsoft.com/office/drawing/2014/main" id="{B3C151C7-E1ED-D043-9BA9-B568F3D0F896}"/>
                    </a:ext>
                  </a:extLst>
                </p:cNvPr>
                <p:cNvSpPr>
                  <a:spLocks noRot="1" noChangeAspect="1" noMove="1" noResize="1" noEditPoints="1" noAdjustHandles="1" noChangeArrowheads="1" noChangeShapeType="1" noTextEdit="1"/>
                </p:cNvSpPr>
                <p:nvPr/>
              </p:nvSpPr>
              <p:spPr>
                <a:xfrm>
                  <a:off x="1099226" y="0"/>
                  <a:ext cx="687070" cy="1647190"/>
                </a:xfrm>
                <a:prstGeom prst="ellipse">
                  <a:avLst/>
                </a:prstGeom>
                <a:blipFill>
                  <a:blip r:embed="rId6"/>
                  <a:stretch>
                    <a:fillRect/>
                  </a:stretch>
                </a:blipFill>
                <a:ln>
                  <a:solidFill>
                    <a:schemeClr val="tx1"/>
                  </a:solidFill>
                </a:ln>
              </p:spPr>
              <p:txBody>
                <a:bodyPr/>
                <a:lstStyle/>
                <a:p>
                  <a:r>
                    <a:rPr lang="en-CO">
                      <a:noFill/>
                    </a:rPr>
                    <a:t> </a:t>
                  </a:r>
                </a:p>
              </p:txBody>
            </p:sp>
          </mc:Fallback>
        </mc:AlternateContent>
        <p:cxnSp>
          <p:nvCxnSpPr>
            <p:cNvPr id="18" name="Straight Arrow Connector 17">
              <a:extLst>
                <a:ext uri="{FF2B5EF4-FFF2-40B4-BE49-F238E27FC236}">
                  <a16:creationId xmlns:a16="http://schemas.microsoft.com/office/drawing/2014/main" id="{519679D2-E618-F64F-8394-C399A0D47325}"/>
                </a:ext>
              </a:extLst>
            </p:cNvPr>
            <p:cNvCxnSpPr/>
            <p:nvPr/>
          </p:nvCxnSpPr>
          <p:spPr>
            <a:xfrm>
              <a:off x="525294" y="418289"/>
              <a:ext cx="713067" cy="3988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897C320-EE8F-4E4D-88D2-6ADE0D1E18DC}"/>
                </a:ext>
              </a:extLst>
            </p:cNvPr>
            <p:cNvCxnSpPr/>
            <p:nvPr/>
          </p:nvCxnSpPr>
          <p:spPr>
            <a:xfrm flipV="1">
              <a:off x="525294" y="424234"/>
              <a:ext cx="794978" cy="8049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7F415E6-17EC-2C4A-8B76-994A72C4DCDE}"/>
                </a:ext>
              </a:extLst>
            </p:cNvPr>
            <p:cNvCxnSpPr/>
            <p:nvPr/>
          </p:nvCxnSpPr>
          <p:spPr>
            <a:xfrm>
              <a:off x="525294" y="817123"/>
              <a:ext cx="712470" cy="3585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076B9DDF-AD6B-9346-9CBB-F7F1AA15E82A}"/>
              </a:ext>
            </a:extLst>
          </p:cNvPr>
          <p:cNvSpPr txBox="1"/>
          <p:nvPr/>
        </p:nvSpPr>
        <p:spPr>
          <a:xfrm>
            <a:off x="3728357" y="2765662"/>
            <a:ext cx="4637314" cy="369332"/>
          </a:xfrm>
          <a:prstGeom prst="rect">
            <a:avLst/>
          </a:prstGeom>
          <a:noFill/>
        </p:spPr>
        <p:txBody>
          <a:bodyPr wrap="square">
            <a:spAutoFit/>
          </a:bodyPr>
          <a:lstStyle/>
          <a:p>
            <a:pPr algn="ctr"/>
            <a:r>
              <a:rPr lang="en-US" sz="1800" dirty="0">
                <a:latin typeface="Verdana" panose="020B0604030504040204" pitchFamily="34" charset="0"/>
                <a:ea typeface="Times New Roman" panose="02020603050405020304" pitchFamily="18" charset="0"/>
              </a:rPr>
              <a:t> input       output</a:t>
            </a:r>
            <a:endParaRPr lang="en-CO" sz="1800" dirty="0"/>
          </a:p>
        </p:txBody>
      </p:sp>
    </p:spTree>
    <p:extLst>
      <p:ext uri="{BB962C8B-B14F-4D97-AF65-F5344CB8AC3E}">
        <p14:creationId xmlns:p14="http://schemas.microsoft.com/office/powerpoint/2010/main" val="4231501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680397"/>
            <a:ext cx="10515600" cy="526297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statements.</a:t>
            </a:r>
          </a:p>
          <a:p>
            <a:pPr marL="463550">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In a mapping diagram an             is mapped to its corresponding             using an arrow. In the previous mapping diagram above, the input 8 results in an output of          for the relation shown.</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pic>
        <p:nvPicPr>
          <p:cNvPr id="13" name="Picture 12" descr="A picture containing shape&#10;&#10;Description automatically generated">
            <a:extLst>
              <a:ext uri="{FF2B5EF4-FFF2-40B4-BE49-F238E27FC236}">
                <a16:creationId xmlns:a16="http://schemas.microsoft.com/office/drawing/2014/main" id="{4D00F756-0D2C-8F42-9503-835E44E698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63718" y="1409967"/>
            <a:ext cx="1264563" cy="816429"/>
          </a:xfrm>
          <a:prstGeom prst="rect">
            <a:avLst/>
          </a:prstGeom>
        </p:spPr>
      </p:pic>
      <p:pic>
        <p:nvPicPr>
          <p:cNvPr id="14" name="Picture 13" descr="A picture containing shape&#10;&#10;Description automatically generated">
            <a:extLst>
              <a:ext uri="{FF2B5EF4-FFF2-40B4-BE49-F238E27FC236}">
                <a16:creationId xmlns:a16="http://schemas.microsoft.com/office/drawing/2014/main" id="{91B1A292-6795-6B43-97F7-68F8460A3B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42944" y="2491996"/>
            <a:ext cx="1264563" cy="816429"/>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ACB6A321-D9A6-6A45-8AF3-A492C3DC6B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90424" y="3308425"/>
            <a:ext cx="862728" cy="1289957"/>
          </a:xfrm>
          <a:prstGeom prst="rect">
            <a:avLst/>
          </a:prstGeom>
        </p:spPr>
      </p:pic>
    </p:spTree>
    <p:extLst>
      <p:ext uri="{BB962C8B-B14F-4D97-AF65-F5344CB8AC3E}">
        <p14:creationId xmlns:p14="http://schemas.microsoft.com/office/powerpoint/2010/main" val="1127278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174211"/>
            <a:ext cx="10515600" cy="8309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mapping diagram for each of the following rules.</a:t>
            </a:r>
          </a:p>
        </p:txBody>
      </p:sp>
      <p:graphicFrame>
        <p:nvGraphicFramePr>
          <p:cNvPr id="2" name="Table 1">
            <a:extLst>
              <a:ext uri="{FF2B5EF4-FFF2-40B4-BE49-F238E27FC236}">
                <a16:creationId xmlns:a16="http://schemas.microsoft.com/office/drawing/2014/main" id="{57D27CAD-EC72-3843-9862-761D3C8E9086}"/>
              </a:ext>
            </a:extLst>
          </p:cNvPr>
          <p:cNvGraphicFramePr>
            <a:graphicFrameLocks noGrp="1"/>
          </p:cNvGraphicFramePr>
          <p:nvPr>
            <p:extLst>
              <p:ext uri="{D42A27DB-BD31-4B8C-83A1-F6EECF244321}">
                <p14:modId xmlns:p14="http://schemas.microsoft.com/office/powerpoint/2010/main" val="3612747406"/>
              </p:ext>
            </p:extLst>
          </p:nvPr>
        </p:nvGraphicFramePr>
        <p:xfrm>
          <a:off x="2487386" y="1555773"/>
          <a:ext cx="7217229" cy="4351337"/>
        </p:xfrm>
        <a:graphic>
          <a:graphicData uri="http://schemas.openxmlformats.org/drawingml/2006/table">
            <a:tbl>
              <a:tblPr firstRow="1" firstCol="1" bandRow="1">
                <a:tableStyleId>{A91F0D33-8C57-4600-99A7-42BC86742BE1}</a:tableStyleId>
              </a:tblPr>
              <a:tblGrid>
                <a:gridCol w="4372452">
                  <a:extLst>
                    <a:ext uri="{9D8B030D-6E8A-4147-A177-3AD203B41FA5}">
                      <a16:colId xmlns:a16="http://schemas.microsoft.com/office/drawing/2014/main" val="532555188"/>
                    </a:ext>
                  </a:extLst>
                </a:gridCol>
                <a:gridCol w="2844777">
                  <a:extLst>
                    <a:ext uri="{9D8B030D-6E8A-4147-A177-3AD203B41FA5}">
                      <a16:colId xmlns:a16="http://schemas.microsoft.com/office/drawing/2014/main" val="438962504"/>
                    </a:ext>
                  </a:extLst>
                </a:gridCol>
              </a:tblGrid>
              <a:tr h="356667">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Rule</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Mapping Diagram</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155127237"/>
                  </a:ext>
                </a:extLst>
              </a:tr>
              <a:tr h="1997335">
                <a:tc>
                  <a:txBody>
                    <a:bodyPr/>
                    <a:lstStyle/>
                    <a:p>
                      <a:pPr marL="0" marR="0" algn="ctr">
                        <a:spcBef>
                          <a:spcPts val="0"/>
                        </a:spcBef>
                        <a:spcAft>
                          <a:spcPts val="0"/>
                        </a:spcAft>
                      </a:pPr>
                      <a:r>
                        <a:rPr lang="en-US" sz="1300" dirty="0">
                          <a:effectLst/>
                          <a:latin typeface="Verdana" panose="020B0604030504040204" pitchFamily="34" charset="0"/>
                          <a:ea typeface="Verdana" panose="020B0604030504040204" pitchFamily="34" charset="0"/>
                          <a:cs typeface="Verdana" panose="020B0604030504040204" pitchFamily="34" charset="0"/>
                        </a:rPr>
                        <a:t> </a:t>
                      </a:r>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latin typeface="Verdana" panose="020B0604030504040204" pitchFamily="34" charset="0"/>
                          <a:ea typeface="Verdana" panose="020B0604030504040204" pitchFamily="34" charset="0"/>
                          <a:cs typeface="Verdana" panose="020B0604030504040204" pitchFamily="34" charset="0"/>
                        </a:rPr>
                        <a:t> </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904511"/>
                  </a:ext>
                </a:extLst>
              </a:tr>
              <a:tr h="1997335">
                <a:tc>
                  <a:txBody>
                    <a:bodyPr/>
                    <a:lstStyle/>
                    <a:p>
                      <a:pPr marL="0" marR="0" algn="ctr">
                        <a:spcBef>
                          <a:spcPts val="0"/>
                        </a:spcBef>
                        <a:spcAft>
                          <a:spcPts val="0"/>
                        </a:spcAft>
                      </a:pPr>
                      <a:r>
                        <a:rPr lang="en-US" sz="1300" dirty="0">
                          <a:effectLst/>
                          <a:latin typeface="Verdana" panose="020B0604030504040204" pitchFamily="34" charset="0"/>
                          <a:ea typeface="Verdana" panose="020B0604030504040204" pitchFamily="34" charset="0"/>
                          <a:cs typeface="Verdana" panose="020B0604030504040204" pitchFamily="34" charset="0"/>
                        </a:rPr>
                        <a:t> </a:t>
                      </a:r>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latin typeface="Verdana" panose="020B0604030504040204" pitchFamily="34" charset="0"/>
                          <a:ea typeface="Verdana" panose="020B0604030504040204" pitchFamily="34" charset="0"/>
                          <a:cs typeface="Verdana" panose="020B0604030504040204" pitchFamily="34" charset="0"/>
                        </a:rPr>
                        <a:t> </a:t>
                      </a:r>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8760" marR="48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9465389"/>
                  </a:ext>
                </a:extLst>
              </a:tr>
            </a:tbl>
          </a:graphicData>
        </a:graphic>
      </p:graphicFrame>
      <p:grpSp>
        <p:nvGrpSpPr>
          <p:cNvPr id="10" name="Group 9">
            <a:extLst>
              <a:ext uri="{FF2B5EF4-FFF2-40B4-BE49-F238E27FC236}">
                <a16:creationId xmlns:a16="http://schemas.microsoft.com/office/drawing/2014/main" id="{8C238B14-0197-2B4F-92CD-F3E9F103C2BC}"/>
              </a:ext>
            </a:extLst>
          </p:cNvPr>
          <p:cNvGrpSpPr/>
          <p:nvPr/>
        </p:nvGrpSpPr>
        <p:grpSpPr>
          <a:xfrm>
            <a:off x="2618014" y="2371003"/>
            <a:ext cx="4051058" cy="1231900"/>
            <a:chOff x="0" y="0"/>
            <a:chExt cx="4532592" cy="933855"/>
          </a:xfrm>
        </p:grpSpPr>
        <p:sp>
          <p:nvSpPr>
            <p:cNvPr id="11" name="Rectangle 10">
              <a:extLst>
                <a:ext uri="{FF2B5EF4-FFF2-40B4-BE49-F238E27FC236}">
                  <a16:creationId xmlns:a16="http://schemas.microsoft.com/office/drawing/2014/main" id="{ACAECA1C-080E-014D-958A-1836406C2639}"/>
                </a:ext>
              </a:extLst>
            </p:cNvPr>
            <p:cNvSpPr/>
            <p:nvPr/>
          </p:nvSpPr>
          <p:spPr>
            <a:xfrm>
              <a:off x="1284051" y="0"/>
              <a:ext cx="1896010" cy="933855"/>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000000"/>
                  </a:solidFill>
                  <a:latin typeface="Verdana" panose="020B0604030504040204" pitchFamily="34" charset="0"/>
                  <a:ea typeface="Times New Roman" panose="02020603050405020304" pitchFamily="18" charset="0"/>
                </a:rPr>
                <a:t>find the square root(s) of the input</a:t>
              </a:r>
              <a:endParaRPr lang="en-CO" sz="1000">
                <a:latin typeface="Times New Roman" panose="02020603050405020304" pitchFamily="18" charset="0"/>
                <a:ea typeface="Times New Roman" panose="02020603050405020304" pitchFamily="18" charset="0"/>
              </a:endParaRPr>
            </a:p>
          </p:txBody>
        </p:sp>
        <p:sp>
          <p:nvSpPr>
            <p:cNvPr id="12" name="Right Arrow 11">
              <a:extLst>
                <a:ext uri="{FF2B5EF4-FFF2-40B4-BE49-F238E27FC236}">
                  <a16:creationId xmlns:a16="http://schemas.microsoft.com/office/drawing/2014/main" id="{246909C9-D5C8-6A43-8966-718E10296906}"/>
                </a:ext>
              </a:extLst>
            </p:cNvPr>
            <p:cNvSpPr/>
            <p:nvPr/>
          </p:nvSpPr>
          <p:spPr>
            <a:xfrm>
              <a:off x="3239311" y="343440"/>
              <a:ext cx="359923" cy="2140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050"/>
            </a:p>
          </p:txBody>
        </p:sp>
        <p:sp>
          <p:nvSpPr>
            <p:cNvPr id="15" name="Rectangle 14">
              <a:extLst>
                <a:ext uri="{FF2B5EF4-FFF2-40B4-BE49-F238E27FC236}">
                  <a16:creationId xmlns:a16="http://schemas.microsoft.com/office/drawing/2014/main" id="{F1BC0D56-408A-9241-9DD2-669C0DF41601}"/>
                </a:ext>
              </a:extLst>
            </p:cNvPr>
            <p:cNvSpPr/>
            <p:nvPr/>
          </p:nvSpPr>
          <p:spPr>
            <a:xfrm>
              <a:off x="0" y="223736"/>
              <a:ext cx="942975"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solidFill>
                    <a:srgbClr val="000000"/>
                  </a:solidFill>
                  <a:latin typeface="Verdana" panose="020B0604030504040204" pitchFamily="34" charset="0"/>
                  <a:ea typeface="Times New Roman" panose="02020603050405020304" pitchFamily="18" charset="0"/>
                </a:rPr>
                <a:t>input</a:t>
              </a:r>
              <a:endParaRPr lang="en-CO" sz="1000">
                <a:latin typeface="Times New Roman" panose="02020603050405020304" pitchFamily="18" charset="0"/>
                <a:ea typeface="Times New Roman" panose="02020603050405020304" pitchFamily="18" charset="0"/>
              </a:endParaRPr>
            </a:p>
          </p:txBody>
        </p:sp>
        <p:sp>
          <p:nvSpPr>
            <p:cNvPr id="16" name="Right Arrow 15">
              <a:extLst>
                <a:ext uri="{FF2B5EF4-FFF2-40B4-BE49-F238E27FC236}">
                  <a16:creationId xmlns:a16="http://schemas.microsoft.com/office/drawing/2014/main" id="{BC66D9C3-D3E8-8141-BFCA-ACB97C356FCC}"/>
                </a:ext>
              </a:extLst>
            </p:cNvPr>
            <p:cNvSpPr/>
            <p:nvPr/>
          </p:nvSpPr>
          <p:spPr>
            <a:xfrm>
              <a:off x="865762" y="343440"/>
              <a:ext cx="359923" cy="2140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050"/>
            </a:p>
          </p:txBody>
        </p:sp>
        <p:sp>
          <p:nvSpPr>
            <p:cNvPr id="17" name="Rectangle 16">
              <a:extLst>
                <a:ext uri="{FF2B5EF4-FFF2-40B4-BE49-F238E27FC236}">
                  <a16:creationId xmlns:a16="http://schemas.microsoft.com/office/drawing/2014/main" id="{ABF9BE45-CAF0-B74A-B0A8-4CDC31166CF9}"/>
                </a:ext>
              </a:extLst>
            </p:cNvPr>
            <p:cNvSpPr/>
            <p:nvPr/>
          </p:nvSpPr>
          <p:spPr>
            <a:xfrm>
              <a:off x="3423882" y="234892"/>
              <a:ext cx="110871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solidFill>
                    <a:srgbClr val="000000"/>
                  </a:solidFill>
                  <a:latin typeface="Verdana" panose="020B0604030504040204" pitchFamily="34" charset="0"/>
                  <a:ea typeface="Times New Roman" panose="02020603050405020304" pitchFamily="18" charset="0"/>
                </a:rPr>
                <a:t>output</a:t>
              </a:r>
              <a:endParaRPr lang="en-CO" sz="1000">
                <a:latin typeface="Times New Roman" panose="02020603050405020304" pitchFamily="18" charset="0"/>
                <a:ea typeface="Times New Roman" panose="02020603050405020304" pitchFamily="18" charset="0"/>
              </a:endParaRPr>
            </a:p>
          </p:txBody>
        </p:sp>
      </p:grpSp>
      <p:grpSp>
        <p:nvGrpSpPr>
          <p:cNvPr id="18" name="Group 17">
            <a:extLst>
              <a:ext uri="{FF2B5EF4-FFF2-40B4-BE49-F238E27FC236}">
                <a16:creationId xmlns:a16="http://schemas.microsoft.com/office/drawing/2014/main" id="{BCAB78E7-F637-5A4E-8545-35092A32B551}"/>
              </a:ext>
            </a:extLst>
          </p:cNvPr>
          <p:cNvGrpSpPr/>
          <p:nvPr/>
        </p:nvGrpSpPr>
        <p:grpSpPr>
          <a:xfrm>
            <a:off x="2774615" y="4466463"/>
            <a:ext cx="3676650" cy="962660"/>
            <a:chOff x="0" y="0"/>
            <a:chExt cx="3677055" cy="962660"/>
          </a:xfrm>
        </p:grpSpPr>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99EE808B-D394-F748-9CA9-54A0DFA25614}"/>
                    </a:ext>
                  </a:extLst>
                </p:cNvPr>
                <p:cNvSpPr/>
                <p:nvPr/>
              </p:nvSpPr>
              <p:spPr>
                <a:xfrm>
                  <a:off x="807395" y="0"/>
                  <a:ext cx="2051685" cy="962660"/>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dirty="0">
                      <a:solidFill>
                        <a:srgbClr val="000000"/>
                      </a:solidFill>
                      <a:latin typeface="Verdana" panose="020B0604030504040204" pitchFamily="34" charset="0"/>
                      <a:ea typeface="Times New Roman" panose="02020603050405020304" pitchFamily="18" charset="0"/>
                    </a:rPr>
                    <a:t>subtract </a:t>
                  </a:r>
                  <a14:m>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3</m:t>
                      </m:r>
                    </m:oMath>
                  </a14:m>
                  <a:r>
                    <a:rPr lang="en-US" dirty="0">
                      <a:solidFill>
                        <a:srgbClr val="000000"/>
                      </a:solidFill>
                      <a:latin typeface="Verdana" panose="020B0604030504040204" pitchFamily="34" charset="0"/>
                      <a:ea typeface="Times New Roman" panose="02020603050405020304" pitchFamily="18" charset="0"/>
                    </a:rPr>
                    <a:t>, then multiply by </a:t>
                  </a:r>
                  <a14:m>
                    <m:oMath xmlns:m="http://schemas.openxmlformats.org/officeDocument/2006/math">
                      <m:f>
                        <m:fPr>
                          <m:ctrlPr>
                            <a:rPr lang="en-CO" i="1">
                              <a:solidFill>
                                <a:srgbClr val="000000"/>
                              </a:solidFill>
                              <a:latin typeface="Cambria Math" panose="02040503050406030204" pitchFamily="18" charset="0"/>
                              <a:ea typeface="Times New Roman" panose="02020603050405020304" pitchFamily="18" charset="0"/>
                            </a:rPr>
                          </m:ctrlPr>
                        </m:fPr>
                        <m:num>
                          <m:r>
                            <a:rPr lang="en-US" i="1">
                              <a:solidFill>
                                <a:srgbClr val="000000"/>
                              </a:solidFill>
                              <a:latin typeface="Cambria Math" panose="02040503050406030204" pitchFamily="18" charset="0"/>
                              <a:ea typeface="Times New Roman" panose="02020603050405020304" pitchFamily="18" charset="0"/>
                            </a:rPr>
                            <m:t>1</m:t>
                          </m:r>
                        </m:num>
                        <m:den>
                          <m:r>
                            <a:rPr lang="en-US" i="1">
                              <a:solidFill>
                                <a:srgbClr val="000000"/>
                              </a:solidFill>
                              <a:latin typeface="Cambria Math" panose="02040503050406030204" pitchFamily="18" charset="0"/>
                              <a:ea typeface="Times New Roman" panose="02020603050405020304" pitchFamily="18" charset="0"/>
                            </a:rPr>
                            <m:t>2</m:t>
                          </m:r>
                        </m:den>
                      </m:f>
                    </m:oMath>
                  </a14:m>
                  <a:endParaRPr lang="en-CO" sz="1050" dirty="0">
                    <a:latin typeface="Times New Roman" panose="02020603050405020304" pitchFamily="18" charset="0"/>
                    <a:ea typeface="Times New Roman" panose="02020603050405020304" pitchFamily="18" charset="0"/>
                  </a:endParaRPr>
                </a:p>
              </p:txBody>
            </p:sp>
          </mc:Choice>
          <mc:Fallback xmlns="">
            <p:sp>
              <p:nvSpPr>
                <p:cNvPr id="19" name="Rectangle 18">
                  <a:extLst>
                    <a:ext uri="{FF2B5EF4-FFF2-40B4-BE49-F238E27FC236}">
                      <a16:creationId xmlns:a16="http://schemas.microsoft.com/office/drawing/2014/main" id="{99EE808B-D394-F748-9CA9-54A0DFA25614}"/>
                    </a:ext>
                  </a:extLst>
                </p:cNvPr>
                <p:cNvSpPr>
                  <a:spLocks noRot="1" noChangeAspect="1" noMove="1" noResize="1" noEditPoints="1" noAdjustHandles="1" noChangeArrowheads="1" noChangeShapeType="1" noTextEdit="1"/>
                </p:cNvSpPr>
                <p:nvPr/>
              </p:nvSpPr>
              <p:spPr>
                <a:xfrm>
                  <a:off x="807395" y="0"/>
                  <a:ext cx="2051685" cy="962660"/>
                </a:xfrm>
                <a:prstGeom prst="rect">
                  <a:avLst/>
                </a:prstGeom>
                <a:blipFill>
                  <a:blip r:embed="rId4"/>
                  <a:stretch>
                    <a:fillRect/>
                  </a:stretch>
                </a:blipFill>
                <a:ln>
                  <a:solidFill>
                    <a:schemeClr val="tx1"/>
                  </a:solidFill>
                </a:ln>
                <a:effectLst/>
              </p:spPr>
              <p:txBody>
                <a:bodyPr/>
                <a:lstStyle/>
                <a:p>
                  <a:r>
                    <a:rPr lang="en-CO">
                      <a:noFill/>
                    </a:rPr>
                    <a:t> </a:t>
                  </a:r>
                </a:p>
              </p:txBody>
            </p:sp>
          </mc:Fallback>
        </mc:AlternateContent>
        <p:sp>
          <p:nvSpPr>
            <p:cNvPr id="20" name="Right Arrow 19">
              <a:extLst>
                <a:ext uri="{FF2B5EF4-FFF2-40B4-BE49-F238E27FC236}">
                  <a16:creationId xmlns:a16="http://schemas.microsoft.com/office/drawing/2014/main" id="{8355BFBD-AF3A-3A4F-B531-8D5F3A6F5399}"/>
                </a:ext>
              </a:extLst>
            </p:cNvPr>
            <p:cNvSpPr/>
            <p:nvPr/>
          </p:nvSpPr>
          <p:spPr>
            <a:xfrm>
              <a:off x="2918298" y="382351"/>
              <a:ext cx="359410" cy="2139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E2BE4161-5DA8-8248-AB17-7F312D82B834}"/>
                    </a:ext>
                  </a:extLst>
                </p:cNvPr>
                <p:cNvSpPr/>
                <p:nvPr/>
              </p:nvSpPr>
              <p:spPr>
                <a:xfrm>
                  <a:off x="0" y="262647"/>
                  <a:ext cx="46609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𝑥</m:t>
                        </m:r>
                      </m:oMath>
                    </m:oMathPara>
                  </a14:m>
                  <a:endParaRPr lang="en-CO" sz="1050">
                    <a:latin typeface="Times New Roman" panose="02020603050405020304" pitchFamily="18" charset="0"/>
                    <a:ea typeface="Times New Roman" panose="02020603050405020304" pitchFamily="18" charset="0"/>
                  </a:endParaRPr>
                </a:p>
              </p:txBody>
            </p:sp>
          </mc:Choice>
          <mc:Fallback xmlns="">
            <p:sp>
              <p:nvSpPr>
                <p:cNvPr id="21" name="Rectangle 20">
                  <a:extLst>
                    <a:ext uri="{FF2B5EF4-FFF2-40B4-BE49-F238E27FC236}">
                      <a16:creationId xmlns:a16="http://schemas.microsoft.com/office/drawing/2014/main" id="{E2BE4161-5DA8-8248-AB17-7F312D82B834}"/>
                    </a:ext>
                  </a:extLst>
                </p:cNvPr>
                <p:cNvSpPr>
                  <a:spLocks noRot="1" noChangeAspect="1" noMove="1" noResize="1" noEditPoints="1" noAdjustHandles="1" noChangeArrowheads="1" noChangeShapeType="1" noTextEdit="1"/>
                </p:cNvSpPr>
                <p:nvPr/>
              </p:nvSpPr>
              <p:spPr>
                <a:xfrm>
                  <a:off x="0" y="262647"/>
                  <a:ext cx="466090" cy="417830"/>
                </a:xfrm>
                <a:prstGeom prst="rect">
                  <a:avLst/>
                </a:prstGeom>
                <a:blipFill>
                  <a:blip r:embed="rId5"/>
                  <a:stretch>
                    <a:fillRect/>
                  </a:stretch>
                </a:blipFill>
                <a:ln>
                  <a:noFill/>
                </a:ln>
                <a:effectLst/>
              </p:spPr>
              <p:txBody>
                <a:bodyPr/>
                <a:lstStyle/>
                <a:p>
                  <a:r>
                    <a:rPr lang="en-CO">
                      <a:noFill/>
                    </a:rPr>
                    <a:t> </a:t>
                  </a:r>
                </a:p>
              </p:txBody>
            </p:sp>
          </mc:Fallback>
        </mc:AlternateContent>
        <p:sp>
          <p:nvSpPr>
            <p:cNvPr id="22" name="Right Arrow 21">
              <a:extLst>
                <a:ext uri="{FF2B5EF4-FFF2-40B4-BE49-F238E27FC236}">
                  <a16:creationId xmlns:a16="http://schemas.microsoft.com/office/drawing/2014/main" id="{3682B3B7-190B-924C-81E0-BE3752A31394}"/>
                </a:ext>
              </a:extLst>
            </p:cNvPr>
            <p:cNvSpPr/>
            <p:nvPr/>
          </p:nvSpPr>
          <p:spPr>
            <a:xfrm>
              <a:off x="389106" y="382351"/>
              <a:ext cx="359410" cy="2139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1100"/>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33E80FB6-705E-BA40-B1A2-D57AA2761616}"/>
                    </a:ext>
                  </a:extLst>
                </p:cNvPr>
                <p:cNvSpPr/>
                <p:nvPr/>
              </p:nvSpPr>
              <p:spPr>
                <a:xfrm>
                  <a:off x="3219855" y="252919"/>
                  <a:ext cx="457200" cy="4178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𝑦</m:t>
                        </m:r>
                      </m:oMath>
                    </m:oMathPara>
                  </a14:m>
                  <a:endParaRPr lang="en-CO" sz="1050">
                    <a:latin typeface="Times New Roman" panose="02020603050405020304" pitchFamily="18" charset="0"/>
                    <a:ea typeface="Times New Roman" panose="02020603050405020304" pitchFamily="18" charset="0"/>
                  </a:endParaRPr>
                </a:p>
              </p:txBody>
            </p:sp>
          </mc:Choice>
          <mc:Fallback xmlns="">
            <p:sp>
              <p:nvSpPr>
                <p:cNvPr id="23" name="Rectangle 22">
                  <a:extLst>
                    <a:ext uri="{FF2B5EF4-FFF2-40B4-BE49-F238E27FC236}">
                      <a16:creationId xmlns:a16="http://schemas.microsoft.com/office/drawing/2014/main" id="{33E80FB6-705E-BA40-B1A2-D57AA2761616}"/>
                    </a:ext>
                  </a:extLst>
                </p:cNvPr>
                <p:cNvSpPr>
                  <a:spLocks noRot="1" noChangeAspect="1" noMove="1" noResize="1" noEditPoints="1" noAdjustHandles="1" noChangeArrowheads="1" noChangeShapeType="1" noTextEdit="1"/>
                </p:cNvSpPr>
                <p:nvPr/>
              </p:nvSpPr>
              <p:spPr>
                <a:xfrm>
                  <a:off x="3219855" y="252919"/>
                  <a:ext cx="457200" cy="417830"/>
                </a:xfrm>
                <a:prstGeom prst="rect">
                  <a:avLst/>
                </a:prstGeom>
                <a:blipFill>
                  <a:blip r:embed="rId6"/>
                  <a:stretch>
                    <a:fillRect/>
                  </a:stretch>
                </a:blipFill>
                <a:ln>
                  <a:noFill/>
                </a:ln>
                <a:effectLst/>
              </p:spPr>
              <p:txBody>
                <a:bodyPr/>
                <a:lstStyle/>
                <a:p>
                  <a:r>
                    <a:rPr lang="en-CO">
                      <a:noFill/>
                    </a:rPr>
                    <a:t> </a:t>
                  </a:r>
                </a:p>
              </p:txBody>
            </p:sp>
          </mc:Fallback>
        </mc:AlternateContent>
      </p:grpSp>
      <p:pic>
        <p:nvPicPr>
          <p:cNvPr id="24" name="Picture 23">
            <a:extLst>
              <a:ext uri="{FF2B5EF4-FFF2-40B4-BE49-F238E27FC236}">
                <a16:creationId xmlns:a16="http://schemas.microsoft.com/office/drawing/2014/main" id="{B5D88B4C-662F-4346-A496-F7D790867A2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660961" y="2078891"/>
            <a:ext cx="1139240" cy="1697738"/>
          </a:xfrm>
          <a:prstGeom prst="rect">
            <a:avLst/>
          </a:prstGeom>
        </p:spPr>
      </p:pic>
      <p:pic>
        <p:nvPicPr>
          <p:cNvPr id="25" name="Picture 24">
            <a:extLst>
              <a:ext uri="{FF2B5EF4-FFF2-40B4-BE49-F238E27FC236}">
                <a16:creationId xmlns:a16="http://schemas.microsoft.com/office/drawing/2014/main" id="{D5186C9E-296C-314B-ADCE-6D2642DB1200}"/>
              </a:ext>
            </a:extLst>
          </p:cNvPr>
          <p:cNvPicPr>
            <a:picLocks noChangeAspect="1"/>
          </p:cNvPicPr>
          <p:nvPr/>
        </p:nvPicPr>
        <p:blipFill>
          <a:blip r:embed="rId8"/>
          <a:stretch>
            <a:fillRect/>
          </a:stretch>
        </p:blipFill>
        <p:spPr>
          <a:xfrm>
            <a:off x="7554310" y="4052930"/>
            <a:ext cx="1352542" cy="1697738"/>
          </a:xfrm>
          <a:prstGeom prst="rect">
            <a:avLst/>
          </a:prstGeom>
        </p:spPr>
      </p:pic>
    </p:spTree>
    <p:extLst>
      <p:ext uri="{BB962C8B-B14F-4D97-AF65-F5344CB8AC3E}">
        <p14:creationId xmlns:p14="http://schemas.microsoft.com/office/powerpoint/2010/main" val="300017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411717"/>
            <a:ext cx="10515600" cy="3600986"/>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46355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The                        of a relation depend on the values used for the  	            Therefore, the inputs are the 		      and the outputs are the </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descr="A picture containing text&#10;&#10;Description automatically generated">
            <a:extLst>
              <a:ext uri="{FF2B5EF4-FFF2-40B4-BE49-F238E27FC236}">
                <a16:creationId xmlns:a16="http://schemas.microsoft.com/office/drawing/2014/main" id="{75AE772F-5430-8F42-83DC-F98CFE1A129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10870" y="990286"/>
            <a:ext cx="2342377" cy="886380"/>
          </a:xfrm>
          <a:prstGeom prst="rect">
            <a:avLst/>
          </a:prstGeom>
        </p:spPr>
      </p:pic>
      <p:pic>
        <p:nvPicPr>
          <p:cNvPr id="7" name="Picture 6" descr="Shape&#10;&#10;Description automatically generated with low confidence">
            <a:extLst>
              <a:ext uri="{FF2B5EF4-FFF2-40B4-BE49-F238E27FC236}">
                <a16:creationId xmlns:a16="http://schemas.microsoft.com/office/drawing/2014/main" id="{CCA87827-A90F-C143-977E-4780DE5FDA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10870" y="1983268"/>
            <a:ext cx="1768540" cy="850040"/>
          </a:xfrm>
          <a:prstGeom prst="rect">
            <a:avLst/>
          </a:prstGeom>
        </p:spPr>
      </p:pic>
      <p:pic>
        <p:nvPicPr>
          <p:cNvPr id="13" name="Picture 12">
            <a:extLst>
              <a:ext uri="{FF2B5EF4-FFF2-40B4-BE49-F238E27FC236}">
                <a16:creationId xmlns:a16="http://schemas.microsoft.com/office/drawing/2014/main" id="{4E4D70C6-E39F-0444-8591-25C6F137A0B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32197" y="1944870"/>
            <a:ext cx="3373756" cy="850039"/>
          </a:xfrm>
          <a:prstGeom prst="rect">
            <a:avLst/>
          </a:prstGeom>
        </p:spPr>
      </p:pic>
      <p:pic>
        <p:nvPicPr>
          <p:cNvPr id="26" name="Picture 25" descr="A picture containing text&#10;&#10;Description automatically generated">
            <a:extLst>
              <a:ext uri="{FF2B5EF4-FFF2-40B4-BE49-F238E27FC236}">
                <a16:creationId xmlns:a16="http://schemas.microsoft.com/office/drawing/2014/main" id="{9F59F55F-5C19-FA4A-8AAC-C46733B0845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196071" y="2833308"/>
            <a:ext cx="3489003" cy="865405"/>
          </a:xfrm>
          <a:prstGeom prst="rect">
            <a:avLst/>
          </a:prstGeom>
        </p:spPr>
      </p:pic>
    </p:spTree>
    <p:extLst>
      <p:ext uri="{BB962C8B-B14F-4D97-AF65-F5344CB8AC3E}">
        <p14:creationId xmlns:p14="http://schemas.microsoft.com/office/powerpoint/2010/main" val="2799577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174210"/>
            <a:ext cx="10515600" cy="1569660"/>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Relations can be represented using graphs.</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For each relation below, its graph and mapping diagram are shown. </a:t>
            </a:r>
          </a:p>
        </p:txBody>
      </p:sp>
      <p:graphicFrame>
        <p:nvGraphicFramePr>
          <p:cNvPr id="2" name="Table 1">
            <a:extLst>
              <a:ext uri="{FF2B5EF4-FFF2-40B4-BE49-F238E27FC236}">
                <a16:creationId xmlns:a16="http://schemas.microsoft.com/office/drawing/2014/main" id="{19086BC1-E1D3-FE48-865F-874D0CC71A95}"/>
              </a:ext>
            </a:extLst>
          </p:cNvPr>
          <p:cNvGraphicFramePr>
            <a:graphicFrameLocks noGrp="1"/>
          </p:cNvGraphicFramePr>
          <p:nvPr>
            <p:extLst>
              <p:ext uri="{D42A27DB-BD31-4B8C-83A1-F6EECF244321}">
                <p14:modId xmlns:p14="http://schemas.microsoft.com/office/powerpoint/2010/main" val="346687908"/>
              </p:ext>
            </p:extLst>
          </p:nvPr>
        </p:nvGraphicFramePr>
        <p:xfrm>
          <a:off x="2125508" y="2000169"/>
          <a:ext cx="7940984" cy="4201206"/>
        </p:xfrm>
        <a:graphic>
          <a:graphicData uri="http://schemas.openxmlformats.org/drawingml/2006/table">
            <a:tbl>
              <a:tblPr firstRow="1" firstCol="1" bandRow="1">
                <a:tableStyleId>{A91F0D33-8C57-4600-99A7-42BC86742BE1}</a:tableStyleId>
              </a:tblPr>
              <a:tblGrid>
                <a:gridCol w="1339068">
                  <a:extLst>
                    <a:ext uri="{9D8B030D-6E8A-4147-A177-3AD203B41FA5}">
                      <a16:colId xmlns:a16="http://schemas.microsoft.com/office/drawing/2014/main" val="3058055761"/>
                    </a:ext>
                  </a:extLst>
                </a:gridCol>
                <a:gridCol w="2864982">
                  <a:extLst>
                    <a:ext uri="{9D8B030D-6E8A-4147-A177-3AD203B41FA5}">
                      <a16:colId xmlns:a16="http://schemas.microsoft.com/office/drawing/2014/main" val="360501065"/>
                    </a:ext>
                  </a:extLst>
                </a:gridCol>
                <a:gridCol w="3736934">
                  <a:extLst>
                    <a:ext uri="{9D8B030D-6E8A-4147-A177-3AD203B41FA5}">
                      <a16:colId xmlns:a16="http://schemas.microsoft.com/office/drawing/2014/main" val="1075441282"/>
                    </a:ext>
                  </a:extLst>
                </a:gridCol>
              </a:tblGrid>
              <a:tr h="360104">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Relation</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Mapping Diagram</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Graph</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90617983"/>
                  </a:ext>
                </a:extLst>
              </a:tr>
              <a:tr h="1920551">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Relation A</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3260347"/>
                  </a:ext>
                </a:extLst>
              </a:tr>
              <a:tr h="1920551">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Relation B</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txBody>
                  <a:tcPr marL="46621" marR="46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8591311"/>
                  </a:ext>
                </a:extLst>
              </a:tr>
            </a:tbl>
          </a:graphicData>
        </a:graphic>
      </p:graphicFrame>
      <p:grpSp>
        <p:nvGrpSpPr>
          <p:cNvPr id="11" name="Group 10">
            <a:extLst>
              <a:ext uri="{FF2B5EF4-FFF2-40B4-BE49-F238E27FC236}">
                <a16:creationId xmlns:a16="http://schemas.microsoft.com/office/drawing/2014/main" id="{11AFB001-F814-9E43-B5B1-35A2B91C016F}"/>
              </a:ext>
            </a:extLst>
          </p:cNvPr>
          <p:cNvGrpSpPr/>
          <p:nvPr/>
        </p:nvGrpSpPr>
        <p:grpSpPr>
          <a:xfrm>
            <a:off x="4291914" y="2490026"/>
            <a:ext cx="1231664" cy="1663382"/>
            <a:chOff x="0" y="0"/>
            <a:chExt cx="1786296" cy="2412365"/>
          </a:xfrm>
        </p:grpSpPr>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D6A7FC51-DAAE-EC41-95A9-979204B07281}"/>
                    </a:ext>
                  </a:extLst>
                </p:cNvPr>
                <p:cNvSpPr>
                  <a:spLocks noChangeAspect="1"/>
                </p:cNvSpPr>
                <p:nvPr/>
              </p:nvSpPr>
              <p:spPr>
                <a:xfrm>
                  <a:off x="0" y="0"/>
                  <a:ext cx="687070" cy="241236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m:t>
                        </m:r>
                        <m:r>
                          <a:rPr lang="en-US">
                            <a:solidFill>
                              <a:srgbClr val="000000"/>
                            </a:solidFill>
                            <a:latin typeface="Cambria Math" panose="02040503050406030204" pitchFamily="18" charset="0"/>
                            <a:ea typeface="Times New Roman" panose="02020603050405020304" pitchFamily="18" charset="0"/>
                          </a:rPr>
                          <m:t>2</m:t>
                        </m:r>
                      </m:oMath>
                    </m:oMathPara>
                  </a14:m>
                  <a:endParaRPr lang="en-CO" sz="105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0</m:t>
                        </m:r>
                      </m:oMath>
                    </m:oMathPara>
                  </a14:m>
                  <a:endParaRPr lang="en-CO" sz="105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1.5</m:t>
                        </m:r>
                      </m:oMath>
                    </m:oMathPara>
                  </a14:m>
                  <a:endParaRPr lang="en-CO" sz="105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en-CO" sz="1050">
                    <a:latin typeface="Times New Roman" panose="02020603050405020304" pitchFamily="18" charset="0"/>
                    <a:ea typeface="Times New Roman" panose="02020603050405020304" pitchFamily="18" charset="0"/>
                  </a:endParaRPr>
                </a:p>
              </p:txBody>
            </p:sp>
          </mc:Choice>
          <mc:Fallback xmlns="">
            <p:sp>
              <p:nvSpPr>
                <p:cNvPr id="12" name="Oval 11">
                  <a:extLst>
                    <a:ext uri="{FF2B5EF4-FFF2-40B4-BE49-F238E27FC236}">
                      <a16:creationId xmlns:a16="http://schemas.microsoft.com/office/drawing/2014/main" id="{D6A7FC51-DAAE-EC41-95A9-979204B07281}"/>
                    </a:ext>
                  </a:extLst>
                </p:cNvPr>
                <p:cNvSpPr>
                  <a:spLocks noRot="1" noChangeAspect="1" noMove="1" noResize="1" noEditPoints="1" noAdjustHandles="1" noChangeArrowheads="1" noChangeShapeType="1" noTextEdit="1"/>
                </p:cNvSpPr>
                <p:nvPr/>
              </p:nvSpPr>
              <p:spPr>
                <a:xfrm>
                  <a:off x="0" y="0"/>
                  <a:ext cx="687070" cy="2412365"/>
                </a:xfrm>
                <a:prstGeom prst="ellipse">
                  <a:avLst/>
                </a:prstGeom>
                <a:blipFill>
                  <a:blip r:embed="rId4"/>
                  <a:stretch>
                    <a:fillRect/>
                  </a:stretch>
                </a:blipFill>
                <a:ln>
                  <a:solidFill>
                    <a:schemeClr val="tx1"/>
                  </a:solid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B7783BF7-0824-A94B-A817-B1DAA0B346E1}"/>
                    </a:ext>
                  </a:extLst>
                </p:cNvPr>
                <p:cNvSpPr/>
                <p:nvPr/>
              </p:nvSpPr>
              <p:spPr>
                <a:xfrm>
                  <a:off x="1099226" y="0"/>
                  <a:ext cx="687070" cy="241236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20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m:t>
                        </m:r>
                        <m:r>
                          <a:rPr lang="en-US">
                            <a:solidFill>
                              <a:srgbClr val="000000"/>
                            </a:solidFill>
                            <a:latin typeface="Cambria Math" panose="02040503050406030204" pitchFamily="18" charset="0"/>
                            <a:ea typeface="Times New Roman" panose="02020603050405020304" pitchFamily="18" charset="0"/>
                          </a:rPr>
                          <m:t>1</m:t>
                        </m:r>
                      </m:oMath>
                    </m:oMathPara>
                  </a14:m>
                  <a:endParaRPr lang="en-CO" sz="1050">
                    <a:latin typeface="Times New Roman" panose="02020603050405020304" pitchFamily="18" charset="0"/>
                    <a:ea typeface="Times New Roman" panose="02020603050405020304" pitchFamily="18" charset="0"/>
                  </a:endParaRPr>
                </a:p>
                <a:p>
                  <a:pPr algn="ctr">
                    <a:lnSpc>
                      <a:spcPct val="200000"/>
                    </a:lnSpc>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Times New Roman" panose="02020603050405020304" pitchFamily="18" charset="0"/>
                          </a:rPr>
                          <m:t>−3</m:t>
                        </m:r>
                      </m:oMath>
                    </m:oMathPara>
                  </a14:m>
                  <a:endParaRPr lang="en-CO" sz="1050">
                    <a:latin typeface="Times New Roman" panose="02020603050405020304" pitchFamily="18" charset="0"/>
                    <a:ea typeface="Times New Roman" panose="02020603050405020304" pitchFamily="18" charset="0"/>
                  </a:endParaRPr>
                </a:p>
                <a:p>
                  <a:pPr algn="ctr">
                    <a:lnSpc>
                      <a:spcPct val="200000"/>
                    </a:lnSpc>
                  </a:pPr>
                  <a14:m>
                    <m:oMath xmlns:m="http://schemas.openxmlformats.org/officeDocument/2006/math">
                      <m:f>
                        <m:fPr>
                          <m:ctrlPr>
                            <a:rPr lang="en-CO"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5</m:t>
                          </m:r>
                        </m:num>
                        <m:den>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a:solidFill>
                        <a:srgbClr val="000000"/>
                      </a:solidFill>
                      <a:ea typeface="Times New Roman" panose="02020603050405020304" pitchFamily="18" charset="0"/>
                      <a:cs typeface="Times New Roman" panose="02020603050405020304" pitchFamily="18" charset="0"/>
                    </a:rPr>
                    <a:t>  </a:t>
                  </a:r>
                  <a:endParaRPr lang="en-CO" sz="1050">
                    <a:latin typeface="Times New Roman" panose="02020603050405020304" pitchFamily="18" charset="0"/>
                    <a:ea typeface="Times New Roman" panose="02020603050405020304" pitchFamily="18" charset="0"/>
                  </a:endParaRPr>
                </a:p>
              </p:txBody>
            </p:sp>
          </mc:Choice>
          <mc:Fallback xmlns="">
            <p:sp>
              <p:nvSpPr>
                <p:cNvPr id="14" name="Oval 13">
                  <a:extLst>
                    <a:ext uri="{FF2B5EF4-FFF2-40B4-BE49-F238E27FC236}">
                      <a16:creationId xmlns:a16="http://schemas.microsoft.com/office/drawing/2014/main" id="{B7783BF7-0824-A94B-A817-B1DAA0B346E1}"/>
                    </a:ext>
                  </a:extLst>
                </p:cNvPr>
                <p:cNvSpPr>
                  <a:spLocks noRot="1" noChangeAspect="1" noMove="1" noResize="1" noEditPoints="1" noAdjustHandles="1" noChangeArrowheads="1" noChangeShapeType="1" noTextEdit="1"/>
                </p:cNvSpPr>
                <p:nvPr/>
              </p:nvSpPr>
              <p:spPr>
                <a:xfrm>
                  <a:off x="1099226" y="0"/>
                  <a:ext cx="687070" cy="2412365"/>
                </a:xfrm>
                <a:prstGeom prst="ellipse">
                  <a:avLst/>
                </a:prstGeom>
                <a:blipFill>
                  <a:blip r:embed="rId5"/>
                  <a:stretch>
                    <a:fillRect/>
                  </a:stretch>
                </a:blipFill>
                <a:ln>
                  <a:solidFill>
                    <a:schemeClr val="tx1"/>
                  </a:solidFill>
                </a:ln>
              </p:spPr>
              <p:txBody>
                <a:bodyPr/>
                <a:lstStyle/>
                <a:p>
                  <a:r>
                    <a:rPr lang="en-CO">
                      <a:noFill/>
                    </a:rPr>
                    <a:t> </a:t>
                  </a:r>
                </a:p>
              </p:txBody>
            </p:sp>
          </mc:Fallback>
        </mc:AlternateContent>
        <p:cxnSp>
          <p:nvCxnSpPr>
            <p:cNvPr id="15" name="Straight Arrow Connector 14">
              <a:extLst>
                <a:ext uri="{FF2B5EF4-FFF2-40B4-BE49-F238E27FC236}">
                  <a16:creationId xmlns:a16="http://schemas.microsoft.com/office/drawing/2014/main" id="{7931E1F5-58A0-C345-808F-3005A854511B}"/>
                </a:ext>
              </a:extLst>
            </p:cNvPr>
            <p:cNvCxnSpPr/>
            <p:nvPr/>
          </p:nvCxnSpPr>
          <p:spPr>
            <a:xfrm>
              <a:off x="544749" y="515566"/>
              <a:ext cx="729574" cy="5252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31F421E-7308-324F-B72B-CC213E0A7A9E}"/>
                </a:ext>
              </a:extLst>
            </p:cNvPr>
            <p:cNvCxnSpPr/>
            <p:nvPr/>
          </p:nvCxnSpPr>
          <p:spPr>
            <a:xfrm>
              <a:off x="457200" y="953311"/>
              <a:ext cx="816529" cy="7003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580163E-4C04-A04D-B319-DB6553F00203}"/>
                </a:ext>
              </a:extLst>
            </p:cNvPr>
            <p:cNvCxnSpPr/>
            <p:nvPr/>
          </p:nvCxnSpPr>
          <p:spPr>
            <a:xfrm flipV="1">
              <a:off x="544749" y="560421"/>
              <a:ext cx="671208" cy="7879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DE911ED-1EBF-8247-9A62-EA5AE71AE60C}"/>
                </a:ext>
              </a:extLst>
            </p:cNvPr>
            <p:cNvCxnSpPr/>
            <p:nvPr/>
          </p:nvCxnSpPr>
          <p:spPr>
            <a:xfrm flipV="1">
              <a:off x="457200" y="1153808"/>
              <a:ext cx="758744" cy="573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2DE8154C-CE34-1741-A478-44E54DDA9346}"/>
              </a:ext>
            </a:extLst>
          </p:cNvPr>
          <p:cNvGrpSpPr/>
          <p:nvPr/>
        </p:nvGrpSpPr>
        <p:grpSpPr>
          <a:xfrm>
            <a:off x="4219753" y="4483407"/>
            <a:ext cx="1435769" cy="1477621"/>
            <a:chOff x="0" y="0"/>
            <a:chExt cx="1786295" cy="1838528"/>
          </a:xfrm>
        </p:grpSpPr>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F527831A-FEC4-D74D-949D-F738A170AC01}"/>
                    </a:ext>
                  </a:extLst>
                </p:cNvPr>
                <p:cNvSpPr>
                  <a:spLocks noChangeAspect="1"/>
                </p:cNvSpPr>
                <p:nvPr/>
              </p:nvSpPr>
              <p:spPr>
                <a:xfrm>
                  <a:off x="0" y="0"/>
                  <a:ext cx="687070" cy="18385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Times New Roman" panose="02020603050405020304" pitchFamily="18" charset="0"/>
                          </a:rPr>
                          <m:t>1</m:t>
                        </m:r>
                      </m:oMath>
                    </m:oMathPara>
                  </a14:m>
                  <a:endParaRPr lang="en-CO" sz="110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Times New Roman" panose="02020603050405020304" pitchFamily="18" charset="0"/>
                          </a:rPr>
                          <m:t>4</m:t>
                        </m:r>
                      </m:oMath>
                    </m:oMathPara>
                  </a14:m>
                  <a:endParaRPr lang="en-CO" sz="110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160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en-CO" sz="1100">
                    <a:latin typeface="Times New Roman" panose="02020603050405020304" pitchFamily="18" charset="0"/>
                    <a:ea typeface="Times New Roman" panose="02020603050405020304" pitchFamily="18" charset="0"/>
                  </a:endParaRPr>
                </a:p>
              </p:txBody>
            </p:sp>
          </mc:Choice>
          <mc:Fallback xmlns="">
            <p:sp>
              <p:nvSpPr>
                <p:cNvPr id="20" name="Oval 19">
                  <a:extLst>
                    <a:ext uri="{FF2B5EF4-FFF2-40B4-BE49-F238E27FC236}">
                      <a16:creationId xmlns:a16="http://schemas.microsoft.com/office/drawing/2014/main" id="{F527831A-FEC4-D74D-949D-F738A170AC01}"/>
                    </a:ext>
                  </a:extLst>
                </p:cNvPr>
                <p:cNvSpPr>
                  <a:spLocks noRot="1" noChangeAspect="1" noMove="1" noResize="1" noEditPoints="1" noAdjustHandles="1" noChangeArrowheads="1" noChangeShapeType="1" noTextEdit="1"/>
                </p:cNvSpPr>
                <p:nvPr/>
              </p:nvSpPr>
              <p:spPr>
                <a:xfrm>
                  <a:off x="0" y="0"/>
                  <a:ext cx="687070" cy="1838528"/>
                </a:xfrm>
                <a:prstGeom prst="ellipse">
                  <a:avLst/>
                </a:prstGeom>
                <a:blipFill>
                  <a:blip r:embed="rId6"/>
                  <a:stretch>
                    <a:fillRect/>
                  </a:stretch>
                </a:blipFill>
                <a:ln>
                  <a:solidFill>
                    <a:schemeClr val="tx1"/>
                  </a:solid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5D02F94-AF1F-D24A-AABC-1D2D000A2034}"/>
                    </a:ext>
                  </a:extLst>
                </p:cNvPr>
                <p:cNvSpPr/>
                <p:nvPr/>
              </p:nvSpPr>
              <p:spPr>
                <a:xfrm>
                  <a:off x="1099225" y="0"/>
                  <a:ext cx="687070" cy="1838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200000"/>
                    </a:lnSpc>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Times New Roman" panose="02020603050405020304" pitchFamily="18" charset="0"/>
                          </a:rPr>
                          <m:t>−</m:t>
                        </m:r>
                        <m:r>
                          <a:rPr lang="en-US" sz="1600">
                            <a:solidFill>
                              <a:srgbClr val="000000"/>
                            </a:solidFill>
                            <a:latin typeface="Cambria Math" panose="02040503050406030204" pitchFamily="18" charset="0"/>
                            <a:ea typeface="Times New Roman" panose="02020603050405020304" pitchFamily="18" charset="0"/>
                          </a:rPr>
                          <m:t>4</m:t>
                        </m:r>
                      </m:oMath>
                    </m:oMathPara>
                  </a14:m>
                  <a:endParaRPr lang="en-CO" sz="1100">
                    <a:latin typeface="Times New Roman" panose="02020603050405020304" pitchFamily="18" charset="0"/>
                    <a:ea typeface="Times New Roman" panose="02020603050405020304" pitchFamily="18" charset="0"/>
                  </a:endParaRPr>
                </a:p>
                <a:p>
                  <a:pPr algn="ctr">
                    <a:lnSpc>
                      <a:spcPct val="200000"/>
                    </a:lnSpc>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Times New Roman" panose="02020603050405020304" pitchFamily="18" charset="0"/>
                          </a:rPr>
                          <m:t>5</m:t>
                        </m:r>
                      </m:oMath>
                    </m:oMathPara>
                  </a14:m>
                  <a:endParaRPr lang="en-CO" sz="1100">
                    <a:latin typeface="Times New Roman" panose="02020603050405020304" pitchFamily="18" charset="0"/>
                    <a:ea typeface="Times New Roman" panose="02020603050405020304" pitchFamily="18" charset="0"/>
                  </a:endParaRPr>
                </a:p>
              </p:txBody>
            </p:sp>
          </mc:Choice>
          <mc:Fallback xmlns="">
            <p:sp>
              <p:nvSpPr>
                <p:cNvPr id="21" name="Oval 20">
                  <a:extLst>
                    <a:ext uri="{FF2B5EF4-FFF2-40B4-BE49-F238E27FC236}">
                      <a16:creationId xmlns:a16="http://schemas.microsoft.com/office/drawing/2014/main" id="{55D02F94-AF1F-D24A-AABC-1D2D000A2034}"/>
                    </a:ext>
                  </a:extLst>
                </p:cNvPr>
                <p:cNvSpPr>
                  <a:spLocks noRot="1" noChangeAspect="1" noMove="1" noResize="1" noEditPoints="1" noAdjustHandles="1" noChangeArrowheads="1" noChangeShapeType="1" noTextEdit="1"/>
                </p:cNvSpPr>
                <p:nvPr/>
              </p:nvSpPr>
              <p:spPr>
                <a:xfrm>
                  <a:off x="1099225" y="0"/>
                  <a:ext cx="687070" cy="1838325"/>
                </a:xfrm>
                <a:prstGeom prst="ellipse">
                  <a:avLst/>
                </a:prstGeom>
                <a:blipFill>
                  <a:blip r:embed="rId7"/>
                  <a:stretch>
                    <a:fillRect/>
                  </a:stretch>
                </a:blipFill>
                <a:ln>
                  <a:solidFill>
                    <a:schemeClr val="tx1"/>
                  </a:solidFill>
                </a:ln>
              </p:spPr>
              <p:txBody>
                <a:bodyPr/>
                <a:lstStyle/>
                <a:p>
                  <a:r>
                    <a:rPr lang="en-CO">
                      <a:noFill/>
                    </a:rPr>
                    <a:t> </a:t>
                  </a:r>
                </a:p>
              </p:txBody>
            </p:sp>
          </mc:Fallback>
        </mc:AlternateContent>
        <p:cxnSp>
          <p:nvCxnSpPr>
            <p:cNvPr id="22" name="Straight Arrow Connector 21">
              <a:extLst>
                <a:ext uri="{FF2B5EF4-FFF2-40B4-BE49-F238E27FC236}">
                  <a16:creationId xmlns:a16="http://schemas.microsoft.com/office/drawing/2014/main" id="{5B07F267-E54A-5947-9396-F0F765B03C0B}"/>
                </a:ext>
              </a:extLst>
            </p:cNvPr>
            <p:cNvCxnSpPr/>
            <p:nvPr/>
          </p:nvCxnSpPr>
          <p:spPr>
            <a:xfrm>
              <a:off x="457200" y="430989"/>
              <a:ext cx="815975" cy="680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6A3B843-757A-AE43-9287-7DCCB59AFF1C}"/>
                </a:ext>
              </a:extLst>
            </p:cNvPr>
            <p:cNvCxnSpPr/>
            <p:nvPr/>
          </p:nvCxnSpPr>
          <p:spPr>
            <a:xfrm flipV="1">
              <a:off x="457200" y="612032"/>
              <a:ext cx="817093" cy="272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D1D18D7-EF4C-644B-80DC-BD407219051F}"/>
                </a:ext>
              </a:extLst>
            </p:cNvPr>
            <p:cNvCxnSpPr/>
            <p:nvPr/>
          </p:nvCxnSpPr>
          <p:spPr>
            <a:xfrm flipV="1">
              <a:off x="544749" y="1101387"/>
              <a:ext cx="729544" cy="1517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33E5EEF-349D-764A-A6FA-F3C9CC8704AE}"/>
                </a:ext>
              </a:extLst>
            </p:cNvPr>
            <p:cNvCxnSpPr/>
            <p:nvPr/>
          </p:nvCxnSpPr>
          <p:spPr>
            <a:xfrm>
              <a:off x="457200" y="496110"/>
              <a:ext cx="815894" cy="5318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7" name="Picture 26" descr="Chart, scatter chart&#10;&#10;Description automatically generated">
            <a:extLst>
              <a:ext uri="{FF2B5EF4-FFF2-40B4-BE49-F238E27FC236}">
                <a16:creationId xmlns:a16="http://schemas.microsoft.com/office/drawing/2014/main" id="{9B6E4067-7795-474D-A65F-DEFCE4FB014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408993" y="2490026"/>
            <a:ext cx="1662462" cy="1662462"/>
          </a:xfrm>
          <a:prstGeom prst="rect">
            <a:avLst/>
          </a:prstGeom>
        </p:spPr>
      </p:pic>
      <p:pic>
        <p:nvPicPr>
          <p:cNvPr id="28" name="Picture 27" descr="Chart, line chart, scatter chart&#10;&#10;Description automatically generated">
            <a:extLst>
              <a:ext uri="{FF2B5EF4-FFF2-40B4-BE49-F238E27FC236}">
                <a16:creationId xmlns:a16="http://schemas.microsoft.com/office/drawing/2014/main" id="{0DDAAF66-D0FB-374F-8698-637D17DC12FD}"/>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402683" y="4400974"/>
            <a:ext cx="1662462" cy="1662462"/>
          </a:xfrm>
          <a:prstGeom prst="rect">
            <a:avLst/>
          </a:prstGeom>
        </p:spPr>
      </p:pic>
    </p:spTree>
    <p:extLst>
      <p:ext uri="{BB962C8B-B14F-4D97-AF65-F5344CB8AC3E}">
        <p14:creationId xmlns:p14="http://schemas.microsoft.com/office/powerpoint/2010/main" val="3187620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6CA3BD6-5823-324E-9895-4E1BE981A260}"/>
              </a:ext>
            </a:extLst>
          </p:cNvPr>
          <p:cNvSpPr txBox="1"/>
          <p:nvPr/>
        </p:nvSpPr>
        <p:spPr>
          <a:xfrm>
            <a:off x="914400" y="174210"/>
            <a:ext cx="10515600" cy="5031442"/>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your observations when comparing the mapping diagrams and graphs for each relation.</a:t>
            </a: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46355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mapping diagram for each of the relations has 	     input-output pairs indicated by arrows. The graph showing the same relation has         points. The input value from the mapping diagram matches the                   of each point on the graph, and its corresponding output value from the mapping diagram matches the                  of each point on the graph. </a:t>
            </a:r>
          </a:p>
        </p:txBody>
      </p:sp>
      <p:pic>
        <p:nvPicPr>
          <p:cNvPr id="4" name="Picture 3" descr="A picture containing icon&#10;&#10;Description automatically generated">
            <a:extLst>
              <a:ext uri="{FF2B5EF4-FFF2-40B4-BE49-F238E27FC236}">
                <a16:creationId xmlns:a16="http://schemas.microsoft.com/office/drawing/2014/main" id="{E9A02879-6C7C-F444-B257-BB93D2E6210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025496" y="1426717"/>
            <a:ext cx="671474" cy="985155"/>
          </a:xfrm>
          <a:prstGeom prst="rect">
            <a:avLst/>
          </a:prstGeom>
        </p:spPr>
      </p:pic>
      <p:pic>
        <p:nvPicPr>
          <p:cNvPr id="29" name="Picture 28" descr="A picture containing icon&#10;&#10;Description automatically generated">
            <a:extLst>
              <a:ext uri="{FF2B5EF4-FFF2-40B4-BE49-F238E27FC236}">
                <a16:creationId xmlns:a16="http://schemas.microsoft.com/office/drawing/2014/main" id="{591E7A7D-0D30-CF46-82CA-8976AA23F7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500767" y="2112773"/>
            <a:ext cx="671474" cy="985155"/>
          </a:xfrm>
          <a:prstGeom prst="rect">
            <a:avLst/>
          </a:prstGeom>
        </p:spPr>
      </p:pic>
      <p:pic>
        <p:nvPicPr>
          <p:cNvPr id="7" name="Picture 6">
            <a:extLst>
              <a:ext uri="{FF2B5EF4-FFF2-40B4-BE49-F238E27FC236}">
                <a16:creationId xmlns:a16="http://schemas.microsoft.com/office/drawing/2014/main" id="{234C845C-8061-B642-9C11-9CE14766282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47838" y="3133553"/>
            <a:ext cx="1505857" cy="780909"/>
          </a:xfrm>
          <a:prstGeom prst="rect">
            <a:avLst/>
          </a:prstGeom>
        </p:spPr>
      </p:pic>
      <p:pic>
        <p:nvPicPr>
          <p:cNvPr id="30" name="Picture 29">
            <a:extLst>
              <a:ext uri="{FF2B5EF4-FFF2-40B4-BE49-F238E27FC236}">
                <a16:creationId xmlns:a16="http://schemas.microsoft.com/office/drawing/2014/main" id="{AFF0091D-3D9B-1348-8ACF-31331AAF5D0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19864" y="4557216"/>
            <a:ext cx="1505857" cy="780909"/>
          </a:xfrm>
          <a:prstGeom prst="rect">
            <a:avLst/>
          </a:prstGeom>
        </p:spPr>
      </p:pic>
    </p:spTree>
    <p:extLst>
      <p:ext uri="{BB962C8B-B14F-4D97-AF65-F5344CB8AC3E}">
        <p14:creationId xmlns:p14="http://schemas.microsoft.com/office/powerpoint/2010/main" val="2132488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CA3BD6-5823-324E-9895-4E1BE981A260}"/>
                  </a:ext>
                </a:extLst>
              </p:cNvPr>
              <p:cNvSpPr txBox="1"/>
              <p:nvPr/>
            </p:nvSpPr>
            <p:spPr>
              <a:xfrm>
                <a:off x="914400" y="370153"/>
                <a:ext cx="10515600" cy="3943900"/>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set of ordered pairs can also be used to represent a relation.</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The ordered pairs shown below can be used to represent Relation A from the previous table.</a:t>
                </a: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lgn="ct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{(−2,− 3), (0, </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5</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r>
                      <a:rPr lang="en-US" sz="2400" i="1" dirty="0">
                        <a:latin typeface="Cambria Math" panose="02040503050406030204" pitchFamily="18" charset="0"/>
                        <a:ea typeface="Verdana" panose="020B0604030504040204" pitchFamily="34" charset="0"/>
                        <a:cs typeface="Verdana" panose="020B0604030504040204" pitchFamily="34" charset="0"/>
                      </a:rPr>
                      <m:t>), (1.5, −1), (3,−3)}</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49263"/>
                <a:r>
                  <a:rPr lang="en-US" sz="2400" dirty="0">
                    <a:latin typeface="Verdana" panose="020B0604030504040204" pitchFamily="34" charset="0"/>
                    <a:ea typeface="Verdana" panose="020B0604030504040204" pitchFamily="34" charset="0"/>
                    <a:cs typeface="Verdana" panose="020B0604030504040204" pitchFamily="34" charset="0"/>
                  </a:rPr>
                  <a:t>Write the set of ordered pairs that represents Relation B from the previous table.</a:t>
                </a:r>
              </a:p>
            </p:txBody>
          </p:sp>
        </mc:Choice>
        <mc:Fallback xmlns="">
          <p:sp>
            <p:nvSpPr>
              <p:cNvPr id="6" name="TextBox 5">
                <a:extLst>
                  <a:ext uri="{FF2B5EF4-FFF2-40B4-BE49-F238E27FC236}">
                    <a16:creationId xmlns:a16="http://schemas.microsoft.com/office/drawing/2014/main" id="{46CA3BD6-5823-324E-9895-4E1BE981A260}"/>
                  </a:ext>
                </a:extLst>
              </p:cNvPr>
              <p:cNvSpPr txBox="1">
                <a:spLocks noRot="1" noChangeAspect="1" noMove="1" noResize="1" noEditPoints="1" noAdjustHandles="1" noChangeArrowheads="1" noChangeShapeType="1" noTextEdit="1"/>
              </p:cNvSpPr>
              <p:nvPr/>
            </p:nvSpPr>
            <p:spPr>
              <a:xfrm>
                <a:off x="914400" y="370153"/>
                <a:ext cx="10515600" cy="3943900"/>
              </a:xfrm>
              <a:prstGeom prst="rect">
                <a:avLst/>
              </a:prstGeom>
              <a:blipFill>
                <a:blip r:embed="rId4"/>
                <a:stretch>
                  <a:fillRect l="-965" t="-1286"/>
                </a:stretch>
              </a:blipFill>
            </p:spPr>
            <p:txBody>
              <a:bodyPr/>
              <a:lstStyle/>
              <a:p>
                <a:r>
                  <a:rPr lang="en-US">
                    <a:noFill/>
                  </a:rPr>
                  <a:t> </a:t>
                </a:r>
              </a:p>
            </p:txBody>
          </p:sp>
        </mc:Fallback>
      </mc:AlternateContent>
    </p:spTree>
    <p:extLst>
      <p:ext uri="{BB962C8B-B14F-4D97-AF65-F5344CB8AC3E}">
        <p14:creationId xmlns:p14="http://schemas.microsoft.com/office/powerpoint/2010/main" val="3805776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pic>
        <p:nvPicPr>
          <p:cNvPr id="9" name="image13.png" descr="Icon&#10;&#10;Description automatically generated">
            <a:extLst>
              <a:ext uri="{FF2B5EF4-FFF2-40B4-BE49-F238E27FC236}">
                <a16:creationId xmlns:a16="http://schemas.microsoft.com/office/drawing/2014/main" id="{9D22FD26-81C1-6045-9E02-618B405414E6}"/>
              </a:ext>
            </a:extLst>
          </p:cNvPr>
          <p:cNvPicPr/>
          <p:nvPr/>
        </p:nvPicPr>
        <p:blipFill>
          <a:blip r:embed="rId4"/>
          <a:srcRect/>
          <a:stretch>
            <a:fillRect/>
          </a:stretch>
        </p:blipFill>
        <p:spPr>
          <a:xfrm>
            <a:off x="3054096"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10.1.3 Bring It Together: Representing Relations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180346"/>
            <a:ext cx="10515600" cy="5031442"/>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 relation is any set of input-output pairs. Relations can be represented using tables of values, mapping diagrams, a set of ordered pairs, or graphs.</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46355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In a relation, the input values are the                      variables. The input value is the                of an ordered pair. The output values of a relation are the                     variables. The output value is the                 of the relation. The relation can be represented as a set of ordered pairs or on a graph. </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pic>
        <p:nvPicPr>
          <p:cNvPr id="10" name="image13.png" descr="Icon&#10;&#10;Description automatically generated">
            <a:extLst>
              <a:ext uri="{FF2B5EF4-FFF2-40B4-BE49-F238E27FC236}">
                <a16:creationId xmlns:a16="http://schemas.microsoft.com/office/drawing/2014/main" id="{28E682D4-314F-6A47-9C1F-71FAF3F5F76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1285"/>
            <a:ext cx="747301" cy="747301"/>
          </a:xfrm>
          <a:prstGeom prst="rect">
            <a:avLst/>
          </a:prstGeom>
          <a:ln/>
        </p:spPr>
      </p:pic>
      <p:pic>
        <p:nvPicPr>
          <p:cNvPr id="11" name="Picture 10">
            <a:extLst>
              <a:ext uri="{FF2B5EF4-FFF2-40B4-BE49-F238E27FC236}">
                <a16:creationId xmlns:a16="http://schemas.microsoft.com/office/drawing/2014/main" id="{2197F3DE-A6B6-5C4B-9CB5-7BEE9665FB4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70236" y="3353971"/>
            <a:ext cx="1319353" cy="684192"/>
          </a:xfrm>
          <a:prstGeom prst="rect">
            <a:avLst/>
          </a:prstGeom>
        </p:spPr>
      </p:pic>
      <p:pic>
        <p:nvPicPr>
          <p:cNvPr id="3" name="Picture 2" descr="A picture containing shape&#10;&#10;Description automatically generated">
            <a:extLst>
              <a:ext uri="{FF2B5EF4-FFF2-40B4-BE49-F238E27FC236}">
                <a16:creationId xmlns:a16="http://schemas.microsoft.com/office/drawing/2014/main" id="{7C3572FE-9AE3-8148-9CBA-0A6DD530774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365175" y="2538911"/>
            <a:ext cx="1761694" cy="729614"/>
          </a:xfrm>
          <a:prstGeom prst="rect">
            <a:avLst/>
          </a:prstGeom>
        </p:spPr>
      </p:pic>
      <p:pic>
        <p:nvPicPr>
          <p:cNvPr id="14" name="Picture 13" descr="A picture containing shape&#10;&#10;Description automatically generated">
            <a:extLst>
              <a:ext uri="{FF2B5EF4-FFF2-40B4-BE49-F238E27FC236}">
                <a16:creationId xmlns:a16="http://schemas.microsoft.com/office/drawing/2014/main" id="{B253AB04-8E90-DF4E-93E3-339C4BEC355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17615" y="4072343"/>
            <a:ext cx="1761694" cy="729614"/>
          </a:xfrm>
          <a:prstGeom prst="rect">
            <a:avLst/>
          </a:prstGeom>
        </p:spPr>
      </p:pic>
      <p:pic>
        <p:nvPicPr>
          <p:cNvPr id="15" name="Picture 14">
            <a:extLst>
              <a:ext uri="{FF2B5EF4-FFF2-40B4-BE49-F238E27FC236}">
                <a16:creationId xmlns:a16="http://schemas.microsoft.com/office/drawing/2014/main" id="{82617EB8-6373-584B-A585-700F35AE905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6869" y="4117765"/>
            <a:ext cx="1319353" cy="684192"/>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DCA26F36-85FB-6F47-BFE1-9526A3AAF9F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41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10.1.4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6576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1178057"/>
            <a:ext cx="1051560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Plot a point on the grid below to indicate your level of interest and understanding for today’s lesson.</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pic>
        <p:nvPicPr>
          <p:cNvPr id="8" name="Picture 7" descr="A close up of a flower&#10;&#10;Description automatically generated">
            <a:extLst>
              <a:ext uri="{FF2B5EF4-FFF2-40B4-BE49-F238E27FC236}">
                <a16:creationId xmlns:a16="http://schemas.microsoft.com/office/drawing/2014/main" id="{71836A36-BF9F-4C46-8D86-09809422E36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015677" y="2141207"/>
            <a:ext cx="4401947" cy="3927241"/>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1522</TotalTime>
  <Words>1003</Words>
  <Application>Microsoft Office PowerPoint</Application>
  <PresentationFormat>Widescreen</PresentationFormat>
  <Paragraphs>184</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Verdana</vt:lpstr>
      <vt:lpstr>Times New Roman</vt:lpstr>
      <vt:lpstr>Wingdings</vt:lpstr>
      <vt:lpstr>Century Gothic</vt:lpstr>
      <vt:lpstr>Calibri</vt:lpstr>
      <vt:lpstr>Arial Black</vt:lpstr>
      <vt:lpstr>Cambria Math</vt:lpstr>
      <vt:lpstr>Arial</vt:lpstr>
      <vt:lpstr>1_Office Theme</vt:lpstr>
      <vt:lpstr>8th Grade Math:  Pre-Algebra  Unit 10, Lesson 1  Exploring Relations  Volume 2, pg. 119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19</cp:revision>
  <dcterms:created xsi:type="dcterms:W3CDTF">2015-03-17T18:51:18Z</dcterms:created>
  <dcterms:modified xsi:type="dcterms:W3CDTF">2022-06-17T20:37:24Z</dcterms:modified>
</cp:coreProperties>
</file>