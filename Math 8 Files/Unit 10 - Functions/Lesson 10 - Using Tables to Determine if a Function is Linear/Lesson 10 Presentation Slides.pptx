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37" r:id="rId8"/>
    <p:sldId id="338" r:id="rId9"/>
    <p:sldId id="331" r:id="rId10"/>
    <p:sldId id="332" r:id="rId11"/>
    <p:sldId id="333" r:id="rId12"/>
    <p:sldId id="334" r:id="rId13"/>
    <p:sldId id="335" r:id="rId14"/>
    <p:sldId id="289" r:id="rId15"/>
    <p:sldId id="290" r:id="rId16"/>
    <p:sldId id="308" r:id="rId17"/>
    <p:sldId id="322" r:id="rId18"/>
    <p:sldId id="327" r:id="rId19"/>
    <p:sldId id="326" r:id="rId20"/>
    <p:sldId id="330" r:id="rId21"/>
    <p:sldId id="320" r:id="rId22"/>
    <p:sldId id="321" r:id="rId23"/>
    <p:sldId id="324" r:id="rId24"/>
    <p:sldId id="306" r:id="rId25"/>
    <p:sldId id="307" r:id="rId26"/>
    <p:sldId id="336" r:id="rId27"/>
  </p:sldIdLst>
  <p:sldSz cx="12192000" cy="6858000"/>
  <p:notesSz cx="6858000" cy="9144000"/>
  <p:embeddedFontLst>
    <p:embeddedFont>
      <p:font typeface="Arial Black" panose="020B0A04020102020204" pitchFamily="34" charset="0"/>
      <p:regular r:id="rId29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" panose="02040503050406030204" pitchFamily="18" charset="0"/>
      <p:regular r:id="rId35"/>
      <p:bold r:id="rId36"/>
      <p:italic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Century Gothic" panose="020B0502020202020204" pitchFamily="34" charset="0"/>
      <p:regular r:id="rId40"/>
      <p:bold r:id="rId41"/>
      <p:italic r:id="rId42"/>
      <p:boldItalic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1F3165"/>
    <a:srgbClr val="C9DF6F"/>
    <a:srgbClr val="417DBF"/>
    <a:srgbClr val="3F2A67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03"/>
    <p:restoredTop sz="94694"/>
  </p:normalViewPr>
  <p:slideViewPr>
    <p:cSldViewPr snapToGrid="0">
      <p:cViewPr varScale="1">
        <p:scale>
          <a:sx n="81" d="100"/>
          <a:sy n="81" d="100"/>
        </p:scale>
        <p:origin x="85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7004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1183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723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442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7653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2527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8299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9749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0886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7540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772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8200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22901" y="2054277"/>
            <a:ext cx="548639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10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Using Tables to Determine If a Function Is Linear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168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603831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MA.8.F.1.2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function defined by a graph or an equation, determine whether the function is a linear function. Given an input-output table, determine whether it could represent a linear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whether a function could represent a linear function given a table of values.</a:t>
            </a:r>
          </a:p>
          <a:p>
            <a:pPr marL="463550" indent="-46355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whether a function is a linear function given an equation or graph.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10.10.1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C5FEC-A86F-3B40-BDC7-FA3BB8FD6EBF}"/>
              </a:ext>
            </a:extLst>
          </p:cNvPr>
          <p:cNvSpPr/>
          <p:nvPr/>
        </p:nvSpPr>
        <p:spPr>
          <a:xfrm>
            <a:off x="914400" y="1627564"/>
            <a:ext cx="8581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Four number patterns are shown.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45E74BA-15EB-A145-BF16-E9F4D512BB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3686691"/>
                  </p:ext>
                </p:extLst>
              </p:nvPr>
            </p:nvGraphicFramePr>
            <p:xfrm>
              <a:off x="2628616" y="2493344"/>
              <a:ext cx="6934768" cy="26276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67384">
                      <a:extLst>
                        <a:ext uri="{9D8B030D-6E8A-4147-A177-3AD203B41FA5}">
                          <a16:colId xmlns:a16="http://schemas.microsoft.com/office/drawing/2014/main" val="2108932212"/>
                        </a:ext>
                      </a:extLst>
                    </a:gridCol>
                    <a:gridCol w="3467384">
                      <a:extLst>
                        <a:ext uri="{9D8B030D-6E8A-4147-A177-3AD203B41FA5}">
                          <a16:colId xmlns:a16="http://schemas.microsoft.com/office/drawing/2014/main" val="1566808411"/>
                        </a:ext>
                      </a:extLst>
                    </a:gridCol>
                  </a:tblGrid>
                  <a:tr h="2933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Pattern A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Pattern B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753953"/>
                      </a:ext>
                    </a:extLst>
                  </a:tr>
                  <a:tr h="9480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5, 9, 13, 17, 21, 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…</a:t>
                          </a:r>
                          <a:endParaRPr lang="en-CO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5, 15, 45, 135, 405,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…</a:t>
                          </a:r>
                          <a:endParaRPr lang="en-CO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6669039"/>
                      </a:ext>
                    </a:extLst>
                  </a:tr>
                  <a:tr h="2933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Pattern C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Pattern D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8069876"/>
                      </a:ext>
                    </a:extLst>
                  </a:tr>
                  <a:tr h="9480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5, 2, −1, −4, −7,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…</a:t>
                          </a:r>
                          <a:endParaRPr lang="en-CO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10, 13, 16, 19, 22,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… </a:t>
                          </a:r>
                          <a:endParaRPr lang="en-CO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898283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45E74BA-15EB-A145-BF16-E9F4D512BB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3686691"/>
                  </p:ext>
                </p:extLst>
              </p:nvPr>
            </p:nvGraphicFramePr>
            <p:xfrm>
              <a:off x="2628616" y="2493344"/>
              <a:ext cx="6934768" cy="262763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67384">
                      <a:extLst>
                        <a:ext uri="{9D8B030D-6E8A-4147-A177-3AD203B41FA5}">
                          <a16:colId xmlns:a16="http://schemas.microsoft.com/office/drawing/2014/main" val="2108932212"/>
                        </a:ext>
                      </a:extLst>
                    </a:gridCol>
                    <a:gridCol w="3467384">
                      <a:extLst>
                        <a:ext uri="{9D8B030D-6E8A-4147-A177-3AD203B41FA5}">
                          <a16:colId xmlns:a16="http://schemas.microsoft.com/office/drawing/2014/main" val="156680841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Pattern A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Pattern B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753953"/>
                      </a:ext>
                    </a:extLst>
                  </a:tr>
                  <a:tr h="9480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" t="-48077" r="-100351" b="-13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76" t="-48077" r="-351" b="-1397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66690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Pattern C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Pattern D</a:t>
                          </a:r>
                          <a:endParaRPr lang="en-CO" sz="16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8069876"/>
                      </a:ext>
                    </a:extLst>
                  </a:tr>
                  <a:tr h="9480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" t="-186538" r="-100351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76" t="-186538" r="-35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98283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C5FEC-A86F-3B40-BDC7-FA3BB8FD6EBF}"/>
              </a:ext>
            </a:extLst>
          </p:cNvPr>
          <p:cNvSpPr/>
          <p:nvPr/>
        </p:nvSpPr>
        <p:spPr>
          <a:xfrm>
            <a:off x="914400" y="1130258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Complete the statement to explain which pattern doesn’t belong.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                       doesn't belong because ___________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46355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 __________________________________________.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   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0585C41-937D-834A-80BA-4689CDE3200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7877" y="2137663"/>
            <a:ext cx="1677994" cy="129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2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C5FEC-A86F-3B40-BDC7-FA3BB8FD6EBF}"/>
              </a:ext>
            </a:extLst>
          </p:cNvPr>
          <p:cNvSpPr/>
          <p:nvPr/>
        </p:nvSpPr>
        <p:spPr>
          <a:xfrm>
            <a:off x="914400" y="488574"/>
            <a:ext cx="1051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Find a classmate who selected a different pattern that doesn’t belong. Write their explanation in the table. </a:t>
            </a:r>
            <a:r>
              <a:rPr lang="en-US" sz="2400" i="1" dirty="0">
                <a:latin typeface="Verdana" panose="020B0604030504040204" pitchFamily="34" charset="0"/>
                <a:ea typeface="Times New Roman" panose="02020603050405020304" pitchFamily="18" charset="0"/>
              </a:rPr>
              <a:t>You are the only person who should write in the first column of the table. 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Have the person initial next to your summary of their explanation stating that your summary is correct.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8A38F2-E330-1A4B-9626-F35B685B6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970517"/>
              </p:ext>
            </p:extLst>
          </p:nvPr>
        </p:nvGraphicFramePr>
        <p:xfrm>
          <a:off x="2242386" y="3236001"/>
          <a:ext cx="7707229" cy="1913514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353470">
                  <a:extLst>
                    <a:ext uri="{9D8B030D-6E8A-4147-A177-3AD203B41FA5}">
                      <a16:colId xmlns:a16="http://schemas.microsoft.com/office/drawing/2014/main" val="2729557082"/>
                    </a:ext>
                  </a:extLst>
                </a:gridCol>
                <a:gridCol w="1353759">
                  <a:extLst>
                    <a:ext uri="{9D8B030D-6E8A-4147-A177-3AD203B41FA5}">
                      <a16:colId xmlns:a16="http://schemas.microsoft.com/office/drawing/2014/main" val="2117036121"/>
                    </a:ext>
                  </a:extLst>
                </a:gridCol>
              </a:tblGrid>
              <a:tr h="4584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__________’s description</a:t>
                      </a:r>
                      <a:endParaRPr lang="en-CO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7604" marR="7760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en-CO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7604" marR="7760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37841"/>
                  </a:ext>
                </a:extLst>
              </a:tr>
              <a:tr h="145507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7604" marR="776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7604" marR="776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94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45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2.png" descr="Icon&#10;&#10;Description automatically generated">
            <a:extLst>
              <a:ext uri="{FF2B5EF4-FFF2-40B4-BE49-F238E27FC236}">
                <a16:creationId xmlns:a16="http://schemas.microsoft.com/office/drawing/2014/main" id="{B258A1AE-1C5A-4E40-BACC-9EA6ADD5037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4691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0525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10.10.2 Guided Practice: Exploring Tables to Determine Linear Functions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914400" y="1239721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description observed in the table of values for each function.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6EBFD37-657E-6D48-AB68-B97E54ABC53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image12.png" descr="Icon&#10;&#10;Description automatically generated">
            <a:extLst>
              <a:ext uri="{FF2B5EF4-FFF2-40B4-BE49-F238E27FC236}">
                <a16:creationId xmlns:a16="http://schemas.microsoft.com/office/drawing/2014/main" id="{D519388B-D754-A84B-BFCB-19F309DFA6CB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760" y="121731"/>
            <a:ext cx="750413" cy="750413"/>
          </a:xfrm>
          <a:prstGeom prst="rect">
            <a:avLst/>
          </a:prstGeom>
          <a:ln/>
        </p:spPr>
      </p:pic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C870EA21-53AD-4742-9F87-A2BDCF29D8D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4811" y="2120929"/>
            <a:ext cx="6274777" cy="453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1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" name="Google Shape;282;g104476d1465_1_17">
            <a:extLst>
              <a:ext uri="{FF2B5EF4-FFF2-40B4-BE49-F238E27FC236}">
                <a16:creationId xmlns:a16="http://schemas.microsoft.com/office/drawing/2014/main" id="{CDEBEDDD-594C-B74D-9DDD-81F550FCEF3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 descr="Table&#10;&#10;Description automatically generated">
            <a:extLst>
              <a:ext uri="{FF2B5EF4-FFF2-40B4-BE49-F238E27FC236}">
                <a16:creationId xmlns:a16="http://schemas.microsoft.com/office/drawing/2014/main" id="{6C2ABD37-68BF-A443-9619-A1002A41D80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8612" y="1376582"/>
            <a:ext cx="6274777" cy="409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28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40CB3A2-EA4C-2F4B-A3B3-ADA27BC9F465}"/>
              </a:ext>
            </a:extLst>
          </p:cNvPr>
          <p:cNvSpPr/>
          <p:nvPr/>
        </p:nvSpPr>
        <p:spPr>
          <a:xfrm>
            <a:off x="914400" y="884193"/>
            <a:ext cx="10515600" cy="3725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80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table that has a constant rate of change, complete the statement.</a:t>
            </a:r>
          </a:p>
          <a:p>
            <a:pPr marL="393700" indent="-3429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lnSpc>
                <a:spcPct val="150000"/>
              </a:lnSpc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table _____ as the 𝑥-values increase by ____, the 𝑦-values _____________________________.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lnSpc>
                <a:spcPct val="150000"/>
              </a:lnSpc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table _____ as the 𝑥-values increase by ____, the 𝑦-values _____________________________.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1912BF8-3524-4C47-AFC3-32BDAE40D3D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9090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34970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graphs for each of the functions represented by tables are shown. Put an asterisk (*) next the graphs that are linear functions.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4EE9A6A-5310-5441-BFD6-B3057861896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BB336C-00DB-B142-9A91-C41D6FDF7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6525"/>
              </p:ext>
            </p:extLst>
          </p:nvPr>
        </p:nvGraphicFramePr>
        <p:xfrm>
          <a:off x="3618195" y="1583533"/>
          <a:ext cx="5000872" cy="494729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00436">
                  <a:extLst>
                    <a:ext uri="{9D8B030D-6E8A-4147-A177-3AD203B41FA5}">
                      <a16:colId xmlns:a16="http://schemas.microsoft.com/office/drawing/2014/main" val="1940404189"/>
                    </a:ext>
                  </a:extLst>
                </a:gridCol>
                <a:gridCol w="2500436">
                  <a:extLst>
                    <a:ext uri="{9D8B030D-6E8A-4147-A177-3AD203B41FA5}">
                      <a16:colId xmlns:a16="http://schemas.microsoft.com/office/drawing/2014/main" val="1294050878"/>
                    </a:ext>
                  </a:extLst>
                </a:gridCol>
              </a:tblGrid>
              <a:tr h="21522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Graph A</a:t>
                      </a:r>
                      <a:endParaRPr lang="en-CO" sz="1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880" marR="49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Graph B</a:t>
                      </a:r>
                      <a:endParaRPr lang="en-CO" sz="1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880" marR="49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001365"/>
                  </a:ext>
                </a:extLst>
              </a:tr>
              <a:tr h="225842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880" marR="49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880" marR="49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134282"/>
                  </a:ext>
                </a:extLst>
              </a:tr>
              <a:tr h="21522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Graph C</a:t>
                      </a:r>
                      <a:endParaRPr lang="en-CO" sz="1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880" marR="49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Graph D</a:t>
                      </a:r>
                      <a:endParaRPr lang="en-CO" sz="1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880" marR="49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616411"/>
                  </a:ext>
                </a:extLst>
              </a:tr>
              <a:tr h="225842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880" marR="49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880" marR="498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045961"/>
                  </a:ext>
                </a:extLst>
              </a:tr>
            </a:tbl>
          </a:graphicData>
        </a:graphic>
      </p:graphicFrame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0FA7073C-F7BF-614B-8E5C-1994573855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3547" y="1862667"/>
            <a:ext cx="2128520" cy="2128520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64ED2B72-76F3-FA4F-9832-736B53999A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4629" y="1862667"/>
            <a:ext cx="2128520" cy="2128520"/>
          </a:xfrm>
          <a:prstGeom prst="rect">
            <a:avLst/>
          </a:prstGeom>
        </p:spPr>
      </p:pic>
      <p:pic>
        <p:nvPicPr>
          <p:cNvPr id="13" name="Picture 12" descr="Chart, line chart&#10;&#10;Description automatically generated">
            <a:extLst>
              <a:ext uri="{FF2B5EF4-FFF2-40B4-BE49-F238E27FC236}">
                <a16:creationId xmlns:a16="http://schemas.microsoft.com/office/drawing/2014/main" id="{097F7613-B03C-D348-A01C-7F855FF8798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2991" y="4329155"/>
            <a:ext cx="2128520" cy="2128520"/>
          </a:xfrm>
          <a:prstGeom prst="rect">
            <a:avLst/>
          </a:prstGeom>
        </p:spPr>
      </p:pic>
      <p:pic>
        <p:nvPicPr>
          <p:cNvPr id="14" name="Picture 13" descr="Chart, line chart&#10;&#10;Description automatically generated">
            <a:extLst>
              <a:ext uri="{FF2B5EF4-FFF2-40B4-BE49-F238E27FC236}">
                <a16:creationId xmlns:a16="http://schemas.microsoft.com/office/drawing/2014/main" id="{B35A3350-BA64-5B46-A08E-43C242456D4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4629" y="4329155"/>
            <a:ext cx="2128520" cy="212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47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10.10.3 Guided Instruction: Identifying Linear Functions from Tables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3602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Notice that for the linear functions, as the 𝑥-values in the tables increase by the same amount, the 𝑦-values either increase or decrease by ___________________. 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each example of a linear function, the rate of change,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∆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𝑦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∆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___________________.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3602012"/>
              </a:xfrm>
              <a:prstGeom prst="rect">
                <a:avLst/>
              </a:prstGeom>
              <a:blipFill>
                <a:blip r:embed="rId5"/>
                <a:stretch>
                  <a:fillRect l="-965" t="-1404" r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6EBFD37-657E-6D48-AB68-B97E54ABC53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B0AF98-94C5-6643-BB51-1EE68F03FE46}"/>
              </a:ext>
            </a:extLst>
          </p:cNvPr>
          <p:cNvGrpSpPr/>
          <p:nvPr/>
        </p:nvGrpSpPr>
        <p:grpSpPr>
          <a:xfrm>
            <a:off x="2781300" y="4683238"/>
            <a:ext cx="7167450" cy="1261869"/>
            <a:chOff x="2031300" y="3058205"/>
            <a:chExt cx="7167450" cy="123948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BC9A3D-54A6-0745-9E11-853197D96CCE}"/>
                </a:ext>
              </a:extLst>
            </p:cNvPr>
            <p:cNvGrpSpPr/>
            <p:nvPr/>
          </p:nvGrpSpPr>
          <p:grpSpPr>
            <a:xfrm>
              <a:off x="2031300" y="3058205"/>
              <a:ext cx="7167450" cy="1239483"/>
              <a:chOff x="2031300" y="3169517"/>
              <a:chExt cx="7167450" cy="123948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F0AC5C7-484E-DD42-8471-69894B4709B1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CO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B2C71A0-3692-694B-8578-340A9811DC37}"/>
                  </a:ext>
                </a:extLst>
              </p:cNvPr>
              <p:cNvGrpSpPr/>
              <p:nvPr/>
            </p:nvGrpSpPr>
            <p:grpSpPr>
              <a:xfrm>
                <a:off x="2031300" y="3169517"/>
                <a:ext cx="7167450" cy="1016883"/>
                <a:chOff x="2031300" y="3169517"/>
                <a:chExt cx="7167450" cy="1016883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4A70945-B3D1-C348-980C-C45F609CB72E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en-CO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E27B796B-A8C2-AE49-9D7D-563CB3930FB7}"/>
                    </a:ext>
                  </a:extLst>
                </p:cNvPr>
                <p:cNvGrpSpPr/>
                <p:nvPr/>
              </p:nvGrpSpPr>
              <p:grpSpPr>
                <a:xfrm>
                  <a:off x="2031300" y="3169517"/>
                  <a:ext cx="7167450" cy="1016883"/>
                  <a:chOff x="0" y="-204083"/>
                  <a:chExt cx="7167450" cy="1016883"/>
                </a:xfrm>
              </p:grpSpPr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282A1D1A-6C69-564F-ADDF-99CF00AF8C0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CO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" name="Rounded Rectangle 17">
                    <a:extLst>
                      <a:ext uri="{FF2B5EF4-FFF2-40B4-BE49-F238E27FC236}">
                        <a16:creationId xmlns:a16="http://schemas.microsoft.com/office/drawing/2014/main" id="{B3FDD2CD-0C1A-684B-A8D7-96ACB792A9E5}"/>
                      </a:ext>
                    </a:extLst>
                  </p:cNvPr>
                  <p:cNvSpPr/>
                  <p:nvPr/>
                </p:nvSpPr>
                <p:spPr>
                  <a:xfrm>
                    <a:off x="0" y="-204083"/>
                    <a:ext cx="7167450" cy="10166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685800">
                      <a:spcAft>
                        <a:spcPts val="1000"/>
                      </a:spcAft>
                    </a:pPr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A </a:t>
                    </a:r>
                    <a:r>
                      <a:rPr lang="en-US" sz="18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linear function</a:t>
                    </a:r>
                    <a:r>
                      <a:rPr lang="en-US" sz="1800" b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is a function that has a constant rate of change.</a:t>
                    </a:r>
                    <a:endParaRPr lang="en-CO" sz="12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19" name="Shape 9" descr="Icon&#10;&#10;Description automatically generated">
                    <a:extLst>
                      <a:ext uri="{FF2B5EF4-FFF2-40B4-BE49-F238E27FC236}">
                        <a16:creationId xmlns:a16="http://schemas.microsoft.com/office/drawing/2014/main" id="{D36DBB80-2805-FE45-9B7A-20E39B9F6501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6" cstate="screen">
                    <a:alphaModFix/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155478" y="-60375"/>
                    <a:ext cx="539750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</p:grp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C0689E-8B16-904F-A555-0BF540A1D1D2}"/>
                  </a:ext>
                </a:extLst>
              </p:cNvPr>
              <p:cNvSpPr/>
              <p:nvPr/>
            </p:nvSpPr>
            <p:spPr>
              <a:xfrm>
                <a:off x="914400" y="556139"/>
                <a:ext cx="10515600" cy="10166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Determine which tables of values show a rate of change,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∆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∆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, that is constant.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C0689E-8B16-904F-A555-0BF540A1D1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56139"/>
                <a:ext cx="10515600" cy="1016689"/>
              </a:xfrm>
              <a:prstGeom prst="rect">
                <a:avLst/>
              </a:prstGeom>
              <a:blipFill>
                <a:blip r:embed="rId4"/>
                <a:stretch>
                  <a:fillRect l="-965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Google Shape;282;g104476d1465_1_17">
            <a:extLst>
              <a:ext uri="{FF2B5EF4-FFF2-40B4-BE49-F238E27FC236}">
                <a16:creationId xmlns:a16="http://schemas.microsoft.com/office/drawing/2014/main" id="{CDEBEDDD-594C-B74D-9DDD-81F550FCEF3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5214D62D-4DD6-6548-A60F-5BCC166A46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5400" y="1989159"/>
            <a:ext cx="7264400" cy="287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40CB3A2-EA4C-2F4B-A3B3-ADA27BC9F465}"/>
              </a:ext>
            </a:extLst>
          </p:cNvPr>
          <p:cNvSpPr/>
          <p:nvPr/>
        </p:nvSpPr>
        <p:spPr>
          <a:xfrm>
            <a:off x="914400" y="731791"/>
            <a:ext cx="1051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3075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graphs for each of the functions E, F, and G are shown with their corresponding table of values. If the function represents a linear function, circle the function’s letter.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1912BF8-3524-4C47-AFC3-32BDAE40D3D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8781F792-2FE6-FD4E-A7D9-B2FE824AD8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4532" y="2542138"/>
            <a:ext cx="6822936" cy="341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4EE9A6A-5310-5441-BFD6-B3057861896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60CA93D-E66A-9E4A-A2FB-D4D3FE879B6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3519" y="401328"/>
            <a:ext cx="6822937" cy="604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8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99934E-89B1-D740-8F16-83159E2AC85B}"/>
              </a:ext>
            </a:extLst>
          </p:cNvPr>
          <p:cNvSpPr/>
          <p:nvPr/>
        </p:nvSpPr>
        <p:spPr>
          <a:xfrm>
            <a:off x="914400" y="411490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In Function E, describe what is different in the graph that was not shown in the table.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In Function G, describe what is different in the graph that was not shown in the table.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2553DFD6-0E70-E14D-9EBF-16052598AAD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172 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1349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838200" y="797889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75" indent="-158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table of values only gives some of the points on the graph of a function. This is not always enough information to conclude that a function is linear. Therefore, from a table of values, it can only be concluded that a function </a:t>
            </a:r>
            <a:r>
              <a:rPr lang="en-US" sz="24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could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represent a linear function.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791B0BA-75C9-9F4A-8C0F-A68A1AD17D1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5091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50DF525-7D96-0A48-BC23-9FB6AABE67A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3.png" descr="Icon&#10;&#10;Description automatically generated">
            <a:extLst>
              <a:ext uri="{FF2B5EF4-FFF2-40B4-BE49-F238E27FC236}">
                <a16:creationId xmlns:a16="http://schemas.microsoft.com/office/drawing/2014/main" id="{2E52F17E-FBAB-3147-AC5F-D9C4737E07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41490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10.10.4 Your Turn!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914400" y="1222544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which relations could be linear functions. Show your work.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BDEDD68-7AB9-314A-BB80-0D600DD8DB3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3.png" descr="Icon&#10;&#10;Description automatically generated">
            <a:extLst>
              <a:ext uri="{FF2B5EF4-FFF2-40B4-BE49-F238E27FC236}">
                <a16:creationId xmlns:a16="http://schemas.microsoft.com/office/drawing/2014/main" id="{E97AEA8D-D883-1649-92C2-31F47444C359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760" y="348271"/>
            <a:ext cx="749808" cy="749808"/>
          </a:xfrm>
          <a:prstGeom prst="rect">
            <a:avLst/>
          </a:prstGeom>
          <a:ln/>
        </p:spPr>
      </p:pic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C89F1566-CA1A-2142-BF47-1F10421335B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4889" y="2090457"/>
            <a:ext cx="5417690" cy="456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20A9A-30AC-8F43-ADEF-0D26927437C4}"/>
              </a:ext>
            </a:extLst>
          </p:cNvPr>
          <p:cNvSpPr txBox="1"/>
          <p:nvPr/>
        </p:nvSpPr>
        <p:spPr>
          <a:xfrm>
            <a:off x="914400" y="32418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Six different relations are shown. Circle the relations that represent linear functions.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D6ECD6-0C28-4D4A-8EE5-13647FD2D2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7327672"/>
                  </p:ext>
                </p:extLst>
              </p:nvPr>
            </p:nvGraphicFramePr>
            <p:xfrm>
              <a:off x="2775285" y="1235242"/>
              <a:ext cx="6785811" cy="51013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8438">
                      <a:extLst>
                        <a:ext uri="{9D8B030D-6E8A-4147-A177-3AD203B41FA5}">
                          <a16:colId xmlns:a16="http://schemas.microsoft.com/office/drawing/2014/main" val="2807130796"/>
                        </a:ext>
                      </a:extLst>
                    </a:gridCol>
                    <a:gridCol w="3537373">
                      <a:extLst>
                        <a:ext uri="{9D8B030D-6E8A-4147-A177-3AD203B41FA5}">
                          <a16:colId xmlns:a16="http://schemas.microsoft.com/office/drawing/2014/main" val="1456017470"/>
                        </a:ext>
                      </a:extLst>
                    </a:gridCol>
                  </a:tblGrid>
                  <a:tr h="2534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= 2.5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 </a:t>
                          </a:r>
                          <a:endParaRPr lang="en-CO" sz="20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+1.2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4849" marR="54849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CO" sz="2000" dirty="0"/>
                        </a:p>
                      </a:txBody>
                      <a:tcPr marL="54849" marR="54849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5600503"/>
                      </a:ext>
                    </a:extLst>
                  </a:tr>
                  <a:tr h="25667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4849" marR="54849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=−4</m:t>
                                </m:r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CO" sz="20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4.2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=0.1−3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4849" marR="54849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00623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D6ECD6-0C28-4D4A-8EE5-13647FD2D2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7327672"/>
                  </p:ext>
                </p:extLst>
              </p:nvPr>
            </p:nvGraphicFramePr>
            <p:xfrm>
              <a:off x="2775285" y="1235242"/>
              <a:ext cx="6785811" cy="51013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248438">
                      <a:extLst>
                        <a:ext uri="{9D8B030D-6E8A-4147-A177-3AD203B41FA5}">
                          <a16:colId xmlns:a16="http://schemas.microsoft.com/office/drawing/2014/main" val="2807130796"/>
                        </a:ext>
                      </a:extLst>
                    </a:gridCol>
                    <a:gridCol w="3537373">
                      <a:extLst>
                        <a:ext uri="{9D8B030D-6E8A-4147-A177-3AD203B41FA5}">
                          <a16:colId xmlns:a16="http://schemas.microsoft.com/office/drawing/2014/main" val="1456017470"/>
                        </a:ext>
                      </a:extLst>
                    </a:gridCol>
                  </a:tblGrid>
                  <a:tr h="2534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849" marR="54849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109006" b="-1014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 sz="2000" dirty="0"/>
                        </a:p>
                      </a:txBody>
                      <a:tcPr marL="54849" marR="54849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5600503"/>
                      </a:ext>
                    </a:extLst>
                  </a:tr>
                  <a:tr h="25667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>
                            <a:effectLst/>
                            <a:latin typeface="Verdana" panose="020B060403050404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4849" marR="54849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849" marR="54849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1738" t="-985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0623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69013205-5FD6-824C-9258-1492C160D9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4159" y="1235243"/>
            <a:ext cx="2509631" cy="2509631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E7067C87-8D57-9149-B515-A44581465A1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6453" y="3849748"/>
            <a:ext cx="2547406" cy="25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92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CA26F36-85FB-6F47-BFE1-9526A3AAF9F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147644"/>
            <a:ext cx="1068324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10.10.5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914400" y="1178057"/>
            <a:ext cx="8597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to describe each relation.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DDDAB21-3A33-3F47-AE46-A181D54ACE9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D3A823ED-AEA7-7D41-AC7B-B2B62AA28F2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0106" y="1812556"/>
            <a:ext cx="6891789" cy="421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DDDAB21-3A33-3F47-AE46-A181D54ACE9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347E8E0B-7A9B-D949-91CF-EC0D0E8E687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0106" y="1058271"/>
            <a:ext cx="6891789" cy="473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072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904</Words>
  <Application>Microsoft Office PowerPoint</Application>
  <PresentationFormat>Widescreen</PresentationFormat>
  <Paragraphs>141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Cambria</vt:lpstr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8th Grade Math:  Pre-Algebra  Unit 10, Lesson 10  Using Tables to Determine If a Function Is Linear  Volume 2, pg. 168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18</cp:revision>
  <dcterms:created xsi:type="dcterms:W3CDTF">2015-03-17T18:51:18Z</dcterms:created>
  <dcterms:modified xsi:type="dcterms:W3CDTF">2022-06-19T01:37:19Z</dcterms:modified>
</cp:coreProperties>
</file>