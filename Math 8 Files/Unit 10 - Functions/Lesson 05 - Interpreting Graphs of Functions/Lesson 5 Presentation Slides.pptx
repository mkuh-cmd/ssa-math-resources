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29" r:id="rId8"/>
    <p:sldId id="320" r:id="rId9"/>
    <p:sldId id="321" r:id="rId10"/>
    <p:sldId id="324" r:id="rId11"/>
    <p:sldId id="330" r:id="rId12"/>
    <p:sldId id="331" r:id="rId13"/>
    <p:sldId id="332" r:id="rId14"/>
    <p:sldId id="333" r:id="rId15"/>
    <p:sldId id="334" r:id="rId16"/>
    <p:sldId id="289" r:id="rId17"/>
    <p:sldId id="290" r:id="rId18"/>
    <p:sldId id="308" r:id="rId19"/>
    <p:sldId id="325" r:id="rId20"/>
    <p:sldId id="326" r:id="rId21"/>
    <p:sldId id="327" r:id="rId22"/>
    <p:sldId id="328" r:id="rId23"/>
    <p:sldId id="335" r:id="rId24"/>
    <p:sldId id="306" r:id="rId25"/>
    <p:sldId id="307" r:id="rId26"/>
    <p:sldId id="336" r:id="rId27"/>
    <p:sldId id="337" r:id="rId28"/>
  </p:sldIdLst>
  <p:sldSz cx="12192000" cy="6858000"/>
  <p:notesSz cx="6858000" cy="9144000"/>
  <p:embeddedFontLst>
    <p:embeddedFont>
      <p:font typeface="Arial Black" panose="020B0A040201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17"/>
    <p:restoredTop sz="94694"/>
  </p:normalViewPr>
  <p:slideViewPr>
    <p:cSldViewPr snapToGrid="0">
      <p:cViewPr varScale="1">
        <p:scale>
          <a:sx n="81" d="100"/>
          <a:sy n="81" d="100"/>
        </p:scale>
        <p:origin x="23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23730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491229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28560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43780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82892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28771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802051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54092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9589389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559169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26566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414212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203158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80.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22901" y="205427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Interpreting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Graphs of</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Functions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141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6576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MA.8.F.1.3</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Analyze a real-world written description or graphical representation of a functional relationship between two quantities and identify where the function is increasing, decreasing, or constant.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5760" y="35653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6576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identify where a function is increasing, decreasing, or constant from its graph. </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write a description of a graphical representation of a function in context.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993667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10.5.1 Warm-Up: Which One Doesn’t Belong?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6576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sp>
        <p:nvSpPr>
          <p:cNvPr id="3" name="Rectangle 2">
            <a:extLst>
              <a:ext uri="{FF2B5EF4-FFF2-40B4-BE49-F238E27FC236}">
                <a16:creationId xmlns:a16="http://schemas.microsoft.com/office/drawing/2014/main" id="{287C5FEC-A86F-3B40-BDC7-FA3BB8FD6EBF}"/>
              </a:ext>
            </a:extLst>
          </p:cNvPr>
          <p:cNvSpPr/>
          <p:nvPr/>
        </p:nvSpPr>
        <p:spPr>
          <a:xfrm>
            <a:off x="841218" y="1197765"/>
            <a:ext cx="10515600"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rPr>
              <a:t>Four graphs show the relationship between temperature and time.</a:t>
            </a:r>
          </a:p>
        </p:txBody>
      </p:sp>
      <p:pic>
        <p:nvPicPr>
          <p:cNvPr id="4" name="Picture 3" descr="Diagram&#10;&#10;Description automatically generated">
            <a:extLst>
              <a:ext uri="{FF2B5EF4-FFF2-40B4-BE49-F238E27FC236}">
                <a16:creationId xmlns:a16="http://schemas.microsoft.com/office/drawing/2014/main" id="{19B37A5C-2311-E142-BA64-AE8A5912409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6801" y="1905652"/>
            <a:ext cx="5498399" cy="466640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sp>
        <p:nvSpPr>
          <p:cNvPr id="3" name="Rectangle 2">
            <a:extLst>
              <a:ext uri="{FF2B5EF4-FFF2-40B4-BE49-F238E27FC236}">
                <a16:creationId xmlns:a16="http://schemas.microsoft.com/office/drawing/2014/main" id="{287C5FEC-A86F-3B40-BDC7-FA3BB8FD6EBF}"/>
              </a:ext>
            </a:extLst>
          </p:cNvPr>
          <p:cNvSpPr/>
          <p:nvPr/>
        </p:nvSpPr>
        <p:spPr>
          <a:xfrm>
            <a:off x="914400" y="837664"/>
            <a:ext cx="8586216" cy="341632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Which one doesn’t belong? </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r>
              <a:rPr lang="en-US" sz="2400" dirty="0">
                <a:latin typeface="Verdana" panose="020B0604030504040204" pitchFamily="34" charset="0"/>
                <a:ea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endParaRPr>
          </a:p>
          <a:p>
            <a:r>
              <a:rPr lang="en-US" sz="2400" dirty="0">
                <a:latin typeface="Verdana" panose="020B0604030504040204" pitchFamily="34" charset="0"/>
                <a:ea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Explain your choice.</a:t>
            </a:r>
          </a:p>
          <a:p>
            <a:r>
              <a:rPr lang="en-US" sz="2400" dirty="0">
                <a:latin typeface="Verdana" panose="020B0604030504040204" pitchFamily="34" charset="0"/>
                <a:ea typeface="Times New Roman" panose="02020603050405020304" pitchFamily="18" charset="0"/>
              </a:rPr>
              <a:t> </a:t>
            </a:r>
          </a:p>
        </p:txBody>
      </p:sp>
    </p:spTree>
    <p:extLst>
      <p:ext uri="{BB962C8B-B14F-4D97-AF65-F5344CB8AC3E}">
        <p14:creationId xmlns:p14="http://schemas.microsoft.com/office/powerpoint/2010/main" val="3014488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142</a:t>
            </a:r>
            <a:endParaRPr i="1" dirty="0">
              <a:latin typeface="Calibri"/>
              <a:ea typeface="Calibri"/>
              <a:cs typeface="Calibri"/>
              <a:sym typeface="Calibri"/>
            </a:endParaRPr>
          </a:p>
        </p:txBody>
      </p:sp>
      <p:pic>
        <p:nvPicPr>
          <p:cNvPr id="7" name="image8.png" descr="Icon&#10;&#10;Description automatically generated">
            <a:extLst>
              <a:ext uri="{FF2B5EF4-FFF2-40B4-BE49-F238E27FC236}">
                <a16:creationId xmlns:a16="http://schemas.microsoft.com/office/drawing/2014/main" id="{A1D00191-2A17-C344-A474-AA77BB12DB7A}"/>
              </a:ext>
            </a:extLst>
          </p:cNvPr>
          <p:cNvPicPr/>
          <p:nvPr/>
        </p:nvPicPr>
        <p:blipFill>
          <a:blip r:embed="rId4"/>
          <a:srcRect/>
          <a:stretch>
            <a:fillRect/>
          </a:stretch>
        </p:blipFill>
        <p:spPr>
          <a:xfrm>
            <a:off x="3054096" y="2849038"/>
            <a:ext cx="1182105" cy="118210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10.5.2 Exploration: Distance Versus Time Graphs</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1888945"/>
            <a:ext cx="6400350"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turtle is traveling across the sand. </a:t>
            </a:r>
          </a:p>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graph using line segments to represent a possible path the turtle could take. </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142</a:t>
            </a:r>
            <a:endParaRPr i="1" dirty="0">
              <a:latin typeface="Calibri"/>
              <a:ea typeface="Calibri"/>
              <a:cs typeface="Calibri"/>
              <a:sym typeface="Calibri"/>
            </a:endParaRPr>
          </a:p>
        </p:txBody>
      </p:sp>
      <p:pic>
        <p:nvPicPr>
          <p:cNvPr id="12" name="image8.png" descr="Icon&#10;&#10;Description automatically generated">
            <a:extLst>
              <a:ext uri="{FF2B5EF4-FFF2-40B4-BE49-F238E27FC236}">
                <a16:creationId xmlns:a16="http://schemas.microsoft.com/office/drawing/2014/main" id="{CAE7E168-0DA6-8C4A-996B-5941551DE99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351858"/>
            <a:ext cx="749809" cy="749809"/>
          </a:xfrm>
          <a:prstGeom prst="rect">
            <a:avLst/>
          </a:prstGeom>
          <a:ln/>
        </p:spPr>
      </p:pic>
      <p:pic>
        <p:nvPicPr>
          <p:cNvPr id="13" name="Picture 12" descr="A picture containing diagram&#10;&#10;Description automatically generated">
            <a:extLst>
              <a:ext uri="{FF2B5EF4-FFF2-40B4-BE49-F238E27FC236}">
                <a16:creationId xmlns:a16="http://schemas.microsoft.com/office/drawing/2014/main" id="{A412F047-63B5-B946-AAA2-38F6375DB66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514231" y="1751013"/>
            <a:ext cx="2820670" cy="2593975"/>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142</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00CD0FA9-4E79-5C4A-943D-2C85F95590C1}"/>
              </a:ext>
            </a:extLst>
          </p:cNvPr>
          <p:cNvSpPr txBox="1"/>
          <p:nvPr/>
        </p:nvSpPr>
        <p:spPr>
          <a:xfrm>
            <a:off x="5189518" y="747169"/>
            <a:ext cx="5427308" cy="1569660"/>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 brief story describing the turtle’s journey based on your graph.</a:t>
            </a:r>
          </a:p>
        </p:txBody>
      </p:sp>
      <p:pic>
        <p:nvPicPr>
          <p:cNvPr id="7" name="Picture 6" descr="Chart, bar chart, line chart, histogram&#10;&#10;Description automatically generated">
            <a:extLst>
              <a:ext uri="{FF2B5EF4-FFF2-40B4-BE49-F238E27FC236}">
                <a16:creationId xmlns:a16="http://schemas.microsoft.com/office/drawing/2014/main" id="{A31B77F4-157D-ED48-8098-B6A632B6A18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1546" b="24940"/>
          <a:stretch/>
        </p:blipFill>
        <p:spPr bwMode="auto">
          <a:xfrm>
            <a:off x="914400" y="514034"/>
            <a:ext cx="4176395" cy="3543935"/>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E7ACC7F9-1291-4848-9132-F445C3FE3354}"/>
              </a:ext>
            </a:extLst>
          </p:cNvPr>
          <p:cNvSpPr txBox="1"/>
          <p:nvPr/>
        </p:nvSpPr>
        <p:spPr>
          <a:xfrm>
            <a:off x="914400" y="4801009"/>
            <a:ext cx="10515600" cy="1200329"/>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Share your graph and story with your partner. Discuss any differences in your graphs or interpretations. Make revisions to your story or graph, if necessary.</a:t>
            </a:r>
          </a:p>
        </p:txBody>
      </p:sp>
      <p:sp>
        <p:nvSpPr>
          <p:cNvPr id="10" name="Text Box 18">
            <a:extLst>
              <a:ext uri="{FF2B5EF4-FFF2-40B4-BE49-F238E27FC236}">
                <a16:creationId xmlns:a16="http://schemas.microsoft.com/office/drawing/2014/main" id="{34F3F2BB-7E49-DC48-AA03-E57BD710F806}"/>
              </a:ext>
            </a:extLst>
          </p:cNvPr>
          <p:cNvSpPr txBox="1"/>
          <p:nvPr/>
        </p:nvSpPr>
        <p:spPr>
          <a:xfrm>
            <a:off x="3481813" y="4101077"/>
            <a:ext cx="2041525" cy="425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a:latin typeface="Verdana" panose="020B0604030504040204" pitchFamily="34" charset="0"/>
                <a:ea typeface="Times New Roman" panose="02020603050405020304" pitchFamily="18" charset="0"/>
                <a:cs typeface="Times New Roman" panose="02020603050405020304" pitchFamily="18" charset="0"/>
              </a:rPr>
              <a:t>Time (seconds)</a:t>
            </a:r>
            <a:endParaRPr lang="en-CO" sz="1200">
              <a:latin typeface="Cambria" panose="02040503050406030204" pitchFamily="18" charset="0"/>
              <a:ea typeface="Times New Roman" panose="02020603050405020304" pitchFamily="18" charset="0"/>
              <a:cs typeface="Times New Roman" panose="02020603050405020304" pitchFamily="18" charset="0"/>
            </a:endParaRPr>
          </a:p>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29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142</a:t>
            </a:r>
            <a:endParaRPr i="1" dirty="0">
              <a:latin typeface="Calibri"/>
              <a:ea typeface="Calibri"/>
              <a:cs typeface="Calibri"/>
              <a:sym typeface="Calibri"/>
            </a:endParaRPr>
          </a:p>
        </p:txBody>
      </p:sp>
      <p:sp>
        <p:nvSpPr>
          <p:cNvPr id="9" name="TextBox 8">
            <a:extLst>
              <a:ext uri="{FF2B5EF4-FFF2-40B4-BE49-F238E27FC236}">
                <a16:creationId xmlns:a16="http://schemas.microsoft.com/office/drawing/2014/main" id="{E7ACC7F9-1291-4848-9132-F445C3FE3354}"/>
              </a:ext>
            </a:extLst>
          </p:cNvPr>
          <p:cNvSpPr txBox="1"/>
          <p:nvPr/>
        </p:nvSpPr>
        <p:spPr>
          <a:xfrm>
            <a:off x="914399" y="305210"/>
            <a:ext cx="105156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Luca drew the graph shown to represent a new turtle’s journey across the sand.</a:t>
            </a:r>
          </a:p>
        </p:txBody>
      </p:sp>
      <p:pic>
        <p:nvPicPr>
          <p:cNvPr id="11" name="Picture 10" descr="Chart, line chart&#10;&#10;Description automatically generated">
            <a:extLst>
              <a:ext uri="{FF2B5EF4-FFF2-40B4-BE49-F238E27FC236}">
                <a16:creationId xmlns:a16="http://schemas.microsoft.com/office/drawing/2014/main" id="{1A78B32D-85BE-0945-B208-4679C31D836D}"/>
              </a:ext>
            </a:extLst>
          </p:cNvPr>
          <p:cNvPicPr>
            <a:picLocks noChangeAspect="1"/>
          </p:cNvPicPr>
          <p:nvPr/>
        </p:nvPicPr>
        <p:blipFill rotWithShape="1">
          <a:blip r:embed="rId4">
            <a:extLst>
              <a:ext uri="{28A0092B-C50C-407E-A947-70E740481C1C}">
                <a14:useLocalDpi xmlns:a14="http://schemas.microsoft.com/office/drawing/2010/main"/>
              </a:ext>
            </a:extLst>
          </a:blip>
          <a:srcRect l="10161" b="29443"/>
          <a:stretch/>
        </p:blipFill>
        <p:spPr bwMode="auto">
          <a:xfrm>
            <a:off x="3497580" y="1738630"/>
            <a:ext cx="5196840" cy="4081780"/>
          </a:xfrm>
          <a:prstGeom prst="rect">
            <a:avLst/>
          </a:prstGeom>
          <a:ln>
            <a:noFill/>
          </a:ln>
          <a:extLst>
            <a:ext uri="{53640926-AAD7-44D8-BBD7-CCE9431645EC}">
              <a14:shadowObscured xmlns:a14="http://schemas.microsoft.com/office/drawing/2010/main"/>
            </a:ext>
          </a:extLst>
        </p:spPr>
      </p:pic>
      <p:sp>
        <p:nvSpPr>
          <p:cNvPr id="12" name="Text Box 27">
            <a:extLst>
              <a:ext uri="{FF2B5EF4-FFF2-40B4-BE49-F238E27FC236}">
                <a16:creationId xmlns:a16="http://schemas.microsoft.com/office/drawing/2014/main" id="{4580FDE6-2693-B049-A001-D3A6A1A5AE86}"/>
              </a:ext>
            </a:extLst>
          </p:cNvPr>
          <p:cNvSpPr txBox="1"/>
          <p:nvPr/>
        </p:nvSpPr>
        <p:spPr>
          <a:xfrm>
            <a:off x="5075238" y="5888852"/>
            <a:ext cx="2041525" cy="425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a:latin typeface="Verdana" panose="020B0604030504040204" pitchFamily="34" charset="0"/>
                <a:ea typeface="Times New Roman" panose="02020603050405020304" pitchFamily="18" charset="0"/>
                <a:cs typeface="Times New Roman" panose="02020603050405020304" pitchFamily="18" charset="0"/>
              </a:rPr>
              <a:t>Time (seconds)</a:t>
            </a:r>
            <a:endParaRPr lang="en-CO" sz="1200">
              <a:latin typeface="Cambria" panose="02040503050406030204" pitchFamily="18" charset="0"/>
              <a:ea typeface="Times New Roman" panose="02020603050405020304" pitchFamily="18" charset="0"/>
              <a:cs typeface="Times New Roman" panose="02020603050405020304" pitchFamily="18" charset="0"/>
            </a:endParaRPr>
          </a:p>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5038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142</a:t>
            </a:r>
            <a:endParaRPr i="1" dirty="0">
              <a:latin typeface="Calibri"/>
              <a:ea typeface="Calibri"/>
              <a:cs typeface="Calibri"/>
              <a:sym typeface="Calibri"/>
            </a:endParaRPr>
          </a:p>
        </p:txBody>
      </p:sp>
      <p:sp>
        <p:nvSpPr>
          <p:cNvPr id="9" name="TextBox 8">
            <a:extLst>
              <a:ext uri="{FF2B5EF4-FFF2-40B4-BE49-F238E27FC236}">
                <a16:creationId xmlns:a16="http://schemas.microsoft.com/office/drawing/2014/main" id="{E7ACC7F9-1291-4848-9132-F445C3FE3354}"/>
              </a:ext>
            </a:extLst>
          </p:cNvPr>
          <p:cNvSpPr txBox="1"/>
          <p:nvPr/>
        </p:nvSpPr>
        <p:spPr>
          <a:xfrm>
            <a:off x="914400" y="564290"/>
            <a:ext cx="10515600" cy="5262979"/>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On your own, label the graph as described below.</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377950" indent="-46513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Label any parts of the graph where Luca’s turtle is walking away from the water with the letter 𝑎.</a:t>
            </a:r>
          </a:p>
          <a:p>
            <a:pPr marL="1377950" indent="-465138">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377950" indent="-46513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Label any parts of the graph where Luca’s turtle is standing still with the letter 𝑏.</a:t>
            </a:r>
          </a:p>
          <a:p>
            <a:pPr marL="1377950" indent="-465138">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377950" indent="-46513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Label any parts of the graph where Luca’s turtle is walking toward the water with a letter 𝑐.</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labels with your partner and resolve any differences, if necessary.</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48041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143</a:t>
            </a:r>
            <a:endParaRPr i="1" dirty="0">
              <a:latin typeface="Calibri"/>
              <a:ea typeface="Calibri"/>
              <a:cs typeface="Calibri"/>
              <a:sym typeface="Calibri"/>
            </a:endParaRPr>
          </a:p>
        </p:txBody>
      </p:sp>
      <p:sp>
        <p:nvSpPr>
          <p:cNvPr id="9" name="TextBox 8">
            <a:extLst>
              <a:ext uri="{FF2B5EF4-FFF2-40B4-BE49-F238E27FC236}">
                <a16:creationId xmlns:a16="http://schemas.microsoft.com/office/drawing/2014/main" id="{E7ACC7F9-1291-4848-9132-F445C3FE3354}"/>
              </a:ext>
            </a:extLst>
          </p:cNvPr>
          <p:cNvSpPr txBox="1"/>
          <p:nvPr/>
        </p:nvSpPr>
        <p:spPr>
          <a:xfrm>
            <a:off x="914400" y="349977"/>
            <a:ext cx="10515600" cy="5632311"/>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answer the following using Luca’s graph.</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turtle’s distance from the water at 8 seconds?</a:t>
            </a: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When is the turtle’s distance from the water 4 feet?</a:t>
            </a: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Based on the graph, the turtle is walking between 0 and 2 seconds, and between 4 and 8.5 seconds. Determine whether the turtle is traveling faster between 0 and 2 seconds, or between 4 and 8.5 seconds.</a:t>
            </a:r>
          </a:p>
        </p:txBody>
      </p:sp>
    </p:spTree>
    <p:extLst>
      <p:ext uri="{BB962C8B-B14F-4D97-AF65-F5344CB8AC3E}">
        <p14:creationId xmlns:p14="http://schemas.microsoft.com/office/powerpoint/2010/main" val="825411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143</a:t>
            </a:r>
            <a:endParaRPr i="1" dirty="0">
              <a:latin typeface="Calibri"/>
              <a:ea typeface="Calibri"/>
              <a:cs typeface="Calibri"/>
              <a:sym typeface="Calibri"/>
            </a:endParaRPr>
          </a:p>
        </p:txBody>
      </p:sp>
      <p:sp>
        <p:nvSpPr>
          <p:cNvPr id="9" name="TextBox 8">
            <a:extLst>
              <a:ext uri="{FF2B5EF4-FFF2-40B4-BE49-F238E27FC236}">
                <a16:creationId xmlns:a16="http://schemas.microsoft.com/office/drawing/2014/main" id="{E7ACC7F9-1291-4848-9132-F445C3FE3354}"/>
              </a:ext>
            </a:extLst>
          </p:cNvPr>
          <p:cNvSpPr txBox="1"/>
          <p:nvPr/>
        </p:nvSpPr>
        <p:spPr>
          <a:xfrm>
            <a:off x="914400" y="244249"/>
            <a:ext cx="10515600" cy="1200329"/>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Four screenshots and brief descriptions from an animation are shown. In the animation, a turtle is being careful to avoid crawling snakes as it walks across the sand.</a:t>
            </a:r>
          </a:p>
        </p:txBody>
      </p:sp>
      <p:graphicFrame>
        <p:nvGraphicFramePr>
          <p:cNvPr id="3" name="Table 2">
            <a:extLst>
              <a:ext uri="{FF2B5EF4-FFF2-40B4-BE49-F238E27FC236}">
                <a16:creationId xmlns:a16="http://schemas.microsoft.com/office/drawing/2014/main" id="{7F027B91-FC1B-3442-B3A9-783BBFDE94A1}"/>
              </a:ext>
            </a:extLst>
          </p:cNvPr>
          <p:cNvGraphicFramePr>
            <a:graphicFrameLocks noGrp="1"/>
          </p:cNvGraphicFramePr>
          <p:nvPr>
            <p:extLst>
              <p:ext uri="{D42A27DB-BD31-4B8C-83A1-F6EECF244321}">
                <p14:modId xmlns:p14="http://schemas.microsoft.com/office/powerpoint/2010/main" val="3682758404"/>
              </p:ext>
            </p:extLst>
          </p:nvPr>
        </p:nvGraphicFramePr>
        <p:xfrm>
          <a:off x="2386756" y="1523494"/>
          <a:ext cx="6980272" cy="5188026"/>
        </p:xfrm>
        <a:graphic>
          <a:graphicData uri="http://schemas.openxmlformats.org/drawingml/2006/table">
            <a:tbl>
              <a:tblPr firstRow="1" firstCol="1" bandRow="1">
                <a:tableStyleId>{A91F0D33-8C57-4600-99A7-42BC86742BE1}</a:tableStyleId>
              </a:tblPr>
              <a:tblGrid>
                <a:gridCol w="2757068">
                  <a:extLst>
                    <a:ext uri="{9D8B030D-6E8A-4147-A177-3AD203B41FA5}">
                      <a16:colId xmlns:a16="http://schemas.microsoft.com/office/drawing/2014/main" val="1279823371"/>
                    </a:ext>
                  </a:extLst>
                </a:gridCol>
                <a:gridCol w="4223204">
                  <a:extLst>
                    <a:ext uri="{9D8B030D-6E8A-4147-A177-3AD203B41FA5}">
                      <a16:colId xmlns:a16="http://schemas.microsoft.com/office/drawing/2014/main" val="3543658863"/>
                    </a:ext>
                  </a:extLst>
                </a:gridCol>
              </a:tblGrid>
              <a:tr h="245515">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Screenshot</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26745780"/>
                  </a:ext>
                </a:extLst>
              </a:tr>
              <a:tr h="1285152">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turtle begins in the water.</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771189"/>
                  </a:ext>
                </a:extLst>
              </a:tr>
              <a:tr h="1230001">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Avoiding the crawling snakes, the turtle walks forward at a constant rate until the point shown, where he stops for a few seconds while a snake passes by.</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117179"/>
                  </a:ext>
                </a:extLst>
              </a:tr>
              <a:tr h="1213679">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Then, the turtle backs up to avoid another snake. He waits a few seconds there.</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71332"/>
                  </a:ext>
                </a:extLst>
              </a:tr>
              <a:tr h="1213679">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turtle then hurries across the rest of the sand to safety.</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1895" marR="318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6608015"/>
                  </a:ext>
                </a:extLst>
              </a:tr>
            </a:tbl>
          </a:graphicData>
        </a:graphic>
      </p:graphicFrame>
      <p:pic>
        <p:nvPicPr>
          <p:cNvPr id="10" name="Picture 9">
            <a:extLst>
              <a:ext uri="{FF2B5EF4-FFF2-40B4-BE49-F238E27FC236}">
                <a16:creationId xmlns:a16="http://schemas.microsoft.com/office/drawing/2014/main" id="{23E5D648-2B52-9D49-A87E-78AB1ECF28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91192" y="1829923"/>
            <a:ext cx="1245352" cy="1164141"/>
          </a:xfrm>
          <a:prstGeom prst="rect">
            <a:avLst/>
          </a:prstGeom>
        </p:spPr>
      </p:pic>
      <p:pic>
        <p:nvPicPr>
          <p:cNvPr id="11" name="Picture 10">
            <a:extLst>
              <a:ext uri="{FF2B5EF4-FFF2-40B4-BE49-F238E27FC236}">
                <a16:creationId xmlns:a16="http://schemas.microsoft.com/office/drawing/2014/main" id="{207CB3A9-2E6D-4544-8D0A-AA543216014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91192" y="3084855"/>
            <a:ext cx="1245352" cy="1164485"/>
          </a:xfrm>
          <a:prstGeom prst="rect">
            <a:avLst/>
          </a:prstGeom>
        </p:spPr>
      </p:pic>
      <p:pic>
        <p:nvPicPr>
          <p:cNvPr id="12" name="Picture 11">
            <a:extLst>
              <a:ext uri="{FF2B5EF4-FFF2-40B4-BE49-F238E27FC236}">
                <a16:creationId xmlns:a16="http://schemas.microsoft.com/office/drawing/2014/main" id="{2BEB9EAE-A67A-974D-BD39-216C20093E4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191192" y="4320054"/>
            <a:ext cx="1245352" cy="1160375"/>
          </a:xfrm>
          <a:prstGeom prst="rect">
            <a:avLst/>
          </a:prstGeom>
        </p:spPr>
      </p:pic>
      <p:pic>
        <p:nvPicPr>
          <p:cNvPr id="13" name="Picture 12">
            <a:extLst>
              <a:ext uri="{FF2B5EF4-FFF2-40B4-BE49-F238E27FC236}">
                <a16:creationId xmlns:a16="http://schemas.microsoft.com/office/drawing/2014/main" id="{312DBDEC-5D29-BA49-B005-99921F40969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191193" y="5520785"/>
            <a:ext cx="1245351" cy="1160034"/>
          </a:xfrm>
          <a:prstGeom prst="rect">
            <a:avLst/>
          </a:prstGeom>
        </p:spPr>
      </p:pic>
    </p:spTree>
    <p:extLst>
      <p:ext uri="{BB962C8B-B14F-4D97-AF65-F5344CB8AC3E}">
        <p14:creationId xmlns:p14="http://schemas.microsoft.com/office/powerpoint/2010/main" val="847003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144</a:t>
            </a:r>
            <a:endParaRPr i="1" dirty="0">
              <a:latin typeface="Calibri"/>
              <a:ea typeface="Calibri"/>
              <a:cs typeface="Calibri"/>
              <a:sym typeface="Calibri"/>
            </a:endParaRPr>
          </a:p>
        </p:txBody>
      </p:sp>
      <p:sp>
        <p:nvSpPr>
          <p:cNvPr id="9" name="TextBox 8">
            <a:extLst>
              <a:ext uri="{FF2B5EF4-FFF2-40B4-BE49-F238E27FC236}">
                <a16:creationId xmlns:a16="http://schemas.microsoft.com/office/drawing/2014/main" id="{E7ACC7F9-1291-4848-9132-F445C3FE3354}"/>
              </a:ext>
            </a:extLst>
          </p:cNvPr>
          <p:cNvSpPr txBox="1"/>
          <p:nvPr/>
        </p:nvSpPr>
        <p:spPr>
          <a:xfrm>
            <a:off x="914399" y="244249"/>
            <a:ext cx="10515600" cy="830997"/>
          </a:xfrm>
          <a:prstGeom prst="rect">
            <a:avLst/>
          </a:prstGeom>
          <a:noFill/>
        </p:spPr>
        <p:txBody>
          <a:bodyPr wrap="square" rtlCol="0">
            <a:spAutoFit/>
          </a:bodyPr>
          <a:lstStyle/>
          <a:p>
            <a:pPr marL="914400" indent="-457200">
              <a:buFont typeface="+mj-lt"/>
              <a:buAutoNum type="alphaLcPeriod"/>
              <a:tabLst>
                <a:tab pos="285750" algn="l"/>
              </a:tabLst>
            </a:pPr>
            <a:r>
              <a:rPr lang="en-US" sz="2400" dirty="0">
                <a:latin typeface="Verdana" panose="020B0604030504040204" pitchFamily="34" charset="0"/>
                <a:ea typeface="Verdana" panose="020B0604030504040204" pitchFamily="34" charset="0"/>
                <a:cs typeface="Verdana" panose="020B0604030504040204" pitchFamily="34" charset="0"/>
              </a:rPr>
              <a:t>On your own, draw a graph of the turtle’s distance from the water over time based on the description in the table.</a:t>
            </a:r>
          </a:p>
        </p:txBody>
      </p:sp>
      <p:pic>
        <p:nvPicPr>
          <p:cNvPr id="14" name="Picture 13" descr="Chart, bar chart, line chart, histogram&#10;&#10;Description automatically generated">
            <a:extLst>
              <a:ext uri="{FF2B5EF4-FFF2-40B4-BE49-F238E27FC236}">
                <a16:creationId xmlns:a16="http://schemas.microsoft.com/office/drawing/2014/main" id="{96CBCEDC-B8ED-9B48-834D-BE80B5BD3AD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1546" b="25040"/>
          <a:stretch/>
        </p:blipFill>
        <p:spPr bwMode="auto">
          <a:xfrm>
            <a:off x="4094797" y="1245002"/>
            <a:ext cx="4002405" cy="3391369"/>
          </a:xfrm>
          <a:prstGeom prst="rect">
            <a:avLst/>
          </a:prstGeom>
          <a:ln>
            <a:noFill/>
          </a:ln>
          <a:extLst>
            <a:ext uri="{53640926-AAD7-44D8-BBD7-CCE9431645EC}">
              <a14:shadowObscured xmlns:a14="http://schemas.microsoft.com/office/drawing/2010/main"/>
            </a:ext>
          </a:extLst>
        </p:spPr>
      </p:pic>
      <p:sp>
        <p:nvSpPr>
          <p:cNvPr id="15" name="Text Box 33">
            <a:extLst>
              <a:ext uri="{FF2B5EF4-FFF2-40B4-BE49-F238E27FC236}">
                <a16:creationId xmlns:a16="http://schemas.microsoft.com/office/drawing/2014/main" id="{2B6251DF-6C9D-5440-B4BB-4645D2971C0C}"/>
              </a:ext>
            </a:extLst>
          </p:cNvPr>
          <p:cNvSpPr txBox="1"/>
          <p:nvPr/>
        </p:nvSpPr>
        <p:spPr>
          <a:xfrm>
            <a:off x="5379522" y="4630741"/>
            <a:ext cx="2057875" cy="425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Time (seconds)</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a:p>
            <a:pPr>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2296F24-7576-854A-A41B-0BCBD556DDF9}"/>
              </a:ext>
            </a:extLst>
          </p:cNvPr>
          <p:cNvSpPr txBox="1"/>
          <p:nvPr/>
        </p:nvSpPr>
        <p:spPr>
          <a:xfrm>
            <a:off x="914400" y="5212489"/>
            <a:ext cx="10515600" cy="830997"/>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graph with your partner. Discuss your graphs and make any changes, if necessary.</a:t>
            </a:r>
          </a:p>
        </p:txBody>
      </p:sp>
    </p:spTree>
    <p:extLst>
      <p:ext uri="{BB962C8B-B14F-4D97-AF65-F5344CB8AC3E}">
        <p14:creationId xmlns:p14="http://schemas.microsoft.com/office/powerpoint/2010/main" val="525209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144</a:t>
            </a:r>
            <a:endParaRPr i="1" dirty="0">
              <a:latin typeface="Calibri"/>
              <a:ea typeface="Calibri"/>
              <a:cs typeface="Calibri"/>
              <a:sym typeface="Calibri"/>
            </a:endParaRPr>
          </a:p>
        </p:txBody>
      </p:sp>
      <p:pic>
        <p:nvPicPr>
          <p:cNvPr id="10" name="image13.png" descr="Icon&#10;&#10;Description automatically generated">
            <a:extLst>
              <a:ext uri="{FF2B5EF4-FFF2-40B4-BE49-F238E27FC236}">
                <a16:creationId xmlns:a16="http://schemas.microsoft.com/office/drawing/2014/main" id="{2A940746-2CB4-934A-8454-3DF8A2E3CD5D}"/>
              </a:ext>
            </a:extLst>
          </p:cNvPr>
          <p:cNvPicPr/>
          <p:nvPr/>
        </p:nvPicPr>
        <p:blipFill>
          <a:blip r:embed="rId4"/>
          <a:srcRect/>
          <a:stretch>
            <a:fillRect/>
          </a:stretch>
        </p:blipFill>
        <p:spPr>
          <a:xfrm>
            <a:off x="3054096" y="2766141"/>
            <a:ext cx="1177893" cy="117789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10.5.3 Bring It Together: Distance Versus Time Graphics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386026"/>
            <a:ext cx="10515600"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In graphs comparing time as the independent variable and distance as the dependent variable, the slope of the line represents _________________.</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144</a:t>
            </a:r>
            <a:endParaRPr i="1" dirty="0">
              <a:latin typeface="Calibri"/>
              <a:ea typeface="Calibri"/>
              <a:cs typeface="Calibri"/>
              <a:sym typeface="Calibri"/>
            </a:endParaRPr>
          </a:p>
        </p:txBody>
      </p:sp>
      <p:pic>
        <p:nvPicPr>
          <p:cNvPr id="10" name="image13.png" descr="Icon&#10;&#10;Description automatically generated">
            <a:extLst>
              <a:ext uri="{FF2B5EF4-FFF2-40B4-BE49-F238E27FC236}">
                <a16:creationId xmlns:a16="http://schemas.microsoft.com/office/drawing/2014/main" id="{8D61C8E5-0258-0440-A838-98084A6E3CE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4462"/>
            <a:ext cx="747299" cy="747299"/>
          </a:xfrm>
          <a:prstGeom prst="rect">
            <a:avLst/>
          </a:prstGeom>
          <a:ln/>
        </p:spPr>
      </p:pic>
      <p:sp>
        <p:nvSpPr>
          <p:cNvPr id="11" name="Rounded Rectangle 10">
            <a:extLst>
              <a:ext uri="{FF2B5EF4-FFF2-40B4-BE49-F238E27FC236}">
                <a16:creationId xmlns:a16="http://schemas.microsoft.com/office/drawing/2014/main" id="{7362E695-C2BA-5446-81F0-A9D6AD5AEC5B}"/>
              </a:ext>
            </a:extLst>
          </p:cNvPr>
          <p:cNvSpPr/>
          <p:nvPr/>
        </p:nvSpPr>
        <p:spPr>
          <a:xfrm>
            <a:off x="2243250" y="2763245"/>
            <a:ext cx="7726100" cy="369443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50000"/>
              </a:lnSpc>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Speed vs. Velocity</a:t>
            </a:r>
            <a:endParaRPr lang="en-CO" sz="20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000" b="1" i="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Speed</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is the rate at which an object is moving in units of distance per unit of time.</a:t>
            </a:r>
            <a:endParaRPr lang="en-CO" sz="20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000" b="1" i="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Velocity</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is the rate </a:t>
            </a:r>
            <a:r>
              <a:rPr lang="en-US" sz="2000" i="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and</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direction of an object’s movement.</a:t>
            </a:r>
            <a:endParaRPr lang="en-CO" sz="20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endParaRPr lang="en-CO" sz="20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The slope of a line gives both the rate of change and the direction of the change, positive or negative, so it can be used to determine both the speed and the velocity of an object.</a:t>
            </a:r>
            <a:endParaRPr lang="en-CO"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Shape 15" descr="Icon&#10;&#10;Description automatically generated">
            <a:extLst>
              <a:ext uri="{FF2B5EF4-FFF2-40B4-BE49-F238E27FC236}">
                <a16:creationId xmlns:a16="http://schemas.microsoft.com/office/drawing/2014/main" id="{BEFB54D6-EAC4-4144-94E5-4C94AF6F008E}"/>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2519850" y="3155268"/>
            <a:ext cx="539750"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7" name="Rectangle 16">
            <a:extLst>
              <a:ext uri="{FF2B5EF4-FFF2-40B4-BE49-F238E27FC236}">
                <a16:creationId xmlns:a16="http://schemas.microsoft.com/office/drawing/2014/main" id="{C5C0689E-8B16-904F-A555-0BF540A1D1D2}"/>
              </a:ext>
            </a:extLst>
          </p:cNvPr>
          <p:cNvSpPr/>
          <p:nvPr/>
        </p:nvSpPr>
        <p:spPr>
          <a:xfrm>
            <a:off x="914400" y="312806"/>
            <a:ext cx="10515600" cy="6001643"/>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Complete each statement.</a:t>
            </a:r>
          </a:p>
          <a:p>
            <a:r>
              <a:rPr lang="en-US" sz="2400" dirty="0">
                <a:latin typeface="Verdana" panose="020B0604030504040204" pitchFamily="34" charset="0"/>
                <a:ea typeface="Times New Roman" panose="02020603050405020304" pitchFamily="18" charset="0"/>
              </a:rPr>
              <a:t> </a:t>
            </a:r>
          </a:p>
          <a:p>
            <a:pPr marL="915988" indent="-465138">
              <a:buFont typeface="+mj-lt"/>
              <a:buAutoNum type="alphaLcPeriod"/>
            </a:pPr>
            <a:r>
              <a:rPr lang="en-US" sz="2400" dirty="0">
                <a:latin typeface="Verdana" panose="020B0604030504040204" pitchFamily="34" charset="0"/>
                <a:ea typeface="Times New Roman" panose="02020603050405020304" pitchFamily="18" charset="0"/>
              </a:rPr>
              <a:t>On a distance-time graph, a horizontal line</a:t>
            </a:r>
          </a:p>
          <a:p>
            <a:pPr marL="915988" indent="-465138"/>
            <a:endParaRPr lang="en-US" sz="2400" dirty="0">
              <a:latin typeface="Verdana" panose="020B0604030504040204" pitchFamily="34" charset="0"/>
              <a:ea typeface="Times New Roman" panose="02020603050405020304" pitchFamily="18" charset="0"/>
            </a:endParaRPr>
          </a:p>
          <a:p>
            <a:pPr marL="973138"/>
            <a:r>
              <a:rPr lang="en-US" sz="2400" dirty="0">
                <a:latin typeface="Verdana" panose="020B0604030504040204" pitchFamily="34" charset="0"/>
                <a:ea typeface="Times New Roman" panose="02020603050405020304" pitchFamily="18" charset="0"/>
              </a:rPr>
              <a:t>means</a:t>
            </a:r>
          </a:p>
          <a:p>
            <a:pPr marL="915988" indent="-465138"/>
            <a:endParaRPr lang="en-US" sz="2400" dirty="0">
              <a:latin typeface="Verdana" panose="020B0604030504040204" pitchFamily="34" charset="0"/>
              <a:ea typeface="Times New Roman" panose="02020603050405020304" pitchFamily="18" charset="0"/>
            </a:endParaRPr>
          </a:p>
          <a:p>
            <a:pPr marL="915988" indent="-465138"/>
            <a:endParaRPr lang="en-US" sz="2400" dirty="0">
              <a:latin typeface="Verdana" panose="020B0604030504040204" pitchFamily="34" charset="0"/>
              <a:ea typeface="Times New Roman" panose="02020603050405020304" pitchFamily="18" charset="0"/>
            </a:endParaRPr>
          </a:p>
          <a:p>
            <a:pPr marL="915988" indent="-465138">
              <a:buFont typeface="+mj-lt"/>
              <a:buAutoNum type="alphaLcPeriod" startAt="2"/>
            </a:pPr>
            <a:r>
              <a:rPr lang="en-US" sz="2400" dirty="0">
                <a:latin typeface="Verdana" panose="020B0604030504040204" pitchFamily="34" charset="0"/>
                <a:ea typeface="Times New Roman" panose="02020603050405020304" pitchFamily="18" charset="0"/>
              </a:rPr>
              <a:t>On a distance-time graph, a diagonal line</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15988"/>
            <a:r>
              <a:rPr lang="en-US" sz="2400" dirty="0">
                <a:latin typeface="Verdana" panose="020B0604030504040204" pitchFamily="34" charset="0"/>
                <a:ea typeface="Times New Roman" panose="02020603050405020304" pitchFamily="18" charset="0"/>
              </a:rPr>
              <a:t>means</a:t>
            </a:r>
          </a:p>
          <a:p>
            <a:endParaRPr lang="en-US" sz="2400" dirty="0">
              <a:latin typeface="Verdana" panose="020B0604030504040204" pitchFamily="34" charset="0"/>
              <a:ea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How can the speed of the object be determined for a line segment on a distance-time graph?</a:t>
            </a:r>
          </a:p>
          <a:p>
            <a:r>
              <a:rPr lang="en-US" sz="2400" dirty="0">
                <a:latin typeface="Verdana" panose="020B0604030504040204" pitchFamily="34" charset="0"/>
                <a:ea typeface="Times New Roman" panose="02020603050405020304" pitchFamily="18" charset="0"/>
              </a:rPr>
              <a:t> </a:t>
            </a:r>
          </a:p>
        </p:txBody>
      </p:sp>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144</a:t>
            </a:r>
            <a:endParaRPr i="1" dirty="0">
              <a:latin typeface="Calibri"/>
              <a:ea typeface="Calibri"/>
              <a:cs typeface="Calibri"/>
              <a:sym typeface="Calibri"/>
            </a:endParaRPr>
          </a:p>
        </p:txBody>
      </p:sp>
      <p:pic>
        <p:nvPicPr>
          <p:cNvPr id="3" name="Picture 2" descr="Text&#10;&#10;Description automatically generated with low confidence">
            <a:extLst>
              <a:ext uri="{FF2B5EF4-FFF2-40B4-BE49-F238E27FC236}">
                <a16:creationId xmlns:a16="http://schemas.microsoft.com/office/drawing/2014/main" id="{0ADB62E9-C364-3441-B7A8-5BBD396B2B6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29165" y="1647732"/>
            <a:ext cx="5567418" cy="885052"/>
          </a:xfrm>
          <a:prstGeom prst="rect">
            <a:avLst/>
          </a:prstGeom>
        </p:spPr>
      </p:pic>
      <p:pic>
        <p:nvPicPr>
          <p:cNvPr id="5" name="Picture 4" descr="Text&#10;&#10;Description automatically generated">
            <a:extLst>
              <a:ext uri="{FF2B5EF4-FFF2-40B4-BE49-F238E27FC236}">
                <a16:creationId xmlns:a16="http://schemas.microsoft.com/office/drawing/2014/main" id="{E029E6B4-F73C-5241-A724-A7CDE2E1DFB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16504" y="3318477"/>
            <a:ext cx="5681606" cy="1508437"/>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145</a:t>
            </a:r>
            <a:endParaRPr i="1" dirty="0">
              <a:latin typeface="Calibri"/>
              <a:ea typeface="Calibri"/>
              <a:cs typeface="Calibri"/>
              <a:sym typeface="Calibri"/>
            </a:endParaRPr>
          </a:p>
        </p:txBody>
      </p:sp>
      <p:pic>
        <p:nvPicPr>
          <p:cNvPr id="9" name="image12.png" descr="Icon&#10;&#10;Description automatically generated">
            <a:extLst>
              <a:ext uri="{FF2B5EF4-FFF2-40B4-BE49-F238E27FC236}">
                <a16:creationId xmlns:a16="http://schemas.microsoft.com/office/drawing/2014/main" id="{1E7DAAD0-EC0F-BD45-86EE-F6158D289E20}"/>
              </a:ext>
            </a:extLst>
          </p:cNvPr>
          <p:cNvPicPr/>
          <p:nvPr/>
        </p:nvPicPr>
        <p:blipFill>
          <a:blip r:embed="rId4"/>
          <a:srcRect/>
          <a:stretch>
            <a:fillRect/>
          </a:stretch>
        </p:blipFill>
        <p:spPr>
          <a:xfrm>
            <a:off x="3054096" y="2855398"/>
            <a:ext cx="1152672" cy="1152672"/>
          </a:xfrm>
          <a:prstGeom prst="rect">
            <a:avLst/>
          </a:prstGeom>
          <a:ln/>
        </p:spPr>
      </p:pic>
    </p:spTree>
    <p:extLst>
      <p:ext uri="{BB962C8B-B14F-4D97-AF65-F5344CB8AC3E}">
        <p14:creationId xmlns:p14="http://schemas.microsoft.com/office/powerpoint/2010/main" val="2064610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229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10.5.4 Guided Practice: Interpreting Graphs of Functions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386026"/>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graph shows the temperature between noon and midnight one December day in Freeport, Florida.</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145</a:t>
            </a:r>
            <a:endParaRPr i="1" dirty="0">
              <a:latin typeface="Calibri"/>
              <a:ea typeface="Calibri"/>
              <a:cs typeface="Calibri"/>
              <a:sym typeface="Calibri"/>
            </a:endParaRPr>
          </a:p>
        </p:txBody>
      </p:sp>
      <p:pic>
        <p:nvPicPr>
          <p:cNvPr id="11" name="image12.png" descr="Icon&#10;&#10;Description automatically generated">
            <a:extLst>
              <a:ext uri="{FF2B5EF4-FFF2-40B4-BE49-F238E27FC236}">
                <a16:creationId xmlns:a16="http://schemas.microsoft.com/office/drawing/2014/main" id="{17FAC9F8-A63F-3F44-AB38-59541D52C31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1286"/>
            <a:ext cx="747300" cy="747300"/>
          </a:xfrm>
          <a:prstGeom prst="rect">
            <a:avLst/>
          </a:prstGeom>
          <a:ln/>
        </p:spPr>
      </p:pic>
      <p:pic>
        <p:nvPicPr>
          <p:cNvPr id="12" name="Picture" descr="Background pattern&#10;&#10;Description automatically generated">
            <a:extLst>
              <a:ext uri="{FF2B5EF4-FFF2-40B4-BE49-F238E27FC236}">
                <a16:creationId xmlns:a16="http://schemas.microsoft.com/office/drawing/2014/main" id="{A6F3D6B3-7611-1945-B38F-F13C62B938E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4693" b="6265"/>
          <a:stretch/>
        </p:blipFill>
        <p:spPr bwMode="auto">
          <a:xfrm>
            <a:off x="3327083" y="2852682"/>
            <a:ext cx="5537835" cy="3481070"/>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4" name="Text Box 40">
                <a:extLst>
                  <a:ext uri="{FF2B5EF4-FFF2-40B4-BE49-F238E27FC236}">
                    <a16:creationId xmlns:a16="http://schemas.microsoft.com/office/drawing/2014/main" id="{2E3F1EA3-9078-C543-AB09-4B7295CD06EA}"/>
                  </a:ext>
                </a:extLst>
              </p:cNvPr>
              <p:cNvSpPr txBox="1"/>
              <p:nvPr/>
            </p:nvSpPr>
            <p:spPr>
              <a:xfrm rot="16200000">
                <a:off x="1522730" y="3834115"/>
                <a:ext cx="3159760" cy="4489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Temperature (</a:t>
                </a: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𝐹</m:t>
                    </m:r>
                    <m:r>
                      <a:rPr lang="en-US" sz="18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40">
                <a:extLst>
                  <a:ext uri="{FF2B5EF4-FFF2-40B4-BE49-F238E27FC236}">
                    <a16:creationId xmlns:a16="http://schemas.microsoft.com/office/drawing/2014/main" id="{2E3F1EA3-9078-C543-AB09-4B7295CD06EA}"/>
                  </a:ext>
                </a:extLst>
              </p:cNvPr>
              <p:cNvSpPr txBox="1">
                <a:spLocks noRot="1" noChangeAspect="1" noMove="1" noResize="1" noEditPoints="1" noAdjustHandles="1" noChangeArrowheads="1" noChangeShapeType="1" noTextEdit="1"/>
              </p:cNvSpPr>
              <p:nvPr/>
            </p:nvSpPr>
            <p:spPr>
              <a:xfrm rot="16200000">
                <a:off x="1522730" y="3834115"/>
                <a:ext cx="3159760" cy="448945"/>
              </a:xfrm>
              <a:prstGeom prst="rect">
                <a:avLst/>
              </a:prstGeom>
              <a:blipFill>
                <a:blip r:embed="rId6"/>
                <a:stretch>
                  <a:fillRect l="-5405" r="-2703" b="-1200"/>
                </a:stretch>
              </a:blipFill>
              <a:ln w="6350">
                <a:noFill/>
              </a:ln>
            </p:spPr>
            <p:txBody>
              <a:bodyPr/>
              <a:lstStyle/>
              <a:p>
                <a:r>
                  <a:rPr lang="en-US">
                    <a:noFill/>
                  </a:rPr>
                  <a:t> </a:t>
                </a:r>
              </a:p>
            </p:txBody>
          </p:sp>
        </mc:Fallback>
      </mc:AlternateContent>
      <p:sp>
        <p:nvSpPr>
          <p:cNvPr id="15" name="Text Box 37">
            <a:extLst>
              <a:ext uri="{FF2B5EF4-FFF2-40B4-BE49-F238E27FC236}">
                <a16:creationId xmlns:a16="http://schemas.microsoft.com/office/drawing/2014/main" id="{B44BDBD0-84CA-6247-B98B-CE9BA1016957}"/>
              </a:ext>
            </a:extLst>
          </p:cNvPr>
          <p:cNvSpPr txBox="1"/>
          <p:nvPr/>
        </p:nvSpPr>
        <p:spPr>
          <a:xfrm>
            <a:off x="4644136" y="6304954"/>
            <a:ext cx="3159760" cy="4489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a:latin typeface="Verdana" panose="020B0604030504040204" pitchFamily="34" charset="0"/>
                <a:ea typeface="Times New Roman" panose="02020603050405020304" pitchFamily="18" charset="0"/>
                <a:cs typeface="Times New Roman" panose="02020603050405020304" pitchFamily="18" charset="0"/>
              </a:rPr>
              <a:t>Time (hours since noon)</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352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C5C0689E-8B16-904F-A555-0BF540A1D1D2}"/>
                  </a:ext>
                </a:extLst>
              </p:cNvPr>
              <p:cNvSpPr/>
              <p:nvPr/>
            </p:nvSpPr>
            <p:spPr>
              <a:xfrm>
                <a:off x="914400" y="252845"/>
                <a:ext cx="10515600" cy="6494085"/>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Times New Roman" panose="02020603050405020304" pitchFamily="18" charset="0"/>
                  </a:rPr>
                  <a:t>Complete the statement.</a:t>
                </a:r>
              </a:p>
              <a:p>
                <a:pPr marL="914400">
                  <a:lnSpc>
                    <a:spcPct val="250000"/>
                  </a:lnSpc>
                </a:pPr>
                <a:r>
                  <a:rPr lang="en-US" sz="2400" dirty="0">
                    <a:latin typeface="Verdana" panose="020B0604030504040204" pitchFamily="34" charset="0"/>
                    <a:ea typeface="Times New Roman" panose="02020603050405020304" pitchFamily="18" charset="0"/>
                  </a:rPr>
                  <a:t>In this relationship,                     is a function of </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rPr>
                  <a:t>Was it warmer at </a:t>
                </a:r>
                <a14:m>
                  <m:oMath xmlns:m="http://schemas.openxmlformats.org/officeDocument/2006/math">
                    <m:r>
                      <a:rPr lang="en-US" sz="2400" i="1" dirty="0">
                        <a:latin typeface="Cambria Math" panose="02040503050406030204" pitchFamily="18" charset="0"/>
                        <a:ea typeface="Times New Roman" panose="02020603050405020304" pitchFamily="18" charset="0"/>
                      </a:rPr>
                      <m:t>3:00</m:t>
                    </m:r>
                  </m:oMath>
                </a14:m>
                <a:r>
                  <a:rPr lang="en-US" sz="2400" dirty="0">
                    <a:latin typeface="Verdana" panose="020B0604030504040204" pitchFamily="34" charset="0"/>
                    <a:ea typeface="Times New Roman" panose="02020603050405020304" pitchFamily="18" charset="0"/>
                  </a:rPr>
                  <a:t> p.m. or </a:t>
                </a:r>
                <a14:m>
                  <m:oMath xmlns:m="http://schemas.openxmlformats.org/officeDocument/2006/math">
                    <m:r>
                      <a:rPr lang="en-US" sz="2400" i="1" dirty="0">
                        <a:latin typeface="Cambria Math" panose="02040503050406030204" pitchFamily="18" charset="0"/>
                        <a:ea typeface="Times New Roman" panose="02020603050405020304" pitchFamily="18" charset="0"/>
                      </a:rPr>
                      <m:t>9:00</m:t>
                    </m:r>
                  </m:oMath>
                </a14:m>
                <a:r>
                  <a:rPr lang="en-US" sz="2400" dirty="0">
                    <a:latin typeface="Verdana" panose="020B0604030504040204" pitchFamily="34" charset="0"/>
                    <a:ea typeface="Times New Roman" panose="02020603050405020304" pitchFamily="18" charset="0"/>
                  </a:rPr>
                  <a:t> p.m.?</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rPr>
                  <a:t>Approximate the time the temperature was at its highest.</a:t>
                </a: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endParaRPr>
              </a:p>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rPr>
                  <a:t>Complete the statement.</a:t>
                </a:r>
              </a:p>
              <a:p>
                <a:pPr marL="457200"/>
                <a:endParaRPr lang="en-US" sz="2400" dirty="0">
                  <a:latin typeface="Verdana" panose="020B0604030504040204" pitchFamily="34" charset="0"/>
                  <a:ea typeface="Times New Roman" panose="02020603050405020304" pitchFamily="18" charset="0"/>
                </a:endParaRPr>
              </a:p>
              <a:p>
                <a:pPr marL="914400"/>
                <a:r>
                  <a:rPr lang="en-US" sz="2400" dirty="0">
                    <a:latin typeface="Verdana" panose="020B0604030504040204" pitchFamily="34" charset="0"/>
                    <a:ea typeface="Times New Roman" panose="02020603050405020304" pitchFamily="18" charset="0"/>
                  </a:rPr>
                  <a:t>When the input for the function is </a:t>
                </a:r>
                <a14:m>
                  <m:oMath xmlns:m="http://schemas.openxmlformats.org/officeDocument/2006/math">
                    <m:r>
                      <a:rPr lang="en-US" sz="2400" i="1" dirty="0">
                        <a:latin typeface="Cambria Math" panose="02040503050406030204" pitchFamily="18" charset="0"/>
                        <a:ea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rPr>
                  <a:t>, the output is _____. This means that at </a:t>
                </a:r>
                <a14:m>
                  <m:oMath xmlns:m="http://schemas.openxmlformats.org/officeDocument/2006/math">
                    <m:r>
                      <a:rPr lang="en-US" sz="2400" i="1" dirty="0">
                        <a:latin typeface="Cambria Math" panose="02040503050406030204" pitchFamily="18" charset="0"/>
                        <a:ea typeface="Times New Roman" panose="02020603050405020304" pitchFamily="18" charset="0"/>
                      </a:rPr>
                      <m:t>_</m:t>
                    </m:r>
                    <m:r>
                      <a:rPr lang="es-ES" sz="2400" i="1" dirty="0">
                        <a:latin typeface="Cambria Math" panose="02040503050406030204" pitchFamily="18" charset="0"/>
                        <a:ea typeface="Times New Roman" panose="02020603050405020304" pitchFamily="18" charset="0"/>
                      </a:rPr>
                      <m:t>__</m:t>
                    </m:r>
                    <m:r>
                      <a:rPr lang="en-US" sz="2400" i="1" dirty="0">
                        <a:latin typeface="Cambria Math" panose="02040503050406030204" pitchFamily="18" charset="0"/>
                        <a:ea typeface="Times New Roman" panose="02020603050405020304" pitchFamily="18" charset="0"/>
                      </a:rPr>
                      <m:t>_:00 </m:t>
                    </m:r>
                  </m:oMath>
                </a14:m>
                <a:r>
                  <a:rPr lang="en-US" sz="2400" dirty="0">
                    <a:latin typeface="Verdana" panose="020B0604030504040204" pitchFamily="34" charset="0"/>
                    <a:ea typeface="Times New Roman" panose="02020603050405020304" pitchFamily="18" charset="0"/>
                  </a:rPr>
                  <a:t>P.M., the temperature was ____</a:t>
                </a:r>
                <a14:m>
                  <m:oMath xmlns:m="http://schemas.openxmlformats.org/officeDocument/2006/math">
                    <m:r>
                      <a:rPr lang="en-US" sz="2400" i="1" dirty="0">
                        <a:latin typeface="Cambria Math" panose="02040503050406030204" pitchFamily="18" charset="0"/>
                        <a:ea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rPr>
                  <a:t> in Freeport, FL.</a:t>
                </a:r>
              </a:p>
              <a:p>
                <a:endParaRPr lang="en-US" sz="2000" dirty="0">
                  <a:latin typeface="Verdana" panose="020B0604030504040204" pitchFamily="34" charset="0"/>
                  <a:ea typeface="Times New Roman" panose="02020603050405020304" pitchFamily="18" charset="0"/>
                </a:endParaRPr>
              </a:p>
            </p:txBody>
          </p:sp>
        </mc:Choice>
        <mc:Fallback>
          <p:sp>
            <p:nvSpPr>
              <p:cNvPr id="17" name="Rectangle 16">
                <a:extLst>
                  <a:ext uri="{FF2B5EF4-FFF2-40B4-BE49-F238E27FC236}">
                    <a16:creationId xmlns:a16="http://schemas.microsoft.com/office/drawing/2014/main" id="{C5C0689E-8B16-904F-A555-0BF540A1D1D2}"/>
                  </a:ext>
                </a:extLst>
              </p:cNvPr>
              <p:cNvSpPr>
                <a:spLocks noRot="1" noChangeAspect="1" noMove="1" noResize="1" noEditPoints="1" noAdjustHandles="1" noChangeArrowheads="1" noChangeShapeType="1" noTextEdit="1"/>
              </p:cNvSpPr>
              <p:nvPr/>
            </p:nvSpPr>
            <p:spPr>
              <a:xfrm>
                <a:off x="914400" y="252845"/>
                <a:ext cx="10515600" cy="6494085"/>
              </a:xfrm>
              <a:prstGeom prst="rect">
                <a:avLst/>
              </a:prstGeom>
              <a:blipFill>
                <a:blip r:embed="rId4"/>
                <a:stretch>
                  <a:fillRect t="-750"/>
                </a:stretch>
              </a:blipFill>
            </p:spPr>
            <p:txBody>
              <a:bodyPr/>
              <a:lstStyle/>
              <a:p>
                <a:r>
                  <a:rPr lang="en-US">
                    <a:noFill/>
                  </a:rPr>
                  <a:t> </a:t>
                </a:r>
              </a:p>
            </p:txBody>
          </p:sp>
        </mc:Fallback>
      </mc:AlternateContent>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145</a:t>
            </a:r>
            <a:endParaRPr i="1" dirty="0">
              <a:latin typeface="Calibri"/>
              <a:ea typeface="Calibri"/>
              <a:cs typeface="Calibri"/>
              <a:sym typeface="Calibri"/>
            </a:endParaRPr>
          </a:p>
        </p:txBody>
      </p:sp>
      <p:pic>
        <p:nvPicPr>
          <p:cNvPr id="3" name="Picture 2" descr="A picture containing text&#10;&#10;Description automatically generated">
            <a:extLst>
              <a:ext uri="{FF2B5EF4-FFF2-40B4-BE49-F238E27FC236}">
                <a16:creationId xmlns:a16="http://schemas.microsoft.com/office/drawing/2014/main" id="{70D8DC44-A9D2-A748-92D2-3B73C7BA54F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80762" y="813563"/>
            <a:ext cx="2148957" cy="855197"/>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9AEC33E0-05BE-0B4C-930C-13E68B2970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611743" y="813563"/>
            <a:ext cx="2216476" cy="855197"/>
          </a:xfrm>
          <a:prstGeom prst="rect">
            <a:avLst/>
          </a:prstGeom>
        </p:spPr>
      </p:pic>
    </p:spTree>
    <p:extLst>
      <p:ext uri="{BB962C8B-B14F-4D97-AF65-F5344CB8AC3E}">
        <p14:creationId xmlns:p14="http://schemas.microsoft.com/office/powerpoint/2010/main" val="3727193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040CB3A2-EA4C-2F4B-A3B3-ADA27BC9F465}"/>
              </a:ext>
            </a:extLst>
          </p:cNvPr>
          <p:cNvSpPr/>
          <p:nvPr/>
        </p:nvSpPr>
        <p:spPr>
          <a:xfrm>
            <a:off x="914400" y="491689"/>
            <a:ext cx="5181600" cy="3416320"/>
          </a:xfrm>
          <a:prstGeom prst="rect">
            <a:avLst/>
          </a:prstGeom>
        </p:spPr>
        <p:txBody>
          <a:bodyPr wrap="square">
            <a:spAutoFit/>
          </a:bodyPr>
          <a:lstStyle/>
          <a:p>
            <a:pPr marL="463550" indent="-46355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graph represents a bottle rocket that is shot upward from an outdoor stage and then falls to the ground. The independent variable is time, in seconds, and the dependent variable is the object’s height above the ground, in meters. </a:t>
            </a:r>
          </a:p>
        </p:txBody>
      </p:sp>
      <p:sp>
        <p:nvSpPr>
          <p:cNvPr id="9" name="Google Shape;282;g104476d1465_1_17">
            <a:extLst>
              <a:ext uri="{FF2B5EF4-FFF2-40B4-BE49-F238E27FC236}">
                <a16:creationId xmlns:a16="http://schemas.microsoft.com/office/drawing/2014/main" id="{B1912BF8-3524-4C47-AFC3-32BDAE40D3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145</a:t>
            </a:r>
            <a:endParaRPr i="1" dirty="0">
              <a:latin typeface="Calibri"/>
              <a:ea typeface="Calibri"/>
              <a:cs typeface="Calibri"/>
              <a:sym typeface="Calibri"/>
            </a:endParaRPr>
          </a:p>
        </p:txBody>
      </p:sp>
      <p:pic>
        <p:nvPicPr>
          <p:cNvPr id="7" name="Picture 6" descr="Chart, line chart&#10;&#10;Description automatically generated">
            <a:extLst>
              <a:ext uri="{FF2B5EF4-FFF2-40B4-BE49-F238E27FC236}">
                <a16:creationId xmlns:a16="http://schemas.microsoft.com/office/drawing/2014/main" id="{249B27F2-5E38-DA43-8FAA-817F29C2619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8105"/>
          <a:stretch/>
        </p:blipFill>
        <p:spPr bwMode="auto">
          <a:xfrm>
            <a:off x="6812112" y="491688"/>
            <a:ext cx="4130040" cy="4555490"/>
          </a:xfrm>
          <a:prstGeom prst="rect">
            <a:avLst/>
          </a:prstGeom>
          <a:ln>
            <a:noFill/>
          </a:ln>
          <a:extLst>
            <a:ext uri="{53640926-AAD7-44D8-BBD7-CCE9431645EC}">
              <a14:shadowObscured xmlns:a14="http://schemas.microsoft.com/office/drawing/2010/main"/>
            </a:ext>
          </a:extLst>
        </p:spPr>
      </p:pic>
      <p:sp>
        <p:nvSpPr>
          <p:cNvPr id="8" name="Text Box 43">
            <a:extLst>
              <a:ext uri="{FF2B5EF4-FFF2-40B4-BE49-F238E27FC236}">
                <a16:creationId xmlns:a16="http://schemas.microsoft.com/office/drawing/2014/main" id="{D8F34FEF-8868-3746-820B-5BBAFB0103A9}"/>
              </a:ext>
            </a:extLst>
          </p:cNvPr>
          <p:cNvSpPr txBox="1"/>
          <p:nvPr/>
        </p:nvSpPr>
        <p:spPr>
          <a:xfrm rot="16200000">
            <a:off x="4976232" y="1847096"/>
            <a:ext cx="3159760" cy="4489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Height (meters)</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Text Box 42">
            <a:extLst>
              <a:ext uri="{FF2B5EF4-FFF2-40B4-BE49-F238E27FC236}">
                <a16:creationId xmlns:a16="http://schemas.microsoft.com/office/drawing/2014/main" id="{F6FA79C4-16C8-7048-A233-2507E0F477B0}"/>
              </a:ext>
            </a:extLst>
          </p:cNvPr>
          <p:cNvSpPr txBox="1"/>
          <p:nvPr/>
        </p:nvSpPr>
        <p:spPr>
          <a:xfrm>
            <a:off x="7979187" y="4892894"/>
            <a:ext cx="3159760" cy="4489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Time (seconds)</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186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040CB3A2-EA4C-2F4B-A3B3-ADA27BC9F465}"/>
              </a:ext>
            </a:extLst>
          </p:cNvPr>
          <p:cNvSpPr/>
          <p:nvPr/>
        </p:nvSpPr>
        <p:spPr>
          <a:xfrm>
            <a:off x="914400" y="491688"/>
            <a:ext cx="10515600" cy="5440720"/>
          </a:xfrm>
          <a:prstGeom prst="rect">
            <a:avLst/>
          </a:prstGeom>
        </p:spPr>
        <p:txBody>
          <a:bodyPr wrap="square">
            <a:spAutoFit/>
          </a:bodyPr>
          <a:lstStyle/>
          <a:p>
            <a:pPr marL="914400" indent="-45085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the description of the story told by the graph. </a:t>
            </a:r>
          </a:p>
          <a:p>
            <a:pPr marL="46355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a:lnSpc>
                <a:spcPct val="150000"/>
              </a:lnSpc>
            </a:pPr>
            <a:r>
              <a:rPr lang="en-US" sz="2200" dirty="0">
                <a:latin typeface="Verdana" panose="020B0604030504040204" pitchFamily="34" charset="0"/>
                <a:ea typeface="Verdana" panose="020B0604030504040204" pitchFamily="34" charset="0"/>
                <a:cs typeface="Verdana" panose="020B0604030504040204" pitchFamily="34" charset="0"/>
              </a:rPr>
              <a:t>The bottle rocket is launched from an outdoor stage that is _____ meters above the ground. It continues flying upward for about _____ seconds until it reaches approximately _____ meters above the ground. The rocket then begins to fall, landing on the ground after about _____ seconds.</a:t>
            </a:r>
          </a:p>
          <a:p>
            <a:pPr marL="463550">
              <a:lnSpc>
                <a:spcPct val="150000"/>
              </a:lnSpc>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Complete the statement and the inequality. </a:t>
            </a:r>
          </a:p>
          <a:p>
            <a:pPr marL="46355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a:lnSpc>
                <a:spcPct val="150000"/>
              </a:lnSpc>
            </a:pPr>
            <a:r>
              <a:rPr lang="en-US" sz="2200" dirty="0">
                <a:latin typeface="Verdana" panose="020B0604030504040204" pitchFamily="34" charset="0"/>
                <a:ea typeface="Verdana" panose="020B0604030504040204" pitchFamily="34" charset="0"/>
                <a:cs typeface="Verdana" panose="020B0604030504040204" pitchFamily="34" charset="0"/>
              </a:rPr>
              <a:t>The domain of the function that represents the rocket’s path is between ___ and ___ seconds.</a:t>
            </a:r>
          </a:p>
        </p:txBody>
      </p:sp>
      <p:sp>
        <p:nvSpPr>
          <p:cNvPr id="9" name="Google Shape;282;g104476d1465_1_17">
            <a:extLst>
              <a:ext uri="{FF2B5EF4-FFF2-40B4-BE49-F238E27FC236}">
                <a16:creationId xmlns:a16="http://schemas.microsoft.com/office/drawing/2014/main" id="{B1912BF8-3524-4C47-AFC3-32BDAE40D3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145</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F5D8BF07-BD35-EC42-89E0-F95E199F2A26}"/>
              </a:ext>
            </a:extLst>
          </p:cNvPr>
          <p:cNvSpPr>
            <a:spLocks noChangeAspect="1"/>
          </p:cNvSpPr>
          <p:nvPr/>
        </p:nvSpPr>
        <p:spPr>
          <a:xfrm>
            <a:off x="4944878" y="6066784"/>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id="{F9413226-B45A-AE4E-9C3F-FC6993495775}"/>
              </a:ext>
            </a:extLst>
          </p:cNvPr>
          <p:cNvSpPr>
            <a:spLocks noChangeAspect="1"/>
          </p:cNvSpPr>
          <p:nvPr/>
        </p:nvSpPr>
        <p:spPr>
          <a:xfrm>
            <a:off x="6383260" y="6066784"/>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B43407DF-2DA2-F640-911B-00251F2B3A38}"/>
                  </a:ext>
                </a:extLst>
              </p:cNvPr>
              <p:cNvSpPr txBox="1"/>
              <p:nvPr/>
            </p:nvSpPr>
            <p:spPr>
              <a:xfrm>
                <a:off x="3592790" y="6081342"/>
                <a:ext cx="463945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O" sz="2000">
                          <a:latin typeface="Cambria Math" panose="02040503050406030204" pitchFamily="18" charset="0"/>
                        </a:rPr>
                        <m:t>≤ </m:t>
                      </m:r>
                      <m:r>
                        <a:rPr lang="en-CO" sz="2000" i="1">
                          <a:latin typeface="Cambria Math" panose="02040503050406030204" pitchFamily="18" charset="0"/>
                        </a:rPr>
                        <m:t>𝑥</m:t>
                      </m:r>
                      <m:r>
                        <a:rPr lang="en-CO" sz="2000">
                          <a:latin typeface="Cambria Math" panose="02040503050406030204" pitchFamily="18" charset="0"/>
                        </a:rPr>
                        <m:t> ≤</m:t>
                      </m:r>
                    </m:oMath>
                  </m:oMathPara>
                </a14:m>
                <a:endParaRPr lang="en-CO" sz="2000" dirty="0"/>
              </a:p>
            </p:txBody>
          </p:sp>
        </mc:Choice>
        <mc:Fallback>
          <p:sp>
            <p:nvSpPr>
              <p:cNvPr id="22" name="TextBox 21">
                <a:extLst>
                  <a:ext uri="{FF2B5EF4-FFF2-40B4-BE49-F238E27FC236}">
                    <a16:creationId xmlns:a16="http://schemas.microsoft.com/office/drawing/2014/main" id="{B43407DF-2DA2-F640-911B-00251F2B3A38}"/>
                  </a:ext>
                </a:extLst>
              </p:cNvPr>
              <p:cNvSpPr txBox="1">
                <a:spLocks noRot="1" noChangeAspect="1" noMove="1" noResize="1" noEditPoints="1" noAdjustHandles="1" noChangeArrowheads="1" noChangeShapeType="1" noTextEdit="1"/>
              </p:cNvSpPr>
              <p:nvPr/>
            </p:nvSpPr>
            <p:spPr>
              <a:xfrm>
                <a:off x="3592790" y="6081342"/>
                <a:ext cx="4639454" cy="400110"/>
              </a:xfrm>
              <a:prstGeom prst="rect">
                <a:avLst/>
              </a:prstGeom>
              <a:blipFill>
                <a:blip r:embed="rId4"/>
                <a:stretch>
                  <a:fillRect b="-1538"/>
                </a:stretch>
              </a:blipFill>
            </p:spPr>
            <p:txBody>
              <a:bodyPr/>
              <a:lstStyle/>
              <a:p>
                <a:r>
                  <a:rPr lang="en-US">
                    <a:noFill/>
                  </a:rPr>
                  <a:t> </a:t>
                </a:r>
              </a:p>
            </p:txBody>
          </p:sp>
        </mc:Fallback>
      </mc:AlternateContent>
    </p:spTree>
    <p:extLst>
      <p:ext uri="{BB962C8B-B14F-4D97-AF65-F5344CB8AC3E}">
        <p14:creationId xmlns:p14="http://schemas.microsoft.com/office/powerpoint/2010/main" val="1886289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DCA26F36-85FB-6F47-BFE1-9526A3AAF9F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2999" y="-184171"/>
            <a:ext cx="101266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10.5.5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6576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1394668"/>
            <a:ext cx="8597900"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graphs are shown. </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8822F4B2-754D-E04D-BD86-8C2593FB328E}"/>
              </a:ext>
            </a:extLst>
          </p:cNvPr>
          <p:cNvGraphicFramePr>
            <a:graphicFrameLocks noGrp="1"/>
          </p:cNvGraphicFramePr>
          <p:nvPr>
            <p:extLst>
              <p:ext uri="{D42A27DB-BD31-4B8C-83A1-F6EECF244321}">
                <p14:modId xmlns:p14="http://schemas.microsoft.com/office/powerpoint/2010/main" val="873619040"/>
              </p:ext>
            </p:extLst>
          </p:nvPr>
        </p:nvGraphicFramePr>
        <p:xfrm>
          <a:off x="2234160" y="2239984"/>
          <a:ext cx="7723680" cy="2862160"/>
        </p:xfrm>
        <a:graphic>
          <a:graphicData uri="http://schemas.openxmlformats.org/drawingml/2006/table">
            <a:tbl>
              <a:tblPr firstRow="1" firstCol="1" bandRow="1">
                <a:tableStyleId>{A91F0D33-8C57-4600-99A7-42BC86742BE1}</a:tableStyleId>
              </a:tblPr>
              <a:tblGrid>
                <a:gridCol w="3861840">
                  <a:extLst>
                    <a:ext uri="{9D8B030D-6E8A-4147-A177-3AD203B41FA5}">
                      <a16:colId xmlns:a16="http://schemas.microsoft.com/office/drawing/2014/main" val="1272090177"/>
                    </a:ext>
                  </a:extLst>
                </a:gridCol>
                <a:gridCol w="3861840">
                  <a:extLst>
                    <a:ext uri="{9D8B030D-6E8A-4147-A177-3AD203B41FA5}">
                      <a16:colId xmlns:a16="http://schemas.microsoft.com/office/drawing/2014/main" val="110193322"/>
                    </a:ext>
                  </a:extLst>
                </a:gridCol>
              </a:tblGrid>
              <a:tr h="379109">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Graph A</a:t>
                      </a:r>
                      <a:endParaRPr lang="en-CO" sz="1500" b="1" dirty="0">
                        <a:effectLst/>
                        <a:latin typeface="Verdana" panose="020B0604030504040204" pitchFamily="34" charset="0"/>
                        <a:ea typeface="Verdana" panose="020B0604030504040204" pitchFamily="34" charset="0"/>
                        <a:cs typeface="Verdana" panose="020B0604030504040204" pitchFamily="34" charset="0"/>
                      </a:endParaRPr>
                    </a:p>
                  </a:txBody>
                  <a:tcPr marL="83050" marR="83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Graph B</a:t>
                      </a:r>
                      <a:endParaRPr lang="en-CO" sz="1500" b="1" dirty="0">
                        <a:effectLst/>
                        <a:latin typeface="Verdana" panose="020B0604030504040204" pitchFamily="34" charset="0"/>
                        <a:ea typeface="Verdana" panose="020B0604030504040204" pitchFamily="34" charset="0"/>
                        <a:cs typeface="Verdana" panose="020B0604030504040204" pitchFamily="34" charset="0"/>
                      </a:endParaRPr>
                    </a:p>
                  </a:txBody>
                  <a:tcPr marL="83050" marR="83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62361730"/>
                  </a:ext>
                </a:extLst>
              </a:tr>
              <a:tr h="2483051">
                <a:tc>
                  <a:txBody>
                    <a:bodyPr/>
                    <a:lstStyle/>
                    <a:p>
                      <a:pPr marL="0" marR="0" algn="ctr">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endParaRPr lang="en-CO" sz="1500">
                        <a:effectLst/>
                        <a:latin typeface="Verdana" panose="020B0604030504040204" pitchFamily="34" charset="0"/>
                        <a:ea typeface="Verdana" panose="020B0604030504040204" pitchFamily="34" charset="0"/>
                        <a:cs typeface="Verdana" panose="020B0604030504040204" pitchFamily="34" charset="0"/>
                      </a:endParaRPr>
                    </a:p>
                  </a:txBody>
                  <a:tcPr marL="83050" marR="83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endParaRPr lang="en-CO" sz="1500" dirty="0">
                        <a:effectLst/>
                        <a:latin typeface="Verdana" panose="020B0604030504040204" pitchFamily="34" charset="0"/>
                        <a:ea typeface="Verdana" panose="020B0604030504040204" pitchFamily="34" charset="0"/>
                        <a:cs typeface="Verdana" panose="020B0604030504040204" pitchFamily="34" charset="0"/>
                      </a:endParaRPr>
                    </a:p>
                  </a:txBody>
                  <a:tcPr marL="83050" marR="83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8107583"/>
                  </a:ext>
                </a:extLst>
              </a:tr>
            </a:tbl>
          </a:graphicData>
        </a:graphic>
      </p:graphicFrame>
      <p:pic>
        <p:nvPicPr>
          <p:cNvPr id="11" name="Picture 10" descr="Chart, line chart&#10;&#10;Description automatically generated">
            <a:extLst>
              <a:ext uri="{FF2B5EF4-FFF2-40B4-BE49-F238E27FC236}">
                <a16:creationId xmlns:a16="http://schemas.microsoft.com/office/drawing/2014/main" id="{2B20565D-AA99-E440-A697-186FA208576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57705" y="2724575"/>
            <a:ext cx="2759482" cy="2271250"/>
          </a:xfrm>
          <a:prstGeom prst="rect">
            <a:avLst/>
          </a:prstGeom>
        </p:spPr>
      </p:pic>
      <p:pic>
        <p:nvPicPr>
          <p:cNvPr id="12" name="Picture 11" descr="Diagram&#10;&#10;Description automatically generated">
            <a:extLst>
              <a:ext uri="{FF2B5EF4-FFF2-40B4-BE49-F238E27FC236}">
                <a16:creationId xmlns:a16="http://schemas.microsoft.com/office/drawing/2014/main" id="{E8FBD286-A54F-BE4E-99AB-0CB0E5E1F93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674813" y="2724576"/>
            <a:ext cx="2759482" cy="2271249"/>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310896"/>
            <a:ext cx="10515600" cy="1569660"/>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by writing the letter of the graph that matches each description. Then, name possible independent and dependent variables that could be used to label the axes.</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2290365F-91CD-654E-9A60-50E3D75A7AE9}"/>
              </a:ext>
            </a:extLst>
          </p:cNvPr>
          <p:cNvGraphicFramePr>
            <a:graphicFrameLocks noGrp="1"/>
          </p:cNvGraphicFramePr>
          <p:nvPr>
            <p:extLst>
              <p:ext uri="{D42A27DB-BD31-4B8C-83A1-F6EECF244321}">
                <p14:modId xmlns:p14="http://schemas.microsoft.com/office/powerpoint/2010/main" val="3816444682"/>
              </p:ext>
            </p:extLst>
          </p:nvPr>
        </p:nvGraphicFramePr>
        <p:xfrm>
          <a:off x="2318480" y="2273887"/>
          <a:ext cx="7869837" cy="2867739"/>
        </p:xfrm>
        <a:graphic>
          <a:graphicData uri="http://schemas.openxmlformats.org/drawingml/2006/table">
            <a:tbl>
              <a:tblPr firstRow="1" firstCol="1" bandRow="1">
                <a:tableStyleId>{A91F0D33-8C57-4600-99A7-42BC86742BE1}</a:tableStyleId>
              </a:tblPr>
              <a:tblGrid>
                <a:gridCol w="2823726">
                  <a:extLst>
                    <a:ext uri="{9D8B030D-6E8A-4147-A177-3AD203B41FA5}">
                      <a16:colId xmlns:a16="http://schemas.microsoft.com/office/drawing/2014/main" val="3904753904"/>
                    </a:ext>
                  </a:extLst>
                </a:gridCol>
                <a:gridCol w="1075038">
                  <a:extLst>
                    <a:ext uri="{9D8B030D-6E8A-4147-A177-3AD203B41FA5}">
                      <a16:colId xmlns:a16="http://schemas.microsoft.com/office/drawing/2014/main" val="3873221123"/>
                    </a:ext>
                  </a:extLst>
                </a:gridCol>
                <a:gridCol w="2079980">
                  <a:extLst>
                    <a:ext uri="{9D8B030D-6E8A-4147-A177-3AD203B41FA5}">
                      <a16:colId xmlns:a16="http://schemas.microsoft.com/office/drawing/2014/main" val="958976104"/>
                    </a:ext>
                  </a:extLst>
                </a:gridCol>
                <a:gridCol w="1891093">
                  <a:extLst>
                    <a:ext uri="{9D8B030D-6E8A-4147-A177-3AD203B41FA5}">
                      <a16:colId xmlns:a16="http://schemas.microsoft.com/office/drawing/2014/main" val="1202085035"/>
                    </a:ext>
                  </a:extLst>
                </a:gridCol>
              </a:tblGrid>
              <a:tr h="78533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Graph</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Independent Variable</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Dependent Variable</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97973243"/>
                  </a:ext>
                </a:extLst>
              </a:tr>
              <a:tr h="948496">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 plant grows the same amount every week.</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1172703"/>
                  </a:ext>
                </a:extLst>
              </a:tr>
              <a:tr h="1133911">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The day started very warm but then it got colder.</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4235363"/>
                  </a:ext>
                </a:extLst>
              </a:tr>
            </a:tbl>
          </a:graphicData>
        </a:graphic>
      </p:graphicFrame>
    </p:spTree>
    <p:extLst>
      <p:ext uri="{BB962C8B-B14F-4D97-AF65-F5344CB8AC3E}">
        <p14:creationId xmlns:p14="http://schemas.microsoft.com/office/powerpoint/2010/main" val="2871520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555218"/>
            <a:ext cx="10515600" cy="3572453"/>
          </a:xfrm>
          <a:prstGeom prst="rect">
            <a:avLst/>
          </a:prstGeom>
        </p:spPr>
        <p:txBody>
          <a:bodyPr wrap="square">
            <a:spAutoFit/>
          </a:bodyPr>
          <a:lstStyle/>
          <a:p>
            <a:pPr marL="914400" indent="-45085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Graph           shows the function 	  		 over the interval shown to model how the  			        changes over the  </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5" name="Picture 4" descr="Icon&#10;&#10;Description automatically generated">
            <a:extLst>
              <a:ext uri="{FF2B5EF4-FFF2-40B4-BE49-F238E27FC236}">
                <a16:creationId xmlns:a16="http://schemas.microsoft.com/office/drawing/2014/main" id="{318D84CE-077A-1D46-BD01-8E245592431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5065" y="1200763"/>
            <a:ext cx="1013710" cy="990521"/>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F8E6CECB-0D60-CD43-B2F8-15FDBFEC50B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29042" y="1200762"/>
            <a:ext cx="2227893" cy="990522"/>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C84EDD60-3E46-414F-8C9C-8435D793F09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29042" y="2341444"/>
            <a:ext cx="3312826" cy="988375"/>
          </a:xfrm>
          <a:prstGeom prst="rect">
            <a:avLst/>
          </a:prstGeom>
        </p:spPr>
      </p:pic>
      <p:pic>
        <p:nvPicPr>
          <p:cNvPr id="12" name="Picture 11" descr="A picture containing shape&#10;&#10;Description automatically generated">
            <a:extLst>
              <a:ext uri="{FF2B5EF4-FFF2-40B4-BE49-F238E27FC236}">
                <a16:creationId xmlns:a16="http://schemas.microsoft.com/office/drawing/2014/main" id="{2A9432DB-ADAB-7B40-9329-CF9EF73FD5E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680260" y="3429000"/>
            <a:ext cx="3462728" cy="987915"/>
          </a:xfrm>
          <a:prstGeom prst="rect">
            <a:avLst/>
          </a:prstGeom>
        </p:spPr>
      </p:pic>
    </p:spTree>
    <p:extLst>
      <p:ext uri="{BB962C8B-B14F-4D97-AF65-F5344CB8AC3E}">
        <p14:creationId xmlns:p14="http://schemas.microsoft.com/office/powerpoint/2010/main" val="214281525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1624</TotalTime>
  <Words>1327</Words>
  <Application>Microsoft Office PowerPoint</Application>
  <PresentationFormat>Widescreen</PresentationFormat>
  <Paragraphs>204</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Cambria</vt:lpstr>
      <vt:lpstr>Verdana</vt:lpstr>
      <vt:lpstr>Wingdings</vt:lpstr>
      <vt:lpstr>Century Gothic</vt:lpstr>
      <vt:lpstr>Calibri</vt:lpstr>
      <vt:lpstr>Arial Black</vt:lpstr>
      <vt:lpstr>Cambria Math</vt:lpstr>
      <vt:lpstr>1_Office Theme</vt:lpstr>
      <vt:lpstr>8th Grade Math:  Pre-Algebra  Unit 10, Lesson 5  Interpreting  Graphs of Functions  Volume 2, pg. 141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20</cp:revision>
  <dcterms:created xsi:type="dcterms:W3CDTF">2015-03-17T18:51:18Z</dcterms:created>
  <dcterms:modified xsi:type="dcterms:W3CDTF">2022-06-18T20:55:34Z</dcterms:modified>
</cp:coreProperties>
</file>