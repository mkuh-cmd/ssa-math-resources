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08" r:id="rId10"/>
    <p:sldId id="322" r:id="rId11"/>
    <p:sldId id="327" r:id="rId12"/>
    <p:sldId id="326" r:id="rId13"/>
    <p:sldId id="330" r:id="rId14"/>
    <p:sldId id="325" r:id="rId15"/>
    <p:sldId id="329" r:id="rId16"/>
    <p:sldId id="328" r:id="rId17"/>
    <p:sldId id="333" r:id="rId18"/>
    <p:sldId id="320" r:id="rId19"/>
    <p:sldId id="321" r:id="rId20"/>
    <p:sldId id="324" r:id="rId21"/>
    <p:sldId id="334" r:id="rId22"/>
    <p:sldId id="335" r:id="rId23"/>
    <p:sldId id="336" r:id="rId24"/>
    <p:sldId id="306" r:id="rId25"/>
    <p:sldId id="307" r:id="rId26"/>
  </p:sldIdLst>
  <p:sldSz cx="12192000" cy="6858000"/>
  <p:notesSz cx="6858000" cy="9144000"/>
  <p:embeddedFontLst>
    <p:embeddedFont>
      <p:font typeface="Arial Black" panose="020B0A04020102020204" pitchFamily="34" charset="0"/>
      <p:regular r:id="rId28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EA6"/>
    <a:srgbClr val="26B7D4"/>
    <a:srgbClr val="E24E5F"/>
    <a:srgbClr val="1F3165"/>
    <a:srgbClr val="C9DF6F"/>
    <a:srgbClr val="417DBF"/>
    <a:srgbClr val="3F2A67"/>
    <a:srgbClr val="54B5D1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94"/>
  </p:normalViewPr>
  <p:slideViewPr>
    <p:cSldViewPr snapToGrid="0">
      <p:cViewPr varScale="1">
        <p:scale>
          <a:sx n="79" d="100"/>
          <a:sy n="79" d="100"/>
        </p:scale>
        <p:origin x="24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974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0886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7540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6481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9383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5269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9825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772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48373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91408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4032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22901" y="2054277"/>
            <a:ext cx="548639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9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Is It Linear?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163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603831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MA.8.F.1.1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set of ordered pairs, a table, a graph, or mapping diagram, determine whether the relationship is a function. Identify the domain and range of the relation. 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MA.8.F.1.2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function defined by a graph or an equation, determine whether the function is a linear function. Given an input-output table, determine whether it could represent a linear function.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8780" y="1771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455368"/>
            <a:ext cx="10515600" cy="486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whether a function is a linear function given an equation or graph.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whether a relation is a function.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-91668"/>
            <a:ext cx="913196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10.9.1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C5FEC-A86F-3B40-BDC7-FA3BB8FD6EBF}"/>
              </a:ext>
            </a:extLst>
          </p:cNvPr>
          <p:cNvSpPr/>
          <p:nvPr/>
        </p:nvSpPr>
        <p:spPr>
          <a:xfrm>
            <a:off x="914400" y="1197765"/>
            <a:ext cx="1051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The graph shows how the value of the U.S. federal hourly minimum wage changed from 1938-2020.</a:t>
            </a:r>
          </a:p>
        </p:txBody>
      </p:sp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ECEFC1BA-6874-D548-8D9E-975A9B75B9E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0197" y="2158632"/>
            <a:ext cx="4016829" cy="4016829"/>
          </a:xfrm>
          <a:prstGeom prst="rect">
            <a:avLst/>
          </a:prstGeom>
        </p:spPr>
      </p:pic>
      <p:sp>
        <p:nvSpPr>
          <p:cNvPr id="11" name="Text Box 256">
            <a:extLst>
              <a:ext uri="{FF2B5EF4-FFF2-40B4-BE49-F238E27FC236}">
                <a16:creationId xmlns:a16="http://schemas.microsoft.com/office/drawing/2014/main" id="{7DCABBDF-0D44-DE40-92D2-D2DC06E6ACF7}"/>
              </a:ext>
            </a:extLst>
          </p:cNvPr>
          <p:cNvSpPr txBox="1"/>
          <p:nvPr/>
        </p:nvSpPr>
        <p:spPr>
          <a:xfrm rot="16200000">
            <a:off x="-649377" y="3953323"/>
            <a:ext cx="5448300" cy="4064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600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U.S. Federal Minimum Wage per Hour</a:t>
            </a:r>
            <a:endParaRPr lang="en-CO" sz="1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63">
            <a:extLst>
              <a:ext uri="{FF2B5EF4-FFF2-40B4-BE49-F238E27FC236}">
                <a16:creationId xmlns:a16="http://schemas.microsoft.com/office/drawing/2014/main" id="{0D3B9427-24B2-EE4D-81C7-DE6D6CDF7DDE}"/>
              </a:ext>
            </a:extLst>
          </p:cNvPr>
          <p:cNvSpPr txBox="1"/>
          <p:nvPr/>
        </p:nvSpPr>
        <p:spPr>
          <a:xfrm>
            <a:off x="2229530" y="6300898"/>
            <a:ext cx="4016829" cy="40640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600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 of Years Since 1938</a:t>
            </a:r>
            <a:endParaRPr lang="en-CO" sz="11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267C7C-BB93-624C-B267-EA46FC946FD2}"/>
              </a:ext>
            </a:extLst>
          </p:cNvPr>
          <p:cNvSpPr/>
          <p:nvPr/>
        </p:nvSpPr>
        <p:spPr>
          <a:xfrm>
            <a:off x="6577369" y="2317015"/>
            <a:ext cx="495321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What do you notice?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What do you wonder?</a:t>
            </a:r>
            <a:b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</a:b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73850"/>
            <a:ext cx="480283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4.png">
            <a:extLst>
              <a:ext uri="{FF2B5EF4-FFF2-40B4-BE49-F238E27FC236}">
                <a16:creationId xmlns:a16="http://schemas.microsoft.com/office/drawing/2014/main" id="{92CCCCCF-A5F2-4546-AE4A-D604711561E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45945"/>
            <a:ext cx="1159676" cy="115967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10.9.2 Collaboration: Revising Conjectures About Non-Linear Equations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914400" y="1096218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answer the questions for the description of each equation and its graph.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6EBFD37-657E-6D48-AB68-B97E54ABC53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image4.png">
            <a:extLst>
              <a:ext uri="{FF2B5EF4-FFF2-40B4-BE49-F238E27FC236}">
                <a16:creationId xmlns:a16="http://schemas.microsoft.com/office/drawing/2014/main" id="{7357A2C1-8B1C-4642-AEFB-424EE53A44A0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5760" y="124461"/>
            <a:ext cx="747300" cy="747300"/>
          </a:xfrm>
          <a:prstGeom prst="rect">
            <a:avLst/>
          </a:prstGeom>
          <a:ln/>
        </p:spPr>
      </p:pic>
      <p:pic>
        <p:nvPicPr>
          <p:cNvPr id="11" name="Picture 10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80279A87-80CD-8C4F-B036-AE5AD143FB8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9415" y="2192728"/>
            <a:ext cx="7413171" cy="351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" name="Google Shape;282;g104476d1465_1_17">
            <a:extLst>
              <a:ext uri="{FF2B5EF4-FFF2-40B4-BE49-F238E27FC236}">
                <a16:creationId xmlns:a16="http://schemas.microsoft.com/office/drawing/2014/main" id="{CDEBEDDD-594C-B74D-9DDD-81F550FCEF3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Picture 18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F529A12A-90C0-0040-B19B-B90D9FB96A1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9415" y="264449"/>
            <a:ext cx="7402842" cy="619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1912BF8-3524-4C47-AFC3-32BDAE40D3D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FC5BCCF0-A540-154A-BD2D-D5D64EF51D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2533" y="526504"/>
            <a:ext cx="7427859" cy="579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C4EE9A6A-5310-5441-BFD6-B3057861896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1182834B-4C6A-B242-A8E9-F0DA286C7D4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1609" y="516207"/>
            <a:ext cx="7448782" cy="581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8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2553DFD6-0E70-E14D-9EBF-16052598AAD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BF48A835-507C-AC41-A988-C763ACAA1C7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1610" y="516207"/>
            <a:ext cx="7476514" cy="581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349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C791B0BA-75C9-9F4A-8C0F-A68A1AD17D1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5B8D3122-DA0D-FF4D-A505-7A7FD976A73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7743" y="499872"/>
            <a:ext cx="7476514" cy="58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091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A363DB-0BDC-7D4E-AEE8-29249A0BB0C5}"/>
              </a:ext>
            </a:extLst>
          </p:cNvPr>
          <p:cNvSpPr/>
          <p:nvPr/>
        </p:nvSpPr>
        <p:spPr>
          <a:xfrm>
            <a:off x="914400" y="373391"/>
            <a:ext cx="10515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75" indent="-158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answer the following questions based on your observations of the relations in the table.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equations are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functions? Write the equations.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to use the graph of an equation to determine if the equation represents a function.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EF7F3BC5-C509-0E4D-B32D-069A0977673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1720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349706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variables 𝑥 and 𝑦 in the equations that are linear?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at least one phrase that could be used to complete the statement below.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93700" indent="-393700" algn="ctr"/>
            <a:r>
              <a:rPr lang="en-US" sz="24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equation is </a:t>
            </a:r>
            <a:r>
              <a:rPr lang="en-US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</a:t>
            </a:r>
            <a:r>
              <a:rPr lang="en-US" sz="24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linear if either variable is …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62B7685-8D43-B048-B48D-B9FBB636ACB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1075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349706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equations of several relations are organized in the table. Complete the statement to describe the graphs of these equations.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239DE06A-570B-0E4B-98E6-445C9B35717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6E4CC064-969F-C444-B6A2-EC417D6BD0C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9109" y="1412446"/>
            <a:ext cx="5593782" cy="511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62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1091749"/>
            <a:ext cx="99730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pPr marL="463550" lvl="0">
              <a:lnSpc>
                <a:spcPct val="2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equations in Group B                functions because                                 				corresponds to                                      on the graph.</a:t>
            </a:r>
          </a:p>
          <a:p>
            <a:pPr marL="463550" lvl="0">
              <a:lnSpc>
                <a:spcPct val="2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ABE9986-9747-2A44-B596-E92194B3F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F1450874-27E3-394C-A9F6-7DF59A793F3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2549" y="1682278"/>
            <a:ext cx="1554064" cy="778329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C6538E1C-A4AC-B24F-997A-342D9A1865F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9663" y="2507483"/>
            <a:ext cx="3092493" cy="921517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4AAAFA-F407-0C4A-A7DB-E80AB816505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6613" y="2523915"/>
            <a:ext cx="3597756" cy="92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8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50DF525-7D96-0A48-BC23-9FB6AABE67A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3.png" descr="Icon&#10;&#10;Description automatically generated">
            <a:extLst>
              <a:ext uri="{FF2B5EF4-FFF2-40B4-BE49-F238E27FC236}">
                <a16:creationId xmlns:a16="http://schemas.microsoft.com/office/drawing/2014/main" id="{55343268-E31C-EA4C-8E89-C2D5CE4637FF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38696"/>
            <a:ext cx="1154347" cy="115434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10.9.3 Bring It Together: Revising Conjectures About Non-Linear Equations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914400" y="1277550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Ana made several statements after completing the collaboration with her partner. Some of her statements are not true. Cross out any false statements.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BDEDD68-7AB9-314A-BB80-0D600DD8DB3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13.png" descr="Icon&#10;&#10;Description automatically generated">
            <a:extLst>
              <a:ext uri="{FF2B5EF4-FFF2-40B4-BE49-F238E27FC236}">
                <a16:creationId xmlns:a16="http://schemas.microsoft.com/office/drawing/2014/main" id="{AA1E027C-5B90-2C42-BBFD-BADBEAC1D0A1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5760" y="348271"/>
            <a:ext cx="749808" cy="749808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2FF6C54-1FE9-3144-8C9B-755CC789F4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6150886"/>
                  </p:ext>
                </p:extLst>
              </p:nvPr>
            </p:nvGraphicFramePr>
            <p:xfrm>
              <a:off x="2694622" y="2528847"/>
              <a:ext cx="6802755" cy="39725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802755">
                      <a:extLst>
                        <a:ext uri="{9D8B030D-6E8A-4147-A177-3AD203B41FA5}">
                          <a16:colId xmlns:a16="http://schemas.microsoft.com/office/drawing/2014/main" val="1082898796"/>
                        </a:ext>
                      </a:extLst>
                    </a:gridCol>
                  </a:tblGrid>
                  <a:tr h="3054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Ana’s Statements</a:t>
                          </a:r>
                          <a:endParaRPr lang="en-CO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7825451"/>
                      </a:ext>
                    </a:extLst>
                  </a:tr>
                  <a:tr h="61150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“An equation is not linear if both variables are raised to a power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.”</a:t>
                          </a:r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40308366"/>
                      </a:ext>
                    </a:extLst>
                  </a:tr>
                  <a:tr h="61150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“An equation is not linear if either variable is raised to a power other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.”</a:t>
                          </a:r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793681"/>
                      </a:ext>
                    </a:extLst>
                  </a:tr>
                  <a:tr h="61150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“An equation is not linear if a constant term is set equal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.”</a:t>
                          </a:r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75180782"/>
                      </a:ext>
                    </a:extLst>
                  </a:tr>
                  <a:tr h="61150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“An equation is not linear if a variable is an exponent.”</a:t>
                          </a:r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2464599"/>
                      </a:ext>
                    </a:extLst>
                  </a:tr>
                  <a:tr h="61150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“An equation is not linear if a variable is in the denominator.”</a:t>
                          </a:r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975900"/>
                      </a:ext>
                    </a:extLst>
                  </a:tr>
                  <a:tr h="6007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“An equation is not linear if it includes the absolute value or square root of a variable.”</a:t>
                          </a:r>
                          <a:endParaRPr lang="en-CO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96779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2FF6C54-1FE9-3144-8C9B-755CC789F4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6150886"/>
                  </p:ext>
                </p:extLst>
              </p:nvPr>
            </p:nvGraphicFramePr>
            <p:xfrm>
              <a:off x="2694622" y="2528847"/>
              <a:ext cx="6802755" cy="39725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802755">
                      <a:extLst>
                        <a:ext uri="{9D8B030D-6E8A-4147-A177-3AD203B41FA5}">
                          <a16:colId xmlns:a16="http://schemas.microsoft.com/office/drawing/2014/main" val="1082898796"/>
                        </a:ext>
                      </a:extLst>
                    </a:gridCol>
                  </a:tblGrid>
                  <a:tr h="3054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Ana’s Statements</a:t>
                          </a:r>
                          <a:endParaRPr lang="en-CO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7825451"/>
                      </a:ext>
                    </a:extLst>
                  </a:tr>
                  <a:tr h="6115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9" t="-61386" r="-269" b="-5217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0308366"/>
                      </a:ext>
                    </a:extLst>
                  </a:tr>
                  <a:tr h="6115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9" t="-163000" r="-269" b="-42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793681"/>
                      </a:ext>
                    </a:extLst>
                  </a:tr>
                  <a:tr h="6115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9" t="-260396" r="-269" b="-3227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5180782"/>
                      </a:ext>
                    </a:extLst>
                  </a:tr>
                  <a:tr h="61150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“An equation is not linear if a variable is an exponent.”</a:t>
                          </a:r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2464599"/>
                      </a:ext>
                    </a:extLst>
                  </a:tr>
                  <a:tr h="61150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“An equation is not linear if a variable is in the denominator.”</a:t>
                          </a:r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97590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“An equation is not linear if it includes the absolute value or square root of a variable.”</a:t>
                          </a:r>
                          <a:endParaRPr lang="en-CO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96779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807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B37313-B06E-A34E-99D3-D9E5AA5DFE78}"/>
                  </a:ext>
                </a:extLst>
              </p:cNvPr>
              <p:cNvSpPr txBox="1"/>
              <p:nvPr/>
            </p:nvSpPr>
            <p:spPr>
              <a:xfrm>
                <a:off x="914400" y="378389"/>
                <a:ext cx="9877926" cy="6093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914400" indent="-457200">
                  <a:lnSpc>
                    <a:spcPct val="250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a two-variable equation, the equation represents a linear function if both variables are raised to the ______ power, and neither variable is in the                       or an exponent.</a:t>
                </a: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lnSpc>
                    <a:spcPct val="250000"/>
                  </a:lnSpc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constant value set equal to          can also represent a linear function. 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equation represents a linear function if it can be written in the form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_______ , where 𝑚 is the slope and 𝑏 is the 𝑦-intercept.</a:t>
                </a:r>
              </a:p>
              <a:p>
                <a:pPr marL="1428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B37313-B06E-A34E-99D3-D9E5AA5DF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78389"/>
                <a:ext cx="9877926" cy="6093976"/>
              </a:xfrm>
              <a:prstGeom prst="rect">
                <a:avLst/>
              </a:prstGeom>
              <a:blipFill>
                <a:blip r:embed="rId4"/>
                <a:stretch>
                  <a:fillRect l="-679" t="-700" r="-1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8A9DB150-2ACB-9649-AF9E-1FCBD025EE8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1650" y="2366100"/>
            <a:ext cx="1894806" cy="755037"/>
          </a:xfrm>
          <a:prstGeom prst="rect">
            <a:avLst/>
          </a:prstGeom>
        </p:spPr>
      </p:pic>
      <p:pic>
        <p:nvPicPr>
          <p:cNvPr id="7" name="Picture 6" descr="A picture containing whiteboard&#10;&#10;Description automatically generated">
            <a:extLst>
              <a:ext uri="{FF2B5EF4-FFF2-40B4-BE49-F238E27FC236}">
                <a16:creationId xmlns:a16="http://schemas.microsoft.com/office/drawing/2014/main" id="{074070D1-288B-F64D-BF3D-C6220DA3B0B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6978" y="3424825"/>
            <a:ext cx="678043" cy="75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92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50DF525-7D96-0A48-BC23-9FB6AABE67A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3.png" descr="Icon&#10;&#10;Description automatically generated">
            <a:extLst>
              <a:ext uri="{FF2B5EF4-FFF2-40B4-BE49-F238E27FC236}">
                <a16:creationId xmlns:a16="http://schemas.microsoft.com/office/drawing/2014/main" id="{5521FC94-64D3-CB48-A3C0-C91A1F515CBC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49754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7287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10.9.4 Your Turn!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914400" y="1235982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BDEDD68-7AB9-314A-BB80-0D600DD8DB39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3.png" descr="Icon&#10;&#10;Description automatically generated">
            <a:extLst>
              <a:ext uri="{FF2B5EF4-FFF2-40B4-BE49-F238E27FC236}">
                <a16:creationId xmlns:a16="http://schemas.microsoft.com/office/drawing/2014/main" id="{78C37D54-D976-8E4D-8957-F4C56135554D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5760" y="340069"/>
            <a:ext cx="749808" cy="749808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0F518C4-2351-194F-B9E4-E94282999F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5566257"/>
                  </p:ext>
                </p:extLst>
              </p:nvPr>
            </p:nvGraphicFramePr>
            <p:xfrm>
              <a:off x="3233981" y="1745775"/>
              <a:ext cx="5713369" cy="447745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06508">
                      <a:extLst>
                        <a:ext uri="{9D8B030D-6E8A-4147-A177-3AD203B41FA5}">
                          <a16:colId xmlns:a16="http://schemas.microsoft.com/office/drawing/2014/main" val="2392695981"/>
                        </a:ext>
                      </a:extLst>
                    </a:gridCol>
                    <a:gridCol w="1903151">
                      <a:extLst>
                        <a:ext uri="{9D8B030D-6E8A-4147-A177-3AD203B41FA5}">
                          <a16:colId xmlns:a16="http://schemas.microsoft.com/office/drawing/2014/main" val="3117690354"/>
                        </a:ext>
                      </a:extLst>
                    </a:gridCol>
                    <a:gridCol w="1903710">
                      <a:extLst>
                        <a:ext uri="{9D8B030D-6E8A-4147-A177-3AD203B41FA5}">
                          <a16:colId xmlns:a16="http://schemas.microsoft.com/office/drawing/2014/main" val="2143324314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en-CO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Linear Function</a:t>
                          </a:r>
                          <a:endParaRPr lang="en-CO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a Linear Function</a:t>
                          </a:r>
                          <a:endParaRPr lang="en-CO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2313083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  <m:sSup>
                                  <m:sSup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78405836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=4+</m:t>
                              </m:r>
                              <m:f>
                                <m:f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07030986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=3,278</m:t>
                                </m:r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57063582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+9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83878030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66100090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=−24</m:t>
                                </m:r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4261192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=9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+13</m:t>
                              </m:r>
                            </m:oMath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1881332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9776734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0F518C4-2351-194F-B9E4-E94282999F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5566257"/>
                  </p:ext>
                </p:extLst>
              </p:nvPr>
            </p:nvGraphicFramePr>
            <p:xfrm>
              <a:off x="3233981" y="1745775"/>
              <a:ext cx="5713369" cy="447745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06508">
                      <a:extLst>
                        <a:ext uri="{9D8B030D-6E8A-4147-A177-3AD203B41FA5}">
                          <a16:colId xmlns:a16="http://schemas.microsoft.com/office/drawing/2014/main" val="2392695981"/>
                        </a:ext>
                      </a:extLst>
                    </a:gridCol>
                    <a:gridCol w="1903151">
                      <a:extLst>
                        <a:ext uri="{9D8B030D-6E8A-4147-A177-3AD203B41FA5}">
                          <a16:colId xmlns:a16="http://schemas.microsoft.com/office/drawing/2014/main" val="3117690354"/>
                        </a:ext>
                      </a:extLst>
                    </a:gridCol>
                    <a:gridCol w="1903710">
                      <a:extLst>
                        <a:ext uri="{9D8B030D-6E8A-4147-A177-3AD203B41FA5}">
                          <a16:colId xmlns:a16="http://schemas.microsoft.com/office/drawing/2014/main" val="2143324314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en-CO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Linear Function</a:t>
                          </a:r>
                          <a:endParaRPr lang="en-CO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 a Linear Function</a:t>
                          </a:r>
                          <a:endParaRPr lang="en-CO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2313083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9" t="-143038" r="-200319" b="-706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78405836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9" t="-240000" r="-200319" b="-5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07030986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9" t="-344304" r="-200319" b="-5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57063582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9" t="-438750" r="-200319" b="-39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83878030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9" t="-545570" r="-200319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66100090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9" t="-645570" r="-200319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4261192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9" t="-736250" r="-200319" b="-1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1881332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9" t="-846835" r="-200319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35" marR="60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977673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CDAAFA26-E6E3-684C-AD16-8BEDFA676A8D}"/>
              </a:ext>
            </a:extLst>
          </p:cNvPr>
          <p:cNvSpPr/>
          <p:nvPr/>
        </p:nvSpPr>
        <p:spPr>
          <a:xfrm>
            <a:off x="5957316" y="2470904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8661AA-B650-8A45-9666-549199F5E1E6}"/>
              </a:ext>
            </a:extLst>
          </p:cNvPr>
          <p:cNvSpPr/>
          <p:nvPr/>
        </p:nvSpPr>
        <p:spPr>
          <a:xfrm>
            <a:off x="7874040" y="2470904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3571E1-F9EF-0146-9183-71B471D2672B}"/>
              </a:ext>
            </a:extLst>
          </p:cNvPr>
          <p:cNvSpPr/>
          <p:nvPr/>
        </p:nvSpPr>
        <p:spPr>
          <a:xfrm>
            <a:off x="5957316" y="2963273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DD300B-9A4E-8246-9DA3-2C48464D9688}"/>
              </a:ext>
            </a:extLst>
          </p:cNvPr>
          <p:cNvSpPr/>
          <p:nvPr/>
        </p:nvSpPr>
        <p:spPr>
          <a:xfrm>
            <a:off x="7874040" y="2963273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1251C8-87FF-0648-BE42-CB0A42B894A4}"/>
              </a:ext>
            </a:extLst>
          </p:cNvPr>
          <p:cNvSpPr/>
          <p:nvPr/>
        </p:nvSpPr>
        <p:spPr>
          <a:xfrm>
            <a:off x="5957316" y="3464435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014177-45C8-F94F-B280-5478630CAEA4}"/>
              </a:ext>
            </a:extLst>
          </p:cNvPr>
          <p:cNvSpPr/>
          <p:nvPr/>
        </p:nvSpPr>
        <p:spPr>
          <a:xfrm>
            <a:off x="7874040" y="3464435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E9D18F-3C00-E04A-98E9-CA4AE0335C5D}"/>
              </a:ext>
            </a:extLst>
          </p:cNvPr>
          <p:cNvSpPr/>
          <p:nvPr/>
        </p:nvSpPr>
        <p:spPr>
          <a:xfrm>
            <a:off x="5957316" y="3956804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ECC84-DFB1-B341-A5EA-3F67E2DCC165}"/>
              </a:ext>
            </a:extLst>
          </p:cNvPr>
          <p:cNvSpPr/>
          <p:nvPr/>
        </p:nvSpPr>
        <p:spPr>
          <a:xfrm>
            <a:off x="7874040" y="3956804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F73F5A-F286-2949-AD6E-FD86E7537481}"/>
              </a:ext>
            </a:extLst>
          </p:cNvPr>
          <p:cNvSpPr/>
          <p:nvPr/>
        </p:nvSpPr>
        <p:spPr>
          <a:xfrm>
            <a:off x="5957316" y="4414004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CD276F-3DB2-9542-A3B1-5EA7E22672FD}"/>
              </a:ext>
            </a:extLst>
          </p:cNvPr>
          <p:cNvSpPr/>
          <p:nvPr/>
        </p:nvSpPr>
        <p:spPr>
          <a:xfrm>
            <a:off x="7874040" y="4414004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7795F6-9815-3243-9A4D-ECC2BBD94C29}"/>
              </a:ext>
            </a:extLst>
          </p:cNvPr>
          <p:cNvSpPr/>
          <p:nvPr/>
        </p:nvSpPr>
        <p:spPr>
          <a:xfrm>
            <a:off x="5957316" y="4906373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AD4C2E5-5643-DF45-91FB-43F9949B6A12}"/>
              </a:ext>
            </a:extLst>
          </p:cNvPr>
          <p:cNvSpPr/>
          <p:nvPr/>
        </p:nvSpPr>
        <p:spPr>
          <a:xfrm>
            <a:off x="7874040" y="4906373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02BBBF-41A9-6342-8ED0-385B45E7C4DB}"/>
              </a:ext>
            </a:extLst>
          </p:cNvPr>
          <p:cNvSpPr/>
          <p:nvPr/>
        </p:nvSpPr>
        <p:spPr>
          <a:xfrm>
            <a:off x="5957316" y="5407535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69168F1-3470-DC43-BA3D-4F09EBA150DF}"/>
              </a:ext>
            </a:extLst>
          </p:cNvPr>
          <p:cNvSpPr/>
          <p:nvPr/>
        </p:nvSpPr>
        <p:spPr>
          <a:xfrm>
            <a:off x="7874040" y="5407535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0DC10C-7F6B-7D4C-9C80-7D91B1BCC9CF}"/>
              </a:ext>
            </a:extLst>
          </p:cNvPr>
          <p:cNvSpPr/>
          <p:nvPr/>
        </p:nvSpPr>
        <p:spPr>
          <a:xfrm>
            <a:off x="5957316" y="5899904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FE9F08-443E-894B-86A6-E14110014E8A}"/>
              </a:ext>
            </a:extLst>
          </p:cNvPr>
          <p:cNvSpPr/>
          <p:nvPr/>
        </p:nvSpPr>
        <p:spPr>
          <a:xfrm>
            <a:off x="7874040" y="5899904"/>
            <a:ext cx="26670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46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EE5E3-92CE-4C4A-ADF7-A91AA5613DD7}"/>
              </a:ext>
            </a:extLst>
          </p:cNvPr>
          <p:cNvSpPr txBox="1"/>
          <p:nvPr/>
        </p:nvSpPr>
        <p:spPr>
          <a:xfrm>
            <a:off x="914400" y="482005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one equation from the table and explain why it is not a linear function.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one equation from the table and explain why it is a linear function.</a:t>
            </a:r>
          </a:p>
        </p:txBody>
      </p:sp>
    </p:spTree>
    <p:extLst>
      <p:ext uri="{BB962C8B-B14F-4D97-AF65-F5344CB8AC3E}">
        <p14:creationId xmlns:p14="http://schemas.microsoft.com/office/powerpoint/2010/main" val="2051488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CA26F36-85FB-6F47-BFE1-9526A3AAF9F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1841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10.9.5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5015EC-6F43-1C4A-AD6C-B1BEBDFEE113}"/>
              </a:ext>
            </a:extLst>
          </p:cNvPr>
          <p:cNvSpPr/>
          <p:nvPr/>
        </p:nvSpPr>
        <p:spPr>
          <a:xfrm>
            <a:off x="914400" y="1178057"/>
            <a:ext cx="10515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as you reflect on today’s learning.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someone asks me what I did in math today, I can say …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thing that made the most sense to me today was …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Something that I still do not understand is …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5DDDAB21-3A33-3F47-AE46-A181D54ACE9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1648</TotalTime>
  <Words>970</Words>
  <Application>Microsoft Office PowerPoint</Application>
  <PresentationFormat>Widescreen</PresentationFormat>
  <Paragraphs>156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Cambria</vt:lpstr>
      <vt:lpstr>Verdana</vt:lpstr>
      <vt:lpstr>Wingdings</vt:lpstr>
      <vt:lpstr>Century Gothic</vt:lpstr>
      <vt:lpstr>Calibri</vt:lpstr>
      <vt:lpstr>Arial Black</vt:lpstr>
      <vt:lpstr>Cambria Math</vt:lpstr>
      <vt:lpstr>Arial</vt:lpstr>
      <vt:lpstr>1_Office Theme</vt:lpstr>
      <vt:lpstr>8th Grade Math:  Pre-Algebra  Unit 10, Lesson 9  Is It Linear?  Volume 2, pg. 163  </vt:lpstr>
      <vt:lpstr>Benchmarks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20</cp:revision>
  <dcterms:created xsi:type="dcterms:W3CDTF">2015-03-17T18:51:18Z</dcterms:created>
  <dcterms:modified xsi:type="dcterms:W3CDTF">2022-06-19T01:25:34Z</dcterms:modified>
</cp:coreProperties>
</file>