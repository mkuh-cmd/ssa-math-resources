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14" r:id="rId9"/>
    <p:sldId id="315" r:id="rId10"/>
    <p:sldId id="352" r:id="rId11"/>
    <p:sldId id="362" r:id="rId12"/>
    <p:sldId id="363" r:id="rId13"/>
    <p:sldId id="364" r:id="rId14"/>
    <p:sldId id="289" r:id="rId15"/>
    <p:sldId id="290" r:id="rId16"/>
    <p:sldId id="365" r:id="rId17"/>
    <p:sldId id="356" r:id="rId18"/>
    <p:sldId id="366" r:id="rId19"/>
    <p:sldId id="311" r:id="rId20"/>
    <p:sldId id="312" r:id="rId21"/>
    <p:sldId id="353" r:id="rId22"/>
    <p:sldId id="367" r:id="rId23"/>
    <p:sldId id="329" r:id="rId24"/>
    <p:sldId id="330" r:id="rId25"/>
    <p:sldId id="359" r:id="rId26"/>
    <p:sldId id="306" r:id="rId27"/>
    <p:sldId id="307" r:id="rId28"/>
    <p:sldId id="370" r:id="rId29"/>
  </p:sldIdLst>
  <p:sldSz cx="12192000" cy="6858000"/>
  <p:notesSz cx="6858000" cy="9144000"/>
  <p:embeddedFontLst>
    <p:embeddedFont>
      <p:font typeface="Calibri" pitchFamily="34" charset="0"/>
      <p:regular r:id="rId31"/>
      <p:bold r:id="rId32"/>
      <p:italic r:id="rId33"/>
      <p:boldItalic r:id="rId34"/>
    </p:embeddedFont>
    <p:embeddedFont>
      <p:font typeface="Century Gothic" pitchFamily="34" charset="0"/>
      <p:regular r:id="rId35"/>
      <p:bold r:id="rId36"/>
      <p:italic r:id="rId37"/>
      <p:boldItalic r:id="rId38"/>
    </p:embeddedFont>
    <p:embeddedFont>
      <p:font typeface="Cambria Math" pitchFamily="18" charset="0"/>
      <p:regular r:id="rId39"/>
    </p:embeddedFont>
    <p:embeddedFont>
      <p:font typeface="Arial Black" pitchFamily="34" charset="0"/>
      <p:bold r:id="rId40"/>
    </p:embeddedFont>
    <p:embeddedFont>
      <p:font typeface="Verdana" pitchFamily="3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9B0DD"/>
    <a:srgbClr val="DA4487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30" autoAdjust="0"/>
    <p:restoredTop sz="94694"/>
  </p:normalViewPr>
  <p:slideViewPr>
    <p:cSldViewPr snapToGrid="0">
      <p:cViewPr varScale="1">
        <p:scale>
          <a:sx n="105" d="100"/>
          <a:sy n="105" d="100"/>
        </p:scale>
        <p:origin x="-462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5701158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905099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94331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01851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61076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2075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20552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63951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21740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51739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73854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10474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48919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81965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15227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81916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5834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tiff"/><Relationship Id="rId5" Type="http://schemas.openxmlformats.org/officeDocument/2006/relationships/image" Target="../media/image14.tiff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tiff"/><Relationship Id="rId4" Type="http://schemas.openxmlformats.org/officeDocument/2006/relationships/image" Target="../media/image16.tif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tiff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4.tif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6.tif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tiff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3.tiff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7.tiff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5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Pre-Algebra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8, Lesson 9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Systems by Graphing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44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530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57214" y="4774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714" y="28352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55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32946" y="1582897"/>
            <a:ext cx="105803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MA.8.AR.4.3</a:t>
            </a:r>
          </a:p>
          <a:p>
            <a:pPr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mathematical or </a:t>
            </a:r>
            <a:r>
              <a:rPr lang="en-US" sz="35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real-world </a:t>
            </a: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context, solve systems of two linear equations by graphing.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255045" y="-5680"/>
            <a:ext cx="970193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255045" y="1596390"/>
            <a:ext cx="1008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714" y="28352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52435" y="-568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714" y="28352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Google Shape;302;g103996e1364_0_16">
                <a:extLst>
                  <a:ext uri="{FF2B5EF4-FFF2-40B4-BE49-F238E27FC236}">
                    <a16:creationId xmlns:a16="http://schemas.microsoft.com/office/drawing/2014/main" xmlns="" id="{9B7C98EC-F13C-9146-B728-D7044DB4247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3060" y="1591322"/>
                <a:ext cx="10726888" cy="420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571500" indent="-571500">
                  <a:buFont typeface="Wingdings" panose="05000000000000000000" pitchFamily="2" charset="2"/>
                  <a:buChar char="q"/>
                </a:pPr>
                <a:r>
                  <a:rPr lang="en-US" sz="3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 can solve a system of linear equations by graphing.</a:t>
                </a:r>
              </a:p>
              <a:p>
                <a:pPr marL="571500" indent="-571500">
                  <a:buFont typeface="Wingdings" panose="05000000000000000000" pitchFamily="2" charset="2"/>
                  <a:buChar char="q"/>
                </a:pPr>
                <a:endParaRPr lang="en-US" sz="35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571500" indent="-571500">
                  <a:buFont typeface="Wingdings" panose="05000000000000000000" pitchFamily="2" charset="2"/>
                  <a:buChar char="q"/>
                </a:pPr>
                <a:r>
                  <a:rPr lang="en-US" sz="3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 can verify my answer from graphing by substituting in the </a:t>
                </a:r>
                <a14:m>
                  <m:oMath xmlns:m="http://schemas.openxmlformats.org/officeDocument/2006/math">
                    <m:r>
                      <a:rPr lang="en-US" sz="3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 and </a:t>
                </a:r>
                <a14:m>
                  <m:oMath xmlns:m="http://schemas.openxmlformats.org/officeDocument/2006/math">
                    <m:r>
                      <a:rPr lang="en-US" sz="3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3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-coordinates of the solution(s).</a:t>
                </a:r>
              </a:p>
            </p:txBody>
          </p:sp>
        </mc:Choice>
        <mc:Fallback>
          <p:sp>
            <p:nvSpPr>
              <p:cNvPr id="14" name="Google Shape;302;g103996e1364_0_1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B7C98EC-F13C-9146-B728-D7044DB42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060" y="1591322"/>
                <a:ext cx="10726888" cy="4205700"/>
              </a:xfrm>
              <a:prstGeom prst="rect">
                <a:avLst/>
              </a:prstGeom>
              <a:blipFill rotWithShape="1">
                <a:blip r:embed="rId5"/>
                <a:stretch>
                  <a:fillRect l="-1420" t="-231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261883"/>
              </p:ext>
            </p:extLst>
          </p:nvPr>
        </p:nvGraphicFramePr>
        <p:xfrm>
          <a:off x="1087654" y="2080207"/>
          <a:ext cx="7315200" cy="36576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System A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System B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2004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50449" y="-5680"/>
            <a:ext cx="11044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8.9.1 Warm-Up: Which One Doesn’t Belong?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714" y="28352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1D7562E-134F-D14B-AF1A-DF40E11EF758}"/>
              </a:ext>
            </a:extLst>
          </p:cNvPr>
          <p:cNvSpPr txBox="1"/>
          <p:nvPr/>
        </p:nvSpPr>
        <p:spPr>
          <a:xfrm>
            <a:off x="545032" y="1461069"/>
            <a:ext cx="83271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graphs of four systems of equations are shown.</a:t>
            </a:r>
          </a:p>
        </p:txBody>
      </p:sp>
      <p:pic>
        <p:nvPicPr>
          <p:cNvPr id="9" name="Picture 8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48104" y="2733101"/>
            <a:ext cx="3200400" cy="2632075"/>
          </a:xfrm>
          <a:prstGeom prst="rect">
            <a:avLst/>
          </a:prstGeom>
        </p:spPr>
      </p:pic>
      <p:pic>
        <p:nvPicPr>
          <p:cNvPr id="10" name="Picture 9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9041" y="2725481"/>
            <a:ext cx="3200400" cy="2632075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30389" y="4424457"/>
            <a:ext cx="83271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Which graph does not belong? </a:t>
            </a: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your reasoning.</a:t>
            </a:r>
          </a:p>
        </p:txBody>
      </p:sp>
      <p:pic>
        <p:nvPicPr>
          <p:cNvPr id="7" name="Picture 6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16980" y="1223805"/>
            <a:ext cx="3200400" cy="2632075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64853" y="1214077"/>
            <a:ext cx="3200400" cy="2632075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224677"/>
              </p:ext>
            </p:extLst>
          </p:nvPr>
        </p:nvGraphicFramePr>
        <p:xfrm>
          <a:off x="1106238" y="477921"/>
          <a:ext cx="7315200" cy="36576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System C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System D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2004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xmlns="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51870" y="-4426"/>
            <a:ext cx="1106215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8.9.2 Collaboration: Solving Systems </a:t>
            </a:r>
            <a: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from </a:t>
            </a: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Graphs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1206" y="283520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36154" y="1386025"/>
                <a:ext cx="8327136" cy="15365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Work with your partner to complete the following.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The graph of the system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 </m:t>
                            </m:r>
                            <m:f>
                              <m:fPr>
                                <m:ctrlPr>
                                  <a:rPr lang="en-US" sz="20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+2</m:t>
                            </m:r>
                          </m: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+2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shown.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154" y="1386025"/>
                <a:ext cx="8327136" cy="1536574"/>
              </a:xfrm>
              <a:prstGeom prst="rect">
                <a:avLst/>
              </a:prstGeom>
              <a:blipFill rotWithShape="1">
                <a:blip r:embed="rId5"/>
                <a:stretch>
                  <a:fillRect l="-805" t="-198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Chart, line chart&#10;&#10;Description automatically generated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732" y="2788836"/>
            <a:ext cx="5029200" cy="3743325"/>
          </a:xfrm>
          <a:prstGeom prst="rect">
            <a:avLst/>
          </a:prstGeom>
        </p:spPr>
      </p:pic>
      <p:sp>
        <p:nvSpPr>
          <p:cNvPr id="1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36154" y="380372"/>
            <a:ext cx="832713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Mark the solution to the system on the graph.</a:t>
            </a: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are the coordinates of the solution to the system?</a:t>
            </a: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Verify the solution using substitution.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5050800"/>
                  </p:ext>
                </p:extLst>
              </p:nvPr>
            </p:nvGraphicFramePr>
            <p:xfrm>
              <a:off x="1653822" y="2760306"/>
              <a:ext cx="6823710" cy="3498723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41122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41249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sz="2000" b="1" i="1" dirty="0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000" b="1" i="1" dirty="0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PH" sz="2000" b="1" i="1" dirty="0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PH" sz="2000" b="1" i="1" dirty="0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  <m:r>
                                  <a:rPr lang="en-US" sz="2000" b="1" i="1" dirty="0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2000" b="1" i="1" dirty="0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1" i="1" dirty="0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2000" b="1" i="1" dirty="0" smtClean="0">
                                    <a:effectLst/>
                                    <a:latin typeface="Cambria Math"/>
                                    <a:ea typeface="Verdana" pitchFamily="34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2000" b="1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sz="2000" b="1" i="1" dirty="0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dirty="0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2000" b="1" i="1" dirty="0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2000" b="1" i="1" dirty="0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1" i="1" dirty="0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2000" b="1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27432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</a:p>
                      </a:txBody>
                      <a:tcPr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</a:p>
                      </a:txBody>
                      <a:tcPr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5050800"/>
                  </p:ext>
                </p:extLst>
              </p:nvPr>
            </p:nvGraphicFramePr>
            <p:xfrm>
              <a:off x="1653822" y="2760306"/>
              <a:ext cx="6823710" cy="3498723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41122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341249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7555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806" r="-100000" b="-3629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806" b="-3629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27432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</a:p>
                      </a:txBody>
                      <a:tcPr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</a:rPr>
                            <a:t> </a:t>
                          </a:r>
                        </a:p>
                      </a:txBody>
                      <a:tcPr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5819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0842" y="117381"/>
                <a:ext cx="8609061" cy="6614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graph of the system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 4</m:t>
                            </m:r>
                          </m: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sz="20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shown.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Mark the solution to the system on the graph. 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are the coordinates of the solution to the system?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Verify the solution using substitution.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842" y="117381"/>
                <a:ext cx="8609061" cy="6614888"/>
              </a:xfrm>
              <a:prstGeom prst="rect">
                <a:avLst/>
              </a:prstGeom>
              <a:blipFill rotWithShape="1">
                <a:blip r:embed="rId3"/>
                <a:stretch>
                  <a:fillRect l="-70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Chart, line chart&#10;&#10;Description automatically generated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45094" y="1215579"/>
            <a:ext cx="4213149" cy="3107541"/>
          </a:xfrm>
          <a:prstGeom prst="rect">
            <a:avLst/>
          </a:prstGeom>
        </p:spPr>
      </p:pic>
      <p:pic>
        <p:nvPicPr>
          <p:cNvPr id="8" name="Google Shape;311;g104476d1465_1_39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32436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0184" y="382488"/>
                <a:ext cx="8327136" cy="60669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coordinate plane to complete the following.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Graph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3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coordinate plane.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Graph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coordinate plane.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84" y="382488"/>
                <a:ext cx="8327136" cy="6066917"/>
              </a:xfrm>
              <a:prstGeom prst="rect">
                <a:avLst/>
              </a:prstGeom>
              <a:blipFill rotWithShape="1">
                <a:blip r:embed="rId3"/>
                <a:stretch>
                  <a:fillRect l="-805" t="-60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Chart, line chart, scatter chart&#10;&#10;Description automatically generated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34400" y="923568"/>
            <a:ext cx="5318705" cy="4174071"/>
          </a:xfrm>
          <a:prstGeom prst="rect">
            <a:avLst/>
          </a:prstGeom>
        </p:spPr>
      </p:pic>
      <p:pic>
        <p:nvPicPr>
          <p:cNvPr id="8" name="Google Shape;311;g104476d1465_1_39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31294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5091" y="379566"/>
                <a:ext cx="9609687" cy="2379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Mark and label the solution to the system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 3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−3</m:t>
                            </m:r>
                          </m: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 </m:t>
                            </m:r>
                            <m:f>
                              <m:fPr>
                                <m:ctrlPr>
                                  <a:rPr lang="en-US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+2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your graph.  </a:t>
                </a: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Verify your solution using substitution.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91" y="379566"/>
                <a:ext cx="9609687" cy="237943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oogle Shape;311;g104476d1465_1_39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65402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xmlns="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Google Shape;282;g104476d1465_1_17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52319" y="-8225"/>
            <a:ext cx="111393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8.9.3 Guided Instruction: </a:t>
            </a:r>
            <a: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Approximating </a:t>
            </a: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Solutions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714" y="28352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45861" y="1386025"/>
                <a:ext cx="8327136" cy="45850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graph of the system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=3.5</m:t>
                            </m:r>
                          </m: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sz="20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+2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is shown.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Mark the solution to the system of equations.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61" y="1386025"/>
                <a:ext cx="8327136" cy="4585038"/>
              </a:xfrm>
              <a:prstGeom prst="rect">
                <a:avLst/>
              </a:prstGeom>
              <a:blipFill rotWithShape="1">
                <a:blip r:embed="rId5"/>
                <a:stretch>
                  <a:fillRect l="-805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Chart, line chart&#10;&#10;Description automatically generated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76886" y="2301623"/>
            <a:ext cx="3988837" cy="3054376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5822" y="381005"/>
                <a:ext cx="10924834" cy="5324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solution to the system does not fall on the grid lines shown on the coordinate grid. Therefore, the solution can only be approximated from the graph.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are the approximate coordinates of the solution?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Kyrie said, “I know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-value of the solution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3.5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could use that to determine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-value of the solution.” Discuss with your partner what Kyrie may have been thinking. 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Test Kyrie’s conjecture to see if his strategy will work to determine the exact solution of the system.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22" y="381005"/>
                <a:ext cx="10924834" cy="5324535"/>
              </a:xfrm>
              <a:prstGeom prst="rect">
                <a:avLst/>
              </a:prstGeom>
              <a:blipFill rotWithShape="1">
                <a:blip r:embed="rId4"/>
                <a:stretch>
                  <a:fillRect l="-614" t="-573" r="-893" b="-103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57907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6154" y="380767"/>
                <a:ext cx="8327136" cy="5999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coordinate plane to complete the following.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Graph the system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 −</m:t>
                            </m:r>
                            <m:f>
                              <m:fPr>
                                <m:ctrlPr>
                                  <a:rPr lang="en-US" sz="20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+4</m:t>
                            </m:r>
                          </m: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 3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−4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coordinate plane.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154" y="380767"/>
                <a:ext cx="8327136" cy="5999335"/>
              </a:xfrm>
              <a:prstGeom prst="rect">
                <a:avLst/>
              </a:prstGeom>
              <a:blipFill rotWithShape="1">
                <a:blip r:embed="rId4"/>
                <a:stretch>
                  <a:fillRect l="-805" t="-609" r="-51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Chart, line chart, scatter chart&#10;&#10;Description automatically generated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86214" y="997550"/>
            <a:ext cx="5427015" cy="4139565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401205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31969" y="377837"/>
            <a:ext cx="10800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Mark the solution to the system on your graph.  </a:t>
            </a: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are the approximate coordinates of the solution?</a:t>
            </a: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3571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Google Shape;282;g104476d1465_1_17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54480" y="0"/>
            <a:ext cx="1083574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8.9.4 Exploration: Relationships in Parallel Lines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1206" y="282297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531945" y="1317124"/>
                <a:ext cx="8327136" cy="5540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coordinate grid to complete the following.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Graph the system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"/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 −</m:t>
                            </m:r>
                            <m:f>
                              <m:fPr>
                                <m:ctrlPr>
                                  <a:rPr lang="en-US" sz="20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+4</m:t>
                            </m:r>
                          </m: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 −</m:t>
                            </m:r>
                            <m:f>
                              <m:fPr>
                                <m:ctrlPr>
                                  <a:rPr lang="en-US" sz="20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−4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45" y="1317124"/>
                <a:ext cx="8327136" cy="5540876"/>
              </a:xfrm>
              <a:prstGeom prst="rect">
                <a:avLst/>
              </a:prstGeom>
              <a:blipFill rotWithShape="1">
                <a:blip r:embed="rId5"/>
                <a:stretch>
                  <a:fillRect l="-732" t="-66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Chart, line chart, scatter chart&#10;&#10;Description automatically generated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92345" y="1900054"/>
            <a:ext cx="4665558" cy="3640822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30110" y="381047"/>
            <a:ext cx="10800000" cy="53501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Compare your graph with your partner and resolve any differences, if necessary.</a:t>
            </a: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the solution(s) to the system based on your graphs.</a:t>
            </a: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determine which statements are true for this system. Then, check all the true statements.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1260475" indent="-342900"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two lines are perpendicular.</a:t>
            </a:r>
          </a:p>
          <a:p>
            <a:pPr marL="1260475" indent="-342900"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There is no solution to the system.</a:t>
            </a:r>
          </a:p>
          <a:p>
            <a:pPr marL="1260475" indent="-342900"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There are no points that lie on the graph of both lines.</a:t>
            </a:r>
          </a:p>
          <a:p>
            <a:pPr marL="1260475" indent="-342900"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There are infinitely many solutions to the system.</a:t>
            </a:r>
          </a:p>
          <a:p>
            <a:pPr marL="1260475" indent="-342900"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Any point will make both equations true.</a:t>
            </a:r>
          </a:p>
          <a:p>
            <a:pPr marL="1260475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two lines are parallel.</a:t>
            </a: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7311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35007" y="374086"/>
            <a:ext cx="1054187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5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Compare the two equations in the system. Discuss with your partner what is the same and what is different about the equations.</a:t>
            </a:r>
          </a:p>
          <a:p>
            <a:pPr marL="914400" indent="-457200">
              <a:buFont typeface="+mj-lt"/>
              <a:buAutoNum type="alphaLcPeriod" startAt="5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5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statements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914400" indent="-457200">
              <a:buFont typeface="+mj-lt"/>
              <a:buAutoNum type="alphaLcPeriod" startAt="5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system of equations that has no solutions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occurs when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lines are	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	   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The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equations of    		      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lines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have the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same                           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but different</a:t>
            </a: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542871" y="2631778"/>
            <a:ext cx="2377440" cy="783193"/>
          </a:xfrm>
          <a:prstGeom prst="round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Courier New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</a:rPr>
              <a:t>parallel.</a:t>
            </a:r>
            <a:endParaRPr lang="en-US" sz="2000" dirty="0">
              <a:latin typeface="Verdana" pitchFamily="34" charset="0"/>
              <a:ea typeface="Verdana" pitchFamily="34" charset="0"/>
            </a:endParaRPr>
          </a:p>
          <a:p>
            <a:pPr marL="228600" indent="-228600">
              <a:buFont typeface="Courier New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</a:rPr>
              <a:t>perpendicular.</a:t>
            </a:r>
            <a:endParaRPr lang="en-US" sz="20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343708" y="2631776"/>
            <a:ext cx="2286000" cy="783193"/>
          </a:xfrm>
          <a:prstGeom prst="round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Courier New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</a:rPr>
              <a:t>parallel</a:t>
            </a:r>
            <a:endParaRPr lang="en-US" sz="2000" dirty="0">
              <a:latin typeface="Verdana" pitchFamily="34" charset="0"/>
              <a:ea typeface="Verdana" pitchFamily="34" charset="0"/>
            </a:endParaRPr>
          </a:p>
          <a:p>
            <a:pPr marL="228600" indent="-228600">
              <a:buFont typeface="Courier New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</a:rPr>
              <a:t>perpendicular</a:t>
            </a:r>
            <a:endParaRPr lang="en-US" sz="2000" dirty="0">
              <a:latin typeface="Verdana" pitchFamily="34" charset="0"/>
              <a:ea typeface="Verdana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ounded Rectangle 15"/>
              <p:cNvSpPr/>
              <p:nvPr/>
            </p:nvSpPr>
            <p:spPr>
              <a:xfrm>
                <a:off x="2382219" y="3557854"/>
                <a:ext cx="2194560" cy="783193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228600" indent="-228600">
                  <a:buFont typeface="Courier New" pitchFamily="49" charset="0"/>
                  <a:buChar char="o"/>
                </a:pPr>
                <a:r>
                  <a:rPr lang="en-US" sz="2000" dirty="0">
                    <a:solidFill>
                      <a:srgbClr val="000000"/>
                    </a:solidFill>
                    <a:latin typeface="Verdana" pitchFamily="34" charset="0"/>
                    <a:ea typeface="Verdana" pitchFamily="34" charset="0"/>
                  </a:rPr>
                  <a:t>slopes,</a:t>
                </a: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228600" indent="-228600"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/>
                        <a:ea typeface="Times New Roman"/>
                      </a:rPr>
                      <m:t>𝑦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Verdana" pitchFamily="34" charset="0"/>
                    <a:ea typeface="Verdana" pitchFamily="34" charset="0"/>
                  </a:rPr>
                  <a:t>-intercepts,</a:t>
                </a: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</p:txBody>
          </p:sp>
        </mc:Choice>
        <mc:Fallback>
          <p:sp>
            <p:nvSpPr>
              <p:cNvPr id="16" name="Rounded 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2219" y="3557854"/>
                <a:ext cx="2194560" cy="783193"/>
              </a:xfrm>
              <a:prstGeom prst="roundRect">
                <a:avLst/>
              </a:prstGeom>
              <a:blipFill rotWithShape="1">
                <a:blip r:embed="rId4"/>
                <a:stretch>
                  <a:fillRect l="-551" b="-9160"/>
                </a:stretch>
              </a:blipFill>
              <a:ln w="1905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ounded Rectangle 16"/>
              <p:cNvSpPr/>
              <p:nvPr/>
            </p:nvSpPr>
            <p:spPr>
              <a:xfrm>
                <a:off x="6515047" y="3557853"/>
                <a:ext cx="2194560" cy="783193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228600" indent="-228600">
                  <a:buFont typeface="Courier New" pitchFamily="49" charset="0"/>
                  <a:buChar char="o"/>
                </a:pPr>
                <a:r>
                  <a:rPr lang="en-US" sz="2000" dirty="0">
                    <a:solidFill>
                      <a:srgbClr val="000000"/>
                    </a:solidFill>
                    <a:latin typeface="Verdana" pitchFamily="34" charset="0"/>
                    <a:ea typeface="Verdana" pitchFamily="34" charset="0"/>
                  </a:rPr>
                  <a:t>slopes.</a:t>
                </a: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228600" indent="-228600"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/>
                        <a:ea typeface="Times New Roman"/>
                      </a:rPr>
                      <m:t>𝑦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Verdana" pitchFamily="34" charset="0"/>
                    <a:ea typeface="Verdana" pitchFamily="34" charset="0"/>
                  </a:rPr>
                  <a:t>-intercepts.</a:t>
                </a: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</p:txBody>
          </p:sp>
        </mc:Choice>
        <mc:Fallback>
          <p:sp>
            <p:nvSpPr>
              <p:cNvPr id="17" name="Rounded 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5047" y="3557853"/>
                <a:ext cx="2194560" cy="783193"/>
              </a:xfrm>
              <a:prstGeom prst="roundRect">
                <a:avLst/>
              </a:prstGeom>
              <a:blipFill rotWithShape="1">
                <a:blip r:embed="rId5"/>
                <a:stretch>
                  <a:fillRect l="-551" b="-9160"/>
                </a:stretch>
              </a:blipFill>
              <a:ln w="1905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67337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314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31E4CCCA-703A-4C46-A49C-ABEAC0061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05255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60658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4049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48127" y="-4049"/>
            <a:ext cx="1118304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8.9.5 Bring It Together: Solutions to Systems </a:t>
            </a:r>
            <a: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of </a:t>
            </a: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Equations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69E00F9-F39F-5043-888E-B0A2D8C9AE0F}"/>
              </a:ext>
            </a:extLst>
          </p:cNvPr>
          <p:cNvSpPr txBox="1"/>
          <p:nvPr/>
        </p:nvSpPr>
        <p:spPr>
          <a:xfrm>
            <a:off x="545315" y="1312874"/>
            <a:ext cx="10516882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table gives three descriptions of the types of solutions to systems of linear equations. Match each description to the number of solutions the system has.</a:t>
            </a:r>
          </a:p>
        </p:txBody>
      </p:sp>
      <p:pic>
        <p:nvPicPr>
          <p:cNvPr id="10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649008E9-40B8-C74A-99EE-3168B937C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1206" y="275120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279031"/>
              </p:ext>
            </p:extLst>
          </p:nvPr>
        </p:nvGraphicFramePr>
        <p:xfrm>
          <a:off x="2490839" y="2473689"/>
          <a:ext cx="7315200" cy="398411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5859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b="1" spc="-70" baseline="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Description of the System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Number of Solutions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spc="-70" baseline="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All the ordered pairs that satisfy one equation will also satisfy the other equation.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8925" marR="0" lvl="0" indent="-288925">
                        <a:spcBef>
                          <a:spcPts val="180"/>
                        </a:spcBef>
                        <a:spcAft>
                          <a:spcPts val="18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one solution</a:t>
                      </a:r>
                    </a:p>
                    <a:p>
                      <a:pPr marL="288925" marR="0" lvl="0" indent="-288925">
                        <a:spcBef>
                          <a:spcPts val="180"/>
                        </a:spcBef>
                        <a:spcAft>
                          <a:spcPts val="18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no solutions</a:t>
                      </a:r>
                    </a:p>
                    <a:p>
                      <a:pPr marL="288925" marR="0" lvl="0" indent="-288925">
                        <a:spcBef>
                          <a:spcPts val="180"/>
                        </a:spcBef>
                        <a:spcAft>
                          <a:spcPts val="18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infinitely many solutions</a:t>
                      </a:r>
                    </a:p>
                  </a:txBody>
                  <a:tcPr marL="45720" marR="4572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Exactly one ordered pair will satisfy both equations. It is the point of intersection of the graphs.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8925" marR="0" lvl="0" indent="-288925">
                        <a:spcBef>
                          <a:spcPts val="180"/>
                        </a:spcBef>
                        <a:spcAft>
                          <a:spcPts val="18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one solution</a:t>
                      </a:r>
                    </a:p>
                    <a:p>
                      <a:pPr marL="288925" marR="0" lvl="0" indent="-288925">
                        <a:spcBef>
                          <a:spcPts val="180"/>
                        </a:spcBef>
                        <a:spcAft>
                          <a:spcPts val="18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no solutions</a:t>
                      </a:r>
                    </a:p>
                    <a:p>
                      <a:pPr marL="288925" marR="0" lvl="0" indent="-288925">
                        <a:spcBef>
                          <a:spcPts val="180"/>
                        </a:spcBef>
                        <a:spcAft>
                          <a:spcPts val="18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infinitely many solutions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There are no ordered pairs that will satisfy both equations.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8925" marR="0" lvl="0" indent="-288925">
                        <a:spcBef>
                          <a:spcPts val="180"/>
                        </a:spcBef>
                        <a:spcAft>
                          <a:spcPts val="18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one solution</a:t>
                      </a:r>
                    </a:p>
                    <a:p>
                      <a:pPr marL="288925" marR="0" lvl="0" indent="-288925">
                        <a:spcBef>
                          <a:spcPts val="180"/>
                        </a:spcBef>
                        <a:spcAft>
                          <a:spcPts val="18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no solutions</a:t>
                      </a:r>
                    </a:p>
                    <a:p>
                      <a:pPr marL="288925" marR="0" lvl="0" indent="-288925">
                        <a:spcBef>
                          <a:spcPts val="180"/>
                        </a:spcBef>
                        <a:spcAft>
                          <a:spcPts val="18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infinitely many solutions</a:t>
                      </a:r>
                    </a:p>
                  </a:txBody>
                  <a:tcPr marL="45720" marR="4572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9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98569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33376" y="379270"/>
            <a:ext cx="110719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features of the equations in different types of systems of two linear equations are given. Match each description to the number of solutions the system has.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8376762"/>
                  </p:ext>
                </p:extLst>
              </p:nvPr>
            </p:nvGraphicFramePr>
            <p:xfrm>
              <a:off x="2539559" y="1519008"/>
              <a:ext cx="7768708" cy="3828084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4006972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761736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39589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Description of the System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 of Solutions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1148088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two lines have </a:t>
                          </a:r>
                          <a:r>
                            <a:rPr lang="en-US" sz="2000" b="1" dirty="0">
                              <a:solidFill>
                                <a:schemeClr val="accent2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different slopes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  <a:endParaRPr lang="en-US" sz="2000" b="1" dirty="0">
                            <a:solidFill>
                              <a:schemeClr val="accent2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one solution</a:t>
                          </a:r>
                        </a:p>
                        <a:p>
                          <a:pPr marL="342900" marR="0" lvl="0" indent="-342900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 solutions</a:t>
                          </a:r>
                        </a:p>
                        <a:p>
                          <a:pPr marL="342900" marR="0" lvl="0" indent="-342900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infinitely many solutions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1135668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two lines have the </a:t>
                          </a:r>
                          <a:r>
                            <a:rPr lang="en-US" sz="2000" b="1" dirty="0">
                              <a:solidFill>
                                <a:srgbClr val="00B05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same slope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the </a:t>
                          </a:r>
                          <a:r>
                            <a:rPr lang="en-US" sz="2000" b="1" dirty="0">
                              <a:solidFill>
                                <a:srgbClr val="00B05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same </a:t>
                          </a:r>
                        </a:p>
                        <a:p>
                          <a:pPr marL="0" marR="0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 i="1" dirty="0" smtClean="0">
                                  <a:solidFill>
                                    <a:srgbClr val="00B050"/>
                                  </a:solidFill>
                                  <a:effectLst/>
                                  <a:latin typeface="Cambria Math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</m:oMath>
                          </a14:m>
                          <a:r>
                            <a:rPr lang="en-US" sz="2000" b="1" dirty="0" smtClean="0">
                              <a:solidFill>
                                <a:srgbClr val="00B05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-intercept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one solution</a:t>
                          </a:r>
                        </a:p>
                        <a:p>
                          <a:pPr marL="342900" marR="0" lvl="0" indent="-342900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 solutions</a:t>
                          </a:r>
                        </a:p>
                        <a:p>
                          <a:pPr marL="342900" marR="0" lvl="0" indent="-342900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infinitely many solutions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1148088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two lines have the </a:t>
                          </a:r>
                          <a:r>
                            <a:rPr lang="en-US" sz="2000" b="1" dirty="0">
                              <a:solidFill>
                                <a:srgbClr val="00B05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same slope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the </a:t>
                          </a:r>
                          <a:r>
                            <a:rPr lang="en-US" sz="2000" b="1" dirty="0">
                              <a:solidFill>
                                <a:schemeClr val="accent2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different </a:t>
                          </a:r>
                        </a:p>
                        <a:p>
                          <a:pPr marL="0" marR="0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solidFill>
                                    <a:schemeClr val="accent2"/>
                                  </a:solidFill>
                                  <a:effectLst/>
                                  <a:latin typeface="Cambria Math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</m:oMath>
                          </a14:m>
                          <a:r>
                            <a:rPr lang="en-US" sz="2000" b="1" dirty="0" smtClean="0">
                              <a:solidFill>
                                <a:schemeClr val="accent2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-intercepts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one solution</a:t>
                          </a:r>
                        </a:p>
                        <a:p>
                          <a:pPr marL="342900" marR="0" lvl="0" indent="-342900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 solutions</a:t>
                          </a:r>
                        </a:p>
                        <a:p>
                          <a:pPr marL="342900" marR="0" lvl="0" indent="-342900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infinitely many solutions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8376762"/>
                  </p:ext>
                </p:extLst>
              </p:nvPr>
            </p:nvGraphicFramePr>
            <p:xfrm>
              <a:off x="2539559" y="1519008"/>
              <a:ext cx="7768708" cy="3828084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400697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3761736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Description of the System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 of Solutions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1148088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two lines have </a:t>
                          </a:r>
                          <a:r>
                            <a:rPr lang="en-US" sz="2000" b="1" dirty="0">
                              <a:solidFill>
                                <a:schemeClr val="accent2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different slopes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  <a:endParaRPr lang="en-US" sz="2000" b="1" dirty="0">
                            <a:solidFill>
                              <a:schemeClr val="accent2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one solution</a:t>
                          </a:r>
                        </a:p>
                        <a:p>
                          <a:pPr marL="342900" marR="0" lvl="0" indent="-342900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 solutions</a:t>
                          </a:r>
                        </a:p>
                        <a:p>
                          <a:pPr marL="342900" marR="0" lvl="0" indent="-342900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infinitely many solutions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11356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52" t="-137968" r="-93912" b="-1101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one solution</a:t>
                          </a:r>
                        </a:p>
                        <a:p>
                          <a:pPr marL="342900" marR="0" lvl="0" indent="-342900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 solutions</a:t>
                          </a:r>
                        </a:p>
                        <a:p>
                          <a:pPr marL="342900" marR="0" lvl="0" indent="-342900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infinitely many solutions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114808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52" t="-236702" r="-93912" b="-95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one solution</a:t>
                          </a:r>
                        </a:p>
                        <a:p>
                          <a:pPr marL="342900" marR="0" lvl="0" indent="-342900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 solutions</a:t>
                          </a:r>
                        </a:p>
                        <a:p>
                          <a:pPr marL="342900" marR="0" lvl="0" indent="-342900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infinitely many solutions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298300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250496" y="0"/>
            <a:ext cx="978544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8.9.6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3714" y="28602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536154" y="1463985"/>
                <a:ext cx="8327136" cy="2933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Two systems are shown.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+2</m:t>
                            </m:r>
                          </m: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		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+3</m:t>
                            </m:r>
                          </m: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eqArr>
                      </m:e>
                    </m:d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Circle the system that will have no solutions.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how you know it will have no solutions.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154" y="1463985"/>
                <a:ext cx="8327136" cy="2933304"/>
              </a:xfrm>
              <a:prstGeom prst="rect">
                <a:avLst/>
              </a:prstGeom>
              <a:blipFill rotWithShape="1">
                <a:blip r:embed="rId4"/>
                <a:stretch>
                  <a:fillRect l="-805" t="-124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Google Shape;311;g104476d1465_1_39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28918" y="525811"/>
            <a:ext cx="11134164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Graph the system you did NOT circle in Part A. Then, write the solution under the coordinate plane.</a:t>
            </a:r>
          </a:p>
          <a:p>
            <a:pPr marL="914400" lvl="1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lvl="1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lvl="1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lvl="1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lvl="1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lvl="1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lvl="1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lvl="1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lvl="1" algn="ctr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Solution (____, ____)</a:t>
            </a:r>
          </a:p>
        </p:txBody>
      </p:sp>
      <p:pic>
        <p:nvPicPr>
          <p:cNvPr id="6" name="Picture 5" descr="Chart, line chart, scatter chart&#10;&#10;Description automatically generated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09504" y="1404511"/>
            <a:ext cx="5572991" cy="4511768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4547840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1442</TotalTime>
  <Words>1034</Words>
  <Application>Microsoft Office PowerPoint</Application>
  <PresentationFormat>Custom</PresentationFormat>
  <Paragraphs>296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Arial</vt:lpstr>
      <vt:lpstr>Calibri</vt:lpstr>
      <vt:lpstr>Times New Roman</vt:lpstr>
      <vt:lpstr>Courier New</vt:lpstr>
      <vt:lpstr>Century Gothic</vt:lpstr>
      <vt:lpstr>Cambria Math</vt:lpstr>
      <vt:lpstr>Wingdings</vt:lpstr>
      <vt:lpstr>Arial Black</vt:lpstr>
      <vt:lpstr>Verdana</vt:lpstr>
      <vt:lpstr>1_Office Theme</vt:lpstr>
      <vt:lpstr>8th Grade Math: Pre-Algebra  Unit 8, Lesson 9  Solving Systems by Graphing  Volume 2, pg. 44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Sensei</cp:lastModifiedBy>
  <cp:revision>48</cp:revision>
  <dcterms:created xsi:type="dcterms:W3CDTF">2015-03-17T18:51:18Z</dcterms:created>
  <dcterms:modified xsi:type="dcterms:W3CDTF">2022-06-20T00:16:52Z</dcterms:modified>
</cp:coreProperties>
</file>