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288" r:id="rId8"/>
    <p:sldId id="362" r:id="rId9"/>
    <p:sldId id="314" r:id="rId10"/>
    <p:sldId id="315" r:id="rId11"/>
    <p:sldId id="352" r:id="rId12"/>
    <p:sldId id="363" r:id="rId13"/>
    <p:sldId id="364" r:id="rId14"/>
    <p:sldId id="289" r:id="rId15"/>
    <p:sldId id="290" r:id="rId16"/>
    <p:sldId id="356" r:id="rId17"/>
    <p:sldId id="365" r:id="rId18"/>
    <p:sldId id="366" r:id="rId19"/>
    <p:sldId id="367" r:id="rId20"/>
    <p:sldId id="302" r:id="rId21"/>
    <p:sldId id="303" r:id="rId22"/>
    <p:sldId id="360" r:id="rId23"/>
    <p:sldId id="306" r:id="rId24"/>
    <p:sldId id="307" r:id="rId25"/>
  </p:sldIdLst>
  <p:sldSz cx="12192000" cy="6858000"/>
  <p:notesSz cx="6858000" cy="9144000"/>
  <p:embeddedFontLst>
    <p:embeddedFont>
      <p:font typeface="Cambria Math" pitchFamily="18" charset="0"/>
      <p:regular r:id="rId27"/>
    </p:embeddedFont>
    <p:embeddedFont>
      <p:font typeface="Cambria" pitchFamily="18" charset="0"/>
      <p:regular r:id="rId28"/>
      <p:bold r:id="rId29"/>
      <p:italic r:id="rId30"/>
      <p:boldItalic r:id="rId31"/>
    </p:embeddedFont>
    <p:embeddedFont>
      <p:font typeface="Arial Black" pitchFamily="34" charset="0"/>
      <p:bold r:id="rId32"/>
    </p:embeddedFont>
    <p:embeddedFont>
      <p:font typeface="Verdana" pitchFamily="34" charset="0"/>
      <p:regular r:id="rId33"/>
      <p:bold r:id="rId34"/>
      <p:italic r:id="rId35"/>
      <p:boldItalic r:id="rId36"/>
    </p:embeddedFont>
    <p:embeddedFont>
      <p:font typeface="MS Mincho" pitchFamily="49" charset="-128"/>
      <p:regular r:id="rId37"/>
    </p:embeddedFont>
    <p:embeddedFont>
      <p:font typeface="Calibri" pitchFamily="34" charset="0"/>
      <p:regular r:id="rId38"/>
      <p:bold r:id="rId39"/>
      <p:italic r:id="rId40"/>
      <p:boldItalic r:id="rId41"/>
    </p:embeddedFont>
    <p:embeddedFont>
      <p:font typeface="Century Gothic"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B7D4"/>
    <a:srgbClr val="79B0DD"/>
    <a:srgbClr val="DA4487"/>
    <a:srgbClr val="276C46"/>
    <a:srgbClr val="C9DF6F"/>
    <a:srgbClr val="417DBF"/>
    <a:srgbClr val="3F2A67"/>
    <a:srgbClr val="E24E5F"/>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1352" autoAdjust="0"/>
    <p:restoredTop sz="94737" autoAdjust="0"/>
  </p:normalViewPr>
  <p:slideViewPr>
    <p:cSldViewPr snapToGrid="0">
      <p:cViewPr varScale="1">
        <p:scale>
          <a:sx n="105" d="100"/>
          <a:sy n="105" d="100"/>
        </p:scale>
        <p:origin x="-46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099441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61880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3382829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791128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534758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0561076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9307140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6864856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5851739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7101554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63968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8383871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979314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8</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 Pre-Algebra</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8, Lesson 2</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Solving Real-World, Multi-Step Equations</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810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185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55017" y="9213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34799" y="38133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31706" y="1591775"/>
            <a:ext cx="11588055"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MA.8.AR.2.1</a:t>
            </a:r>
          </a:p>
          <a:p>
            <a:pPr indent="0">
              <a:buNone/>
            </a:pPr>
            <a:r>
              <a:rPr lang="en-US" sz="3500" dirty="0">
                <a:latin typeface="Verdana" panose="020B0604030504040204" pitchFamily="34" charset="0"/>
                <a:ea typeface="Verdana" panose="020B0604030504040204" pitchFamily="34" charset="0"/>
                <a:cs typeface="Verdana" panose="020B0604030504040204" pitchFamily="34" charset="0"/>
              </a:rPr>
              <a:t>Solve multi-step linear equations in one variable, with rational number coefficients. Include equations with variables on both sides.</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251472" y="103034"/>
            <a:ext cx="913677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89993" y="1712443"/>
            <a:ext cx="1008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0"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pic>
        <p:nvPicPr>
          <p:cNvPr id="13" name="Google Shape;281;g104476d1465_1_17"/>
          <p:cNvPicPr preferRelativeResize="0"/>
          <p:nvPr/>
        </p:nvPicPr>
        <p:blipFill>
          <a:blip r:embed="rId4">
            <a:alphaModFix/>
          </a:blip>
          <a:stretch>
            <a:fillRect/>
          </a:stretch>
        </p:blipFill>
        <p:spPr>
          <a:xfrm>
            <a:off x="434799" y="381335"/>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251656" y="9213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434799" y="381335"/>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30225" y="1579786"/>
            <a:ext cx="10762171" cy="406631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30238" indent="-623888">
              <a:buClr>
                <a:srgbClr val="434343"/>
              </a:buClr>
              <a:buSzPts val="35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solve multi-step linear equations from a real-world context.</a:t>
            </a:r>
          </a:p>
          <a:p>
            <a:pPr marL="457200" indent="-450850">
              <a:buClr>
                <a:srgbClr val="434343"/>
              </a:buClr>
              <a:buSzPts val="3500"/>
              <a:buFont typeface="Verdana"/>
              <a:buChar char="❏"/>
            </a:pP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48355" y="459539"/>
            <a:ext cx="9529893"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8.2.1 Warm-Up: Hailstone Sequence</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3">
            <a:alphaModFix/>
          </a:blip>
          <a:stretch>
            <a:fillRect/>
          </a:stretch>
        </p:blipFill>
        <p:spPr>
          <a:xfrm>
            <a:off x="434898" y="38133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xmlns="" id="{E1D7562E-134F-D14B-AF1A-DF40E11EF758}"/>
                  </a:ext>
                </a:extLst>
              </p:cNvPr>
              <p:cNvSpPr txBox="1"/>
              <p:nvPr/>
            </p:nvSpPr>
            <p:spPr>
              <a:xfrm>
                <a:off x="532553" y="1469200"/>
                <a:ext cx="11496907" cy="393954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Hailstones move through the atmosphere before falling to the earth. They start in a cloud as drops of rainwater, then push higher into the atmosphere where they freeze before eventually falling back to Earth.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The up-and-down pattern down led mathematicians to call some sequences of numbers a Hailstone sequence. A Hailstone sequence follows two rules. </a:t>
                </a:r>
              </a:p>
              <a:p>
                <a:pPr marL="914400" indent="-466725">
                  <a:buFont typeface="Arial" panose="020B0604020202020204" pitchFamily="34" charset="0"/>
                  <a:buChar char="•"/>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719138" indent="-271463">
                  <a:spcAft>
                    <a:spcPts val="600"/>
                  </a:spcAft>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If a number is even, divide it by </a:t>
                </a:r>
                <a14:m>
                  <m:oMath xmlns:m="http://schemas.openxmlformats.org/officeDocument/2006/math">
                    <m:r>
                      <a:rPr lang="en-US" sz="2400" i="1">
                        <a:latin typeface="Cambria Math" panose="02040503050406030204" pitchFamily="18" charset="0"/>
                        <a:ea typeface="Cambria Math" panose="02040503050406030204" pitchFamily="18"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719138" indent="-271463">
                  <a:spcAft>
                    <a:spcPts val="1200"/>
                  </a:spcAft>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If a number is odd, multiply it by </a:t>
                </a:r>
                <a14:m>
                  <m:oMath xmlns:m="http://schemas.openxmlformats.org/officeDocument/2006/math">
                    <m:r>
                      <a:rPr lang="en-US" sz="2400" i="1">
                        <a:latin typeface="Cambria Math" panose="02040503050406030204" pitchFamily="18" charset="0"/>
                        <a:ea typeface="Cambria Math" panose="02040503050406030204" pitchFamily="18" charset="0"/>
                      </a:rPr>
                      <m:t>3 </m:t>
                    </m:r>
                  </m:oMath>
                </a14:m>
                <a:r>
                  <a:rPr lang="en-US" sz="2400" dirty="0">
                    <a:latin typeface="Verdana" panose="020B0604030504040204" pitchFamily="34" charset="0"/>
                    <a:ea typeface="Verdana" panose="020B0604030504040204" pitchFamily="34" charset="0"/>
                    <a:cs typeface="Verdana" panose="020B0604030504040204" pitchFamily="34" charset="0"/>
                  </a:rPr>
                  <a:t>and add </a:t>
                </a:r>
                <a14:m>
                  <m:oMath xmlns:m="http://schemas.openxmlformats.org/officeDocument/2006/math">
                    <m:r>
                      <a:rPr lang="en-US" sz="2400" i="1">
                        <a:latin typeface="Cambria Math" panose="02040503050406030204" pitchFamily="18" charset="0"/>
                        <a:ea typeface="Cambria Math" panose="02040503050406030204" pitchFamily="18" charset="0"/>
                      </a:rPr>
                      <m:t>1</m:t>
                    </m:r>
                  </m:oMath>
                </a14:m>
                <a:r>
                  <a:rPr lang="en-US" sz="2400" dirty="0"/>
                  <a: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532553" y="1469200"/>
                <a:ext cx="11496907" cy="3939540"/>
              </a:xfrm>
              <a:prstGeom prst="rect">
                <a:avLst/>
              </a:prstGeom>
              <a:blipFill rotWithShape="1">
                <a:blip r:embed="rId4"/>
                <a:stretch>
                  <a:fillRect l="-795" t="-1238" b="-774"/>
                </a:stretch>
              </a:blipFill>
            </p:spPr>
            <p:txBody>
              <a:bodyPr/>
              <a:lstStyle/>
              <a:p>
                <a:r>
                  <a:rPr lang="en-PH">
                    <a:noFill/>
                  </a:rPr>
                  <a:t> </a:t>
                </a:r>
              </a:p>
            </p:txBody>
          </p:sp>
        </mc:Fallback>
      </mc:AlternateContent>
      <p:sp>
        <p:nvSpPr>
          <p:cNvPr id="10"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smtClean="0">
                <a:latin typeface="Calibri"/>
                <a:ea typeface="Calibri"/>
                <a:cs typeface="Calibri"/>
                <a:sym typeface="Calibri"/>
              </a:rPr>
              <a:t>12</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5474" y="383190"/>
                <a:ext cx="11418849" cy="512448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sequence shown is one example of a Hailstone sequence.</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algn="ctr"/>
                <a14:m>
                  <m:oMath xmlns:m="http://schemas.openxmlformats.org/officeDocument/2006/math">
                    <m:r>
                      <a:rPr lang="en-US" sz="2400" i="1">
                        <a:latin typeface="Cambria Math" panose="02040503050406030204" pitchFamily="18" charset="0"/>
                        <a:ea typeface="Cambria Math" panose="02040503050406030204" pitchFamily="18" charset="0"/>
                      </a:rPr>
                      <m:t>20, 10, 5, 16, 8, 4, 2, 1</m:t>
                    </m:r>
                  </m:oMath>
                </a14:m>
                <a:r>
                  <a:rPr lang="en-US" sz="2400" dirty="0">
                    <a:latin typeface="Cambria Math" panose="02040503050406030204" pitchFamily="18" charset="0"/>
                    <a:ea typeface="Cambria Math" panose="02040503050406030204" pitchFamily="18" charset="0"/>
                  </a:rPr>
                  <a:t>, </a:t>
                </a:r>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spcAft>
                    <a:spcPts val="1200"/>
                  </a:spcAft>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Create your own Hailstone sequence by choosing a starting value, and then applying the Hailstone rules to each new term.</a:t>
                </a:r>
              </a:p>
              <a:p>
                <a:pPr marL="1258888" indent="-381000">
                  <a:spcAft>
                    <a:spcPts val="600"/>
                  </a:spcAft>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If the previous term is even, divide it by </a:t>
                </a:r>
                <a14:m>
                  <m:oMath xmlns:m="http://schemas.openxmlformats.org/officeDocument/2006/math">
                    <m:r>
                      <a:rPr lang="en-US" sz="2400" i="1">
                        <a:latin typeface="Cambria Math" panose="02040503050406030204" pitchFamily="18" charset="0"/>
                        <a:ea typeface="Cambria Math" panose="02040503050406030204" pitchFamily="18"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1258888" indent="-38100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If the previous term is odd, multiply it by </a:t>
                </a:r>
                <a14:m>
                  <m:oMath xmlns:m="http://schemas.openxmlformats.org/officeDocument/2006/math">
                    <m:r>
                      <a:rPr lang="en-US" sz="2400" i="1">
                        <a:latin typeface="Cambria Math" panose="02040503050406030204" pitchFamily="18" charset="0"/>
                        <a:ea typeface="Cambria Math" panose="02040503050406030204" pitchFamily="18" charset="0"/>
                      </a:rPr>
                      <m:t>3 </m:t>
                    </m:r>
                  </m:oMath>
                </a14:m>
                <a:r>
                  <a:rPr lang="en-US" sz="2400" dirty="0">
                    <a:latin typeface="Verdana" panose="020B0604030504040204" pitchFamily="34" charset="0"/>
                    <a:ea typeface="Verdana" panose="020B0604030504040204" pitchFamily="34" charset="0"/>
                    <a:cs typeface="Verdana" panose="020B0604030504040204" pitchFamily="34" charset="0"/>
                  </a:rPr>
                  <a:t>and add </a:t>
                </a:r>
                <a14:m>
                  <m:oMath xmlns:m="http://schemas.openxmlformats.org/officeDocument/2006/math">
                    <m:r>
                      <a:rPr lang="en-US" sz="2400" i="1">
                        <a:latin typeface="Cambria Math" panose="02040503050406030204" pitchFamily="18" charset="0"/>
                        <a:ea typeface="Cambria Math" panose="02040503050406030204" pitchFamily="18"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66725">
                  <a:buFont typeface="Arial" panose="020B0604020202020204" pitchFamily="34" charset="0"/>
                  <a:buChar char="•"/>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Compare your sequence with the example sequence and record any observations you made.</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66725">
                  <a:buFont typeface="Arial" panose="020B0604020202020204" pitchFamily="34" charset="0"/>
                  <a:buChar char="•"/>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5474" y="383190"/>
                <a:ext cx="11418849" cy="5124480"/>
              </a:xfrm>
              <a:prstGeom prst="rect">
                <a:avLst/>
              </a:prstGeom>
              <a:blipFill rotWithShape="1">
                <a:blip r:embed="rId3"/>
                <a:stretch>
                  <a:fillRect l="-854" t="-952"/>
                </a:stretch>
              </a:blipFill>
            </p:spPr>
            <p:txBody>
              <a:bodyPr/>
              <a:lstStyle/>
              <a:p>
                <a:r>
                  <a:rPr lang="en-PH">
                    <a:noFill/>
                  </a:rPr>
                  <a:t> </a:t>
                </a:r>
              </a:p>
            </p:txBody>
          </p:sp>
        </mc:Fallback>
      </mc:AlternateContent>
      <p:sp>
        <p:nvSpPr>
          <p:cNvPr id="7"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smtClean="0">
                <a:latin typeface="Calibri"/>
                <a:ea typeface="Calibri"/>
                <a:cs typeface="Calibri"/>
                <a:sym typeface="Calibri"/>
              </a:rPr>
              <a:t>12</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5649" y="378230"/>
            <a:ext cx="11262732" cy="1938992"/>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 conjecture is an idea that you think might be true, but do not know for sure.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Based on your observations, make a conjecture about all Hailstone sequences. </a:t>
            </a:r>
          </a:p>
        </p:txBody>
      </p:sp>
      <p:grpSp>
        <p:nvGrpSpPr>
          <p:cNvPr id="6" name="Group 5"/>
          <p:cNvGrpSpPr/>
          <p:nvPr/>
        </p:nvGrpSpPr>
        <p:grpSpPr>
          <a:xfrm>
            <a:off x="2007765" y="3662574"/>
            <a:ext cx="8280000" cy="2316488"/>
            <a:chOff x="-839343" y="-57705"/>
            <a:chExt cx="8280000" cy="2316488"/>
          </a:xfrm>
        </p:grpSpPr>
        <p:sp>
          <p:nvSpPr>
            <p:cNvPr id="7" name="Rounded Rectangle 6"/>
            <p:cNvSpPr/>
            <p:nvPr/>
          </p:nvSpPr>
          <p:spPr>
            <a:xfrm>
              <a:off x="-839343" y="-57705"/>
              <a:ext cx="8280000" cy="2316488"/>
            </a:xfrm>
            <a:prstGeom prst="roundRect">
              <a:avLst>
                <a:gd name="adj" fmla="val 16667"/>
              </a:avLst>
            </a:prstGeom>
            <a:solidFill>
              <a:srgbClr val="F7D1D5"/>
            </a:solidFill>
            <a:ln>
              <a:noFill/>
            </a:ln>
            <a:effectLst>
              <a:outerShdw blurRad="50800" dist="38100" dir="2700000" algn="tl" rotWithShape="0">
                <a:prstClr val="black">
                  <a:alpha val="40000"/>
                </a:prstClr>
              </a:outerShdw>
            </a:effectLst>
          </p:spPr>
          <p:txBody>
            <a:bodyPr spcFirstLastPara="1" wrap="square" lIns="91425" tIns="108000" rIns="91425" bIns="0" anchor="t" anchorCtr="0">
              <a:spAutoFit/>
            </a:bodyPr>
            <a:lstStyle/>
            <a:p>
              <a:pPr marL="742950">
                <a:spcAft>
                  <a:spcPts val="1000"/>
                </a:spcAft>
              </a:pPr>
              <a:r>
                <a:rPr lang="en-US" sz="2000" dirty="0">
                  <a:solidFill>
                    <a:srgbClr val="E04F5F"/>
                  </a:solidFill>
                  <a:latin typeface="Verdana" panose="020B0604030504040204" pitchFamily="34" charset="0"/>
                  <a:ea typeface="Verdana" panose="020B0604030504040204" pitchFamily="34" charset="0"/>
                  <a:cs typeface="Verdana" panose="020B0604030504040204" pitchFamily="34" charset="0"/>
                </a:rPr>
                <a:t>In 1937 </a:t>
              </a:r>
              <a:r>
                <a:rPr lang="en-US" sz="2000" dirty="0" err="1">
                  <a:solidFill>
                    <a:srgbClr val="E04F5F"/>
                  </a:solidFill>
                  <a:latin typeface="Verdana" panose="020B0604030504040204" pitchFamily="34" charset="0"/>
                  <a:ea typeface="Verdana" panose="020B0604030504040204" pitchFamily="34" charset="0"/>
                  <a:cs typeface="Verdana" panose="020B0604030504040204" pitchFamily="34" charset="0"/>
                </a:rPr>
                <a:t>Lothar</a:t>
              </a:r>
              <a:r>
                <a:rPr lang="en-US" sz="2000" dirty="0">
                  <a:solidFill>
                    <a:srgbClr val="E04F5F"/>
                  </a:solidFill>
                  <a:latin typeface="Verdana" panose="020B0604030504040204" pitchFamily="34" charset="0"/>
                  <a:ea typeface="Verdana" panose="020B0604030504040204" pitchFamily="34" charset="0"/>
                  <a:cs typeface="Verdana" panose="020B0604030504040204" pitchFamily="34" charset="0"/>
                </a:rPr>
                <a:t> </a:t>
              </a:r>
              <a:r>
                <a:rPr lang="en-US" sz="2000" dirty="0" err="1">
                  <a:solidFill>
                    <a:srgbClr val="E04F5F"/>
                  </a:solidFill>
                  <a:latin typeface="Verdana" panose="020B0604030504040204" pitchFamily="34" charset="0"/>
                  <a:ea typeface="Verdana" panose="020B0604030504040204" pitchFamily="34" charset="0"/>
                  <a:cs typeface="Verdana" panose="020B0604030504040204" pitchFamily="34" charset="0"/>
                </a:rPr>
                <a:t>Collatz</a:t>
              </a:r>
              <a:r>
                <a:rPr lang="en-US" sz="2000" dirty="0">
                  <a:solidFill>
                    <a:srgbClr val="E04F5F"/>
                  </a:solidFill>
                  <a:latin typeface="Verdana" panose="020B0604030504040204" pitchFamily="34" charset="0"/>
                  <a:ea typeface="Verdana" panose="020B0604030504040204" pitchFamily="34" charset="0"/>
                  <a:cs typeface="Verdana" panose="020B0604030504040204" pitchFamily="34" charset="0"/>
                </a:rPr>
                <a:t>, a mathematician, proposed that for any starting value of a Hailstone sequence, the sequence will always reach 1. Since the conjecture cannot be proven or disproven, it is now called the </a:t>
              </a:r>
              <a:r>
                <a:rPr lang="en-US" sz="2000" dirty="0" err="1">
                  <a:solidFill>
                    <a:srgbClr val="E04F5F"/>
                  </a:solidFill>
                  <a:latin typeface="Verdana" panose="020B0604030504040204" pitchFamily="34" charset="0"/>
                  <a:ea typeface="Verdana" panose="020B0604030504040204" pitchFamily="34" charset="0"/>
                  <a:cs typeface="Verdana" panose="020B0604030504040204" pitchFamily="34" charset="0"/>
                </a:rPr>
                <a:t>Collatz</a:t>
              </a:r>
              <a:r>
                <a:rPr lang="en-US" sz="2000" dirty="0">
                  <a:solidFill>
                    <a:srgbClr val="E04F5F"/>
                  </a:solidFill>
                  <a:latin typeface="Verdana" panose="020B0604030504040204" pitchFamily="34" charset="0"/>
                  <a:ea typeface="Verdana" panose="020B0604030504040204" pitchFamily="34" charset="0"/>
                  <a:cs typeface="Verdana" panose="020B0604030504040204" pitchFamily="34" charset="0"/>
                </a:rPr>
                <a:t> Conjecture and is classified as an unsolved problem in mathematics.</a:t>
              </a:r>
              <a:endParaRPr lang="en-US" sz="2000" dirty="0">
                <a:latin typeface="Cambria" panose="02040503050406030204" pitchFamily="18" charset="0"/>
                <a:ea typeface="MS Mincho" panose="02020609040205080304" pitchFamily="49" charset="-128"/>
                <a:cs typeface="Times New Roman" panose="02020603050405020304" pitchFamily="18" charset="0"/>
              </a:endParaRPr>
            </a:p>
          </p:txBody>
        </p:sp>
        <p:pic>
          <p:nvPicPr>
            <p:cNvPr id="8" name="image20.png" descr="A picture containing icon&#10;&#10;Description automatically generated"/>
            <p:cNvPicPr/>
            <p:nvPr/>
          </p:nvPicPr>
          <p:blipFill>
            <a:blip r:embed="rId3" cstate="screen">
              <a:extLst>
                <a:ext uri="{28A0092B-C50C-407E-A947-70E740481C1C}">
                  <a14:useLocalDpi xmlns:a14="http://schemas.microsoft.com/office/drawing/2010/main"/>
                </a:ext>
              </a:extLst>
            </a:blip>
            <a:srcRect/>
            <a:stretch>
              <a:fillRect/>
            </a:stretch>
          </p:blipFill>
          <p:spPr>
            <a:xfrm>
              <a:off x="-572572" y="98709"/>
              <a:ext cx="539750" cy="539750"/>
            </a:xfrm>
            <a:prstGeom prst="rect">
              <a:avLst/>
            </a:prstGeom>
            <a:ln/>
            <a:effectLst>
              <a:outerShdw blurRad="50800" dist="38100" dir="2700000" algn="tl" rotWithShape="0">
                <a:prstClr val="black">
                  <a:alpha val="40000"/>
                </a:prstClr>
              </a:outerShdw>
            </a:effectLst>
          </p:spPr>
        </p:pic>
      </p:grpSp>
      <p:sp>
        <p:nvSpPr>
          <p:cNvPr id="12"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smtClean="0">
                <a:latin typeface="Calibri"/>
                <a:ea typeface="Calibri"/>
                <a:cs typeface="Calibri"/>
                <a:sym typeface="Calibri"/>
              </a:rPr>
              <a:t>12</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9935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48493" y="93389"/>
            <a:ext cx="1064346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8.2.2 Collaboration: How Many Cookies?</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34799" y="38133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xmlns="" id="{E44DF7DE-9172-3E4E-B74A-7A51585FB6EA}"/>
                  </a:ext>
                </a:extLst>
              </p:cNvPr>
              <p:cNvSpPr txBox="1"/>
              <p:nvPr/>
            </p:nvSpPr>
            <p:spPr>
              <a:xfrm>
                <a:off x="530162" y="1463479"/>
                <a:ext cx="10800000" cy="282987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 large container of cookies was donated for the school bake sale. Two cookies were taken out of the container and set aside so that the remaining cookies could be evenly divided among four plates, each with a dozen and a half cookies.</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65138"/>
                <a:r>
                  <a:rPr lang="en-US" sz="2400" dirty="0">
                    <a:latin typeface="Verdana" panose="020B0604030504040204" pitchFamily="34" charset="0"/>
                    <a:ea typeface="Verdana" panose="020B0604030504040204" pitchFamily="34" charset="0"/>
                    <a:cs typeface="Verdana" panose="020B0604030504040204" pitchFamily="34" charset="0"/>
                  </a:rPr>
                  <a:t>The situation can be represented by the equation </a:t>
                </a:r>
                <a14:m>
                  <m:oMath xmlns:m="http://schemas.openxmlformats.org/officeDocument/2006/math">
                    <m:f>
                      <m:fPr>
                        <m:ctrlPr>
                          <a:rPr lang="en-US" sz="2400" i="1">
                            <a:latin typeface="Cambria Math"/>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
                          <a:rPr lang="en-US" sz="2400" i="1">
                            <a:latin typeface="Cambria Math" panose="02040503050406030204" pitchFamily="18" charset="0"/>
                            <a:ea typeface="Cambria Math" panose="02040503050406030204" pitchFamily="18" charset="0"/>
                          </a:rPr>
                          <m:t>4</m:t>
                        </m:r>
                      </m:den>
                    </m:f>
                    <m:d>
                      <m:dPr>
                        <m:ctrlPr>
                          <a:rPr lang="en-US" sz="2400" i="1">
                            <a:latin typeface="Cambria Math"/>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𝑐</m:t>
                        </m:r>
                        <m:r>
                          <a:rPr lang="en-US" sz="2400" i="1">
                            <a:latin typeface="Cambria Math" panose="02040503050406030204" pitchFamily="18" charset="0"/>
                            <a:ea typeface="Cambria Math" panose="02040503050406030204" pitchFamily="18" charset="0"/>
                          </a:rPr>
                          <m:t> −2</m:t>
                        </m:r>
                      </m:e>
                    </m:d>
                    <m:r>
                      <a:rPr lang="en-US" sz="2400" i="1">
                        <a:latin typeface="Cambria Math" panose="02040503050406030204" pitchFamily="18" charset="0"/>
                        <a:ea typeface="Cambria Math" panose="02040503050406030204" pitchFamily="18" charset="0"/>
                      </a:rPr>
                      <m:t> =18</m:t>
                    </m:r>
                  </m:oMath>
                </a14:m>
                <a:r>
                  <a:rPr lang="en-US" sz="2400" dirty="0">
                    <a:latin typeface="Verdana" panose="020B0604030504040204" pitchFamily="34" charset="0"/>
                    <a:ea typeface="Verdana" panose="020B0604030504040204" pitchFamily="34" charset="0"/>
                    <a:cs typeface="Verdana" panose="020B0604030504040204" pitchFamily="34" charset="0"/>
                  </a:rPr>
                  <a:t>, where </a:t>
                </a:r>
                <a14:m>
                  <m:oMath xmlns:m="http://schemas.openxmlformats.org/officeDocument/2006/math">
                    <m:r>
                      <a:rPr lang="en-US" sz="2400" i="1">
                        <a:latin typeface="Cambria Math" panose="02040503050406030204" pitchFamily="18" charset="0"/>
                        <a:ea typeface="Cambria Math" panose="02040503050406030204" pitchFamily="18" charset="0"/>
                      </a:rPr>
                      <m:t>𝑐</m:t>
                    </m:r>
                  </m:oMath>
                </a14:m>
                <a:r>
                  <a:rPr lang="en-US" sz="2400" dirty="0">
                    <a:latin typeface="Verdana" panose="020B0604030504040204" pitchFamily="34" charset="0"/>
                    <a:ea typeface="Verdana" panose="020B0604030504040204" pitchFamily="34" charset="0"/>
                    <a:cs typeface="Verdana" panose="020B0604030504040204" pitchFamily="34" charset="0"/>
                  </a:rPr>
                  <a:t> is the number of cookies in the large container at the start.</a:t>
                </a:r>
              </a:p>
            </p:txBody>
          </p:sp>
        </mc:Choice>
        <mc:Fallback>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530162" y="1463479"/>
                <a:ext cx="10800000" cy="2829877"/>
              </a:xfrm>
              <a:prstGeom prst="rect">
                <a:avLst/>
              </a:prstGeom>
              <a:blipFill rotWithShape="1">
                <a:blip r:embed="rId4"/>
                <a:stretch>
                  <a:fillRect l="-903" t="-1724" b="-16810"/>
                </a:stretch>
              </a:blipFill>
            </p:spPr>
            <p:txBody>
              <a:bodyPr/>
              <a:lstStyle/>
              <a:p>
                <a:r>
                  <a:rPr lang="en-PH">
                    <a:noFill/>
                  </a:rPr>
                  <a:t> </a:t>
                </a:r>
              </a:p>
            </p:txBody>
          </p:sp>
        </mc:Fallback>
      </mc:AlternateContent>
      <p:sp>
        <p:nvSpPr>
          <p:cNvPr id="12"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smtClean="0">
                <a:latin typeface="Calibri"/>
                <a:ea typeface="Calibri"/>
                <a:cs typeface="Calibri"/>
                <a:sym typeface="Calibri"/>
              </a:rPr>
              <a:t>13</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6251" y="384600"/>
                <a:ext cx="10800000" cy="2768322"/>
              </a:xfrm>
              <a:prstGeom prst="rect">
                <a:avLst/>
              </a:prstGeom>
              <a:noFill/>
            </p:spPr>
            <p:txBody>
              <a:bodyPr wrap="square" rtlCol="0">
                <a:spAutoFit/>
              </a:bodyPr>
              <a:lstStyle/>
              <a:p>
                <a:pPr>
                  <a:spcAft>
                    <a:spcPts val="1200"/>
                  </a:spcAft>
                </a:pPr>
                <a:r>
                  <a:rPr lang="en-US" sz="2400" dirty="0">
                    <a:latin typeface="Verdana" panose="020B0604030504040204" pitchFamily="34" charset="0"/>
                    <a:ea typeface="Verdana" panose="020B0604030504040204" pitchFamily="34" charset="0"/>
                    <a:cs typeface="Verdana" panose="020B0604030504040204" pitchFamily="34" charset="0"/>
                  </a:rPr>
                  <a:t>Three students completed the first step in solving this equation.</a:t>
                </a:r>
              </a:p>
              <a:p>
                <a:pPr marL="719138" indent="-288925">
                  <a:spcAft>
                    <a:spcPts val="600"/>
                  </a:spcAft>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Joel said the first step in solving this equation is to distribute the </a:t>
                </a:r>
                <a14:m>
                  <m:oMath xmlns:m="http://schemas.openxmlformats.org/officeDocument/2006/math">
                    <m:f>
                      <m:fPr>
                        <m:ctrlPr>
                          <a:rPr lang="en-US" sz="2400" i="1">
                            <a:latin typeface="Cambria Math"/>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
                          <a:rPr lang="en-US" sz="2400" i="1">
                            <a:latin typeface="Cambria Math" panose="02040503050406030204" pitchFamily="18" charset="0"/>
                            <a:ea typeface="Cambria Math" panose="02040503050406030204" pitchFamily="18" charset="0"/>
                          </a:rPr>
                          <m:t>4</m:t>
                        </m:r>
                      </m:den>
                    </m:f>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719138" indent="-288925">
                  <a:spcAft>
                    <a:spcPts val="600"/>
                  </a:spcAft>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Elena said she was going to first add </a:t>
                </a:r>
                <a14:m>
                  <m:oMath xmlns:m="http://schemas.openxmlformats.org/officeDocument/2006/math">
                    <m:r>
                      <a:rPr lang="en-US" sz="2400" i="1">
                        <a:latin typeface="Cambria Math" panose="02040503050406030204" pitchFamily="18" charset="0"/>
                        <a:ea typeface="Cambria Math" panose="02040503050406030204" pitchFamily="18"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to both sides to solve the equation. </a:t>
                </a:r>
              </a:p>
              <a:p>
                <a:pPr marL="719138" indent="-288925">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Nichele said she was going to start by multiplying both sides of the equation by </a:t>
                </a:r>
                <a14:m>
                  <m:oMath xmlns:m="http://schemas.openxmlformats.org/officeDocument/2006/math">
                    <m:r>
                      <a:rPr lang="en-US" sz="2400" i="1">
                        <a:latin typeface="Cambria Math" panose="02040503050406030204" pitchFamily="18" charset="0"/>
                        <a:ea typeface="Cambria Math" panose="02040503050406030204" pitchFamily="18" charset="0"/>
                      </a:rPr>
                      <m:t>4</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6251" y="384600"/>
                <a:ext cx="10800000" cy="2768322"/>
              </a:xfrm>
              <a:prstGeom prst="rect">
                <a:avLst/>
              </a:prstGeom>
              <a:blipFill rotWithShape="1">
                <a:blip r:embed="rId3"/>
                <a:stretch>
                  <a:fillRect l="-903" t="-1762" r="-339" b="-17181"/>
                </a:stretch>
              </a:blipFill>
            </p:spPr>
            <p:txBody>
              <a:bodyPr/>
              <a:lstStyle/>
              <a:p>
                <a:r>
                  <a:rPr lang="en-PH">
                    <a:noFill/>
                  </a:rPr>
                  <a:t> </a:t>
                </a:r>
              </a:p>
            </p:txBody>
          </p:sp>
        </mc:Fallback>
      </mc:AlternateContent>
      <p:sp>
        <p:nvSpPr>
          <p:cNvPr id="6"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smtClean="0">
                <a:latin typeface="Calibri"/>
                <a:ea typeface="Calibri"/>
                <a:cs typeface="Calibri"/>
                <a:sym typeface="Calibri"/>
              </a:rPr>
              <a:t>13</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55819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2371" y="383548"/>
            <a:ext cx="11641873" cy="830997"/>
          </a:xfrm>
          <a:prstGeom prst="rect">
            <a:avLst/>
          </a:prstGeom>
          <a:noFill/>
        </p:spPr>
        <p:txBody>
          <a:bodyPr wrap="square" rtlCol="0">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finish solving the equation using each student’s suggested first step, shown in blue.</a:t>
            </a: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4192792770"/>
                  </p:ext>
                </p:extLst>
              </p:nvPr>
            </p:nvGraphicFramePr>
            <p:xfrm>
              <a:off x="1563605" y="1390825"/>
              <a:ext cx="8640000" cy="4068000"/>
            </p:xfrm>
            <a:graphic>
              <a:graphicData uri="http://schemas.openxmlformats.org/drawingml/2006/table">
                <a:tbl>
                  <a:tblPr firstRow="1" firstCol="1" bandRow="1">
                    <a:tableStyleId>{5940675A-B579-460E-94D1-54222C63F5DA}</a:tableStyleId>
                  </a:tblPr>
                  <a:tblGrid>
                    <a:gridCol w="2880000">
                      <a:extLst>
                        <a:ext uri="{9D8B030D-6E8A-4147-A177-3AD203B41FA5}">
                          <a16:colId xmlns:a16="http://schemas.microsoft.com/office/drawing/2014/main" xmlns="" val="20000"/>
                        </a:ext>
                      </a:extLst>
                    </a:gridCol>
                    <a:gridCol w="2880000">
                      <a:extLst>
                        <a:ext uri="{9D8B030D-6E8A-4147-A177-3AD203B41FA5}">
                          <a16:colId xmlns:a16="http://schemas.microsoft.com/office/drawing/2014/main" xmlns="" val="20001"/>
                        </a:ext>
                      </a:extLst>
                    </a:gridCol>
                    <a:gridCol w="2880000">
                      <a:extLst>
                        <a:ext uri="{9D8B030D-6E8A-4147-A177-3AD203B41FA5}">
                          <a16:colId xmlns:a16="http://schemas.microsoft.com/office/drawing/2014/main" xmlns="" val="20002"/>
                        </a:ext>
                      </a:extLst>
                    </a:gridCol>
                  </a:tblGrid>
                  <a:tr h="468000">
                    <a:tc>
                      <a:txBody>
                        <a:bodyPr/>
                        <a:lstStyle/>
                        <a:p>
                          <a:pPr marL="0" marR="0" algn="ctr">
                            <a:spcBef>
                              <a:spcPts val="0"/>
                            </a:spcBef>
                            <a:spcAft>
                              <a:spcPts val="0"/>
                            </a:spcAft>
                            <a:tabLst/>
                          </a:pPr>
                          <a:r>
                            <a:rPr lang="en-US" sz="2000" b="1" dirty="0" smtClean="0">
                              <a:effectLst/>
                              <a:latin typeface="Verdana" panose="020B0604030504040204" pitchFamily="34" charset="0"/>
                              <a:ea typeface="Verdana" panose="020B0604030504040204" pitchFamily="34" charset="0"/>
                              <a:cs typeface="Verdana" panose="020B0604030504040204" pitchFamily="34" charset="0"/>
                            </a:rPr>
                            <a:t>Joel</a:t>
                          </a: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Elena</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Nichele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3600000">
                    <a:tc>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4</m:t>
                                    </m:r>
                                  </m:den>
                                </m:f>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𝑐</m:t>
                                    </m:r>
                                    <m:r>
                                      <a:rPr lang="en-US" sz="2000">
                                        <a:effectLst/>
                                        <a:latin typeface="Cambria Math" panose="02040503050406030204" pitchFamily="18" charset="0"/>
                                        <a:ea typeface="Cambria Math" panose="02040503050406030204" pitchFamily="18" charset="0"/>
                                      </a:rPr>
                                      <m:t> −2</m:t>
                                    </m:r>
                                  </m:e>
                                </m:d>
                                <m:r>
                                  <a:rPr lang="en-US" sz="2000">
                                    <a:effectLst/>
                                    <a:latin typeface="Cambria Math" panose="02040503050406030204" pitchFamily="18" charset="0"/>
                                    <a:ea typeface="Cambria Math" panose="02040503050406030204" pitchFamily="18" charset="0"/>
                                  </a:rPr>
                                  <m:t> =18</m:t>
                                </m:r>
                              </m:oMath>
                            </m:oMathPara>
                          </a14:m>
                          <a:endParaRPr lang="en-US" sz="2000" dirty="0">
                            <a:effectLst/>
                            <a:latin typeface="Verdana" pitchFamily="34" charset="0"/>
                            <a:ea typeface="Verdana" pitchFamily="34"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smtClean="0">
                                        <a:solidFill>
                                          <a:srgbClr val="26B7D4"/>
                                        </a:solidFill>
                                        <a:effectLst/>
                                        <a:latin typeface="Cambria Math"/>
                                        <a:ea typeface="Cambria Math" panose="02040503050406030204" pitchFamily="18" charset="0"/>
                                      </a:rPr>
                                    </m:ctrlPr>
                                  </m:fPr>
                                  <m:num>
                                    <m:r>
                                      <a:rPr lang="en-US" sz="2000">
                                        <a:solidFill>
                                          <a:srgbClr val="26B7D4"/>
                                        </a:solidFill>
                                        <a:effectLst/>
                                        <a:latin typeface="Cambria Math" panose="02040503050406030204" pitchFamily="18" charset="0"/>
                                        <a:ea typeface="Cambria Math" panose="02040503050406030204" pitchFamily="18" charset="0"/>
                                      </a:rPr>
                                      <m:t>𝑐</m:t>
                                    </m:r>
                                  </m:num>
                                  <m:den>
                                    <m:r>
                                      <a:rPr lang="en-US" sz="2000">
                                        <a:solidFill>
                                          <a:srgbClr val="26B7D4"/>
                                        </a:solidFill>
                                        <a:effectLst/>
                                        <a:latin typeface="Cambria Math" panose="02040503050406030204" pitchFamily="18" charset="0"/>
                                        <a:ea typeface="Cambria Math" panose="02040503050406030204" pitchFamily="18" charset="0"/>
                                      </a:rPr>
                                      <m:t>4</m:t>
                                    </m:r>
                                  </m:den>
                                </m:f>
                                <m:r>
                                  <a:rPr lang="en-US" sz="2000">
                                    <a:solidFill>
                                      <a:srgbClr val="26B7D4"/>
                                    </a:solidFill>
                                    <a:effectLst/>
                                    <a:latin typeface="Cambria Math" panose="02040503050406030204" pitchFamily="18" charset="0"/>
                                    <a:ea typeface="Cambria Math" panose="02040503050406030204" pitchFamily="18" charset="0"/>
                                  </a:rPr>
                                  <m:t>− </m:t>
                                </m:r>
                                <m:f>
                                  <m:fPr>
                                    <m:ctrlPr>
                                      <a:rPr lang="en-US" sz="2000" i="1">
                                        <a:solidFill>
                                          <a:srgbClr val="26B7D4"/>
                                        </a:solidFill>
                                        <a:effectLst/>
                                        <a:latin typeface="Cambria Math"/>
                                        <a:ea typeface="Cambria Math" panose="02040503050406030204" pitchFamily="18" charset="0"/>
                                      </a:rPr>
                                    </m:ctrlPr>
                                  </m:fPr>
                                  <m:num>
                                    <m:r>
                                      <a:rPr lang="en-US" sz="2000">
                                        <a:solidFill>
                                          <a:srgbClr val="26B7D4"/>
                                        </a:solidFill>
                                        <a:effectLst/>
                                        <a:latin typeface="Cambria Math" panose="02040503050406030204" pitchFamily="18" charset="0"/>
                                        <a:ea typeface="Cambria Math" panose="02040503050406030204" pitchFamily="18" charset="0"/>
                                      </a:rPr>
                                      <m:t>2</m:t>
                                    </m:r>
                                  </m:num>
                                  <m:den>
                                    <m:r>
                                      <a:rPr lang="en-US" sz="2000">
                                        <a:solidFill>
                                          <a:srgbClr val="26B7D4"/>
                                        </a:solidFill>
                                        <a:effectLst/>
                                        <a:latin typeface="Cambria Math" panose="02040503050406030204" pitchFamily="18" charset="0"/>
                                        <a:ea typeface="Cambria Math" panose="02040503050406030204" pitchFamily="18" charset="0"/>
                                      </a:rPr>
                                      <m:t>4</m:t>
                                    </m:r>
                                  </m:den>
                                </m:f>
                                <m:r>
                                  <a:rPr lang="en-US" sz="2000">
                                    <a:effectLst/>
                                    <a:latin typeface="Cambria Math" panose="02040503050406030204" pitchFamily="18" charset="0"/>
                                    <a:ea typeface="Cambria Math" panose="02040503050406030204" pitchFamily="18" charset="0"/>
                                  </a:rPr>
                                  <m:t> =18</m:t>
                                </m:r>
                              </m:oMath>
                            </m:oMathPara>
                          </a14:m>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4</m:t>
                                    </m:r>
                                  </m:den>
                                </m:f>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𝑐</m:t>
                                    </m:r>
                                    <m:r>
                                      <a:rPr lang="en-US" sz="2000">
                                        <a:effectLst/>
                                        <a:latin typeface="Cambria Math" panose="02040503050406030204" pitchFamily="18" charset="0"/>
                                        <a:ea typeface="Cambria Math" panose="02040503050406030204" pitchFamily="18" charset="0"/>
                                      </a:rPr>
                                      <m:t> −2</m:t>
                                    </m:r>
                                  </m:e>
                                </m:d>
                                <m:r>
                                  <a:rPr lang="en-US" sz="2000">
                                    <a:effectLst/>
                                    <a:latin typeface="Cambria Math" panose="02040503050406030204" pitchFamily="18" charset="0"/>
                                    <a:ea typeface="Cambria Math" panose="02040503050406030204" pitchFamily="18" charset="0"/>
                                  </a:rPr>
                                  <m:t> =18</m:t>
                                </m:r>
                              </m:oMath>
                            </m:oMathPara>
                          </a14:m>
                          <a:endParaRPr lang="en-US" sz="2000" dirty="0">
                            <a:effectLst/>
                            <a:latin typeface="Verdana" pitchFamily="34" charset="0"/>
                            <a:ea typeface="Verdana" pitchFamily="34"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4</m:t>
                                    </m:r>
                                  </m:den>
                                </m:f>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𝑐</m:t>
                                    </m:r>
                                    <m:r>
                                      <a:rPr lang="en-US" sz="2000">
                                        <a:effectLst/>
                                        <a:latin typeface="Cambria Math" panose="02040503050406030204" pitchFamily="18" charset="0"/>
                                        <a:ea typeface="Cambria Math" panose="02040503050406030204" pitchFamily="18" charset="0"/>
                                      </a:rPr>
                                      <m:t>−2+2</m:t>
                                    </m:r>
                                  </m:e>
                                </m:d>
                                <m:r>
                                  <a:rPr lang="en-US" sz="2000">
                                    <a:effectLst/>
                                    <a:latin typeface="Cambria Math" panose="02040503050406030204" pitchFamily="18" charset="0"/>
                                    <a:ea typeface="Cambria Math" panose="02040503050406030204" pitchFamily="18" charset="0"/>
                                  </a:rPr>
                                  <m:t>=18</m:t>
                                </m:r>
                                <m:r>
                                  <a:rPr lang="en-US" sz="2000" smtClean="0">
                                    <a:solidFill>
                                      <a:srgbClr val="26B7D4"/>
                                    </a:solidFill>
                                    <a:effectLst/>
                                    <a:latin typeface="Cambria Math" panose="02040503050406030204" pitchFamily="18" charset="0"/>
                                    <a:ea typeface="Cambria Math" panose="02040503050406030204" pitchFamily="18" charset="0"/>
                                  </a:rPr>
                                  <m:t>+2</m:t>
                                </m:r>
                              </m:oMath>
                            </m:oMathPara>
                          </a14:m>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4</m:t>
                                    </m:r>
                                  </m:den>
                                </m:f>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𝑐</m:t>
                                    </m:r>
                                    <m:r>
                                      <a:rPr lang="en-US" sz="2000">
                                        <a:effectLst/>
                                        <a:latin typeface="Cambria Math" panose="02040503050406030204" pitchFamily="18" charset="0"/>
                                        <a:ea typeface="Cambria Math" panose="02040503050406030204" pitchFamily="18" charset="0"/>
                                      </a:rPr>
                                      <m:t> −2</m:t>
                                    </m:r>
                                  </m:e>
                                </m:d>
                                <m:r>
                                  <a:rPr lang="en-US" sz="2000">
                                    <a:effectLst/>
                                    <a:latin typeface="Cambria Math" panose="02040503050406030204" pitchFamily="18" charset="0"/>
                                    <a:ea typeface="Cambria Math" panose="02040503050406030204" pitchFamily="18" charset="0"/>
                                  </a:rPr>
                                  <m:t> =18</m:t>
                                </m:r>
                              </m:oMath>
                            </m:oMathPara>
                          </a14:m>
                          <a:endParaRPr lang="en-US" sz="2000" dirty="0">
                            <a:effectLst/>
                            <a:latin typeface="Verdana" pitchFamily="34" charset="0"/>
                            <a:ea typeface="Verdana" pitchFamily="34"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rgbClr val="26B7D4"/>
                                    </a:solidFill>
                                    <a:effectLst/>
                                    <a:latin typeface="Cambria Math" panose="02040503050406030204" pitchFamily="18" charset="0"/>
                                    <a:ea typeface="Cambria Math" panose="02040503050406030204" pitchFamily="18" charset="0"/>
                                  </a:rPr>
                                  <m:t>4∙</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4</m:t>
                                    </m:r>
                                  </m:den>
                                </m:f>
                                <m:d>
                                  <m:dPr>
                                    <m:ctrlPr>
                                      <a:rPr lang="en-US" sz="2000" i="1">
                                        <a:effectLst/>
                                        <a:latin typeface="Cambria Math"/>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𝑐</m:t>
                                    </m:r>
                                    <m:r>
                                      <a:rPr lang="en-US" sz="2000">
                                        <a:effectLst/>
                                        <a:latin typeface="Cambria Math" panose="02040503050406030204" pitchFamily="18" charset="0"/>
                                        <a:ea typeface="Cambria Math" panose="02040503050406030204" pitchFamily="18" charset="0"/>
                                      </a:rPr>
                                      <m:t> −2</m:t>
                                    </m:r>
                                  </m:e>
                                </m:d>
                                <m:r>
                                  <a:rPr lang="en-US" sz="2000">
                                    <a:effectLst/>
                                    <a:latin typeface="Cambria Math" panose="02040503050406030204" pitchFamily="18" charset="0"/>
                                    <a:ea typeface="Cambria Math" panose="02040503050406030204" pitchFamily="18" charset="0"/>
                                  </a:rPr>
                                  <m:t> =18</m:t>
                                </m:r>
                                <m:r>
                                  <a:rPr lang="en-US" sz="2000" smtClean="0">
                                    <a:solidFill>
                                      <a:srgbClr val="26B7D4"/>
                                    </a:solidFill>
                                    <a:effectLst/>
                                    <a:latin typeface="Cambria Math" panose="02040503050406030204" pitchFamily="18" charset="0"/>
                                    <a:ea typeface="Cambria Math" panose="02040503050406030204" pitchFamily="18" charset="0"/>
                                  </a:rPr>
                                  <m:t>∙4</m:t>
                                </m:r>
                              </m:oMath>
                            </m:oMathPara>
                          </a14:m>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4192792770"/>
                  </p:ext>
                </p:extLst>
              </p:nvPr>
            </p:nvGraphicFramePr>
            <p:xfrm>
              <a:off x="1563605" y="1390825"/>
              <a:ext cx="8640000" cy="4068000"/>
            </p:xfrm>
            <a:graphic>
              <a:graphicData uri="http://schemas.openxmlformats.org/drawingml/2006/table">
                <a:tbl>
                  <a:tblPr firstRow="1" firstCol="1" bandRow="1">
                    <a:tableStyleId>{5940675A-B579-460E-94D1-54222C63F5DA}</a:tableStyleId>
                  </a:tblPr>
                  <a:tblGrid>
                    <a:gridCol w="2880000">
                      <a:extLst>
                        <a:ext uri="{9D8B030D-6E8A-4147-A177-3AD203B41FA5}">
                          <a16:colId xmlns:a16="http://schemas.microsoft.com/office/drawing/2014/main" xmlns:a14="http://schemas.microsoft.com/office/drawing/2010/main" xmlns="" val="20000"/>
                        </a:ext>
                      </a:extLst>
                    </a:gridCol>
                    <a:gridCol w="2880000">
                      <a:extLst>
                        <a:ext uri="{9D8B030D-6E8A-4147-A177-3AD203B41FA5}">
                          <a16:colId xmlns:a16="http://schemas.microsoft.com/office/drawing/2014/main" xmlns:a14="http://schemas.microsoft.com/office/drawing/2010/main" xmlns="" val="20001"/>
                        </a:ext>
                      </a:extLst>
                    </a:gridCol>
                    <a:gridCol w="2880000">
                      <a:extLst>
                        <a:ext uri="{9D8B030D-6E8A-4147-A177-3AD203B41FA5}">
                          <a16:colId xmlns:a16="http://schemas.microsoft.com/office/drawing/2014/main" xmlns:a14="http://schemas.microsoft.com/office/drawing/2010/main" xmlns="" val="20002"/>
                        </a:ext>
                      </a:extLst>
                    </a:gridCol>
                  </a:tblGrid>
                  <a:tr h="468000">
                    <a:tc>
                      <a:txBody>
                        <a:bodyPr/>
                        <a:lstStyle/>
                        <a:p>
                          <a:pPr marL="0" marR="0" algn="ctr">
                            <a:spcBef>
                              <a:spcPts val="0"/>
                            </a:spcBef>
                            <a:spcAft>
                              <a:spcPts val="0"/>
                            </a:spcAft>
                            <a:tabLst/>
                          </a:pPr>
                          <a:r>
                            <a:rPr lang="en-US" sz="2000" b="1" dirty="0" smtClean="0">
                              <a:effectLst/>
                              <a:latin typeface="Verdana" panose="020B0604030504040204" pitchFamily="34" charset="0"/>
                              <a:ea typeface="Verdana" panose="020B0604030504040204" pitchFamily="34" charset="0"/>
                              <a:cs typeface="Verdana" panose="020B0604030504040204" pitchFamily="34" charset="0"/>
                            </a:rPr>
                            <a:t>Joel</a:t>
                          </a: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Elena</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Nichele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360000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13051" r="-199789" b="-169"/>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0212" t="-13051" r="-100212" b="-169"/>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99789" t="-13051" b="-169"/>
                          </a:stretch>
                        </a:blipFill>
                      </a:tcPr>
                    </a:tc>
                    <a:extLst>
                      <a:ext uri="{0D108BD9-81ED-4DB2-BD59-A6C34878D82A}">
                        <a16:rowId xmlns:a16="http://schemas.microsoft.com/office/drawing/2014/main" xmlns:a14="http://schemas.microsoft.com/office/drawing/2010/main" xmlns="" val="10001"/>
                      </a:ext>
                    </a:extLst>
                  </a:tr>
                </a:tbl>
              </a:graphicData>
            </a:graphic>
          </p:graphicFrame>
        </mc:Fallback>
      </mc:AlternateContent>
      <p:sp>
        <p:nvSpPr>
          <p:cNvPr id="8"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smtClean="0">
                <a:latin typeface="Calibri"/>
                <a:ea typeface="Calibri"/>
                <a:cs typeface="Calibri"/>
                <a:sym typeface="Calibri"/>
              </a:rPr>
              <a:t>13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66929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29158" y="379109"/>
            <a:ext cx="10800000" cy="4154984"/>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Identify the student who made an error in their first step and explain what error they made.</a:t>
            </a: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statement to interpret the solution in this context.</a:t>
            </a: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a:r>
              <a:rPr lang="en-US" sz="2400" dirty="0">
                <a:latin typeface="Verdana" panose="020B0604030504040204" pitchFamily="34" charset="0"/>
                <a:ea typeface="Verdana" panose="020B0604030504040204" pitchFamily="34" charset="0"/>
                <a:cs typeface="Verdana" panose="020B0604030504040204" pitchFamily="34" charset="0"/>
              </a:rPr>
              <a:t>There were _______ cookies in the large container at the start of the bake sale.</a:t>
            </a:r>
          </a:p>
        </p:txBody>
      </p:sp>
      <p:sp>
        <p:nvSpPr>
          <p:cNvPr id="7"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smtClean="0">
                <a:latin typeface="Calibri"/>
                <a:ea typeface="Calibri"/>
                <a:cs typeface="Calibri"/>
                <a:sym typeface="Calibri"/>
              </a:rPr>
              <a:t>13</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86813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49150" y="92135"/>
            <a:ext cx="1056225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8.2.3 Guided Instruction: Solving </a:t>
            </a:r>
            <a:r>
              <a:rPr lang="en-US" sz="3200" b="1" dirty="0" smtClean="0">
                <a:solidFill>
                  <a:srgbClr val="54B5D1"/>
                </a:solidFill>
                <a:latin typeface="Verdana"/>
                <a:ea typeface="Verdana"/>
                <a:cs typeface="Verdana"/>
                <a:sym typeface="Verdana"/>
              </a:rPr>
              <a:t/>
            </a:r>
            <a:br>
              <a:rPr lang="en-US" sz="3200" b="1" dirty="0" smtClean="0">
                <a:solidFill>
                  <a:srgbClr val="54B5D1"/>
                </a:solidFill>
                <a:latin typeface="Verdana"/>
                <a:ea typeface="Verdana"/>
                <a:cs typeface="Verdana"/>
                <a:sym typeface="Verdana"/>
              </a:rPr>
            </a:br>
            <a:r>
              <a:rPr lang="en-US" sz="3200" b="1" dirty="0" smtClean="0">
                <a:solidFill>
                  <a:srgbClr val="54B5D1"/>
                </a:solidFill>
                <a:latin typeface="Verdana"/>
                <a:ea typeface="Verdana"/>
                <a:cs typeface="Verdana"/>
                <a:sym typeface="Verdana"/>
              </a:rPr>
              <a:t>Multi-Step </a:t>
            </a:r>
            <a:r>
              <a:rPr lang="en-US" sz="3200" b="1" dirty="0">
                <a:solidFill>
                  <a:srgbClr val="54B5D1"/>
                </a:solidFill>
                <a:latin typeface="Verdana"/>
                <a:ea typeface="Verdana"/>
                <a:cs typeface="Verdana"/>
                <a:sym typeface="Verdana"/>
              </a:rPr>
              <a:t>Equations in Real-World Contexts</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3">
            <a:alphaModFix/>
          </a:blip>
          <a:srcRect/>
          <a:stretch/>
        </p:blipFill>
        <p:spPr>
          <a:xfrm>
            <a:off x="434799" y="38133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xmlns="" id="{C01B13E8-EC8D-E443-A329-C5E3593DD13A}"/>
                  </a:ext>
                </a:extLst>
              </p:cNvPr>
              <p:cNvSpPr txBox="1"/>
              <p:nvPr/>
            </p:nvSpPr>
            <p:spPr>
              <a:xfrm>
                <a:off x="530333" y="1456869"/>
                <a:ext cx="10800000" cy="4708981"/>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Uncle Frank loves riddles. Uncle Frank tells his nephews, </a:t>
                </a:r>
                <a:r>
                  <a:rPr lang="en-US" sz="2000" dirty="0" smtClean="0">
                    <a:latin typeface="Verdana" panose="020B0604030504040204" pitchFamily="34" charset="0"/>
                    <a:ea typeface="Verdana" panose="020B0604030504040204" pitchFamily="34" charset="0"/>
                    <a:cs typeface="Verdana" panose="020B0604030504040204" pitchFamily="34" charset="0"/>
                  </a:rPr>
                  <a:t>“</a:t>
                </a:r>
                <a:r>
                  <a:rPr lang="en-US" sz="2000" dirty="0">
                    <a:latin typeface="Verdana" panose="020B0604030504040204" pitchFamily="34" charset="0"/>
                    <a:ea typeface="Verdana" panose="020B0604030504040204" pitchFamily="34" charset="0"/>
                    <a:cs typeface="Verdana" panose="020B0604030504040204" pitchFamily="34" charset="0"/>
                  </a:rPr>
                  <a:t>I have three times as many dimes as quarters. I have</a:t>
                </a:r>
                <a14:m>
                  <m:oMath xmlns:m="http://schemas.openxmlformats.org/officeDocument/2006/math">
                    <m:r>
                      <a:rPr lang="en-US" sz="2000" i="1">
                        <a:latin typeface="Cambria Math" panose="02040503050406030204" pitchFamily="18" charset="0"/>
                        <a:ea typeface="Cambria Math" panose="02040503050406030204" pitchFamily="18" charset="0"/>
                      </a:rPr>
                      <m:t> 20</m:t>
                    </m:r>
                  </m:oMath>
                </a14:m>
                <a:r>
                  <a:rPr lang="en-US" sz="2000" dirty="0">
                    <a:latin typeface="Verdana" panose="020B0604030504040204" pitchFamily="34" charset="0"/>
                    <a:ea typeface="Verdana" panose="020B0604030504040204" pitchFamily="34" charset="0"/>
                    <a:cs typeface="Verdana" panose="020B0604030504040204" pitchFamily="34" charset="0"/>
                  </a:rPr>
                  <a:t> more nickels than quarters. I have </a:t>
                </a:r>
                <a14:m>
                  <m:oMath xmlns:m="http://schemas.openxmlformats.org/officeDocument/2006/math">
                    <m:r>
                      <a:rPr lang="en-US" sz="2000" i="1">
                        <a:latin typeface="Cambria Math" panose="02040503050406030204" pitchFamily="18" charset="0"/>
                        <a:ea typeface="Cambria Math" panose="02040503050406030204" pitchFamily="18" charset="0"/>
                      </a:rPr>
                      <m:t>$6.40</m:t>
                    </m:r>
                  </m:oMath>
                </a14:m>
                <a:r>
                  <a:rPr lang="en-US" sz="2000" dirty="0">
                    <a:latin typeface="Verdana" panose="020B0604030504040204" pitchFamily="34" charset="0"/>
                    <a:ea typeface="Verdana" panose="020B0604030504040204" pitchFamily="34" charset="0"/>
                    <a:cs typeface="Verdana" panose="020B0604030504040204" pitchFamily="34" charset="0"/>
                  </a:rPr>
                  <a:t> total. How many of each type of coin do I have? Whoever can solve my riddle will get my coins.” </a:t>
                </a:r>
              </a:p>
              <a:p>
                <a:pPr marL="465138"/>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8"/>
                <a:r>
                  <a:rPr lang="en-US" sz="2000" dirty="0">
                    <a:latin typeface="Verdana" panose="020B0604030504040204" pitchFamily="34" charset="0"/>
                    <a:ea typeface="Verdana" panose="020B0604030504040204" pitchFamily="34" charset="0"/>
                    <a:cs typeface="Verdana" panose="020B0604030504040204" pitchFamily="34" charset="0"/>
                  </a:rPr>
                  <a:t>The riddle can be represented by the equation</a:t>
                </a:r>
                <a:r>
                  <a:rPr lang="en-US" sz="2000" dirty="0" smtClean="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0.25</m:t>
                    </m:r>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+0.10</m:t>
                    </m:r>
                    <m:d>
                      <m:dPr>
                        <m:ctrlPr>
                          <a:rPr lang="en-US" sz="2000" i="1">
                            <a:latin typeface="Cambria Math"/>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3</m:t>
                        </m:r>
                        <m:r>
                          <a:rPr lang="en-US" sz="2000" i="1">
                            <a:latin typeface="Cambria Math" panose="02040503050406030204" pitchFamily="18" charset="0"/>
                            <a:ea typeface="Cambria Math" panose="02040503050406030204" pitchFamily="18" charset="0"/>
                          </a:rPr>
                          <m:t>𝑚</m:t>
                        </m:r>
                      </m:e>
                    </m:d>
                    <m:r>
                      <a:rPr lang="en-US" sz="2000" i="1">
                        <a:latin typeface="Cambria Math" panose="02040503050406030204" pitchFamily="18" charset="0"/>
                        <a:ea typeface="Cambria Math" panose="02040503050406030204" pitchFamily="18" charset="0"/>
                      </a:rPr>
                      <m:t> +0.05</m:t>
                    </m:r>
                    <m:d>
                      <m:dPr>
                        <m:ctrlPr>
                          <a:rPr lang="en-US" sz="2000" i="1">
                            <a:latin typeface="Cambria Math"/>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20 +</m:t>
                        </m:r>
                        <m:r>
                          <a:rPr lang="en-US" sz="2000" i="1">
                            <a:latin typeface="Cambria Math" panose="02040503050406030204" pitchFamily="18" charset="0"/>
                            <a:ea typeface="Cambria Math" panose="02040503050406030204" pitchFamily="18" charset="0"/>
                          </a:rPr>
                          <m:t>𝑚</m:t>
                        </m:r>
                      </m:e>
                    </m:d>
                    <m:r>
                      <a:rPr lang="en-US" sz="2000" i="1">
                        <a:latin typeface="Cambria Math" panose="02040503050406030204" pitchFamily="18" charset="0"/>
                        <a:ea typeface="Cambria Math" panose="02040503050406030204" pitchFamily="18" charset="0"/>
                      </a:rPr>
                      <m:t>=6.40</m:t>
                    </m:r>
                  </m:oMath>
                </a14:m>
                <a:r>
                  <a:rPr lang="en-US" sz="2000" dirty="0">
                    <a:latin typeface="Verdana" panose="020B0604030504040204" pitchFamily="34" charset="0"/>
                    <a:ea typeface="Verdana" panose="020B0604030504040204" pitchFamily="34" charset="0"/>
                    <a:cs typeface="Verdana" panose="020B0604030504040204" pitchFamily="34" charset="0"/>
                  </a:rPr>
                  <a:t>, where </a:t>
                </a:r>
                <a14:m>
                  <m:oMath xmlns:m="http://schemas.openxmlformats.org/officeDocument/2006/math">
                    <m:r>
                      <a:rPr lang="en-US" sz="2000" i="1">
                        <a:latin typeface="Cambria Math" panose="02040503050406030204" pitchFamily="18" charset="0"/>
                        <a:ea typeface="Cambria Math" panose="02040503050406030204" pitchFamily="18" charset="0"/>
                      </a:rPr>
                      <m:t>𝑚</m:t>
                    </m:r>
                  </m:oMath>
                </a14:m>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dirty="0" smtClean="0">
                    <a:latin typeface="Verdana" panose="020B0604030504040204" pitchFamily="34" charset="0"/>
                    <a:ea typeface="Verdana" panose="020B0604030504040204" pitchFamily="34" charset="0"/>
                    <a:cs typeface="Verdana" panose="020B0604030504040204" pitchFamily="34" charset="0"/>
                  </a:rPr>
                  <a:t>represents </a:t>
                </a:r>
                <a:r>
                  <a:rPr lang="en-US" sz="2000" dirty="0">
                    <a:latin typeface="Verdana" panose="020B0604030504040204" pitchFamily="34" charset="0"/>
                    <a:ea typeface="Verdana" panose="020B0604030504040204" pitchFamily="34" charset="0"/>
                    <a:cs typeface="Verdana" panose="020B0604030504040204" pitchFamily="34" charset="0"/>
                  </a:rPr>
                  <a:t>the number of quarters Uncle Frank has.</a:t>
                </a:r>
              </a:p>
              <a:p>
                <a:pPr marL="465138"/>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8"/>
                <a:r>
                  <a:rPr lang="en-US" sz="2000" dirty="0">
                    <a:latin typeface="Verdana" panose="020B0604030504040204" pitchFamily="34" charset="0"/>
                    <a:ea typeface="Verdana" panose="020B0604030504040204" pitchFamily="34" charset="0"/>
                    <a:cs typeface="Verdana" panose="020B0604030504040204" pitchFamily="34" charset="0"/>
                  </a:rPr>
                  <a:t>Paul and Matthew both agree they should apply the distributive property first. The resulting equation is shown.</a:t>
                </a:r>
              </a:p>
              <a:p>
                <a:endParaRPr lang="en-US" sz="2000" i="1" dirty="0">
                  <a:latin typeface="Verdana" panose="020B0604030504040204" pitchFamily="34" charset="0"/>
                  <a:ea typeface="Verdana" panose="020B0604030504040204" pitchFamily="34" charset="0"/>
                  <a:cs typeface="Verdana" panose="020B0604030504040204" pitchFamily="34" charset="0"/>
                </a:endParaRPr>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0.25</m:t>
                      </m:r>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 +0.30</m:t>
                      </m:r>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 +1.00 +0.05</m:t>
                      </m:r>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 =6.40</m:t>
                      </m:r>
                    </m:oMath>
                  </m:oMathPara>
                </a14:m>
                <a:endParaRPr lang="en-US" sz="2000" dirty="0">
                  <a:latin typeface="Cambria Math" panose="02040503050406030204" pitchFamily="18" charset="0"/>
                  <a:ea typeface="Cambria Math" panose="02040503050406030204" pitchFamily="18" charset="0"/>
                </a:endParaRPr>
              </a:p>
              <a:p>
                <a:endParaRPr lang="en-US" sz="2000" dirty="0">
                  <a:latin typeface="Cambria Math" panose="02040503050406030204" pitchFamily="18" charset="0"/>
                  <a:ea typeface="Cambria Math" panose="02040503050406030204" pitchFamily="18" charset="0"/>
                </a:endParaRPr>
              </a:p>
              <a:p>
                <a:pPr marL="452438"/>
                <a:r>
                  <a:rPr lang="en-US" sz="2000" dirty="0">
                    <a:latin typeface="Verdana" panose="020B0604030504040204" pitchFamily="34" charset="0"/>
                    <a:ea typeface="Verdana" panose="020B0604030504040204" pitchFamily="34" charset="0"/>
                    <a:cs typeface="Verdana" panose="020B0604030504040204" pitchFamily="34" charset="0"/>
                  </a:rPr>
                  <a:t>Paul said the next step is to multiply both sides by </a:t>
                </a:r>
                <a14:m>
                  <m:oMath xmlns:m="http://schemas.openxmlformats.org/officeDocument/2006/math">
                    <m:r>
                      <a:rPr lang="en-US" sz="2000" i="1">
                        <a:latin typeface="Cambria Math" panose="02040503050406030204" pitchFamily="18" charset="0"/>
                        <a:ea typeface="Cambria Math" panose="02040503050406030204" pitchFamily="18" charset="0"/>
                      </a:rPr>
                      <m:t>100</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530333" y="1456869"/>
                <a:ext cx="10800000" cy="4708981"/>
              </a:xfrm>
              <a:prstGeom prst="rect">
                <a:avLst/>
              </a:prstGeom>
              <a:blipFill rotWithShape="1">
                <a:blip r:embed="rId4"/>
                <a:stretch>
                  <a:fillRect l="-621" t="-777" b="-1425"/>
                </a:stretch>
              </a:blipFill>
            </p:spPr>
            <p:txBody>
              <a:bodyPr/>
              <a:lstStyle/>
              <a:p>
                <a:r>
                  <a:rPr lang="en-PH">
                    <a:noFill/>
                  </a:rPr>
                  <a:t> </a:t>
                </a:r>
              </a:p>
            </p:txBody>
          </p:sp>
        </mc:Fallback>
      </mc:AlternateContent>
      <p:sp>
        <p:nvSpPr>
          <p:cNvPr id="10"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14</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6183" y="377366"/>
            <a:ext cx="9605276" cy="461665"/>
          </a:xfrm>
          <a:prstGeom prst="rect">
            <a:avLst/>
          </a:prstGeom>
          <a:noFill/>
        </p:spPr>
        <p:txBody>
          <a:bodyPr wrap="square" rtlCol="0">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Solve the equation using Paul’s method.</a:t>
            </a: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1335824402"/>
                  </p:ext>
                </p:extLst>
              </p:nvPr>
            </p:nvGraphicFramePr>
            <p:xfrm>
              <a:off x="2917890" y="994991"/>
              <a:ext cx="6120000" cy="4068000"/>
            </p:xfrm>
            <a:graphic>
              <a:graphicData uri="http://schemas.openxmlformats.org/drawingml/2006/table">
                <a:tbl>
                  <a:tblPr firstRow="1" firstCol="1" bandRow="1">
                    <a:tableStyleId>{5940675A-B579-460E-94D1-54222C63F5DA}</a:tableStyleId>
                  </a:tblPr>
                  <a:tblGrid>
                    <a:gridCol w="6120000">
                      <a:extLst>
                        <a:ext uri="{9D8B030D-6E8A-4147-A177-3AD203B41FA5}">
                          <a16:colId xmlns:a16="http://schemas.microsoft.com/office/drawing/2014/main" xmlns="" val="20000"/>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Paul’s Method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360000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0.25</m:t>
                                </m:r>
                                <m:r>
                                  <a:rPr lang="en-US" sz="2000">
                                    <a:effectLst/>
                                    <a:latin typeface="Cambria Math" panose="02040503050406030204" pitchFamily="18" charset="0"/>
                                    <a:ea typeface="Cambria Math" panose="02040503050406030204" pitchFamily="18" charset="0"/>
                                  </a:rPr>
                                  <m:t>𝑚</m:t>
                                </m:r>
                                <m:r>
                                  <a:rPr lang="en-US" sz="2000">
                                    <a:effectLst/>
                                    <a:latin typeface="Cambria Math" panose="02040503050406030204" pitchFamily="18" charset="0"/>
                                    <a:ea typeface="Cambria Math" panose="02040503050406030204" pitchFamily="18" charset="0"/>
                                  </a:rPr>
                                  <m:t>+0.30</m:t>
                                </m:r>
                                <m:r>
                                  <a:rPr lang="en-US" sz="2000">
                                    <a:effectLst/>
                                    <a:latin typeface="Cambria Math" panose="02040503050406030204" pitchFamily="18" charset="0"/>
                                    <a:ea typeface="Cambria Math" panose="02040503050406030204" pitchFamily="18" charset="0"/>
                                  </a:rPr>
                                  <m:t>𝑚</m:t>
                                </m:r>
                                <m:r>
                                  <a:rPr lang="en-US" sz="2000">
                                    <a:effectLst/>
                                    <a:latin typeface="Cambria Math" panose="02040503050406030204" pitchFamily="18" charset="0"/>
                                    <a:ea typeface="Cambria Math" panose="02040503050406030204" pitchFamily="18" charset="0"/>
                                  </a:rPr>
                                  <m:t>+1.00+0.05</m:t>
                                </m:r>
                                <m:r>
                                  <a:rPr lang="en-US" sz="2000">
                                    <a:effectLst/>
                                    <a:latin typeface="Cambria Math" panose="02040503050406030204" pitchFamily="18" charset="0"/>
                                    <a:ea typeface="Cambria Math" panose="02040503050406030204" pitchFamily="18" charset="0"/>
                                  </a:rPr>
                                  <m:t>𝑚</m:t>
                                </m:r>
                                <m:r>
                                  <a:rPr lang="en-US" sz="2000">
                                    <a:effectLst/>
                                    <a:latin typeface="Cambria Math" panose="02040503050406030204" pitchFamily="18" charset="0"/>
                                    <a:ea typeface="Cambria Math" panose="02040503050406030204" pitchFamily="18" charset="0"/>
                                  </a:rPr>
                                  <m:t>=6.40</m:t>
                                </m:r>
                              </m:oMath>
                            </m:oMathPara>
                          </a14:m>
                          <a:endParaRPr lang="en-US" sz="2000" dirty="0">
                            <a:effectLst/>
                            <a:latin typeface="Verdana" pitchFamily="34" charset="0"/>
                            <a:ea typeface="Verdana" pitchFamily="34" charset="0"/>
                          </a:endParaRPr>
                        </a:p>
                        <a:p>
                          <a:pPr marL="0" marR="0">
                            <a:spcBef>
                              <a:spcPts val="0"/>
                            </a:spcBef>
                            <a:spcAft>
                              <a:spcPts val="0"/>
                            </a:spcAft>
                          </a:pPr>
                          <a:r>
                            <a:rPr lang="en-US" sz="2000" dirty="0">
                              <a:effectLst/>
                              <a:latin typeface="Verdana" pitchFamily="34" charset="0"/>
                              <a:ea typeface="Verdana" pitchFamily="34" charset="0"/>
                            </a:rPr>
                            <a:t> </a:t>
                          </a: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100(0.25</m:t>
                                </m:r>
                                <m:r>
                                  <a:rPr lang="en-US" sz="2000">
                                    <a:effectLst/>
                                    <a:latin typeface="Cambria Math" panose="02040503050406030204" pitchFamily="18" charset="0"/>
                                    <a:ea typeface="Cambria Math" panose="02040503050406030204" pitchFamily="18" charset="0"/>
                                  </a:rPr>
                                  <m:t>𝑚</m:t>
                                </m:r>
                                <m:r>
                                  <a:rPr lang="en-US" sz="2000">
                                    <a:effectLst/>
                                    <a:latin typeface="Cambria Math" panose="02040503050406030204" pitchFamily="18" charset="0"/>
                                    <a:ea typeface="Cambria Math" panose="02040503050406030204" pitchFamily="18" charset="0"/>
                                  </a:rPr>
                                  <m:t>+0.30</m:t>
                                </m:r>
                                <m:r>
                                  <a:rPr lang="en-US" sz="2000">
                                    <a:effectLst/>
                                    <a:latin typeface="Cambria Math" panose="02040503050406030204" pitchFamily="18" charset="0"/>
                                    <a:ea typeface="Cambria Math" panose="02040503050406030204" pitchFamily="18" charset="0"/>
                                  </a:rPr>
                                  <m:t>𝑚</m:t>
                                </m:r>
                                <m:r>
                                  <a:rPr lang="en-US" sz="2000">
                                    <a:effectLst/>
                                    <a:latin typeface="Cambria Math" panose="02040503050406030204" pitchFamily="18" charset="0"/>
                                    <a:ea typeface="Cambria Math" panose="02040503050406030204" pitchFamily="18" charset="0"/>
                                  </a:rPr>
                                  <m:t>+1.00+0.05</m:t>
                                </m:r>
                                <m:r>
                                  <a:rPr lang="en-US" sz="2000">
                                    <a:effectLst/>
                                    <a:latin typeface="Cambria Math" panose="02040503050406030204" pitchFamily="18" charset="0"/>
                                    <a:ea typeface="Cambria Math" panose="02040503050406030204" pitchFamily="18" charset="0"/>
                                  </a:rPr>
                                  <m:t>𝑚</m:t>
                                </m:r>
                                <m:r>
                                  <a:rPr lang="en-US" sz="2000">
                                    <a:effectLst/>
                                    <a:latin typeface="Cambria Math" panose="02040503050406030204" pitchFamily="18" charset="0"/>
                                    <a:ea typeface="Cambria Math" panose="02040503050406030204" pitchFamily="18" charset="0"/>
                                  </a:rPr>
                                  <m:t>)=100(6.40)</m:t>
                                </m:r>
                              </m:oMath>
                            </m:oMathPara>
                          </a14:m>
                          <a:endParaRPr lang="en-US" sz="2000" dirty="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1335824402"/>
                  </p:ext>
                </p:extLst>
              </p:nvPr>
            </p:nvGraphicFramePr>
            <p:xfrm>
              <a:off x="2917890" y="994991"/>
              <a:ext cx="6120000" cy="4068000"/>
            </p:xfrm>
            <a:graphic>
              <a:graphicData uri="http://schemas.openxmlformats.org/drawingml/2006/table">
                <a:tbl>
                  <a:tblPr firstRow="1" firstCol="1" bandRow="1">
                    <a:tableStyleId>{5940675A-B579-460E-94D1-54222C63F5DA}</a:tableStyleId>
                  </a:tblPr>
                  <a:tblGrid>
                    <a:gridCol w="6120000">
                      <a:extLst>
                        <a:ext uri="{9D8B030D-6E8A-4147-A177-3AD203B41FA5}">
                          <a16:colId xmlns:a16="http://schemas.microsoft.com/office/drawing/2014/main" xmlns:a14="http://schemas.microsoft.com/office/drawing/2010/main" xmlns="" val="20000"/>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Paul’s Method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360000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0" t="-13029"/>
                          </a:stretch>
                        </a:blipFill>
                      </a:tcPr>
                    </a:tc>
                    <a:extLst>
                      <a:ext uri="{0D108BD9-81ED-4DB2-BD59-A6C34878D82A}">
                        <a16:rowId xmlns:a16="http://schemas.microsoft.com/office/drawing/2014/main" xmlns:a14="http://schemas.microsoft.com/office/drawing/2010/main" xmlns="" val="10001"/>
                      </a:ext>
                    </a:extLst>
                  </a:tr>
                </a:tbl>
              </a:graphicData>
            </a:graphic>
          </p:graphicFrame>
        </mc:Fallback>
      </mc:AlternateContent>
      <mc:AlternateContent xmlns:mc="http://schemas.openxmlformats.org/markup-compatibility/2006">
        <mc:Choice xmlns:a14="http://schemas.microsoft.com/office/drawing/2010/main" Requires="a14">
          <p:sp>
            <p:nvSpPr>
              <p:cNvPr id="4" name="Rectangle 3"/>
              <p:cNvSpPr/>
              <p:nvPr/>
            </p:nvSpPr>
            <p:spPr>
              <a:xfrm>
                <a:off x="536183" y="5277433"/>
                <a:ext cx="10883415" cy="830997"/>
              </a:xfrm>
              <a:prstGeom prst="rect">
                <a:avLst/>
              </a:prstGeom>
            </p:spPr>
            <p:txBody>
              <a:bodyPr wrap="square">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resulting values after multiplying by </a:t>
                </a:r>
                <a14:m>
                  <m:oMath xmlns:m="http://schemas.openxmlformats.org/officeDocument/2006/math">
                    <m:r>
                      <a:rPr lang="en-US" sz="2400" i="1">
                        <a:latin typeface="Cambria Math" panose="02040503050406030204" pitchFamily="18" charset="0"/>
                        <a:ea typeface="Cambria Math" panose="02040503050406030204" pitchFamily="18" charset="0"/>
                      </a:rPr>
                      <m:t>100</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4" name="Rectangle 3"/>
              <p:cNvSpPr>
                <a:spLocks noRot="1" noChangeAspect="1" noMove="1" noResize="1" noEditPoints="1" noAdjustHandles="1" noChangeArrowheads="1" noChangeShapeType="1" noTextEdit="1"/>
              </p:cNvSpPr>
              <p:nvPr/>
            </p:nvSpPr>
            <p:spPr>
              <a:xfrm>
                <a:off x="536183" y="5277433"/>
                <a:ext cx="10883415" cy="830997"/>
              </a:xfrm>
              <a:prstGeom prst="rect">
                <a:avLst/>
              </a:prstGeom>
              <a:blipFill rotWithShape="1">
                <a:blip r:embed="rId4"/>
                <a:stretch>
                  <a:fillRect t="-5882" r="-1457" b="-15441"/>
                </a:stretch>
              </a:blipFill>
            </p:spPr>
            <p:txBody>
              <a:bodyPr/>
              <a:lstStyle/>
              <a:p>
                <a:r>
                  <a:rPr lang="en-PH">
                    <a:noFill/>
                  </a:rPr>
                  <a:t> </a:t>
                </a:r>
              </a:p>
            </p:txBody>
          </p:sp>
        </mc:Fallback>
      </mc:AlternateContent>
      <p:sp>
        <p:nvSpPr>
          <p:cNvPr id="8"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14</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40120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42797" y="370122"/>
            <a:ext cx="10800000" cy="1569660"/>
          </a:xfrm>
          <a:prstGeom prst="rect">
            <a:avLst/>
          </a:prstGeom>
          <a:noFill/>
        </p:spPr>
        <p:txBody>
          <a:bodyPr wrap="square" rtlCol="0">
            <a:spAutoFit/>
          </a:bodyPr>
          <a:lstStyle/>
          <a:p>
            <a:pPr marL="465138"/>
            <a:r>
              <a:rPr lang="en-US" sz="2400" dirty="0">
                <a:latin typeface="Verdana" panose="020B0604030504040204" pitchFamily="34" charset="0"/>
                <a:ea typeface="Verdana" panose="020B0604030504040204" pitchFamily="34" charset="0"/>
                <a:cs typeface="Verdana" panose="020B0604030504040204" pitchFamily="34" charset="0"/>
              </a:rPr>
              <a:t>Matthew said it would have been better to first simplify the left side of the equation by combining like terms, then solve.</a:t>
            </a: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Solve the equation using Matthew’s method.</a:t>
            </a: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1724176766"/>
                  </p:ext>
                </p:extLst>
              </p:nvPr>
            </p:nvGraphicFramePr>
            <p:xfrm>
              <a:off x="2882797" y="2104102"/>
              <a:ext cx="6120000" cy="3708000"/>
            </p:xfrm>
            <a:graphic>
              <a:graphicData uri="http://schemas.openxmlformats.org/drawingml/2006/table">
                <a:tbl>
                  <a:tblPr firstRow="1" firstCol="1" bandRow="1">
                    <a:tableStyleId>{5940675A-B579-460E-94D1-54222C63F5DA}</a:tableStyleId>
                  </a:tblPr>
                  <a:tblGrid>
                    <a:gridCol w="6120000">
                      <a:extLst>
                        <a:ext uri="{9D8B030D-6E8A-4147-A177-3AD203B41FA5}">
                          <a16:colId xmlns:a16="http://schemas.microsoft.com/office/drawing/2014/main" xmlns="" val="20000"/>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Matthew’s Method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324000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0.25</m:t>
                                </m:r>
                                <m:r>
                                  <a:rPr lang="en-US" sz="2000">
                                    <a:effectLst/>
                                    <a:latin typeface="Cambria Math" panose="02040503050406030204" pitchFamily="18" charset="0"/>
                                    <a:ea typeface="Cambria Math" panose="02040503050406030204" pitchFamily="18" charset="0"/>
                                  </a:rPr>
                                  <m:t>𝑚</m:t>
                                </m:r>
                                <m:r>
                                  <a:rPr lang="en-US" sz="2000">
                                    <a:effectLst/>
                                    <a:latin typeface="Cambria Math" panose="02040503050406030204" pitchFamily="18" charset="0"/>
                                    <a:ea typeface="Cambria Math" panose="02040503050406030204" pitchFamily="18" charset="0"/>
                                  </a:rPr>
                                  <m:t>+0.30</m:t>
                                </m:r>
                                <m:r>
                                  <a:rPr lang="en-US" sz="2000">
                                    <a:effectLst/>
                                    <a:latin typeface="Cambria Math" panose="02040503050406030204" pitchFamily="18" charset="0"/>
                                    <a:ea typeface="Cambria Math" panose="02040503050406030204" pitchFamily="18" charset="0"/>
                                  </a:rPr>
                                  <m:t>𝑚</m:t>
                                </m:r>
                                <m:r>
                                  <a:rPr lang="en-US" sz="2000">
                                    <a:effectLst/>
                                    <a:latin typeface="Cambria Math" panose="02040503050406030204" pitchFamily="18" charset="0"/>
                                    <a:ea typeface="Cambria Math" panose="02040503050406030204" pitchFamily="18" charset="0"/>
                                  </a:rPr>
                                  <m:t>+1.00+0.05</m:t>
                                </m:r>
                                <m:r>
                                  <a:rPr lang="en-US" sz="2000">
                                    <a:effectLst/>
                                    <a:latin typeface="Cambria Math" panose="02040503050406030204" pitchFamily="18" charset="0"/>
                                    <a:ea typeface="Cambria Math" panose="02040503050406030204" pitchFamily="18" charset="0"/>
                                  </a:rPr>
                                  <m:t>𝑚</m:t>
                                </m:r>
                                <m:r>
                                  <a:rPr lang="en-US" sz="2000">
                                    <a:effectLst/>
                                    <a:latin typeface="Cambria Math" panose="02040503050406030204" pitchFamily="18" charset="0"/>
                                    <a:ea typeface="Cambria Math" panose="02040503050406030204" pitchFamily="18" charset="0"/>
                                  </a:rPr>
                                  <m:t>=6.40</m:t>
                                </m:r>
                              </m:oMath>
                            </m:oMathPara>
                          </a14:m>
                          <a:endParaRPr lang="en-US" sz="2000" dirty="0">
                            <a:effectLst/>
                            <a:latin typeface="Verdana" pitchFamily="34" charset="0"/>
                            <a:ea typeface="Verdana" pitchFamily="34" charset="0"/>
                          </a:endParaRPr>
                        </a:p>
                        <a:p>
                          <a:pPr marL="0" marR="0">
                            <a:spcBef>
                              <a:spcPts val="0"/>
                            </a:spcBef>
                            <a:spcAft>
                              <a:spcPts val="0"/>
                            </a:spcAft>
                          </a:pPr>
                          <a:r>
                            <a:rPr lang="en-US" sz="2000" dirty="0">
                              <a:effectLst/>
                              <a:latin typeface="Verdana" pitchFamily="34" charset="0"/>
                              <a:ea typeface="Verdana" pitchFamily="34" charset="0"/>
                            </a:rPr>
                            <a:t> </a:t>
                          </a: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____________</m:t>
                                </m:r>
                                <m:r>
                                  <a:rPr lang="en-US" sz="2000">
                                    <a:effectLst/>
                                    <a:latin typeface="Cambria Math" panose="02040503050406030204" pitchFamily="18" charset="0"/>
                                    <a:ea typeface="Cambria Math" panose="02040503050406030204" pitchFamily="18" charset="0"/>
                                  </a:rPr>
                                  <m:t>𝑚</m:t>
                                </m:r>
                                <m:r>
                                  <a:rPr lang="en-US" sz="2000">
                                    <a:effectLst/>
                                    <a:latin typeface="Cambria Math" panose="02040503050406030204" pitchFamily="18" charset="0"/>
                                    <a:ea typeface="Cambria Math" panose="02040503050406030204" pitchFamily="18" charset="0"/>
                                  </a:rPr>
                                  <m:t>+1.00=6.40</m:t>
                                </m:r>
                              </m:oMath>
                            </m:oMathPara>
                          </a14:m>
                          <a:endParaRPr lang="en-US" sz="2000" dirty="0">
                            <a:effectLst/>
                            <a:latin typeface="Verdana" pitchFamily="34" charset="0"/>
                            <a:ea typeface="Verdana" pitchFamily="34" charset="0"/>
                          </a:endParaRPr>
                        </a:p>
                        <a:p>
                          <a:pPr marL="0" marR="0">
                            <a:spcBef>
                              <a:spcPts val="0"/>
                            </a:spcBef>
                            <a:spcAft>
                              <a:spcPts val="0"/>
                            </a:spcAft>
                          </a:pPr>
                          <a:r>
                            <a:rPr lang="en-US" sz="2000" dirty="0">
                              <a:effectLst/>
                              <a:latin typeface="Verdana" pitchFamily="34" charset="0"/>
                              <a:ea typeface="Verdana" pitchFamily="34" charset="0"/>
                            </a:rPr>
                            <a:t> </a:t>
                          </a:r>
                        </a:p>
                        <a:p>
                          <a:pPr marL="0" marR="0">
                            <a:spcBef>
                              <a:spcPts val="0"/>
                            </a:spcBef>
                            <a:spcAft>
                              <a:spcPts val="0"/>
                            </a:spcAft>
                          </a:pPr>
                          <a:r>
                            <a:rPr lang="en-US" sz="2000" dirty="0">
                              <a:effectLst/>
                              <a:latin typeface="Verdana" pitchFamily="34" charset="0"/>
                              <a:ea typeface="Verdana" pitchFamily="34" charset="0"/>
                            </a:rPr>
                            <a:t> </a:t>
                          </a:r>
                        </a:p>
                        <a:p>
                          <a:pPr marL="0" marR="0">
                            <a:spcBef>
                              <a:spcPts val="0"/>
                            </a:spcBef>
                            <a:spcAft>
                              <a:spcPts val="0"/>
                            </a:spcAft>
                          </a:pPr>
                          <a:r>
                            <a:rPr lang="en-US" sz="2000" dirty="0">
                              <a:effectLst/>
                              <a:latin typeface="Verdana" pitchFamily="34" charset="0"/>
                              <a:ea typeface="Verdana" pitchFamily="34" charset="0"/>
                            </a:rPr>
                            <a:t> </a:t>
                          </a:r>
                        </a:p>
                        <a:p>
                          <a:pPr marL="0" marR="0">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1724176766"/>
                  </p:ext>
                </p:extLst>
              </p:nvPr>
            </p:nvGraphicFramePr>
            <p:xfrm>
              <a:off x="2882797" y="2104102"/>
              <a:ext cx="6120000" cy="3708000"/>
            </p:xfrm>
            <a:graphic>
              <a:graphicData uri="http://schemas.openxmlformats.org/drawingml/2006/table">
                <a:tbl>
                  <a:tblPr firstRow="1" firstCol="1" bandRow="1">
                    <a:tableStyleId>{5940675A-B579-460E-94D1-54222C63F5DA}</a:tableStyleId>
                  </a:tblPr>
                  <a:tblGrid>
                    <a:gridCol w="6120000">
                      <a:extLst>
                        <a:ext uri="{9D8B030D-6E8A-4147-A177-3AD203B41FA5}">
                          <a16:colId xmlns:a16="http://schemas.microsoft.com/office/drawing/2014/main" xmlns:a14="http://schemas.microsoft.com/office/drawing/2010/main" xmlns="" val="20000"/>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Matthew’s Method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324000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0" t="-14501" b="-188"/>
                          </a:stretch>
                        </a:blipFill>
                      </a:tcPr>
                    </a:tc>
                    <a:extLst>
                      <a:ext uri="{0D108BD9-81ED-4DB2-BD59-A6C34878D82A}">
                        <a16:rowId xmlns:a16="http://schemas.microsoft.com/office/drawing/2014/main" xmlns:a14="http://schemas.microsoft.com/office/drawing/2010/main" xmlns="" val="10001"/>
                      </a:ext>
                    </a:extLst>
                  </a:tr>
                </a:tbl>
              </a:graphicData>
            </a:graphic>
          </p:graphicFrame>
        </mc:Fallback>
      </mc:AlternateContent>
      <p:sp>
        <p:nvSpPr>
          <p:cNvPr id="8"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76720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3920" y="371088"/>
            <a:ext cx="10800000" cy="3046988"/>
          </a:xfrm>
          <a:prstGeom prst="rect">
            <a:avLst/>
          </a:prstGeom>
          <a:noFill/>
        </p:spPr>
        <p:txBody>
          <a:bodyPr wrap="square" rtlCol="0">
            <a:spAutoFit/>
          </a:bodyPr>
          <a:lstStyle/>
          <a:p>
            <a:pPr marL="914400" indent="-45720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Matthew believes that Paul’s method is incorrect. Discuss with your partner if Paul’s method was correct or incorrect. Summarize your discussion. </a:t>
            </a: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Explain whose method you prefer for solving this equation.</a:t>
            </a:r>
            <a:endParaRPr lang="en-US" sz="22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14</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3548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3917" y="382442"/>
            <a:ext cx="11486448" cy="830997"/>
          </a:xfrm>
          <a:prstGeom prst="rect">
            <a:avLst/>
          </a:prstGeom>
          <a:noFill/>
        </p:spPr>
        <p:txBody>
          <a:bodyPr wrap="square" rtlCol="0">
            <a:spAutoFit/>
          </a:bodyPr>
          <a:lstStyle/>
          <a:p>
            <a:pPr marL="914400" indent="-457200">
              <a:buFont typeface="+mj-lt"/>
              <a:buAutoNum type="alphaLcPeriod" startAt="6"/>
            </a:pPr>
            <a:r>
              <a:rPr lang="en-US" sz="2400" dirty="0">
                <a:latin typeface="Verdana" panose="020B0604030504040204" pitchFamily="34" charset="0"/>
                <a:ea typeface="Verdana" panose="020B0604030504040204" pitchFamily="34" charset="0"/>
                <a:cs typeface="Verdana" panose="020B0604030504040204" pitchFamily="34" charset="0"/>
              </a:rPr>
              <a:t>Use the solution to the equation to solve Uncle Frank’s riddle </a:t>
            </a: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and </a:t>
            </a:r>
            <a:r>
              <a:rPr lang="en-US" sz="2400" dirty="0">
                <a:latin typeface="Verdana" panose="020B0604030504040204" pitchFamily="34" charset="0"/>
                <a:ea typeface="Verdana" panose="020B0604030504040204" pitchFamily="34" charset="0"/>
                <a:cs typeface="Verdana" panose="020B0604030504040204" pitchFamily="34" charset="0"/>
              </a:rPr>
              <a:t>determine the number of quarters, dimes, and nickels he has.</a:t>
            </a:r>
          </a:p>
        </p:txBody>
      </p:sp>
      <mc:AlternateContent xmlns:mc="http://schemas.openxmlformats.org/markup-compatibility/2006">
        <mc:Choice xmlns:a14="http://schemas.microsoft.com/office/drawing/2010/main" Requires="a14">
          <p:graphicFrame>
            <p:nvGraphicFramePr>
              <p:cNvPr id="6" name="Table 5"/>
              <p:cNvGraphicFramePr>
                <a:graphicFrameLocks noGrp="1"/>
              </p:cNvGraphicFramePr>
              <p:nvPr>
                <p:extLst>
                  <p:ext uri="{D42A27DB-BD31-4B8C-83A1-F6EECF244321}">
                    <p14:modId xmlns:p14="http://schemas.microsoft.com/office/powerpoint/2010/main" val="181314717"/>
                  </p:ext>
                </p:extLst>
              </p:nvPr>
            </p:nvGraphicFramePr>
            <p:xfrm>
              <a:off x="2788718" y="1370007"/>
              <a:ext cx="7236000" cy="2880000"/>
            </p:xfrm>
            <a:graphic>
              <a:graphicData uri="http://schemas.openxmlformats.org/drawingml/2006/table">
                <a:tbl>
                  <a:tblPr firstRow="1" firstCol="1" bandRow="1">
                    <a:tableStyleId>{5940675A-B579-460E-94D1-54222C63F5DA}</a:tableStyleId>
                  </a:tblPr>
                  <a:tblGrid>
                    <a:gridCol w="2412000">
                      <a:extLst>
                        <a:ext uri="{9D8B030D-6E8A-4147-A177-3AD203B41FA5}">
                          <a16:colId xmlns:a16="http://schemas.microsoft.com/office/drawing/2014/main" xmlns="" val="20000"/>
                        </a:ext>
                      </a:extLst>
                    </a:gridCol>
                    <a:gridCol w="2412000">
                      <a:extLst>
                        <a:ext uri="{9D8B030D-6E8A-4147-A177-3AD203B41FA5}">
                          <a16:colId xmlns:a16="http://schemas.microsoft.com/office/drawing/2014/main" xmlns="" val="20001"/>
                        </a:ext>
                      </a:extLst>
                    </a:gridCol>
                    <a:gridCol w="2412000">
                      <a:extLst>
                        <a:ext uri="{9D8B030D-6E8A-4147-A177-3AD203B41FA5}">
                          <a16:colId xmlns:a16="http://schemas.microsoft.com/office/drawing/2014/main" xmlns="" val="20002"/>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Quarters,</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panose="02040503050406030204" pitchFamily="18" charset="0"/>
                                    <a:ea typeface="Cambria Math" panose="02040503050406030204" pitchFamily="18" charset="0"/>
                                  </a:rPr>
                                  <m:t>𝒎</m:t>
                                </m:r>
                              </m:oMath>
                            </m:oMathPara>
                          </a14:m>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Dimes,</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panose="02040503050406030204" pitchFamily="18" charset="0"/>
                                    <a:ea typeface="Cambria Math" panose="02040503050406030204" pitchFamily="18" charset="0"/>
                                  </a:rPr>
                                  <m:t>𝟑</m:t>
                                </m:r>
                                <m:r>
                                  <a:rPr lang="en-US" sz="2000" b="1" i="1">
                                    <a:effectLst/>
                                    <a:latin typeface="Cambria Math" panose="02040503050406030204" pitchFamily="18" charset="0"/>
                                    <a:ea typeface="Cambria Math" panose="02040503050406030204" pitchFamily="18" charset="0"/>
                                  </a:rPr>
                                  <m:t>𝒎</m:t>
                                </m:r>
                              </m:oMath>
                            </m:oMathPara>
                          </a14:m>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Nickels,</a:t>
                          </a: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panose="02040503050406030204" pitchFamily="18" charset="0"/>
                                    <a:ea typeface="Cambria Math" panose="02040503050406030204" pitchFamily="18" charset="0"/>
                                  </a:rPr>
                                  <m:t>𝟐𝟎</m:t>
                                </m:r>
                                <m:r>
                                  <a:rPr lang="en-US" sz="2000" b="1" i="1">
                                    <a:effectLst/>
                                    <a:latin typeface="Cambria Math" panose="02040503050406030204" pitchFamily="18" charset="0"/>
                                    <a:ea typeface="Cambria Math" panose="02040503050406030204" pitchFamily="18" charset="0"/>
                                  </a:rPr>
                                  <m:t>+</m:t>
                                </m:r>
                                <m:r>
                                  <a:rPr lang="en-US" sz="2000" b="1" i="1">
                                    <a:effectLst/>
                                    <a:latin typeface="Cambria Math" panose="02040503050406030204" pitchFamily="18" charset="0"/>
                                    <a:ea typeface="Cambria Math" panose="02040503050406030204" pitchFamily="18" charset="0"/>
                                  </a:rPr>
                                  <m:t>𝒎</m:t>
                                </m:r>
                              </m:oMath>
                            </m:oMathPara>
                          </a14:m>
                          <a:endParaRPr lang="en-US" sz="2000" b="1" i="1"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2160000">
                    <a:tc>
                      <a:txBody>
                        <a:bodyPr/>
                        <a:lstStyle/>
                        <a:p>
                          <a:pPr marL="0" marR="0" algn="l">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mc:Choice>
        <mc:Fallback>
          <p:graphicFrame>
            <p:nvGraphicFramePr>
              <p:cNvPr id="6" name="Table 5"/>
              <p:cNvGraphicFramePr>
                <a:graphicFrameLocks noGrp="1"/>
              </p:cNvGraphicFramePr>
              <p:nvPr>
                <p:extLst>
                  <p:ext uri="{D42A27DB-BD31-4B8C-83A1-F6EECF244321}">
                    <p14:modId xmlns:p14="http://schemas.microsoft.com/office/powerpoint/2010/main" val="181314717"/>
                  </p:ext>
                </p:extLst>
              </p:nvPr>
            </p:nvGraphicFramePr>
            <p:xfrm>
              <a:off x="2788718" y="1370007"/>
              <a:ext cx="7236000" cy="2880000"/>
            </p:xfrm>
            <a:graphic>
              <a:graphicData uri="http://schemas.openxmlformats.org/drawingml/2006/table">
                <a:tbl>
                  <a:tblPr firstRow="1" firstCol="1" bandRow="1">
                    <a:tableStyleId>{5940675A-B579-460E-94D1-54222C63F5DA}</a:tableStyleId>
                  </a:tblPr>
                  <a:tblGrid>
                    <a:gridCol w="2412000">
                      <a:extLst>
                        <a:ext uri="{9D8B030D-6E8A-4147-A177-3AD203B41FA5}">
                          <a16:colId xmlns:a16="http://schemas.microsoft.com/office/drawing/2014/main" xmlns:a14="http://schemas.microsoft.com/office/drawing/2010/main" xmlns="" val="20000"/>
                        </a:ext>
                      </a:extLst>
                    </a:gridCol>
                    <a:gridCol w="2412000">
                      <a:extLst>
                        <a:ext uri="{9D8B030D-6E8A-4147-A177-3AD203B41FA5}">
                          <a16:colId xmlns:a16="http://schemas.microsoft.com/office/drawing/2014/main" xmlns:a14="http://schemas.microsoft.com/office/drawing/2010/main" xmlns="" val="20001"/>
                        </a:ext>
                      </a:extLst>
                    </a:gridCol>
                    <a:gridCol w="2412000">
                      <a:extLst>
                        <a:ext uri="{9D8B030D-6E8A-4147-A177-3AD203B41FA5}">
                          <a16:colId xmlns:a16="http://schemas.microsoft.com/office/drawing/2014/main" xmlns:a14="http://schemas.microsoft.com/office/drawing/2010/main" xmlns="" val="20002"/>
                        </a:ext>
                      </a:extLst>
                    </a:gridCol>
                  </a:tblGrid>
                  <a:tr h="72000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4237" r="-200000" b="-300847"/>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0253" t="-4237" r="-100506" b="-300847"/>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99747" t="-4237" r="-253" b="-300847"/>
                          </a:stretch>
                        </a:blipFill>
                      </a:tcPr>
                    </a:tc>
                    <a:extLst>
                      <a:ext uri="{0D108BD9-81ED-4DB2-BD59-A6C34878D82A}">
                        <a16:rowId xmlns:a16="http://schemas.microsoft.com/office/drawing/2014/main" xmlns:a14="http://schemas.microsoft.com/office/drawing/2010/main" xmlns="" val="10000"/>
                      </a:ext>
                    </a:extLst>
                  </a:tr>
                  <a:tr h="2160000">
                    <a:tc>
                      <a:txBody>
                        <a:bodyPr/>
                        <a:lstStyle/>
                        <a:p>
                          <a:pPr marL="0" marR="0" algn="l">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bl>
              </a:graphicData>
            </a:graphic>
          </p:graphicFrame>
        </mc:Fallback>
      </mc:AlternateContent>
      <p:sp>
        <p:nvSpPr>
          <p:cNvPr id="8"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82173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250255" y="381335"/>
            <a:ext cx="9226002"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8.2.4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3">
            <a:alphaModFix/>
          </a:blip>
          <a:srcRect/>
          <a:stretch/>
        </p:blipFill>
        <p:spPr>
          <a:xfrm>
            <a:off x="434799" y="38133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xmlns="" id="{759C3E41-93EC-B84D-963F-86A3B15AC1C6}"/>
                  </a:ext>
                </a:extLst>
              </p:cNvPr>
              <p:cNvSpPr txBox="1"/>
              <p:nvPr/>
            </p:nvSpPr>
            <p:spPr>
              <a:xfrm>
                <a:off x="530550" y="1471769"/>
                <a:ext cx="10800000" cy="3046988"/>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Carla and some friends went to a movie. They spent </a:t>
                </a:r>
                <a14:m>
                  <m:oMath xmlns:m="http://schemas.openxmlformats.org/officeDocument/2006/math">
                    <m:r>
                      <a:rPr lang="en-US" sz="2400" i="1">
                        <a:latin typeface="Cambria Math" panose="02040503050406030204" pitchFamily="18" charset="0"/>
                        <a:ea typeface="Cambria Math" panose="02040503050406030204" pitchFamily="18" charset="0"/>
                      </a:rPr>
                      <m:t>$25.95</m:t>
                    </m:r>
                  </m:oMath>
                </a14:m>
                <a:r>
                  <a:rPr lang="en-US" sz="2400" dirty="0">
                    <a:latin typeface="Verdana" panose="020B0604030504040204" pitchFamily="34" charset="0"/>
                    <a:ea typeface="Verdana" panose="020B0604030504040204" pitchFamily="34" charset="0"/>
                    <a:cs typeface="Verdana" panose="020B0604030504040204" pitchFamily="34" charset="0"/>
                  </a:rPr>
                  <a:t> on snacks and each ticket cost </a:t>
                </a:r>
                <a14:m>
                  <m:oMath xmlns:m="http://schemas.openxmlformats.org/officeDocument/2006/math">
                    <m:r>
                      <a:rPr lang="en-US" sz="2400" i="1">
                        <a:latin typeface="Cambria Math" panose="02040503050406030204" pitchFamily="18" charset="0"/>
                        <a:ea typeface="Cambria Math" panose="02040503050406030204" pitchFamily="18" charset="0"/>
                      </a:rPr>
                      <m:t>$9.50</m:t>
                    </m:r>
                  </m:oMath>
                </a14:m>
                <a:r>
                  <a:rPr lang="en-US" sz="2400" dirty="0">
                    <a:latin typeface="Verdana" panose="020B0604030504040204" pitchFamily="34" charset="0"/>
                    <a:ea typeface="Verdana" panose="020B0604030504040204" pitchFamily="34" charset="0"/>
                    <a:cs typeface="Verdana" panose="020B0604030504040204" pitchFamily="34" charset="0"/>
                  </a:rPr>
                  <a:t>. In total, the friends spent </a:t>
                </a:r>
                <a14:m>
                  <m:oMath xmlns:m="http://schemas.openxmlformats.org/officeDocument/2006/math">
                    <m:r>
                      <a:rPr lang="en-US" sz="2400" i="1">
                        <a:latin typeface="Cambria Math" panose="02040503050406030204" pitchFamily="18" charset="0"/>
                        <a:ea typeface="Cambria Math" panose="02040503050406030204" pitchFamily="18" charset="0"/>
                      </a:rPr>
                      <m:t>$54.45</m:t>
                    </m:r>
                  </m:oMath>
                </a14:m>
                <a:r>
                  <a:rPr lang="en-US" sz="2400" dirty="0">
                    <a:latin typeface="Verdana" panose="020B0604030504040204" pitchFamily="34" charset="0"/>
                    <a:ea typeface="Verdana" panose="020B0604030504040204" pitchFamily="34" charset="0"/>
                    <a:cs typeface="Verdana" panose="020B0604030504040204" pitchFamily="34" charset="0"/>
                  </a:rPr>
                  <a:t> for the night out. The equation </a:t>
                </a:r>
                <a14:m>
                  <m:oMath xmlns:m="http://schemas.openxmlformats.org/officeDocument/2006/math">
                    <m:r>
                      <a:rPr lang="en-US" sz="2400" i="1">
                        <a:latin typeface="Cambria Math" panose="02040503050406030204" pitchFamily="18" charset="0"/>
                        <a:ea typeface="Cambria Math" panose="02040503050406030204" pitchFamily="18" charset="0"/>
                      </a:rPr>
                      <m:t>54.45=9.50</m:t>
                    </m:r>
                    <m:r>
                      <a:rPr lang="en-US" sz="2400" i="1">
                        <a:latin typeface="Cambria Math" panose="02040503050406030204" pitchFamily="18" charset="0"/>
                        <a:ea typeface="Cambria Math" panose="02040503050406030204" pitchFamily="18" charset="0"/>
                      </a:rPr>
                      <m:t>𝑡</m:t>
                    </m:r>
                    <m:r>
                      <a:rPr lang="en-US" sz="2400" i="1">
                        <a:latin typeface="Cambria Math" panose="02040503050406030204" pitchFamily="18" charset="0"/>
                        <a:ea typeface="Cambria Math" panose="02040503050406030204" pitchFamily="18" charset="0"/>
                      </a:rPr>
                      <m:t>+25.95</m:t>
                    </m:r>
                  </m:oMath>
                </a14:m>
                <a:r>
                  <a:rPr lang="en-US" sz="2400" dirty="0">
                    <a:latin typeface="Verdana" panose="020B0604030504040204" pitchFamily="34" charset="0"/>
                    <a:ea typeface="Verdana" panose="020B0604030504040204" pitchFamily="34" charset="0"/>
                    <a:cs typeface="Verdana" panose="020B0604030504040204" pitchFamily="34" charset="0"/>
                  </a:rPr>
                  <a:t> can be used to model the situation, where </a:t>
                </a:r>
                <a14:m>
                  <m:oMath xmlns:m="http://schemas.openxmlformats.org/officeDocument/2006/math">
                    <m:r>
                      <a:rPr lang="en-US" sz="2400" i="1">
                        <a:latin typeface="Cambria Math" panose="02040503050406030204" pitchFamily="18" charset="0"/>
                        <a:ea typeface="Cambria Math" panose="02040503050406030204" pitchFamily="18" charset="0"/>
                      </a:rPr>
                      <m:t>𝑡</m:t>
                    </m:r>
                  </m:oMath>
                </a14:m>
                <a:r>
                  <a:rPr lang="en-US" sz="2400" dirty="0">
                    <a:latin typeface="Verdana" panose="020B0604030504040204" pitchFamily="34" charset="0"/>
                    <a:ea typeface="Verdana" panose="020B0604030504040204" pitchFamily="34" charset="0"/>
                    <a:cs typeface="Verdana" panose="020B0604030504040204" pitchFamily="34" charset="0"/>
                  </a:rPr>
                  <a:t> represents the number of tickets purchased.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r>
                  <a:rPr lang="en-US" sz="2400" dirty="0" smtClean="0">
                    <a:latin typeface="Verdana" panose="020B0604030504040204" pitchFamily="34" charset="0"/>
                    <a:ea typeface="Verdana" panose="020B0604030504040204" pitchFamily="34" charset="0"/>
                    <a:cs typeface="Verdana" panose="020B0604030504040204" pitchFamily="34" charset="0"/>
                  </a:rPr>
                  <a:t>Solve </a:t>
                </a:r>
                <a:r>
                  <a:rPr lang="en-US" sz="2400" dirty="0">
                    <a:latin typeface="Verdana" panose="020B0604030504040204" pitchFamily="34" charset="0"/>
                    <a:ea typeface="Verdana" panose="020B0604030504040204" pitchFamily="34" charset="0"/>
                    <a:cs typeface="Verdana" panose="020B0604030504040204" pitchFamily="34" charset="0"/>
                  </a:rPr>
                  <a:t>the equation to determine how many tickets were purchased.</a:t>
                </a:r>
              </a:p>
            </p:txBody>
          </p:sp>
        </mc:Choice>
        <mc:Fallback>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530550" y="1471769"/>
                <a:ext cx="10800000" cy="3046988"/>
              </a:xfrm>
              <a:prstGeom prst="rect">
                <a:avLst/>
              </a:prstGeom>
              <a:blipFill rotWithShape="1">
                <a:blip r:embed="rId4"/>
                <a:stretch>
                  <a:fillRect l="-847" t="-1800" b="-3600"/>
                </a:stretch>
              </a:blipFill>
            </p:spPr>
            <p:txBody>
              <a:bodyPr/>
              <a:lstStyle/>
              <a:p>
                <a:r>
                  <a:rPr lang="en-PH">
                    <a:noFill/>
                  </a:rPr>
                  <a:t> </a:t>
                </a:r>
              </a:p>
            </p:txBody>
          </p:sp>
        </mc:Fallback>
      </mc:AlternateContent>
      <p:sp>
        <p:nvSpPr>
          <p:cNvPr id="10"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15</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3309" y="390909"/>
                <a:ext cx="10800000" cy="1938992"/>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Jackson works as a manager in an office. He is scheduled to work </a:t>
                </a:r>
                <a14:m>
                  <m:oMath xmlns:m="http://schemas.openxmlformats.org/officeDocument/2006/math">
                    <m:r>
                      <a:rPr lang="en-US" sz="2400" i="1">
                        <a:latin typeface="Cambria Math" panose="02040503050406030204" pitchFamily="18" charset="0"/>
                        <a:ea typeface="Cambria Math" panose="02040503050406030204" pitchFamily="18" charset="0"/>
                      </a:rPr>
                      <m:t>40</m:t>
                    </m:r>
                  </m:oMath>
                </a14:m>
                <a:r>
                  <a:rPr lang="en-US" sz="2400" dirty="0">
                    <a:latin typeface="Verdana" panose="020B0604030504040204" pitchFamily="34" charset="0"/>
                    <a:ea typeface="Verdana" panose="020B0604030504040204" pitchFamily="34" charset="0"/>
                    <a:cs typeface="Verdana" panose="020B0604030504040204" pitchFamily="34" charset="0"/>
                  </a:rPr>
                  <a:t> hours each week, and for every hour worked over </a:t>
                </a:r>
                <a14:m>
                  <m:oMath xmlns:m="http://schemas.openxmlformats.org/officeDocument/2006/math">
                    <m:r>
                      <a:rPr lang="en-US" sz="2400" i="1">
                        <a:latin typeface="Cambria Math" panose="02040503050406030204" pitchFamily="18" charset="0"/>
                        <a:ea typeface="Cambria Math" panose="02040503050406030204" pitchFamily="18" charset="0"/>
                      </a:rPr>
                      <m:t>40</m:t>
                    </m:r>
                  </m:oMath>
                </a14:m>
                <a:r>
                  <a:rPr lang="en-US" sz="2400" dirty="0">
                    <a:latin typeface="Verdana" panose="020B0604030504040204" pitchFamily="34" charset="0"/>
                    <a:ea typeface="Verdana" panose="020B0604030504040204" pitchFamily="34" charset="0"/>
                    <a:cs typeface="Verdana" panose="020B0604030504040204" pitchFamily="34" charset="0"/>
                  </a:rPr>
                  <a:t>, he earns one-and-a-half times his normal hourly pay. If Jackson worked </a:t>
                </a: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400" i="1">
                        <a:latin typeface="Cambria Math" panose="02040503050406030204" pitchFamily="18" charset="0"/>
                        <a:ea typeface="Cambria Math" panose="02040503050406030204" pitchFamily="18" charset="0"/>
                      </a:rPr>
                      <m:t>45</m:t>
                    </m:r>
                  </m:oMath>
                </a14:m>
                <a:r>
                  <a:rPr lang="en-US" sz="2400" dirty="0">
                    <a:latin typeface="Verdana" panose="020B0604030504040204" pitchFamily="34" charset="0"/>
                    <a:ea typeface="Verdana" panose="020B0604030504040204" pitchFamily="34" charset="0"/>
                    <a:cs typeface="Verdana" panose="020B0604030504040204" pitchFamily="34" charset="0"/>
                  </a:rPr>
                  <a:t> hours one week and earned </a:t>
                </a:r>
                <a14:m>
                  <m:oMath xmlns:m="http://schemas.openxmlformats.org/officeDocument/2006/math">
                    <m:r>
                      <a:rPr lang="en-US" sz="2400" i="1">
                        <a:latin typeface="Cambria Math" panose="02040503050406030204" pitchFamily="18" charset="0"/>
                        <a:ea typeface="Cambria Math" panose="02040503050406030204" pitchFamily="18" charset="0"/>
                      </a:rPr>
                      <m:t>$1,306.25</m:t>
                    </m:r>
                  </m:oMath>
                </a14:m>
                <a:r>
                  <a:rPr lang="en-US" sz="2400" dirty="0">
                    <a:latin typeface="Verdana" panose="020B0604030504040204" pitchFamily="34" charset="0"/>
                    <a:ea typeface="Verdana" panose="020B0604030504040204" pitchFamily="34" charset="0"/>
                    <a:cs typeface="Verdana" panose="020B0604030504040204" pitchFamily="34" charset="0"/>
                  </a:rPr>
                  <a:t>, use the equation </a:t>
                </a:r>
                <a14:m>
                  <m:oMath xmlns:m="http://schemas.openxmlformats.org/officeDocument/2006/math">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(40+7.5)=1,306.25</m:t>
                    </m:r>
                  </m:oMath>
                </a14:m>
                <a:r>
                  <a:rPr lang="en-US" sz="2400" i="1" dirty="0">
                    <a:latin typeface="Verdana" panose="020B0604030504040204" pitchFamily="34" charset="0"/>
                    <a:ea typeface="Verdana" panose="020B0604030504040204" pitchFamily="34"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to find </a:t>
                </a:r>
                <a14:m>
                  <m:oMath xmlns:m="http://schemas.openxmlformats.org/officeDocument/2006/math">
                    <m:r>
                      <a:rPr lang="en-US" sz="2400" i="1">
                        <a:latin typeface="Cambria Math" panose="02040503050406030204" pitchFamily="18" charset="0"/>
                        <a:ea typeface="Cambria Math" panose="02040503050406030204" pitchFamily="18" charset="0"/>
                      </a:rPr>
                      <m:t>𝑝</m:t>
                    </m:r>
                  </m:oMath>
                </a14:m>
                <a:r>
                  <a:rPr lang="en-US" sz="2400" dirty="0">
                    <a:latin typeface="Verdana" panose="020B0604030504040204" pitchFamily="34" charset="0"/>
                    <a:ea typeface="Verdana" panose="020B0604030504040204" pitchFamily="34" charset="0"/>
                    <a:cs typeface="Verdana" panose="020B0604030504040204" pitchFamily="34" charset="0"/>
                  </a:rPr>
                  <a:t>, the hourly pay that Jackson earns.</a:t>
                </a: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3309" y="390909"/>
                <a:ext cx="10800000" cy="1938992"/>
              </a:xfrm>
              <a:prstGeom prst="rect">
                <a:avLst/>
              </a:prstGeom>
              <a:blipFill rotWithShape="1">
                <a:blip r:embed="rId3"/>
                <a:stretch>
                  <a:fillRect l="-847" t="-2516" r="-1524" b="-5975"/>
                </a:stretch>
              </a:blipFill>
            </p:spPr>
            <p:txBody>
              <a:bodyPr/>
              <a:lstStyle/>
              <a:p>
                <a:r>
                  <a:rPr lang="en-PH">
                    <a:noFill/>
                  </a:rPr>
                  <a:t> </a:t>
                </a:r>
              </a:p>
            </p:txBody>
          </p:sp>
        </mc:Fallback>
      </mc:AlternateContent>
      <p:sp>
        <p:nvSpPr>
          <p:cNvPr id="7"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15</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584355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249727" y="92135"/>
            <a:ext cx="1105017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8.2.5 Wrap-Up: Ticket Out the Door</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3">
            <a:alphaModFix/>
          </a:blip>
          <a:srcRect/>
          <a:stretch/>
        </p:blipFill>
        <p:spPr>
          <a:xfrm>
            <a:off x="434799" y="38133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xmlns="" id="{0370EDB7-6994-3D43-ABF9-E04CBAFB9CD9}"/>
                  </a:ext>
                </a:extLst>
              </p:cNvPr>
              <p:cNvSpPr txBox="1"/>
              <p:nvPr/>
            </p:nvSpPr>
            <p:spPr>
              <a:xfrm>
                <a:off x="534882" y="1462358"/>
                <a:ext cx="11705414" cy="156966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Kiran and his family are planning to attend the Central Florida Fair. They have a coupon for </a:t>
                </a:r>
                <a14:m>
                  <m:oMath xmlns:m="http://schemas.openxmlformats.org/officeDocument/2006/math">
                    <m:r>
                      <a:rPr lang="en-US" sz="2400" i="1">
                        <a:latin typeface="Cambria Math" panose="02040503050406030204" pitchFamily="18" charset="0"/>
                        <a:ea typeface="Cambria Math" panose="02040503050406030204" pitchFamily="18" charset="0"/>
                      </a:rPr>
                      <m:t>$1.50</m:t>
                    </m:r>
                  </m:oMath>
                </a14:m>
                <a:r>
                  <a:rPr lang="en-US" sz="2400" dirty="0">
                    <a:latin typeface="Verdana" panose="020B0604030504040204" pitchFamily="34" charset="0"/>
                    <a:ea typeface="Verdana" panose="020B0604030504040204" pitchFamily="34" charset="0"/>
                    <a:cs typeface="Verdana" panose="020B0604030504040204" pitchFamily="34" charset="0"/>
                  </a:rPr>
                  <a:t> off each ticket. They paid </a:t>
                </a:r>
                <a14:m>
                  <m:oMath xmlns:m="http://schemas.openxmlformats.org/officeDocument/2006/math">
                    <m:r>
                      <a:rPr lang="en-US" sz="2400" i="1">
                        <a:latin typeface="Cambria Math" panose="02040503050406030204" pitchFamily="18" charset="0"/>
                        <a:ea typeface="Cambria Math" panose="02040503050406030204" pitchFamily="18" charset="0"/>
                      </a:rPr>
                      <m:t>$46.50</m:t>
                    </m:r>
                  </m:oMath>
                </a14:m>
                <a:r>
                  <a:rPr lang="en-US" sz="2400" dirty="0">
                    <a:latin typeface="Verdana" panose="020B0604030504040204" pitchFamily="34" charset="0"/>
                    <a:ea typeface="Verdana" panose="020B0604030504040204" pitchFamily="34" charset="0"/>
                    <a:cs typeface="Verdana" panose="020B0604030504040204" pitchFamily="34" charset="0"/>
                  </a:rPr>
                  <a:t> for all </a:t>
                </a:r>
                <a:br>
                  <a:rPr lang="en-US" sz="2400" dirty="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400" i="1">
                        <a:latin typeface="Cambria Math" panose="02040503050406030204" pitchFamily="18" charset="0"/>
                        <a:ea typeface="Cambria Math" panose="02040503050406030204" pitchFamily="18" charset="0"/>
                      </a:rPr>
                      <m:t>6</m:t>
                    </m:r>
                  </m:oMath>
                </a14:m>
                <a:r>
                  <a:rPr lang="en-US" sz="2400" dirty="0">
                    <a:latin typeface="Verdana" panose="020B0604030504040204" pitchFamily="34" charset="0"/>
                    <a:ea typeface="Verdana" panose="020B0604030504040204" pitchFamily="34" charset="0"/>
                    <a:cs typeface="Verdana" panose="020B0604030504040204" pitchFamily="34" charset="0"/>
                  </a:rPr>
                  <a:t> tickets. Find the normal cost of one ticket without using the coupon, </a:t>
                </a:r>
                <a14:m>
                  <m:oMath xmlns:m="http://schemas.openxmlformats.org/officeDocument/2006/math">
                    <m:r>
                      <a:rPr lang="en-US" sz="2400" i="1">
                        <a:latin typeface="Cambria Math" panose="02040503050406030204" pitchFamily="18" charset="0"/>
                        <a:ea typeface="Cambria Math" panose="02040503050406030204" pitchFamily="18" charset="0"/>
                      </a:rPr>
                      <m:t>𝑐</m:t>
                    </m:r>
                  </m:oMath>
                </a14:m>
                <a:r>
                  <a:rPr lang="en-US" sz="2400" dirty="0">
                    <a:latin typeface="Verdana" panose="020B0604030504040204" pitchFamily="34" charset="0"/>
                    <a:ea typeface="Verdana" panose="020B0604030504040204" pitchFamily="34" charset="0"/>
                    <a:cs typeface="Verdana" panose="020B0604030504040204" pitchFamily="34" charset="0"/>
                  </a:rPr>
                  <a:t>, using the equation, </a:t>
                </a:r>
                <a14:m>
                  <m:oMath xmlns:m="http://schemas.openxmlformats.org/officeDocument/2006/math">
                    <m:r>
                      <a:rPr lang="en-US" sz="2400" i="1">
                        <a:latin typeface="Cambria Math" panose="02040503050406030204" pitchFamily="18" charset="0"/>
                        <a:ea typeface="Cambria Math" panose="02040503050406030204" pitchFamily="18" charset="0"/>
                      </a:rPr>
                      <m:t>6(</m:t>
                    </m:r>
                    <m:r>
                      <a:rPr lang="en-US" sz="2400" i="1">
                        <a:latin typeface="Cambria Math" panose="02040503050406030204" pitchFamily="18" charset="0"/>
                        <a:ea typeface="Cambria Math" panose="02040503050406030204" pitchFamily="18" charset="0"/>
                      </a:rPr>
                      <m:t>𝑐</m:t>
                    </m:r>
                    <m:r>
                      <a:rPr lang="en-US" sz="2400" i="1">
                        <a:latin typeface="Cambria Math" panose="02040503050406030204" pitchFamily="18" charset="0"/>
                        <a:ea typeface="Cambria Math" panose="02040503050406030204" pitchFamily="18" charset="0"/>
                      </a:rPr>
                      <m:t>−1.50)=46.50.</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2" name="TextBox 11">
                <a:extLst>
                  <a:ext uri="{FF2B5EF4-FFF2-40B4-BE49-F238E27FC236}">
                    <a16:creationId xmlns:a16="http://schemas.microsoft.com/office/drawing/2014/main" xmlns:a14="http://schemas.microsoft.com/office/drawing/2010/main" xmlns="" id="{0370EDB7-6994-3D43-ABF9-E04CBAFB9CD9}"/>
                  </a:ext>
                </a:extLst>
              </p:cNvPr>
              <p:cNvSpPr txBox="1">
                <a:spLocks noRot="1" noChangeAspect="1" noMove="1" noResize="1" noEditPoints="1" noAdjustHandles="1" noChangeArrowheads="1" noChangeShapeType="1" noTextEdit="1"/>
              </p:cNvSpPr>
              <p:nvPr/>
            </p:nvSpPr>
            <p:spPr>
              <a:xfrm>
                <a:off x="534882" y="1462358"/>
                <a:ext cx="11705414" cy="1569660"/>
              </a:xfrm>
              <a:prstGeom prst="rect">
                <a:avLst/>
              </a:prstGeom>
              <a:blipFill rotWithShape="1">
                <a:blip r:embed="rId4"/>
                <a:stretch>
                  <a:fillRect l="-833" t="-3113" b="-7782"/>
                </a:stretch>
              </a:blipFill>
            </p:spPr>
            <p:txBody>
              <a:bodyPr/>
              <a:lstStyle/>
              <a:p>
                <a:r>
                  <a:rPr lang="en-PH">
                    <a:noFill/>
                  </a:rPr>
                  <a:t> </a:t>
                </a:r>
              </a:p>
            </p:txBody>
          </p:sp>
        </mc:Fallback>
      </mc:AlternateContent>
      <p:sp>
        <p:nvSpPr>
          <p:cNvPr id="10" name="Google Shape;282;g104476d1465_1_17"/>
          <p:cNvSpPr txBox="1"/>
          <p:nvPr/>
        </p:nvSpPr>
        <p:spPr>
          <a:xfrm>
            <a:off x="8886605" y="64843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smtClean="0">
                <a:latin typeface="Calibri"/>
                <a:ea typeface="Calibri"/>
                <a:cs typeface="Calibri"/>
                <a:sym typeface="Calibri"/>
              </a:rPr>
              <a:t>16</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73873"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1381</TotalTime>
  <Words>1129</Words>
  <Application>Microsoft Office PowerPoint</Application>
  <PresentationFormat>Custom</PresentationFormat>
  <Paragraphs>163</Paragraphs>
  <Slides>24</Slides>
  <Notes>24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Arial</vt:lpstr>
      <vt:lpstr>Wingdings</vt:lpstr>
      <vt:lpstr>Cambria Math</vt:lpstr>
      <vt:lpstr>Cambria</vt:lpstr>
      <vt:lpstr>Arial Black</vt:lpstr>
      <vt:lpstr>Verdana</vt:lpstr>
      <vt:lpstr>MS Mincho</vt:lpstr>
      <vt:lpstr>Calibri</vt:lpstr>
      <vt:lpstr>Times New Roman</vt:lpstr>
      <vt:lpstr>Century Gothic</vt:lpstr>
      <vt:lpstr>1_Office Theme</vt:lpstr>
      <vt:lpstr>8th Grade Math: Pre-Algebra  Unit 8, Lesson 2  Solving Real-World, Multi-Step Equations  Volume 2, pg. 11  </vt:lpstr>
      <vt:lpstr>Benchmark</vt:lpstr>
      <vt:lpstr>PowerPoint Presentation</vt:lpstr>
      <vt:lpstr>PowerPoint Presentation</vt:lpstr>
      <vt:lpstr>Warm-Up</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34</cp:revision>
  <dcterms:created xsi:type="dcterms:W3CDTF">2015-03-17T18:51:18Z</dcterms:created>
  <dcterms:modified xsi:type="dcterms:W3CDTF">2022-06-18T00:02:46Z</dcterms:modified>
</cp:coreProperties>
</file>