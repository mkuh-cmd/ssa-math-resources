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288" r:id="rId8"/>
    <p:sldId id="314" r:id="rId9"/>
    <p:sldId id="315" r:id="rId10"/>
    <p:sldId id="352" r:id="rId11"/>
    <p:sldId id="362" r:id="rId12"/>
    <p:sldId id="311" r:id="rId13"/>
    <p:sldId id="312" r:id="rId14"/>
    <p:sldId id="363" r:id="rId15"/>
    <p:sldId id="353" r:id="rId16"/>
    <p:sldId id="323" r:id="rId17"/>
    <p:sldId id="324" r:id="rId18"/>
    <p:sldId id="357" r:id="rId19"/>
    <p:sldId id="306" r:id="rId20"/>
    <p:sldId id="307" r:id="rId21"/>
    <p:sldId id="361" r:id="rId22"/>
  </p:sldIdLst>
  <p:sldSz cx="12192000" cy="6858000"/>
  <p:notesSz cx="6858000" cy="9144000"/>
  <p:embeddedFontLst>
    <p:embeddedFont>
      <p:font typeface="Arial Black" panose="020B0A04020102020204" pitchFamily="34" charset="0"/>
      <p:bold r:id="rId24"/>
    </p:embeddedFont>
    <p:embeddedFont>
      <p:font typeface="Calibri" panose="020F0502020204030204" pitchFamily="34" charset="0"/>
      <p:regular r:id="rId25"/>
      <p:bold r:id="rId26"/>
      <p:italic r:id="rId27"/>
      <p:boldItalic r:id="rId28"/>
    </p:embeddedFont>
    <p:embeddedFont>
      <p:font typeface="Cambria Math" panose="02040503050406030204" pitchFamily="18" charset="0"/>
      <p:regular r:id="rId29"/>
    </p:embeddedFont>
    <p:embeddedFont>
      <p:font typeface="Century Gothic" panose="020B0502020202020204" pitchFamily="34"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737" autoAdjust="0"/>
  </p:normalViewPr>
  <p:slideViewPr>
    <p:cSldViewPr snapToGrid="0">
      <p:cViewPr varScale="1">
        <p:scale>
          <a:sx n="108" d="100"/>
          <a:sy n="108" d="100"/>
        </p:scale>
        <p:origin x="59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19450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92260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392681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625605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24905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76303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9169433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732966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8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2.png"/><Relationship Id="rId4" Type="http://schemas.openxmlformats.org/officeDocument/2006/relationships/hyperlink" Target="https://pixabay.com/en/man-person-climb-mountaineer-rock-3733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4</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Solutions to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Linear Equations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1873"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9767" y="1522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1656" y="101013"/>
            <a:ext cx="886725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3332" y="379416"/>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30990" y="1589707"/>
            <a:ext cx="11400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MA.8.AR.2.1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multi-step linear equations in one variable with rational number coefficients. Include equations with variables on both sides.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53484" y="90216"/>
            <a:ext cx="947074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253484" y="1597056"/>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0"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433332" y="379416"/>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51643" y="90216"/>
            <a:ext cx="918967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433332" y="379416"/>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33779" y="1575837"/>
            <a:ext cx="1008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solve equations with variables on both sides.  </a:t>
            </a:r>
          </a:p>
          <a:p>
            <a:pPr marL="571500" indent="-571500">
              <a:buFont typeface="Wingdings" panose="05000000000000000000" pitchFamily="2" charset="2"/>
              <a:buChar char="q"/>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anose="05000000000000000000"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identify when an equation has infinitely many solutions or no solution.</a:t>
            </a:r>
          </a:p>
        </p:txBody>
      </p:sp>
      <p:sp>
        <p:nvSpPr>
          <p:cNvPr id="9"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1654" y="457620"/>
            <a:ext cx="931251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33332" y="37941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28439" y="1466401"/>
                <a:ext cx="10800000"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A triangle and a square are shown with their dimensions given in terms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units. The triangle and square have the same perimeter.</a:t>
                </a: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528439" y="1466401"/>
                <a:ext cx="10800000" cy="830997"/>
              </a:xfrm>
              <a:prstGeom prst="rect">
                <a:avLst/>
              </a:prstGeom>
              <a:blipFill rotWithShape="1">
                <a:blip r:embed="rId4"/>
                <a:stretch>
                  <a:fillRect l="-903" t="-5882" b="-15441"/>
                </a:stretch>
              </a:blipFill>
            </p:spPr>
            <p:txBody>
              <a:bodyPr/>
              <a:lstStyle/>
              <a:p>
                <a:r>
                  <a:rPr lang="en-PH">
                    <a:noFill/>
                  </a:rPr>
                  <a:t> </a:t>
                </a:r>
              </a:p>
            </p:txBody>
          </p:sp>
        </mc:Fallback>
      </mc:AlternateContent>
      <p:pic>
        <p:nvPicPr>
          <p:cNvPr id="9" name="image7.png" descr="Shape&#10;&#10;Description automatically generated with low confidence"/>
          <p:cNvPicPr/>
          <p:nvPr/>
        </p:nvPicPr>
        <p:blipFill>
          <a:blip r:embed="rId5" cstate="screen">
            <a:extLst>
              <a:ext uri="{28A0092B-C50C-407E-A947-70E740481C1C}">
                <a14:useLocalDpi xmlns:a14="http://schemas.microsoft.com/office/drawing/2010/main"/>
              </a:ext>
            </a:extLst>
          </a:blip>
          <a:srcRect/>
          <a:stretch>
            <a:fillRect/>
          </a:stretch>
        </p:blipFill>
        <p:spPr>
          <a:xfrm>
            <a:off x="4079495" y="2554383"/>
            <a:ext cx="3656834" cy="3230203"/>
          </a:xfrm>
          <a:prstGeom prst="rect">
            <a:avLst/>
          </a:prstGeom>
          <a:ln/>
        </p:spPr>
      </p:pic>
      <p:sp>
        <p:nvSpPr>
          <p:cNvPr id="11"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5296" y="384963"/>
                <a:ext cx="10800000" cy="526297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equation </a:t>
                </a:r>
                <a14:m>
                  <m:oMath xmlns:m="http://schemas.openxmlformats.org/officeDocument/2006/math">
                    <m:r>
                      <a:rPr lang="en-US" sz="2400" i="1">
                        <a:latin typeface="Cambria Math" panose="02040503050406030204" pitchFamily="18" charset="0"/>
                        <a:ea typeface="Cambria Math" panose="02040503050406030204" pitchFamily="18" charset="0"/>
                      </a:rPr>
                      <m:t>4</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+2</m:t>
                        </m:r>
                      </m:e>
                    </m:d>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𝑥</m:t>
                    </m:r>
                    <m:r>
                      <a:rPr lang="en-US" sz="2400" i="1">
                        <a:latin typeface="Cambria Math" panose="02040503050406030204" pitchFamily="18" charset="0"/>
                        <a:ea typeface="Cambria Math" panose="02040503050406030204" pitchFamily="18"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 can be used to find the value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 based on the information given.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to indicate which figure’s perimeter each expression represents.</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value of </a:t>
                </a:r>
                <a14:m>
                  <m:oMath xmlns:m="http://schemas.openxmlformats.org/officeDocument/2006/math">
                    <m:r>
                      <a:rPr lang="en-US" sz="2400" i="1">
                        <a:latin typeface="Cambria Math" panose="02040503050406030204" pitchFamily="18" charset="0"/>
                        <a:ea typeface="Cambria Math" panose="02040503050406030204" pitchFamily="18" charset="0"/>
                      </a:rPr>
                      <m:t>𝑥</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perimeter of each figure?</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296" y="384963"/>
                <a:ext cx="10800000" cy="5262979"/>
              </a:xfrm>
              <a:prstGeom prst="rect">
                <a:avLst/>
              </a:prstGeom>
              <a:blipFill rotWithShape="1">
                <a:blip r:embed="rId3"/>
                <a:stretch>
                  <a:fillRect l="-903" t="-1043" b="-1738"/>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903116719"/>
                  </p:ext>
                </p:extLst>
              </p:nvPr>
            </p:nvGraphicFramePr>
            <p:xfrm>
              <a:off x="3225927" y="2560781"/>
              <a:ext cx="6599150" cy="1548000"/>
            </p:xfrm>
            <a:graphic>
              <a:graphicData uri="http://schemas.openxmlformats.org/drawingml/2006/table">
                <a:tbl>
                  <a:tblPr firstRow="1" firstCol="1" bandRow="1">
                    <a:tableStyleId>{5940675A-B579-460E-94D1-54222C63F5DA}</a:tableStyleId>
                  </a:tblPr>
                  <a:tblGrid>
                    <a:gridCol w="335915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 of the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−8</m:t>
                                </m:r>
                              </m:oMath>
                            </m:oMathPara>
                          </a14:m>
                          <a:endParaRPr lang="en-US"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40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m:t>
                                </m:r>
                                <m:r>
                                  <a:rPr lang="en-US" sz="2000">
                                    <a:effectLst/>
                                    <a:latin typeface="Cambria Math" panose="02040503050406030204" pitchFamily="18" charset="0"/>
                                    <a:ea typeface="Cambria Math" panose="02040503050406030204" pitchFamily="18" charset="0"/>
                                  </a:rPr>
                                  <m:t>𝑥</m:t>
                                </m:r>
                                <m:r>
                                  <a:rPr lang="en-US" sz="2000">
                                    <a:effectLst/>
                                    <a:latin typeface="Cambria Math" panose="02040503050406030204" pitchFamily="18" charset="0"/>
                                    <a:ea typeface="Cambria Math" panose="02040503050406030204" pitchFamily="18" charset="0"/>
                                  </a:rPr>
                                  <m:t>+2)</m:t>
                                </m:r>
                              </m:oMath>
                            </m:oMathPara>
                          </a14:m>
                          <a:endParaRPr lang="en-US"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903116719"/>
                  </p:ext>
                </p:extLst>
              </p:nvPr>
            </p:nvGraphicFramePr>
            <p:xfrm>
              <a:off x="3225927" y="2560781"/>
              <a:ext cx="6599150" cy="1548000"/>
            </p:xfrm>
            <a:graphic>
              <a:graphicData uri="http://schemas.openxmlformats.org/drawingml/2006/table">
                <a:tbl>
                  <a:tblPr firstRow="1" firstCol="1" bandRow="1">
                    <a:tableStyleId>{5940675A-B579-460E-94D1-54222C63F5DA}</a:tableStyleId>
                  </a:tblPr>
                  <a:tblGrid>
                    <a:gridCol w="3359150">
                      <a:extLst>
                        <a:ext uri="{9D8B030D-6E8A-4147-A177-3AD203B41FA5}">
                          <a16:colId xmlns:a16="http://schemas.microsoft.com/office/drawing/2014/main" xmlns:a14="http://schemas.microsoft.com/office/drawing/2010/main" xmlns="" val="20000"/>
                        </a:ext>
                      </a:extLst>
                    </a:gridCol>
                    <a:gridCol w="3240000">
                      <a:extLst>
                        <a:ext uri="{9D8B030D-6E8A-4147-A177-3AD203B41FA5}">
                          <a16:colId xmlns:a16="http://schemas.microsoft.com/office/drawing/2014/main" xmlns:a14="http://schemas.microsoft.com/office/drawing/2010/main" xmlns="" val="20001"/>
                        </a:ext>
                      </a:extLst>
                    </a:gridCol>
                  </a:tblGrid>
                  <a:tr h="468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Perimeter of the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87500" r="-96552" b="-102273"/>
                          </a:stretch>
                        </a:blip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54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85393" r="-96552" b="-1124"/>
                          </a:stretch>
                        </a:blip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8"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3483" y="97878"/>
            <a:ext cx="108063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8.4.2 Collaboration: Which Would </a:t>
            </a:r>
            <a:br>
              <a:rPr lang="en-US" sz="3600" b="1" dirty="0">
                <a:solidFill>
                  <a:srgbClr val="33BEA6"/>
                </a:solidFill>
                <a:latin typeface="Verdana"/>
                <a:ea typeface="Verdana"/>
                <a:cs typeface="Verdana"/>
                <a:sym typeface="Verdana"/>
              </a:rPr>
            </a:br>
            <a:r>
              <a:rPr lang="en-US" sz="3600" b="1" dirty="0">
                <a:solidFill>
                  <a:srgbClr val="33BEA6"/>
                </a:solidFill>
                <a:latin typeface="Verdana"/>
                <a:ea typeface="Verdana"/>
                <a:cs typeface="Verdana"/>
                <a:sym typeface="Verdana"/>
              </a:rPr>
              <a:t>You Prefer?</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0824" y="38582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534393" y="1469077"/>
            <a:ext cx="9116345" cy="461665"/>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Nine equations are shown.</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58942635"/>
                  </p:ext>
                </p:extLst>
              </p:nvPr>
            </p:nvGraphicFramePr>
            <p:xfrm>
              <a:off x="2144946" y="2033820"/>
              <a:ext cx="7560000" cy="43200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tblGrid>
                  <a:tr h="864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2</m:t>
                                    </m:r>
                                  </m:den>
                                </m:f>
                                <m:r>
                                  <a:rPr lang="en-US" sz="2000">
                                    <a:effectLst/>
                                    <a:latin typeface="Cambria Math" panose="02040503050406030204" pitchFamily="18" charset="0"/>
                                    <a:ea typeface="Cambria Math" panose="02040503050406030204" pitchFamily="18" charset="0"/>
                                  </a:rPr>
                                  <m:t>(</m:t>
                                </m:r>
                                <m:r>
                                  <a:rPr lang="en-US" sz="2000">
                                    <a:effectLst/>
                                    <a:latin typeface="Cambria Math" panose="02040503050406030204" pitchFamily="18" charset="0"/>
                                    <a:ea typeface="Cambria Math" panose="02040503050406030204" pitchFamily="18" charset="0"/>
                                  </a:rPr>
                                  <m:t>𝑡</m:t>
                                </m:r>
                                <m:r>
                                  <a:rPr lang="en-US" sz="2000">
                                    <a:effectLst/>
                                    <a:latin typeface="Cambria Math" panose="02040503050406030204" pitchFamily="18" charset="0"/>
                                    <a:ea typeface="Cambria Math" panose="02040503050406030204" pitchFamily="18" charset="0"/>
                                  </a:rPr>
                                  <m:t>+3)−10=−6.5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10−</m:t>
                                    </m:r>
                                    <m:r>
                                      <a:rPr lang="en-US" sz="2000">
                                        <a:effectLst/>
                                        <a:latin typeface="Cambria Math" panose="02040503050406030204" pitchFamily="18" charset="0"/>
                                        <a:ea typeface="Cambria Math" panose="02040503050406030204" pitchFamily="18" charset="0"/>
                                      </a:rPr>
                                      <m:t>𝑣</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𝑣</m:t>
                                </m:r>
                                <m:r>
                                  <a:rPr lang="en-US" sz="2000">
                                    <a:effectLst/>
                                    <a:latin typeface="Cambria Math" panose="02040503050406030204" pitchFamily="18" charset="0"/>
                                    <a:ea typeface="Cambria Math" panose="02040503050406030204" pitchFamily="18" charset="0"/>
                                  </a:rPr>
                                  <m:t>+17)</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864000">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𝑛</m:t>
                                    </m:r>
                                  </m:num>
                                  <m:den>
                                    <m:r>
                                      <a:rPr lang="en-US" sz="2000">
                                        <a:effectLst/>
                                        <a:latin typeface="Cambria Math" panose="02040503050406030204" pitchFamily="18" charset="0"/>
                                        <a:ea typeface="Cambria Math" panose="02040503050406030204" pitchFamily="18" charset="0"/>
                                      </a:rPr>
                                      <m:t>7</m:t>
                                    </m:r>
                                  </m:den>
                                </m:f>
                                <m:r>
                                  <a:rPr lang="en-US" sz="2000">
                                    <a:effectLst/>
                                    <a:latin typeface="Cambria Math" panose="02040503050406030204" pitchFamily="18" charset="0"/>
                                    <a:ea typeface="Cambria Math" panose="02040503050406030204" pitchFamily="18" charset="0"/>
                                  </a:rPr>
                                  <m:t>−12=5</m:t>
                                </m:r>
                                <m:r>
                                  <a:rPr lang="en-US" sz="2000">
                                    <a:effectLst/>
                                    <a:latin typeface="Cambria Math" panose="02040503050406030204" pitchFamily="18" charset="0"/>
                                    <a:ea typeface="Cambria Math" panose="02040503050406030204" pitchFamily="18" charset="0"/>
                                  </a:rPr>
                                  <m:t>𝑛</m:t>
                                </m:r>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r>
                                      <a:rPr lang="en-US" sz="2000">
                                        <a:effectLst/>
                                        <a:latin typeface="Cambria Math" panose="02040503050406030204" pitchFamily="18" charset="0"/>
                                        <a:ea typeface="Cambria Math" panose="02040503050406030204" pitchFamily="18" charset="0"/>
                                      </a:rPr>
                                      <m:t>𝑚</m:t>
                                    </m:r>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9+4</m:t>
                                    </m:r>
                                    <m:r>
                                      <a:rPr lang="en-US" sz="2000">
                                        <a:effectLst/>
                                        <a:latin typeface="Cambria Math" panose="02040503050406030204" pitchFamily="18" charset="0"/>
                                        <a:ea typeface="Cambria Math" panose="02040503050406030204" pitchFamily="18" charset="0"/>
                                      </a:rPr>
                                      <m:t>𝑚</m:t>
                                    </m:r>
                                  </m:num>
                                  <m:den>
                                    <m:r>
                                      <a:rPr lang="en-US" sz="2000">
                                        <a:effectLst/>
                                        <a:latin typeface="Cambria Math" panose="02040503050406030204" pitchFamily="18" charset="0"/>
                                        <a:ea typeface="Cambria Math" panose="02040503050406030204" pitchFamily="18" charset="0"/>
                                      </a:rPr>
                                      <m:t>8</m:t>
                                    </m:r>
                                  </m:den>
                                </m:f>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64000">
                    <a:tc>
                      <a:txBody>
                        <a:bodyPr/>
                        <a:lstStyle/>
                        <a:p>
                          <a:pPr marL="0" marR="0" algn="ctr">
                            <a:lnSpc>
                              <a:spcPct val="2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𝑟</m:t>
                                </m:r>
                                <m:r>
                                  <a:rPr lang="en-US" sz="2000">
                                    <a:effectLst/>
                                    <a:latin typeface="Cambria Math" panose="02040503050406030204" pitchFamily="18" charset="0"/>
                                    <a:ea typeface="Cambria Math" panose="02040503050406030204" pitchFamily="18" charset="0"/>
                                  </a:rPr>
                                  <m:t>+49=−8(−</m:t>
                                </m:r>
                                <m:r>
                                  <a:rPr lang="en-US" sz="2000">
                                    <a:effectLst/>
                                    <a:latin typeface="Cambria Math" panose="02040503050406030204" pitchFamily="18" charset="0"/>
                                    <a:ea typeface="Cambria Math" panose="02040503050406030204" pitchFamily="18" charset="0"/>
                                  </a:rPr>
                                  <m:t>𝑟</m:t>
                                </m:r>
                                <m:r>
                                  <a:rPr lang="en-US" sz="2000">
                                    <a:effectLst/>
                                    <a:latin typeface="Cambria Math" panose="02040503050406030204" pitchFamily="18" charset="0"/>
                                    <a:ea typeface="Cambria Math" panose="02040503050406030204" pitchFamily="18" charset="0"/>
                                  </a:rPr>
                                  <m:t>−5)</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2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−5(</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+4)=</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−(8−</m:t>
                                </m:r>
                                <m:r>
                                  <a:rPr lang="en-US" sz="2000">
                                    <a:effectLst/>
                                    <a:latin typeface="Cambria Math" panose="02040503050406030204" pitchFamily="18" charset="0"/>
                                    <a:ea typeface="Cambria Math" panose="02040503050406030204" pitchFamily="18" charset="0"/>
                                  </a:rPr>
                                  <m:t>𝑝</m:t>
                                </m:r>
                                <m:r>
                                  <a:rPr lang="en-US" sz="2000">
                                    <a:effectLst/>
                                    <a:latin typeface="Cambria Math" panose="02040503050406030204" pitchFamily="18" charset="0"/>
                                    <a:ea typeface="Cambria Math" panose="02040503050406030204" pitchFamily="18" charset="0"/>
                                  </a:rPr>
                                  <m:t>)</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64000">
                    <a:tc>
                      <a:txBody>
                        <a:bodyPr/>
                        <a:lstStyle/>
                        <a:p>
                          <a:pPr marL="0" marR="0" algn="ctr">
                            <a:lnSpc>
                              <a:spcPct val="2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2(2</m:t>
                                </m:r>
                                <m:r>
                                  <a:rPr lang="en-US" sz="2000">
                                    <a:effectLst/>
                                    <a:latin typeface="Cambria Math" panose="02040503050406030204" pitchFamily="18" charset="0"/>
                                    <a:ea typeface="Cambria Math" panose="02040503050406030204" pitchFamily="18" charset="0"/>
                                  </a:rPr>
                                  <m:t>𝑞</m:t>
                                </m:r>
                                <m:r>
                                  <a:rPr lang="en-US" sz="2000">
                                    <a:effectLst/>
                                    <a:latin typeface="Cambria Math" panose="02040503050406030204" pitchFamily="18" charset="0"/>
                                    <a:ea typeface="Cambria Math" panose="02040503050406030204" pitchFamily="18" charset="0"/>
                                  </a:rPr>
                                  <m:t>+1.5)=18−</m:t>
                                </m:r>
                                <m:r>
                                  <a:rPr lang="en-US" sz="2000">
                                    <a:effectLst/>
                                    <a:latin typeface="Cambria Math" panose="02040503050406030204" pitchFamily="18" charset="0"/>
                                    <a:ea typeface="Cambria Math" panose="02040503050406030204" pitchFamily="18" charset="0"/>
                                  </a:rPr>
                                  <m:t>𝑞</m:t>
                                </m:r>
                              </m:oMath>
                            </m:oMathPara>
                          </a14:m>
                          <a:endParaRPr lang="en-US" sz="200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2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2(4</m:t>
                                </m:r>
                                <m:r>
                                  <a:rPr lang="en-US" sz="2000">
                                    <a:effectLst/>
                                    <a:latin typeface="Cambria Math" panose="02040503050406030204" pitchFamily="18" charset="0"/>
                                    <a:ea typeface="Cambria Math" panose="02040503050406030204" pitchFamily="18" charset="0"/>
                                  </a:rPr>
                                  <m:t>𝑘</m:t>
                                </m:r>
                                <m:r>
                                  <a:rPr lang="en-US" sz="2000">
                                    <a:effectLst/>
                                    <a:latin typeface="Cambria Math" panose="02040503050406030204" pitchFamily="18" charset="0"/>
                                    <a:ea typeface="Cambria Math" panose="02040503050406030204" pitchFamily="18" charset="0"/>
                                  </a:rPr>
                                  <m:t>+3)−13=2(18−</m:t>
                                </m:r>
                                <m:r>
                                  <a:rPr lang="en-US" sz="2000">
                                    <a:effectLst/>
                                    <a:latin typeface="Cambria Math" panose="02040503050406030204" pitchFamily="18" charset="0"/>
                                    <a:ea typeface="Cambria Math" panose="02040503050406030204" pitchFamily="18" charset="0"/>
                                  </a:rPr>
                                  <m:t>𝑘</m:t>
                                </m:r>
                                <m:r>
                                  <a:rPr lang="en-US" sz="2000">
                                    <a:effectLst/>
                                    <a:latin typeface="Cambria Math" panose="02040503050406030204" pitchFamily="18" charset="0"/>
                                    <a:ea typeface="Cambria Math" panose="02040503050406030204" pitchFamily="18" charset="0"/>
                                  </a:rPr>
                                  <m:t>)−13</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64000">
                    <a:tc gridSpan="2">
                      <a:txBody>
                        <a:bodyPr/>
                        <a:lstStyle/>
                        <a:p>
                          <a:pPr marL="0" marR="0" algn="ctr">
                            <a:lnSpc>
                              <a:spcPct val="2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−1)+2(3</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+1)=−(3</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+1)</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58942635"/>
                  </p:ext>
                </p:extLst>
              </p:nvPr>
            </p:nvGraphicFramePr>
            <p:xfrm>
              <a:off x="2144946" y="2033820"/>
              <a:ext cx="7560000" cy="43200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tblGrid>
                  <a:tr h="864000">
                    <a:tc>
                      <a:txBody>
                        <a:bodyPr/>
                        <a:lstStyle/>
                        <a:p>
                          <a:endParaRPr lang="en-US"/>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1471" r="-133984" b="-404412"/>
                          </a:stretch>
                        </a:blipFill>
                      </a:tcPr>
                    </a:tc>
                    <a:tc>
                      <a:txBody>
                        <a:bodyPr/>
                        <a:lstStyle/>
                        <a:p>
                          <a:endParaRPr lang="en-US"/>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5073" t="-1471" r="-587" b="-404412"/>
                          </a:stretch>
                        </a:blipFill>
                      </a:tcPr>
                    </a:tc>
                    <a:extLst>
                      <a:ext uri="{0D108BD9-81ED-4DB2-BD59-A6C34878D82A}">
                        <a16:rowId xmlns:a16="http://schemas.microsoft.com/office/drawing/2014/main" val="10000"/>
                      </a:ext>
                    </a:extLst>
                  </a:tr>
                  <a:tr h="864000">
                    <a:tc>
                      <a:txBody>
                        <a:bodyPr/>
                        <a:lstStyle/>
                        <a:p>
                          <a:endParaRPr lang="en-US"/>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101471" r="-133984" b="-304412"/>
                          </a:stretch>
                        </a:blipFill>
                      </a:tcPr>
                    </a:tc>
                    <a:tc>
                      <a:txBody>
                        <a:bodyPr/>
                        <a:lstStyle/>
                        <a:p>
                          <a:endParaRPr lang="en-US"/>
                        </a:p>
                      </a:txBody>
                      <a:tcPr anchor="b">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5073" t="-101471" r="-587" b="-304412"/>
                          </a:stretch>
                        </a:blipFill>
                      </a:tcPr>
                    </a:tc>
                    <a:extLst>
                      <a:ext uri="{0D108BD9-81ED-4DB2-BD59-A6C34878D82A}">
                        <a16:rowId xmlns:a16="http://schemas.microsoft.com/office/drawing/2014/main" val="10001"/>
                      </a:ext>
                    </a:extLst>
                  </a:tr>
                  <a:tr h="86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198551" r="-133984" b="-200000"/>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5073" t="-198551" r="-587" b="-200000"/>
                          </a:stretch>
                        </a:blipFill>
                      </a:tcPr>
                    </a:tc>
                    <a:extLst>
                      <a:ext uri="{0D108BD9-81ED-4DB2-BD59-A6C34878D82A}">
                        <a16:rowId xmlns:a16="http://schemas.microsoft.com/office/drawing/2014/main" val="10002"/>
                      </a:ext>
                    </a:extLst>
                  </a:tr>
                  <a:tr h="864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302941" r="-133984" b="-102941"/>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75073" t="-302941" r="-587" b="-102941"/>
                          </a:stretch>
                        </a:blipFill>
                      </a:tcPr>
                    </a:tc>
                    <a:extLst>
                      <a:ext uri="{0D108BD9-81ED-4DB2-BD59-A6C34878D82A}">
                        <a16:rowId xmlns:a16="http://schemas.microsoft.com/office/drawing/2014/main" val="10003"/>
                      </a:ext>
                    </a:extLst>
                  </a:tr>
                  <a:tr h="864000">
                    <a:tc gridSpan="2">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t="-402941" r="-335" b="-2941"/>
                          </a:stretch>
                        </a:blipFill>
                      </a:tcPr>
                    </a:tc>
                    <a:tc hMerge="1">
                      <a:txBody>
                        <a:bodyPr/>
                        <a:lstStyle/>
                        <a:p>
                          <a:endParaRPr lang="en-US"/>
                        </a:p>
                      </a:txBody>
                      <a:tcPr/>
                    </a:tc>
                    <a:extLst>
                      <a:ext uri="{0D108BD9-81ED-4DB2-BD59-A6C34878D82A}">
                        <a16:rowId xmlns:a16="http://schemas.microsoft.com/office/drawing/2014/main" val="10004"/>
                      </a:ext>
                    </a:extLst>
                  </a:tr>
                </a:tbl>
              </a:graphicData>
            </a:graphic>
          </p:graphicFrame>
        </mc:Fallback>
      </mc:AlternateContent>
      <p:sp>
        <p:nvSpPr>
          <p:cNvPr id="12"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33023" y="385779"/>
            <a:ext cx="10800000"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equations with your partner.</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Without solving any of the equations, identify three equations that you and your partner think would be least difficult to solve and write an L in each box next to these equations.</a:t>
            </a: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Then, identify three equations you think would be the most difficult to solve and write an M in each box next to these equations.</a:t>
            </a:r>
          </a:p>
        </p:txBody>
      </p:sp>
      <p:sp>
        <p:nvSpPr>
          <p:cNvPr id="7"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581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17971" y="383547"/>
            <a:ext cx="10800000" cy="2862322"/>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Choose three equations to solve. One equation must be from your list of least difficult equations, one from your list of most difficult, and one that was not on either list.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Circle the equations you will be solving in </a:t>
            </a:r>
            <a:r>
              <a:rPr lang="en-US" sz="2000">
                <a:latin typeface="Verdana" panose="020B0604030504040204" pitchFamily="34" charset="0"/>
                <a:ea typeface="Verdana" panose="020B0604030504040204" pitchFamily="34" charset="0"/>
                <a:cs typeface="Verdana" panose="020B0604030504040204" pitchFamily="34" charset="0"/>
              </a:rPr>
              <a:t>the original table.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solve each equation. Write the equation being solved in the table and show your work to find each solution in the space provided.</a:t>
            </a:r>
          </a:p>
        </p:txBody>
      </p:sp>
      <p:graphicFrame>
        <p:nvGraphicFramePr>
          <p:cNvPr id="2" name="Table 1"/>
          <p:cNvGraphicFramePr>
            <a:graphicFrameLocks noGrp="1"/>
          </p:cNvGraphicFramePr>
          <p:nvPr>
            <p:extLst>
              <p:ext uri="{D42A27DB-BD31-4B8C-83A1-F6EECF244321}">
                <p14:modId xmlns:p14="http://schemas.microsoft.com/office/powerpoint/2010/main" val="400030749"/>
              </p:ext>
            </p:extLst>
          </p:nvPr>
        </p:nvGraphicFramePr>
        <p:xfrm>
          <a:off x="2792527" y="3433050"/>
          <a:ext cx="6840000" cy="2853379"/>
        </p:xfrm>
        <a:graphic>
          <a:graphicData uri="http://schemas.openxmlformats.org/drawingml/2006/table">
            <a:tbl>
              <a:tblPr firstRow="1" firstCol="1" bandRow="1">
                <a:tableStyleId>{5940675A-B579-460E-94D1-54222C63F5DA}</a:tableStyleId>
              </a:tblPr>
              <a:tblGrid>
                <a:gridCol w="1260000">
                  <a:extLst>
                    <a:ext uri="{9D8B030D-6E8A-4147-A177-3AD203B41FA5}">
                      <a16:colId xmlns:a16="http://schemas.microsoft.com/office/drawing/2014/main" val="20000"/>
                    </a:ext>
                  </a:extLst>
                </a:gridCol>
                <a:gridCol w="234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468000">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List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180"/>
                        </a:spcBef>
                        <a:spcAft>
                          <a:spcPts val="18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 and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88849">
                <a:tc>
                  <a:txBody>
                    <a:bodyPr/>
                    <a:lstStyle/>
                    <a:p>
                      <a:pPr marL="0" marR="0" algn="ctr">
                        <a:spcBef>
                          <a:spcPts val="180"/>
                        </a:spcBef>
                        <a:spcAft>
                          <a:spcPts val="180"/>
                        </a:spcAft>
                      </a:pPr>
                      <a:r>
                        <a:rPr lang="en-US" sz="2000" dirty="0">
                          <a:effectLst/>
                          <a:latin typeface="Verdana" panose="020B0604030504040204" pitchFamily="34" charset="0"/>
                          <a:ea typeface="Verdana" panose="020B0604030504040204" pitchFamily="34" charset="0"/>
                          <a:cs typeface="Verdana" panose="020B0604030504040204" pitchFamily="34" charset="0"/>
                        </a:rPr>
                        <a:t>Least Difficult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847228">
                <a:tc>
                  <a:txBody>
                    <a:bodyPr/>
                    <a:lstStyle/>
                    <a:p>
                      <a:pPr marL="0" marR="0" algn="ctr">
                        <a:spcBef>
                          <a:spcPts val="180"/>
                        </a:spcBef>
                        <a:spcAft>
                          <a:spcPts val="180"/>
                        </a:spcAft>
                      </a:pPr>
                      <a:r>
                        <a:rPr lang="en-US" sz="2000" dirty="0">
                          <a:effectLst/>
                          <a:latin typeface="Verdana" panose="020B0604030504040204" pitchFamily="34" charset="0"/>
                          <a:ea typeface="Verdana" panose="020B0604030504040204" pitchFamily="34" charset="0"/>
                          <a:cs typeface="Verdana" panose="020B0604030504040204" pitchFamily="34" charset="0"/>
                        </a:rPr>
                        <a:t>Most Difficult</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49302">
                <a:tc>
                  <a:txBody>
                    <a:bodyPr/>
                    <a:lstStyle/>
                    <a:p>
                      <a:pPr marL="0" marR="0" algn="ctr">
                        <a:spcBef>
                          <a:spcPts val="180"/>
                        </a:spcBef>
                        <a:spcAft>
                          <a:spcPts val="180"/>
                        </a:spcAft>
                      </a:pPr>
                      <a:r>
                        <a:rPr lang="en-US" sz="2000" dirty="0">
                          <a:effectLst/>
                          <a:latin typeface="Verdana" panose="020B0604030504040204" pitchFamily="34" charset="0"/>
                          <a:ea typeface="Verdana" panose="020B0604030504040204" pitchFamily="34" charset="0"/>
                          <a:cs typeface="Verdana" panose="020B0604030504040204" pitchFamily="34" charset="0"/>
                        </a:rPr>
                        <a:t>Neither</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180"/>
                        </a:spcBef>
                        <a:spcAft>
                          <a:spcPts val="18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sz="2000" dirty="0">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23</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20253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2866" y="87739"/>
            <a:ext cx="106725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8.4.3 Exploration: How Many Solutions?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27798" y="374462"/>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36197" y="1462892"/>
                <a:ext cx="10800000" cy="193899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table shows three equations and five possible values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Evaluate each equation for the values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and indicate if the value makes the equation true or false.</a:t>
                </a:r>
              </a:p>
            </p:txBody>
          </p:sp>
        </mc:Choice>
        <mc:Fallback xmlns="">
          <p:sp>
            <p:nvSpPr>
              <p:cNvPr id="10" name="TextBox 9">
                <a:extLst>
                  <a:ext uri="{FF2B5EF4-FFF2-40B4-BE49-F238E27FC236}">
                    <a16:creationId xmlns:a16="http://schemas.microsoft.com/office/drawing/2014/main" xmlns:a14="http://schemas.microsoft.com/office/drawing/2010/main" xmlns="" id="{152D1D4D-DCB8-A246-B186-D40316579D77}"/>
                  </a:ext>
                </a:extLst>
              </p:cNvPr>
              <p:cNvSpPr txBox="1">
                <a:spLocks noRot="1" noChangeAspect="1" noMove="1" noResize="1" noEditPoints="1" noAdjustHandles="1" noChangeArrowheads="1" noChangeShapeType="1" noTextEdit="1"/>
              </p:cNvSpPr>
              <p:nvPr/>
            </p:nvSpPr>
            <p:spPr>
              <a:xfrm>
                <a:off x="536197" y="1462892"/>
                <a:ext cx="10800000" cy="1938992"/>
              </a:xfrm>
              <a:prstGeom prst="rect">
                <a:avLst/>
              </a:prstGeom>
              <a:blipFill rotWithShape="1">
                <a:blip r:embed="rId4"/>
                <a:stretch>
                  <a:fillRect l="-621" t="-1572" b="-4717"/>
                </a:stretch>
              </a:blipFill>
            </p:spPr>
            <p:txBody>
              <a:bodyPr/>
              <a:lstStyle/>
              <a:p>
                <a:r>
                  <a:rPr lang="en-PH">
                    <a:noFill/>
                  </a:rPr>
                  <a:t> </a:t>
                </a:r>
              </a:p>
            </p:txBody>
          </p:sp>
        </mc:Fallback>
      </mc:AlternateContent>
      <p:pic>
        <p:nvPicPr>
          <p:cNvPr id="1025" name="Picture 1"/>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585572" y="3499784"/>
            <a:ext cx="7893364" cy="3056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1506" y="381707"/>
                <a:ext cx="10800000" cy="5016758"/>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structure of the equations that were true for all values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One of the equations was false for all values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structure of the equation that was false for all values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Solve the equation to determine if there is a different value of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latin typeface="Verdana" panose="020B0604030504040204" pitchFamily="34" charset="0"/>
                    <a:ea typeface="Verdana" panose="020B0604030504040204" pitchFamily="34" charset="0"/>
                    <a:cs typeface="Verdana" panose="020B0604030504040204" pitchFamily="34" charset="0"/>
                  </a:rPr>
                  <a:t> that makes the equation true. If there is a solution to the equation, show it. If there is not a solution to the equation, work with your partner to write an explanation for why not.</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506" y="381707"/>
                <a:ext cx="10800000" cy="5016758"/>
              </a:xfrm>
              <a:prstGeom prst="rect">
                <a:avLst/>
              </a:prstGeom>
              <a:blipFill rotWithShape="1">
                <a:blip r:embed="rId3"/>
                <a:stretch>
                  <a:fillRect l="-564" t="-729" r="-1298" b="-1215"/>
                </a:stretch>
              </a:blipFill>
            </p:spPr>
            <p:txBody>
              <a:bodyPr/>
              <a:lstStyle/>
              <a:p>
                <a:r>
                  <a:rPr lang="en-PH">
                    <a:noFill/>
                  </a:rPr>
                  <a:t> </a:t>
                </a:r>
              </a:p>
            </p:txBody>
          </p:sp>
        </mc:Fallback>
      </mc:AlternateContent>
      <p:sp>
        <p:nvSpPr>
          <p:cNvPr id="6"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8881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35296" y="371639"/>
            <a:ext cx="11496907" cy="193899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create an equation that is true for all values.</a:t>
            </a: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create an equation that is false for all values.</a:t>
            </a:r>
          </a:p>
        </p:txBody>
      </p:sp>
      <p:grpSp>
        <p:nvGrpSpPr>
          <p:cNvPr id="6" name="Group 5"/>
          <p:cNvGrpSpPr/>
          <p:nvPr/>
        </p:nvGrpSpPr>
        <p:grpSpPr>
          <a:xfrm>
            <a:off x="1956000" y="4673945"/>
            <a:ext cx="8280000" cy="1525827"/>
            <a:chOff x="-833370" y="0"/>
            <a:chExt cx="8280000" cy="1525998"/>
          </a:xfrm>
        </p:grpSpPr>
        <p:grpSp>
          <p:nvGrpSpPr>
            <p:cNvPr id="7" name="Group 6"/>
            <p:cNvGrpSpPr/>
            <p:nvPr/>
          </p:nvGrpSpPr>
          <p:grpSpPr>
            <a:xfrm>
              <a:off x="-833370" y="0"/>
              <a:ext cx="8280000" cy="1525998"/>
              <a:chOff x="1197930" y="3386808"/>
              <a:chExt cx="8280000" cy="1525998"/>
            </a:xfrm>
          </p:grpSpPr>
          <p:grpSp>
            <p:nvGrpSpPr>
              <p:cNvPr id="9" name="Group 8"/>
              <p:cNvGrpSpPr/>
              <p:nvPr/>
            </p:nvGrpSpPr>
            <p:grpSpPr>
              <a:xfrm>
                <a:off x="1197930" y="3386808"/>
                <a:ext cx="8280000" cy="1525998"/>
                <a:chOff x="-833370" y="0"/>
                <a:chExt cx="8280000" cy="1525998"/>
              </a:xfrm>
            </p:grpSpPr>
            <p:sp>
              <p:nvSpPr>
                <p:cNvPr id="10" name="Rectangle 9"/>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sp>
              <p:nvSpPr>
                <p:cNvPr id="11" name="Rectangle 10"/>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libri" panose="020F0502020204030204" pitchFamily="34" charset="0"/>
                      <a:ea typeface="Times New Roman" panose="02020603050405020304" pitchFamily="18" charset="0"/>
                      <a:cs typeface="Times New Roman" panose="02020603050405020304" pitchFamily="18" charset="0"/>
                    </a:rPr>
                    <a:t> </a:t>
                  </a:r>
                </a:p>
              </p:txBody>
            </p:sp>
            <p:sp>
              <p:nvSpPr>
                <p:cNvPr id="13" name="Rounded Rectangle 12"/>
                <p:cNvSpPr/>
                <p:nvPr/>
              </p:nvSpPr>
              <p:spPr>
                <a:xfrm>
                  <a:off x="-833370" y="241759"/>
                  <a:ext cx="8280000" cy="1284239"/>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108000" rIns="91425" bIns="0" anchor="ctr" anchorCtr="0">
                  <a:spAutoFit/>
                </a:bodyPr>
                <a:lstStyle/>
                <a:p>
                  <a:pPr marL="623888">
                    <a:spcAft>
                      <a:spcPts val="10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If an equation is true for all values of the variable, it has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infinitely many solutions</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If there are no values of the variable that make an equation true, it has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no solution</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a:t>
                  </a:r>
                  <a:endParaRPr lang="en-US" sz="2000" dirty="0">
                    <a:latin typeface="Calibri" panose="020F0502020204030204" pitchFamily="34" charset="0"/>
                    <a:ea typeface="Times New Roman" panose="02020603050405020304" pitchFamily="18" charset="0"/>
                    <a:cs typeface="Times New Roman" panose="02020603050405020304" pitchFamily="18" charset="0"/>
                  </a:endParaRPr>
                </a:p>
              </p:txBody>
            </p:sp>
          </p:grpSp>
        </p:grpSp>
        <p:pic>
          <p:nvPicPr>
            <p:cNvPr id="8" name="image15.png" descr="Icon&#10;&#10;Description automatically generated"/>
            <p:cNvPicPr/>
            <p:nvPr/>
          </p:nvPicPr>
          <p:blipFill>
            <a:blip r:embed="rId3" cstate="screen">
              <a:extLst>
                <a:ext uri="{28A0092B-C50C-407E-A947-70E740481C1C}">
                  <a14:useLocalDpi xmlns:a14="http://schemas.microsoft.com/office/drawing/2010/main"/>
                </a:ext>
              </a:extLst>
            </a:blip>
            <a:srcRect/>
            <a:stretch>
              <a:fillRect/>
            </a:stretch>
          </p:blipFill>
          <p:spPr>
            <a:xfrm>
              <a:off x="-694440" y="393187"/>
              <a:ext cx="539750" cy="539750"/>
            </a:xfrm>
            <a:prstGeom prst="rect">
              <a:avLst/>
            </a:prstGeom>
            <a:ln/>
            <a:effectLst>
              <a:outerShdw blurRad="50800" dist="38100" dir="2700000" algn="tl" rotWithShape="0">
                <a:prstClr val="black">
                  <a:alpha val="40000"/>
                </a:prstClr>
              </a:outerShdw>
            </a:effectLst>
          </p:spPr>
        </p:pic>
      </p:grpSp>
      <p:sp>
        <p:nvSpPr>
          <p:cNvPr id="16"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a:t>
            </a:r>
            <a:endParaRPr i="1" dirty="0">
              <a:latin typeface="Calibri"/>
              <a:ea typeface="Calibri"/>
              <a:cs typeface="Calibri"/>
              <a:sym typeface="Calibri"/>
            </a:endParaRPr>
          </a:p>
        </p:txBody>
      </p:sp>
      <p:pic>
        <p:nvPicPr>
          <p:cNvPr id="1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731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55197" y="91470"/>
            <a:ext cx="100594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8.4.4 Guided Practice: </a:t>
            </a:r>
            <a:br>
              <a:rPr lang="en-US" sz="3600" b="1" dirty="0">
                <a:solidFill>
                  <a:srgbClr val="54B5D1"/>
                </a:solidFill>
                <a:latin typeface="Verdana"/>
                <a:ea typeface="Verdana"/>
                <a:cs typeface="Verdana"/>
                <a:sym typeface="Verdana"/>
              </a:rPr>
            </a:br>
            <a:r>
              <a:rPr lang="en-US" sz="3600" b="1" dirty="0">
                <a:solidFill>
                  <a:srgbClr val="54B5D1"/>
                </a:solidFill>
                <a:latin typeface="Verdana"/>
                <a:ea typeface="Verdana"/>
                <a:cs typeface="Verdana"/>
                <a:sym typeface="Verdana"/>
              </a:rPr>
              <a:t>How Many Solutions?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0824" y="37941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529984" y="1461560"/>
            <a:ext cx="10800000"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For each equation, simplify each side of the equation by either combining like terms or applying the distributive property in the first column. Then, use the rewritten form of the equation to determine if it has one solution, no solution, or infinitely many solutions.</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00980872"/>
                  </p:ext>
                </p:extLst>
              </p:nvPr>
            </p:nvGraphicFramePr>
            <p:xfrm>
              <a:off x="2163368" y="2995473"/>
              <a:ext cx="8028000" cy="2861040"/>
            </p:xfrm>
            <a:graphic>
              <a:graphicData uri="http://schemas.openxmlformats.org/drawingml/2006/table">
                <a:tbl>
                  <a:tblPr firstRow="1" firstCol="1" bandRow="1">
                    <a:tableStyleId>{5940675A-B579-460E-94D1-54222C63F5DA}</a:tableStyleId>
                  </a:tblPr>
                  <a:tblGrid>
                    <a:gridCol w="270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2448000">
                      <a:extLst>
                        <a:ext uri="{9D8B030D-6E8A-4147-A177-3AD203B41FA5}">
                          <a16:colId xmlns:a16="http://schemas.microsoft.com/office/drawing/2014/main" val="20003"/>
                        </a:ext>
                      </a:extLst>
                    </a:gridCol>
                  </a:tblGrid>
                  <a:tr h="60429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Infinitely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Many Solutions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0" marR="0">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5</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𝑏</m:t>
                                    </m:r>
                                    <m:r>
                                      <a:rPr lang="en-US" sz="2000">
                                        <a:effectLst/>
                                        <a:latin typeface="Cambria Math" panose="02040503050406030204" pitchFamily="18" charset="0"/>
                                        <a:ea typeface="Cambria Math" panose="02040503050406030204" pitchFamily="18" charset="0"/>
                                      </a:rPr>
                                      <m:t>+3</m:t>
                                    </m:r>
                                  </m:e>
                                </m:d>
                                <m:r>
                                  <a:rPr lang="en-US" sz="2000">
                                    <a:effectLst/>
                                    <a:latin typeface="Cambria Math" panose="02040503050406030204" pitchFamily="18" charset="0"/>
                                    <a:ea typeface="Cambria Math" panose="02040503050406030204" pitchFamily="18" charset="0"/>
                                  </a:rPr>
                                  <m:t>=−9+7</m:t>
                                </m:r>
                                <m:r>
                                  <a:rPr lang="en-US" sz="2000">
                                    <a:effectLst/>
                                    <a:latin typeface="Cambria Math" panose="02040503050406030204" pitchFamily="18" charset="0"/>
                                    <a:ea typeface="Cambria Math" panose="02040503050406030204" pitchFamily="18" charset="0"/>
                                  </a:rPr>
                                  <m:t>𝑏</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80000">
                    <a:tc>
                      <a:txBody>
                        <a:bodyPr/>
                        <a:lstStyle/>
                        <a:p>
                          <a:pPr marL="0" marR="0">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3</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+3</m:t>
                                    </m:r>
                                  </m:e>
                                </m:d>
                                <m:r>
                                  <a:rPr lang="en-US" sz="2000">
                                    <a:effectLst/>
                                    <a:latin typeface="Cambria Math" panose="02040503050406030204" pitchFamily="18" charset="0"/>
                                    <a:ea typeface="Cambria Math" panose="02040503050406030204" pitchFamily="18" charset="0"/>
                                  </a:rPr>
                                  <m:t>=3</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2</m:t>
                                    </m:r>
                                    <m:r>
                                      <a:rPr lang="en-US" sz="2000">
                                        <a:effectLst/>
                                        <a:latin typeface="Cambria Math" panose="02040503050406030204" pitchFamily="18" charset="0"/>
                                        <a:ea typeface="Cambria Math" panose="02040503050406030204" pitchFamily="18" charset="0"/>
                                      </a:rPr>
                                      <m:t>𝑐</m:t>
                                    </m:r>
                                    <m:r>
                                      <a:rPr lang="en-US" sz="2000">
                                        <a:effectLst/>
                                        <a:latin typeface="Cambria Math" panose="02040503050406030204" pitchFamily="18" charset="0"/>
                                        <a:ea typeface="Cambria Math" panose="02040503050406030204" pitchFamily="18" charset="0"/>
                                      </a:rPr>
                                      <m:t>+2</m:t>
                                    </m:r>
                                  </m:e>
                                </m:d>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00980872"/>
                  </p:ext>
                </p:extLst>
              </p:nvPr>
            </p:nvGraphicFramePr>
            <p:xfrm>
              <a:off x="2163368" y="2995473"/>
              <a:ext cx="8028000" cy="2861040"/>
            </p:xfrm>
            <a:graphic>
              <a:graphicData uri="http://schemas.openxmlformats.org/drawingml/2006/table">
                <a:tbl>
                  <a:tblPr firstRow="1" firstCol="1" bandRow="1">
                    <a:tableStyleId>{5940675A-B579-460E-94D1-54222C63F5DA}</a:tableStyleId>
                  </a:tblPr>
                  <a:tblGrid>
                    <a:gridCol w="270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1440000">
                      <a:extLst>
                        <a:ext uri="{9D8B030D-6E8A-4147-A177-3AD203B41FA5}">
                          <a16:colId xmlns:a16="http://schemas.microsoft.com/office/drawing/2014/main" xmlns:a14="http://schemas.microsoft.com/office/drawing/2010/main" xmlns="" val="20002"/>
                        </a:ext>
                      </a:extLst>
                    </a:gridCol>
                    <a:gridCol w="2448000">
                      <a:extLst>
                        <a:ext uri="{9D8B030D-6E8A-4147-A177-3AD203B41FA5}">
                          <a16:colId xmlns:a16="http://schemas.microsoft.com/office/drawing/2014/main" xmlns:a14="http://schemas.microsoft.com/office/drawing/2010/main" xmlns="" val="20003"/>
                        </a:ext>
                      </a:extLst>
                    </a:gridCol>
                  </a:tblGrid>
                  <a:tr h="70104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Infinitely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Many Solutions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08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6" t="-67416" r="-197291" b="-99438"/>
                          </a:stretch>
                        </a:blipFill>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08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226" t="-168362" r="-197291"/>
                          </a:stretch>
                        </a:blipFill>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1"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548797165"/>
                  </p:ext>
                </p:extLst>
              </p:nvPr>
            </p:nvGraphicFramePr>
            <p:xfrm>
              <a:off x="1902000" y="370626"/>
              <a:ext cx="8388000" cy="3960000"/>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2448000">
                      <a:extLst>
                        <a:ext uri="{9D8B030D-6E8A-4147-A177-3AD203B41FA5}">
                          <a16:colId xmlns:a16="http://schemas.microsoft.com/office/drawing/2014/main" val="20003"/>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Infinitely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Many Solutions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1080000">
                    <a:tc>
                      <a:txBody>
                        <a:bodyPr/>
                        <a:lstStyle/>
                        <a:p>
                          <a:pPr marL="0" marR="0">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8</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13+</m:t>
                                    </m:r>
                                    <m:r>
                                      <a:rPr lang="en-US" sz="2000">
                                        <a:effectLst/>
                                        <a:latin typeface="Cambria Math" panose="02040503050406030204" pitchFamily="18" charset="0"/>
                                        <a:ea typeface="Cambria Math" panose="02040503050406030204" pitchFamily="18" charset="0"/>
                                      </a:rPr>
                                      <m:t>𝑟</m:t>
                                    </m:r>
                                  </m:e>
                                </m:d>
                                <m:r>
                                  <a:rPr lang="en-US" sz="2000">
                                    <a:effectLst/>
                                    <a:latin typeface="Cambria Math" panose="02040503050406030204" pitchFamily="18" charset="0"/>
                                    <a:ea typeface="Cambria Math" panose="02040503050406030204" pitchFamily="18" charset="0"/>
                                  </a:rPr>
                                  <m:t>=48+8</m:t>
                                </m:r>
                                <m:r>
                                  <a:rPr lang="en-US" sz="2000">
                                    <a:effectLst/>
                                    <a:latin typeface="Cambria Math" panose="02040503050406030204" pitchFamily="18" charset="0"/>
                                    <a:ea typeface="Cambria Math" panose="02040503050406030204" pitchFamily="18" charset="0"/>
                                  </a:rPr>
                                  <m:t>𝑟</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080000">
                    <a:tc>
                      <a:txBody>
                        <a:bodyPr/>
                        <a:lstStyle/>
                        <a:p>
                          <a:pPr marL="0" marR="0">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m:t>
                                </m:r>
                                <m:r>
                                  <a:rPr lang="en-US" sz="2000">
                                    <a:effectLst/>
                                    <a:latin typeface="Cambria Math" panose="02040503050406030204" pitchFamily="18" charset="0"/>
                                    <a:ea typeface="Cambria Math" panose="02040503050406030204" pitchFamily="18" charset="0"/>
                                  </a:rPr>
                                  <m:t>𝑎</m:t>
                                </m:r>
                                <m:r>
                                  <a:rPr lang="en-US" sz="2000">
                                    <a:effectLst/>
                                    <a:latin typeface="Cambria Math" panose="02040503050406030204" pitchFamily="18" charset="0"/>
                                    <a:ea typeface="Cambria Math" panose="02040503050406030204" pitchFamily="18" charset="0"/>
                                  </a:rPr>
                                  <m:t>−5=9+3</m:t>
                                </m:r>
                                <m:r>
                                  <a:rPr lang="en-US" sz="2000">
                                    <a:effectLst/>
                                    <a:latin typeface="Cambria Math" panose="02040503050406030204" pitchFamily="18" charset="0"/>
                                    <a:ea typeface="Cambria Math" panose="02040503050406030204" pitchFamily="18" charset="0"/>
                                  </a:rPr>
                                  <m:t>𝑎</m:t>
                                </m:r>
                                <m:r>
                                  <a:rPr lang="en-US" sz="2000">
                                    <a:effectLst/>
                                    <a:latin typeface="Cambria Math" panose="02040503050406030204" pitchFamily="18" charset="0"/>
                                    <a:ea typeface="Cambria Math" panose="02040503050406030204" pitchFamily="18" charset="0"/>
                                  </a:rPr>
                                  <m:t>−14</m:t>
                                </m:r>
                              </m:oMath>
                            </m:oMathPara>
                          </a14:m>
                          <a:endParaRPr lang="en-US"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80000">
                    <a:tc>
                      <a:txBody>
                        <a:bodyPr/>
                        <a:lstStyle/>
                        <a:p>
                          <a:pPr marL="0" marR="0">
                            <a:lnSpc>
                              <a:spcPct val="100000"/>
                            </a:lnSpc>
                            <a:spcBef>
                              <a:spcPts val="0"/>
                            </a:spcBef>
                            <a:spcAft>
                              <a:spcPts val="100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m:t>
                                </m:r>
                                <m:r>
                                  <a:rPr lang="en-US" sz="2000">
                                    <a:effectLst/>
                                    <a:latin typeface="Cambria Math" panose="02040503050406030204" pitchFamily="18" charset="0"/>
                                    <a:ea typeface="Cambria Math" panose="02040503050406030204" pitchFamily="18" charset="0"/>
                                  </a:rPr>
                                  <m:t>𝑠</m:t>
                                </m:r>
                                <m:r>
                                  <a:rPr lang="en-US" sz="2000">
                                    <a:effectLst/>
                                    <a:latin typeface="Cambria Math" panose="02040503050406030204" pitchFamily="18" charset="0"/>
                                    <a:ea typeface="Cambria Math" panose="02040503050406030204" pitchFamily="18" charset="0"/>
                                  </a:rPr>
                                  <m:t>+14=−2</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m:t>
                                    </m:r>
                                    <m:r>
                                      <a:rPr lang="en-US" sz="2000">
                                        <a:effectLst/>
                                        <a:latin typeface="Cambria Math" panose="02040503050406030204" pitchFamily="18" charset="0"/>
                                        <a:ea typeface="Cambria Math" panose="02040503050406030204" pitchFamily="18" charset="0"/>
                                      </a:rPr>
                                      <m:t>𝑠</m:t>
                                    </m:r>
                                    <m:r>
                                      <a:rPr lang="en-US" sz="2000">
                                        <a:effectLst/>
                                        <a:latin typeface="Cambria Math" panose="02040503050406030204" pitchFamily="18" charset="0"/>
                                        <a:ea typeface="Cambria Math" panose="02040503050406030204" pitchFamily="18" charset="0"/>
                                      </a:rPr>
                                      <m:t>+7</m:t>
                                    </m:r>
                                  </m:e>
                                </m:d>
                              </m:oMath>
                            </m:oMathPara>
                          </a14:m>
                          <a:endParaRPr lang="en-US"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548797165"/>
                  </p:ext>
                </p:extLst>
              </p:nvPr>
            </p:nvGraphicFramePr>
            <p:xfrm>
              <a:off x="1902000" y="370626"/>
              <a:ext cx="8388000" cy="3960000"/>
            </p:xfrm>
            <a:graphic>
              <a:graphicData uri="http://schemas.openxmlformats.org/drawingml/2006/table">
                <a:tbl>
                  <a:tblPr firstRow="1" firstCol="1" bandRow="1">
                    <a:tableStyleId>{5940675A-B579-460E-94D1-54222C63F5DA}</a:tableStyleId>
                  </a:tblPr>
                  <a:tblGrid>
                    <a:gridCol w="3060000">
                      <a:extLst>
                        <a:ext uri="{9D8B030D-6E8A-4147-A177-3AD203B41FA5}">
                          <a16:colId xmlns:a16="http://schemas.microsoft.com/office/drawing/2014/main" xmlns:a14="http://schemas.microsoft.com/office/drawing/2010/main" xmlns="" val="20000"/>
                        </a:ext>
                      </a:extLst>
                    </a:gridCol>
                    <a:gridCol w="1440000">
                      <a:extLst>
                        <a:ext uri="{9D8B030D-6E8A-4147-A177-3AD203B41FA5}">
                          <a16:colId xmlns:a16="http://schemas.microsoft.com/office/drawing/2014/main" xmlns:a14="http://schemas.microsoft.com/office/drawing/2010/main" xmlns="" val="20001"/>
                        </a:ext>
                      </a:extLst>
                    </a:gridCol>
                    <a:gridCol w="1440000">
                      <a:extLst>
                        <a:ext uri="{9D8B030D-6E8A-4147-A177-3AD203B41FA5}">
                          <a16:colId xmlns:a16="http://schemas.microsoft.com/office/drawing/2014/main" xmlns:a14="http://schemas.microsoft.com/office/drawing/2010/main" xmlns="" val="20002"/>
                        </a:ext>
                      </a:extLst>
                    </a:gridCol>
                    <a:gridCol w="2448000">
                      <a:extLst>
                        <a:ext uri="{9D8B030D-6E8A-4147-A177-3AD203B41FA5}">
                          <a16:colId xmlns:a16="http://schemas.microsoft.com/office/drawing/2014/main" xmlns:a14="http://schemas.microsoft.com/office/drawing/2010/main" xmlns="" val="20003"/>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Equation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Infinitely </a:t>
                          </a:r>
                          <a:r>
                            <a:rPr lang="en-US" sz="2000" b="1" dirty="0" smtClean="0">
                              <a:effectLst/>
                              <a:latin typeface="Verdana" panose="020B0604030504040204" pitchFamily="34" charset="0"/>
                              <a:ea typeface="Verdana" panose="020B0604030504040204" pitchFamily="34" charset="0"/>
                              <a:cs typeface="Verdana" panose="020B0604030504040204" pitchFamily="34" charset="0"/>
                            </a:rPr>
                            <a:t/>
                          </a:r>
                          <a:br>
                            <a:rPr lang="en-US" sz="2000" b="1" dirty="0" smtClean="0">
                              <a:effectLst/>
                              <a:latin typeface="Verdana" panose="020B0604030504040204" pitchFamily="34" charset="0"/>
                              <a:ea typeface="Verdana" panose="020B0604030504040204" pitchFamily="34" charset="0"/>
                              <a:cs typeface="Verdana" panose="020B0604030504040204" pitchFamily="34" charset="0"/>
                            </a:rPr>
                          </a:br>
                          <a:r>
                            <a:rPr lang="en-US" sz="2000" b="1" dirty="0" smtClean="0">
                              <a:effectLst/>
                              <a:latin typeface="Verdana" panose="020B0604030504040204" pitchFamily="34" charset="0"/>
                              <a:ea typeface="Verdana" panose="020B0604030504040204" pitchFamily="34" charset="0"/>
                              <a:cs typeface="Verdana" panose="020B0604030504040204" pitchFamily="34" charset="0"/>
                            </a:rPr>
                            <a:t>Many </a:t>
                          </a:r>
                          <a:r>
                            <a:rPr lang="en-US" sz="2000" b="1" dirty="0">
                              <a:effectLst/>
                              <a:latin typeface="Verdana" panose="020B0604030504040204" pitchFamily="34" charset="0"/>
                              <a:ea typeface="Verdana" panose="020B0604030504040204" pitchFamily="34" charset="0"/>
                              <a:cs typeface="Verdana" panose="020B0604030504040204" pitchFamily="34" charset="0"/>
                            </a:rPr>
                            <a:t>Solutions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108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68927" r="-174104" b="-200565"/>
                          </a:stretch>
                        </a:blipFill>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108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68927" r="-174104" b="-100565"/>
                          </a:stretch>
                        </a:blipFill>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108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268927" r="-174104" b="-565"/>
                          </a:stretch>
                        </a:blipFill>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450850" marR="0" lvl="0" indent="-342900" algn="ctr">
                            <a:spcBef>
                              <a:spcPts val="0"/>
                            </a:spcBef>
                            <a:spcAft>
                              <a:spcPts val="0"/>
                            </a:spcAft>
                            <a:buClr>
                              <a:srgbClr val="000000"/>
                            </a:buClr>
                            <a:buSzPts val="3000"/>
                            <a:buFont typeface="Courier New" panose="02070309020205020404" pitchFamily="49" charset="0"/>
                            <a:buChar char="o"/>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6"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59042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033143392"/>
              </p:ext>
            </p:extLst>
          </p:nvPr>
        </p:nvGraphicFramePr>
        <p:xfrm>
          <a:off x="2597526" y="2111914"/>
          <a:ext cx="7200000" cy="3139440"/>
        </p:xfrm>
        <a:graphic>
          <a:graphicData uri="http://schemas.openxmlformats.org/drawingml/2006/table">
            <a:tbl>
              <a:tblPr bandRow="1">
                <a:tableStyleId>{5940675A-B579-460E-94D1-54222C63F5DA}</a:tableStyleId>
              </a:tblPr>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2880000">
                <a:tc>
                  <a:txBody>
                    <a:bodyPr/>
                    <a:lstStyle/>
                    <a:p>
                      <a:pPr marL="0" marR="0" algn="ctr">
                        <a:spcBef>
                          <a:spcPts val="0"/>
                        </a:spcBef>
                        <a:spcAft>
                          <a:spcPts val="0"/>
                        </a:spcAft>
                      </a:pPr>
                      <a:r>
                        <a:rPr lang="en-US" sz="2000" dirty="0">
                          <a:effectLst/>
                          <a:latin typeface="Verdana" pitchFamily="34" charset="0"/>
                          <a:ea typeface="Verdana" pitchFamily="34" charset="0"/>
                        </a:rPr>
                        <a:t>Today I deserve</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endParaRPr lang="en-US" sz="2000" dirty="0">
                        <a:effectLst/>
                        <a:latin typeface="Verdana" pitchFamily="34" charset="0"/>
                        <a:ea typeface="Verdana" pitchFamily="34" charset="0"/>
                      </a:endParaRPr>
                    </a:p>
                    <a:p>
                      <a:pPr marL="0" marR="0" algn="ctr">
                        <a:spcBef>
                          <a:spcPts val="0"/>
                        </a:spcBef>
                        <a:spcAft>
                          <a:spcPts val="0"/>
                        </a:spcAft>
                      </a:pPr>
                      <a:endParaRPr lang="en-US" sz="2000" dirty="0">
                        <a:effectLst/>
                        <a:latin typeface="Verdana" pitchFamily="34" charset="0"/>
                        <a:ea typeface="Verdana" pitchFamily="34" charset="0"/>
                      </a:endParaRPr>
                    </a:p>
                    <a:p>
                      <a:pPr marL="0" marR="0" algn="ctr">
                        <a:spcBef>
                          <a:spcPts val="0"/>
                        </a:spcBef>
                        <a:spcAft>
                          <a:spcPts val="0"/>
                        </a:spcAft>
                      </a:pPr>
                      <a:r>
                        <a:rPr lang="en-US" sz="2000" dirty="0">
                          <a:effectLst/>
                          <a:latin typeface="Verdana" pitchFamily="34" charset="0"/>
                          <a:ea typeface="Verdana" pitchFamily="34" charset="0"/>
                        </a:rPr>
                        <a:t>for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52990" y="45762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8.4.5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433332" y="379416"/>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32277" y="1462164"/>
            <a:ext cx="11486250"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as you reflect on your work in today’s lesson.</a:t>
            </a:r>
          </a:p>
        </p:txBody>
      </p:sp>
      <p:pic>
        <p:nvPicPr>
          <p:cNvPr id="11" name="Picture 10" descr="A picture containing person, person&#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2761844" y="2581965"/>
            <a:ext cx="3280369" cy="2268889"/>
          </a:xfrm>
          <a:prstGeom prst="rect">
            <a:avLst/>
          </a:prstGeom>
        </p:spPr>
      </p:pic>
      <p:sp>
        <p:nvSpPr>
          <p:cNvPr id="10"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40801945"/>
              </p:ext>
            </p:extLst>
          </p:nvPr>
        </p:nvGraphicFramePr>
        <p:xfrm>
          <a:off x="2596040" y="274920"/>
          <a:ext cx="7200000" cy="6118930"/>
        </p:xfrm>
        <a:graphic>
          <a:graphicData uri="http://schemas.openxmlformats.org/drawingml/2006/table">
            <a:tbl>
              <a:tblPr bandRow="1">
                <a:tableStyleId>{5940675A-B579-460E-94D1-54222C63F5DA}</a:tableStyleId>
              </a:tblPr>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3240000">
                <a:tc>
                  <a:txBody>
                    <a:bodyPr/>
                    <a:lstStyle/>
                    <a:p>
                      <a:pPr marL="0" marR="0" algn="ctr">
                        <a:spcBef>
                          <a:spcPts val="0"/>
                        </a:spcBef>
                        <a:spcAft>
                          <a:spcPts val="0"/>
                        </a:spcAft>
                      </a:pPr>
                      <a:r>
                        <a:rPr lang="en-US" sz="2000" dirty="0">
                          <a:effectLst/>
                          <a:latin typeface="Verdana" pitchFamily="34" charset="0"/>
                          <a:ea typeface="Verdana" pitchFamily="34" charset="0"/>
                        </a:rPr>
                        <a:t>Today I</a:t>
                      </a:r>
                    </a:p>
                    <a:p>
                      <a:pPr marL="0" marR="0">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endParaRPr lang="en-US" sz="2000" dirty="0">
                        <a:effectLst/>
                        <a:latin typeface="Verdana" pitchFamily="34" charset="0"/>
                        <a:ea typeface="Verdana" pitchFamily="34" charset="0"/>
                      </a:endParaRPr>
                    </a:p>
                    <a:p>
                      <a:pPr marL="0" marR="0" algn="ctr">
                        <a:spcBef>
                          <a:spcPts val="0"/>
                        </a:spcBef>
                        <a:spcAft>
                          <a:spcPts val="0"/>
                        </a:spcAft>
                      </a:pPr>
                      <a:r>
                        <a:rPr lang="en-US" sz="2000" dirty="0">
                          <a:effectLst/>
                          <a:latin typeface="Verdana" pitchFamily="34" charset="0"/>
                          <a:ea typeface="Verdana" pitchFamily="34" charset="0"/>
                        </a:rPr>
                        <a:t>by doing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78930">
                <a:tc>
                  <a:txBody>
                    <a:bodyPr/>
                    <a:lstStyle/>
                    <a:p>
                      <a:pPr marL="0" marR="0" algn="ctr">
                        <a:spcBef>
                          <a:spcPts val="0"/>
                        </a:spcBef>
                        <a:spcAft>
                          <a:spcPts val="0"/>
                        </a:spcAft>
                      </a:pPr>
                      <a:r>
                        <a:rPr lang="en-US" sz="2000" dirty="0">
                          <a:effectLst/>
                          <a:latin typeface="Verdana" pitchFamily="34" charset="0"/>
                          <a:ea typeface="Verdana" pitchFamily="34" charset="0"/>
                        </a:rPr>
                        <a:t>Today I was</a:t>
                      </a:r>
                    </a:p>
                    <a:p>
                      <a:pPr marL="0" marR="0">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endParaRPr lang="en-US" sz="2000" dirty="0">
                        <a:effectLst/>
                        <a:latin typeface="Verdana" pitchFamily="34" charset="0"/>
                        <a:ea typeface="Verdana" pitchFamily="34" charset="0"/>
                      </a:endParaRPr>
                    </a:p>
                    <a:p>
                      <a:pPr marL="0" marR="0" algn="ctr">
                        <a:spcBef>
                          <a:spcPts val="0"/>
                        </a:spcBef>
                        <a:spcAft>
                          <a:spcPts val="0"/>
                        </a:spcAft>
                      </a:pPr>
                      <a:r>
                        <a:rPr lang="en-US" sz="2000" dirty="0">
                          <a:effectLst/>
                          <a:latin typeface="Verdana" pitchFamily="34" charset="0"/>
                          <a:ea typeface="Verdana" pitchFamily="34" charset="0"/>
                        </a:rPr>
                        <a:t>by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6" name="Picture 5" descr="Man Person Climb · Free photo on Pixabay"/>
          <p:cNvPicPr/>
          <p:nvPr/>
        </p:nvPicPr>
        <p:blipFill>
          <a:blip r:embed="rId3" cstate="screen">
            <a:extLst>
              <a:ext uri="{28A0092B-C50C-407E-A947-70E740481C1C}">
                <a14:useLocalDpi xmlns:a14="http://schemas.microsoft.com/office/drawing/2010/main"/>
              </a:ext>
              <a:ext uri="{837473B0-CC2E-450A-ABE3-18F120FF3D39}">
                <a1611:picAttrSrcUrl xmlns:a1611="http://schemas.microsoft.com/office/drawing/2016/11/main" r:id="rId4"/>
              </a:ext>
            </a:extLst>
          </a:blip>
          <a:stretch>
            <a:fillRect/>
          </a:stretch>
        </p:blipFill>
        <p:spPr>
          <a:xfrm>
            <a:off x="3487658" y="745143"/>
            <a:ext cx="1739892" cy="2251303"/>
          </a:xfrm>
          <a:prstGeom prst="rect">
            <a:avLst/>
          </a:prstGeom>
        </p:spPr>
      </p:pic>
      <p:pic>
        <p:nvPicPr>
          <p:cNvPr id="7" name="image25.png" descr="A picture containing text, sign, sky, outdoor&#10;&#10;Description automatically generated"/>
          <p:cNvPicPr/>
          <p:nvPr/>
        </p:nvPicPr>
        <p:blipFill>
          <a:blip r:embed="rId5">
            <a:extLst>
              <a:ext uri="{28A0092B-C50C-407E-A947-70E740481C1C}">
                <a14:useLocalDpi xmlns:a14="http://schemas.microsoft.com/office/drawing/2010/main"/>
              </a:ext>
            </a:extLst>
          </a:blip>
          <a:stretch>
            <a:fillRect/>
          </a:stretch>
        </p:blipFill>
        <p:spPr>
          <a:xfrm>
            <a:off x="2925623" y="3908826"/>
            <a:ext cx="2863963" cy="2061665"/>
          </a:xfrm>
          <a:prstGeom prst="rect">
            <a:avLst/>
          </a:prstGeom>
          <a:ln/>
        </p:spPr>
      </p:pic>
      <p:sp>
        <p:nvSpPr>
          <p:cNvPr id="8" name="Google Shape;282;g104476d1465_1_17"/>
          <p:cNvSpPr txBox="1"/>
          <p:nvPr/>
        </p:nvSpPr>
        <p:spPr>
          <a:xfrm>
            <a:off x="8874368" y="649453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25</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9570238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TotalTime>
  <Words>1061</Words>
  <Application>Microsoft Office PowerPoint</Application>
  <PresentationFormat>Widescreen</PresentationFormat>
  <Paragraphs>203</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Verdana</vt:lpstr>
      <vt:lpstr>Arial</vt:lpstr>
      <vt:lpstr>Arial Black</vt:lpstr>
      <vt:lpstr>Cambria Math</vt:lpstr>
      <vt:lpstr>Wingdings</vt:lpstr>
      <vt:lpstr>Courier New</vt:lpstr>
      <vt:lpstr>Calibri</vt:lpstr>
      <vt:lpstr>Century Gothic</vt:lpstr>
      <vt:lpstr>1_Office Theme</vt:lpstr>
      <vt:lpstr>8th Grade Math: Pre-Algebra  Unit 8, Lesson 4  Solutions to  Linear Equations  Volume 2, pg. 22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Exploration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Heather  Rideout</cp:lastModifiedBy>
  <cp:revision>33</cp:revision>
  <dcterms:created xsi:type="dcterms:W3CDTF">2015-03-17T18:51:18Z</dcterms:created>
  <dcterms:modified xsi:type="dcterms:W3CDTF">2023-01-24T15:11:51Z</dcterms:modified>
</cp:coreProperties>
</file>