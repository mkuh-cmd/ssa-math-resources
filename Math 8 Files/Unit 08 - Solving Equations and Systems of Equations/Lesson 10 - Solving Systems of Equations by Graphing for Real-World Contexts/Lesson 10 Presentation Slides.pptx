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56" r:id="rId11"/>
    <p:sldId id="362" r:id="rId12"/>
    <p:sldId id="363" r:id="rId13"/>
    <p:sldId id="364" r:id="rId14"/>
    <p:sldId id="323" r:id="rId15"/>
    <p:sldId id="324" r:id="rId16"/>
    <p:sldId id="365" r:id="rId17"/>
    <p:sldId id="366" r:id="rId18"/>
    <p:sldId id="314" r:id="rId19"/>
    <p:sldId id="315" r:id="rId20"/>
    <p:sldId id="357" r:id="rId21"/>
    <p:sldId id="367" r:id="rId22"/>
    <p:sldId id="368" r:id="rId23"/>
    <p:sldId id="306" r:id="rId24"/>
    <p:sldId id="307" r:id="rId25"/>
  </p:sldIdLst>
  <p:sldSz cx="12192000" cy="6858000"/>
  <p:notesSz cx="6858000" cy="9144000"/>
  <p:embeddedFontLst>
    <p:embeddedFont>
      <p:font typeface="Calibri" pitchFamily="34" charset="0"/>
      <p:regular r:id="rId27"/>
      <p:bold r:id="rId28"/>
      <p:italic r:id="rId29"/>
      <p:boldItalic r:id="rId30"/>
    </p:embeddedFont>
    <p:embeddedFont>
      <p:font typeface="Century Gothic" pitchFamily="34" charset="0"/>
      <p:regular r:id="rId31"/>
      <p:bold r:id="rId32"/>
      <p:italic r:id="rId33"/>
      <p:boldItalic r:id="rId34"/>
    </p:embeddedFont>
    <p:embeddedFont>
      <p:font typeface="Cambria Math" pitchFamily="18" charset="0"/>
      <p:regular r:id="rId35"/>
    </p:embeddedFont>
    <p:embeddedFont>
      <p:font typeface="Cambria" pitchFamily="18" charset="0"/>
      <p:regular r:id="rId36"/>
      <p:bold r:id="rId37"/>
      <p:italic r:id="rId38"/>
      <p:boldItalic r:id="rId39"/>
    </p:embeddedFont>
    <p:embeddedFont>
      <p:font typeface="Arial Black" pitchFamily="34" charset="0"/>
      <p:bold r:id="rId40"/>
    </p:embeddedFont>
    <p:embeddedFont>
      <p:font typeface="Verdana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B0DD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91"/>
    <p:restoredTop sz="94694"/>
  </p:normalViewPr>
  <p:slideViewPr>
    <p:cSldViewPr snapToGrid="0">
      <p:cViewPr varScale="1">
        <p:scale>
          <a:sx n="105" d="100"/>
          <a:sy n="105" d="100"/>
        </p:scale>
        <p:origin x="-46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910317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2439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9438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2766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5173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8983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27680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3326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799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7511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69433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76965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49204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4979407" y="2054277"/>
            <a:ext cx="648228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10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Systems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of Equations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by Graphing for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Real-World Contexts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50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62396" y="5270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96" y="2884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8124" y="1603326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MA.8.AR.4.3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</a:t>
            </a:r>
            <a: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context, solve systems of two linear equations by graphing.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48342" y="0"/>
            <a:ext cx="856921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248342" y="1596390"/>
            <a:ext cx="1008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96" y="2884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49036" y="-72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96" y="2884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3060" y="1600200"/>
            <a:ext cx="1029090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0238" indent="-623888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a system of two linear equations by graphing given a real-world context.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8342" y="0"/>
            <a:ext cx="1041389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8.10.1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96" y="2884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39949" y="1465924"/>
                <a:ext cx="10800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Julio Jones was drafted to the Atlanta Falcons in 2011. The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same year, a video was created showing Rich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Eisen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 NFL correspondent, side-by-side with Julio Jones running a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40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-yard dash. A screenshot from the video is shown.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notice?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49" y="1465924"/>
                <a:ext cx="10800000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621" t="-966" r="-565" b="-19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Graphical user interface&#10;&#10;Description automatically generated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02" t="20107" r="15420" b="32438"/>
          <a:stretch/>
        </p:blipFill>
        <p:spPr bwMode="auto">
          <a:xfrm>
            <a:off x="3126504" y="2710538"/>
            <a:ext cx="5253990" cy="1852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9019" y="382103"/>
            <a:ext cx="58362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0113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Make a sketch of what you think the graph of the two runners would look like. Be sure to label each line with the name of the runner.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07" y="382103"/>
            <a:ext cx="4663454" cy="5451199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47957" y="0"/>
            <a:ext cx="111393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8.10.2 Guided Instruction: Solving Systems of Equations by Graphing in Real-World Contexts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896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28868" y="1462246"/>
                <a:ext cx="10800000" cy="3145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Bamboo plants are known for growing very quickly. Imani measures the height of two bamboo plants over the course of several days. Plant A starts at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(</a:t>
                </a:r>
                <a:r>
                  <a:rPr lang="en-US" sz="22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ft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 tall and grows at a constant rate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2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ft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each day. </a:t>
                </a:r>
                <a: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Plant 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 starts at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2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ft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tall and grows at a constant rate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2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ft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each day.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2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2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2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+6</m:t>
                            </m:r>
                          </m:e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2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used to represent this situation, where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number of days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height of the bamboo plant.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8" y="1462246"/>
                <a:ext cx="10800000" cy="3145028"/>
              </a:xfrm>
              <a:prstGeom prst="rect">
                <a:avLst/>
              </a:prstGeom>
              <a:blipFill rotWithShape="1">
                <a:blip r:embed="rId4"/>
                <a:stretch>
                  <a:fillRect l="-791" t="-969" b="-29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8686" y="378351"/>
            <a:ext cx="832713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Graph the system of equations.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2"/>
              <a:tabLst>
                <a:tab pos="801688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Label the axes with appropriate titles and units.</a:t>
            </a:r>
          </a:p>
          <a:p>
            <a:pPr marL="914400" lvl="1" indent="-457200">
              <a:buFont typeface="+mj-lt"/>
              <a:buAutoNum type="alphaLcPeriod" startAt="2"/>
              <a:tabLst>
                <a:tab pos="801688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2"/>
              <a:tabLst>
                <a:tab pos="801688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Label each line Plant A or Plant B.</a:t>
            </a:r>
          </a:p>
        </p:txBody>
      </p:sp>
      <p:pic>
        <p:nvPicPr>
          <p:cNvPr id="6" name="Picture 5" descr="Chart, table, Excel&#10;&#10;Description automatically generated with medium confidence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56" b="5859"/>
          <a:stretch/>
        </p:blipFill>
        <p:spPr>
          <a:xfrm>
            <a:off x="1597495" y="871418"/>
            <a:ext cx="5857876" cy="4320059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0120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1018" y="378350"/>
            <a:ext cx="10800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Mark the solution to the system of equations on the graph.</a:t>
            </a:r>
          </a:p>
          <a:p>
            <a:pPr marL="914400" lvl="1" indent="-457200">
              <a:buFont typeface="+mj-lt"/>
              <a:buAutoNum type="alphaLcPeriod" startAt="4"/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4"/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the coordinates of the solution?</a:t>
            </a:r>
          </a:p>
          <a:p>
            <a:pPr marL="914400" lvl="1" indent="-457200">
              <a:buFont typeface="+mj-lt"/>
              <a:buAutoNum type="alphaLcPeriod" startAt="4"/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4"/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the meaning of the solution in this context.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1264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1784" y="378352"/>
                <a:ext cx="10583851" cy="3005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Sofia is deciding between two internet service providers. The first plan costs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$70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per month, with a one-time charge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$85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equipment. The second company charges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$60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per month, but the one-time equipment charge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$110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672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=70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+85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=60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+110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this situation,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number of months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total cost.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84" y="378352"/>
                <a:ext cx="10583851" cy="3005182"/>
              </a:xfrm>
              <a:prstGeom prst="rect">
                <a:avLst/>
              </a:prstGeom>
              <a:blipFill rotWithShape="1">
                <a:blip r:embed="rId3"/>
                <a:stretch>
                  <a:fillRect l="-864" t="-1623" r="-518" b="-344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2972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4899" y="380679"/>
            <a:ext cx="1088248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672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of the system is shown with the coordinates of four points labeled.</a:t>
            </a: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6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3925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solution to the system?</a:t>
            </a:r>
          </a:p>
          <a:p>
            <a:pPr marL="923925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3925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the meaning of the solution in this context.</a:t>
            </a:r>
          </a:p>
        </p:txBody>
      </p:sp>
      <p:pic>
        <p:nvPicPr>
          <p:cNvPr id="6" name="Picture 5" descr="Chart, line chart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7048" y="1227869"/>
            <a:ext cx="5532768" cy="3315217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7838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3425" y="0"/>
            <a:ext cx="111393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8.10.3 Guided Practice: Solving Systems of Equations by Graphing for Real-World Contexts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6388" y="28597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28868" y="1471361"/>
                <a:ext cx="1047127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Chauncey and Anais both decide to head to the park. They hike from the parking lot to the lake and back, but they start their hikes at different times.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672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At the time that Chauncey reaches the lake and starts to turn back, Anais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 away from the parking lot and hiking at a constant speed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 per hour toward the lake. Anais’ distance from the parking lot,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can be expressed as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.75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number of hours since Chauncey started walking back toward the parking lot.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8" y="1471361"/>
                <a:ext cx="10471274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932" t="-1288" r="-1514" b="-273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4192" y="382024"/>
                <a:ext cx="10945341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67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Chauncey’s distance from the parking lot,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can be expressed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=−2.25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the time, in hours, since he left the lake.</a:t>
                </a: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both lines on the coordinate plane.</a:t>
                </a:r>
              </a:p>
              <a:p>
                <a:pPr marL="9239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39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each line as “Anais” or “Chauncey.”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92" y="382024"/>
                <a:ext cx="10945341" cy="5632311"/>
              </a:xfrm>
              <a:prstGeom prst="rect">
                <a:avLst/>
              </a:prstGeom>
              <a:blipFill rotWithShape="1">
                <a:blip r:embed="rId3"/>
                <a:stretch>
                  <a:fillRect t="-541" r="-947" b="-97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29" t="2436" r="2297"/>
          <a:stretch/>
        </p:blipFill>
        <p:spPr>
          <a:xfrm>
            <a:off x="2998683" y="1471222"/>
            <a:ext cx="5162550" cy="3464616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9841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3253" y="378129"/>
                <a:ext cx="10800000" cy="4472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approximate solution to 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=3.75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=−2.25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+5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the meaning of the solution in context.</a:t>
                </a: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only the approximate solution for the system can be determined by graphing.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53" y="378129"/>
                <a:ext cx="10800000" cy="44721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6791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1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5723" y="0"/>
            <a:ext cx="111357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8.10.4 Collaboration: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Graphing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Real-World Systems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8896" y="28848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1174" y="1459296"/>
                <a:ext cx="10800000" cy="4461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Victor is monitoring the water levels in the control room at a water treatment plant. He receives an alert that Tank A has a leak. It started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1,500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liters of water and is losing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liters of water per minute. At the same time as the leak began, Tank B held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liters of water and is being filled at a rate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liters per minute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>
                  <a:lnSpc>
                    <a:spcPct val="15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This situation can be represented by 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+1500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=6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+300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amount of time, in minutes, since Victor received the alert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amount of water, in liters, in the tank.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74" y="1459296"/>
                <a:ext cx="10800000" cy="4461606"/>
              </a:xfrm>
              <a:prstGeom prst="rect">
                <a:avLst/>
              </a:prstGeom>
              <a:blipFill rotWithShape="1">
                <a:blip r:embed="rId4"/>
                <a:stretch>
                  <a:fillRect l="-847" t="-1093" b="-41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4058" y="378349"/>
                <a:ext cx="10826639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which equation represents each tank. Then, complete the table.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determine how much water will be in each tank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minutes after Victor received the alert.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58" y="378349"/>
                <a:ext cx="10826639" cy="4154984"/>
              </a:xfrm>
              <a:prstGeom prst="rect">
                <a:avLst/>
              </a:prstGeom>
              <a:blipFill rotWithShape="1">
                <a:blip r:embed="rId3"/>
                <a:stretch>
                  <a:fillRect t="-1026" r="-157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659392"/>
              </p:ext>
            </p:extLst>
          </p:nvPr>
        </p:nvGraphicFramePr>
        <p:xfrm>
          <a:off x="2772218" y="4354618"/>
          <a:ext cx="6857280" cy="1463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799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6773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Tank</a:t>
                      </a: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Volume, in Liters, After 100 Minutes</a:t>
                      </a: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55161"/>
                  </p:ext>
                </p:extLst>
              </p:nvPr>
            </p:nvGraphicFramePr>
            <p:xfrm>
              <a:off x="2776868" y="1335193"/>
              <a:ext cx="6857280" cy="14630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17994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677334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Tank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=−2</m:t>
                              </m:r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+1500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20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𝑦</m:t>
                              </m:r>
                              <m:r>
                                <a:rPr kumimoji="0" lang="en-US" sz="20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=6</m:t>
                              </m:r>
                              <m:r>
                                <a:rPr kumimoji="0" lang="en-US" sz="20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𝑥</m:t>
                              </m:r>
                              <m:r>
                                <a:rPr kumimoji="0" lang="en-US" sz="20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+300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55161"/>
                  </p:ext>
                </p:extLst>
              </p:nvPr>
            </p:nvGraphicFramePr>
            <p:xfrm>
              <a:off x="2776868" y="1335193"/>
              <a:ext cx="6857280" cy="14630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17994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567733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Tank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838" t="-100000" r="-107" b="-10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838" t="-200000" r="-107" b="-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9042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9657" y="392468"/>
            <a:ext cx="987205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your own, graph the system of equations on the coordinate grid.</a:t>
            </a: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Label both axes with appropriate titles and units.</a:t>
            </a:r>
          </a:p>
        </p:txBody>
      </p:sp>
      <p:pic>
        <p:nvPicPr>
          <p:cNvPr id="6" name="Picture 5" descr="Chart, line chart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8131" y="908917"/>
            <a:ext cx="5895108" cy="4599412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9520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8715" y="392203"/>
            <a:ext cx="107111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graph and labels with your partner and resolve any differences, if necessary.</a:t>
            </a:r>
          </a:p>
          <a:p>
            <a:pPr marL="91440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solution to the system? </a:t>
            </a:r>
          </a:p>
          <a:p>
            <a:pPr marL="91440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what the solution means in this context.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9614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6780" y="330705"/>
            <a:ext cx="8019300" cy="66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8.10.5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896" y="2884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17767" y="1472419"/>
            <a:ext cx="10340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Take a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SELFIE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by checking the box that best matches what you did today.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426114"/>
              </p:ext>
            </p:extLst>
          </p:nvPr>
        </p:nvGraphicFramePr>
        <p:xfrm>
          <a:off x="2016341" y="2183074"/>
          <a:ext cx="6858000" cy="41148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S</a:t>
                      </a: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howed my work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E</a:t>
                      </a: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xplained my answers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L</a:t>
                      </a: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ots of math vocabulary used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F</a:t>
                      </a: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ound solutions by graphing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 persevered through the problem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E</a:t>
                      </a: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liminated careless errors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13" name="image8.png" descr="A picture containing shape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51243" y="2286000"/>
            <a:ext cx="1803400" cy="457200"/>
          </a:xfrm>
          <a:prstGeom prst="rect">
            <a:avLst/>
          </a:prstGeom>
          <a:ln/>
        </p:spPr>
      </p:pic>
      <p:pic>
        <p:nvPicPr>
          <p:cNvPr id="14" name="image8.png" descr="A picture containing shape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51243" y="2979420"/>
            <a:ext cx="1803400" cy="457200"/>
          </a:xfrm>
          <a:prstGeom prst="rect">
            <a:avLst/>
          </a:prstGeom>
          <a:ln/>
        </p:spPr>
      </p:pic>
      <p:pic>
        <p:nvPicPr>
          <p:cNvPr id="15" name="image8.png" descr="A picture containing shape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51243" y="3691419"/>
            <a:ext cx="1803400" cy="457200"/>
          </a:xfrm>
          <a:prstGeom prst="rect">
            <a:avLst/>
          </a:prstGeom>
          <a:ln/>
        </p:spPr>
      </p:pic>
      <p:pic>
        <p:nvPicPr>
          <p:cNvPr id="16" name="image8.png" descr="A picture containing shape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51243" y="4373076"/>
            <a:ext cx="1803400" cy="457200"/>
          </a:xfrm>
          <a:prstGeom prst="rect">
            <a:avLst/>
          </a:prstGeom>
          <a:ln/>
        </p:spPr>
      </p:pic>
      <p:pic>
        <p:nvPicPr>
          <p:cNvPr id="17" name="image8.png" descr="A picture containing shape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51243" y="5032645"/>
            <a:ext cx="1803400" cy="457200"/>
          </a:xfrm>
          <a:prstGeom prst="rect">
            <a:avLst/>
          </a:prstGeom>
          <a:ln/>
        </p:spPr>
      </p:pic>
      <p:pic>
        <p:nvPicPr>
          <p:cNvPr id="18" name="image8.png" descr="A picture containing shape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51243" y="5744919"/>
            <a:ext cx="1803400" cy="457200"/>
          </a:xfrm>
          <a:prstGeom prst="rect">
            <a:avLst/>
          </a:prstGeom>
          <a:ln/>
        </p:spPr>
      </p:pic>
      <p:sp>
        <p:nvSpPr>
          <p:cNvPr id="19" name="Google Shape;282;g104476d1465_1_17"/>
          <p:cNvSpPr txBox="1"/>
          <p:nvPr/>
        </p:nvSpPr>
        <p:spPr>
          <a:xfrm>
            <a:off x="884553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905</Words>
  <Application>Microsoft Office PowerPoint</Application>
  <PresentationFormat>Custom</PresentationFormat>
  <Paragraphs>216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Times New Roman</vt:lpstr>
      <vt:lpstr>Century Gothic</vt:lpstr>
      <vt:lpstr>Wingdings</vt:lpstr>
      <vt:lpstr>Cambria Math</vt:lpstr>
      <vt:lpstr>Cambria</vt:lpstr>
      <vt:lpstr>Arial Black</vt:lpstr>
      <vt:lpstr>Verdana</vt:lpstr>
      <vt:lpstr>1_Office Theme</vt:lpstr>
      <vt:lpstr>8th Grade Math: Pre-Algebra  Unit 8, Lesson 10  Solving Systems  of Equations  by Graphing for  Real-World Contexts  Volume 2, pg. 50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44</cp:revision>
  <dcterms:created xsi:type="dcterms:W3CDTF">2015-03-17T18:51:18Z</dcterms:created>
  <dcterms:modified xsi:type="dcterms:W3CDTF">2022-06-20T01:22:44Z</dcterms:modified>
</cp:coreProperties>
</file>