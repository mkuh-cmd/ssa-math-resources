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289" r:id="rId9"/>
    <p:sldId id="290" r:id="rId10"/>
    <p:sldId id="356" r:id="rId11"/>
    <p:sldId id="362" r:id="rId12"/>
    <p:sldId id="363" r:id="rId13"/>
    <p:sldId id="364" r:id="rId14"/>
    <p:sldId id="365" r:id="rId15"/>
    <p:sldId id="366" r:id="rId16"/>
    <p:sldId id="367" r:id="rId17"/>
    <p:sldId id="323" r:id="rId18"/>
    <p:sldId id="324" r:id="rId19"/>
    <p:sldId id="369" r:id="rId20"/>
    <p:sldId id="357" r:id="rId21"/>
    <p:sldId id="368" r:id="rId22"/>
    <p:sldId id="302" r:id="rId23"/>
    <p:sldId id="303" r:id="rId24"/>
    <p:sldId id="360" r:id="rId25"/>
    <p:sldId id="370" r:id="rId26"/>
    <p:sldId id="306" r:id="rId27"/>
    <p:sldId id="307" r:id="rId28"/>
    <p:sldId id="361" r:id="rId29"/>
  </p:sldIdLst>
  <p:sldSz cx="12192000" cy="6858000"/>
  <p:notesSz cx="6858000" cy="9144000"/>
  <p:embeddedFontLst>
    <p:embeddedFont>
      <p:font typeface="Century Gothic" pitchFamily="34" charset="0"/>
      <p:regular r:id="rId31"/>
      <p:bold r:id="rId32"/>
      <p:italic r:id="rId33"/>
      <p:boldItalic r:id="rId34"/>
    </p:embeddedFont>
    <p:embeddedFont>
      <p:font typeface="Cambria Math" pitchFamily="18" charset="0"/>
      <p:regular r:id="rId35"/>
    </p:embeddedFont>
    <p:embeddedFont>
      <p:font typeface="Arial Black" pitchFamily="34" charset="0"/>
      <p:bold r:id="rId36"/>
    </p:embeddedFont>
    <p:embeddedFont>
      <p:font typeface="Verdana" pitchFamily="34" charset="0"/>
      <p:regular r:id="rId37"/>
      <p:bold r:id="rId38"/>
      <p:italic r:id="rId39"/>
      <p:boldItalic r:id="rId40"/>
    </p:embeddedFont>
    <p:embeddedFont>
      <p:font typeface="Calibri" pitchFamily="34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9B0DD"/>
    <a:srgbClr val="DA4487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1669" autoAdjust="0"/>
    <p:restoredTop sz="94707" autoAdjust="0"/>
  </p:normalViewPr>
  <p:slideViewPr>
    <p:cSldViewPr snapToGrid="0">
      <p:cViewPr>
        <p:scale>
          <a:sx n="80" d="100"/>
          <a:sy n="80" d="100"/>
        </p:scale>
        <p:origin x="-1397" y="-1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7542904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809558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91208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252175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51739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62932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728861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89070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29637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86801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275541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45776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69433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27709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79314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79314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32966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if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0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png"/><Relationship Id="rId5" Type="http://schemas.openxmlformats.org/officeDocument/2006/relationships/image" Target="../media/image41.tiff"/><Relationship Id="rId4" Type="http://schemas.openxmlformats.org/officeDocument/2006/relationships/image" Target="../media/image40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42.tif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5.png"/><Relationship Id="rId5" Type="http://schemas.openxmlformats.org/officeDocument/2006/relationships/image" Target="../media/image43.png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6.png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48.tif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11" Type="http://schemas.openxmlformats.org/officeDocument/2006/relationships/image" Target="../media/image52.png"/><Relationship Id="rId10" Type="http://schemas.openxmlformats.org/officeDocument/2006/relationships/image" Target="../media/image49.png"/><Relationship Id="rId4" Type="http://schemas.openxmlformats.org/officeDocument/2006/relationships/image" Target="../media/image50.png"/><Relationship Id="rId9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8" name="Picture 7" descr="A blue sign with white text&#10;&#10;Description automatically generated with medium confidence">
            <a:extLst>
              <a:ext uri="{FF2B5EF4-FFF2-40B4-BE49-F238E27FC236}">
                <a16:creationId xmlns=""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61;g104476d1465_0_0"/>
          <p:cNvSpPr txBox="1">
            <a:spLocks/>
          </p:cNvSpPr>
          <p:nvPr/>
        </p:nvSpPr>
        <p:spPr>
          <a:xfrm>
            <a:off x="5657109" y="2054275"/>
            <a:ext cx="5096616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40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Math: Pre-Algebra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8, Lesson 8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Solutions to Systems of Equations</a:t>
            </a:r>
            <a:r>
              <a:rPr lang="en-US" sz="4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4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4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38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79;g104476d1465_1_17"/>
          <p:cNvSpPr txBox="1">
            <a:spLocks/>
          </p:cNvSpPr>
          <p:nvPr/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</a:pPr>
            <a:r>
              <a:rPr lang="en-US" sz="47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280;g104476d1465_1_17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MA.8.AR.4.1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system of two linear equations and specified set of possible solutions, determine which ordered pairs satisfy the system of linear equations.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1100"/>
              <a:buNone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MA.8.AR.4.2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system of two linear equations represented graphically on the same coordinate plane, determine whether there is one solution, no solution, or infinitely many solutions.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3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296;g103996e1364_0_10">
            <a:extLst>
              <a:ext uri="{FF2B5EF4-FFF2-40B4-BE49-F238E27FC236}">
                <a16:creationId xmlns=""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998050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5" name="Google Shape;295;g103996e1364_0_10">
            <a:extLst>
              <a:ext uri="{FF2B5EF4-FFF2-40B4-BE49-F238E27FC236}">
                <a16:creationId xmlns=""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6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</a:t>
            </a:r>
            <a:r>
              <a:rPr lang="en-US" sz="4700" b="1" dirty="0" smtClean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Targets</a:t>
            </a:r>
            <a:endParaRPr lang="en-US" sz="4700" b="1" dirty="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5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2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indent="-685800">
              <a:buFont typeface="Wingdings" panose="05000000000000000000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determine algebraically if an ordered pair satisfies the given system of linear equations.</a:t>
            </a:r>
          </a:p>
          <a:p>
            <a:pPr marL="685800" indent="-685800">
              <a:buFont typeface="Wingdings" panose="05000000000000000000" pitchFamily="2" charset="2"/>
              <a:buChar char="q"/>
            </a:pPr>
            <a:endParaRPr lang="en-US" sz="3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685800" indent="-685800">
              <a:buFont typeface="Wingdings" panose="05000000000000000000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verify graphically when a system of linear equations has one solution, no solution, or infinitely many solutions. </a:t>
            </a:r>
            <a:endParaRPr lang="en-US" sz="3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86671187"/>
                  </p:ext>
                </p:extLst>
              </p:nvPr>
            </p:nvGraphicFramePr>
            <p:xfrm>
              <a:off x="746186" y="2130777"/>
              <a:ext cx="7560000" cy="2268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System 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System B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System C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180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= </m:t>
                                        </m:r>
                                        <m:f>
                                          <m:fPr>
                                            <m:ctrlPr>
                                              <a:rPr lang="en-US" sz="2000" i="1">
                                                <a:effectLst/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den>
                                        </m:f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 </m:t>
                                        </m:r>
                                        <m:f>
                                          <m:fPr>
                                            <m:ctrlPr>
                                              <a:rPr lang="en-US" sz="2000" i="1">
                                                <a:effectLst/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5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den>
                                        </m:f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       </m:t>
                                        </m:r>
                                      </m:e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=1.25+0.25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= </m:t>
                                        </m:r>
                                        <m:f>
                                          <m:fPr>
                                            <m:ctrlPr>
                                              <a:rPr lang="en-US" sz="2000" i="1">
                                                <a:effectLst/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den>
                                        </m:f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+ 5 </m:t>
                                        </m:r>
                                      </m:e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f>
                                          <m:fPr>
                                            <m:ctrlPr>
                                              <a:rPr lang="en-US" sz="2000" i="1">
                                                <a:effectLst/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den>
                                        </m:f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+3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= −</m:t>
                                        </m:r>
                                        <m:f>
                                          <m:fPr>
                                            <m:ctrlPr>
                                              <a:rPr lang="en-US" sz="2000" i="1">
                                                <a:effectLst/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6</m:t>
                                            </m:r>
                                          </m:den>
                                        </m:f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+ 1 </m:t>
                                        </m:r>
                                      </m:e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=−</m:t>
                                        </m:r>
                                        <m:f>
                                          <m:fPr>
                                            <m:ctrlPr>
                                              <a:rPr lang="en-US" sz="2000" i="1">
                                                <a:effectLst/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6</m:t>
                                            </m:r>
                                          </m:den>
                                        </m:f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86671187"/>
                  </p:ext>
                </p:extLst>
              </p:nvPr>
            </p:nvGraphicFramePr>
            <p:xfrm>
              <a:off x="746186" y="2130777"/>
              <a:ext cx="7560000" cy="2268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System 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System B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System C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180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26441" r="-199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242" t="-26441" r="-100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99758" t="-264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275689"/>
            <a:ext cx="108340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8.8.1 Warm-Up: Bell Work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4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E1D7562E-134F-D14B-AF1A-DF40E11EF758}"/>
              </a:ext>
            </a:extLst>
          </p:cNvPr>
          <p:cNvSpPr txBox="1"/>
          <p:nvPr/>
        </p:nvSpPr>
        <p:spPr>
          <a:xfrm>
            <a:off x="591015" y="1386026"/>
            <a:ext cx="113407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Three systems of equations are shown.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5955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805070" y="520392"/>
            <a:ext cx="107255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graphs of each system are shown. Match each system of linear equations with its graphical representation. </a:t>
            </a: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6413" y="1373302"/>
            <a:ext cx="6896165" cy="515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xmlns="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9904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84528005"/>
                  </p:ext>
                </p:extLst>
              </p:nvPr>
            </p:nvGraphicFramePr>
            <p:xfrm>
              <a:off x="1577175" y="3413146"/>
              <a:ext cx="7200000" cy="3004771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3600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90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Does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𝟕</m:t>
                              </m:r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satisfy the equation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000" b="1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sz="2000" b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?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Does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𝟕</m:t>
                              </m:r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satisfy the equation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=−</m:t>
                              </m:r>
                              <m:f>
                                <m:fPr>
                                  <m:ctrlPr>
                                    <a:rPr lang="en-US" sz="2000" b="1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sz="2000" b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𝟒</m:t>
                                  </m:r>
                                </m:den>
                              </m:f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𝟖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?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2052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  <a:spcBef>
                              <a:spcPts val="600"/>
                            </a:spcBef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00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 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+5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 </a:t>
                          </a:r>
                        </a:p>
                        <a:p>
                          <a:pPr algn="ctr">
                            <a:lnSpc>
                              <a:spcPct val="125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u="none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______=</m:t>
                                </m:r>
                                <m:r>
                                  <a:rPr lang="en-PH" sz="2000" b="0" i="0" u="none" smtClean="0">
                                    <a:effectLst/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u="none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f>
                                  <m:fPr>
                                    <m:ctrlPr>
                                      <a:rPr lang="en-US" sz="2000" i="1" u="none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u="none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u="none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2000" u="non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sz="2000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______</m:t>
                                </m:r>
                                <m:r>
                                  <a:rPr lang="en-PH" sz="2000" b="0" i="0" u="none" smtClean="0">
                                    <a:effectLst/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sz="2000" u="none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PH" sz="2000" b="0" i="0" u="none" smtClean="0">
                                    <a:effectLst/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000" u="none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algn="ctr">
                            <a:lnSpc>
                              <a:spcPct val="125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______= ______ +5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0" marR="0" algn="ctr">
                            <a:lnSpc>
                              <a:spcPct val="12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______= ______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  <a:spcBef>
                              <a:spcPts val="600"/>
                            </a:spcBef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00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 −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+8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 </a:t>
                          </a:r>
                        </a:p>
                        <a:p>
                          <a:pPr algn="ctr">
                            <a:lnSpc>
                              <a:spcPct val="1250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______=( −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 ______)+8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 </a:t>
                          </a:r>
                        </a:p>
                        <a:p>
                          <a:pPr algn="ctr">
                            <a:lnSpc>
                              <a:spcPct val="125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______= ______ +8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0" marR="0">
                            <a:lnSpc>
                              <a:spcPct val="12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______= ______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84528005"/>
                  </p:ext>
                </p:extLst>
              </p:nvPr>
            </p:nvGraphicFramePr>
            <p:xfrm>
              <a:off x="1577175" y="3413146"/>
              <a:ext cx="7200000" cy="3004771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360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90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69" t="-676" r="-99831" b="-2331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339" t="-676" b="-2331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210477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69" t="-43188" r="-998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339" t="-431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343;g103996e1364_0_321">
            <a:extLst>
              <a:ext uri="{FF2B5EF4-FFF2-40B4-BE49-F238E27FC236}">
                <a16:creationId xmlns=""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62866"/>
            <a:ext cx="10957380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8.8.2 Guided Instruction: </a:t>
            </a:r>
            <a: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Solutions </a:t>
            </a: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to Systems of Equations</a:t>
            </a:r>
            <a:endParaRPr lang="en-US" sz="32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5" name="Google Shape;345;g103996e1364_0_321">
            <a:extLst>
              <a:ext uri="{FF2B5EF4-FFF2-40B4-BE49-F238E27FC236}">
                <a16:creationId xmlns=""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5350" y="1785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="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545130" y="1386025"/>
                <a:ext cx="10985454" cy="18443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the system of equations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 </m:t>
                            </m:r>
                            <m:f>
                              <m:fPr>
                                <m:ctrlPr>
                                  <a:rPr lang="en-US" sz="20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+5</m:t>
                            </m:r>
                          </m: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=−</m:t>
                            </m:r>
                            <m:f>
                              <m:fPr>
                                <m:ctrlPr>
                                  <a:rPr lang="en-US" sz="20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+8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Determine algebraically, using substitution, if the ordered pair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(2, 7.5)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satisfies the system of linear equations.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130" y="1386025"/>
                <a:ext cx="10985454" cy="1844351"/>
              </a:xfrm>
              <a:prstGeom prst="rect">
                <a:avLst/>
              </a:prstGeom>
              <a:blipFill rotWithShape="1">
                <a:blip r:embed="rId6"/>
                <a:stretch>
                  <a:fillRect l="-555" b="-49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="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27540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statement.</a:t>
                </a:r>
              </a:p>
              <a:p>
                <a:pPr marL="914400">
                  <a:lnSpc>
                    <a:spcPct val="200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ordered pair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(2, 7.5)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       a solution to the system. It		   satisfy the equation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=−</m:t>
                    </m:r>
                    <m:f>
                      <m:fPr>
                        <m:ctrlPr>
                          <a:rPr lang="en-US" sz="2000" i="1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it 		   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satisfy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equation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To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be a solution to the system, the ordered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pair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2754087"/>
              </a:xfrm>
              <a:prstGeom prst="rect">
                <a:avLst/>
              </a:prstGeom>
              <a:blipFill rotWithShape="1">
                <a:blip r:embed="rId3"/>
                <a:stretch>
                  <a:fillRect t="-1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7183" y="888194"/>
            <a:ext cx="1128160" cy="73853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01980" y="867101"/>
            <a:ext cx="1567114" cy="75791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54690" y="3363353"/>
            <a:ext cx="3636407" cy="1326950"/>
          </a:xfrm>
          <a:prstGeom prst="rect">
            <a:avLst/>
          </a:prstGeom>
        </p:spPr>
      </p:pic>
      <p:sp>
        <p:nvSpPr>
          <p:cNvPr id="14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11155" y="1655633"/>
            <a:ext cx="1567114" cy="757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120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7493184"/>
                  </p:ext>
                </p:extLst>
              </p:nvPr>
            </p:nvGraphicFramePr>
            <p:xfrm>
              <a:off x="1545687" y="1444414"/>
              <a:ext cx="7380000" cy="3816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62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</a:tblGrid>
                  <a:tr h="79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Ordered Pair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 </m:t>
                                </m:r>
                                <m:f>
                                  <m:fPr>
                                    <m:ctrlPr>
                                      <a:rPr lang="en-US" sz="2000" b="1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2000" b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  <m:r>
                                  <a:rPr lang="en-US" sz="2000" b="1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=−</m:t>
                                </m:r>
                                <m:f>
                                  <m:fPr>
                                    <m:ctrlPr>
                                      <a:rPr lang="en-US" sz="2000" b="1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2000" b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</m:t>
                                    </m:r>
                                  </m:den>
                                </m:f>
                                <m:r>
                                  <a:rPr lang="en-US" sz="2000" b="1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2000" b="1" i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𝟖</m:t>
                                </m:r>
                              </m:oMath>
                            </m:oMathPara>
                          </a14:m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Are Both Equations True?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100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(−2, 4)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893763" marR="0" lvl="0" indent="-265113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Yes</a:t>
                          </a:r>
                        </a:p>
                        <a:p>
                          <a:pPr marL="893763" marR="0" lvl="0" indent="-265113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No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100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(1, 8)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893763" marR="0" lvl="0" indent="-265113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Yes</a:t>
                          </a:r>
                        </a:p>
                        <a:p>
                          <a:pPr marL="893763" marR="0" lvl="0" indent="-265113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No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100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(4, 7)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893763" marR="0" lvl="0" indent="-265113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Yes</a:t>
                          </a:r>
                        </a:p>
                        <a:p>
                          <a:pPr marL="893763" marR="0" lvl="0" indent="-265113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No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7493184"/>
                  </p:ext>
                </p:extLst>
              </p:nvPr>
            </p:nvGraphicFramePr>
            <p:xfrm>
              <a:off x="1545687" y="1444414"/>
              <a:ext cx="7380000" cy="3816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62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3"/>
                        </a:ext>
                      </a:extLst>
                    </a:gridCol>
                  </a:tblGrid>
                  <a:tr h="79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Ordered Pair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89098" t="-769" r="-266541" b="-38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70508" t="-769" r="-140339" b="-38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Are Both Equations True?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100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424" t="-79394" r="-413136" b="-200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893763" marR="0" lvl="0" indent="-265113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Yes</a:t>
                          </a:r>
                        </a:p>
                        <a:p>
                          <a:pPr marL="893763" marR="0" lvl="0" indent="-265113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No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100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424" t="-178313" r="-413136" b="-993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893763" marR="0" lvl="0" indent="-265113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Yes</a:t>
                          </a:r>
                        </a:p>
                        <a:p>
                          <a:pPr marL="893763" marR="0" lvl="0" indent="-265113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No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100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424" t="-280000" r="-413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893763" marR="0" lvl="0" indent="-265113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Yes</a:t>
                          </a:r>
                        </a:p>
                        <a:p>
                          <a:pPr marL="893763" marR="0" lvl="0" indent="-265113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No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5999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 to determine if each ordered pair satisfies both equations in the system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 startAt="3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PH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PH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PH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PH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PH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PH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solution to the system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 </m:t>
                            </m:r>
                            <m:f>
                              <m:fPr>
                                <m:ctrlPr>
                                  <a:rPr lang="en-US" sz="20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+5</m:t>
                            </m:r>
                          </m: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=−</m:t>
                            </m:r>
                            <m:f>
                              <m:fPr>
                                <m:ctrlPr>
                                  <a:rPr lang="en-US" sz="20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+8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5999335"/>
              </a:xfrm>
              <a:prstGeom prst="rect">
                <a:avLst/>
              </a:prstGeom>
              <a:blipFill rotWithShape="1">
                <a:blip r:embed="rId5"/>
                <a:stretch>
                  <a:fillRect t="-609" r="-12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8170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9" name="Picture 8" descr="Chart, line chart&#10;&#10;Description automatically generated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9717" y="1294324"/>
            <a:ext cx="6919032" cy="3978400"/>
          </a:xfrm>
          <a:prstGeom prst="rect">
            <a:avLst/>
          </a:prstGeom>
        </p:spPr>
      </p:pic>
      <p:sp>
        <p:nvSpPr>
          <p:cNvPr id="1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5269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graph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shown on the coordinate grid.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526939"/>
              </a:xfrm>
              <a:prstGeom prst="rect">
                <a:avLst/>
              </a:prstGeom>
              <a:blipFill rotWithShape="1">
                <a:blip r:embed="rId5"/>
                <a:stretch>
                  <a:fillRect l="-612" b="-57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2530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51169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lvl="1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Graph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−</m:t>
                    </m:r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+8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same coordinate grid.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Describe how the solution to the system </a:t>
                </a: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 </m:t>
                            </m:r>
                            <m:f>
                              <m:fPr>
                                <m:ctrlPr>
                                  <a:rPr lang="en-US" sz="24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+5</m:t>
                            </m:r>
                          </m: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=−</m:t>
                            </m:r>
                            <m:f>
                              <m:fPr>
                                <m:ctrlPr>
                                  <a:rPr lang="en-US" sz="24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+8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determined in Part D of the </a:t>
                </a: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previous question relates to the graph of the system.   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many solutions are there for this system?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5116978"/>
              </a:xfrm>
              <a:prstGeom prst="rect">
                <a:avLst/>
              </a:prstGeom>
              <a:blipFill rotWithShape="1">
                <a:blip r:embed="rId4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7355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67443826"/>
                  </p:ext>
                </p:extLst>
              </p:nvPr>
            </p:nvGraphicFramePr>
            <p:xfrm>
              <a:off x="1569615" y="2997999"/>
              <a:ext cx="7992000" cy="3346055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432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System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Graph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Solution(s)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287805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= </m:t>
                                        </m:r>
                                        <m:f>
                                          <m:fPr>
                                            <m:ctrlPr>
                                              <a:rPr lang="en-US" sz="2000" i="1">
                                                <a:effectLst/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den>
                                        </m:f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 </m:t>
                                        </m:r>
                                        <m:f>
                                          <m:fPr>
                                            <m:ctrlPr>
                                              <a:rPr lang="en-US" sz="2000" i="1">
                                                <a:effectLst/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5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den>
                                        </m:f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       </m:t>
                                        </m:r>
                                      </m:e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=1.25+0.25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This system has 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_____________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_____________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because the equations are equivalent. Every ordered pair on both lines is the same.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67443826"/>
                  </p:ext>
                </p:extLst>
              </p:nvPr>
            </p:nvGraphicFramePr>
            <p:xfrm>
              <a:off x="1569615" y="2997999"/>
              <a:ext cx="7992000" cy="3346055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432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3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System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Graph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Solution(s)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287805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000" t="-16525" r="-249577" b="-29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This system has 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_____________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_____________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because the equations are equivalent. Every ordered pair on both lines is the same.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8" name="Picture 7" descr="Chart, line chart&#10;&#10;Description automatically generated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48047" y="3530758"/>
            <a:ext cx="2726024" cy="2726024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xmlns:a14="http://schemas.microsoft.com/office/drawing/2010/main" xmlns:mc="http://schemas.openxmlformats.org/markup-compatibility/2006" id="{C8F82859-BA98-3646-BF3B-9E17E52A2E35}"/>
              </a:ext>
            </a:extLst>
          </p:cNvPr>
          <p:cNvSpPr txBox="1"/>
          <p:nvPr/>
        </p:nvSpPr>
        <p:spPr>
          <a:xfrm>
            <a:off x="511205" y="533066"/>
            <a:ext cx="1095320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Systems of equations in two variables can have one solution, no solution, or infinitely many solutions.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systems of equations and their corresponding graphs from the Warm-Up are shown again in the table.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description of the solution(s) for each system using the phrase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one solution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 solution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or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infinitely many solutions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6319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7647859"/>
                  </p:ext>
                </p:extLst>
              </p:nvPr>
            </p:nvGraphicFramePr>
            <p:xfrm>
              <a:off x="2003923" y="320395"/>
              <a:ext cx="7992000" cy="613728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432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System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Graph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Solution(s)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246354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= </m:t>
                                        </m:r>
                                        <m:f>
                                          <m:fPr>
                                            <m:ctrlPr>
                                              <a:rPr lang="en-US" sz="2000" i="1">
                                                <a:effectLst/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den>
                                        </m:f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+ 5 </m:t>
                                        </m:r>
                                      </m:e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f>
                                          <m:fPr>
                                            <m:ctrlPr>
                                              <a:rPr lang="en-US" sz="2000" i="1">
                                                <a:effectLst/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den>
                                        </m:f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+3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This system has 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_____________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_____________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because there is only one ordered pair that is on both lines. It is the point of intersection. 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246354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= −</m:t>
                                        </m:r>
                                        <m:f>
                                          <m:fPr>
                                            <m:ctrlPr>
                                              <a:rPr lang="en-US" sz="2000" i="1">
                                                <a:effectLst/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6</m:t>
                                            </m:r>
                                          </m:den>
                                        </m:f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+ 1 </m:t>
                                        </m:r>
                                      </m:e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=−</m:t>
                                        </m:r>
                                        <m:f>
                                          <m:fPr>
                                            <m:ctrlPr>
                                              <a:rPr lang="en-US" sz="2000" i="1">
                                                <a:effectLst/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6</m:t>
                                            </m:r>
                                          </m:den>
                                        </m:f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This system has 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_____________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_____________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because there is no ordered pair that is on both lines. There is no point of intersection.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7647859"/>
                  </p:ext>
                </p:extLst>
              </p:nvPr>
            </p:nvGraphicFramePr>
            <p:xfrm>
              <a:off x="2003923" y="320395"/>
              <a:ext cx="7992000" cy="613728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43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System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Graph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Solution(s)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834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468" t="-17040" r="-249708" b="-1040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This system has 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_____________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_____________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because there is only one ordered pair that is on both lines. It is the point of intersection. 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834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468" t="-116518" r="-249708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This system has 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_____________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_____________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because there is no ordered pair that is on both lines. There is no point of intersection.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Chart, line chart&#10;&#10;Description automatically generated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4440" y="919362"/>
            <a:ext cx="2621576" cy="2621576"/>
          </a:xfrm>
          <a:prstGeom prst="rect">
            <a:avLst/>
          </a:prstGeom>
        </p:spPr>
      </p:pic>
      <p:pic>
        <p:nvPicPr>
          <p:cNvPr id="7" name="Picture 6" descr="Chart, line chart&#10;&#10;Description automatically generated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4440" y="3740866"/>
            <a:ext cx="2600310" cy="2600310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83208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3839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854766" y="399051"/>
            <a:ext cx="1066915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statements.</a:t>
            </a:r>
          </a:p>
          <a:p>
            <a:pPr marL="9144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System	    has no solution because the </a:t>
            </a:r>
            <a:b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lines in this system are parallel. Parallel lines </a:t>
            </a:r>
            <a:b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have the same 			  so there</a:t>
            </a:r>
          </a:p>
          <a:p>
            <a:pPr marL="9144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			   		</a:t>
            </a:r>
            <a:b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			   where the lines will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intersect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678" y="1122145"/>
            <a:ext cx="964576" cy="125504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85395" y="3473118"/>
            <a:ext cx="2413003" cy="94372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5633" y="4619347"/>
            <a:ext cx="3969903" cy="1259382"/>
          </a:xfrm>
          <a:prstGeom prst="rect">
            <a:avLst/>
          </a:prstGeom>
        </p:spPr>
      </p:pic>
      <p:sp>
        <p:nvSpPr>
          <p:cNvPr id="14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602914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765" y="-32617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2621573"/>
                  </p:ext>
                </p:extLst>
              </p:nvPr>
            </p:nvGraphicFramePr>
            <p:xfrm>
              <a:off x="1658228" y="3013524"/>
              <a:ext cx="6708960" cy="348984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46304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62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9800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1645920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</a:tblGrid>
                  <a:tr h="90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Ordered Pair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 </m:t>
                                </m:r>
                                <m:f>
                                  <m:fPr>
                                    <m:ctrlPr>
                                      <a:rPr lang="en-US" sz="2000" b="1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US" sz="2000" b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𝟓</m:t>
                                    </m:r>
                                  </m:den>
                                </m:f>
                                <m:r>
                                  <a:rPr lang="en-US" sz="2000" b="1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2000" b="1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𝟔</m:t>
                                    </m:r>
                                  </m:num>
                                  <m:den>
                                    <m:r>
                                      <a:rPr lang="en-US" sz="2000" b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𝟓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 </m:t>
                              </m:r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2000" b="1" i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Are Both </a:t>
                          </a:r>
                          <a: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Equations </a:t>
                          </a: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/>
                          </a:r>
                          <a:b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True?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82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(−1.5, 0.6)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627063" marR="0" lvl="0" indent="-265113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627063" marR="0" lvl="0" indent="-265113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82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(0, 1.2)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627063" marR="0" lvl="0" indent="-265113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627063" marR="0" lvl="0" indent="-265113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82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(2, 2)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627063" marR="0" lvl="0" indent="-265113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627063" marR="0" lvl="0" indent="-265113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2621573"/>
                  </p:ext>
                </p:extLst>
              </p:nvPr>
            </p:nvGraphicFramePr>
            <p:xfrm>
              <a:off x="1658228" y="3013524"/>
              <a:ext cx="6708960" cy="348984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46304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62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98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164592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3"/>
                        </a:ext>
                      </a:extLst>
                    </a:gridCol>
                  </a:tblGrid>
                  <a:tr h="10058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Ordered Pair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0226" t="-3030" r="-223684" b="-25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55692" t="-3030" r="-83077" b="-25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Are Both </a:t>
                          </a:r>
                          <a: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Equations </a:t>
                          </a: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/>
                          </a:r>
                          <a:b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True?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82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125000" r="-358750" b="-207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627063" marR="0" lvl="0" indent="-265113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627063" marR="0" lvl="0" indent="-265113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82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225000" r="-358750" b="-107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627063" marR="0" lvl="0" indent="-265113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627063" marR="0" lvl="0" indent="-265113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82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325000" r="-358750" b="-7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627063" marR="0" lvl="0" indent="-265113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627063" marR="0" lvl="0" indent="-265113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136174"/>
            <a:ext cx="10477934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8.8.3 Guided </a:t>
            </a:r>
            <a: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Practice:</a:t>
            </a:r>
            <a:b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Solutions </a:t>
            </a: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to Systems of Equations</a:t>
            </a:r>
            <a:endParaRPr lang="en-US" sz="32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5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250614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609600" y="1271725"/>
                <a:ext cx="10920984" cy="1608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the system of equations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 </m:t>
                            </m:r>
                            <m:f>
                              <m:fPr>
                                <m:ctrlPr>
                                  <a:rPr lang="en-US" sz="20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20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=1.2+0.4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lvl="1" indent="-457200">
                  <a:spcBef>
                    <a:spcPts val="1200"/>
                  </a:spcBef>
                  <a:buFont typeface="+mj-lt"/>
                  <a:buAutoNum type="alphaLcPeriod"/>
                </a:pP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 to determine if each ordered pair satisfies both equations in the system.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271725"/>
                <a:ext cx="10920984" cy="1608261"/>
              </a:xfrm>
              <a:prstGeom prst="rect">
                <a:avLst/>
              </a:prstGeom>
              <a:blipFill rotWithShape="1">
                <a:blip r:embed="rId6"/>
                <a:stretch>
                  <a:fillRect l="-558" b="-6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653" y="1405204"/>
            <a:ext cx="2954546" cy="2086296"/>
          </a:xfrm>
          <a:prstGeom prst="rect">
            <a:avLst/>
          </a:prstGeom>
        </p:spPr>
      </p:pic>
      <p:sp>
        <p:nvSpPr>
          <p:cNvPr id="10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=""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20961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Based on your work in Part A, complete the statement.</a:t>
                </a:r>
              </a:p>
              <a:p>
                <a:pPr marL="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system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 </m:t>
                            </m:r>
                            <m:f>
                              <m:fPr>
                                <m:ctrlPr>
                                  <a:rPr lang="en-US" sz="24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24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=1.2+0.4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has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2096151"/>
              </a:xfrm>
              <a:prstGeom prst="rect">
                <a:avLst/>
              </a:prstGeom>
              <a:blipFill rotWithShape="1">
                <a:blip r:embed="rId5"/>
                <a:stretch>
                  <a:fillRect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42183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640176"/>
                  </p:ext>
                </p:extLst>
              </p:nvPr>
            </p:nvGraphicFramePr>
            <p:xfrm>
              <a:off x="2575612" y="2085436"/>
              <a:ext cx="7200000" cy="4068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5040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strike="noStrike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System of Equations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strike="noStrike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Solution(s)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60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= </m:t>
                                        </m:r>
                                        <m:f>
                                          <m:fPr>
                                            <m:ctrlPr>
                                              <a:rPr lang="en-US" sz="2000" i="1">
                                                <a:effectLst/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den>
                                        </m:f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+11</m:t>
                                        </m:r>
                                      </m:e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=2.5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−3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640176"/>
                  </p:ext>
                </p:extLst>
              </p:nvPr>
            </p:nvGraphicFramePr>
            <p:xfrm>
              <a:off x="2575612" y="2085436"/>
              <a:ext cx="7200000" cy="4068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504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strike="noStrike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System of Equations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strike="noStrike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Solution(s)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51" t="-59155" r="-43216" b="-23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6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8050" y="3785792"/>
            <a:ext cx="3703928" cy="2302368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C8F82859-BA98-3646-BF3B-9E17E52A2E35}"/>
              </a:ext>
            </a:extLst>
          </p:cNvPr>
          <p:cNvSpPr txBox="1"/>
          <p:nvPr/>
        </p:nvSpPr>
        <p:spPr>
          <a:xfrm>
            <a:off x="511205" y="533066"/>
            <a:ext cx="109532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each system of equations, determine whether there is one solution, no solution, or infinitely many solutions. If there is only one solution, give the solution.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0423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8096521"/>
                  </p:ext>
                </p:extLst>
              </p:nvPr>
            </p:nvGraphicFramePr>
            <p:xfrm>
              <a:off x="2570075" y="603451"/>
              <a:ext cx="7200000" cy="5148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5040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System of Equations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Solution(s)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468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= </m:t>
                                        </m:r>
                                        <m:f>
                                          <m:fPr>
                                            <m:ctrlPr>
                                              <a:rPr lang="en-US" sz="2000" i="1">
                                                <a:effectLst/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5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den>
                                        </m:f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−8</m:t>
                                        </m:r>
                                      </m:e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f>
                                          <m:fPr>
                                            <m:ctrlPr>
                                              <a:rPr lang="en-US" sz="2000" i="1">
                                                <a:effectLst/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15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9</m:t>
                                            </m:r>
                                          </m:den>
                                        </m:f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+2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8096521"/>
                  </p:ext>
                </p:extLst>
              </p:nvPr>
            </p:nvGraphicFramePr>
            <p:xfrm>
              <a:off x="2570075" y="603451"/>
              <a:ext cx="7200000" cy="5148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504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System of Equations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Solution(s)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8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51" t="-10298" r="-42965" b="-5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4689" y="2636131"/>
            <a:ext cx="4638257" cy="2981961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68557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xmlns="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43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59124"/>
                  </p:ext>
                </p:extLst>
              </p:nvPr>
            </p:nvGraphicFramePr>
            <p:xfrm>
              <a:off x="1669139" y="3321288"/>
              <a:ext cx="6480000" cy="316584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62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6200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</a:tblGrid>
                  <a:tr h="90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Ordered Pair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 </m:t>
                                </m:r>
                                <m:f>
                                  <m:fPr>
                                    <m:ctrlPr>
                                      <a:rPr lang="en-US" sz="2000" b="1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1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𝟓</m:t>
                                    </m:r>
                                  </m:num>
                                  <m:den>
                                    <m:r>
                                      <a:rPr lang="en-US" sz="2000" b="1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𝟔</m:t>
                                    </m:r>
                                  </m:den>
                                </m:f>
                                <m:r>
                                  <a:rPr lang="en-US" sz="2000" b="1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2000" b="1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n-US" sz="2000" b="1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000" b="1" i="1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1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2000" b="1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  <m:r>
                                  <a:rPr lang="en-US" sz="2000" b="1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Are Both Equations True?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0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2000" b="0" i="0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627063" marR="0" lvl="0" indent="-265113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627063" marR="0" lvl="0" indent="-265113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0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2000" b="0" i="0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627063" marR="0" lvl="0" indent="-265113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627063" marR="0" lvl="0" indent="-265113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0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2, </m:t>
                                </m:r>
                                <m:r>
                                  <a:rPr lang="en-US" sz="2000" b="0" i="0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627063" marR="0" lvl="0" indent="-265113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627063" marR="0" lvl="0" indent="-265113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59124"/>
                  </p:ext>
                </p:extLst>
              </p:nvPr>
            </p:nvGraphicFramePr>
            <p:xfrm>
              <a:off x="1669139" y="3321288"/>
              <a:ext cx="6480000" cy="316584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62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62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3"/>
                        </a:ext>
                      </a:extLst>
                    </a:gridCol>
                  </a:tblGrid>
                  <a:tr h="10058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Ordered Pair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89098" t="-3030" r="-210902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89098" t="-3030" r="-110902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Are Both Equations True?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424" t="-144068" r="-350424" b="-2169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627063" marR="0" lvl="0" indent="-265113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627063" marR="0" lvl="0" indent="-265113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424" t="-244068" r="-350424" b="-1169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627063" marR="0" lvl="0" indent="-265113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627063" marR="0" lvl="0" indent="-265113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424" t="-344068" r="-350424" b="-169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627063" marR="0" lvl="0" indent="-265113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627063" marR="0" lvl="0" indent="-265113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5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43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7" name="Google Shape;428;g103996e1364_0_428">
            <a:extLst>
              <a:ext uri="{FF2B5EF4-FFF2-40B4-BE49-F238E27FC236}">
                <a16:creationId xmlns=""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03916" y="20116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8.8.4 Your Turn!</a:t>
            </a:r>
            <a:endParaRPr lang="en-US" sz="44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" name="Google Shape;430;g103996e1364_0_428">
            <a:extLst>
              <a:ext uri="{FF2B5EF4-FFF2-40B4-BE49-F238E27FC236}">
                <a16:creationId xmlns=""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=""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609600" y="1157425"/>
                <a:ext cx="10920984" cy="19982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the system of equations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 </m:t>
                            </m:r>
                            <m:f>
                              <m:fPr>
                                <m:ctrlPr>
                                  <a:rPr lang="en-US" sz="20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−2</m:t>
                            </m:r>
                          </m: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=6−</m:t>
                            </m:r>
                            <m:f>
                              <m:fPr>
                                <m:ctrlPr>
                                  <a:rPr lang="en-US" sz="20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 to determine if each ordered pair satisfies both equations in the system.</a:t>
                </a: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157425"/>
                <a:ext cx="10920984" cy="1998239"/>
              </a:xfrm>
              <a:prstGeom prst="rect">
                <a:avLst/>
              </a:prstGeom>
              <a:blipFill rotWithShape="1">
                <a:blip r:embed="rId6"/>
                <a:stretch>
                  <a:fillRect l="-558" b="-45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3349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7242" y="1538117"/>
            <a:ext cx="2929588" cy="2068672"/>
          </a:xfrm>
          <a:prstGeom prst="rect">
            <a:avLst/>
          </a:prstGeom>
        </p:spPr>
      </p:pic>
      <p:sp>
        <p:nvSpPr>
          <p:cNvPr id="1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43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20101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Based on your work in Part A, complete the statement.</a:t>
                </a:r>
              </a:p>
              <a:p>
                <a:pPr marL="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system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 </m:t>
                            </m:r>
                            <m:f>
                              <m:fPr>
                                <m:ctrlPr>
                                  <a:rPr lang="en-US" sz="24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−2</m:t>
                            </m:r>
                          </m: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=6−</m:t>
                            </m:r>
                            <m:f>
                              <m:fPr>
                                <m:ctrlPr>
                                  <a:rPr lang="en-US" sz="24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has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2010102"/>
              </a:xfrm>
              <a:prstGeom prst="rect">
                <a:avLst/>
              </a:prstGeom>
              <a:blipFill rotWithShape="1">
                <a:blip r:embed="rId5"/>
                <a:stretch>
                  <a:fillRect t="-24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84355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=""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53837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graph of the system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 </m:t>
                            </m:r>
                            <m:f>
                              <m:fPr>
                                <m:ctrlPr>
                                  <a:rPr lang="en-US" sz="20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−2</m:t>
                            </m:r>
                          </m: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=6−</m:t>
                            </m:r>
                            <m:f>
                              <m:fPr>
                                <m:ctrlPr>
                                  <a:rPr lang="en-US" sz="20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shown.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graph to explain why your answer to Part B is correct.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5383782"/>
              </a:xfrm>
              <a:prstGeom prst="rect">
                <a:avLst/>
              </a:prstGeom>
              <a:blipFill rotWithShape="1">
                <a:blip r:embed="rId3"/>
                <a:stretch>
                  <a:fillRect b="-10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8" name="Picture 7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59450" y="1749915"/>
            <a:ext cx="6256715" cy="3501532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43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195589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83377465"/>
                  </p:ext>
                </p:extLst>
              </p:nvPr>
            </p:nvGraphicFramePr>
            <p:xfrm>
              <a:off x="2172000" y="3158226"/>
              <a:ext cx="7848000" cy="3403173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168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32400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58308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Ordered Pair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000" b="1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num>
                                <m:den>
                                  <m:r>
                                    <a:rPr lang="en-US" sz="2000" b="1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𝟒</m:t>
                                  </m:r>
                                </m:den>
                              </m:f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oMath>
                          </a14:m>
                          <a:r>
                            <a:rPr lang="en-US" sz="2000" b="1" i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 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000" b="1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sz="2000" b="1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𝟒</m:t>
                                  </m:r>
                                </m:den>
                              </m:f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</m:oMath>
                          </a14:m>
                          <a:r>
                            <a:rPr lang="en-US" sz="2000" b="1" i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 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87462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(2, 0.5)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0.5=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4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2</m:t>
                                  </m:r>
                                </m:e>
                              </m:d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−1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−1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0.5= 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    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0.5= 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(2)−3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= 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−3</m:t>
                              </m:r>
                            </m:oMath>
                          </a14:m>
                          <a:endParaRPr lang="en-US" sz="200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0.5≠ −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 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87462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(0, −3)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−3=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(0)−1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=0−1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−3≠−1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−3= 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4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−3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= 0−3</m:t>
                              </m:r>
                            </m:oMath>
                          </a14:m>
                          <a:endParaRPr lang="en-US" sz="200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−3= −3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       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87462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( −4, −4)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−4=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4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−4</m:t>
                                  </m:r>
                                </m:e>
                              </m:d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−1=−3−1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 </a:t>
                          </a: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−4=−4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−4= 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(−4)−3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= −1−3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−4=−4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83377465"/>
                  </p:ext>
                </p:extLst>
              </p:nvPr>
            </p:nvGraphicFramePr>
            <p:xfrm>
              <a:off x="2172000" y="3158226"/>
              <a:ext cx="7848000" cy="3403173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168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24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Ordered Pair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6000" t="-3636" r="-102800" b="-39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3137" t="-3636" r="-784" b="-39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5288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70" t="-75000" r="-448673" b="-184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6000" t="-75000" r="-102800" b="-184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3137" t="-75000" r="-784" b="-1842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7462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70" t="-192754" r="-448673" b="-10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6000" t="-192754" r="-102800" b="-10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3137" t="-192754" r="-784" b="-1028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7462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70" t="-292754" r="-448673" b="-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6000" t="-292754" r="-102800" b="-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3137" t="-292754" r="-784" b="-28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8" name="Graphic 37" descr="Checkmark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9484079" y="6128916"/>
            <a:ext cx="462915" cy="462915"/>
          </a:xfrm>
          <a:prstGeom prst="rect">
            <a:avLst/>
          </a:prstGeom>
        </p:spPr>
      </p:pic>
      <p:pic>
        <p:nvPicPr>
          <p:cNvPr id="10" name="Graphic 37" descr="Checkmark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9484079" y="5264669"/>
            <a:ext cx="462915" cy="462915"/>
          </a:xfrm>
          <a:prstGeom prst="rect">
            <a:avLst/>
          </a:prstGeom>
        </p:spPr>
      </p:pic>
      <p:pic>
        <p:nvPicPr>
          <p:cNvPr id="11" name="Graphic 37" descr="Checkmark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263926" y="6128917"/>
            <a:ext cx="462915" cy="462915"/>
          </a:xfrm>
          <a:prstGeom prst="rect">
            <a:avLst/>
          </a:prstGeom>
        </p:spPr>
      </p:pic>
      <p:pic>
        <p:nvPicPr>
          <p:cNvPr id="13" name="Graphic 37" descr="Checkmark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263036" y="4396898"/>
            <a:ext cx="462915" cy="462915"/>
          </a:xfrm>
          <a:prstGeom prst="rect">
            <a:avLst/>
          </a:prstGeom>
        </p:spPr>
      </p:pic>
      <p:sp>
        <p:nvSpPr>
          <p:cNvPr id="14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283;g104476d1465_1_17"/>
          <p:cNvPicPr preferRelativeResize="0"/>
          <p:nvPr/>
        </p:nvPicPr>
        <p:blipFill>
          <a:blip r:embed="rId9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7" name="Google Shape;468;p34"/>
          <p:cNvSpPr txBox="1"/>
          <p:nvPr/>
        </p:nvSpPr>
        <p:spPr>
          <a:xfrm>
            <a:off x="1142999" y="284833"/>
            <a:ext cx="1066951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8.8.5 Wrap-Up: Error Analysis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" name="Google Shape;469;p34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9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=""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702526" y="909776"/>
                <a:ext cx="11240429" cy="21521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Bevan solved the system of equations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sz="20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 </m:t>
                            </m:r>
                            <m:f>
                              <m:fPr>
                                <m:ctrlPr>
                                  <a:rPr lang="en-US" sz="20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−3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.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She used the ordered pairs shown in the table to determine the solution(s) to the system. She put a green checkmark in each of the boxes where the ordered pair satisfied the equation.</a:t>
                </a: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="" xmlns:a16="http://schemas.microsoft.com/office/drawing/2014/main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526" y="909776"/>
                <a:ext cx="11240429" cy="2152128"/>
              </a:xfrm>
              <a:prstGeom prst="rect">
                <a:avLst/>
              </a:prstGeom>
              <a:blipFill rotWithShape="1">
                <a:blip r:embed="rId11"/>
                <a:stretch>
                  <a:fillRect l="-542" b="-42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C8F82859-BA98-3646-BF3B-9E17E52A2E35}"/>
              </a:ext>
            </a:extLst>
          </p:cNvPr>
          <p:cNvSpPr txBox="1"/>
          <p:nvPr/>
        </p:nvSpPr>
        <p:spPr>
          <a:xfrm>
            <a:off x="511205" y="533066"/>
            <a:ext cx="109532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She concluded there are infinitely many solutions to the system because more than one point satisfies the equations.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a short note to Bevan explaining the error she made. 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570238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</TotalTime>
  <Words>1593</Words>
  <Application>Microsoft Office PowerPoint</Application>
  <PresentationFormat>Custom</PresentationFormat>
  <Paragraphs>265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Arial</vt:lpstr>
      <vt:lpstr>Century Gothic</vt:lpstr>
      <vt:lpstr>Wingdings</vt:lpstr>
      <vt:lpstr>Cambria Math</vt:lpstr>
      <vt:lpstr>Arial Black</vt:lpstr>
      <vt:lpstr>Verdana</vt:lpstr>
      <vt:lpstr>Calibri</vt:lpstr>
      <vt:lpstr>Courier New</vt:lpstr>
      <vt:lpstr>Times New Roman</vt:lpstr>
      <vt:lpstr>1_Office Theme</vt:lpstr>
      <vt:lpstr>PowerPoint Presentation</vt:lpstr>
      <vt:lpstr>PowerPoint Presentation</vt:lpstr>
      <vt:lpstr>PowerPoint Presentation</vt:lpstr>
      <vt:lpstr>PowerPoint Presentation</vt:lpstr>
      <vt:lpstr>Warm-Up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John Patrick</cp:lastModifiedBy>
  <cp:revision>47</cp:revision>
  <dcterms:created xsi:type="dcterms:W3CDTF">2015-03-17T18:51:18Z</dcterms:created>
  <dcterms:modified xsi:type="dcterms:W3CDTF">2022-06-19T16:05:22Z</dcterms:modified>
</cp:coreProperties>
</file>