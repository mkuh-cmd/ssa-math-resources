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9"/>
  </p:notesMasterIdLst>
  <p:sldIdLst>
    <p:sldId id="256" r:id="rId2"/>
    <p:sldId id="257" r:id="rId3"/>
    <p:sldId id="285" r:id="rId4"/>
    <p:sldId id="286" r:id="rId5"/>
    <p:sldId id="261" r:id="rId6"/>
    <p:sldId id="287" r:id="rId7"/>
    <p:sldId id="288" r:id="rId8"/>
    <p:sldId id="314" r:id="rId9"/>
    <p:sldId id="315" r:id="rId10"/>
    <p:sldId id="352" r:id="rId11"/>
    <p:sldId id="317" r:id="rId12"/>
    <p:sldId id="318" r:id="rId13"/>
    <p:sldId id="354" r:id="rId14"/>
    <p:sldId id="362" r:id="rId15"/>
    <p:sldId id="363" r:id="rId16"/>
    <p:sldId id="306" r:id="rId17"/>
    <p:sldId id="307" r:id="rId18"/>
  </p:sldIdLst>
  <p:sldSz cx="12192000" cy="6858000"/>
  <p:notesSz cx="6858000" cy="9144000"/>
  <p:embeddedFontLst>
    <p:embeddedFont>
      <p:font typeface="Century Gothic" pitchFamily="34" charset="0"/>
      <p:regular r:id="rId20"/>
      <p:bold r:id="rId21"/>
      <p:italic r:id="rId22"/>
      <p:boldItalic r:id="rId23"/>
    </p:embeddedFont>
    <p:embeddedFont>
      <p:font typeface="Cambria Math" pitchFamily="18" charset="0"/>
      <p:regular r:id="rId24"/>
    </p:embeddedFont>
    <p:embeddedFont>
      <p:font typeface="Arial Black" pitchFamily="34" charset="0"/>
      <p:bold r:id="rId25"/>
    </p:embeddedFont>
    <p:embeddedFont>
      <p:font typeface="Verdana" pitchFamily="34" charset="0"/>
      <p:regular r:id="rId26"/>
      <p:bold r:id="rId27"/>
      <p:italic r:id="rId28"/>
      <p:boldItalic r:id="rId29"/>
    </p:embeddedFont>
    <p:embeddedFont>
      <p:font typeface="Calibri" pitchFamily="34" charset="0"/>
      <p:regular r:id="rId30"/>
      <p:bold r:id="rId31"/>
      <p:italic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29091"/>
    <p:restoredTop sz="94694"/>
  </p:normalViewPr>
  <p:slideViewPr>
    <p:cSldViewPr snapToGrid="0">
      <p:cViewPr>
        <p:scale>
          <a:sx n="80" d="100"/>
          <a:sy n="80" d="100"/>
        </p:scale>
        <p:origin x="-1397" y="-1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font" Target="fonts/font14.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font" Target="fonts/font13.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31" Type="http://schemas.openxmlformats.org/officeDocument/2006/relationships/font" Target="fonts/font1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65095418"/>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357364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extLst>
      <p:ext uri="{BB962C8B-B14F-4D97-AF65-F5344CB8AC3E}">
        <p14:creationId xmlns:p14="http://schemas.microsoft.com/office/powerpoint/2010/main" val="41576293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extLst>
      <p:ext uri="{BB962C8B-B14F-4D97-AF65-F5344CB8AC3E}">
        <p14:creationId xmlns:p14="http://schemas.microsoft.com/office/powerpoint/2010/main" val="33652419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056107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81447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420087430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52086574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7166881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7"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7" Type="http://schemas.openxmlformats.org/officeDocument/2006/relationships/image" Target="../media/image18.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7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20.png"/><Relationship Id="rId7" Type="http://schemas.openxmlformats.org/officeDocument/2006/relationships/image" Target="../media/image19.png"/><Relationship Id="rId2" Type="http://schemas.openxmlformats.org/officeDocument/2006/relationships/notesSlide" Target="../notesSlides/notesSlide1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2.png"/><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0" name="Google Shape;309;g104476d1465_1_39">
            <a:extLst>
              <a:ext uri="{FF2B5EF4-FFF2-40B4-BE49-F238E27FC236}">
                <a16:creationId xmlns:a16="http://schemas.microsoft.com/office/drawing/2014/main" xmlns="" id="{566F1422-A32C-7745-9E85-5AF7B9DBC697}"/>
              </a:ext>
            </a:extLst>
          </p:cNvPr>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6" name="Google Shape;261;g104476d1465_0_0"/>
          <p:cNvSpPr txBox="1">
            <a:spLocks/>
          </p:cNvSpPr>
          <p:nvPr/>
        </p:nvSpPr>
        <p:spPr>
          <a:xfrm>
            <a:off x="5742834" y="2054277"/>
            <a:ext cx="4925167" cy="319445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lgn="ctr">
              <a:lnSpc>
                <a:spcPct val="100000"/>
              </a:lnSpc>
            </a:pPr>
            <a:r>
              <a:rPr lang="en-US" sz="4000" b="1" dirty="0">
                <a:solidFill>
                  <a:srgbClr val="417DBF"/>
                </a:solidFill>
                <a:latin typeface="Verdana"/>
                <a:ea typeface="Verdana"/>
                <a:cs typeface="Verdana"/>
                <a:sym typeface="Verdana"/>
              </a:rPr>
              <a:t>8</a:t>
            </a:r>
            <a:r>
              <a:rPr lang="en-US" sz="4000" b="1" baseline="30000" dirty="0">
                <a:solidFill>
                  <a:srgbClr val="417DBF"/>
                </a:solidFill>
                <a:latin typeface="Verdana"/>
                <a:ea typeface="Verdana"/>
                <a:cs typeface="Verdana"/>
                <a:sym typeface="Verdana"/>
              </a:rPr>
              <a:t>th</a:t>
            </a:r>
            <a:r>
              <a:rPr lang="en-US" sz="4000" b="1" dirty="0">
                <a:solidFill>
                  <a:srgbClr val="417DBF"/>
                </a:solidFill>
                <a:latin typeface="Verdana"/>
                <a:ea typeface="Verdana"/>
                <a:cs typeface="Verdana"/>
                <a:sym typeface="Verdana"/>
              </a:rPr>
              <a:t> Grade Math: Pre-Algebra</a:t>
            </a:r>
            <a:br>
              <a:rPr lang="en-US" sz="4000" b="1" dirty="0">
                <a:solidFill>
                  <a:srgbClr val="417DBF"/>
                </a:solidFill>
                <a:latin typeface="Verdana"/>
                <a:ea typeface="Verdana"/>
                <a:cs typeface="Verdana"/>
                <a:sym typeface="Verdana"/>
              </a:rPr>
            </a:br>
            <a:endParaRPr lang="en-US" sz="4000" b="1" dirty="0">
              <a:solidFill>
                <a:srgbClr val="417DBF"/>
              </a:solidFill>
              <a:latin typeface="Verdana"/>
              <a:ea typeface="Verdana"/>
              <a:cs typeface="Verdana"/>
              <a:sym typeface="Verdana"/>
            </a:endParaRPr>
          </a:p>
          <a:p>
            <a:pPr algn="ctr">
              <a:lnSpc>
                <a:spcPct val="100000"/>
              </a:lnSpc>
              <a:buClr>
                <a:srgbClr val="000000"/>
              </a:buClr>
            </a:pPr>
            <a:r>
              <a:rPr lang="en-US" sz="4000" b="1" dirty="0">
                <a:solidFill>
                  <a:srgbClr val="417DBF"/>
                </a:solidFill>
                <a:latin typeface="Verdana"/>
                <a:ea typeface="Verdana"/>
                <a:cs typeface="Verdana"/>
                <a:sym typeface="Verdana"/>
              </a:rPr>
              <a:t>Unit 8, Lesson 6</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
            </a:r>
            <a:br>
              <a:rPr lang="en-US" sz="4000" b="1" dirty="0">
                <a:solidFill>
                  <a:srgbClr val="417DBF"/>
                </a:solidFill>
                <a:latin typeface="Verdana"/>
                <a:ea typeface="Verdana"/>
                <a:cs typeface="Verdana"/>
                <a:sym typeface="Verdana"/>
              </a:rPr>
            </a:br>
            <a:r>
              <a:rPr lang="en-US" sz="4000" b="1" dirty="0">
                <a:solidFill>
                  <a:srgbClr val="417DBF"/>
                </a:solidFill>
                <a:latin typeface="Verdana"/>
                <a:ea typeface="Verdana"/>
                <a:cs typeface="Verdana"/>
                <a:sym typeface="Verdana"/>
              </a:rPr>
              <a:t>Solving </a:t>
            </a:r>
            <a:r>
              <a:rPr lang="en-US" sz="4000" b="1" dirty="0" smtClean="0">
                <a:solidFill>
                  <a:srgbClr val="417DBF"/>
                </a:solidFill>
                <a:latin typeface="Verdana"/>
                <a:ea typeface="Verdana"/>
                <a:cs typeface="Verdana"/>
                <a:sym typeface="Verdana"/>
              </a:rPr>
              <a:t/>
            </a:r>
            <a:br>
              <a:rPr lang="en-US" sz="4000" b="1" dirty="0" smtClean="0">
                <a:solidFill>
                  <a:srgbClr val="417DBF"/>
                </a:solidFill>
                <a:latin typeface="Verdana"/>
                <a:ea typeface="Verdana"/>
                <a:cs typeface="Verdana"/>
                <a:sym typeface="Verdana"/>
              </a:rPr>
            </a:br>
            <a:r>
              <a:rPr lang="en-US" sz="4000" b="1" dirty="0" smtClean="0">
                <a:solidFill>
                  <a:srgbClr val="417DBF"/>
                </a:solidFill>
                <a:latin typeface="Verdana"/>
                <a:ea typeface="Verdana"/>
                <a:cs typeface="Verdana"/>
                <a:sym typeface="Verdana"/>
              </a:rPr>
              <a:t>Multi-Step </a:t>
            </a:r>
            <a:r>
              <a:rPr lang="en-US" sz="4000" b="1" dirty="0">
                <a:solidFill>
                  <a:srgbClr val="417DBF"/>
                </a:solidFill>
                <a:latin typeface="Verdana"/>
                <a:ea typeface="Verdana"/>
                <a:cs typeface="Verdana"/>
                <a:sym typeface="Verdana"/>
              </a:rPr>
              <a:t>Equations</a:t>
            </a:r>
            <a:r>
              <a:rPr lang="en-US" sz="4400" b="1" dirty="0">
                <a:solidFill>
                  <a:srgbClr val="417DBF"/>
                </a:solidFill>
                <a:latin typeface="Verdana"/>
                <a:ea typeface="Verdana"/>
                <a:cs typeface="Verdana"/>
                <a:sym typeface="Verdana"/>
              </a:rPr>
              <a:t/>
            </a:r>
            <a:br>
              <a:rPr lang="en-US" sz="4400" b="1" dirty="0">
                <a:solidFill>
                  <a:srgbClr val="417DBF"/>
                </a:solidFill>
                <a:latin typeface="Verdana"/>
                <a:ea typeface="Verdana"/>
                <a:cs typeface="Verdana"/>
                <a:sym typeface="Verdana"/>
              </a:rPr>
            </a:br>
            <a:r>
              <a:rPr lang="en-US" sz="4400" b="1" dirty="0">
                <a:solidFill>
                  <a:srgbClr val="417DBF"/>
                </a:solidFill>
                <a:latin typeface="Verdana"/>
                <a:ea typeface="Verdana"/>
                <a:cs typeface="Verdana"/>
                <a:sym typeface="Verdana"/>
              </a:rPr>
              <a:t/>
            </a:r>
            <a:br>
              <a:rPr lang="en-US" sz="4400" b="1" dirty="0">
                <a:solidFill>
                  <a:srgbClr val="417DBF"/>
                </a:solidFill>
                <a:latin typeface="Verdana"/>
                <a:ea typeface="Verdana"/>
                <a:cs typeface="Verdana"/>
                <a:sym typeface="Verdana"/>
              </a:rPr>
            </a:br>
            <a:r>
              <a:rPr lang="en-US" sz="3200" b="1" dirty="0">
                <a:solidFill>
                  <a:srgbClr val="417DBF"/>
                </a:solidFill>
                <a:latin typeface="Verdana"/>
                <a:ea typeface="Verdana"/>
                <a:cs typeface="Verdana"/>
                <a:sym typeface="Verdana"/>
              </a:rPr>
              <a:t>Volume 2, pg. 30</a:t>
            </a:r>
          </a:p>
          <a:p>
            <a:pPr algn="ctr">
              <a:lnSpc>
                <a:spcPct val="100000"/>
              </a:lnSpc>
              <a:buClr>
                <a:srgbClr val="000000"/>
              </a:buClr>
            </a:pPr>
            <a:endParaRPr lang="en-US" sz="4000" b="1" dirty="0">
              <a:solidFill>
                <a:srgbClr val="417DBF"/>
              </a:solidFill>
              <a:latin typeface="Verdana"/>
              <a:ea typeface="Verdana"/>
              <a:cs typeface="Verdana"/>
              <a:sym typeface="Verdana"/>
            </a:endParaRPr>
          </a:p>
        </p:txBody>
      </p:sp>
      <p:pic>
        <p:nvPicPr>
          <p:cNvPr id="7" name="Picture 6" descr="A blue sign with white text&#10;&#10;Description automatically generated with medium confidence">
            <a:extLst>
              <a:ext uri="{FF2B5EF4-FFF2-40B4-BE49-F238E27FC236}">
                <a16:creationId xmlns:a16="http://schemas.microsoft.com/office/drawing/2014/main" xmlns=""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745080"/>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9"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79;g104476d1465_1_17"/>
          <p:cNvSpPr txBox="1">
            <a:spLocks/>
          </p:cNvSpPr>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SzPts val="5400"/>
            </a:pPr>
            <a:r>
              <a:rPr lang="en-US" sz="4700" b="1" smtClean="0">
                <a:solidFill>
                  <a:srgbClr val="54B5D1"/>
                </a:solidFill>
                <a:latin typeface="Verdana"/>
                <a:ea typeface="Verdana"/>
                <a:cs typeface="Verdana"/>
                <a:sym typeface="Verdana"/>
              </a:rPr>
              <a:t>Benchmark</a:t>
            </a:r>
            <a:endParaRPr lang="en-US" sz="3700" b="1" dirty="0">
              <a:solidFill>
                <a:srgbClr val="54B5D1"/>
              </a:solidFill>
              <a:latin typeface="Verdana"/>
              <a:ea typeface="Verdana"/>
              <a:cs typeface="Verdana"/>
              <a:sym typeface="Verdana"/>
            </a:endParaRPr>
          </a:p>
        </p:txBody>
      </p:sp>
      <p:pic>
        <p:nvPicPr>
          <p:cNvPr id="1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2" name="Google Shape;280;g104476d1465_1_17">
            <a:extLst>
              <a:ext uri="{FF2B5EF4-FFF2-40B4-BE49-F238E27FC236}">
                <a16:creationId xmlns="" xmlns:a16="http://schemas.microsoft.com/office/drawing/2014/main" xmlns:a14="http://schemas.microsoft.com/office/drawing/2010/main" xmlns:mc="http://schemas.openxmlformats.org/markup-compatibility/2006" id="{527A9F9F-07B8-ED47-B967-E5507C67DBC5}"/>
              </a:ext>
            </a:extLst>
          </p:cNvPr>
          <p:cNvSpPr txBox="1">
            <a:spLocks/>
          </p:cNvSpPr>
          <p:nvPr/>
        </p:nvSpPr>
        <p:spPr>
          <a:xfrm>
            <a:off x="514000" y="1600200"/>
            <a:ext cx="11114150"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MA.8.AR.2.1</a:t>
            </a:r>
          </a:p>
          <a:p>
            <a:pPr indent="0">
              <a:buNone/>
            </a:pPr>
            <a:r>
              <a:rPr lang="en-US" sz="3600" dirty="0">
                <a:latin typeface="Verdana" panose="020B0604030504040204" pitchFamily="34" charset="0"/>
                <a:ea typeface="Verdana" panose="020B0604030504040204" pitchFamily="34" charset="0"/>
                <a:cs typeface="Verdana" panose="020B0604030504040204" pitchFamily="34" charset="0"/>
              </a:rPr>
              <a:t>Solve multi-step linear equations in one variable, with rational number coefficients. Include equations with variables on both sides. </a:t>
            </a:r>
            <a:endParaRPr lang="en-US" sz="3600" dirty="0">
              <a:solidFill>
                <a:schemeClr val="tx1"/>
              </a:solidFill>
              <a:latin typeface="Verdana" panose="020B0604030504040204" pitchFamily="34" charset="0"/>
              <a:ea typeface="Verdana" panose="020B0604030504040204" pitchFamily="34" charset="0"/>
              <a:cs typeface="Verdana" panose="020B0604030504040204" pitchFamily="34" charset="0"/>
              <a:sym typeface="Century Gothic"/>
            </a:endParaRPr>
          </a:p>
        </p:txBody>
      </p:sp>
      <p:sp>
        <p:nvSpPr>
          <p:cNvPr id="13"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14"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7611"/>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12"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13" name="Google Shape;281;g104476d1465_1_17"/>
          <p:cNvPicPr preferRelativeResize="0"/>
          <p:nvPr/>
        </p:nvPicPr>
        <p:blipFill>
          <a:blip r:embed="rId4">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14" name="Google Shape;296;g103996e1364_0_10">
            <a:extLst>
              <a:ext uri="{FF2B5EF4-FFF2-40B4-BE49-F238E27FC236}">
                <a16:creationId xmlns:a16="http://schemas.microsoft.com/office/drawing/2014/main" xmlns="" id="{A6E18E39-B007-D647-9935-55A748533A45}"/>
              </a:ext>
            </a:extLst>
          </p:cNvPr>
          <p:cNvSpPr txBox="1">
            <a:spLocks/>
          </p:cNvSpPr>
          <p:nvPr/>
        </p:nvSpPr>
        <p:spPr>
          <a:xfrm>
            <a:off x="1154216" y="1596390"/>
            <a:ext cx="9980509"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2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p:txBody>
      </p:sp>
      <p:sp>
        <p:nvSpPr>
          <p:cNvPr id="15" name="Google Shape;295;g103996e1364_0_10">
            <a:extLst>
              <a:ext uri="{FF2B5EF4-FFF2-40B4-BE49-F238E27FC236}">
                <a16:creationId xmlns:a16="http://schemas.microsoft.com/office/drawing/2014/main" xmlns="" id="{08B3C7FF-E6D0-2145-9A84-003D15672764}"/>
              </a:ext>
            </a:extLst>
          </p:cNvPr>
          <p:cNvSpPr txBox="1">
            <a:spLocks/>
          </p:cNvSpPr>
          <p:nvPr/>
        </p:nvSpPr>
        <p:spPr>
          <a:xfrm>
            <a:off x="1154217" y="129667"/>
            <a:ext cx="80244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9"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a:t>
            </a:r>
            <a:r>
              <a:rPr lang="en-US" i="1">
                <a:latin typeface="Calibri"/>
                <a:ea typeface="Calibri"/>
                <a:cs typeface="Calibri"/>
                <a:sym typeface="Calibri"/>
              </a:rPr>
              <a:t>. </a:t>
            </a:r>
            <a:r>
              <a:rPr lang="en-US" i="1" dirty="0" smtClean="0">
                <a:latin typeface="Calibri"/>
                <a:ea typeface="Calibri"/>
                <a:cs typeface="Calibri"/>
                <a:sym typeface="Calibri"/>
              </a:rPr>
              <a:t>30</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3"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13375"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a:t>
            </a:r>
            <a:r>
              <a:rPr lang="en-US" sz="4700" b="1" dirty="0" smtClean="0">
                <a:solidFill>
                  <a:srgbClr val="52BDA6"/>
                </a:solidFill>
                <a:latin typeface="Verdana"/>
                <a:ea typeface="Verdana"/>
                <a:cs typeface="Verdana"/>
                <a:sym typeface="Verdana"/>
              </a:rPr>
              <a:t>Target</a:t>
            </a:r>
            <a:endParaRPr lang="en-US" sz="4700" b="1" dirty="0">
              <a:solidFill>
                <a:srgbClr val="52BDA6"/>
              </a:solidFill>
              <a:latin typeface="Verdana"/>
              <a:ea typeface="Verdana"/>
              <a:cs typeface="Verdana"/>
              <a:sym typeface="Verdana"/>
            </a:endParaRPr>
          </a:p>
        </p:txBody>
      </p:sp>
      <p:pic>
        <p:nvPicPr>
          <p:cNvPr id="15"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31213" y="319860"/>
            <a:ext cx="747300" cy="747300"/>
          </a:xfrm>
          <a:prstGeom prst="rect">
            <a:avLst/>
          </a:prstGeom>
          <a:noFill/>
          <a:ln>
            <a:noFill/>
          </a:ln>
          <a:effectLst>
            <a:outerShdw blurRad="50800" dist="38100" dir="2700000" algn="tl" rotWithShape="0">
              <a:prstClr val="black">
                <a:alpha val="40000"/>
              </a:prstClr>
            </a:outerShdw>
          </a:effectLst>
        </p:spPr>
      </p:pic>
      <p:sp>
        <p:nvSpPr>
          <p:cNvPr id="16"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685800" indent="-679450">
              <a:buClr>
                <a:srgbClr val="434343"/>
              </a:buClr>
              <a:buSzPts val="3500"/>
              <a:buFont typeface="Wingdings" pitchFamily="2" charset="2"/>
              <a:buChar char="q"/>
            </a:pPr>
            <a:r>
              <a:rPr lang="en-US" sz="3500" dirty="0">
                <a:latin typeface="Verdana" panose="020B0604030504040204" pitchFamily="34" charset="0"/>
                <a:ea typeface="Verdana" panose="020B0604030504040204" pitchFamily="34" charset="0"/>
                <a:cs typeface="Verdana" panose="020B0604030504040204" pitchFamily="34" charset="0"/>
              </a:rPr>
              <a:t>I can solve multi-step linear equations with variables on both sides</a:t>
            </a:r>
            <a:r>
              <a:rPr lang="en-US" sz="3500" dirty="0" smtClean="0">
                <a:latin typeface="Verdana" panose="020B0604030504040204" pitchFamily="34" charset="0"/>
                <a:ea typeface="Verdana" panose="020B0604030504040204" pitchFamily="34" charset="0"/>
                <a:cs typeface="Verdana" panose="020B0604030504040204" pitchFamily="34" charset="0"/>
              </a:rPr>
              <a:t>.</a:t>
            </a:r>
            <a:endParaRPr lang="en-US" sz="350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 name="TextBox 1">
            <a:extLst>
              <a:ext uri="{FF2B5EF4-FFF2-40B4-BE49-F238E27FC236}">
                <a16:creationId xmlns:a16="http://schemas.microsoft.com/office/drawing/2014/main" xmlns="" id="{E1D7562E-134F-D14B-AF1A-DF40E11EF758}"/>
              </a:ext>
            </a:extLst>
          </p:cNvPr>
          <p:cNvSpPr txBox="1"/>
          <p:nvPr/>
        </p:nvSpPr>
        <p:spPr>
          <a:xfrm>
            <a:off x="591015" y="1386026"/>
            <a:ext cx="11340790" cy="830997"/>
          </a:xfrm>
          <a:prstGeom prst="rect">
            <a:avLst/>
          </a:prstGeom>
          <a:noFill/>
        </p:spPr>
        <p:txBody>
          <a:bodyPr wrap="square" rtlCol="0">
            <a:spAutoFit/>
          </a:bodyPr>
          <a:lstStyle/>
          <a:p>
            <a:r>
              <a:rPr lang="en-US" sz="2400" dirty="0">
                <a:latin typeface="Verdana" panose="020B0604030504040204" pitchFamily="34" charset="0"/>
                <a:ea typeface="Verdana" panose="020B0604030504040204" pitchFamily="34" charset="0"/>
                <a:cs typeface="Verdana" panose="020B0604030504040204" pitchFamily="34" charset="0"/>
              </a:rPr>
              <a:t>Two friends, Dave and Michelle, play Candy Crave often. Their records are shown below.</a:t>
            </a: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3075061610"/>
                  </p:ext>
                </p:extLst>
              </p:nvPr>
            </p:nvGraphicFramePr>
            <p:xfrm>
              <a:off x="2146200" y="2455435"/>
              <a:ext cx="8128280" cy="3312000"/>
            </p:xfrm>
            <a:graphic>
              <a:graphicData uri="http://schemas.openxmlformats.org/drawingml/2006/table">
                <a:tbl>
                  <a:tblPr firstRow="1" firstCol="1" bandRow="1"/>
                  <a:tblGrid>
                    <a:gridCol w="2160000">
                      <a:extLst>
                        <a:ext uri="{9D8B030D-6E8A-4147-A177-3AD203B41FA5}">
                          <a16:colId xmlns:a16="http://schemas.microsoft.com/office/drawing/2014/main" xmlns="" val="20000"/>
                        </a:ext>
                      </a:extLst>
                    </a:gridCol>
                    <a:gridCol w="1800000">
                      <a:extLst>
                        <a:ext uri="{9D8B030D-6E8A-4147-A177-3AD203B41FA5}">
                          <a16:colId xmlns:a16="http://schemas.microsoft.com/office/drawing/2014/main" xmlns="" val="20001"/>
                        </a:ext>
                      </a:extLst>
                    </a:gridCol>
                    <a:gridCol w="208280">
                      <a:extLst>
                        <a:ext uri="{9D8B030D-6E8A-4147-A177-3AD203B41FA5}">
                          <a16:colId xmlns:a16="http://schemas.microsoft.com/office/drawing/2014/main" xmlns="" val="20002"/>
                        </a:ext>
                      </a:extLst>
                    </a:gridCol>
                    <a:gridCol w="2160000">
                      <a:extLst>
                        <a:ext uri="{9D8B030D-6E8A-4147-A177-3AD203B41FA5}">
                          <a16:colId xmlns:a16="http://schemas.microsoft.com/office/drawing/2014/main" xmlns="" val="20003"/>
                        </a:ext>
                      </a:extLst>
                    </a:gridCol>
                    <a:gridCol w="1800000">
                      <a:extLst>
                        <a:ext uri="{9D8B030D-6E8A-4147-A177-3AD203B41FA5}">
                          <a16:colId xmlns:a16="http://schemas.microsoft.com/office/drawing/2014/main" xmlns="" val="20004"/>
                        </a:ext>
                      </a:extLst>
                    </a:gridCol>
                  </a:tblGrid>
                  <a:tr h="720000">
                    <a:tc gridSpan="2">
                      <a:txBody>
                        <a:bodyPr/>
                        <a:lstStyle/>
                        <a:p>
                          <a:pPr algn="ctr">
                            <a:spcAft>
                              <a:spcPts val="0"/>
                            </a:spcAft>
                          </a:pPr>
                          <a:r>
                            <a:rPr lang="en-US" sz="2000" b="1" dirty="0">
                              <a:effectLst/>
                              <a:latin typeface="Verdana" pitchFamily="34" charset="0"/>
                              <a:ea typeface="Verdana" pitchFamily="34" charset="0"/>
                            </a:rPr>
                            <a:t>Dave’s Scores and Statistics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PH"/>
                        </a:p>
                      </a:txBody>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gridSpan="2">
                      <a:txBody>
                        <a:bodyPr/>
                        <a:lstStyle/>
                        <a:p>
                          <a:pPr algn="ctr">
                            <a:spcAft>
                              <a:spcPts val="0"/>
                            </a:spcAft>
                          </a:pPr>
                          <a:r>
                            <a:rPr lang="en-US" sz="2000" b="1" dirty="0">
                              <a:effectLst/>
                              <a:latin typeface="Verdana" pitchFamily="34" charset="0"/>
                              <a:ea typeface="Verdana" pitchFamily="34" charset="0"/>
                            </a:rPr>
                            <a:t>Michelle’s Scores and Statistics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PH"/>
                        </a:p>
                      </a:txBody>
                      <a:tcPr/>
                    </a:tc>
                    <a:extLst>
                      <a:ext uri="{0D108BD9-81ED-4DB2-BD59-A6C34878D82A}">
                        <a16:rowId xmlns:a16="http://schemas.microsoft.com/office/drawing/2014/main" xmlns="" val="10000"/>
                      </a:ext>
                    </a:extLst>
                  </a:tr>
                  <a:tr h="432000">
                    <a:tc>
                      <a:txBody>
                        <a:bodyPr/>
                        <a:lstStyle/>
                        <a:p>
                          <a:pPr>
                            <a:spcAft>
                              <a:spcPts val="0"/>
                            </a:spcAft>
                          </a:pPr>
                          <a:r>
                            <a:rPr lang="en-US" sz="2000" dirty="0">
                              <a:effectLst/>
                              <a:latin typeface="Verdana" pitchFamily="34" charset="0"/>
                              <a:ea typeface="Verdana" pitchFamily="34" charset="0"/>
                            </a:rPr>
                            <a:t>Games Played</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529</m:t>
                                </m:r>
                              </m:oMath>
                            </m:oMathPara>
                          </a14:m>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Games Played</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457</m:t>
                                </m:r>
                              </m:oMath>
                            </m:oMathPara>
                          </a14:m>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432000">
                    <a:tc>
                      <a:txBody>
                        <a:bodyPr/>
                        <a:lstStyle/>
                        <a:p>
                          <a:pPr>
                            <a:spcAft>
                              <a:spcPts val="0"/>
                            </a:spcAft>
                          </a:pPr>
                          <a:r>
                            <a:rPr lang="en-US" sz="2000">
                              <a:effectLst/>
                              <a:latin typeface="Verdana" pitchFamily="34" charset="0"/>
                              <a:ea typeface="Verdana" pitchFamily="34" charset="0"/>
                            </a:rPr>
                            <a:t>High Score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8,931</m:t>
                                </m:r>
                              </m:oMath>
                            </m:oMathPara>
                          </a14:m>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High Score</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6,751</m:t>
                                </m:r>
                              </m:oMath>
                            </m:oMathPara>
                          </a14:m>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432000">
                    <a:tc>
                      <a:txBody>
                        <a:bodyPr/>
                        <a:lstStyle/>
                        <a:p>
                          <a:pPr>
                            <a:spcAft>
                              <a:spcPts val="0"/>
                            </a:spcAft>
                          </a:pPr>
                          <a:r>
                            <a:rPr lang="en-US" sz="2000">
                              <a:effectLst/>
                              <a:latin typeface="Verdana" pitchFamily="34" charset="0"/>
                              <a:ea typeface="Verdana" pitchFamily="34" charset="0"/>
                            </a:rPr>
                            <a:t>Average Score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5,126</m:t>
                                </m:r>
                              </m:oMath>
                            </m:oMathPara>
                          </a14:m>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Average Score</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5,817</m:t>
                                </m:r>
                              </m:oMath>
                            </m:oMathPara>
                          </a14:m>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432000">
                    <a:tc>
                      <a:txBody>
                        <a:bodyPr/>
                        <a:lstStyle/>
                        <a:p>
                          <a:pPr>
                            <a:spcAft>
                              <a:spcPts val="0"/>
                            </a:spcAft>
                          </a:pPr>
                          <a:r>
                            <a:rPr lang="en-US" sz="2000">
                              <a:effectLst/>
                              <a:latin typeface="Verdana" pitchFamily="34" charset="0"/>
                              <a:ea typeface="Verdana" pitchFamily="34" charset="0"/>
                            </a:rPr>
                            <a:t>Latest Score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7,915</m:t>
                                </m:r>
                              </m:oMath>
                            </m:oMathPara>
                          </a14:m>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Latest Score</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rPr>
                                  <m:t>5,284</m:t>
                                </m:r>
                              </m:oMath>
                            </m:oMathPara>
                          </a14:m>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r h="432000">
                    <a:tc>
                      <a:txBody>
                        <a:bodyPr/>
                        <a:lstStyle/>
                        <a:p>
                          <a:pPr>
                            <a:spcAft>
                              <a:spcPts val="0"/>
                            </a:spcAft>
                          </a:pPr>
                          <a:r>
                            <a:rPr lang="en-US" sz="2000">
                              <a:effectLst/>
                              <a:latin typeface="Verdana" pitchFamily="34" charset="0"/>
                              <a:ea typeface="Verdana" pitchFamily="34" charset="0"/>
                            </a:rPr>
                            <a:t>Longest Game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 xmlns:m="http://schemas.openxmlformats.org/officeDocument/2006/math">
                              <m:r>
                                <a:rPr lang="en-US" sz="2000" i="1">
                                  <a:effectLst/>
                                  <a:latin typeface="Cambria Math"/>
                                </a:rPr>
                                <m:t>8</m:t>
                              </m:r>
                            </m:oMath>
                          </a14:m>
                          <a:r>
                            <a:rPr lang="en-US" sz="2000" dirty="0">
                              <a:effectLst/>
                              <a:latin typeface="Verdana" pitchFamily="34" charset="0"/>
                              <a:ea typeface="Verdana" pitchFamily="34" charset="0"/>
                            </a:rPr>
                            <a:t> min </a:t>
                          </a:r>
                          <a14:m>
                            <m:oMath xmlns:m="http://schemas.openxmlformats.org/officeDocument/2006/math">
                              <m:r>
                                <a:rPr lang="en-US" sz="2000" i="1">
                                  <a:effectLst/>
                                  <a:latin typeface="Cambria Math"/>
                                </a:rPr>
                                <m:t>3</m:t>
                              </m:r>
                            </m:oMath>
                          </a14:m>
                          <a:r>
                            <a:rPr lang="en-US" sz="2000" dirty="0">
                              <a:effectLst/>
                              <a:latin typeface="Verdana" pitchFamily="34" charset="0"/>
                              <a:ea typeface="Verdana" pitchFamily="34" charset="0"/>
                            </a:rPr>
                            <a:t> sec</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Longest Game</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 xmlns:m="http://schemas.openxmlformats.org/officeDocument/2006/math">
                              <m:r>
                                <a:rPr lang="en-US" sz="2000" i="1">
                                  <a:effectLst/>
                                  <a:latin typeface="Cambria Math"/>
                                </a:rPr>
                                <m:t>5</m:t>
                              </m:r>
                            </m:oMath>
                          </a14:m>
                          <a:r>
                            <a:rPr lang="en-US" sz="2000" dirty="0">
                              <a:effectLst/>
                              <a:latin typeface="Verdana" pitchFamily="34" charset="0"/>
                              <a:ea typeface="Verdana" pitchFamily="34" charset="0"/>
                            </a:rPr>
                            <a:t> min </a:t>
                          </a:r>
                          <a14:m>
                            <m:oMath xmlns:m="http://schemas.openxmlformats.org/officeDocument/2006/math">
                              <m:r>
                                <a:rPr lang="en-US" sz="2000" i="1">
                                  <a:effectLst/>
                                  <a:latin typeface="Cambria Math"/>
                                </a:rPr>
                                <m:t>9</m:t>
                              </m:r>
                            </m:oMath>
                          </a14:m>
                          <a:r>
                            <a:rPr lang="en-US" sz="2000" dirty="0">
                              <a:effectLst/>
                              <a:latin typeface="Verdana" pitchFamily="34" charset="0"/>
                              <a:ea typeface="Verdana" pitchFamily="34" charset="0"/>
                            </a:rPr>
                            <a:t> sec</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5"/>
                      </a:ext>
                    </a:extLst>
                  </a:tr>
                  <a:tr h="432000">
                    <a:tc>
                      <a:txBody>
                        <a:bodyPr/>
                        <a:lstStyle/>
                        <a:p>
                          <a:pPr>
                            <a:spcAft>
                              <a:spcPts val="0"/>
                            </a:spcAft>
                          </a:pPr>
                          <a:r>
                            <a:rPr lang="en-US" sz="2000">
                              <a:effectLst/>
                              <a:latin typeface="Verdana" pitchFamily="34" charset="0"/>
                              <a:ea typeface="Verdana" pitchFamily="34" charset="0"/>
                            </a:rPr>
                            <a:t>Total Play Time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 xmlns:m="http://schemas.openxmlformats.org/officeDocument/2006/math">
                              <m:r>
                                <a:rPr lang="en-US" sz="2000" i="1">
                                  <a:effectLst/>
                                  <a:latin typeface="Cambria Math"/>
                                </a:rPr>
                                <m:t>12</m:t>
                              </m:r>
                            </m:oMath>
                          </a14:m>
                          <a:r>
                            <a:rPr lang="en-US" sz="2000" dirty="0">
                              <a:effectLst/>
                              <a:latin typeface="Verdana" pitchFamily="34" charset="0"/>
                              <a:ea typeface="Verdana" pitchFamily="34" charset="0"/>
                            </a:rPr>
                            <a:t> </a:t>
                          </a:r>
                          <a:r>
                            <a:rPr lang="en-US" sz="2000" dirty="0" err="1">
                              <a:effectLst/>
                              <a:latin typeface="Verdana" pitchFamily="34" charset="0"/>
                              <a:ea typeface="Verdana" pitchFamily="34" charset="0"/>
                            </a:rPr>
                            <a:t>hr</a:t>
                          </a:r>
                          <a:r>
                            <a:rPr lang="en-US" sz="2000" dirty="0">
                              <a:effectLst/>
                              <a:latin typeface="Verdana" pitchFamily="34" charset="0"/>
                              <a:ea typeface="Verdana" pitchFamily="34" charset="0"/>
                            </a:rPr>
                            <a:t> </a:t>
                          </a:r>
                          <a14:m>
                            <m:oMath xmlns:m="http://schemas.openxmlformats.org/officeDocument/2006/math">
                              <m:r>
                                <a:rPr lang="en-US" sz="2000" i="1">
                                  <a:effectLst/>
                                  <a:latin typeface="Cambria Math"/>
                                </a:rPr>
                                <m:t>9</m:t>
                              </m:r>
                            </m:oMath>
                          </a14:m>
                          <a:r>
                            <a:rPr lang="en-US" sz="2000" dirty="0">
                              <a:effectLst/>
                              <a:latin typeface="Verdana" pitchFamily="34" charset="0"/>
                              <a:ea typeface="Verdana" pitchFamily="34" charset="0"/>
                            </a:rPr>
                            <a:t> min</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rPr>
                            <a:t>Total Play Time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14:m>
                            <m:oMath xmlns:m="http://schemas.openxmlformats.org/officeDocument/2006/math">
                              <m:r>
                                <a:rPr lang="en-US" sz="2000" i="1">
                                  <a:effectLst/>
                                  <a:latin typeface="Cambria Math"/>
                                </a:rPr>
                                <m:t>9</m:t>
                              </m:r>
                            </m:oMath>
                          </a14:m>
                          <a:r>
                            <a:rPr lang="en-US" sz="2000" dirty="0">
                              <a:effectLst/>
                              <a:latin typeface="Verdana" pitchFamily="34" charset="0"/>
                              <a:ea typeface="Verdana" pitchFamily="34" charset="0"/>
                            </a:rPr>
                            <a:t> </a:t>
                          </a:r>
                          <a:r>
                            <a:rPr lang="en-US" sz="2000" dirty="0" err="1">
                              <a:effectLst/>
                              <a:latin typeface="Verdana" pitchFamily="34" charset="0"/>
                              <a:ea typeface="Verdana" pitchFamily="34" charset="0"/>
                            </a:rPr>
                            <a:t>hr</a:t>
                          </a:r>
                          <a:r>
                            <a:rPr lang="en-US" sz="2000" dirty="0">
                              <a:effectLst/>
                              <a:latin typeface="Verdana" pitchFamily="34" charset="0"/>
                              <a:ea typeface="Verdana" pitchFamily="34" charset="0"/>
                            </a:rPr>
                            <a:t> </a:t>
                          </a:r>
                          <a14:m>
                            <m:oMath xmlns:m="http://schemas.openxmlformats.org/officeDocument/2006/math">
                              <m:r>
                                <a:rPr lang="en-US" sz="2000" i="1">
                                  <a:effectLst/>
                                  <a:latin typeface="Cambria Math"/>
                                </a:rPr>
                                <m:t>13</m:t>
                              </m:r>
                            </m:oMath>
                          </a14:m>
                          <a:r>
                            <a:rPr lang="en-US" sz="2000" dirty="0">
                              <a:effectLst/>
                              <a:latin typeface="Verdana" pitchFamily="34" charset="0"/>
                              <a:ea typeface="Verdana" pitchFamily="34" charset="0"/>
                            </a:rPr>
                            <a:t> min</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6"/>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3075061610"/>
                  </p:ext>
                </p:extLst>
              </p:nvPr>
            </p:nvGraphicFramePr>
            <p:xfrm>
              <a:off x="2146200" y="2455435"/>
              <a:ext cx="8128280" cy="3312000"/>
            </p:xfrm>
            <a:graphic>
              <a:graphicData uri="http://schemas.openxmlformats.org/drawingml/2006/table">
                <a:tbl>
                  <a:tblPr firstRow="1" firstCol="1" bandRow="1"/>
                  <a:tblGrid>
                    <a:gridCol w="2160000">
                      <a:extLst>
                        <a:ext uri="{9D8B030D-6E8A-4147-A177-3AD203B41FA5}">
                          <a16:colId xmlns:a16="http://schemas.microsoft.com/office/drawing/2014/main" xmlns:a14="http://schemas.microsoft.com/office/drawing/2010/main" xmlns="" val="20000"/>
                        </a:ext>
                      </a:extLst>
                    </a:gridCol>
                    <a:gridCol w="1800000">
                      <a:extLst>
                        <a:ext uri="{9D8B030D-6E8A-4147-A177-3AD203B41FA5}">
                          <a16:colId xmlns:a16="http://schemas.microsoft.com/office/drawing/2014/main" xmlns:a14="http://schemas.microsoft.com/office/drawing/2010/main" xmlns="" val="20001"/>
                        </a:ext>
                      </a:extLst>
                    </a:gridCol>
                    <a:gridCol w="208280">
                      <a:extLst>
                        <a:ext uri="{9D8B030D-6E8A-4147-A177-3AD203B41FA5}">
                          <a16:colId xmlns:a16="http://schemas.microsoft.com/office/drawing/2014/main" xmlns:a14="http://schemas.microsoft.com/office/drawing/2010/main" xmlns="" val="20002"/>
                        </a:ext>
                      </a:extLst>
                    </a:gridCol>
                    <a:gridCol w="2160000">
                      <a:extLst>
                        <a:ext uri="{9D8B030D-6E8A-4147-A177-3AD203B41FA5}">
                          <a16:colId xmlns:a16="http://schemas.microsoft.com/office/drawing/2014/main" xmlns:a14="http://schemas.microsoft.com/office/drawing/2010/main" xmlns="" val="20003"/>
                        </a:ext>
                      </a:extLst>
                    </a:gridCol>
                    <a:gridCol w="1800000">
                      <a:extLst>
                        <a:ext uri="{9D8B030D-6E8A-4147-A177-3AD203B41FA5}">
                          <a16:colId xmlns:a16="http://schemas.microsoft.com/office/drawing/2014/main" xmlns:a14="http://schemas.microsoft.com/office/drawing/2010/main" xmlns="" val="20004"/>
                        </a:ext>
                      </a:extLst>
                    </a:gridCol>
                  </a:tblGrid>
                  <a:tr h="720000">
                    <a:tc gridSpan="2">
                      <a:txBody>
                        <a:bodyPr/>
                        <a:lstStyle/>
                        <a:p>
                          <a:pPr algn="ctr">
                            <a:spcAft>
                              <a:spcPts val="0"/>
                            </a:spcAft>
                          </a:pPr>
                          <a:r>
                            <a:rPr lang="en-US" sz="2000" b="1" dirty="0">
                              <a:effectLst/>
                              <a:latin typeface="Verdana" pitchFamily="34" charset="0"/>
                              <a:ea typeface="Verdana" pitchFamily="34" charset="0"/>
                            </a:rPr>
                            <a:t>Dave’s Scores and Statistics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PH"/>
                        </a:p>
                      </a:txBody>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gridSpan="2">
                      <a:txBody>
                        <a:bodyPr/>
                        <a:lstStyle/>
                        <a:p>
                          <a:pPr algn="ctr">
                            <a:spcAft>
                              <a:spcPts val="0"/>
                            </a:spcAft>
                          </a:pPr>
                          <a:r>
                            <a:rPr lang="en-US" sz="2000" b="1" dirty="0">
                              <a:effectLst/>
                              <a:latin typeface="Verdana" pitchFamily="34" charset="0"/>
                              <a:ea typeface="Verdana" pitchFamily="34" charset="0"/>
                            </a:rPr>
                            <a:t>Michelle’s Scores and Statistics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hMerge="1">
                      <a:txBody>
                        <a:bodyPr/>
                        <a:lstStyle/>
                        <a:p>
                          <a:endParaRPr lang="en-PH"/>
                        </a:p>
                      </a:txBody>
                      <a:tcPr/>
                    </a:tc>
                    <a:extLst>
                      <a:ext uri="{0D108BD9-81ED-4DB2-BD59-A6C34878D82A}">
                        <a16:rowId xmlns:a16="http://schemas.microsoft.com/office/drawing/2014/main" xmlns:a14="http://schemas.microsoft.com/office/drawing/2010/main" xmlns="" val="10000"/>
                      </a:ext>
                    </a:extLst>
                  </a:tr>
                  <a:tr h="432000">
                    <a:tc>
                      <a:txBody>
                        <a:bodyPr/>
                        <a:lstStyle/>
                        <a:p>
                          <a:pPr>
                            <a:spcAft>
                              <a:spcPts val="0"/>
                            </a:spcAft>
                          </a:pPr>
                          <a:r>
                            <a:rPr lang="en-US" sz="2000" dirty="0">
                              <a:effectLst/>
                              <a:latin typeface="Verdana" pitchFamily="34" charset="0"/>
                              <a:ea typeface="Verdana" pitchFamily="34" charset="0"/>
                            </a:rPr>
                            <a:t>Games Played</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000" t="-171831" r="-232203" b="-519718"/>
                          </a:stretch>
                        </a:blipFill>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Games Played</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1864" t="-171831" r="-339" b="-519718"/>
                          </a:stretch>
                        </a:blipFill>
                      </a:tcPr>
                    </a:tc>
                    <a:extLst>
                      <a:ext uri="{0D108BD9-81ED-4DB2-BD59-A6C34878D82A}">
                        <a16:rowId xmlns:a16="http://schemas.microsoft.com/office/drawing/2014/main" xmlns:a14="http://schemas.microsoft.com/office/drawing/2010/main" xmlns="" val="10001"/>
                      </a:ext>
                    </a:extLst>
                  </a:tr>
                  <a:tr h="432000">
                    <a:tc>
                      <a:txBody>
                        <a:bodyPr/>
                        <a:lstStyle/>
                        <a:p>
                          <a:pPr>
                            <a:spcAft>
                              <a:spcPts val="0"/>
                            </a:spcAft>
                          </a:pPr>
                          <a:r>
                            <a:rPr lang="en-US" sz="2000">
                              <a:effectLst/>
                              <a:latin typeface="Verdana" pitchFamily="34" charset="0"/>
                              <a:ea typeface="Verdana" pitchFamily="34" charset="0"/>
                            </a:rPr>
                            <a:t>High Score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000" t="-271831" r="-232203" b="-419718"/>
                          </a:stretch>
                        </a:blipFill>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High Score</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1864" t="-271831" r="-339" b="-419718"/>
                          </a:stretch>
                        </a:blipFill>
                      </a:tcPr>
                    </a:tc>
                    <a:extLst>
                      <a:ext uri="{0D108BD9-81ED-4DB2-BD59-A6C34878D82A}">
                        <a16:rowId xmlns:a16="http://schemas.microsoft.com/office/drawing/2014/main" xmlns:a14="http://schemas.microsoft.com/office/drawing/2010/main" xmlns="" val="10002"/>
                      </a:ext>
                    </a:extLst>
                  </a:tr>
                  <a:tr h="432000">
                    <a:tc>
                      <a:txBody>
                        <a:bodyPr/>
                        <a:lstStyle/>
                        <a:p>
                          <a:pPr>
                            <a:spcAft>
                              <a:spcPts val="0"/>
                            </a:spcAft>
                          </a:pPr>
                          <a:r>
                            <a:rPr lang="en-US" sz="2000">
                              <a:effectLst/>
                              <a:latin typeface="Verdana" pitchFamily="34" charset="0"/>
                              <a:ea typeface="Verdana" pitchFamily="34" charset="0"/>
                            </a:rPr>
                            <a:t>Average Score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000" t="-371831" r="-232203" b="-319718"/>
                          </a:stretch>
                        </a:blipFill>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Average Score</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1864" t="-371831" r="-339" b="-319718"/>
                          </a:stretch>
                        </a:blipFill>
                      </a:tcPr>
                    </a:tc>
                    <a:extLst>
                      <a:ext uri="{0D108BD9-81ED-4DB2-BD59-A6C34878D82A}">
                        <a16:rowId xmlns:a16="http://schemas.microsoft.com/office/drawing/2014/main" xmlns:a14="http://schemas.microsoft.com/office/drawing/2010/main" xmlns="" val="10003"/>
                      </a:ext>
                    </a:extLst>
                  </a:tr>
                  <a:tr h="432000">
                    <a:tc>
                      <a:txBody>
                        <a:bodyPr/>
                        <a:lstStyle/>
                        <a:p>
                          <a:pPr>
                            <a:spcAft>
                              <a:spcPts val="0"/>
                            </a:spcAft>
                          </a:pPr>
                          <a:r>
                            <a:rPr lang="en-US" sz="2000">
                              <a:effectLst/>
                              <a:latin typeface="Verdana" pitchFamily="34" charset="0"/>
                              <a:ea typeface="Verdana" pitchFamily="34" charset="0"/>
                            </a:rPr>
                            <a:t>Latest Score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000" t="-478571" r="-232203" b="-224286"/>
                          </a:stretch>
                        </a:blipFill>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Latest Score</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1864" t="-478571" r="-339" b="-224286"/>
                          </a:stretch>
                        </a:blipFill>
                      </a:tcPr>
                    </a:tc>
                    <a:extLst>
                      <a:ext uri="{0D108BD9-81ED-4DB2-BD59-A6C34878D82A}">
                        <a16:rowId xmlns:a16="http://schemas.microsoft.com/office/drawing/2014/main" xmlns:a14="http://schemas.microsoft.com/office/drawing/2010/main" xmlns="" val="10004"/>
                      </a:ext>
                    </a:extLst>
                  </a:tr>
                  <a:tr h="432000">
                    <a:tc>
                      <a:txBody>
                        <a:bodyPr/>
                        <a:lstStyle/>
                        <a:p>
                          <a:pPr>
                            <a:spcAft>
                              <a:spcPts val="0"/>
                            </a:spcAft>
                          </a:pPr>
                          <a:r>
                            <a:rPr lang="en-US" sz="2000">
                              <a:effectLst/>
                              <a:latin typeface="Verdana" pitchFamily="34" charset="0"/>
                              <a:ea typeface="Verdana" pitchFamily="34" charset="0"/>
                            </a:rPr>
                            <a:t>Longest Game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000" t="-570423" r="-232203" b="-121127"/>
                          </a:stretch>
                        </a:blipFill>
                      </a:tcPr>
                    </a:tc>
                    <a:tc>
                      <a:txBody>
                        <a:bodyPr/>
                        <a:lstStyle/>
                        <a:p>
                          <a:pPr>
                            <a:spcAft>
                              <a:spcPts val="0"/>
                            </a:spcAft>
                          </a:pPr>
                          <a:r>
                            <a:rPr lang="en-US" sz="2000">
                              <a:effectLst/>
                              <a:latin typeface="Verdana" pitchFamily="34" charset="0"/>
                              <a:ea typeface="Verdana" pitchFamily="34" charset="0"/>
                            </a:rPr>
                            <a:t> </a:t>
                          </a:r>
                          <a:endParaRPr lang="en-PH" sz="200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dirty="0">
                              <a:effectLst/>
                              <a:latin typeface="Verdana" pitchFamily="34" charset="0"/>
                              <a:ea typeface="Verdana" pitchFamily="34" charset="0"/>
                            </a:rPr>
                            <a:t>Longest Game</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1864" t="-570423" r="-339" b="-121127"/>
                          </a:stretch>
                        </a:blipFill>
                      </a:tcPr>
                    </a:tc>
                    <a:extLst>
                      <a:ext uri="{0D108BD9-81ED-4DB2-BD59-A6C34878D82A}">
                        <a16:rowId xmlns:a16="http://schemas.microsoft.com/office/drawing/2014/main" xmlns:a14="http://schemas.microsoft.com/office/drawing/2010/main" xmlns="" val="10005"/>
                      </a:ext>
                    </a:extLst>
                  </a:tr>
                  <a:tr h="432000">
                    <a:tc>
                      <a:txBody>
                        <a:bodyPr/>
                        <a:lstStyle/>
                        <a:p>
                          <a:pPr>
                            <a:spcAft>
                              <a:spcPts val="0"/>
                            </a:spcAft>
                          </a:pPr>
                          <a:r>
                            <a:rPr lang="en-US" sz="2000">
                              <a:effectLst/>
                              <a:latin typeface="Verdana" pitchFamily="34" charset="0"/>
                              <a:ea typeface="Verdana" pitchFamily="34" charset="0"/>
                            </a:rPr>
                            <a:t>Total Play Time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120000" t="-670423" r="-232203" b="-21127"/>
                          </a:stretch>
                        </a:blipFill>
                      </a:tcPr>
                    </a:tc>
                    <a:tc>
                      <a:txBody>
                        <a:bodyPr/>
                        <a:lstStyle/>
                        <a:p>
                          <a:pPr>
                            <a:spcAft>
                              <a:spcPts val="0"/>
                            </a:spcAft>
                          </a:pPr>
                          <a:r>
                            <a:rPr lang="en-US" sz="2000" dirty="0">
                              <a:effectLst/>
                              <a:latin typeface="Verdana" pitchFamily="34" charset="0"/>
                              <a:ea typeface="Verdana" pitchFamily="34" charset="0"/>
                            </a:rPr>
                            <a:t> </a:t>
                          </a:r>
                          <a:endParaRPr lang="en-PH"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tcPr>
                    </a:tc>
                    <a:tc>
                      <a:txBody>
                        <a:bodyPr/>
                        <a:lstStyle/>
                        <a:p>
                          <a:pPr>
                            <a:spcAft>
                              <a:spcPts val="0"/>
                            </a:spcAft>
                          </a:pPr>
                          <a:r>
                            <a:rPr lang="en-US" sz="2000">
                              <a:effectLst/>
                              <a:latin typeface="Verdana" pitchFamily="34" charset="0"/>
                              <a:ea typeface="Verdana" pitchFamily="34" charset="0"/>
                            </a:rPr>
                            <a:t>Total Play Time</a:t>
                          </a:r>
                          <a:endParaRPr lang="en-PH" sz="200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rotWithShape="1">
                          <a:blip r:embed="rId3"/>
                          <a:stretch>
                            <a:fillRect l="-351864" t="-670423" r="-339" b="-21127"/>
                          </a:stretch>
                        </a:blipFill>
                      </a:tcPr>
                    </a:tc>
                    <a:extLst>
                      <a:ext uri="{0D108BD9-81ED-4DB2-BD59-A6C34878D82A}">
                        <a16:rowId xmlns:a16="http://schemas.microsoft.com/office/drawing/2014/main" xmlns:a14="http://schemas.microsoft.com/office/drawing/2010/main" xmlns="" val="10006"/>
                      </a:ext>
                    </a:extLst>
                  </a:tr>
                </a:tbl>
              </a:graphicData>
            </a:graphic>
          </p:graphicFrame>
        </mc:Fallback>
      </mc:AlternateContent>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11"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052650" y="275689"/>
            <a:ext cx="10834000"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8.6.1 Warm-Up: Math Argument</a:t>
            </a:r>
          </a:p>
        </p:txBody>
      </p:sp>
      <p:pic>
        <p:nvPicPr>
          <p:cNvPr id="14"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5">
            <a:alphaModFix/>
          </a:blip>
          <a:stretch>
            <a:fillRect/>
          </a:stretch>
        </p:blipFill>
        <p:spPr>
          <a:xfrm>
            <a:off x="305350" y="197485"/>
            <a:ext cx="747300" cy="747300"/>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mc="http://schemas.openxmlformats.org/markup-compatibility/2006" xmlns:a14="http://schemas.microsoft.com/office/drawing/2010/main" xmlns:a16="http://schemas.microsoft.com/office/drawing/2014/main" xmlns="" id="{2AA35BC6-D428-FC41-BDE5-6438AB8840FC}"/>
              </a:ext>
            </a:extLst>
          </p:cNvPr>
          <p:cNvSpPr txBox="1"/>
          <p:nvPr/>
        </p:nvSpPr>
        <p:spPr>
          <a:xfrm>
            <a:off x="540565" y="410666"/>
            <a:ext cx="11018226"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information from the table to argue why Dave is the better player.</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same information to argue that Michelle is the better player instead.</a:t>
            </a: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dirty="0"/>
          </a:p>
        </p:txBody>
      </p:sp>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pic>
        <p:nvPicPr>
          <p:cNvPr id="3074" name="Picture 2">
            <a:extLst>
              <a:ext uri="{FF2B5EF4-FFF2-40B4-BE49-F238E27FC236}">
                <a16:creationId xmlns:a16="http://schemas.microsoft.com/office/drawing/2014/main" xmlns="" id="{D0821C8B-4657-A74D-94B5-D6CF373A1741}"/>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10" name="TextBox 9">
            <a:extLst>
              <a:ext uri="{FF2B5EF4-FFF2-40B4-BE49-F238E27FC236}">
                <a16:creationId xmlns:a16="http://schemas.microsoft.com/office/drawing/2014/main" xmlns="" id="{E44DF7DE-9172-3E4E-B74A-7A51585FB6EA}"/>
              </a:ext>
            </a:extLst>
          </p:cNvPr>
          <p:cNvSpPr txBox="1"/>
          <p:nvPr/>
        </p:nvSpPr>
        <p:spPr>
          <a:xfrm>
            <a:off x="565711" y="1386025"/>
            <a:ext cx="11310338" cy="1323439"/>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Clare was solving an equation, but when she checked her solution, she noticed it was incorrect. She knows she made a mistake but cannot find it.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66725"/>
            <a:r>
              <a:rPr lang="en-US" sz="2000" dirty="0">
                <a:latin typeface="Verdana" panose="020B0604030504040204" pitchFamily="34" charset="0"/>
                <a:ea typeface="Verdana" panose="020B0604030504040204" pitchFamily="34" charset="0"/>
                <a:cs typeface="Verdana" panose="020B0604030504040204" pitchFamily="34" charset="0"/>
              </a:rPr>
              <a:t>Clare’s work is shown.</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2276076048"/>
                  </p:ext>
                </p:extLst>
              </p:nvPr>
            </p:nvGraphicFramePr>
            <p:xfrm>
              <a:off x="2496000" y="3140599"/>
              <a:ext cx="7200000" cy="3060000"/>
            </p:xfrm>
            <a:graphic>
              <a:graphicData uri="http://schemas.openxmlformats.org/drawingml/2006/table">
                <a:tbl>
                  <a:tblPr firstRow="1" firstCol="1" bandRow="1"/>
                  <a:tblGrid>
                    <a:gridCol w="3600000">
                      <a:extLst>
                        <a:ext uri="{9D8B030D-6E8A-4147-A177-3AD203B41FA5}">
                          <a16:colId xmlns:a16="http://schemas.microsoft.com/office/drawing/2014/main" xmlns="" val="20000"/>
                        </a:ext>
                      </a:extLst>
                    </a:gridCol>
                    <a:gridCol w="3600000">
                      <a:extLst>
                        <a:ext uri="{9D8B030D-6E8A-4147-A177-3AD203B41FA5}">
                          <a16:colId xmlns:a16="http://schemas.microsoft.com/office/drawing/2014/main" xmlns="" val="20001"/>
                        </a:ext>
                      </a:extLst>
                    </a:gridCol>
                  </a:tblGrid>
                  <a:tr h="468000">
                    <a:tc>
                      <a:txBody>
                        <a:bodyPr/>
                        <a:lstStyle/>
                        <a:p>
                          <a:pPr algn="ctr">
                            <a:spcAft>
                              <a:spcPts val="0"/>
                            </a:spcAft>
                          </a:pPr>
                          <a:r>
                            <a:rPr lang="en-US" sz="2000" b="1" dirty="0">
                              <a:effectLst/>
                              <a:latin typeface="Verdana" pitchFamily="34" charset="0"/>
                              <a:ea typeface="Verdana" pitchFamily="34" charset="0"/>
                              <a:cs typeface="Century Gothic"/>
                            </a:rPr>
                            <a:t>Clare’s Work</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Century Gothic"/>
                            </a:rPr>
                            <a:t>Corrected Solution</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xmlns="" val="10000"/>
                      </a:ext>
                    </a:extLst>
                  </a:tr>
                  <a:tr h="2592000">
                    <a:tc>
                      <a:txBody>
                        <a:bodyPr/>
                        <a:lstStyle/>
                        <a:p>
                          <a:pPr algn="ctr">
                            <a:lnSpc>
                              <a:spcPct val="100000"/>
                            </a:lnSpc>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12</m:t>
                                </m:r>
                                <m:d>
                                  <m:dPr>
                                    <m:ctrlPr>
                                      <a:rPr lang="en-PH" sz="2000" i="1">
                                        <a:effectLst/>
                                        <a:latin typeface="Cambria Math"/>
                                        <a:ea typeface="Cambria Math"/>
                                        <a:cs typeface="Cambria Math"/>
                                      </a:rPr>
                                    </m:ctrlPr>
                                  </m:dPr>
                                  <m:e>
                                    <m:r>
                                      <a:rPr lang="en-US" sz="2000" i="1">
                                        <a:effectLst/>
                                        <a:latin typeface="Cambria Math"/>
                                        <a:ea typeface="Cambria Math"/>
                                        <a:cs typeface="Cambria Math"/>
                                      </a:rPr>
                                      <m:t>5+2</m:t>
                                    </m:r>
                                    <m:r>
                                      <a:rPr lang="en-US" sz="2000" i="1">
                                        <a:effectLst/>
                                        <a:latin typeface="Cambria Math"/>
                                        <a:ea typeface="Cambria Math"/>
                                        <a:cs typeface="Cambria Math"/>
                                      </a:rPr>
                                      <m:t>𝑦</m:t>
                                    </m:r>
                                  </m:e>
                                </m:d>
                                <m:r>
                                  <a:rPr lang="en-US" sz="2000" i="1">
                                    <a:effectLst/>
                                    <a:latin typeface="Cambria Math"/>
                                    <a:ea typeface="Cambria Math"/>
                                    <a:cs typeface="Cambria Math"/>
                                  </a:rPr>
                                  <m:t>= 4</m:t>
                                </m:r>
                                <m:r>
                                  <a:rPr lang="en-US" sz="2000" i="1">
                                    <a:effectLst/>
                                    <a:latin typeface="Cambria Math"/>
                                    <a:ea typeface="Cambria Math"/>
                                    <a:cs typeface="Cambria Math"/>
                                  </a:rPr>
                                  <m:t>𝑦</m:t>
                                </m:r>
                                <m:r>
                                  <a:rPr lang="en-US" sz="2000" i="1">
                                    <a:effectLst/>
                                    <a:latin typeface="Cambria Math"/>
                                    <a:ea typeface="Cambria Math"/>
                                    <a:cs typeface="Cambria Math"/>
                                  </a:rPr>
                                  <m:t>−</m:t>
                                </m:r>
                                <m:d>
                                  <m:dPr>
                                    <m:ctrlPr>
                                      <a:rPr lang="en-PH" sz="2000" i="1">
                                        <a:effectLst/>
                                        <a:latin typeface="Cambria Math"/>
                                        <a:ea typeface="Cambria Math"/>
                                        <a:cs typeface="Cambria Math"/>
                                      </a:rPr>
                                    </m:ctrlPr>
                                  </m:dPr>
                                  <m:e>
                                    <m:r>
                                      <a:rPr lang="en-US" sz="2000" i="1">
                                        <a:effectLst/>
                                        <a:latin typeface="Cambria Math"/>
                                        <a:ea typeface="Cambria Math"/>
                                        <a:cs typeface="Cambria Math"/>
                                      </a:rPr>
                                      <m:t>5−9</m:t>
                                    </m:r>
                                    <m:r>
                                      <a:rPr lang="en-US" sz="2000" i="1">
                                        <a:effectLst/>
                                        <a:latin typeface="Cambria Math"/>
                                        <a:ea typeface="Cambria Math"/>
                                        <a:cs typeface="Cambria Math"/>
                                      </a:rPr>
                                      <m:t>𝑦</m:t>
                                    </m:r>
                                  </m:e>
                                </m:d>
                              </m:oMath>
                            </m:oMathPara>
                          </a14:m>
                          <a:endParaRPr lang="en-PH" sz="2000" dirty="0">
                            <a:effectLst/>
                            <a:latin typeface="Verdana" pitchFamily="34" charset="0"/>
                            <a:ea typeface="Verdana" pitchFamily="34" charset="0"/>
                          </a:endParaRPr>
                        </a:p>
                        <a:p>
                          <a:pPr algn="ctr">
                            <a:lnSpc>
                              <a:spcPct val="100000"/>
                            </a:lnSpc>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 60+24</m:t>
                                </m:r>
                                <m:r>
                                  <a:rPr lang="en-US" sz="2000" i="1">
                                    <a:effectLst/>
                                    <a:latin typeface="Cambria Math"/>
                                    <a:ea typeface="Cambria Math"/>
                                    <a:cs typeface="Cambria Math"/>
                                  </a:rPr>
                                  <m:t>𝑦</m:t>
                                </m:r>
                                <m:r>
                                  <a:rPr lang="en-US" sz="2000" i="1">
                                    <a:effectLst/>
                                    <a:latin typeface="Cambria Math"/>
                                    <a:ea typeface="Times New Roman"/>
                                  </a:rPr>
                                  <m:t> </m:t>
                                </m:r>
                                <m:r>
                                  <a:rPr lang="en-US" sz="2000" i="1">
                                    <a:effectLst/>
                                    <a:latin typeface="Cambria Math"/>
                                    <a:ea typeface="Cambria Math"/>
                                    <a:cs typeface="Cambria Math"/>
                                  </a:rPr>
                                  <m:t>= 4</m:t>
                                </m:r>
                                <m:r>
                                  <a:rPr lang="en-US" sz="2000" i="1">
                                    <a:effectLst/>
                                    <a:latin typeface="Cambria Math"/>
                                    <a:ea typeface="Cambria Math"/>
                                    <a:cs typeface="Cambria Math"/>
                                  </a:rPr>
                                  <m:t>𝑦</m:t>
                                </m:r>
                                <m:r>
                                  <a:rPr lang="en-US" sz="2000" i="1">
                                    <a:effectLst/>
                                    <a:latin typeface="Cambria Math"/>
                                    <a:ea typeface="Cambria Math"/>
                                    <a:cs typeface="Cambria Math"/>
                                  </a:rPr>
                                  <m:t>−5−9</m:t>
                                </m:r>
                                <m:r>
                                  <a:rPr lang="en-US" sz="2000" i="1">
                                    <a:effectLst/>
                                    <a:latin typeface="Cambria Math"/>
                                    <a:ea typeface="Cambria Math"/>
                                    <a:cs typeface="Cambria Math"/>
                                  </a:rPr>
                                  <m:t>𝑦</m:t>
                                </m:r>
                                <m:r>
                                  <a:rPr lang="en-US" sz="2000" i="1">
                                    <a:effectLst/>
                                    <a:latin typeface="Cambria Math"/>
                                    <a:ea typeface="Times New Roman"/>
                                  </a:rPr>
                                  <m:t> </m:t>
                                </m:r>
                                <m:r>
                                  <a:rPr lang="en-US" sz="2000" i="1">
                                    <a:effectLst/>
                                    <a:latin typeface="Cambria Math"/>
                                    <a:ea typeface="Cambria Math"/>
                                    <a:cs typeface="Cambria Math"/>
                                  </a:rPr>
                                  <m:t> </m:t>
                                </m:r>
                              </m:oMath>
                            </m:oMathPara>
                          </a14:m>
                          <a:endParaRPr lang="en-PH" sz="2000" dirty="0">
                            <a:effectLst/>
                            <a:latin typeface="Verdana" pitchFamily="34" charset="0"/>
                            <a:ea typeface="Verdana" pitchFamily="34" charset="0"/>
                          </a:endParaRPr>
                        </a:p>
                        <a:p>
                          <a:pPr algn="ctr">
                            <a:lnSpc>
                              <a:spcPct val="100000"/>
                            </a:lnSpc>
                            <a:spcAft>
                              <a:spcPts val="600"/>
                            </a:spcAf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    60+24</m:t>
                                </m:r>
                                <m:r>
                                  <a:rPr lang="en-US" sz="2000" i="1">
                                    <a:effectLst/>
                                    <a:latin typeface="Cambria Math"/>
                                    <a:ea typeface="Cambria Math"/>
                                    <a:cs typeface="Cambria Math"/>
                                  </a:rPr>
                                  <m:t>𝑦</m:t>
                                </m:r>
                                <m:r>
                                  <a:rPr lang="en-US" sz="2000" i="1">
                                    <a:effectLst/>
                                    <a:latin typeface="Cambria Math"/>
                                    <a:ea typeface="Times New Roman"/>
                                  </a:rPr>
                                  <m:t> </m:t>
                                </m:r>
                                <m:r>
                                  <a:rPr lang="en-US" sz="2000" i="1">
                                    <a:effectLst/>
                                    <a:latin typeface="Cambria Math"/>
                                    <a:ea typeface="Cambria Math"/>
                                    <a:cs typeface="Cambria Math"/>
                                  </a:rPr>
                                  <m:t>= −5</m:t>
                                </m:r>
                                <m:r>
                                  <a:rPr lang="en-US" sz="2000" i="1">
                                    <a:effectLst/>
                                    <a:latin typeface="Cambria Math"/>
                                    <a:ea typeface="Cambria Math"/>
                                    <a:cs typeface="Cambria Math"/>
                                  </a:rPr>
                                  <m:t>𝑦</m:t>
                                </m:r>
                                <m:r>
                                  <a:rPr lang="en-US" sz="2000" i="1">
                                    <a:effectLst/>
                                    <a:latin typeface="Cambria Math"/>
                                    <a:ea typeface="Cambria Math"/>
                                    <a:cs typeface="Cambria Math"/>
                                  </a:rPr>
                                  <m:t>−5            </m:t>
                                </m:r>
                              </m:oMath>
                            </m:oMathPara>
                          </a14:m>
                          <a:endParaRPr lang="en-PH" sz="2000" dirty="0">
                            <a:effectLst/>
                            <a:latin typeface="Verdana" pitchFamily="34" charset="0"/>
                            <a:ea typeface="Verdana" pitchFamily="34" charset="0"/>
                          </a:endParaRPr>
                        </a:p>
                        <a:p>
                          <a:pPr algn="ctr">
                            <a:lnSpc>
                              <a:spcPct val="100000"/>
                            </a:lnSpc>
                            <a:spcAft>
                              <a:spcPts val="600"/>
                            </a:spcAft>
                          </a:pPr>
                          <a:r>
                            <a:rPr lang="en-US" sz="2000" dirty="0">
                              <a:effectLst/>
                              <a:latin typeface="Verdana" pitchFamily="34" charset="0"/>
                              <a:ea typeface="Verdana" pitchFamily="34" charset="0"/>
                              <a:cs typeface="Century Gothic"/>
                            </a:rPr>
                            <a:t>    </a:t>
                          </a:r>
                          <a14:m>
                            <m:oMath xmlns:m="http://schemas.openxmlformats.org/officeDocument/2006/math">
                              <m:r>
                                <a:rPr lang="en-US" sz="2000" i="1">
                                  <a:effectLst/>
                                  <a:latin typeface="Cambria Math"/>
                                  <a:ea typeface="Cambria Math"/>
                                  <a:cs typeface="Cambria Math"/>
                                </a:rPr>
                                <m:t>24</m:t>
                              </m:r>
                              <m:r>
                                <a:rPr lang="en-US" sz="2000" i="1">
                                  <a:effectLst/>
                                  <a:latin typeface="Cambria Math"/>
                                  <a:ea typeface="Cambria Math"/>
                                  <a:cs typeface="Cambria Math"/>
                                </a:rPr>
                                <m:t>𝑦</m:t>
                              </m:r>
                              <m:r>
                                <a:rPr lang="en-US" sz="2000" i="1">
                                  <a:effectLst/>
                                  <a:latin typeface="Cambria Math"/>
                                  <a:ea typeface="Times New Roman"/>
                                </a:rPr>
                                <m:t> </m:t>
                              </m:r>
                              <m:r>
                                <a:rPr lang="en-US" sz="2000" i="1">
                                  <a:effectLst/>
                                  <a:latin typeface="Cambria Math"/>
                                  <a:ea typeface="Cambria Math"/>
                                  <a:cs typeface="Cambria Math"/>
                                </a:rPr>
                                <m:t>= −5</m:t>
                              </m:r>
                              <m:r>
                                <a:rPr lang="en-US" sz="2000" i="1">
                                  <a:effectLst/>
                                  <a:latin typeface="Cambria Math"/>
                                  <a:ea typeface="Cambria Math"/>
                                  <a:cs typeface="Cambria Math"/>
                                </a:rPr>
                                <m:t>𝑦</m:t>
                              </m:r>
                              <m:r>
                                <a:rPr lang="en-US" sz="2000" i="1">
                                  <a:effectLst/>
                                  <a:latin typeface="Cambria Math"/>
                                  <a:ea typeface="Cambria Math"/>
                                  <a:cs typeface="Cambria Math"/>
                                </a:rPr>
                                <m:t>−55</m:t>
                              </m:r>
                            </m:oMath>
                          </a14:m>
                          <a:r>
                            <a:rPr lang="en-US" sz="2000" dirty="0">
                              <a:effectLst/>
                              <a:latin typeface="Verdana" pitchFamily="34" charset="0"/>
                              <a:ea typeface="Verdana" pitchFamily="34" charset="0"/>
                              <a:cs typeface="Century Gothic"/>
                            </a:rPr>
                            <a:t>                              </a:t>
                          </a:r>
                          <a14:m>
                            <m:oMath xmlns:m="http://schemas.openxmlformats.org/officeDocument/2006/math">
                              <m:r>
                                <a:rPr lang="en-US" sz="2000" i="1">
                                  <a:effectLst/>
                                  <a:latin typeface="Cambria Math"/>
                                  <a:ea typeface="Cambria Math"/>
                                  <a:cs typeface="Cambria Math"/>
                                </a:rPr>
                                <m:t>29</m:t>
                              </m:r>
                              <m:r>
                                <a:rPr lang="en-US" sz="2000" i="1">
                                  <a:effectLst/>
                                  <a:latin typeface="Cambria Math"/>
                                  <a:ea typeface="Cambria Math"/>
                                  <a:cs typeface="Cambria Math"/>
                                </a:rPr>
                                <m:t>𝑦</m:t>
                              </m:r>
                              <m:r>
                                <a:rPr lang="en-US" sz="2000" i="1">
                                  <a:effectLst/>
                                  <a:latin typeface="Cambria Math"/>
                                  <a:ea typeface="Times New Roman"/>
                                </a:rPr>
                                <m:t> </m:t>
                              </m:r>
                              <m:r>
                                <a:rPr lang="en-US" sz="2000" i="1">
                                  <a:effectLst/>
                                  <a:latin typeface="Cambria Math"/>
                                  <a:ea typeface="Cambria Math"/>
                                  <a:cs typeface="Cambria Math"/>
                                </a:rPr>
                                <m:t>= −55      </m:t>
                              </m:r>
                            </m:oMath>
                          </a14:m>
                          <a:endParaRPr lang="en-PH" sz="2000" dirty="0">
                            <a:effectLst/>
                            <a:latin typeface="Verdana" pitchFamily="34" charset="0"/>
                            <a:ea typeface="Verdana" pitchFamily="34" charset="0"/>
                          </a:endParaRPr>
                        </a:p>
                        <a:p>
                          <a:pPr marL="0" indent="0">
                            <a:lnSpc>
                              <a:spcPct val="100000"/>
                            </a:lnSpc>
                            <a:spcAft>
                              <a:spcPts val="0"/>
                            </a:spcAft>
                            <a:tabLst/>
                          </a:pPr>
                          <a14:m>
                            <m:oMathPara xmlns:m="http://schemas.openxmlformats.org/officeDocument/2006/math">
                              <m:oMathParaPr>
                                <m:jc m:val="centerGroup"/>
                              </m:oMathParaPr>
                              <m:oMath xmlns:m="http://schemas.openxmlformats.org/officeDocument/2006/math">
                                <m:r>
                                  <a:rPr lang="en-US" sz="2000" i="1">
                                    <a:effectLst/>
                                    <a:latin typeface="Cambria Math"/>
                                    <a:ea typeface="Cambria Math"/>
                                    <a:cs typeface="Cambria Math"/>
                                  </a:rPr>
                                  <m:t>𝑦</m:t>
                                </m:r>
                                <m:r>
                                  <a:rPr lang="en-US" sz="2000" i="1">
                                    <a:effectLst/>
                                    <a:latin typeface="Cambria Math"/>
                                    <a:ea typeface="Times New Roman"/>
                                  </a:rPr>
                                  <m:t> </m:t>
                                </m:r>
                                <m:r>
                                  <a:rPr lang="en-US" sz="2000" i="1">
                                    <a:effectLst/>
                                    <a:latin typeface="Cambria Math"/>
                                    <a:ea typeface="Cambria Math"/>
                                    <a:cs typeface="Cambria Math"/>
                                  </a:rPr>
                                  <m:t>= </m:t>
                                </m:r>
                                <m:f>
                                  <m:fPr>
                                    <m:ctrlPr>
                                      <a:rPr lang="en-PH" sz="2000" i="1">
                                        <a:effectLst/>
                                        <a:latin typeface="Cambria Math"/>
                                        <a:ea typeface="Cambria Math"/>
                                        <a:cs typeface="Cambria Math"/>
                                      </a:rPr>
                                    </m:ctrlPr>
                                  </m:fPr>
                                  <m:num>
                                    <m:r>
                                      <a:rPr lang="en-US" sz="2000" i="1">
                                        <a:effectLst/>
                                        <a:latin typeface="Cambria Math"/>
                                        <a:ea typeface="Cambria Math"/>
                                        <a:cs typeface="Cambria Math"/>
                                      </a:rPr>
                                      <m:t>−55</m:t>
                                    </m:r>
                                  </m:num>
                                  <m:den>
                                    <m:r>
                                      <a:rPr lang="en-US" sz="2000" i="1">
                                        <a:effectLst/>
                                        <a:latin typeface="Cambria Math"/>
                                        <a:ea typeface="Cambria Math"/>
                                        <a:cs typeface="Cambria Math"/>
                                      </a:rPr>
                                      <m:t>29</m:t>
                                    </m:r>
                                  </m:den>
                                </m:f>
                              </m:oMath>
                            </m:oMathPara>
                          </a14:m>
                          <a:endParaRPr lang="en-PH"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spcAft>
                              <a:spcPts val="0"/>
                            </a:spcAft>
                          </a:pPr>
                          <a:r>
                            <a:rPr lang="en-US" sz="2000" dirty="0">
                              <a:effectLst/>
                              <a:latin typeface="Verdana" pitchFamily="34" charset="0"/>
                              <a:ea typeface="Verdana" pitchFamily="34" charset="0"/>
                              <a:cs typeface="Century Gothic"/>
                            </a:rPr>
                            <a:t> </a:t>
                          </a:r>
                          <a:endParaRPr lang="en-PH"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2276076048"/>
                  </p:ext>
                </p:extLst>
              </p:nvPr>
            </p:nvGraphicFramePr>
            <p:xfrm>
              <a:off x="2496000" y="3140599"/>
              <a:ext cx="7200000" cy="3060000"/>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algn="ctr">
                            <a:spcAft>
                              <a:spcPts val="0"/>
                            </a:spcAft>
                          </a:pPr>
                          <a:r>
                            <a:rPr lang="en-US" sz="2000" b="1" dirty="0">
                              <a:effectLst/>
                              <a:latin typeface="Verdana" pitchFamily="34" charset="0"/>
                              <a:ea typeface="Verdana" pitchFamily="34" charset="0"/>
                              <a:cs typeface="Century Gothic"/>
                            </a:rPr>
                            <a:t>Clare’s Work</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spcAft>
                              <a:spcPts val="0"/>
                            </a:spcAft>
                          </a:pPr>
                          <a:r>
                            <a:rPr lang="en-US" sz="2000" b="1" dirty="0">
                              <a:effectLst/>
                              <a:latin typeface="Verdana" pitchFamily="34" charset="0"/>
                              <a:ea typeface="Verdana" pitchFamily="34" charset="0"/>
                              <a:cs typeface="Century Gothic"/>
                            </a:rPr>
                            <a:t>Corrected Solution</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2592000">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52" t="-18537" r="-100704" b="-976"/>
                          </a:stretch>
                        </a:blipFill>
                      </a:tcPr>
                    </a:tc>
                    <a:tc>
                      <a:txBody>
                        <a:bodyPr/>
                        <a:lstStyle/>
                        <a:p>
                          <a:pPr algn="ctr">
                            <a:spcAft>
                              <a:spcPts val="0"/>
                            </a:spcAft>
                          </a:pPr>
                          <a:r>
                            <a:rPr lang="en-US" sz="2000" dirty="0">
                              <a:effectLst/>
                              <a:latin typeface="Verdana" pitchFamily="34" charset="0"/>
                              <a:ea typeface="Verdana" pitchFamily="34" charset="0"/>
                              <a:cs typeface="Century Gothic"/>
                            </a:rPr>
                            <a:t> </a:t>
                          </a:r>
                          <a:endParaRPr lang="en-PH" sz="2000" dirty="0">
                            <a:effectLst/>
                            <a:latin typeface="Verdana" pitchFamily="34" charset="0"/>
                            <a:ea typeface="Verdana" pitchFamily="34" charset="0"/>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49" y="378363"/>
            <a:ext cx="9510717"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8.6.2 Collaboration: Finding the Error</a:t>
            </a:r>
          </a:p>
        </p:txBody>
      </p:sp>
      <p:pic>
        <p:nvPicPr>
          <p:cNvPr id="15" name="Picture 2">
            <a:extLst>
              <a:ext uri="{FF2B5EF4-FFF2-40B4-BE49-F238E27FC236}">
                <a16:creationId xmlns:a16="http://schemas.microsoft.com/office/drawing/2014/main" xmlns="" id="{A80EBD0F-404F-0B4B-AC09-DA5A6DF6026E}"/>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02842" y="27120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31</a:t>
            </a:r>
            <a:endParaRPr i="1" dirty="0">
              <a:latin typeface="Calibri"/>
              <a:ea typeface="Calibri"/>
              <a:cs typeface="Calibri"/>
              <a:sym typeface="Calibri"/>
            </a:endParaRPr>
          </a:p>
        </p:txBody>
      </p:sp>
      <p:pic>
        <p:nvPicPr>
          <p:cNvPr id="8"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9" name="TextBox 8">
            <a:extLst>
              <a:ext uri="{FF2B5EF4-FFF2-40B4-BE49-F238E27FC236}">
                <a16:creationId xmlns="" xmlns:a16="http://schemas.microsoft.com/office/drawing/2014/main" xmlns:a14="http://schemas.microsoft.com/office/drawing/2010/main" xmlns:mc="http://schemas.openxmlformats.org/markup-compatibility/2006" id="{2FA392D8-3ED3-7940-83A8-1451AA8A08D4}"/>
              </a:ext>
            </a:extLst>
          </p:cNvPr>
          <p:cNvSpPr txBox="1"/>
          <p:nvPr/>
        </p:nvSpPr>
        <p:spPr>
          <a:xfrm>
            <a:off x="540565" y="520394"/>
            <a:ext cx="11065362" cy="4154984"/>
          </a:xfrm>
          <a:prstGeom prst="rect">
            <a:avLst/>
          </a:prstGeom>
          <a:noFill/>
        </p:spPr>
        <p:txBody>
          <a:bodyPr wrap="square" rtlCol="0">
            <a:spAutoFit/>
          </a:bodyPr>
          <a:lstStyle/>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Discuss Clare’s work with your partner to find her mistake. Then, circle where she made the mistake.  </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Find the correct solution to the equation using the space provided above.</a:t>
            </a: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400" dirty="0">
                <a:latin typeface="Verdana" panose="020B0604030504040204" pitchFamily="34" charset="0"/>
                <a:ea typeface="Verdana" panose="020B0604030504040204" pitchFamily="34" charset="0"/>
                <a:cs typeface="Verdana" panose="020B0604030504040204" pitchFamily="34" charset="0"/>
              </a:rPr>
              <a:t>Verify your solution is correct using substitution.</a:t>
            </a:r>
          </a:p>
        </p:txBody>
      </p:sp>
    </p:spTree>
    <p:extLst>
      <p:ext uri="{BB962C8B-B14F-4D97-AF65-F5344CB8AC3E}">
        <p14:creationId xmlns:p14="http://schemas.microsoft.com/office/powerpoint/2010/main" val="37558190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xmlns="" id="{217F3A92-AA2C-4D41-A73D-4DC6608D6820}"/>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7"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32</a:t>
            </a:r>
            <a:endParaRPr i="1" dirty="0">
              <a:latin typeface="Calibri"/>
              <a:ea typeface="Calibri"/>
              <a:cs typeface="Calibri"/>
              <a:sym typeface="Calibri"/>
            </a:endParaRPr>
          </a:p>
        </p:txBody>
      </p:sp>
      <p:pic>
        <p:nvPicPr>
          <p:cNvPr id="9"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816111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xmlns="" id="{A3547ABD-563B-A148-B65C-C7679A7B43D4}"/>
                  </a:ext>
                </a:extLst>
              </p:cNvPr>
              <p:cNvSpPr txBox="1"/>
              <p:nvPr/>
            </p:nvSpPr>
            <p:spPr>
              <a:xfrm>
                <a:off x="802888" y="1386026"/>
                <a:ext cx="11073162" cy="4093428"/>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You and your partner will receive </a:t>
                </a:r>
                <a14:m>
                  <m:oMath xmlns:m="http://schemas.openxmlformats.org/officeDocument/2006/math">
                    <m:r>
                      <a:rPr lang="en-US" sz="2000" i="1">
                        <a:latin typeface="Cambria Math" panose="02040503050406030204" pitchFamily="18" charset="0"/>
                        <a:ea typeface="Cambria Math" panose="02040503050406030204" pitchFamily="18" charset="0"/>
                      </a:rPr>
                      <m:t>12</m:t>
                    </m:r>
                  </m:oMath>
                </a14:m>
                <a:r>
                  <a:rPr lang="en-US" sz="2000" dirty="0">
                    <a:latin typeface="Verdana" panose="020B0604030504040204" pitchFamily="34" charset="0"/>
                    <a:ea typeface="Verdana" panose="020B0604030504040204" pitchFamily="34" charset="0"/>
                    <a:cs typeface="Verdana" panose="020B0604030504040204" pitchFamily="34" charset="0"/>
                  </a:rPr>
                  <a:t> cards for this activity. </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Shuffle the cards and place them face-down in a pile.</a:t>
                </a:r>
                <a:br>
                  <a:rPr lang="en-US" sz="2000" dirty="0">
                    <a:latin typeface="Verdana" panose="020B0604030504040204" pitchFamily="34" charset="0"/>
                    <a:ea typeface="Verdana" panose="020B0604030504040204" pitchFamily="34" charset="0"/>
                    <a:cs typeface="Verdana" panose="020B0604030504040204" pitchFamily="34" charset="0"/>
                  </a:rPr>
                </a:b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Record your partner’s name. _____________________ </a:t>
                </a: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Each player draws a card from the pile and solves the equation in the corresponding box on the recording sheet below. Be sure to record the work in the correct box by matching the letter on the card to the letter in the box.</a:t>
                </a:r>
              </a:p>
            </p:txBody>
          </p:sp>
        </mc:Choice>
        <mc:Fallback xmlns="">
          <p:sp>
            <p:nvSpPr>
              <p:cNvPr id="10" name="TextBox 9">
                <a:extLst>
                  <a:ext uri="{FF2B5EF4-FFF2-40B4-BE49-F238E27FC236}">
                    <a16:creationId xmlns:a16="http://schemas.microsoft.com/office/drawing/2014/main" id="{A3547ABD-563B-A148-B65C-C7679A7B43D4}"/>
                  </a:ext>
                </a:extLst>
              </p:cNvPr>
              <p:cNvSpPr txBox="1">
                <a:spLocks noRot="1" noChangeAspect="1" noMove="1" noResize="1" noEditPoints="1" noAdjustHandles="1" noChangeArrowheads="1" noChangeShapeType="1" noTextEdit="1"/>
              </p:cNvSpPr>
              <p:nvPr/>
            </p:nvSpPr>
            <p:spPr>
              <a:xfrm>
                <a:off x="802888" y="1386026"/>
                <a:ext cx="11073162" cy="4093428"/>
              </a:xfrm>
              <a:prstGeom prst="rect">
                <a:avLst/>
              </a:prstGeom>
              <a:blipFill>
                <a:blip r:embed="rId5"/>
                <a:stretch>
                  <a:fillRect l="-573" t="-617" b="-1543"/>
                </a:stretch>
              </a:blipFill>
            </p:spPr>
            <p:txBody>
              <a:bodyPr/>
              <a:lstStyle/>
              <a:p>
                <a:r>
                  <a:rPr lang="en-US">
                    <a:noFill/>
                  </a:rPr>
                  <a:t> </a:t>
                </a:r>
              </a:p>
            </p:txBody>
          </p:sp>
        </mc:Fallback>
      </mc:AlternateContent>
      <p:sp>
        <p:nvSpPr>
          <p:cNvPr id="12"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32</a:t>
            </a:r>
            <a:endParaRPr i="1" dirty="0">
              <a:latin typeface="Calibri"/>
              <a:ea typeface="Calibri"/>
              <a:cs typeface="Calibri"/>
              <a:sym typeface="Calibri"/>
            </a:endParaRPr>
          </a:p>
        </p:txBody>
      </p:sp>
      <p:pic>
        <p:nvPicPr>
          <p:cNvPr id="13"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4" name="Google Shape;324;g103996e1364_0_25">
            <a:extLst>
              <a:ext uri="{FF2B5EF4-FFF2-40B4-BE49-F238E27FC236}">
                <a16:creationId xmlns:a16="http://schemas.microsoft.com/office/drawing/2014/main" xmlns="" id="{DB5796CA-12EB-BB4C-8338-B127D750A026}"/>
              </a:ext>
            </a:extLst>
          </p:cNvPr>
          <p:cNvSpPr txBox="1">
            <a:spLocks/>
          </p:cNvSpPr>
          <p:nvPr/>
        </p:nvSpPr>
        <p:spPr>
          <a:xfrm>
            <a:off x="1052650" y="331604"/>
            <a:ext cx="10138514" cy="5354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8.6.3 Activity: Solution Card Sort</a:t>
            </a:r>
          </a:p>
        </p:txBody>
      </p:sp>
      <p:pic>
        <p:nvPicPr>
          <p:cNvPr id="15" name="Picture 2" descr="Icon&#10;&#10;Description automatically generated">
            <a:extLst>
              <a:ext uri="{FF2B5EF4-FFF2-40B4-BE49-F238E27FC236}">
                <a16:creationId xmlns:a16="http://schemas.microsoft.com/office/drawing/2014/main" xmlns="" id="{37999C4E-6AE0-FA43-BC73-665C08EC572F}"/>
              </a:ext>
            </a:extLst>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302842" y="224446"/>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699352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6" name="Table 5"/>
          <p:cNvGraphicFramePr>
            <a:graphicFrameLocks noGrp="1"/>
          </p:cNvGraphicFramePr>
          <p:nvPr>
            <p:extLst>
              <p:ext uri="{D42A27DB-BD31-4B8C-83A1-F6EECF244321}">
                <p14:modId xmlns:p14="http://schemas.microsoft.com/office/powerpoint/2010/main" val="1121709452"/>
              </p:ext>
            </p:extLst>
          </p:nvPr>
        </p:nvGraphicFramePr>
        <p:xfrm>
          <a:off x="2856000" y="729000"/>
          <a:ext cx="6480000" cy="5400000"/>
        </p:xfrm>
        <a:graphic>
          <a:graphicData uri="http://schemas.openxmlformats.org/drawingml/2006/table">
            <a:tbl>
              <a:tblPr firstRow="1" firstCol="1" bandRow="1">
                <a:tableStyleId>{5940675A-B579-460E-94D1-54222C63F5DA}</a:tableStyleId>
              </a:tblPr>
              <a:tblGrid>
                <a:gridCol w="3240000">
                  <a:extLst>
                    <a:ext uri="{9D8B030D-6E8A-4147-A177-3AD203B41FA5}">
                      <a16:colId xmlns:a16="http://schemas.microsoft.com/office/drawing/2014/main" xmlns="" val="20000"/>
                    </a:ext>
                  </a:extLst>
                </a:gridCol>
                <a:gridCol w="3240000">
                  <a:extLst>
                    <a:ext uri="{9D8B030D-6E8A-4147-A177-3AD203B41FA5}">
                      <a16:colId xmlns:a16="http://schemas.microsoft.com/office/drawing/2014/main" xmlns="" val="20001"/>
                    </a:ext>
                  </a:extLst>
                </a:gridCol>
              </a:tblGrid>
              <a:tr h="1800000">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A</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B</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1800000">
                <a:tc>
                  <a:txBody>
                    <a:bodyPr/>
                    <a:lstStyle/>
                    <a:p>
                      <a:pPr marL="0" marR="0">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C</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D</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800000">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E</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F</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32</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864801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8" name="Table 7"/>
          <p:cNvGraphicFramePr>
            <a:graphicFrameLocks noGrp="1"/>
          </p:cNvGraphicFramePr>
          <p:nvPr>
            <p:extLst>
              <p:ext uri="{D42A27DB-BD31-4B8C-83A1-F6EECF244321}">
                <p14:modId xmlns:p14="http://schemas.microsoft.com/office/powerpoint/2010/main" val="1952617776"/>
              </p:ext>
            </p:extLst>
          </p:nvPr>
        </p:nvGraphicFramePr>
        <p:xfrm>
          <a:off x="2856000" y="724825"/>
          <a:ext cx="6480000" cy="5400000"/>
        </p:xfrm>
        <a:graphic>
          <a:graphicData uri="http://schemas.openxmlformats.org/drawingml/2006/table">
            <a:tbl>
              <a:tblPr firstRow="1" firstCol="1" bandRow="1">
                <a:tableStyleId>{5940675A-B579-460E-94D1-54222C63F5DA}</a:tableStyleId>
              </a:tblPr>
              <a:tblGrid>
                <a:gridCol w="3240000">
                  <a:extLst>
                    <a:ext uri="{9D8B030D-6E8A-4147-A177-3AD203B41FA5}">
                      <a16:colId xmlns:a16="http://schemas.microsoft.com/office/drawing/2014/main" xmlns="" val="20000"/>
                    </a:ext>
                  </a:extLst>
                </a:gridCol>
                <a:gridCol w="3240000">
                  <a:extLst>
                    <a:ext uri="{9D8B030D-6E8A-4147-A177-3AD203B41FA5}">
                      <a16:colId xmlns:a16="http://schemas.microsoft.com/office/drawing/2014/main" xmlns="" val="20001"/>
                    </a:ext>
                  </a:extLst>
                </a:gridCol>
              </a:tblGrid>
              <a:tr h="1800000">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G</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H</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1800000">
                <a:tc>
                  <a:txBody>
                    <a:bodyPr/>
                    <a:lstStyle/>
                    <a:p>
                      <a:pPr marL="0" marR="0">
                        <a:spcBef>
                          <a:spcPts val="0"/>
                        </a:spcBef>
                        <a:spcAft>
                          <a:spcPts val="0"/>
                        </a:spcAft>
                      </a:pPr>
                      <a:r>
                        <a:rPr lang="en-US" sz="2400">
                          <a:effectLst/>
                          <a:latin typeface="Verdana" panose="020B0604030504040204" pitchFamily="34" charset="0"/>
                          <a:ea typeface="Verdana" panose="020B0604030504040204" pitchFamily="34" charset="0"/>
                          <a:cs typeface="Verdana" panose="020B0604030504040204" pitchFamily="34" charset="0"/>
                        </a:rPr>
                        <a:t>I</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J</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1800000">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K</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400" dirty="0">
                          <a:effectLst/>
                          <a:latin typeface="Verdana" panose="020B0604030504040204" pitchFamily="34" charset="0"/>
                          <a:ea typeface="Verdana" panose="020B0604030504040204" pitchFamily="34" charset="0"/>
                          <a:cs typeface="Verdana" panose="020B0604030504040204" pitchFamily="34" charset="0"/>
                        </a:rPr>
                        <a:t>L</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bl>
          </a:graphicData>
        </a:graphic>
      </p:graphicFrame>
      <p:sp>
        <p:nvSpPr>
          <p:cNvPr id="6"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32</a:t>
            </a:r>
            <a:endParaRPr i="1" dirty="0">
              <a:latin typeface="Calibri"/>
              <a:ea typeface="Calibri"/>
              <a:cs typeface="Calibri"/>
              <a:sym typeface="Calibri"/>
            </a:endParaRPr>
          </a:p>
        </p:txBody>
      </p:sp>
      <p:pic>
        <p:nvPicPr>
          <p:cNvPr id="9"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791567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2" name="Table 1"/>
          <p:cNvGraphicFramePr>
            <a:graphicFrameLocks noGrp="1"/>
          </p:cNvGraphicFramePr>
          <p:nvPr>
            <p:extLst>
              <p:ext uri="{D42A27DB-BD31-4B8C-83A1-F6EECF244321}">
                <p14:modId xmlns:p14="http://schemas.microsoft.com/office/powerpoint/2010/main" val="211447776"/>
              </p:ext>
            </p:extLst>
          </p:nvPr>
        </p:nvGraphicFramePr>
        <p:xfrm>
          <a:off x="2571333" y="1813050"/>
          <a:ext cx="7200000" cy="3240000"/>
        </p:xfrm>
        <a:graphic>
          <a:graphicData uri="http://schemas.openxmlformats.org/drawingml/2006/table">
            <a:tbl>
              <a:tblPr firstRow="1" firstCol="1" bandRow="1">
                <a:tableStyleId>{5940675A-B579-460E-94D1-54222C63F5DA}</a:tableStyleId>
              </a:tblPr>
              <a:tblGrid>
                <a:gridCol w="2160000">
                  <a:extLst>
                    <a:ext uri="{9D8B030D-6E8A-4147-A177-3AD203B41FA5}">
                      <a16:colId xmlns:a16="http://schemas.microsoft.com/office/drawing/2014/main" xmlns="" val="20000"/>
                    </a:ext>
                  </a:extLst>
                </a:gridCol>
                <a:gridCol w="2160000">
                  <a:extLst>
                    <a:ext uri="{9D8B030D-6E8A-4147-A177-3AD203B41FA5}">
                      <a16:colId xmlns:a16="http://schemas.microsoft.com/office/drawing/2014/main" xmlns="" val="20001"/>
                    </a:ext>
                  </a:extLst>
                </a:gridCol>
                <a:gridCol w="2880000">
                  <a:extLst>
                    <a:ext uri="{9D8B030D-6E8A-4147-A177-3AD203B41FA5}">
                      <a16:colId xmlns:a16="http://schemas.microsoft.com/office/drawing/2014/main" xmlns="" val="20002"/>
                    </a:ext>
                  </a:extLst>
                </a:gridCol>
              </a:tblGrid>
              <a:tr h="720000">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One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No Solution</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Infinitely </a:t>
                      </a:r>
                      <a:br>
                        <a:rPr lang="en-US" sz="2000" b="1" dirty="0">
                          <a:effectLst/>
                          <a:latin typeface="Verdana" panose="020B0604030504040204" pitchFamily="34" charset="0"/>
                          <a:ea typeface="Verdana" panose="020B0604030504040204" pitchFamily="34" charset="0"/>
                          <a:cs typeface="Verdana" panose="020B0604030504040204" pitchFamily="34" charset="0"/>
                        </a:rPr>
                      </a:br>
                      <a:r>
                        <a:rPr lang="en-US" sz="2000" b="1" dirty="0">
                          <a:effectLst/>
                          <a:latin typeface="Verdana" panose="020B0604030504040204" pitchFamily="34" charset="0"/>
                          <a:ea typeface="Verdana" panose="020B0604030504040204" pitchFamily="34" charset="0"/>
                          <a:cs typeface="Verdana" panose="020B0604030504040204" pitchFamily="34" charset="0"/>
                        </a:rPr>
                        <a:t>Many Solutions</a:t>
                      </a: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xmlns="" val="10000"/>
                  </a:ext>
                </a:extLst>
              </a:tr>
              <a:tr h="2520000">
                <a:tc>
                  <a:txBody>
                    <a:bodyPr/>
                    <a:lstStyle/>
                    <a:p>
                      <a:pPr marL="0" marR="0">
                        <a:spcBef>
                          <a:spcPts val="0"/>
                        </a:spcBef>
                        <a:spcAft>
                          <a:spcPts val="0"/>
                        </a:spcAft>
                      </a:pPr>
                      <a:r>
                        <a:rPr lang="en-US" sz="2000" dirty="0">
                          <a:effectLst/>
                          <a:latin typeface="Verdana" pitchFamily="34" charset="0"/>
                          <a:ea typeface="Verdana"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pitchFamily="34" charset="0"/>
                          <a:ea typeface="Verdana" pitchFamily="34" charset="0"/>
                        </a:rPr>
                        <a:t> </a:t>
                      </a: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bl>
          </a:graphicData>
        </a:graphic>
      </p:graphicFrame>
      <p:sp>
        <p:nvSpPr>
          <p:cNvPr id="10"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32</a:t>
            </a:r>
            <a:endParaRPr i="1" dirty="0">
              <a:latin typeface="Calibri"/>
              <a:ea typeface="Calibri"/>
              <a:cs typeface="Calibri"/>
              <a:sym typeface="Calibri"/>
            </a:endParaRPr>
          </a:p>
        </p:txBody>
      </p:sp>
      <p:pic>
        <p:nvPicPr>
          <p:cNvPr id="11"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2" name="TextBox 11">
            <a:extLst>
              <a:ext uri="{FF2B5EF4-FFF2-40B4-BE49-F238E27FC236}">
                <a16:creationId xmlns="" xmlns:a16="http://schemas.microsoft.com/office/drawing/2014/main" xmlns:a14="http://schemas.microsoft.com/office/drawing/2010/main" xmlns:mc="http://schemas.openxmlformats.org/markup-compatibility/2006" id="{2FA392D8-3ED3-7940-83A8-1451AA8A08D4}"/>
              </a:ext>
            </a:extLst>
          </p:cNvPr>
          <p:cNvSpPr txBox="1"/>
          <p:nvPr/>
        </p:nvSpPr>
        <p:spPr>
          <a:xfrm>
            <a:off x="540565" y="520394"/>
            <a:ext cx="11065362" cy="1015663"/>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When all equations have been solved, sort the cards into groups based on their number of solutions. Write the letters that correspond to the cards in each group in the table below.</a:t>
            </a:r>
          </a:p>
        </p:txBody>
      </p:sp>
    </p:spTree>
    <p:extLst>
      <p:ext uri="{BB962C8B-B14F-4D97-AF65-F5344CB8AC3E}">
        <p14:creationId xmlns:p14="http://schemas.microsoft.com/office/powerpoint/2010/main" val="30636007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xmlns="" id="{DE95225C-59B5-E847-AFA2-B83DCFFA10D8}"/>
              </a:ext>
            </a:extLst>
          </p:cNvPr>
          <p:cNvPicPr preferRelativeResize="0"/>
          <p:nvPr/>
        </p:nvPicPr>
        <p:blipFill rotWithShape="1">
          <a:blip r:embed="rId3">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33</a:t>
            </a:r>
            <a:endParaRPr i="1" dirty="0">
              <a:latin typeface="Calibri"/>
              <a:ea typeface="Calibri"/>
              <a:cs typeface="Calibri"/>
              <a:sym typeface="Calibri"/>
            </a:endParaRPr>
          </a:p>
        </p:txBody>
      </p:sp>
      <p:pic>
        <p:nvPicPr>
          <p:cNvPr id="10"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227"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aphicFrame>
        <p:nvGraphicFramePr>
          <p:cNvPr id="4" name="Table 3"/>
          <p:cNvGraphicFramePr>
            <a:graphicFrameLocks noGrp="1"/>
          </p:cNvGraphicFramePr>
          <p:nvPr>
            <p:extLst>
              <p:ext uri="{D42A27DB-BD31-4B8C-83A1-F6EECF244321}">
                <p14:modId xmlns:p14="http://schemas.microsoft.com/office/powerpoint/2010/main" val="3172317714"/>
              </p:ext>
            </p:extLst>
          </p:nvPr>
        </p:nvGraphicFramePr>
        <p:xfrm>
          <a:off x="1237067" y="2174616"/>
          <a:ext cx="7200000" cy="4104480"/>
        </p:xfrm>
        <a:graphic>
          <a:graphicData uri="http://schemas.openxmlformats.org/drawingml/2006/table">
            <a:tbl>
              <a:tblPr bandRow="1"/>
              <a:tblGrid>
                <a:gridCol w="2520000">
                  <a:extLst>
                    <a:ext uri="{9D8B030D-6E8A-4147-A177-3AD203B41FA5}">
                      <a16:colId xmlns:a16="http://schemas.microsoft.com/office/drawing/2014/main" xmlns="" val="20000"/>
                    </a:ext>
                  </a:extLst>
                </a:gridCol>
                <a:gridCol w="2520000">
                  <a:extLst>
                    <a:ext uri="{9D8B030D-6E8A-4147-A177-3AD203B41FA5}">
                      <a16:colId xmlns:a16="http://schemas.microsoft.com/office/drawing/2014/main" xmlns="" val="20001"/>
                    </a:ext>
                  </a:extLst>
                </a:gridCol>
                <a:gridCol w="2160000">
                  <a:extLst>
                    <a:ext uri="{9D8B030D-6E8A-4147-A177-3AD203B41FA5}">
                      <a16:colId xmlns:a16="http://schemas.microsoft.com/office/drawing/2014/main" xmlns="" val="20002"/>
                    </a:ext>
                  </a:extLst>
                </a:gridCol>
              </a:tblGrid>
              <a:tr h="720000">
                <a:tc>
                  <a:txBody>
                    <a:bodyPr/>
                    <a:lstStyle/>
                    <a:p>
                      <a:pPr algn="ctr">
                        <a:lnSpc>
                          <a:spcPct val="115000"/>
                        </a:lnSpc>
                        <a:spcAft>
                          <a:spcPts val="0"/>
                        </a:spcAft>
                      </a:pPr>
                      <a:r>
                        <a:rPr lang="en-PH" sz="2000" dirty="0">
                          <a:effectLst/>
                          <a:latin typeface="Verdana" pitchFamily="34" charset="0"/>
                          <a:ea typeface="Verdana" pitchFamily="34" charset="0"/>
                        </a:rPr>
                        <a:t>I need help.</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15000"/>
                        </a:lnSpc>
                        <a:spcAft>
                          <a:spcPts val="0"/>
                        </a:spcAft>
                      </a:pPr>
                      <a:r>
                        <a:rPr lang="en-PH" sz="2000" dirty="0">
                          <a:effectLst/>
                          <a:latin typeface="Verdana" pitchFamily="34" charset="0"/>
                          <a:ea typeface="Verdana" pitchFamily="34" charset="0"/>
                        </a:rPr>
                        <a:t>I got it.</a:t>
                      </a: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indent="0" algn="ctr">
                        <a:lnSpc>
                          <a:spcPct val="115000"/>
                        </a:lnSpc>
                        <a:spcAft>
                          <a:spcPts val="0"/>
                        </a:spcAft>
                      </a:pPr>
                      <a:r>
                        <a:rPr lang="en-PH" sz="2000" dirty="0">
                          <a:effectLst/>
                          <a:latin typeface="Verdana" pitchFamily="34" charset="0"/>
                          <a:ea typeface="Verdana" pitchFamily="34" charset="0"/>
                        </a:rPr>
                        <a:t>I could</a:t>
                      </a:r>
                      <a:r>
                        <a:rPr lang="en-PH" sz="2000" baseline="0" dirty="0">
                          <a:effectLst/>
                          <a:latin typeface="Verdana" pitchFamily="34" charset="0"/>
                          <a:ea typeface="Verdana" pitchFamily="34" charset="0"/>
                        </a:rPr>
                        <a:t> help someone.</a:t>
                      </a:r>
                      <a:endParaRPr lang="en-PH" sz="2000" dirty="0">
                        <a:effectLst/>
                        <a:latin typeface="Verdana" pitchFamily="34" charset="0"/>
                        <a:ea typeface="Verdana" pitchFamily="34" charset="0"/>
                      </a:endParaRPr>
                    </a:p>
                  </a:txBody>
                  <a:tcPr anchor="ctr">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0"/>
                  </a:ext>
                </a:extLst>
              </a:tr>
              <a:tr h="828000">
                <a:tc gridSpan="2">
                  <a:txBody>
                    <a:bodyPr/>
                    <a:lstStyle/>
                    <a:p>
                      <a:pPr>
                        <a:lnSpc>
                          <a:spcPct val="115000"/>
                        </a:lnSpc>
                        <a:spcAft>
                          <a:spcPts val="0"/>
                        </a:spcAft>
                      </a:pPr>
                      <a:r>
                        <a:rPr lang="en-US" sz="2000" dirty="0">
                          <a:effectLst/>
                          <a:latin typeface="Verdana" pitchFamily="34" charset="0"/>
                          <a:ea typeface="Verdana" pitchFamily="34" charset="0"/>
                        </a:rPr>
                        <a:t>I can solve multi-step linear equations.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a:p>
                  </a:txBody>
                  <a:tcPr/>
                </a:tc>
                <a:tc>
                  <a:txBody>
                    <a:bodyPr/>
                    <a:lstStyle/>
                    <a:p>
                      <a:pPr>
                        <a:lnSpc>
                          <a:spcPct val="115000"/>
                        </a:lnSpc>
                        <a:spcAft>
                          <a:spcPts val="0"/>
                        </a:spcAft>
                      </a:pPr>
                      <a:r>
                        <a:rPr lang="en-US" sz="2000" dirty="0">
                          <a:effectLst/>
                          <a:latin typeface="Verdana" pitchFamily="34" charset="0"/>
                          <a:ea typeface="Verdana" pitchFamily="34" charset="0"/>
                          <a:cs typeface="Verdana"/>
                        </a:rPr>
                        <a:t>        </a:t>
                      </a:r>
                      <a:r>
                        <a:rPr lang="en-PH" sz="2000" b="1" dirty="0">
                          <a:effectLst/>
                          <a:latin typeface="Verdana" pitchFamily="34" charset="0"/>
                          <a:ea typeface="Verdana" pitchFamily="34" charset="0"/>
                          <a:cs typeface="Verdana"/>
                        </a:rPr>
                        <a:t> </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1"/>
                  </a:ext>
                </a:extLst>
              </a:tr>
              <a:tr h="828000">
                <a:tc gridSpan="2">
                  <a:txBody>
                    <a:bodyPr/>
                    <a:lstStyle/>
                    <a:p>
                      <a:pPr>
                        <a:lnSpc>
                          <a:spcPct val="115000"/>
                        </a:lnSpc>
                        <a:spcAft>
                          <a:spcPts val="0"/>
                        </a:spcAft>
                      </a:pPr>
                      <a:r>
                        <a:rPr lang="en-US" sz="2000" dirty="0">
                          <a:effectLst/>
                          <a:latin typeface="Verdana" pitchFamily="34" charset="0"/>
                          <a:ea typeface="Verdana" pitchFamily="34" charset="0"/>
                        </a:rPr>
                        <a:t>I can solve equations with variables on both sides.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a:p>
                  </a:txBody>
                  <a:tcPr/>
                </a:tc>
                <a:tc>
                  <a:txBody>
                    <a:bodyPr/>
                    <a:lstStyle/>
                    <a:p>
                      <a:pPr>
                        <a:lnSpc>
                          <a:spcPct val="115000"/>
                        </a:lnSpc>
                        <a:spcAft>
                          <a:spcPts val="0"/>
                        </a:spcAft>
                      </a:pPr>
                      <a:r>
                        <a:rPr lang="en-US" sz="2000" dirty="0">
                          <a:solidFill>
                            <a:srgbClr val="000000"/>
                          </a:solidFill>
                          <a:effectLst/>
                          <a:latin typeface="Verdana" pitchFamily="34" charset="0"/>
                          <a:ea typeface="Verdana" pitchFamily="34" charset="0"/>
                          <a:cs typeface="Verdana"/>
                        </a:rPr>
                        <a:t>        </a:t>
                      </a:r>
                      <a:r>
                        <a:rPr lang="en-PH" sz="2000" b="1" dirty="0">
                          <a:solidFill>
                            <a:srgbClr val="000000"/>
                          </a:solidFill>
                          <a:effectLst/>
                          <a:latin typeface="Verdana" pitchFamily="34" charset="0"/>
                          <a:ea typeface="Verdana" pitchFamily="34" charset="0"/>
                          <a:cs typeface="Verdana"/>
                        </a:rPr>
                        <a:t> </a:t>
                      </a:r>
                      <a:endParaRPr lang="en-PH" sz="2000" dirty="0">
                        <a:solidFill>
                          <a:srgbClr val="000000"/>
                        </a:solidFill>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2"/>
                  </a:ext>
                </a:extLst>
              </a:tr>
              <a:tr h="828000">
                <a:tc gridSpan="2">
                  <a:txBody>
                    <a:bodyPr/>
                    <a:lstStyle/>
                    <a:p>
                      <a:pPr>
                        <a:lnSpc>
                          <a:spcPct val="115000"/>
                        </a:lnSpc>
                        <a:spcAft>
                          <a:spcPts val="0"/>
                        </a:spcAft>
                      </a:pPr>
                      <a:r>
                        <a:rPr lang="en-US" sz="2000" dirty="0">
                          <a:solidFill>
                            <a:srgbClr val="000000"/>
                          </a:solidFill>
                          <a:effectLst/>
                          <a:latin typeface="Verdana" pitchFamily="34" charset="0"/>
                          <a:ea typeface="Verdana" pitchFamily="34" charset="0"/>
                          <a:cs typeface="Verdana"/>
                        </a:rPr>
                        <a:t>I can relate solutions to equations to real-world contexts they model.</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a:p>
                  </a:txBody>
                  <a:tcPr/>
                </a:tc>
                <a:tc>
                  <a:txBody>
                    <a:bodyPr/>
                    <a:lstStyle/>
                    <a:p>
                      <a:pPr>
                        <a:lnSpc>
                          <a:spcPct val="115000"/>
                        </a:lnSpc>
                        <a:spcAft>
                          <a:spcPts val="0"/>
                        </a:spcAft>
                      </a:pPr>
                      <a:r>
                        <a:rPr lang="en-US" sz="2000" dirty="0">
                          <a:solidFill>
                            <a:srgbClr val="000000"/>
                          </a:solidFill>
                          <a:effectLst/>
                          <a:latin typeface="Verdana" pitchFamily="34" charset="0"/>
                          <a:ea typeface="Verdana" pitchFamily="34" charset="0"/>
                          <a:cs typeface="Verdana"/>
                        </a:rPr>
                        <a:t>        </a:t>
                      </a:r>
                      <a:r>
                        <a:rPr lang="en-PH" sz="2000" b="1" dirty="0">
                          <a:solidFill>
                            <a:srgbClr val="000000"/>
                          </a:solidFill>
                          <a:effectLst/>
                          <a:latin typeface="Verdana" pitchFamily="34" charset="0"/>
                          <a:ea typeface="Verdana" pitchFamily="34" charset="0"/>
                          <a:cs typeface="Verdana"/>
                        </a:rPr>
                        <a:t> </a:t>
                      </a:r>
                      <a:endParaRPr lang="en-PH" sz="2000" dirty="0">
                        <a:solidFill>
                          <a:srgbClr val="000000"/>
                        </a:solidFill>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3"/>
                  </a:ext>
                </a:extLst>
              </a:tr>
              <a:tr h="828000">
                <a:tc gridSpan="2">
                  <a:txBody>
                    <a:bodyPr/>
                    <a:lstStyle/>
                    <a:p>
                      <a:pPr>
                        <a:lnSpc>
                          <a:spcPct val="115000"/>
                        </a:lnSpc>
                        <a:spcAft>
                          <a:spcPts val="0"/>
                        </a:spcAft>
                      </a:pPr>
                      <a:r>
                        <a:rPr lang="en-US" sz="2000" dirty="0">
                          <a:solidFill>
                            <a:srgbClr val="000000"/>
                          </a:solidFill>
                          <a:effectLst/>
                          <a:latin typeface="Verdana" pitchFamily="34" charset="0"/>
                          <a:ea typeface="Verdana" pitchFamily="34" charset="0"/>
                          <a:cs typeface="Verdana"/>
                        </a:rPr>
                        <a:t>I can recognize equations with one, none, or infinitely many solutions.</a:t>
                      </a:r>
                      <a:endParaRPr lang="en-PH" sz="2000" dirty="0">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hMerge="1">
                  <a:txBody>
                    <a:bodyPr/>
                    <a:lstStyle/>
                    <a:p>
                      <a:endParaRPr lang="en-PH"/>
                    </a:p>
                  </a:txBody>
                  <a:tcPr/>
                </a:tc>
                <a:tc>
                  <a:txBody>
                    <a:bodyPr/>
                    <a:lstStyle/>
                    <a:p>
                      <a:pPr>
                        <a:lnSpc>
                          <a:spcPct val="115000"/>
                        </a:lnSpc>
                        <a:spcAft>
                          <a:spcPts val="0"/>
                        </a:spcAft>
                      </a:pPr>
                      <a:r>
                        <a:rPr lang="en-US" sz="2000" dirty="0">
                          <a:solidFill>
                            <a:srgbClr val="000000"/>
                          </a:solidFill>
                          <a:effectLst/>
                          <a:latin typeface="Verdana" pitchFamily="34" charset="0"/>
                          <a:ea typeface="Verdana" pitchFamily="34" charset="0"/>
                          <a:cs typeface="Verdana"/>
                        </a:rPr>
                        <a:t>        </a:t>
                      </a:r>
                      <a:r>
                        <a:rPr lang="en-PH" sz="2000" b="1" dirty="0">
                          <a:solidFill>
                            <a:srgbClr val="000000"/>
                          </a:solidFill>
                          <a:effectLst/>
                          <a:latin typeface="Verdana" pitchFamily="34" charset="0"/>
                          <a:ea typeface="Verdana" pitchFamily="34" charset="0"/>
                          <a:cs typeface="Verdana"/>
                        </a:rPr>
                        <a:t> </a:t>
                      </a:r>
                      <a:endParaRPr lang="en-PH" sz="2000" dirty="0">
                        <a:solidFill>
                          <a:srgbClr val="000000"/>
                        </a:solidFill>
                        <a:effectLst/>
                        <a:latin typeface="Verdana" pitchFamily="34" charset="0"/>
                        <a:ea typeface="Verdana" pitchFamily="34" charset="0"/>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0004"/>
                  </a:ext>
                </a:extLst>
              </a:tr>
            </a:tbl>
          </a:graphicData>
        </a:graphic>
      </p:graphicFrame>
      <p:pic>
        <p:nvPicPr>
          <p:cNvPr id="50" name="image29.png" descr="Marketing"/>
          <p:cNvPicPr/>
          <p:nvPr/>
        </p:nvPicPr>
        <p:blipFill>
          <a:blip r:embed="rId3" cstate="screen">
            <a:extLst>
              <a:ext uri="{28A0092B-C50C-407E-A947-70E740481C1C}">
                <a14:useLocalDpi xmlns:a14="http://schemas.microsoft.com/office/drawing/2010/main"/>
              </a:ext>
            </a:extLst>
          </a:blip>
          <a:srcRect/>
          <a:stretch>
            <a:fillRect/>
          </a:stretch>
        </p:blipFill>
        <p:spPr>
          <a:xfrm>
            <a:off x="1237068" y="2239715"/>
            <a:ext cx="520065" cy="520065"/>
          </a:xfrm>
          <a:prstGeom prst="rect">
            <a:avLst/>
          </a:prstGeom>
          <a:ln/>
        </p:spPr>
      </p:pic>
      <p:pic>
        <p:nvPicPr>
          <p:cNvPr id="51" name="image28.png" descr="Thumbs up sign"/>
          <p:cNvPicPr/>
          <p:nvPr/>
        </p:nvPicPr>
        <p:blipFill>
          <a:blip r:embed="rId4" cstate="screen">
            <a:extLst>
              <a:ext uri="{28A0092B-C50C-407E-A947-70E740481C1C}">
                <a14:useLocalDpi xmlns:a14="http://schemas.microsoft.com/office/drawing/2010/main"/>
              </a:ext>
            </a:extLst>
          </a:blip>
          <a:srcRect/>
          <a:stretch>
            <a:fillRect/>
          </a:stretch>
        </p:blipFill>
        <p:spPr>
          <a:xfrm>
            <a:off x="4050982" y="2306389"/>
            <a:ext cx="453390" cy="453390"/>
          </a:xfrm>
          <a:prstGeom prst="rect">
            <a:avLst/>
          </a:prstGeom>
          <a:ln/>
        </p:spPr>
      </p:pic>
      <p:pic>
        <p:nvPicPr>
          <p:cNvPr id="52" name="image30.png" descr="Shooting star"/>
          <p:cNvPicPr/>
          <p:nvPr/>
        </p:nvPicPr>
        <p:blipFill>
          <a:blip r:embed="rId5" cstate="screen">
            <a:extLst>
              <a:ext uri="{28A0092B-C50C-407E-A947-70E740481C1C}">
                <a14:useLocalDpi xmlns:a14="http://schemas.microsoft.com/office/drawing/2010/main"/>
              </a:ext>
            </a:extLst>
          </a:blip>
          <a:srcRect/>
          <a:stretch>
            <a:fillRect/>
          </a:stretch>
        </p:blipFill>
        <p:spPr>
          <a:xfrm>
            <a:off x="6105120" y="2304842"/>
            <a:ext cx="447040" cy="447040"/>
          </a:xfrm>
          <a:prstGeom prst="rect">
            <a:avLst/>
          </a:prstGeom>
          <a:ln/>
        </p:spPr>
      </p:pic>
      <p:grpSp>
        <p:nvGrpSpPr>
          <p:cNvPr id="18" name="Group 17"/>
          <p:cNvGrpSpPr/>
          <p:nvPr/>
        </p:nvGrpSpPr>
        <p:grpSpPr>
          <a:xfrm>
            <a:off x="6504444" y="3144320"/>
            <a:ext cx="1758030" cy="520065"/>
            <a:chOff x="6222124" y="3108532"/>
            <a:chExt cx="1758030" cy="520065"/>
          </a:xfrm>
        </p:grpSpPr>
        <p:pic>
          <p:nvPicPr>
            <p:cNvPr id="53" name="image29.png" descr="Marketing"/>
            <p:cNvPicPr/>
            <p:nvPr/>
          </p:nvPicPr>
          <p:blipFill>
            <a:blip r:embed="rId3" cstate="screen">
              <a:extLst>
                <a:ext uri="{28A0092B-C50C-407E-A947-70E740481C1C}">
                  <a14:useLocalDpi xmlns:a14="http://schemas.microsoft.com/office/drawing/2010/main"/>
                </a:ext>
              </a:extLst>
            </a:blip>
            <a:srcRect/>
            <a:stretch>
              <a:fillRect/>
            </a:stretch>
          </p:blipFill>
          <p:spPr>
            <a:xfrm>
              <a:off x="6222124" y="3108532"/>
              <a:ext cx="520065" cy="520065"/>
            </a:xfrm>
            <a:prstGeom prst="rect">
              <a:avLst/>
            </a:prstGeom>
            <a:ln/>
          </p:spPr>
        </p:pic>
        <p:pic>
          <p:nvPicPr>
            <p:cNvPr id="54" name="image28.png" descr="Thumbs up sign"/>
            <p:cNvPicPr/>
            <p:nvPr/>
          </p:nvPicPr>
          <p:blipFill>
            <a:blip r:embed="rId4" cstate="screen">
              <a:extLst>
                <a:ext uri="{28A0092B-C50C-407E-A947-70E740481C1C}">
                  <a14:useLocalDpi xmlns:a14="http://schemas.microsoft.com/office/drawing/2010/main"/>
                </a:ext>
              </a:extLst>
            </a:blip>
            <a:srcRect/>
            <a:stretch>
              <a:fillRect/>
            </a:stretch>
          </p:blipFill>
          <p:spPr>
            <a:xfrm>
              <a:off x="6881055" y="3156814"/>
              <a:ext cx="453390" cy="453390"/>
            </a:xfrm>
            <a:prstGeom prst="rect">
              <a:avLst/>
            </a:prstGeom>
            <a:ln/>
          </p:spPr>
        </p:pic>
        <p:pic>
          <p:nvPicPr>
            <p:cNvPr id="55" name="image30.png" descr="Shooting star"/>
            <p:cNvPicPr/>
            <p:nvPr/>
          </p:nvPicPr>
          <p:blipFill>
            <a:blip r:embed="rId5" cstate="screen">
              <a:extLst>
                <a:ext uri="{28A0092B-C50C-407E-A947-70E740481C1C}">
                  <a14:useLocalDpi xmlns:a14="http://schemas.microsoft.com/office/drawing/2010/main"/>
                </a:ext>
              </a:extLst>
            </a:blip>
            <a:srcRect/>
            <a:stretch>
              <a:fillRect/>
            </a:stretch>
          </p:blipFill>
          <p:spPr>
            <a:xfrm>
              <a:off x="7533114" y="3163439"/>
              <a:ext cx="447040" cy="447040"/>
            </a:xfrm>
            <a:prstGeom prst="rect">
              <a:avLst/>
            </a:prstGeom>
            <a:ln/>
          </p:spPr>
        </p:pic>
      </p:grpSp>
      <p:grpSp>
        <p:nvGrpSpPr>
          <p:cNvPr id="57" name="Group 56"/>
          <p:cNvGrpSpPr/>
          <p:nvPr/>
        </p:nvGrpSpPr>
        <p:grpSpPr>
          <a:xfrm>
            <a:off x="6488396" y="3973979"/>
            <a:ext cx="1758030" cy="520065"/>
            <a:chOff x="6222124" y="3108532"/>
            <a:chExt cx="1758030" cy="520065"/>
          </a:xfrm>
        </p:grpSpPr>
        <p:pic>
          <p:nvPicPr>
            <p:cNvPr id="58" name="image29.png" descr="Marketing"/>
            <p:cNvPicPr/>
            <p:nvPr/>
          </p:nvPicPr>
          <p:blipFill>
            <a:blip r:embed="rId3" cstate="screen">
              <a:extLst>
                <a:ext uri="{28A0092B-C50C-407E-A947-70E740481C1C}">
                  <a14:useLocalDpi xmlns:a14="http://schemas.microsoft.com/office/drawing/2010/main"/>
                </a:ext>
              </a:extLst>
            </a:blip>
            <a:srcRect/>
            <a:stretch>
              <a:fillRect/>
            </a:stretch>
          </p:blipFill>
          <p:spPr>
            <a:xfrm>
              <a:off x="6222124" y="3108532"/>
              <a:ext cx="520065" cy="520065"/>
            </a:xfrm>
            <a:prstGeom prst="rect">
              <a:avLst/>
            </a:prstGeom>
            <a:ln/>
          </p:spPr>
        </p:pic>
        <p:pic>
          <p:nvPicPr>
            <p:cNvPr id="59" name="image28.png" descr="Thumbs up sign"/>
            <p:cNvPicPr/>
            <p:nvPr/>
          </p:nvPicPr>
          <p:blipFill>
            <a:blip r:embed="rId4" cstate="screen">
              <a:extLst>
                <a:ext uri="{28A0092B-C50C-407E-A947-70E740481C1C}">
                  <a14:useLocalDpi xmlns:a14="http://schemas.microsoft.com/office/drawing/2010/main"/>
                </a:ext>
              </a:extLst>
            </a:blip>
            <a:srcRect/>
            <a:stretch>
              <a:fillRect/>
            </a:stretch>
          </p:blipFill>
          <p:spPr>
            <a:xfrm>
              <a:off x="6881055" y="3156814"/>
              <a:ext cx="453390" cy="453390"/>
            </a:xfrm>
            <a:prstGeom prst="rect">
              <a:avLst/>
            </a:prstGeom>
            <a:ln/>
          </p:spPr>
        </p:pic>
        <p:pic>
          <p:nvPicPr>
            <p:cNvPr id="60" name="image30.png" descr="Shooting star"/>
            <p:cNvPicPr/>
            <p:nvPr/>
          </p:nvPicPr>
          <p:blipFill>
            <a:blip r:embed="rId5" cstate="screen">
              <a:extLst>
                <a:ext uri="{28A0092B-C50C-407E-A947-70E740481C1C}">
                  <a14:useLocalDpi xmlns:a14="http://schemas.microsoft.com/office/drawing/2010/main"/>
                </a:ext>
              </a:extLst>
            </a:blip>
            <a:srcRect/>
            <a:stretch>
              <a:fillRect/>
            </a:stretch>
          </p:blipFill>
          <p:spPr>
            <a:xfrm>
              <a:off x="7533114" y="3163439"/>
              <a:ext cx="447040" cy="447040"/>
            </a:xfrm>
            <a:prstGeom prst="rect">
              <a:avLst/>
            </a:prstGeom>
            <a:ln/>
          </p:spPr>
        </p:pic>
      </p:grpSp>
      <p:grpSp>
        <p:nvGrpSpPr>
          <p:cNvPr id="61" name="Group 60"/>
          <p:cNvGrpSpPr/>
          <p:nvPr/>
        </p:nvGrpSpPr>
        <p:grpSpPr>
          <a:xfrm>
            <a:off x="6497833" y="4784654"/>
            <a:ext cx="1758030" cy="520065"/>
            <a:chOff x="6222124" y="3108532"/>
            <a:chExt cx="1758030" cy="520065"/>
          </a:xfrm>
        </p:grpSpPr>
        <p:pic>
          <p:nvPicPr>
            <p:cNvPr id="62" name="image29.png" descr="Marketing"/>
            <p:cNvPicPr/>
            <p:nvPr/>
          </p:nvPicPr>
          <p:blipFill>
            <a:blip r:embed="rId3" cstate="screen">
              <a:extLst>
                <a:ext uri="{28A0092B-C50C-407E-A947-70E740481C1C}">
                  <a14:useLocalDpi xmlns:a14="http://schemas.microsoft.com/office/drawing/2010/main"/>
                </a:ext>
              </a:extLst>
            </a:blip>
            <a:srcRect/>
            <a:stretch>
              <a:fillRect/>
            </a:stretch>
          </p:blipFill>
          <p:spPr>
            <a:xfrm>
              <a:off x="6222124" y="3108532"/>
              <a:ext cx="520065" cy="520065"/>
            </a:xfrm>
            <a:prstGeom prst="rect">
              <a:avLst/>
            </a:prstGeom>
            <a:ln/>
          </p:spPr>
        </p:pic>
        <p:pic>
          <p:nvPicPr>
            <p:cNvPr id="63" name="image28.png" descr="Thumbs up sign"/>
            <p:cNvPicPr/>
            <p:nvPr/>
          </p:nvPicPr>
          <p:blipFill>
            <a:blip r:embed="rId4" cstate="screen">
              <a:extLst>
                <a:ext uri="{28A0092B-C50C-407E-A947-70E740481C1C}">
                  <a14:useLocalDpi xmlns:a14="http://schemas.microsoft.com/office/drawing/2010/main"/>
                </a:ext>
              </a:extLst>
            </a:blip>
            <a:srcRect/>
            <a:stretch>
              <a:fillRect/>
            </a:stretch>
          </p:blipFill>
          <p:spPr>
            <a:xfrm>
              <a:off x="6881055" y="3156814"/>
              <a:ext cx="453390" cy="453390"/>
            </a:xfrm>
            <a:prstGeom prst="rect">
              <a:avLst/>
            </a:prstGeom>
            <a:ln/>
          </p:spPr>
        </p:pic>
        <p:pic>
          <p:nvPicPr>
            <p:cNvPr id="64" name="image30.png" descr="Shooting star"/>
            <p:cNvPicPr/>
            <p:nvPr/>
          </p:nvPicPr>
          <p:blipFill>
            <a:blip r:embed="rId5" cstate="screen">
              <a:extLst>
                <a:ext uri="{28A0092B-C50C-407E-A947-70E740481C1C}">
                  <a14:useLocalDpi xmlns:a14="http://schemas.microsoft.com/office/drawing/2010/main"/>
                </a:ext>
              </a:extLst>
            </a:blip>
            <a:srcRect/>
            <a:stretch>
              <a:fillRect/>
            </a:stretch>
          </p:blipFill>
          <p:spPr>
            <a:xfrm>
              <a:off x="7533114" y="3163439"/>
              <a:ext cx="447040" cy="447040"/>
            </a:xfrm>
            <a:prstGeom prst="rect">
              <a:avLst/>
            </a:prstGeom>
            <a:ln/>
          </p:spPr>
        </p:pic>
      </p:grpSp>
      <p:grpSp>
        <p:nvGrpSpPr>
          <p:cNvPr id="65" name="Group 64"/>
          <p:cNvGrpSpPr/>
          <p:nvPr/>
        </p:nvGrpSpPr>
        <p:grpSpPr>
          <a:xfrm>
            <a:off x="6491222" y="5627564"/>
            <a:ext cx="1758030" cy="520065"/>
            <a:chOff x="6222124" y="3108532"/>
            <a:chExt cx="1758030" cy="520065"/>
          </a:xfrm>
        </p:grpSpPr>
        <p:pic>
          <p:nvPicPr>
            <p:cNvPr id="66" name="image29.png" descr="Marketing"/>
            <p:cNvPicPr/>
            <p:nvPr/>
          </p:nvPicPr>
          <p:blipFill>
            <a:blip r:embed="rId3" cstate="screen">
              <a:extLst>
                <a:ext uri="{28A0092B-C50C-407E-A947-70E740481C1C}">
                  <a14:useLocalDpi xmlns:a14="http://schemas.microsoft.com/office/drawing/2010/main"/>
                </a:ext>
              </a:extLst>
            </a:blip>
            <a:srcRect/>
            <a:stretch>
              <a:fillRect/>
            </a:stretch>
          </p:blipFill>
          <p:spPr>
            <a:xfrm>
              <a:off x="6222124" y="3108532"/>
              <a:ext cx="520065" cy="520065"/>
            </a:xfrm>
            <a:prstGeom prst="rect">
              <a:avLst/>
            </a:prstGeom>
            <a:ln/>
          </p:spPr>
        </p:pic>
        <p:pic>
          <p:nvPicPr>
            <p:cNvPr id="67" name="image28.png" descr="Thumbs up sign"/>
            <p:cNvPicPr/>
            <p:nvPr/>
          </p:nvPicPr>
          <p:blipFill>
            <a:blip r:embed="rId4" cstate="screen">
              <a:extLst>
                <a:ext uri="{28A0092B-C50C-407E-A947-70E740481C1C}">
                  <a14:useLocalDpi xmlns:a14="http://schemas.microsoft.com/office/drawing/2010/main"/>
                </a:ext>
              </a:extLst>
            </a:blip>
            <a:srcRect/>
            <a:stretch>
              <a:fillRect/>
            </a:stretch>
          </p:blipFill>
          <p:spPr>
            <a:xfrm>
              <a:off x="6881055" y="3156814"/>
              <a:ext cx="453390" cy="453390"/>
            </a:xfrm>
            <a:prstGeom prst="rect">
              <a:avLst/>
            </a:prstGeom>
            <a:ln/>
          </p:spPr>
        </p:pic>
        <p:pic>
          <p:nvPicPr>
            <p:cNvPr id="68" name="image30.png" descr="Shooting star"/>
            <p:cNvPicPr/>
            <p:nvPr/>
          </p:nvPicPr>
          <p:blipFill>
            <a:blip r:embed="rId5" cstate="screen">
              <a:extLst>
                <a:ext uri="{28A0092B-C50C-407E-A947-70E740481C1C}">
                  <a14:useLocalDpi xmlns:a14="http://schemas.microsoft.com/office/drawing/2010/main"/>
                </a:ext>
              </a:extLst>
            </a:blip>
            <a:srcRect/>
            <a:stretch>
              <a:fillRect/>
            </a:stretch>
          </p:blipFill>
          <p:spPr>
            <a:xfrm>
              <a:off x="7533114" y="3163439"/>
              <a:ext cx="447040" cy="447040"/>
            </a:xfrm>
            <a:prstGeom prst="rect">
              <a:avLst/>
            </a:prstGeom>
            <a:ln/>
          </p:spPr>
        </p:pic>
      </p:grpSp>
      <p:sp>
        <p:nvSpPr>
          <p:cNvPr id="28" name="Google Shape;282;g104476d1465_1_17"/>
          <p:cNvSpPr txBox="1"/>
          <p:nvPr/>
        </p:nvSpPr>
        <p:spPr>
          <a:xfrm>
            <a:off x="8897112" y="645566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a:t>
            </a:r>
            <a:r>
              <a:rPr lang="en-US" i="1" dirty="0" smtClean="0">
                <a:latin typeface="Calibri"/>
                <a:ea typeface="Calibri"/>
                <a:cs typeface="Calibri"/>
                <a:sym typeface="Calibri"/>
              </a:rPr>
              <a:t>2, </a:t>
            </a:r>
            <a:r>
              <a:rPr lang="en-US" i="1" dirty="0">
                <a:latin typeface="Calibri"/>
                <a:ea typeface="Calibri"/>
                <a:cs typeface="Calibri"/>
                <a:sym typeface="Calibri"/>
              </a:rPr>
              <a:t>pg. </a:t>
            </a:r>
            <a:r>
              <a:rPr lang="en-US" i="1" dirty="0" smtClean="0">
                <a:latin typeface="Calibri"/>
                <a:ea typeface="Calibri"/>
                <a:cs typeface="Calibri"/>
                <a:sym typeface="Calibri"/>
              </a:rPr>
              <a:t>33</a:t>
            </a:r>
            <a:endParaRPr i="1" dirty="0">
              <a:latin typeface="Calibri"/>
              <a:ea typeface="Calibri"/>
              <a:cs typeface="Calibri"/>
              <a:sym typeface="Calibri"/>
            </a:endParaRPr>
          </a:p>
        </p:txBody>
      </p:sp>
      <p:pic>
        <p:nvPicPr>
          <p:cNvPr id="29" name="Google Shape;283;g104476d1465_1_17"/>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0" name="Google Shape;468;p34"/>
          <p:cNvSpPr txBox="1"/>
          <p:nvPr/>
        </p:nvSpPr>
        <p:spPr>
          <a:xfrm>
            <a:off x="1142999" y="284833"/>
            <a:ext cx="10669510" cy="590891"/>
          </a:xfrm>
          <a:prstGeom prst="rect">
            <a:avLst/>
          </a:prstGeom>
          <a:noFill/>
          <a:ln>
            <a:noFill/>
          </a:ln>
        </p:spPr>
        <p:txBody>
          <a:bodyPr spcFirstLastPara="1" wrap="square" lIns="91425" tIns="45700" rIns="91425" bIns="45700" anchor="ctr" anchorCtr="0">
            <a:spAutoFit/>
          </a:body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8.6.4 Wrap-Up: Reflection</a:t>
            </a:r>
          </a:p>
        </p:txBody>
      </p:sp>
      <p:pic>
        <p:nvPicPr>
          <p:cNvPr id="31" name="Google Shape;469;p34"/>
          <p:cNvPicPr preferRelativeResize="0"/>
          <p:nvPr/>
        </p:nvPicPr>
        <p:blipFill rotWithShape="1">
          <a:blip r:embed="rId7">
            <a:alphaModFix/>
          </a:blip>
          <a:srcRect/>
          <a:stretch/>
        </p:blipFill>
        <p:spPr>
          <a:xfrm>
            <a:off x="356616" y="201168"/>
            <a:ext cx="747300" cy="747300"/>
          </a:xfrm>
          <a:prstGeom prst="rect">
            <a:avLst/>
          </a:prstGeom>
          <a:noFill/>
          <a:ln>
            <a:noFill/>
          </a:ln>
          <a:effectLst>
            <a:outerShdw blurRad="50800" dist="38100" dir="2700000" algn="tl" rotWithShape="0">
              <a:srgbClr val="000000">
                <a:alpha val="40000"/>
              </a:srgbClr>
            </a:outerShdw>
          </a:effectLst>
        </p:spPr>
      </p:pic>
      <p:sp>
        <p:nvSpPr>
          <p:cNvPr id="32" name="TextBox 31">
            <a:extLst>
              <a:ext uri="{FF2B5EF4-FFF2-40B4-BE49-F238E27FC236}">
                <a16:creationId xmlns="" xmlns:a16="http://schemas.microsoft.com/office/drawing/2014/main" xmlns:a14="http://schemas.microsoft.com/office/drawing/2010/main" xmlns:mc="http://schemas.openxmlformats.org/markup-compatibility/2006" id="{0370EDB7-6994-3D43-ABF9-E04CBAFB9CD9}"/>
              </a:ext>
            </a:extLst>
          </p:cNvPr>
          <p:cNvSpPr txBox="1"/>
          <p:nvPr/>
        </p:nvSpPr>
        <p:spPr>
          <a:xfrm>
            <a:off x="593248" y="1385906"/>
            <a:ext cx="11005504" cy="400110"/>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Circle the icon that best describes your understanding of each concept.</a:t>
            </a: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1333</TotalTime>
  <Words>557</Words>
  <Application>Microsoft Office PowerPoint</Application>
  <PresentationFormat>Custom</PresentationFormat>
  <Paragraphs>154</Paragraphs>
  <Slides>17</Slides>
  <Notes>17</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17</vt:i4>
      </vt:variant>
    </vt:vector>
  </HeadingPairs>
  <TitlesOfParts>
    <vt:vector size="26" baseType="lpstr">
      <vt:lpstr>Arial</vt:lpstr>
      <vt:lpstr>Century Gothic</vt:lpstr>
      <vt:lpstr>Wingdings</vt:lpstr>
      <vt:lpstr>Cambria Math</vt:lpstr>
      <vt:lpstr>Arial Black</vt:lpstr>
      <vt:lpstr>Verdana</vt:lpstr>
      <vt:lpstr>Calibri</vt:lpstr>
      <vt:lpstr>Times New Roman</vt:lpstr>
      <vt:lpstr>1_Office Theme</vt:lpstr>
      <vt:lpstr>PowerPoint Presentation</vt:lpstr>
      <vt:lpstr>PowerPoint Presentation</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Activity</vt:lpstr>
      <vt:lpstr>PowerPoint Presentation</vt:lpstr>
      <vt:lpstr>PowerPoint Presentation</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John Patrick</cp:lastModifiedBy>
  <cp:revision>29</cp:revision>
  <dcterms:created xsi:type="dcterms:W3CDTF">2015-03-17T18:51:18Z</dcterms:created>
  <dcterms:modified xsi:type="dcterms:W3CDTF">2022-06-19T14:30:55Z</dcterms:modified>
</cp:coreProperties>
</file>