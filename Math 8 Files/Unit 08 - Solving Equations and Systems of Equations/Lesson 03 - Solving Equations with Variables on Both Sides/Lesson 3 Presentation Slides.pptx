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63" r:id="rId11"/>
    <p:sldId id="362" r:id="rId12"/>
    <p:sldId id="364" r:id="rId13"/>
    <p:sldId id="366" r:id="rId14"/>
    <p:sldId id="365" r:id="rId15"/>
    <p:sldId id="353" r:id="rId16"/>
    <p:sldId id="367" r:id="rId17"/>
    <p:sldId id="289" r:id="rId18"/>
    <p:sldId id="290" r:id="rId19"/>
    <p:sldId id="356" r:id="rId20"/>
    <p:sldId id="368" r:id="rId21"/>
    <p:sldId id="302" r:id="rId22"/>
    <p:sldId id="303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79B0DD"/>
    <a:srgbClr val="DA4487"/>
    <a:srgbClr val="276C46"/>
    <a:srgbClr val="C9DF6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536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4266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93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55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4632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2575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7920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26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5341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9128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0953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385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4" y="2054279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3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Equations with Variables on Both Sides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0157" y="101013"/>
            <a:ext cx="89042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29489" y="1591775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MA.8.AR.2.1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multi-step linear equations in one variable, with rational number coefficients. Include equations with variables on both sides.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3017" y="101013"/>
            <a:ext cx="107352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53017" y="1705699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50019" y="101013"/>
            <a:ext cx="924456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6756" y="1577651"/>
            <a:ext cx="1156132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equations with variables on both sides.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3147" y="101013"/>
            <a:ext cx="92260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8.3.1 Warm-Up: Balancing Hangers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35894" y="1466301"/>
            <a:ext cx="1080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picture represents two balanced hangers. The hangers are balanced because the weight on each side is the same.</a:t>
            </a:r>
          </a:p>
        </p:txBody>
      </p:sp>
      <p:pic>
        <p:nvPicPr>
          <p:cNvPr id="9" name="image61.png" descr="Shape&#10;&#10;Description automatically generated with medium confidence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16395" y="2589862"/>
            <a:ext cx="3152775" cy="3003550"/>
          </a:xfrm>
          <a:prstGeom prst="rect">
            <a:avLst/>
          </a:prstGeom>
          <a:ln/>
        </p:spPr>
      </p:pic>
      <p:sp>
        <p:nvSpPr>
          <p:cNvPr id="11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3920" y="378350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both hanger diagrams, a triangle weighs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grams and a circle weighs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grams.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2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weight of a square in Hanger A.</a:t>
                </a:r>
              </a:p>
              <a:p>
                <a:pPr marL="914400" lvl="4" algn="ctr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778125" lvl="4" defTabSz="1793875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 grams</a:t>
                </a:r>
              </a:p>
              <a:p>
                <a:pPr marL="922338" lvl="4" indent="-457200">
                  <a:buFont typeface="+mj-lt"/>
                  <a:buAutoNum type="alphaLcPeriod" startAt="2"/>
                </a:pPr>
                <a:endParaRPr lang="en-US" sz="2400" dirty="0"/>
              </a:p>
              <a:p>
                <a:pPr marL="922338" lvl="4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to represent each hanger,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weight of each square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represents the weight of each pentagon, in grams.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20" y="378350"/>
                <a:ext cx="10800000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903" t="-1449" b="-27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895609" y="2271174"/>
            <a:ext cx="383993" cy="393943"/>
          </a:xfrm>
          <a:prstGeom prst="rect">
            <a:avLst/>
          </a:prstGeom>
          <a:solidFill>
            <a:srgbClr val="417DBF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92643"/>
              </p:ext>
            </p:extLst>
          </p:nvPr>
        </p:nvGraphicFramePr>
        <p:xfrm>
          <a:off x="1586663" y="4268107"/>
          <a:ext cx="6435020" cy="18969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23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Hanger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Equation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4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4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4925" y="103490"/>
            <a:ext cx="1074554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8.3.2 Exploration: Equations with Variables on Both Sides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833" y="390213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35658" y="1463724"/>
            <a:ext cx="1080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Similar to hanger diagrams, algebra tiles can be used to model equations. As seen in the Warm-Up, it is possible to have linear equations with variables on both sides of the equal sign. 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use algebra tiles to explore how to solve such equations.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8969" y="378353"/>
                <a:ext cx="1119843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algebra tiles to solve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describe the process for solving each equation.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9" y="378353"/>
                <a:ext cx="11198431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599" t="-3593" b="-95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7440" y="1516603"/>
            <a:ext cx="5486333" cy="424899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203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046" y="378355"/>
                <a:ext cx="108000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5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solution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based on the work done in the table in part a?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457200" lvl="4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algebra tiles to solve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+15=4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describe the process for solving each equation.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46" y="378355"/>
                <a:ext cx="10800000" cy="2246769"/>
              </a:xfrm>
              <a:prstGeom prst="rect">
                <a:avLst/>
              </a:prstGeom>
              <a:blipFill>
                <a:blip r:embed="rId3"/>
                <a:stretch>
                  <a:fillRect l="-587" t="-1124" b="-3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86729A-CEF6-464F-7816-673B6E686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5294" y="2640184"/>
            <a:ext cx="6656372" cy="380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6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3919" y="3983860"/>
                <a:ext cx="10800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5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solution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+15=4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based on the work done in the table in part a?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9" y="3983860"/>
                <a:ext cx="10800000" cy="707886"/>
              </a:xfrm>
              <a:prstGeom prst="rect">
                <a:avLst/>
              </a:prstGeom>
              <a:blipFill>
                <a:blip r:embed="rId3"/>
                <a:stretch>
                  <a:fillRect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3768" y="374835"/>
            <a:ext cx="6024463" cy="3450544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7601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390" y="369474"/>
                <a:ext cx="1157811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algebra tiles to solve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6−3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8+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5" indent="-457200">
                  <a:buFont typeface="+mj-lt"/>
                  <a:buAutoNum type="alphaLcPeriod"/>
                  <a:tabLst>
                    <a:tab pos="33655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process of solving the equation with algebra tiles to complete the algebraic representation of the process.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90" y="369474"/>
                <a:ext cx="11578113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579" t="-2765" b="-737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357" y="1822154"/>
            <a:ext cx="5193286" cy="4564387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4267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626" y="209203"/>
            <a:ext cx="5636747" cy="6431244"/>
          </a:xfrm>
          <a:prstGeom prst="rect">
            <a:avLst/>
          </a:prstGeom>
        </p:spPr>
      </p:pic>
      <p:sp>
        <p:nvSpPr>
          <p:cNvPr id="6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282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096" y="386076"/>
                <a:ext cx="108000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lvl="5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Marcus said both sides of the last equation in the table should be either multiplied or divided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Explain whether you agree with Marcus’ recommendation. </a:t>
                </a:r>
              </a:p>
              <a:p>
                <a:pPr marL="900113" lvl="5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5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5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5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00113" lvl="5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your work in Parts A and B, what is the solution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8+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6" y="386076"/>
                <a:ext cx="10800000" cy="3416320"/>
              </a:xfrm>
              <a:prstGeom prst="rect">
                <a:avLst/>
              </a:prstGeom>
              <a:blipFill rotWithShape="1">
                <a:blip r:embed="rId3"/>
                <a:stretch>
                  <a:fillRect t="-1426" r="-395" b="-285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727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2915" y="383999"/>
            <a:ext cx="1080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4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similarities and differences between solving equations with variables on only one side and solving equations with variables on both sides. Record similarities and differences discussed.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200327"/>
              </p:ext>
            </p:extLst>
          </p:nvPr>
        </p:nvGraphicFramePr>
        <p:xfrm>
          <a:off x="2469320" y="2184273"/>
          <a:ext cx="7200000" cy="37745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marL="37503" marR="3750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marL="37503" marR="37503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53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7503" marR="37503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7503" marR="37503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204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1002" y="101013"/>
            <a:ext cx="103721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8.3.3 Guided Instruction: Solving Equations with Variables on Both Sides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06682" y="1463335"/>
                <a:ext cx="110770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−4=6−2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following the steps described in the table.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82" y="1463335"/>
                <a:ext cx="11077078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826" t="-6618" b="-161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207378"/>
                  </p:ext>
                </p:extLst>
              </p:nvPr>
            </p:nvGraphicFramePr>
            <p:xfrm>
              <a:off x="1089146" y="2392852"/>
              <a:ext cx="7920000" cy="358416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4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Representation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Begin with the given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−4=6−2</m:t>
                                </m:r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constant term from one side of the equation using zero pairs.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variable term from one side of the equation using zero pairs.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Isolate the variable.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207378"/>
                  </p:ext>
                </p:extLst>
              </p:nvPr>
            </p:nvGraphicFramePr>
            <p:xfrm>
              <a:off x="1089146" y="2392852"/>
              <a:ext cx="7920000" cy="358416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4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Representation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Begin with the given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4770" t="-26013" b="-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constant term from one side of the equation using zero pairs.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92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variable term from one side of the equation using zero pairs.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Isolate the variable.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09866" y="252105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276" y="379427"/>
                <a:ext cx="10800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some multi-step linear equations, it may be helpful to apply the distributive property or combine like terms on one side of the equation first.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+7.2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−8.1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following the steps described in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76" y="379427"/>
                <a:ext cx="10800000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903" t="-2111" r="-113" b="-50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4507057"/>
                  </p:ext>
                </p:extLst>
              </p:nvPr>
            </p:nvGraphicFramePr>
            <p:xfrm>
              <a:off x="1132910" y="2822029"/>
              <a:ext cx="7855889" cy="378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6158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Representation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Begin with the given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+7.2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−8.1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Apply the distributive property.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variable term from one side of the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constant term from one side of the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Isolate the variable.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4507057"/>
                  </p:ext>
                </p:extLst>
              </p:nvPr>
            </p:nvGraphicFramePr>
            <p:xfrm>
              <a:off x="1132910" y="2822029"/>
              <a:ext cx="7855889" cy="378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61588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Representation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Begin with the given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42481" t="-24303" b="-1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Apply the distributive property.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variable term from one side of the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Eliminate the constant term from one side of the equation.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Isolate the variable.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09866" y="22622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136" y="380890"/>
                <a:ext cx="83271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−11=14−3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36" y="380890"/>
                <a:ext cx="8327136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171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5113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31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55419" y="390213"/>
            <a:ext cx="9226002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28535" y="1470833"/>
                <a:ext cx="1111911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equation. Verify your solution using substitution.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6−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+30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9(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−4)=3(2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+6)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35" y="1470833"/>
                <a:ext cx="11119117" cy="3046988"/>
              </a:xfrm>
              <a:prstGeom prst="rect">
                <a:avLst/>
              </a:prstGeom>
              <a:blipFill rotWithShape="1">
                <a:blip r:embed="rId4"/>
                <a:stretch>
                  <a:fillRect l="-877" t="-1600" b="-34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5" y="2933697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2074" y="101013"/>
            <a:ext cx="93958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8.3.5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833" y="3902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1407" y="1481089"/>
            <a:ext cx="115637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an </a:t>
            </a:r>
            <a:r>
              <a:rPr lang="en-US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line to indicate how you feel about today’s learning target.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 </a:t>
            </a:r>
          </a:p>
          <a:p>
            <a:pPr marL="46513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equations with variables on both sides.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placement of “X” on the scale.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4804" y="2682285"/>
            <a:ext cx="6448927" cy="214816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66172" y="649387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760" y="616508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987</Words>
  <Application>Microsoft Macintosh PowerPoint</Application>
  <PresentationFormat>Widescreen</PresentationFormat>
  <Paragraphs>174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Wingdings</vt:lpstr>
      <vt:lpstr>Verdana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8th Grade Math  Unit 8, Lesson 3  Solving Equations with Variables on Both Sides  Volume 2, pg. 16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33</cp:revision>
  <dcterms:created xsi:type="dcterms:W3CDTF">2015-03-17T18:51:18Z</dcterms:created>
  <dcterms:modified xsi:type="dcterms:W3CDTF">2023-02-09T17:01:31Z</dcterms:modified>
</cp:coreProperties>
</file>