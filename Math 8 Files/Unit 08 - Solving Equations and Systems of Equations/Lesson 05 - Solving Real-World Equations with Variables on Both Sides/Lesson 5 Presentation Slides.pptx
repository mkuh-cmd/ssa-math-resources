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85" r:id="rId4"/>
    <p:sldId id="286" r:id="rId5"/>
    <p:sldId id="261" r:id="rId6"/>
    <p:sldId id="287" r:id="rId7"/>
    <p:sldId id="311" r:id="rId8"/>
    <p:sldId id="312" r:id="rId9"/>
    <p:sldId id="288" r:id="rId10"/>
    <p:sldId id="353" r:id="rId11"/>
    <p:sldId id="362" r:id="rId12"/>
    <p:sldId id="289" r:id="rId13"/>
    <p:sldId id="290" r:id="rId14"/>
    <p:sldId id="363" r:id="rId15"/>
    <p:sldId id="356" r:id="rId16"/>
    <p:sldId id="323" r:id="rId17"/>
    <p:sldId id="324" r:id="rId18"/>
    <p:sldId id="306" r:id="rId19"/>
    <p:sldId id="307" r:id="rId20"/>
    <p:sldId id="361" r:id="rId21"/>
  </p:sldIdLst>
  <p:sldSz cx="12192000" cy="6858000"/>
  <p:notesSz cx="6858000" cy="9144000"/>
  <p:embeddedFontLst>
    <p:embeddedFont>
      <p:font typeface="Century Gothic" pitchFamily="34" charset="0"/>
      <p:regular r:id="rId23"/>
      <p:bold r:id="rId24"/>
      <p:italic r:id="rId25"/>
      <p:boldItalic r:id="rId26"/>
    </p:embeddedFont>
    <p:embeddedFont>
      <p:font typeface="Cambria Math" pitchFamily="18" charset="0"/>
      <p:regular r:id="rId27"/>
    </p:embeddedFont>
    <p:embeddedFont>
      <p:font typeface="Arial Black" pitchFamily="34" charset="0"/>
      <p:bold r:id="rId28"/>
    </p:embeddedFont>
    <p:embeddedFont>
      <p:font typeface="Verdana" pitchFamily="34" charset="0"/>
      <p:regular r:id="rId29"/>
      <p:bold r:id="rId30"/>
      <p:italic r:id="rId31"/>
      <p:boldItalic r:id="rId32"/>
    </p:embeddedFont>
    <p:embeddedFont>
      <p:font typeface="Calibri"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6301" autoAdjust="0"/>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596623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6208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091368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734125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80771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375324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7329666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50.png"/><Relationship Id="rId5" Type="http://schemas.openxmlformats.org/officeDocument/2006/relationships/image" Target="../media/image1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40.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8,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Real-World Equations with Variables on Both Sides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26</a:t>
            </a: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 xmlns:a16="http://schemas.microsoft.com/office/drawing/2014/main" xmlns:a14="http://schemas.microsoft.com/office/drawing/2010/main" xmlns:mc="http://schemas.openxmlformats.org/markup-compatibility/2006"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MA.8.AR.2.1</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Solve multi-step linear equations in one variable, with rational number coefficients. Include equations with variables on both sides. </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6"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7"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a:t>
            </a:r>
            <a: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r>
            <a:b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real-world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5"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equations with variables on both sides in a real-world context.</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TextBox 1">
            <a:extLst>
              <a:ext uri="{FF2B5EF4-FFF2-40B4-BE49-F238E27FC236}">
                <a16:creationId xmlns="" xmlns:a16="http://schemas.microsoft.com/office/drawing/2014/main" id="{E1D7562E-134F-D14B-AF1A-DF40E11EF758}"/>
              </a:ext>
            </a:extLst>
          </p:cNvPr>
          <p:cNvSpPr txBox="1"/>
          <p:nvPr/>
        </p:nvSpPr>
        <p:spPr>
          <a:xfrm>
            <a:off x="479008" y="1497537"/>
            <a:ext cx="11430494" cy="2677656"/>
          </a:xfrm>
          <a:prstGeom prst="rect">
            <a:avLst/>
          </a:prstGeom>
          <a:noFill/>
        </p:spPr>
        <p:txBody>
          <a:bodyPr wrap="square" rtlCol="0">
            <a:spAutoFit/>
          </a:bodyPr>
          <a:lstStyle/>
          <a:p>
            <a:pPr marL="457200" indent="-457200">
              <a:buFont typeface="+mj-lt"/>
              <a:buAutoNum type="arabicPeriod"/>
            </a:pPr>
            <a:r>
              <a:rPr lang="en-US" sz="2400" dirty="0" smtClean="0">
                <a:latin typeface="Verdana" panose="020B0604030504040204" pitchFamily="34" charset="0"/>
                <a:ea typeface="Verdana" panose="020B0604030504040204" pitchFamily="34" charset="0"/>
                <a:cs typeface="Verdana" panose="020B0604030504040204" pitchFamily="34" charset="0"/>
              </a:rPr>
              <a:t>Describe a time in your life when you made a mistake, but it was a good thing because you were able to learn from that mistake. </a:t>
            </a: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smtClean="0">
                <a:latin typeface="Verdana" panose="020B0604030504040204" pitchFamily="34" charset="0"/>
                <a:ea typeface="Verdana" panose="020B0604030504040204" pitchFamily="34" charset="0"/>
                <a:cs typeface="Verdana" panose="020B0604030504040204" pitchFamily="34" charset="0"/>
              </a:rPr>
              <a:t>How does making mistakes when solving math problems help you?</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26390"/>
            <a:ext cx="108340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8.5.1 Warm-Up: Mistakes are </a:t>
            </a:r>
            <a:r>
              <a:rPr lang="en-US" sz="3600" b="1" dirty="0" smtClean="0">
                <a:solidFill>
                  <a:srgbClr val="3F2A67"/>
                </a:solidFill>
                <a:latin typeface="Verdana"/>
                <a:ea typeface="Verdana"/>
                <a:cs typeface="Verdana"/>
                <a:sym typeface="Verdana"/>
              </a:rPr>
              <a:t/>
            </a:r>
            <a:br>
              <a:rPr lang="en-US" sz="3600" b="1" dirty="0" smtClean="0">
                <a:solidFill>
                  <a:srgbClr val="3F2A67"/>
                </a:solidFill>
                <a:latin typeface="Verdana"/>
                <a:ea typeface="Verdana"/>
                <a:cs typeface="Verdana"/>
                <a:sym typeface="Verdana"/>
              </a:rPr>
            </a:br>
            <a:r>
              <a:rPr lang="en-US" sz="3600" b="1" dirty="0" smtClean="0">
                <a:solidFill>
                  <a:srgbClr val="3F2A67"/>
                </a:solidFill>
                <a:latin typeface="Verdana"/>
                <a:ea typeface="Verdana"/>
                <a:cs typeface="Verdana"/>
                <a:sym typeface="Verdana"/>
              </a:rPr>
              <a:t>Learning </a:t>
            </a:r>
            <a:r>
              <a:rPr lang="en-US" sz="3600" b="1" dirty="0">
                <a:solidFill>
                  <a:srgbClr val="3F2A67"/>
                </a:solidFill>
                <a:latin typeface="Verdana"/>
                <a:ea typeface="Verdana"/>
                <a:cs typeface="Verdana"/>
                <a:sym typeface="Verdana"/>
              </a:rPr>
              <a:t>Opportunities</a:t>
            </a:r>
          </a:p>
        </p:txBody>
      </p:sp>
      <p:pic>
        <p:nvPicPr>
          <p:cNvPr id="14"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059225207"/>
                  </p:ext>
                </p:extLst>
              </p:nvPr>
            </p:nvGraphicFramePr>
            <p:xfrm>
              <a:off x="6789234" y="1342353"/>
              <a:ext cx="4608000" cy="5078640"/>
            </p:xfrm>
            <a:graphic>
              <a:graphicData uri="http://schemas.openxmlformats.org/drawingml/2006/table">
                <a:tbl>
                  <a:tblPr>
                    <a:tableStyleId>{5940675A-B579-460E-94D1-54222C63F5DA}</a:tableStyleId>
                  </a:tblPr>
                  <a:tblGrid>
                    <a:gridCol w="1728000">
                      <a:extLst>
                        <a:ext uri="{9D8B030D-6E8A-4147-A177-3AD203B41FA5}">
                          <a16:colId xmlns="" xmlns:a16="http://schemas.microsoft.com/office/drawing/2014/main" val="20000"/>
                        </a:ext>
                      </a:extLst>
                    </a:gridCol>
                    <a:gridCol w="1440000">
                      <a:extLst>
                        <a:ext uri="{9D8B030D-6E8A-4147-A177-3AD203B41FA5}">
                          <a16:colId xmlns="" xmlns:a16="http://schemas.microsoft.com/office/drawing/2014/main" val="20001"/>
                        </a:ext>
                      </a:extLst>
                    </a:gridCol>
                    <a:gridCol w="1440000">
                      <a:extLst>
                        <a:ext uri="{9D8B030D-6E8A-4147-A177-3AD203B41FA5}">
                          <a16:colId xmlns="" xmlns:a16="http://schemas.microsoft.com/office/drawing/2014/main" val="20002"/>
                        </a:ext>
                      </a:extLst>
                    </a:gridCol>
                  </a:tblGrid>
                  <a:tr h="720000">
                    <a:tc>
                      <a:txBody>
                        <a:bodyPr/>
                        <a:lstStyle/>
                        <a:p>
                          <a:pPr marL="0" marR="88900" algn="ctr">
                            <a:spcBef>
                              <a:spcPts val="0"/>
                            </a:spcBef>
                            <a:spcAft>
                              <a:spcPts val="0"/>
                            </a:spcAft>
                            <a:tabLst/>
                          </a:pPr>
                          <a:r>
                            <a:rPr lang="en-US" sz="2000" b="1" dirty="0">
                              <a:effectLst/>
                              <a:latin typeface="Verdana" panose="020B0604030504040204" pitchFamily="34" charset="0"/>
                              <a:ea typeface="Verdana" panose="020B0604030504040204" pitchFamily="34" charset="0"/>
                              <a:cs typeface="Verdana" panose="020B0604030504040204" pitchFamily="34" charset="0"/>
                            </a:rPr>
                            <a:t>Time (minutes)</a:t>
                          </a: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pPr>
                          <a:r>
                            <a:rPr lang="en-US" sz="2000" b="1" dirty="0">
                              <a:effectLst/>
                              <a:latin typeface="Verdana" panose="020B0604030504040204" pitchFamily="34" charset="0"/>
                              <a:ea typeface="Verdana" panose="020B0604030504040204" pitchFamily="34" charset="0"/>
                              <a:cs typeface="Verdana" panose="020B0604030504040204" pitchFamily="34" charset="0"/>
                            </a:rPr>
                            <a:t>Tank 1 (liters)</a:t>
                          </a: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pPr>
                          <a:r>
                            <a:rPr lang="en-US" sz="2000" b="1" dirty="0">
                              <a:effectLst/>
                              <a:latin typeface="Verdana" panose="020B0604030504040204" pitchFamily="34" charset="0"/>
                              <a:ea typeface="Verdana" panose="020B0604030504040204" pitchFamily="34" charset="0"/>
                              <a:cs typeface="Verdana" panose="020B0604030504040204" pitchFamily="34" charset="0"/>
                            </a:rPr>
                            <a:t>Tank 2 (liters)</a:t>
                          </a: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25</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175</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325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475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625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775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6"/>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30</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925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7"/>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1075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8"/>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40</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1225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9"/>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1375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0"/>
                      </a:ext>
                    </a:extLst>
                  </a:tr>
                  <a:tr h="274531">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50</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1525</m:t>
                                </m:r>
                              </m:oMath>
                            </m:oMathPara>
                          </a14:m>
                          <a:endParaRPr lang="en-US" sz="200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dirty="0">
                            <a:effectLst/>
                            <a:latin typeface="Cambria Math" panose="02040503050406030204" pitchFamily="18" charset="0"/>
                            <a:ea typeface="Cambria Math"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059225207"/>
                  </p:ext>
                </p:extLst>
              </p:nvPr>
            </p:nvGraphicFramePr>
            <p:xfrm>
              <a:off x="6789234" y="1342353"/>
              <a:ext cx="4608000" cy="5078640"/>
            </p:xfrm>
            <a:graphic>
              <a:graphicData uri="http://schemas.openxmlformats.org/drawingml/2006/table">
                <a:tbl>
                  <a:tblPr>
                    <a:tableStyleId>{5940675A-B579-460E-94D1-54222C63F5DA}</a:tableStyleId>
                  </a:tblPr>
                  <a:tblGrid>
                    <a:gridCol w="1728000">
                      <a:extLst>
                        <a:ext uri="{9D8B030D-6E8A-4147-A177-3AD203B41FA5}">
                          <a16:colId xmlns:a16="http://schemas.microsoft.com/office/drawing/2014/main" xmlns:a14="http://schemas.microsoft.com/office/drawing/2010/main" xmlns="" val="20000"/>
                        </a:ext>
                      </a:extLst>
                    </a:gridCol>
                    <a:gridCol w="1440000">
                      <a:extLst>
                        <a:ext uri="{9D8B030D-6E8A-4147-A177-3AD203B41FA5}">
                          <a16:colId xmlns:a16="http://schemas.microsoft.com/office/drawing/2014/main" xmlns:a14="http://schemas.microsoft.com/office/drawing/2010/main" xmlns="" val="20001"/>
                        </a:ext>
                      </a:extLst>
                    </a:gridCol>
                    <a:gridCol w="1440000">
                      <a:extLst>
                        <a:ext uri="{9D8B030D-6E8A-4147-A177-3AD203B41FA5}">
                          <a16:colId xmlns:a16="http://schemas.microsoft.com/office/drawing/2014/main" xmlns:a14="http://schemas.microsoft.com/office/drawing/2010/main" xmlns="" val="20002"/>
                        </a:ext>
                      </a:extLst>
                    </a:gridCol>
                  </a:tblGrid>
                  <a:tr h="720000">
                    <a:tc>
                      <a:txBody>
                        <a:bodyPr/>
                        <a:lstStyle/>
                        <a:p>
                          <a:pPr marL="0" marR="88900" algn="ctr">
                            <a:spcBef>
                              <a:spcPts val="0"/>
                            </a:spcBef>
                            <a:spcAft>
                              <a:spcPts val="0"/>
                            </a:spcAft>
                            <a:tabLst/>
                          </a:pPr>
                          <a:r>
                            <a:rPr lang="en-US" sz="2000" b="1" dirty="0">
                              <a:effectLst/>
                              <a:latin typeface="Verdana" panose="020B0604030504040204" pitchFamily="34" charset="0"/>
                              <a:ea typeface="Verdana" panose="020B0604030504040204" pitchFamily="34" charset="0"/>
                              <a:cs typeface="Verdana" panose="020B0604030504040204" pitchFamily="34" charset="0"/>
                            </a:rPr>
                            <a:t>Time (minutes)</a:t>
                          </a: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pPr>
                          <a:r>
                            <a:rPr lang="en-US" sz="2000" b="1" dirty="0">
                              <a:effectLst/>
                              <a:latin typeface="Verdana" panose="020B0604030504040204" pitchFamily="34" charset="0"/>
                              <a:ea typeface="Verdana" panose="020B0604030504040204" pitchFamily="34" charset="0"/>
                              <a:cs typeface="Verdana" panose="020B0604030504040204" pitchFamily="34" charset="0"/>
                            </a:rPr>
                            <a:t>Tank 1 (liters)</a:t>
                          </a: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pPr>
                          <a:r>
                            <a:rPr lang="en-US" sz="2000" b="1" dirty="0">
                              <a:effectLst/>
                              <a:latin typeface="Verdana" panose="020B0604030504040204" pitchFamily="34" charset="0"/>
                              <a:ea typeface="Verdana" panose="020B0604030504040204" pitchFamily="34" charset="0"/>
                              <a:cs typeface="Verdana" panose="020B0604030504040204" pitchFamily="34" charset="0"/>
                            </a:rPr>
                            <a:t>Tank 2 (liters)</a:t>
                          </a: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184615" r="-166197" b="-10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184615" r="-100000" b="-10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184615" b="-1001538"/>
                          </a:stretch>
                        </a:blipFill>
                      </a:tcPr>
                    </a:tc>
                    <a:extLst>
                      <a:ext uri="{0D108BD9-81ED-4DB2-BD59-A6C34878D82A}">
                        <a16:rowId xmlns:a16="http://schemas.microsoft.com/office/drawing/2014/main" xmlns:a14="http://schemas.microsoft.com/office/drawing/2010/main" xmlns="" val="10001"/>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284615" r="-166197" b="-9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284615" r="-100000" b="-9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284615" b="-901538"/>
                          </a:stretch>
                        </a:blipFill>
                      </a:tcPr>
                    </a:tc>
                    <a:extLst>
                      <a:ext uri="{0D108BD9-81ED-4DB2-BD59-A6C34878D82A}">
                        <a16:rowId xmlns:a16="http://schemas.microsoft.com/office/drawing/2014/main" xmlns:a14="http://schemas.microsoft.com/office/drawing/2010/main" xmlns="" val="10002"/>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384615" r="-166197" b="-8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384615" r="-100000" b="-8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384615" b="-801538"/>
                          </a:stretch>
                        </a:blipFill>
                      </a:tcPr>
                    </a:tc>
                    <a:extLst>
                      <a:ext uri="{0D108BD9-81ED-4DB2-BD59-A6C34878D82A}">
                        <a16:rowId xmlns:a16="http://schemas.microsoft.com/office/drawing/2014/main" xmlns:a14="http://schemas.microsoft.com/office/drawing/2010/main" xmlns="" val="10003"/>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484615" r="-166197" b="-7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484615" r="-100000" b="-7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484615" b="-701538"/>
                          </a:stretch>
                        </a:blipFill>
                      </a:tcPr>
                    </a:tc>
                    <a:extLst>
                      <a:ext uri="{0D108BD9-81ED-4DB2-BD59-A6C34878D82A}">
                        <a16:rowId xmlns:a16="http://schemas.microsoft.com/office/drawing/2014/main" xmlns:a14="http://schemas.microsoft.com/office/drawing/2010/main" xmlns="" val="10004"/>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584615" r="-166197" b="-6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584615" r="-100000" b="-6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584615" b="-601538"/>
                          </a:stretch>
                        </a:blipFill>
                      </a:tcPr>
                    </a:tc>
                    <a:extLst>
                      <a:ext uri="{0D108BD9-81ED-4DB2-BD59-A6C34878D82A}">
                        <a16:rowId xmlns:a16="http://schemas.microsoft.com/office/drawing/2014/main" xmlns:a14="http://schemas.microsoft.com/office/drawing/2010/main" xmlns="" val="10005"/>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684615" r="-166197" b="-5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684615" r="-100000" b="-5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684615" b="-501538"/>
                          </a:stretch>
                        </a:blipFill>
                      </a:tcPr>
                    </a:tc>
                    <a:extLst>
                      <a:ext uri="{0D108BD9-81ED-4DB2-BD59-A6C34878D82A}">
                        <a16:rowId xmlns:a16="http://schemas.microsoft.com/office/drawing/2014/main" xmlns:a14="http://schemas.microsoft.com/office/drawing/2010/main" xmlns="" val="10006"/>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784615" r="-166197" b="-4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784615" r="-100000" b="-4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784615" b="-401538"/>
                          </a:stretch>
                        </a:blipFill>
                      </a:tcPr>
                    </a:tc>
                    <a:extLst>
                      <a:ext uri="{0D108BD9-81ED-4DB2-BD59-A6C34878D82A}">
                        <a16:rowId xmlns:a16="http://schemas.microsoft.com/office/drawing/2014/main" xmlns:a14="http://schemas.microsoft.com/office/drawing/2010/main" xmlns="" val="10007"/>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884615" r="-166197" b="-3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884615" r="-100000" b="-3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884615" b="-301538"/>
                          </a:stretch>
                        </a:blipFill>
                      </a:tcPr>
                    </a:tc>
                    <a:extLst>
                      <a:ext uri="{0D108BD9-81ED-4DB2-BD59-A6C34878D82A}">
                        <a16:rowId xmlns:a16="http://schemas.microsoft.com/office/drawing/2014/main" xmlns:a14="http://schemas.microsoft.com/office/drawing/2010/main" xmlns="" val="10008"/>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984615" r="-166197" b="-2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984615" r="-100000" b="-2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984615" b="-201538"/>
                          </a:stretch>
                        </a:blipFill>
                      </a:tcPr>
                    </a:tc>
                    <a:extLst>
                      <a:ext uri="{0D108BD9-81ED-4DB2-BD59-A6C34878D82A}">
                        <a16:rowId xmlns:a16="http://schemas.microsoft.com/office/drawing/2014/main" xmlns:a14="http://schemas.microsoft.com/office/drawing/2010/main" xmlns="" val="10009"/>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1084615" r="-166197" b="-1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1084615" r="-100000" b="-10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1084615" b="-101538"/>
                          </a:stretch>
                        </a:blipFill>
                      </a:tcPr>
                    </a:tc>
                    <a:extLst>
                      <a:ext uri="{0D108BD9-81ED-4DB2-BD59-A6C34878D82A}">
                        <a16:rowId xmlns:a16="http://schemas.microsoft.com/office/drawing/2014/main" xmlns:a14="http://schemas.microsoft.com/office/drawing/2010/main" xmlns="" val="10010"/>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2" t="-1184615" r="-166197" b="-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763" t="-1184615" r="-100000" b="-1538"/>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0763" t="-1184615" b="-1538"/>
                          </a:stretch>
                        </a:blipFill>
                      </a:tcPr>
                    </a:tc>
                    <a:extLst>
                      <a:ext uri="{0D108BD9-81ED-4DB2-BD59-A6C34878D82A}">
                        <a16:rowId xmlns:a16="http://schemas.microsoft.com/office/drawing/2014/main" xmlns:a14="http://schemas.microsoft.com/office/drawing/2010/main" xmlns="" val="10011"/>
                      </a:ext>
                    </a:extLst>
                  </a:tr>
                </a:tbl>
              </a:graphicData>
            </a:graphic>
          </p:graphicFrame>
        </mc:Fallback>
      </mc:AlternateContent>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93006"/>
            <a:ext cx="9033046"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8.5.2 Exploration: Water Tanks</a:t>
            </a:r>
          </a:p>
        </p:txBody>
      </p:sp>
      <p:pic>
        <p:nvPicPr>
          <p:cNvPr id="14"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6352" y="18462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152D1D4D-DCB8-A246-B186-D40316579D77}"/>
                  </a:ext>
                </a:extLst>
              </p:cNvPr>
              <p:cNvSpPr txBox="1"/>
              <p:nvPr/>
            </p:nvSpPr>
            <p:spPr>
              <a:xfrm>
                <a:off x="601762" y="1336336"/>
                <a:ext cx="5941913" cy="193899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amount of water in two tanks, measured every </a:t>
                </a:r>
                <a14:m>
                  <m:oMath xmlns:m="http://schemas.openxmlformats.org/officeDocument/2006/math">
                    <m:r>
                      <a:rPr lang="en-US" sz="2000" i="1">
                        <a:latin typeface="Cambria Math" panose="02040503050406030204" pitchFamily="18" charset="0"/>
                        <a:ea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minutes, was recorded in the table shown.</a:t>
                </a:r>
              </a:p>
            </p:txBody>
          </p:sp>
        </mc:Choice>
        <mc:Fallback xmlns="">
          <p:sp>
            <p:nvSpPr>
              <p:cNvPr id="15" name="TextBox 14">
                <a:extLst>
                  <a:ext uri="{FF2B5EF4-FFF2-40B4-BE49-F238E27FC236}">
                    <a16:creationId xmlns:a16="http://schemas.microsoft.com/office/drawing/2014/main" xmlns="" xmlns:a14="http://schemas.microsoft.com/office/drawing/2010/main" id="{152D1D4D-DCB8-A246-B186-D40316579D77}"/>
                  </a:ext>
                </a:extLst>
              </p:cNvPr>
              <p:cNvSpPr txBox="1">
                <a:spLocks noRot="1" noChangeAspect="1" noMove="1" noResize="1" noEditPoints="1" noAdjustHandles="1" noChangeArrowheads="1" noChangeShapeType="1" noTextEdit="1"/>
              </p:cNvSpPr>
              <p:nvPr/>
            </p:nvSpPr>
            <p:spPr>
              <a:xfrm>
                <a:off x="601762" y="1336336"/>
                <a:ext cx="5941913" cy="1938992"/>
              </a:xfrm>
              <a:prstGeom prst="rect">
                <a:avLst/>
              </a:prstGeom>
              <a:blipFill rotWithShape="1">
                <a:blip r:embed="rId6"/>
                <a:stretch>
                  <a:fillRect l="-1129" t="-1572" r="-2259" b="-4717"/>
                </a:stretch>
              </a:blipFill>
            </p:spPr>
            <p:txBody>
              <a:bodyPr/>
              <a:lstStyle/>
              <a:p>
                <a:r>
                  <a:rPr lang="en-US">
                    <a:noFill/>
                  </a:rPr>
                  <a:t> </a:t>
                </a:r>
              </a:p>
            </p:txBody>
          </p:sp>
        </mc:Fallback>
      </mc:AlternateContent>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TextBox 9">
            <a:extLst>
              <a:ext uri="{FF2B5EF4-FFF2-40B4-BE49-F238E27FC236}">
                <a16:creationId xmlns:mc="http://schemas.openxmlformats.org/markup-compatibility/2006" xmlns:a14="http://schemas.microsoft.com/office/drawing/2010/main" xmlns:a16="http://schemas.microsoft.com/office/drawing/2014/main" xmlns="" id="{2AA35BC6-D428-FC41-BDE5-6438AB8840FC}"/>
              </a:ext>
            </a:extLst>
          </p:cNvPr>
          <p:cNvSpPr txBox="1"/>
          <p:nvPr/>
        </p:nvSpPr>
        <p:spPr>
          <a:xfrm>
            <a:off x="540565" y="410666"/>
            <a:ext cx="11018226" cy="5016758"/>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Review the table with your partner and describe the changes in water levels for each tank over time.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Based on the table, predict the approximate number of minutes after which the tanks will reach the same water level.</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Estimate the amount of water in each tank when their levels are the same. </a:t>
            </a:r>
          </a:p>
        </p:txBody>
      </p:sp>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722220130"/>
              </p:ext>
            </p:extLst>
          </p:nvPr>
        </p:nvGraphicFramePr>
        <p:xfrm>
          <a:off x="1584576" y="1264825"/>
          <a:ext cx="6480000" cy="2160000"/>
        </p:xfrm>
        <a:graphic>
          <a:graphicData uri="http://schemas.openxmlformats.org/drawingml/2006/table">
            <a:tbl>
              <a:tblPr firstRow="1" firstCol="1" bandRow="1">
                <a:tableStyleId>{5940675A-B579-460E-94D1-54222C63F5DA}</a:tableStyleId>
              </a:tblPr>
              <a:tblGrid>
                <a:gridCol w="1440000">
                  <a:extLst>
                    <a:ext uri="{9D8B030D-6E8A-4147-A177-3AD203B41FA5}">
                      <a16:colId xmlns="" xmlns:a16="http://schemas.microsoft.com/office/drawing/2014/main" val="20000"/>
                    </a:ext>
                  </a:extLst>
                </a:gridCol>
                <a:gridCol w="5040000">
                  <a:extLst>
                    <a:ext uri="{9D8B030D-6E8A-4147-A177-3AD203B41FA5}">
                      <a16:colId xmlns="" xmlns:a16="http://schemas.microsoft.com/office/drawing/2014/main" val="20001"/>
                    </a:ext>
                  </a:extLst>
                </a:gridCol>
              </a:tblGrid>
              <a:tr h="1080000">
                <a:tc>
                  <a:txBody>
                    <a:bodyPr/>
                    <a:lstStyle/>
                    <a:p>
                      <a:pPr marL="0" marR="8890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Tank 1</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spcBef>
                          <a:spcPts val="0"/>
                        </a:spcBef>
                        <a:spcAft>
                          <a:spcPts val="100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1080000">
                <a:tc>
                  <a:txBody>
                    <a:bodyPr/>
                    <a:lstStyle/>
                    <a:p>
                      <a:pPr marL="0" marR="8890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Tank 2</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spcBef>
                          <a:spcPts val="0"/>
                        </a:spcBef>
                        <a:spcAft>
                          <a:spcPts val="100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67437933"/>
                  </p:ext>
                </p:extLst>
              </p:nvPr>
            </p:nvGraphicFramePr>
            <p:xfrm>
              <a:off x="3603599" y="3629982"/>
              <a:ext cx="4680000" cy="1872000"/>
            </p:xfrm>
            <a:graphic>
              <a:graphicData uri="http://schemas.openxmlformats.org/drawingml/2006/table">
                <a:tbl>
                  <a:tblPr firstRow="1" firstCol="1" bandRow="1">
                    <a:tableStyleId>{5940675A-B579-460E-94D1-54222C63F5DA}</a:tableStyleId>
                  </a:tblPr>
                  <a:tblGrid>
                    <a:gridCol w="2160000">
                      <a:extLst>
                        <a:ext uri="{9D8B030D-6E8A-4147-A177-3AD203B41FA5}">
                          <a16:colId xmlns="" xmlns:a16="http://schemas.microsoft.com/office/drawing/2014/main" val="20000"/>
                        </a:ext>
                      </a:extLst>
                    </a:gridCol>
                    <a:gridCol w="360000">
                      <a:extLst>
                        <a:ext uri="{9D8B030D-6E8A-4147-A177-3AD203B41FA5}">
                          <a16:colId xmlns="" xmlns:a16="http://schemas.microsoft.com/office/drawing/2014/main" val="20001"/>
                        </a:ext>
                      </a:extLst>
                    </a:gridCol>
                    <a:gridCol w="2160000">
                      <a:extLst>
                        <a:ext uri="{9D8B030D-6E8A-4147-A177-3AD203B41FA5}">
                          <a16:colId xmlns="" xmlns:a16="http://schemas.microsoft.com/office/drawing/2014/main" val="20002"/>
                        </a:ext>
                      </a:extLst>
                    </a:gridCol>
                  </a:tblGrid>
                  <a:tr h="468000">
                    <a:tc>
                      <a:txBody>
                        <a:bodyPr/>
                        <a:lstStyle/>
                        <a:p>
                          <a:pPr marL="0" marR="88900" algn="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30</m:t>
                                </m:r>
                                <m:r>
                                  <a:rPr lang="en-US" sz="2000">
                                    <a:effectLst/>
                                    <a:latin typeface="Cambria Math" panose="02040503050406030204" pitchFamily="18" charset="0"/>
                                    <a:ea typeface="Cambria Math" panose="02040503050406030204" pitchFamily="18" charset="0"/>
                                  </a:rPr>
                                  <m:t>𝑡</m:t>
                                </m:r>
                                <m:r>
                                  <a:rPr lang="en-US" sz="2000">
                                    <a:effectLst/>
                                    <a:latin typeface="Cambria Math" panose="02040503050406030204" pitchFamily="18" charset="0"/>
                                    <a:ea typeface="Cambria Math" panose="02040503050406030204" pitchFamily="18" charset="0"/>
                                  </a:rPr>
                                  <m:t>+25</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lgn="ctr">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m:t>
                                </m:r>
                                <m:r>
                                  <a:rPr lang="en-US" sz="2000">
                                    <a:effectLst/>
                                    <a:latin typeface="Cambria Math" panose="02040503050406030204" pitchFamily="18" charset="0"/>
                                    <a:ea typeface="Cambria Math" panose="02040503050406030204" pitchFamily="18" charset="0"/>
                                  </a:rPr>
                                  <m:t>𝑡</m:t>
                                </m:r>
                                <m:r>
                                  <a:rPr lang="en-US" sz="2000">
                                    <a:effectLst/>
                                    <a:latin typeface="Cambria Math" panose="02040503050406030204" pitchFamily="18" charset="0"/>
                                    <a:ea typeface="Cambria Math" panose="02040503050406030204" pitchFamily="18" charset="0"/>
                                  </a:rPr>
                                  <m:t>+1000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0"/>
                      </a:ext>
                    </a:extLst>
                  </a:tr>
                  <a:tr h="468000">
                    <a:tc>
                      <a:txBody>
                        <a:bodyPr/>
                        <a:lstStyle/>
                        <a:p>
                          <a:pPr marL="0" marR="88900" algn="r">
                            <a:spcBef>
                              <a:spcPts val="0"/>
                            </a:spcBef>
                            <a:spcAft>
                              <a:spcPts val="0"/>
                            </a:spcAft>
                            <a:tabLst>
                              <a:tab pos="57150" algn="l"/>
                            </a:tabLst>
                          </a:pPr>
                          <a:r>
                            <a:rPr lang="en-US" sz="2000">
                              <a:effectLst/>
                              <a:latin typeface="Cambria Math" panose="02040503050406030204" pitchFamily="18" charset="0"/>
                              <a:ea typeface="Cambria Math" panose="02040503050406030204" pitchFamily="18" charset="0"/>
                            </a:rPr>
                            <a:t> </a:t>
                          </a: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lgn="ctr">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1000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1"/>
                      </a:ext>
                    </a:extLst>
                  </a:tr>
                  <a:tr h="468000">
                    <a:tc>
                      <a:txBody>
                        <a:bodyPr/>
                        <a:lstStyle/>
                        <a:p>
                          <a:pPr marL="0" marR="88900" algn="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50</m:t>
                                </m:r>
                                <m:r>
                                  <a:rPr lang="en-US" sz="2000">
                                    <a:effectLst/>
                                    <a:latin typeface="Cambria Math" panose="02040503050406030204" pitchFamily="18" charset="0"/>
                                    <a:ea typeface="Cambria Math" panose="02040503050406030204" pitchFamily="18" charset="0"/>
                                  </a:rPr>
                                  <m:t>𝑡</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lgn="ctr">
                            <a:spcBef>
                              <a:spcPts val="0"/>
                            </a:spcBef>
                            <a:spcAft>
                              <a:spcPts val="0"/>
                            </a:spcAft>
                            <a:tabLst>
                              <a:tab pos="57150" algn="l"/>
                            </a:tabLst>
                          </a:pPr>
                          <a:r>
                            <a:rPr lang="en-US" sz="200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 </a:t>
                          </a: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2"/>
                      </a:ext>
                    </a:extLst>
                  </a:tr>
                  <a:tr h="468000">
                    <a:tc>
                      <a:txBody>
                        <a:bodyPr/>
                        <a:lstStyle/>
                        <a:p>
                          <a:pPr marL="0" marR="88900" algn="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𝑡</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lgn="ctr">
                            <a:spcBef>
                              <a:spcPts val="0"/>
                            </a:spcBef>
                            <a:spcAft>
                              <a:spcPts val="0"/>
                            </a:spcAft>
                            <a:tabLst>
                              <a:tab pos="57150" algn="l"/>
                            </a:tabLst>
                          </a:pPr>
                          <a:r>
                            <a:rPr lang="en-US" sz="200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 </a:t>
                          </a: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67437933"/>
                  </p:ext>
                </p:extLst>
              </p:nvPr>
            </p:nvGraphicFramePr>
            <p:xfrm>
              <a:off x="3603599" y="3629982"/>
              <a:ext cx="4680000" cy="1872000"/>
            </p:xfrm>
            <a:graphic>
              <a:graphicData uri="http://schemas.openxmlformats.org/drawingml/2006/table">
                <a:tbl>
                  <a:tblPr firstRow="1" firstCol="1" bandRow="1">
                    <a:tableStyleId>{5940675A-B579-460E-94D1-54222C63F5DA}</a:tableStyleId>
                  </a:tblPr>
                  <a:tblGrid>
                    <a:gridCol w="2160000">
                      <a:extLst>
                        <a:ext uri="{9D8B030D-6E8A-4147-A177-3AD203B41FA5}">
                          <a16:colId xmlns:a16="http://schemas.microsoft.com/office/drawing/2014/main" xmlns:a14="http://schemas.microsoft.com/office/drawing/2010/main" xmlns="" val="20000"/>
                        </a:ext>
                      </a:extLst>
                    </a:gridCol>
                    <a:gridCol w="360000">
                      <a:extLst>
                        <a:ext uri="{9D8B030D-6E8A-4147-A177-3AD203B41FA5}">
                          <a16:colId xmlns:a16="http://schemas.microsoft.com/office/drawing/2014/main" xmlns:a14="http://schemas.microsoft.com/office/drawing/2010/main" xmlns="" val="20001"/>
                        </a:ext>
                      </a:extLst>
                    </a:gridCol>
                    <a:gridCol w="2160000">
                      <a:extLst>
                        <a:ext uri="{9D8B030D-6E8A-4147-A177-3AD203B41FA5}">
                          <a16:colId xmlns:a16="http://schemas.microsoft.com/office/drawing/2014/main" xmlns:a14="http://schemas.microsoft.com/office/drawing/2010/main" xmlns="" val="20002"/>
                        </a:ext>
                      </a:extLst>
                    </a:gridCol>
                  </a:tblGrid>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r="-116949" b="-315584"/>
                          </a:stretch>
                        </a:blipFill>
                      </a:tcPr>
                    </a:tc>
                    <a:tc>
                      <a:txBody>
                        <a:bodyPr/>
                        <a:lstStyle/>
                        <a:p>
                          <a:pPr marL="0" marR="88900" algn="ctr">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16949" b="-315584"/>
                          </a:stretch>
                        </a:blipFill>
                      </a:tcPr>
                    </a:tc>
                    <a:extLst>
                      <a:ext uri="{0D108BD9-81ED-4DB2-BD59-A6C34878D82A}">
                        <a16:rowId xmlns:a16="http://schemas.microsoft.com/office/drawing/2014/main" xmlns:a14="http://schemas.microsoft.com/office/drawing/2010/main" xmlns="" val="10000"/>
                      </a:ext>
                    </a:extLst>
                  </a:tr>
                  <a:tr h="468000">
                    <a:tc>
                      <a:txBody>
                        <a:bodyPr/>
                        <a:lstStyle/>
                        <a:p>
                          <a:pPr marL="0" marR="88900" algn="r">
                            <a:spcBef>
                              <a:spcPts val="0"/>
                            </a:spcBef>
                            <a:spcAft>
                              <a:spcPts val="0"/>
                            </a:spcAft>
                            <a:tabLst>
                              <a:tab pos="57150" algn="l"/>
                            </a:tabLst>
                          </a:pPr>
                          <a:r>
                            <a:rPr lang="en-US" sz="2000">
                              <a:effectLst/>
                              <a:latin typeface="Cambria Math" panose="02040503050406030204" pitchFamily="18" charset="0"/>
                              <a:ea typeface="Cambria Math" panose="02040503050406030204" pitchFamily="18" charset="0"/>
                            </a:rPr>
                            <a:t> </a:t>
                          </a: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lgn="ctr">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16949" t="-100000" b="-215584"/>
                          </a:stretch>
                        </a:blipFill>
                      </a:tcPr>
                    </a:tc>
                    <a:extLst>
                      <a:ext uri="{0D108BD9-81ED-4DB2-BD59-A6C34878D82A}">
                        <a16:rowId xmlns:a16="http://schemas.microsoft.com/office/drawing/2014/main" xmlns:a14="http://schemas.microsoft.com/office/drawing/2010/main" xmlns="" val="10001"/>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t="-200000" r="-116949" b="-115584"/>
                          </a:stretch>
                        </a:blipFill>
                      </a:tcPr>
                    </a:tc>
                    <a:tc>
                      <a:txBody>
                        <a:bodyPr/>
                        <a:lstStyle/>
                        <a:p>
                          <a:pPr marL="0" marR="88900" algn="ctr">
                            <a:spcBef>
                              <a:spcPts val="0"/>
                            </a:spcBef>
                            <a:spcAft>
                              <a:spcPts val="0"/>
                            </a:spcAft>
                            <a:tabLst>
                              <a:tab pos="57150" algn="l"/>
                            </a:tabLst>
                          </a:pPr>
                          <a:r>
                            <a:rPr lang="en-US" sz="200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 </a:t>
                          </a: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10002"/>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t="-300000" r="-116949" b="-15584"/>
                          </a:stretch>
                        </a:blipFill>
                      </a:tcPr>
                    </a:tc>
                    <a:tc>
                      <a:txBody>
                        <a:bodyPr/>
                        <a:lstStyle/>
                        <a:p>
                          <a:pPr marL="0" marR="88900" algn="ctr">
                            <a:spcBef>
                              <a:spcPts val="0"/>
                            </a:spcBef>
                            <a:spcAft>
                              <a:spcPts val="0"/>
                            </a:spcAft>
                            <a:tabLst>
                              <a:tab pos="57150" algn="l"/>
                            </a:tabLst>
                          </a:pPr>
                          <a:r>
                            <a:rPr lang="en-US" sz="2000">
                              <a:effectLst/>
                              <a:latin typeface="Cambria Math" panose="02040503050406030204" pitchFamily="18" charset="0"/>
                              <a:ea typeface="Cambria Math" panose="02040503050406030204" pitchFamily="18" charset="0"/>
                            </a:rPr>
                            <a: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88900">
                            <a:spcBef>
                              <a:spcPts val="0"/>
                            </a:spcBef>
                            <a:spcAft>
                              <a:spcPts val="0"/>
                            </a:spcAft>
                            <a:tabLst>
                              <a:tab pos="57150" algn="l"/>
                            </a:tabLst>
                          </a:pPr>
                          <a:r>
                            <a:rPr lang="en-US" sz="2000" dirty="0">
                              <a:effectLst/>
                              <a:latin typeface="Cambria Math" panose="02040503050406030204" pitchFamily="18" charset="0"/>
                              <a:ea typeface="Cambria Math" panose="02040503050406030204" pitchFamily="18" charset="0"/>
                            </a:rPr>
                            <a:t> </a:t>
                          </a: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2AA35BC6-D428-FC41-BDE5-6438AB8840FC}"/>
                  </a:ext>
                </a:extLst>
              </p:cNvPr>
              <p:cNvSpPr txBox="1"/>
              <p:nvPr/>
            </p:nvSpPr>
            <p:spPr>
              <a:xfrm>
                <a:off x="540565" y="410666"/>
                <a:ext cx="11018226" cy="286232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Since one tank is leaking water and the other is filling with water, at some point they will have the same amount of water in each. The water level in Tank 1, after </a:t>
                </a:r>
                <a14:m>
                  <m:oMath xmlns:m="http://schemas.openxmlformats.org/officeDocument/2006/math">
                    <m:r>
                      <a:rPr lang="en-US" sz="2000" i="1">
                        <a:latin typeface="Cambria Math" panose="02040503050406030204" pitchFamily="18" charset="0"/>
                        <a:ea typeface="Cambria Math" panose="02040503050406030204" pitchFamily="18" charset="0"/>
                      </a:rPr>
                      <m:t>𝑡</m:t>
                    </m:r>
                  </m:oMath>
                </a14:m>
                <a:r>
                  <a:rPr lang="en-US" sz="2000" dirty="0">
                    <a:latin typeface="Verdana" panose="020B0604030504040204" pitchFamily="34" charset="0"/>
                    <a:ea typeface="Verdana" panose="020B0604030504040204" pitchFamily="34" charset="0"/>
                    <a:cs typeface="Verdana" panose="020B0604030504040204" pitchFamily="34" charset="0"/>
                  </a:rPr>
                  <a:t> minutes, can be represented by the expression </a:t>
                </a:r>
                <a14:m>
                  <m:oMath xmlns:m="http://schemas.openxmlformats.org/officeDocument/2006/math">
                    <m:r>
                      <a:rPr lang="en-US" sz="2000" i="1">
                        <a:latin typeface="Cambria Math" panose="02040503050406030204" pitchFamily="18" charset="0"/>
                        <a:ea typeface="Cambria Math" panose="02040503050406030204" pitchFamily="18" charset="0"/>
                      </a:rPr>
                      <m:t>30</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 The water level in Tank 2, after</a:t>
                </a:r>
                <a:r>
                  <a:rPr lang="en-US" sz="2000" i="1"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minutes, can be represented by the expression </a:t>
                </a:r>
                <a14:m>
                  <m:oMath xmlns:m="http://schemas.openxmlformats.org/officeDocument/2006/math">
                    <m:r>
                      <a:rPr lang="en-US" sz="2000" i="1">
                        <a:latin typeface="Cambria Math" panose="02040503050406030204" pitchFamily="18" charset="0"/>
                        <a:ea typeface="Cambria Math" panose="02040503050406030204" pitchFamily="18" charset="0"/>
                      </a:rPr>
                      <m:t>−20</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+1000</m:t>
                    </m:r>
                  </m:oMath>
                </a14:m>
                <a:r>
                  <a:rPr lang="en-US" sz="2000" dirty="0">
                    <a:latin typeface="Verdana" panose="020B0604030504040204" pitchFamily="34" charset="0"/>
                    <a:ea typeface="Verdana" panose="020B0604030504040204" pitchFamily="34" charset="0"/>
                    <a:cs typeface="Verdana" panose="020B0604030504040204" pitchFamily="34" charset="0"/>
                  </a:rPr>
                  <a:t>. The equation </a:t>
                </a:r>
                <a14:m>
                  <m:oMath xmlns:m="http://schemas.openxmlformats.org/officeDocument/2006/math">
                    <m:r>
                      <a:rPr lang="en-US" sz="2000" i="1">
                        <a:latin typeface="Cambria Math" panose="02040503050406030204" pitchFamily="18" charset="0"/>
                        <a:ea typeface="Cambria Math" panose="02040503050406030204" pitchFamily="18" charset="0"/>
                      </a:rPr>
                      <m:t>30</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+25=−20</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+1000</m:t>
                    </m:r>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determine when the water levels are the same.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missing steps to determine after how many minutes, </a:t>
                </a:r>
                <a14:m>
                  <m:oMath xmlns:m="http://schemas.openxmlformats.org/officeDocument/2006/math">
                    <m:r>
                      <a:rPr lang="en-US" sz="2000" i="1">
                        <a:latin typeface="Cambria Math" panose="02040503050406030204" pitchFamily="18" charset="0"/>
                        <a:ea typeface="Cambria Math" panose="02040503050406030204" pitchFamily="18" charset="0"/>
                      </a:rPr>
                      <m:t>𝑡</m:t>
                    </m:r>
                  </m:oMath>
                </a14:m>
                <a:r>
                  <a:rPr lang="en-US" sz="2000" dirty="0">
                    <a:latin typeface="Verdana" panose="020B0604030504040204" pitchFamily="34" charset="0"/>
                    <a:ea typeface="Verdana" panose="020B0604030504040204" pitchFamily="34" charset="0"/>
                    <a:cs typeface="Verdana" panose="020B0604030504040204" pitchFamily="34" charset="0"/>
                  </a:rPr>
                  <a:t>, the water levels will be the same in each tank.</a:t>
                </a:r>
              </a:p>
            </p:txBody>
          </p:sp>
        </mc:Choice>
        <mc:Fallback xmlns="">
          <p:sp>
            <p:nvSpPr>
              <p:cNvPr id="10" name="TextBox 9">
                <a:extLst>
                  <a:ext uri="{FF2B5EF4-FFF2-40B4-BE49-F238E27FC236}">
                    <a16:creationId xmlns="" xmlns:a16="http://schemas.microsoft.com/office/drawing/2014/main"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1018226" cy="2862322"/>
              </a:xfrm>
              <a:prstGeom prst="rect">
                <a:avLst/>
              </a:prstGeom>
              <a:blipFill rotWithShape="1">
                <a:blip r:embed="rId5"/>
                <a:stretch>
                  <a:fillRect l="-609" t="-1277" r="-277" b="-2766"/>
                </a:stretch>
              </a:blipFill>
            </p:spPr>
            <p:txBody>
              <a:bodyPr/>
              <a:lstStyle/>
              <a:p>
                <a:r>
                  <a:rPr lang="en-US">
                    <a:noFill/>
                  </a:rPr>
                  <a:t> </a:t>
                </a:r>
              </a:p>
            </p:txBody>
          </p:sp>
        </mc:Fallback>
      </mc:AlternateContent>
    </p:spTree>
    <p:extLst>
      <p:ext uri="{BB962C8B-B14F-4D97-AF65-F5344CB8AC3E}">
        <p14:creationId xmlns:p14="http://schemas.microsoft.com/office/powerpoint/2010/main" val="40731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TextBox 9">
            <a:extLst>
              <a:ext uri="{FF2B5EF4-FFF2-40B4-BE49-F238E27FC236}">
                <a16:creationId xmlns:mc="http://schemas.openxmlformats.org/markup-compatibility/2006" xmlns:a14="http://schemas.microsoft.com/office/drawing/2010/main" xmlns:a16="http://schemas.microsoft.com/office/drawing/2014/main" xmlns="" id="{2AA35BC6-D428-FC41-BDE5-6438AB8840FC}"/>
              </a:ext>
            </a:extLst>
          </p:cNvPr>
          <p:cNvSpPr txBox="1"/>
          <p:nvPr/>
        </p:nvSpPr>
        <p:spPr>
          <a:xfrm>
            <a:off x="540565" y="410666"/>
            <a:ext cx="11018226" cy="5016758"/>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solution to complete the missing steps to determine how many liters of water were in each tank when their levels were the same. </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Compare your estimates to the actual calculated times and water levels when the tanks contained the same amount of water.</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Which estimates were the closest, yours or your partner’s?</a:t>
            </a:r>
          </a:p>
        </p:txBody>
      </p:sp>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41811658"/>
                  </p:ext>
                </p:extLst>
              </p:nvPr>
            </p:nvGraphicFramePr>
            <p:xfrm>
              <a:off x="3576000" y="1403569"/>
              <a:ext cx="5040000" cy="2388240"/>
            </p:xfrm>
            <a:graphic>
              <a:graphicData uri="http://schemas.openxmlformats.org/drawingml/2006/table">
                <a:tbl>
                  <a:tblPr firstRow="1" firstCol="1" bandRow="1">
                    <a:tableStyleId>{7E9639D4-E3E2-4D34-9284-5A2195B3D0D7}</a:tableStyleId>
                  </a:tblPr>
                  <a:tblGrid>
                    <a:gridCol w="2520000">
                      <a:extLst>
                        <a:ext uri="{9D8B030D-6E8A-4147-A177-3AD203B41FA5}">
                          <a16:colId xmlns="" xmlns:a16="http://schemas.microsoft.com/office/drawing/2014/main" val="20000"/>
                        </a:ext>
                      </a:extLst>
                    </a:gridCol>
                    <a:gridCol w="2520000">
                      <a:extLst>
                        <a:ext uri="{9D8B030D-6E8A-4147-A177-3AD203B41FA5}">
                          <a16:colId xmlns="" xmlns:a16="http://schemas.microsoft.com/office/drawing/2014/main" val="20001"/>
                        </a:ext>
                      </a:extLst>
                    </a:gridCol>
                  </a:tblGrid>
                  <a:tr h="468000">
                    <a:tc>
                      <a:txBody>
                        <a:bodyPr/>
                        <a:lstStyle/>
                        <a:p>
                          <a:pPr marL="0" marR="88900" algn="ctr">
                            <a:spcBef>
                              <a:spcPts val="0"/>
                            </a:spcBef>
                            <a:spcAft>
                              <a:spcPts val="0"/>
                            </a:spcAft>
                            <a:tabLst>
                              <a:tab pos="57150" algn="l"/>
                            </a:tabLs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Tank 1</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Tank 2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1188720">
                    <a:tc>
                      <a:txBody>
                        <a:bodyPr/>
                        <a:lstStyle/>
                        <a:p>
                          <a:pPr marL="0" marR="88900" algn="ctr">
                            <a:lnSpc>
                              <a:spcPct val="150000"/>
                            </a:lnSpc>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30</m:t>
                                </m:r>
                                <m:r>
                                  <a:rPr lang="en-US" sz="2000">
                                    <a:effectLst/>
                                    <a:latin typeface="Cambria Math" panose="02040503050406030204" pitchFamily="18" charset="0"/>
                                    <a:ea typeface="Cambria Math" panose="02040503050406030204" pitchFamily="18" charset="0"/>
                                  </a:rPr>
                                  <m:t>𝑡</m:t>
                                </m:r>
                                <m:r>
                                  <a:rPr lang="en-US" sz="2000">
                                    <a:effectLst/>
                                    <a:latin typeface="Cambria Math" panose="02040503050406030204" pitchFamily="18" charset="0"/>
                                    <a:ea typeface="Cambria Math" panose="02040503050406030204" pitchFamily="18" charset="0"/>
                                  </a:rPr>
                                  <m:t>+25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88900" algn="ctr">
                            <a:lnSpc>
                              <a:spcPct val="150000"/>
                            </a:lnSpc>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30</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m:t>
                                    </m:r>
                                  </m:e>
                                </m:d>
                                <m:r>
                                  <a:rPr lang="en-US" sz="2000">
                                    <a:effectLst/>
                                    <a:latin typeface="Cambria Math" panose="02040503050406030204" pitchFamily="18" charset="0"/>
                                    <a:ea typeface="Cambria Math" panose="02040503050406030204" pitchFamily="18" charset="0"/>
                                  </a:rPr>
                                  <m:t>+25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88900" algn="ctr">
                            <a:lnSpc>
                              <a:spcPct val="150000"/>
                            </a:lnSpc>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_____+25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88900" algn="ctr">
                            <a:lnSpc>
                              <a:spcPct val="150000"/>
                            </a:lnSpc>
                            <a:spcBef>
                              <a:spcPts val="0"/>
                            </a:spcBef>
                            <a:spcAft>
                              <a:spcPts val="0"/>
                            </a:spcAft>
                            <a:tabLst>
                              <a:tab pos="57150" algn="l"/>
                            </a:tabLst>
                          </a:pPr>
                          <a14:m>
                            <m:oMath xmlns:m="http://schemas.openxmlformats.org/officeDocument/2006/math">
                              <m:r>
                                <a:rPr lang="en-US" sz="2000">
                                  <a:effectLst/>
                                  <a:latin typeface="Cambria Math" panose="02040503050406030204" pitchFamily="18" charset="0"/>
                                  <a:ea typeface="Cambria Math" panose="02040503050406030204" pitchFamily="18" charset="0"/>
                                </a:rPr>
                                <m:t>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r>
                            <a:rPr lang="en-US" sz="2000" b="0" dirty="0">
                              <a:effectLst/>
                              <a:latin typeface="Verdana" panose="020B0604030504040204" pitchFamily="34" charset="0"/>
                              <a:ea typeface="Verdana" panose="020B0604030504040204" pitchFamily="34" charset="0"/>
                              <a:cs typeface="Verdana" panose="020B0604030504040204" pitchFamily="34" charset="0"/>
                            </a:rPr>
                            <a:t>liters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lnSpc>
                              <a:spcPct val="150000"/>
                            </a:lnSpc>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m:t>
                                </m:r>
                                <m:r>
                                  <a:rPr lang="en-US" sz="2000">
                                    <a:effectLst/>
                                    <a:latin typeface="Cambria Math" panose="02040503050406030204" pitchFamily="18" charset="0"/>
                                    <a:ea typeface="Cambria Math" panose="02040503050406030204" pitchFamily="18" charset="0"/>
                                  </a:rPr>
                                  <m:t>𝑡</m:t>
                                </m:r>
                                <m:r>
                                  <a:rPr lang="en-US" sz="2000">
                                    <a:effectLst/>
                                    <a:latin typeface="Cambria Math" panose="02040503050406030204" pitchFamily="18" charset="0"/>
                                    <a:ea typeface="Cambria Math" panose="02040503050406030204" pitchFamily="18" charset="0"/>
                                  </a:rPr>
                                  <m:t>+1000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88900" algn="ctr">
                            <a:lnSpc>
                              <a:spcPct val="150000"/>
                            </a:lnSpc>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m:t>
                                    </m:r>
                                  </m:e>
                                </m:d>
                                <m:r>
                                  <a:rPr lang="en-US" sz="2000">
                                    <a:effectLst/>
                                    <a:latin typeface="Cambria Math" panose="02040503050406030204" pitchFamily="18" charset="0"/>
                                    <a:ea typeface="Cambria Math" panose="02040503050406030204" pitchFamily="18" charset="0"/>
                                  </a:rPr>
                                  <m:t>+1000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88900" algn="ctr">
                            <a:lnSpc>
                              <a:spcPct val="150000"/>
                            </a:lnSpc>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_____+1000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88900" algn="ctr">
                            <a:lnSpc>
                              <a:spcPct val="150000"/>
                            </a:lnSpc>
                            <a:spcBef>
                              <a:spcPts val="0"/>
                            </a:spcBef>
                            <a:spcAft>
                              <a:spcPts val="0"/>
                            </a:spcAft>
                            <a:tabLst>
                              <a:tab pos="57150" algn="l"/>
                            </a:tabLst>
                          </a:pPr>
                          <a14:m>
                            <m:oMath xmlns:m="http://schemas.openxmlformats.org/officeDocument/2006/math">
                              <m:r>
                                <a:rPr lang="en-US" sz="2000">
                                  <a:effectLst/>
                                  <a:latin typeface="Cambria Math" panose="02040503050406030204" pitchFamily="18" charset="0"/>
                                  <a:ea typeface="Cambria Math" panose="02040503050406030204" pitchFamily="18" charset="0"/>
                                </a:rPr>
                                <m:t>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liters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41811658"/>
                  </p:ext>
                </p:extLst>
              </p:nvPr>
            </p:nvGraphicFramePr>
            <p:xfrm>
              <a:off x="3576000" y="1403569"/>
              <a:ext cx="5040000" cy="2388240"/>
            </p:xfrm>
            <a:graphic>
              <a:graphicData uri="http://schemas.openxmlformats.org/drawingml/2006/table">
                <a:tbl>
                  <a:tblPr firstRow="1" firstCol="1" bandRow="1">
                    <a:tableStyleId>{7E9639D4-E3E2-4D34-9284-5A2195B3D0D7}</a:tableStyleId>
                  </a:tblPr>
                  <a:tblGrid>
                    <a:gridCol w="2520000">
                      <a:extLst>
                        <a:ext uri="{9D8B030D-6E8A-4147-A177-3AD203B41FA5}">
                          <a16:colId xmlns:a16="http://schemas.microsoft.com/office/drawing/2014/main" xmlns:a14="http://schemas.microsoft.com/office/drawing/2010/main" xmlns="" val="20000"/>
                        </a:ext>
                      </a:extLst>
                    </a:gridCol>
                    <a:gridCol w="2520000">
                      <a:extLst>
                        <a:ext uri="{9D8B030D-6E8A-4147-A177-3AD203B41FA5}">
                          <a16:colId xmlns:a16="http://schemas.microsoft.com/office/drawing/2014/main" xmlns:a14="http://schemas.microsoft.com/office/drawing/2010/main" xmlns="" val="20001"/>
                        </a:ext>
                      </a:extLst>
                    </a:gridCol>
                  </a:tblGrid>
                  <a:tr h="468000">
                    <a:tc>
                      <a:txBody>
                        <a:bodyPr/>
                        <a:lstStyle/>
                        <a:p>
                          <a:pPr marL="0" marR="88900" algn="ctr">
                            <a:spcBef>
                              <a:spcPts val="0"/>
                            </a:spcBef>
                            <a:spcAft>
                              <a:spcPts val="0"/>
                            </a:spcAft>
                            <a:tabLst>
                              <a:tab pos="57150" algn="l"/>
                            </a:tabLs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Tank 1</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Tank 2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920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42" t="-24444" r="-100242" b="-2540"/>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242" t="-24444" r="-242" b="-2540"/>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35528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28</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62866"/>
            <a:ext cx="1095738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8.5.3 Guided Instruction: Solving Real-World Equations with Variables on Both Sides</a:t>
            </a:r>
          </a:p>
        </p:txBody>
      </p:sp>
      <p:pic>
        <p:nvPicPr>
          <p:cNvPr id="14"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C01B13E8-EC8D-E443-A329-C5E3593DD13A}"/>
                  </a:ext>
                </a:extLst>
              </p:cNvPr>
              <p:cNvSpPr txBox="1"/>
              <p:nvPr/>
            </p:nvSpPr>
            <p:spPr>
              <a:xfrm>
                <a:off x="545130" y="1386025"/>
                <a:ext cx="10985454" cy="4247317"/>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At Winning Trophies, a trophy costs </a:t>
                </a:r>
                <a14:m>
                  <m:oMath xmlns:m="http://schemas.openxmlformats.org/officeDocument/2006/math">
                    <m:r>
                      <a:rPr lang="en-US" sz="2000" i="1">
                        <a:latin typeface="Cambria Math" panose="02040503050406030204" pitchFamily="18" charset="0"/>
                        <a:ea typeface="Cambria Math" panose="02040503050406030204" pitchFamily="18" charset="0"/>
                      </a:rPr>
                      <m:t>$12.50</m:t>
                    </m:r>
                  </m:oMath>
                </a14:m>
                <a:r>
                  <a:rPr lang="en-US" sz="2000" dirty="0">
                    <a:latin typeface="Verdana" panose="020B0604030504040204" pitchFamily="34" charset="0"/>
                    <a:ea typeface="Verdana" panose="020B0604030504040204" pitchFamily="34" charset="0"/>
                    <a:cs typeface="Verdana" panose="020B0604030504040204" pitchFamily="34" charset="0"/>
                  </a:rPr>
                  <a:t> and engraving costs </a:t>
                </a:r>
                <a14:m>
                  <m:oMath xmlns:m="http://schemas.openxmlformats.org/officeDocument/2006/math">
                    <m:r>
                      <a:rPr lang="en-US" sz="2000" i="1">
                        <a:latin typeface="Cambria Math" panose="02040503050406030204" pitchFamily="18" charset="0"/>
                        <a:ea typeface="Cambria Math" panose="02040503050406030204" pitchFamily="18" charset="0"/>
                      </a:rPr>
                      <m:t>$0.40</m:t>
                    </m:r>
                  </m:oMath>
                </a14:m>
                <a:r>
                  <a:rPr lang="en-US" sz="2000" dirty="0">
                    <a:latin typeface="Verdana" panose="020B0604030504040204" pitchFamily="34" charset="0"/>
                    <a:ea typeface="Verdana" panose="020B0604030504040204" pitchFamily="34" charset="0"/>
                    <a:cs typeface="Verdana" panose="020B0604030504040204" pitchFamily="34" charset="0"/>
                  </a:rPr>
                  <a:t> per letter. At Sport Awards, the same trophy costs </a:t>
                </a:r>
                <a14:m>
                  <m:oMath xmlns:m="http://schemas.openxmlformats.org/officeDocument/2006/math">
                    <m:r>
                      <a:rPr lang="en-US" sz="2000" i="1">
                        <a:latin typeface="Cambria Math" panose="02040503050406030204" pitchFamily="18" charset="0"/>
                        <a:ea typeface="Cambria Math" panose="02040503050406030204" pitchFamily="18" charset="0"/>
                      </a:rPr>
                      <m:t>$14.75</m:t>
                    </m:r>
                  </m:oMath>
                </a14:m>
                <a:r>
                  <a:rPr lang="en-US" sz="2000" dirty="0">
                    <a:latin typeface="Verdana" panose="020B0604030504040204" pitchFamily="34" charset="0"/>
                    <a:ea typeface="Verdana" panose="020B0604030504040204" pitchFamily="34" charset="0"/>
                    <a:cs typeface="Verdana" panose="020B0604030504040204" pitchFamily="34" charset="0"/>
                  </a:rPr>
                  <a:t> and engraving costs </a:t>
                </a:r>
                <a14:m>
                  <m:oMath xmlns:m="http://schemas.openxmlformats.org/officeDocument/2006/math">
                    <m:r>
                      <a:rPr lang="en-US" sz="2000" i="1">
                        <a:latin typeface="Cambria Math" panose="02040503050406030204" pitchFamily="18" charset="0"/>
                        <a:ea typeface="Cambria Math" panose="02040503050406030204" pitchFamily="18" charset="0"/>
                      </a:rPr>
                      <m:t>$0.25</m:t>
                    </m:r>
                  </m:oMath>
                </a14:m>
                <a:r>
                  <a:rPr lang="en-US" sz="2000" dirty="0">
                    <a:latin typeface="Verdana" panose="020B0604030504040204" pitchFamily="34" charset="0"/>
                    <a:ea typeface="Verdana" panose="020B0604030504040204" pitchFamily="34" charset="0"/>
                    <a:cs typeface="Verdana" panose="020B0604030504040204" pitchFamily="34" charset="0"/>
                  </a:rPr>
                  <a:t> per letter.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Verdana" panose="020B0604030504040204" pitchFamily="34" charset="0"/>
                    <a:ea typeface="Verdana" panose="020B0604030504040204" pitchFamily="34" charset="0"/>
                    <a:cs typeface="Verdana" panose="020B0604030504040204" pitchFamily="34" charset="0"/>
                  </a:rPr>
                  <a:t>The situation can be represented by the following expressions, where </a:t>
                </a:r>
                <a14:m>
                  <m:oMath xmlns:m="http://schemas.openxmlformats.org/officeDocument/2006/math">
                    <m:r>
                      <a:rPr lang="en-US" sz="2000" i="1">
                        <a:latin typeface="Cambria Math" panose="02040503050406030204" pitchFamily="18" charset="0"/>
                        <a:ea typeface="Cambria Math" panose="02040503050406030204" pitchFamily="18" charset="0"/>
                      </a:rPr>
                      <m:t>𝑒</m:t>
                    </m:r>
                  </m:oMath>
                </a14:m>
                <a:r>
                  <a:rPr lang="en-US" sz="2000" dirty="0">
                    <a:latin typeface="Verdana" panose="020B0604030504040204" pitchFamily="34" charset="0"/>
                    <a:ea typeface="Verdana" panose="020B0604030504040204" pitchFamily="34" charset="0"/>
                    <a:cs typeface="Verdana" panose="020B0604030504040204" pitchFamily="34" charset="0"/>
                  </a:rPr>
                  <a:t> is the number of letters engraved.</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spcAft>
                    <a:spcPts val="1200"/>
                  </a:spcAft>
                </a:pPr>
                <a:r>
                  <a:rPr lang="en-US" sz="2000" dirty="0">
                    <a:latin typeface="Verdana" panose="020B0604030504040204" pitchFamily="34" charset="0"/>
                    <a:ea typeface="Verdana" panose="020B0604030504040204" pitchFamily="34" charset="0"/>
                    <a:cs typeface="Verdana" panose="020B0604030504040204" pitchFamily="34" charset="0"/>
                  </a:rPr>
                  <a:t>Winning Trophies: </a:t>
                </a:r>
                <a14:m>
                  <m:oMath xmlns:m="http://schemas.openxmlformats.org/officeDocument/2006/math">
                    <m:r>
                      <a:rPr lang="en-US" sz="2000" i="1">
                        <a:latin typeface="Cambria Math" panose="02040503050406030204" pitchFamily="18" charset="0"/>
                        <a:ea typeface="Cambria Math" panose="02040503050406030204" pitchFamily="18" charset="0"/>
                      </a:rPr>
                      <m:t>12.50+0.40</m:t>
                    </m:r>
                    <m:r>
                      <a:rPr lang="en-US" sz="2000" i="1">
                        <a:latin typeface="Cambria Math" panose="02040503050406030204" pitchFamily="18" charset="0"/>
                        <a:ea typeface="Cambria Math" panose="02040503050406030204" pitchFamily="18" charset="0"/>
                      </a:rPr>
                      <m:t>𝑒</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Sport Awards: </a:t>
                </a:r>
                <a14:m>
                  <m:oMath xmlns:m="http://schemas.openxmlformats.org/officeDocument/2006/math">
                    <m:r>
                      <a:rPr lang="en-US" sz="2000" i="1">
                        <a:latin typeface="Cambria Math" panose="02040503050406030204" pitchFamily="18" charset="0"/>
                        <a:ea typeface="Cambria Math" panose="02040503050406030204" pitchFamily="18" charset="0"/>
                      </a:rPr>
                      <m:t>14.75+0.25</m:t>
                    </m:r>
                    <m:r>
                      <a:rPr lang="en-US" sz="2000" i="1">
                        <a:latin typeface="Cambria Math" panose="02040503050406030204" pitchFamily="18" charset="0"/>
                        <a:ea typeface="Cambria Math" panose="02040503050406030204" pitchFamily="18" charset="0"/>
                      </a:rPr>
                      <m:t>𝑒</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Solve the equation </a:t>
                </a:r>
                <a14:m>
                  <m:oMath xmlns:m="http://schemas.openxmlformats.org/officeDocument/2006/math">
                    <m:r>
                      <a:rPr lang="en-US" sz="2000" i="1">
                        <a:latin typeface="Cambria Math" panose="02040503050406030204" pitchFamily="18" charset="0"/>
                        <a:ea typeface="Cambria Math" panose="02040503050406030204" pitchFamily="18" charset="0"/>
                      </a:rPr>
                      <m:t>12.50+0.40</m:t>
                    </m:r>
                    <m:r>
                      <a:rPr lang="en-US" sz="2000" i="1">
                        <a:latin typeface="Cambria Math" panose="02040503050406030204" pitchFamily="18" charset="0"/>
                        <a:ea typeface="Cambria Math" panose="02040503050406030204" pitchFamily="18" charset="0"/>
                      </a:rPr>
                      <m:t>𝑒</m:t>
                    </m:r>
                    <m:r>
                      <a:rPr lang="en-US" sz="2000" i="1">
                        <a:latin typeface="Cambria Math" panose="02040503050406030204" pitchFamily="18" charset="0"/>
                        <a:ea typeface="Cambria Math" panose="02040503050406030204" pitchFamily="18" charset="0"/>
                      </a:rPr>
                      <m:t>=14.75+0.25</m:t>
                    </m:r>
                    <m:r>
                      <a:rPr lang="en-US" sz="2000" i="1">
                        <a:latin typeface="Cambria Math" panose="02040503050406030204" pitchFamily="18" charset="0"/>
                        <a:ea typeface="Cambria Math" panose="02040503050406030204" pitchFamily="18" charset="0"/>
                      </a:rPr>
                      <m:t>𝑒</m:t>
                    </m:r>
                  </m:oMath>
                </a14:m>
                <a:r>
                  <a:rPr lang="en-US" sz="2000" dirty="0">
                    <a:latin typeface="Verdana" panose="020B0604030504040204" pitchFamily="34" charset="0"/>
                    <a:ea typeface="Verdana" panose="020B0604030504040204" pitchFamily="34" charset="0"/>
                    <a:cs typeface="Verdana" panose="020B0604030504040204" pitchFamily="34" charset="0"/>
                  </a:rPr>
                  <a:t> to find how many letters need to be engraved on the trophies for the final cost to be the same at both stores.</a:t>
                </a:r>
              </a:p>
            </p:txBody>
          </p:sp>
        </mc:Choice>
        <mc:Fallback xmlns="">
          <p:sp>
            <p:nvSpPr>
              <p:cNvPr id="15" name="TextBox 14">
                <a:extLst>
                  <a:ext uri="{FF2B5EF4-FFF2-40B4-BE49-F238E27FC236}">
                    <a16:creationId xmlns:a16="http://schemas.microsoft.com/office/drawing/2014/main" xmlns=""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545130" y="1386025"/>
                <a:ext cx="10985454" cy="4247317"/>
              </a:xfrm>
              <a:prstGeom prst="rect">
                <a:avLst/>
              </a:prstGeom>
              <a:blipFill rotWithShape="1">
                <a:blip r:embed="rId5"/>
                <a:stretch>
                  <a:fillRect l="-555" t="-861" r="-666" b="-1578"/>
                </a:stretch>
              </a:blipFill>
            </p:spPr>
            <p:txBody>
              <a:bodyPr/>
              <a:lstStyle/>
              <a:p>
                <a:r>
                  <a:rPr lang="en-US">
                    <a:noFill/>
                  </a:rPr>
                  <a:t> </a:t>
                </a:r>
              </a:p>
            </p:txBody>
          </p:sp>
        </mc:Fallback>
      </mc:AlternateContent>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482611141"/>
                  </p:ext>
                </p:extLst>
              </p:nvPr>
            </p:nvGraphicFramePr>
            <p:xfrm>
              <a:off x="1543500" y="1641843"/>
              <a:ext cx="7200000" cy="2975413"/>
            </p:xfrm>
            <a:graphic>
              <a:graphicData uri="http://schemas.openxmlformats.org/drawingml/2006/table">
                <a:tbl>
                  <a:tblPr firstRow="1" firstCol="1" bandRow="1">
                    <a:tableStyleId>{5940675A-B579-460E-94D1-54222C63F5DA}</a:tableStyleId>
                  </a:tblPr>
                  <a:tblGrid>
                    <a:gridCol w="3600000">
                      <a:extLst>
                        <a:ext uri="{9D8B030D-6E8A-4147-A177-3AD203B41FA5}">
                          <a16:colId xmlns="" xmlns:a16="http://schemas.microsoft.com/office/drawing/2014/main" val="20000"/>
                        </a:ext>
                      </a:extLst>
                    </a:gridCol>
                    <a:gridCol w="3600000">
                      <a:extLst>
                        <a:ext uri="{9D8B030D-6E8A-4147-A177-3AD203B41FA5}">
                          <a16:colId xmlns="" xmlns:a16="http://schemas.microsoft.com/office/drawing/2014/main" val="20001"/>
                        </a:ext>
                      </a:extLst>
                    </a:gridCol>
                  </a:tblGrid>
                  <a:tr h="720000">
                    <a:tc>
                      <a:txBody>
                        <a:bodyPr/>
                        <a:lstStyle/>
                        <a:p>
                          <a:pPr marL="0" marR="88900" algn="ctr">
                            <a:spcBef>
                              <a:spcPts val="0"/>
                            </a:spcBef>
                            <a:spcAft>
                              <a:spcPts val="0"/>
                            </a:spcAft>
                            <a:tabLst>
                              <a:tab pos="57150" algn="l"/>
                            </a:tabLs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Cost at </a:t>
                          </a:r>
                          <a:br>
                            <a:rPr lang="en-US" sz="2000" b="1" dirty="0">
                              <a:solidFill>
                                <a:srgbClr val="000000"/>
                              </a:solidFill>
                              <a:effectLst/>
                              <a:latin typeface="Verdana" panose="020B0604030504040204" pitchFamily="34" charset="0"/>
                              <a:ea typeface="Verdana" pitchFamily="34" charset="0"/>
                              <a:cs typeface="Arial" panose="020B0604020202020204" pitchFamily="34" charset="0"/>
                            </a:rPr>
                          </a:br>
                          <a:r>
                            <a:rPr lang="en-US" sz="2000" b="1" dirty="0">
                              <a:solidFill>
                                <a:srgbClr val="000000"/>
                              </a:solidFill>
                              <a:effectLst/>
                              <a:latin typeface="Verdana" panose="020B0604030504040204" pitchFamily="34" charset="0"/>
                              <a:ea typeface="Verdana" pitchFamily="34" charset="0"/>
                              <a:cs typeface="Arial" panose="020B0604020202020204" pitchFamily="34" charset="0"/>
                            </a:rPr>
                            <a:t>Winning Trophies</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Cost at </a:t>
                          </a:r>
                          <a:br>
                            <a:rPr lang="en-US" sz="2000" b="1" dirty="0">
                              <a:solidFill>
                                <a:srgbClr val="000000"/>
                              </a:solidFill>
                              <a:effectLst/>
                              <a:latin typeface="Verdana" panose="020B0604030504040204" pitchFamily="34" charset="0"/>
                              <a:ea typeface="Verdana" pitchFamily="34" charset="0"/>
                              <a:cs typeface="Arial" panose="020B0604020202020204" pitchFamily="34" charset="0"/>
                            </a:rPr>
                          </a:br>
                          <a:r>
                            <a:rPr lang="en-US" sz="2000" b="1" dirty="0">
                              <a:solidFill>
                                <a:srgbClr val="000000"/>
                              </a:solidFill>
                              <a:effectLst/>
                              <a:latin typeface="Verdana" panose="020B0604030504040204" pitchFamily="34" charset="0"/>
                              <a:ea typeface="Verdana" pitchFamily="34" charset="0"/>
                              <a:cs typeface="Arial" panose="020B0604020202020204" pitchFamily="34" charset="0"/>
                            </a:rPr>
                            <a:t>Sport Awards</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2255413">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12.50+0.40</m:t>
                                </m:r>
                                <m:r>
                                  <a:rPr lang="en-US" sz="2000">
                                    <a:effectLst/>
                                    <a:latin typeface="Cambria Math" panose="02040503050406030204" pitchFamily="18" charset="0"/>
                                    <a:ea typeface="Cambria Math" panose="02040503050406030204" pitchFamily="18" charset="0"/>
                                  </a:rPr>
                                  <m:t>𝑒</m:t>
                                </m:r>
                              </m:oMath>
                            </m:oMathPara>
                          </a14:m>
                          <a:endParaRPr lang="en-US"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14.75+0.25</m:t>
                                </m:r>
                                <m:r>
                                  <a:rPr lang="en-US" sz="2000">
                                    <a:effectLst/>
                                    <a:latin typeface="Cambria Math" panose="02040503050406030204" pitchFamily="18" charset="0"/>
                                    <a:ea typeface="Cambria Math" panose="02040503050406030204" pitchFamily="18" charset="0"/>
                                  </a:rPr>
                                  <m:t>𝑒</m:t>
                                </m:r>
                              </m:oMath>
                            </m:oMathPara>
                          </a14:m>
                          <a:endParaRPr lang="en-US"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482611141"/>
                  </p:ext>
                </p:extLst>
              </p:nvPr>
            </p:nvGraphicFramePr>
            <p:xfrm>
              <a:off x="1543500" y="1641843"/>
              <a:ext cx="7200000" cy="2975413"/>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tblGrid>
                  <a:tr h="720000">
                    <a:tc>
                      <a:txBody>
                        <a:bodyPr/>
                        <a:lstStyle/>
                        <a:p>
                          <a:pPr marL="0" marR="88900" algn="ctr">
                            <a:spcBef>
                              <a:spcPts val="0"/>
                            </a:spcBef>
                            <a:spcAft>
                              <a:spcPts val="0"/>
                            </a:spcAft>
                            <a:tabLst>
                              <a:tab pos="57150" algn="l"/>
                            </a:tabLs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Cost at </a:t>
                          </a:r>
                          <a:br>
                            <a:rPr lang="en-US" sz="2000" b="1" dirty="0">
                              <a:solidFill>
                                <a:srgbClr val="000000"/>
                              </a:solidFill>
                              <a:effectLst/>
                              <a:latin typeface="Verdana" panose="020B0604030504040204" pitchFamily="34" charset="0"/>
                              <a:ea typeface="Verdana" pitchFamily="34" charset="0"/>
                              <a:cs typeface="Arial" panose="020B0604020202020204" pitchFamily="34" charset="0"/>
                            </a:rPr>
                          </a:br>
                          <a:r>
                            <a:rPr lang="en-US" sz="2000" b="1" dirty="0">
                              <a:solidFill>
                                <a:srgbClr val="000000"/>
                              </a:solidFill>
                              <a:effectLst/>
                              <a:latin typeface="Verdana" panose="020B0604030504040204" pitchFamily="34" charset="0"/>
                              <a:ea typeface="Verdana" pitchFamily="34" charset="0"/>
                              <a:cs typeface="Arial" panose="020B0604020202020204" pitchFamily="34" charset="0"/>
                            </a:rPr>
                            <a:t>Winning Trophies</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Cost at </a:t>
                          </a:r>
                          <a:br>
                            <a:rPr lang="en-US" sz="2000" b="1" dirty="0">
                              <a:solidFill>
                                <a:srgbClr val="000000"/>
                              </a:solidFill>
                              <a:effectLst/>
                              <a:latin typeface="Verdana" panose="020B0604030504040204" pitchFamily="34" charset="0"/>
                              <a:ea typeface="Verdana" pitchFamily="34" charset="0"/>
                              <a:cs typeface="Arial" panose="020B0604020202020204" pitchFamily="34" charset="0"/>
                            </a:rPr>
                          </a:br>
                          <a:r>
                            <a:rPr lang="en-US" sz="2000" b="1" dirty="0">
                              <a:solidFill>
                                <a:srgbClr val="000000"/>
                              </a:solidFill>
                              <a:effectLst/>
                              <a:latin typeface="Verdana" panose="020B0604030504040204" pitchFamily="34" charset="0"/>
                              <a:ea typeface="Verdana" pitchFamily="34" charset="0"/>
                              <a:cs typeface="Arial" panose="020B0604020202020204" pitchFamily="34" charset="0"/>
                            </a:rPr>
                            <a:t>Sport Awards</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2255413">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32703" r="-100000" b="-270"/>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169" t="-32703" r="-169" b="-270"/>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mc="http://schemas.openxmlformats.org/markup-compatibility/2006" xmlns:a14="http://schemas.microsoft.com/office/drawing/2010/main" xmlns="" xmlns:a16="http://schemas.microsoft.com/office/drawing/2014/main" id="{C8F82859-BA98-3646-BF3B-9E17E52A2E35}"/>
              </a:ext>
            </a:extLst>
          </p:cNvPr>
          <p:cNvSpPr txBox="1"/>
          <p:nvPr/>
        </p:nvSpPr>
        <p:spPr>
          <a:xfrm>
            <a:off x="511205" y="533066"/>
            <a:ext cx="10953207" cy="830997"/>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Check your work by determining the final cost for the trophy at either store.</a:t>
            </a:r>
          </a:p>
        </p:txBody>
      </p:sp>
    </p:spTree>
    <p:extLst>
      <p:ext uri="{BB962C8B-B14F-4D97-AF65-F5344CB8AC3E}">
        <p14:creationId xmlns:p14="http://schemas.microsoft.com/office/powerpoint/2010/main" val="567427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C8F82859-BA98-3646-BF3B-9E17E52A2E35}"/>
                  </a:ext>
                </a:extLst>
              </p:cNvPr>
              <p:cNvSpPr txBox="1"/>
              <p:nvPr/>
            </p:nvSpPr>
            <p:spPr>
              <a:xfrm>
                <a:off x="511205" y="533066"/>
                <a:ext cx="10953207" cy="440120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Keely is hiking at an altitude of </a:t>
                </a:r>
                <a14:m>
                  <m:oMath xmlns:m="http://schemas.openxmlformats.org/officeDocument/2006/math">
                    <m:r>
                      <a:rPr lang="en-US" sz="2000" i="1">
                        <a:latin typeface="Cambria Math" panose="02040503050406030204" pitchFamily="18" charset="0"/>
                        <a:ea typeface="Cambria Math" panose="02040503050406030204" pitchFamily="18" charset="0"/>
                      </a:rPr>
                      <m:t>13,000</m:t>
                    </m:r>
                  </m:oMath>
                </a14:m>
                <a:r>
                  <a:rPr lang="en-US" sz="2000" dirty="0">
                    <a:latin typeface="Verdana" panose="020B0604030504040204" pitchFamily="34" charset="0"/>
                    <a:ea typeface="Verdana" panose="020B0604030504040204" pitchFamily="34" charset="0"/>
                    <a:cs typeface="Verdana" panose="020B0604030504040204" pitchFamily="34" charset="0"/>
                  </a:rPr>
                  <a:t> feet and is ascending </a:t>
                </a:r>
                <a14:m>
                  <m:oMath xmlns:m="http://schemas.openxmlformats.org/officeDocument/2006/math">
                    <m:r>
                      <a:rPr lang="en-US" sz="2000" i="1">
                        <a:latin typeface="Cambria Math" panose="02040503050406030204" pitchFamily="18" charset="0"/>
                        <a:ea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feet per minute. Leonard is hiking the same trail but is at an altitude of </a:t>
                </a:r>
                <a14:m>
                  <m:oMath xmlns:m="http://schemas.openxmlformats.org/officeDocument/2006/math">
                    <m:r>
                      <a:rPr lang="en-US" sz="2000" i="1">
                        <a:latin typeface="Cambria Math" panose="02040503050406030204" pitchFamily="18" charset="0"/>
                        <a:ea typeface="Cambria Math" panose="02040503050406030204" pitchFamily="18" charset="0"/>
                      </a:rPr>
                      <m:t>13,750</m:t>
                    </m:r>
                  </m:oMath>
                </a14:m>
                <a:r>
                  <a:rPr lang="en-US" sz="2000" dirty="0">
                    <a:latin typeface="Verdana" panose="020B0604030504040204" pitchFamily="34" charset="0"/>
                    <a:ea typeface="Verdana" panose="020B0604030504040204" pitchFamily="34" charset="0"/>
                    <a:cs typeface="Verdana" panose="020B0604030504040204" pitchFamily="34" charset="0"/>
                  </a:rPr>
                  <a:t> feet and is descending </a:t>
                </a:r>
                <a14:m>
                  <m:oMath xmlns:m="http://schemas.openxmlformats.org/officeDocument/2006/math">
                    <m:r>
                      <a:rPr lang="en-US" sz="2000" i="1">
                        <a:latin typeface="Cambria Math" panose="02040503050406030204" pitchFamily="18" charset="0"/>
                        <a:ea typeface="Cambria Math" panose="02040503050406030204" pitchFamily="18" charset="0"/>
                      </a:rPr>
                      <m:t>30</m:t>
                    </m:r>
                  </m:oMath>
                </a14:m>
                <a:r>
                  <a:rPr lang="en-US" sz="2000" dirty="0">
                    <a:latin typeface="Verdana" panose="020B0604030504040204" pitchFamily="34" charset="0"/>
                    <a:ea typeface="Verdana" panose="020B0604030504040204" pitchFamily="34" charset="0"/>
                    <a:cs typeface="Verdana" panose="020B0604030504040204" pitchFamily="34" charset="0"/>
                  </a:rPr>
                  <a:t> feet each minute.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latin typeface="Cambria Math" panose="02040503050406030204" pitchFamily="18" charset="0"/>
                        <a:ea typeface="Cambria Math" panose="02040503050406030204" pitchFamily="18"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 represents the number of minutes, the equation </a:t>
                </a:r>
                <a14:m>
                  <m:oMath xmlns:m="http://schemas.openxmlformats.org/officeDocument/2006/math">
                    <m:r>
                      <a:rPr lang="en-US" sz="2000" i="1">
                        <a:latin typeface="Cambria Math" panose="02040503050406030204" pitchFamily="18" charset="0"/>
                        <a:ea typeface="Cambria Math" panose="02040503050406030204" pitchFamily="18" charset="0"/>
                      </a:rPr>
                      <m:t>13000+20</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=13750−30</m:t>
                    </m:r>
                    <m:r>
                      <a:rPr lang="en-US" sz="2000" i="1">
                        <a:latin typeface="Cambria Math" panose="02040503050406030204" pitchFamily="18" charset="0"/>
                        <a:ea typeface="Cambria Math" panose="02040503050406030204" pitchFamily="18"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determine when the hikers will meet.</a:t>
                </a:r>
              </a:p>
              <a:p>
                <a:pPr marL="465138"/>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Solve the equation </a:t>
                </a:r>
                <a14:m>
                  <m:oMath xmlns:m="http://schemas.openxmlformats.org/officeDocument/2006/math">
                    <m:r>
                      <a:rPr lang="en-US" sz="2000" i="1">
                        <a:latin typeface="Cambria Math" panose="02040503050406030204" pitchFamily="18" charset="0"/>
                        <a:ea typeface="Cambria Math" panose="02040503050406030204" pitchFamily="18" charset="0"/>
                      </a:rPr>
                      <m:t>13000+20</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=13750−30</m:t>
                    </m:r>
                    <m:r>
                      <a:rPr lang="en-US" sz="2000" i="1">
                        <a:latin typeface="Cambria Math" panose="02040503050406030204" pitchFamily="18" charset="0"/>
                        <a:ea typeface="Cambria Math" panose="02040503050406030204" pitchFamily="18"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In terms of the situation, what does the value of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 represent?</a:t>
                </a: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At what altitude, in feet, will the two hikers meet?</a:t>
                </a:r>
              </a:p>
            </p:txBody>
          </p:sp>
        </mc:Choice>
        <mc:Fallback xmlns="">
          <p:sp>
            <p:nvSpPr>
              <p:cNvPr id="9" name="TextBox 8">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4401205"/>
              </a:xfrm>
              <a:prstGeom prst="rect">
                <a:avLst/>
              </a:prstGeom>
              <a:blipFill rotWithShape="1">
                <a:blip r:embed="rId4"/>
                <a:stretch>
                  <a:fillRect l="-612" t="-831" b="-1524"/>
                </a:stretch>
              </a:blipFill>
            </p:spPr>
            <p:txBody>
              <a:bodyPr/>
              <a:lstStyle/>
              <a:p>
                <a:r>
                  <a:rPr lang="en-US">
                    <a:noFill/>
                  </a:rPr>
                  <a:t> </a:t>
                </a:r>
              </a:p>
            </p:txBody>
          </p:sp>
        </mc:Fallback>
      </mc:AlternateContent>
    </p:spTree>
    <p:extLst>
      <p:ext uri="{BB962C8B-B14F-4D97-AF65-F5344CB8AC3E}">
        <p14:creationId xmlns:p14="http://schemas.microsoft.com/office/powerpoint/2010/main" val="1640120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29</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136174"/>
            <a:ext cx="10477934"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8.5.4 Guided Practice: Solving Real-World Equations with Variables on Both Sides</a:t>
            </a:r>
          </a:p>
        </p:txBody>
      </p:sp>
      <p:pic>
        <p:nvPicPr>
          <p:cNvPr id="14"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506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31D40250-DEDD-2C41-8538-3D4DD18CCC4A}"/>
                  </a:ext>
                </a:extLst>
              </p:cNvPr>
              <p:cNvSpPr txBox="1"/>
              <p:nvPr/>
            </p:nvSpPr>
            <p:spPr>
              <a:xfrm>
                <a:off x="609600" y="1386025"/>
                <a:ext cx="10920984" cy="347787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Stephanie has a VIP membership to a movie theater, so she pays </a:t>
                </a:r>
                <a14:m>
                  <m:oMath xmlns:m="http://schemas.openxmlformats.org/officeDocument/2006/math">
                    <m:r>
                      <a:rPr lang="en-US" sz="2000" i="1">
                        <a:latin typeface="Cambria Math" panose="02040503050406030204" pitchFamily="18" charset="0"/>
                        <a:ea typeface="Cambria Math" panose="02040503050406030204" pitchFamily="18" charset="0"/>
                      </a:rPr>
                      <m:t>$35.00</m:t>
                    </m:r>
                  </m:oMath>
                </a14:m>
                <a:r>
                  <a:rPr lang="en-US" sz="2000" dirty="0">
                    <a:latin typeface="Verdana" panose="020B0604030504040204" pitchFamily="34" charset="0"/>
                    <a:ea typeface="Verdana" panose="020B0604030504040204" pitchFamily="34" charset="0"/>
                    <a:cs typeface="Verdana" panose="020B0604030504040204" pitchFamily="34" charset="0"/>
                  </a:rPr>
                  <a:t> a year and </a:t>
                </a:r>
                <a14:m>
                  <m:oMath xmlns:m="http://schemas.openxmlformats.org/officeDocument/2006/math">
                    <m:r>
                      <a:rPr lang="en-US" sz="2000" i="1">
                        <a:latin typeface="Cambria Math" panose="02040503050406030204" pitchFamily="18" charset="0"/>
                        <a:ea typeface="Cambria Math" panose="02040503050406030204" pitchFamily="18" charset="0"/>
                      </a:rPr>
                      <m:t>$10.00</m:t>
                    </m:r>
                  </m:oMath>
                </a14:m>
                <a:r>
                  <a:rPr lang="en-US" sz="2000" dirty="0">
                    <a:latin typeface="Verdana" panose="020B0604030504040204" pitchFamily="34" charset="0"/>
                    <a:ea typeface="Verdana" panose="020B0604030504040204" pitchFamily="34" charset="0"/>
                    <a:cs typeface="Verdana" panose="020B0604030504040204" pitchFamily="34" charset="0"/>
                  </a:rPr>
                  <a:t> for each movie she sees. Jeff doesn’t have a membership, so he pays </a:t>
                </a:r>
                <a14:m>
                  <m:oMath xmlns:m="http://schemas.openxmlformats.org/officeDocument/2006/math">
                    <m:r>
                      <a:rPr lang="en-US" sz="2000" i="1">
                        <a:latin typeface="Cambria Math" panose="02040503050406030204" pitchFamily="18" charset="0"/>
                        <a:ea typeface="Cambria Math" panose="02040503050406030204" pitchFamily="18" charset="0"/>
                      </a:rPr>
                      <m:t>$13.50</m:t>
                    </m:r>
                  </m:oMath>
                </a14:m>
                <a:r>
                  <a:rPr lang="en-US" sz="2000" dirty="0">
                    <a:latin typeface="Verdana" panose="020B0604030504040204" pitchFamily="34" charset="0"/>
                    <a:ea typeface="Verdana" panose="020B0604030504040204" pitchFamily="34" charset="0"/>
                    <a:cs typeface="Verdana" panose="020B0604030504040204" pitchFamily="34" charset="0"/>
                  </a:rPr>
                  <a:t> for each movie he sees.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Solve the equation </a:t>
                </a:r>
                <a14:m>
                  <m:oMath xmlns:m="http://schemas.openxmlformats.org/officeDocument/2006/math">
                    <m:r>
                      <a:rPr lang="en-US" sz="2000" i="1">
                        <a:latin typeface="Cambria Math" panose="02040503050406030204" pitchFamily="18" charset="0"/>
                        <a:ea typeface="Cambria Math" panose="02040503050406030204" pitchFamily="18" charset="0"/>
                      </a:rPr>
                      <m:t>35+10</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=13.50</m:t>
                    </m:r>
                    <m:r>
                      <a:rPr lang="en-US" sz="2000" i="1">
                        <a:latin typeface="Cambria Math" panose="02040503050406030204" pitchFamily="18" charset="0"/>
                        <a:ea typeface="Cambria Math" panose="02040503050406030204" pitchFamily="18"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 to determine how many movies, </a:t>
                </a:r>
                <a14:m>
                  <m:oMath xmlns:m="http://schemas.openxmlformats.org/officeDocument/2006/math">
                    <m:r>
                      <a:rPr lang="en-US" sz="2000" i="1">
                        <a:latin typeface="Cambria Math" panose="02040503050406030204" pitchFamily="18" charset="0"/>
                        <a:ea typeface="Cambria Math" panose="02040503050406030204" pitchFamily="18"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 they each must see in a year for their costs to be the same.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the solution to find how much money Stephanie and Jeff will each spend to see this number of movies.</a:t>
                </a:r>
              </a:p>
            </p:txBody>
          </p:sp>
        </mc:Choice>
        <mc:Fallback xmlns="">
          <p:sp>
            <p:nvSpPr>
              <p:cNvPr id="15" name="TextBox 14">
                <a:extLst>
                  <a:ext uri="{FF2B5EF4-FFF2-40B4-BE49-F238E27FC236}">
                    <a16:creationId xmlns:a16="http://schemas.microsoft.com/office/drawing/2014/main" xmlns=""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609600" y="1386025"/>
                <a:ext cx="10920984" cy="3477875"/>
              </a:xfrm>
              <a:prstGeom prst="rect">
                <a:avLst/>
              </a:prstGeom>
              <a:blipFill rotWithShape="1">
                <a:blip r:embed="rId5"/>
                <a:stretch>
                  <a:fillRect l="-558" t="-1051" r="-1228" b="-2102"/>
                </a:stretch>
              </a:blipFill>
            </p:spPr>
            <p:txBody>
              <a:bodyPr/>
              <a:lstStyle/>
              <a:p>
                <a:r>
                  <a:rPr lang="en-US">
                    <a:noFill/>
                  </a:rPr>
                  <a:t> </a:t>
                </a:r>
              </a:p>
            </p:txBody>
          </p:sp>
        </mc:Fallback>
      </mc:AlternateContent>
    </p:spTree>
    <p:extLst>
      <p:ext uri="{BB962C8B-B14F-4D97-AF65-F5344CB8AC3E}">
        <p14:creationId xmlns:p14="http://schemas.microsoft.com/office/powerpoint/2010/main" val="74552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TextBox 11">
            <a:extLst>
              <a:ext uri="{FF2B5EF4-FFF2-40B4-BE49-F238E27FC236}">
                <a16:creationId xmlns="" xmlns:a16="http://schemas.microsoft.com/office/drawing/2014/main" id="{0370EDB7-6994-3D43-ABF9-E04CBAFB9CD9}"/>
              </a:ext>
            </a:extLst>
          </p:cNvPr>
          <p:cNvSpPr txBox="1"/>
          <p:nvPr/>
        </p:nvSpPr>
        <p:spPr>
          <a:xfrm>
            <a:off x="702526" y="1386026"/>
            <a:ext cx="11240429"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cost for renting movies from two different online streaming platforms is shown in the table.</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15956049"/>
                  </p:ext>
                </p:extLst>
              </p:nvPr>
            </p:nvGraphicFramePr>
            <p:xfrm>
              <a:off x="2694662" y="2362908"/>
              <a:ext cx="6480000" cy="3528000"/>
            </p:xfrm>
            <a:graphic>
              <a:graphicData uri="http://schemas.openxmlformats.org/drawingml/2006/table">
                <a:tbl>
                  <a:tblPr firstRow="1" firstCol="1" bandRow="1">
                    <a:tableStyleId>{5940675A-B579-460E-94D1-54222C63F5DA}</a:tableStyleId>
                  </a:tblPr>
                  <a:tblGrid>
                    <a:gridCol w="2160000">
                      <a:extLst>
                        <a:ext uri="{9D8B030D-6E8A-4147-A177-3AD203B41FA5}">
                          <a16:colId xmlns="" xmlns:a16="http://schemas.microsoft.com/office/drawing/2014/main" val="20000"/>
                        </a:ext>
                      </a:extLst>
                    </a:gridCol>
                    <a:gridCol w="2160000">
                      <a:extLst>
                        <a:ext uri="{9D8B030D-6E8A-4147-A177-3AD203B41FA5}">
                          <a16:colId xmlns="" xmlns:a16="http://schemas.microsoft.com/office/drawing/2014/main" val="20001"/>
                        </a:ext>
                      </a:extLst>
                    </a:gridCol>
                    <a:gridCol w="2160000">
                      <a:extLst>
                        <a:ext uri="{9D8B030D-6E8A-4147-A177-3AD203B41FA5}">
                          <a16:colId xmlns="" xmlns:a16="http://schemas.microsoft.com/office/drawing/2014/main" val="20002"/>
                        </a:ext>
                      </a:extLst>
                    </a:gridCol>
                  </a:tblGrid>
                  <a:tr h="720000">
                    <a:tc>
                      <a:txBody>
                        <a:bodyPr/>
                        <a:lstStyle/>
                        <a:p>
                          <a:pPr marL="0" marR="88900" algn="ctr">
                            <a:spcBef>
                              <a:spcPts val="0"/>
                            </a:spcBef>
                            <a:spcAft>
                              <a:spcPts val="0"/>
                            </a:spcAft>
                            <a:tabLst>
                              <a:tab pos="5715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Movies Rented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Video Prime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Movie </a:t>
                          </a:r>
                          <a:r>
                            <a:rPr lang="en-US" sz="2000" b="1" dirty="0" err="1">
                              <a:effectLst/>
                              <a:latin typeface="Verdana" panose="020B0604030504040204" pitchFamily="34" charset="0"/>
                              <a:ea typeface="Verdana" panose="020B0604030504040204" pitchFamily="34" charset="0"/>
                              <a:cs typeface="Verdana" panose="020B0604030504040204" pitchFamily="34" charset="0"/>
                            </a:rPr>
                            <a:t>Flix</a:t>
                          </a: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468000">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50.00</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468000">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53.00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5.50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468000">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56.00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11.00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468000">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59.00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16.50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468000">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62.00</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22.00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r h="468000">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65.00</m:t>
                                </m:r>
                              </m:oMath>
                            </m:oMathPara>
                          </a14:m>
                          <a:endParaRPr lang="en-US" sz="200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88900" algn="ctr">
                            <a:spcBef>
                              <a:spcPts val="0"/>
                            </a:spcBef>
                            <a:spcAft>
                              <a:spcPts val="0"/>
                            </a:spcAft>
                            <a:tabLst>
                              <a:tab pos="57150"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27.50</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15956049"/>
                  </p:ext>
                </p:extLst>
              </p:nvPr>
            </p:nvGraphicFramePr>
            <p:xfrm>
              <a:off x="2694662" y="2362908"/>
              <a:ext cx="6480000" cy="3528000"/>
            </p:xfrm>
            <a:graphic>
              <a:graphicData uri="http://schemas.openxmlformats.org/drawingml/2006/table">
                <a:tbl>
                  <a:tblPr firstRow="1" firstCol="1" bandRow="1">
                    <a:tableStyleId>{5940675A-B579-460E-94D1-54222C63F5DA}</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tblGrid>
                  <a:tr h="720000">
                    <a:tc>
                      <a:txBody>
                        <a:bodyPr/>
                        <a:lstStyle/>
                        <a:p>
                          <a:pPr marL="0" marR="88900" algn="ctr">
                            <a:spcBef>
                              <a:spcPts val="0"/>
                            </a:spcBef>
                            <a:spcAft>
                              <a:spcPts val="0"/>
                            </a:spcAft>
                            <a:tabLst>
                              <a:tab pos="5715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Movies Rented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Video Prime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88900" algn="ctr">
                            <a:spcBef>
                              <a:spcPts val="0"/>
                            </a:spcBef>
                            <a:spcAft>
                              <a:spcPts val="0"/>
                            </a:spcAft>
                            <a:tabLst>
                              <a:tab pos="5715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Movie </a:t>
                          </a:r>
                          <a:r>
                            <a:rPr lang="en-US" sz="2000" b="1" dirty="0" err="1">
                              <a:effectLst/>
                              <a:latin typeface="Verdana" panose="020B0604030504040204" pitchFamily="34" charset="0"/>
                              <a:ea typeface="Verdana" panose="020B0604030504040204" pitchFamily="34" charset="0"/>
                              <a:cs typeface="Verdana" panose="020B0604030504040204" pitchFamily="34" charset="0"/>
                            </a:rPr>
                            <a:t>Flix</a:t>
                          </a: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159459" r="-201765" b="-50270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000" t="-159459" r="-100585" b="-50270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1176" t="-159459" r="-1176" b="-502703"/>
                          </a:stretch>
                        </a:blipFill>
                      </a:tcPr>
                    </a:tc>
                    <a:extLst>
                      <a:ext uri="{0D108BD9-81ED-4DB2-BD59-A6C34878D82A}">
                        <a16:rowId xmlns:a16="http://schemas.microsoft.com/office/drawing/2014/main" val="10001"/>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266667" r="-201765" b="-416667"/>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000" t="-266667" r="-100585" b="-416667"/>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1176" t="-266667" r="-1176" b="-416667"/>
                          </a:stretch>
                        </a:blipFill>
                      </a:tcPr>
                    </a:tc>
                    <a:extLst>
                      <a:ext uri="{0D108BD9-81ED-4DB2-BD59-A6C34878D82A}">
                        <a16:rowId xmlns:a16="http://schemas.microsoft.com/office/drawing/2014/main" val="10002"/>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356757" r="-201765" b="-30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000" t="-356757" r="-100585" b="-30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1176" t="-356757" r="-1176" b="-305405"/>
                          </a:stretch>
                        </a:blipFill>
                      </a:tcPr>
                    </a:tc>
                    <a:extLst>
                      <a:ext uri="{0D108BD9-81ED-4DB2-BD59-A6C34878D82A}">
                        <a16:rowId xmlns:a16="http://schemas.microsoft.com/office/drawing/2014/main" val="10003"/>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456757" r="-201765" b="-20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000" t="-456757" r="-100585" b="-20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1176" t="-456757" r="-1176" b="-205405"/>
                          </a:stretch>
                        </a:blipFill>
                      </a:tcPr>
                    </a:tc>
                    <a:extLst>
                      <a:ext uri="{0D108BD9-81ED-4DB2-BD59-A6C34878D82A}">
                        <a16:rowId xmlns:a16="http://schemas.microsoft.com/office/drawing/2014/main" val="10004"/>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556757" r="-201765" b="-10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000" t="-556757" r="-100585" b="-10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1176" t="-556757" r="-1176" b="-105405"/>
                          </a:stretch>
                        </a:blipFill>
                      </a:tcPr>
                    </a:tc>
                    <a:extLst>
                      <a:ext uri="{0D108BD9-81ED-4DB2-BD59-A6C34878D82A}">
                        <a16:rowId xmlns:a16="http://schemas.microsoft.com/office/drawing/2014/main" val="10005"/>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656757" r="-201765" b="-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000" t="-656757" r="-100585" b="-54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1176" t="-656757" r="-1176" b="-5405"/>
                          </a:stretch>
                        </a:blipFill>
                      </a:tcPr>
                    </a:tc>
                    <a:extLst>
                      <a:ext uri="{0D108BD9-81ED-4DB2-BD59-A6C34878D82A}">
                        <a16:rowId xmlns:a16="http://schemas.microsoft.com/office/drawing/2014/main" val="10006"/>
                      </a:ext>
                    </a:extLst>
                  </a:tr>
                </a:tbl>
              </a:graphicData>
            </a:graphic>
          </p:graphicFrame>
        </mc:Fallback>
      </mc:AlternateContent>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8.5.5 Wrap-Up: Ticket Out the Door</a:t>
            </a:r>
          </a:p>
        </p:txBody>
      </p:sp>
      <p:pic>
        <p:nvPicPr>
          <p:cNvPr id="15" name="Google Shape;469;p34"/>
          <p:cNvPicPr preferRelativeResize="0"/>
          <p:nvPr/>
        </p:nvPicPr>
        <p:blipFill rotWithShape="1">
          <a:blip r:embed="rId7">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C8F82859-BA98-3646-BF3B-9E17E52A2E35}"/>
                  </a:ext>
                </a:extLst>
              </p:cNvPr>
              <p:cNvSpPr txBox="1"/>
              <p:nvPr/>
            </p:nvSpPr>
            <p:spPr>
              <a:xfrm>
                <a:off x="511205" y="533066"/>
                <a:ext cx="10953207" cy="4524315"/>
              </a:xfrm>
              <a:prstGeom prst="rect">
                <a:avLst/>
              </a:prstGeom>
              <a:noFill/>
            </p:spPr>
            <p:txBody>
              <a:bodyPr wrap="square" rtlCol="0">
                <a:spAutoFit/>
              </a:bodyPr>
              <a:lstStyle/>
              <a:p>
                <a:pPr marL="465138"/>
                <a:r>
                  <a:rPr lang="en-US" sz="2400" dirty="0">
                    <a:latin typeface="Verdana" panose="020B0604030504040204" pitchFamily="34" charset="0"/>
                    <a:ea typeface="Verdana" panose="020B0604030504040204" pitchFamily="34" charset="0"/>
                    <a:cs typeface="Verdana" panose="020B0604030504040204" pitchFamily="34" charset="0"/>
                  </a:rPr>
                  <a:t>Video Prime charges a </a:t>
                </a:r>
                <a14:m>
                  <m:oMath xmlns:m="http://schemas.openxmlformats.org/officeDocument/2006/math">
                    <m:r>
                      <a:rPr lang="en-US" sz="2400" i="1">
                        <a:latin typeface="Cambria Math" panose="02040503050406030204" pitchFamily="18" charset="0"/>
                        <a:ea typeface="Cambria Math" panose="02040503050406030204" pitchFamily="18" charset="0"/>
                      </a:rPr>
                      <m:t>$50.00</m:t>
                    </m:r>
                  </m:oMath>
                </a14:m>
                <a:r>
                  <a:rPr lang="en-US" sz="2400" dirty="0">
                    <a:latin typeface="Verdana" panose="020B0604030504040204" pitchFamily="34" charset="0"/>
                    <a:ea typeface="Verdana" panose="020B0604030504040204" pitchFamily="34" charset="0"/>
                    <a:cs typeface="Verdana" panose="020B0604030504040204" pitchFamily="34" charset="0"/>
                  </a:rPr>
                  <a:t> membership fee, plus an additional </a:t>
                </a:r>
                <a14:m>
                  <m:oMath xmlns:m="http://schemas.openxmlformats.org/officeDocument/2006/math">
                    <m:r>
                      <a:rPr lang="en-US" sz="2400" i="1">
                        <a:latin typeface="Cambria Math" panose="02040503050406030204" pitchFamily="18" charset="0"/>
                        <a:ea typeface="Cambria Math" panose="02040503050406030204" pitchFamily="18" charset="0"/>
                      </a:rPr>
                      <m:t>$3.00</m:t>
                    </m:r>
                  </m:oMath>
                </a14:m>
                <a:r>
                  <a:rPr lang="en-US" sz="2400" dirty="0">
                    <a:latin typeface="Verdana" panose="020B0604030504040204" pitchFamily="34" charset="0"/>
                    <a:ea typeface="Verdana" panose="020B0604030504040204" pitchFamily="34" charset="0"/>
                    <a:cs typeface="Verdana" panose="020B0604030504040204" pitchFamily="34" charset="0"/>
                  </a:rPr>
                  <a:t> charge per rental. Movie </a:t>
                </a:r>
                <a:r>
                  <a:rPr lang="en-US" sz="2400" dirty="0" err="1">
                    <a:latin typeface="Verdana" panose="020B0604030504040204" pitchFamily="34" charset="0"/>
                    <a:ea typeface="Verdana" panose="020B0604030504040204" pitchFamily="34" charset="0"/>
                    <a:cs typeface="Verdana" panose="020B0604030504040204" pitchFamily="34" charset="0"/>
                  </a:rPr>
                  <a:t>Flix</a:t>
                </a:r>
                <a:r>
                  <a:rPr lang="en-US" sz="2400" dirty="0">
                    <a:latin typeface="Verdana" panose="020B0604030504040204" pitchFamily="34" charset="0"/>
                    <a:ea typeface="Verdana" panose="020B0604030504040204" pitchFamily="34" charset="0"/>
                    <a:cs typeface="Verdana" panose="020B0604030504040204" pitchFamily="34" charset="0"/>
                  </a:rPr>
                  <a:t> charges no membership fee, but charges </a:t>
                </a:r>
                <a14:m>
                  <m:oMath xmlns:m="http://schemas.openxmlformats.org/officeDocument/2006/math">
                    <m:r>
                      <a:rPr lang="en-US" sz="2400" i="1">
                        <a:latin typeface="Cambria Math" panose="02040503050406030204" pitchFamily="18" charset="0"/>
                        <a:ea typeface="Cambria Math" panose="02040503050406030204" pitchFamily="18" charset="0"/>
                      </a:rPr>
                      <m:t>$5.50</m:t>
                    </m:r>
                  </m:oMath>
                </a14:m>
                <a:r>
                  <a:rPr lang="en-US" sz="2400" dirty="0">
                    <a:latin typeface="Verdana" panose="020B0604030504040204" pitchFamily="34" charset="0"/>
                    <a:ea typeface="Verdana" panose="020B0604030504040204" pitchFamily="34" charset="0"/>
                    <a:cs typeface="Verdana" panose="020B0604030504040204" pitchFamily="34" charset="0"/>
                  </a:rPr>
                  <a:t> per rental.</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the equation </a:t>
                </a:r>
                <a14:m>
                  <m:oMath xmlns:m="http://schemas.openxmlformats.org/officeDocument/2006/math">
                    <m:r>
                      <a:rPr lang="en-US" sz="2400" i="1">
                        <a:latin typeface="Cambria Math" panose="02040503050406030204" pitchFamily="18" charset="0"/>
                        <a:ea typeface="Cambria Math" panose="02040503050406030204" pitchFamily="18" charset="0"/>
                      </a:rPr>
                      <m:t>50+3</m:t>
                    </m:r>
                    <m:r>
                      <a:rPr lang="en-US" sz="2400" i="1">
                        <a:latin typeface="Cambria Math" panose="02040503050406030204" pitchFamily="18" charset="0"/>
                        <a:ea typeface="Cambria Math" panose="02040503050406030204" pitchFamily="18" charset="0"/>
                      </a:rPr>
                      <m:t>𝑚</m:t>
                    </m:r>
                    <m:r>
                      <a:rPr lang="en-US" sz="2400" i="1">
                        <a:latin typeface="Cambria Math" panose="02040503050406030204" pitchFamily="18" charset="0"/>
                        <a:ea typeface="Cambria Math" panose="02040503050406030204" pitchFamily="18" charset="0"/>
                      </a:rPr>
                      <m:t>=5.50</m:t>
                    </m:r>
                    <m:r>
                      <a:rPr lang="en-US" sz="2400" i="1">
                        <a:latin typeface="Cambria Math" panose="02040503050406030204" pitchFamily="18" charset="0"/>
                        <a:ea typeface="Cambria Math" panose="02040503050406030204" pitchFamily="18" charset="0"/>
                      </a:rPr>
                      <m:t>𝑚</m:t>
                    </m:r>
                  </m:oMath>
                </a14:m>
                <a:r>
                  <a:rPr lang="en-US" sz="2400" dirty="0">
                    <a:latin typeface="Verdana" panose="020B0604030504040204" pitchFamily="34" charset="0"/>
                    <a:ea typeface="Verdana" panose="020B0604030504040204" pitchFamily="34" charset="0"/>
                    <a:cs typeface="Verdana" panose="020B0604030504040204" pitchFamily="34" charset="0"/>
                  </a:rPr>
                  <a:t> to determine how many movies need to be rented for the cost to be the same, where </a:t>
                </a:r>
                <a14:m>
                  <m:oMath xmlns:m="http://schemas.openxmlformats.org/officeDocument/2006/math">
                    <m:r>
                      <a:rPr lang="en-US" sz="2400" i="1">
                        <a:latin typeface="Cambria Math" panose="02040503050406030204" pitchFamily="18" charset="0"/>
                        <a:ea typeface="Cambria Math" panose="02040503050406030204" pitchFamily="18" charset="0"/>
                      </a:rPr>
                      <m:t>𝑚</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the number of movies rented.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much will a customer pay when the cost for each platform is the same?</a:t>
                </a:r>
              </a:p>
            </p:txBody>
          </p:sp>
        </mc:Choice>
        <mc:Fallback xmlns="">
          <p:sp>
            <p:nvSpPr>
              <p:cNvPr id="9" name="TextBox 8">
                <a:extLst>
                  <a:ext uri="{FF2B5EF4-FFF2-40B4-BE49-F238E27FC236}">
                    <a16:creationId xmlns:a14="http://schemas.microsoft.com/office/drawing/2010/main" xmlns:a16="http://schemas.microsoft.com/office/drawing/2014/main" xmlns="" id="{C8F82859-BA98-3646-BF3B-9E17E52A2E35}"/>
                  </a:ext>
                </a:extLst>
              </p:cNvPr>
              <p:cNvSpPr txBox="1">
                <a:spLocks noRot="1" noChangeAspect="1" noMove="1" noResize="1" noEditPoints="1" noAdjustHandles="1" noChangeArrowheads="1" noChangeShapeType="1" noTextEdit="1"/>
              </p:cNvSpPr>
              <p:nvPr/>
            </p:nvSpPr>
            <p:spPr>
              <a:xfrm>
                <a:off x="511205" y="533066"/>
                <a:ext cx="10953207" cy="4524315"/>
              </a:xfrm>
              <a:prstGeom prst="rect">
                <a:avLst/>
              </a:prstGeom>
              <a:blipFill rotWithShape="1">
                <a:blip r:embed="rId4"/>
                <a:stretch>
                  <a:fillRect t="-1211" r="-668" b="-2019"/>
                </a:stretch>
              </a:blipFill>
            </p:spPr>
            <p:txBody>
              <a:bodyPr/>
              <a:lstStyle/>
              <a:p>
                <a:r>
                  <a:rPr lang="en-US">
                    <a:noFill/>
                  </a:rPr>
                  <a:t> </a:t>
                </a:r>
              </a:p>
            </p:txBody>
          </p:sp>
        </mc:Fallback>
      </mc:AlternateContent>
    </p:spTree>
    <p:extLst>
      <p:ext uri="{BB962C8B-B14F-4D97-AF65-F5344CB8AC3E}">
        <p14:creationId xmlns:p14="http://schemas.microsoft.com/office/powerpoint/2010/main" val="289570238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1347</TotalTime>
  <Words>1021</Words>
  <Application>Microsoft Office PowerPoint</Application>
  <PresentationFormat>Custom</PresentationFormat>
  <Paragraphs>223</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Century Gothic</vt:lpstr>
      <vt:lpstr>Wingdings</vt:lpstr>
      <vt:lpstr>Cambria Math</vt:lpstr>
      <vt:lpstr>Arial Black</vt:lpstr>
      <vt:lpstr>Verdana</vt:lpstr>
      <vt:lpstr>Calibri</vt:lpstr>
      <vt:lpstr>Times New Roman</vt:lpstr>
      <vt:lpstr>1_Office Theme</vt:lpstr>
      <vt:lpstr>PowerPoint Presentation</vt:lpstr>
      <vt:lpstr>PowerPoint Presentation</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Guided Practice</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30</cp:revision>
  <dcterms:created xsi:type="dcterms:W3CDTF">2015-03-17T18:51:18Z</dcterms:created>
  <dcterms:modified xsi:type="dcterms:W3CDTF">2022-06-19T14:05:52Z</dcterms:modified>
</cp:coreProperties>
</file>