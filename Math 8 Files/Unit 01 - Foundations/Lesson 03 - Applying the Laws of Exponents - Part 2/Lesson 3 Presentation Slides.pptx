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2" r:id="rId11"/>
    <p:sldId id="333" r:id="rId12"/>
    <p:sldId id="334" r:id="rId13"/>
    <p:sldId id="335" r:id="rId14"/>
    <p:sldId id="329" r:id="rId15"/>
    <p:sldId id="330" r:id="rId16"/>
    <p:sldId id="302" r:id="rId17"/>
    <p:sldId id="303" r:id="rId18"/>
    <p:sldId id="309" r:id="rId19"/>
    <p:sldId id="336" r:id="rId20"/>
    <p:sldId id="314" r:id="rId21"/>
    <p:sldId id="315" r:id="rId22"/>
    <p:sldId id="316" r:id="rId23"/>
    <p:sldId id="306" r:id="rId24"/>
    <p:sldId id="307" r:id="rId25"/>
    <p:sldId id="337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70"/>
    <p:restoredTop sz="96327"/>
  </p:normalViewPr>
  <p:slideViewPr>
    <p:cSldViewPr snapToGrid="0">
      <p:cViewPr varScale="1">
        <p:scale>
          <a:sx n="128" d="100"/>
          <a:sy n="128" d="100"/>
        </p:scale>
        <p:origin x="147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9047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33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47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313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45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1520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909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843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841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27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70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i="0" u="none" strike="noStrike" dirty="0">
                <a:solidFill>
                  <a:srgbClr val="417DBF"/>
                </a:solidFill>
                <a:effectLst/>
                <a:latin typeface="Verdana" panose="020B0604030504040204" pitchFamily="34" charset="0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the Laws of Exponents –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6331" y="1582616"/>
            <a:ext cx="10515600" cy="320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MA.7.NSO.1.1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Know and apply the Laws of Exponents to evaluate numerical expressions and generate equivalent numerical expressions, limited to whole-number exponents and rational number bases.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45123" y="1573824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quotient of powers, power of a quotient, and zero exponent laws to simplify expressions.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expressions using the laws of exponents to generate equivalent expressions.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92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993192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371547"/>
            <a:ext cx="9557238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48" y="2933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45123" y="1386026"/>
                <a:ext cx="10515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May 2021, the world’s longest suspended pedestrian bridge in the world opened in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Arouca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Portugal. The bridge runs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1700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feet across the canyon, nearly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above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Paiva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River.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3" y="1386026"/>
                <a:ext cx="10515600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580" t="-230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A picture containing tree, outdoor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6402" y="2616214"/>
            <a:ext cx="4370573" cy="2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45123" y="5097641"/>
            <a:ext cx="81710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tabLst>
                <a:tab pos="40005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342900" indent="-342900">
              <a:buFont typeface="+mj-lt"/>
              <a:buAutoNum type="arabicPeriod"/>
              <a:tabLst>
                <a:tab pos="400050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  <a:tabLst>
                <a:tab pos="400050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  <a:tabLst>
                <a:tab pos="40005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88472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32244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0584" y="371547"/>
            <a:ext cx="9882554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1.3.2 Exploration: Exponent Laws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1448" y="290866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34808" y="138602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each of the following expressions.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77FDFF9E-9668-7F40-B604-2436455445A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32327" y="2323855"/>
                <a:ext cx="61946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327" y="2323855"/>
                <a:ext cx="619465" cy="57823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888612" y="2278681"/>
                <a:ext cx="853823" cy="668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−7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−7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612" y="2278681"/>
                <a:ext cx="853823" cy="66858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79256" y="2053084"/>
                <a:ext cx="687111" cy="1120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256" y="2053084"/>
                <a:ext cx="687111" cy="112030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34807" y="3427412"/>
            <a:ext cx="10800000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If the numerator and denominator have the same value,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the quotient is _____. 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36330" y="374089"/>
            <a:ext cx="108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Quotient of Powers Exponent Law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be used to rewrite expressions when dividing two powers that have the same nonzero base.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  <a:r>
              <a:rPr lang="en-US" sz="2400" dirty="0"/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4712537"/>
                  </p:ext>
                </p:extLst>
              </p:nvPr>
            </p:nvGraphicFramePr>
            <p:xfrm>
              <a:off x="1589710" y="2430045"/>
              <a:ext cx="7751100" cy="30883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59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6546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62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 Form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sup>
                              </m:sSup>
                            </m:oMath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35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 ∙5 ∙5 ∙5 ∙5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 ∙5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PH" sz="2000" b="0" i="1" dirty="0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 </m:t>
                                    </m:r>
                                  </m:sup>
                                </m:sSup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835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(−4)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(−4)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num>
                                <m:den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den>
                                      </m:f>
                                    </m:e>
                                  </m:d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4712537"/>
                  </p:ext>
                </p:extLst>
              </p:nvPr>
            </p:nvGraphicFramePr>
            <p:xfrm>
              <a:off x="1589710" y="2430045"/>
              <a:ext cx="7751100" cy="30883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59384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356546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9262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</a:tblGrid>
                  <a:tr h="6211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2532" t="-12745" r="-316" b="-39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7835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0" t="-89844" r="-243784" b="-216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3419" t="-89844" r="-54188" b="-216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2532" t="-89844" r="-316" b="-2164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7835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0" t="-188372" r="-243784" b="-1147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0" t="-253061" r="-243784" b="-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46992" y="3173240"/>
            <a:ext cx="234000" cy="23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ounded Rectangle 3"/>
          <p:cNvSpPr/>
          <p:nvPr/>
        </p:nvSpPr>
        <p:spPr>
          <a:xfrm rot="1171402">
            <a:off x="5308594" y="3100174"/>
            <a:ext cx="322451" cy="691316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ounded Rectangle 10"/>
          <p:cNvSpPr/>
          <p:nvPr/>
        </p:nvSpPr>
        <p:spPr>
          <a:xfrm rot="1171402">
            <a:off x="5649111" y="3107586"/>
            <a:ext cx="322451" cy="691316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6330" y="374089"/>
                <a:ext cx="10800000" cy="4496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6938" indent="-447675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How do the exponents in the first column relate to the exponents in the third column? </a:t>
                </a:r>
              </a:p>
              <a:p>
                <a:pPr marL="896938" indent="-447675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47675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47675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47675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Work with your partner to complete the rule for finding the quotient of powers.</a:t>
                </a:r>
              </a:p>
              <a:p>
                <a:pPr marL="896938" indent="-447675">
                  <a:buFont typeface="+mj-lt"/>
                  <a:buAutoNum type="alphaLcPeriod" startAt="2"/>
                </a:pPr>
                <a:endParaRPr lang="en-US" sz="2400" i="1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47675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			</a:t>
                </a:r>
              </a:p>
              <a:p>
                <a:pPr marL="896938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47675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30" y="374089"/>
                <a:ext cx="10800000" cy="4496744"/>
              </a:xfrm>
              <a:prstGeom prst="rect">
                <a:avLst/>
              </a:prstGeom>
              <a:blipFill rotWithShape="1">
                <a:blip r:embed="rId4"/>
                <a:stretch>
                  <a:fillRect t="-108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20"/>
              <p:cNvSpPr/>
              <p:nvPr/>
            </p:nvSpPr>
            <p:spPr>
              <a:xfrm>
                <a:off x="6039893" y="3266583"/>
                <a:ext cx="1472117" cy="1597776"/>
              </a:xfrm>
              <a:prstGeom prst="round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36000" rIns="9144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𝑚𝑛</m:t>
                        </m:r>
                      </m:sup>
                    </m:sSup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.</m:t>
                    </m:r>
                  </m:oMath>
                </a14:m>
                <a:endParaRPr lang="en-PH" sz="2400">
                  <a:latin typeface="Cambria Math" pitchFamily="18" charset="0"/>
                  <a:ea typeface="Cambria Math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.</m:t>
                    </m:r>
                  </m:oMath>
                </a14:m>
                <a:endParaRPr lang="en-PH" sz="2400">
                  <a:latin typeface="Cambria Math" pitchFamily="18" charset="0"/>
                  <a:ea typeface="Cambria Math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.</m:t>
                    </m:r>
                  </m:oMath>
                </a14:m>
                <a:endParaRPr lang="en-PH" sz="240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8" name="Rectangle: Rounded Corner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893" y="3266583"/>
                <a:ext cx="1472117" cy="1597776"/>
              </a:xfrm>
              <a:prstGeom prst="roundRect">
                <a:avLst/>
              </a:prstGeom>
              <a:blipFill rotWithShape="1">
                <a:blip r:embed="rId5"/>
                <a:stretch>
                  <a:fillRect b="-3759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40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36331" y="374158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 of a Quotient Exponent Law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can be used to rewrite expressions when a fraction is raised to an exponent.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</a:t>
            </a: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the exponents in the first column relate to the exponents in the third column?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0240076"/>
                  </p:ext>
                </p:extLst>
              </p:nvPr>
            </p:nvGraphicFramePr>
            <p:xfrm>
              <a:off x="1630692" y="2062355"/>
              <a:ext cx="7497255" cy="23514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603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35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6328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85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 Form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sup>
                              </m:sSup>
                            </m:oMath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331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___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___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331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0240076"/>
                  </p:ext>
                </p:extLst>
              </p:nvPr>
            </p:nvGraphicFramePr>
            <p:xfrm>
              <a:off x="1630692" y="2062355"/>
              <a:ext cx="7497255" cy="23514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6039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387357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86328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</a:tblGrid>
                  <a:tr h="685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3279" t="-6250" r="-328" b="-2455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833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46" t="-86861" r="-325606" b="-100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5669" t="-86861" r="-48189" b="-100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3279" t="-86861" r="-328" b="-1007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833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46" t="-186861" r="-325606" b="-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9216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5123" y="374089"/>
                <a:ext cx="10515600" cy="2903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6938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rule for finding the power of quotients.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3" y="374089"/>
                <a:ext cx="10515600" cy="2903936"/>
              </a:xfrm>
              <a:prstGeom prst="rect">
                <a:avLst/>
              </a:prstGeom>
              <a:blipFill rotWithShape="1">
                <a:blip r:embed="rId4"/>
                <a:stretch>
                  <a:fillRect t="-167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227"/>
              <p:cNvSpPr/>
              <p:nvPr/>
            </p:nvSpPr>
            <p:spPr>
              <a:xfrm>
                <a:off x="4611292" y="1619792"/>
                <a:ext cx="2004562" cy="18114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36000" rIns="9144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𝑏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 −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/>
                    <a:ea typeface="Times New Roman"/>
                  </a:rPr>
                  <a:t>. </a:t>
                </a:r>
                <a:endParaRPr lang="en-PH" sz="2400" dirty="0">
                  <a:latin typeface="Times New Roman"/>
                  <a:ea typeface="Times New Roman"/>
                </a:endParaRPr>
              </a:p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/>
                    <a:ea typeface="Times New Roman"/>
                  </a:rPr>
                  <a:t>.</a:t>
                </a:r>
                <a:endParaRPr lang="en-PH" sz="2400" dirty="0">
                  <a:latin typeface="Times New Roman"/>
                  <a:ea typeface="Times New Roman"/>
                </a:endParaRPr>
              </a:p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PH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 −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/>
                    <a:ea typeface="Times New Roman"/>
                  </a:rPr>
                  <a:t>.</a:t>
                </a:r>
                <a:endParaRPr lang="en-PH" sz="2400" dirty="0">
                  <a:latin typeface="Times New Roman"/>
                  <a:ea typeface="Times New Roman"/>
                </a:endParaRPr>
              </a:p>
            </p:txBody>
          </p:sp>
        </mc:Choice>
        <mc:Fallback xmlns="">
          <p:sp>
            <p:nvSpPr>
              <p:cNvPr id="8" name="Rectangle: Rounded Corners 2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292" y="1619792"/>
                <a:ext cx="2004562" cy="1811484"/>
              </a:xfrm>
              <a:prstGeom prst="roundRect">
                <a:avLst/>
              </a:prstGeom>
              <a:blipFill rotWithShape="1">
                <a:blip r:embed="rId5"/>
                <a:stretch>
                  <a:fillRect b="-33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369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36330" y="375849"/>
            <a:ext cx="10515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Zero Exponent Law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used to rewrite expressions when a nonzero rational number is raised to the zero power.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906598"/>
                  </p:ext>
                </p:extLst>
              </p:nvPr>
            </p:nvGraphicFramePr>
            <p:xfrm>
              <a:off x="1602814" y="1862813"/>
              <a:ext cx="7661753" cy="326356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084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9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28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91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348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Quotient of Powers Law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Simplified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943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5−5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borderBox>
                                      <m:borderBoxPr>
                                        <m:ctrlPr>
                                          <a:rPr lang="en-US" sz="200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orderBoxPr>
                                      <m:e/>
                                    </m:borderBox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4∙4 ∙4 ∙4 ∙4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4∙4 ∙4 ∙4 ∙4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32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(−5.7)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(−5.7)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96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0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906598"/>
                  </p:ext>
                </p:extLst>
              </p:nvPr>
            </p:nvGraphicFramePr>
            <p:xfrm>
              <a:off x="1602814" y="1862813"/>
              <a:ext cx="7661753" cy="326356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084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9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28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91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348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Quotient of Powers Law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Simplified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94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41" t="-109804" r="-348889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5000" t="-109804" r="-194375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000" t="-109804" r="-94375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32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41" t="-194545" r="-348889" b="-18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9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41" t="-158824" r="-348889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36329" y="5442989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96938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 </a:t>
                </a:r>
                <a:endParaRPr lang="en-US" sz="2000" dirty="0">
                  <a:latin typeface="Times New Roman" panose="02020603050405020304" pitchFamily="18" charset="0"/>
                  <a:ea typeface="Verdana" panose="020B0604030504040204" pitchFamily="34" charset="0"/>
                </a:endParaRPr>
              </a:p>
              <a:p>
                <a:pPr marL="6953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Any nonzero rational number raised to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power is equal to ________.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29" y="5442989"/>
                <a:ext cx="10515600" cy="1015663"/>
              </a:xfrm>
              <a:prstGeom prst="rect">
                <a:avLst/>
              </a:prstGeom>
              <a:blipFill rotWithShape="1">
                <a:blip r:embed="rId5"/>
                <a:stretch>
                  <a:fillRect t="-4217" r="-580" b="-963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78707" y="2515505"/>
            <a:ext cx="252000" cy="603867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ounded Rectangle 8"/>
          <p:cNvSpPr/>
          <p:nvPr/>
        </p:nvSpPr>
        <p:spPr>
          <a:xfrm>
            <a:off x="5831128" y="2515504"/>
            <a:ext cx="252000" cy="603867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ounded Rectangle 9"/>
          <p:cNvSpPr/>
          <p:nvPr/>
        </p:nvSpPr>
        <p:spPr>
          <a:xfrm>
            <a:off x="6195219" y="2515505"/>
            <a:ext cx="252000" cy="603867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ounded Rectangle 10"/>
          <p:cNvSpPr/>
          <p:nvPr/>
        </p:nvSpPr>
        <p:spPr>
          <a:xfrm>
            <a:off x="6561932" y="2515505"/>
            <a:ext cx="252000" cy="603867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ounded Rectangle 11"/>
          <p:cNvSpPr/>
          <p:nvPr/>
        </p:nvSpPr>
        <p:spPr>
          <a:xfrm>
            <a:off x="6942932" y="2515505"/>
            <a:ext cx="252000" cy="603867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14409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7072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745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0584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1.3.3 Bring It Together: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Exponent Laws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E37649FA-72D0-DE42-98CE-D098AE151A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5D7F7086-3B46-0741-A8D9-C84B5033C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9031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2519850" y="1458773"/>
            <a:ext cx="7144596" cy="1377979"/>
            <a:chOff x="1714265" y="3373600"/>
            <a:chExt cx="7144596" cy="13786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" name="Group 13"/>
            <p:cNvGrpSpPr/>
            <p:nvPr/>
          </p:nvGrpSpPr>
          <p:grpSpPr>
            <a:xfrm>
              <a:off x="1714265" y="3373600"/>
              <a:ext cx="7144596" cy="1378672"/>
              <a:chOff x="1714265" y="3373600"/>
              <a:chExt cx="7144596" cy="137867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1714265" y="3373600"/>
                <a:ext cx="7144596" cy="1378672"/>
                <a:chOff x="-317035" y="0"/>
                <a:chExt cx="7144596" cy="1378672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ounded Rectangle 17"/>
                    <p:cNvSpPr/>
                    <p:nvPr/>
                  </p:nvSpPr>
                  <p:spPr>
                    <a:xfrm>
                      <a:off x="-317035" y="0"/>
                      <a:ext cx="7144596" cy="1378672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/>
                      <a:r>
                        <a:rPr lang="en-US" sz="24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Quotient of Powers Exponent Law</a:t>
                      </a:r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85800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𝑛</m:t>
                              </m:r>
                            </m:sup>
                          </m:sSup>
                        </m:oMath>
                      </a14:m>
                      <a:r>
                        <a:rPr lang="en-US" sz="2400" dirty="0">
                          <a:solidFill>
                            <a:srgbClr val="6C993D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</a:t>
                      </a:r>
                      <a:r>
                        <a:rPr lang="en-US" sz="24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and</a:t>
                      </a:r>
                      <a:r>
                        <a:rPr lang="en-US" sz="24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oMath>
                      </a14:m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ounded Rectangle 1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317035" y="0"/>
                      <a:ext cx="7144596" cy="1378672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9" name="Shape 7" descr="Icon&#10;&#10;Description automatically generated"/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187706" y="358598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grpSp>
        <p:nvGrpSpPr>
          <p:cNvPr id="20" name="Group 19"/>
          <p:cNvGrpSpPr/>
          <p:nvPr/>
        </p:nvGrpSpPr>
        <p:grpSpPr>
          <a:xfrm>
            <a:off x="2527554" y="3243730"/>
            <a:ext cx="7136892" cy="1291318"/>
            <a:chOff x="1523808" y="3301431"/>
            <a:chExt cx="7136892" cy="12922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oup 20"/>
            <p:cNvGrpSpPr/>
            <p:nvPr/>
          </p:nvGrpSpPr>
          <p:grpSpPr>
            <a:xfrm>
              <a:off x="1523808" y="3301431"/>
              <a:ext cx="7136892" cy="1292240"/>
              <a:chOff x="1523808" y="3301431"/>
              <a:chExt cx="7136892" cy="129224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1523808" y="3301431"/>
                <a:ext cx="7136892" cy="1292240"/>
                <a:chOff x="-507492" y="-72169"/>
                <a:chExt cx="7136892" cy="1292240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ounded Rectangle 24"/>
                    <p:cNvSpPr/>
                    <p:nvPr/>
                  </p:nvSpPr>
                  <p:spPr>
                    <a:xfrm>
                      <a:off x="-507492" y="-72169"/>
                      <a:ext cx="7136892" cy="129224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/>
                      <a:r>
                        <a:rPr lang="en-US" sz="24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Power of a Quotient Exponent Law</a:t>
                      </a:r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85800"/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oMath>
                      </a14:m>
                      <a:r>
                        <a:rPr lang="en-US" sz="2400" dirty="0">
                          <a:solidFill>
                            <a:srgbClr val="6C993D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</a:t>
                      </a:r>
                      <a:r>
                        <a:rPr lang="en-US" sz="2400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and</a:t>
                      </a:r>
                      <a:r>
                        <a:rPr lang="en-US" sz="24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oMath>
                      </a14:m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Rounded Rectangle 2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507492" y="-72169"/>
                      <a:ext cx="7136892" cy="1292240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6" name="Shape 7" descr="Icon&#10;&#10;Description automatically generated"/>
                <p:cNvPicPr preferRelativeResize="0"/>
                <p:nvPr/>
              </p:nvPicPr>
              <p:blipFill rotWithShape="1">
                <a:blip r:embed="rId8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385867" y="279911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grpSp>
        <p:nvGrpSpPr>
          <p:cNvPr id="27" name="Group 26"/>
          <p:cNvGrpSpPr/>
          <p:nvPr/>
        </p:nvGrpSpPr>
        <p:grpSpPr>
          <a:xfrm>
            <a:off x="2519850" y="4886877"/>
            <a:ext cx="7144596" cy="1205842"/>
            <a:chOff x="1769850" y="3177223"/>
            <a:chExt cx="7144596" cy="12066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Group 27"/>
            <p:cNvGrpSpPr/>
            <p:nvPr/>
          </p:nvGrpSpPr>
          <p:grpSpPr>
            <a:xfrm>
              <a:off x="1769850" y="3177223"/>
              <a:ext cx="7144596" cy="1206666"/>
              <a:chOff x="1769850" y="3177223"/>
              <a:chExt cx="7144596" cy="120666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30" name="Group 29"/>
              <p:cNvGrpSpPr/>
              <p:nvPr/>
            </p:nvGrpSpPr>
            <p:grpSpPr>
              <a:xfrm>
                <a:off x="1769850" y="3177223"/>
                <a:ext cx="7144596" cy="1206666"/>
                <a:chOff x="-261450" y="-196377"/>
                <a:chExt cx="7144596" cy="1206666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Rounded Rectangle 31"/>
                    <p:cNvSpPr/>
                    <p:nvPr/>
                  </p:nvSpPr>
                  <p:spPr>
                    <a:xfrm>
                      <a:off x="-261450" y="-196377"/>
                      <a:ext cx="7144596" cy="1206666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/>
                      <a:r>
                        <a:rPr lang="en-US" sz="24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Zero Exponent Law</a:t>
                      </a:r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85800"/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=1</m:t>
                          </m:r>
                        </m:oMath>
                      </a14:m>
                      <a:r>
                        <a:rPr lang="en-US" sz="2400" dirty="0">
                          <a:solidFill>
                            <a:srgbClr val="6C993D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</a:t>
                      </a:r>
                      <a:endPara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Rounded Rectangle 3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61450" y="-196377"/>
                      <a:ext cx="7144596" cy="1206666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0"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33" name="Shape 7" descr="Icon&#10;&#10;Description automatically generated"/>
                <p:cNvPicPr preferRelativeResize="0"/>
                <p:nvPr/>
              </p:nvPicPr>
              <p:blipFill rotWithShape="1">
                <a:blip r:embed="rId8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132121" y="101921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3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7928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6016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60584" y="29582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402" y="29582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536330" y="1458474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rewriting each expression as an equivalent expression using the laws of exponents.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81A9CA2-0645-4547-8E05-A9C337F9CC0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524996"/>
                  </p:ext>
                </p:extLst>
              </p:nvPr>
            </p:nvGraphicFramePr>
            <p:xfrm>
              <a:off x="2357379" y="2311153"/>
              <a:ext cx="7380000" cy="41465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9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667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(1.3)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(1.3)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667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−5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524996"/>
                  </p:ext>
                </p:extLst>
              </p:nvPr>
            </p:nvGraphicFramePr>
            <p:xfrm>
              <a:off x="2357379" y="2311153"/>
              <a:ext cx="7380000" cy="41465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6129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34585" marR="3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7667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8" t="-37370" r="-272615" b="-105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7667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8" t="-136897" r="-272615" b="-48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8148447"/>
                  </p:ext>
                </p:extLst>
              </p:nvPr>
            </p:nvGraphicFramePr>
            <p:xfrm>
              <a:off x="2359406" y="365625"/>
              <a:ext cx="7380000" cy="413609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6204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∙(−3)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620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(−4)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8148447"/>
                  </p:ext>
                </p:extLst>
              </p:nvPr>
            </p:nvGraphicFramePr>
            <p:xfrm>
              <a:off x="2359406" y="365625"/>
              <a:ext cx="7380000" cy="413609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62659" marR="626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7620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7024" r="-272615" b="-10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7620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7024" r="-272615" b="-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2238844"/>
                  </p:ext>
                </p:extLst>
              </p:nvPr>
            </p:nvGraphicFramePr>
            <p:xfrm>
              <a:off x="2357160" y="376825"/>
              <a:ext cx="7380000" cy="590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(−7.45)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(−7.45)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2238844"/>
                  </p:ext>
                </p:extLst>
              </p:nvPr>
            </p:nvGraphicFramePr>
            <p:xfrm>
              <a:off x="2357160" y="376825"/>
              <a:ext cx="7380000" cy="590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Exponential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Exponent Law(s) Applied</a:t>
                          </a:r>
                        </a:p>
                      </a:txBody>
                      <a:tcPr marL="44570" marR="4457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8" t="-36897" r="-272615" b="-20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8" t="-137370" r="-272615" b="-10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76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8" t="-237370" r="-272615" b="-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 of Powers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Product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Quotient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Power of a Power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anose="05000000000000000000" pitchFamily="2" charset="2"/>
                            <a:buChar char="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Zero Exponent</a:t>
                          </a:r>
                        </a:p>
                      </a:txBody>
                      <a:tcPr marL="162000" marR="162000" marT="54000" marB="540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2887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11370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5218" y="2799137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0584" y="-65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1.3.5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Analyzing Equivalent Expressions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894" y="28135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6330" y="1459045"/>
                <a:ext cx="105156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 and Elena each generated a list of equivalent expressions by applying exponents laws.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analyze each list for errors.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 generated the following expressions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30" y="1459045"/>
                <a:ext cx="10515600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638" t="-1572" b="-47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470377"/>
                  </p:ext>
                </p:extLst>
              </p:nvPr>
            </p:nvGraphicFramePr>
            <p:xfrm>
              <a:off x="2623891" y="3560646"/>
              <a:ext cx="6340475" cy="180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(5∙5∙5∙5∙5∙5∙5∙5∙5)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−10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470377"/>
                  </p:ext>
                </p:extLst>
              </p:nvPr>
            </p:nvGraphicFramePr>
            <p:xfrm>
              <a:off x="2623891" y="3560646"/>
              <a:ext cx="6340475" cy="180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r="-32839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5421" r="-4915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9581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0680" r="-328395" b="-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5421" t="-100680" r="-49159" b="-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95817" t="-100680" b="-6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536329" y="5597569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the equivalent expressions and draw an X through the expressions that are not equivalent to the original expression.</a:t>
            </a:r>
            <a:endParaRPr lang="en-US" sz="2000" dirty="0"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5123" y="375498"/>
                <a:ext cx="105156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 generated the following expressions as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(2.95)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3" y="375498"/>
                <a:ext cx="10515600" cy="769441"/>
              </a:xfrm>
              <a:prstGeom prst="rect">
                <a:avLst/>
              </a:prstGeom>
              <a:blipFill rotWithShape="1">
                <a:blip r:embed="rId4"/>
                <a:stretch>
                  <a:fillRect l="-754" t="-63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564943"/>
                  </p:ext>
                </p:extLst>
              </p:nvPr>
            </p:nvGraphicFramePr>
            <p:xfrm>
              <a:off x="2632685" y="945442"/>
              <a:ext cx="6340475" cy="16286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2.95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2.95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2.95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17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0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17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564943"/>
                  </p:ext>
                </p:extLst>
              </p:nvPr>
            </p:nvGraphicFramePr>
            <p:xfrm>
              <a:off x="2632685" y="945442"/>
              <a:ext cx="6340475" cy="16286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12" r="-327984" b="-19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5607" r="-48972" b="-19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7328" b="-19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12" t="-50847" r="-327984" b="-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5607" t="-50847" r="-48972" b="-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7328" t="-50847" b="-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545123" y="2774196"/>
            <a:ext cx="10515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/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the equivalent expressions and draw an X through the expressions that are not equivalent to the original expression.</a:t>
            </a:r>
            <a:endParaRPr lang="en-US" sz="2200" dirty="0"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6752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425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662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402" y="2958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5646" y="1465156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value on the scale that matches your understanding of each learning target.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quotient of powers, power of a quotient, and zero exponent laws to simplify expressions.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602000" y="3678076"/>
            <a:ext cx="6835140" cy="1624395"/>
            <a:chOff x="2602000" y="4033074"/>
            <a:chExt cx="6835140" cy="1624395"/>
          </a:xfrm>
        </p:grpSpPr>
        <p:pic>
          <p:nvPicPr>
            <p:cNvPr id="10" name="image4.png" descr="Chart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6060" b="42611"/>
            <a:stretch>
              <a:fillRect/>
            </a:stretch>
          </p:blipFill>
          <p:spPr>
            <a:xfrm>
              <a:off x="2602000" y="5150739"/>
              <a:ext cx="6835140" cy="506730"/>
            </a:xfrm>
            <a:prstGeom prst="rect">
              <a:avLst/>
            </a:prstGeom>
            <a:ln/>
          </p:spPr>
        </p:pic>
        <p:pic>
          <p:nvPicPr>
            <p:cNvPr id="11" name="image17.png" descr="Icon&#10;&#10;Description automatically generated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32002" y="4033074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3" name="image19.png" descr="Icon&#10;&#10;Description automatically generated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754401" y="4033074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4" name="image22.png" descr="Icon&#10;&#10;Description automatically generated"/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870254" y="4033074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5" name="image20.png" descr="Icon&#10;&#10;Description automatically generated"/>
            <p:cNvPicPr/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90863" y="4033074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6" name="image21.png" descr="Icon&#10;&#10;Description automatically generated"/>
            <p:cNvPicPr/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311472" y="4033074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7" name="image8.png" descr="Icon&#10;&#10;Description automatically generated"/>
            <p:cNvPicPr/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21903" y="4033074"/>
              <a:ext cx="914400" cy="914400"/>
            </a:xfrm>
            <a:prstGeom prst="rect">
              <a:avLst/>
            </a:prstGeom>
            <a:ln/>
          </p:spPr>
        </p:pic>
      </p:grpSp>
      <p:sp>
        <p:nvSpPr>
          <p:cNvPr id="1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5646" y="37971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expressions using the laws of exponents to generate equivalent expressions.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602000" y="1445432"/>
            <a:ext cx="6835140" cy="1624395"/>
            <a:chOff x="2602000" y="1800430"/>
            <a:chExt cx="6835140" cy="1624395"/>
          </a:xfrm>
        </p:grpSpPr>
        <p:pic>
          <p:nvPicPr>
            <p:cNvPr id="10" name="image4.png" descr="Chart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6060" b="42611"/>
            <a:stretch>
              <a:fillRect/>
            </a:stretch>
          </p:blipFill>
          <p:spPr>
            <a:xfrm>
              <a:off x="2602000" y="2918095"/>
              <a:ext cx="6835140" cy="506730"/>
            </a:xfrm>
            <a:prstGeom prst="rect">
              <a:avLst/>
            </a:prstGeom>
            <a:ln/>
          </p:spPr>
        </p:pic>
        <p:pic>
          <p:nvPicPr>
            <p:cNvPr id="11" name="image17.png" descr="Icon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32002" y="1800430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3" name="image19.png" descr="Icon&#10;&#10;Description automatically generated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754401" y="1800430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4" name="image22.png" descr="Icon&#10;&#10;Description automatically generated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870254" y="1800430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5" name="image20.png" descr="Icon&#10;&#10;Description automatically generated"/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90863" y="1800430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6" name="image21.png" descr="Icon&#10;&#10;Description automatically generated"/>
            <p:cNvPicPr/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311472" y="1800430"/>
              <a:ext cx="914400" cy="914400"/>
            </a:xfrm>
            <a:prstGeom prst="rect">
              <a:avLst/>
            </a:prstGeom>
            <a:ln/>
          </p:spPr>
        </p:pic>
        <p:pic>
          <p:nvPicPr>
            <p:cNvPr id="17" name="image8.png" descr="Icon&#10;&#10;Description automatically generated"/>
            <p:cNvPicPr/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21903" y="1800430"/>
              <a:ext cx="914400" cy="914400"/>
            </a:xfrm>
            <a:prstGeom prst="rect">
              <a:avLst/>
            </a:prstGeom>
            <a:ln/>
          </p:spPr>
        </p:pic>
      </p:grpSp>
      <p:sp>
        <p:nvSpPr>
          <p:cNvPr id="1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68408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1116</Words>
  <Application>Microsoft Macintosh PowerPoint</Application>
  <PresentationFormat>Widescreen</PresentationFormat>
  <Paragraphs>279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Calibri</vt:lpstr>
      <vt:lpstr>Arial Black</vt:lpstr>
      <vt:lpstr>Cambria Math</vt:lpstr>
      <vt:lpstr>Wingdings</vt:lpstr>
      <vt:lpstr>Verdana</vt:lpstr>
      <vt:lpstr>Courier New</vt:lpstr>
      <vt:lpstr>Arial</vt:lpstr>
      <vt:lpstr>Century Gothic</vt:lpstr>
      <vt:lpstr>Times New Roman</vt:lpstr>
      <vt:lpstr>1_Office Theme</vt:lpstr>
      <vt:lpstr>8th Grade Math: Pre-Algebra  Unit 1, Lesson 3  Applying the Laws of Exponents –  Part 2  Volume 1, pg. 16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Your Turn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45</cp:revision>
  <dcterms:created xsi:type="dcterms:W3CDTF">2015-03-17T18:51:18Z</dcterms:created>
  <dcterms:modified xsi:type="dcterms:W3CDTF">2023-02-06T16:10:25Z</dcterms:modified>
</cp:coreProperties>
</file>