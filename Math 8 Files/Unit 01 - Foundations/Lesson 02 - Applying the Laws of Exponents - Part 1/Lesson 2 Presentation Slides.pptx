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9" r:id="rId10"/>
    <p:sldId id="323" r:id="rId11"/>
    <p:sldId id="324" r:id="rId12"/>
    <p:sldId id="325" r:id="rId13"/>
    <p:sldId id="326" r:id="rId14"/>
    <p:sldId id="289" r:id="rId15"/>
    <p:sldId id="290" r:id="rId16"/>
    <p:sldId id="308" r:id="rId17"/>
    <p:sldId id="320" r:id="rId18"/>
    <p:sldId id="321" r:id="rId19"/>
    <p:sldId id="306" r:id="rId20"/>
    <p:sldId id="307" r:id="rId21"/>
  </p:sldIdLst>
  <p:sldSz cx="12192000" cy="6858000"/>
  <p:notesSz cx="6858000" cy="9144000"/>
  <p:embeddedFontLst>
    <p:embeddedFont>
      <p:font typeface="Century Gothic" pitchFamily="34" charset="0"/>
      <p:regular r:id="rId23"/>
      <p:bold r:id="rId24"/>
      <p:italic r:id="rId25"/>
      <p:boldItalic r:id="rId26"/>
    </p:embeddedFont>
    <p:embeddedFont>
      <p:font typeface="Cambria Math" pitchFamily="18" charset="0"/>
      <p:regular r:id="rId27"/>
    </p:embeddedFont>
    <p:embeddedFont>
      <p:font typeface="Cambria" pitchFamily="18" charset="0"/>
      <p:regular r:id="rId28"/>
      <p:bold r:id="rId29"/>
      <p:italic r:id="rId30"/>
      <p:boldItalic r:id="rId31"/>
    </p:embeddedFont>
    <p:embeddedFont>
      <p:font typeface="Arial Black" pitchFamily="34" charset="0"/>
      <p:bold r:id="rId32"/>
    </p:embeddedFont>
    <p:embeddedFont>
      <p:font typeface="Verdana" pitchFamily="34" charset="0"/>
      <p:regular r:id="rId33"/>
      <p:bold r:id="rId34"/>
      <p:italic r:id="rId35"/>
      <p:boldItalic r:id="rId36"/>
    </p:embeddedFont>
    <p:embeddedFont>
      <p:font typeface="Calibri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6327"/>
  </p:normalViewPr>
  <p:slideViewPr>
    <p:cSldViewPr snapToGrid="0">
      <p:cViewPr>
        <p:scale>
          <a:sx n="80" d="100"/>
          <a:sy n="80" d="100"/>
        </p:scale>
        <p:origin x="-648" y="-1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5541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9849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616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59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760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 panose="020B0604030504040204" pitchFamily="34" charset="0"/>
              </a:rPr>
              <a:t>Pre-Algebra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Rewriting Rational Numbers in Equivalent Forms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MA.7.NSO.1.2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rational numbers in different but equivalent forms including fractions, mixed numbers, repeating decimals, and percentages to solve mathematical and real-world problems.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rational numbers in different but equivalent forms.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67;p4"/>
          <p:cNvSpPr txBox="1"/>
          <p:nvPr/>
        </p:nvSpPr>
        <p:spPr>
          <a:xfrm>
            <a:off x="1143000" y="182113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Day at Work: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Senior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Designer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Google Shape;170;p4"/>
          <p:cNvSpPr txBox="1"/>
          <p:nvPr/>
        </p:nvSpPr>
        <p:spPr>
          <a:xfrm>
            <a:off x="914400" y="1386026"/>
            <a:ext cx="1071375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Nik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Brensnick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senior product designer. She is quoted as saying, “A big part of working and being successful in the workplace has to do with cultivating relationships with other people.”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do you think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Nik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has this belief about being successful in the workplace?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731520" y="1315687"/>
            <a:ext cx="10799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match the equivalent rational numbers expressed in different forms. Record each matching set in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32274384-6D96-984A-8A32-66A86393A00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43444"/>
              </p:ext>
            </p:extLst>
          </p:nvPr>
        </p:nvGraphicFramePr>
        <p:xfrm>
          <a:off x="2567494" y="2277245"/>
          <a:ext cx="6858000" cy="4114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Fraction</a:t>
                      </a:r>
                    </a:p>
                  </a:txBody>
                  <a:tcPr marL="44599" marR="44599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Decimal</a:t>
                      </a:r>
                    </a:p>
                  </a:txBody>
                  <a:tcPr marL="44599" marR="44599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</a:t>
                      </a:r>
                    </a:p>
                  </a:txBody>
                  <a:tcPr marL="44599" marR="44599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280626"/>
            <a:ext cx="1108557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1.1.2 Activity: Match It Up!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8216EE-488F-0B46-A674-98E7CEF1691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C08EE3-8247-C14E-9600-35165D5C8679}"/>
              </a:ext>
            </a:extLst>
          </p:cNvPr>
          <p:cNvSpPr txBox="1"/>
          <p:nvPr/>
        </p:nvSpPr>
        <p:spPr>
          <a:xfrm>
            <a:off x="560832" y="384407"/>
            <a:ext cx="11197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method for matching the equivalent rational forms.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20" y="1325700"/>
                <a:ext cx="10799064" cy="2802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numbers can be written as a fraction,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as a decimal. In decimal form, rational numbers either terminate or repeat.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25700"/>
                <a:ext cx="10799064" cy="2802562"/>
              </a:xfrm>
              <a:prstGeom prst="rect">
                <a:avLst/>
              </a:prstGeom>
              <a:blipFill rotWithShape="1">
                <a:blip r:embed="rId3"/>
                <a:stretch>
                  <a:fillRect l="-847" b="-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66804" y="3481218"/>
            <a:ext cx="6628986" cy="8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8438" y="308326"/>
            <a:ext cx="11063562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1.1.3 Guided Practice: Repeating Decimals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2519851" y="1325700"/>
            <a:ext cx="6775939" cy="1005513"/>
            <a:chOff x="2743082" y="5287990"/>
            <a:chExt cx="6775939" cy="1005513"/>
          </a:xfrm>
        </p:grpSpPr>
        <p:sp>
          <p:nvSpPr>
            <p:cNvPr id="23" name="Rounded Rectangle 22"/>
            <p:cNvSpPr/>
            <p:nvPr/>
          </p:nvSpPr>
          <p:spPr>
            <a:xfrm>
              <a:off x="2743082" y="5287990"/>
              <a:ext cx="6775939" cy="1005513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72000" rIns="91425" bIns="0" anchor="ctr" anchorCtr="0">
              <a:spAutoFit/>
            </a:bodyPr>
            <a:lstStyle/>
            <a:p>
              <a:pPr marL="742950">
                <a:lnSpc>
                  <a:spcPct val="115000"/>
                </a:lnSpc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Cambria" panose="020405030504060302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Cambria" panose="02040503050406030204" pitchFamily="18" charset="0"/>
                  <a:cs typeface="Times New Roman" panose="02020603050405020304" pitchFamily="18" charset="0"/>
                </a:rPr>
                <a:t>rational number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Cambria" panose="02040503050406030204" pitchFamily="18" charset="0"/>
                  <a:cs typeface="Times New Roman" panose="02020603050405020304" pitchFamily="18" charset="0"/>
                </a:rPr>
                <a:t> is a real number that can be expressed as a ratio of two integers.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Shape 7" descr="Icon&#10;&#10;Description automatically generated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36662" y="5497400"/>
              <a:ext cx="539716" cy="52954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C08EE3-8247-C14E-9600-35165D5C8679}"/>
              </a:ext>
            </a:extLst>
          </p:cNvPr>
          <p:cNvSpPr txBox="1"/>
          <p:nvPr/>
        </p:nvSpPr>
        <p:spPr>
          <a:xfrm>
            <a:off x="560832" y="384407"/>
            <a:ext cx="1119741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fractions in the table shown.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rewriting each fraction into its equivalent form. If a decimal repeats digits in a pattern, use an ellipse (...) to indicate that the pattern continues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your work in Part A, explain whether it is possible for a repeating decimal to ever terminate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746410"/>
                  </p:ext>
                </p:extLst>
              </p:nvPr>
            </p:nvGraphicFramePr>
            <p:xfrm>
              <a:off x="2622282" y="2091465"/>
              <a:ext cx="7316394" cy="3352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0917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6822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2501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 or Repeating?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746410"/>
                  </p:ext>
                </p:extLst>
              </p:nvPr>
            </p:nvGraphicFramePr>
            <p:xfrm>
              <a:off x="2622282" y="2091465"/>
              <a:ext cx="7316394" cy="3352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091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682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22501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 or Repeating?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74667" r="-204051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74667" r="-204051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74667" r="-20405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60832" y="384407"/>
                <a:ext cx="11197414" cy="5096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Repeating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decimals are written with a bar over the digits that repeat.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expressed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written as a decimal because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digit that repeats infinitely.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Dulce divided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calculator to 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decimal form. She found the resulting pattern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0.737373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its equivalent decimal form.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384407"/>
                <a:ext cx="11197414" cy="5096010"/>
              </a:xfrm>
              <a:prstGeom prst="rect">
                <a:avLst/>
              </a:prstGeom>
              <a:blipFill rotWithShape="1">
                <a:blip r:embed="rId3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556988" y="323050"/>
            <a:ext cx="6629400" cy="1327752"/>
            <a:chOff x="0" y="-194106"/>
            <a:chExt cx="6629400" cy="1328277"/>
          </a:xfrm>
        </p:grpSpPr>
        <p:grpSp>
          <p:nvGrpSpPr>
            <p:cNvPr id="8" name="Group 7"/>
            <p:cNvGrpSpPr/>
            <p:nvPr/>
          </p:nvGrpSpPr>
          <p:grpSpPr>
            <a:xfrm>
              <a:off x="0" y="-194106"/>
              <a:ext cx="6629400" cy="1328277"/>
              <a:chOff x="0" y="-194235"/>
              <a:chExt cx="6629400" cy="1329159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0" y="-194235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0" y="-131968"/>
                <a:ext cx="6629400" cy="1266892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74295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with a decimal that never ends, but has a pattern that repeats infinitely, is called a </a:t>
                </a:r>
                <a:r>
                  <a:rPr lang="en-US" sz="2000" b="1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repeating decimal.</a:t>
                </a:r>
              </a:p>
            </p:txBody>
          </p:sp>
        </p:grpSp>
        <p:pic>
          <p:nvPicPr>
            <p:cNvPr id="9" name="Picture 8" descr="Icon&#10;&#10;Description automatically generated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4089" y="160824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9466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1.1.4 Guided Instruction: Rewriting Repeating Decimals as Fractions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386026"/>
                <a:ext cx="10515600" cy="1017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repeating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complete each equation.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515600" cy="1017073"/>
              </a:xfrm>
              <a:prstGeom prst="rect">
                <a:avLst/>
              </a:prstGeom>
              <a:blipFill>
                <a:blip r:embed="rId5"/>
                <a:stretch>
                  <a:fillRect l="-603" t="-2439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034862"/>
                  </p:ext>
                </p:extLst>
              </p:nvPr>
            </p:nvGraphicFramePr>
            <p:xfrm>
              <a:off x="4075781" y="2588579"/>
              <a:ext cx="1997075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579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25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0.4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034862"/>
                  </p:ext>
                </p:extLst>
              </p:nvPr>
            </p:nvGraphicFramePr>
            <p:xfrm>
              <a:off x="4075781" y="2588579"/>
              <a:ext cx="1997075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57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2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r="-213725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l="-196154" r="-319231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l="-93902" r="-1220" b="-2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t="-97297" r="-213725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l="-196154" t="-97297" r="-319231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t="-202778" r="-21372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6"/>
                          <a:stretch>
                            <a:fillRect l="-196154" t="-202778" r="-319231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914400" y="4415331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two values, when subtracted, would result in the elimination of the repeating portion of the decimal?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5"/>
                <a:ext cx="10515600" cy="450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two of the relationships represented in the equations in Part A to complete the steps to find the fraction equivalent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_________−_________= _________− _________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_____</a:t>
                </a:r>
              </a:p>
              <a:p>
                <a:pPr algn="ctr"/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000" i="1">
                              <a:latin typeface="Cambria Math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solution as a fraction in the simplest form, if possible.</a:t>
                </a:r>
              </a:p>
              <a:p>
                <a:pPr algn="ctr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5"/>
                <a:ext cx="10515600" cy="4509504"/>
              </a:xfrm>
              <a:prstGeom prst="rect">
                <a:avLst/>
              </a:prstGeom>
              <a:blipFill>
                <a:blip r:embed="rId4"/>
                <a:stretch>
                  <a:fillRect t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068566"/>
                  </p:ext>
                </p:extLst>
              </p:nvPr>
            </p:nvGraphicFramePr>
            <p:xfrm>
              <a:off x="1497246" y="1893045"/>
              <a:ext cx="7803804" cy="4297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4836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67695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7848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72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88.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0.5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068566"/>
                  </p:ext>
                </p:extLst>
              </p:nvPr>
            </p:nvGraphicFramePr>
            <p:xfrm>
              <a:off x="1497246" y="1893045"/>
              <a:ext cx="7803804" cy="4297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4836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676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784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</a:t>
                          </a: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9" t="-84444" r="-206220" b="-6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2837" t="-184444" b="-50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444" t="-284444" r="-96355" b="-4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9" t="-384444" r="-206220" b="-3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2837" t="-484444" b="-20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5444" t="-584444" r="-96355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9" t="-684444" r="-206220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352" marR="6235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308399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1.1.5 Try It: Equivalent Forms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24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AB6A3A1-5A0D-C84F-AC89-57E6782F43E5}"/>
              </a:ext>
            </a:extLst>
          </p:cNvPr>
          <p:cNvSpPr txBox="1"/>
          <p:nvPr/>
        </p:nvSpPr>
        <p:spPr>
          <a:xfrm>
            <a:off x="914400" y="1293465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914400" y="1386025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 all the statements that apply to your understanding.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understand how to rewrite rational numbers in different but equivalent forms. </a:t>
            </a:r>
          </a:p>
          <a:p>
            <a:pPr marL="9144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support on how to rewrite rational numbers in different but equivalent forms.</a:t>
            </a:r>
          </a:p>
          <a:p>
            <a:pPr marL="9144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understand how to convert a repeating decimal to a fraction.</a:t>
            </a:r>
          </a:p>
          <a:p>
            <a:pPr marL="9144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support on how to convert a repeating decimal to a fraction.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1.1.6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690</Words>
  <Application>Microsoft Office PowerPoint</Application>
  <PresentationFormat>Custom</PresentationFormat>
  <Paragraphs>208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Century Gothic</vt:lpstr>
      <vt:lpstr>Cambria Math</vt:lpstr>
      <vt:lpstr>Wingdings</vt:lpstr>
      <vt:lpstr>Cambria</vt:lpstr>
      <vt:lpstr>Arial Black</vt:lpstr>
      <vt:lpstr>Verdana</vt:lpstr>
      <vt:lpstr>Calibri</vt:lpstr>
      <vt:lpstr>Courier New</vt:lpstr>
      <vt:lpstr>Times New Roman</vt:lpstr>
      <vt:lpstr>1_Office Theme</vt:lpstr>
      <vt:lpstr>PowerPoint Presentation</vt:lpstr>
      <vt:lpstr>Benchmark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38</cp:revision>
  <dcterms:created xsi:type="dcterms:W3CDTF">2015-03-17T18:51:18Z</dcterms:created>
  <dcterms:modified xsi:type="dcterms:W3CDTF">2022-06-13T12:29:53Z</dcterms:modified>
</cp:coreProperties>
</file>