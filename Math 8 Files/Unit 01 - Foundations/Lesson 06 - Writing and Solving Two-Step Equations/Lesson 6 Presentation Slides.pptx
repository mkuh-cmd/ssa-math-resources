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3" r:id="rId9"/>
    <p:sldId id="324" r:id="rId10"/>
    <p:sldId id="335" r:id="rId11"/>
    <p:sldId id="336" r:id="rId12"/>
    <p:sldId id="337" r:id="rId13"/>
    <p:sldId id="320" r:id="rId14"/>
    <p:sldId id="321" r:id="rId15"/>
    <p:sldId id="314" r:id="rId16"/>
    <p:sldId id="315" r:id="rId17"/>
    <p:sldId id="289" r:id="rId18"/>
    <p:sldId id="290" r:id="rId19"/>
    <p:sldId id="339" r:id="rId20"/>
    <p:sldId id="322" r:id="rId21"/>
    <p:sldId id="332" r:id="rId22"/>
    <p:sldId id="333" r:id="rId23"/>
    <p:sldId id="334" r:id="rId24"/>
    <p:sldId id="306" r:id="rId25"/>
    <p:sldId id="307" r:id="rId26"/>
    <p:sldId id="310" r:id="rId27"/>
  </p:sldIdLst>
  <p:sldSz cx="12192000" cy="6858000"/>
  <p:notesSz cx="6858000" cy="9144000"/>
  <p:embeddedFontLst>
    <p:embeddedFont>
      <p:font typeface="Calibri" pitchFamily="34" charset="0"/>
      <p:regular r:id="rId29"/>
      <p:bold r:id="rId30"/>
      <p:italic r:id="rId31"/>
      <p:boldItalic r:id="rId32"/>
    </p:embeddedFont>
    <p:embeddedFont>
      <p:font typeface="Century Gothic" pitchFamily="34" charset="0"/>
      <p:regular r:id="rId33"/>
      <p:bold r:id="rId34"/>
      <p:italic r:id="rId35"/>
      <p:boldItalic r:id="rId36"/>
    </p:embeddedFont>
    <p:embeddedFont>
      <p:font typeface="Cambria Math" pitchFamily="18" charset="0"/>
      <p:regular r:id="rId37"/>
    </p:embeddedFont>
    <p:embeddedFont>
      <p:font typeface="Cambria" pitchFamily="18" charset="0"/>
      <p:regular r:id="rId38"/>
      <p:bold r:id="rId39"/>
      <p:italic r:id="rId40"/>
      <p:boldItalic r:id="rId41"/>
    </p:embeddedFont>
    <p:embeddedFont>
      <p:font typeface="Arial Black" pitchFamily="34" charset="0"/>
      <p:bold r:id="rId42"/>
    </p:embeddedFont>
    <p:embeddedFont>
      <p:font typeface="Verdana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07"/>
    <p:restoredTop sz="94656"/>
  </p:normalViewPr>
  <p:slideViewPr>
    <p:cSldViewPr snapToGrid="0">
      <p:cViewPr varScale="1">
        <p:scale>
          <a:sx n="104" d="100"/>
          <a:sy n="104" d="100"/>
        </p:scale>
        <p:origin x="-50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4011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945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1430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535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91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486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2609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137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055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7704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dirty="0">
                <a:solidFill>
                  <a:srgbClr val="417DBF"/>
                </a:solidFill>
                <a:effectLst/>
                <a:latin typeface="Verdana" panose="020B0604030504040204" pitchFamily="34" charset="0"/>
              </a:rPr>
              <a:t>Pre-Algebra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Two-Step Equations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23783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MA.7.AR.2.2</a:t>
            </a:r>
          </a:p>
          <a:p>
            <a:pPr indent="0">
              <a:buNone/>
            </a:pP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two-step equations in one variable within a mathematical or real-world context, where all terms are rational numbers.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2661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two-step equation within a mathematical or real-world context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541338" indent="-541338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two-step equation given a real-world context.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1878" y="8954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1.6.1 Warm-Up: Estimation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982" y="3787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41538" y="1476387"/>
                <a:ext cx="10515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picture shows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#4 size paper clips with four clips chained together.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1476387"/>
                <a:ext cx="10515600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638" t="-431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A picture containing floor, stationary, indoor, paper clip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532" y="2128790"/>
            <a:ext cx="4971611" cy="3503914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85F77CB-5FF9-E743-9AA8-B4C11C925C9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32661" y="381418"/>
                <a:ext cx="10800000" cy="47643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15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 by estimating how long it would take you to chain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paper clips together.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Too Low: _______ </a:t>
                </a: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Too High: _______ </a:t>
                </a: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Just Right: ______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1418"/>
                <a:ext cx="10800000" cy="4764381"/>
              </a:xfrm>
              <a:prstGeom prst="rect">
                <a:avLst/>
              </a:prstGeom>
              <a:blipFill rotWithShape="1">
                <a:blip r:embed="rId4"/>
                <a:stretch>
                  <a:fillRect l="-847" t="-7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1878" y="907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1.6.2 Guided Practice: Properties of Equality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983" y="37874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535590" y="1368177"/>
            <a:ext cx="1051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Properties of equality can be used to solve equations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with a numeric example of each property of equality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292367"/>
                  </p:ext>
                </p:extLst>
              </p:nvPr>
            </p:nvGraphicFramePr>
            <p:xfrm>
              <a:off x="1151878" y="2334593"/>
              <a:ext cx="9540000" cy="40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0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Property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Statement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Numeric Example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Symmetric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Addition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then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then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strike="noStrike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</a:t>
                          </a:r>
                          <a:endParaRPr lang="en-US" sz="2000" strike="noStrike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Property of 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then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</a:rPr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</a:t>
                          </a:r>
                          <a:r>
                            <a:rPr lang="en-US" sz="2000" dirty="0" smtClean="0">
                              <a:effectLst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</a:rPr>
                          </a:br>
                          <a:r>
                            <a:rPr lang="en-US" sz="2000" dirty="0" smtClean="0">
                              <a:effectLst/>
                            </a:rPr>
                            <a:t>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292367"/>
                  </p:ext>
                </p:extLst>
              </p:nvPr>
            </p:nvGraphicFramePr>
            <p:xfrm>
              <a:off x="1151878" y="2334593"/>
              <a:ext cx="9540000" cy="406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0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Property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Statement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Numeric Example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Symmetric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5110" t="-66102" r="-79865" b="-4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Addition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5110" t="-166102" r="-79865" b="-3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5110" t="-266102" r="-79865" b="-2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Property of 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5110" t="-366102" r="-79865" b="-1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Property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Equality</a:t>
                          </a:r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5110" t="-466102" r="-79865" b="-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90" marR="6399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532660" y="385217"/>
                <a:ext cx="10515600" cy="2991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property justifies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+7.1=24.38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24.38=4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+7.1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−8.1=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applying properties of equality.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each box with an operation and each blank with a value.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5217"/>
                <a:ext cx="10515600" cy="2991716"/>
              </a:xfrm>
              <a:prstGeom prst="rect">
                <a:avLst/>
              </a:prstGeom>
              <a:blipFill rotWithShape="1">
                <a:blip r:embed="rId4"/>
                <a:stretch>
                  <a:fillRect l="-580" t="-122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4068490" y="2706558"/>
                <a:ext cx="2523447" cy="813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−8.1=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490" y="2706558"/>
                <a:ext cx="2523447" cy="81374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197060" y="3376934"/>
                <a:ext cx="7662936" cy="8137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288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−8.1          _______ = 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_______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060" y="3376934"/>
                <a:ext cx="7662936" cy="81374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480558" y="4256213"/>
                <a:ext cx="1699311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58" y="4256213"/>
                <a:ext cx="1699311" cy="61734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443106" y="4926589"/>
                <a:ext cx="4093685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106" y="4926589"/>
                <a:ext cx="4093685" cy="61734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4584175" y="5814203"/>
                <a:ext cx="149207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175" y="5814203"/>
                <a:ext cx="1492075" cy="40011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1683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541538" y="38521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substitution in the original equation to verify the solution.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697811" y="1093103"/>
                <a:ext cx="2523448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−8.1=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11" y="1093103"/>
                <a:ext cx="2523448" cy="6169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117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532661" y="349705"/>
                <a:ext cx="10515600" cy="1766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+4.25=−3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applying properties of equality.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each box with an operation and each blank with a value for the first step in solving the equation. Then, finish solving the equation on your own.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49705"/>
                <a:ext cx="10515600" cy="1766574"/>
              </a:xfrm>
              <a:prstGeom prst="rect">
                <a:avLst/>
              </a:prstGeom>
              <a:blipFill rotWithShape="1">
                <a:blip r:embed="rId4"/>
                <a:stretch>
                  <a:fillRect l="-580" b="-482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684215" y="2116279"/>
                <a:ext cx="2226122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+4.25=−3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215" y="2116279"/>
                <a:ext cx="2226122" cy="66851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3464407" y="2799529"/>
                <a:ext cx="4785605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+4.25          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−3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07" y="2799529"/>
                <a:ext cx="4785605" cy="66851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562595" y="3617970"/>
                <a:ext cx="15948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5" y="3617970"/>
                <a:ext cx="1594860" cy="40011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05263" y="4274045"/>
                <a:ext cx="145219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263" y="4274045"/>
                <a:ext cx="1452192" cy="40011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32661" y="5172858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substitution in the original equation to verify the solution.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986696" y="5722893"/>
                <a:ext cx="2631682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+4.25=−3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696" y="5722893"/>
                <a:ext cx="2631682" cy="66851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80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88832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1878" y="90796"/>
            <a:ext cx="109514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1.6.3 Try It: Solving Two-Step Equations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983" y="37874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B6A3A1-5A0D-C84F-AC89-57E6782F43E5}"/>
              </a:ext>
            </a:extLst>
          </p:cNvPr>
          <p:cNvSpPr txBox="1"/>
          <p:nvPr/>
        </p:nvSpPr>
        <p:spPr>
          <a:xfrm>
            <a:off x="532660" y="1461994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 by applying properties of equality. Use substitution to verify the solutions for each equation.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985161"/>
                  </p:ext>
                </p:extLst>
              </p:nvPr>
            </p:nvGraphicFramePr>
            <p:xfrm>
              <a:off x="2724728" y="2335180"/>
              <a:ext cx="5907023" cy="419405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0065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90044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1871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−7=−11.2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322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10.5=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985161"/>
                  </p:ext>
                </p:extLst>
              </p:nvPr>
            </p:nvGraphicFramePr>
            <p:xfrm>
              <a:off x="2724728" y="2335180"/>
              <a:ext cx="5907023" cy="419405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0065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90044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1871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3" r="-96552" b="-1244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3782" b="-1244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322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3" t="-80577" r="-96552" b="-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472" marR="40472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3782" t="-80577" b="-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1878" y="1017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1.6.4 Collaboration: Using the Distributive Property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983" y="38966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1538" y="1471806"/>
                <a:ext cx="105156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Equations can be solved in more than one way. When an equation is written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it can be solved by either distributing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first or by dividing both sides of the equation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first.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63=3(6−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solved using either method.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63=3(6−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each method.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1471806"/>
                <a:ext cx="10515600" cy="2554545"/>
              </a:xfrm>
              <a:prstGeom prst="rect">
                <a:avLst/>
              </a:prstGeom>
              <a:blipFill rotWithShape="1">
                <a:blip r:embed="rId5"/>
                <a:stretch>
                  <a:fillRect l="-638" t="-1193" r="-2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925806"/>
                  </p:ext>
                </p:extLst>
              </p:nvPr>
            </p:nvGraphicFramePr>
            <p:xfrm>
              <a:off x="1610026" y="3774996"/>
              <a:ext cx="7761726" cy="2277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89092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87080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6292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Method 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Apply the distributive property first.</a:t>
                          </a:r>
                        </a:p>
                      </a:txBody>
                      <a:tcPr marL="68580" marR="68580" marT="72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Method 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the factor being distributed first.</a:t>
                          </a:r>
                        </a:p>
                      </a:txBody>
                      <a:tcPr marL="68580" marR="68580" marT="72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956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63=3(6−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63=3(6−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925806"/>
                  </p:ext>
                </p:extLst>
              </p:nvPr>
            </p:nvGraphicFramePr>
            <p:xfrm>
              <a:off x="1610026" y="3774996"/>
              <a:ext cx="7761726" cy="2277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8909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87080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986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Method 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Apply the distributive property first.</a:t>
                          </a:r>
                        </a:p>
                      </a:txBody>
                      <a:tcPr marL="68580" marR="68580" marT="72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Method 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the factor being distributed first.</a:t>
                          </a:r>
                        </a:p>
                      </a:txBody>
                      <a:tcPr marL="68580" marR="68580" marT="72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291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76415" r="-99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472" t="-76415" r="-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541538" y="6160687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Verify that the solution is correct using substitution.</a:t>
            </a: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1878" y="920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1.6.5 Guided Instruction: Writing a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Two-Step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Equation from a Real-World Context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81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2661" y="1468340"/>
                <a:ext cx="105156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writing equations to represent a real-world context, it is helpful to start by considering the known and unknown quantities involved in the situation.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Darius is draining his pool for resurfacing. The pool began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13,650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of water and it is draining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per hour. How long has the pool been draining if currently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9,330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in the pool?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describe the known and unknown quantities in this situation.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1468340"/>
                <a:ext cx="10515600" cy="3477875"/>
              </a:xfrm>
              <a:prstGeom prst="rect">
                <a:avLst/>
              </a:prstGeom>
              <a:blipFill rotWithShape="1">
                <a:blip r:embed="rId5"/>
                <a:stretch>
                  <a:fillRect l="-580" t="-877" r="-13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31151"/>
              </p:ext>
            </p:extLst>
          </p:nvPr>
        </p:nvGraphicFramePr>
        <p:xfrm>
          <a:off x="1618382" y="4474161"/>
          <a:ext cx="6593776" cy="1652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368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569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Known Quantities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Unknown Quantities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841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532661" y="38521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how the quantities are related in this situation. Summarize your discussion.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808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533507" y="2662536"/>
            <a:ext cx="1080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Define the unknown quantity using a variable. </a:t>
            </a:r>
          </a:p>
          <a:p>
            <a:pPr marL="900113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equation that could be used to find the unknown quantity using the variable you defined. </a:t>
            </a:r>
          </a:p>
          <a:p>
            <a:pPr marL="900113" lvl="1" indent="-457200">
              <a:buFont typeface="+mj-lt"/>
              <a:buAutoNum type="alphaLcPeriod" startAt="3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equation.</a:t>
            </a:r>
          </a:p>
          <a:p>
            <a:pPr marL="900113" lvl="1" indent="-457200">
              <a:buFont typeface="+mj-lt"/>
              <a:buAutoNum type="alphaLcPeriod" startAt="3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the solution means in this context.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381772" y="383895"/>
            <a:ext cx="8011220" cy="1878484"/>
            <a:chOff x="1989733" y="3198191"/>
            <a:chExt cx="8011220" cy="1879267"/>
          </a:xfrm>
        </p:grpSpPr>
        <p:grpSp>
          <p:nvGrpSpPr>
            <p:cNvPr id="8" name="Group 7"/>
            <p:cNvGrpSpPr/>
            <p:nvPr/>
          </p:nvGrpSpPr>
          <p:grpSpPr>
            <a:xfrm>
              <a:off x="1989733" y="3198191"/>
              <a:ext cx="8011220" cy="1879267"/>
              <a:chOff x="1989733" y="3198191"/>
              <a:chExt cx="8011220" cy="1879267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1989733" y="3198191"/>
                <a:ext cx="8011220" cy="1879267"/>
                <a:chOff x="1989733" y="3198191"/>
                <a:chExt cx="8011220" cy="1879267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3" name="Group 12"/>
                <p:cNvGrpSpPr/>
                <p:nvPr/>
              </p:nvGrpSpPr>
              <p:grpSpPr>
                <a:xfrm>
                  <a:off x="1989733" y="3198191"/>
                  <a:ext cx="8011220" cy="1879267"/>
                  <a:chOff x="1989733" y="3198191"/>
                  <a:chExt cx="8011220" cy="1879267"/>
                </a:xfrm>
              </p:grpSpPr>
              <p:sp>
                <p:nvSpPr>
                  <p:cNvPr id="14" name="Rectangle 13"/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1989733" y="3198191"/>
                    <a:ext cx="8011220" cy="1879267"/>
                    <a:chOff x="1989733" y="3198191"/>
                    <a:chExt cx="8011220" cy="1879267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7" name="Group 16"/>
                    <p:cNvGrpSpPr/>
                    <p:nvPr/>
                  </p:nvGrpSpPr>
                  <p:grpSpPr>
                    <a:xfrm>
                      <a:off x="1989733" y="3198191"/>
                      <a:ext cx="8011220" cy="1879267"/>
                      <a:chOff x="1989733" y="3198191"/>
                      <a:chExt cx="8011220" cy="1879267"/>
                    </a:xfrm>
                  </p:grpSpPr>
                  <p:sp>
                    <p:nvSpPr>
                      <p:cNvPr id="18" name="Rectangle 17"/>
                      <p:cNvSpPr/>
                      <p:nvPr/>
                    </p:nvSpPr>
                    <p:spPr>
                      <a:xfrm>
                        <a:off x="2031300" y="3275735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9" name="Group 18"/>
                      <p:cNvGrpSpPr/>
                      <p:nvPr/>
                    </p:nvGrpSpPr>
                    <p:grpSpPr>
                      <a:xfrm>
                        <a:off x="1989733" y="3198191"/>
                        <a:ext cx="8011220" cy="1879267"/>
                        <a:chOff x="-41567" y="-77544"/>
                        <a:chExt cx="8011220" cy="1879267"/>
                      </a:xfrm>
                    </p:grpSpPr>
                    <p:sp>
                      <p:nvSpPr>
                        <p:cNvPr id="20" name="Rectangle 19"/>
                        <p:cNvSpPr/>
                        <p:nvPr/>
                      </p:nvSpPr>
                      <p:spPr>
                        <a:xfrm>
                          <a:off x="0" y="0"/>
                          <a:ext cx="6629400" cy="100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1" name="Group 20"/>
                        <p:cNvGrpSpPr/>
                        <p:nvPr/>
                      </p:nvGrpSpPr>
                      <p:grpSpPr>
                        <a:xfrm>
                          <a:off x="-41567" y="-77544"/>
                          <a:ext cx="8011220" cy="1879267"/>
                          <a:chOff x="-41567" y="-77544"/>
                          <a:chExt cx="8011220" cy="1879267"/>
                        </a:xfrm>
                      </p:grpSpPr>
                      <p:sp>
                        <p:nvSpPr>
                          <p:cNvPr id="23" name="Rectangle 22"/>
                          <p:cNvSpPr/>
                          <p:nvPr/>
                        </p:nvSpPr>
                        <p:spPr>
                          <a:xfrm>
                            <a:off x="0" y="0"/>
                            <a:ext cx="6629400" cy="786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sp>
                        <p:nvSpPr>
                          <p:cNvPr id="24" name="Rectangle 23"/>
                          <p:cNvSpPr/>
                          <p:nvPr/>
                        </p:nvSpPr>
                        <p:spPr>
                          <a:xfrm>
                            <a:off x="0" y="0"/>
                            <a:ext cx="6629400" cy="786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sp>
                        <p:nvSpPr>
                          <p:cNvPr id="25" name="Rounded Rectangle 24"/>
                          <p:cNvSpPr/>
                          <p:nvPr/>
                        </p:nvSpPr>
                        <p:spPr>
                          <a:xfrm>
                            <a:off x="-41567" y="-77544"/>
                            <a:ext cx="8011220" cy="1879267"/>
                          </a:xfrm>
                          <a:prstGeom prst="roundRect">
                            <a:avLst>
                              <a:gd name="adj" fmla="val 16667"/>
                            </a:avLst>
                          </a:prstGeom>
                          <a:solidFill>
                            <a:srgbClr val="B8E6F5"/>
                          </a:solidFill>
                          <a:ln>
                            <a:noFill/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txBody>
                          <a:bodyPr spcFirstLastPara="1" wrap="square" lIns="91425" tIns="45700" rIns="91425" bIns="45700" anchor="ctr" anchorCtr="0">
                            <a:spAutoFit/>
                          </a:bodyPr>
                          <a:lstStyle/>
                          <a:p>
                            <a:pPr marL="742950">
                              <a:spcAft>
                                <a:spcPts val="1000"/>
                              </a:spcAft>
                            </a:pPr>
                            <a:r>
                              <a:rPr lang="en-US" sz="2400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When writing equations to represent real-world contexts, </a:t>
                            </a:r>
                            <a:r>
                              <a:rPr lang="en-US" sz="2400" b="1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any variables used must be defined</a:t>
                            </a:r>
                            <a:r>
                              <a:rPr lang="en-US" sz="2400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 to identify which quantity each variable in the equation represents.</a:t>
                            </a:r>
                            <a:r>
                              <a:rPr lang="en-US" sz="2000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 </a:t>
                            </a:r>
                            <a:endParaRPr lang="en-US" sz="20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22" name="Shape 37" descr="Icon&#10;&#10;Description automatically generated"/>
                        <p:cNvPicPr preferRelativeResize="0"/>
                        <p:nvPr/>
                      </p:nvPicPr>
                      <p:blipFill rotWithShape="1">
                        <a:blip r:embed="rId4" cstate="screen">
                          <a:alphaModFix/>
                          <a:extLst>
                            <a:ext uri="{28A0092B-C50C-407E-A947-70E740481C1C}">
                              <a14:useLocalDpi xmlns:a14="http://schemas.microsoft.com/office/drawing/2010/main"/>
                            </a:ext>
                          </a:extLst>
                        </a:blip>
                        <a:srcRect/>
                        <a:stretch/>
                      </p:blipFill>
                      <p:spPr>
                        <a:xfrm>
                          <a:off x="150203" y="415232"/>
                          <a:ext cx="5397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</p:pic>
                  </p:grpSp>
                </p:grpSp>
              </p:grpSp>
            </p:grpSp>
          </p:grpSp>
        </p:grpSp>
      </p:grpSp>
      <p:sp>
        <p:nvSpPr>
          <p:cNvPr id="2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88832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3959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9634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1.6.6 Try It: Relating Equations to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Their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Contexts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B6A3A1-5A0D-C84F-AC89-57E6782F43E5}"/>
              </a:ext>
            </a:extLst>
          </p:cNvPr>
          <p:cNvSpPr txBox="1"/>
          <p:nvPr/>
        </p:nvSpPr>
        <p:spPr>
          <a:xfrm>
            <a:off x="532661" y="1476302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equations are shown.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both equations. Show your work.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929434"/>
                  </p:ext>
                </p:extLst>
              </p:nvPr>
            </p:nvGraphicFramePr>
            <p:xfrm>
              <a:off x="1607811" y="3560381"/>
              <a:ext cx="6485890" cy="2754000"/>
            </p:xfrm>
            <a:graphic>
              <a:graphicData uri="http://schemas.openxmlformats.org/drawingml/2006/table">
                <a:tbl>
                  <a:tblPr bandRow="1">
                    <a:tableStyleId>{5940675A-B579-460E-94D1-54222C63F5DA}</a:tableStyleId>
                  </a:tblPr>
                  <a:tblGrid>
                    <a:gridCol w="324294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294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78.70=5(</m:t>
                                </m:r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−13.25)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dirty="0"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−13.25=78.70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dirty="0"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929434"/>
                  </p:ext>
                </p:extLst>
              </p:nvPr>
            </p:nvGraphicFramePr>
            <p:xfrm>
              <a:off x="1607811" y="3560381"/>
              <a:ext cx="6485890" cy="2754000"/>
            </p:xfrm>
            <a:graphic>
              <a:graphicData uri="http://schemas.openxmlformats.org/drawingml/2006/table">
                <a:tbl>
                  <a:tblPr bandRow="1">
                    <a:tableStyleId>{5940675A-B579-460E-94D1-54222C63F5DA}</a:tableStyleId>
                  </a:tblPr>
                  <a:tblGrid>
                    <a:gridCol w="32429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429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88" t="-2053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7200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188" t="-205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987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541538" y="385217"/>
                <a:ext cx="10515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Five friends are going to a concert. They have a coupon for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$13.25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off of each ticket. They pay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$78.70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all their tickets. Explain which equation represents this situation.</a:t>
                </a:r>
              </a:p>
              <a:p>
                <a:pPr marL="900113" lvl="1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1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1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1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the solution to the equation that correctly models this situation means.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385217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t="-1426" b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0671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1878" y="920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1.6.7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983" y="381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41538" y="1462140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students solved an equation. One student made a mistake. Their work is shown below.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39515"/>
                  </p:ext>
                </p:extLst>
              </p:nvPr>
            </p:nvGraphicFramePr>
            <p:xfrm>
              <a:off x="2539856" y="2461601"/>
              <a:ext cx="6856730" cy="32686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0710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4962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Caroline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Ivy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+ 7 = 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+ 7 = 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+ 21 = 120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=99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+ 7 = 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33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11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39515"/>
                  </p:ext>
                </p:extLst>
              </p:nvPr>
            </p:nvGraphicFramePr>
            <p:xfrm>
              <a:off x="2539856" y="2461601"/>
              <a:ext cx="6856730" cy="32686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0710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3496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Caroline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Ivy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8006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74" t="-16993" r="-95652" b="-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4918" t="-16993" r="-182" b="-2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CE9D117-FAE6-F74F-940B-9CD1479755BE}"/>
              </a:ext>
            </a:extLst>
          </p:cNvPr>
          <p:cNvSpPr txBox="1"/>
          <p:nvPr/>
        </p:nvSpPr>
        <p:spPr>
          <a:xfrm>
            <a:off x="532662" y="378467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student made an error when solving the equation? 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error the student made.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A057F2B-B43B-F64E-8B11-07A9669FD9E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1015</Words>
  <Application>Microsoft Office PowerPoint</Application>
  <PresentationFormat>Custom</PresentationFormat>
  <Paragraphs>224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8th Grade Math: Pre-Algebra  Unit 1, Lesson 6  Writing and Solving Two-Step Equations  Volume 1, pg. 31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Collaboration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36</cp:revision>
  <dcterms:created xsi:type="dcterms:W3CDTF">2015-03-17T18:51:18Z</dcterms:created>
  <dcterms:modified xsi:type="dcterms:W3CDTF">2022-06-14T02:14:30Z</dcterms:modified>
</cp:coreProperties>
</file>