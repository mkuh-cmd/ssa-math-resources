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288" r:id="rId8"/>
    <p:sldId id="326" r:id="rId9"/>
    <p:sldId id="327" r:id="rId10"/>
    <p:sldId id="323" r:id="rId11"/>
    <p:sldId id="324" r:id="rId12"/>
    <p:sldId id="328" r:id="rId13"/>
    <p:sldId id="325" r:id="rId14"/>
    <p:sldId id="314" r:id="rId15"/>
    <p:sldId id="315" r:id="rId16"/>
    <p:sldId id="316" r:id="rId17"/>
    <p:sldId id="317" r:id="rId18"/>
    <p:sldId id="318" r:id="rId19"/>
    <p:sldId id="319" r:id="rId20"/>
    <p:sldId id="329" r:id="rId21"/>
    <p:sldId id="302" r:id="rId22"/>
    <p:sldId id="303" r:id="rId23"/>
    <p:sldId id="306" r:id="rId24"/>
    <p:sldId id="307" r:id="rId25"/>
    <p:sldId id="310" r:id="rId26"/>
  </p:sldIdLst>
  <p:sldSz cx="12192000" cy="6858000"/>
  <p:notesSz cx="6858000" cy="9144000"/>
  <p:embeddedFontLst>
    <p:embeddedFont>
      <p:font typeface="Cambria" pitchFamily="18" charset="0"/>
      <p:regular r:id="rId28"/>
      <p:bold r:id="rId29"/>
      <p:italic r:id="rId30"/>
      <p:boldItalic r:id="rId31"/>
    </p:embeddedFont>
    <p:embeddedFont>
      <p:font typeface="Arial Black" pitchFamily="34" charset="0"/>
      <p:bold r:id="rId32"/>
    </p:embeddedFont>
    <p:embeddedFont>
      <p:font typeface="Verdana" pitchFamily="34" charset="0"/>
      <p:regular r:id="rId33"/>
      <p:bold r:id="rId34"/>
      <p:italic r:id="rId35"/>
      <p:boldItalic r:id="rId36"/>
    </p:embeddedFont>
    <p:embeddedFont>
      <p:font typeface="Calibri" pitchFamily="34" charset="0"/>
      <p:regular r:id="rId37"/>
      <p:bold r:id="rId38"/>
      <p:italic r:id="rId39"/>
      <p:boldItalic r:id="rId40"/>
    </p:embeddedFont>
    <p:embeddedFont>
      <p:font typeface="Century Gothic" pitchFamily="34" charset="0"/>
      <p:regular r:id="rId41"/>
      <p:bold r:id="rId42"/>
      <p:italic r:id="rId43"/>
      <p:boldItalic r:id="rId44"/>
    </p:embeddedFont>
    <p:embeddedFont>
      <p:font typeface="Cambria Math" pitchFamily="18"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491"/>
    <p:restoredTop sz="96327"/>
  </p:normalViewPr>
  <p:slideViewPr>
    <p:cSldViewPr snapToGrid="0">
      <p:cViewPr>
        <p:scale>
          <a:sx n="75" d="100"/>
          <a:sy n="75" d="100"/>
        </p:scale>
        <p:origin x="-1589" y="-28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4614595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5205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28864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9026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84032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270617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605080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jpe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1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30.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r>
              <a:rPr lang="en-US" sz="3600" b="1" i="0" u="none" strike="noStrike" dirty="0">
                <a:solidFill>
                  <a:srgbClr val="417DBF"/>
                </a:solidFill>
                <a:effectLst/>
                <a:latin typeface="Verdana" panose="020B0604030504040204" pitchFamily="34" charset="0"/>
              </a:rPr>
              <a:t>Pre-Algebra</a:t>
            </a: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 Lesson 4</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Evaluating Numeric Expressions – Part 1</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smtClean="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6332" y="1600200"/>
            <a:ext cx="108000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itchFamily="34" charset="0"/>
                <a:ea typeface="Verdana" pitchFamily="34" charset="0"/>
                <a:cs typeface="Verdana"/>
                <a:sym typeface="Verdana"/>
              </a:rPr>
              <a:t>MA.7.NSO.2.1</a:t>
            </a:r>
          </a:p>
          <a:p>
            <a:pPr indent="0">
              <a:lnSpc>
                <a:spcPct val="100000"/>
              </a:lnSpc>
              <a:buNone/>
            </a:pPr>
            <a:r>
              <a:rPr lang="en-US" sz="3500" dirty="0">
                <a:latin typeface="Verdana" pitchFamily="34" charset="0"/>
                <a:ea typeface="Verdana" pitchFamily="34" charset="0"/>
              </a:rPr>
              <a:t>Solve mathematical problems using </a:t>
            </a:r>
            <a:r>
              <a:rPr lang="en-US" sz="3500" dirty="0" smtClean="0">
                <a:latin typeface="Verdana" pitchFamily="34" charset="0"/>
                <a:ea typeface="Verdana" pitchFamily="34" charset="0"/>
              </a:rPr>
              <a:t/>
            </a:r>
            <a:br>
              <a:rPr lang="en-US" sz="3500" dirty="0" smtClean="0">
                <a:latin typeface="Verdana" pitchFamily="34" charset="0"/>
                <a:ea typeface="Verdana" pitchFamily="34" charset="0"/>
              </a:rPr>
            </a:br>
            <a:r>
              <a:rPr lang="en-US" sz="3500" dirty="0" smtClean="0">
                <a:latin typeface="Verdana" pitchFamily="34" charset="0"/>
                <a:ea typeface="Verdana" pitchFamily="34" charset="0"/>
              </a:rPr>
              <a:t>multi-step </a:t>
            </a:r>
            <a:r>
              <a:rPr lang="en-US" sz="3500" dirty="0">
                <a:latin typeface="Verdana" pitchFamily="34" charset="0"/>
                <a:ea typeface="Verdana" pitchFamily="34" charset="0"/>
              </a:rPr>
              <a:t>order of operations with rational numbers including grouping symbols, </a:t>
            </a:r>
            <a:r>
              <a:rPr lang="en-US" sz="3500" dirty="0" smtClean="0">
                <a:latin typeface="Verdana" pitchFamily="34" charset="0"/>
                <a:ea typeface="Verdana" pitchFamily="34" charset="0"/>
              </a:rPr>
              <a:t/>
            </a:r>
            <a:br>
              <a:rPr lang="en-US" sz="3500" dirty="0" smtClean="0">
                <a:latin typeface="Verdana" pitchFamily="34" charset="0"/>
                <a:ea typeface="Verdana" pitchFamily="34" charset="0"/>
              </a:rPr>
            </a:br>
            <a:r>
              <a:rPr lang="en-US" sz="3500" dirty="0" smtClean="0">
                <a:latin typeface="Verdana" pitchFamily="34" charset="0"/>
                <a:ea typeface="Verdana" pitchFamily="34" charset="0"/>
              </a:rPr>
              <a:t>whole-number </a:t>
            </a:r>
            <a:r>
              <a:rPr lang="en-US" sz="3500" dirty="0">
                <a:latin typeface="Verdana" pitchFamily="34" charset="0"/>
                <a:ea typeface="Verdana" pitchFamily="34" charset="0"/>
              </a:rPr>
              <a:t>exponents, and absolute value.</a:t>
            </a:r>
            <a:endParaRPr lang="en-US" sz="3500" dirty="0">
              <a:solidFill>
                <a:schemeClr val="tx1"/>
              </a:solidFill>
              <a:latin typeface="Verdana" pitchFamily="34" charset="0"/>
              <a:ea typeface="Verdana" pitchFamily="34" charset="0"/>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43000" y="129667"/>
            <a:ext cx="775411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78;g104476d1465_1_17">
            <a:extLst>
              <a:ext uri="{FF2B5EF4-FFF2-40B4-BE49-F238E27FC236}">
                <a16:creationId xmlns:a16="http://schemas.microsoft.com/office/drawing/2014/main" xmlns="" id="{077C6829-C721-C84C-B217-05FC82BD090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45123"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3888" indent="-617538">
              <a:buClr>
                <a:srgbClr val="434343"/>
              </a:buClr>
              <a:buSzPts val="3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evaluate numeric expressions with up to four operations.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78;g104476d1465_1_17">
            <a:extLst>
              <a:ext uri="{FF2B5EF4-FFF2-40B4-BE49-F238E27FC236}">
                <a16:creationId xmlns:a16="http://schemas.microsoft.com/office/drawing/2014/main" xmlns="" id="{84D53208-BBC5-F045-A1FC-36E1745FA75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55777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59104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9376" y="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1.4.1 Warm-Up: Notice and Wonder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21448" y="28920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36331" y="1325700"/>
            <a:ext cx="10800000"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1672, the Castillo de San Marcos was built by the Spanish in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St</a:t>
            </a:r>
            <a:r>
              <a:rPr lang="en-US" sz="2400" dirty="0">
                <a:latin typeface="Verdana" panose="020B0604030504040204" pitchFamily="34" charset="0"/>
                <a:ea typeface="Verdana" panose="020B0604030504040204" pitchFamily="34" charset="0"/>
                <a:cs typeface="Verdana" panose="020B0604030504040204" pitchFamily="34" charset="0"/>
              </a:rPr>
              <a:t>. Augustine, Florida to defend Florida and the Atlantic trade route</a:t>
            </a:r>
            <a:r>
              <a:rPr lang="en-US" sz="2400" dirty="0" smtClean="0">
                <a:latin typeface="Verdana" panose="020B0604030504040204" pitchFamily="34" charset="0"/>
                <a:ea typeface="Verdana" panose="020B0604030504040204" pitchFamily="34" charset="0"/>
                <a:cs typeface="Verdana" panose="020B0604030504040204" pitchFamily="34" charset="0"/>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a:extLst>
              <a:ext uri="{FF2B5EF4-FFF2-40B4-BE49-F238E27FC236}">
                <a16:creationId xmlns:a16="http://schemas.microsoft.com/office/drawing/2014/main" xmlns="" id="{D2E26B32-0C88-7847-9ECA-D11545A204F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descr="Castillo de San Marcos National Monument, St. Augustine, Florida, the oldest city in the United States"/>
          <p:cNvPicPr/>
          <p:nvPr/>
        </p:nvPicPr>
        <p:blipFill rotWithShape="1">
          <a:blip r:embed="rId5">
            <a:extLst>
              <a:ext uri="{28A0092B-C50C-407E-A947-70E740481C1C}">
                <a14:useLocalDpi xmlns:a14="http://schemas.microsoft.com/office/drawing/2010/main"/>
              </a:ext>
            </a:extLst>
          </a:blip>
          <a:srcRect t="7228"/>
          <a:stretch/>
        </p:blipFill>
        <p:spPr bwMode="auto">
          <a:xfrm>
            <a:off x="2648496" y="2422172"/>
            <a:ext cx="6575669" cy="3951711"/>
          </a:xfrm>
          <a:prstGeom prst="rect">
            <a:avLst/>
          </a:prstGeom>
          <a:noFill/>
          <a:ln>
            <a:noFill/>
          </a:ln>
          <a:extLst>
            <a:ext uri="{53640926-AAD7-44D8-BBD7-CCE9431645EC}">
              <a14:shadowObscured xmlns:a14="http://schemas.microsoft.com/office/drawing/2010/main"/>
            </a:ext>
          </a:extLst>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536331" y="379716"/>
            <a:ext cx="10800000" cy="34163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design of the Castillo de San Marcos?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wonder?</a:t>
            </a:r>
          </a:p>
        </p:txBody>
      </p:sp>
      <p:sp>
        <p:nvSpPr>
          <p:cNvPr id="6" name="Google Shape;278;g104476d1465_1_17">
            <a:extLst>
              <a:ext uri="{FF2B5EF4-FFF2-40B4-BE49-F238E27FC236}">
                <a16:creationId xmlns:a16="http://schemas.microsoft.com/office/drawing/2014/main" xmlns="" id="{285F77CB-5FF9-E743-9AA8-B4C11C925C98}"/>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21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xmlns=""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28896"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p:spTree>
    <p:extLst>
      <p:ext uri="{BB962C8B-B14F-4D97-AF65-F5344CB8AC3E}">
        <p14:creationId xmlns:p14="http://schemas.microsoft.com/office/powerpoint/2010/main" val="306210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60584" y="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1.4.2 Refresher: Order of Operations</a:t>
            </a:r>
          </a:p>
        </p:txBody>
      </p:sp>
      <p:pic>
        <p:nvPicPr>
          <p:cNvPr id="9" name="Picture 2" descr="Icon&#10;&#10;Description automatically generated">
            <a:extLst>
              <a:ext uri="{FF2B5EF4-FFF2-40B4-BE49-F238E27FC236}">
                <a16:creationId xmlns:a16="http://schemas.microsoft.com/office/drawing/2014/main" xmlns=""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8940"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2DC51FF2-AD43-3B4B-B9DE-330920D33388}"/>
              </a:ext>
            </a:extLst>
          </p:cNvPr>
          <p:cNvSpPr txBox="1"/>
          <p:nvPr/>
        </p:nvSpPr>
        <p:spPr>
          <a:xfrm>
            <a:off x="536332" y="1386026"/>
            <a:ext cx="108000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a partner to number each operation so that the order of operations is in the correct order.</a:t>
            </a:r>
          </a:p>
        </p:txBody>
      </p:sp>
      <p:sp>
        <p:nvSpPr>
          <p:cNvPr id="8" name="Google Shape;278;g104476d1465_1_17">
            <a:extLst>
              <a:ext uri="{FF2B5EF4-FFF2-40B4-BE49-F238E27FC236}">
                <a16:creationId xmlns:a16="http://schemas.microsoft.com/office/drawing/2014/main" xmlns="" id="{0C66DE09-9EE2-BE4D-96E6-6AAAC641C85D}"/>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7" name="Picture 16"/>
          <p:cNvPicPr>
            <a:picLocks noChangeAspect="1"/>
          </p:cNvPicPr>
          <p:nvPr/>
        </p:nvPicPr>
        <p:blipFill>
          <a:blip r:embed="rId5"/>
          <a:stretch>
            <a:fillRect/>
          </a:stretch>
        </p:blipFill>
        <p:spPr>
          <a:xfrm>
            <a:off x="2407995" y="2348104"/>
            <a:ext cx="6619875" cy="4019550"/>
          </a:xfrm>
          <a:prstGeom prst="rect">
            <a:avLst/>
          </a:prstGeom>
        </p:spPr>
      </p:pic>
      <p:sp>
        <p:nvSpPr>
          <p:cNvPr id="1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p:spTree>
    <p:extLst>
      <p:ext uri="{BB962C8B-B14F-4D97-AF65-F5344CB8AC3E}">
        <p14:creationId xmlns:p14="http://schemas.microsoft.com/office/powerpoint/2010/main" val="136402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34720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31393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60584" y="-473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1.4.3 Guided Practice: Using the Order of Operations to Evaluate Numeric Expressions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8940" y="28320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536331" y="1456361"/>
            <a:ext cx="10800000" cy="224676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table, an expression is evaluated, but the steps are mixed up. Order the expressions by writing the numbered step next to each expression shown. Explain the steps in the column on the right. The first table has been started.</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9" name="Google Shape;278;g104476d1465_1_17">
            <a:extLst>
              <a:ext uri="{FF2B5EF4-FFF2-40B4-BE49-F238E27FC236}">
                <a16:creationId xmlns:a16="http://schemas.microsoft.com/office/drawing/2014/main" xmlns="" id="{0D0C5ECD-32B3-814E-9ECE-3E62993CA726}"/>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826127886"/>
                  </p:ext>
                </p:extLst>
              </p:nvPr>
            </p:nvGraphicFramePr>
            <p:xfrm>
              <a:off x="1584025" y="3177536"/>
              <a:ext cx="7560000" cy="2286000"/>
            </p:xfrm>
            <a:graphic>
              <a:graphicData uri="http://schemas.openxmlformats.org/drawingml/2006/table">
                <a:tbl>
                  <a:tblPr firstRow="1" firstCol="1" bandRow="1">
                    <a:tableStyleId>{5940675A-B579-460E-94D1-54222C63F5DA}</a:tableStyleId>
                  </a:tblPr>
                  <a:tblGrid>
                    <a:gridCol w="1080000">
                      <a:extLst>
                        <a:ext uri="{9D8B030D-6E8A-4147-A177-3AD203B41FA5}">
                          <a16:colId xmlns:a16="http://schemas.microsoft.com/office/drawing/2014/main" xmlns="" val="20000"/>
                        </a:ext>
                      </a:extLst>
                    </a:gridCol>
                    <a:gridCol w="2880000">
                      <a:extLst>
                        <a:ext uri="{9D8B030D-6E8A-4147-A177-3AD203B41FA5}">
                          <a16:colId xmlns:a16="http://schemas.microsoft.com/office/drawing/2014/main" xmlns="" val="20001"/>
                        </a:ext>
                      </a:extLst>
                    </a:gridCol>
                    <a:gridCol w="3600000">
                      <a:extLst>
                        <a:ext uri="{9D8B030D-6E8A-4147-A177-3AD203B41FA5}">
                          <a16:colId xmlns:a16="http://schemas.microsoft.com/office/drawing/2014/main" xmlns="" val="20002"/>
                        </a:ext>
                      </a:extLst>
                    </a:gridCol>
                  </a:tblGrid>
                  <a:tr h="457200">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Step</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Explanation</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457200">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0.45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2</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−6.75÷15∙(−1)</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Evaluate the exponent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1</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−6.75÷15</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∙(−1)</m:t>
                                    </m:r>
                                  </m:e>
                                  <m:sup>
                                    <m:r>
                                      <a:rPr lang="en-US" sz="2000">
                                        <a:effectLst/>
                                        <a:latin typeface="Cambria Math" panose="02040503050406030204" pitchFamily="18" charset="0"/>
                                        <a:ea typeface="Cambria Math" panose="02040503050406030204" pitchFamily="18" charset="0"/>
                                      </a:rPr>
                                      <m:t>5</m:t>
                                    </m:r>
                                  </m:sup>
                                </m:sSup>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−0.45∙(−1)</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826127886"/>
                  </p:ext>
                </p:extLst>
              </p:nvPr>
            </p:nvGraphicFramePr>
            <p:xfrm>
              <a:off x="1584025" y="3177536"/>
              <a:ext cx="7560000" cy="2286000"/>
            </p:xfrm>
            <a:graphic>
              <a:graphicData uri="http://schemas.openxmlformats.org/drawingml/2006/table">
                <a:tbl>
                  <a:tblPr firstRow="1" firstCol="1" bandRow="1">
                    <a:tableStyleId>{5940675A-B579-460E-94D1-54222C63F5DA}</a:tableStyleId>
                  </a:tblPr>
                  <a:tblGrid>
                    <a:gridCol w="1080000">
                      <a:extLst>
                        <a:ext uri="{9D8B030D-6E8A-4147-A177-3AD203B41FA5}">
                          <a16:colId xmlns="" xmlns:a16="http://schemas.microsoft.com/office/drawing/2014/main" xmlns:a14="http://schemas.microsoft.com/office/drawing/2010/main" val="20000"/>
                        </a:ext>
                      </a:extLst>
                    </a:gridCol>
                    <a:gridCol w="2880000">
                      <a:extLst>
                        <a:ext uri="{9D8B030D-6E8A-4147-A177-3AD203B41FA5}">
                          <a16:colId xmlns="" xmlns:a16="http://schemas.microsoft.com/office/drawing/2014/main" xmlns:a14="http://schemas.microsoft.com/office/drawing/2010/main" val="20001"/>
                        </a:ext>
                      </a:extLst>
                    </a:gridCol>
                    <a:gridCol w="3600000">
                      <a:extLst>
                        <a:ext uri="{9D8B030D-6E8A-4147-A177-3AD203B41FA5}">
                          <a16:colId xmlns="" xmlns:a16="http://schemas.microsoft.com/office/drawing/2014/main" xmlns:a14="http://schemas.microsoft.com/office/drawing/2010/main" val="20002"/>
                        </a:ext>
                      </a:extLst>
                    </a:gridCol>
                  </a:tblGrid>
                  <a:tr h="457200">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Step</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Explanation</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10000"/>
                      </a:ext>
                    </a:extLst>
                  </a:tr>
                  <a:tr h="457200">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7632" t="-100000" r="-124947" b="-309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1"/>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2</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7632" t="-200000" r="-124947" b="-209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Evaluate the exponent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1</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7632" t="-300000" r="-124947" b="-109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3"/>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7632" t="-400000" r="-124947" b="-9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4"/>
                      </a:ext>
                    </a:extLst>
                  </a:tr>
                </a:tbl>
              </a:graphicData>
            </a:graphic>
          </p:graphicFrame>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F16EAAB6-B932-C047-9261-EF734547974E}"/>
              </a:ext>
            </a:extLst>
          </p:cNvPr>
          <p:cNvSpPr txBox="1"/>
          <p:nvPr/>
        </p:nvSpPr>
        <p:spPr>
          <a:xfrm>
            <a:off x="536330" y="380864"/>
            <a:ext cx="10515600" cy="461665"/>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6" name="Google Shape;278;g104476d1465_1_17">
            <a:extLst>
              <a:ext uri="{FF2B5EF4-FFF2-40B4-BE49-F238E27FC236}">
                <a16:creationId xmlns:a16="http://schemas.microsoft.com/office/drawing/2014/main" xmlns="" id="{09789B1D-7DA0-7349-9D9F-61D903C4981F}"/>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27473975"/>
                  </p:ext>
                </p:extLst>
              </p:nvPr>
            </p:nvGraphicFramePr>
            <p:xfrm>
              <a:off x="1625026" y="940564"/>
              <a:ext cx="7560000" cy="2743200"/>
            </p:xfrm>
            <a:graphic>
              <a:graphicData uri="http://schemas.openxmlformats.org/drawingml/2006/table">
                <a:tbl>
                  <a:tblPr firstRow="1" firstCol="1" bandRow="1">
                    <a:tableStyleId>{5940675A-B579-460E-94D1-54222C63F5DA}</a:tableStyleId>
                  </a:tblPr>
                  <a:tblGrid>
                    <a:gridCol w="1080000">
                      <a:extLst>
                        <a:ext uri="{9D8B030D-6E8A-4147-A177-3AD203B41FA5}">
                          <a16:colId xmlns:a16="http://schemas.microsoft.com/office/drawing/2014/main" xmlns="" val="20000"/>
                        </a:ext>
                      </a:extLst>
                    </a:gridCol>
                    <a:gridCol w="2880000">
                      <a:extLst>
                        <a:ext uri="{9D8B030D-6E8A-4147-A177-3AD203B41FA5}">
                          <a16:colId xmlns:a16="http://schemas.microsoft.com/office/drawing/2014/main" xmlns="" val="20001"/>
                        </a:ext>
                      </a:extLst>
                    </a:gridCol>
                    <a:gridCol w="3600000">
                      <a:extLst>
                        <a:ext uri="{9D8B030D-6E8A-4147-A177-3AD203B41FA5}">
                          <a16:colId xmlns:a16="http://schemas.microsoft.com/office/drawing/2014/main" xmlns="" val="2000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Explanation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457200">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5.76</m:t>
                                    </m:r>
                                  </m:e>
                                </m:d>
                                <m:r>
                                  <a:rPr lang="en-US" sz="2000">
                                    <a:effectLst/>
                                    <a:latin typeface="Cambria Math" panose="02040503050406030204" pitchFamily="18" charset="0"/>
                                    <a:ea typeface="Cambria Math" panose="02040503050406030204" pitchFamily="18" charset="0"/>
                                  </a:rPr>
                                  <m:t>−17.75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9.2−11.6</m:t>
                                            </m:r>
                                          </m:e>
                                        </m:d>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−17.75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−11.99</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5.76−17.75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−2.4</m:t>
                                            </m:r>
                                          </m:e>
                                        </m:d>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−17.75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27473975"/>
                  </p:ext>
                </p:extLst>
              </p:nvPr>
            </p:nvGraphicFramePr>
            <p:xfrm>
              <a:off x="1625026" y="940564"/>
              <a:ext cx="7560000" cy="2743200"/>
            </p:xfrm>
            <a:graphic>
              <a:graphicData uri="http://schemas.openxmlformats.org/drawingml/2006/table">
                <a:tbl>
                  <a:tblPr firstRow="1" firstCol="1" bandRow="1">
                    <a:tableStyleId>{5940675A-B579-460E-94D1-54222C63F5DA}</a:tableStyleId>
                  </a:tblPr>
                  <a:tblGrid>
                    <a:gridCol w="1080000">
                      <a:extLst>
                        <a:ext uri="{9D8B030D-6E8A-4147-A177-3AD203B41FA5}">
                          <a16:colId xmlns="" xmlns:a16="http://schemas.microsoft.com/office/drawing/2014/main" xmlns:a14="http://schemas.microsoft.com/office/drawing/2010/main" val="20000"/>
                        </a:ext>
                      </a:extLst>
                    </a:gridCol>
                    <a:gridCol w="2880000">
                      <a:extLst>
                        <a:ext uri="{9D8B030D-6E8A-4147-A177-3AD203B41FA5}">
                          <a16:colId xmlns="" xmlns:a16="http://schemas.microsoft.com/office/drawing/2014/main" xmlns:a14="http://schemas.microsoft.com/office/drawing/2010/main" val="20001"/>
                        </a:ext>
                      </a:extLst>
                    </a:gridCol>
                    <a:gridCol w="3600000">
                      <a:extLst>
                        <a:ext uri="{9D8B030D-6E8A-4147-A177-3AD203B41FA5}">
                          <a16:colId xmlns="" xmlns:a16="http://schemas.microsoft.com/office/drawing/2014/main" xmlns:a14="http://schemas.microsoft.com/office/drawing/2010/main" val="2000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Explanation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10000"/>
                      </a:ext>
                    </a:extLst>
                  </a:tr>
                  <a:tr h="457200">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7632" t="-100000" r="-124736" b="-401333"/>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1"/>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7632" t="-200000" r="-124736" b="-301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7632" t="-300000" r="-124736" b="-201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3"/>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7632" t="-400000" r="-124736" b="-101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4"/>
                      </a:ext>
                    </a:extLst>
                  </a:tr>
                  <a:tr h="4572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7632" t="-500000" r="-124736" b="-1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p:spTree>
    <p:extLst>
      <p:ext uri="{BB962C8B-B14F-4D97-AF65-F5344CB8AC3E}">
        <p14:creationId xmlns:p14="http://schemas.microsoft.com/office/powerpoint/2010/main" val="852717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536330" y="386281"/>
                <a:ext cx="10515600" cy="4780668"/>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Evaluate each expression using the order of operations.</a:t>
                </a:r>
              </a:p>
              <a:p>
                <a:pPr marL="9144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sSup>
                      <m:sSupPr>
                        <m:ctrlPr>
                          <a:rPr lang="en-US" sz="2400" i="1">
                            <a:latin typeface="Cambria Math"/>
                            <a:ea typeface="Cambria Math" panose="02040503050406030204" pitchFamily="18" charset="0"/>
                          </a:rPr>
                        </m:ctrlPr>
                      </m:sSupPr>
                      <m:e>
                        <m:r>
                          <a:rPr lang="en-PH" sz="2400">
                            <a:latin typeface="Cambria Math"/>
                            <a:ea typeface="Cambria Math" panose="02040503050406030204" pitchFamily="18" charset="0"/>
                          </a:rPr>
                          <m:t> </m:t>
                        </m:r>
                        <m:r>
                          <a:rPr lang="en-US" sz="2400">
                            <a:latin typeface="Cambria Math" panose="02040503050406030204" pitchFamily="18" charset="0"/>
                            <a:ea typeface="Cambria Math" panose="02040503050406030204" pitchFamily="18" charset="0"/>
                          </a:rPr>
                          <m:t>(−5+4.5)</m:t>
                        </m:r>
                      </m:e>
                      <m:sup>
                        <m:r>
                          <a:rPr lang="en-US" sz="2400">
                            <a:latin typeface="Cambria Math" panose="02040503050406030204" pitchFamily="18" charset="0"/>
                            <a:ea typeface="Cambria Math" panose="02040503050406030204" pitchFamily="18" charset="0"/>
                          </a:rPr>
                          <m:t>3</m:t>
                        </m:r>
                      </m:sup>
                    </m:sSup>
                    <m:r>
                      <a:rPr lang="en-US" sz="2400">
                        <a:latin typeface="Cambria Math" panose="02040503050406030204" pitchFamily="18" charset="0"/>
                        <a:ea typeface="Cambria Math" panose="02040503050406030204" pitchFamily="18" charset="0"/>
                      </a:rPr>
                      <m:t>−|−8.7|</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Cambria Math" panose="02040503050406030204" pitchFamily="18" charset="0"/>
                    <a:ea typeface="Cambria Math" panose="02040503050406030204" pitchFamily="18" charset="0"/>
                    <a:cs typeface="Verdana" panose="020B0604030504040204" pitchFamily="34" charset="0"/>
                  </a:rPr>
                  <a:t/>
                </a:r>
                <a:br>
                  <a:rPr lang="en-US" sz="2400" dirty="0">
                    <a:latin typeface="Cambria Math" panose="02040503050406030204" pitchFamily="18" charset="0"/>
                    <a:ea typeface="Cambria Math" panose="02040503050406030204" pitchFamily="18" charset="0"/>
                    <a:cs typeface="Verdana" panose="020B0604030504040204" pitchFamily="34" charset="0"/>
                  </a:rPr>
                </a:br>
                <a:r>
                  <a:rPr lang="en-US" sz="2400" dirty="0">
                    <a:latin typeface="Cambria Math" panose="02040503050406030204" pitchFamily="18" charset="0"/>
                    <a:ea typeface="Cambria Math" panose="02040503050406030204" pitchFamily="18" charset="0"/>
                    <a:cs typeface="Verdana" panose="020B0604030504040204" pitchFamily="34" charset="0"/>
                  </a:rPr>
                  <a:t/>
                </a:r>
                <a:br>
                  <a:rPr lang="en-US" sz="2400" dirty="0">
                    <a:latin typeface="Cambria Math" panose="02040503050406030204" pitchFamily="18" charset="0"/>
                    <a:ea typeface="Cambria Math" panose="02040503050406030204" pitchFamily="18" charset="0"/>
                    <a:cs typeface="Verdana" panose="020B0604030504040204" pitchFamily="34" charset="0"/>
                  </a:rPr>
                </a:br>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sSup>
                      <m:sSupPr>
                        <m:ctrlPr>
                          <a:rPr lang="en-US" sz="2400" i="1">
                            <a:latin typeface="Cambria Math"/>
                            <a:ea typeface="Cambria Math" panose="02040503050406030204" pitchFamily="18" charset="0"/>
                          </a:rPr>
                        </m:ctrlPr>
                      </m:sSupPr>
                      <m:e>
                        <m:d>
                          <m:dPr>
                            <m:ctrlPr>
                              <a:rPr lang="en-US" sz="2400" i="1">
                                <a:latin typeface="Cambria Math"/>
                                <a:ea typeface="Cambria Math" panose="02040503050406030204" pitchFamily="18" charset="0"/>
                              </a:rPr>
                            </m:ctrlPr>
                          </m:dPr>
                          <m:e>
                            <m:f>
                              <m:fPr>
                                <m:ctrlPr>
                                  <a:rPr lang="en-US" sz="2400" i="1">
                                    <a:latin typeface="Cambria Math"/>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4.1−2.5</m:t>
                                </m:r>
                              </m:num>
                              <m:den>
                                <m:r>
                                  <a:rPr lang="en-US" sz="2400" i="1">
                                    <a:latin typeface="Cambria Math" panose="02040503050406030204" pitchFamily="18" charset="0"/>
                                    <a:ea typeface="Cambria Math" panose="02040503050406030204" pitchFamily="18" charset="0"/>
                                  </a:rPr>
                                  <m:t>−2</m:t>
                                </m:r>
                              </m:den>
                            </m:f>
                          </m:e>
                        </m:d>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×(−9)</m:t>
                    </m:r>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914400" indent="-457200"/>
                <a:r>
                  <a:rPr lang="en-US" sz="2400" dirty="0">
                    <a:latin typeface="Cambria Math" panose="02040503050406030204" pitchFamily="18" charset="0"/>
                    <a:ea typeface="Cambria Math" panose="02040503050406030204" pitchFamily="18" charset="0"/>
                    <a:cs typeface="Verdana" panose="020B0604030504040204" pitchFamily="34" charset="0"/>
                  </a:rPr>
                  <a:t/>
                </a:r>
                <a:br>
                  <a:rPr lang="en-US" sz="2400" dirty="0">
                    <a:latin typeface="Cambria Math" panose="02040503050406030204" pitchFamily="18" charset="0"/>
                    <a:ea typeface="Cambria Math" panose="02040503050406030204" pitchFamily="18" charset="0"/>
                    <a:cs typeface="Verdana" panose="020B0604030504040204" pitchFamily="34" charset="0"/>
                  </a:rPr>
                </a:br>
                <a:r>
                  <a:rPr lang="en-US" sz="2400" dirty="0">
                    <a:latin typeface="Cambria Math" panose="02040503050406030204" pitchFamily="18" charset="0"/>
                    <a:ea typeface="Cambria Math" panose="02040503050406030204" pitchFamily="18" charset="0"/>
                    <a:cs typeface="Verdana" panose="020B0604030504040204" pitchFamily="34" charset="0"/>
                  </a:rPr>
                  <a:t/>
                </a:r>
                <a:br>
                  <a:rPr lang="en-US" sz="2400" dirty="0">
                    <a:latin typeface="Cambria Math" panose="02040503050406030204" pitchFamily="18" charset="0"/>
                    <a:ea typeface="Cambria Math" panose="02040503050406030204" pitchFamily="18" charset="0"/>
                    <a:cs typeface="Verdana" panose="020B0604030504040204" pitchFamily="34" charset="0"/>
                  </a:rPr>
                </a:br>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PH" sz="2400">
                        <a:latin typeface="Cambria Math"/>
                      </a:rPr>
                      <m:t> </m:t>
                    </m:r>
                    <m:r>
                      <a:rPr lang="en-US" sz="2400" i="1">
                        <a:latin typeface="Cambria Math"/>
                      </a:rPr>
                      <m:t>−7.1+2</m:t>
                    </m:r>
                    <m:d>
                      <m:dPr>
                        <m:begChr m:val="|"/>
                        <m:endChr m:val="|"/>
                        <m:ctrlPr>
                          <a:rPr lang="en-US" sz="2400" i="1">
                            <a:latin typeface="Cambria Math"/>
                          </a:rPr>
                        </m:ctrlPr>
                      </m:dPr>
                      <m:e>
                        <m:r>
                          <a:rPr lang="en-US" sz="2400" i="1">
                            <a:latin typeface="Cambria Math"/>
                          </a:rPr>
                          <m:t>1.46−9.2</m:t>
                        </m:r>
                      </m:e>
                    </m:d>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536330" y="386281"/>
                <a:ext cx="10515600" cy="4780668"/>
              </a:xfrm>
              <a:prstGeom prst="rect">
                <a:avLst/>
              </a:prstGeom>
              <a:blipFill rotWithShape="1">
                <a:blip r:embed="rId4"/>
                <a:stretch>
                  <a:fillRect l="-928" t="-1019"/>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xmlns="" id="{91AC6BBB-5763-8341-B240-C23FCD1B425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spTree>
    <p:extLst>
      <p:ext uri="{BB962C8B-B14F-4D97-AF65-F5344CB8AC3E}">
        <p14:creationId xmlns:p14="http://schemas.microsoft.com/office/powerpoint/2010/main" val="1918385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422392"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206240"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0584" y="86701"/>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1.4.4 Collaboration: Using Order </a:t>
            </a:r>
            <a:r>
              <a:rPr lang="en-US" sz="3600" b="1" dirty="0" smtClean="0">
                <a:solidFill>
                  <a:srgbClr val="33BEA6"/>
                </a:solidFill>
                <a:latin typeface="Verdana"/>
                <a:ea typeface="Verdana"/>
                <a:cs typeface="Verdana"/>
                <a:sym typeface="Verdana"/>
              </a:rPr>
              <a:t/>
            </a:r>
            <a:br>
              <a:rPr lang="en-US" sz="3600" b="1" dirty="0" smtClean="0">
                <a:solidFill>
                  <a:srgbClr val="33BEA6"/>
                </a:solidFill>
                <a:latin typeface="Verdana"/>
                <a:ea typeface="Verdana"/>
                <a:cs typeface="Verdana"/>
                <a:sym typeface="Verdana"/>
              </a:rPr>
            </a:br>
            <a:r>
              <a:rPr lang="en-US" sz="3600" b="1" dirty="0" smtClean="0">
                <a:solidFill>
                  <a:srgbClr val="33BEA6"/>
                </a:solidFill>
                <a:latin typeface="Verdana"/>
                <a:ea typeface="Verdana"/>
                <a:cs typeface="Verdana"/>
                <a:sym typeface="Verdana"/>
              </a:rPr>
              <a:t>of </a:t>
            </a:r>
            <a:r>
              <a:rPr lang="en-US" sz="3600" b="1" dirty="0">
                <a:solidFill>
                  <a:srgbClr val="33BEA6"/>
                </a:solidFill>
                <a:latin typeface="Verdana"/>
                <a:ea typeface="Verdana"/>
                <a:cs typeface="Verdana"/>
                <a:sym typeface="Verdana"/>
              </a:rPr>
              <a:t>Operations</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8940" y="37464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44DF7DE-9172-3E4E-B74A-7A51585FB6EA}"/>
              </a:ext>
            </a:extLst>
          </p:cNvPr>
          <p:cNvSpPr txBox="1"/>
          <p:nvPr/>
        </p:nvSpPr>
        <p:spPr>
          <a:xfrm>
            <a:off x="545123" y="1461995"/>
            <a:ext cx="108000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Amiyah and David simplified the same expression using an order of operations and arrived at two different solutions. Their work is shown. </a:t>
            </a:r>
          </a:p>
        </p:txBody>
      </p:sp>
      <p:sp>
        <p:nvSpPr>
          <p:cNvPr id="11" name="Google Shape;278;g104476d1465_1_17">
            <a:extLst>
              <a:ext uri="{FF2B5EF4-FFF2-40B4-BE49-F238E27FC236}">
                <a16:creationId xmlns:a16="http://schemas.microsoft.com/office/drawing/2014/main" xmlns="" id="{E9CA456B-1791-3E43-BCF8-7E55B6240BB8}"/>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4450145"/>
                  </p:ext>
                </p:extLst>
              </p:nvPr>
            </p:nvGraphicFramePr>
            <p:xfrm>
              <a:off x="3042603" y="2841467"/>
              <a:ext cx="6106795" cy="2460371"/>
            </p:xfrm>
            <a:graphic>
              <a:graphicData uri="http://schemas.openxmlformats.org/drawingml/2006/table">
                <a:tbl>
                  <a:tblPr firstRow="1" firstCol="1" bandRow="1">
                    <a:tableStyleId>{5940675A-B579-460E-94D1-54222C63F5DA}</a:tableStyleId>
                  </a:tblPr>
                  <a:tblGrid>
                    <a:gridCol w="2911475">
                      <a:extLst>
                        <a:ext uri="{9D8B030D-6E8A-4147-A177-3AD203B41FA5}">
                          <a16:colId xmlns:a16="http://schemas.microsoft.com/office/drawing/2014/main" xmlns="" val="20000"/>
                        </a:ext>
                      </a:extLst>
                    </a:gridCol>
                    <a:gridCol w="3195320">
                      <a:extLst>
                        <a:ext uri="{9D8B030D-6E8A-4147-A177-3AD203B41FA5}">
                          <a16:colId xmlns:a16="http://schemas.microsoft.com/office/drawing/2014/main" xmlns="" val="20001"/>
                        </a:ext>
                      </a:extLst>
                    </a:gridCol>
                  </a:tblGrid>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Amiyah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David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953895">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−10−7</m:t>
                                </m:r>
                                <m:d>
                                  <m:dPr>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2.5</m:t>
                                        </m:r>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−|−5</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−10−7</m:t>
                                </m:r>
                                <m:d>
                                  <m:dPr>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2.5</m:t>
                                        </m:r>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−5.75</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−10−7</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6.25</m:t>
                                    </m:r>
                                  </m:e>
                                </m:d>
                                <m:r>
                                  <a:rPr lang="en-US" sz="2000">
                                    <a:effectLst/>
                                    <a:latin typeface="Cambria Math" panose="02040503050406030204" pitchFamily="18" charset="0"/>
                                    <a:ea typeface="Cambria Math" panose="02040503050406030204" pitchFamily="18" charset="0"/>
                                  </a:rPr>
                                  <m:t>−5.75</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−17</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6.25</m:t>
                                    </m:r>
                                  </m:e>
                                </m:d>
                                <m:r>
                                  <a:rPr lang="en-US" sz="2000">
                                    <a:effectLst/>
                                    <a:latin typeface="Cambria Math" panose="02040503050406030204" pitchFamily="18" charset="0"/>
                                    <a:ea typeface="Cambria Math" panose="02040503050406030204" pitchFamily="18" charset="0"/>
                                  </a:rPr>
                                  <m:t>−5.75</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−106.25−5.75</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−10−7</m:t>
                                </m:r>
                                <m:d>
                                  <m:dPr>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2.5</m:t>
                                        </m:r>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−|−5</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m:t>
                                </m:r>
                              </m:oMath>
                              <m:oMath xmlns:m="http://schemas.openxmlformats.org/officeDocument/2006/math">
                                <m:r>
                                  <a:rPr lang="en-US" sz="2000">
                                    <a:effectLst/>
                                    <a:latin typeface="Cambria Math" panose="02040503050406030204" pitchFamily="18" charset="0"/>
                                    <a:ea typeface="Cambria Math" panose="02040503050406030204" pitchFamily="18" charset="0"/>
                                  </a:rPr>
                                  <m:t>−10−7</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6.25</m:t>
                                    </m:r>
                                  </m:e>
                                </m:d>
                                <m:r>
                                  <a:rPr lang="en-US" sz="2000">
                                    <a:effectLst/>
                                    <a:latin typeface="Cambria Math" panose="02040503050406030204" pitchFamily="18" charset="0"/>
                                    <a:ea typeface="Cambria Math" panose="02040503050406030204" pitchFamily="18" charset="0"/>
                                  </a:rPr>
                                  <m:t>−|−5.75|</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−10−43.75−|−5.75|</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−10−43.75+5.75</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−48</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4450145"/>
                  </p:ext>
                </p:extLst>
              </p:nvPr>
            </p:nvGraphicFramePr>
            <p:xfrm>
              <a:off x="3042603" y="2841467"/>
              <a:ext cx="6106795" cy="2460371"/>
            </p:xfrm>
            <a:graphic>
              <a:graphicData uri="http://schemas.openxmlformats.org/drawingml/2006/table">
                <a:tbl>
                  <a:tblPr firstRow="1" firstCol="1" bandRow="1">
                    <a:tableStyleId>{5940675A-B579-460E-94D1-54222C63F5DA}</a:tableStyleId>
                  </a:tblPr>
                  <a:tblGrid>
                    <a:gridCol w="2911475">
                      <a:extLst>
                        <a:ext uri="{9D8B030D-6E8A-4147-A177-3AD203B41FA5}">
                          <a16:colId xmlns:a16="http://schemas.microsoft.com/office/drawing/2014/main" xmlns:a14="http://schemas.microsoft.com/office/drawing/2010/main" xmlns="" val="20000"/>
                        </a:ext>
                      </a:extLst>
                    </a:gridCol>
                    <a:gridCol w="3195320">
                      <a:extLst>
                        <a:ext uri="{9D8B030D-6E8A-4147-A177-3AD203B41FA5}">
                          <a16:colId xmlns:a16="http://schemas.microsoft.com/office/drawing/2014/main" xmlns:a14="http://schemas.microsoft.com/office/drawing/2010/main" xmlns="" val="20001"/>
                        </a:ext>
                      </a:extLst>
                    </a:gridCol>
                  </a:tblGrid>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Amiyah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David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2094611">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9477" r="-109623" b="-1453"/>
                          </a:stretch>
                        </a:blipFill>
                      </a:tcPr>
                    </a:tc>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1221" t="-19477" b="-1453"/>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2AA35BC6-D428-FC41-BDE5-6438AB8840FC}"/>
              </a:ext>
            </a:extLst>
          </p:cNvPr>
          <p:cNvSpPr txBox="1"/>
          <p:nvPr/>
        </p:nvSpPr>
        <p:spPr>
          <a:xfrm>
            <a:off x="536330" y="381715"/>
            <a:ext cx="10515600" cy="2677656"/>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Amiyah and David both made common mistakes. Circle the mistakes in the work.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a note to Amiyah and David explaining the mistake(s) they made.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xmlns="" id="{D60F4B17-87E0-004C-AADF-1570DE52C58A}"/>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165554677"/>
              </p:ext>
            </p:extLst>
          </p:nvPr>
        </p:nvGraphicFramePr>
        <p:xfrm>
          <a:off x="2695575" y="2784439"/>
          <a:ext cx="6800850" cy="2011680"/>
        </p:xfrm>
        <a:graphic>
          <a:graphicData uri="http://schemas.openxmlformats.org/drawingml/2006/table">
            <a:tbl>
              <a:tblPr firstRow="1" firstCol="1" bandRow="1">
                <a:tableStyleId>{5940675A-B579-460E-94D1-54222C63F5DA}</a:tableStyleId>
              </a:tblPr>
              <a:tblGrid>
                <a:gridCol w="3434080">
                  <a:extLst>
                    <a:ext uri="{9D8B030D-6E8A-4147-A177-3AD203B41FA5}">
                      <a16:colId xmlns:a16="http://schemas.microsoft.com/office/drawing/2014/main" xmlns="" val="20000"/>
                    </a:ext>
                  </a:extLst>
                </a:gridCol>
                <a:gridCol w="3366770">
                  <a:extLst>
                    <a:ext uri="{9D8B030D-6E8A-4147-A177-3AD203B41FA5}">
                      <a16:colId xmlns:a16="http://schemas.microsoft.com/office/drawing/2014/main" xmlns="" val="20001"/>
                    </a:ext>
                  </a:extLst>
                </a:gridCol>
              </a:tblGrid>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Amiyah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David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0">
                <a:tc>
                  <a:txBody>
                    <a:bodyPr/>
                    <a:lstStyle/>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3" name="Rectangle 2"/>
          <p:cNvSpPr/>
          <p:nvPr/>
        </p:nvSpPr>
        <p:spPr>
          <a:xfrm>
            <a:off x="536330" y="5101610"/>
            <a:ext cx="6364563" cy="461665"/>
          </a:xfrm>
          <a:prstGeom prst="rect">
            <a:avLst/>
          </a:prstGeom>
        </p:spPr>
        <p:txBody>
          <a:bodyPr wrap="none">
            <a:spAutoFit/>
          </a:bodyPr>
          <a:lstStyle/>
          <a:p>
            <a:pPr marL="896938"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Evaluate the expression correctly.</a:t>
            </a:r>
            <a:endParaRPr lang="en-US" sz="2400" dirty="0"/>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40248"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xmlns=""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0697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0584" y="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1.4.5 Activity: Evaluating Expressions</a:t>
            </a:r>
          </a:p>
        </p:txBody>
      </p:sp>
      <p:pic>
        <p:nvPicPr>
          <p:cNvPr id="9" name="Picture 2" descr="Icon&#10;&#10;Description automatically generated">
            <a:extLst>
              <a:ext uri="{FF2B5EF4-FFF2-40B4-BE49-F238E27FC236}">
                <a16:creationId xmlns:a16="http://schemas.microsoft.com/office/drawing/2014/main" xmlns=""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8940"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A3547ABD-563B-A148-B65C-C7679A7B43D4}"/>
              </a:ext>
            </a:extLst>
          </p:cNvPr>
          <p:cNvSpPr txBox="1"/>
          <p:nvPr/>
        </p:nvSpPr>
        <p:spPr>
          <a:xfrm>
            <a:off x="536330" y="1325700"/>
            <a:ext cx="10515600"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Decide with your partner who will be Partner A and who will be Partner B.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Evaluate the problems in your column.</a:t>
            </a:r>
          </a:p>
        </p:txBody>
      </p:sp>
      <p:sp>
        <p:nvSpPr>
          <p:cNvPr id="11" name="Google Shape;278;g104476d1465_1_17">
            <a:extLst>
              <a:ext uri="{FF2B5EF4-FFF2-40B4-BE49-F238E27FC236}">
                <a16:creationId xmlns:a16="http://schemas.microsoft.com/office/drawing/2014/main" xmlns="" id="{32274384-6D96-984A-8A32-66A86393A00D}"/>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27697123"/>
                  </p:ext>
                </p:extLst>
              </p:nvPr>
            </p:nvGraphicFramePr>
            <p:xfrm>
              <a:off x="1556744" y="2601028"/>
              <a:ext cx="7200000" cy="3762772"/>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 val="20000"/>
                        </a:ext>
                      </a:extLst>
                    </a:gridCol>
                    <a:gridCol w="3600000">
                      <a:extLst>
                        <a:ext uri="{9D8B030D-6E8A-4147-A177-3AD203B41FA5}">
                          <a16:colId xmlns:a16="http://schemas.microsoft.com/office/drawing/2014/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B</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64738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−6.5+</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3</m:t>
                                        </m:r>
                                      </m:sup>
                                    </m:sSup>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m:t>
                                </m:r>
                                <m:d>
                                  <m:dPr>
                                    <m:begChr m:val="|"/>
                                    <m:endChr m:val="|"/>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5</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−8.4</m:t>
                                    </m:r>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64738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3−7.5</m:t>
                                            </m:r>
                                          </m:num>
                                          <m:den>
                                            <m:r>
                                              <a:rPr lang="en-US" sz="2000">
                                                <a:effectLst/>
                                                <a:latin typeface="Cambria Math" panose="02040503050406030204" pitchFamily="18" charset="0"/>
                                                <a:ea typeface="Cambria Math" panose="02040503050406030204" pitchFamily="18" charset="0"/>
                                              </a:rPr>
                                              <m:t>15</m:t>
                                            </m:r>
                                          </m:den>
                                        </m:f>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×8</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4.5−7.5</m:t>
                                            </m:r>
                                          </m:num>
                                          <m:den>
                                            <m:r>
                                              <a:rPr lang="en-US" sz="2000">
                                                <a:effectLst/>
                                                <a:latin typeface="Cambria Math" panose="02040503050406030204" pitchFamily="18" charset="0"/>
                                                <a:ea typeface="Cambria Math" panose="02040503050406030204" pitchFamily="18" charset="0"/>
                                              </a:rPr>
                                              <m:t>5</m:t>
                                            </m:r>
                                          </m:den>
                                        </m:f>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27697123"/>
                  </p:ext>
                </p:extLst>
              </p:nvPr>
            </p:nvGraphicFramePr>
            <p:xfrm>
              <a:off x="1556744" y="2601028"/>
              <a:ext cx="7200000" cy="3762772"/>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B</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647386">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8889" r="-100000" b="-100000"/>
                          </a:stretch>
                        </a:blipFill>
                      </a:tcPr>
                    </a:tc>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169" t="-28889" r="-169" b="-100000"/>
                          </a:stretch>
                        </a:blipFill>
                      </a:tcPr>
                    </a:tc>
                    <a:extLst>
                      <a:ext uri="{0D108BD9-81ED-4DB2-BD59-A6C34878D82A}">
                        <a16:rowId xmlns:a16="http://schemas.microsoft.com/office/drawing/2014/main" xmlns:a14="http://schemas.microsoft.com/office/drawing/2010/main" xmlns="" val="10001"/>
                      </a:ext>
                    </a:extLst>
                  </a:tr>
                  <a:tr h="1647386">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28889" r="-100000"/>
                          </a:stretch>
                        </a:blipFill>
                      </a:tcPr>
                    </a:tc>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169" t="-128889" r="-169"/>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xmlns="" id="{FA8216EE-488F-0B46-A674-98E7CEF1691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454031146"/>
                  </p:ext>
                </p:extLst>
              </p:nvPr>
            </p:nvGraphicFramePr>
            <p:xfrm>
              <a:off x="1555350" y="555665"/>
              <a:ext cx="7200000" cy="4484620"/>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 val="20000"/>
                        </a:ext>
                      </a:extLst>
                    </a:gridCol>
                    <a:gridCol w="3600000">
                      <a:extLst>
                        <a:ext uri="{9D8B030D-6E8A-4147-A177-3AD203B41FA5}">
                          <a16:colId xmlns:a16="http://schemas.microsoft.com/office/drawing/2014/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B</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2008310">
                    <a:tc>
                      <a:txBody>
                        <a:bodyPr/>
                        <a:lstStyle/>
                        <a:p>
                          <a:pPr marL="0" marR="0" algn="ctr">
                            <a:spcBef>
                              <a:spcPts val="0"/>
                            </a:spcBef>
                            <a:spcAft>
                              <a:spcPts val="0"/>
                            </a:spcAft>
                          </a:pPr>
                          <a14:m>
                            <m:oMath xmlns:m="http://schemas.openxmlformats.org/officeDocument/2006/math">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−32</m:t>
                                  </m:r>
                                </m:e>
                              </m:d>
                              <m:r>
                                <a:rPr lang="en-US" sz="2000">
                                  <a:effectLst/>
                                  <a:latin typeface="Cambria Math" panose="02040503050406030204" pitchFamily="18" charset="0"/>
                                  <a:ea typeface="Cambria Math" panose="02040503050406030204" pitchFamily="18" charset="0"/>
                                </a:rPr>
                                <m:t>÷</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m:t>
                                      </m:r>
                                    </m:e>
                                  </m:d>
                                </m:e>
                                <m:sup>
                                  <m:r>
                                    <a:rPr lang="en-US" sz="2000">
                                      <a:effectLst/>
                                      <a:latin typeface="Cambria Math" panose="02040503050406030204" pitchFamily="18" charset="0"/>
                                      <a:ea typeface="Cambria Math" panose="02040503050406030204" pitchFamily="18" charset="0"/>
                                    </a:rPr>
                                    <m:t>4</m:t>
                                  </m:r>
                                </m:sup>
                              </m:sSup>
                              <m:r>
                                <a:rPr lang="en-US" sz="2000">
                                  <a:effectLst/>
                                  <a:latin typeface="Cambria Math" panose="02040503050406030204" pitchFamily="18" charset="0"/>
                                  <a:ea typeface="Cambria Math" panose="02040503050406030204" pitchFamily="18" charset="0"/>
                                </a:rPr>
                                <m:t>×(−3.6−1.2)</m:t>
                              </m:r>
                            </m:oMath>
                          </a14:m>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−0.74×5</m:t>
                                    </m:r>
                                  </m:e>
                                </m:d>
                                <m:r>
                                  <a:rPr lang="en-US" sz="2000">
                                    <a:effectLst/>
                                    <a:latin typeface="Cambria Math" panose="02040503050406030204" pitchFamily="18" charset="0"/>
                                    <a:ea typeface="Cambria Math" panose="02040503050406030204" pitchFamily="18" charset="0"/>
                                  </a:rPr>
                                  <m:t>+48÷(−</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2)</m:t>
                                    </m:r>
                                  </m:e>
                                  <m:sup>
                                    <m:r>
                                      <a:rPr lang="en-US" sz="2000">
                                        <a:effectLst/>
                                        <a:latin typeface="Cambria Math" panose="02040503050406030204" pitchFamily="18" charset="0"/>
                                        <a:ea typeface="Cambria Math" panose="02040503050406030204" pitchFamily="18" charset="0"/>
                                      </a:rPr>
                                      <m:t>2</m:t>
                                    </m:r>
                                  </m:sup>
                                </m:sSup>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20083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a:ea typeface="Cambria Math" panose="02040503050406030204" pitchFamily="18" charset="0"/>
                                      </a:rPr>
                                    </m:ctrlPr>
                                  </m:d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30.5−</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5</m:t>
                                            </m:r>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÷2</m:t>
                                    </m:r>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(23.5−</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4</m:t>
                                        </m:r>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)÷10</m:t>
                                    </m:r>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454031146"/>
                  </p:ext>
                </p:extLst>
              </p:nvPr>
            </p:nvGraphicFramePr>
            <p:xfrm>
              <a:off x="1555350" y="555665"/>
              <a:ext cx="7200000" cy="4484620"/>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B</a:t>
                          </a:r>
                        </a:p>
                      </a:txBody>
                      <a:tcPr marL="50208" marR="5020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2008310">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3404" r="-100000" b="-100304"/>
                          </a:stretch>
                        </a:blipFill>
                      </a:tcPr>
                    </a:tc>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169" t="-23404" r="-169" b="-100304"/>
                          </a:stretch>
                        </a:blipFill>
                      </a:tcPr>
                    </a:tc>
                    <a:extLst>
                      <a:ext uri="{0D108BD9-81ED-4DB2-BD59-A6C34878D82A}">
                        <a16:rowId xmlns:a16="http://schemas.microsoft.com/office/drawing/2014/main" xmlns:a14="http://schemas.microsoft.com/office/drawing/2010/main" xmlns="" val="10001"/>
                      </a:ext>
                    </a:extLst>
                  </a:tr>
                  <a:tr h="2008310">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23030" r="-100000"/>
                          </a:stretch>
                        </a:blipFill>
                      </a:tcPr>
                    </a:tc>
                    <a:tc>
                      <a:txBody>
                        <a:bodyPr/>
                        <a:lstStyle/>
                        <a:p>
                          <a:endParaRPr lang="en-US"/>
                        </a:p>
                      </a:txBody>
                      <a:tcPr marL="50208" marR="50208"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169" t="-123030" r="-169"/>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Tree>
    <p:extLst>
      <p:ext uri="{BB962C8B-B14F-4D97-AF65-F5344CB8AC3E}">
        <p14:creationId xmlns:p14="http://schemas.microsoft.com/office/powerpoint/2010/main" val="2771154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B6C08EE3-8247-C14E-9600-35165D5C8679}"/>
              </a:ext>
            </a:extLst>
          </p:cNvPr>
          <p:cNvSpPr txBox="1"/>
          <p:nvPr/>
        </p:nvSpPr>
        <p:spPr>
          <a:xfrm>
            <a:off x="545123" y="381474"/>
            <a:ext cx="10800000" cy="3785652"/>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Calculate the sum of the answers in each column from Part A.   </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smtClean="0">
                <a:latin typeface="Verdana" panose="020B0604030504040204" pitchFamily="34" charset="0"/>
                <a:ea typeface="Verdana" panose="020B0604030504040204" pitchFamily="34" charset="0"/>
                <a:cs typeface="Verdana" panose="020B0604030504040204" pitchFamily="34" charset="0"/>
              </a:rPr>
              <a:t>Both </a:t>
            </a:r>
            <a:r>
              <a:rPr lang="en-US" sz="2400" dirty="0">
                <a:latin typeface="Verdana" panose="020B0604030504040204" pitchFamily="34" charset="0"/>
                <a:ea typeface="Verdana" panose="020B0604030504040204" pitchFamily="34" charset="0"/>
                <a:cs typeface="Verdana" panose="020B0604030504040204" pitchFamily="34" charset="0"/>
              </a:rPr>
              <a:t>columns should have the same sum. If that is not the case, work with your partner to find and correct any errors in your work.</a:t>
            </a:r>
          </a:p>
        </p:txBody>
      </p:sp>
      <p:sp>
        <p:nvSpPr>
          <p:cNvPr id="6" name="Google Shape;278;g104476d1465_1_17">
            <a:extLst>
              <a:ext uri="{FF2B5EF4-FFF2-40B4-BE49-F238E27FC236}">
                <a16:creationId xmlns:a16="http://schemas.microsoft.com/office/drawing/2014/main" xmlns="" id="{FA8216EE-488F-0B46-A674-98E7CEF1691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472402517"/>
              </p:ext>
            </p:extLst>
          </p:nvPr>
        </p:nvGraphicFramePr>
        <p:xfrm>
          <a:off x="2989865" y="1009231"/>
          <a:ext cx="6480000" cy="1634400"/>
        </p:xfrm>
        <a:graphic>
          <a:graphicData uri="http://schemas.openxmlformats.org/drawingml/2006/table">
            <a:tbl>
              <a:tblPr firstRow="1" firstCol="1" bandRow="1">
                <a:tableStyleId>{5940675A-B579-460E-94D1-54222C63F5DA}</a:tableStyleId>
              </a:tblPr>
              <a:tblGrid>
                <a:gridCol w="3240000">
                  <a:extLst>
                    <a:ext uri="{9D8B030D-6E8A-4147-A177-3AD203B41FA5}">
                      <a16:colId xmlns:a16="http://schemas.microsoft.com/office/drawing/2014/main" xmlns="" val="20000"/>
                    </a:ext>
                  </a:extLst>
                </a:gridCol>
                <a:gridCol w="3240000">
                  <a:extLst>
                    <a:ext uri="{9D8B030D-6E8A-4147-A177-3AD203B41FA5}">
                      <a16:colId xmlns:a16="http://schemas.microsoft.com/office/drawing/2014/main" xmlns="" val="20001"/>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of Partner A’s Answers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of Partner B’s Answers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914400">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spTree>
    <p:extLst>
      <p:ext uri="{BB962C8B-B14F-4D97-AF65-F5344CB8AC3E}">
        <p14:creationId xmlns:p14="http://schemas.microsoft.com/office/powerpoint/2010/main" val="4026209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8624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252976"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51792" y="24977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1.4.6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21448" y="24977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536330" y="1359292"/>
                <a:ext cx="10515600" cy="5098383"/>
              </a:xfrm>
              <a:prstGeom prst="rect">
                <a:avLst/>
              </a:prstGeom>
              <a:noFill/>
            </p:spPr>
            <p:txBody>
              <a:bodyPr wrap="square" rtlCol="0">
                <a:spAutoFit/>
              </a:bodyPr>
              <a:lstStyle/>
              <a:p>
                <a:pPr marL="457200" indent="-457200">
                  <a:buFont typeface="+mj-lt"/>
                  <a:buAutoNum type="arabicPeriod"/>
                </a:pPr>
                <a:r>
                  <a:rPr lang="en-US" sz="2400" dirty="0" smtClean="0">
                    <a:latin typeface="Verdana" panose="020B0604030504040204" pitchFamily="34" charset="0"/>
                    <a:ea typeface="Verdana" panose="020B0604030504040204" pitchFamily="34" charset="0"/>
                    <a:cs typeface="Verdana" panose="020B0604030504040204" pitchFamily="34" charset="0"/>
                  </a:rPr>
                  <a:t>Evaluate each expression. Show the steps in your work.</a:t>
                </a:r>
              </a:p>
              <a:p>
                <a:pPr marL="457200" indent="-457200">
                  <a:buFont typeface="+mj-lt"/>
                  <a:buAutoNum type="arabicPeriod"/>
                </a:pPr>
                <a:endParaRPr lang="en-US" sz="2400" dirty="0"/>
              </a:p>
              <a:p>
                <a:pPr marL="457200"/>
                <a:r>
                  <a:rPr lang="en-US" sz="2400" dirty="0">
                    <a:latin typeface="Verdana" pitchFamily="34" charset="0"/>
                    <a:ea typeface="Verdana" pitchFamily="34" charset="0"/>
                  </a:rPr>
                  <a:t>a.  </a:t>
                </a:r>
                <a14:m>
                  <m:oMath xmlns:m="http://schemas.openxmlformats.org/officeDocument/2006/math">
                    <m:r>
                      <a:rPr lang="en-US" sz="2400">
                        <a:latin typeface="Cambria Math" panose="02040503050406030204" pitchFamily="18" charset="0"/>
                        <a:ea typeface="Cambria Math" panose="02040503050406030204" pitchFamily="18" charset="0"/>
                      </a:rPr>
                      <m:t>−4.5−|</m:t>
                    </m:r>
                    <m:sSup>
                      <m:sSupPr>
                        <m:ctrlPr>
                          <a:rPr lang="en-US" sz="2400" i="1">
                            <a:latin typeface="Cambria Math"/>
                            <a:ea typeface="Cambria Math" panose="02040503050406030204" pitchFamily="18" charset="0"/>
                          </a:rPr>
                        </m:ctrlPr>
                      </m:sSupPr>
                      <m:e>
                        <m:d>
                          <m:dPr>
                            <m:ctrlPr>
                              <a:rPr lang="en-US" sz="2400" i="1">
                                <a:latin typeface="Cambria Math"/>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3×−1.6</m:t>
                            </m:r>
                          </m:e>
                        </m:d>
                      </m:e>
                      <m:sup>
                        <m:r>
                          <a:rPr lang="en-US" sz="2400">
                            <a:latin typeface="Cambria Math" panose="02040503050406030204" pitchFamily="18" charset="0"/>
                            <a:ea typeface="Cambria Math" panose="02040503050406030204" pitchFamily="18" charset="0"/>
                          </a:rPr>
                          <m:t>2</m:t>
                        </m:r>
                      </m:sup>
                    </m:sSup>
                    <m:r>
                      <a:rPr lang="en-US" sz="2400">
                        <a:latin typeface="Cambria Math" panose="02040503050406030204" pitchFamily="18" charset="0"/>
                        <a:ea typeface="Cambria Math" panose="02040503050406030204" pitchFamily="18" charset="0"/>
                      </a:rPr>
                      <m:t>|</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smtClean="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f>
                      <m:fPr>
                        <m:ctrlPr>
                          <a:rPr lang="en-US" sz="2400" i="1">
                            <a:latin typeface="Cambria Math"/>
                            <a:ea typeface="Cambria Math" panose="02040503050406030204" pitchFamily="18" charset="0"/>
                          </a:rPr>
                        </m:ctrlPr>
                      </m:fPr>
                      <m:num>
                        <m:sSup>
                          <m:sSupPr>
                            <m:ctrlPr>
                              <a:rPr lang="en-US" sz="2400" i="1">
                                <a:latin typeface="Cambria Math"/>
                                <a:ea typeface="Cambria Math" panose="02040503050406030204" pitchFamily="18" charset="0"/>
                              </a:rPr>
                            </m:ctrlPr>
                          </m:sSupPr>
                          <m:e>
                            <m:sSup>
                              <m:sSupPr>
                                <m:ctrlPr>
                                  <a:rPr lang="en-US" sz="2400" i="1">
                                    <a:latin typeface="Cambria Math"/>
                                    <a:ea typeface="Cambria Math" panose="02040503050406030204" pitchFamily="18" charset="0"/>
                                  </a:rPr>
                                </m:ctrlPr>
                              </m:sSupPr>
                              <m:e>
                                <m:r>
                                  <a:rPr lang="en-US" sz="2400">
                                    <a:latin typeface="Cambria Math" panose="02040503050406030204" pitchFamily="18" charset="0"/>
                                    <a:ea typeface="Cambria Math" panose="02040503050406030204" pitchFamily="18" charset="0"/>
                                  </a:rPr>
                                  <m:t>(−9</m:t>
                                </m:r>
                              </m:e>
                              <m:sup>
                                <m:r>
                                  <a:rPr lang="en-US" sz="2400">
                                    <a:latin typeface="Cambria Math" panose="02040503050406030204" pitchFamily="18" charset="0"/>
                                    <a:ea typeface="Cambria Math" panose="02040503050406030204" pitchFamily="18" charset="0"/>
                                  </a:rPr>
                                  <m:t>0</m:t>
                                </m:r>
                              </m:sup>
                            </m:sSup>
                            <m:r>
                              <a:rPr lang="en-US" sz="2400">
                                <a:latin typeface="Cambria Math" panose="02040503050406030204" pitchFamily="18" charset="0"/>
                                <a:ea typeface="Cambria Math" panose="02040503050406030204" pitchFamily="18" charset="0"/>
                              </a:rPr>
                              <m:t>× 0.2)</m:t>
                            </m:r>
                          </m:e>
                          <m:sup>
                            <m:r>
                              <a:rPr lang="en-US" sz="2400">
                                <a:latin typeface="Cambria Math" panose="02040503050406030204" pitchFamily="18" charset="0"/>
                                <a:ea typeface="Cambria Math" panose="02040503050406030204" pitchFamily="18" charset="0"/>
                              </a:rPr>
                              <m:t>4</m:t>
                            </m:r>
                          </m:sup>
                        </m:sSup>
                      </m:num>
                      <m:den>
                        <m:r>
                          <a:rPr lang="en-US" sz="2400">
                            <a:latin typeface="Cambria Math" panose="02040503050406030204" pitchFamily="18" charset="0"/>
                            <a:ea typeface="Cambria Math" panose="02040503050406030204" pitchFamily="18" charset="0"/>
                          </a:rPr>
                          <m:t>−2</m:t>
                        </m:r>
                      </m:den>
                    </m:f>
                  </m:oMath>
                </a14:m>
                <a:endParaRPr lang="en-US" sz="2400" dirty="0">
                  <a:latin typeface="Cambria Math" panose="02040503050406030204" pitchFamily="18" charset="0"/>
                  <a:ea typeface="Cambria Math" panose="02040503050406030204" pitchFamily="18" charset="0"/>
                </a:endParaRPr>
              </a:p>
              <a:p>
                <a:pPr marL="914400" indent="-457200"/>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smtClean="0">
                    <a:latin typeface="Verdana" panose="020B0604030504040204" pitchFamily="34" charset="0"/>
                    <a:ea typeface="Verdana" panose="020B0604030504040204" pitchFamily="34" charset="0"/>
                    <a:cs typeface="Verdana" panose="020B0604030504040204" pitchFamily="34" charset="0"/>
                  </a:rPr>
                  <a:t>c</a:t>
                </a: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Cambria Math" panose="02040503050406030204" pitchFamily="18" charset="0"/>
                      </a:rPr>
                      <m:t>(−18.6)÷6∙</m:t>
                    </m:r>
                    <m:sSup>
                      <m:sSupPr>
                        <m:ctrlPr>
                          <a:rPr lang="en-US" sz="2400" i="1">
                            <a:latin typeface="Cambria Math"/>
                            <a:ea typeface="Cambria Math" panose="02040503050406030204" pitchFamily="18" charset="0"/>
                          </a:rPr>
                        </m:ctrlPr>
                      </m:sSupPr>
                      <m:e>
                        <m:r>
                          <a:rPr lang="en-US" sz="2400">
                            <a:latin typeface="Cambria Math" panose="02040503050406030204" pitchFamily="18" charset="0"/>
                            <a:ea typeface="Cambria Math" panose="02040503050406030204" pitchFamily="18" charset="0"/>
                          </a:rPr>
                          <m:t>(−2.3+5.4)</m:t>
                        </m:r>
                      </m:e>
                      <m:sup>
                        <m:r>
                          <a:rPr lang="en-US" sz="2400">
                            <a:latin typeface="Cambria Math" panose="02040503050406030204" pitchFamily="18" charset="0"/>
                            <a:ea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smtClean="0">
                    <a:latin typeface="Verdana" panose="020B0604030504040204" pitchFamily="34" charset="0"/>
                    <a:ea typeface="Verdana" panose="020B0604030504040204" pitchFamily="34" charset="0"/>
                    <a:cs typeface="Verdana" panose="020B0604030504040204" pitchFamily="34" charset="0"/>
                  </a:rPr>
                  <a:t>d</a:t>
                </a: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Cambria Math" panose="02040503050406030204" pitchFamily="18" charset="0"/>
                      </a:rPr>
                      <m:t> </m:t>
                    </m:r>
                    <m:sSup>
                      <m:sSupPr>
                        <m:ctrlPr>
                          <a:rPr lang="en-US" sz="2400" i="1">
                            <a:latin typeface="Cambria Math"/>
                            <a:ea typeface="Cambria Math" panose="02040503050406030204" pitchFamily="18" charset="0"/>
                          </a:rPr>
                        </m:ctrlPr>
                      </m:sSupPr>
                      <m:e>
                        <m:r>
                          <a:rPr lang="en-US" sz="2400">
                            <a:latin typeface="Cambria Math" panose="02040503050406030204" pitchFamily="18" charset="0"/>
                            <a:ea typeface="Cambria Math" panose="02040503050406030204" pitchFamily="18" charset="0"/>
                          </a:rPr>
                          <m:t>[</m:t>
                        </m:r>
                        <m:sSup>
                          <m:sSupPr>
                            <m:ctrlPr>
                              <a:rPr lang="en-US" sz="2400" i="1">
                                <a:latin typeface="Cambria Math"/>
                                <a:ea typeface="Cambria Math" panose="02040503050406030204" pitchFamily="18" charset="0"/>
                              </a:rPr>
                            </m:ctrlPr>
                          </m:sSupPr>
                          <m:e>
                            <m:d>
                              <m:dPr>
                                <m:ctrlPr>
                                  <a:rPr lang="en-US" sz="2400" i="1">
                                    <a:latin typeface="Cambria Math"/>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−3</m:t>
                                </m:r>
                              </m:e>
                            </m:d>
                          </m:e>
                          <m:sup>
                            <m:r>
                              <a:rPr lang="en-US" sz="2400">
                                <a:latin typeface="Cambria Math" panose="02040503050406030204" pitchFamily="18" charset="0"/>
                                <a:ea typeface="Cambria Math" panose="02040503050406030204" pitchFamily="18" charset="0"/>
                              </a:rPr>
                              <m:t>1</m:t>
                            </m:r>
                          </m:sup>
                        </m:sSup>
                        <m:r>
                          <a:rPr lang="en-US" sz="2400">
                            <a:latin typeface="Cambria Math" panose="02040503050406030204" pitchFamily="18" charset="0"/>
                            <a:ea typeface="Cambria Math" panose="02040503050406030204" pitchFamily="18" charset="0"/>
                          </a:rPr>
                          <m:t>×</m:t>
                        </m:r>
                        <m:d>
                          <m:dPr>
                            <m:ctrlPr>
                              <a:rPr lang="en-US" sz="2400" i="1">
                                <a:latin typeface="Cambria Math"/>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3.7−5.8</m:t>
                            </m:r>
                          </m:e>
                        </m:d>
                        <m:r>
                          <a:rPr lang="en-US" sz="2400">
                            <a:latin typeface="Cambria Math" panose="02040503050406030204" pitchFamily="18" charset="0"/>
                            <a:ea typeface="Cambria Math" panose="02040503050406030204" pitchFamily="18" charset="0"/>
                          </a:rPr>
                          <m:t>]</m:t>
                        </m:r>
                      </m:e>
                      <m:sup>
                        <m:r>
                          <a:rPr lang="en-US" sz="2400">
                            <a:latin typeface="Cambria Math" panose="02040503050406030204" pitchFamily="18" charset="0"/>
                            <a:ea typeface="Cambria Math" panose="02040503050406030204" pitchFamily="18" charset="0"/>
                          </a:rPr>
                          <m:t>3</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 xmlns:a16="http://schemas.microsoft.com/office/drawing/2014/main" xmlns:a14="http://schemas.microsoft.com/office/drawing/2010/main" id="{759C3E41-93EC-B84D-963F-86A3B15AC1C6}"/>
                  </a:ext>
                </a:extLst>
              </p:cNvPr>
              <p:cNvSpPr txBox="1">
                <a:spLocks noRot="1" noChangeAspect="1" noMove="1" noResize="1" noEditPoints="1" noAdjustHandles="1" noChangeArrowheads="1" noChangeShapeType="1" noTextEdit="1"/>
              </p:cNvSpPr>
              <p:nvPr/>
            </p:nvSpPr>
            <p:spPr>
              <a:xfrm>
                <a:off x="536330" y="1359292"/>
                <a:ext cx="10515600" cy="5098383"/>
              </a:xfrm>
              <a:prstGeom prst="rect">
                <a:avLst/>
              </a:prstGeom>
              <a:blipFill rotWithShape="1">
                <a:blip r:embed="rId5"/>
                <a:stretch>
                  <a:fillRect l="-928" t="-957"/>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xmlns="" id="{781A9CA2-0645-4547-8E05-A9C337F9CC05}"/>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7448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14121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60584" y="100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1.4.7 Wrap-Up: Cool Down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21448" y="29922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36331" y="1345552"/>
            <a:ext cx="1080000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For each statement, write whether you agree with it, disagree with it, or are unsure.</a:t>
            </a:r>
            <a:r>
              <a:rPr lang="en-US" sz="2400" dirty="0"/>
              <a:t> </a:t>
            </a:r>
          </a:p>
        </p:txBody>
      </p:sp>
      <p:sp>
        <p:nvSpPr>
          <p:cNvPr id="8" name="Google Shape;278;g104476d1465_1_17">
            <a:extLst>
              <a:ext uri="{FF2B5EF4-FFF2-40B4-BE49-F238E27FC236}">
                <a16:creationId xmlns:a16="http://schemas.microsoft.com/office/drawing/2014/main" xmlns="" id="{055A48D7-DC81-5F4D-9632-5F42A5D9EE4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793844884"/>
              </p:ext>
            </p:extLst>
          </p:nvPr>
        </p:nvGraphicFramePr>
        <p:xfrm>
          <a:off x="1068748" y="2362148"/>
          <a:ext cx="7920000" cy="3778471"/>
        </p:xfrm>
        <a:graphic>
          <a:graphicData uri="http://schemas.openxmlformats.org/drawingml/2006/table">
            <a:tbl>
              <a:tblPr firstRow="1" firstCol="1" bandRow="1">
                <a:tableStyleId>{5940675A-B579-460E-94D1-54222C63F5DA}</a:tableStyleId>
              </a:tblPr>
              <a:tblGrid>
                <a:gridCol w="4140000">
                  <a:extLst>
                    <a:ext uri="{9D8B030D-6E8A-4147-A177-3AD203B41FA5}">
                      <a16:colId xmlns:a16="http://schemas.microsoft.com/office/drawing/2014/main" xmlns="" val="20000"/>
                    </a:ext>
                  </a:extLst>
                </a:gridCol>
                <a:gridCol w="3780000">
                  <a:extLst>
                    <a:ext uri="{9D8B030D-6E8A-4147-A177-3AD203B41FA5}">
                      <a16:colId xmlns:a16="http://schemas.microsoft.com/office/drawing/2014/main" xmlns="" val="20001"/>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Agree/Disagree/Unsure</a:t>
                      </a: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814597">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more digits a number has, the larger it is.</a:t>
                      </a: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211937">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When you add two positive decimals together, the value is always larger.</a:t>
                      </a: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1211937">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 add exponents, their bases must be the same.</a:t>
                      </a: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401" marR="6240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xmlns=""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graphicFrame>
        <p:nvGraphicFramePr>
          <p:cNvPr id="8" name="Table 7"/>
          <p:cNvGraphicFramePr>
            <a:graphicFrameLocks noGrp="1"/>
          </p:cNvGraphicFramePr>
          <p:nvPr>
            <p:extLst>
              <p:ext uri="{D42A27DB-BD31-4B8C-83A1-F6EECF244321}">
                <p14:modId xmlns:p14="http://schemas.microsoft.com/office/powerpoint/2010/main" val="1011739594"/>
              </p:ext>
            </p:extLst>
          </p:nvPr>
        </p:nvGraphicFramePr>
        <p:xfrm>
          <a:off x="1068748" y="552111"/>
          <a:ext cx="7920000" cy="3189220"/>
        </p:xfrm>
        <a:graphic>
          <a:graphicData uri="http://schemas.openxmlformats.org/drawingml/2006/table">
            <a:tbl>
              <a:tblPr firstRow="1" firstCol="1" bandRow="1">
                <a:tableStyleId>{5940675A-B579-460E-94D1-54222C63F5DA}</a:tableStyleId>
              </a:tblPr>
              <a:tblGrid>
                <a:gridCol w="4140000">
                  <a:extLst>
                    <a:ext uri="{9D8B030D-6E8A-4147-A177-3AD203B41FA5}">
                      <a16:colId xmlns:a16="http://schemas.microsoft.com/office/drawing/2014/main" xmlns="" val="20000"/>
                    </a:ext>
                  </a:extLst>
                </a:gridCol>
                <a:gridCol w="3780000">
                  <a:extLst>
                    <a:ext uri="{9D8B030D-6E8A-4147-A177-3AD203B41FA5}">
                      <a16:colId xmlns:a16="http://schemas.microsoft.com/office/drawing/2014/main" xmlns="" val="20001"/>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Agree/Disagree/Unsure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064895">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product of two fractions is always a larger number.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584325">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sum of a positive and a negative number is always negative.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1360</TotalTime>
  <Words>915</Words>
  <Application>Microsoft Office PowerPoint</Application>
  <PresentationFormat>Custom</PresentationFormat>
  <Paragraphs>206</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Cambria</vt:lpstr>
      <vt:lpstr>Arial Black</vt:lpstr>
      <vt:lpstr>Verdana</vt:lpstr>
      <vt:lpstr>Calibri</vt:lpstr>
      <vt:lpstr>Times New Roman</vt:lpstr>
      <vt:lpstr>Century Gothic</vt:lpstr>
      <vt:lpstr>Wingdings</vt:lpstr>
      <vt:lpstr>Cambria Math</vt:lpstr>
      <vt:lpstr>1_Office Theme</vt:lpstr>
      <vt:lpstr>8th Grade Math: Pre-Algebra  Unit 1, Lesson 4  Evaluating Numeric Expressions – Part 1  Volume 1, pg. 21  </vt:lpstr>
      <vt:lpstr>Benchmark</vt:lpstr>
      <vt:lpstr>PowerPoint Presentation</vt:lpstr>
      <vt:lpstr>PowerPoint Presentation</vt:lpstr>
      <vt:lpstr>Warm-Up</vt:lpstr>
      <vt:lpstr>PowerPoint Presentation</vt:lpstr>
      <vt:lpstr>PowerPoint Presentation</vt:lpstr>
      <vt:lpstr>Refresher</vt:lpstr>
      <vt:lpstr>PowerPoint Presentation</vt:lpstr>
      <vt:lpstr>Guided Practice</vt:lpstr>
      <vt:lpstr>PowerPoint Presentation</vt:lpstr>
      <vt:lpstr>PowerPoint Presentation</vt:lpstr>
      <vt:lpstr>PowerPoint Presentation</vt:lpstr>
      <vt:lpstr>Collaboration</vt:lpstr>
      <vt:lpstr>PowerPoint Presentation</vt:lpstr>
      <vt:lpstr>PowerPoint Presentation</vt:lpstr>
      <vt:lpstr>Activity</vt:lpstr>
      <vt:lpstr>PowerPoint Presentation</vt:lpstr>
      <vt:lpstr>PowerPoint Presentation</vt:lpstr>
      <vt:lpstr>PowerPoint Presentation</vt:lpstr>
      <vt:lpstr>Your Turn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37</cp:revision>
  <dcterms:created xsi:type="dcterms:W3CDTF">2015-03-17T18:51:18Z</dcterms:created>
  <dcterms:modified xsi:type="dcterms:W3CDTF">2022-07-13T02:16:24Z</dcterms:modified>
</cp:coreProperties>
</file>