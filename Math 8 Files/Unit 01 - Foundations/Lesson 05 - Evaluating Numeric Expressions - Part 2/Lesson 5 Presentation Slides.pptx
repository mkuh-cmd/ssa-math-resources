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85" r:id="rId4"/>
    <p:sldId id="286" r:id="rId5"/>
    <p:sldId id="261" r:id="rId6"/>
    <p:sldId id="287" r:id="rId7"/>
    <p:sldId id="289" r:id="rId8"/>
    <p:sldId id="290" r:id="rId9"/>
    <p:sldId id="335" r:id="rId10"/>
    <p:sldId id="317" r:id="rId11"/>
    <p:sldId id="318" r:id="rId12"/>
    <p:sldId id="319" r:id="rId13"/>
    <p:sldId id="336" r:id="rId14"/>
    <p:sldId id="337" r:id="rId15"/>
    <p:sldId id="320" r:id="rId16"/>
    <p:sldId id="321" r:id="rId17"/>
    <p:sldId id="322" r:id="rId18"/>
    <p:sldId id="338" r:id="rId19"/>
    <p:sldId id="332" r:id="rId20"/>
    <p:sldId id="333" r:id="rId21"/>
    <p:sldId id="340" r:id="rId22"/>
    <p:sldId id="334" r:id="rId23"/>
    <p:sldId id="306" r:id="rId24"/>
    <p:sldId id="307" r:id="rId25"/>
  </p:sldIdLst>
  <p:sldSz cx="12192000" cy="6858000"/>
  <p:notesSz cx="6858000" cy="9144000"/>
  <p:embeddedFontLst>
    <p:embeddedFont>
      <p:font typeface="Calibri" pitchFamily="34" charset="0"/>
      <p:regular r:id="rId27"/>
      <p:bold r:id="rId28"/>
      <p:italic r:id="rId29"/>
      <p:boldItalic r:id="rId30"/>
    </p:embeddedFont>
    <p:embeddedFont>
      <p:font typeface="Century Gothic" pitchFamily="34" charset="0"/>
      <p:regular r:id="rId31"/>
      <p:bold r:id="rId32"/>
      <p:italic r:id="rId33"/>
      <p:boldItalic r:id="rId34"/>
    </p:embeddedFont>
    <p:embeddedFont>
      <p:font typeface="Cambria Math" pitchFamily="18" charset="0"/>
      <p:regular r:id="rId35"/>
    </p:embeddedFont>
    <p:embeddedFont>
      <p:font typeface="Cambria" pitchFamily="18" charset="0"/>
      <p:regular r:id="rId36"/>
      <p:bold r:id="rId37"/>
      <p:italic r:id="rId38"/>
      <p:boldItalic r:id="rId39"/>
    </p:embeddedFont>
    <p:embeddedFont>
      <p:font typeface="Arial Black" pitchFamily="34" charset="0"/>
      <p:bold r:id="rId40"/>
    </p:embeddedFont>
    <p:embeddedFont>
      <p:font typeface="Verdana" pitchFamily="3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E5B"/>
    <a:srgbClr val="F79647"/>
    <a:srgbClr val="FCBD1E"/>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491"/>
    <p:restoredTop sz="96327"/>
  </p:normalViewPr>
  <p:slideViewPr>
    <p:cSldViewPr snapToGrid="0">
      <p:cViewPr varScale="1">
        <p:scale>
          <a:sx n="106" d="100"/>
          <a:sy n="106" d="100"/>
        </p:scale>
        <p:origin x="-1158" y="-8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5874978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87182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447051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8541006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1276234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28030581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6702437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7030514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123299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42130368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3346657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41793836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8549349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9211295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1306336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8th Grade Math:</a:t>
            </a:r>
            <a:br>
              <a:rPr lang="en-US" sz="3800" b="1" dirty="0">
                <a:solidFill>
                  <a:srgbClr val="417DBF"/>
                </a:solidFill>
                <a:latin typeface="Verdana"/>
                <a:ea typeface="Verdana"/>
                <a:cs typeface="Verdana"/>
                <a:sym typeface="Verdana"/>
              </a:rPr>
            </a:br>
            <a:r>
              <a:rPr lang="en-US" sz="3800" b="1" i="0" u="none" strike="noStrike" dirty="0">
                <a:solidFill>
                  <a:srgbClr val="417DBF"/>
                </a:solidFill>
                <a:effectLst/>
                <a:latin typeface="Verdana" panose="020B0604030504040204" pitchFamily="34" charset="0"/>
              </a:rPr>
              <a:t>Pre-Algebra</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 Lesson 5</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Evaluating Numeric Expressions – Part 2</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26</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2257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45123" y="1600200"/>
            <a:ext cx="108000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MA.7.NSO.2.1</a:t>
            </a:r>
          </a:p>
          <a:p>
            <a:pPr indent="0">
              <a:buNone/>
            </a:pPr>
            <a:r>
              <a:rPr lang="en-US" sz="3500" dirty="0">
                <a:latin typeface="Verdana" panose="020B0604030504040204" pitchFamily="34" charset="0"/>
                <a:ea typeface="Verdana" panose="020B0604030504040204" pitchFamily="34" charset="0"/>
                <a:cs typeface="Verdana" panose="020B0604030504040204" pitchFamily="34" charset="0"/>
              </a:rPr>
              <a:t>Solve mathematical problems using multi-step order of operations with rational numbers including grouping symbols, whole-number exponents, and absolute value.</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pic>
        <p:nvPicPr>
          <p:cNvPr id="10" name="Google Shape;281;g104476d1465_1_17"/>
          <p:cNvPicPr preferRelativeResize="0"/>
          <p:nvPr/>
        </p:nvPicPr>
        <p:blipFill>
          <a:blip r:embed="rId4">
            <a:alphaModFix/>
          </a:blip>
          <a:stretch>
            <a:fillRect/>
          </a:stretch>
        </p:blipFill>
        <p:spPr>
          <a:xfrm>
            <a:off x="356616" y="372300"/>
            <a:ext cx="747300" cy="74730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356616"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914400" y="159639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78;g104476d1465_1_17">
            <a:extLst>
              <a:ext uri="{FF2B5EF4-FFF2-40B4-BE49-F238E27FC236}">
                <a16:creationId xmlns:a16="http://schemas.microsoft.com/office/drawing/2014/main" xmlns="" id="{077C6829-C721-C84C-B217-05FC82BD0900}"/>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69376" y="8310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56616" y="37230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527538" y="160020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23888" indent="-617538">
              <a:buClr>
                <a:srgbClr val="434343"/>
              </a:buClr>
              <a:buSzPts val="3500"/>
              <a:buFont typeface="Verdana"/>
              <a:buChar char="❏"/>
            </a:pPr>
            <a:r>
              <a:rPr lang="en-US" sz="3500" dirty="0">
                <a:latin typeface="Verdana" panose="020B0604030504040204" pitchFamily="34" charset="0"/>
                <a:ea typeface="Verdana" panose="020B0604030504040204" pitchFamily="34" charset="0"/>
                <a:cs typeface="Verdana" panose="020B0604030504040204" pitchFamily="34" charset="0"/>
              </a:rPr>
              <a:t>I can evaluate numeric expressions with up to six operations.</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8" name="Google Shape;278;g104476d1465_1_17">
            <a:extLst>
              <a:ext uri="{FF2B5EF4-FFF2-40B4-BE49-F238E27FC236}">
                <a16:creationId xmlns:a16="http://schemas.microsoft.com/office/drawing/2014/main" xmlns="" id="{84D53208-BBC5-F045-A1FC-36E1745FA757}"/>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60584" y="83100"/>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1.5.1 Warm-Up: Growth Mindset</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56616" y="372300"/>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xmlns="" id="{E1D7562E-134F-D14B-AF1A-DF40E11EF758}"/>
              </a:ext>
            </a:extLst>
          </p:cNvPr>
          <p:cNvSpPr txBox="1"/>
          <p:nvPr/>
        </p:nvSpPr>
        <p:spPr>
          <a:xfrm>
            <a:off x="536330" y="1458393"/>
            <a:ext cx="10515600" cy="341632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Famed NCAA basketball coach John Wooden once said, “Nothing will work unless you do.”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do you think this quote means?</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Describe a time where you had to work really hard to achieve something.</a:t>
            </a:r>
          </a:p>
        </p:txBody>
      </p:sp>
      <p:sp>
        <p:nvSpPr>
          <p:cNvPr id="9" name="Google Shape;278;g104476d1465_1_17">
            <a:extLst>
              <a:ext uri="{FF2B5EF4-FFF2-40B4-BE49-F238E27FC236}">
                <a16:creationId xmlns:a16="http://schemas.microsoft.com/office/drawing/2014/main" xmlns="" id="{D2E26B32-0C88-7847-9ECA-D11545A204F9}"/>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99888" y="2507962"/>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4">
            <a:alphaModFix/>
          </a:blip>
          <a:srcRect/>
          <a:stretch/>
        </p:blipFill>
        <p:spPr>
          <a:xfrm>
            <a:off x="3054096" y="2591737"/>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60584" y="83100"/>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1.5.2 Guided Instruction: </a:t>
            </a:r>
            <a:r>
              <a:rPr lang="en-US" sz="3600" b="1" dirty="0" smtClean="0">
                <a:solidFill>
                  <a:srgbClr val="54B5D1"/>
                </a:solidFill>
                <a:latin typeface="Verdana"/>
                <a:ea typeface="Verdana"/>
                <a:cs typeface="Verdana"/>
                <a:sym typeface="Verdana"/>
              </a:rPr>
              <a:t/>
            </a:r>
            <a:br>
              <a:rPr lang="en-US" sz="3600" b="1" dirty="0" smtClean="0">
                <a:solidFill>
                  <a:srgbClr val="54B5D1"/>
                </a:solidFill>
                <a:latin typeface="Verdana"/>
                <a:ea typeface="Verdana"/>
                <a:cs typeface="Verdana"/>
                <a:sym typeface="Verdana"/>
              </a:rPr>
            </a:br>
            <a:r>
              <a:rPr lang="en-US" sz="3600" b="1" dirty="0" smtClean="0">
                <a:solidFill>
                  <a:srgbClr val="54B5D1"/>
                </a:solidFill>
                <a:latin typeface="Verdana"/>
                <a:ea typeface="Verdana"/>
                <a:cs typeface="Verdana"/>
                <a:sym typeface="Verdana"/>
              </a:rPr>
              <a:t>Evaluating </a:t>
            </a:r>
            <a:r>
              <a:rPr lang="en-US" sz="3600" b="1" dirty="0">
                <a:solidFill>
                  <a:srgbClr val="54B5D1"/>
                </a:solidFill>
                <a:latin typeface="Verdana"/>
                <a:ea typeface="Verdana"/>
                <a:cs typeface="Verdana"/>
                <a:sym typeface="Verdana"/>
              </a:rPr>
              <a:t>Expressions</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4">
            <a:alphaModFix/>
          </a:blip>
          <a:srcRect/>
          <a:stretch/>
        </p:blipFill>
        <p:spPr>
          <a:xfrm>
            <a:off x="356616" y="372300"/>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xmlns="" id="{C01B13E8-EC8D-E443-A329-C5E3593DD13A}"/>
              </a:ext>
            </a:extLst>
          </p:cNvPr>
          <p:cNvSpPr txBox="1"/>
          <p:nvPr/>
        </p:nvSpPr>
        <p:spPr>
          <a:xfrm>
            <a:off x="536331" y="1458393"/>
            <a:ext cx="10515600" cy="707886"/>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Two students evaluated the same expression in two different ways. Their work is shown.</a:t>
            </a:r>
          </a:p>
        </p:txBody>
      </p:sp>
      <p:sp>
        <p:nvSpPr>
          <p:cNvPr id="8" name="Google Shape;278;g104476d1465_1_17">
            <a:extLst>
              <a:ext uri="{FF2B5EF4-FFF2-40B4-BE49-F238E27FC236}">
                <a16:creationId xmlns:a16="http://schemas.microsoft.com/office/drawing/2014/main" xmlns="" id="{7D185CEC-69E3-ED4E-87D7-D8AED7B32136}"/>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11" name="Table 10"/>
              <p:cNvGraphicFramePr>
                <a:graphicFrameLocks noGrp="1"/>
              </p:cNvGraphicFramePr>
              <p:nvPr>
                <p:extLst>
                  <p:ext uri="{D42A27DB-BD31-4B8C-83A1-F6EECF244321}">
                    <p14:modId xmlns:p14="http://schemas.microsoft.com/office/powerpoint/2010/main" val="1329667226"/>
                  </p:ext>
                </p:extLst>
              </p:nvPr>
            </p:nvGraphicFramePr>
            <p:xfrm>
              <a:off x="2190409" y="2230507"/>
              <a:ext cx="7773399" cy="4068000"/>
            </p:xfrm>
            <a:graphic>
              <a:graphicData uri="http://schemas.openxmlformats.org/drawingml/2006/table">
                <a:tbl>
                  <a:tblPr firstRow="1" firstCol="1" bandRow="1">
                    <a:tableStyleId>{5940675A-B579-460E-94D1-54222C63F5DA}</a:tableStyleId>
                  </a:tblPr>
                  <a:tblGrid>
                    <a:gridCol w="3865763">
                      <a:extLst>
                        <a:ext uri="{9D8B030D-6E8A-4147-A177-3AD203B41FA5}">
                          <a16:colId xmlns:a16="http://schemas.microsoft.com/office/drawing/2014/main" xmlns="" val="20000"/>
                        </a:ext>
                      </a:extLst>
                    </a:gridCol>
                    <a:gridCol w="3907636">
                      <a:extLst>
                        <a:ext uri="{9D8B030D-6E8A-4147-A177-3AD203B41FA5}">
                          <a16:colId xmlns:a16="http://schemas.microsoft.com/office/drawing/2014/main" xmlns="" val="20001"/>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Allen</a:t>
                          </a:r>
                        </a:p>
                      </a:txBody>
                      <a:tcPr marL="57264" marR="5726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Sienna</a:t>
                          </a:r>
                        </a:p>
                      </a:txBody>
                      <a:tcPr marL="57264" marR="5726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3600000">
                    <a:tc>
                      <a:txBody>
                        <a:bodyPr/>
                        <a:lstStyle/>
                        <a:p>
                          <a:pPr marL="0" marR="0">
                            <a:spcBef>
                              <a:spcPts val="0"/>
                            </a:spcBef>
                            <a:spcAft>
                              <a:spcPts val="600"/>
                            </a:spcAft>
                          </a:pPr>
                          <a14:m>
                            <m:oMathPara xmlns:m="http://schemas.openxmlformats.org/officeDocument/2006/math">
                              <m:oMathParaPr>
                                <m:jc m:val="left"/>
                              </m:oMathParaPr>
                              <m:oMath xmlns:m="http://schemas.openxmlformats.org/officeDocument/2006/math">
                                <m:sSup>
                                  <m:sSupPr>
                                    <m:ctrlPr>
                                      <a:rPr lang="en-US" sz="2000" i="1">
                                        <a:effectLst/>
                                        <a:latin typeface="Cambria Math"/>
                                        <a:ea typeface="Cambria Math" panose="02040503050406030204" pitchFamily="18" charset="0"/>
                                      </a:rPr>
                                    </m:ctrlPr>
                                  </m:sSupPr>
                                  <m:e>
                                    <m:d>
                                      <m:dPr>
                                        <m:begChr m:val="["/>
                                        <m:endChr m:val="]"/>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0.4×</m:t>
                                        </m:r>
                                        <m:sSup>
                                          <m:sSupPr>
                                            <m:ctrlPr>
                                              <a:rPr lang="en-US" sz="2000" i="1">
                                                <a:effectLst/>
                                                <a:latin typeface="Cambria Math"/>
                                                <a:ea typeface="Cambria Math" panose="02040503050406030204" pitchFamily="18" charset="0"/>
                                              </a:rPr>
                                            </m:ctrlPr>
                                          </m:sSupPr>
                                          <m:e>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0.4+4.6</m:t>
                                                </m:r>
                                              </m:e>
                                            </m:d>
                                          </m:e>
                                          <m:sup>
                                            <m:r>
                                              <a:rPr lang="en-US" sz="2000">
                                                <a:effectLst/>
                                                <a:latin typeface="Cambria Math" panose="02040503050406030204" pitchFamily="18" charset="0"/>
                                                <a:ea typeface="Cambria Math" panose="02040503050406030204" pitchFamily="18" charset="0"/>
                                              </a:rPr>
                                              <m:t>2</m:t>
                                            </m:r>
                                          </m:sup>
                                        </m:sSup>
                                      </m:e>
                                    </m:d>
                                  </m:e>
                                  <m:sup>
                                    <m:r>
                                      <a:rPr lang="en-US" sz="2000">
                                        <a:effectLst/>
                                        <a:latin typeface="Cambria Math" panose="02040503050406030204" pitchFamily="18" charset="0"/>
                                        <a:ea typeface="Cambria Math" panose="02040503050406030204" pitchFamily="18" charset="0"/>
                                      </a:rPr>
                                      <m:t>3</m:t>
                                    </m:r>
                                  </m:sup>
                                </m:sSup>
                                <m:r>
                                  <a:rPr lang="en-US" sz="2000">
                                    <a:effectLst/>
                                    <a:latin typeface="Cambria Math" panose="02040503050406030204" pitchFamily="18" charset="0"/>
                                    <a:ea typeface="Cambria Math" panose="02040503050406030204" pitchFamily="18" charset="0"/>
                                  </a:rPr>
                                  <m:t>+24÷(−6)</m:t>
                                </m:r>
                              </m:oMath>
                            </m:oMathPara>
                          </a14:m>
                          <a:endParaRPr lang="en-US" sz="2000" dirty="0">
                            <a:effectLst/>
                            <a:latin typeface="Cambria Math" panose="02040503050406030204" pitchFamily="18" charset="0"/>
                            <a:ea typeface="Cambria Math" panose="02040503050406030204" pitchFamily="18" charset="0"/>
                          </a:endParaRPr>
                        </a:p>
                        <a:p>
                          <a:pPr marL="0" marR="0">
                            <a:spcBef>
                              <a:spcPts val="0"/>
                            </a:spcBef>
                            <a:spcAft>
                              <a:spcPts val="600"/>
                            </a:spcAft>
                          </a:pPr>
                          <a14:m>
                            <m:oMathPara xmlns:m="http://schemas.openxmlformats.org/officeDocument/2006/math">
                              <m:oMathParaPr>
                                <m:jc m:val="left"/>
                              </m:oMathParaPr>
                              <m:oMath xmlns:m="http://schemas.openxmlformats.org/officeDocument/2006/math">
                                <m:sSup>
                                  <m:sSupPr>
                                    <m:ctrlPr>
                                      <a:rPr lang="en-US" sz="2000" i="1">
                                        <a:effectLst/>
                                        <a:latin typeface="Cambria Math"/>
                                        <a:ea typeface="Cambria Math" panose="02040503050406030204" pitchFamily="18" charset="0"/>
                                      </a:rPr>
                                    </m:ctrlPr>
                                  </m:sSupPr>
                                  <m:e>
                                    <m:d>
                                      <m:dPr>
                                        <m:begChr m:val="["/>
                                        <m:endChr m:val="]"/>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0.4×</m:t>
                                        </m:r>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5</m:t>
                                            </m:r>
                                          </m:e>
                                          <m:sup>
                                            <m:r>
                                              <a:rPr lang="en-US" sz="2000">
                                                <a:effectLst/>
                                                <a:latin typeface="Cambria Math" panose="02040503050406030204" pitchFamily="18" charset="0"/>
                                                <a:ea typeface="Cambria Math" panose="02040503050406030204" pitchFamily="18" charset="0"/>
                                              </a:rPr>
                                              <m:t>2</m:t>
                                            </m:r>
                                          </m:sup>
                                        </m:sSup>
                                      </m:e>
                                    </m:d>
                                  </m:e>
                                  <m:sup>
                                    <m:r>
                                      <a:rPr lang="en-US" sz="2000">
                                        <a:effectLst/>
                                        <a:latin typeface="Cambria Math" panose="02040503050406030204" pitchFamily="18" charset="0"/>
                                        <a:ea typeface="Cambria Math" panose="02040503050406030204" pitchFamily="18" charset="0"/>
                                      </a:rPr>
                                      <m:t>3</m:t>
                                    </m:r>
                                  </m:sup>
                                </m:sSup>
                                <m:r>
                                  <a:rPr lang="en-US" sz="2000">
                                    <a:effectLst/>
                                    <a:latin typeface="Cambria Math" panose="02040503050406030204" pitchFamily="18" charset="0"/>
                                    <a:ea typeface="Cambria Math" panose="02040503050406030204" pitchFamily="18" charset="0"/>
                                  </a:rPr>
                                  <m:t>+24÷(−6)</m:t>
                                </m:r>
                              </m:oMath>
                            </m:oMathPara>
                          </a14:m>
                          <a:endParaRPr lang="en-US" sz="2000" dirty="0">
                            <a:effectLst/>
                            <a:latin typeface="Cambria Math" panose="02040503050406030204" pitchFamily="18" charset="0"/>
                            <a:ea typeface="Cambria Math" panose="02040503050406030204" pitchFamily="18" charset="0"/>
                          </a:endParaRPr>
                        </a:p>
                        <a:p>
                          <a:pPr marL="0" marR="0">
                            <a:spcBef>
                              <a:spcPts val="0"/>
                            </a:spcBef>
                            <a:spcAft>
                              <a:spcPts val="600"/>
                            </a:spcAft>
                          </a:pPr>
                          <a14:m>
                            <m:oMathPara xmlns:m="http://schemas.openxmlformats.org/officeDocument/2006/math">
                              <m:oMathParaPr>
                                <m:jc m:val="left"/>
                              </m:oMathParaPr>
                              <m:oMath xmlns:m="http://schemas.openxmlformats.org/officeDocument/2006/math">
                                <m:sSup>
                                  <m:sSupPr>
                                    <m:ctrlPr>
                                      <a:rPr lang="en-US" sz="2000" i="1">
                                        <a:effectLst/>
                                        <a:latin typeface="Cambria Math"/>
                                        <a:ea typeface="Cambria Math" panose="02040503050406030204" pitchFamily="18" charset="0"/>
                                      </a:rPr>
                                    </m:ctrlPr>
                                  </m:sSupPr>
                                  <m:e>
                                    <m:d>
                                      <m:dPr>
                                        <m:begChr m:val="["/>
                                        <m:endChr m:val="]"/>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0.4×25</m:t>
                                        </m:r>
                                      </m:e>
                                    </m:d>
                                  </m:e>
                                  <m:sup>
                                    <m:r>
                                      <a:rPr lang="en-US" sz="2000">
                                        <a:effectLst/>
                                        <a:latin typeface="Cambria Math" panose="02040503050406030204" pitchFamily="18" charset="0"/>
                                        <a:ea typeface="Cambria Math" panose="02040503050406030204" pitchFamily="18" charset="0"/>
                                      </a:rPr>
                                      <m:t>3</m:t>
                                    </m:r>
                                  </m:sup>
                                </m:sSup>
                                <m:r>
                                  <a:rPr lang="en-US" sz="2000">
                                    <a:effectLst/>
                                    <a:latin typeface="Cambria Math" panose="02040503050406030204" pitchFamily="18" charset="0"/>
                                    <a:ea typeface="Cambria Math" panose="02040503050406030204" pitchFamily="18" charset="0"/>
                                  </a:rPr>
                                  <m:t>+24÷(−6)</m:t>
                                </m:r>
                              </m:oMath>
                            </m:oMathPara>
                          </a14:m>
                          <a:endParaRPr lang="en-US" sz="2000" dirty="0">
                            <a:effectLst/>
                            <a:latin typeface="Cambria Math" panose="02040503050406030204" pitchFamily="18" charset="0"/>
                            <a:ea typeface="Cambria Math" panose="02040503050406030204" pitchFamily="18" charset="0"/>
                          </a:endParaRPr>
                        </a:p>
                        <a:p>
                          <a:pPr marL="0" marR="0">
                            <a:spcBef>
                              <a:spcPts val="0"/>
                            </a:spcBef>
                            <a:spcAft>
                              <a:spcPts val="600"/>
                            </a:spcAft>
                          </a:pPr>
                          <a14:m>
                            <m:oMathPara xmlns:m="http://schemas.openxmlformats.org/officeDocument/2006/math">
                              <m:oMathParaPr>
                                <m:jc m:val="left"/>
                              </m:oMathParaPr>
                              <m:oMath xmlns:m="http://schemas.openxmlformats.org/officeDocument/2006/math">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10</m:t>
                                    </m:r>
                                  </m:e>
                                  <m:sup>
                                    <m:r>
                                      <a:rPr lang="en-US" sz="2000">
                                        <a:effectLst/>
                                        <a:latin typeface="Cambria Math" panose="02040503050406030204" pitchFamily="18" charset="0"/>
                                        <a:ea typeface="Cambria Math" panose="02040503050406030204" pitchFamily="18" charset="0"/>
                                      </a:rPr>
                                      <m:t>3</m:t>
                                    </m:r>
                                  </m:sup>
                                </m:sSup>
                                <m:r>
                                  <a:rPr lang="en-US" sz="2000">
                                    <a:effectLst/>
                                    <a:latin typeface="Cambria Math" panose="02040503050406030204" pitchFamily="18" charset="0"/>
                                    <a:ea typeface="Cambria Math" panose="02040503050406030204" pitchFamily="18" charset="0"/>
                                  </a:rPr>
                                  <m:t>+24÷(−6)</m:t>
                                </m:r>
                              </m:oMath>
                            </m:oMathPara>
                          </a14:m>
                          <a:endParaRPr lang="en-US" sz="2000" dirty="0">
                            <a:effectLst/>
                            <a:latin typeface="Cambria Math" panose="02040503050406030204" pitchFamily="18" charset="0"/>
                            <a:ea typeface="Cambria Math" panose="02040503050406030204" pitchFamily="18" charset="0"/>
                          </a:endParaRPr>
                        </a:p>
                        <a:p>
                          <a:pPr marL="0" marR="0">
                            <a:spcBef>
                              <a:spcPts val="0"/>
                            </a:spcBef>
                            <a:spcAft>
                              <a:spcPts val="600"/>
                            </a:spcAft>
                          </a:pPr>
                          <a14:m>
                            <m:oMathPara xmlns:m="http://schemas.openxmlformats.org/officeDocument/2006/math">
                              <m:oMathParaPr>
                                <m:jc m:val="left"/>
                              </m:oMathParaPr>
                              <m:oMath xmlns:m="http://schemas.openxmlformats.org/officeDocument/2006/math">
                                <m:r>
                                  <a:rPr lang="en-US" sz="2000">
                                    <a:effectLst/>
                                    <a:latin typeface="Cambria Math" panose="02040503050406030204" pitchFamily="18" charset="0"/>
                                    <a:ea typeface="Cambria Math" panose="02040503050406030204" pitchFamily="18" charset="0"/>
                                  </a:rPr>
                                  <m:t>1,000+24÷(−6)</m:t>
                                </m:r>
                              </m:oMath>
                            </m:oMathPara>
                          </a14:m>
                          <a:endParaRPr lang="en-US" sz="2000" dirty="0">
                            <a:effectLst/>
                            <a:latin typeface="Cambria Math" panose="02040503050406030204" pitchFamily="18" charset="0"/>
                            <a:ea typeface="Cambria Math" panose="02040503050406030204" pitchFamily="18" charset="0"/>
                          </a:endParaRPr>
                        </a:p>
                        <a:p>
                          <a:pPr marL="0" marR="0">
                            <a:spcBef>
                              <a:spcPts val="0"/>
                            </a:spcBef>
                            <a:spcAft>
                              <a:spcPts val="600"/>
                            </a:spcAft>
                          </a:pPr>
                          <a14:m>
                            <m:oMathPara xmlns:m="http://schemas.openxmlformats.org/officeDocument/2006/math">
                              <m:oMathParaPr>
                                <m:jc m:val="left"/>
                              </m:oMathParaPr>
                              <m:oMath xmlns:m="http://schemas.openxmlformats.org/officeDocument/2006/math">
                                <m:r>
                                  <a:rPr lang="en-US" sz="2000">
                                    <a:effectLst/>
                                    <a:latin typeface="Cambria Math" panose="02040503050406030204" pitchFamily="18" charset="0"/>
                                    <a:ea typeface="Cambria Math" panose="02040503050406030204" pitchFamily="18" charset="0"/>
                                  </a:rPr>
                                  <m:t>1,000+(−4)</m:t>
                                </m:r>
                              </m:oMath>
                            </m:oMathPara>
                          </a14:m>
                          <a:endParaRPr lang="en-US" sz="2000" dirty="0">
                            <a:effectLst/>
                            <a:latin typeface="Cambria Math" panose="02040503050406030204" pitchFamily="18" charset="0"/>
                            <a:ea typeface="Cambria Math" panose="02040503050406030204" pitchFamily="18" charset="0"/>
                          </a:endParaRPr>
                        </a:p>
                        <a:p>
                          <a:pPr marL="0" marR="0">
                            <a:spcBef>
                              <a:spcPts val="0"/>
                            </a:spcBef>
                            <a:spcAft>
                              <a:spcPts val="0"/>
                            </a:spcAft>
                          </a:pPr>
                          <a14:m>
                            <m:oMathPara xmlns:m="http://schemas.openxmlformats.org/officeDocument/2006/math">
                              <m:oMathParaPr>
                                <m:jc m:val="left"/>
                              </m:oMathParaPr>
                              <m:oMath xmlns:m="http://schemas.openxmlformats.org/officeDocument/2006/math">
                                <m:r>
                                  <a:rPr lang="en-US" sz="2000">
                                    <a:effectLst/>
                                    <a:latin typeface="Cambria Math" panose="02040503050406030204" pitchFamily="18" charset="0"/>
                                    <a:ea typeface="Cambria Math" panose="02040503050406030204" pitchFamily="18" charset="0"/>
                                  </a:rPr>
                                  <m:t>996</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126000" marR="57600" marT="36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600"/>
                            </a:spcAft>
                          </a:pPr>
                          <a14:m>
                            <m:oMathPara xmlns:m="http://schemas.openxmlformats.org/officeDocument/2006/math">
                              <m:oMathParaPr>
                                <m:jc m:val="left"/>
                              </m:oMathParaPr>
                              <m:oMath xmlns:m="http://schemas.openxmlformats.org/officeDocument/2006/math">
                                <m:sSup>
                                  <m:sSupPr>
                                    <m:ctrlPr>
                                      <a:rPr lang="en-US" sz="2000" i="1" smtClean="0">
                                        <a:effectLst/>
                                        <a:latin typeface="Cambria Math"/>
                                        <a:ea typeface="Cambria Math" panose="02040503050406030204" pitchFamily="18" charset="0"/>
                                      </a:rPr>
                                    </m:ctrlPr>
                                  </m:sSupPr>
                                  <m:e>
                                    <m:d>
                                      <m:dPr>
                                        <m:begChr m:val="["/>
                                        <m:endChr m:val="]"/>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0.4×</m:t>
                                        </m:r>
                                        <m:sSup>
                                          <m:sSupPr>
                                            <m:ctrlPr>
                                              <a:rPr lang="en-US" sz="2000" i="1">
                                                <a:effectLst/>
                                                <a:latin typeface="Cambria Math"/>
                                                <a:ea typeface="Cambria Math" panose="02040503050406030204" pitchFamily="18" charset="0"/>
                                              </a:rPr>
                                            </m:ctrlPr>
                                          </m:sSupPr>
                                          <m:e>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0.4+4.6</m:t>
                                                </m:r>
                                              </m:e>
                                            </m:d>
                                          </m:e>
                                          <m:sup>
                                            <m:r>
                                              <a:rPr lang="en-US" sz="2000">
                                                <a:effectLst/>
                                                <a:latin typeface="Cambria Math" panose="02040503050406030204" pitchFamily="18" charset="0"/>
                                                <a:ea typeface="Cambria Math" panose="02040503050406030204" pitchFamily="18" charset="0"/>
                                              </a:rPr>
                                              <m:t>2</m:t>
                                            </m:r>
                                          </m:sup>
                                        </m:sSup>
                                      </m:e>
                                    </m:d>
                                  </m:e>
                                  <m:sup>
                                    <m:r>
                                      <a:rPr lang="en-US" sz="2000">
                                        <a:effectLst/>
                                        <a:latin typeface="Cambria Math" panose="02040503050406030204" pitchFamily="18" charset="0"/>
                                        <a:ea typeface="Cambria Math" panose="02040503050406030204" pitchFamily="18" charset="0"/>
                                      </a:rPr>
                                      <m:t>3</m:t>
                                    </m:r>
                                  </m:sup>
                                </m:sSup>
                                <m:r>
                                  <a:rPr lang="en-US" sz="2000">
                                    <a:effectLst/>
                                    <a:latin typeface="Cambria Math" panose="02040503050406030204" pitchFamily="18" charset="0"/>
                                    <a:ea typeface="Cambria Math" panose="02040503050406030204" pitchFamily="18" charset="0"/>
                                  </a:rPr>
                                  <m:t>+24÷</m:t>
                                </m:r>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−6</m:t>
                                    </m:r>
                                  </m:e>
                                </m:d>
                              </m:oMath>
                            </m:oMathPara>
                          </a14:m>
                          <a:endParaRPr lang="en-PH" sz="2000" dirty="0">
                            <a:effectLst/>
                            <a:latin typeface="Cambria Math" panose="02040503050406030204" pitchFamily="18" charset="0"/>
                            <a:ea typeface="Cambria Math" panose="02040503050406030204" pitchFamily="18" charset="0"/>
                          </a:endParaRPr>
                        </a:p>
                        <a:p>
                          <a:pPr marL="0" marR="0">
                            <a:spcBef>
                              <a:spcPts val="0"/>
                            </a:spcBef>
                            <a:spcAft>
                              <a:spcPts val="600"/>
                            </a:spcAft>
                          </a:pPr>
                          <a14:m>
                            <m:oMathPara xmlns:m="http://schemas.openxmlformats.org/officeDocument/2006/math">
                              <m:oMathParaPr>
                                <m:jc m:val="left"/>
                              </m:oMathParaPr>
                              <m:oMath xmlns:m="http://schemas.openxmlformats.org/officeDocument/2006/math">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0.4</m:t>
                                    </m:r>
                                  </m:e>
                                  <m:sup>
                                    <m:r>
                                      <a:rPr lang="en-US" sz="2000">
                                        <a:effectLst/>
                                        <a:latin typeface="Cambria Math" panose="02040503050406030204" pitchFamily="18" charset="0"/>
                                        <a:ea typeface="Cambria Math" panose="02040503050406030204" pitchFamily="18" charset="0"/>
                                      </a:rPr>
                                      <m:t>3</m:t>
                                    </m:r>
                                  </m:sup>
                                </m:sSup>
                                <m:r>
                                  <a:rPr lang="en-US" sz="2000">
                                    <a:effectLst/>
                                    <a:latin typeface="Cambria Math" panose="02040503050406030204" pitchFamily="18" charset="0"/>
                                    <a:ea typeface="Cambria Math" panose="02040503050406030204" pitchFamily="18" charset="0"/>
                                  </a:rPr>
                                  <m:t>×</m:t>
                                </m:r>
                                <m:sSup>
                                  <m:sSupPr>
                                    <m:ctrlPr>
                                      <a:rPr lang="en-US" sz="2000" i="1">
                                        <a:effectLst/>
                                        <a:latin typeface="Cambria Math"/>
                                        <a:ea typeface="Cambria Math" panose="02040503050406030204" pitchFamily="18" charset="0"/>
                                      </a:rPr>
                                    </m:ctrlPr>
                                  </m:sSupPr>
                                  <m:e>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0.4+4.6</m:t>
                                        </m:r>
                                      </m:e>
                                    </m:d>
                                  </m:e>
                                  <m:sup>
                                    <m:r>
                                      <a:rPr lang="en-US" sz="2000">
                                        <a:effectLst/>
                                        <a:latin typeface="Cambria Math" panose="02040503050406030204" pitchFamily="18" charset="0"/>
                                        <a:ea typeface="Cambria Math" panose="02040503050406030204" pitchFamily="18" charset="0"/>
                                      </a:rPr>
                                      <m:t>2×3</m:t>
                                    </m:r>
                                  </m:sup>
                                </m:sSup>
                                <m:r>
                                  <a:rPr lang="en-US" sz="2000">
                                    <a:effectLst/>
                                    <a:latin typeface="Cambria Math" panose="02040503050406030204" pitchFamily="18" charset="0"/>
                                    <a:ea typeface="Cambria Math" panose="02040503050406030204" pitchFamily="18" charset="0"/>
                                  </a:rPr>
                                  <m:t>+24÷</m:t>
                                </m:r>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−6</m:t>
                                    </m:r>
                                  </m:e>
                                </m:d>
                              </m:oMath>
                            </m:oMathPara>
                          </a14:m>
                          <a:endParaRPr lang="en-PH" sz="2000" dirty="0">
                            <a:effectLst/>
                            <a:latin typeface="Cambria Math" panose="02040503050406030204" pitchFamily="18" charset="0"/>
                            <a:ea typeface="Cambria Math" panose="02040503050406030204" pitchFamily="18" charset="0"/>
                          </a:endParaRPr>
                        </a:p>
                        <a:p>
                          <a:pPr marL="0" marR="0">
                            <a:spcBef>
                              <a:spcPts val="0"/>
                            </a:spcBef>
                            <a:spcAft>
                              <a:spcPts val="600"/>
                            </a:spcAft>
                          </a:pPr>
                          <a14:m>
                            <m:oMathPara xmlns:m="http://schemas.openxmlformats.org/officeDocument/2006/math">
                              <m:oMathParaPr>
                                <m:jc m:val="left"/>
                              </m:oMathParaPr>
                              <m:oMath xmlns:m="http://schemas.openxmlformats.org/officeDocument/2006/math">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0.4</m:t>
                                    </m:r>
                                  </m:e>
                                  <m:sup>
                                    <m:r>
                                      <a:rPr lang="en-US" sz="2000">
                                        <a:effectLst/>
                                        <a:latin typeface="Cambria Math" panose="02040503050406030204" pitchFamily="18" charset="0"/>
                                        <a:ea typeface="Cambria Math" panose="02040503050406030204" pitchFamily="18" charset="0"/>
                                      </a:rPr>
                                      <m:t>3</m:t>
                                    </m:r>
                                  </m:sup>
                                </m:sSup>
                                <m:r>
                                  <a:rPr lang="en-US" sz="2000">
                                    <a:effectLst/>
                                    <a:latin typeface="Cambria Math" panose="02040503050406030204" pitchFamily="18" charset="0"/>
                                    <a:ea typeface="Cambria Math" panose="02040503050406030204" pitchFamily="18" charset="0"/>
                                  </a:rPr>
                                  <m:t>×</m:t>
                                </m:r>
                                <m:sSup>
                                  <m:sSupPr>
                                    <m:ctrlPr>
                                      <a:rPr lang="en-US" sz="2000" i="1">
                                        <a:effectLst/>
                                        <a:latin typeface="Cambria Math"/>
                                        <a:ea typeface="Cambria Math" panose="02040503050406030204" pitchFamily="18" charset="0"/>
                                      </a:rPr>
                                    </m:ctrlPr>
                                  </m:sSupPr>
                                  <m:e>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0.4+4.6</m:t>
                                        </m:r>
                                      </m:e>
                                    </m:d>
                                  </m:e>
                                  <m:sup>
                                    <m:r>
                                      <a:rPr lang="en-US" sz="2000">
                                        <a:effectLst/>
                                        <a:latin typeface="Cambria Math" panose="02040503050406030204" pitchFamily="18" charset="0"/>
                                        <a:ea typeface="Cambria Math" panose="02040503050406030204" pitchFamily="18" charset="0"/>
                                      </a:rPr>
                                      <m:t>6</m:t>
                                    </m:r>
                                  </m:sup>
                                </m:sSup>
                                <m:r>
                                  <a:rPr lang="en-US" sz="2000">
                                    <a:effectLst/>
                                    <a:latin typeface="Cambria Math" panose="02040503050406030204" pitchFamily="18" charset="0"/>
                                    <a:ea typeface="Cambria Math" panose="02040503050406030204" pitchFamily="18" charset="0"/>
                                  </a:rPr>
                                  <m:t>+24÷(−6)</m:t>
                                </m:r>
                              </m:oMath>
                            </m:oMathPara>
                          </a14:m>
                          <a:endParaRPr lang="en-US" sz="2000" dirty="0">
                            <a:effectLst/>
                            <a:latin typeface="Cambria Math" panose="02040503050406030204" pitchFamily="18" charset="0"/>
                            <a:ea typeface="Cambria Math" panose="02040503050406030204" pitchFamily="18" charset="0"/>
                          </a:endParaRPr>
                        </a:p>
                        <a:p>
                          <a:pPr marL="0" marR="0">
                            <a:spcBef>
                              <a:spcPts val="0"/>
                            </a:spcBef>
                            <a:spcAft>
                              <a:spcPts val="600"/>
                            </a:spcAft>
                          </a:pPr>
                          <a14:m>
                            <m:oMathPara xmlns:m="http://schemas.openxmlformats.org/officeDocument/2006/math">
                              <m:oMathParaPr>
                                <m:jc m:val="left"/>
                              </m:oMathParaPr>
                              <m:oMath xmlns:m="http://schemas.openxmlformats.org/officeDocument/2006/math">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0.4</m:t>
                                    </m:r>
                                  </m:e>
                                  <m:sup>
                                    <m:r>
                                      <a:rPr lang="en-US" sz="2000">
                                        <a:effectLst/>
                                        <a:latin typeface="Cambria Math" panose="02040503050406030204" pitchFamily="18" charset="0"/>
                                        <a:ea typeface="Cambria Math" panose="02040503050406030204" pitchFamily="18" charset="0"/>
                                      </a:rPr>
                                      <m:t>3</m:t>
                                    </m:r>
                                  </m:sup>
                                </m:sSup>
                                <m:r>
                                  <a:rPr lang="en-US" sz="2000">
                                    <a:effectLst/>
                                    <a:latin typeface="Cambria Math" panose="02040503050406030204" pitchFamily="18" charset="0"/>
                                    <a:ea typeface="Cambria Math" panose="02040503050406030204" pitchFamily="18" charset="0"/>
                                  </a:rPr>
                                  <m:t>×</m:t>
                                </m:r>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5</m:t>
                                    </m:r>
                                  </m:e>
                                  <m:sup>
                                    <m:r>
                                      <a:rPr lang="en-US" sz="2000">
                                        <a:effectLst/>
                                        <a:latin typeface="Cambria Math" panose="02040503050406030204" pitchFamily="18" charset="0"/>
                                        <a:ea typeface="Cambria Math" panose="02040503050406030204" pitchFamily="18" charset="0"/>
                                      </a:rPr>
                                      <m:t>6</m:t>
                                    </m:r>
                                  </m:sup>
                                </m:sSup>
                                <m:r>
                                  <a:rPr lang="en-US" sz="2000">
                                    <a:effectLst/>
                                    <a:latin typeface="Cambria Math" panose="02040503050406030204" pitchFamily="18" charset="0"/>
                                    <a:ea typeface="Cambria Math" panose="02040503050406030204" pitchFamily="18" charset="0"/>
                                  </a:rPr>
                                  <m:t>+24÷(−6)</m:t>
                                </m:r>
                              </m:oMath>
                            </m:oMathPara>
                          </a14:m>
                          <a:endParaRPr lang="en-US" sz="2000" dirty="0">
                            <a:effectLst/>
                            <a:latin typeface="Cambria Math" panose="02040503050406030204" pitchFamily="18" charset="0"/>
                            <a:ea typeface="Cambria Math" panose="02040503050406030204" pitchFamily="18" charset="0"/>
                          </a:endParaRPr>
                        </a:p>
                        <a:p>
                          <a:pPr marL="0" marR="0">
                            <a:spcBef>
                              <a:spcPts val="0"/>
                            </a:spcBef>
                            <a:spcAft>
                              <a:spcPts val="600"/>
                            </a:spcAft>
                          </a:pPr>
                          <a14:m>
                            <m:oMathPara xmlns:m="http://schemas.openxmlformats.org/officeDocument/2006/math">
                              <m:oMathParaPr>
                                <m:jc m:val="left"/>
                              </m:oMathParaPr>
                              <m:oMath xmlns:m="http://schemas.openxmlformats.org/officeDocument/2006/math">
                                <m:r>
                                  <a:rPr lang="en-US" sz="2000">
                                    <a:effectLst/>
                                    <a:latin typeface="Cambria Math" panose="02040503050406030204" pitchFamily="18" charset="0"/>
                                    <a:ea typeface="Cambria Math" panose="02040503050406030204" pitchFamily="18" charset="0"/>
                                  </a:rPr>
                                  <m:t>0.064×</m:t>
                                </m:r>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5</m:t>
                                    </m:r>
                                  </m:e>
                                  <m:sup>
                                    <m:r>
                                      <a:rPr lang="en-US" sz="2000">
                                        <a:effectLst/>
                                        <a:latin typeface="Cambria Math" panose="02040503050406030204" pitchFamily="18" charset="0"/>
                                        <a:ea typeface="Cambria Math" panose="02040503050406030204" pitchFamily="18" charset="0"/>
                                      </a:rPr>
                                      <m:t>6</m:t>
                                    </m:r>
                                  </m:sup>
                                </m:sSup>
                                <m:r>
                                  <a:rPr lang="en-US" sz="2000">
                                    <a:effectLst/>
                                    <a:latin typeface="Cambria Math" panose="02040503050406030204" pitchFamily="18" charset="0"/>
                                    <a:ea typeface="Cambria Math" panose="02040503050406030204" pitchFamily="18" charset="0"/>
                                  </a:rPr>
                                  <m:t>+24÷(−6)</m:t>
                                </m:r>
                              </m:oMath>
                            </m:oMathPara>
                          </a14:m>
                          <a:endParaRPr lang="en-US" sz="2000" dirty="0">
                            <a:effectLst/>
                            <a:latin typeface="Cambria Math" panose="02040503050406030204" pitchFamily="18" charset="0"/>
                            <a:ea typeface="Cambria Math" panose="02040503050406030204" pitchFamily="18" charset="0"/>
                          </a:endParaRPr>
                        </a:p>
                        <a:p>
                          <a:pPr marL="0" marR="0" algn="l">
                            <a:spcBef>
                              <a:spcPts val="0"/>
                            </a:spcBef>
                            <a:spcAft>
                              <a:spcPts val="600"/>
                            </a:spcAft>
                          </a:pPr>
                          <a14:m>
                            <m:oMathPara xmlns:m="http://schemas.openxmlformats.org/officeDocument/2006/math">
                              <m:oMathParaPr>
                                <m:jc m:val="left"/>
                              </m:oMathParaPr>
                              <m:oMath xmlns:m="http://schemas.openxmlformats.org/officeDocument/2006/math">
                                <m:r>
                                  <a:rPr lang="en-US" sz="2000">
                                    <a:effectLst/>
                                    <a:latin typeface="Cambria Math" panose="02040503050406030204" pitchFamily="18" charset="0"/>
                                    <a:ea typeface="Cambria Math" panose="02040503050406030204" pitchFamily="18" charset="0"/>
                                  </a:rPr>
                                  <m:t>0.064×15,625+24÷(−6)</m:t>
                                </m:r>
                              </m:oMath>
                            </m:oMathPara>
                          </a14:m>
                          <a:endParaRPr lang="en-US" sz="2000" dirty="0">
                            <a:effectLst/>
                            <a:latin typeface="Cambria Math" panose="02040503050406030204" pitchFamily="18" charset="0"/>
                            <a:ea typeface="Cambria Math" panose="02040503050406030204" pitchFamily="18" charset="0"/>
                          </a:endParaRPr>
                        </a:p>
                        <a:p>
                          <a:pPr marL="0" marR="0" algn="l">
                            <a:spcBef>
                              <a:spcPts val="0"/>
                            </a:spcBef>
                            <a:spcAft>
                              <a:spcPts val="600"/>
                            </a:spcAft>
                          </a:pPr>
                          <a14:m>
                            <m:oMathPara xmlns:m="http://schemas.openxmlformats.org/officeDocument/2006/math">
                              <m:oMathParaPr>
                                <m:jc m:val="left"/>
                              </m:oMathParaPr>
                              <m:oMath xmlns:m="http://schemas.openxmlformats.org/officeDocument/2006/math">
                                <m:r>
                                  <a:rPr lang="en-US" sz="2000">
                                    <a:effectLst/>
                                    <a:latin typeface="Cambria Math" panose="02040503050406030204" pitchFamily="18" charset="0"/>
                                    <a:ea typeface="Cambria Math" panose="02040503050406030204" pitchFamily="18" charset="0"/>
                                  </a:rPr>
                                  <m:t>1,000+24÷(−6)</m:t>
                                </m:r>
                              </m:oMath>
                            </m:oMathPara>
                          </a14:m>
                          <a:endParaRPr lang="en-US" sz="2000" dirty="0">
                            <a:effectLst/>
                            <a:latin typeface="Cambria Math" panose="02040503050406030204" pitchFamily="18" charset="0"/>
                            <a:ea typeface="Cambria Math" panose="02040503050406030204" pitchFamily="18" charset="0"/>
                          </a:endParaRPr>
                        </a:p>
                        <a:p>
                          <a:pPr marL="0" marR="0" algn="l">
                            <a:spcBef>
                              <a:spcPts val="0"/>
                            </a:spcBef>
                            <a:spcAft>
                              <a:spcPts val="600"/>
                            </a:spcAft>
                          </a:pPr>
                          <a14:m>
                            <m:oMathPara xmlns:m="http://schemas.openxmlformats.org/officeDocument/2006/math">
                              <m:oMathParaPr>
                                <m:jc m:val="left"/>
                              </m:oMathParaPr>
                              <m:oMath xmlns:m="http://schemas.openxmlformats.org/officeDocument/2006/math">
                                <m:r>
                                  <a:rPr lang="en-US" sz="2000">
                                    <a:effectLst/>
                                    <a:latin typeface="Cambria Math" panose="02040503050406030204" pitchFamily="18" charset="0"/>
                                    <a:ea typeface="Cambria Math" panose="02040503050406030204" pitchFamily="18" charset="0"/>
                                  </a:rPr>
                                  <m:t>1,000+</m:t>
                                </m:r>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−4</m:t>
                                    </m:r>
                                  </m:e>
                                </m:d>
                              </m:oMath>
                            </m:oMathPara>
                          </a14:m>
                          <a:endParaRPr lang="en-PH" sz="2000" dirty="0">
                            <a:effectLst/>
                            <a:latin typeface="Cambria Math" panose="02040503050406030204" pitchFamily="18" charset="0"/>
                            <a:ea typeface="Cambria Math" panose="02040503050406030204" pitchFamily="18" charset="0"/>
                          </a:endParaRPr>
                        </a:p>
                        <a:p>
                          <a:pPr marL="0" marR="0" algn="l">
                            <a:spcBef>
                              <a:spcPts val="0"/>
                            </a:spcBef>
                            <a:spcAft>
                              <a:spcPts val="0"/>
                            </a:spcAft>
                          </a:pPr>
                          <a14:m>
                            <m:oMathPara xmlns:m="http://schemas.openxmlformats.org/officeDocument/2006/math">
                              <m:oMathParaPr>
                                <m:jc m:val="left"/>
                              </m:oMathParaPr>
                              <m:oMath xmlns:m="http://schemas.openxmlformats.org/officeDocument/2006/math">
                                <m:r>
                                  <a:rPr lang="en-US" sz="2000">
                                    <a:effectLst/>
                                    <a:latin typeface="Cambria Math" panose="02040503050406030204" pitchFamily="18" charset="0"/>
                                    <a:ea typeface="Cambria Math" panose="02040503050406030204" pitchFamily="18" charset="0"/>
                                  </a:rPr>
                                  <m:t>996</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126000" marR="57600" marT="36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mc:Choice>
        <mc:Fallback>
          <p:graphicFrame>
            <p:nvGraphicFramePr>
              <p:cNvPr id="11" name="Table 10"/>
              <p:cNvGraphicFramePr>
                <a:graphicFrameLocks noGrp="1"/>
              </p:cNvGraphicFramePr>
              <p:nvPr>
                <p:extLst>
                  <p:ext uri="{D42A27DB-BD31-4B8C-83A1-F6EECF244321}">
                    <p14:modId xmlns:p14="http://schemas.microsoft.com/office/powerpoint/2010/main" val="1329667226"/>
                  </p:ext>
                </p:extLst>
              </p:nvPr>
            </p:nvGraphicFramePr>
            <p:xfrm>
              <a:off x="2190409" y="2230507"/>
              <a:ext cx="7773399" cy="4068000"/>
            </p:xfrm>
            <a:graphic>
              <a:graphicData uri="http://schemas.openxmlformats.org/drawingml/2006/table">
                <a:tbl>
                  <a:tblPr firstRow="1" firstCol="1" bandRow="1">
                    <a:tableStyleId>{5940675A-B579-460E-94D1-54222C63F5DA}</a:tableStyleId>
                  </a:tblPr>
                  <a:tblGrid>
                    <a:gridCol w="3865763">
                      <a:extLst>
                        <a:ext uri="{9D8B030D-6E8A-4147-A177-3AD203B41FA5}">
                          <a16:colId xmlns:a16="http://schemas.microsoft.com/office/drawing/2014/main" xmlns:a14="http://schemas.microsoft.com/office/drawing/2010/main" xmlns="" val="20000"/>
                        </a:ext>
                      </a:extLst>
                    </a:gridCol>
                    <a:gridCol w="3907636">
                      <a:extLst>
                        <a:ext uri="{9D8B030D-6E8A-4147-A177-3AD203B41FA5}">
                          <a16:colId xmlns:a16="http://schemas.microsoft.com/office/drawing/2014/main" xmlns:a14="http://schemas.microsoft.com/office/drawing/2010/main" xmlns="" val="20001"/>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Allen</a:t>
                          </a:r>
                        </a:p>
                      </a:txBody>
                      <a:tcPr marL="57264" marR="5726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Sienna</a:t>
                          </a:r>
                        </a:p>
                      </a:txBody>
                      <a:tcPr marL="57264" marR="5726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3600000">
                    <a:tc>
                      <a:txBody>
                        <a:bodyPr/>
                        <a:lstStyle/>
                        <a:p>
                          <a:endParaRPr lang="en-US"/>
                        </a:p>
                      </a:txBody>
                      <a:tcPr marL="126000" marR="57600" marT="36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13220" r="-101262" b="-169"/>
                          </a:stretch>
                        </a:blipFill>
                      </a:tcPr>
                    </a:tc>
                    <a:tc>
                      <a:txBody>
                        <a:bodyPr/>
                        <a:lstStyle/>
                        <a:p>
                          <a:endParaRPr lang="en-US"/>
                        </a:p>
                      </a:txBody>
                      <a:tcPr marL="126000" marR="57600" marT="36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98908" t="-13220" r="-156" b="-169"/>
                          </a:stretch>
                        </a:blipFill>
                      </a:tcPr>
                    </a:tc>
                    <a:extLst>
                      <a:ext uri="{0D108BD9-81ED-4DB2-BD59-A6C34878D82A}">
                        <a16:rowId xmlns:a16="http://schemas.microsoft.com/office/drawing/2014/main" xmlns:a14="http://schemas.microsoft.com/office/drawing/2010/main" xmlns="" val="10001"/>
                      </a:ext>
                    </a:extLst>
                  </a:tr>
                </a:tbl>
              </a:graphicData>
            </a:graphic>
          </p:graphicFrame>
        </mc:Fallback>
      </mc:AlternateContent>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xmlns="" id="{8AE5E1E0-A54D-BE42-84B5-F917038ADE99}"/>
              </a:ext>
            </a:extLst>
          </p:cNvPr>
          <p:cNvSpPr txBox="1"/>
          <p:nvPr/>
        </p:nvSpPr>
        <p:spPr>
          <a:xfrm>
            <a:off x="545123" y="376665"/>
            <a:ext cx="10800000" cy="341632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How were Allen’s steps and Sienna’s steps different from each other?</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whether you think one method was easier to use to evaluate the expression over the other.</a:t>
            </a:r>
          </a:p>
        </p:txBody>
      </p:sp>
      <p:sp>
        <p:nvSpPr>
          <p:cNvPr id="6" name="Google Shape;278;g104476d1465_1_17">
            <a:extLst>
              <a:ext uri="{FF2B5EF4-FFF2-40B4-BE49-F238E27FC236}">
                <a16:creationId xmlns:a16="http://schemas.microsoft.com/office/drawing/2014/main" xmlns="" id="{6B29BDED-917F-0645-8F07-B04061D83C61}"/>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a:t>
            </a:r>
            <a:endParaRPr i="1" dirty="0">
              <a:latin typeface="Calibri"/>
              <a:ea typeface="Calibri"/>
              <a:cs typeface="Calibri"/>
              <a:sym typeface="Calibri"/>
            </a:endParaRPr>
          </a:p>
        </p:txBody>
      </p:sp>
    </p:spTree>
    <p:extLst>
      <p:ext uri="{BB962C8B-B14F-4D97-AF65-F5344CB8AC3E}">
        <p14:creationId xmlns:p14="http://schemas.microsoft.com/office/powerpoint/2010/main" val="3443217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5122" name="Picture 2" descr="Icon&#10;&#10;Description automatically generated">
            <a:extLst>
              <a:ext uri="{FF2B5EF4-FFF2-40B4-BE49-F238E27FC236}">
                <a16:creationId xmlns:a16="http://schemas.microsoft.com/office/drawing/2014/main" xmlns="" id="{217F3A92-AA2C-4D41-A73D-4DC6608D682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a:t>
            </a:r>
            <a:endParaRPr i="1" dirty="0">
              <a:latin typeface="Calibri"/>
              <a:ea typeface="Calibri"/>
              <a:cs typeface="Calibri"/>
              <a:sym typeface="Calibri"/>
            </a:endParaRPr>
          </a:p>
        </p:txBody>
      </p:sp>
    </p:spTree>
    <p:extLst>
      <p:ext uri="{BB962C8B-B14F-4D97-AF65-F5344CB8AC3E}">
        <p14:creationId xmlns:p14="http://schemas.microsoft.com/office/powerpoint/2010/main" val="2816111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1.5.3 Activity: Expression Game</a:t>
            </a:r>
          </a:p>
        </p:txBody>
      </p:sp>
      <p:pic>
        <p:nvPicPr>
          <p:cNvPr id="9" name="Picture 2" descr="Icon&#10;&#10;Description automatically generated">
            <a:extLst>
              <a:ext uri="{FF2B5EF4-FFF2-40B4-BE49-F238E27FC236}">
                <a16:creationId xmlns:a16="http://schemas.microsoft.com/office/drawing/2014/main" xmlns="" id="{37999C4E-6AE0-FA43-BC73-665C08EC572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xmlns="" id="{A3547ABD-563B-A148-B65C-C7679A7B43D4}"/>
                  </a:ext>
                </a:extLst>
              </p:cNvPr>
              <p:cNvSpPr txBox="1"/>
              <p:nvPr/>
            </p:nvSpPr>
            <p:spPr>
              <a:xfrm>
                <a:off x="536330" y="1456361"/>
                <a:ext cx="10800000" cy="3046988"/>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Use a standard number cube to generate each expression. One player will roll the number cube four times each round and the other player will decide where to place each of the four values in the expression. Each round has a different way to win, stated in the first column. If in any round two players’ expressions have the same value, both players</a:t>
                </a:r>
                <a:r>
                  <a:rPr lang="en-US" sz="2400" b="1" dirty="0">
                    <a:latin typeface="Verdana" panose="020B0604030504040204" pitchFamily="34" charset="0"/>
                    <a:ea typeface="Verdana" panose="020B0604030504040204" pitchFamily="34" charset="0"/>
                    <a:cs typeface="Verdana" panose="020B0604030504040204" pitchFamily="34" charset="0"/>
                  </a:rPr>
                  <a:t> lose </a:t>
                </a:r>
                <a14:m>
                  <m:oMath xmlns:m="http://schemas.openxmlformats.org/officeDocument/2006/math">
                    <m:r>
                      <a:rPr lang="en-US" sz="2400" b="1" i="1">
                        <a:latin typeface="Cambria Math" panose="02040503050406030204" pitchFamily="18" charset="0"/>
                        <a:ea typeface="Cambria Math" panose="02040503050406030204" pitchFamily="18" charset="0"/>
                      </a:rPr>
                      <m:t>𝟏𝟎</m:t>
                    </m:r>
                  </m:oMath>
                </a14:m>
                <a:r>
                  <a:rPr lang="en-US" sz="2400" b="1" dirty="0">
                    <a:latin typeface="Verdana" panose="020B0604030504040204" pitchFamily="34" charset="0"/>
                    <a:ea typeface="Verdana" panose="020B0604030504040204" pitchFamily="34" charset="0"/>
                    <a:cs typeface="Verdana" panose="020B0604030504040204" pitchFamily="34" charset="0"/>
                  </a:rPr>
                  <a:t> points.</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0" name="TextBox 9">
                <a:extLst>
                  <a:ext uri="{FF2B5EF4-FFF2-40B4-BE49-F238E27FC236}">
                    <a16:creationId xmlns:a16="http://schemas.microsoft.com/office/drawing/2014/main" xmlns:a14="http://schemas.microsoft.com/office/drawing/2010/main" xmlns="" id="{A3547ABD-563B-A148-B65C-C7679A7B43D4}"/>
                  </a:ext>
                </a:extLst>
              </p:cNvPr>
              <p:cNvSpPr txBox="1">
                <a:spLocks noRot="1" noChangeAspect="1" noMove="1" noResize="1" noEditPoints="1" noAdjustHandles="1" noChangeArrowheads="1" noChangeShapeType="1" noTextEdit="1"/>
              </p:cNvSpPr>
              <p:nvPr/>
            </p:nvSpPr>
            <p:spPr>
              <a:xfrm>
                <a:off x="536330" y="1456361"/>
                <a:ext cx="10800000" cy="3046988"/>
              </a:xfrm>
              <a:prstGeom prst="rect">
                <a:avLst/>
              </a:prstGeom>
              <a:blipFill rotWithShape="1">
                <a:blip r:embed="rId5"/>
                <a:stretch>
                  <a:fillRect l="-903" t="-1600" r="-1467"/>
                </a:stretch>
              </a:blipFill>
            </p:spPr>
            <p:txBody>
              <a:bodyPr/>
              <a:lstStyle/>
              <a:p>
                <a:r>
                  <a:rPr lang="en-PH">
                    <a:noFill/>
                  </a:rPr>
                  <a:t> </a:t>
                </a:r>
              </a:p>
            </p:txBody>
          </p:sp>
        </mc:Fallback>
      </mc:AlternateContent>
      <p:sp>
        <p:nvSpPr>
          <p:cNvPr id="11" name="Google Shape;278;g104476d1465_1_17">
            <a:extLst>
              <a:ext uri="{FF2B5EF4-FFF2-40B4-BE49-F238E27FC236}">
                <a16:creationId xmlns:a16="http://schemas.microsoft.com/office/drawing/2014/main" xmlns="" id="{32274384-6D96-984A-8A32-66A86393A00D}"/>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a:t>
            </a:r>
            <a:endParaRPr i="1" dirty="0">
              <a:latin typeface="Calibri"/>
              <a:ea typeface="Calibri"/>
              <a:cs typeface="Calibri"/>
              <a:sym typeface="Calibri"/>
            </a:endParaRPr>
          </a:p>
        </p:txBody>
      </p:sp>
    </p:spTree>
    <p:extLst>
      <p:ext uri="{BB962C8B-B14F-4D97-AF65-F5344CB8AC3E}">
        <p14:creationId xmlns:p14="http://schemas.microsoft.com/office/powerpoint/2010/main" val="4069935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278;g104476d1465_1_17">
            <a:extLst>
              <a:ext uri="{FF2B5EF4-FFF2-40B4-BE49-F238E27FC236}">
                <a16:creationId xmlns:a16="http://schemas.microsoft.com/office/drawing/2014/main" xmlns="" id="{FA8216EE-488F-0B46-A674-98E7CEF16917}"/>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2035446"/>
                  </p:ext>
                </p:extLst>
              </p:nvPr>
            </p:nvGraphicFramePr>
            <p:xfrm>
              <a:off x="2264072" y="1290034"/>
              <a:ext cx="8180029" cy="4320000"/>
            </p:xfrm>
            <a:graphic>
              <a:graphicData uri="http://schemas.openxmlformats.org/drawingml/2006/table">
                <a:tbl>
                  <a:tblPr firstRow="1" firstCol="1" bandRow="1">
                    <a:tableStyleId>{5940675A-B579-460E-94D1-54222C63F5DA}</a:tableStyleId>
                  </a:tblPr>
                  <a:tblGrid>
                    <a:gridCol w="2160000">
                      <a:extLst>
                        <a:ext uri="{9D8B030D-6E8A-4147-A177-3AD203B41FA5}">
                          <a16:colId xmlns:a16="http://schemas.microsoft.com/office/drawing/2014/main" xmlns="" val="20000"/>
                        </a:ext>
                      </a:extLst>
                    </a:gridCol>
                    <a:gridCol w="4220029">
                      <a:extLst>
                        <a:ext uri="{9D8B030D-6E8A-4147-A177-3AD203B41FA5}">
                          <a16:colId xmlns:a16="http://schemas.microsoft.com/office/drawing/2014/main" xmlns="" val="20001"/>
                        </a:ext>
                      </a:extLst>
                    </a:gridCol>
                    <a:gridCol w="1800000">
                      <a:extLst>
                        <a:ext uri="{9D8B030D-6E8A-4147-A177-3AD203B41FA5}">
                          <a16:colId xmlns:a16="http://schemas.microsoft.com/office/drawing/2014/main" xmlns="" val="20002"/>
                        </a:ext>
                      </a:extLst>
                    </a:gridCol>
                  </a:tblGrid>
                  <a:tr h="216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Round 1 Scoring </a:t>
                          </a:r>
                          <a:r>
                            <a:rPr lang="en-US" sz="2000" dirty="0">
                              <a:effectLst/>
                              <a:latin typeface="Verdana" panose="020B0604030504040204" pitchFamily="34" charset="0"/>
                              <a:ea typeface="Verdana" panose="020B0604030504040204" pitchFamily="34" charset="0"/>
                              <a:cs typeface="Verdana" panose="020B0604030504040204" pitchFamily="34" charset="0"/>
                            </a:rPr>
                            <a:t>– the player with the greatest value </a:t>
                          </a:r>
                          <a:r>
                            <a:rPr lang="en-US" sz="2000" b="1" dirty="0">
                              <a:effectLst/>
                              <a:latin typeface="Verdana" panose="020B0604030504040204" pitchFamily="34" charset="0"/>
                              <a:ea typeface="Verdana" panose="020B0604030504040204" pitchFamily="34" charset="0"/>
                              <a:cs typeface="Verdana" panose="020B0604030504040204" pitchFamily="34" charset="0"/>
                            </a:rPr>
                            <a:t>earns</a:t>
                          </a: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ea typeface="Cambria Math" panose="02040503050406030204" pitchFamily="18" charset="0"/>
                                </a:rPr>
                                <m:t>8</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points.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d>
                                  <m:dPr>
                                    <m:begChr m:val="["/>
                                    <m:endChr m:val="]"/>
                                    <m:ctrlPr>
                                      <a:rPr lang="en-US" sz="2000" i="1">
                                        <a:effectLst/>
                                        <a:latin typeface="Cambria Math"/>
                                        <a:ea typeface="Cambria Math" panose="02040503050406030204" pitchFamily="18" charset="0"/>
                                      </a:rPr>
                                    </m:ctrlPr>
                                  </m:dPr>
                                  <m:e>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______ ×</m:t>
                                        </m:r>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______</m:t>
                                            </m:r>
                                          </m:e>
                                          <m:sup>
                                            <m:r>
                                              <a:rPr lang="en-US" sz="2000">
                                                <a:effectLst/>
                                                <a:latin typeface="Cambria Math" panose="02040503050406030204" pitchFamily="18" charset="0"/>
                                                <a:ea typeface="Cambria Math" panose="02040503050406030204" pitchFamily="18" charset="0"/>
                                              </a:rPr>
                                              <m:t>2</m:t>
                                            </m:r>
                                          </m:sup>
                                        </m:sSup>
                                      </m:e>
                                    </m:d>
                                    <m:r>
                                      <a:rPr lang="en-US" sz="2000">
                                        <a:effectLst/>
                                        <a:latin typeface="Cambria Math" panose="02040503050406030204" pitchFamily="18" charset="0"/>
                                        <a:ea typeface="Cambria Math" panose="02040503050406030204" pitchFamily="18" charset="0"/>
                                      </a:rPr>
                                      <m:t>+______</m:t>
                                    </m:r>
                                  </m:e>
                                </m:d>
                                <m:r>
                                  <a:rPr lang="en-US" sz="2000">
                                    <a:effectLst/>
                                    <a:latin typeface="Cambria Math" panose="02040503050406030204" pitchFamily="18" charset="0"/>
                                    <a:ea typeface="Cambria Math" panose="02040503050406030204" pitchFamily="18" charset="0"/>
                                  </a:rPr>
                                  <m:t>÷______</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p>
                          <a:pPr marL="0" marR="0">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My answer</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Points earned</a:t>
                          </a:r>
                        </a:p>
                      </a:txBody>
                      <a:tcPr marL="68580" marR="68580"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r h="216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Round 2</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Scoring</a:t>
                          </a:r>
                          <a:r>
                            <a:rPr lang="en-US" sz="2000" dirty="0">
                              <a:effectLst/>
                              <a:latin typeface="Verdana" panose="020B0604030504040204" pitchFamily="34" charset="0"/>
                              <a:ea typeface="Verdana" panose="020B0604030504040204" pitchFamily="34" charset="0"/>
                              <a:cs typeface="Verdana" panose="020B0604030504040204" pitchFamily="34" charset="0"/>
                            </a:rPr>
                            <a:t> – the player with the least value </a:t>
                          </a:r>
                          <a:r>
                            <a:rPr lang="en-US" sz="2000" b="1" dirty="0">
                              <a:effectLst/>
                              <a:latin typeface="Verdana" panose="020B0604030504040204" pitchFamily="34" charset="0"/>
                              <a:ea typeface="Verdana" panose="020B0604030504040204" pitchFamily="34" charset="0"/>
                              <a:cs typeface="Verdana" panose="020B0604030504040204" pitchFamily="34" charset="0"/>
                            </a:rPr>
                            <a:t>earns</a:t>
                          </a: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ea typeface="Cambria Math" panose="02040503050406030204" pitchFamily="18" charset="0"/>
                                </a:rPr>
                                <m:t>5.5</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points.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d>
                                  <m:dPr>
                                    <m:begChr m:val="["/>
                                    <m:endChr m:val="]"/>
                                    <m:ctrlPr>
                                      <a:rPr lang="en-US" sz="2000" i="1">
                                        <a:effectLst/>
                                        <a:latin typeface="Cambria Math"/>
                                        <a:ea typeface="Cambria Math" panose="02040503050406030204" pitchFamily="18" charset="0"/>
                                      </a:rPr>
                                    </m:ctrlPr>
                                  </m:dPr>
                                  <m:e>
                                    <m:sSup>
                                      <m:sSupPr>
                                        <m:ctrlPr>
                                          <a:rPr lang="en-US" sz="2000" i="1">
                                            <a:effectLst/>
                                            <a:latin typeface="Cambria Math"/>
                                            <a:ea typeface="Cambria Math" panose="02040503050406030204" pitchFamily="18" charset="0"/>
                                          </a:rPr>
                                        </m:ctrlPr>
                                      </m:sSupPr>
                                      <m:e>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______×______</m:t>
                                            </m:r>
                                          </m:e>
                                        </m:d>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+______</m:t>
                                    </m:r>
                                  </m:e>
                                </m:d>
                                <m:r>
                                  <a:rPr lang="en-US" sz="2000">
                                    <a:effectLst/>
                                    <a:latin typeface="Cambria Math" panose="02040503050406030204" pitchFamily="18" charset="0"/>
                                    <a:ea typeface="Cambria Math" panose="02040503050406030204" pitchFamily="18" charset="0"/>
                                  </a:rPr>
                                  <m:t>÷______</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My answer</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Points earned</a:t>
                          </a:r>
                        </a:p>
                      </a:txBody>
                      <a:tcPr marL="68580" marR="68580"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2035446"/>
                  </p:ext>
                </p:extLst>
              </p:nvPr>
            </p:nvGraphicFramePr>
            <p:xfrm>
              <a:off x="2264072" y="1290034"/>
              <a:ext cx="8180029" cy="4320000"/>
            </p:xfrm>
            <a:graphic>
              <a:graphicData uri="http://schemas.openxmlformats.org/drawingml/2006/table">
                <a:tbl>
                  <a:tblPr firstRow="1" firstCol="1" bandRow="1">
                    <a:tableStyleId>{5940675A-B579-460E-94D1-54222C63F5DA}</a:tableStyleId>
                  </a:tblPr>
                  <a:tblGrid>
                    <a:gridCol w="2160000">
                      <a:extLst>
                        <a:ext uri="{9D8B030D-6E8A-4147-A177-3AD203B41FA5}">
                          <a16:colId xmlns:a16="http://schemas.microsoft.com/office/drawing/2014/main" xmlns:a14="http://schemas.microsoft.com/office/drawing/2010/main" xmlns="" val="20000"/>
                        </a:ext>
                      </a:extLst>
                    </a:gridCol>
                    <a:gridCol w="4220029">
                      <a:extLst>
                        <a:ext uri="{9D8B030D-6E8A-4147-A177-3AD203B41FA5}">
                          <a16:colId xmlns:a16="http://schemas.microsoft.com/office/drawing/2014/main" xmlns:a14="http://schemas.microsoft.com/office/drawing/2010/main" xmlns="" val="20001"/>
                        </a:ext>
                      </a:extLst>
                    </a:gridCol>
                    <a:gridCol w="1800000">
                      <a:extLst>
                        <a:ext uri="{9D8B030D-6E8A-4147-A177-3AD203B41FA5}">
                          <a16:colId xmlns:a16="http://schemas.microsoft.com/office/drawing/2014/main" xmlns:a14="http://schemas.microsoft.com/office/drawing/2010/main" xmlns="" val="20002"/>
                        </a:ext>
                      </a:extLst>
                    </a:gridCol>
                  </a:tblGrid>
                  <a:tr h="216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282" r="-279379" b="-100282"/>
                          </a:stretch>
                        </a:blipFill>
                      </a:tcPr>
                    </a:tc>
                    <a:tc>
                      <a:txBody>
                        <a:bodyPr/>
                        <a:lstStyle/>
                        <a:p>
                          <a:endParaRPr lang="en-US"/>
                        </a:p>
                      </a:txBody>
                      <a:tcPr marL="68580" marR="68580"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51082" t="-282" r="-42713" b="-100282"/>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My answer</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Points earned</a:t>
                          </a:r>
                        </a:p>
                      </a:txBody>
                      <a:tcPr marL="68580" marR="68580"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0"/>
                      </a:ext>
                    </a:extLst>
                  </a:tr>
                  <a:tr h="216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00282" r="-279379" b="-282"/>
                          </a:stretch>
                        </a:blipFill>
                      </a:tcPr>
                    </a:tc>
                    <a:tc>
                      <a:txBody>
                        <a:bodyPr/>
                        <a:lstStyle/>
                        <a:p>
                          <a:endParaRPr lang="en-US"/>
                        </a:p>
                      </a:txBody>
                      <a:tcPr marL="68580" marR="68580"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51082" t="-100282" r="-42713" b="-282"/>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My answer</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Points earned</a:t>
                          </a:r>
                        </a:p>
                      </a:txBody>
                      <a:tcPr marL="68580" marR="68580"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bl>
              </a:graphicData>
            </a:graphic>
          </p:graphicFrame>
        </mc:Fallback>
      </mc:AlternateContent>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a:t>
            </a:r>
            <a:endParaRPr i="1" dirty="0">
              <a:latin typeface="Calibri"/>
              <a:ea typeface="Calibri"/>
              <a:cs typeface="Calibri"/>
              <a:sym typeface="Calibri"/>
            </a:endParaRPr>
          </a:p>
        </p:txBody>
      </p:sp>
    </p:spTree>
    <p:extLst>
      <p:ext uri="{BB962C8B-B14F-4D97-AF65-F5344CB8AC3E}">
        <p14:creationId xmlns:p14="http://schemas.microsoft.com/office/powerpoint/2010/main" val="27711547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278;g104476d1465_1_17">
            <a:extLst>
              <a:ext uri="{FF2B5EF4-FFF2-40B4-BE49-F238E27FC236}">
                <a16:creationId xmlns:a16="http://schemas.microsoft.com/office/drawing/2014/main" xmlns="" id="{6B29BDED-917F-0645-8F07-B04061D83C61}"/>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2030886070"/>
                  </p:ext>
                </p:extLst>
              </p:nvPr>
            </p:nvGraphicFramePr>
            <p:xfrm>
              <a:off x="2256562" y="1281866"/>
              <a:ext cx="8180029" cy="4320000"/>
            </p:xfrm>
            <a:graphic>
              <a:graphicData uri="http://schemas.openxmlformats.org/drawingml/2006/table">
                <a:tbl>
                  <a:tblPr firstRow="1" firstCol="1" bandRow="1">
                    <a:tableStyleId>{5940675A-B579-460E-94D1-54222C63F5DA}</a:tableStyleId>
                  </a:tblPr>
                  <a:tblGrid>
                    <a:gridCol w="2160000">
                      <a:extLst>
                        <a:ext uri="{9D8B030D-6E8A-4147-A177-3AD203B41FA5}">
                          <a16:colId xmlns:a16="http://schemas.microsoft.com/office/drawing/2014/main" xmlns="" val="20000"/>
                        </a:ext>
                      </a:extLst>
                    </a:gridCol>
                    <a:gridCol w="4220029">
                      <a:extLst>
                        <a:ext uri="{9D8B030D-6E8A-4147-A177-3AD203B41FA5}">
                          <a16:colId xmlns:a16="http://schemas.microsoft.com/office/drawing/2014/main" xmlns="" val="20001"/>
                        </a:ext>
                      </a:extLst>
                    </a:gridCol>
                    <a:gridCol w="1800000">
                      <a:extLst>
                        <a:ext uri="{9D8B030D-6E8A-4147-A177-3AD203B41FA5}">
                          <a16:colId xmlns:a16="http://schemas.microsoft.com/office/drawing/2014/main" xmlns="" val="20002"/>
                        </a:ext>
                      </a:extLst>
                    </a:gridCol>
                  </a:tblGrid>
                  <a:tr h="216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Round 3 Scoring </a:t>
                          </a:r>
                          <a:r>
                            <a:rPr lang="en-US" sz="2000" dirty="0">
                              <a:effectLst/>
                              <a:latin typeface="Verdana" panose="020B0604030504040204" pitchFamily="34" charset="0"/>
                              <a:ea typeface="Verdana" panose="020B0604030504040204" pitchFamily="34" charset="0"/>
                              <a:cs typeface="Verdana" panose="020B0604030504040204" pitchFamily="34" charset="0"/>
                            </a:rPr>
                            <a:t>– the player with the greatest absolute value loses </a:t>
                          </a:r>
                          <a14:m>
                            <m:oMath xmlns:m="http://schemas.openxmlformats.org/officeDocument/2006/math">
                              <m:r>
                                <a:rPr lang="en-US" sz="2000">
                                  <a:effectLst/>
                                  <a:latin typeface="Cambria Math" panose="02040503050406030204" pitchFamily="18" charset="0"/>
                                  <a:ea typeface="Cambria Math" panose="02040503050406030204" pitchFamily="18" charset="0"/>
                                </a:rPr>
                                <m:t>3.7</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points.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______×</m:t>
                                    </m:r>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______</m:t>
                                        </m:r>
                                      </m:e>
                                      <m:sup>
                                        <m:r>
                                          <a:rPr lang="en-US" sz="2000">
                                            <a:effectLst/>
                                            <a:latin typeface="Cambria Math" panose="02040503050406030204" pitchFamily="18" charset="0"/>
                                            <a:ea typeface="Cambria Math" panose="02040503050406030204" pitchFamily="18" charset="0"/>
                                          </a:rPr>
                                          <m:t>2</m:t>
                                        </m:r>
                                      </m:sup>
                                    </m:sSup>
                                  </m:e>
                                </m:d>
                                <m:r>
                                  <a:rPr lang="en-US" sz="2000">
                                    <a:effectLst/>
                                    <a:latin typeface="Cambria Math" panose="02040503050406030204" pitchFamily="18" charset="0"/>
                                    <a:ea typeface="Cambria Math" panose="02040503050406030204" pitchFamily="18" charset="0"/>
                                  </a:rPr>
                                  <m:t>+</m:t>
                                </m:r>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______÷______</m:t>
                                    </m:r>
                                  </m:e>
                                </m:d>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My answer</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Points earned</a:t>
                          </a:r>
                        </a:p>
                      </a:txBody>
                      <a:tcPr marL="68580" marR="68580"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r h="216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Round 4</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Scoring </a:t>
                          </a:r>
                          <a:r>
                            <a:rPr lang="en-US" sz="2000" dirty="0">
                              <a:effectLst/>
                              <a:latin typeface="Verdana" panose="020B0604030504040204" pitchFamily="34" charset="0"/>
                              <a:ea typeface="Verdana" panose="020B0604030504040204" pitchFamily="34" charset="0"/>
                              <a:cs typeface="Verdana" panose="020B0604030504040204" pitchFamily="34" charset="0"/>
                            </a:rPr>
                            <a:t>– the player with the absolute value closest to zero </a:t>
                          </a:r>
                          <a:r>
                            <a:rPr lang="en-US" sz="2000" b="1" dirty="0">
                              <a:effectLst/>
                              <a:latin typeface="Verdana" panose="020B0604030504040204" pitchFamily="34" charset="0"/>
                              <a:ea typeface="Verdana" panose="020B0604030504040204" pitchFamily="34" charset="0"/>
                              <a:cs typeface="Verdana" panose="020B0604030504040204" pitchFamily="34" charset="0"/>
                            </a:rPr>
                            <a:t>earns</a:t>
                          </a: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ea typeface="Cambria Math" panose="02040503050406030204" pitchFamily="18" charset="0"/>
                                </a:rPr>
                                <m:t>11</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points.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a:ea typeface="Cambria Math" panose="02040503050406030204" pitchFamily="18" charset="0"/>
                                      </a:rPr>
                                    </m:ctrlPr>
                                  </m:sSupPr>
                                  <m:e>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______×______</m:t>
                                        </m:r>
                                      </m:e>
                                    </m:d>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m:t>
                                </m:r>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______÷______</m:t>
                                    </m:r>
                                  </m:e>
                                </m:d>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My answer</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Points earned</a:t>
                          </a:r>
                        </a:p>
                      </a:txBody>
                      <a:tcPr marL="68580" marR="68580"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2030886070"/>
                  </p:ext>
                </p:extLst>
              </p:nvPr>
            </p:nvGraphicFramePr>
            <p:xfrm>
              <a:off x="2256562" y="1281866"/>
              <a:ext cx="8180029" cy="4320000"/>
            </p:xfrm>
            <a:graphic>
              <a:graphicData uri="http://schemas.openxmlformats.org/drawingml/2006/table">
                <a:tbl>
                  <a:tblPr firstRow="1" firstCol="1" bandRow="1">
                    <a:tableStyleId>{5940675A-B579-460E-94D1-54222C63F5DA}</a:tableStyleId>
                  </a:tblPr>
                  <a:tblGrid>
                    <a:gridCol w="2160000">
                      <a:extLst>
                        <a:ext uri="{9D8B030D-6E8A-4147-A177-3AD203B41FA5}">
                          <a16:colId xmlns:a16="http://schemas.microsoft.com/office/drawing/2014/main" xmlns:a14="http://schemas.microsoft.com/office/drawing/2010/main" xmlns="" val="20000"/>
                        </a:ext>
                      </a:extLst>
                    </a:gridCol>
                    <a:gridCol w="4220029">
                      <a:extLst>
                        <a:ext uri="{9D8B030D-6E8A-4147-A177-3AD203B41FA5}">
                          <a16:colId xmlns:a16="http://schemas.microsoft.com/office/drawing/2014/main" xmlns:a14="http://schemas.microsoft.com/office/drawing/2010/main" xmlns="" val="20001"/>
                        </a:ext>
                      </a:extLst>
                    </a:gridCol>
                    <a:gridCol w="1800000">
                      <a:extLst>
                        <a:ext uri="{9D8B030D-6E8A-4147-A177-3AD203B41FA5}">
                          <a16:colId xmlns:a16="http://schemas.microsoft.com/office/drawing/2014/main" xmlns:a14="http://schemas.microsoft.com/office/drawing/2010/main" xmlns="" val="20002"/>
                        </a:ext>
                      </a:extLst>
                    </a:gridCol>
                  </a:tblGrid>
                  <a:tr h="216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r="-279379" b="-106197"/>
                          </a:stretch>
                        </a:blipFill>
                      </a:tcPr>
                    </a:tc>
                    <a:tc>
                      <a:txBody>
                        <a:bodyPr/>
                        <a:lstStyle/>
                        <a:p>
                          <a:endParaRPr lang="en-US"/>
                        </a:p>
                      </a:txBody>
                      <a:tcPr marL="68580" marR="68580"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51082" r="-42713" b="-106197"/>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My answer</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Points earned</a:t>
                          </a:r>
                        </a:p>
                      </a:txBody>
                      <a:tcPr marL="68580" marR="68580"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0"/>
                      </a:ext>
                    </a:extLst>
                  </a:tr>
                  <a:tr h="216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00282" r="-279379" b="-6497"/>
                          </a:stretch>
                        </a:blipFill>
                      </a:tcPr>
                    </a:tc>
                    <a:tc>
                      <a:txBody>
                        <a:bodyPr/>
                        <a:lstStyle/>
                        <a:p>
                          <a:endParaRPr lang="en-US"/>
                        </a:p>
                      </a:txBody>
                      <a:tcPr marL="68580" marR="68580"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51082" t="-100282" r="-42713" b="-6497"/>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My answer</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Points earned</a:t>
                          </a:r>
                        </a:p>
                      </a:txBody>
                      <a:tcPr marL="68580" marR="68580" marT="7200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bl>
              </a:graphicData>
            </a:graphic>
          </p:graphicFrame>
        </mc:Fallback>
      </mc:AlternateContent>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a:t>
            </a:r>
            <a:endParaRPr i="1" dirty="0">
              <a:latin typeface="Calibri"/>
              <a:ea typeface="Calibri"/>
              <a:cs typeface="Calibri"/>
              <a:sym typeface="Calibri"/>
            </a:endParaRPr>
          </a:p>
        </p:txBody>
      </p:sp>
    </p:spTree>
    <p:extLst>
      <p:ext uri="{BB962C8B-B14F-4D97-AF65-F5344CB8AC3E}">
        <p14:creationId xmlns:p14="http://schemas.microsoft.com/office/powerpoint/2010/main" val="889412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xmlns="" id="{8AE5E1E0-A54D-BE42-84B5-F917038ADE99}"/>
              </a:ext>
            </a:extLst>
          </p:cNvPr>
          <p:cNvSpPr txBox="1"/>
          <p:nvPr/>
        </p:nvSpPr>
        <p:spPr>
          <a:xfrm>
            <a:off x="1932432" y="367877"/>
            <a:ext cx="8327136" cy="461665"/>
          </a:xfrm>
          <a:prstGeom prst="rect">
            <a:avLst/>
          </a:prstGeom>
          <a:noFill/>
        </p:spPr>
        <p:txBody>
          <a:bodyPr wrap="square" rtlCol="0">
            <a:spAutoFit/>
          </a:bodyPr>
          <a:lstStyle/>
          <a:p>
            <a:pPr algn="ctr"/>
            <a:r>
              <a:rPr lang="en-US" sz="2400" b="1" dirty="0">
                <a:latin typeface="Verdana" panose="020B0604030504040204" pitchFamily="34" charset="0"/>
                <a:ea typeface="Verdana" panose="020B0604030504040204" pitchFamily="34" charset="0"/>
                <a:cs typeface="Verdana" panose="020B0604030504040204" pitchFamily="34" charset="0"/>
              </a:rPr>
              <a:t>My Game Score</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xmlns="" id="{6B29BDED-917F-0645-8F07-B04061D83C61}"/>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2418408128"/>
              </p:ext>
            </p:extLst>
          </p:nvPr>
        </p:nvGraphicFramePr>
        <p:xfrm>
          <a:off x="2264072" y="942398"/>
          <a:ext cx="7788904" cy="1198245"/>
        </p:xfrm>
        <a:graphic>
          <a:graphicData uri="http://schemas.openxmlformats.org/drawingml/2006/table">
            <a:tbl>
              <a:tblPr firstRow="1" firstCol="1" bandRow="1">
                <a:tableStyleId>{5940675A-B579-460E-94D1-54222C63F5DA}</a:tableStyleId>
              </a:tblPr>
              <a:tblGrid>
                <a:gridCol w="1532856">
                  <a:extLst>
                    <a:ext uri="{9D8B030D-6E8A-4147-A177-3AD203B41FA5}">
                      <a16:colId xmlns:a16="http://schemas.microsoft.com/office/drawing/2014/main" xmlns="" val="20000"/>
                    </a:ext>
                  </a:extLst>
                </a:gridCol>
                <a:gridCol w="1532856">
                  <a:extLst>
                    <a:ext uri="{9D8B030D-6E8A-4147-A177-3AD203B41FA5}">
                      <a16:colId xmlns:a16="http://schemas.microsoft.com/office/drawing/2014/main" xmlns="" val="20001"/>
                    </a:ext>
                  </a:extLst>
                </a:gridCol>
                <a:gridCol w="1532856">
                  <a:extLst>
                    <a:ext uri="{9D8B030D-6E8A-4147-A177-3AD203B41FA5}">
                      <a16:colId xmlns:a16="http://schemas.microsoft.com/office/drawing/2014/main" xmlns="" val="20002"/>
                    </a:ext>
                  </a:extLst>
                </a:gridCol>
                <a:gridCol w="1531299">
                  <a:extLst>
                    <a:ext uri="{9D8B030D-6E8A-4147-A177-3AD203B41FA5}">
                      <a16:colId xmlns:a16="http://schemas.microsoft.com/office/drawing/2014/main" xmlns="" val="20003"/>
                    </a:ext>
                  </a:extLst>
                </a:gridCol>
                <a:gridCol w="1659037">
                  <a:extLst>
                    <a:ext uri="{9D8B030D-6E8A-4147-A177-3AD203B41FA5}">
                      <a16:colId xmlns:a16="http://schemas.microsoft.com/office/drawing/2014/main" xmlns="" val="20004"/>
                    </a:ext>
                  </a:extLst>
                </a:gridCol>
              </a:tblGrid>
              <a:tr h="47307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Round 1</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Round 2</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Round 3</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Round 4</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My Score</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725170">
                <a:tc>
                  <a:txBody>
                    <a:bodyPr/>
                    <a:lstStyle/>
                    <a:p>
                      <a:pPr marL="0" marR="0">
                        <a:spcBef>
                          <a:spcPts val="0"/>
                        </a:spcBef>
                        <a:spcAft>
                          <a:spcPts val="0"/>
                        </a:spcAft>
                      </a:pPr>
                      <a:r>
                        <a:rPr lang="en-US" sz="1800">
                          <a:effectLst/>
                        </a:rPr>
                        <a:t> </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a:effectLst/>
                        </a:rPr>
                        <a:t> </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sp>
        <p:nvSpPr>
          <p:cNvPr id="3" name="Rectangle 2"/>
          <p:cNvSpPr/>
          <p:nvPr/>
        </p:nvSpPr>
        <p:spPr>
          <a:xfrm>
            <a:off x="536330" y="2459504"/>
            <a:ext cx="10800000" cy="1200329"/>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Discuss with the other players what strategies you used to determine where to put the numbers. Summarize your discussion. </a:t>
            </a:r>
            <a:endParaRPr lang="en-US" sz="2400" dirty="0"/>
          </a:p>
        </p:txBody>
      </p:sp>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a:t>
            </a:r>
            <a:endParaRPr i="1" dirty="0">
              <a:latin typeface="Calibri"/>
              <a:ea typeface="Calibri"/>
              <a:cs typeface="Calibri"/>
              <a:sym typeface="Calibri"/>
            </a:endParaRPr>
          </a:p>
        </p:txBody>
      </p:sp>
    </p:spTree>
    <p:extLst>
      <p:ext uri="{BB962C8B-B14F-4D97-AF65-F5344CB8AC3E}">
        <p14:creationId xmlns:p14="http://schemas.microsoft.com/office/powerpoint/2010/main" val="2023254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298243"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xmlns=""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a:t>
            </a:r>
            <a:endParaRPr i="1" dirty="0">
              <a:latin typeface="Calibri"/>
              <a:ea typeface="Calibri"/>
              <a:cs typeface="Calibri"/>
              <a:sym typeface="Calibri"/>
            </a:endParaRPr>
          </a:p>
        </p:txBody>
      </p:sp>
    </p:spTree>
    <p:extLst>
      <p:ext uri="{BB962C8B-B14F-4D97-AF65-F5344CB8AC3E}">
        <p14:creationId xmlns:p14="http://schemas.microsoft.com/office/powerpoint/2010/main" val="10068580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60584" y="60325"/>
            <a:ext cx="108000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1.5.4 Try It: Using the Order </a:t>
            </a:r>
            <a:r>
              <a:rPr lang="en-US" sz="3600" b="1" dirty="0" smtClean="0">
                <a:solidFill>
                  <a:srgbClr val="33BEA6"/>
                </a:solidFill>
                <a:latin typeface="Verdana"/>
                <a:ea typeface="Verdana"/>
                <a:cs typeface="Verdana"/>
                <a:sym typeface="Verdana"/>
              </a:rPr>
              <a:t/>
            </a:r>
            <a:br>
              <a:rPr lang="en-US" sz="3600" b="1" dirty="0" smtClean="0">
                <a:solidFill>
                  <a:srgbClr val="33BEA6"/>
                </a:solidFill>
                <a:latin typeface="Verdana"/>
                <a:ea typeface="Verdana"/>
                <a:cs typeface="Verdana"/>
                <a:sym typeface="Verdana"/>
              </a:rPr>
            </a:br>
            <a:r>
              <a:rPr lang="en-US" sz="3600" b="1" dirty="0" smtClean="0">
                <a:solidFill>
                  <a:srgbClr val="33BEA6"/>
                </a:solidFill>
                <a:latin typeface="Verdana"/>
                <a:ea typeface="Verdana"/>
                <a:cs typeface="Verdana"/>
                <a:sym typeface="Verdana"/>
              </a:rPr>
              <a:t>of </a:t>
            </a:r>
            <a:r>
              <a:rPr lang="en-US" sz="3600" b="1" dirty="0">
                <a:solidFill>
                  <a:srgbClr val="33BEA6"/>
                </a:solidFill>
                <a:latin typeface="Verdana"/>
                <a:ea typeface="Verdana"/>
                <a:cs typeface="Verdana"/>
                <a:sym typeface="Verdana"/>
              </a:rPr>
              <a:t>Operations</a:t>
            </a:r>
          </a:p>
        </p:txBody>
      </p:sp>
      <p:pic>
        <p:nvPicPr>
          <p:cNvPr id="9" name="Picture 2">
            <a:extLst>
              <a:ext uri="{FF2B5EF4-FFF2-40B4-BE49-F238E27FC236}">
                <a16:creationId xmlns:a16="http://schemas.microsoft.com/office/drawing/2014/main" xmlns="" id="{E0B7508E-1910-D441-91B6-6EA6022F20C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xmlns="" id="{0AB6A3A1-5A0D-C84F-AC89-57E6782F43E5}"/>
                  </a:ext>
                </a:extLst>
              </p:cNvPr>
              <p:cNvSpPr txBox="1"/>
              <p:nvPr/>
            </p:nvSpPr>
            <p:spPr>
              <a:xfrm>
                <a:off x="536330" y="1456363"/>
                <a:ext cx="10515600" cy="156966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In the table, an expression has been evaluated, but the steps are mixed up. Order the expressions using the numbers </a:t>
                </a:r>
                <a14:m>
                  <m:oMath xmlns:m="http://schemas.openxmlformats.org/officeDocument/2006/math">
                    <m:r>
                      <a:rPr lang="en-US" sz="2400">
                        <a:latin typeface="Cambria Math"/>
                      </a:rPr>
                      <m:t>1</m:t>
                    </m:r>
                    <m:r>
                      <a:rPr lang="en-US" sz="2400" i="1">
                        <a:latin typeface="Cambria Math"/>
                      </a:rPr>
                      <m:t>−</m:t>
                    </m:r>
                    <m:r>
                      <a:rPr lang="en-US" sz="2400">
                        <a:latin typeface="Cambria Math"/>
                      </a:rPr>
                      <m:t>7</m:t>
                    </m:r>
                  </m:oMath>
                </a14:m>
                <a:r>
                  <a:rPr lang="en-US" sz="2400" dirty="0">
                    <a:latin typeface="Verdana" panose="020B0604030504040204" pitchFamily="34" charset="0"/>
                    <a:ea typeface="Verdana" panose="020B0604030504040204" pitchFamily="34" charset="0"/>
                    <a:cs typeface="Verdana" panose="020B0604030504040204" pitchFamily="34" charset="0"/>
                  </a:rPr>
                  <a:t> on the left. Write an explanation for each step on the right.</a:t>
                </a:r>
              </a:p>
            </p:txBody>
          </p:sp>
        </mc:Choice>
        <mc:Fallback>
          <p:sp>
            <p:nvSpPr>
              <p:cNvPr id="10" name="TextBox 9">
                <a:extLst>
                  <a:ext uri="{FF2B5EF4-FFF2-40B4-BE49-F238E27FC236}">
                    <a16:creationId xmlns:a16="http://schemas.microsoft.com/office/drawing/2014/main" xmlns:a14="http://schemas.microsoft.com/office/drawing/2010/main" xmlns="" id="{0AB6A3A1-5A0D-C84F-AC89-57E6782F43E5}"/>
                  </a:ext>
                </a:extLst>
              </p:cNvPr>
              <p:cNvSpPr txBox="1">
                <a:spLocks noRot="1" noChangeAspect="1" noMove="1" noResize="1" noEditPoints="1" noAdjustHandles="1" noChangeArrowheads="1" noChangeShapeType="1" noTextEdit="1"/>
              </p:cNvSpPr>
              <p:nvPr/>
            </p:nvSpPr>
            <p:spPr>
              <a:xfrm>
                <a:off x="536330" y="1456363"/>
                <a:ext cx="10515600" cy="1569660"/>
              </a:xfrm>
              <a:prstGeom prst="rect">
                <a:avLst/>
              </a:prstGeom>
              <a:blipFill rotWithShape="1">
                <a:blip r:embed="rId5"/>
                <a:stretch>
                  <a:fillRect l="-928" t="-3113"/>
                </a:stretch>
              </a:blipFill>
            </p:spPr>
            <p:txBody>
              <a:bodyPr/>
              <a:lstStyle/>
              <a:p>
                <a:r>
                  <a:rPr lang="en-PH">
                    <a:noFill/>
                  </a:rPr>
                  <a:t> </a:t>
                </a:r>
              </a:p>
            </p:txBody>
          </p:sp>
        </mc:Fallback>
      </mc:AlternateContent>
      <p:sp>
        <p:nvSpPr>
          <p:cNvPr id="11" name="Google Shape;278;g104476d1465_1_17">
            <a:extLst>
              <a:ext uri="{FF2B5EF4-FFF2-40B4-BE49-F238E27FC236}">
                <a16:creationId xmlns:a16="http://schemas.microsoft.com/office/drawing/2014/main" xmlns="" id="{D93CCF23-305F-4542-AFD2-A48933A9E420}"/>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a:t>
            </a:r>
            <a:endParaRPr i="1" dirty="0">
              <a:latin typeface="Calibri"/>
              <a:ea typeface="Calibri"/>
              <a:cs typeface="Calibri"/>
              <a:sym typeface="Calibri"/>
            </a:endParaRPr>
          </a:p>
        </p:txBody>
      </p:sp>
    </p:spTree>
    <p:extLst>
      <p:ext uri="{BB962C8B-B14F-4D97-AF65-F5344CB8AC3E}">
        <p14:creationId xmlns:p14="http://schemas.microsoft.com/office/powerpoint/2010/main" val="3840359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278;g104476d1465_1_17">
            <a:extLst>
              <a:ext uri="{FF2B5EF4-FFF2-40B4-BE49-F238E27FC236}">
                <a16:creationId xmlns:a16="http://schemas.microsoft.com/office/drawing/2014/main" xmlns="" id="{23DDED37-A9DC-1840-BFB8-744A6C956060}"/>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3037141115"/>
                  </p:ext>
                </p:extLst>
              </p:nvPr>
            </p:nvGraphicFramePr>
            <p:xfrm>
              <a:off x="1826635" y="370675"/>
              <a:ext cx="8420742" cy="5303603"/>
            </p:xfrm>
            <a:graphic>
              <a:graphicData uri="http://schemas.openxmlformats.org/drawingml/2006/table">
                <a:tbl>
                  <a:tblPr firstRow="1" firstCol="1" bandRow="1">
                    <a:tableStyleId>{5940675A-B579-460E-94D1-54222C63F5DA}</a:tableStyleId>
                  </a:tblPr>
                  <a:tblGrid>
                    <a:gridCol w="898526">
                      <a:extLst>
                        <a:ext uri="{9D8B030D-6E8A-4147-A177-3AD203B41FA5}">
                          <a16:colId xmlns:a16="http://schemas.microsoft.com/office/drawing/2014/main" xmlns="" val="20000"/>
                        </a:ext>
                      </a:extLst>
                    </a:gridCol>
                    <a:gridCol w="4552218">
                      <a:extLst>
                        <a:ext uri="{9D8B030D-6E8A-4147-A177-3AD203B41FA5}">
                          <a16:colId xmlns:a16="http://schemas.microsoft.com/office/drawing/2014/main" xmlns="" val="20001"/>
                        </a:ext>
                      </a:extLst>
                    </a:gridCol>
                    <a:gridCol w="2969998">
                      <a:extLst>
                        <a:ext uri="{9D8B030D-6E8A-4147-A177-3AD203B41FA5}">
                          <a16:colId xmlns:a16="http://schemas.microsoft.com/office/drawing/2014/main" xmlns="" val="20002"/>
                        </a:ext>
                      </a:extLst>
                    </a:gridCol>
                  </a:tblGrid>
                  <a:tr h="515603">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Step</a:t>
                          </a: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Explain the Step</a:t>
                          </a: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684000">
                    <a:tc>
                      <a:txBody>
                        <a:bodyPr/>
                        <a:lstStyle/>
                        <a:p>
                          <a:pPr marL="0" marR="0" algn="ctr">
                            <a:spcBef>
                              <a:spcPts val="0"/>
                            </a:spcBef>
                            <a:spcAft>
                              <a:spcPts val="0"/>
                            </a:spcAft>
                          </a:pP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11−17.64+55.888</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684000">
                    <a:tc>
                      <a:txBody>
                        <a:bodyPr/>
                        <a:lstStyle/>
                        <a:p>
                          <a:pPr marL="0" marR="0" algn="ctr">
                            <a:spcBef>
                              <a:spcPts val="0"/>
                            </a:spcBef>
                            <a:spcAft>
                              <a:spcPts val="0"/>
                            </a:spcAft>
                          </a:pP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11−</m:t>
                                </m:r>
                                <m:sSup>
                                  <m:sSupPr>
                                    <m:ctrlPr>
                                      <a:rPr lang="en-US" sz="2000" i="1">
                                        <a:effectLst/>
                                        <a:latin typeface="Cambria Math"/>
                                        <a:ea typeface="Cambria Math" panose="02040503050406030204" pitchFamily="18" charset="0"/>
                                      </a:rPr>
                                    </m:ctrlPr>
                                  </m:sSupPr>
                                  <m:e>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−4.2</m:t>
                                        </m:r>
                                      </m:e>
                                    </m:d>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m:t>
                                </m:r>
                                <m:d>
                                  <m:dPr>
                                    <m:begChr m:val="|"/>
                                    <m:endChr m:val="|"/>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18.2+(−74.088)</m:t>
                                    </m:r>
                                  </m:e>
                                </m:d>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684000">
                    <a:tc>
                      <a:txBody>
                        <a:bodyPr/>
                        <a:lstStyle/>
                        <a:p>
                          <a:pPr marL="0" marR="0" algn="ctr">
                            <a:spcBef>
                              <a:spcPts val="0"/>
                            </a:spcBef>
                            <a:spcAft>
                              <a:spcPts val="0"/>
                            </a:spcAft>
                          </a:pP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−6.64+55.888</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684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11−</m:t>
                                </m:r>
                                <m:sSup>
                                  <m:sSupPr>
                                    <m:ctrlPr>
                                      <a:rPr lang="en-US" sz="2000" i="1">
                                        <a:effectLst/>
                                        <a:latin typeface="Cambria Math"/>
                                        <a:ea typeface="Cambria Math" panose="02040503050406030204" pitchFamily="18" charset="0"/>
                                      </a:rPr>
                                    </m:ctrlPr>
                                  </m:sSupPr>
                                  <m:e>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−4.2</m:t>
                                        </m:r>
                                      </m:e>
                                    </m:d>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m:t>
                                </m:r>
                                <m:d>
                                  <m:dPr>
                                    <m:begChr m:val="|"/>
                                    <m:endChr m:val="|"/>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18.2+</m:t>
                                    </m:r>
                                    <m:sSup>
                                      <m:sSupPr>
                                        <m:ctrlPr>
                                          <a:rPr lang="en-US" sz="2000" i="1">
                                            <a:effectLst/>
                                            <a:latin typeface="Cambria Math"/>
                                            <a:ea typeface="Cambria Math" panose="02040503050406030204" pitchFamily="18" charset="0"/>
                                          </a:rPr>
                                        </m:ctrlPr>
                                      </m:sSupPr>
                                      <m:e>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−4.2</m:t>
                                            </m:r>
                                          </m:e>
                                        </m:d>
                                      </m:e>
                                      <m:sup>
                                        <m:r>
                                          <a:rPr lang="en-US" sz="2000">
                                            <a:effectLst/>
                                            <a:latin typeface="Cambria Math" panose="02040503050406030204" pitchFamily="18" charset="0"/>
                                            <a:ea typeface="Cambria Math" panose="02040503050406030204" pitchFamily="18" charset="0"/>
                                          </a:rPr>
                                          <m:t>3</m:t>
                                        </m:r>
                                      </m:sup>
                                    </m:sSup>
                                  </m:e>
                                </m:d>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Original expression</a:t>
                          </a: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r h="684000">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11−</m:t>
                                </m:r>
                                <m:sSup>
                                  <m:sSupPr>
                                    <m:ctrlPr>
                                      <a:rPr lang="en-US" sz="2000" i="1">
                                        <a:effectLst/>
                                        <a:latin typeface="Cambria Math"/>
                                        <a:ea typeface="Cambria Math" panose="02040503050406030204" pitchFamily="18" charset="0"/>
                                      </a:rPr>
                                    </m:ctrlPr>
                                  </m:sSupPr>
                                  <m:e>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−4.2</m:t>
                                        </m:r>
                                      </m:e>
                                    </m:d>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+55.888</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5"/>
                      </a:ext>
                    </a:extLst>
                  </a:tr>
                  <a:tr h="684000">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49.248</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6"/>
                      </a:ext>
                    </a:extLst>
                  </a:tr>
                  <a:tr h="684000">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11−</m:t>
                                </m:r>
                                <m:sSup>
                                  <m:sSupPr>
                                    <m:ctrlPr>
                                      <a:rPr lang="en-US" sz="2000" i="1">
                                        <a:effectLst/>
                                        <a:latin typeface="Cambria Math"/>
                                        <a:ea typeface="Cambria Math" panose="02040503050406030204" pitchFamily="18" charset="0"/>
                                      </a:rPr>
                                    </m:ctrlPr>
                                  </m:sSupPr>
                                  <m:e>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−4.2</m:t>
                                        </m:r>
                                      </m:e>
                                    </m:d>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m:t>
                                </m:r>
                                <m:d>
                                  <m:dPr>
                                    <m:begChr m:val="|"/>
                                    <m:endChr m:val="|"/>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−55.888</m:t>
                                    </m:r>
                                  </m:e>
                                </m:d>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7"/>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3037141115"/>
                  </p:ext>
                </p:extLst>
              </p:nvPr>
            </p:nvGraphicFramePr>
            <p:xfrm>
              <a:off x="1826635" y="370675"/>
              <a:ext cx="8420742" cy="5303603"/>
            </p:xfrm>
            <a:graphic>
              <a:graphicData uri="http://schemas.openxmlformats.org/drawingml/2006/table">
                <a:tbl>
                  <a:tblPr firstRow="1" firstCol="1" bandRow="1">
                    <a:tableStyleId>{5940675A-B579-460E-94D1-54222C63F5DA}</a:tableStyleId>
                  </a:tblPr>
                  <a:tblGrid>
                    <a:gridCol w="898526">
                      <a:extLst>
                        <a:ext uri="{9D8B030D-6E8A-4147-A177-3AD203B41FA5}">
                          <a16:colId xmlns:a16="http://schemas.microsoft.com/office/drawing/2014/main" xmlns:a14="http://schemas.microsoft.com/office/drawing/2010/main" xmlns="" val="20000"/>
                        </a:ext>
                      </a:extLst>
                    </a:gridCol>
                    <a:gridCol w="4552218">
                      <a:extLst>
                        <a:ext uri="{9D8B030D-6E8A-4147-A177-3AD203B41FA5}">
                          <a16:colId xmlns:a16="http://schemas.microsoft.com/office/drawing/2014/main" xmlns:a14="http://schemas.microsoft.com/office/drawing/2010/main" xmlns="" val="20001"/>
                        </a:ext>
                      </a:extLst>
                    </a:gridCol>
                    <a:gridCol w="2969998">
                      <a:extLst>
                        <a:ext uri="{9D8B030D-6E8A-4147-A177-3AD203B41FA5}">
                          <a16:colId xmlns:a16="http://schemas.microsoft.com/office/drawing/2014/main" xmlns:a14="http://schemas.microsoft.com/office/drawing/2010/main" xmlns="" val="20002"/>
                        </a:ext>
                      </a:extLst>
                    </a:gridCol>
                  </a:tblGrid>
                  <a:tr h="515603">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Step</a:t>
                          </a: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Explain the Step</a:t>
                          </a: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684000">
                    <a:tc>
                      <a:txBody>
                        <a:bodyPr/>
                        <a:lstStyle/>
                        <a:p>
                          <a:pPr marL="0" marR="0" algn="ctr">
                            <a:spcBef>
                              <a:spcPts val="0"/>
                            </a:spcBef>
                            <a:spcAft>
                              <a:spcPts val="0"/>
                            </a:spcAft>
                          </a:pP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9813" t="-76786" r="-65194" b="-600893"/>
                          </a:stretch>
                        </a:blipFill>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684000">
                    <a:tc>
                      <a:txBody>
                        <a:bodyPr/>
                        <a:lstStyle/>
                        <a:p>
                          <a:pPr marL="0" marR="0" algn="ctr">
                            <a:spcBef>
                              <a:spcPts val="0"/>
                            </a:spcBef>
                            <a:spcAft>
                              <a:spcPts val="0"/>
                            </a:spcAft>
                          </a:pP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9813" t="-176786" r="-65194" b="-500893"/>
                          </a:stretch>
                        </a:blipFill>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r h="684000">
                    <a:tc>
                      <a:txBody>
                        <a:bodyPr/>
                        <a:lstStyle/>
                        <a:p>
                          <a:pPr marL="0" marR="0" algn="ctr">
                            <a:spcBef>
                              <a:spcPts val="0"/>
                            </a:spcBef>
                            <a:spcAft>
                              <a:spcPts val="0"/>
                            </a:spcAft>
                          </a:pP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9813" t="-276786" r="-65194" b="-400893"/>
                          </a:stretch>
                        </a:blipFill>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3"/>
                      </a:ext>
                    </a:extLst>
                  </a:tr>
                  <a:tr h="684000">
                    <a:tc>
                      <a:txBody>
                        <a:bodyPr/>
                        <a:lstStyle/>
                        <a:p>
                          <a:endParaRPr lang="en-US"/>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680" t="-376786" r="-839456" b="-300893"/>
                          </a:stretch>
                        </a:blipFill>
                      </a:tcPr>
                    </a:tc>
                    <a:tc>
                      <a:txBody>
                        <a:bodyPr/>
                        <a:lstStyle/>
                        <a:p>
                          <a:endParaRPr lang="en-US"/>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9813" t="-376786" r="-65194" b="-300893"/>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Original expression</a:t>
                          </a: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4"/>
                      </a:ext>
                    </a:extLst>
                  </a:tr>
                  <a:tr h="684000">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9813" t="-472566" r="-65194" b="-198230"/>
                          </a:stretch>
                        </a:blipFill>
                      </a:tcPr>
                    </a:tc>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5"/>
                      </a:ext>
                    </a:extLst>
                  </a:tr>
                  <a:tr h="684000">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9813" t="-577679" r="-65194" b="-100000"/>
                          </a:stretch>
                        </a:blipFill>
                      </a:tcPr>
                    </a:tc>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6"/>
                      </a:ext>
                    </a:extLst>
                  </a:tr>
                  <a:tr h="684000">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9813" t="-677679" r="-65194"/>
                          </a:stretch>
                        </a:blipFill>
                      </a:tcPr>
                    </a:tc>
                    <a:tc>
                      <a:txBody>
                        <a:bodyPr/>
                        <a:lstStyle/>
                        <a:p>
                          <a:pPr marL="0" marR="0">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2693" marR="62693"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7"/>
                      </a:ext>
                    </a:extLst>
                  </a:tr>
                </a:tbl>
              </a:graphicData>
            </a:graphic>
          </p:graphicFrame>
        </mc:Fallback>
      </mc:AlternateContent>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a:t>
            </a:r>
            <a:endParaRPr i="1" dirty="0">
              <a:latin typeface="Calibri"/>
              <a:ea typeface="Calibri"/>
              <a:cs typeface="Calibri"/>
              <a:sym typeface="Calibri"/>
            </a:endParaRPr>
          </a:p>
        </p:txBody>
      </p:sp>
    </p:spTree>
    <p:extLst>
      <p:ext uri="{BB962C8B-B14F-4D97-AF65-F5344CB8AC3E}">
        <p14:creationId xmlns:p14="http://schemas.microsoft.com/office/powerpoint/2010/main" val="21614666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xmlns="" id="{B6C08EE3-8247-C14E-9600-35165D5C8679}"/>
                  </a:ext>
                </a:extLst>
              </p:cNvPr>
              <p:cNvSpPr txBox="1"/>
              <p:nvPr/>
            </p:nvSpPr>
            <p:spPr>
              <a:xfrm>
                <a:off x="536330" y="376089"/>
                <a:ext cx="10515600" cy="3510385"/>
              </a:xfrm>
              <a:prstGeom prst="rect">
                <a:avLst/>
              </a:prstGeom>
              <a:noFill/>
            </p:spPr>
            <p:txBody>
              <a:bodyPr wrap="square" rtlCol="0">
                <a:spAutoFit/>
              </a:bodyPr>
              <a:lstStyle/>
              <a:p>
                <a:pPr marL="457200" indent="-457200">
                  <a:buFont typeface="+mj-lt"/>
                  <a:buAutoNum type="arabicPeriod" startAt="2"/>
                </a:pPr>
                <a:r>
                  <a:rPr lang="en-US" sz="2400" dirty="0">
                    <a:latin typeface="Verdana" pitchFamily="34" charset="0"/>
                    <a:ea typeface="Verdana" pitchFamily="34" charset="0"/>
                  </a:rPr>
                  <a:t>Evaluate each expression without using a calculator.</a:t>
                </a:r>
              </a:p>
              <a:p>
                <a:pPr lvl="0"/>
                <a:endParaRPr lang="en-US" sz="2400" i="1" dirty="0"/>
              </a:p>
              <a:p>
                <a:pPr marL="914400" indent="-512763"/>
                <a:r>
                  <a:rPr lang="en-US" sz="2400" dirty="0">
                    <a:latin typeface="Verdana" panose="020B0604030504040204" pitchFamily="34" charset="0"/>
                    <a:ea typeface="Verdana" panose="020B0604030504040204" pitchFamily="34" charset="0"/>
                    <a:cs typeface="Verdana" panose="020B0604030504040204" pitchFamily="34" charset="0"/>
                  </a:rPr>
                  <a:t>a.  </a:t>
                </a:r>
                <a14:m>
                  <m:oMath xmlns:m="http://schemas.openxmlformats.org/officeDocument/2006/math">
                    <m:sSup>
                      <m:sSupPr>
                        <m:ctrlPr>
                          <a:rPr lang="en-US" sz="2400" i="1">
                            <a:latin typeface="Cambria Math"/>
                            <a:ea typeface="Cambria Math" panose="02040503050406030204" pitchFamily="18" charset="0"/>
                          </a:rPr>
                        </m:ctrlPr>
                      </m:sSupPr>
                      <m:e>
                        <m:d>
                          <m:dPr>
                            <m:ctrlPr>
                              <a:rPr lang="en-US" sz="2400" i="1">
                                <a:latin typeface="Cambria Math"/>
                                <a:ea typeface="Cambria Math" panose="02040503050406030204" pitchFamily="18" charset="0"/>
                              </a:rPr>
                            </m:ctrlPr>
                          </m:dPr>
                          <m:e>
                            <m:f>
                              <m:fPr>
                                <m:ctrlPr>
                                  <a:rPr lang="en-US" sz="2400" i="1">
                                    <a:latin typeface="Cambria Math"/>
                                    <a:ea typeface="Cambria Math" panose="02040503050406030204" pitchFamily="18" charset="0"/>
                                  </a:rPr>
                                </m:ctrlPr>
                              </m:fPr>
                              <m:num>
                                <m:r>
                                  <a:rPr lang="en-US" sz="2400">
                                    <a:latin typeface="Cambria Math" panose="02040503050406030204" pitchFamily="18" charset="0"/>
                                    <a:ea typeface="Cambria Math" panose="02040503050406030204" pitchFamily="18" charset="0"/>
                                  </a:rPr>
                                  <m:t>2</m:t>
                                </m:r>
                              </m:num>
                              <m:den>
                                <m:r>
                                  <a:rPr lang="en-US" sz="2400">
                                    <a:latin typeface="Cambria Math" panose="02040503050406030204" pitchFamily="18" charset="0"/>
                                    <a:ea typeface="Cambria Math" panose="02040503050406030204" pitchFamily="18" charset="0"/>
                                  </a:rPr>
                                  <m:t>3</m:t>
                                </m:r>
                              </m:den>
                            </m:f>
                          </m:e>
                        </m:d>
                      </m:e>
                      <m:sup>
                        <m:r>
                          <a:rPr lang="en-US" sz="2400">
                            <a:latin typeface="Cambria Math" panose="02040503050406030204" pitchFamily="18" charset="0"/>
                            <a:ea typeface="Cambria Math" panose="02040503050406030204" pitchFamily="18" charset="0"/>
                          </a:rPr>
                          <m:t>3</m:t>
                        </m:r>
                      </m:sup>
                    </m:sSup>
                    <m:r>
                      <a:rPr lang="en-US" sz="2400">
                        <a:latin typeface="Cambria Math" panose="02040503050406030204" pitchFamily="18" charset="0"/>
                        <a:ea typeface="Cambria Math" panose="02040503050406030204" pitchFamily="18" charset="0"/>
                      </a:rPr>
                      <m:t>×54−</m:t>
                    </m:r>
                    <m:sSup>
                      <m:sSupPr>
                        <m:ctrlPr>
                          <a:rPr lang="en-US" sz="2400" i="1">
                            <a:latin typeface="Cambria Math"/>
                            <a:ea typeface="Cambria Math" panose="02040503050406030204" pitchFamily="18" charset="0"/>
                          </a:rPr>
                        </m:ctrlPr>
                      </m:sSupPr>
                      <m:e>
                        <m:r>
                          <a:rPr lang="en-US" sz="2400">
                            <a:latin typeface="Cambria Math" panose="02040503050406030204" pitchFamily="18" charset="0"/>
                            <a:ea typeface="Cambria Math" panose="02040503050406030204" pitchFamily="18" charset="0"/>
                          </a:rPr>
                          <m:t>4</m:t>
                        </m:r>
                      </m:e>
                      <m:sup>
                        <m:r>
                          <a:rPr lang="en-US" sz="2400">
                            <a:latin typeface="Cambria Math" panose="02040503050406030204" pitchFamily="18" charset="0"/>
                            <a:ea typeface="Cambria Math" panose="02040503050406030204" pitchFamily="18" charset="0"/>
                          </a:rPr>
                          <m:t>2</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512763"/>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512763"/>
                <a:r>
                  <a:rPr lang="en-US" sz="2400" dirty="0">
                    <a:latin typeface="Verdana" panose="020B0604030504040204" pitchFamily="34" charset="0"/>
                    <a:ea typeface="Verdana" panose="020B0604030504040204" pitchFamily="34" charset="0"/>
                    <a:cs typeface="Verdana" panose="020B0604030504040204" pitchFamily="34" charset="0"/>
                  </a:rPr>
                  <a:t/>
                </a:r>
                <a:br>
                  <a:rPr lang="en-US" sz="2400" dirty="0">
                    <a:latin typeface="Verdana" panose="020B0604030504040204" pitchFamily="34" charset="0"/>
                    <a:ea typeface="Verdana" panose="020B0604030504040204" pitchFamily="34" charset="0"/>
                    <a:cs typeface="Verdana" panose="020B0604030504040204" pitchFamily="34" charset="0"/>
                  </a:rPr>
                </a:b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512763"/>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512763"/>
                <a:r>
                  <a:rPr lang="en-US" sz="2400" dirty="0">
                    <a:latin typeface="Verdana" panose="020B0604030504040204" pitchFamily="34" charset="0"/>
                    <a:ea typeface="Verdana" panose="020B0604030504040204" pitchFamily="34" charset="0"/>
                    <a:cs typeface="Verdana" panose="020B0604030504040204" pitchFamily="34" charset="0"/>
                  </a:rPr>
                  <a:t>b.  </a:t>
                </a:r>
                <a14:m>
                  <m:oMath xmlns:m="http://schemas.openxmlformats.org/officeDocument/2006/math">
                    <m:r>
                      <a:rPr lang="en-US" sz="2400">
                        <a:latin typeface="Cambria Math" panose="02040503050406030204" pitchFamily="18" charset="0"/>
                        <a:ea typeface="Cambria Math" panose="02040503050406030204" pitchFamily="18" charset="0"/>
                      </a:rPr>
                      <m:t>19−</m:t>
                    </m:r>
                    <m:d>
                      <m:dPr>
                        <m:ctrlPr>
                          <a:rPr lang="en-US" sz="2400" i="1">
                            <a:latin typeface="Cambria Math"/>
                            <a:ea typeface="Cambria Math" panose="02040503050406030204" pitchFamily="18" charset="0"/>
                          </a:rPr>
                        </m:ctrlPr>
                      </m:dPr>
                      <m:e>
                        <m:r>
                          <a:rPr lang="en-US" sz="2400">
                            <a:latin typeface="Cambria Math" panose="02040503050406030204" pitchFamily="18" charset="0"/>
                            <a:ea typeface="Cambria Math" panose="02040503050406030204" pitchFamily="18" charset="0"/>
                          </a:rPr>
                          <m:t>5−</m:t>
                        </m:r>
                        <m:sSup>
                          <m:sSupPr>
                            <m:ctrlPr>
                              <a:rPr lang="en-US" sz="2400" i="1">
                                <a:latin typeface="Cambria Math"/>
                                <a:ea typeface="Cambria Math" panose="02040503050406030204" pitchFamily="18" charset="0"/>
                              </a:rPr>
                            </m:ctrlPr>
                          </m:sSupPr>
                          <m:e>
                            <m:r>
                              <a:rPr lang="en-US" sz="2400">
                                <a:latin typeface="Cambria Math" panose="02040503050406030204" pitchFamily="18" charset="0"/>
                                <a:ea typeface="Cambria Math" panose="02040503050406030204" pitchFamily="18" charset="0"/>
                              </a:rPr>
                              <m:t>4</m:t>
                            </m:r>
                          </m:e>
                          <m:sup>
                            <m:r>
                              <a:rPr lang="en-US" sz="2400">
                                <a:latin typeface="Cambria Math" panose="02040503050406030204" pitchFamily="18" charset="0"/>
                                <a:ea typeface="Cambria Math" panose="02040503050406030204" pitchFamily="18" charset="0"/>
                              </a:rPr>
                              <m:t>2</m:t>
                            </m:r>
                          </m:sup>
                        </m:sSup>
                      </m:e>
                    </m:d>
                    <m:r>
                      <a:rPr lang="en-US" sz="2400">
                        <a:latin typeface="Cambria Math" panose="02040503050406030204" pitchFamily="18" charset="0"/>
                        <a:ea typeface="Cambria Math" panose="02040503050406030204" pitchFamily="18" charset="0"/>
                      </a:rPr>
                      <m:t>+</m:t>
                    </m:r>
                    <m:f>
                      <m:fPr>
                        <m:ctrlPr>
                          <a:rPr lang="en-US" sz="2400" i="1">
                            <a:latin typeface="Cambria Math"/>
                            <a:ea typeface="Cambria Math" panose="02040503050406030204" pitchFamily="18" charset="0"/>
                          </a:rPr>
                        </m:ctrlPr>
                      </m:fPr>
                      <m:num>
                        <m:sSup>
                          <m:sSupPr>
                            <m:ctrlPr>
                              <a:rPr lang="en-US" sz="2400" i="1">
                                <a:latin typeface="Cambria Math"/>
                                <a:ea typeface="Cambria Math" panose="02040503050406030204" pitchFamily="18" charset="0"/>
                              </a:rPr>
                            </m:ctrlPr>
                          </m:sSupPr>
                          <m:e>
                            <m:r>
                              <a:rPr lang="en-US" sz="2400">
                                <a:latin typeface="Cambria Math" panose="02040503050406030204" pitchFamily="18" charset="0"/>
                                <a:ea typeface="Cambria Math" panose="02040503050406030204" pitchFamily="18" charset="0"/>
                              </a:rPr>
                              <m:t>3</m:t>
                            </m:r>
                          </m:e>
                          <m:sup>
                            <m:r>
                              <a:rPr lang="en-US" sz="2400">
                                <a:latin typeface="Cambria Math" panose="02040503050406030204" pitchFamily="18" charset="0"/>
                                <a:ea typeface="Cambria Math" panose="02040503050406030204" pitchFamily="18" charset="0"/>
                              </a:rPr>
                              <m:t>2</m:t>
                            </m:r>
                          </m:sup>
                        </m:sSup>
                      </m:num>
                      <m:den>
                        <m:r>
                          <a:rPr lang="en-US" sz="2400">
                            <a:latin typeface="Cambria Math" panose="02040503050406030204" pitchFamily="18" charset="0"/>
                            <a:ea typeface="Cambria Math" panose="02040503050406030204" pitchFamily="18" charset="0"/>
                          </a:rPr>
                          <m:t>6</m:t>
                        </m:r>
                      </m:den>
                    </m:f>
                  </m:oMath>
                </a14:m>
                <a:endParaRPr lang="en-US" sz="2400" dirty="0">
                  <a:latin typeface="Cambria Math" panose="02040503050406030204" pitchFamily="18" charset="0"/>
                  <a:ea typeface="Cambria Math" panose="02040503050406030204" pitchFamily="18" charset="0"/>
                  <a:cs typeface="Verdana" panose="020B0604030504040204" pitchFamily="34" charset="0"/>
                </a:endParaRPr>
              </a:p>
            </p:txBody>
          </p:sp>
        </mc:Choice>
        <mc:Fallback>
          <p:sp>
            <p:nvSpPr>
              <p:cNvPr id="5" name="TextBox 4">
                <a:extLst>
                  <a:ext uri="{FF2B5EF4-FFF2-40B4-BE49-F238E27FC236}">
                    <a16:creationId xmlns:a16="http://schemas.microsoft.com/office/drawing/2014/main" xmlns:a14="http://schemas.microsoft.com/office/drawing/2010/main" xmlns="" id="{B6C08EE3-8247-C14E-9600-35165D5C8679}"/>
                  </a:ext>
                </a:extLst>
              </p:cNvPr>
              <p:cNvSpPr txBox="1">
                <a:spLocks noRot="1" noChangeAspect="1" noMove="1" noResize="1" noEditPoints="1" noAdjustHandles="1" noChangeArrowheads="1" noChangeShapeType="1" noTextEdit="1"/>
              </p:cNvSpPr>
              <p:nvPr/>
            </p:nvSpPr>
            <p:spPr>
              <a:xfrm>
                <a:off x="536330" y="376089"/>
                <a:ext cx="10515600" cy="3510385"/>
              </a:xfrm>
              <a:prstGeom prst="rect">
                <a:avLst/>
              </a:prstGeom>
              <a:blipFill rotWithShape="1">
                <a:blip r:embed="rId4"/>
                <a:stretch>
                  <a:fillRect l="-928" t="-1389" b="-347"/>
                </a:stretch>
              </a:blipFill>
            </p:spPr>
            <p:txBody>
              <a:bodyPr/>
              <a:lstStyle/>
              <a:p>
                <a:r>
                  <a:rPr lang="en-PH">
                    <a:noFill/>
                  </a:rPr>
                  <a:t> </a:t>
                </a:r>
              </a:p>
            </p:txBody>
          </p:sp>
        </mc:Fallback>
      </mc:AlternateContent>
      <p:sp>
        <p:nvSpPr>
          <p:cNvPr id="6" name="Google Shape;278;g104476d1465_1_17">
            <a:extLst>
              <a:ext uri="{FF2B5EF4-FFF2-40B4-BE49-F238E27FC236}">
                <a16:creationId xmlns:a16="http://schemas.microsoft.com/office/drawing/2014/main" xmlns="" id="{FA8216EE-488F-0B46-A674-98E7CEF16917}"/>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a:t>
            </a:r>
            <a:endParaRPr i="1" dirty="0">
              <a:latin typeface="Calibri"/>
              <a:ea typeface="Calibri"/>
              <a:cs typeface="Calibri"/>
              <a:sym typeface="Calibri"/>
            </a:endParaRPr>
          </a:p>
        </p:txBody>
      </p:sp>
    </p:spTree>
    <p:extLst>
      <p:ext uri="{BB962C8B-B14F-4D97-AF65-F5344CB8AC3E}">
        <p14:creationId xmlns:p14="http://schemas.microsoft.com/office/powerpoint/2010/main" val="3466418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5122" name="Picture 2" descr="Icon&#10;&#10;Description automatically generated">
            <a:extLst>
              <a:ext uri="{FF2B5EF4-FFF2-40B4-BE49-F238E27FC236}">
                <a16:creationId xmlns:a16="http://schemas.microsoft.com/office/drawing/2014/main" xmlns="" id="{217F3A92-AA2C-4D41-A73D-4DC6608D682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a:t>
            </a:r>
            <a:endParaRPr i="1" dirty="0">
              <a:latin typeface="Calibri"/>
              <a:ea typeface="Calibri"/>
              <a:cs typeface="Calibri"/>
              <a:sym typeface="Calibri"/>
            </a:endParaRPr>
          </a:p>
        </p:txBody>
      </p:sp>
    </p:spTree>
    <p:extLst>
      <p:ext uri="{BB962C8B-B14F-4D97-AF65-F5344CB8AC3E}">
        <p14:creationId xmlns:p14="http://schemas.microsoft.com/office/powerpoint/2010/main" val="9968603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60584"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1.5.5 Activity: Class Debate</a:t>
            </a:r>
          </a:p>
        </p:txBody>
      </p:sp>
      <p:pic>
        <p:nvPicPr>
          <p:cNvPr id="9" name="Picture 2" descr="Icon&#10;&#10;Description automatically generated">
            <a:extLst>
              <a:ext uri="{FF2B5EF4-FFF2-40B4-BE49-F238E27FC236}">
                <a16:creationId xmlns:a16="http://schemas.microsoft.com/office/drawing/2014/main" xmlns="" id="{37999C4E-6AE0-FA43-BC73-665C08EC572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xmlns="" id="{A3547ABD-563B-A148-B65C-C7679A7B43D4}"/>
                  </a:ext>
                </a:extLst>
              </p:cNvPr>
              <p:cNvSpPr txBox="1"/>
              <p:nvPr/>
            </p:nvSpPr>
            <p:spPr>
              <a:xfrm>
                <a:off x="545123" y="1456364"/>
                <a:ext cx="10515600"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Aron wants to choose an expression that has a value of </a:t>
                </a:r>
                <a14:m>
                  <m:oMath xmlns:m="http://schemas.openxmlformats.org/officeDocument/2006/math">
                    <m:r>
                      <a:rPr lang="en-US" sz="2400" i="1">
                        <a:latin typeface="Cambria Math" panose="02040503050406030204" pitchFamily="18" charset="0"/>
                        <a:ea typeface="Cambria Math" panose="02040503050406030204" pitchFamily="18" charset="0"/>
                      </a:rPr>
                      <m:t>1,093</m:t>
                    </m:r>
                  </m:oMath>
                </a14:m>
                <a:r>
                  <a:rPr lang="en-US" sz="2400" dirty="0">
                    <a:latin typeface="Verdana" panose="020B0604030504040204" pitchFamily="34" charset="0"/>
                    <a:ea typeface="Verdana" panose="020B0604030504040204" pitchFamily="34" charset="0"/>
                    <a:cs typeface="Verdana" panose="020B0604030504040204" pitchFamily="34" charset="0"/>
                  </a:rPr>
                  <a:t>. He can choose between the expressions shown.</a:t>
                </a:r>
              </a:p>
            </p:txBody>
          </p:sp>
        </mc:Choice>
        <mc:Fallback>
          <p:sp>
            <p:nvSpPr>
              <p:cNvPr id="10" name="TextBox 9">
                <a:extLst>
                  <a:ext uri="{FF2B5EF4-FFF2-40B4-BE49-F238E27FC236}">
                    <a16:creationId xmlns:a16="http://schemas.microsoft.com/office/drawing/2014/main" xmlns:a14="http://schemas.microsoft.com/office/drawing/2010/main" xmlns="" id="{A3547ABD-563B-A148-B65C-C7679A7B43D4}"/>
                  </a:ext>
                </a:extLst>
              </p:cNvPr>
              <p:cNvSpPr txBox="1">
                <a:spLocks noRot="1" noChangeAspect="1" noMove="1" noResize="1" noEditPoints="1" noAdjustHandles="1" noChangeArrowheads="1" noChangeShapeType="1" noTextEdit="1"/>
              </p:cNvSpPr>
              <p:nvPr/>
            </p:nvSpPr>
            <p:spPr>
              <a:xfrm>
                <a:off x="545123" y="1456364"/>
                <a:ext cx="10515600" cy="1200329"/>
              </a:xfrm>
              <a:prstGeom prst="rect">
                <a:avLst/>
              </a:prstGeom>
              <a:blipFill rotWithShape="1">
                <a:blip r:embed="rId5"/>
                <a:stretch>
                  <a:fillRect l="-870" t="-4569"/>
                </a:stretch>
              </a:blipFill>
            </p:spPr>
            <p:txBody>
              <a:bodyPr/>
              <a:lstStyle/>
              <a:p>
                <a:r>
                  <a:rPr lang="en-PH">
                    <a:noFill/>
                  </a:rPr>
                  <a:t> </a:t>
                </a:r>
              </a:p>
            </p:txBody>
          </p:sp>
        </mc:Fallback>
      </mc:AlternateContent>
      <p:sp>
        <p:nvSpPr>
          <p:cNvPr id="11" name="Google Shape;278;g104476d1465_1_17">
            <a:extLst>
              <a:ext uri="{FF2B5EF4-FFF2-40B4-BE49-F238E27FC236}">
                <a16:creationId xmlns:a16="http://schemas.microsoft.com/office/drawing/2014/main" xmlns="" id="{32274384-6D96-984A-8A32-66A86393A00D}"/>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2100118484"/>
                  </p:ext>
                </p:extLst>
              </p:nvPr>
            </p:nvGraphicFramePr>
            <p:xfrm>
              <a:off x="2852898" y="2491662"/>
              <a:ext cx="6037580" cy="1882775"/>
            </p:xfrm>
            <a:graphic>
              <a:graphicData uri="http://schemas.openxmlformats.org/drawingml/2006/table">
                <a:tbl>
                  <a:tblPr firstRow="1" firstCol="1" bandRow="1">
                    <a:tableStyleId>{5940675A-B579-460E-94D1-54222C63F5DA}</a:tableStyleId>
                  </a:tblPr>
                  <a:tblGrid>
                    <a:gridCol w="3018790">
                      <a:extLst>
                        <a:ext uri="{9D8B030D-6E8A-4147-A177-3AD203B41FA5}">
                          <a16:colId xmlns:a16="http://schemas.microsoft.com/office/drawing/2014/main" xmlns="" val="20000"/>
                        </a:ext>
                      </a:extLst>
                    </a:gridCol>
                    <a:gridCol w="3018790">
                      <a:extLst>
                        <a:ext uri="{9D8B030D-6E8A-4147-A177-3AD203B41FA5}">
                          <a16:colId xmlns:a16="http://schemas.microsoft.com/office/drawing/2014/main" xmlns="" val="20001"/>
                        </a:ext>
                      </a:extLst>
                    </a:gridCol>
                  </a:tblGrid>
                  <a:tr h="95123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 A</a:t>
                          </a: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a:ea typeface="Cambria Math" panose="02040503050406030204" pitchFamily="18" charset="0"/>
                                      </a:rPr>
                                    </m:ctrlPr>
                                  </m:sSupPr>
                                  <m:e>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(−3)</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+4∙(6</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+11)−7</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 B</a:t>
                          </a: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a:ea typeface="Cambria Math" panose="02040503050406030204" pitchFamily="18" charset="0"/>
                                      </a:rPr>
                                    </m:ctrlPr>
                                  </m:sSupPr>
                                  <m:e>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(−3)</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+4∙6</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+(11−7)</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r h="93154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 C</a:t>
                          </a: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a:ea typeface="Cambria Math" panose="02040503050406030204" pitchFamily="18" charset="0"/>
                                      </a:rPr>
                                    </m:ctrlPr>
                                  </m:sSupPr>
                                  <m:e>
                                    <m:d>
                                      <m:dPr>
                                        <m:begChr m:val="["/>
                                        <m:endChr m:val="]"/>
                                        <m:ctrlPr>
                                          <a:rPr lang="en-US" sz="2000" i="1">
                                            <a:effectLst/>
                                            <a:latin typeface="Cambria Math"/>
                                            <a:ea typeface="Cambria Math" panose="02040503050406030204" pitchFamily="18" charset="0"/>
                                          </a:rPr>
                                        </m:ctrlPr>
                                      </m:dPr>
                                      <m:e>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(−3)</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+4∙6</m:t>
                                        </m:r>
                                      </m:e>
                                    </m:d>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+11−7</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 D</a:t>
                          </a: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m:t>
                                    </m:r>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−3</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+4∙6)</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+(11−7)</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2100118484"/>
                  </p:ext>
                </p:extLst>
              </p:nvPr>
            </p:nvGraphicFramePr>
            <p:xfrm>
              <a:off x="2852898" y="2491662"/>
              <a:ext cx="6037580" cy="1882775"/>
            </p:xfrm>
            <a:graphic>
              <a:graphicData uri="http://schemas.openxmlformats.org/drawingml/2006/table">
                <a:tbl>
                  <a:tblPr firstRow="1" firstCol="1" bandRow="1">
                    <a:tableStyleId>{5940675A-B579-460E-94D1-54222C63F5DA}</a:tableStyleId>
                  </a:tblPr>
                  <a:tblGrid>
                    <a:gridCol w="3018790">
                      <a:extLst>
                        <a:ext uri="{9D8B030D-6E8A-4147-A177-3AD203B41FA5}">
                          <a16:colId xmlns:a16="http://schemas.microsoft.com/office/drawing/2014/main" xmlns:a14="http://schemas.microsoft.com/office/drawing/2010/main" xmlns="" val="20000"/>
                        </a:ext>
                      </a:extLst>
                    </a:gridCol>
                    <a:gridCol w="3018790">
                      <a:extLst>
                        <a:ext uri="{9D8B030D-6E8A-4147-A177-3AD203B41FA5}">
                          <a16:colId xmlns:a16="http://schemas.microsoft.com/office/drawing/2014/main" xmlns:a14="http://schemas.microsoft.com/office/drawing/2010/main" xmlns="" val="20001"/>
                        </a:ext>
                      </a:extLst>
                    </a:gridCol>
                  </a:tblGrid>
                  <a:tr h="95123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202" t="-641" r="-100202" b="-98077"/>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100202" t="-641" r="-202" b="-98077"/>
                          </a:stretch>
                        </a:blipFill>
                      </a:tcPr>
                    </a:tc>
                    <a:extLst>
                      <a:ext uri="{0D108BD9-81ED-4DB2-BD59-A6C34878D82A}">
                        <a16:rowId xmlns:a16="http://schemas.microsoft.com/office/drawing/2014/main" xmlns:a14="http://schemas.microsoft.com/office/drawing/2010/main" xmlns="" val="10000"/>
                      </a:ext>
                    </a:extLst>
                  </a:tr>
                  <a:tr h="93154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202" t="-102614" r="-100202"/>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100202" t="-102614" r="-202"/>
                          </a:stretch>
                        </a:blipFill>
                      </a:tcPr>
                    </a:tc>
                    <a:extLst>
                      <a:ext uri="{0D108BD9-81ED-4DB2-BD59-A6C34878D82A}">
                        <a16:rowId xmlns:a16="http://schemas.microsoft.com/office/drawing/2014/main" xmlns:a14="http://schemas.microsoft.com/office/drawing/2010/main" xmlns="" val="10001"/>
                      </a:ext>
                    </a:extLst>
                  </a:tr>
                </a:tbl>
              </a:graphicData>
            </a:graphic>
          </p:graphicFrame>
        </mc:Fallback>
      </mc:AlternateContent>
      <p:sp>
        <p:nvSpPr>
          <p:cNvPr id="1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a:t>
            </a:r>
            <a:endParaRPr i="1" dirty="0">
              <a:latin typeface="Calibri"/>
              <a:ea typeface="Calibri"/>
              <a:cs typeface="Calibri"/>
              <a:sym typeface="Calibri"/>
            </a:endParaRPr>
          </a:p>
        </p:txBody>
      </p:sp>
    </p:spTree>
    <p:extLst>
      <p:ext uri="{BB962C8B-B14F-4D97-AF65-F5344CB8AC3E}">
        <p14:creationId xmlns:p14="http://schemas.microsoft.com/office/powerpoint/2010/main" val="17047944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xmlns="" id="{B6C08EE3-8247-C14E-9600-35165D5C8679}"/>
              </a:ext>
            </a:extLst>
          </p:cNvPr>
          <p:cNvSpPr txBox="1"/>
          <p:nvPr/>
        </p:nvSpPr>
        <p:spPr>
          <a:xfrm>
            <a:off x="536330" y="376088"/>
            <a:ext cx="10515600" cy="461665"/>
          </a:xfrm>
          <a:prstGeom prst="rect">
            <a:avLst/>
          </a:prstGeom>
          <a:noFill/>
        </p:spPr>
        <p:txBody>
          <a:bodyPr wrap="square" rtlCol="0">
            <a:spAutoFit/>
          </a:bodyPr>
          <a:lstStyle/>
          <a:p>
            <a:pPr marL="896938"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Evaluate each expression. Record your answers in the table.</a:t>
            </a:r>
          </a:p>
        </p:txBody>
      </p:sp>
      <p:sp>
        <p:nvSpPr>
          <p:cNvPr id="6" name="Google Shape;278;g104476d1465_1_17">
            <a:extLst>
              <a:ext uri="{FF2B5EF4-FFF2-40B4-BE49-F238E27FC236}">
                <a16:creationId xmlns:a16="http://schemas.microsoft.com/office/drawing/2014/main" xmlns="" id="{FA8216EE-488F-0B46-A674-98E7CEF16917}"/>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793565300"/>
                  </p:ext>
                </p:extLst>
              </p:nvPr>
            </p:nvGraphicFramePr>
            <p:xfrm>
              <a:off x="1544700" y="981348"/>
              <a:ext cx="8100000" cy="4385049"/>
            </p:xfrm>
            <a:graphic>
              <a:graphicData uri="http://schemas.openxmlformats.org/drawingml/2006/table">
                <a:tbl>
                  <a:tblPr firstRow="1" firstCol="1" bandRow="1">
                    <a:tableStyleId>{5940675A-B579-460E-94D1-54222C63F5DA}</a:tableStyleId>
                  </a:tblPr>
                  <a:tblGrid>
                    <a:gridCol w="3060000">
                      <a:extLst>
                        <a:ext uri="{9D8B030D-6E8A-4147-A177-3AD203B41FA5}">
                          <a16:colId xmlns:a16="http://schemas.microsoft.com/office/drawing/2014/main" xmlns="" val="20000"/>
                        </a:ext>
                      </a:extLst>
                    </a:gridCol>
                    <a:gridCol w="2520000">
                      <a:extLst>
                        <a:ext uri="{9D8B030D-6E8A-4147-A177-3AD203B41FA5}">
                          <a16:colId xmlns:a16="http://schemas.microsoft.com/office/drawing/2014/main" xmlns="" val="20001"/>
                        </a:ext>
                      </a:extLst>
                    </a:gridCol>
                    <a:gridCol w="2520000">
                      <a:extLst>
                        <a:ext uri="{9D8B030D-6E8A-4147-A177-3AD203B41FA5}">
                          <a16:colId xmlns:a16="http://schemas.microsoft.com/office/drawing/2014/main" xmlns="" val="20002"/>
                        </a:ext>
                      </a:extLst>
                    </a:gridCol>
                  </a:tblGrid>
                  <a:tr h="42504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marL="53131" marR="53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Work</a:t>
                          </a:r>
                        </a:p>
                      </a:txBody>
                      <a:tcPr marL="53131" marR="53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Answer</a:t>
                          </a:r>
                        </a:p>
                      </a:txBody>
                      <a:tcPr marL="53131" marR="53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1980000">
                    <a:tc>
                      <a:txBody>
                        <a:bodyPr/>
                        <a:lstStyle/>
                        <a:p>
                          <a:pPr marL="0" marR="0" algn="ctr">
                            <a:spcBef>
                              <a:spcPts val="0"/>
                            </a:spcBef>
                            <a:spcAft>
                              <a:spcPts val="0"/>
                            </a:spcAft>
                          </a:pPr>
                          <a:r>
                            <a:rPr lang="en-US" sz="2000" dirty="0">
                              <a:effectLst/>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Expression A</a:t>
                          </a: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a:ea typeface="Cambria Math" panose="02040503050406030204" pitchFamily="18" charset="0"/>
                                      </a:rPr>
                                    </m:ctrlPr>
                                  </m:sSupPr>
                                  <m:e>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(−3)</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+4∙(6</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+11)−7</m:t>
                                </m:r>
                              </m:oMath>
                            </m:oMathPara>
                          </a14:m>
                          <a:endParaRPr lang="en-US" sz="2000" dirty="0">
                            <a:effectLst/>
                            <a:latin typeface="Cambria Math" panose="02040503050406030204" pitchFamily="18" charset="0"/>
                            <a:ea typeface="Cambria Math" panose="02040503050406030204" pitchFamily="18" charset="0"/>
                          </a:endParaRPr>
                        </a:p>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3131" marR="53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3131" marR="53131"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3131" marR="53131"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1980000">
                    <a:tc>
                      <a:txBody>
                        <a:bodyPr/>
                        <a:lstStyle/>
                        <a:p>
                          <a:pPr marL="0" marR="0" algn="ctr">
                            <a:spcBef>
                              <a:spcPts val="0"/>
                            </a:spcBef>
                            <a:spcAft>
                              <a:spcPts val="0"/>
                            </a:spcAft>
                          </a:pPr>
                          <a:r>
                            <a:rPr lang="en-US" sz="2000" dirty="0">
                              <a:effectLst/>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Expression B</a:t>
                          </a: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a:ea typeface="Cambria Math" panose="02040503050406030204" pitchFamily="18" charset="0"/>
                                      </a:rPr>
                                    </m:ctrlPr>
                                  </m:sSupPr>
                                  <m:e>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(−3)</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+4∙6</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+(11−7)</m:t>
                                </m:r>
                              </m:oMath>
                            </m:oMathPara>
                          </a14:m>
                          <a:endParaRPr lang="en-US" sz="2000" dirty="0">
                            <a:effectLst/>
                            <a:latin typeface="Cambria Math" panose="02040503050406030204" pitchFamily="18" charset="0"/>
                            <a:ea typeface="Cambria Math" panose="02040503050406030204" pitchFamily="18" charset="0"/>
                          </a:endParaRPr>
                        </a:p>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3131" marR="53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3131" marR="53131"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3131" marR="53131"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793565300"/>
                  </p:ext>
                </p:extLst>
              </p:nvPr>
            </p:nvGraphicFramePr>
            <p:xfrm>
              <a:off x="1544700" y="981348"/>
              <a:ext cx="8100000" cy="4385049"/>
            </p:xfrm>
            <a:graphic>
              <a:graphicData uri="http://schemas.openxmlformats.org/drawingml/2006/table">
                <a:tbl>
                  <a:tblPr firstRow="1" firstCol="1" bandRow="1">
                    <a:tableStyleId>{5940675A-B579-460E-94D1-54222C63F5DA}</a:tableStyleId>
                  </a:tblPr>
                  <a:tblGrid>
                    <a:gridCol w="3060000">
                      <a:extLst>
                        <a:ext uri="{9D8B030D-6E8A-4147-A177-3AD203B41FA5}">
                          <a16:colId xmlns:a16="http://schemas.microsoft.com/office/drawing/2014/main" xmlns:a14="http://schemas.microsoft.com/office/drawing/2010/main" xmlns="" val="20000"/>
                        </a:ext>
                      </a:extLst>
                    </a:gridCol>
                    <a:gridCol w="2520000">
                      <a:extLst>
                        <a:ext uri="{9D8B030D-6E8A-4147-A177-3AD203B41FA5}">
                          <a16:colId xmlns:a16="http://schemas.microsoft.com/office/drawing/2014/main" xmlns:a14="http://schemas.microsoft.com/office/drawing/2010/main" xmlns="" val="20001"/>
                        </a:ext>
                      </a:extLst>
                    </a:gridCol>
                    <a:gridCol w="2520000">
                      <a:extLst>
                        <a:ext uri="{9D8B030D-6E8A-4147-A177-3AD203B41FA5}">
                          <a16:colId xmlns:a16="http://schemas.microsoft.com/office/drawing/2014/main" xmlns:a14="http://schemas.microsoft.com/office/drawing/2010/main" xmlns="" val="20002"/>
                        </a:ext>
                      </a:extLst>
                    </a:gridCol>
                  </a:tblGrid>
                  <a:tr h="42504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marL="53131" marR="53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Work</a:t>
                          </a:r>
                        </a:p>
                      </a:txBody>
                      <a:tcPr marL="53131" marR="53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Answer</a:t>
                          </a:r>
                        </a:p>
                      </a:txBody>
                      <a:tcPr marL="53131" marR="53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1980000">
                    <a:tc>
                      <a:txBody>
                        <a:bodyPr/>
                        <a:lstStyle/>
                        <a:p>
                          <a:endParaRPr lang="en-US"/>
                        </a:p>
                      </a:txBody>
                      <a:tcPr marL="53131" marR="53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22531" r="-164940" b="-100617"/>
                          </a:stretch>
                        </a:blipFill>
                      </a:tcPr>
                    </a:tc>
                    <a:tc>
                      <a:txBody>
                        <a:bodyPr/>
                        <a:lstStyle/>
                        <a:p>
                          <a:pPr marL="0" marR="0">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3131" marR="53131"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3131" marR="53131"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1980000">
                    <a:tc>
                      <a:txBody>
                        <a:bodyPr/>
                        <a:lstStyle/>
                        <a:p>
                          <a:endParaRPr lang="en-US"/>
                        </a:p>
                      </a:txBody>
                      <a:tcPr marL="53131" marR="53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22154" r="-164940" b="-308"/>
                          </a:stretch>
                        </a:blipFill>
                      </a:tcPr>
                    </a:tc>
                    <a:tc>
                      <a:txBody>
                        <a:bodyPr/>
                        <a:lstStyle/>
                        <a:p>
                          <a:pPr marL="0" marR="0">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3131" marR="53131"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3131" marR="53131"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bl>
              </a:graphicData>
            </a:graphic>
          </p:graphicFrame>
        </mc:Fallback>
      </mc:AlternateContent>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29</a:t>
            </a:r>
            <a:endParaRPr i="1" dirty="0">
              <a:latin typeface="Calibri"/>
              <a:ea typeface="Calibri"/>
              <a:cs typeface="Calibri"/>
              <a:sym typeface="Calibri"/>
            </a:endParaRPr>
          </a:p>
        </p:txBody>
      </p:sp>
    </p:spTree>
    <p:extLst>
      <p:ext uri="{BB962C8B-B14F-4D97-AF65-F5344CB8AC3E}">
        <p14:creationId xmlns:p14="http://schemas.microsoft.com/office/powerpoint/2010/main" val="4058707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278;g104476d1465_1_17">
            <a:extLst>
              <a:ext uri="{FF2B5EF4-FFF2-40B4-BE49-F238E27FC236}">
                <a16:creationId xmlns:a16="http://schemas.microsoft.com/office/drawing/2014/main" xmlns="" id="{FA8216EE-488F-0B46-A674-98E7CEF16917}"/>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3" name="Rectangle 2"/>
          <p:cNvSpPr/>
          <p:nvPr/>
        </p:nvSpPr>
        <p:spPr>
          <a:xfrm>
            <a:off x="536329" y="5053127"/>
            <a:ext cx="10515600" cy="400110"/>
          </a:xfrm>
          <a:prstGeom prst="rect">
            <a:avLst/>
          </a:prstGeom>
        </p:spPr>
        <p:txBody>
          <a:bodyPr wrap="square">
            <a:spAutoFit/>
          </a:bodyPr>
          <a:lstStyle/>
          <a:p>
            <a:pPr marL="896938"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Which expression should Aron choose? _________</a:t>
            </a:r>
            <a:endParaRPr lang="en-US" sz="2000" dirty="0"/>
          </a:p>
        </p:txBody>
      </p:sp>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7" name="Table 6"/>
              <p:cNvGraphicFramePr>
                <a:graphicFrameLocks noGrp="1"/>
              </p:cNvGraphicFramePr>
              <p:nvPr>
                <p:extLst>
                  <p:ext uri="{D42A27DB-BD31-4B8C-83A1-F6EECF244321}">
                    <p14:modId xmlns:p14="http://schemas.microsoft.com/office/powerpoint/2010/main" val="2580544347"/>
                  </p:ext>
                </p:extLst>
              </p:nvPr>
            </p:nvGraphicFramePr>
            <p:xfrm>
              <a:off x="1540968" y="366675"/>
              <a:ext cx="8100000" cy="4385049"/>
            </p:xfrm>
            <a:graphic>
              <a:graphicData uri="http://schemas.openxmlformats.org/drawingml/2006/table">
                <a:tbl>
                  <a:tblPr firstRow="1" firstCol="1" bandRow="1">
                    <a:tableStyleId>{5940675A-B579-460E-94D1-54222C63F5DA}</a:tableStyleId>
                  </a:tblPr>
                  <a:tblGrid>
                    <a:gridCol w="3060000">
                      <a:extLst>
                        <a:ext uri="{9D8B030D-6E8A-4147-A177-3AD203B41FA5}">
                          <a16:colId xmlns:a16="http://schemas.microsoft.com/office/drawing/2014/main" xmlns="" val="20000"/>
                        </a:ext>
                      </a:extLst>
                    </a:gridCol>
                    <a:gridCol w="2520000">
                      <a:extLst>
                        <a:ext uri="{9D8B030D-6E8A-4147-A177-3AD203B41FA5}">
                          <a16:colId xmlns:a16="http://schemas.microsoft.com/office/drawing/2014/main" xmlns="" val="20001"/>
                        </a:ext>
                      </a:extLst>
                    </a:gridCol>
                    <a:gridCol w="2520000">
                      <a:extLst>
                        <a:ext uri="{9D8B030D-6E8A-4147-A177-3AD203B41FA5}">
                          <a16:colId xmlns:a16="http://schemas.microsoft.com/office/drawing/2014/main" xmlns="" val="20002"/>
                        </a:ext>
                      </a:extLst>
                    </a:gridCol>
                  </a:tblGrid>
                  <a:tr h="42504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marL="53131" marR="53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Work</a:t>
                          </a:r>
                        </a:p>
                      </a:txBody>
                      <a:tcPr marL="53131" marR="53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Answer</a:t>
                          </a:r>
                        </a:p>
                      </a:txBody>
                      <a:tcPr marL="53131" marR="53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198000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Expression C</a:t>
                          </a: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a:ea typeface="Cambria Math" panose="02040503050406030204" pitchFamily="18" charset="0"/>
                                      </a:rPr>
                                    </m:ctrlPr>
                                  </m:sSupPr>
                                  <m:e>
                                    <m:d>
                                      <m:dPr>
                                        <m:begChr m:val="["/>
                                        <m:endChr m:val="]"/>
                                        <m:ctrlPr>
                                          <a:rPr lang="en-US" sz="2000" i="1">
                                            <a:effectLst/>
                                            <a:latin typeface="Cambria Math"/>
                                            <a:ea typeface="Cambria Math" panose="02040503050406030204" pitchFamily="18" charset="0"/>
                                          </a:rPr>
                                        </m:ctrlPr>
                                      </m:dPr>
                                      <m:e>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(−3)</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+4∙6</m:t>
                                        </m:r>
                                      </m:e>
                                    </m:d>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+11−7</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53131" marR="53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53131" marR="53131"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53131" marR="53131"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198000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Expression D</a:t>
                          </a: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m:t>
                                    </m:r>
                                    <m:sSup>
                                      <m:sSupPr>
                                        <m:ctrlPr>
                                          <a:rPr lang="en-US" sz="2000" i="1">
                                            <a:effectLst/>
                                            <a:latin typeface="Cambria Math"/>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−3</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+4∙6)</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+(11−7)</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53131" marR="53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53131" marR="53131"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53131" marR="53131"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mc:Choice>
        <mc:Fallback>
          <p:graphicFrame>
            <p:nvGraphicFramePr>
              <p:cNvPr id="7" name="Table 6"/>
              <p:cNvGraphicFramePr>
                <a:graphicFrameLocks noGrp="1"/>
              </p:cNvGraphicFramePr>
              <p:nvPr>
                <p:extLst>
                  <p:ext uri="{D42A27DB-BD31-4B8C-83A1-F6EECF244321}">
                    <p14:modId xmlns:p14="http://schemas.microsoft.com/office/powerpoint/2010/main" val="2580544347"/>
                  </p:ext>
                </p:extLst>
              </p:nvPr>
            </p:nvGraphicFramePr>
            <p:xfrm>
              <a:off x="1540968" y="366675"/>
              <a:ext cx="8100000" cy="4385049"/>
            </p:xfrm>
            <a:graphic>
              <a:graphicData uri="http://schemas.openxmlformats.org/drawingml/2006/table">
                <a:tbl>
                  <a:tblPr firstRow="1" firstCol="1" bandRow="1">
                    <a:tableStyleId>{5940675A-B579-460E-94D1-54222C63F5DA}</a:tableStyleId>
                  </a:tblPr>
                  <a:tblGrid>
                    <a:gridCol w="3060000">
                      <a:extLst>
                        <a:ext uri="{9D8B030D-6E8A-4147-A177-3AD203B41FA5}">
                          <a16:colId xmlns:a16="http://schemas.microsoft.com/office/drawing/2014/main" xmlns:a14="http://schemas.microsoft.com/office/drawing/2010/main" xmlns="" val="20000"/>
                        </a:ext>
                      </a:extLst>
                    </a:gridCol>
                    <a:gridCol w="2520000">
                      <a:extLst>
                        <a:ext uri="{9D8B030D-6E8A-4147-A177-3AD203B41FA5}">
                          <a16:colId xmlns:a16="http://schemas.microsoft.com/office/drawing/2014/main" xmlns:a14="http://schemas.microsoft.com/office/drawing/2010/main" xmlns="" val="20001"/>
                        </a:ext>
                      </a:extLst>
                    </a:gridCol>
                    <a:gridCol w="2520000">
                      <a:extLst>
                        <a:ext uri="{9D8B030D-6E8A-4147-A177-3AD203B41FA5}">
                          <a16:colId xmlns:a16="http://schemas.microsoft.com/office/drawing/2014/main" xmlns:a14="http://schemas.microsoft.com/office/drawing/2010/main" xmlns="" val="20002"/>
                        </a:ext>
                      </a:extLst>
                    </a:gridCol>
                  </a:tblGrid>
                  <a:tr h="42504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marL="53131" marR="53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Work</a:t>
                          </a:r>
                        </a:p>
                      </a:txBody>
                      <a:tcPr marL="53131" marR="53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Answer</a:t>
                          </a:r>
                        </a:p>
                      </a:txBody>
                      <a:tcPr marL="53131" marR="53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1980000">
                    <a:tc>
                      <a:txBody>
                        <a:bodyPr/>
                        <a:lstStyle/>
                        <a:p>
                          <a:endParaRPr lang="en-US"/>
                        </a:p>
                      </a:txBody>
                      <a:tcPr marL="53131" marR="53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99" t="-22222" r="-164741" b="-100617"/>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53131" marR="53131"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53131" marR="53131"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1980000">
                    <a:tc>
                      <a:txBody>
                        <a:bodyPr/>
                        <a:lstStyle/>
                        <a:p>
                          <a:endParaRPr lang="en-US"/>
                        </a:p>
                      </a:txBody>
                      <a:tcPr marL="53131" marR="5313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99" t="-121846" r="-164741" b="-308"/>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53131" marR="53131"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53131" marR="53131"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bl>
              </a:graphicData>
            </a:graphic>
          </p:graphicFrame>
        </mc:Fallback>
      </mc:AlternateContent>
    </p:spTree>
    <p:extLst>
      <p:ext uri="{BB962C8B-B14F-4D97-AF65-F5344CB8AC3E}">
        <p14:creationId xmlns:p14="http://schemas.microsoft.com/office/powerpoint/2010/main" val="39990556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3054096"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69376" y="5907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1.5.6 Wrap-Up: Reflection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56616" y="348271"/>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xmlns="" id="{0370EDB7-6994-3D43-ABF9-E04CBAFB9CD9}"/>
              </a:ext>
            </a:extLst>
          </p:cNvPr>
          <p:cNvSpPr txBox="1"/>
          <p:nvPr/>
        </p:nvSpPr>
        <p:spPr>
          <a:xfrm>
            <a:off x="545123" y="1456361"/>
            <a:ext cx="10515600" cy="3416320"/>
          </a:xfrm>
          <a:prstGeom prst="rect">
            <a:avLst/>
          </a:prstGeom>
          <a:noFill/>
        </p:spPr>
        <p:txBody>
          <a:bodyPr wrap="square" rtlCol="0">
            <a:spAutoFit/>
          </a:bodyPr>
          <a:lstStyle/>
          <a:p>
            <a:pPr marL="457200" indent="-457200">
              <a:buFont typeface="+mj-lt"/>
              <a:buAutoNum type="arabicPeriod"/>
              <a:tabLst>
                <a:tab pos="6453188" algn="l"/>
              </a:tabLst>
            </a:pPr>
            <a:r>
              <a:rPr lang="en-US" sz="2400" dirty="0">
                <a:latin typeface="Verdana" panose="020B0604030504040204" pitchFamily="34" charset="0"/>
                <a:ea typeface="Verdana" panose="020B0604030504040204" pitchFamily="34" charset="0"/>
                <a:cs typeface="Verdana" panose="020B0604030504040204" pitchFamily="34" charset="0"/>
              </a:rPr>
              <a:t>Complete each statement based on your learning today. </a:t>
            </a:r>
          </a:p>
          <a:p>
            <a:r>
              <a:rPr lang="en-US" sz="2400" i="1" dirty="0">
                <a:latin typeface="Verdana" panose="020B0604030504040204" pitchFamily="34" charset="0"/>
                <a:ea typeface="Verdana" panose="020B0604030504040204" pitchFamily="34" charset="0"/>
                <a:cs typeface="Verdana" panose="020B0604030504040204" pitchFamily="34"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A barrier to my learning was … </a:t>
            </a:r>
            <a:r>
              <a:rPr lang="en-US" sz="2400" i="1" dirty="0">
                <a:latin typeface="Verdana" panose="020B0604030504040204" pitchFamily="34" charset="0"/>
                <a:ea typeface="Verdana" panose="020B0604030504040204" pitchFamily="34" charset="0"/>
                <a:cs typeface="Verdana" panose="020B0604030504040204" pitchFamily="34"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I will try to overcome this by …</a:t>
            </a:r>
          </a:p>
        </p:txBody>
      </p:sp>
      <p:sp>
        <p:nvSpPr>
          <p:cNvPr id="8" name="Google Shape;278;g104476d1465_1_17">
            <a:extLst>
              <a:ext uri="{FF2B5EF4-FFF2-40B4-BE49-F238E27FC236}">
                <a16:creationId xmlns:a16="http://schemas.microsoft.com/office/drawing/2014/main" xmlns="" id="{055A48D7-DC81-5F4D-9632-5F42A5D9EE47}"/>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30</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1370</TotalTime>
  <Words>942</Words>
  <Application>Microsoft Office PowerPoint</Application>
  <PresentationFormat>Custom</PresentationFormat>
  <Paragraphs>220</Paragraphs>
  <Slides>24</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Calibri</vt:lpstr>
      <vt:lpstr>Times New Roman</vt:lpstr>
      <vt:lpstr>Century Gothic</vt:lpstr>
      <vt:lpstr>Cambria Math</vt:lpstr>
      <vt:lpstr>Cambria</vt:lpstr>
      <vt:lpstr>Arial Black</vt:lpstr>
      <vt:lpstr>Verdana</vt:lpstr>
      <vt:lpstr>1_Office Theme</vt:lpstr>
      <vt:lpstr>8th Grade Math: Pre-Algebra  Unit 1, Lesson 5  Evaluating Numeric Expressions – Part 2  Volume 1, pg. 26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Activity</vt:lpstr>
      <vt:lpstr>PowerPoint Presentation</vt:lpstr>
      <vt:lpstr>PowerPoint Presentation</vt:lpstr>
      <vt:lpstr>PowerPoint Presentation</vt:lpstr>
      <vt:lpstr>PowerPoint Presentation</vt:lpstr>
      <vt:lpstr>Try It</vt:lpstr>
      <vt:lpstr>PowerPoint Presentation</vt:lpstr>
      <vt:lpstr>PowerPoint Presentation</vt:lpstr>
      <vt:lpstr>PowerPoint Presentation</vt:lpstr>
      <vt:lpstr>Activity</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38</cp:revision>
  <dcterms:created xsi:type="dcterms:W3CDTF">2015-03-17T18:51:18Z</dcterms:created>
  <dcterms:modified xsi:type="dcterms:W3CDTF">2022-06-14T01:34:03Z</dcterms:modified>
</cp:coreProperties>
</file>