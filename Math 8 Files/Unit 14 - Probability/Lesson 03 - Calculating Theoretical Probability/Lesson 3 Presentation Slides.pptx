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85" r:id="rId4"/>
    <p:sldId id="286" r:id="rId5"/>
    <p:sldId id="261" r:id="rId6"/>
    <p:sldId id="287" r:id="rId7"/>
    <p:sldId id="289" r:id="rId8"/>
    <p:sldId id="290" r:id="rId9"/>
    <p:sldId id="288" r:id="rId10"/>
    <p:sldId id="346" r:id="rId11"/>
    <p:sldId id="323" r:id="rId12"/>
    <p:sldId id="324" r:id="rId13"/>
    <p:sldId id="347" r:id="rId14"/>
    <p:sldId id="352" r:id="rId15"/>
    <p:sldId id="353" r:id="rId16"/>
    <p:sldId id="302" r:id="rId17"/>
    <p:sldId id="303" r:id="rId18"/>
    <p:sldId id="350" r:id="rId19"/>
    <p:sldId id="306" r:id="rId20"/>
    <p:sldId id="307"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18" autoAdjust="0"/>
    <p:restoredTop sz="94694"/>
  </p:normalViewPr>
  <p:slideViewPr>
    <p:cSldViewPr snapToGrid="0">
      <p:cViewPr varScale="1">
        <p:scale>
          <a:sx n="121" d="100"/>
          <a:sy n="121" d="100"/>
        </p:scale>
        <p:origin x="34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615480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1300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4263980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424714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268137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30287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69969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923020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Calculating Theoretical Probability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6550"/>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47800" y="5126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3178" y="28704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32552" y="1466679"/>
            <a:ext cx="11038115" cy="426584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Determine the sample space for a repeated experiment.</a:t>
            </a:r>
          </a:p>
          <a:p>
            <a:pPr indent="0">
              <a:buNone/>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MA.8.DP.2.2</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Find the theoretical probability of an event related to a repeated experiment.</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62335" y="-3852"/>
            <a:ext cx="9980600" cy="13645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30017" y="1591005"/>
            <a:ext cx="10831286" cy="35378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2217DB94-8CD9-E344-BEB6-DB518B29A816}"/>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pic>
        <p:nvPicPr>
          <p:cNvPr id="15" name="Google Shape;281;g104476d1465_1_17"/>
          <p:cNvPicPr preferRelativeResize="0"/>
          <p:nvPr/>
        </p:nvPicPr>
        <p:blipFill>
          <a:blip r:embed="rId4">
            <a:alphaModFix/>
          </a:blip>
          <a:stretch>
            <a:fillRect/>
          </a:stretch>
        </p:blipFill>
        <p:spPr>
          <a:xfrm>
            <a:off x="433178" y="287044"/>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51502" y="-2156"/>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433178" y="28704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43227" y="1600200"/>
            <a:ext cx="1073331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1338" indent="-534988">
              <a:buClr>
                <a:srgbClr val="434343"/>
              </a:buClr>
              <a:buSzPts val="3500"/>
              <a:buFont typeface="Wingdings" pitchFamily="2" charset="2"/>
              <a:buChar char="q"/>
            </a:pPr>
            <a:r>
              <a:rPr lang="en-US" sz="3500">
                <a:latin typeface="Verdana" panose="020B0604030504040204" pitchFamily="34" charset="0"/>
                <a:ea typeface="Verdana" panose="020B0604030504040204" pitchFamily="34" charset="0"/>
                <a:cs typeface="Verdana" panose="020B0604030504040204" pitchFamily="34" charset="0"/>
              </a:rPr>
              <a:t>I </a:t>
            </a:r>
            <a:r>
              <a:rPr lang="en-US" sz="3500" dirty="0">
                <a:latin typeface="Verdana" panose="020B0604030504040204" pitchFamily="34" charset="0"/>
                <a:ea typeface="Verdana" panose="020B0604030504040204" pitchFamily="34" charset="0"/>
                <a:cs typeface="Verdana" panose="020B0604030504040204" pitchFamily="34" charset="0"/>
              </a:rPr>
              <a:t>can calculate the theoretical probability of the outcomes in a repeated experiment. </a:t>
            </a:r>
          </a:p>
          <a:p>
            <a:pPr marL="541338" indent="-534988">
              <a:buClr>
                <a:srgbClr val="434343"/>
              </a:buClr>
              <a:buSzPts val="3500"/>
              <a:buFont typeface="Wingdings" pitchFamily="2" charset="2"/>
              <a:buChar char="q"/>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78;g104476d1465_1_17">
            <a:extLst>
              <a:ext uri="{FF2B5EF4-FFF2-40B4-BE49-F238E27FC236}">
                <a16:creationId xmlns:a16="http://schemas.microsoft.com/office/drawing/2014/main" id="{A7D39B40-FA5F-1945-A581-51EB744FEBF3}"/>
              </a:ext>
            </a:extLst>
          </p:cNvPr>
          <p:cNvSpPr/>
          <p:nvPr/>
        </p:nvSpPr>
        <p:spPr>
          <a:xfrm>
            <a:off x="3114"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52729" y="155838"/>
            <a:ext cx="10345105" cy="10097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14.3.1 Warm-Up: Solving Proportions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433178" y="28704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36274" y="1475595"/>
                <a:ext cx="9931449" cy="4246419"/>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Solve the proportions for the given variable.</a:t>
                </a:r>
              </a:p>
              <a:p>
                <a:r>
                  <a:rPr lang="en-US" sz="2400" dirty="0"/>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200" i="1">
                            <a:latin typeface="Cambria Math" panose="02040503050406030204" pitchFamily="18" charset="0"/>
                          </a:rPr>
                        </m:ctrlPr>
                      </m:fPr>
                      <m:num>
                        <m:r>
                          <a:rPr lang="en-US" sz="2200" i="1">
                            <a:latin typeface="Cambria Math" panose="02040503050406030204" pitchFamily="18" charset="0"/>
                          </a:rPr>
                          <m:t>𝑛</m:t>
                        </m:r>
                      </m:num>
                      <m:den>
                        <m:r>
                          <a:rPr lang="en-US" sz="2200" i="1">
                            <a:latin typeface="Cambria Math" panose="02040503050406030204" pitchFamily="18" charset="0"/>
                          </a:rPr>
                          <m:t>54</m:t>
                        </m:r>
                      </m:den>
                    </m:f>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20</m:t>
                        </m:r>
                      </m:num>
                      <m:den>
                        <m:r>
                          <a:rPr lang="en-US" sz="2200" i="1">
                            <a:latin typeface="Cambria Math" panose="02040503050406030204" pitchFamily="18" charset="0"/>
                          </a:rPr>
                          <m:t>100</m:t>
                        </m:r>
                      </m:den>
                    </m:f>
                  </m:oMath>
                </a14:m>
                <a:r>
                  <a:rPr lang="en-US" sz="2200" dirty="0"/>
                  <a:t>			</a:t>
                </a:r>
                <a14:m>
                  <m:oMath xmlns:m="http://schemas.openxmlformats.org/officeDocument/2006/math">
                    <m:r>
                      <a:rPr lang="en-US" sz="2200" i="1">
                        <a:latin typeface="Cambria Math" panose="02040503050406030204" pitchFamily="18" charset="0"/>
                      </a:rPr>
                      <m:t>𝑛</m:t>
                    </m:r>
                    <m:r>
                      <a:rPr lang="en-US" sz="2200" i="1">
                        <a:latin typeface="Cambria Math" panose="02040503050406030204" pitchFamily="18" charset="0"/>
                      </a:rPr>
                      <m:t>=</m:t>
                    </m:r>
                  </m:oMath>
                </a14:m>
                <a:endParaRPr lang="en-US" sz="2200" dirty="0"/>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200" i="1">
                            <a:latin typeface="Cambria Math" panose="02040503050406030204" pitchFamily="18" charset="0"/>
                          </a:rPr>
                        </m:ctrlPr>
                      </m:fPr>
                      <m:num>
                        <m:r>
                          <a:rPr lang="en-US" sz="2200" i="1">
                            <a:latin typeface="Cambria Math" panose="02040503050406030204" pitchFamily="18" charset="0"/>
                          </a:rPr>
                          <m:t>𝑥</m:t>
                        </m:r>
                      </m:num>
                      <m:den>
                        <m:r>
                          <a:rPr lang="en-US" sz="2200" i="1">
                            <a:latin typeface="Cambria Math" panose="02040503050406030204" pitchFamily="18" charset="0"/>
                          </a:rPr>
                          <m:t>6</m:t>
                        </m:r>
                      </m:den>
                    </m:f>
                    <m:r>
                      <a:rPr lang="en-US" sz="2200" i="1">
                        <a:latin typeface="Cambria Math" panose="02040503050406030204" pitchFamily="18" charset="0"/>
                      </a:rPr>
                      <m:t>=0.5</m:t>
                    </m:r>
                  </m:oMath>
                </a14:m>
                <a:r>
                  <a:rPr lang="en-US" sz="2200" dirty="0"/>
                  <a:t>			</a:t>
                </a:r>
                <a14:m>
                  <m:oMath xmlns:m="http://schemas.openxmlformats.org/officeDocument/2006/math">
                    <m:r>
                      <a:rPr lang="en-US" sz="2200" i="1">
                        <a:latin typeface="Cambria Math" panose="02040503050406030204" pitchFamily="18" charset="0"/>
                      </a:rPr>
                      <m:t>𝑥</m:t>
                    </m:r>
                    <m:r>
                      <a:rPr lang="en-US" sz="2200" i="1">
                        <a:latin typeface="Cambria Math" panose="02040503050406030204" pitchFamily="18" charset="0"/>
                      </a:rPr>
                      <m:t>=</m:t>
                    </m:r>
                  </m:oMath>
                </a14:m>
                <a:endParaRPr lang="en-US" sz="2200" dirty="0"/>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rPr>
                      <m:t>20%=</m:t>
                    </m:r>
                    <m:f>
                      <m:fPr>
                        <m:ctrlPr>
                          <a:rPr lang="en-US" sz="2200" i="1">
                            <a:latin typeface="Cambria Math" panose="02040503050406030204" pitchFamily="18" charset="0"/>
                          </a:rPr>
                        </m:ctrlPr>
                      </m:fPr>
                      <m:num>
                        <m:r>
                          <a:rPr lang="en-US" sz="2200" i="1">
                            <a:latin typeface="Cambria Math" panose="02040503050406030204" pitchFamily="18" charset="0"/>
                          </a:rPr>
                          <m:t>6</m:t>
                        </m:r>
                      </m:num>
                      <m:den>
                        <m:r>
                          <a:rPr lang="en-US" sz="2200" i="1">
                            <a:latin typeface="Cambria Math" panose="02040503050406030204" pitchFamily="18" charset="0"/>
                          </a:rPr>
                          <m:t>𝑎</m:t>
                        </m:r>
                      </m:den>
                    </m:f>
                  </m:oMath>
                </a14:m>
                <a:r>
                  <a:rPr lang="en-US" sz="2200" dirty="0"/>
                  <a:t>			</a:t>
                </a:r>
                <a14:m>
                  <m:oMath xmlns:m="http://schemas.openxmlformats.org/officeDocument/2006/math">
                    <m:r>
                      <a:rPr lang="en-US" sz="2200" i="1">
                        <a:latin typeface="Cambria Math" panose="02040503050406030204" pitchFamily="18" charset="0"/>
                      </a:rPr>
                      <m:t>𝑎</m:t>
                    </m:r>
                    <m:r>
                      <a:rPr lang="en-US" sz="2200" i="1">
                        <a:latin typeface="Cambria Math" panose="02040503050406030204" pitchFamily="18" charset="0"/>
                      </a:rPr>
                      <m:t>=</m:t>
                    </m:r>
                  </m:oMath>
                </a14:m>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36274" y="1475595"/>
                <a:ext cx="9931449" cy="4246419"/>
              </a:xfrm>
              <a:prstGeom prst="rect">
                <a:avLst/>
              </a:prstGeom>
              <a:blipFill rotWithShape="1">
                <a:blip r:embed="rId4"/>
                <a:stretch>
                  <a:fillRect l="-859" t="-1004" b="-143"/>
                </a:stretch>
              </a:blipFill>
            </p:spPr>
            <p:txBody>
              <a:bodyPr/>
              <a:lstStyle/>
              <a:p>
                <a:r>
                  <a:rPr lang="en-PH">
                    <a:noFill/>
                  </a:rPr>
                  <a:t> </a:t>
                </a:r>
              </a:p>
            </p:txBody>
          </p:sp>
        </mc:Fallback>
      </mc:AlternateContent>
      <p:sp>
        <p:nvSpPr>
          <p:cNvPr id="9" name="Google Shape;278;g104476d1465_1_17">
            <a:extLst>
              <a:ext uri="{FF2B5EF4-FFF2-40B4-BE49-F238E27FC236}">
                <a16:creationId xmlns:a16="http://schemas.microsoft.com/office/drawing/2014/main" id="{2C7BF6D9-BF7E-4C45-A3A0-4D9A19E544B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48401" y="18573"/>
            <a:ext cx="10492952" cy="128424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14.3.2 Guided Instruction: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Determining Probability</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433178" y="287044"/>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532705" y="1464932"/>
            <a:ext cx="10800000" cy="1140480"/>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Probability can be used to better understand random processes. One way to analyze a random process is by calculating the theoretical probability of the events in a sample space.</a:t>
            </a:r>
          </a:p>
        </p:txBody>
      </p:sp>
      <p:sp>
        <p:nvSpPr>
          <p:cNvPr id="8" name="Google Shape;278;g104476d1465_1_17">
            <a:extLst>
              <a:ext uri="{FF2B5EF4-FFF2-40B4-BE49-F238E27FC236}">
                <a16:creationId xmlns:a16="http://schemas.microsoft.com/office/drawing/2014/main" id="{AE4FE736-A36F-DC4F-BDE9-72EF780E2083}"/>
              </a:ext>
            </a:extLst>
          </p:cNvPr>
          <p:cNvSpPr/>
          <p:nvPr/>
        </p:nvSpPr>
        <p:spPr>
          <a:xfrm>
            <a:off x="229"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31" name="Group 30"/>
          <p:cNvGrpSpPr/>
          <p:nvPr/>
        </p:nvGrpSpPr>
        <p:grpSpPr>
          <a:xfrm>
            <a:off x="2060441" y="3086534"/>
            <a:ext cx="8327143" cy="2657318"/>
            <a:chOff x="1482070" y="3252877"/>
            <a:chExt cx="8327143" cy="2456337"/>
          </a:xfrm>
        </p:grpSpPr>
        <p:sp>
          <p:nvSpPr>
            <p:cNvPr id="32" name="Rectangle 31"/>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33" name="Group 32"/>
            <p:cNvGrpSpPr/>
            <p:nvPr/>
          </p:nvGrpSpPr>
          <p:grpSpPr>
            <a:xfrm>
              <a:off x="1482070" y="3252877"/>
              <a:ext cx="8327143" cy="2456337"/>
              <a:chOff x="1482070" y="3252877"/>
              <a:chExt cx="8327143" cy="2456337"/>
            </a:xfrm>
          </p:grpSpPr>
          <p:sp>
            <p:nvSpPr>
              <p:cNvPr id="34" name="Rectangle 33"/>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35" name="Group 34"/>
              <p:cNvGrpSpPr/>
              <p:nvPr/>
            </p:nvGrpSpPr>
            <p:grpSpPr>
              <a:xfrm>
                <a:off x="1482070" y="3252877"/>
                <a:ext cx="8327143" cy="2456337"/>
                <a:chOff x="1482070" y="3252877"/>
                <a:chExt cx="8327143" cy="2456337"/>
              </a:xfrm>
            </p:grpSpPr>
            <p:sp>
              <p:nvSpPr>
                <p:cNvPr id="36" name="Rectangle 35"/>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37" name="Group 36"/>
                <p:cNvGrpSpPr/>
                <p:nvPr/>
              </p:nvGrpSpPr>
              <p:grpSpPr>
                <a:xfrm>
                  <a:off x="1482070" y="3252877"/>
                  <a:ext cx="8327143" cy="2456337"/>
                  <a:chOff x="1482070" y="3252877"/>
                  <a:chExt cx="8327143" cy="2456337"/>
                </a:xfrm>
              </p:grpSpPr>
              <p:sp>
                <p:nvSpPr>
                  <p:cNvPr id="38" name="Rectangle 37"/>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39" name="Group 38"/>
                  <p:cNvGrpSpPr/>
                  <p:nvPr/>
                </p:nvGrpSpPr>
                <p:grpSpPr>
                  <a:xfrm>
                    <a:off x="1482070" y="3252877"/>
                    <a:ext cx="8327143" cy="2456337"/>
                    <a:chOff x="1482070" y="3252877"/>
                    <a:chExt cx="8327143" cy="2456337"/>
                  </a:xfrm>
                </p:grpSpPr>
                <p:sp>
                  <p:nvSpPr>
                    <p:cNvPr id="40" name="Rectangle 39"/>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41" name="Group 40"/>
                    <p:cNvGrpSpPr/>
                    <p:nvPr/>
                  </p:nvGrpSpPr>
                  <p:grpSpPr>
                    <a:xfrm>
                      <a:off x="1482070" y="3252879"/>
                      <a:ext cx="8327143" cy="2456335"/>
                      <a:chOff x="1482070" y="3262288"/>
                      <a:chExt cx="8327143" cy="2412480"/>
                    </a:xfrm>
                  </p:grpSpPr>
                  <p:sp>
                    <p:nvSpPr>
                      <p:cNvPr id="42" name="Rectangle 41"/>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43" name="Group 42"/>
                      <p:cNvGrpSpPr/>
                      <p:nvPr/>
                    </p:nvGrpSpPr>
                    <p:grpSpPr>
                      <a:xfrm>
                        <a:off x="1482070" y="3262288"/>
                        <a:ext cx="8327143" cy="2412480"/>
                        <a:chOff x="1482070" y="3373600"/>
                        <a:chExt cx="8327143" cy="2412480"/>
                      </a:xfrm>
                    </p:grpSpPr>
                    <p:sp>
                      <p:nvSpPr>
                        <p:cNvPr id="44" name="Rectangle 43"/>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45" name="Group 44"/>
                        <p:cNvGrpSpPr/>
                        <p:nvPr/>
                      </p:nvGrpSpPr>
                      <p:grpSpPr>
                        <a:xfrm>
                          <a:off x="1482070" y="3373600"/>
                          <a:ext cx="8327143" cy="2412480"/>
                          <a:chOff x="1482070" y="3373600"/>
                          <a:chExt cx="8327143" cy="2412480"/>
                        </a:xfrm>
                      </p:grpSpPr>
                      <p:sp>
                        <p:nvSpPr>
                          <p:cNvPr id="46" name="Rectangle 45"/>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grpSp>
                        <p:nvGrpSpPr>
                          <p:cNvPr id="47" name="Group 46"/>
                          <p:cNvGrpSpPr/>
                          <p:nvPr/>
                        </p:nvGrpSpPr>
                        <p:grpSpPr>
                          <a:xfrm>
                            <a:off x="1482070" y="3373600"/>
                            <a:ext cx="8327143" cy="2412480"/>
                            <a:chOff x="-549230" y="0"/>
                            <a:chExt cx="8327143" cy="2412480"/>
                          </a:xfrm>
                        </p:grpSpPr>
                        <p:sp>
                          <p:nvSpPr>
                            <p:cNvPr id="48" name="Rectangle 47"/>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p>
                          </p:txBody>
                        </p:sp>
                        <p:sp>
                          <p:nvSpPr>
                            <p:cNvPr id="49" name="Rounded Rectangle 48"/>
                            <p:cNvSpPr/>
                            <p:nvPr/>
                          </p:nvSpPr>
                          <p:spPr>
                            <a:xfrm>
                              <a:off x="-549230" y="55330"/>
                              <a:ext cx="8327143" cy="2357150"/>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Theoretical probability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number between 0 and 1 that represents the likelihood of an event in a theoretical model based on a sample space. If all outcomes in the sample space are equally likely, then the theoretical probability of an event is the ratio of the number of outcomes in the event to the number of outcomes in the sample space.</a:t>
                              </a:r>
                              <a:r>
                                <a:rPr lang="en-US" sz="2000" dirty="0">
                                  <a:latin typeface="Verdana" panose="020B0604030504040204" pitchFamily="34" charset="0"/>
                                  <a:ea typeface="Verdana" panose="020B0604030504040204" pitchFamily="34" charset="0"/>
                                  <a:cs typeface="Verdana" panose="020B0604030504040204" pitchFamily="34" charset="0"/>
                                </a:rPr>
                                <a:t> </a:t>
                              </a:r>
                            </a:p>
                          </p:txBody>
                        </p:sp>
                      </p:grpSp>
                    </p:grpSp>
                  </p:grpSp>
                </p:grpSp>
              </p:grpSp>
            </p:grpSp>
          </p:grpSp>
        </p:grpSp>
      </p:grpSp>
      <p:pic>
        <p:nvPicPr>
          <p:cNvPr id="50" name="Shape 25" descr="Icon&#10;&#10;Description automatically generated"/>
          <p:cNvPicPr/>
          <p:nvPr/>
        </p:nvPicPr>
        <p:blipFill rotWithShape="1">
          <a:blip r:embed="rId4" cstate="screen">
            <a:alphaModFix/>
            <a:extLst>
              <a:ext uri="{28A0092B-C50C-407E-A947-70E740481C1C}">
                <a14:useLocalDpi xmlns:a14="http://schemas.microsoft.com/office/drawing/2010/main"/>
              </a:ext>
            </a:extLst>
          </a:blip>
          <a:srcRect/>
          <a:stretch/>
        </p:blipFill>
        <p:spPr>
          <a:xfrm>
            <a:off x="2255451" y="3382138"/>
            <a:ext cx="548640" cy="549275"/>
          </a:xfrm>
          <a:prstGeom prst="rect">
            <a:avLst/>
          </a:prstGeom>
          <a:noFill/>
          <a:ln>
            <a:noFill/>
          </a:ln>
          <a:effectLst>
            <a:outerShdw blurRad="50800" dist="38100" dir="2700000" algn="tl" rotWithShape="0">
              <a:prstClr val="black">
                <a:alpha val="40000"/>
              </a:prstClr>
            </a:outerShdw>
          </a:effectLst>
        </p:spPr>
      </p:pic>
      <p:sp>
        <p:nvSpPr>
          <p:cNvPr id="28"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321</a:t>
            </a:r>
            <a:endParaRPr i="1" dirty="0">
              <a:latin typeface="Calibri"/>
              <a:ea typeface="Calibri"/>
              <a:cs typeface="Calibri"/>
              <a:sym typeface="Calibri"/>
            </a:endParaRPr>
          </a:p>
        </p:txBody>
      </p:sp>
      <p:pic>
        <p:nvPicPr>
          <p:cNvPr id="2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2450" y="384799"/>
                <a:ext cx="10800000" cy="532453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Samaria plays a game that involves rolling two fair</a:t>
                </a:r>
                <a14:m>
                  <m:oMath xmlns:m="http://schemas.openxmlformats.org/officeDocument/2006/math">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six-sided dice.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tabLst>
                    <a:tab pos="166688" algn="l"/>
                  </a:tabLst>
                </a:pPr>
                <a:r>
                  <a:rPr lang="en-US" sz="2000" dirty="0">
                    <a:latin typeface="Verdana" panose="020B0604030504040204" pitchFamily="34" charset="0"/>
                    <a:ea typeface="Verdana" panose="020B0604030504040204" pitchFamily="34" charset="0"/>
                    <a:cs typeface="Verdana" panose="020B0604030504040204" pitchFamily="34" charset="0"/>
                  </a:rPr>
                  <a:t>Determine the outcomes in the sample space for the game.</a:t>
                </a:r>
              </a:p>
              <a:p>
                <a:pPr marL="914400" indent="-457200">
                  <a:buFont typeface="+mj-lt"/>
                  <a:buAutoNum type="alphaLcPeriod"/>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tabLst>
                    <a:tab pos="166688" algn="l"/>
                  </a:tabLst>
                </a:pPr>
                <a:r>
                  <a:rPr lang="en-US" sz="2000" dirty="0">
                    <a:latin typeface="Verdana" panose="020B0604030504040204" pitchFamily="34" charset="0"/>
                    <a:ea typeface="Verdana" panose="020B0604030504040204" pitchFamily="34" charset="0"/>
                    <a:cs typeface="Verdana" panose="020B0604030504040204" pitchFamily="34" charset="0"/>
                  </a:rPr>
                  <a:t>Samaria only wins if she rolls a sum of </a:t>
                </a:r>
                <a14:m>
                  <m:oMath xmlns:m="http://schemas.openxmlformats.org/officeDocument/2006/math">
                    <m:r>
                      <a:rPr lang="en-US" sz="2000" i="1">
                        <a:latin typeface="Cambria Math" panose="020405030504060302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or more. How many of the outcomes will result in a win?</a:t>
                </a:r>
              </a:p>
              <a:p>
                <a:pPr marL="914400" indent="-457200">
                  <a:buFont typeface="+mj-lt"/>
                  <a:buAutoNum type="alphaLcPeriod"/>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tabLst>
                    <a:tab pos="166688" algn="l"/>
                  </a:tabLst>
                </a:pPr>
                <a:r>
                  <a:rPr lang="en-US" sz="2000" dirty="0">
                    <a:latin typeface="Verdana" panose="020B0604030504040204" pitchFamily="34" charset="0"/>
                    <a:ea typeface="Verdana" panose="020B0604030504040204" pitchFamily="34" charset="0"/>
                    <a:cs typeface="Verdana" panose="020B0604030504040204" pitchFamily="34" charset="0"/>
                  </a:rPr>
                  <a:t>Since each outcome in the sample space is equally likely, a ratio can be created to compare the outcomes with a sum greater than or equal to </a:t>
                </a:r>
                <a14:m>
                  <m:oMath xmlns:m="http://schemas.openxmlformats.org/officeDocument/2006/math">
                    <m:r>
                      <a:rPr lang="en-US" sz="2000" i="1">
                        <a:latin typeface="Cambria Math" panose="020405030504060302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 to the total number of outcomes.</a:t>
                </a:r>
              </a:p>
              <a:p>
                <a:pPr marL="457200">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166688"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tabLst>
                    <a:tab pos="166688" algn="l"/>
                  </a:tabLst>
                </a:pPr>
                <a:r>
                  <a:rPr lang="en-US" sz="2000" dirty="0">
                    <a:latin typeface="Verdana" panose="020B0604030504040204" pitchFamily="34" charset="0"/>
                    <a:ea typeface="Verdana" panose="020B0604030504040204" pitchFamily="34" charset="0"/>
                    <a:cs typeface="Verdana" panose="020B0604030504040204" pitchFamily="34" charset="0"/>
                  </a:rPr>
                  <a:t>This ratio represents the probability of Samaria winning.</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450" y="384799"/>
                <a:ext cx="10800000" cy="5324535"/>
              </a:xfrm>
              <a:prstGeom prst="rect">
                <a:avLst/>
              </a:prstGeom>
              <a:blipFill rotWithShape="1">
                <a:blip r:embed="rId3"/>
                <a:stretch>
                  <a:fillRect l="-564" t="-686" b="-1030"/>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id="{E2774663-8BD9-4C47-8B0B-3F2A1E300184}"/>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91003520"/>
                  </p:ext>
                </p:extLst>
              </p:nvPr>
            </p:nvGraphicFramePr>
            <p:xfrm>
              <a:off x="2331718" y="3715684"/>
              <a:ext cx="8263510" cy="1412624"/>
            </p:xfrm>
            <a:graphic>
              <a:graphicData uri="http://schemas.openxmlformats.org/drawingml/2006/table">
                <a:tbl>
                  <a:tblPr firstRow="1" firstCol="1" bandRow="1">
                    <a:tableStyleId>{2D5ABB26-0587-4C30-8999-92F81FD0307C}</a:tableStyleId>
                  </a:tblPr>
                  <a:tblGrid>
                    <a:gridCol w="8263510">
                      <a:extLst>
                        <a:ext uri="{9D8B030D-6E8A-4147-A177-3AD203B41FA5}">
                          <a16:colId xmlns:a16="http://schemas.microsoft.com/office/drawing/2014/main" val="20000"/>
                        </a:ext>
                      </a:extLst>
                    </a:gridCol>
                  </a:tblGrid>
                  <a:tr h="410094">
                    <a:tc>
                      <a:txBody>
                        <a:bodyPr/>
                        <a:lstStyle/>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𝑃</m:t>
                                </m:r>
                                <m:r>
                                  <a:rPr lang="en-US" sz="2000">
                                    <a:effectLst/>
                                    <a:latin typeface="Cambria Math" panose="02040503050406030204" pitchFamily="18" charset="0"/>
                                    <a:ea typeface="Cambria Math" panose="02040503050406030204" pitchFamily="18" charset="0"/>
                                  </a:rPr>
                                  <m:t>(</m:t>
                                </m:r>
                                <m:r>
                                  <a:rPr lang="en-US" sz="2000">
                                    <a:effectLst/>
                                    <a:latin typeface="Cambria Math" panose="02040503050406030204" pitchFamily="18" charset="0"/>
                                    <a:ea typeface="Cambria Math" panose="02040503050406030204" pitchFamily="18" charset="0"/>
                                  </a:rPr>
                                  <m:t>𝑆𝑢𝑚</m:t>
                                </m:r>
                                <m:r>
                                  <a:rPr lang="en-US" sz="2000">
                                    <a:effectLst/>
                                    <a:latin typeface="Cambria Math" panose="02040503050406030204" pitchFamily="18" charset="0"/>
                                    <a:ea typeface="Cambria Math" panose="02040503050406030204" pitchFamily="18" charset="0"/>
                                  </a:rPr>
                                  <m:t> ≥ 9) =</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3429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r h="803024">
                    <a:tc>
                      <a:txBody>
                        <a:bodyPr/>
                        <a:lstStyle/>
                        <a:p>
                          <a:pPr marL="0" marR="34290">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𝑡h𝑒</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𝑛𝑢𝑚𝑏𝑒𝑟</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𝑜𝑓</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𝑤𝑎𝑦𝑠</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𝑡𝑜</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𝑔𝑒𝑡</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𝑎</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𝑠𝑢𝑚</m:t>
                                    </m:r>
                                    <m:r>
                                      <a:rPr lang="en-US" sz="2000">
                                        <a:effectLst/>
                                        <a:latin typeface="Cambria Math" panose="02040503050406030204" pitchFamily="18" charset="0"/>
                                        <a:ea typeface="Cambria Math" panose="02040503050406030204" pitchFamily="18" charset="0"/>
                                      </a:rPr>
                                      <m:t> ≥ 9 </m:t>
                                    </m:r>
                                  </m:num>
                                  <m:den>
                                    <m:r>
                                      <a:rPr lang="en-US" sz="2000">
                                        <a:effectLst/>
                                        <a:latin typeface="Cambria Math" panose="02040503050406030204" pitchFamily="18" charset="0"/>
                                        <a:ea typeface="Cambria Math" panose="02040503050406030204" pitchFamily="18" charset="0"/>
                                      </a:rPr>
                                      <m:t>𝑡h𝑒</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𝑡𝑜𝑡𝑎𝑙</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𝑛𝑢𝑚𝑏𝑒𝑟</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𝑜𝑓</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𝑜𝑢𝑡𝑐𝑜𝑚𝑒𝑠</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𝑖𝑛</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𝑡h𝑒</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𝑠𝑎𝑚𝑝𝑙𝑒</m:t>
                                    </m:r>
                                    <m:r>
                                      <a:rPr lang="en-US" sz="200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𝑠𝑝𝑎𝑐𝑒</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          </m:t>
                                    </m:r>
                                  </m:num>
                                  <m:den>
                                    <m:r>
                                      <a:rPr lang="en-US" sz="2000">
                                        <a:effectLst/>
                                        <a:latin typeface="Cambria Math" panose="02040503050406030204" pitchFamily="18" charset="0"/>
                                        <a:ea typeface="Cambria Math" panose="02040503050406030204" pitchFamily="18" charset="0"/>
                                      </a:rPr>
                                      <m:t> </m:t>
                                    </m:r>
                                  </m:den>
                                </m:f>
                                <m:r>
                                  <a:rPr lang="en-US" sz="2000">
                                    <a:effectLst/>
                                    <a:latin typeface="Cambria Math" panose="02040503050406030204" pitchFamily="18" charset="0"/>
                                    <a:ea typeface="Cambria Math" panose="02040503050406030204" pitchFamily="18" charset="0"/>
                                  </a:rPr>
                                  <m:t>  </m:t>
                                </m:r>
                              </m:oMath>
                            </m:oMathPara>
                          </a14:m>
                          <a:br>
                            <a:rPr lang="en-US" sz="2000" dirty="0">
                              <a:effectLst/>
                              <a:latin typeface="Verdana" panose="020B0604030504040204" pitchFamily="34" charset="0"/>
                              <a:ea typeface="Verdana" panose="020B0604030504040204" pitchFamily="34" charset="0"/>
                              <a:cs typeface="Verdana" panose="020B0604030504040204" pitchFamily="34" charset="0"/>
                            </a:rPr>
                          </a:b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91003520"/>
                  </p:ext>
                </p:extLst>
              </p:nvPr>
            </p:nvGraphicFramePr>
            <p:xfrm>
              <a:off x="2331718" y="3715684"/>
              <a:ext cx="8263510" cy="1547305"/>
            </p:xfrm>
            <a:graphic>
              <a:graphicData uri="http://schemas.openxmlformats.org/drawingml/2006/table">
                <a:tbl>
                  <a:tblPr firstRow="1" firstCol="1" bandRow="1">
                    <a:tableStyleId>{2D5ABB26-0587-4C30-8999-92F81FD0307C}</a:tableStyleId>
                  </a:tblPr>
                  <a:tblGrid>
                    <a:gridCol w="8263510">
                      <a:extLst>
                        <a:ext uri="{9D8B030D-6E8A-4147-A177-3AD203B41FA5}">
                          <a16:colId xmlns:a16="http://schemas.microsoft.com/office/drawing/2014/main" xmlns:a14="http://schemas.microsoft.com/office/drawing/2010/main" xmlns="" val="20000"/>
                        </a:ext>
                      </a:extLst>
                    </a:gridCol>
                  </a:tblGrid>
                  <a:tr h="609600">
                    <a:tc>
                      <a:txBody>
                        <a:bodyPr/>
                        <a:lstStyle/>
                        <a:p>
                          <a:endParaRPr lang="en-US"/>
                        </a:p>
                      </a:txBody>
                      <a:tcPr marL="68580" marR="68580" marT="0" marB="0">
                        <a:blipFill rotWithShape="1">
                          <a:blip r:embed="rId4"/>
                          <a:stretch>
                            <a:fillRect t="-1000" r="-74" b="-154000"/>
                          </a:stretch>
                        </a:blipFill>
                      </a:tcPr>
                    </a:tc>
                    <a:extLst>
                      <a:ext uri="{0D108BD9-81ED-4DB2-BD59-A6C34878D82A}">
                        <a16:rowId xmlns:a16="http://schemas.microsoft.com/office/drawing/2014/main" xmlns:a14="http://schemas.microsoft.com/office/drawing/2010/main" xmlns="" val="10000"/>
                      </a:ext>
                    </a:extLst>
                  </a:tr>
                  <a:tr h="937705">
                    <a:tc>
                      <a:txBody>
                        <a:bodyPr/>
                        <a:lstStyle/>
                        <a:p>
                          <a:endParaRPr lang="en-US"/>
                        </a:p>
                      </a:txBody>
                      <a:tcPr marL="68580" marR="68580" marT="0" marB="0">
                        <a:blipFill rotWithShape="1">
                          <a:blip r:embed="rId4"/>
                          <a:stretch>
                            <a:fillRect t="-66013" r="-74" b="-654"/>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7"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321</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534036" y="392837"/>
            <a:ext cx="10800000" cy="5236030"/>
          </a:xfrm>
          <a:prstGeom prst="rect">
            <a:avLst/>
          </a:prstGeom>
          <a:noFill/>
        </p:spPr>
        <p:txBody>
          <a:bodyPr wrap="square" rtlCol="0">
            <a:spAutoFit/>
          </a:bodyPr>
          <a:lstStyle/>
          <a:p>
            <a:pPr marL="900113" indent="-457200">
              <a:buFont typeface="+mj-lt"/>
              <a:buAutoNum type="alphaLcPeriod" startAt="4"/>
            </a:pPr>
            <a:r>
              <a:rPr lang="en-US" sz="2100" dirty="0">
                <a:latin typeface="Verdana" panose="020B0604030504040204" pitchFamily="34" charset="0"/>
                <a:ea typeface="Verdana" panose="020B0604030504040204" pitchFamily="34" charset="0"/>
                <a:cs typeface="Verdana" panose="020B0604030504040204" pitchFamily="34" charset="0"/>
              </a:rPr>
              <a:t>Write the probability of winning as a fraction, decimal rounded to the nearest hundredth, and percentage rounded to the nearest tenth.</a:t>
            </a:r>
          </a:p>
          <a:p>
            <a:r>
              <a:rPr lang="en-US" sz="2100" dirty="0">
                <a:latin typeface="Verdana" panose="020B0604030504040204" pitchFamily="34" charset="0"/>
                <a:ea typeface="Verdana" panose="020B0604030504040204" pitchFamily="34" charset="0"/>
                <a:cs typeface="Verdana" panose="020B0604030504040204" pitchFamily="34" charset="0"/>
              </a:rPr>
              <a:t> </a:t>
            </a:r>
          </a:p>
          <a:p>
            <a:pPr marL="900113"/>
            <a:r>
              <a:rPr lang="en-US" sz="2100" dirty="0">
                <a:latin typeface="Verdana" panose="020B0604030504040204" pitchFamily="34" charset="0"/>
                <a:ea typeface="Verdana" panose="020B0604030504040204" pitchFamily="34" charset="0"/>
                <a:cs typeface="Verdana" panose="020B0604030504040204" pitchFamily="34" charset="0"/>
              </a:rPr>
              <a:t>Fraction:</a:t>
            </a:r>
          </a:p>
          <a:p>
            <a:pPr marL="900113"/>
            <a:r>
              <a:rPr lang="en-US" sz="2100" dirty="0">
                <a:latin typeface="Verdana" panose="020B0604030504040204" pitchFamily="34" charset="0"/>
                <a:ea typeface="Verdana" panose="020B0604030504040204" pitchFamily="34" charset="0"/>
                <a:cs typeface="Verdana" panose="020B0604030504040204" pitchFamily="34" charset="0"/>
              </a:rPr>
              <a:t> </a:t>
            </a:r>
          </a:p>
          <a:p>
            <a:pPr marL="900113"/>
            <a:r>
              <a:rPr lang="en-US" sz="2100" dirty="0">
                <a:latin typeface="Verdana" panose="020B0604030504040204" pitchFamily="34" charset="0"/>
                <a:ea typeface="Verdana" panose="020B0604030504040204" pitchFamily="34" charset="0"/>
                <a:cs typeface="Verdana" panose="020B0604030504040204" pitchFamily="34" charset="0"/>
              </a:rPr>
              <a:t> </a:t>
            </a:r>
          </a:p>
          <a:p>
            <a:pPr marL="900113"/>
            <a:r>
              <a:rPr lang="en-US" sz="2100" dirty="0">
                <a:latin typeface="Verdana" panose="020B0604030504040204" pitchFamily="34" charset="0"/>
                <a:ea typeface="Verdana" panose="020B0604030504040204" pitchFamily="34" charset="0"/>
                <a:cs typeface="Verdana" panose="020B0604030504040204" pitchFamily="34" charset="0"/>
              </a:rPr>
              <a:t>Decimal:</a:t>
            </a:r>
          </a:p>
          <a:p>
            <a:pPr marL="900113"/>
            <a:r>
              <a:rPr lang="en-US" sz="2100" dirty="0">
                <a:latin typeface="Verdana" panose="020B0604030504040204" pitchFamily="34" charset="0"/>
                <a:ea typeface="Verdana" panose="020B0604030504040204" pitchFamily="34" charset="0"/>
                <a:cs typeface="Verdana" panose="020B0604030504040204" pitchFamily="34" charset="0"/>
              </a:rPr>
              <a:t> </a:t>
            </a:r>
          </a:p>
          <a:p>
            <a:pPr marL="900113"/>
            <a:r>
              <a:rPr lang="en-US" sz="2100" dirty="0">
                <a:latin typeface="Verdana" panose="020B0604030504040204" pitchFamily="34" charset="0"/>
                <a:ea typeface="Verdana" panose="020B0604030504040204" pitchFamily="34" charset="0"/>
                <a:cs typeface="Verdana" panose="020B0604030504040204" pitchFamily="34" charset="0"/>
              </a:rPr>
              <a:t> </a:t>
            </a:r>
          </a:p>
          <a:p>
            <a:pPr marL="900113"/>
            <a:r>
              <a:rPr lang="en-US" sz="2100" dirty="0">
                <a:latin typeface="Verdana" panose="020B0604030504040204" pitchFamily="34" charset="0"/>
                <a:ea typeface="Verdana" panose="020B0604030504040204" pitchFamily="34" charset="0"/>
                <a:cs typeface="Verdana" panose="020B0604030504040204" pitchFamily="34" charset="0"/>
              </a:rPr>
              <a:t>Percentage:</a:t>
            </a:r>
          </a:p>
          <a:p>
            <a:r>
              <a:rPr lang="en-US" sz="2100" dirty="0">
                <a:latin typeface="Verdana" panose="020B0604030504040204" pitchFamily="34" charset="0"/>
                <a:ea typeface="Verdana" panose="020B0604030504040204" pitchFamily="34" charset="0"/>
                <a:cs typeface="Verdana" panose="020B0604030504040204" pitchFamily="34" charset="0"/>
              </a:rPr>
              <a:t> </a:t>
            </a:r>
          </a:p>
          <a:p>
            <a:endParaRPr lang="en-US" sz="2100" dirty="0">
              <a:latin typeface="Verdana" panose="020B0604030504040204" pitchFamily="34" charset="0"/>
              <a:ea typeface="Verdana" panose="020B0604030504040204" pitchFamily="34" charset="0"/>
              <a:cs typeface="Verdana" panose="020B0604030504040204" pitchFamily="34" charset="0"/>
            </a:endParaRPr>
          </a:p>
          <a:p>
            <a:r>
              <a:rPr lang="en-US" sz="2100" dirty="0">
                <a:latin typeface="Verdana" panose="020B0604030504040204" pitchFamily="34" charset="0"/>
                <a:ea typeface="Verdana" panose="020B0604030504040204" pitchFamily="34" charset="0"/>
                <a:cs typeface="Verdana" panose="020B0604030504040204" pitchFamily="34" charset="0"/>
              </a:rPr>
              <a:t>To calculate a theoretical probability, think through the random process and use the sample space to determine the probability of certain events in the sample space.</a:t>
            </a:r>
          </a:p>
        </p:txBody>
      </p:sp>
      <p:sp>
        <p:nvSpPr>
          <p:cNvPr id="6" name="Google Shape;278;g104476d1465_1_17">
            <a:extLst>
              <a:ext uri="{FF2B5EF4-FFF2-40B4-BE49-F238E27FC236}">
                <a16:creationId xmlns:a16="http://schemas.microsoft.com/office/drawing/2014/main" id="{D351BC34-60FF-984A-AE0C-5354282DEDAC}"/>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321</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4994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58586" y="-8225"/>
            <a:ext cx="10543008" cy="13942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14.3.3 Guided Practice: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Calculating Theoretical Probability</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3178" y="28704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30835" y="1460619"/>
                <a:ext cx="10800000" cy="4493538"/>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Ashley places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red marbles,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blue marbles,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yellow marbles, and </a:t>
                </a:r>
                <a:br>
                  <a:rPr lang="en-US" sz="22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orange marbles in a bag. A representation of the marbles is shown.</a:t>
                </a: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465138"/>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are the possible outcomes of randomly choosing one marble?</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How many outcomes are in the sample space when choosing two marbles, with replacement?</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Write the sample space for choosing two marbles from the bag, with replacement.</a:t>
                </a: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530835" y="1460619"/>
                <a:ext cx="10800000" cy="4493538"/>
              </a:xfrm>
              <a:prstGeom prst="rect">
                <a:avLst/>
              </a:prstGeom>
              <a:blipFill rotWithShape="1">
                <a:blip r:embed="rId4"/>
                <a:stretch>
                  <a:fillRect l="-734" t="-1085" r="-1298" b="-1900"/>
                </a:stretch>
              </a:blipFill>
            </p:spPr>
            <p:txBody>
              <a:bodyPr/>
              <a:lstStyle/>
              <a:p>
                <a:r>
                  <a:rPr lang="en-PH">
                    <a:noFill/>
                  </a:rPr>
                  <a:t> </a:t>
                </a:r>
              </a:p>
            </p:txBody>
          </p:sp>
        </mc:Fallback>
      </mc:AlternateContent>
      <p:sp>
        <p:nvSpPr>
          <p:cNvPr id="9" name="Google Shape;278;g104476d1465_1_17">
            <a:extLst>
              <a:ext uri="{FF2B5EF4-FFF2-40B4-BE49-F238E27FC236}">
                <a16:creationId xmlns:a16="http://schemas.microsoft.com/office/drawing/2014/main" id="{9EF632C0-4346-7C46-A47D-60F9E852BB4A}"/>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a:stretch>
            <a:fillRect/>
          </a:stretch>
        </p:blipFill>
        <p:spPr>
          <a:xfrm>
            <a:off x="2840406" y="2284139"/>
            <a:ext cx="6180857" cy="764022"/>
          </a:xfrm>
          <a:prstGeom prst="rect">
            <a:avLst/>
          </a:prstGeom>
        </p:spPr>
      </p:pic>
      <p:sp>
        <p:nvSpPr>
          <p:cNvPr id="12"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322</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6256" y="378353"/>
                <a:ext cx="10800000" cy="3474661"/>
              </a:xfrm>
              <a:prstGeom prst="rect">
                <a:avLst/>
              </a:prstGeom>
              <a:noFill/>
            </p:spPr>
            <p:txBody>
              <a:bodyPr wrap="square" rtlCol="0">
                <a:spAutoFit/>
              </a:bodyPr>
              <a:lstStyle/>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Are all outcomes equally likely when choosing two marbles, with replacement? Explain your reasoning.</a:t>
                </a: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Let Event </a:t>
                </a:r>
                <a14:m>
                  <m:oMath xmlns:m="http://schemas.openxmlformats.org/officeDocument/2006/math">
                    <m:r>
                      <a:rPr lang="en-US" sz="2200" i="1">
                        <a:latin typeface="Cambria Math" panose="02040503050406030204" pitchFamily="18" charset="0"/>
                        <a:ea typeface="Cambria Math" panose="02040503050406030204" pitchFamily="18" charset="0"/>
                      </a:rPr>
                      <m:t>𝐴</m:t>
                    </m:r>
                  </m:oMath>
                </a14:m>
                <a:r>
                  <a:rPr lang="en-US" sz="2200" dirty="0">
                    <a:latin typeface="Verdana" panose="020B0604030504040204" pitchFamily="34" charset="0"/>
                    <a:ea typeface="Verdana" panose="020B0604030504040204" pitchFamily="34" charset="0"/>
                    <a:cs typeface="Verdana" panose="020B0604030504040204" pitchFamily="34" charset="0"/>
                  </a:rPr>
                  <a:t> = two marbles of the same color are chosen. How many outcomes are in Event </a:t>
                </a:r>
                <a14:m>
                  <m:oMath xmlns:m="http://schemas.openxmlformats.org/officeDocument/2006/math">
                    <m:r>
                      <a:rPr lang="en-US" sz="2200" i="1">
                        <a:latin typeface="Cambria Math" panose="02040503050406030204" pitchFamily="18" charset="0"/>
                        <a:ea typeface="Cambria Math" panose="02040503050406030204" pitchFamily="18" charset="0"/>
                      </a:rPr>
                      <m:t>𝐴</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What is the probability of choosing two marbles of the same color, </a:t>
                </a:r>
                <a14:m>
                  <m:oMath xmlns:m="http://schemas.openxmlformats.org/officeDocument/2006/math">
                    <m:r>
                      <a:rPr lang="en-US" sz="2200" i="1">
                        <a:latin typeface="Cambria Math" panose="02040503050406030204" pitchFamily="18" charset="0"/>
                        <a:ea typeface="Cambria Math" panose="02040503050406030204" pitchFamily="18" charset="0"/>
                      </a:rPr>
                      <m:t>𝑃</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𝐴</m:t>
                    </m:r>
                    <m:r>
                      <a:rPr lang="en-US" sz="2200" i="1">
                        <a:latin typeface="Cambria Math" panose="02040503050406030204" pitchFamily="18" charset="0"/>
                        <a:ea typeface="Cambria Math" panose="02040503050406030204" pitchFamily="18" charset="0"/>
                      </a:rPr>
                      <m:t>)</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256" y="378353"/>
                <a:ext cx="10800000" cy="3474661"/>
              </a:xfrm>
              <a:prstGeom prst="rect">
                <a:avLst/>
              </a:prstGeom>
              <a:blipFill rotWithShape="1">
                <a:blip r:embed="rId3"/>
                <a:stretch>
                  <a:fillRect t="-1228" r="-847" b="-2632"/>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id="{15313080-ADE1-E543-977F-AF86C524F917}"/>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029903085"/>
              </p:ext>
            </p:extLst>
          </p:nvPr>
        </p:nvGraphicFramePr>
        <p:xfrm>
          <a:off x="1532601" y="3944190"/>
          <a:ext cx="8640000" cy="1548000"/>
        </p:xfrm>
        <a:graphic>
          <a:graphicData uri="http://schemas.openxmlformats.org/drawingml/2006/table">
            <a:tbl>
              <a:tblPr firstRow="1" firstCol="1" bandRow="1">
                <a:tableStyleId>{5940675A-B579-460E-94D1-54222C63F5DA}</a:tableStyleId>
              </a:tblPr>
              <a:tblGrid>
                <a:gridCol w="2880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gridCol w="2880000">
                  <a:extLst>
                    <a:ext uri="{9D8B030D-6E8A-4147-A177-3AD203B41FA5}">
                      <a16:colId xmlns:a16="http://schemas.microsoft.com/office/drawing/2014/main" val="2000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Fraction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Decimal</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Percentage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080000">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57263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530970" y="378145"/>
            <a:ext cx="10374085" cy="5551714"/>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A fair coin with one pink side and one blue side and a fair spinner are shown.</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If the coin is tossed and the spinner is spun, how many outcomes are in the sample space?</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Write the sample space.</a:t>
            </a:r>
          </a:p>
        </p:txBody>
      </p:sp>
      <p:sp>
        <p:nvSpPr>
          <p:cNvPr id="6" name="Google Shape;278;g104476d1465_1_17">
            <a:extLst>
              <a:ext uri="{FF2B5EF4-FFF2-40B4-BE49-F238E27FC236}">
                <a16:creationId xmlns:a16="http://schemas.microsoft.com/office/drawing/2014/main" id="{15313080-ADE1-E543-977F-AF86C524F917}"/>
              </a:ext>
            </a:extLst>
          </p:cNvPr>
          <p:cNvSpPr/>
          <p:nvPr/>
        </p:nvSpPr>
        <p:spPr>
          <a:xfrm>
            <a:off x="3114"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Oval 6"/>
          <p:cNvSpPr/>
          <p:nvPr/>
        </p:nvSpPr>
        <p:spPr>
          <a:xfrm>
            <a:off x="2622590" y="1422999"/>
            <a:ext cx="1543050" cy="1927860"/>
          </a:xfrm>
          <a:prstGeom prst="ellipse">
            <a:avLst/>
          </a:prstGeom>
          <a:scene3d>
            <a:camera prst="isometricLeftDown"/>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Oval 7"/>
          <p:cNvSpPr/>
          <p:nvPr/>
        </p:nvSpPr>
        <p:spPr>
          <a:xfrm>
            <a:off x="3948345" y="1422999"/>
            <a:ext cx="1543050" cy="1927860"/>
          </a:xfrm>
          <a:prstGeom prst="ellipse">
            <a:avLst/>
          </a:prstGeom>
          <a:solidFill>
            <a:srgbClr val="FF85FF"/>
          </a:solidFill>
          <a:scene3d>
            <a:camera prst="isometricLeftDown"/>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9" name="image7.png" descr="A picture containing text, clock, vector graphics&#10;&#10;Description automatically generated"/>
          <p:cNvPicPr/>
          <p:nvPr/>
        </p:nvPicPr>
        <p:blipFill rotWithShape="1">
          <a:blip r:embed="rId3" cstate="screen">
            <a:extLst>
              <a:ext uri="{28A0092B-C50C-407E-A947-70E740481C1C}">
                <a14:useLocalDpi xmlns:a14="http://schemas.microsoft.com/office/drawing/2010/main"/>
              </a:ext>
            </a:extLst>
          </a:blip>
          <a:srcRect l="8577" t="8554" r="10550" b="6515"/>
          <a:stretch/>
        </p:blipFill>
        <p:spPr bwMode="auto">
          <a:xfrm>
            <a:off x="6875858" y="1209639"/>
            <a:ext cx="2319655" cy="2354580"/>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323</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93095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528750" y="378349"/>
            <a:ext cx="10800000" cy="4832092"/>
          </a:xfrm>
          <a:prstGeom prst="rect">
            <a:avLst/>
          </a:prstGeom>
          <a:noFill/>
        </p:spPr>
        <p:txBody>
          <a:bodyPr wrap="square" rtlCol="0">
            <a:spAutoFit/>
          </a:bodyPr>
          <a:lstStyle/>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What is the probability that both land on blue?</a:t>
            </a: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If the coin is tossed eight times, how many outcomes are in the sample space?</a:t>
            </a: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What is the probability that it lands on pink all eight times?</a:t>
            </a:r>
          </a:p>
        </p:txBody>
      </p:sp>
      <p:sp>
        <p:nvSpPr>
          <p:cNvPr id="6" name="Google Shape;278;g104476d1465_1_17">
            <a:extLst>
              <a:ext uri="{FF2B5EF4-FFF2-40B4-BE49-F238E27FC236}">
                <a16:creationId xmlns:a16="http://schemas.microsoft.com/office/drawing/2014/main" id="{15313080-ADE1-E543-977F-AF86C524F917}"/>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44971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52726" y="286213"/>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14.3.4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433178" y="28704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759C3E41-93EC-B84D-963F-86A3B15AC1C6}"/>
              </a:ext>
            </a:extLst>
          </p:cNvPr>
          <p:cNvSpPr txBox="1"/>
          <p:nvPr/>
        </p:nvSpPr>
        <p:spPr>
          <a:xfrm>
            <a:off x="531177" y="1461222"/>
            <a:ext cx="10800000" cy="3139321"/>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 dreidel is a four-sided spinning top, played during the Jewish holiday of Hanukkah. Each side has a letter of the Hebrew alphabet:  נ‎ (nun),</a:t>
            </a:r>
            <a:br>
              <a:rPr lang="en-US" sz="2200" dirty="0">
                <a:latin typeface="Verdana" panose="020B0604030504040204" pitchFamily="34" charset="0"/>
                <a:ea typeface="Verdana" panose="020B0604030504040204" pitchFamily="34" charset="0"/>
                <a:cs typeface="Verdana" panose="020B0604030504040204" pitchFamily="34" charset="0"/>
              </a:rPr>
            </a:br>
            <a:r>
              <a:rPr lang="en-US" sz="2200" dirty="0">
                <a:latin typeface="Verdana" panose="020B0604030504040204" pitchFamily="34" charset="0"/>
                <a:ea typeface="Verdana" panose="020B0604030504040204" pitchFamily="34" charset="0"/>
                <a:cs typeface="Verdana" panose="020B0604030504040204" pitchFamily="34" charset="0"/>
              </a:rPr>
              <a:t>ג‎ (</a:t>
            </a:r>
            <a:r>
              <a:rPr lang="en-US" sz="2200" dirty="0" err="1">
                <a:latin typeface="Verdana" panose="020B0604030504040204" pitchFamily="34" charset="0"/>
                <a:ea typeface="Verdana" panose="020B0604030504040204" pitchFamily="34" charset="0"/>
                <a:cs typeface="Verdana" panose="020B0604030504040204" pitchFamily="34" charset="0"/>
              </a:rPr>
              <a:t>gimel</a:t>
            </a:r>
            <a:r>
              <a:rPr lang="en-US" sz="2200" dirty="0">
                <a:latin typeface="Verdana" panose="020B0604030504040204" pitchFamily="34" charset="0"/>
                <a:ea typeface="Verdana" panose="020B0604030504040204" pitchFamily="34" charset="0"/>
                <a:cs typeface="Verdana" panose="020B0604030504040204" pitchFamily="34" charset="0"/>
              </a:rPr>
              <a:t>), ה‎ (</a:t>
            </a:r>
            <a:r>
              <a:rPr lang="en-US" sz="2200" dirty="0" err="1">
                <a:latin typeface="Verdana" panose="020B0604030504040204" pitchFamily="34" charset="0"/>
                <a:ea typeface="Verdana" panose="020B0604030504040204" pitchFamily="34" charset="0"/>
                <a:cs typeface="Verdana" panose="020B0604030504040204" pitchFamily="34" charset="0"/>
              </a:rPr>
              <a:t>hei</a:t>
            </a:r>
            <a:r>
              <a:rPr lang="en-US" sz="2200" dirty="0">
                <a:latin typeface="Verdana" panose="020B0604030504040204" pitchFamily="34" charset="0"/>
                <a:ea typeface="Verdana" panose="020B0604030504040204" pitchFamily="34" charset="0"/>
                <a:cs typeface="Verdana" panose="020B0604030504040204" pitchFamily="34" charset="0"/>
              </a:rPr>
              <a:t>), and ש‎ (shin).</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465138"/>
            <a:r>
              <a:rPr lang="en-US" sz="2200" dirty="0">
                <a:latin typeface="Verdana" panose="020B0604030504040204" pitchFamily="34" charset="0"/>
                <a:ea typeface="Verdana" panose="020B0604030504040204" pitchFamily="34" charset="0"/>
                <a:cs typeface="Verdana" panose="020B0604030504040204" pitchFamily="34" charset="0"/>
              </a:rPr>
              <a:t>David presents a new game to his friends involving a dreidel and a fair coin. If the dreidel lands on ה‎ (</a:t>
            </a:r>
            <a:r>
              <a:rPr lang="en-US" sz="2200" dirty="0" err="1">
                <a:latin typeface="Verdana" panose="020B0604030504040204" pitchFamily="34" charset="0"/>
                <a:ea typeface="Verdana" panose="020B0604030504040204" pitchFamily="34" charset="0"/>
                <a:cs typeface="Verdana" panose="020B0604030504040204" pitchFamily="34" charset="0"/>
              </a:rPr>
              <a:t>hei</a:t>
            </a:r>
            <a:r>
              <a:rPr lang="en-US" sz="2200" dirty="0">
                <a:latin typeface="Verdana" panose="020B0604030504040204" pitchFamily="34" charset="0"/>
                <a:ea typeface="Verdana" panose="020B0604030504040204" pitchFamily="34" charset="0"/>
                <a:cs typeface="Verdana" panose="020B0604030504040204" pitchFamily="34" charset="0"/>
              </a:rPr>
              <a:t>) and the coin lands on heads OR the dreidel lands on ג‎ (</a:t>
            </a:r>
            <a:r>
              <a:rPr lang="en-US" sz="2200" dirty="0" err="1">
                <a:latin typeface="Verdana" panose="020B0604030504040204" pitchFamily="34" charset="0"/>
                <a:ea typeface="Verdana" panose="020B0604030504040204" pitchFamily="34" charset="0"/>
                <a:cs typeface="Verdana" panose="020B0604030504040204" pitchFamily="34" charset="0"/>
              </a:rPr>
              <a:t>gimel</a:t>
            </a:r>
            <a:r>
              <a:rPr lang="en-US" sz="2200" dirty="0">
                <a:latin typeface="Verdana" panose="020B0604030504040204" pitchFamily="34" charset="0"/>
                <a:ea typeface="Verdana" panose="020B0604030504040204" pitchFamily="34" charset="0"/>
                <a:cs typeface="Verdana" panose="020B0604030504040204" pitchFamily="34" charset="0"/>
              </a:rPr>
              <a:t>) and the coin lands on tails, the player wins.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Define the sample space.</a:t>
            </a:r>
          </a:p>
        </p:txBody>
      </p:sp>
      <p:sp>
        <p:nvSpPr>
          <p:cNvPr id="8" name="Google Shape;278;g104476d1465_1_17">
            <a:extLst>
              <a:ext uri="{FF2B5EF4-FFF2-40B4-BE49-F238E27FC236}">
                <a16:creationId xmlns:a16="http://schemas.microsoft.com/office/drawing/2014/main" id="{3497339A-36B9-2142-AAF4-61C2E4DE6EB2}"/>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324</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39015" y="3988001"/>
            <a:ext cx="1909631" cy="2514188"/>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531288" y="380862"/>
            <a:ext cx="9235444" cy="2462213"/>
          </a:xfrm>
          <a:prstGeom prst="rect">
            <a:avLst/>
          </a:prstGeom>
          <a:noFill/>
        </p:spPr>
        <p:txBody>
          <a:bodyPr wrap="square" rtlCol="0">
            <a:spAutoFit/>
          </a:bodyPr>
          <a:lstStyle/>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How many outcomes result in a win?</a:t>
            </a: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What is the probability a player wins?</a:t>
            </a:r>
          </a:p>
        </p:txBody>
      </p:sp>
      <p:sp>
        <p:nvSpPr>
          <p:cNvPr id="6" name="Google Shape;278;g104476d1465_1_17">
            <a:extLst>
              <a:ext uri="{FF2B5EF4-FFF2-40B4-BE49-F238E27FC236}">
                <a16:creationId xmlns:a16="http://schemas.microsoft.com/office/drawing/2014/main" id="{FC9D7F98-E787-6F4D-92A1-6A0986979BF3}"/>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324</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8525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51502" y="-215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14.3.5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433178" y="28704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33279" y="1465805"/>
            <a:ext cx="5672211"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Color in the arrow up to the statement that best describes your current understanding of calculating theoretical probability for a two-step experiment.</a:t>
            </a:r>
          </a:p>
        </p:txBody>
      </p:sp>
      <p:sp>
        <p:nvSpPr>
          <p:cNvPr id="8" name="Google Shape;278;g104476d1465_1_17">
            <a:extLst>
              <a:ext uri="{FF2B5EF4-FFF2-40B4-BE49-F238E27FC236}">
                <a16:creationId xmlns:a16="http://schemas.microsoft.com/office/drawing/2014/main" id="{535320C0-DAB2-7C41-B3D0-5B31075C43FF}"/>
              </a:ext>
            </a:extLst>
          </p:cNvPr>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a:stretch>
            <a:fillRect/>
          </a:stretch>
        </p:blipFill>
        <p:spPr>
          <a:xfrm>
            <a:off x="6205490" y="1465805"/>
            <a:ext cx="5471452" cy="4503578"/>
          </a:xfrm>
          <a:prstGeom prst="rect">
            <a:avLst/>
          </a:prstGeom>
        </p:spPr>
      </p:pic>
      <p:sp>
        <p:nvSpPr>
          <p:cNvPr id="11" name="Google Shape;282;g104476d1465_1_17"/>
          <p:cNvSpPr txBox="1"/>
          <p:nvPr/>
        </p:nvSpPr>
        <p:spPr>
          <a:xfrm>
            <a:off x="8876831" y="650218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324</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79545"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1364</TotalTime>
  <Words>954</Words>
  <Application>Microsoft Macintosh PowerPoint</Application>
  <PresentationFormat>Widescreen</PresentationFormat>
  <Paragraphs>175</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Black</vt:lpstr>
      <vt:lpstr>Calibri</vt:lpstr>
      <vt:lpstr>Cambria</vt:lpstr>
      <vt:lpstr>Cambria Math</vt:lpstr>
      <vt:lpstr>Century Gothic</vt:lpstr>
      <vt:lpstr>Verdana</vt:lpstr>
      <vt:lpstr>Wingdings</vt:lpstr>
      <vt:lpstr>1_Office Theme</vt:lpstr>
      <vt:lpstr>8th Grade Math: Pre-Algebra  Unit 14, Lesson 3  Calculating Theoretical Probability  Volume 2, pg. 320  </vt:lpstr>
      <vt:lpstr>Benchmarks</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35</cp:revision>
  <dcterms:created xsi:type="dcterms:W3CDTF">2015-03-17T18:51:18Z</dcterms:created>
  <dcterms:modified xsi:type="dcterms:W3CDTF">2023-02-09T14:31:18Z</dcterms:modified>
</cp:coreProperties>
</file>