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11" r:id="rId8"/>
    <p:sldId id="312" r:id="rId9"/>
    <p:sldId id="288" r:id="rId10"/>
    <p:sldId id="343" r:id="rId11"/>
    <p:sldId id="352" r:id="rId12"/>
    <p:sldId id="353" r:id="rId13"/>
    <p:sldId id="354" r:id="rId14"/>
    <p:sldId id="355" r:id="rId15"/>
    <p:sldId id="356" r:id="rId16"/>
    <p:sldId id="314" r:id="rId17"/>
    <p:sldId id="315" r:id="rId18"/>
    <p:sldId id="357" r:id="rId19"/>
    <p:sldId id="342" r:id="rId20"/>
    <p:sldId id="358" r:id="rId21"/>
    <p:sldId id="329" r:id="rId22"/>
    <p:sldId id="330" r:id="rId23"/>
    <p:sldId id="349" r:id="rId24"/>
    <p:sldId id="359" r:id="rId25"/>
    <p:sldId id="306" r:id="rId26"/>
    <p:sldId id="307" r:id="rId27"/>
  </p:sldIdLst>
  <p:sldSz cx="12192000" cy="6858000"/>
  <p:notesSz cx="6858000" cy="9144000"/>
  <p:embeddedFontLst>
    <p:embeddedFont>
      <p:font typeface="Arial Black" panose="020B0604020202020204" pitchFamily="34" charset="0"/>
      <p:bold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22320" autoAdjust="0"/>
    <p:restoredTop sz="94694"/>
  </p:normalViewPr>
  <p:slideViewPr>
    <p:cSldViewPr snapToGrid="0">
      <p:cViewPr varScale="1">
        <p:scale>
          <a:sx n="128" d="100"/>
          <a:sy n="128" d="100"/>
        </p:scale>
        <p:origin x="1472" y="1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10751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67457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077601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287378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61036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159001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235948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84297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634783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62424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08609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721370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813191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0015673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tiff"/></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20.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9.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Logo&#10;&#10;Description automatically generated">
            <a:extLst>
              <a:ext uri="{FF2B5EF4-FFF2-40B4-BE49-F238E27FC236}">
                <a16:creationId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918611"/>
            <a:ext cx="2973100" cy="3465785"/>
          </a:xfrm>
          <a:prstGeom prst="rect">
            <a:avLst/>
          </a:prstGeom>
          <a:effectLst>
            <a:outerShdw blurRad="50800" dist="38100" dir="2700000" algn="tl" rotWithShape="0">
              <a:prstClr val="black">
                <a:alpha val="40000"/>
              </a:prstClr>
            </a:outerShdw>
          </a:effectLst>
        </p:spPr>
      </p:pic>
      <p:sp>
        <p:nvSpPr>
          <p:cNvPr id="10" name="Google Shape;261;g104476d1465_0_0"/>
          <p:cNvSpPr txBox="1">
            <a:spLocks/>
          </p:cNvSpPr>
          <p:nvPr/>
        </p:nvSpPr>
        <p:spPr>
          <a:xfrm>
            <a:off x="5547571" y="2070204"/>
            <a:ext cx="531569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400" b="1" dirty="0">
                <a:solidFill>
                  <a:srgbClr val="417DBF"/>
                </a:solidFill>
                <a:latin typeface="Verdana"/>
                <a:ea typeface="Verdana"/>
                <a:cs typeface="Verdana"/>
                <a:sym typeface="Verdana"/>
              </a:rPr>
              <a:t>8</a:t>
            </a:r>
            <a:r>
              <a:rPr lang="en-US" sz="3400" b="1" baseline="30000" dirty="0">
                <a:solidFill>
                  <a:srgbClr val="417DBF"/>
                </a:solidFill>
                <a:latin typeface="Verdana"/>
                <a:ea typeface="Verdana"/>
                <a:cs typeface="Verdana"/>
                <a:sym typeface="Verdana"/>
              </a:rPr>
              <a:t>th</a:t>
            </a:r>
            <a:r>
              <a:rPr lang="en-US" sz="3400" b="1" dirty="0">
                <a:solidFill>
                  <a:srgbClr val="417DBF"/>
                </a:solidFill>
                <a:latin typeface="Verdana"/>
                <a:ea typeface="Verdana"/>
                <a:cs typeface="Verdana"/>
                <a:sym typeface="Verdana"/>
              </a:rPr>
              <a:t> Grade Math: </a:t>
            </a:r>
            <a:br>
              <a:rPr lang="en-US" sz="3400" b="1" dirty="0">
                <a:solidFill>
                  <a:srgbClr val="417DBF"/>
                </a:solidFill>
                <a:latin typeface="Verdana"/>
                <a:ea typeface="Verdana"/>
                <a:cs typeface="Verdana"/>
                <a:sym typeface="Verdana"/>
              </a:rPr>
            </a:br>
            <a:r>
              <a:rPr lang="en-US" sz="3400" b="1" dirty="0">
                <a:solidFill>
                  <a:srgbClr val="417DBF"/>
                </a:solidFill>
                <a:latin typeface="Verdana"/>
                <a:ea typeface="Verdana"/>
                <a:cs typeface="Verdana"/>
                <a:sym typeface="Verdana"/>
              </a:rPr>
              <a:t>Pre-Algebra</a:t>
            </a:r>
            <a:br>
              <a:rPr lang="en-US" sz="3400" b="1" dirty="0">
                <a:solidFill>
                  <a:srgbClr val="417DBF"/>
                </a:solidFill>
                <a:latin typeface="Verdana"/>
                <a:ea typeface="Verdana"/>
                <a:cs typeface="Verdana"/>
                <a:sym typeface="Verdana"/>
              </a:rPr>
            </a:br>
            <a:endParaRPr lang="en-US" sz="3400" b="1" dirty="0">
              <a:solidFill>
                <a:srgbClr val="417DBF"/>
              </a:solidFill>
              <a:latin typeface="Verdana"/>
              <a:ea typeface="Verdana"/>
              <a:cs typeface="Verdana"/>
              <a:sym typeface="Verdana"/>
            </a:endParaRPr>
          </a:p>
          <a:p>
            <a:pPr algn="ctr">
              <a:lnSpc>
                <a:spcPct val="100000"/>
              </a:lnSpc>
              <a:buClr>
                <a:srgbClr val="000000"/>
              </a:buClr>
            </a:pPr>
            <a:r>
              <a:rPr lang="en-US" sz="3400" b="1" dirty="0">
                <a:solidFill>
                  <a:srgbClr val="417DBF"/>
                </a:solidFill>
                <a:latin typeface="Verdana"/>
                <a:ea typeface="Verdana"/>
                <a:cs typeface="Verdana"/>
                <a:sym typeface="Verdana"/>
              </a:rPr>
              <a:t>Unit 14, Lesson 4</a:t>
            </a:r>
            <a:br>
              <a:rPr lang="en-US" sz="3400" b="1" dirty="0">
                <a:solidFill>
                  <a:srgbClr val="417DBF"/>
                </a:solidFill>
                <a:latin typeface="Verdana"/>
                <a:ea typeface="Verdana"/>
                <a:cs typeface="Verdana"/>
                <a:sym typeface="Verdana"/>
              </a:rPr>
            </a:br>
            <a:br>
              <a:rPr lang="en-US" sz="3400" b="1" dirty="0">
                <a:solidFill>
                  <a:srgbClr val="417DBF"/>
                </a:solidFill>
                <a:latin typeface="Verdana"/>
                <a:ea typeface="Verdana"/>
                <a:cs typeface="Verdana"/>
                <a:sym typeface="Verdana"/>
              </a:rPr>
            </a:br>
            <a:r>
              <a:rPr lang="en-US" sz="3400" b="1" dirty="0">
                <a:solidFill>
                  <a:srgbClr val="417DBF"/>
                </a:solidFill>
                <a:latin typeface="Verdana"/>
                <a:ea typeface="Verdana"/>
                <a:cs typeface="Verdana"/>
                <a:sym typeface="Verdana"/>
              </a:rPr>
              <a:t>Comparing Theoretical Probability to Experimental Probability</a:t>
            </a:r>
            <a:br>
              <a:rPr lang="en-US" sz="3400" b="1" dirty="0">
                <a:solidFill>
                  <a:srgbClr val="417DBF"/>
                </a:solidFill>
                <a:latin typeface="Verdana"/>
                <a:ea typeface="Verdana"/>
                <a:cs typeface="Verdana"/>
                <a:sym typeface="Verdana"/>
              </a:rPr>
            </a:br>
            <a:br>
              <a:rPr lang="en-US" sz="34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325</a:t>
            </a:r>
          </a:p>
          <a:p>
            <a:pPr algn="ctr">
              <a:lnSpc>
                <a:spcPct val="100000"/>
              </a:lnSpc>
              <a:buClr>
                <a:srgbClr val="000000"/>
              </a:buClr>
            </a:pPr>
            <a:endParaRPr lang="en-US" sz="32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4"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5"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MA.8.DP.2.1</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Determine the sample space for a repeated experiment.</a:t>
            </a:r>
          </a:p>
          <a:p>
            <a:pPr marL="0" indent="0">
              <a:buSzPts val="1100"/>
              <a:buNone/>
            </a:pP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MA.8.DP.2.2</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Find the theoretical probability of an event related to a repeated experiment.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8;g104476d1465_1_17">
            <a:extLst>
              <a:ext uri="{FF2B5EF4-FFF2-40B4-BE49-F238E27FC236}">
                <a16:creationId xmlns:a16="http://schemas.microsoft.com/office/drawing/2014/main" id="{2217DB94-8CD9-E344-BEB6-DB518B29A816}"/>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5"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6"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7"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8"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id="{A7D39B40-FA5F-1945-A581-51EB744FEBF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5"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7"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8"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9"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calculate theoretical probability and compare it to experimental probability to </a:t>
            </a:r>
            <a:r>
              <a:rPr lang="en-US" sz="3600">
                <a:latin typeface="Verdana" panose="020B0604030504040204" pitchFamily="34" charset="0"/>
                <a:ea typeface="Verdana" panose="020B0604030504040204" pitchFamily="34" charset="0"/>
                <a:cs typeface="Verdana" panose="020B0604030504040204" pitchFamily="34" charset="0"/>
              </a:rPr>
              <a:t>evaluate accuracy.</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5"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14.4.1 Warm-Up: Data Analyst</a:t>
            </a:r>
          </a:p>
        </p:txBody>
      </p:sp>
      <p:pic>
        <p:nvPicPr>
          <p:cNvPr id="17"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E1D7562E-134F-D14B-AF1A-DF40E11EF758}"/>
              </a:ext>
            </a:extLst>
          </p:cNvPr>
          <p:cNvSpPr txBox="1"/>
          <p:nvPr/>
        </p:nvSpPr>
        <p:spPr>
          <a:xfrm>
            <a:off x="730265" y="1228396"/>
            <a:ext cx="10800319" cy="3785652"/>
          </a:xfrm>
          <a:prstGeom prst="rect">
            <a:avLst/>
          </a:prstGeom>
          <a:noFill/>
        </p:spPr>
        <p:txBody>
          <a:bodyPr wrap="square" rtlCol="0">
            <a:spAutoFit/>
          </a:bodyPr>
          <a:lstStyle/>
          <a:p>
            <a:r>
              <a:rPr lang="en-US" sz="2000" dirty="0" err="1">
                <a:latin typeface="Verdana" panose="020B0604030504040204" pitchFamily="34" charset="0"/>
                <a:ea typeface="Verdana" panose="020B0604030504040204" pitchFamily="34" charset="0"/>
                <a:cs typeface="Verdana" panose="020B0604030504040204" pitchFamily="34" charset="0"/>
              </a:rPr>
              <a:t>Ivana</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err="1">
                <a:latin typeface="Verdana" panose="020B0604030504040204" pitchFamily="34" charset="0"/>
                <a:ea typeface="Verdana" panose="020B0604030504040204" pitchFamily="34" charset="0"/>
                <a:cs typeface="Verdana" panose="020B0604030504040204" pitchFamily="34" charset="0"/>
              </a:rPr>
              <a:t>Seric</a:t>
            </a:r>
            <a:r>
              <a:rPr lang="en-US" sz="2000" dirty="0">
                <a:latin typeface="Verdana" panose="020B0604030504040204" pitchFamily="34" charset="0"/>
                <a:ea typeface="Verdana" panose="020B0604030504040204" pitchFamily="34" charset="0"/>
                <a:cs typeface="Verdana" panose="020B0604030504040204" pitchFamily="34" charset="0"/>
              </a:rPr>
              <a:t> has her PhD in mathematics. She works as a data analyst for the Philadelphia 76ers, an NBA basketball team. Data science has changed the game of basketball as players and coaches have been able to use data and analytics, rather than instincts and talent alone, to determine how to improve the game. Data analytics is a growing career field in a world where more and more data are collected and shared through increasing technological means.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are some ways data analytics has changed the game of basketball?</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how other industries might use statistics. </a:t>
            </a:r>
          </a:p>
        </p:txBody>
      </p:sp>
      <p:sp>
        <p:nvSpPr>
          <p:cNvPr id="8"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8" name="TextBox 17">
            <a:extLst>
              <a:ext uri="{FF2B5EF4-FFF2-40B4-BE49-F238E27FC236}">
                <a16:creationId xmlns:a16="http://schemas.microsoft.com/office/drawing/2014/main" id="{152D1D4D-DCB8-A246-B186-D40316579D77}"/>
              </a:ext>
            </a:extLst>
          </p:cNvPr>
          <p:cNvSpPr txBox="1"/>
          <p:nvPr/>
        </p:nvSpPr>
        <p:spPr>
          <a:xfrm>
            <a:off x="601762" y="1460161"/>
            <a:ext cx="10928822" cy="470898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 simulation involving spinning Spinner B and flipping a fair coin.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b="1" dirty="0"/>
              <a:t>Spinner B			Coin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As part of a game, Spinner B is spun and a coin is flipped. The theoretical probabilities of events in this random process can be found by determining the sample space using a list, table, or tree diagram.</a:t>
            </a:r>
          </a:p>
        </p:txBody>
      </p:sp>
      <p:pic>
        <p:nvPicPr>
          <p:cNvPr id="11" name="Picture 10" descr="Chart, pie chart&#10;&#10;Description automatically generated"/>
          <p:cNvPicPr/>
          <p:nvPr/>
        </p:nvPicPr>
        <p:blipFill rotWithShape="1">
          <a:blip r:embed="rId3" cstate="screen">
            <a:extLst>
              <a:ext uri="{28A0092B-C50C-407E-A947-70E740481C1C}">
                <a14:useLocalDpi xmlns:a14="http://schemas.microsoft.com/office/drawing/2010/main"/>
              </a:ext>
            </a:extLst>
          </a:blip>
          <a:srcRect l="16001" r="22666" b="11909"/>
          <a:stretch/>
        </p:blipFill>
        <p:spPr bwMode="auto">
          <a:xfrm>
            <a:off x="3569893" y="2780460"/>
            <a:ext cx="2018330" cy="2008256"/>
          </a:xfrm>
          <a:prstGeom prst="rect">
            <a:avLst/>
          </a:prstGeom>
          <a:ln>
            <a:noFill/>
          </a:ln>
          <a:extLst>
            <a:ext uri="{53640926-AAD7-44D8-BBD7-CCE9431645EC}">
              <a14:shadowObscured xmlns:a14="http://schemas.microsoft.com/office/drawing/2010/main"/>
            </a:ext>
          </a:extLst>
        </p:spPr>
      </p:pic>
      <p:pic>
        <p:nvPicPr>
          <p:cNvPr id="12" name="Picture 1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71875" y="3000363"/>
            <a:ext cx="1416050" cy="1416050"/>
          </a:xfrm>
          <a:prstGeom prst="rect">
            <a:avLst/>
          </a:prstGeom>
          <a:ln>
            <a:noFill/>
          </a:ln>
          <a:extLst>
            <a:ext uri="{53640926-AAD7-44D8-BBD7-CCE9431645EC}">
              <a14:shadowObscured xmlns:a14="http://schemas.microsoft.com/office/drawing/2010/main"/>
            </a:ext>
          </a:extLst>
        </p:spPr>
      </p:pic>
      <p:sp>
        <p:nvSpPr>
          <p:cNvPr id="14"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326</a:t>
            </a:r>
            <a:endParaRPr i="1" dirty="0">
              <a:latin typeface="Calibri"/>
              <a:ea typeface="Calibri"/>
              <a:cs typeface="Calibri"/>
              <a:sym typeface="Calibri"/>
            </a:endParaRP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195232"/>
            <a:ext cx="903304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14.4.2 Exploration: Calculating Theoretical Probability</a:t>
            </a:r>
          </a:p>
        </p:txBody>
      </p:sp>
      <p:pic>
        <p:nvPicPr>
          <p:cNvPr id="1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479175" y="1116395"/>
            <a:ext cx="5141006" cy="5217530"/>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tree diagram to determine the sample space.</a:t>
            </a:r>
          </a:p>
        </p:txBody>
      </p:sp>
      <p:sp>
        <p:nvSpPr>
          <p:cNvPr id="7"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A35BC6-D428-FC41-BDE5-6438AB8840FC}"/>
                  </a:ext>
                </a:extLst>
              </p:cNvPr>
              <p:cNvSpPr txBox="1"/>
              <p:nvPr/>
            </p:nvSpPr>
            <p:spPr>
              <a:xfrm>
                <a:off x="540565" y="410666"/>
                <a:ext cx="11018226" cy="548714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theoretical probability that the spinner lands on yellow and heads is flipped on the coin.</a:t>
                </a:r>
              </a:p>
              <a:p>
                <a:endParaRPr lang="en-US" sz="2000" i="1" dirty="0"/>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𝑦𝑒𝑙𝑙𝑜𝑤</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h𝑒𝑎𝑑𝑠</m:t>
                          </m:r>
                        </m:e>
                      </m:d>
                      <m:r>
                        <a:rPr lang="en-US" sz="2000" i="1">
                          <a:latin typeface="Cambria Math" panose="02040503050406030204" pitchFamily="18" charset="0"/>
                          <a:ea typeface="Cambria Math" panose="02040503050406030204" pitchFamily="18" charset="0"/>
                        </a:rPr>
                        <m:t>=</m:t>
                      </m:r>
                    </m:oMath>
                  </m:oMathPara>
                </a14:m>
                <a:endParaRPr lang="en-US" sz="2000"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 </a:t>
                </a:r>
              </a:p>
              <a:p>
                <a:pPr algn="ct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𝑡h𝑒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𝑛𝑢𝑚𝑏𝑒𝑟</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𝑜𝑓𝑜𝑢𝑡𝑐𝑜𝑚𝑒𝑠</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𝑡h𝑎𝑡</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𝑎𝑟𝑒</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𝑦𝑒𝑙𝑙𝑜𝑤</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h𝑒𝑎𝑑𝑠</m:t>
                              </m:r>
                            </m:e>
                          </m:d>
                        </m:num>
                        <m:den>
                          <m:r>
                            <a:rPr lang="en-US" sz="2000" i="1">
                              <a:latin typeface="Cambria Math" panose="02040503050406030204" pitchFamily="18" charset="0"/>
                              <a:ea typeface="Cambria Math" panose="02040503050406030204" pitchFamily="18" charset="0"/>
                            </a:rPr>
                            <m:t>𝑡𝑜𝑡𝑎𝑙</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𝑛𝑢𝑚𝑏𝑒𝑟</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𝑜𝑓</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𝑜𝑢𝑡𝑐𝑜𝑚𝑒𝑠</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𝑖𝑛</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𝑡h𝑒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𝑡𝑟𝑒𝑒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𝑑𝑖𝑎𝑔𝑟𝑎𝑚</m:t>
                          </m:r>
                        </m:den>
                      </m:f>
                    </m:oMath>
                  </m:oMathPara>
                </a14:m>
                <a:br>
                  <a:rPr lang="en-US" sz="2000" dirty="0">
                    <a:latin typeface="Cambria Math" panose="02040503050406030204" pitchFamily="18" charset="0"/>
                    <a:ea typeface="Cambria Math" panose="02040503050406030204" pitchFamily="18" charset="0"/>
                  </a:rPr>
                </a:br>
                <a:endParaRPr lang="en-US" sz="2000" dirty="0">
                  <a:latin typeface="Cambria Math" panose="02040503050406030204" pitchFamily="18" charset="0"/>
                  <a:ea typeface="Cambria Math" panose="02040503050406030204" pitchFamily="18" charset="0"/>
                </a:endParaRPr>
              </a:p>
              <a:p>
                <a:pPr algn="ctr"/>
                <a14:m>
                  <m:oMath xmlns:m="http://schemas.openxmlformats.org/officeDocument/2006/math">
                    <m:r>
                      <a:rPr lang="en-US" sz="2000" i="1">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         1        </m:t>
                        </m:r>
                      </m:num>
                      <m:den>
                        <m:r>
                          <a:rPr lang="en-US" sz="2000" i="1">
                            <a:latin typeface="Cambria Math" panose="02040503050406030204" pitchFamily="18" charset="0"/>
                            <a:ea typeface="Cambria Math" panose="02040503050406030204" pitchFamily="18" charset="0"/>
                          </a:rPr>
                          <m:t> </m:t>
                        </m:r>
                      </m:den>
                    </m:f>
                    <m:r>
                      <a:rPr lang="en-US" sz="2000" i="1">
                        <a:latin typeface="Cambria Math" panose="02040503050406030204" pitchFamily="18" charset="0"/>
                        <a:ea typeface="Cambria Math" panose="02040503050406030204" pitchFamily="18" charset="0"/>
                      </a:rPr>
                      <m:t> </m:t>
                    </m:r>
                  </m:oMath>
                </a14:m>
                <a:r>
                  <a:rPr lang="en-US" sz="2000" dirty="0">
                    <a:latin typeface="Cambria Math" panose="02040503050406030204" pitchFamily="18" charset="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0.100</m:t>
                    </m:r>
                  </m:oMath>
                </a14:m>
                <a:r>
                  <a:rPr lang="en-US" sz="2000" dirty="0">
                    <a:latin typeface="Cambria Math" panose="02040503050406030204" pitchFamily="18" charset="0"/>
                    <a:ea typeface="Cambria Math" panose="02040503050406030204" pitchFamily="18" charset="0"/>
                  </a:rPr>
                  <a:t> = </a:t>
                </a:r>
                <a14:m>
                  <m:oMath xmlns:m="http://schemas.openxmlformats.org/officeDocument/2006/math">
                    <m:r>
                      <a:rPr lang="en-US" sz="2000" i="1">
                        <a:latin typeface="Cambria Math" panose="02040503050406030204" pitchFamily="18" charset="0"/>
                        <a:ea typeface="Cambria Math" panose="02040503050406030204" pitchFamily="18" charset="0"/>
                      </a:rPr>
                      <m:t>                 %</m:t>
                    </m:r>
                  </m:oMath>
                </a14:m>
                <a:endParaRPr lang="en-US" sz="2000" dirty="0">
                  <a:latin typeface="Cambria Math" panose="02040503050406030204" pitchFamily="18" charset="0"/>
                  <a:ea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Find the theoretical probability that the spinner </a:t>
                </a:r>
                <a:r>
                  <a:rPr lang="en-US" sz="2000" i="1" dirty="0">
                    <a:latin typeface="Verdana" panose="020B0604030504040204" pitchFamily="34" charset="0"/>
                    <a:ea typeface="Verdana" panose="020B0604030504040204" pitchFamily="34" charset="0"/>
                    <a:cs typeface="Verdana" panose="020B0604030504040204" pitchFamily="34" charset="0"/>
                  </a:rPr>
                  <a:t>does not</a:t>
                </a:r>
                <a:r>
                  <a:rPr lang="en-US" sz="2000" dirty="0">
                    <a:latin typeface="Verdana" panose="020B0604030504040204" pitchFamily="34" charset="0"/>
                    <a:ea typeface="Verdana" panose="020B0604030504040204" pitchFamily="34" charset="0"/>
                    <a:cs typeface="Verdana" panose="020B0604030504040204" pitchFamily="34" charset="0"/>
                  </a:rPr>
                  <a:t> land on blue and the coin lands tails up, P(not blue, tails).</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theoretical probability that the spinner lands on a primary color (red, blue, or yellow) and the coin lands tails up, P(primary color, tails)?</a:t>
                </a:r>
              </a:p>
            </p:txBody>
          </p:sp>
        </mc:Choice>
        <mc:Fallback xmlns="">
          <p:sp>
            <p:nvSpPr>
              <p:cNvPr id="12" name="TextBox 11">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5487143"/>
              </a:xfrm>
              <a:prstGeom prst="rect">
                <a:avLst/>
              </a:prstGeom>
              <a:blipFill rotWithShape="1">
                <a:blip r:embed="rId3"/>
                <a:stretch>
                  <a:fillRect l="-609" t="-667" r="-1328" b="-1111"/>
                </a:stretch>
              </a:blipFill>
            </p:spPr>
            <p:txBody>
              <a:bodyPr/>
              <a:lstStyle/>
              <a:p>
                <a:r>
                  <a:rPr lang="en-US">
                    <a:noFill/>
                  </a:rPr>
                  <a:t> </a:t>
                </a:r>
              </a:p>
            </p:txBody>
          </p:sp>
        </mc:Fallback>
      </mc:AlternateContent>
      <p:sp>
        <p:nvSpPr>
          <p:cNvPr id="7" name="Rounded Rectangle 6"/>
          <p:cNvSpPr/>
          <p:nvPr/>
        </p:nvSpPr>
        <p:spPr>
          <a:xfrm>
            <a:off x="6665569" y="2874885"/>
            <a:ext cx="811530" cy="56007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ounded Rectangle 7"/>
          <p:cNvSpPr/>
          <p:nvPr/>
        </p:nvSpPr>
        <p:spPr>
          <a:xfrm>
            <a:off x="4600603" y="3251835"/>
            <a:ext cx="811530" cy="56007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820094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One way to evaluate the accuracy of theoretical probabilities is to compare them to experimental probabilities.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conduct 50 trials of the game where Spinner B is spun and a fair coin is flipped. Using a fair decision-making process, decide which partner will be in charge of spinning the spinner and which will be in charge of flipping the coin.  </a:t>
                </a:r>
              </a:p>
              <a:p>
                <a:pPr marL="465138"/>
                <a:r>
                  <a:rPr lang="en-US" sz="2000" dirty="0">
                    <a:latin typeface="Verdana" panose="020B0604030504040204" pitchFamily="34" charset="0"/>
                    <a:ea typeface="Verdana" panose="020B0604030504040204" pitchFamily="34" charset="0"/>
                    <a:cs typeface="Verdana" panose="020B0604030504040204" pitchFamily="34" charset="0"/>
                  </a:rPr>
                  <a:t>Record your data in the table by tallying each outcome in the middle column. After you have completed the simulation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times, record the total number of occurrences for each outcome.</a:t>
                </a:r>
              </a:p>
            </p:txBody>
          </p:sp>
        </mc:Choice>
        <mc:Fallback xmlns="">
          <p:sp>
            <p:nvSpPr>
              <p:cNvPr id="10" name="TextBox 9">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3170099"/>
              </a:xfrm>
              <a:prstGeom prst="rect">
                <a:avLst/>
              </a:prstGeom>
              <a:blipFill rotWithShape="1">
                <a:blip r:embed="rId4"/>
                <a:stretch>
                  <a:fillRect l="-609" t="-962" r="-1273" b="-2500"/>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788847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12" name="Table 11"/>
          <p:cNvGraphicFramePr>
            <a:graphicFrameLocks noGrp="1"/>
          </p:cNvGraphicFramePr>
          <p:nvPr>
            <p:extLst>
              <p:ext uri="{D42A27DB-BD31-4B8C-83A1-F6EECF244321}">
                <p14:modId xmlns:p14="http://schemas.microsoft.com/office/powerpoint/2010/main" val="4048411201"/>
              </p:ext>
            </p:extLst>
          </p:nvPr>
        </p:nvGraphicFramePr>
        <p:xfrm>
          <a:off x="2175068" y="412900"/>
          <a:ext cx="7774704" cy="4800600"/>
        </p:xfrm>
        <a:graphic>
          <a:graphicData uri="http://schemas.openxmlformats.org/drawingml/2006/table">
            <a:tbl>
              <a:tblPr firstRow="1" firstCol="1" bandRow="1">
                <a:tableStyleId>{5940675A-B579-460E-94D1-54222C63F5DA}</a:tableStyleId>
              </a:tblPr>
              <a:tblGrid>
                <a:gridCol w="2286000">
                  <a:extLst>
                    <a:ext uri="{9D8B030D-6E8A-4147-A177-3AD203B41FA5}">
                      <a16:colId xmlns:a16="http://schemas.microsoft.com/office/drawing/2014/main" val="20000"/>
                    </a:ext>
                  </a:extLst>
                </a:gridCol>
                <a:gridCol w="2745504">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894601">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Outcome</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Times the Outcome Occurs</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Experimental Probability of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Each Outcome</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Red, heads</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23234" marR="23234"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Red, tails</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23234" marR="23234"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777240">
                <a:tc>
                  <a:txBody>
                    <a:bodyPr/>
                    <a:lstStyle/>
                    <a:p>
                      <a:pPr marL="0" marR="3429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Orange, heads</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23234" marR="23234"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77240">
                <a:tc>
                  <a:txBody>
                    <a:bodyPr/>
                    <a:lstStyle/>
                    <a:p>
                      <a:pPr marL="0" marR="3429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Orange, tails</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lgn="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23234" marR="23234"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Yellow, heads</a:t>
                      </a:r>
                    </a:p>
                  </a:txBody>
                  <a:tcPr marL="23234" marR="2323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34290" algn="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23234" marR="23234"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7"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825856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794643998"/>
                  </p:ext>
                </p:extLst>
              </p:nvPr>
            </p:nvGraphicFramePr>
            <p:xfrm>
              <a:off x="2176704" y="410666"/>
              <a:ext cx="7772400" cy="5577840"/>
            </p:xfrm>
            <a:graphic>
              <a:graphicData uri="http://schemas.openxmlformats.org/drawingml/2006/table">
                <a:tbl>
                  <a:tblPr firstRow="1" firstCol="1" bandRow="1">
                    <a:tableStyleId>{5940675A-B579-460E-94D1-54222C63F5DA}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55860">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Outcome</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Times the Outcome Occurs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Experimental Probability of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Each Outcome</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Yellow, tails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Green, heads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Green, tails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Blue, heads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Blue, tails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Overall Total</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50</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1=100%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794643998"/>
                  </p:ext>
                </p:extLst>
              </p:nvPr>
            </p:nvGraphicFramePr>
            <p:xfrm>
              <a:off x="2176704" y="410666"/>
              <a:ext cx="7772400" cy="5577840"/>
            </p:xfrm>
            <a:graphic>
              <a:graphicData uri="http://schemas.openxmlformats.org/drawingml/2006/table">
                <a:tbl>
                  <a:tblPr firstRow="1" firstCol="1" bandRow="1">
                    <a:tableStyleId>{5940675A-B579-460E-94D1-54222C63F5DA}</a:tableStyleId>
                  </a:tblPr>
                  <a:tblGrid>
                    <a:gridCol w="2286000">
                      <a:extLst>
                        <a:ext uri="{9D8B030D-6E8A-4147-A177-3AD203B41FA5}">
                          <a16:colId xmlns:a16="http://schemas.microsoft.com/office/drawing/2014/main" xmlns:a14="http://schemas.microsoft.com/office/drawing/2010/main" xmlns="" val="20000"/>
                        </a:ext>
                      </a:extLst>
                    </a:gridCol>
                    <a:gridCol w="2743200">
                      <a:extLst>
                        <a:ext uri="{9D8B030D-6E8A-4147-A177-3AD203B41FA5}">
                          <a16:colId xmlns:a16="http://schemas.microsoft.com/office/drawing/2014/main" xmlns:a14="http://schemas.microsoft.com/office/drawing/2010/main" xmlns="" val="20001"/>
                        </a:ext>
                      </a:extLst>
                    </a:gridCol>
                    <a:gridCol w="2743200">
                      <a:extLst>
                        <a:ext uri="{9D8B030D-6E8A-4147-A177-3AD203B41FA5}">
                          <a16:colId xmlns:a16="http://schemas.microsoft.com/office/drawing/2014/main" xmlns:a14="http://schemas.microsoft.com/office/drawing/2010/main" xmlns="" val="20002"/>
                        </a:ext>
                      </a:extLst>
                    </a:gridCol>
                  </a:tblGrid>
                  <a:tr h="914400">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Outcome</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Times the Outcome Occurs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Experimental Probability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Each </a:t>
                          </a:r>
                          <a:r>
                            <a:rPr lang="en-US" sz="2000" b="1" dirty="0">
                              <a:effectLst/>
                              <a:latin typeface="Verdana" panose="020B0604030504040204" pitchFamily="34" charset="0"/>
                              <a:ea typeface="Verdana" panose="020B0604030504040204" pitchFamily="34" charset="0"/>
                              <a:cs typeface="Verdana" panose="020B0604030504040204" pitchFamily="34" charset="0"/>
                            </a:rPr>
                            <a:t>Outcome</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Yellow, tails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Green, heads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Green, tails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Blue, heads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Blue, tails</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3429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Total:</a:t>
                          </a:r>
                        </a:p>
                      </a:txBody>
                      <a:tcPr marL="40558" marR="40558"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0558" marR="4055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r h="777240">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Overall Total</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50</a:t>
                          </a:r>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0558" marR="4055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83333" t="-629921" r="-222" b="-787"/>
                          </a:stretch>
                        </a:blipFill>
                      </a:tcPr>
                    </a:tc>
                    <a:extLst>
                      <a:ext uri="{0D108BD9-81ED-4DB2-BD59-A6C34878D82A}">
                        <a16:rowId xmlns:a16="http://schemas.microsoft.com/office/drawing/2014/main" xmlns:a14="http://schemas.microsoft.com/office/drawing/2010/main" xmlns="" val="10006"/>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491626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A35BC6-D428-FC41-BDE5-6438AB8840FC}"/>
                  </a:ext>
                </a:extLst>
              </p:cNvPr>
              <p:cNvSpPr txBox="1"/>
              <p:nvPr/>
            </p:nvSpPr>
            <p:spPr>
              <a:xfrm>
                <a:off x="540565" y="410666"/>
                <a:ext cx="11018226" cy="3913315"/>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Find the experimental probability of each outcome in the sample space and record it in the last column in the table. For example, to find the experimental probability of the outcome “yellow, heads,” divide the number of times the outcome occurred by the total number of trials. Suppose “yellow, heads” occurred 7 times in the experiment. </a:t>
                </a:r>
              </a:p>
              <a:p>
                <a:pPr marL="465138"/>
                <a:endParaRPr lang="en-PH" sz="20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P(yellow, heads) =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7</m:t>
                        </m:r>
                      </m:num>
                      <m:den>
                        <m:r>
                          <a:rPr lang="en-US" sz="2000" i="1">
                            <a:latin typeface="Cambria Math" panose="02040503050406030204" pitchFamily="18" charset="0"/>
                            <a:ea typeface="Cambria Math" panose="02040503050406030204" pitchFamily="18" charset="0"/>
                          </a:rPr>
                          <m:t>50</m:t>
                        </m:r>
                      </m:den>
                    </m:f>
                    <m:r>
                      <a:rPr lang="en-US" sz="2000" i="1">
                        <a:latin typeface="Cambria Math" panose="02040503050406030204" pitchFamily="18" charset="0"/>
                        <a:ea typeface="Cambria Math" panose="02040503050406030204" pitchFamily="18" charset="0"/>
                      </a:rPr>
                      <m:t> =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                 </m:t>
                        </m:r>
                      </m:num>
                      <m:den>
                        <m:r>
                          <a:rPr lang="en-US" sz="2000" i="1">
                            <a:latin typeface="Cambria Math" panose="02040503050406030204" pitchFamily="18" charset="0"/>
                            <a:ea typeface="Cambria Math" panose="02040503050406030204" pitchFamily="18" charset="0"/>
                          </a:rPr>
                          <m:t>100</m:t>
                        </m:r>
                      </m:den>
                    </m:f>
                    <m:r>
                      <a:rPr lang="en-US" sz="2000" i="1">
                        <a:latin typeface="Cambria Math" panose="02040503050406030204" pitchFamily="18" charset="0"/>
                        <a:ea typeface="Cambria Math" panose="02040503050406030204" pitchFamily="18" charset="0"/>
                      </a:rPr>
                      <m:t> =                  = 14% </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Find the experimental probability that the spinner </a:t>
                </a:r>
                <a:r>
                  <a:rPr lang="en-US" sz="2000" i="1" dirty="0">
                    <a:latin typeface="Verdana" panose="020B0604030504040204" pitchFamily="34" charset="0"/>
                    <a:ea typeface="Verdana" panose="020B0604030504040204" pitchFamily="34" charset="0"/>
                    <a:cs typeface="Verdana" panose="020B0604030504040204" pitchFamily="34" charset="0"/>
                  </a:rPr>
                  <a:t>does not</a:t>
                </a:r>
                <a:r>
                  <a:rPr lang="en-US" sz="2000" dirty="0">
                    <a:latin typeface="Verdana" panose="020B0604030504040204" pitchFamily="34" charset="0"/>
                    <a:ea typeface="Verdana" panose="020B0604030504040204" pitchFamily="34" charset="0"/>
                    <a:cs typeface="Verdana" panose="020B0604030504040204" pitchFamily="34" charset="0"/>
                  </a:rPr>
                  <a:t> land on blue and the coin lands tails up, P(not blue, tails).</a:t>
                </a:r>
              </a:p>
            </p:txBody>
          </p:sp>
        </mc:Choice>
        <mc:Fallback xmlns="">
          <p:sp>
            <p:nvSpPr>
              <p:cNvPr id="12" name="TextBox 11">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3913315"/>
              </a:xfrm>
              <a:prstGeom prst="rect">
                <a:avLst/>
              </a:prstGeom>
              <a:blipFill rotWithShape="1">
                <a:blip r:embed="rId3"/>
                <a:stretch>
                  <a:fillRect l="-609" t="-935" r="-498" b="-1869"/>
                </a:stretch>
              </a:blipFill>
            </p:spPr>
            <p:txBody>
              <a:bodyPr/>
              <a:lstStyle/>
              <a:p>
                <a:r>
                  <a:rPr lang="en-US">
                    <a:noFill/>
                  </a:rPr>
                  <a:t> </a:t>
                </a:r>
              </a:p>
            </p:txBody>
          </p:sp>
        </mc:Fallback>
      </mc:AlternateContent>
      <p:sp>
        <p:nvSpPr>
          <p:cNvPr id="7" name="Rounded Rectangle 6"/>
          <p:cNvSpPr/>
          <p:nvPr/>
        </p:nvSpPr>
        <p:spPr>
          <a:xfrm>
            <a:off x="5361987" y="2600310"/>
            <a:ext cx="83883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ounded Rectangle 7"/>
          <p:cNvSpPr/>
          <p:nvPr/>
        </p:nvSpPr>
        <p:spPr>
          <a:xfrm>
            <a:off x="4384167" y="2295387"/>
            <a:ext cx="514350"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120599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328</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3785652"/>
          </a:xfrm>
          <a:prstGeom prst="rect">
            <a:avLst/>
          </a:prstGeom>
          <a:noFill/>
        </p:spPr>
        <p:txBody>
          <a:bodyPr wrap="square" rtlCol="0">
            <a:spAutoFit/>
          </a:bodyPr>
          <a:lstStyle/>
          <a:p>
            <a:pPr marL="571500" indent="-4572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What is the experimental probability that the spinner lands on a primary color (red, blue, or yellow) and the coin lands tails up, P(primary color, tails)?</a:t>
            </a: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71500" indent="-4572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Explain how these experimental probabilities compare to the theoretical probabilities you calculated using the tree diagram.</a:t>
            </a: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Why do you think the experimental probabilities differed from the theoretical probabilities?</a:t>
            </a:r>
          </a:p>
        </p:txBody>
      </p:sp>
    </p:spTree>
    <p:extLst>
      <p:ext uri="{BB962C8B-B14F-4D97-AF65-F5344CB8AC3E}">
        <p14:creationId xmlns:p14="http://schemas.microsoft.com/office/powerpoint/2010/main" val="3694047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78;g104476d1465_1_17">
            <a:extLst>
              <a:ext uri="{FF2B5EF4-FFF2-40B4-BE49-F238E27FC236}">
                <a16:creationId xmlns:a16="http://schemas.microsoft.com/office/drawing/2014/main" id="{EC2600D5-FE51-9C45-B0CD-9B63FA1854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14"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156764"/>
            <a:ext cx="10478463"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14.4.3 Collaboration: </a:t>
            </a:r>
            <a:br>
              <a:rPr lang="en-US" sz="32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Compound Probability</a:t>
            </a:r>
          </a:p>
        </p:txBody>
      </p:sp>
      <p:pic>
        <p:nvPicPr>
          <p:cNvPr id="16"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4DF7DE-9172-3E4E-B74A-7A51585FB6EA}"/>
                  </a:ext>
                </a:extLst>
              </p:cNvPr>
              <p:cNvSpPr txBox="1"/>
              <p:nvPr/>
            </p:nvSpPr>
            <p:spPr>
              <a:xfrm>
                <a:off x="529070" y="1386025"/>
                <a:ext cx="11001514" cy="324665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complete the probability table to show the theoretical probabilities of each step of an experiment and the overall probability of the event.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65138"/>
                <a:r>
                  <a:rPr lang="en-US" sz="2000" dirty="0">
                    <a:latin typeface="Verdana" panose="020B0604030504040204" pitchFamily="34" charset="0"/>
                    <a:ea typeface="Verdana" panose="020B0604030504040204" pitchFamily="34" charset="0"/>
                    <a:cs typeface="Verdana" panose="020B0604030504040204" pitchFamily="34" charset="0"/>
                  </a:rPr>
                  <a:t>For example, in the P(yellow, heads) row, the theoretical probability of the first step of this event, spinning yellow on Spinner B, is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therefore,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is written in the “…First step” column. Next to that, the theoretical probability of landing on heads when a fair coin is flipped,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is recorded. The overall theoretical probability, P(yellow, heads),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10</m:t>
                        </m:r>
                      </m:den>
                    </m:f>
                  </m:oMath>
                </a14:m>
                <a:r>
                  <a:rPr lang="en-US" sz="2000" dirty="0">
                    <a:latin typeface="Verdana" panose="020B0604030504040204" pitchFamily="34" charset="0"/>
                    <a:ea typeface="Verdana" panose="020B0604030504040204" pitchFamily="34" charset="0"/>
                    <a:cs typeface="Verdana" panose="020B0604030504040204" pitchFamily="34" charset="0"/>
                  </a:rPr>
                  <a:t>, is written in the “…Event” column.</a:t>
                </a:r>
              </a:p>
            </p:txBody>
          </p:sp>
        </mc:Choice>
        <mc:Fallback xmlns="">
          <p:sp>
            <p:nvSpPr>
              <p:cNvPr id="17" name="TextBox 16">
                <a:extLst>
                  <a:ext uri="{FF2B5EF4-FFF2-40B4-BE49-F238E27FC236}">
                    <a16:creationId xmlns:a16="http://schemas.microsoft.com/office/drawing/2014/main" xmlns="" id="{E44DF7DE-9172-3E4E-B74A-7A51585FB6EA}"/>
                  </a:ext>
                </a:extLst>
              </p:cNvPr>
              <p:cNvSpPr txBox="1">
                <a:spLocks noRot="1" noChangeAspect="1" noMove="1" noResize="1" noEditPoints="1" noAdjustHandles="1" noChangeArrowheads="1" noChangeShapeType="1" noTextEdit="1"/>
              </p:cNvSpPr>
              <p:nvPr/>
            </p:nvSpPr>
            <p:spPr>
              <a:xfrm>
                <a:off x="529070" y="1386025"/>
                <a:ext cx="11001514" cy="3246658"/>
              </a:xfrm>
              <a:prstGeom prst="rect">
                <a:avLst/>
              </a:prstGeom>
              <a:blipFill rotWithShape="1">
                <a:blip r:embed="rId5"/>
                <a:stretch>
                  <a:fillRect l="-609" t="-1126"/>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2672842" y="520394"/>
            <a:ext cx="6846316" cy="5100642"/>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3964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2322141" y="1317118"/>
            <a:ext cx="7498080" cy="3804664"/>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585364" y="400325"/>
            <a:ext cx="10971635"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Suppose a fair coin is tossed three times. Complete the table. </a:t>
            </a:r>
          </a:p>
        </p:txBody>
      </p:sp>
    </p:spTree>
    <p:extLst>
      <p:ext uri="{BB962C8B-B14F-4D97-AF65-F5344CB8AC3E}">
        <p14:creationId xmlns:p14="http://schemas.microsoft.com/office/powerpoint/2010/main" val="1320626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585364" y="400325"/>
            <a:ext cx="10971635" cy="3046988"/>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tables? </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What do you wonder about the tables? </a:t>
            </a:r>
          </a:p>
        </p:txBody>
      </p:sp>
    </p:spTree>
    <p:extLst>
      <p:ext uri="{BB962C8B-B14F-4D97-AF65-F5344CB8AC3E}">
        <p14:creationId xmlns:p14="http://schemas.microsoft.com/office/powerpoint/2010/main" val="865199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TextBox 7">
            <a:extLst>
              <a:ext uri="{FF2B5EF4-FFF2-40B4-BE49-F238E27FC236}">
                <a16:creationId xmlns:a16="http://schemas.microsoft.com/office/drawing/2014/main" id="{669E00F9-F39F-5043-888E-B0A2D8C9AE0F}"/>
              </a:ext>
            </a:extLst>
          </p:cNvPr>
          <p:cNvSpPr txBox="1"/>
          <p:nvPr/>
        </p:nvSpPr>
        <p:spPr>
          <a:xfrm>
            <a:off x="914400" y="1498930"/>
            <a:ext cx="10657114"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theoretical probability of the outcomes in a </a:t>
            </a: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multi-step experiment can be found by		                  </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tabLst>
                <a:tab pos="5029200" algn="l"/>
              </a:tabLst>
            </a:pPr>
            <a:r>
              <a:rPr lang="en-US" sz="2400" dirty="0">
                <a:latin typeface="Verdana" panose="020B0604030504040204" pitchFamily="34" charset="0"/>
                <a:ea typeface="Verdana" panose="020B0604030504040204" pitchFamily="34" charset="0"/>
                <a:cs typeface="Verdana" panose="020B0604030504040204" pitchFamily="34" charset="0"/>
              </a:rPr>
              <a:t>the	of the outcome for </a:t>
            </a: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each step of the experiment.</a:t>
            </a:r>
          </a:p>
        </p:txBody>
      </p:sp>
      <p:sp>
        <p:nvSpPr>
          <p:cNvPr id="10" name="Google Shape;278;g104476d1465_1_17">
            <a:extLst>
              <a:ext uri="{FF2B5EF4-FFF2-40B4-BE49-F238E27FC236}">
                <a16:creationId xmlns:a16="http://schemas.microsoft.com/office/drawing/2014/main" id="{184E346C-1485-3C45-9A4A-2D894EB8F58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7593806" y="2379274"/>
            <a:ext cx="2156114" cy="916968"/>
          </a:xfrm>
          <a:prstGeom prst="rect">
            <a:avLst/>
          </a:prstGeom>
        </p:spPr>
      </p:pic>
      <p:pic>
        <p:nvPicPr>
          <p:cNvPr id="3" name="Picture 2"/>
          <p:cNvPicPr>
            <a:picLocks noChangeAspect="1"/>
          </p:cNvPicPr>
          <p:nvPr/>
        </p:nvPicPr>
        <p:blipFill>
          <a:blip r:embed="rId4"/>
          <a:stretch>
            <a:fillRect/>
          </a:stretch>
        </p:blipFill>
        <p:spPr>
          <a:xfrm>
            <a:off x="2052911" y="3501921"/>
            <a:ext cx="3763352" cy="885495"/>
          </a:xfrm>
          <a:prstGeom prst="rect">
            <a:avLst/>
          </a:prstGeom>
        </p:spPr>
      </p:pic>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115600"/>
            <a:ext cx="1028864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14.4.4 Bring It Together: Calculating Theoretical Probability</a:t>
            </a:r>
          </a:p>
        </p:txBody>
      </p:sp>
      <p:pic>
        <p:nvPicPr>
          <p:cNvPr id="16" name="Picture 2" descr="Icon&#10;&#10;Description automatically generated">
            <a:extLst>
              <a:ext uri="{FF2B5EF4-FFF2-40B4-BE49-F238E27FC236}">
                <a16:creationId xmlns:a16="http://schemas.microsoft.com/office/drawing/2014/main" id="{108F4C35-3A24-A244-BB28-81EF2D36CAC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00928" y="22390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856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AA35BC6-D428-FC41-BDE5-6438AB8840FC}"/>
                  </a:ext>
                </a:extLst>
              </p:cNvPr>
              <p:cNvSpPr txBox="1"/>
              <p:nvPr/>
            </p:nvSpPr>
            <p:spPr>
              <a:xfrm>
                <a:off x="540565" y="410666"/>
                <a:ext cx="11018226" cy="605396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In a two-step experiment where a fair, six-sided die is rolled and a fair coin is flipped, the theoretical probability of rolling a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and the coin landing on tails, P(3, tail), is found by:</a:t>
                </a:r>
              </a:p>
              <a:p>
                <a:pPr>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First, find the theoretical probability of getting a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on a fair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six-sided die, P(3) =		. Next, find the	</a:t>
                </a:r>
              </a:p>
              <a:p>
                <a:pPr>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probability of a fair coin landing on tails, P(tails) =    	   </a:t>
                </a:r>
              </a:p>
              <a:p>
                <a:pPr>
                  <a:lnSpc>
                    <a:spcPct val="250000"/>
                  </a:lnSpc>
                  <a:tabLst>
                    <a:tab pos="2514600" algn="l"/>
                    <a:tab pos="2628900" algn="l"/>
                  </a:tabLst>
                </a:pPr>
                <a:r>
                  <a:rPr lang="en-US" sz="2000" dirty="0">
                    <a:latin typeface="Verdana" panose="020B0604030504040204" pitchFamily="34" charset="0"/>
                    <a:ea typeface="Verdana" panose="020B0604030504040204" pitchFamily="34" charset="0"/>
                    <a:cs typeface="Verdana" panose="020B0604030504040204" pitchFamily="34" charset="0"/>
                  </a:rPr>
                  <a:t>Finally,	the probabilities of these steps to determine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probability of the outcome,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6</m:t>
                        </m:r>
                      </m:den>
                    </m:f>
                    <m:r>
                      <a:rPr lang="en-US" sz="2000" i="1">
                        <a:latin typeface="Cambria Math" panose="02040503050406030204" pitchFamily="18" charset="0"/>
                        <a:ea typeface="Cambria Math" panose="02040503050406030204" pitchFamily="18" charset="0"/>
                      </a:rPr>
                      <m:t>•            =12</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So, P(3, tails)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12</m:t>
                        </m:r>
                      </m:den>
                    </m:f>
                    <m:r>
                      <a:rPr lang="en-US" sz="2000" i="1">
                        <a:latin typeface="Cambria Math" panose="02040503050406030204" pitchFamily="18" charset="0"/>
                        <a:ea typeface="Verdana" panose="020B0604030504040204" pitchFamily="34" charset="0"/>
                        <a:cs typeface="Verdana" panose="020B0604030504040204" pitchFamily="34" charset="0"/>
                      </a:rPr>
                      <m:t>=</m:t>
                    </m:r>
                    <m:r>
                      <a:rPr lang="en-US" sz="2000" i="1">
                        <a:latin typeface="Cambria Math" panose="02040503050406030204" pitchFamily="18" charset="0"/>
                        <a:ea typeface="Cambria Math" panose="02040503050406030204" pitchFamily="18" charset="0"/>
                      </a:rPr>
                      <m:t>                  =8.3%</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6" name="TextBox 15">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1018226" cy="6053965"/>
              </a:xfrm>
              <a:prstGeom prst="rect">
                <a:avLst/>
              </a:prstGeom>
              <a:blipFill rotWithShape="1">
                <a:blip r:embed="rId3"/>
                <a:stretch>
                  <a:fillRect l="-609" t="-60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F8FE04BB-F3FA-5B4A-8F1B-F17A449A27C9}"/>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39250" y="2000833"/>
            <a:ext cx="822445" cy="1238683"/>
          </a:xfrm>
          <a:prstGeom prst="rect">
            <a:avLst/>
          </a:prstGeom>
        </p:spPr>
      </p:pic>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41145" y="2212444"/>
            <a:ext cx="2083953" cy="815460"/>
          </a:xfrm>
          <a:prstGeom prst="rect">
            <a:avLst/>
          </a:prstGeom>
        </p:spPr>
      </p:pic>
      <p:pic>
        <p:nvPicPr>
          <p:cNvPr id="4" name="Picture 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34712" y="3139322"/>
            <a:ext cx="1138475" cy="760466"/>
          </a:xfrm>
          <a:prstGeom prst="rect">
            <a:avLst/>
          </a:prstGeom>
        </p:spPr>
      </p:pic>
      <p:pic>
        <p:nvPicPr>
          <p:cNvPr id="5" name="Picture 4"/>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677924" y="3764315"/>
            <a:ext cx="1380735" cy="750775"/>
          </a:xfrm>
          <a:prstGeom prst="rect">
            <a:avLst/>
          </a:prstGeom>
        </p:spPr>
      </p:pic>
      <p:sp>
        <p:nvSpPr>
          <p:cNvPr id="10" name="Rounded Rectangle 9"/>
          <p:cNvSpPr/>
          <p:nvPr/>
        </p:nvSpPr>
        <p:spPr>
          <a:xfrm>
            <a:off x="5078349" y="4776088"/>
            <a:ext cx="407440" cy="714895"/>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ounded Rectangle 10"/>
          <p:cNvSpPr/>
          <p:nvPr/>
        </p:nvSpPr>
        <p:spPr>
          <a:xfrm>
            <a:off x="3247576" y="5797053"/>
            <a:ext cx="845820" cy="484505"/>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15"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65626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AA35BC6-D428-FC41-BDE5-6438AB8840FC}"/>
                  </a:ext>
                </a:extLst>
              </p:cNvPr>
              <p:cNvSpPr txBox="1"/>
              <p:nvPr/>
            </p:nvSpPr>
            <p:spPr>
              <a:xfrm>
                <a:off x="540565" y="410666"/>
                <a:ext cx="11018226"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a two-step experiment where the results in one step do not influence the results in the other step, P(A and B) = P(event A) • P(event B).</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250000"/>
                  </a:lnSpc>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In a repeated experiment where a fair coin is tossed six times, the theoretical probability of landing on tails every time is found by			the theoretical probability of landing on tails for each trial.</a:t>
                </a:r>
              </a:p>
              <a:p>
                <a:pPr marL="465138">
                  <a:lnSpc>
                    <a:spcPct val="250000"/>
                  </a:lnSpc>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𝑎𝑙𝑙</m:t>
                      </m:r>
                      <m:r>
                        <a:rPr lang="en-US" sz="2000" i="1">
                          <a:latin typeface="Cambria Math" panose="02040503050406030204" pitchFamily="18" charset="0"/>
                        </a:rPr>
                        <m:t> </m:t>
                      </m:r>
                      <m:r>
                        <a:rPr lang="en-US" sz="2000" b="0" i="1" smtClean="0">
                          <a:latin typeface="Cambria Math" panose="02040503050406030204" pitchFamily="18" charset="0"/>
                        </a:rPr>
                        <m:t>𝑡𝑎𝑖𝑙𝑠</m:t>
                      </m:r>
                      <m:r>
                        <a:rPr lang="en-US" sz="2000" i="1">
                          <a:latin typeface="Cambria Math" panose="02040503050406030204" pitchFamily="18" charset="0"/>
                        </a:rPr>
                        <m:t>) = </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0666"/>
                <a:ext cx="11018226" cy="4093428"/>
              </a:xfrm>
              <a:prstGeom prst="rect">
                <a:avLst/>
              </a:prstGeom>
              <a:blipFill>
                <a:blip r:embed="rId3"/>
                <a:stretch>
                  <a:fillRect l="-609" t="-74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F8FE04BB-F3FA-5B4A-8F1B-F17A449A27C9}"/>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59260" y="2214398"/>
            <a:ext cx="1840563" cy="791695"/>
          </a:xfrm>
          <a:prstGeom prst="rect">
            <a:avLst/>
          </a:prstGeom>
        </p:spPr>
      </p:pic>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34264" y="3618256"/>
            <a:ext cx="5736226" cy="1069923"/>
          </a:xfrm>
          <a:prstGeom prst="rect">
            <a:avLst/>
          </a:prstGeom>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39594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id="{535320C0-DAB2-7C41-B3D0-5B31075C43F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331</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14.4.5 Wrap-Up: Cool Down</a:t>
            </a:r>
          </a:p>
        </p:txBody>
      </p:sp>
      <p:pic>
        <p:nvPicPr>
          <p:cNvPr id="15"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6" name="TextBox 15">
            <a:extLst>
              <a:ext uri="{FF2B5EF4-FFF2-40B4-BE49-F238E27FC236}">
                <a16:creationId xmlns:a16="http://schemas.microsoft.com/office/drawing/2014/main" id="{0370EDB7-6994-3D43-ABF9-E04CBAFB9CD9}"/>
              </a:ext>
            </a:extLst>
          </p:cNvPr>
          <p:cNvSpPr txBox="1"/>
          <p:nvPr/>
        </p:nvSpPr>
        <p:spPr>
          <a:xfrm>
            <a:off x="730266" y="1237668"/>
            <a:ext cx="9883076"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a short note to a friend who missed today’s class summarizing what you learned.</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1544</TotalTime>
  <Words>1400</Words>
  <Application>Microsoft Macintosh PowerPoint</Application>
  <PresentationFormat>Widescreen</PresentationFormat>
  <Paragraphs>201</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Wingdings</vt:lpstr>
      <vt:lpstr>Verdana</vt:lpstr>
      <vt:lpstr>Arial</vt:lpstr>
      <vt:lpstr>Century Gothic</vt:lpstr>
      <vt:lpstr>Calibri</vt:lpstr>
      <vt:lpstr>Arial Black</vt:lpstr>
      <vt:lpstr>Cambria Math</vt:lpstr>
      <vt:lpstr>1_Office Theme</vt:lpstr>
      <vt:lpstr>PowerPoint Presentation</vt:lpstr>
      <vt:lpstr>PowerPoint Presentation</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44</cp:revision>
  <dcterms:created xsi:type="dcterms:W3CDTF">2015-03-17T18:51:18Z</dcterms:created>
  <dcterms:modified xsi:type="dcterms:W3CDTF">2023-02-09T14:36:27Z</dcterms:modified>
</cp:coreProperties>
</file>