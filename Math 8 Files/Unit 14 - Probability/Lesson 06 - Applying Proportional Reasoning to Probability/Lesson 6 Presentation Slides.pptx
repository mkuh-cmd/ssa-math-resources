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311" r:id="rId8"/>
    <p:sldId id="312" r:id="rId9"/>
    <p:sldId id="343" r:id="rId10"/>
    <p:sldId id="352" r:id="rId11"/>
    <p:sldId id="353" r:id="rId12"/>
    <p:sldId id="288" r:id="rId13"/>
    <p:sldId id="314" r:id="rId14"/>
    <p:sldId id="315" r:id="rId15"/>
    <p:sldId id="342" r:id="rId16"/>
    <p:sldId id="354" r:id="rId17"/>
    <p:sldId id="329" r:id="rId18"/>
    <p:sldId id="330" r:id="rId19"/>
    <p:sldId id="355" r:id="rId20"/>
    <p:sldId id="320" r:id="rId21"/>
    <p:sldId id="321" r:id="rId22"/>
    <p:sldId id="349" r:id="rId23"/>
    <p:sldId id="345" r:id="rId24"/>
    <p:sldId id="302" r:id="rId25"/>
    <p:sldId id="303" r:id="rId26"/>
    <p:sldId id="350" r:id="rId27"/>
    <p:sldId id="356" r:id="rId28"/>
    <p:sldId id="306" r:id="rId29"/>
    <p:sldId id="307" r:id="rId30"/>
  </p:sldIdLst>
  <p:sldSz cx="12192000" cy="6858000"/>
  <p:notesSz cx="6858000" cy="9144000"/>
  <p:embeddedFontLst>
    <p:embeddedFont>
      <p:font typeface="Calibri" pitchFamily="34" charset="0"/>
      <p:regular r:id="rId32"/>
      <p:bold r:id="rId33"/>
      <p:italic r:id="rId34"/>
      <p:boldItalic r:id="rId35"/>
    </p:embeddedFont>
    <p:embeddedFont>
      <p:font typeface="Century Gothic" pitchFamily="34" charset="0"/>
      <p:regular r:id="rId36"/>
      <p:bold r:id="rId37"/>
      <p:italic r:id="rId38"/>
      <p:boldItalic r:id="rId39"/>
    </p:embeddedFont>
    <p:embeddedFont>
      <p:font typeface="Cambria Math" pitchFamily="18" charset="0"/>
      <p:regular r:id="rId40"/>
    </p:embeddedFont>
    <p:embeddedFont>
      <p:font typeface="Cambria" pitchFamily="18" charset="0"/>
      <p:regular r:id="rId41"/>
      <p:bold r:id="rId42"/>
      <p:italic r:id="rId43"/>
      <p:boldItalic r:id="rId44"/>
    </p:embeddedFont>
    <p:embeddedFont>
      <p:font typeface="Arial Black" pitchFamily="34" charset="0"/>
      <p:bold r:id="rId45"/>
    </p:embeddedFont>
    <p:embeddedFont>
      <p:font typeface="Verdana" pitchFamily="34" charset="0"/>
      <p:regular r:id="rId46"/>
      <p:bold r:id="rId47"/>
      <p:italic r:id="rId48"/>
      <p:boldItalic r:id="rId49"/>
    </p:embeddedFont>
    <p:embeddedFont>
      <p:font typeface="MS Mincho" pitchFamily="49" charset="-128"/>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9819" autoAdjust="0"/>
    <p:restoredTop sz="94694"/>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font" Target="fonts/font19.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576559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8769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797667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033212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561036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960360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75390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1396539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439673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8131917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371252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9230201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3665611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1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9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31.jpeg"/><Relationship Id="rId7" Type="http://schemas.openxmlformats.org/officeDocument/2006/relationships/hyperlink" Target="https://en.wikipedia.org/wiki/Honeycrisp" TargetMode="External"/><Relationship Id="rId2" Type="http://schemas.openxmlformats.org/officeDocument/2006/relationships/notesSlide" Target="../notesSlides/notesSlide25.xml"/><Relationship Id="rId1" Type="http://schemas.openxmlformats.org/officeDocument/2006/relationships/slideLayout" Target="../slideLayouts/slideLayout8.xml"/><Relationship Id="rId11" Type="http://schemas.openxmlformats.org/officeDocument/2006/relationships/image" Target="../media/image30.png"/><Relationship Id="rId10" Type="http://schemas.openxmlformats.org/officeDocument/2006/relationships/image" Target="../media/image10.png"/><Relationship Id="rId4" Type="http://schemas.openxmlformats.org/officeDocument/2006/relationships/image" Target="../media/image32.jpeg"/><Relationship Id="rId9" Type="http://schemas.openxmlformats.org/officeDocument/2006/relationships/hyperlink" Target="https://www.flickr.com/photos/applesnpearsau/12197659796"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6</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Applying Proportional Reasoning to Probability</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337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810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7" name="Picture 6" descr="Logo&#10;&#10;Description automatically generated">
            <a:extLst>
              <a:ext uri="{FF2B5EF4-FFF2-40B4-BE49-F238E27FC236}">
                <a16:creationId xmlns="" xmlns:a16="http://schemas.microsoft.com/office/drawing/2014/main"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918611"/>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 xmlns:a16="http://schemas.microsoft.com/office/drawing/2014/main" xmlns:a14="http://schemas.microsoft.com/office/drawing/2010/main" xmlns:mc="http://schemas.openxmlformats.org/markup-compatibility/2006"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MA.8.DP.2.3</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Solve real-world problems involving probabilities related to single or repeated experiments, including making predictions based on theoretical probability.</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337</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78;g104476d1465_1_17">
            <a:extLst>
              <a:ext uri="{FF2B5EF4-FFF2-40B4-BE49-F238E27FC236}">
                <a16:creationId xmlns="" xmlns:a16="http://schemas.microsoft.com/office/drawing/2014/main" id="{2217DB94-8CD9-E344-BEB6-DB518B29A816}"/>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337</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4"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5"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6"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 xmlns:a16="http://schemas.microsoft.com/office/drawing/2014/main" id="{A7D39B40-FA5F-1945-A581-51EB744FE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337</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6"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7"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ts val="35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use proportional reasoning to make a prediction based on theoretical probability.</a:t>
            </a:r>
          </a:p>
          <a:p>
            <a:pPr marL="685800" indent="-679450">
              <a:buClr>
                <a:srgbClr val="434343"/>
              </a:buClr>
              <a:buSzPts val="3500"/>
              <a:buFont typeface="Wingdings" pitchFamily="2" charset="2"/>
              <a:buChar char="q"/>
            </a:pPr>
            <a:endParaRPr lang="en-US" sz="3600" dirty="0">
              <a:latin typeface="Verdana" panose="020B0604030504040204" pitchFamily="34" charset="0"/>
              <a:ea typeface="Verdana" panose="020B0604030504040204" pitchFamily="34" charset="0"/>
              <a:cs typeface="Verdana" panose="020B0604030504040204" pitchFamily="34" charset="0"/>
            </a:endParaRPr>
          </a:p>
          <a:p>
            <a:pPr marL="685800" indent="-679450">
              <a:buClr>
                <a:srgbClr val="434343"/>
              </a:buClr>
              <a:buSzPts val="35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use the probability of an experiment to determine the sample space.</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338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7" name="TextBox 16">
            <a:extLst>
              <a:ext uri="{FF2B5EF4-FFF2-40B4-BE49-F238E27FC236}">
                <a16:creationId xmlns:mc="http://schemas.openxmlformats.org/markup-compatibility/2006" xmlns:a14="http://schemas.microsoft.com/office/drawing/2010/main" xmlns="" xmlns:a16="http://schemas.microsoft.com/office/drawing/2014/main" id="{E1D7562E-134F-D14B-AF1A-DF40E11EF758}"/>
              </a:ext>
            </a:extLst>
          </p:cNvPr>
          <p:cNvSpPr txBox="1"/>
          <p:nvPr/>
        </p:nvSpPr>
        <p:spPr>
          <a:xfrm>
            <a:off x="730265" y="1228396"/>
            <a:ext cx="10800319"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Four spinners are </a:t>
            </a:r>
            <a:r>
              <a:rPr lang="en-US" sz="2400" dirty="0" smtClean="0">
                <a:latin typeface="Verdana" panose="020B0604030504040204" pitchFamily="34" charset="0"/>
                <a:ea typeface="Verdana" panose="020B0604030504040204" pitchFamily="34" charset="0"/>
                <a:cs typeface="Verdana" panose="020B0604030504040204" pitchFamily="34" charset="0"/>
              </a:rPr>
              <a:t>shown.</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Explain </a:t>
            </a:r>
            <a:r>
              <a:rPr lang="en-US" sz="2400" dirty="0">
                <a:latin typeface="Verdana" panose="020B0604030504040204" pitchFamily="34" charset="0"/>
                <a:ea typeface="Verdana" panose="020B0604030504040204" pitchFamily="34" charset="0"/>
                <a:cs typeface="Verdana" panose="020B0604030504040204" pitchFamily="34" charset="0"/>
              </a:rPr>
              <a:t>which spinner doesn’t belong.</a:t>
            </a:r>
          </a:p>
        </p:txBody>
      </p:sp>
      <p:sp>
        <p:nvSpPr>
          <p:cNvPr id="9" name="Google Shape;278;g104476d1465_1_17">
            <a:extLst>
              <a:ext uri="{FF2B5EF4-FFF2-40B4-BE49-F238E27FC236}">
                <a16:creationId xmlns="" xmlns:a16="http://schemas.microsoft.com/office/drawing/2014/main" id="{2C7BF6D9-BF7E-4C45-A3A0-4D9A19E544B3}"/>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descr="Four different circular spinners. The top left spinner is divided into four equal parts: a blue section, labeled “B,” a green section, labeled “G,” a red section, labeled “R,” and a yellow section labeled &quot;Y.&quot; The pointer is in the part labeled “R.” The top right spinner is divided into three unequal parts. The first part is blue and labeled &quot;B.&quot; It is approximately one third of the spinner. The next part is green and labeled “G.” It is approximately one fourth of the spinner. The last part is yellow and is labeled “Y.” It is approximately between four tenths and five tenths of the spinner. The pointer is in the part labeled &quot;Y.&quot; The bottom left spinner is divided into four unequal parts. The first part is yellow and labeled &quot;Y.&quot; It is approximately one eighth of the spinner. The next part is blue and labeled &quot;B.&quot; It is approximately one twelfth of the spinner. The third part is green and labeled “G.” It is approximately one fourth of the spinner. The last part is red and labeled “R.” It is approximately between five-tenths and six-tenths of the spinner. The pointer is in the part labeled &quot;R.&quot; The bottom right spinner is divided into four unequal parts. The first part is blue and labeled &quot;B.&quot; It is approximately one fourth of the spinner. The next part is green and labeled &quot;G.&quot; It is approximately one sixth of the spinner. The next part is red and labeled &quot;R.&quot; It is approximately one third of the spinner. The last part is yellow and labeled &quot;Y.&quot; It is approximately one fourth of the spinner. The pointer is in the part labeled &quot;R.&quot;"/>
          <p:cNvPicPr/>
          <p:nvPr/>
        </p:nvPicPr>
        <p:blipFill>
          <a:blip r:embed="rId3" cstate="screen">
            <a:extLst>
              <a:ext uri="{28A0092B-C50C-407E-A947-70E740481C1C}">
                <a14:useLocalDpi xmlns:a14="http://schemas.microsoft.com/office/drawing/2010/main"/>
              </a:ext>
            </a:extLst>
          </a:blip>
          <a:stretch>
            <a:fillRect/>
          </a:stretch>
        </p:blipFill>
        <p:spPr bwMode="auto">
          <a:xfrm>
            <a:off x="7796334" y="1228396"/>
            <a:ext cx="3734250" cy="3621619"/>
          </a:xfrm>
          <a:prstGeom prst="rect">
            <a:avLst/>
          </a:prstGeom>
          <a:noFill/>
          <a:ln w="9525">
            <a:noFill/>
            <a:headEnd/>
            <a:tailEnd/>
          </a:ln>
        </p:spPr>
      </p:pic>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338</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14.6.1 Warm-Up: Proportionality</a:t>
            </a:r>
          </a:p>
        </p:txBody>
      </p:sp>
      <p:pic>
        <p:nvPicPr>
          <p:cNvPr id="16"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5">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338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6" name="TextBox 15">
            <a:extLst>
              <a:ext uri="{FF2B5EF4-FFF2-40B4-BE49-F238E27FC236}">
                <a16:creationId xmlns:a16="http://schemas.microsoft.com/office/drawing/2014/main" xmlns="" xmlns:a14="http://schemas.microsoft.com/office/drawing/2010/main" xmlns:mc="http://schemas.openxmlformats.org/markup-compatibility/2006" id="{152D1D4D-DCB8-A246-B186-D40316579D77}"/>
              </a:ext>
            </a:extLst>
          </p:cNvPr>
          <p:cNvSpPr txBox="1"/>
          <p:nvPr/>
        </p:nvSpPr>
        <p:spPr>
          <a:xfrm>
            <a:off x="601762" y="1460161"/>
            <a:ext cx="10928822"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deck of cards is shown.</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b="1" dirty="0" smtClean="0">
                <a:latin typeface="Verdana" panose="020B0604030504040204" pitchFamily="34" charset="0"/>
                <a:ea typeface="Verdana" panose="020B0604030504040204" pitchFamily="34" charset="0"/>
                <a:cs typeface="Verdana" panose="020B0604030504040204" pitchFamily="34" charset="0"/>
              </a:rPr>
              <a:t>Deck </a:t>
            </a:r>
            <a:r>
              <a:rPr lang="en-US" sz="2000" b="1" dirty="0">
                <a:latin typeface="Verdana" panose="020B0604030504040204" pitchFamily="34" charset="0"/>
                <a:ea typeface="Verdana" panose="020B0604030504040204" pitchFamily="34" charset="0"/>
                <a:cs typeface="Verdana" panose="020B0604030504040204" pitchFamily="34" charset="0"/>
              </a:rPr>
              <a:t>A:</a:t>
            </a: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If a game is played in which a card is drawn from Deck A, what is the probability of drawing a card that is </a:t>
            </a:r>
            <a:r>
              <a:rPr lang="en-US" sz="2000" b="1" dirty="0">
                <a:latin typeface="Verdana" panose="020B0604030504040204" pitchFamily="34" charset="0"/>
                <a:ea typeface="Verdana" panose="020B0604030504040204" pitchFamily="34" charset="0"/>
                <a:cs typeface="Verdana" panose="020B0604030504040204" pitchFamily="34" charset="0"/>
              </a:rPr>
              <a:t>not</a:t>
            </a:r>
            <a:r>
              <a:rPr lang="en-US" sz="2000" dirty="0">
                <a:latin typeface="Verdana" panose="020B0604030504040204" pitchFamily="34" charset="0"/>
                <a:ea typeface="Verdana" panose="020B0604030504040204" pitchFamily="34" charset="0"/>
                <a:cs typeface="Verdana" panose="020B0604030504040204" pitchFamily="34" charset="0"/>
              </a:rPr>
              <a:t> blue?</a:t>
            </a:r>
          </a:p>
        </p:txBody>
      </p:sp>
      <p:sp>
        <p:nvSpPr>
          <p:cNvPr id="9" name="Google Shape;278;g104476d1465_1_17">
            <a:extLst>
              <a:ext uri="{FF2B5EF4-FFF2-40B4-BE49-F238E27FC236}">
                <a16:creationId xmlns="" xmlns:a16="http://schemas.microsoft.com/office/drawing/2014/main" id="{EB4F8F2D-5430-734A-8AE9-069DDAB1B918}"/>
              </a:ext>
            </a:extLst>
          </p:cNvPr>
          <p:cNvSpPr/>
          <p:nvPr/>
        </p:nvSpPr>
        <p:spPr>
          <a:xfrm>
            <a:off x="3114"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1168130" y="3248792"/>
            <a:ext cx="4151539" cy="1427547"/>
          </a:xfrm>
          <a:prstGeom prst="rect">
            <a:avLst/>
          </a:prstGeom>
        </p:spPr>
      </p:pic>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338</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195232"/>
            <a:ext cx="903304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14.6.2 Exploration: </a:t>
            </a:r>
            <a:r>
              <a:rPr lang="en-US" sz="3200" b="1" dirty="0" smtClean="0">
                <a:solidFill>
                  <a:srgbClr val="33BEA6"/>
                </a:solidFill>
                <a:latin typeface="Verdana"/>
                <a:ea typeface="Verdana"/>
                <a:cs typeface="Verdana"/>
                <a:sym typeface="Verdana"/>
              </a:rPr>
              <a:t/>
            </a:r>
            <a:br>
              <a:rPr lang="en-US" sz="3200" b="1" dirty="0" smtClean="0">
                <a:solidFill>
                  <a:srgbClr val="33BEA6"/>
                </a:solidFill>
                <a:latin typeface="Verdana"/>
                <a:ea typeface="Verdana"/>
                <a:cs typeface="Verdana"/>
                <a:sym typeface="Verdana"/>
              </a:rPr>
            </a:br>
            <a:r>
              <a:rPr lang="en-US" sz="3200" b="1" dirty="0" smtClean="0">
                <a:solidFill>
                  <a:srgbClr val="33BEA6"/>
                </a:solidFill>
                <a:latin typeface="Verdana"/>
                <a:ea typeface="Verdana"/>
                <a:cs typeface="Verdana"/>
                <a:sym typeface="Verdana"/>
              </a:rPr>
              <a:t>Increasing </a:t>
            </a:r>
            <a:r>
              <a:rPr lang="en-US" sz="3200" b="1" dirty="0">
                <a:solidFill>
                  <a:srgbClr val="33BEA6"/>
                </a:solidFill>
                <a:latin typeface="Verdana"/>
                <a:ea typeface="Verdana"/>
                <a:cs typeface="Verdana"/>
                <a:sym typeface="Verdana"/>
              </a:rPr>
              <a:t>Sample Space</a:t>
            </a:r>
          </a:p>
        </p:txBody>
      </p:sp>
      <p:pic>
        <p:nvPicPr>
          <p:cNvPr id="15"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TextBox 9">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5" y="410666"/>
            <a:ext cx="11018226" cy="347787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Consider Deck B</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b="1" dirty="0" smtClean="0">
                <a:latin typeface="Verdana" panose="020B0604030504040204" pitchFamily="34" charset="0"/>
                <a:ea typeface="Verdana" panose="020B0604030504040204" pitchFamily="34" charset="0"/>
                <a:cs typeface="Verdana" panose="020B0604030504040204" pitchFamily="34" charset="0"/>
              </a:rPr>
              <a:t>Deck </a:t>
            </a:r>
            <a:r>
              <a:rPr lang="en-US" sz="2000" b="1" dirty="0">
                <a:latin typeface="Verdana" panose="020B0604030504040204" pitchFamily="34" charset="0"/>
                <a:ea typeface="Verdana" panose="020B0604030504040204" pitchFamily="34" charset="0"/>
                <a:cs typeface="Verdana" panose="020B0604030504040204" pitchFamily="34" charset="0"/>
              </a:rPr>
              <a:t>B:</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probability of drawing a card that is </a:t>
            </a:r>
            <a:r>
              <a:rPr lang="en-US" sz="2000" b="1" dirty="0">
                <a:latin typeface="Verdana" panose="020B0604030504040204" pitchFamily="34" charset="0"/>
                <a:ea typeface="Verdana" panose="020B0604030504040204" pitchFamily="34" charset="0"/>
                <a:cs typeface="Verdana" panose="020B0604030504040204" pitchFamily="34" charset="0"/>
              </a:rPr>
              <a:t>not </a:t>
            </a:r>
            <a:r>
              <a:rPr lang="en-US" sz="2000" dirty="0">
                <a:latin typeface="Verdana" panose="020B0604030504040204" pitchFamily="34" charset="0"/>
                <a:ea typeface="Verdana" panose="020B0604030504040204" pitchFamily="34" charset="0"/>
                <a:cs typeface="Verdana" panose="020B0604030504040204" pitchFamily="34" charset="0"/>
              </a:rPr>
              <a:t>blue from Deck B?</a:t>
            </a:r>
          </a:p>
        </p:txBody>
      </p:sp>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1087505" y="1573091"/>
            <a:ext cx="8539770" cy="1440892"/>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338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20094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2AA35BC6-D428-FC41-BDE5-6438AB8840FC}"/>
                  </a:ext>
                </a:extLst>
              </p:cNvPr>
              <p:cNvSpPr txBox="1"/>
              <p:nvPr/>
            </p:nvSpPr>
            <p:spPr>
              <a:xfrm>
                <a:off x="540565" y="410666"/>
                <a:ext cx="11018226" cy="5324535"/>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this to P(not blue) in Deck A. List the similarities and differences in these experiments. </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If Deck B is doubled and there were 4 cards of each color, explain why or why not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not blue</a:t>
                </a:r>
                <a14:m>
                  <m:oMath xmlns:m="http://schemas.openxmlformats.org/officeDocument/2006/math">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would change.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Now, consider Deck C</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b="1" dirty="0">
                    <a:latin typeface="Verdana" panose="020B0604030504040204" pitchFamily="34" charset="0"/>
                    <a:ea typeface="Verdana" panose="020B0604030504040204" pitchFamily="34" charset="0"/>
                    <a:cs typeface="Verdana" panose="020B0604030504040204" pitchFamily="34" charset="0"/>
                  </a:rPr>
                  <a:t>Deck C:</a:t>
                </a: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Explain why P(not blue) is different for Deck C and Deck B.</a:t>
                </a:r>
              </a:p>
            </p:txBody>
          </p:sp>
        </mc:Choice>
        <mc:Fallback xmlns="">
          <p:sp>
            <p:nvSpPr>
              <p:cNvPr id="10" name="TextBox 9">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5" y="410666"/>
                <a:ext cx="11018226" cy="5324535"/>
              </a:xfrm>
              <a:prstGeom prst="rect">
                <a:avLst/>
              </a:prstGeom>
              <a:blipFill rotWithShape="1">
                <a:blip r:embed="rId3"/>
                <a:stretch>
                  <a:fillRect l="-609" t="-686" r="-277" b="-1030"/>
                </a:stretch>
              </a:blipFill>
            </p:spPr>
            <p:txBody>
              <a:bodyPr/>
              <a:lstStyle/>
              <a:p>
                <a:r>
                  <a:rPr lang="en-US">
                    <a:noFill/>
                  </a:rPr>
                  <a:t> </a:t>
                </a:r>
              </a:p>
            </p:txBody>
          </p:sp>
        </mc:Fallback>
      </mc:AlternateContent>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12858" y="3907414"/>
            <a:ext cx="7736629" cy="1331889"/>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339</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5324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8221DE51-EC2A-7749-BA7C-D69EC4B3B9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82601389"/>
                  </p:ext>
                </p:extLst>
              </p:nvPr>
            </p:nvGraphicFramePr>
            <p:xfrm>
              <a:off x="2079186" y="1328080"/>
              <a:ext cx="7940984" cy="4871552"/>
            </p:xfrm>
            <a:graphic>
              <a:graphicData uri="http://schemas.openxmlformats.org/drawingml/2006/table">
                <a:tbl>
                  <a:tblPr firstRow="1" firstCol="1" bandRow="1">
                    <a:tableStyleId>{5940675A-B579-460E-94D1-54222C63F5DA}</a:tableStyleId>
                  </a:tblPr>
                  <a:tblGrid>
                    <a:gridCol w="1673367">
                      <a:extLst>
                        <a:ext uri="{9D8B030D-6E8A-4147-A177-3AD203B41FA5}">
                          <a16:colId xmlns="" xmlns:a16="http://schemas.microsoft.com/office/drawing/2014/main" val="20000"/>
                        </a:ext>
                      </a:extLst>
                    </a:gridCol>
                    <a:gridCol w="1517245">
                      <a:extLst>
                        <a:ext uri="{9D8B030D-6E8A-4147-A177-3AD203B41FA5}">
                          <a16:colId xmlns="" xmlns:a16="http://schemas.microsoft.com/office/drawing/2014/main" val="20001"/>
                        </a:ext>
                      </a:extLst>
                    </a:gridCol>
                    <a:gridCol w="1616196">
                      <a:extLst>
                        <a:ext uri="{9D8B030D-6E8A-4147-A177-3AD203B41FA5}">
                          <a16:colId xmlns="" xmlns:a16="http://schemas.microsoft.com/office/drawing/2014/main" val="20002"/>
                        </a:ext>
                      </a:extLst>
                    </a:gridCol>
                    <a:gridCol w="1567088">
                      <a:extLst>
                        <a:ext uri="{9D8B030D-6E8A-4147-A177-3AD203B41FA5}">
                          <a16:colId xmlns="" xmlns:a16="http://schemas.microsoft.com/office/drawing/2014/main" val="20003"/>
                        </a:ext>
                      </a:extLst>
                    </a:gridCol>
                    <a:gridCol w="1567088">
                      <a:extLst>
                        <a:ext uri="{9D8B030D-6E8A-4147-A177-3AD203B41FA5}">
                          <a16:colId xmlns="" xmlns:a16="http://schemas.microsoft.com/office/drawing/2014/main" val="20004"/>
                        </a:ext>
                      </a:extLst>
                    </a:gridCol>
                  </a:tblGrid>
                  <a:tr h="759376">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Deck A</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(4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Deck B</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(8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Deck Y (___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Deck Z (___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7753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Purple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a:ea typeface="Verdana" panose="020B0604030504040204" pitchFamily="34" charset="0"/>
                                    <a:cs typeface="Verdana" panose="020B0604030504040204" pitchFamily="34" charset="0"/>
                                  </a:rPr>
                                  <m:t>2</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a:ea typeface="Verdana" panose="020B0604030504040204" pitchFamily="34" charset="0"/>
                                    <a:cs typeface="Verdana" panose="020B0604030504040204" pitchFamily="34" charset="0"/>
                                  </a:rPr>
                                  <m:t> </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48</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7753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Green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a:ea typeface="Verdana" panose="020B0604030504040204" pitchFamily="34" charset="0"/>
                                    <a:cs typeface="Verdana" panose="020B0604030504040204" pitchFamily="34" charset="0"/>
                                  </a:rPr>
                                  <m:t>9</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75937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Blue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1</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9</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75937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Red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a:ea typeface="Verdana" panose="020B0604030504040204" pitchFamily="34" charset="0"/>
                                    <a:cs typeface="Verdana" panose="020B0604030504040204" pitchFamily="34" charset="0"/>
                                  </a:rPr>
                                  <m:t>2</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48</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50625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P(not blue)</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a:ea typeface="Verdana" panose="020B0604030504040204" pitchFamily="34" charset="0"/>
                                    <a:cs typeface="Verdana" panose="020B0604030504040204" pitchFamily="34" charset="0"/>
                                  </a:rPr>
                                  <m:t> </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82601389"/>
                  </p:ext>
                </p:extLst>
              </p:nvPr>
            </p:nvGraphicFramePr>
            <p:xfrm>
              <a:off x="2079186" y="1328080"/>
              <a:ext cx="7940984" cy="4871552"/>
            </p:xfrm>
            <a:graphic>
              <a:graphicData uri="http://schemas.openxmlformats.org/drawingml/2006/table">
                <a:tbl>
                  <a:tblPr firstRow="1" firstCol="1" bandRow="1">
                    <a:tableStyleId>{5940675A-B579-460E-94D1-54222C63F5DA}</a:tableStyleId>
                  </a:tblPr>
                  <a:tblGrid>
                    <a:gridCol w="1673367">
                      <a:extLst>
                        <a:ext uri="{9D8B030D-6E8A-4147-A177-3AD203B41FA5}">
                          <a16:colId xmlns:a16="http://schemas.microsoft.com/office/drawing/2014/main" xmlns="" val="20000"/>
                        </a:ext>
                      </a:extLst>
                    </a:gridCol>
                    <a:gridCol w="1517245">
                      <a:extLst>
                        <a:ext uri="{9D8B030D-6E8A-4147-A177-3AD203B41FA5}">
                          <a16:colId xmlns:a16="http://schemas.microsoft.com/office/drawing/2014/main" xmlns="" val="20001"/>
                        </a:ext>
                      </a:extLst>
                    </a:gridCol>
                    <a:gridCol w="1616196">
                      <a:extLst>
                        <a:ext uri="{9D8B030D-6E8A-4147-A177-3AD203B41FA5}">
                          <a16:colId xmlns:a16="http://schemas.microsoft.com/office/drawing/2014/main" xmlns="" val="20002"/>
                        </a:ext>
                      </a:extLst>
                    </a:gridCol>
                    <a:gridCol w="1567088">
                      <a:extLst>
                        <a:ext uri="{9D8B030D-6E8A-4147-A177-3AD203B41FA5}">
                          <a16:colId xmlns:a16="http://schemas.microsoft.com/office/drawing/2014/main" xmlns="" val="20003"/>
                        </a:ext>
                      </a:extLst>
                    </a:gridCol>
                    <a:gridCol w="1567088">
                      <a:extLst>
                        <a:ext uri="{9D8B030D-6E8A-4147-A177-3AD203B41FA5}">
                          <a16:colId xmlns:a16="http://schemas.microsoft.com/office/drawing/2014/main" xmlns="" val="20004"/>
                        </a:ext>
                      </a:extLst>
                    </a:gridCol>
                  </a:tblGrid>
                  <a:tr h="9144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Deck A</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(4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Deck B</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(8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Deck Y (___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Deck Z (___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9144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Purple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10442" t="-108667" r="-312851" b="-34933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7736" t="-108667" r="-193962" b="-34933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07004" t="-108667" r="-100000" b="-34933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07004" t="-108667" b="-349333"/>
                          </a:stretch>
                        </a:blipFill>
                      </a:tcPr>
                    </a:tc>
                    <a:extLst>
                      <a:ext uri="{0D108BD9-81ED-4DB2-BD59-A6C34878D82A}">
                        <a16:rowId xmlns:a16="http://schemas.microsoft.com/office/drawing/2014/main" xmlns="" val="10001"/>
                      </a:ext>
                    </a:extLst>
                  </a:tr>
                  <a:tr h="9144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Green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10442" t="-208667" r="-312851" b="-24933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7736" t="-208667" r="-193962" b="-24933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07004" t="-208667" r="-100000" b="-24933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07004" t="-208667" b="-249333"/>
                          </a:stretch>
                        </a:blipFill>
                      </a:tcPr>
                    </a:tc>
                    <a:extLst>
                      <a:ext uri="{0D108BD9-81ED-4DB2-BD59-A6C34878D82A}">
                        <a16:rowId xmlns:a16="http://schemas.microsoft.com/office/drawing/2014/main" xmlns="" val="10002"/>
                      </a:ext>
                    </a:extLst>
                  </a:tr>
                  <a:tr h="75937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Blue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10442" t="-373387" r="-312851" b="-20161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7736" t="-373387" r="-193962" b="-20161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07004" t="-373387" r="-100000" b="-201613"/>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07004" t="-373387" b="-201613"/>
                          </a:stretch>
                        </a:blipFill>
                      </a:tcPr>
                    </a:tc>
                    <a:extLst>
                      <a:ext uri="{0D108BD9-81ED-4DB2-BD59-A6C34878D82A}">
                        <a16:rowId xmlns:a16="http://schemas.microsoft.com/office/drawing/2014/main" xmlns="" val="10003"/>
                      </a:ext>
                    </a:extLst>
                  </a:tr>
                  <a:tr h="75937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Red Cards</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10442" t="-469600" r="-312851" b="-100000"/>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7736" t="-469600" r="-193962" b="-100000"/>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07004" t="-469600" r="-100000" b="-100000"/>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07004" t="-469600" b="-100000"/>
                          </a:stretch>
                        </a:blipFill>
                      </a:tcPr>
                    </a:tc>
                    <a:extLst>
                      <a:ext uri="{0D108BD9-81ED-4DB2-BD59-A6C34878D82A}">
                        <a16:rowId xmlns:a16="http://schemas.microsoft.com/office/drawing/2014/main" xmlns="" val="10004"/>
                      </a:ext>
                    </a:extLst>
                  </a:tr>
                  <a:tr h="609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P(not blue)</a:t>
                          </a:r>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10442" t="-712000" r="-312851" b="-25000"/>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7736" t="-712000" r="-193962" b="-25000"/>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07004" t="-712000" r="-100000" b="-25000"/>
                          </a:stretch>
                        </a:blipFill>
                      </a:tcPr>
                    </a:tc>
                    <a:tc>
                      <a:txBody>
                        <a:bodyPr/>
                        <a:lstStyle/>
                        <a:p>
                          <a:endParaRPr lang="en-US"/>
                        </a:p>
                      </a:txBody>
                      <a:tcPr marL="55859" marR="5585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07004" t="-712000" b="-25000"/>
                          </a:stretch>
                        </a:blipFill>
                      </a:tcPr>
                    </a:tc>
                    <a:extLst>
                      <a:ext uri="{0D108BD9-81ED-4DB2-BD59-A6C34878D82A}">
                        <a16:rowId xmlns:a16="http://schemas.microsoft.com/office/drawing/2014/main" xmlns="" val="10005"/>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339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5" y="410666"/>
            <a:ext cx="11018226" cy="707886"/>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Complete the table by increasing the size of Deck A without changing the probabilities of any colors.</a:t>
            </a:r>
          </a:p>
        </p:txBody>
      </p:sp>
    </p:spTree>
    <p:extLst>
      <p:ext uri="{BB962C8B-B14F-4D97-AF65-F5344CB8AC3E}">
        <p14:creationId xmlns:p14="http://schemas.microsoft.com/office/powerpoint/2010/main" val="2791258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339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78;g104476d1465_1_17">
            <a:extLst>
              <a:ext uri="{FF2B5EF4-FFF2-40B4-BE49-F238E27FC236}">
                <a16:creationId xmlns="" xmlns:a16="http://schemas.microsoft.com/office/drawing/2014/main" id="{8221DE51-EC2A-7749-BA7C-D69EC4B3B9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TextBox 10">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5" y="410666"/>
            <a:ext cx="11018226" cy="461665"/>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Summarize the strategy you used to complete the table.</a:t>
            </a:r>
          </a:p>
        </p:txBody>
      </p:sp>
    </p:spTree>
    <p:extLst>
      <p:ext uri="{BB962C8B-B14F-4D97-AF65-F5344CB8AC3E}">
        <p14:creationId xmlns:p14="http://schemas.microsoft.com/office/powerpoint/2010/main" val="2598233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340</a:t>
            </a:r>
            <a:endParaRPr i="1" dirty="0">
              <a:latin typeface="Calibri"/>
              <a:ea typeface="Calibri"/>
              <a:cs typeface="Calibri"/>
              <a:sym typeface="Calibri"/>
            </a:endParaRPr>
          </a:p>
        </p:txBody>
      </p:sp>
      <p:pic>
        <p:nvPicPr>
          <p:cNvPr id="14"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78;g104476d1465_1_17">
            <a:extLst>
              <a:ext uri="{FF2B5EF4-FFF2-40B4-BE49-F238E27FC236}">
                <a16:creationId xmlns="" xmlns:a16="http://schemas.microsoft.com/office/drawing/2014/main" id="{8221DE51-EC2A-7749-BA7C-D69EC4B3B9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6"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49" y="378363"/>
            <a:ext cx="10478463"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14.6.3 Collaboration: Puzzle Proportions</a:t>
            </a:r>
          </a:p>
        </p:txBody>
      </p:sp>
      <p:pic>
        <p:nvPicPr>
          <p:cNvPr id="17"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9" name="TextBox 18">
                <a:extLst>
                  <a:ext uri="{FF2B5EF4-FFF2-40B4-BE49-F238E27FC236}">
                    <a16:creationId xmlns="" xmlns:a16="http://schemas.microsoft.com/office/drawing/2014/main" id="{E44DF7DE-9172-3E4E-B74A-7A51585FB6EA}"/>
                  </a:ext>
                </a:extLst>
              </p:cNvPr>
              <p:cNvSpPr txBox="1"/>
              <p:nvPr/>
            </p:nvSpPr>
            <p:spPr>
              <a:xfrm>
                <a:off x="529070" y="1386025"/>
                <a:ext cx="11001514" cy="206742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Souma is putting together a puzzle that contains white, red, and yellow pieces. He knows that the probability of pulling a white puzzle piece out of the box is </a:t>
                </a:r>
                <a14:m>
                  <m:oMath xmlns:m="http://schemas.openxmlformats.org/officeDocument/2006/math">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Draw the box of puzzle pieces as you think it would exist. Make sure to label the colors of your pieces.</a:t>
                </a:r>
              </a:p>
            </p:txBody>
          </p:sp>
        </mc:Choice>
        <mc:Fallback xmlns="">
          <p:sp>
            <p:nvSpPr>
              <p:cNvPr id="19" name="TextBox 18">
                <a:extLst>
                  <a:ext uri="{FF2B5EF4-FFF2-40B4-BE49-F238E27FC236}">
                    <a16:creationId xmlns:a16="http://schemas.microsoft.com/office/drawing/2014/main" xmlns="" xmlns:a14="http://schemas.microsoft.com/office/drawing/2010/main" id="{E44DF7DE-9172-3E4E-B74A-7A51585FB6EA}"/>
                  </a:ext>
                </a:extLst>
              </p:cNvPr>
              <p:cNvSpPr txBox="1">
                <a:spLocks noRot="1" noChangeAspect="1" noMove="1" noResize="1" noEditPoints="1" noAdjustHandles="1" noChangeArrowheads="1" noChangeShapeType="1" noTextEdit="1"/>
              </p:cNvSpPr>
              <p:nvPr/>
            </p:nvSpPr>
            <p:spPr>
              <a:xfrm>
                <a:off x="529070" y="1386025"/>
                <a:ext cx="11001514" cy="2067425"/>
              </a:xfrm>
              <a:prstGeom prst="rect">
                <a:avLst/>
              </a:prstGeom>
              <a:blipFill rotWithShape="1">
                <a:blip r:embed="rId5"/>
                <a:stretch>
                  <a:fillRect l="-609" t="-1471" r="-776" b="-4118"/>
                </a:stretch>
              </a:blipFill>
            </p:spPr>
            <p:txBody>
              <a:bodyPr/>
              <a:lstStyle/>
              <a:p>
                <a:r>
                  <a:rPr lang="en-US">
                    <a:noFill/>
                  </a:rPr>
                  <a:t> </a:t>
                </a:r>
              </a:p>
            </p:txBody>
          </p:sp>
        </mc:Fallback>
      </mc:AlternateContent>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FA2A97BF-3D7B-B547-BD66-4A4651071EA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340</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2AA35BC6-D428-FC41-BDE5-6438AB8840FC}"/>
                  </a:ext>
                </a:extLst>
              </p:cNvPr>
              <p:cNvSpPr txBox="1"/>
              <p:nvPr/>
            </p:nvSpPr>
            <p:spPr>
              <a:xfrm>
                <a:off x="540565" y="410666"/>
                <a:ext cx="11018226" cy="452963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your box of puzzle pieces with your partner’s.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pieces did your partner draw?</a:t>
                </a:r>
              </a:p>
              <a:p>
                <a:pPr marL="914400" lvl="1" indent="-457200">
                  <a:buFont typeface="+mj-lt"/>
                  <a:buAutoNum type="alphaL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of those were white puzzle pieces?</a:t>
                </a:r>
              </a:p>
              <a:p>
                <a:pPr marL="914400" lvl="1" indent="-457200">
                  <a:buFont typeface="+mj-lt"/>
                  <a:buAutoNum type="alphaL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Demonstrate how their box satisfies (or does not satisfy) the condition that the probability of pulling a white puzzle piece out of the box is </a:t>
                </a:r>
                <a14:m>
                  <m:oMath xmlns:m="http://schemas.openxmlformats.org/officeDocument/2006/math">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Make any necessary changes to your box of puzzle pieces based on feedback from your partner.</a:t>
                </a:r>
              </a:p>
            </p:txBody>
          </p:sp>
        </mc:Choice>
        <mc:Fallback xmlns="">
          <p:sp>
            <p:nvSpPr>
              <p:cNvPr id="10" name="TextBox 9">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5" y="410666"/>
                <a:ext cx="11018226" cy="4529638"/>
              </a:xfrm>
              <a:prstGeom prst="rect">
                <a:avLst/>
              </a:prstGeom>
              <a:blipFill rotWithShape="1">
                <a:blip r:embed="rId4"/>
                <a:stretch>
                  <a:fillRect l="-609" t="-808" b="-1480"/>
                </a:stretch>
              </a:blipFill>
            </p:spPr>
            <p:txBody>
              <a:bodyPr/>
              <a:lstStyle/>
              <a:p>
                <a:r>
                  <a:rPr lang="en-US">
                    <a:noFill/>
                  </a:rPr>
                  <a:t> </a:t>
                </a:r>
              </a:p>
            </p:txBody>
          </p:sp>
        </mc:Fallback>
      </mc:AlternateContent>
    </p:spTree>
    <p:extLst>
      <p:ext uri="{BB962C8B-B14F-4D97-AF65-F5344CB8AC3E}">
        <p14:creationId xmlns:p14="http://schemas.microsoft.com/office/powerpoint/2010/main" val="132062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FA2A97BF-3D7B-B547-BD66-4A4651071EA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340</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2AA35BC6-D428-FC41-BDE5-6438AB8840FC}"/>
                  </a:ext>
                </a:extLst>
              </p:cNvPr>
              <p:cNvSpPr txBox="1"/>
              <p:nvPr/>
            </p:nvSpPr>
            <p:spPr>
              <a:xfrm>
                <a:off x="540565" y="410666"/>
                <a:ext cx="11018226" cy="3606308"/>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Souma counts his puzzle pieces and determines that there are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60</m:t>
                    </m:r>
                  </m:oMath>
                </a14:m>
                <a:r>
                  <a:rPr lang="en-US" sz="2000" dirty="0">
                    <a:latin typeface="Verdana" panose="020B0604030504040204" pitchFamily="34" charset="0"/>
                    <a:ea typeface="Verdana" panose="020B0604030504040204" pitchFamily="34" charset="0"/>
                    <a:cs typeface="Verdana" panose="020B0604030504040204" pitchFamily="34" charset="0"/>
                  </a:rPr>
                  <a:t> pieces.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latin typeface="Cambria Math" panose="02040503050406030204" pitchFamily="18" charset="0"/>
                        <a:ea typeface="Cambria Math" panose="02040503050406030204" pitchFamily="18" charset="0"/>
                      </a:rPr>
                      <m:t>𝑃</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𝑤h𝑖𝑡𝑒</m:t>
                    </m:r>
                    <m:r>
                      <a:rPr lang="en-US" sz="2000" i="1">
                        <a:latin typeface="Cambria Math" panose="02040503050406030204" pitchFamily="18" charset="0"/>
                        <a:ea typeface="Cambria Math" panose="02040503050406030204" pitchFamily="18" charset="0"/>
                      </a:rPr>
                      <m:t>)= </m:t>
                    </m:r>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r>
                      <a:rPr lang="en-US" sz="2000" i="1">
                        <a:latin typeface="Cambria Math" panose="02040503050406030204" pitchFamily="18" charset="0"/>
                        <a:ea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𝑃</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𝑟𝑒𝑑</m:t>
                    </m:r>
                    <m:r>
                      <a:rPr lang="en-US" sz="2000" i="1">
                        <a:latin typeface="Cambria Math" panose="02040503050406030204" pitchFamily="18" charset="0"/>
                        <a:ea typeface="Cambria Math" panose="02040503050406030204" pitchFamily="18" charset="0"/>
                      </a:rPr>
                      <m:t>)=0.6</m:t>
                    </m:r>
                  </m:oMath>
                </a14:m>
                <a:r>
                  <a:rPr lang="en-US" sz="2000" dirty="0">
                    <a:latin typeface="Verdana" panose="020B0604030504040204" pitchFamily="34" charset="0"/>
                    <a:ea typeface="Verdana" panose="020B0604030504040204" pitchFamily="34" charset="0"/>
                    <a:cs typeface="Verdana" panose="020B0604030504040204" pitchFamily="34" charset="0"/>
                  </a:rPr>
                  <a:t>, then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red pieces are in his puzzle box?</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yellow pieces are in his puzzle box?</a:t>
                </a:r>
              </a:p>
            </p:txBody>
          </p:sp>
        </mc:Choice>
        <mc:Fallback xmlns="">
          <p:sp>
            <p:nvSpPr>
              <p:cNvPr id="10" name="TextBox 9">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5" y="410666"/>
                <a:ext cx="11018226" cy="3606308"/>
              </a:xfrm>
              <a:prstGeom prst="rect">
                <a:avLst/>
              </a:prstGeom>
              <a:blipFill rotWithShape="1">
                <a:blip r:embed="rId4"/>
                <a:stretch>
                  <a:fillRect l="-609" t="-1014" b="-2027"/>
                </a:stretch>
              </a:blipFill>
            </p:spPr>
            <p:txBody>
              <a:bodyPr/>
              <a:lstStyle/>
              <a:p>
                <a:r>
                  <a:rPr lang="en-US">
                    <a:noFill/>
                  </a:rPr>
                  <a:t> </a:t>
                </a:r>
              </a:p>
            </p:txBody>
          </p:sp>
        </mc:Fallback>
      </mc:AlternateContent>
    </p:spTree>
    <p:extLst>
      <p:ext uri="{BB962C8B-B14F-4D97-AF65-F5344CB8AC3E}">
        <p14:creationId xmlns:p14="http://schemas.microsoft.com/office/powerpoint/2010/main" val="2661416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4" name="TextBox 23">
            <a:extLst>
              <a:ext uri="{FF2B5EF4-FFF2-40B4-BE49-F238E27FC236}">
                <a16:creationId xmlns="" xmlns:a16="http://schemas.microsoft.com/office/drawing/2014/main" id="{669E00F9-F39F-5043-888E-B0A2D8C9AE0F}"/>
              </a:ext>
            </a:extLst>
          </p:cNvPr>
          <p:cNvSpPr txBox="1"/>
          <p:nvPr/>
        </p:nvSpPr>
        <p:spPr>
          <a:xfrm>
            <a:off x="914400" y="1498930"/>
            <a:ext cx="10657114" cy="3170099"/>
          </a:xfrm>
          <a:prstGeom prst="rect">
            <a:avLst/>
          </a:prstGeom>
          <a:noFill/>
        </p:spPr>
        <p:txBody>
          <a:bodyPr wrap="square" rtlCol="0">
            <a:spAutoFit/>
          </a:bodyPr>
          <a:lstStyle/>
          <a:p>
            <a:pPr marL="457200" indent="-457200">
              <a:buFont typeface="+mj-lt"/>
              <a:buAutoNum type="arabicPeriod"/>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smtClean="0">
                <a:latin typeface="Verdana" panose="020B0604030504040204" pitchFamily="34" charset="0"/>
                <a:ea typeface="Verdana" panose="020B0604030504040204" pitchFamily="34" charset="0"/>
                <a:cs typeface="Verdana" panose="020B0604030504040204" pitchFamily="34" charset="0"/>
              </a:rPr>
              <a:t>Complete </a:t>
            </a:r>
            <a:r>
              <a:rPr lang="en-US" sz="2000" dirty="0">
                <a:latin typeface="Verdana" panose="020B0604030504040204" pitchFamily="34" charset="0"/>
                <a:ea typeface="Verdana" panose="020B0604030504040204" pitchFamily="34" charset="0"/>
                <a:cs typeface="Verdana" panose="020B0604030504040204" pitchFamily="34" charset="0"/>
              </a:rPr>
              <a:t>the following probability distribution so that it is valid.</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Selecting clothing items from a hamper of mixed items that includes dresses, t-shirts, leggings, and shorts containing 30 items.</a:t>
            </a:r>
          </a:p>
        </p:txBody>
      </p:sp>
      <p:sp>
        <p:nvSpPr>
          <p:cNvPr id="10" name="Google Shape;278;g104476d1465_1_17">
            <a:extLst>
              <a:ext uri="{FF2B5EF4-FFF2-40B4-BE49-F238E27FC236}">
                <a16:creationId xmlns="" xmlns:a16="http://schemas.microsoft.com/office/drawing/2014/main" id="{184E346C-1485-3C45-9A4A-2D894EB8F58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9" name="Group 8"/>
          <p:cNvGrpSpPr/>
          <p:nvPr/>
        </p:nvGrpSpPr>
        <p:grpSpPr>
          <a:xfrm>
            <a:off x="2882270" y="1498930"/>
            <a:ext cx="6629400" cy="1558639"/>
            <a:chOff x="0" y="-2"/>
            <a:chExt cx="6629400" cy="1558871"/>
          </a:xfrm>
        </p:grpSpPr>
        <p:grpSp>
          <p:nvGrpSpPr>
            <p:cNvPr id="13" name="Group 12"/>
            <p:cNvGrpSpPr/>
            <p:nvPr/>
          </p:nvGrpSpPr>
          <p:grpSpPr>
            <a:xfrm>
              <a:off x="0" y="-2"/>
              <a:ext cx="6629400" cy="1558871"/>
              <a:chOff x="2031300" y="3386806"/>
              <a:chExt cx="6629400" cy="1558871"/>
            </a:xfrm>
          </p:grpSpPr>
          <p:grpSp>
            <p:nvGrpSpPr>
              <p:cNvPr id="15" name="Group 14"/>
              <p:cNvGrpSpPr/>
              <p:nvPr/>
            </p:nvGrpSpPr>
            <p:grpSpPr>
              <a:xfrm>
                <a:off x="2031300" y="3386806"/>
                <a:ext cx="6629400" cy="1558871"/>
                <a:chOff x="0" y="-2"/>
                <a:chExt cx="6629400" cy="1558871"/>
              </a:xfrm>
            </p:grpSpPr>
            <p:sp>
              <p:nvSpPr>
                <p:cNvPr id="16" name="Rectangle 15"/>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7" name="Rectangle 16"/>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8" name="Rounded Rectangle 17"/>
                <p:cNvSpPr/>
                <p:nvPr/>
              </p:nvSpPr>
              <p:spPr>
                <a:xfrm>
                  <a:off x="0" y="-2"/>
                  <a:ext cx="6629400" cy="155887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For a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probability distribution</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to be valid, each probability must be a number between 0 and 1 and the sum of each outcome’s probabilities must equal 1.</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grpSp>
        <p:pic>
          <p:nvPicPr>
            <p:cNvPr id="14" name="image15.png" descr="Icon&#10;&#10;Description automatically generated"/>
            <p:cNvPicPr/>
            <p:nvPr/>
          </p:nvPicPr>
          <p:blipFill>
            <a:blip r:embed="rId3" cstate="screen">
              <a:extLst>
                <a:ext uri="{28A0092B-C50C-407E-A947-70E740481C1C}">
                  <a14:useLocalDpi xmlns:a14="http://schemas.microsoft.com/office/drawing/2010/main"/>
                </a:ext>
              </a:extLst>
            </a:blip>
            <a:srcRect/>
            <a:stretch>
              <a:fillRect/>
            </a:stretch>
          </p:blipFill>
          <p:spPr>
            <a:xfrm>
              <a:off x="247550" y="123313"/>
              <a:ext cx="539750" cy="539750"/>
            </a:xfrm>
            <a:prstGeom prst="rect">
              <a:avLst/>
            </a:prstGeom>
            <a:ln/>
            <a:effectLst>
              <a:outerShdw blurRad="50800" dist="38100" dir="2700000" algn="tl" rotWithShape="0">
                <a:prstClr val="black">
                  <a:alpha val="40000"/>
                </a:prstClr>
              </a:outerShdw>
            </a:effectLst>
          </p:spPr>
        </p:pic>
      </p:grpSp>
      <p:sp>
        <p:nvSpPr>
          <p:cNvPr id="2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341</a:t>
            </a:r>
            <a:endParaRPr i="1" dirty="0">
              <a:latin typeface="Calibri"/>
              <a:ea typeface="Calibri"/>
              <a:cs typeface="Calibri"/>
              <a:sym typeface="Calibri"/>
            </a:endParaRPr>
          </a:p>
        </p:txBody>
      </p:sp>
      <p:pic>
        <p:nvPicPr>
          <p:cNvPr id="2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2"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052650" y="115600"/>
            <a:ext cx="1028864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14.6.4 Bring It Together: </a:t>
            </a:r>
            <a:r>
              <a:rPr lang="en-US" sz="3200" b="1" dirty="0" smtClean="0">
                <a:solidFill>
                  <a:srgbClr val="54B5D1"/>
                </a:solidFill>
                <a:latin typeface="Verdana"/>
                <a:ea typeface="Verdana"/>
                <a:cs typeface="Verdana"/>
                <a:sym typeface="Verdana"/>
              </a:rPr>
              <a:t/>
            </a:r>
            <a:br>
              <a:rPr lang="en-US" sz="3200" b="1" dirty="0" smtClean="0">
                <a:solidFill>
                  <a:srgbClr val="54B5D1"/>
                </a:solidFill>
                <a:latin typeface="Verdana"/>
                <a:ea typeface="Verdana"/>
                <a:cs typeface="Verdana"/>
                <a:sym typeface="Verdana"/>
              </a:rPr>
            </a:br>
            <a:r>
              <a:rPr lang="en-US" sz="3200" b="1" dirty="0" smtClean="0">
                <a:solidFill>
                  <a:srgbClr val="54B5D1"/>
                </a:solidFill>
                <a:latin typeface="Verdana"/>
                <a:ea typeface="Verdana"/>
                <a:cs typeface="Verdana"/>
                <a:sym typeface="Verdana"/>
              </a:rPr>
              <a:t>Probability </a:t>
            </a:r>
            <a:r>
              <a:rPr lang="en-US" sz="3200" b="1" dirty="0">
                <a:solidFill>
                  <a:srgbClr val="54B5D1"/>
                </a:solidFill>
                <a:latin typeface="Verdana"/>
                <a:ea typeface="Verdana"/>
                <a:cs typeface="Verdana"/>
                <a:sym typeface="Verdana"/>
              </a:rPr>
              <a:t>Distributions</a:t>
            </a:r>
          </a:p>
        </p:txBody>
      </p:sp>
      <p:pic>
        <p:nvPicPr>
          <p:cNvPr id="23" name="Picture 2" descr="Icon&#10;&#10;Description automatically generated">
            <a:extLst>
              <a:ext uri="{FF2B5EF4-FFF2-40B4-BE49-F238E27FC236}">
                <a16:creationId xmlns="" xmlns:a16="http://schemas.microsoft.com/office/drawing/2014/main" id="{108F4C35-3A24-A244-BB28-81EF2D36CACF}"/>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0928" y="22390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856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TextBox 10">
            <a:extLst>
              <a:ext uri="{FF2B5EF4-FFF2-40B4-BE49-F238E27FC236}">
                <a16:creationId xmlns:mc="http://schemas.openxmlformats.org/markup-compatibility/2006" xmlns:a14="http://schemas.microsoft.com/office/drawing/2010/main" xmlns="" xmlns:a16="http://schemas.microsoft.com/office/drawing/2014/main" id="{2AA35BC6-D428-FC41-BDE5-6438AB8840FC}"/>
              </a:ext>
            </a:extLst>
          </p:cNvPr>
          <p:cNvSpPr txBox="1"/>
          <p:nvPr/>
        </p:nvSpPr>
        <p:spPr>
          <a:xfrm>
            <a:off x="540565" y="410666"/>
            <a:ext cx="11018226" cy="3477875"/>
          </a:xfrm>
          <a:prstGeom prst="rect">
            <a:avLst/>
          </a:prstGeom>
          <a:noFill/>
        </p:spPr>
        <p:txBody>
          <a:bodyPr wrap="square" rtlCol="0">
            <a:spAutoFit/>
          </a:bodyPr>
          <a:lstStyle/>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err="1" smtClean="0">
                <a:latin typeface="Verdana" panose="020B0604030504040204" pitchFamily="34" charset="0"/>
                <a:ea typeface="Verdana" panose="020B0604030504040204" pitchFamily="34" charset="0"/>
                <a:cs typeface="Verdana" panose="020B0604030504040204" pitchFamily="34" charset="0"/>
              </a:rPr>
              <a:t>Zareen</a:t>
            </a:r>
            <a:r>
              <a:rPr lang="en-US" sz="2000" dirty="0" smtClean="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has a bag of 10 sour candies. The bag consists of orange, yellow, green, blue, and red candies. Complete the table by using probability to determine how many candies of each color are in </a:t>
            </a:r>
            <a:r>
              <a:rPr lang="en-US" sz="2000" dirty="0" err="1">
                <a:latin typeface="Verdana" panose="020B0604030504040204" pitchFamily="34" charset="0"/>
                <a:ea typeface="Verdana" panose="020B0604030504040204" pitchFamily="34" charset="0"/>
                <a:cs typeface="Verdana" panose="020B0604030504040204" pitchFamily="34" charset="0"/>
              </a:rPr>
              <a:t>Zareen’s</a:t>
            </a:r>
            <a:r>
              <a:rPr lang="en-US" sz="2000" dirty="0">
                <a:latin typeface="Verdana" panose="020B0604030504040204" pitchFamily="34" charset="0"/>
                <a:ea typeface="Verdana" panose="020B0604030504040204" pitchFamily="34" charset="0"/>
                <a:cs typeface="Verdana" panose="020B0604030504040204" pitchFamily="34" charset="0"/>
              </a:rPr>
              <a:t> bag.</a:t>
            </a:r>
          </a:p>
        </p:txBody>
      </p:sp>
      <p:sp>
        <p:nvSpPr>
          <p:cNvPr id="6" name="Google Shape;278;g104476d1465_1_17">
            <a:extLst>
              <a:ext uri="{FF2B5EF4-FFF2-40B4-BE49-F238E27FC236}">
                <a16:creationId xmlns="" xmlns:a16="http://schemas.microsoft.com/office/drawing/2014/main" id="{FA2A97BF-3D7B-B547-BD66-4A4651071EA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689926337"/>
                  </p:ext>
                </p:extLst>
              </p:nvPr>
            </p:nvGraphicFramePr>
            <p:xfrm>
              <a:off x="1070112" y="410666"/>
              <a:ext cx="9144000" cy="2057400"/>
            </p:xfrm>
            <a:graphic>
              <a:graphicData uri="http://schemas.openxmlformats.org/drawingml/2006/table">
                <a:tbl>
                  <a:tblPr firstRow="1" firstCol="1" bandRow="1">
                    <a:tableStyleId>{5940675A-B579-460E-94D1-54222C63F5DA}</a:tableStyleId>
                  </a:tblPr>
                  <a:tblGrid>
                    <a:gridCol w="1828800">
                      <a:extLst>
                        <a:ext uri="{9D8B030D-6E8A-4147-A177-3AD203B41FA5}">
                          <a16:colId xmlns="" xmlns:a16="http://schemas.microsoft.com/office/drawing/2014/main" val="20000"/>
                        </a:ext>
                      </a:extLst>
                    </a:gridCol>
                    <a:gridCol w="1463040">
                      <a:extLst>
                        <a:ext uri="{9D8B030D-6E8A-4147-A177-3AD203B41FA5}">
                          <a16:colId xmlns="" xmlns:a16="http://schemas.microsoft.com/office/drawing/2014/main" val="20001"/>
                        </a:ext>
                      </a:extLst>
                    </a:gridCol>
                    <a:gridCol w="1463040">
                      <a:extLst>
                        <a:ext uri="{9D8B030D-6E8A-4147-A177-3AD203B41FA5}">
                          <a16:colId xmlns="" xmlns:a16="http://schemas.microsoft.com/office/drawing/2014/main" val="20002"/>
                        </a:ext>
                      </a:extLst>
                    </a:gridCol>
                    <a:gridCol w="1463040">
                      <a:extLst>
                        <a:ext uri="{9D8B030D-6E8A-4147-A177-3AD203B41FA5}">
                          <a16:colId xmlns="" xmlns:a16="http://schemas.microsoft.com/office/drawing/2014/main" val="20003"/>
                        </a:ext>
                      </a:extLst>
                    </a:gridCol>
                    <a:gridCol w="1463040">
                      <a:extLst>
                        <a:ext uri="{9D8B030D-6E8A-4147-A177-3AD203B41FA5}">
                          <a16:colId xmlns="" xmlns:a16="http://schemas.microsoft.com/office/drawing/2014/main" val="20004"/>
                        </a:ext>
                      </a:extLst>
                    </a:gridCol>
                    <a:gridCol w="1463040">
                      <a:extLst>
                        <a:ext uri="{9D8B030D-6E8A-4147-A177-3AD203B41FA5}">
                          <a16:colId xmlns="" xmlns:a16="http://schemas.microsoft.com/office/drawing/2014/main" val="20005"/>
                        </a:ext>
                      </a:extLst>
                    </a:gridCol>
                  </a:tblGrid>
                  <a:tr h="6858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Dresses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T-Shirts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Leggings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Shorts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Total</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Frequency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10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Probability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0.3</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6</m:t>
                                  </m:r>
                                </m:den>
                              </m:f>
                            </m:oMath>
                          </a14:m>
                          <a:r>
                            <a:rPr lang="en-US" sz="2000" dirty="0" smtClean="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20%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689926337"/>
                  </p:ext>
                </p:extLst>
              </p:nvPr>
            </p:nvGraphicFramePr>
            <p:xfrm>
              <a:off x="1070112" y="410666"/>
              <a:ext cx="9144000" cy="2057400"/>
            </p:xfrm>
            <a:graphic>
              <a:graphicData uri="http://schemas.openxmlformats.org/drawingml/2006/table">
                <a:tbl>
                  <a:tblPr firstRow="1" firstCol="1" bandRow="1">
                    <a:tableStyleId>{5940675A-B579-460E-94D1-54222C63F5DA}</a:tableStyleId>
                  </a:tblPr>
                  <a:tblGrid>
                    <a:gridCol w="1828800">
                      <a:extLst>
                        <a:ext uri="{9D8B030D-6E8A-4147-A177-3AD203B41FA5}">
                          <a16:colId xmlns:a16="http://schemas.microsoft.com/office/drawing/2014/main" xmlns:a14="http://schemas.microsoft.com/office/drawing/2010/main" xmlns="" val="20000"/>
                        </a:ext>
                      </a:extLst>
                    </a:gridCol>
                    <a:gridCol w="1463040">
                      <a:extLst>
                        <a:ext uri="{9D8B030D-6E8A-4147-A177-3AD203B41FA5}">
                          <a16:colId xmlns:a16="http://schemas.microsoft.com/office/drawing/2014/main" xmlns:a14="http://schemas.microsoft.com/office/drawing/2010/main" xmlns="" val="20001"/>
                        </a:ext>
                      </a:extLst>
                    </a:gridCol>
                    <a:gridCol w="1463040">
                      <a:extLst>
                        <a:ext uri="{9D8B030D-6E8A-4147-A177-3AD203B41FA5}">
                          <a16:colId xmlns:a16="http://schemas.microsoft.com/office/drawing/2014/main" xmlns:a14="http://schemas.microsoft.com/office/drawing/2010/main" xmlns="" val="20002"/>
                        </a:ext>
                      </a:extLst>
                    </a:gridCol>
                    <a:gridCol w="1463040">
                      <a:extLst>
                        <a:ext uri="{9D8B030D-6E8A-4147-A177-3AD203B41FA5}">
                          <a16:colId xmlns:a16="http://schemas.microsoft.com/office/drawing/2014/main" xmlns:a14="http://schemas.microsoft.com/office/drawing/2010/main" xmlns="" val="20003"/>
                        </a:ext>
                      </a:extLst>
                    </a:gridCol>
                    <a:gridCol w="1463040">
                      <a:extLst>
                        <a:ext uri="{9D8B030D-6E8A-4147-A177-3AD203B41FA5}">
                          <a16:colId xmlns:a16="http://schemas.microsoft.com/office/drawing/2014/main" xmlns:a14="http://schemas.microsoft.com/office/drawing/2010/main" xmlns="" val="20004"/>
                        </a:ext>
                      </a:extLst>
                    </a:gridCol>
                    <a:gridCol w="1463040">
                      <a:extLst>
                        <a:ext uri="{9D8B030D-6E8A-4147-A177-3AD203B41FA5}">
                          <a16:colId xmlns:a16="http://schemas.microsoft.com/office/drawing/2014/main" xmlns:a14="http://schemas.microsoft.com/office/drawing/2010/main" xmlns="" val="20005"/>
                        </a:ext>
                      </a:extLst>
                    </a:gridCol>
                  </a:tblGrid>
                  <a:tr h="6858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Dresses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T-Shirts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Leggings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Shorts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Total</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Frequency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5417" t="-100893" r="-400000" b="-10089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Probability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25417" t="-199115" r="-3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25417" t="-199115" r="-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25417" t="-199115" r="-100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939550155"/>
                  </p:ext>
                </p:extLst>
              </p:nvPr>
            </p:nvGraphicFramePr>
            <p:xfrm>
              <a:off x="1070112" y="4142232"/>
              <a:ext cx="9144000" cy="2057400"/>
            </p:xfrm>
            <a:graphic>
              <a:graphicData uri="http://schemas.openxmlformats.org/drawingml/2006/table">
                <a:tbl>
                  <a:tblPr firstRow="1" firstCol="1" bandRow="1">
                    <a:tableStyleId>{5940675A-B579-460E-94D1-54222C63F5DA}</a:tableStyleId>
                  </a:tblPr>
                  <a:tblGrid>
                    <a:gridCol w="1828800">
                      <a:extLst>
                        <a:ext uri="{9D8B030D-6E8A-4147-A177-3AD203B41FA5}">
                          <a16:colId xmlns="" xmlns:a16="http://schemas.microsoft.com/office/drawing/2014/main" val="20000"/>
                        </a:ext>
                      </a:extLst>
                    </a:gridCol>
                    <a:gridCol w="1463040">
                      <a:extLst>
                        <a:ext uri="{9D8B030D-6E8A-4147-A177-3AD203B41FA5}">
                          <a16:colId xmlns="" xmlns:a16="http://schemas.microsoft.com/office/drawing/2014/main" val="20001"/>
                        </a:ext>
                      </a:extLst>
                    </a:gridCol>
                    <a:gridCol w="1463040">
                      <a:extLst>
                        <a:ext uri="{9D8B030D-6E8A-4147-A177-3AD203B41FA5}">
                          <a16:colId xmlns="" xmlns:a16="http://schemas.microsoft.com/office/drawing/2014/main" val="20002"/>
                        </a:ext>
                      </a:extLst>
                    </a:gridCol>
                    <a:gridCol w="1463040">
                      <a:extLst>
                        <a:ext uri="{9D8B030D-6E8A-4147-A177-3AD203B41FA5}">
                          <a16:colId xmlns="" xmlns:a16="http://schemas.microsoft.com/office/drawing/2014/main" val="20003"/>
                        </a:ext>
                      </a:extLst>
                    </a:gridCol>
                    <a:gridCol w="1463040">
                      <a:extLst>
                        <a:ext uri="{9D8B030D-6E8A-4147-A177-3AD203B41FA5}">
                          <a16:colId xmlns="" xmlns:a16="http://schemas.microsoft.com/office/drawing/2014/main" val="20004"/>
                        </a:ext>
                      </a:extLst>
                    </a:gridCol>
                    <a:gridCol w="1463040">
                      <a:extLst>
                        <a:ext uri="{9D8B030D-6E8A-4147-A177-3AD203B41FA5}">
                          <a16:colId xmlns="" xmlns:a16="http://schemas.microsoft.com/office/drawing/2014/main" val="20005"/>
                        </a:ext>
                      </a:extLst>
                    </a:gridCol>
                  </a:tblGrid>
                  <a:tr h="6858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Orange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Yellow</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Green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Blue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Frequency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Probability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0.2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40%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0.1</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10%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939550155"/>
                  </p:ext>
                </p:extLst>
              </p:nvPr>
            </p:nvGraphicFramePr>
            <p:xfrm>
              <a:off x="1070112" y="4142232"/>
              <a:ext cx="9144000" cy="2057400"/>
            </p:xfrm>
            <a:graphic>
              <a:graphicData uri="http://schemas.openxmlformats.org/drawingml/2006/table">
                <a:tbl>
                  <a:tblPr firstRow="1" firstCol="1" bandRow="1">
                    <a:tableStyleId>{5940675A-B579-460E-94D1-54222C63F5DA}</a:tableStyleId>
                  </a:tblPr>
                  <a:tblGrid>
                    <a:gridCol w="1828800">
                      <a:extLst>
                        <a:ext uri="{9D8B030D-6E8A-4147-A177-3AD203B41FA5}">
                          <a16:colId xmlns:a16="http://schemas.microsoft.com/office/drawing/2014/main" xmlns:a14="http://schemas.microsoft.com/office/drawing/2010/main" xmlns="" val="20000"/>
                        </a:ext>
                      </a:extLst>
                    </a:gridCol>
                    <a:gridCol w="1463040">
                      <a:extLst>
                        <a:ext uri="{9D8B030D-6E8A-4147-A177-3AD203B41FA5}">
                          <a16:colId xmlns:a16="http://schemas.microsoft.com/office/drawing/2014/main" xmlns:a14="http://schemas.microsoft.com/office/drawing/2010/main" xmlns="" val="20001"/>
                        </a:ext>
                      </a:extLst>
                    </a:gridCol>
                    <a:gridCol w="1463040">
                      <a:extLst>
                        <a:ext uri="{9D8B030D-6E8A-4147-A177-3AD203B41FA5}">
                          <a16:colId xmlns:a16="http://schemas.microsoft.com/office/drawing/2014/main" xmlns:a14="http://schemas.microsoft.com/office/drawing/2010/main" xmlns="" val="20002"/>
                        </a:ext>
                      </a:extLst>
                    </a:gridCol>
                    <a:gridCol w="1463040">
                      <a:extLst>
                        <a:ext uri="{9D8B030D-6E8A-4147-A177-3AD203B41FA5}">
                          <a16:colId xmlns:a16="http://schemas.microsoft.com/office/drawing/2014/main" xmlns:a14="http://schemas.microsoft.com/office/drawing/2010/main" xmlns="" val="20003"/>
                        </a:ext>
                      </a:extLst>
                    </a:gridCol>
                    <a:gridCol w="1463040">
                      <a:extLst>
                        <a:ext uri="{9D8B030D-6E8A-4147-A177-3AD203B41FA5}">
                          <a16:colId xmlns:a16="http://schemas.microsoft.com/office/drawing/2014/main" xmlns:a14="http://schemas.microsoft.com/office/drawing/2010/main" xmlns="" val="20004"/>
                        </a:ext>
                      </a:extLst>
                    </a:gridCol>
                    <a:gridCol w="1463040">
                      <a:extLst>
                        <a:ext uri="{9D8B030D-6E8A-4147-A177-3AD203B41FA5}">
                          <a16:colId xmlns:a16="http://schemas.microsoft.com/office/drawing/2014/main" xmlns:a14="http://schemas.microsoft.com/office/drawing/2010/main" xmlns="" val="20005"/>
                        </a:ext>
                      </a:extLst>
                    </a:gridCol>
                  </a:tblGrid>
                  <a:tr h="6858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Orange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Yellow</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Green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Blue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Frequency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Probability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25417" t="-201786" r="-4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5417" t="-201786" r="-3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25417" t="-201786" r="-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25417" t="-201786" r="-1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25417" t="-201786"/>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341</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99530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Google Shape;278;g104476d1465_1_17">
            <a:extLst>
              <a:ext uri="{FF2B5EF4-FFF2-40B4-BE49-F238E27FC236}">
                <a16:creationId xmlns="" xmlns:a16="http://schemas.microsoft.com/office/drawing/2014/main" id="{244F00A5-2AA6-AE4D-816C-EE9779D15DDB}"/>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341</a:t>
            </a:r>
            <a:endParaRPr i="1" dirty="0">
              <a:latin typeface="Calibri"/>
              <a:ea typeface="Calibri"/>
              <a:cs typeface="Calibri"/>
              <a:sym typeface="Calibri"/>
            </a:endParaRPr>
          </a:p>
        </p:txBody>
      </p:sp>
      <p:pic>
        <p:nvPicPr>
          <p:cNvPr id="14"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5"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40942" y="2506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6"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052650" y="357773"/>
            <a:ext cx="10477934"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14.6.5 Try It: Determining Sample Space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xmlns="" id="{31D40250-DEDD-2C41-8538-3D4DD18CCC4A}"/>
                  </a:ext>
                </a:extLst>
              </p:cNvPr>
              <p:cNvSpPr txBox="1"/>
              <p:nvPr/>
            </p:nvSpPr>
            <p:spPr>
              <a:xfrm>
                <a:off x="731519" y="1491419"/>
                <a:ext cx="10758527" cy="3440557"/>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Ziggy made a dozen chocolate chip cookies for his family. Each cookie either had </a:t>
                </a:r>
                <a:r>
                  <a:rPr lang="en-US" sz="2000" dirty="0">
                    <a:latin typeface="Cambria Math" panose="02040503050406030204" pitchFamily="18" charset="0"/>
                    <a:ea typeface="Cambria Math" panose="02040503050406030204" pitchFamily="18" charset="0"/>
                    <a:cs typeface="Verdana" panose="020B0604030504040204" pitchFamily="34" charset="0"/>
                  </a:rPr>
                  <a:t>9</a:t>
                </a: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 or </a:t>
                </a:r>
                <a:r>
                  <a:rPr lang="en-US" sz="2000" dirty="0">
                    <a:latin typeface="Cambria Math" panose="02040503050406030204" pitchFamily="18" charset="0"/>
                    <a:ea typeface="Cambria Math" panose="02040503050406030204" pitchFamily="18" charset="0"/>
                    <a:cs typeface="Verdana" panose="020B0604030504040204" pitchFamily="34" charset="0"/>
                  </a:rPr>
                  <a:t>11</a:t>
                </a:r>
                <a:r>
                  <a:rPr lang="en-US" sz="2000" dirty="0">
                    <a:latin typeface="Verdana" panose="020B0604030504040204" pitchFamily="34" charset="0"/>
                    <a:ea typeface="Verdana" panose="020B0604030504040204" pitchFamily="34" charset="0"/>
                    <a:cs typeface="Verdana" panose="020B0604030504040204" pitchFamily="34" charset="0"/>
                  </a:rPr>
                  <a:t> chocolate chips. Before baking them, he counted how many chocolate chips were in each cookie and determined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865188" algn="ct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rPr>
                        <m:t>𝑃</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𝑝𝑖𝑐𝑘𝑖𝑛𝑔</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𝑎</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𝑐𝑜𝑜𝑘𝑖𝑒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𝑤𝑖𝑡h</m:t>
                      </m:r>
                      <m:r>
                        <a:rPr lang="en-US" sz="2000" i="1">
                          <a:latin typeface="Cambria Math" panose="02040503050406030204" pitchFamily="18" charset="0"/>
                          <a:ea typeface="Cambria Math" panose="02040503050406030204" pitchFamily="18" charset="0"/>
                        </a:rPr>
                        <m:t> 9 </m:t>
                      </m:r>
                      <m:r>
                        <a:rPr lang="en-US" sz="2000" i="1">
                          <a:latin typeface="Cambria Math" panose="02040503050406030204" pitchFamily="18" charset="0"/>
                          <a:ea typeface="Cambria Math" panose="02040503050406030204" pitchFamily="18" charset="0"/>
                        </a:rPr>
                        <m:t>𝑐h𝑜𝑐𝑜𝑙𝑎𝑡𝑒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𝑐h𝑖𝑝𝑠</m:t>
                      </m:r>
                      <m:r>
                        <a:rPr lang="en-US" sz="2000" i="1">
                          <a:latin typeface="Cambria Math" panose="02040503050406030204" pitchFamily="18" charset="0"/>
                          <a:ea typeface="Cambria Math" panose="02040503050406030204" pitchFamily="18" charset="0"/>
                        </a:rPr>
                        <m:t>) = </m:t>
                      </m:r>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6</m:t>
                          </m:r>
                        </m:den>
                      </m:f>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865188" algn="ctr"/>
                <a:r>
                  <a:rPr lang="en-US" sz="2000" dirty="0">
                    <a:latin typeface="Verdana" panose="020B0604030504040204" pitchFamily="34" charset="0"/>
                    <a:ea typeface="Verdana" panose="020B0604030504040204" pitchFamily="34" charset="0"/>
                    <a:cs typeface="Verdana" panose="020B0604030504040204" pitchFamily="34" charset="0"/>
                  </a:rPr>
                  <a:t> </a:t>
                </a:r>
              </a:p>
              <a:p>
                <a:pPr marL="865188" algn="ct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rPr>
                        <m:t>𝑃</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𝑝𝑖𝑐𝑘𝑖𝑛𝑔</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𝑎</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𝑐𝑜𝑜𝑘𝑖𝑒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𝑤𝑖𝑡h</m:t>
                      </m:r>
                      <m:r>
                        <a:rPr lang="en-US" sz="2000" i="1">
                          <a:latin typeface="Cambria Math" panose="02040503050406030204" pitchFamily="18" charset="0"/>
                          <a:ea typeface="Cambria Math" panose="02040503050406030204" pitchFamily="18" charset="0"/>
                        </a:rPr>
                        <m:t> 10 </m:t>
                      </m:r>
                      <m:r>
                        <a:rPr lang="en-US" sz="2000" i="1">
                          <a:latin typeface="Cambria Math" panose="02040503050406030204" pitchFamily="18" charset="0"/>
                          <a:ea typeface="Cambria Math" panose="02040503050406030204" pitchFamily="18" charset="0"/>
                        </a:rPr>
                        <m:t>𝑐h𝑜𝑐𝑜𝑙𝑎𝑡𝑒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𝑐h𝑖𝑝𝑠</m:t>
                      </m:r>
                      <m:r>
                        <a:rPr lang="en-US" sz="2000" i="1">
                          <a:latin typeface="Cambria Math" panose="02040503050406030204" pitchFamily="18" charset="0"/>
                          <a:ea typeface="Cambria Math" panose="02040503050406030204" pitchFamily="18" charset="0"/>
                        </a:rPr>
                        <m:t>) = 0.5 </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865188" algn="ctr"/>
                <a:r>
                  <a:rPr lang="en-US" sz="2000" dirty="0">
                    <a:latin typeface="Verdana" panose="020B0604030504040204" pitchFamily="34" charset="0"/>
                    <a:ea typeface="Verdana" panose="020B0604030504040204" pitchFamily="34" charset="0"/>
                    <a:cs typeface="Verdana" panose="020B0604030504040204" pitchFamily="34" charset="0"/>
                  </a:rPr>
                  <a:t> </a:t>
                </a:r>
              </a:p>
              <a:p>
                <a:pPr marL="865188" algn="ct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rPr>
                        <m:t>𝑃</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𝑝𝑖𝑐𝑘𝑖𝑛𝑔</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𝑎</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𝑐𝑜𝑜𝑘𝑖𝑒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𝑤𝑖𝑡h</m:t>
                      </m:r>
                      <m:r>
                        <a:rPr lang="en-US" sz="2000" i="1">
                          <a:latin typeface="Cambria Math" panose="02040503050406030204" pitchFamily="18" charset="0"/>
                          <a:ea typeface="Cambria Math" panose="02040503050406030204" pitchFamily="18" charset="0"/>
                        </a:rPr>
                        <m:t> 11 </m:t>
                      </m:r>
                      <m:r>
                        <a:rPr lang="en-US" sz="2000" i="1">
                          <a:latin typeface="Cambria Math" panose="02040503050406030204" pitchFamily="18" charset="0"/>
                          <a:ea typeface="Cambria Math" panose="02040503050406030204" pitchFamily="18" charset="0"/>
                        </a:rPr>
                        <m:t>𝑐h𝑜𝑐𝑜𝑙𝑎𝑡𝑒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𝑐h𝑖𝑝𝑠</m:t>
                      </m:r>
                      <m:r>
                        <a:rPr lang="en-US" sz="2000" i="1">
                          <a:latin typeface="Cambria Math" panose="02040503050406030204" pitchFamily="18" charset="0"/>
                          <a:ea typeface="Cambria Math" panose="02040503050406030204" pitchFamily="18" charset="0"/>
                        </a:rPr>
                        <m:t>) =</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7" name="TextBox 16">
                <a:extLst>
                  <a:ext uri="{FF2B5EF4-FFF2-40B4-BE49-F238E27FC236}">
                    <a16:creationId xmlns="" xmlns:a16="http://schemas.microsoft.com/office/drawing/2014/main" xmlns:a14="http://schemas.microsoft.com/office/drawing/2010/main" id="{31D40250-DEDD-2C41-8538-3D4DD18CCC4A}"/>
                  </a:ext>
                </a:extLst>
              </p:cNvPr>
              <p:cNvSpPr txBox="1">
                <a:spLocks noRot="1" noChangeAspect="1" noMove="1" noResize="1" noEditPoints="1" noAdjustHandles="1" noChangeArrowheads="1" noChangeShapeType="1" noTextEdit="1"/>
              </p:cNvSpPr>
              <p:nvPr/>
            </p:nvSpPr>
            <p:spPr>
              <a:xfrm>
                <a:off x="731519" y="1491419"/>
                <a:ext cx="10758527" cy="3440557"/>
              </a:xfrm>
              <a:prstGeom prst="rect">
                <a:avLst/>
              </a:prstGeom>
              <a:blipFill rotWithShape="1">
                <a:blip r:embed="rId5"/>
                <a:stretch>
                  <a:fillRect l="-567" t="-1064" b="-1241"/>
                </a:stretch>
              </a:blipFill>
            </p:spPr>
            <p:txBody>
              <a:bodyPr/>
              <a:lstStyle/>
              <a:p>
                <a:r>
                  <a:rPr lang="en-US">
                    <a:noFill/>
                  </a:rPr>
                  <a:t> </a:t>
                </a:r>
              </a:p>
            </p:txBody>
          </p:sp>
        </mc:Fallback>
      </mc:AlternateContent>
    </p:spTree>
    <p:extLst>
      <p:ext uri="{BB962C8B-B14F-4D97-AF65-F5344CB8AC3E}">
        <p14:creationId xmlns:p14="http://schemas.microsoft.com/office/powerpoint/2010/main" val="3840359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F8FE04BB-F3FA-5B4A-8F1B-F17A449A27C9}"/>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mc="http://schemas.openxmlformats.org/markup-compatibility/2006" xmlns:a14="http://schemas.microsoft.com/office/drawing/2010/main" xmlns="" xmlns:a16="http://schemas.microsoft.com/office/drawing/2014/main" id="{2FA392D8-3ED3-7940-83A8-1451AA8A08D4}"/>
              </a:ext>
            </a:extLst>
          </p:cNvPr>
          <p:cNvSpPr txBox="1"/>
          <p:nvPr/>
        </p:nvSpPr>
        <p:spPr>
          <a:xfrm>
            <a:off x="567585" y="520393"/>
            <a:ext cx="10963000" cy="2862322"/>
          </a:xfrm>
          <a:prstGeom prst="rect">
            <a:avLst/>
          </a:prstGeom>
          <a:noFill/>
        </p:spPr>
        <p:txBody>
          <a:bodyPr wrap="square" rtlCol="0">
            <a:spAutoFit/>
          </a:bodyPr>
          <a:lstStyle/>
          <a:p>
            <a:pPr marL="914400" indent="-457200">
              <a:buFont typeface="+mj-lt"/>
              <a:buAutoNum type="alphaLcPeriod"/>
            </a:pPr>
            <a:r>
              <a:rPr lang="en-US" sz="2000" dirty="0" err="1">
                <a:latin typeface="Verdana" panose="020B0604030504040204" pitchFamily="34" charset="0"/>
                <a:ea typeface="Verdana" panose="020B0604030504040204" pitchFamily="34" charset="0"/>
                <a:cs typeface="Verdana" panose="020B0604030504040204" pitchFamily="34" charset="0"/>
              </a:rPr>
              <a:t>Ziggy</a:t>
            </a:r>
            <a:r>
              <a:rPr lang="en-US" sz="2000" dirty="0">
                <a:latin typeface="Verdana" panose="020B0604030504040204" pitchFamily="34" charset="0"/>
                <a:ea typeface="Verdana" panose="020B0604030504040204" pitchFamily="34" charset="0"/>
                <a:cs typeface="Verdana" panose="020B0604030504040204" pitchFamily="34" charset="0"/>
              </a:rPr>
              <a:t> forgot to calculate the probability of selecting a cookie with </a:t>
            </a:r>
            <a:r>
              <a:rPr lang="en-US" sz="2000" dirty="0">
                <a:latin typeface="Cambria Math" panose="02040503050406030204" pitchFamily="18" charset="0"/>
                <a:ea typeface="Cambria Math" panose="02040503050406030204" pitchFamily="18" charset="0"/>
                <a:cs typeface="Verdana" panose="020B0604030504040204" pitchFamily="34" charset="0"/>
              </a:rPr>
              <a:t>11</a:t>
            </a:r>
            <a:r>
              <a:rPr lang="en-US" sz="2000" dirty="0">
                <a:latin typeface="Verdana" panose="020B0604030504040204" pitchFamily="34" charset="0"/>
                <a:ea typeface="Verdana" panose="020B0604030504040204" pitchFamily="34" charset="0"/>
                <a:cs typeface="Verdana" panose="020B0604030504040204" pitchFamily="34" charset="0"/>
              </a:rPr>
              <a:t> chocolate chips. Explain how he can use the two probabilities he already calculated to determine the missing probability. </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probability of choosing a cookie with </a:t>
            </a:r>
            <a:r>
              <a:rPr lang="en-US" sz="2000" dirty="0">
                <a:latin typeface="Cambria Math" panose="02040503050406030204" pitchFamily="18" charset="0"/>
                <a:ea typeface="Cambria Math" panose="02040503050406030204" pitchFamily="18" charset="0"/>
                <a:cs typeface="Verdana" panose="020B0604030504040204" pitchFamily="34" charset="0"/>
              </a:rPr>
              <a:t>11</a:t>
            </a:r>
            <a:r>
              <a:rPr lang="en-US" sz="2000" dirty="0">
                <a:latin typeface="Verdana" panose="020B0604030504040204" pitchFamily="34" charset="0"/>
                <a:ea typeface="Verdana" panose="020B0604030504040204" pitchFamily="34" charset="0"/>
                <a:cs typeface="Verdana" panose="020B0604030504040204" pitchFamily="34" charset="0"/>
              </a:rPr>
              <a:t> chocolate chips?</a:t>
            </a:r>
          </a:p>
        </p:txBody>
      </p:sp>
    </p:spTree>
    <p:extLst>
      <p:ext uri="{BB962C8B-B14F-4D97-AF65-F5344CB8AC3E}">
        <p14:creationId xmlns:p14="http://schemas.microsoft.com/office/powerpoint/2010/main" val="1265626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mc="http://schemas.openxmlformats.org/markup-compatibility/2006" xmlns:a14="http://schemas.microsoft.com/office/drawing/2010/main" xmlns="" xmlns:a16="http://schemas.microsoft.com/office/drawing/2014/main" id="{2FA392D8-3ED3-7940-83A8-1451AA8A08D4}"/>
              </a:ext>
            </a:extLst>
          </p:cNvPr>
          <p:cNvSpPr txBox="1"/>
          <p:nvPr/>
        </p:nvSpPr>
        <p:spPr>
          <a:xfrm>
            <a:off x="567585" y="520393"/>
            <a:ext cx="10963000" cy="4093428"/>
          </a:xfrm>
          <a:prstGeom prst="rect">
            <a:avLst/>
          </a:prstGeom>
          <a:noFill/>
        </p:spPr>
        <p:txBody>
          <a:bodyPr wrap="square" rtlCol="0">
            <a:spAutoFit/>
          </a:bodyPr>
          <a:lstStyle/>
          <a:p>
            <a:pPr marL="914400" indent="-457200">
              <a:buFont typeface="+mj-lt"/>
              <a:buAutoNum type="alphaLcPeriod" startAt="3"/>
              <a:tabLst>
                <a:tab pos="293688" algn="l"/>
              </a:tabLst>
            </a:pPr>
            <a:r>
              <a:rPr lang="en-US" sz="2000" dirty="0">
                <a:latin typeface="Verdana" panose="020B0604030504040204" pitchFamily="34" charset="0"/>
                <a:ea typeface="Verdana" panose="020B0604030504040204" pitchFamily="34" charset="0"/>
                <a:cs typeface="Verdana" panose="020B0604030504040204" pitchFamily="34" charset="0"/>
              </a:rPr>
              <a:t>How many cookies have exactly </a:t>
            </a:r>
            <a:r>
              <a:rPr lang="en-US" sz="2000" dirty="0">
                <a:latin typeface="Cambria Math" panose="02040503050406030204" pitchFamily="18" charset="0"/>
                <a:ea typeface="Cambria Math" panose="02040503050406030204" pitchFamily="18" charset="0"/>
                <a:cs typeface="Verdana" panose="020B0604030504040204" pitchFamily="34" charset="0"/>
              </a:rPr>
              <a:t>9</a:t>
            </a:r>
            <a:r>
              <a:rPr lang="en-US" sz="2000" dirty="0">
                <a:latin typeface="Verdana" panose="020B0604030504040204" pitchFamily="34" charset="0"/>
                <a:ea typeface="Verdana" panose="020B0604030504040204" pitchFamily="34" charset="0"/>
                <a:cs typeface="Verdana" panose="020B0604030504040204" pitchFamily="34" charset="0"/>
              </a:rPr>
              <a:t> chocolate chips? </a:t>
            </a: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r>
              <a:rPr lang="en-US" sz="2000" dirty="0">
                <a:latin typeface="Verdana" panose="020B0604030504040204" pitchFamily="34" charset="0"/>
                <a:ea typeface="Verdana" panose="020B0604030504040204" pitchFamily="34" charset="0"/>
                <a:cs typeface="Verdana" panose="020B0604030504040204" pitchFamily="34" charset="0"/>
              </a:rPr>
              <a:t>How many cookies have exactly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 chocolate chips?</a:t>
            </a: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r>
              <a:rPr lang="en-US" sz="2000" dirty="0">
                <a:latin typeface="Verdana" panose="020B0604030504040204" pitchFamily="34" charset="0"/>
                <a:ea typeface="Verdana" panose="020B0604030504040204" pitchFamily="34" charset="0"/>
                <a:cs typeface="Verdana" panose="020B0604030504040204" pitchFamily="34" charset="0"/>
              </a:rPr>
              <a:t>How many cookies have exactly </a:t>
            </a:r>
            <a:r>
              <a:rPr lang="en-US" sz="2000" dirty="0">
                <a:latin typeface="Cambria Math" panose="02040503050406030204" pitchFamily="18" charset="0"/>
                <a:ea typeface="Cambria Math" panose="02040503050406030204" pitchFamily="18" charset="0"/>
                <a:cs typeface="Verdana" panose="020B0604030504040204" pitchFamily="34" charset="0"/>
              </a:rPr>
              <a:t>11</a:t>
            </a:r>
            <a:r>
              <a:rPr lang="en-US" sz="2000" dirty="0">
                <a:latin typeface="Verdana" panose="020B0604030504040204" pitchFamily="34" charset="0"/>
                <a:ea typeface="Verdana" panose="020B0604030504040204" pitchFamily="34" charset="0"/>
                <a:cs typeface="Verdana" panose="020B0604030504040204" pitchFamily="34" charset="0"/>
              </a:rPr>
              <a:t> chocolate chips? </a:t>
            </a: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tabLst>
                <a:tab pos="293688" algn="l"/>
              </a:tabLst>
            </a:pPr>
            <a:r>
              <a:rPr lang="en-US" sz="2000" dirty="0">
                <a:latin typeface="Verdana" panose="020B0604030504040204" pitchFamily="34" charset="0"/>
                <a:ea typeface="Verdana" panose="020B0604030504040204" pitchFamily="34" charset="0"/>
                <a:cs typeface="Verdana" panose="020B0604030504040204" pitchFamily="34" charset="0"/>
              </a:rPr>
              <a:t>Construct a probability distribution to check your work.</a:t>
            </a:r>
          </a:p>
        </p:txBody>
      </p:sp>
    </p:spTree>
    <p:extLst>
      <p:ext uri="{BB962C8B-B14F-4D97-AF65-F5344CB8AC3E}">
        <p14:creationId xmlns:p14="http://schemas.microsoft.com/office/powerpoint/2010/main" val="1163510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9" name="TextBox 18">
            <a:extLst>
              <a:ext uri="{FF2B5EF4-FFF2-40B4-BE49-F238E27FC236}">
                <a16:creationId xmlns="" xmlns:a16="http://schemas.microsoft.com/office/drawing/2014/main" xmlns:a14="http://schemas.microsoft.com/office/drawing/2010/main" xmlns:mc="http://schemas.openxmlformats.org/markup-compatibility/2006" id="{759C3E41-93EC-B84D-963F-86A3B15AC1C6}"/>
              </a:ext>
            </a:extLst>
          </p:cNvPr>
          <p:cNvSpPr txBox="1"/>
          <p:nvPr/>
        </p:nvSpPr>
        <p:spPr>
          <a:xfrm>
            <a:off x="730266" y="1408886"/>
            <a:ext cx="10800846" cy="440120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grocery store is giving away gift cards to customers who can correctly estimate the number of green apples in a bag of </a:t>
            </a:r>
            <a:r>
              <a:rPr lang="en-US" sz="2000" dirty="0">
                <a:latin typeface="Cambria Math" panose="02040503050406030204" pitchFamily="18" charset="0"/>
                <a:ea typeface="Cambria Math" panose="02040503050406030204" pitchFamily="18" charset="0"/>
                <a:cs typeface="Verdana" panose="020B0604030504040204" pitchFamily="34" charset="0"/>
              </a:rPr>
              <a:t>25</a:t>
            </a:r>
            <a:r>
              <a:rPr lang="en-US" sz="2000" dirty="0">
                <a:latin typeface="Verdana" panose="020B0604030504040204" pitchFamily="34" charset="0"/>
                <a:ea typeface="Verdana" panose="020B0604030504040204" pitchFamily="34" charset="0"/>
                <a:cs typeface="Verdana" panose="020B0604030504040204" pitchFamily="34" charset="0"/>
              </a:rPr>
              <a:t> apples. The sign states the following:</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P(Granny Smith)=</a:t>
            </a:r>
            <a:r>
              <a:rPr lang="en-US" sz="2000" dirty="0">
                <a:latin typeface="Cambria Math" panose="02040503050406030204" pitchFamily="18" charset="0"/>
                <a:ea typeface="Cambria Math" panose="02040503050406030204" pitchFamily="18" charset="0"/>
                <a:cs typeface="Verdana" panose="020B0604030504040204" pitchFamily="34" charset="0"/>
              </a:rPr>
              <a:t> 0.2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P(</a:t>
            </a:r>
            <a:r>
              <a:rPr lang="en-US" sz="2000" dirty="0" err="1">
                <a:latin typeface="Verdana" panose="020B0604030504040204" pitchFamily="34" charset="0"/>
                <a:ea typeface="Verdana" panose="020B0604030504040204" pitchFamily="34" charset="0"/>
                <a:cs typeface="Verdana" panose="020B0604030504040204" pitchFamily="34" charset="0"/>
              </a:rPr>
              <a:t>Honeycrisp</a:t>
            </a: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Cambria Math" panose="02040503050406030204" pitchFamily="18" charset="0"/>
                <a:ea typeface="Cambria Math" panose="02040503050406030204" pitchFamily="18" charset="0"/>
                <a:cs typeface="Verdana" panose="020B0604030504040204" pitchFamily="34" charset="0"/>
              </a:rPr>
              <a:t>0.32</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P(Red Delicious)= </a:t>
            </a:r>
            <a:r>
              <a:rPr lang="en-US" sz="2000" dirty="0">
                <a:latin typeface="Cambria Math" panose="02040503050406030204" pitchFamily="18" charset="0"/>
                <a:ea typeface="Cambria Math" panose="02040503050406030204" pitchFamily="18" charset="0"/>
                <a:cs typeface="Verdana" panose="020B0604030504040204" pitchFamily="34" charset="0"/>
              </a:rPr>
              <a:t>0.48</a:t>
            </a:r>
          </a:p>
        </p:txBody>
      </p:sp>
      <p:sp>
        <p:nvSpPr>
          <p:cNvPr id="8" name="Google Shape;278;g104476d1465_1_17">
            <a:extLst>
              <a:ext uri="{FF2B5EF4-FFF2-40B4-BE49-F238E27FC236}">
                <a16:creationId xmlns="" xmlns:a16="http://schemas.microsoft.com/office/drawing/2014/main" id="{3497339A-36B9-2142-AAF4-61C2E4DE6EB2}"/>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9" descr="A picture containing apple, indoor, fruit, orange&#10;&#10;Description automatically generated"/>
          <p:cNvPicPr/>
          <p:nvPr/>
        </p:nvPicPr>
        <p:blipFill rotWithShape="1">
          <a:blip r:embed="rId3" cstate="screen">
            <a:extLst>
              <a:ext uri="{28A0092B-C50C-407E-A947-70E740481C1C}">
                <a14:useLocalDpi xmlns:a14="http://schemas.microsoft.com/office/drawing/2010/main"/>
              </a:ext>
            </a:extLst>
          </a:blip>
          <a:srcRect t="20456" r="66933" b="23547"/>
          <a:stretch/>
        </p:blipFill>
        <p:spPr bwMode="auto">
          <a:xfrm>
            <a:off x="4223589" y="2449978"/>
            <a:ext cx="1090295" cy="1159510"/>
          </a:xfrm>
          <a:prstGeom prst="rect">
            <a:avLst/>
          </a:prstGeom>
          <a:noFill/>
          <a:ln>
            <a:noFill/>
          </a:ln>
          <a:extLst>
            <a:ext uri="{53640926-AAD7-44D8-BBD7-CCE9431645EC}">
              <a14:shadowObscured xmlns:a14="http://schemas.microsoft.com/office/drawing/2010/main"/>
            </a:ext>
          </a:extLst>
        </p:spPr>
      </p:pic>
      <p:pic>
        <p:nvPicPr>
          <p:cNvPr id="13" name="Picture 12" descr="Honeycrisp - Wikipedia"/>
          <p:cNvPicPr/>
          <p:nvPr/>
        </p:nvPicPr>
        <p:blipFill>
          <a:blip r:embed="rId4" cstate="screen">
            <a:extLst>
              <a:ext uri="{28A0092B-C50C-407E-A947-70E740481C1C}">
                <a14:useLocalDpi xmlns:a14="http://schemas.microsoft.com/office/drawing/2010/main"/>
              </a:ext>
              <a:ext uri="{837473B0-CC2E-450A-ABE3-18F120FF3D39}">
                <a1611:picAttrSrcUrl xmlns="" xmlns:a1611="http://schemas.microsoft.com/office/drawing/2016/11/main" r:id="rId7"/>
              </a:ext>
            </a:extLst>
          </a:blip>
          <a:stretch>
            <a:fillRect/>
          </a:stretch>
        </p:blipFill>
        <p:spPr>
          <a:xfrm>
            <a:off x="4223589" y="3782233"/>
            <a:ext cx="1154430" cy="1038860"/>
          </a:xfrm>
          <a:prstGeom prst="rect">
            <a:avLst/>
          </a:prstGeom>
        </p:spPr>
      </p:pic>
      <p:pic>
        <p:nvPicPr>
          <p:cNvPr id="14" name="Picture 13" descr="Red Delicious | Photo of glossy Red Delicious apple on ..."/>
          <p:cNvPicPr/>
          <p:nvPr/>
        </p:nvPicPr>
        <p:blipFill rotWithShape="1">
          <a:blip r:embed="rId8" cstate="screen">
            <a:extLst>
              <a:ext uri="{28A0092B-C50C-407E-A947-70E740481C1C}">
                <a14:useLocalDpi xmlns:a14="http://schemas.microsoft.com/office/drawing/2010/main"/>
              </a:ext>
              <a:ext uri="{837473B0-CC2E-450A-ABE3-18F120FF3D39}">
                <a1611:picAttrSrcUrl xmlns="" xmlns:a1611="http://schemas.microsoft.com/office/drawing/2016/11/main" r:id="rId9"/>
              </a:ext>
            </a:extLst>
          </a:blip>
          <a:srcRect/>
          <a:stretch/>
        </p:blipFill>
        <p:spPr bwMode="auto">
          <a:xfrm>
            <a:off x="4326459" y="4993767"/>
            <a:ext cx="1051560" cy="1205865"/>
          </a:xfrm>
          <a:prstGeom prst="rect">
            <a:avLst/>
          </a:prstGeom>
          <a:ln>
            <a:noFill/>
          </a:ln>
          <a:extLst>
            <a:ext uri="{53640926-AAD7-44D8-BBD7-CCE9431645EC}">
              <a14:shadowObscured xmlns:a14="http://schemas.microsoft.com/office/drawing/2010/main"/>
            </a:ext>
          </a:extLst>
        </p:spPr>
      </p:pic>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342</a:t>
            </a:r>
            <a:endParaRPr i="1" dirty="0">
              <a:latin typeface="Calibri"/>
              <a:ea typeface="Calibri"/>
              <a:cs typeface="Calibri"/>
              <a:sym typeface="Calibri"/>
            </a:endParaRPr>
          </a:p>
        </p:txBody>
      </p:sp>
      <p:pic>
        <p:nvPicPr>
          <p:cNvPr id="16" name="Google Shape;283;g104476d1465_1_17"/>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7"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14.6.6 Your Turn!</a:t>
            </a:r>
          </a:p>
        </p:txBody>
      </p:sp>
      <p:pic>
        <p:nvPicPr>
          <p:cNvPr id="18"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11">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0129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FC9D7F98-E787-6F4D-92A1-6A0986979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342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2FA392D8-3ED3-7940-83A8-1451AA8A08D4}"/>
                  </a:ext>
                </a:extLst>
              </p:cNvPr>
              <p:cNvSpPr txBox="1"/>
              <p:nvPr/>
            </p:nvSpPr>
            <p:spPr>
              <a:xfrm>
                <a:off x="567585" y="520393"/>
                <a:ext cx="10963000" cy="440120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Aubree says, “Since there are </a:t>
                </a:r>
                <a:r>
                  <a:rPr lang="en-US" sz="2000" dirty="0">
                    <a:latin typeface="Cambria Math" panose="02040503050406030204" pitchFamily="18" charset="0"/>
                    <a:ea typeface="Cambria Math" panose="02040503050406030204" pitchFamily="18" charset="0"/>
                    <a:cs typeface="Verdana" panose="020B0604030504040204" pitchFamily="34" charset="0"/>
                  </a:rPr>
                  <a:t>25</a:t>
                </a:r>
                <a:r>
                  <a:rPr lang="en-US" sz="2000" dirty="0">
                    <a:latin typeface="Verdana" panose="020B0604030504040204" pitchFamily="34" charset="0"/>
                    <a:ea typeface="Verdana" panose="020B0604030504040204" pitchFamily="34" charset="0"/>
                    <a:cs typeface="Verdana" panose="020B0604030504040204" pitchFamily="34" charset="0"/>
                  </a:rPr>
                  <a:t> apples in the bag and Granny Smith is the only type that is green, we must multiply the probability of selecting a Granny Smith apple by the total number of apples. So, there are </a:t>
                </a:r>
                <a:r>
                  <a:rPr lang="en-US" sz="2000" dirty="0">
                    <a:latin typeface="Cambria Math" panose="02040503050406030204" pitchFamily="18" charset="0"/>
                    <a:ea typeface="Cambria Math" panose="02040503050406030204" pitchFamily="18" charset="0"/>
                    <a:cs typeface="Verdana" panose="020B0604030504040204" pitchFamily="34" charset="0"/>
                  </a:rPr>
                  <a:t>5</a:t>
                </a:r>
                <a:r>
                  <a:rPr lang="en-US" sz="2000" dirty="0">
                    <a:latin typeface="Verdana" panose="020B0604030504040204" pitchFamily="34" charset="0"/>
                    <a:ea typeface="Verdana" panose="020B0604030504040204" pitchFamily="34" charset="0"/>
                    <a:cs typeface="Verdana" panose="020B0604030504040204" pitchFamily="34" charset="0"/>
                  </a:rPr>
                  <a:t> green apples since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latin typeface="Cambria Math" panose="02040503050406030204" pitchFamily="18" charset="0"/>
                        <a:ea typeface="Cambria Math" panose="02040503050406030204" pitchFamily="18" charset="0"/>
                      </a:rPr>
                      <m:t>0.2 ∙ 25 = 5</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Joey states, “I don’t think that’s correct. There could also be Crispin apples in the bag. Those are green as well.”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Aubree says, “The sign only mentions Granny Smith, Honeycrisp, and Red Delicious. I don’t think that there are other apples in the bag.”</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Joey says, “Yes, the sign only mentions those three, but this probability distribution is not valid. When I add the probabilities, I get </a:t>
                </a:r>
                <a:r>
                  <a:rPr lang="en-US" sz="2000" dirty="0">
                    <a:latin typeface="Cambria Math" panose="02040503050406030204" pitchFamily="18" charset="0"/>
                    <a:ea typeface="Cambria Math" panose="02040503050406030204" pitchFamily="18" charset="0"/>
                    <a:cs typeface="Verdana" panose="020B0604030504040204" pitchFamily="34" charset="0"/>
                  </a:rPr>
                  <a:t>0.82</a:t>
                </a:r>
                <a:r>
                  <a:rPr lang="en-US" sz="2000" dirty="0">
                    <a:latin typeface="Verdana" panose="020B0604030504040204" pitchFamily="34" charset="0"/>
                    <a:ea typeface="Verdana" panose="020B0604030504040204" pitchFamily="34" charset="0"/>
                    <a:cs typeface="Verdana" panose="020B0604030504040204" pitchFamily="34" charset="0"/>
                  </a:rPr>
                  <a:t>, which is not </a:t>
                </a:r>
                <a:r>
                  <a:rPr lang="en-US" sz="2000" dirty="0">
                    <a:latin typeface="Cambria Math" panose="02040503050406030204" pitchFamily="18" charset="0"/>
                    <a:ea typeface="Cambria Math" panose="02040503050406030204" pitchFamily="18" charset="0"/>
                    <a:cs typeface="Verdana" panose="020B0604030504040204" pitchFamily="34" charset="0"/>
                  </a:rPr>
                  <a:t>1</a:t>
                </a:r>
                <a:r>
                  <a:rPr lang="en-US" sz="2000" dirty="0">
                    <a:latin typeface="Verdana" panose="020B0604030504040204" pitchFamily="34" charset="0"/>
                    <a:ea typeface="Verdana" panose="020B0604030504040204" pitchFamily="34" charset="0"/>
                    <a:cs typeface="Verdana" panose="020B0604030504040204" pitchFamily="34" charset="0"/>
                  </a:rPr>
                  <a:t>. Therefore, there must be another type of apple in the bag.”</a:t>
                </a:r>
              </a:p>
            </p:txBody>
          </p:sp>
        </mc:Choice>
        <mc:Fallback xmlns="">
          <p:sp>
            <p:nvSpPr>
              <p:cNvPr id="10" name="TextBox 9">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67585" y="520393"/>
                <a:ext cx="10963000" cy="4401205"/>
              </a:xfrm>
              <a:prstGeom prst="rect">
                <a:avLst/>
              </a:prstGeom>
              <a:blipFill rotWithShape="1">
                <a:blip r:embed="rId4"/>
                <a:stretch>
                  <a:fillRect l="-556" t="-693" r="-1056" b="-1524"/>
                </a:stretch>
              </a:blipFill>
            </p:spPr>
            <p:txBody>
              <a:bodyPr/>
              <a:lstStyle/>
              <a:p>
                <a:r>
                  <a:rPr lang="en-US">
                    <a:noFill/>
                  </a:rPr>
                  <a:t> </a:t>
                </a:r>
              </a:p>
            </p:txBody>
          </p:sp>
        </mc:Fallback>
      </mc:AlternateContent>
    </p:spTree>
    <p:extLst>
      <p:ext uri="{BB962C8B-B14F-4D97-AF65-F5344CB8AC3E}">
        <p14:creationId xmlns:p14="http://schemas.microsoft.com/office/powerpoint/2010/main" val="678525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FC9D7F98-E787-6F4D-92A1-6A0986979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343</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mc="http://schemas.openxmlformats.org/markup-compatibility/2006" xmlns:a14="http://schemas.microsoft.com/office/drawing/2010/main" xmlns="" xmlns:a16="http://schemas.microsoft.com/office/drawing/2014/main" id="{2FA392D8-3ED3-7940-83A8-1451AA8A08D4}"/>
              </a:ext>
            </a:extLst>
          </p:cNvPr>
          <p:cNvSpPr txBox="1"/>
          <p:nvPr/>
        </p:nvSpPr>
        <p:spPr>
          <a:xfrm>
            <a:off x="567585" y="520393"/>
            <a:ext cx="10963000" cy="4093428"/>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who made an error in their calculations.</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correct number of green apples in the bag?</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Calculate the number of </a:t>
            </a:r>
            <a:r>
              <a:rPr lang="en-US" sz="2000" dirty="0" err="1">
                <a:latin typeface="Verdana" panose="020B0604030504040204" pitchFamily="34" charset="0"/>
                <a:ea typeface="Verdana" panose="020B0604030504040204" pitchFamily="34" charset="0"/>
                <a:cs typeface="Verdana" panose="020B0604030504040204" pitchFamily="34" charset="0"/>
              </a:rPr>
              <a:t>Honeycrisp</a:t>
            </a:r>
            <a:r>
              <a:rPr lang="en-US" sz="2000" dirty="0">
                <a:latin typeface="Verdana" panose="020B0604030504040204" pitchFamily="34" charset="0"/>
                <a:ea typeface="Verdana" panose="020B0604030504040204" pitchFamily="34" charset="0"/>
                <a:cs typeface="Verdana" panose="020B0604030504040204" pitchFamily="34" charset="0"/>
              </a:rPr>
              <a:t> apples in the bag.</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Calculate the number of Red Delicious apples in the bag.</a:t>
            </a:r>
          </a:p>
        </p:txBody>
      </p:sp>
    </p:spTree>
    <p:extLst>
      <p:ext uri="{BB962C8B-B14F-4D97-AF65-F5344CB8AC3E}">
        <p14:creationId xmlns:p14="http://schemas.microsoft.com/office/powerpoint/2010/main" val="3805932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343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 xmlns:a16="http://schemas.microsoft.com/office/drawing/2014/main" id="{535320C0-DAB2-7C41-B3D0-5B31075C43F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343</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14.6.7 Wrap-Up: Cool Down</a:t>
            </a:r>
          </a:p>
        </p:txBody>
      </p:sp>
      <p:pic>
        <p:nvPicPr>
          <p:cNvPr id="15"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0370EDB7-6994-3D43-ABF9-E04CBAFB9CD9}"/>
                  </a:ext>
                </a:extLst>
              </p:cNvPr>
              <p:cNvSpPr txBox="1"/>
              <p:nvPr/>
            </p:nvSpPr>
            <p:spPr>
              <a:xfrm>
                <a:off x="730266" y="1376212"/>
                <a:ext cx="10800318" cy="422301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Consider the following three events.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750888" indent="-457200">
                  <a:buFont typeface="+mj-lt"/>
                  <a:buAutoNum type="alphaUcPeriod"/>
                </a:pPr>
                <a:r>
                  <a:rPr lang="en-US" sz="2000" dirty="0">
                    <a:latin typeface="Verdana" panose="020B0604030504040204" pitchFamily="34" charset="0"/>
                    <a:ea typeface="Verdana" panose="020B0604030504040204" pitchFamily="34" charset="0"/>
                    <a:cs typeface="Verdana" panose="020B0604030504040204" pitchFamily="34" charset="0"/>
                  </a:rPr>
                  <a:t>The probability of spinning </a:t>
                </a:r>
                <a:r>
                  <a:rPr lang="en-US" sz="2000" dirty="0">
                    <a:latin typeface="Cambria Math" panose="02040503050406030204" pitchFamily="18" charset="0"/>
                    <a:ea typeface="Cambria Math" panose="02040503050406030204" pitchFamily="18" charset="0"/>
                  </a:rPr>
                  <a:t>1 </a:t>
                </a:r>
                <a:r>
                  <a:rPr lang="en-US" sz="2000" dirty="0">
                    <a:latin typeface="Verdana" panose="020B0604030504040204" pitchFamily="34" charset="0"/>
                    <a:ea typeface="Verdana" panose="020B0604030504040204" pitchFamily="34" charset="0"/>
                    <a:cs typeface="Verdana" panose="020B0604030504040204" pitchFamily="34" charset="0"/>
                  </a:rPr>
                  <a:t>on the spinner is </a:t>
                </a:r>
                <a:r>
                  <a:rPr lang="en-US" sz="2000" dirty="0">
                    <a:latin typeface="Cambria Math" panose="02040503050406030204" pitchFamily="18" charset="0"/>
                    <a:ea typeface="Cambria Math" panose="02040503050406030204" pitchFamily="18" charset="0"/>
                  </a:rPr>
                  <a:t>50%.</a:t>
                </a:r>
              </a:p>
              <a:p>
                <a:pPr marL="750888" indent="-457200">
                  <a:buFont typeface="+mj-lt"/>
                  <a:buAutoNum type="alphaUcPeriod"/>
                </a:pPr>
                <a:r>
                  <a:rPr lang="en-US" sz="2000" dirty="0">
                    <a:latin typeface="Verdana" panose="020B0604030504040204" pitchFamily="34" charset="0"/>
                    <a:ea typeface="Verdana" panose="020B0604030504040204" pitchFamily="34" charset="0"/>
                    <a:cs typeface="Verdana" panose="020B0604030504040204" pitchFamily="34" charset="0"/>
                  </a:rPr>
                  <a:t>The probability of spinning </a:t>
                </a:r>
                <a:r>
                  <a:rPr lang="en-US" sz="2000" dirty="0">
                    <a:latin typeface="Cambria Math" panose="02040503050406030204" pitchFamily="18" charset="0"/>
                    <a:ea typeface="Cambria Math" panose="02040503050406030204" pitchFamily="18" charset="0"/>
                  </a:rPr>
                  <a:t>2 </a:t>
                </a:r>
                <a:r>
                  <a:rPr lang="en-US" sz="2000" dirty="0">
                    <a:latin typeface="Verdana" panose="020B0604030504040204" pitchFamily="34" charset="0"/>
                    <a:ea typeface="Verdana" panose="020B0604030504040204" pitchFamily="34" charset="0"/>
                    <a:cs typeface="Verdana" panose="020B0604030504040204" pitchFamily="34" charset="0"/>
                  </a:rPr>
                  <a:t>on the spinner is </a:t>
                </a:r>
                <a:r>
                  <a:rPr lang="en-US" sz="2000" dirty="0">
                    <a:latin typeface="Cambria Math" panose="02040503050406030204" pitchFamily="18" charset="0"/>
                    <a:ea typeface="Cambria Math" panose="02040503050406030204" pitchFamily="18" charset="0"/>
                  </a:rPr>
                  <a:t>0.125.</a:t>
                </a:r>
              </a:p>
              <a:p>
                <a:pPr marL="750888" indent="-457200">
                  <a:buFont typeface="+mj-lt"/>
                  <a:buAutoNum type="alphaUcPeriod"/>
                </a:pPr>
                <a:r>
                  <a:rPr lang="en-US" sz="2000" dirty="0">
                    <a:latin typeface="Verdana" panose="020B0604030504040204" pitchFamily="34" charset="0"/>
                    <a:ea typeface="Verdana" panose="020B0604030504040204" pitchFamily="34" charset="0"/>
                    <a:cs typeface="Verdana" panose="020B0604030504040204" pitchFamily="34" charset="0"/>
                  </a:rPr>
                  <a:t>The probability of spinning </a:t>
                </a:r>
                <a:r>
                  <a:rPr lang="en-US" sz="2000" dirty="0">
                    <a:latin typeface="Cambria Math" panose="02040503050406030204" pitchFamily="18" charset="0"/>
                    <a:ea typeface="Cambria Math" panose="02040503050406030204" pitchFamily="18" charset="0"/>
                  </a:rPr>
                  <a:t>3 </a:t>
                </a:r>
                <a:r>
                  <a:rPr lang="en-US" sz="2000" dirty="0">
                    <a:latin typeface="Verdana" panose="020B0604030504040204" pitchFamily="34" charset="0"/>
                    <a:ea typeface="Verdana" panose="020B0604030504040204" pitchFamily="34" charset="0"/>
                    <a:cs typeface="Verdana" panose="020B0604030504040204" pitchFamily="34" charset="0"/>
                  </a:rPr>
                  <a:t>on the spinner is </a:t>
                </a:r>
                <a14:m>
                  <m:oMath xmlns:m="http://schemas.openxmlformats.org/officeDocument/2006/math">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3</m:t>
                        </m:r>
                      </m:num>
                      <m:den>
                        <m:r>
                          <a:rPr lang="en-US" sz="2000" i="1">
                            <a:latin typeface="Cambria Math" panose="02040503050406030204" pitchFamily="18" charset="0"/>
                            <a:ea typeface="Cambria Math" panose="02040503050406030204" pitchFamily="18" charset="0"/>
                          </a:rPr>
                          <m:t>8</m:t>
                        </m:r>
                      </m:den>
                    </m:f>
                  </m:oMath>
                </a14:m>
                <a:r>
                  <a:rPr lang="en-US" sz="2000" dirty="0">
                    <a:latin typeface="Cambria Math" panose="02040503050406030204" pitchFamily="18" charset="0"/>
                    <a:ea typeface="Cambria Math" panose="02040503050406030204" pitchFamily="18" charset="0"/>
                  </a:rPr>
                  <a:t>.</a:t>
                </a:r>
              </a:p>
              <a:p>
                <a:r>
                  <a:rPr lang="en-US" sz="2000" dirty="0">
                    <a:latin typeface="Cambria Math" panose="02040503050406030204" pitchFamily="18" charset="0"/>
                    <a:ea typeface="Cambria Math" panose="02040503050406030204" pitchFamily="18"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Which event is the most likely?</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whether or not there could be another outcome on the spinner.</a:t>
                </a:r>
              </a:p>
            </p:txBody>
          </p:sp>
        </mc:Choice>
        <mc:Fallback xmlns="">
          <p:sp>
            <p:nvSpPr>
              <p:cNvPr id="16" name="TextBox 15">
                <a:extLst>
                  <a:ext uri="{FF2B5EF4-FFF2-40B4-BE49-F238E27FC236}">
                    <a16:creationId xmlns:a14="http://schemas.microsoft.com/office/drawing/2010/main" xmlns:a16="http://schemas.microsoft.com/office/drawing/2014/main" xmlns="" id="{0370EDB7-6994-3D43-ABF9-E04CBAFB9CD9}"/>
                  </a:ext>
                </a:extLst>
              </p:cNvPr>
              <p:cNvSpPr txBox="1">
                <a:spLocks noRot="1" noChangeAspect="1" noMove="1" noResize="1" noEditPoints="1" noAdjustHandles="1" noChangeArrowheads="1" noChangeShapeType="1" noTextEdit="1"/>
              </p:cNvSpPr>
              <p:nvPr/>
            </p:nvSpPr>
            <p:spPr>
              <a:xfrm>
                <a:off x="730266" y="1376212"/>
                <a:ext cx="10800318" cy="4223016"/>
              </a:xfrm>
              <a:prstGeom prst="rect">
                <a:avLst/>
              </a:prstGeom>
              <a:blipFill rotWithShape="1">
                <a:blip r:embed="rId5"/>
                <a:stretch>
                  <a:fillRect l="-621" t="-722" b="-1587"/>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1431</TotalTime>
  <Words>887</Words>
  <Application>Microsoft Office PowerPoint</Application>
  <PresentationFormat>Custom</PresentationFormat>
  <Paragraphs>314</Paragraphs>
  <Slides>29</Slides>
  <Notes>29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Calibri</vt:lpstr>
      <vt:lpstr>Times New Roman</vt:lpstr>
      <vt:lpstr>Century Gothic</vt:lpstr>
      <vt:lpstr>Wingdings</vt:lpstr>
      <vt:lpstr>Cambria Math</vt:lpstr>
      <vt:lpstr>Cambria</vt:lpstr>
      <vt:lpstr>Arial Black</vt:lpstr>
      <vt:lpstr>Verdana</vt:lpstr>
      <vt:lpstr>MS Mincho</vt:lpstr>
      <vt:lpstr>1_Office Theme</vt:lpstr>
      <vt:lpstr>8th Grade Math: Pre-Algebra  Unit 14, Lesson 6  Applying Proportional Reasoning to Probability  Volume 2, pg. 337  </vt:lpstr>
      <vt:lpstr>PowerPoint Presentation</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Bring It Together</vt:lpstr>
      <vt:lpstr>PowerPoint Presentation</vt:lpstr>
      <vt:lpstr>PowerPoint Presentation</vt:lpstr>
      <vt:lpstr>Try It</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40</cp:revision>
  <dcterms:created xsi:type="dcterms:W3CDTF">2015-03-17T18:51:18Z</dcterms:created>
  <dcterms:modified xsi:type="dcterms:W3CDTF">2022-06-22T11:23:01Z</dcterms:modified>
</cp:coreProperties>
</file>