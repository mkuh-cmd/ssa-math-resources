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85" r:id="rId4"/>
    <p:sldId id="286" r:id="rId5"/>
    <p:sldId id="261" r:id="rId6"/>
    <p:sldId id="287" r:id="rId7"/>
    <p:sldId id="326" r:id="rId8"/>
    <p:sldId id="327" r:id="rId9"/>
    <p:sldId id="288" r:id="rId10"/>
    <p:sldId id="348" r:id="rId11"/>
    <p:sldId id="352" r:id="rId12"/>
    <p:sldId id="311" r:id="rId13"/>
    <p:sldId id="312" r:id="rId14"/>
    <p:sldId id="353" r:id="rId15"/>
    <p:sldId id="354" r:id="rId16"/>
    <p:sldId id="343" r:id="rId17"/>
    <p:sldId id="355" r:id="rId18"/>
    <p:sldId id="356" r:id="rId19"/>
    <p:sldId id="357" r:id="rId20"/>
    <p:sldId id="289" r:id="rId21"/>
    <p:sldId id="290" r:id="rId22"/>
    <p:sldId id="346" r:id="rId23"/>
    <p:sldId id="358" r:id="rId24"/>
    <p:sldId id="359" r:id="rId25"/>
    <p:sldId id="360" r:id="rId26"/>
    <p:sldId id="361" r:id="rId27"/>
    <p:sldId id="362" r:id="rId28"/>
    <p:sldId id="306" r:id="rId29"/>
    <p:sldId id="307" r:id="rId30"/>
    <p:sldId id="351" r:id="rId31"/>
  </p:sldIdLst>
  <p:sldSz cx="12192000" cy="6858000"/>
  <p:notesSz cx="6858000" cy="9144000"/>
  <p:embeddedFontLst>
    <p:embeddedFont>
      <p:font typeface="Cambria Math" pitchFamily="18" charset="0"/>
      <p:regular r:id="rId33"/>
    </p:embeddedFont>
    <p:embeddedFont>
      <p:font typeface="Cambria" pitchFamily="18" charset="0"/>
      <p:regular r:id="rId34"/>
      <p:bold r:id="rId35"/>
      <p:italic r:id="rId36"/>
      <p:boldItalic r:id="rId37"/>
    </p:embeddedFont>
    <p:embeddedFont>
      <p:font typeface="Arial Black" pitchFamily="34" charset="0"/>
      <p:bold r:id="rId38"/>
    </p:embeddedFont>
    <p:embeddedFont>
      <p:font typeface="Verdana" pitchFamily="34" charset="0"/>
      <p:regular r:id="rId39"/>
      <p:bold r:id="rId40"/>
      <p:italic r:id="rId41"/>
      <p:boldItalic r:id="rId42"/>
    </p:embeddedFont>
    <p:embeddedFont>
      <p:font typeface="Calibri" pitchFamily="34" charset="0"/>
      <p:regular r:id="rId43"/>
      <p:bold r:id="rId44"/>
      <p:italic r:id="rId45"/>
      <p:boldItalic r:id="rId46"/>
    </p:embeddedFont>
    <p:embeddedFont>
      <p:font typeface="Century Gothic"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051A"/>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72" autoAdjust="0"/>
    <p:restoredTop sz="95097" autoAdjust="0"/>
  </p:normalViewPr>
  <p:slideViewPr>
    <p:cSldViewPr snapToGrid="0">
      <p:cViewPr>
        <p:scale>
          <a:sx n="100" d="100"/>
          <a:sy n="100" d="100"/>
        </p:scale>
        <p:origin x="-894" y="-33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font" Target="fonts/font17.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2355324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655121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31739257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1027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84032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6761045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530344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4775351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4914451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5610360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1466259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7540376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3650214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918865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2271945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2721676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4182973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4459831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0518658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667451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8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9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8</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 Pre-Algebra</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14, Lesson 1</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Determining Sample Space Using Lists and Tree Diagrams</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307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 xmlns:a16="http://schemas.microsoft.com/office/drawing/2014/main" id="{FC2FF27A-A046-614D-A5AC-E785259A48B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3677" y="1829054"/>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76316" y="528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52816" y="28861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543958" y="1430215"/>
            <a:ext cx="10937631" cy="425547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MA.8.DP.2.1</a:t>
            </a:r>
          </a:p>
          <a:p>
            <a:pPr indent="0">
              <a:buNone/>
            </a:pPr>
            <a:r>
              <a:rPr lang="en-US" sz="3500" dirty="0">
                <a:latin typeface="Verdana" panose="020B0604030504040204" pitchFamily="34" charset="0"/>
                <a:ea typeface="Verdana" panose="020B0604030504040204" pitchFamily="34" charset="0"/>
                <a:cs typeface="Verdana" panose="020B0604030504040204" pitchFamily="34" charset="0"/>
              </a:rPr>
              <a:t>Determine the sample space for a repeated experiment.</a:t>
            </a:r>
          </a:p>
          <a:p>
            <a:pPr marL="0" indent="0">
              <a:buSzPts val="1100"/>
              <a:buNone/>
            </a:pP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MA.8.DP.2.2</a:t>
            </a:r>
          </a:p>
          <a:p>
            <a:pPr indent="0">
              <a:buNone/>
            </a:pPr>
            <a:r>
              <a:rPr lang="en-US" sz="3500" dirty="0">
                <a:latin typeface="Verdana" panose="020B0604030504040204" pitchFamily="34" charset="0"/>
                <a:ea typeface="Verdana" panose="020B0604030504040204" pitchFamily="34" charset="0"/>
                <a:cs typeface="Verdana" panose="020B0604030504040204" pitchFamily="34" charset="0"/>
              </a:rPr>
              <a:t>Find the theoretical probability of an event related to a repeated experiment.</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6335"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259385" y="6366"/>
            <a:ext cx="10088697" cy="131179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542912" y="1395046"/>
            <a:ext cx="10800000" cy="448369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78;g104476d1465_1_17">
            <a:extLst>
              <a:ext uri="{FF2B5EF4-FFF2-40B4-BE49-F238E27FC236}">
                <a16:creationId xmlns="" xmlns:a16="http://schemas.microsoft.com/office/drawing/2014/main" id="{2217DB94-8CD9-E344-BEB6-DB518B29A816}"/>
              </a:ext>
            </a:extLst>
          </p:cNvPr>
          <p:cNvSpPr/>
          <p:nvPr/>
        </p:nvSpPr>
        <p:spPr>
          <a:xfrm>
            <a:off x="1815"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p:cNvSpPr txBox="1"/>
          <p:nvPr/>
        </p:nvSpPr>
        <p:spPr>
          <a:xfrm>
            <a:off x="8888109"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pic>
        <p:nvPicPr>
          <p:cNvPr id="10" name="Google Shape;281;g104476d1465_1_17"/>
          <p:cNvPicPr preferRelativeResize="0"/>
          <p:nvPr/>
        </p:nvPicPr>
        <p:blipFill>
          <a:blip r:embed="rId4">
            <a:alphaModFix/>
          </a:blip>
          <a:stretch>
            <a:fillRect/>
          </a:stretch>
        </p:blipFill>
        <p:spPr>
          <a:xfrm>
            <a:off x="452816" y="288615"/>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258837"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4">
            <a:alphaModFix/>
          </a:blip>
          <a:stretch>
            <a:fillRect/>
          </a:stretch>
        </p:blipFill>
        <p:spPr>
          <a:xfrm>
            <a:off x="452816" y="288615"/>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538609" y="1581963"/>
            <a:ext cx="10800000" cy="418513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27063" indent="-620713">
              <a:buClr>
                <a:srgbClr val="434343"/>
              </a:buClr>
              <a:buSzPct val="1000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determine the sample space of an experiment using a list.</a:t>
            </a:r>
          </a:p>
          <a:p>
            <a:pPr marL="627063" indent="-620713">
              <a:buClr>
                <a:srgbClr val="434343"/>
              </a:buClr>
              <a:buSzPct val="100000"/>
              <a:buFont typeface="Wingdings" pitchFamily="2" charset="2"/>
              <a:buChar char="q"/>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627063" indent="-620713">
              <a:buClr>
                <a:srgbClr val="434343"/>
              </a:buClr>
              <a:buSzPct val="1000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understand how a tree diagram can be used to determine the sample space of an experiment.</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8" name="Google Shape;278;g104476d1465_1_17">
            <a:extLst>
              <a:ext uri="{FF2B5EF4-FFF2-40B4-BE49-F238E27FC236}">
                <a16:creationId xmlns="" xmlns:a16="http://schemas.microsoft.com/office/drawing/2014/main" id="{A7D39B40-FA5F-1945-A581-51EB744FEBF3}"/>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551175" y="25745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759975" y="24613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58925" y="124796"/>
            <a:ext cx="9680239" cy="107493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14.1.1 Warm-Up: Equivalent Forms</a:t>
            </a:r>
          </a:p>
        </p:txBody>
      </p:sp>
      <p:pic>
        <p:nvPicPr>
          <p:cNvPr id="13"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4">
            <a:alphaModFix/>
          </a:blip>
          <a:stretch>
            <a:fillRect/>
          </a:stretch>
        </p:blipFill>
        <p:spPr>
          <a:xfrm>
            <a:off x="445109" y="307721"/>
            <a:ext cx="706531" cy="709087"/>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 xmlns:a16="http://schemas.microsoft.com/office/drawing/2014/main" id="{E1D7562E-134F-D14B-AF1A-DF40E11EF758}"/>
              </a:ext>
            </a:extLst>
          </p:cNvPr>
          <p:cNvSpPr txBox="1"/>
          <p:nvPr/>
        </p:nvSpPr>
        <p:spPr>
          <a:xfrm>
            <a:off x="541014" y="1463939"/>
            <a:ext cx="9680239" cy="769441"/>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Complete the table so each row shows the same value in three equivalent forms.</a:t>
            </a:r>
          </a:p>
        </p:txBody>
      </p:sp>
      <p:sp>
        <p:nvSpPr>
          <p:cNvPr id="9" name="Google Shape;278;g104476d1465_1_17">
            <a:extLst>
              <a:ext uri="{FF2B5EF4-FFF2-40B4-BE49-F238E27FC236}">
                <a16:creationId xmlns="" xmlns:a16="http://schemas.microsoft.com/office/drawing/2014/main" id="{2C7BF6D9-BF7E-4C45-A3A0-4D9A19E544B3}"/>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4029928552"/>
                  </p:ext>
                </p:extLst>
              </p:nvPr>
            </p:nvGraphicFramePr>
            <p:xfrm>
              <a:off x="1151640" y="2328628"/>
              <a:ext cx="9000000" cy="3938600"/>
            </p:xfrm>
            <a:graphic>
              <a:graphicData uri="http://schemas.openxmlformats.org/drawingml/2006/table">
                <a:tbl>
                  <a:tblPr firstRow="1" firstCol="1" bandRow="1">
                    <a:tableStyleId>{5940675A-B579-460E-94D1-54222C63F5DA}</a:tableStyleId>
                  </a:tblPr>
                  <a:tblGrid>
                    <a:gridCol w="3240000">
                      <a:extLst>
                        <a:ext uri="{9D8B030D-6E8A-4147-A177-3AD203B41FA5}">
                          <a16:colId xmlns="" xmlns:a16="http://schemas.microsoft.com/office/drawing/2014/main" val="20000"/>
                        </a:ext>
                      </a:extLst>
                    </a:gridCol>
                    <a:gridCol w="2160000">
                      <a:extLst>
                        <a:ext uri="{9D8B030D-6E8A-4147-A177-3AD203B41FA5}">
                          <a16:colId xmlns="" xmlns:a16="http://schemas.microsoft.com/office/drawing/2014/main" val="20001"/>
                        </a:ext>
                      </a:extLst>
                    </a:gridCol>
                    <a:gridCol w="3600000">
                      <a:extLst>
                        <a:ext uri="{9D8B030D-6E8A-4147-A177-3AD203B41FA5}">
                          <a16:colId xmlns="" xmlns:a16="http://schemas.microsoft.com/office/drawing/2014/main" val="20002"/>
                        </a:ext>
                      </a:extLst>
                    </a:gridCol>
                  </a:tblGrid>
                  <a:tr h="720000">
                    <a:tc>
                      <a:txBody>
                        <a:bodyPr/>
                        <a:lstStyle/>
                        <a:p>
                          <a:pPr marL="0" marR="0" algn="ctr">
                            <a:spcBef>
                              <a:spcPts val="0"/>
                            </a:spcBef>
                            <a:spcAft>
                              <a:spcPts val="0"/>
                            </a:spcAft>
                          </a:pPr>
                          <a:r>
                            <a:rPr lang="en-US" sz="2000" b="1" dirty="0" smtClean="0">
                              <a:effectLst/>
                              <a:latin typeface="Verdana" panose="020B0604030504040204" pitchFamily="34" charset="0"/>
                              <a:ea typeface="Verdana" panose="020B0604030504040204" pitchFamily="34" charset="0"/>
                              <a:cs typeface="Verdana" panose="020B0604030504040204" pitchFamily="34" charset="0"/>
                            </a:rPr>
                            <a:t>Fraction</a:t>
                          </a: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 Simplest Form)</a:t>
                          </a: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Decimal</a:t>
                          </a: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Percentage</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(To the Nearest Tenth)</a:t>
                          </a: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8046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7</m:t>
                                    </m:r>
                                  </m:num>
                                  <m:den>
                                    <m:r>
                                      <a:rPr lang="en-US" sz="2000">
                                        <a:effectLst/>
                                        <a:latin typeface="Cambria Math" panose="02040503050406030204" pitchFamily="18" charset="0"/>
                                        <a:ea typeface="Cambria Math" panose="02040503050406030204" pitchFamily="18" charset="0"/>
                                      </a:rPr>
                                      <m:t>12</m:t>
                                    </m:r>
                                  </m:den>
                                </m:f>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0.58</m:t>
                                </m:r>
                                <m:acc>
                                  <m:accPr>
                                    <m:chr m:val="̅"/>
                                    <m:ctrlPr>
                                      <a:rPr lang="en-US" sz="2000" i="1">
                                        <a:effectLst/>
                                        <a:latin typeface="Cambria Math"/>
                                        <a:ea typeface="Cambria Math" panose="02040503050406030204" pitchFamily="18" charset="0"/>
                                      </a:rPr>
                                    </m:ctrlPr>
                                  </m:accPr>
                                  <m:e>
                                    <m:r>
                                      <a:rPr lang="en-US" sz="2000">
                                        <a:effectLst/>
                                        <a:latin typeface="Cambria Math" panose="02040503050406030204" pitchFamily="18" charset="0"/>
                                        <a:ea typeface="Cambria Math" panose="02040503050406030204" pitchFamily="18" charset="0"/>
                                      </a:rPr>
                                      <m:t>3</m:t>
                                    </m:r>
                                  </m:e>
                                </m:acc>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58.3%</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8046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5</m:t>
                                    </m:r>
                                  </m:den>
                                </m:f>
                              </m:oMath>
                            </m:oMathPara>
                          </a14:m>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80465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0.75</m:t>
                                </m:r>
                              </m:oMath>
                            </m:oMathPara>
                          </a14:m>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804650">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35.0%</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4029928552"/>
                  </p:ext>
                </p:extLst>
              </p:nvPr>
            </p:nvGraphicFramePr>
            <p:xfrm>
              <a:off x="1151640" y="2328628"/>
              <a:ext cx="9000000" cy="3938600"/>
            </p:xfrm>
            <a:graphic>
              <a:graphicData uri="http://schemas.openxmlformats.org/drawingml/2006/table">
                <a:tbl>
                  <a:tblPr firstRow="1" firstCol="1" bandRow="1">
                    <a:tableStyleId>{5940675A-B579-460E-94D1-54222C63F5DA}</a:tableStyleId>
                  </a:tblPr>
                  <a:tblGrid>
                    <a:gridCol w="3240000">
                      <a:extLst>
                        <a:ext uri="{9D8B030D-6E8A-4147-A177-3AD203B41FA5}">
                          <a16:colId xmlns:a16="http://schemas.microsoft.com/office/drawing/2014/main" xmlns:a14="http://schemas.microsoft.com/office/drawing/2010/main" xmlns="" val="20000"/>
                        </a:ext>
                      </a:extLst>
                    </a:gridCol>
                    <a:gridCol w="2160000">
                      <a:extLst>
                        <a:ext uri="{9D8B030D-6E8A-4147-A177-3AD203B41FA5}">
                          <a16:colId xmlns:a16="http://schemas.microsoft.com/office/drawing/2014/main" xmlns:a14="http://schemas.microsoft.com/office/drawing/2010/main" xmlns="" val="20001"/>
                        </a:ext>
                      </a:extLst>
                    </a:gridCol>
                    <a:gridCol w="3600000">
                      <a:extLst>
                        <a:ext uri="{9D8B030D-6E8A-4147-A177-3AD203B41FA5}">
                          <a16:colId xmlns:a16="http://schemas.microsoft.com/office/drawing/2014/main" xmlns:a14="http://schemas.microsoft.com/office/drawing/2010/main" xmlns="" val="20002"/>
                        </a:ext>
                      </a:extLst>
                    </a:gridCol>
                  </a:tblGrid>
                  <a:tr h="720000">
                    <a:tc>
                      <a:txBody>
                        <a:bodyPr/>
                        <a:lstStyle/>
                        <a:p>
                          <a:pPr marL="0" marR="0" algn="ctr">
                            <a:spcBef>
                              <a:spcPts val="0"/>
                            </a:spcBef>
                            <a:spcAft>
                              <a:spcPts val="0"/>
                            </a:spcAft>
                          </a:pPr>
                          <a:r>
                            <a:rPr lang="en-US" sz="2000" b="1" dirty="0" smtClean="0">
                              <a:effectLst/>
                              <a:latin typeface="Verdana" panose="020B0604030504040204" pitchFamily="34" charset="0"/>
                              <a:ea typeface="Verdana" panose="020B0604030504040204" pitchFamily="34" charset="0"/>
                              <a:cs typeface="Verdana" panose="020B0604030504040204" pitchFamily="34" charset="0"/>
                            </a:rPr>
                            <a:t>Fraction</a:t>
                          </a: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 Simplest Form)</a:t>
                          </a: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Decimal</a:t>
                          </a: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Percentage</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(To the Nearest Tenth)</a:t>
                          </a: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804650">
                    <a:tc>
                      <a:txBody>
                        <a:bodyPr/>
                        <a:lstStyle/>
                        <a:p>
                          <a:endParaRPr lang="en-US"/>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88" t="-91667" r="-178154" b="-300758"/>
                          </a:stretch>
                        </a:blipFill>
                      </a:tcPr>
                    </a:tc>
                    <a:tc>
                      <a:txBody>
                        <a:bodyPr/>
                        <a:lstStyle/>
                        <a:p>
                          <a:endParaRPr lang="en-US"/>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49859" t="-91667" r="-166479" b="-300758"/>
                          </a:stretch>
                        </a:blipFill>
                      </a:tcPr>
                    </a:tc>
                    <a:tc>
                      <a:txBody>
                        <a:bodyPr/>
                        <a:lstStyle/>
                        <a:p>
                          <a:endParaRPr lang="en-US"/>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50339" t="-91667" r="-169" b="-300758"/>
                          </a:stretch>
                        </a:blipFill>
                      </a:tcPr>
                    </a:tc>
                    <a:extLst>
                      <a:ext uri="{0D108BD9-81ED-4DB2-BD59-A6C34878D82A}">
                        <a16:rowId xmlns:a16="http://schemas.microsoft.com/office/drawing/2014/main" xmlns:a14="http://schemas.microsoft.com/office/drawing/2010/main" xmlns="" val="10001"/>
                      </a:ext>
                    </a:extLst>
                  </a:tr>
                  <a:tr h="804650">
                    <a:tc>
                      <a:txBody>
                        <a:bodyPr/>
                        <a:lstStyle/>
                        <a:p>
                          <a:endParaRPr lang="en-US"/>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88" t="-191667" r="-178154" b="-200758"/>
                          </a:stretch>
                        </a:blipFill>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r h="80465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49859" t="-291667" r="-166479" b="-100758"/>
                          </a:stretch>
                        </a:blipFill>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r h="804650">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50559" marR="505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50339" t="-391667" r="-169" b="-758"/>
                          </a:stretch>
                        </a:blipFill>
                      </a:tcPr>
                    </a:tc>
                    <a:extLst>
                      <a:ext uri="{0D108BD9-81ED-4DB2-BD59-A6C34878D82A}">
                        <a16:rowId xmlns:a16="http://schemas.microsoft.com/office/drawing/2014/main" xmlns:a14="http://schemas.microsoft.com/office/drawing/2010/main" xmlns="" val="10004"/>
                      </a:ext>
                    </a:extLst>
                  </a:tr>
                </a:tbl>
              </a:graphicData>
            </a:graphic>
          </p:graphicFrame>
        </mc:Fallback>
      </mc:AlternateContent>
      <p:sp>
        <p:nvSpPr>
          <p:cNvPr id="10"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pic>
        <p:nvPicPr>
          <p:cNvPr id="11266" name="Picture 2" descr="Icon&#10;&#10;Description automatically generated">
            <a:extLst>
              <a:ext uri="{FF2B5EF4-FFF2-40B4-BE49-F238E27FC236}">
                <a16:creationId xmlns="" xmlns:a16="http://schemas.microsoft.com/office/drawing/2014/main" id="{8E68AE2B-31C4-664C-9668-81B7C1673C9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492434" y="279196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p:spTree>
    <p:extLst>
      <p:ext uri="{BB962C8B-B14F-4D97-AF65-F5344CB8AC3E}">
        <p14:creationId xmlns:p14="http://schemas.microsoft.com/office/powerpoint/2010/main" val="3062107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262889" y="-35393"/>
            <a:ext cx="10348327" cy="139782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14.1.2 Refresher: Determining the Sample Space</a:t>
            </a:r>
          </a:p>
        </p:txBody>
      </p:sp>
      <p:pic>
        <p:nvPicPr>
          <p:cNvPr id="9" name="Picture 2" descr="Icon&#10;&#10;Description automatically generated">
            <a:extLst>
              <a:ext uri="{FF2B5EF4-FFF2-40B4-BE49-F238E27FC236}">
                <a16:creationId xmlns="" xmlns:a16="http://schemas.microsoft.com/office/drawing/2014/main" id="{522B94A7-8145-AF4C-A130-4689EF537FB7}"/>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52816" y="28861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2DC51FF2-AD43-3B4B-B9DE-330920D33388}"/>
              </a:ext>
            </a:extLst>
          </p:cNvPr>
          <p:cNvSpPr txBox="1"/>
          <p:nvPr/>
        </p:nvSpPr>
        <p:spPr>
          <a:xfrm>
            <a:off x="541905" y="1465018"/>
            <a:ext cx="10773507" cy="156966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Math is used every day to help make decisions. One branch of math that can be used to inform decisions is probability. In order to study the probability of a random process, it is important to be able to identify the sample space of the process.</a:t>
            </a:r>
          </a:p>
        </p:txBody>
      </p:sp>
      <p:sp>
        <p:nvSpPr>
          <p:cNvPr id="8" name="Google Shape;278;g104476d1465_1_17">
            <a:extLst>
              <a:ext uri="{FF2B5EF4-FFF2-40B4-BE49-F238E27FC236}">
                <a16:creationId xmlns="" xmlns:a16="http://schemas.microsoft.com/office/drawing/2014/main" id="{9CB220F7-E716-EA4D-9925-74677FF8EFD4}"/>
              </a:ext>
            </a:extLst>
          </p:cNvPr>
          <p:cNvSpPr/>
          <p:nvPr/>
        </p:nvSpPr>
        <p:spPr>
          <a:xfrm>
            <a:off x="191"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11" name="Group 10"/>
          <p:cNvGrpSpPr/>
          <p:nvPr/>
        </p:nvGrpSpPr>
        <p:grpSpPr>
          <a:xfrm>
            <a:off x="2480031" y="3205168"/>
            <a:ext cx="7200000" cy="812800"/>
            <a:chOff x="2031300" y="3373600"/>
            <a:chExt cx="7200000" cy="812800"/>
          </a:xfrm>
        </p:grpSpPr>
        <p:sp>
          <p:nvSpPr>
            <p:cNvPr id="13" name="Rectangle 12"/>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4" name="Group 13"/>
            <p:cNvGrpSpPr/>
            <p:nvPr/>
          </p:nvGrpSpPr>
          <p:grpSpPr>
            <a:xfrm>
              <a:off x="2031300" y="3373600"/>
              <a:ext cx="7200000" cy="812800"/>
              <a:chOff x="0" y="0"/>
              <a:chExt cx="7200000" cy="812800"/>
            </a:xfrm>
          </p:grpSpPr>
          <p:sp>
            <p:nvSpPr>
              <p:cNvPr id="15" name="Rectangle 14"/>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sp>
            <p:nvSpPr>
              <p:cNvPr id="16" name="Rounded Rectangle 15"/>
              <p:cNvSpPr/>
              <p:nvPr/>
            </p:nvSpPr>
            <p:spPr>
              <a:xfrm>
                <a:off x="0" y="0"/>
                <a:ext cx="7200000" cy="526720"/>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algn="ct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An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outcome</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possible result of an experiment.</a:t>
                </a:r>
                <a:endParaRPr lang="en-US" sz="2000" dirty="0">
                  <a:latin typeface="Times New Roman" panose="02020603050405020304" pitchFamily="18" charset="0"/>
                  <a:ea typeface="Times New Roman" panose="02020603050405020304" pitchFamily="18" charset="0"/>
                </a:endParaRPr>
              </a:p>
            </p:txBody>
          </p:sp>
        </p:grpSp>
      </p:grpSp>
      <p:grpSp>
        <p:nvGrpSpPr>
          <p:cNvPr id="17" name="Group 16"/>
          <p:cNvGrpSpPr/>
          <p:nvPr/>
        </p:nvGrpSpPr>
        <p:grpSpPr>
          <a:xfrm>
            <a:off x="2480029" y="3977815"/>
            <a:ext cx="7200000" cy="1205368"/>
            <a:chOff x="2031298" y="3373600"/>
            <a:chExt cx="7200000" cy="1205805"/>
          </a:xfrm>
        </p:grpSpPr>
        <p:grpSp>
          <p:nvGrpSpPr>
            <p:cNvPr id="18" name="Group 17"/>
            <p:cNvGrpSpPr/>
            <p:nvPr/>
          </p:nvGrpSpPr>
          <p:grpSpPr>
            <a:xfrm>
              <a:off x="2031298" y="3373600"/>
              <a:ext cx="7200000" cy="1205805"/>
              <a:chOff x="2031298" y="3373600"/>
              <a:chExt cx="7200000" cy="1205805"/>
            </a:xfrm>
          </p:grpSpPr>
          <p:sp>
            <p:nvSpPr>
              <p:cNvPr id="19" name="Rectangle 18"/>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0" name="Group 19"/>
              <p:cNvGrpSpPr/>
              <p:nvPr/>
            </p:nvGrpSpPr>
            <p:grpSpPr>
              <a:xfrm>
                <a:off x="2031298" y="3373600"/>
                <a:ext cx="7200000" cy="1205805"/>
                <a:chOff x="-2" y="0"/>
                <a:chExt cx="7200000" cy="1205805"/>
              </a:xfrm>
            </p:grpSpPr>
            <p:sp>
              <p:nvSpPr>
                <p:cNvPr id="21" name="Rectangle 20"/>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sp>
              <p:nvSpPr>
                <p:cNvPr id="22" name="Rounded Rectangle 21"/>
                <p:cNvSpPr/>
                <p:nvPr/>
              </p:nvSpPr>
              <p:spPr>
                <a:xfrm>
                  <a:off x="-2" y="0"/>
                  <a:ext cx="7200000" cy="1205805"/>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25475"/>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In a probability model for a random process, 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sample space</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list of the individual outcomes that are to be considered.</a:t>
                  </a:r>
                  <a:endParaRPr lang="en-US" sz="2000" dirty="0">
                    <a:latin typeface="Times New Roman" panose="02020603050405020304" pitchFamily="18" charset="0"/>
                    <a:ea typeface="Times New Roman" panose="02020603050405020304" pitchFamily="18" charset="0"/>
                  </a:endParaRPr>
                </a:p>
              </p:txBody>
            </p:sp>
            <p:pic>
              <p:nvPicPr>
                <p:cNvPr id="23" name="Shape 7"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83126" y="136524"/>
                  <a:ext cx="539750" cy="539750"/>
                </a:xfrm>
                <a:prstGeom prst="rect">
                  <a:avLst/>
                </a:prstGeom>
                <a:noFill/>
                <a:ln>
                  <a:noFill/>
                </a:ln>
                <a:effectLst>
                  <a:outerShdw blurRad="50800" dist="38100" dir="2700000" algn="tl" rotWithShape="0">
                    <a:prstClr val="black">
                      <a:alpha val="40000"/>
                    </a:prstClr>
                  </a:outerShdw>
                </a:effectLst>
              </p:spPr>
            </p:pic>
          </p:grpSp>
        </p:grpSp>
      </p:grpSp>
      <p:grpSp>
        <p:nvGrpSpPr>
          <p:cNvPr id="24" name="Group 23"/>
          <p:cNvGrpSpPr/>
          <p:nvPr/>
        </p:nvGrpSpPr>
        <p:grpSpPr>
          <a:xfrm>
            <a:off x="2438467" y="5413975"/>
            <a:ext cx="7283128" cy="1130095"/>
            <a:chOff x="2031300" y="3373600"/>
            <a:chExt cx="7283128" cy="1130160"/>
          </a:xfrm>
        </p:grpSpPr>
        <p:sp>
          <p:nvSpPr>
            <p:cNvPr id="25" name="Rectangle 24"/>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6" name="Group 25"/>
            <p:cNvGrpSpPr/>
            <p:nvPr/>
          </p:nvGrpSpPr>
          <p:grpSpPr>
            <a:xfrm>
              <a:off x="2031300" y="3373600"/>
              <a:ext cx="7283128" cy="1130160"/>
              <a:chOff x="0" y="0"/>
              <a:chExt cx="7283128" cy="1130160"/>
            </a:xfrm>
          </p:grpSpPr>
          <p:sp>
            <p:nvSpPr>
              <p:cNvPr id="27" name="Rectangle 26"/>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sp>
            <p:nvSpPr>
              <p:cNvPr id="28" name="Rounded Rectangle 27"/>
              <p:cNvSpPr/>
              <p:nvPr/>
            </p:nvSpPr>
            <p:spPr>
              <a:xfrm>
                <a:off x="83128" y="7415"/>
                <a:ext cx="7200000" cy="1122745"/>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25475"/>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An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event</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set of possible outcomes that can result from an experiment. In general, an event is any subset of a sample space.</a:t>
                </a:r>
                <a:endParaRPr lang="en-US" sz="2000" dirty="0">
                  <a:latin typeface="Times New Roman" panose="02020603050405020304" pitchFamily="18" charset="0"/>
                  <a:ea typeface="Times New Roman" panose="02020603050405020304" pitchFamily="18" charset="0"/>
                </a:endParaRPr>
              </a:p>
            </p:txBody>
          </p:sp>
          <p:pic>
            <p:nvPicPr>
              <p:cNvPr id="29" name="Shape 7"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69189" y="136524"/>
                <a:ext cx="539750" cy="539750"/>
              </a:xfrm>
              <a:prstGeom prst="rect">
                <a:avLst/>
              </a:prstGeom>
              <a:noFill/>
              <a:ln>
                <a:noFill/>
              </a:ln>
              <a:effectLst>
                <a:outerShdw blurRad="50800" dist="38100" dir="2700000" algn="tl" rotWithShape="0">
                  <a:prstClr val="black">
                    <a:alpha val="40000"/>
                  </a:prstClr>
                </a:outerShdw>
              </a:effectLst>
            </p:spPr>
          </p:pic>
        </p:grpSp>
      </p:grpSp>
      <p:pic>
        <p:nvPicPr>
          <p:cNvPr id="31" name="Google Shape;311;g104476d1465_1_39"/>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p:spTree>
    <p:extLst>
      <p:ext uri="{BB962C8B-B14F-4D97-AF65-F5344CB8AC3E}">
        <p14:creationId xmlns:p14="http://schemas.microsoft.com/office/powerpoint/2010/main" val="1364029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 xmlns:a16="http://schemas.microsoft.com/office/drawing/2014/main" id="{2FA392D8-3ED3-7940-83A8-1451AA8A08D4}"/>
              </a:ext>
            </a:extLst>
          </p:cNvPr>
          <p:cNvSpPr txBox="1"/>
          <p:nvPr/>
        </p:nvSpPr>
        <p:spPr>
          <a:xfrm>
            <a:off x="545774" y="379718"/>
            <a:ext cx="10609385" cy="452431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 familiar random process is rolling a fair die. List the possible outcomes of rolling a fair die.</a:t>
            </a:r>
            <a:br>
              <a:rPr lang="en-US" sz="2400" dirty="0">
                <a:latin typeface="Verdana" panose="020B0604030504040204" pitchFamily="34" charset="0"/>
                <a:ea typeface="Verdana" panose="020B0604030504040204" pitchFamily="34" charset="0"/>
                <a:cs typeface="Verdana" panose="020B0604030504040204" pitchFamily="34" charset="0"/>
              </a:rPr>
            </a:b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This list is the ___________________ for the random process of rolling a fair die.</a:t>
            </a:r>
          </a:p>
          <a:p>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A sample space is useful for finding probabilities when each outcome in a random process is equally likely.</a:t>
            </a:r>
          </a:p>
        </p:txBody>
      </p:sp>
      <p:sp>
        <p:nvSpPr>
          <p:cNvPr id="6" name="Google Shape;278;g104476d1465_1_17">
            <a:extLst>
              <a:ext uri="{FF2B5EF4-FFF2-40B4-BE49-F238E27FC236}">
                <a16:creationId xmlns="" xmlns:a16="http://schemas.microsoft.com/office/drawing/2014/main" id="{E2774663-8BD9-4C47-8B0B-3F2A1E300184}"/>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8"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4" name="TextBox 13">
                <a:extLst>
                  <a:ext uri="{FF2B5EF4-FFF2-40B4-BE49-F238E27FC236}">
                    <a16:creationId xmlns="" xmlns:a16="http://schemas.microsoft.com/office/drawing/2014/main" id="{2FA392D8-3ED3-7940-83A8-1451AA8A08D4}"/>
                  </a:ext>
                </a:extLst>
              </p:cNvPr>
              <p:cNvSpPr txBox="1"/>
              <p:nvPr/>
            </p:nvSpPr>
            <p:spPr>
              <a:xfrm>
                <a:off x="541215" y="382954"/>
                <a:ext cx="10445262" cy="5427784"/>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Let </a:t>
                </a:r>
                <a14:m>
                  <m:oMath xmlns:m="http://schemas.openxmlformats.org/officeDocument/2006/math">
                    <m:r>
                      <a:rPr lang="en-US" sz="2200" i="1">
                        <a:latin typeface="Cambria Math" panose="02040503050406030204" pitchFamily="18" charset="0"/>
                        <a:ea typeface="Cambria Math" panose="02040503050406030204" pitchFamily="18" charset="0"/>
                      </a:rPr>
                      <m:t>𝐴</m:t>
                    </m:r>
                  </m:oMath>
                </a14:m>
                <a:r>
                  <a:rPr lang="en-US" sz="2200" dirty="0" smtClean="0">
                    <a:latin typeface="Verdana" panose="020B0604030504040204" pitchFamily="34" charset="0"/>
                    <a:ea typeface="Verdana" panose="020B0604030504040204" pitchFamily="34" charset="0"/>
                    <a:cs typeface="Verdana" panose="020B0604030504040204" pitchFamily="34" charset="0"/>
                  </a:rPr>
                  <a:t> be the event, “rolling </a:t>
                </a:r>
                <a:r>
                  <a:rPr lang="en-US" sz="2200" dirty="0">
                    <a:latin typeface="Verdana" panose="020B0604030504040204" pitchFamily="34" charset="0"/>
                    <a:ea typeface="Verdana" panose="020B0604030504040204" pitchFamily="34" charset="0"/>
                    <a:cs typeface="Verdana" panose="020B0604030504040204" pitchFamily="34" charset="0"/>
                  </a:rPr>
                  <a:t>an even </a:t>
                </a:r>
                <a:r>
                  <a:rPr lang="en-US" sz="2200" dirty="0" smtClean="0">
                    <a:latin typeface="Verdana" panose="020B0604030504040204" pitchFamily="34" charset="0"/>
                    <a:ea typeface="Verdana" panose="020B0604030504040204" pitchFamily="34" charset="0"/>
                    <a:cs typeface="Verdana" panose="020B0604030504040204" pitchFamily="34" charset="0"/>
                  </a:rPr>
                  <a:t>number.”</a:t>
                </a:r>
                <a:endParaRPr lang="en-US" sz="2200"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List the elements in Event </a:t>
                </a:r>
                <a14:m>
                  <m:oMath xmlns:m="http://schemas.openxmlformats.org/officeDocument/2006/math">
                    <m:r>
                      <a:rPr lang="en-US" sz="2200" i="1">
                        <a:latin typeface="Cambria Math" panose="02040503050406030204" pitchFamily="18" charset="0"/>
                        <a:ea typeface="Cambria Math" panose="02040503050406030204" pitchFamily="18" charset="0"/>
                      </a:rPr>
                      <m:t>𝐴</m:t>
                    </m:r>
                  </m:oMath>
                </a14:m>
                <a:r>
                  <a:rPr lang="en-US" sz="2200" dirty="0">
                    <a:latin typeface="Verdana" panose="020B0604030504040204" pitchFamily="34" charset="0"/>
                    <a:ea typeface="Verdana" panose="020B0604030504040204" pitchFamily="34" charset="0"/>
                    <a:cs typeface="Verdana" panose="020B0604030504040204" pitchFamily="34" charset="0"/>
                  </a:rPr>
                  <a:t>.</a:t>
                </a:r>
              </a:p>
              <a:p>
                <a:pPr marL="914400" lvl="1"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Find </a:t>
                </a:r>
                <a14:m>
                  <m:oMath xmlns:m="http://schemas.openxmlformats.org/officeDocument/2006/math">
                    <m:r>
                      <a:rPr lang="en-US" sz="2200" i="1">
                        <a:latin typeface="Cambria Math" panose="02040503050406030204" pitchFamily="18" charset="0"/>
                        <a:ea typeface="Cambria Math" panose="02040503050406030204" pitchFamily="18" charset="0"/>
                      </a:rPr>
                      <m:t>𝑃</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𝐴</m:t>
                    </m:r>
                    <m:r>
                      <a:rPr lang="en-US" sz="2200" i="1">
                        <a:latin typeface="Cambria Math" panose="02040503050406030204" pitchFamily="18" charset="0"/>
                        <a:ea typeface="Cambria Math" panose="02040503050406030204" pitchFamily="18" charset="0"/>
                      </a:rPr>
                      <m:t>).</m:t>
                    </m:r>
                  </m:oMath>
                </a14:m>
                <a:endParaRPr lang="en-US" sz="2200"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 </a:t>
                </a:r>
              </a:p>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rPr>
                        <m:t>𝑃</m:t>
                      </m:r>
                      <m:d>
                        <m:dPr>
                          <m:ctrlPr>
                            <a:rPr lang="en-US" sz="2200" i="1">
                              <a:latin typeface="Cambria Math"/>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𝐴</m:t>
                          </m:r>
                        </m:e>
                      </m:d>
                      <m:r>
                        <a:rPr lang="en-US" sz="2200" i="1">
                          <a:latin typeface="Cambria Math" panose="02040503050406030204" pitchFamily="18" charset="0"/>
                          <a:ea typeface="Cambria Math" panose="02040503050406030204" pitchFamily="18" charset="0"/>
                        </a:rPr>
                        <m:t>=</m:t>
                      </m:r>
                      <m:f>
                        <m:fPr>
                          <m:ctrlPr>
                            <a:rPr lang="en-US" sz="2200" i="1">
                              <a:latin typeface="Cambria Math"/>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𝑛𝑢𝑚𝑏𝑒𝑟</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𝑜𝑓</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𝑜𝑢𝑡𝑐𝑜𝑚𝑒𝑠</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𝑖𝑛</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𝑒𝑣𝑒𝑛𝑡</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𝐴</m:t>
                          </m:r>
                        </m:num>
                        <m:den>
                          <m:r>
                            <a:rPr lang="en-US" sz="2200" i="1">
                              <a:latin typeface="Cambria Math" panose="02040503050406030204" pitchFamily="18" charset="0"/>
                              <a:ea typeface="Cambria Math" panose="02040503050406030204" pitchFamily="18" charset="0"/>
                            </a:rPr>
                            <m:t>𝑡𝑜𝑡𝑎𝑙</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𝑛𝑢𝑚𝑏𝑒𝑟</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𝑜𝑓</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𝑜𝑢𝑡𝑐𝑜𝑚𝑒𝑠</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𝑖𝑛</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𝑡h𝑒</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𝑠𝑎𝑚𝑝𝑙𝑒</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𝑠𝑝𝑎𝑐𝑒</m:t>
                          </m:r>
                        </m:den>
                      </m:f>
                    </m:oMath>
                  </m:oMathPara>
                </a14:m>
                <a:endParaRPr lang="en-US" sz="2200"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 </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rPr>
                        <m:t>= </m:t>
                      </m:r>
                      <m:f>
                        <m:fPr>
                          <m:ctrlPr>
                            <a:rPr lang="en-US" sz="2200" i="1">
                              <a:latin typeface="Cambria Math"/>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                 </m:t>
                          </m:r>
                        </m:num>
                        <m:den>
                          <m:r>
                            <a:rPr lang="en-US" sz="2200" i="1">
                              <a:latin typeface="Cambria Math" panose="02040503050406030204" pitchFamily="18" charset="0"/>
                              <a:ea typeface="Cambria Math" panose="02040503050406030204" pitchFamily="18" charset="0"/>
                            </a:rPr>
                            <m:t>                        </m:t>
                          </m:r>
                        </m:den>
                      </m:f>
                      <m:r>
                        <a:rPr lang="en-US" sz="2200" i="1">
                          <a:latin typeface="Cambria Math" panose="02040503050406030204" pitchFamily="18" charset="0"/>
                          <a:ea typeface="Cambria Math" panose="02040503050406030204" pitchFamily="18" charset="0"/>
                        </a:rPr>
                        <m:t> </m:t>
                      </m:r>
                    </m:oMath>
                  </m:oMathPara>
                </a14:m>
                <a:endParaRPr lang="en-US" sz="2200"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3"/>
                </a:pPr>
                <a:r>
                  <a:rPr lang="en-US" sz="2200" dirty="0">
                    <a:latin typeface="Verdana" panose="020B0604030504040204" pitchFamily="34" charset="0"/>
                    <a:ea typeface="Verdana" panose="020B0604030504040204" pitchFamily="34" charset="0"/>
                    <a:cs typeface="Verdana" panose="020B0604030504040204" pitchFamily="34" charset="0"/>
                  </a:rPr>
                  <a:t>Write </a:t>
                </a:r>
                <a14:m>
                  <m:oMath xmlns:m="http://schemas.openxmlformats.org/officeDocument/2006/math">
                    <m:r>
                      <a:rPr lang="en-US" sz="2200" i="1">
                        <a:latin typeface="Cambria Math" panose="02040503050406030204" pitchFamily="18" charset="0"/>
                        <a:ea typeface="Cambria Math" panose="02040503050406030204" pitchFamily="18" charset="0"/>
                      </a:rPr>
                      <m:t>𝑃</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𝐴</m:t>
                    </m:r>
                    <m:r>
                      <a:rPr lang="en-US" sz="2200" i="1">
                        <a:latin typeface="Cambria Math" panose="02040503050406030204" pitchFamily="18" charset="0"/>
                        <a:ea typeface="Cambria Math" panose="02040503050406030204" pitchFamily="18" charset="0"/>
                      </a:rPr>
                      <m:t>)</m:t>
                    </m:r>
                  </m:oMath>
                </a14:m>
                <a:r>
                  <a:rPr lang="en-US" sz="2200" dirty="0">
                    <a:latin typeface="Verdana" panose="020B0604030504040204" pitchFamily="34" charset="0"/>
                    <a:ea typeface="Verdana" panose="020B0604030504040204" pitchFamily="34" charset="0"/>
                    <a:cs typeface="Verdana" panose="020B0604030504040204" pitchFamily="34" charset="0"/>
                  </a:rPr>
                  <a:t> as a decimal and as a percentage.</a:t>
                </a:r>
              </a:p>
            </p:txBody>
          </p:sp>
        </mc:Choice>
        <mc:Fallback>
          <p:sp>
            <p:nvSpPr>
              <p:cNvPr id="14" name="TextBox 13">
                <a:extLst>
                  <a:ext uri="{FF2B5EF4-FFF2-40B4-BE49-F238E27FC236}">
                    <a16:creationId xmlns="" xmlns:a16="http://schemas.microsoft.com/office/drawing/2014/main"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541215" y="382954"/>
                <a:ext cx="10445262" cy="5427784"/>
              </a:xfrm>
              <a:prstGeom prst="rect">
                <a:avLst/>
              </a:prstGeom>
              <a:blipFill rotWithShape="1">
                <a:blip r:embed="rId4"/>
                <a:stretch>
                  <a:fillRect l="-817" t="-899"/>
                </a:stretch>
              </a:blipFill>
            </p:spPr>
            <p:txBody>
              <a:bodyPr/>
              <a:lstStyle/>
              <a:p>
                <a:r>
                  <a:rPr lang="en-PH">
                    <a:noFill/>
                  </a:rPr>
                  <a:t> </a:t>
                </a:r>
              </a:p>
            </p:txBody>
          </p:sp>
        </mc:Fallback>
      </mc:AlternateContent>
      <p:sp>
        <p:nvSpPr>
          <p:cNvPr id="6" name="Google Shape;278;g104476d1465_1_17">
            <a:extLst>
              <a:ext uri="{FF2B5EF4-FFF2-40B4-BE49-F238E27FC236}">
                <a16:creationId xmlns="" xmlns:a16="http://schemas.microsoft.com/office/drawing/2014/main" id="{8DFB160C-9BE1-1545-BD9C-EBC537BCD77A}"/>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p:spTree>
    <p:extLst>
      <p:ext uri="{BB962C8B-B14F-4D97-AF65-F5344CB8AC3E}">
        <p14:creationId xmlns:p14="http://schemas.microsoft.com/office/powerpoint/2010/main" val="1708389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 xmlns:a16="http://schemas.microsoft.com/office/drawing/2014/main" id="{2FA392D8-3ED3-7940-83A8-1451AA8A08D4}"/>
              </a:ext>
            </a:extLst>
          </p:cNvPr>
          <p:cNvSpPr txBox="1"/>
          <p:nvPr/>
        </p:nvSpPr>
        <p:spPr>
          <a:xfrm>
            <a:off x="538611" y="384927"/>
            <a:ext cx="9432224" cy="3816429"/>
          </a:xfrm>
          <a:prstGeom prst="rect">
            <a:avLst/>
          </a:prstGeom>
          <a:noFill/>
        </p:spPr>
        <p:txBody>
          <a:bodyPr wrap="square" rtlCol="0">
            <a:spAutoFit/>
          </a:bodyPr>
          <a:lstStyle/>
          <a:p>
            <a:pPr marL="457200" indent="-457200">
              <a:buFont typeface="+mj-lt"/>
              <a:buAutoNum type="arabicPeriod" startAt="3"/>
            </a:pPr>
            <a:r>
              <a:rPr lang="en-US" sz="2200" dirty="0">
                <a:latin typeface="Verdana" panose="020B0604030504040204" pitchFamily="34" charset="0"/>
                <a:ea typeface="Verdana" panose="020B0604030504040204" pitchFamily="34" charset="0"/>
                <a:cs typeface="Verdana" panose="020B0604030504040204" pitchFamily="34" charset="0"/>
              </a:rPr>
              <a:t>A fair coin is flipped. </a:t>
            </a: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What is the sample space?</a:t>
            </a: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What is the probability of landing on heads?</a:t>
            </a:r>
          </a:p>
        </p:txBody>
      </p:sp>
      <p:sp>
        <p:nvSpPr>
          <p:cNvPr id="6" name="Google Shape;278;g104476d1465_1_17">
            <a:extLst>
              <a:ext uri="{FF2B5EF4-FFF2-40B4-BE49-F238E27FC236}">
                <a16:creationId xmlns="" xmlns:a16="http://schemas.microsoft.com/office/drawing/2014/main" id="{8DFB160C-9BE1-1545-BD9C-EBC537BCD77A}"/>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p:spTree>
    <p:extLst>
      <p:ext uri="{BB962C8B-B14F-4D97-AF65-F5344CB8AC3E}">
        <p14:creationId xmlns:p14="http://schemas.microsoft.com/office/powerpoint/2010/main" val="2779684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spTree>
    <p:extLst>
      <p:ext uri="{BB962C8B-B14F-4D97-AF65-F5344CB8AC3E}">
        <p14:creationId xmlns:p14="http://schemas.microsoft.com/office/powerpoint/2010/main" val="4196971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8121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57459" y="-33225"/>
            <a:ext cx="10498832" cy="13860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14.1.3 Exploration: Repeated </a:t>
            </a:r>
            <a:r>
              <a:rPr lang="en-US" sz="3600" b="1" dirty="0" smtClean="0">
                <a:solidFill>
                  <a:srgbClr val="33BEA6"/>
                </a:solidFill>
                <a:latin typeface="Verdana"/>
                <a:ea typeface="Verdana"/>
                <a:cs typeface="Verdana"/>
                <a:sym typeface="Verdana"/>
              </a:rPr>
              <a:t/>
            </a:r>
            <a:br>
              <a:rPr lang="en-US" sz="3600" b="1" dirty="0" smtClean="0">
                <a:solidFill>
                  <a:srgbClr val="33BEA6"/>
                </a:solidFill>
                <a:latin typeface="Verdana"/>
                <a:ea typeface="Verdana"/>
                <a:cs typeface="Verdana"/>
                <a:sym typeface="Verdana"/>
              </a:rPr>
            </a:br>
            <a:r>
              <a:rPr lang="en-US" sz="3600" b="1" dirty="0" smtClean="0">
                <a:solidFill>
                  <a:srgbClr val="33BEA6"/>
                </a:solidFill>
                <a:latin typeface="Verdana"/>
                <a:ea typeface="Verdana"/>
                <a:cs typeface="Verdana"/>
                <a:sym typeface="Verdana"/>
              </a:rPr>
              <a:t>Coin </a:t>
            </a:r>
            <a:r>
              <a:rPr lang="en-US" sz="3600" b="1" dirty="0">
                <a:solidFill>
                  <a:srgbClr val="33BEA6"/>
                </a:solidFill>
                <a:latin typeface="Verdana"/>
                <a:ea typeface="Verdana"/>
                <a:cs typeface="Verdana"/>
                <a:sym typeface="Verdana"/>
              </a:rPr>
              <a:t>Flipping</a:t>
            </a:r>
          </a:p>
        </p:txBody>
      </p:sp>
      <p:pic>
        <p:nvPicPr>
          <p:cNvPr id="7" name="Picture 2" descr="Icon&#10;&#10;Description automatically generated">
            <a:extLst>
              <a:ext uri="{FF2B5EF4-FFF2-40B4-BE49-F238E27FC236}">
                <a16:creationId xmlns=""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47862" y="283661"/>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152D1D4D-DCB8-A246-B186-D40316579D77}"/>
                  </a:ext>
                </a:extLst>
              </p:cNvPr>
              <p:cNvSpPr txBox="1"/>
              <p:nvPr/>
            </p:nvSpPr>
            <p:spPr>
              <a:xfrm>
                <a:off x="553056" y="1462225"/>
                <a:ext cx="10785230" cy="4633063"/>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Consider the random process of flipping </a:t>
                </a:r>
                <a:r>
                  <a:rPr lang="en-US" sz="2200" i="1" dirty="0">
                    <a:latin typeface="Verdana" panose="020B0604030504040204" pitchFamily="34" charset="0"/>
                    <a:ea typeface="Verdana" panose="020B0604030504040204" pitchFamily="34" charset="0"/>
                    <a:cs typeface="Verdana" panose="020B0604030504040204" pitchFamily="34" charset="0"/>
                  </a:rPr>
                  <a:t>two</a:t>
                </a:r>
                <a:r>
                  <a:rPr lang="en-US" sz="2200" dirty="0">
                    <a:latin typeface="Verdana" panose="020B0604030504040204" pitchFamily="34" charset="0"/>
                    <a:ea typeface="Verdana" panose="020B0604030504040204" pitchFamily="34" charset="0"/>
                    <a:cs typeface="Verdana" panose="020B0604030504040204" pitchFamily="34" charset="0"/>
                  </a:rPr>
                  <a:t> fair coins and getting all heads. </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Examine the work below with your partner and decide with whom you agree. </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465138"/>
                <a:r>
                  <a:rPr lang="en-US" sz="2200" dirty="0" err="1">
                    <a:latin typeface="Verdana" panose="020B0604030504040204" pitchFamily="34" charset="0"/>
                    <a:ea typeface="Verdana" panose="020B0604030504040204" pitchFamily="34" charset="0"/>
                    <a:cs typeface="Verdana" panose="020B0604030504040204" pitchFamily="34" charset="0"/>
                  </a:rPr>
                  <a:t>Rhaheim</a:t>
                </a:r>
                <a:r>
                  <a:rPr lang="en-US" sz="2200" dirty="0">
                    <a:latin typeface="Verdana" panose="020B0604030504040204" pitchFamily="34" charset="0"/>
                    <a:ea typeface="Verdana" panose="020B0604030504040204" pitchFamily="34" charset="0"/>
                    <a:cs typeface="Verdana" panose="020B0604030504040204" pitchFamily="34" charset="0"/>
                  </a:rPr>
                  <a:t> and Octavia are discussing their thoughts on how likely it is to get only heads when two fair coins are flipped. </a:t>
                </a:r>
              </a:p>
              <a:p>
                <a:pPr marL="465138"/>
                <a:r>
                  <a:rPr lang="en-US" sz="2200" dirty="0">
                    <a:latin typeface="Verdana" panose="020B0604030504040204" pitchFamily="34" charset="0"/>
                    <a:ea typeface="Verdana" panose="020B0604030504040204" pitchFamily="34" charset="0"/>
                    <a:cs typeface="Verdana" panose="020B0604030504040204" pitchFamily="34" charset="0"/>
                  </a:rPr>
                  <a:t> </a:t>
                </a:r>
              </a:p>
              <a:p>
                <a:pPr marL="465138"/>
                <a:r>
                  <a:rPr lang="en-US" sz="2200" dirty="0">
                    <a:latin typeface="Verdana" panose="020B0604030504040204" pitchFamily="34" charset="0"/>
                    <a:ea typeface="Verdana" panose="020B0604030504040204" pitchFamily="34" charset="0"/>
                    <a:cs typeface="Verdana" panose="020B0604030504040204" pitchFamily="34" charset="0"/>
                  </a:rPr>
                  <a:t>Octavia says, “The likelihood of getting all heads when two coins are flipped is </a:t>
                </a:r>
                <a14:m>
                  <m:oMath xmlns:m="http://schemas.openxmlformats.org/officeDocument/2006/math">
                    <m:f>
                      <m:fPr>
                        <m:ctrlPr>
                          <a:rPr lang="en-US" sz="2200" i="1">
                            <a:latin typeface="Cambria Math"/>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
                          <a:rPr lang="en-US" sz="2200" i="1">
                            <a:latin typeface="Cambria Math" panose="02040503050406030204" pitchFamily="18" charset="0"/>
                            <a:ea typeface="Cambria Math" panose="02040503050406030204" pitchFamily="18" charset="0"/>
                          </a:rPr>
                          <m:t>2</m:t>
                        </m:r>
                      </m:den>
                    </m:f>
                  </m:oMath>
                </a14:m>
                <a:r>
                  <a:rPr lang="en-US" sz="2200" dirty="0">
                    <a:latin typeface="Verdana" panose="020B0604030504040204" pitchFamily="34" charset="0"/>
                    <a:ea typeface="Verdana" panose="020B0604030504040204" pitchFamily="34" charset="0"/>
                    <a:cs typeface="Verdana" panose="020B0604030504040204" pitchFamily="34" charset="0"/>
                  </a:rPr>
                  <a:t>. Since half of the outcomes when one coin is flipped are heads, then half of the outcomes when two coins are flipped will also be heads.” </a:t>
                </a:r>
              </a:p>
            </p:txBody>
          </p:sp>
        </mc:Choice>
        <mc:Fallback xmlns="">
          <p:sp>
            <p:nvSpPr>
              <p:cNvPr id="10" name="TextBox 9">
                <a:extLst>
                  <a:ext uri="{FF2B5EF4-FFF2-40B4-BE49-F238E27FC236}">
                    <a16:creationId xmlns:a16="http://schemas.microsoft.com/office/drawing/2014/main" xmlns:a14="http://schemas.microsoft.com/office/drawing/2010/main" xmlns="" id="{152D1D4D-DCB8-A246-B186-D40316579D77}"/>
                  </a:ext>
                </a:extLst>
              </p:cNvPr>
              <p:cNvSpPr txBox="1">
                <a:spLocks noRot="1" noChangeAspect="1" noMove="1" noResize="1" noEditPoints="1" noAdjustHandles="1" noChangeArrowheads="1" noChangeShapeType="1" noTextEdit="1"/>
              </p:cNvSpPr>
              <p:nvPr/>
            </p:nvSpPr>
            <p:spPr>
              <a:xfrm>
                <a:off x="553056" y="1462225"/>
                <a:ext cx="10785230" cy="4633063"/>
              </a:xfrm>
              <a:prstGeom prst="rect">
                <a:avLst/>
              </a:prstGeom>
              <a:blipFill rotWithShape="1">
                <a:blip r:embed="rId5"/>
                <a:stretch>
                  <a:fillRect l="-791" t="-658" r="-1244" b="-1711"/>
                </a:stretch>
              </a:blipFill>
            </p:spPr>
            <p:txBody>
              <a:bodyPr/>
              <a:lstStyle/>
              <a:p>
                <a:r>
                  <a:rPr lang="en-PH">
                    <a:noFill/>
                  </a:rPr>
                  <a:t> </a:t>
                </a:r>
              </a:p>
            </p:txBody>
          </p:sp>
        </mc:Fallback>
      </mc:AlternateContent>
      <p:sp>
        <p:nvSpPr>
          <p:cNvPr id="9" name="Google Shape;278;g104476d1465_1_17">
            <a:extLst>
              <a:ext uri="{FF2B5EF4-FFF2-40B4-BE49-F238E27FC236}">
                <a16:creationId xmlns="" xmlns:a16="http://schemas.microsoft.com/office/drawing/2014/main" id="{EB4F8F2D-5430-734A-8AE9-069DDAB1B918}"/>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89924" y="64382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42097" y="377091"/>
                <a:ext cx="10362738" cy="4095480"/>
              </a:xfrm>
              <a:prstGeom prst="rect">
                <a:avLst/>
              </a:prstGeom>
              <a:noFill/>
            </p:spPr>
            <p:txBody>
              <a:bodyPr wrap="square" rtlCol="0">
                <a:spAutoFit/>
              </a:bodyPr>
              <a:lstStyle/>
              <a:p>
                <a:pPr marL="465138"/>
                <a:r>
                  <a:rPr lang="en-US" sz="2200" dirty="0" err="1">
                    <a:latin typeface="Verdana" panose="020B0604030504040204" pitchFamily="34" charset="0"/>
                    <a:ea typeface="Verdana" panose="020B0604030504040204" pitchFamily="34" charset="0"/>
                    <a:cs typeface="Verdana" panose="020B0604030504040204" pitchFamily="34" charset="0"/>
                  </a:rPr>
                  <a:t>Rhaheim</a:t>
                </a:r>
                <a:r>
                  <a:rPr lang="en-US" sz="2200" dirty="0">
                    <a:latin typeface="Verdana" panose="020B0604030504040204" pitchFamily="34" charset="0"/>
                    <a:ea typeface="Verdana" panose="020B0604030504040204" pitchFamily="34" charset="0"/>
                    <a:cs typeface="Verdana" panose="020B0604030504040204" pitchFamily="34" charset="0"/>
                  </a:rPr>
                  <a:t> says, “I’m not exactly sure what the likelihood of getting all heads when flipping two coins is, but I know it’s not </a:t>
                </a:r>
                <a14:m>
                  <m:oMath xmlns:m="http://schemas.openxmlformats.org/officeDocument/2006/math">
                    <m:f>
                      <m:fPr>
                        <m:ctrlPr>
                          <a:rPr lang="en-US" sz="2200" i="1">
                            <a:latin typeface="Cambria Math"/>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
                          <a:rPr lang="en-US" sz="2200" i="1">
                            <a:latin typeface="Cambria Math" panose="02040503050406030204" pitchFamily="18" charset="0"/>
                            <a:ea typeface="Cambria Math" panose="02040503050406030204" pitchFamily="18" charset="0"/>
                          </a:rPr>
                          <m:t>2</m:t>
                        </m:r>
                      </m:den>
                    </m:f>
                  </m:oMath>
                </a14:m>
                <a:r>
                  <a:rPr lang="en-US" sz="2200" dirty="0">
                    <a:latin typeface="Verdana" panose="020B0604030504040204" pitchFamily="34" charset="0"/>
                    <a:ea typeface="Verdana" panose="020B0604030504040204" pitchFamily="34" charset="0"/>
                    <a:cs typeface="Verdana" panose="020B0604030504040204" pitchFamily="34" charset="0"/>
                  </a:rPr>
                  <a:t>. When two coins are flipped, if the first coin is heads, the second coin could be heads or tails. In only these two outcomes, HH, and HT, the likelihood of all heads is </a:t>
                </a:r>
                <a14:m>
                  <m:oMath xmlns:m="http://schemas.openxmlformats.org/officeDocument/2006/math">
                    <m:f>
                      <m:fPr>
                        <m:ctrlPr>
                          <a:rPr lang="en-US" sz="2200" i="1">
                            <a:latin typeface="Cambria Math"/>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
                          <a:rPr lang="en-US" sz="2200" i="1">
                            <a:latin typeface="Cambria Math" panose="02040503050406030204" pitchFamily="18" charset="0"/>
                            <a:ea typeface="Cambria Math" panose="02040503050406030204" pitchFamily="18" charset="0"/>
                          </a:rPr>
                          <m:t>2</m:t>
                        </m:r>
                      </m:den>
                    </m:f>
                  </m:oMath>
                </a14:m>
                <a:r>
                  <a:rPr lang="en-US" sz="2200" dirty="0">
                    <a:latin typeface="Verdana" panose="020B0604030504040204" pitchFamily="34" charset="0"/>
                    <a:ea typeface="Verdana" panose="020B0604030504040204" pitchFamily="34" charset="0"/>
                    <a:cs typeface="Verdana" panose="020B0604030504040204" pitchFamily="34" charset="0"/>
                  </a:rPr>
                  <a:t>, but there are more outcomes, so this likelihood will change. I’m just not sure how many more outcomes there are.” </a:t>
                </a:r>
                <a:br>
                  <a:rPr lang="en-US" sz="2200" dirty="0">
                    <a:latin typeface="Verdana" panose="020B0604030504040204" pitchFamily="34" charset="0"/>
                    <a:ea typeface="Verdana" panose="020B0604030504040204" pitchFamily="34" charset="0"/>
                    <a:cs typeface="Verdana" panose="020B0604030504040204" pitchFamily="34" charset="0"/>
                  </a:rPr>
                </a:br>
                <a:endParaRPr lang="en-US" sz="2200" dirty="0">
                  <a:latin typeface="Verdana" panose="020B0604030504040204" pitchFamily="34" charset="0"/>
                  <a:ea typeface="Verdana" panose="020B0604030504040204" pitchFamily="34" charset="0"/>
                  <a:cs typeface="Verdana" panose="020B0604030504040204" pitchFamily="34" charset="0"/>
                </a:endParaRPr>
              </a:p>
              <a:p>
                <a:pPr marL="465138"/>
                <a:endParaRPr lang="en-US" sz="2200" dirty="0">
                  <a:latin typeface="Verdana" panose="020B0604030504040204" pitchFamily="34" charset="0"/>
                  <a:ea typeface="Verdana" panose="020B0604030504040204" pitchFamily="34" charset="0"/>
                  <a:cs typeface="Verdana" panose="020B0604030504040204" pitchFamily="34" charset="0"/>
                </a:endParaRPr>
              </a:p>
              <a:p>
                <a:pPr marL="465138"/>
                <a:r>
                  <a:rPr lang="en-US" sz="2200" dirty="0">
                    <a:latin typeface="Verdana" panose="020B0604030504040204" pitchFamily="34" charset="0"/>
                    <a:ea typeface="Verdana" panose="020B0604030504040204" pitchFamily="34" charset="0"/>
                    <a:cs typeface="Verdana" panose="020B0604030504040204" pitchFamily="34" charset="0"/>
                  </a:rPr>
                  <a:t>Work with your partner to decide if you agree more with </a:t>
                </a:r>
                <a:r>
                  <a:rPr lang="en-US" sz="2200" dirty="0" err="1">
                    <a:latin typeface="Verdana" panose="020B0604030504040204" pitchFamily="34" charset="0"/>
                    <a:ea typeface="Verdana" panose="020B0604030504040204" pitchFamily="34" charset="0"/>
                    <a:cs typeface="Verdana" panose="020B0604030504040204" pitchFamily="34" charset="0"/>
                  </a:rPr>
                  <a:t>Rhaheim</a:t>
                </a:r>
                <a:r>
                  <a:rPr lang="en-US" sz="2200" dirty="0">
                    <a:latin typeface="Verdana" panose="020B0604030504040204" pitchFamily="34" charset="0"/>
                    <a:ea typeface="Verdana" panose="020B0604030504040204" pitchFamily="34" charset="0"/>
                    <a:cs typeface="Verdana" panose="020B0604030504040204" pitchFamily="34" charset="0"/>
                  </a:rPr>
                  <a:t> or with Octavia and why. Write your explanation. </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42097" y="377091"/>
                <a:ext cx="10362738" cy="4095480"/>
              </a:xfrm>
              <a:prstGeom prst="rect">
                <a:avLst/>
              </a:prstGeom>
              <a:blipFill rotWithShape="1">
                <a:blip r:embed="rId4"/>
                <a:stretch>
                  <a:fillRect t="-744" r="-1235" b="-2083"/>
                </a:stretch>
              </a:blipFill>
            </p:spPr>
            <p:txBody>
              <a:bodyPr/>
              <a:lstStyle/>
              <a:p>
                <a:r>
                  <a:rPr lang="en-PH">
                    <a:noFill/>
                  </a:rPr>
                  <a:t> </a:t>
                </a:r>
              </a:p>
            </p:txBody>
          </p:sp>
        </mc:Fallback>
      </mc:AlternateContent>
      <p:sp>
        <p:nvSpPr>
          <p:cNvPr id="6" name="Google Shape;278;g104476d1465_1_17">
            <a:extLst>
              <a:ext uri="{FF2B5EF4-FFF2-40B4-BE49-F238E27FC236}">
                <a16:creationId xmlns="" xmlns:a16="http://schemas.microsoft.com/office/drawing/2014/main" id="{8DFB160C-9BE1-1545-BD9C-EBC537BCD77A}"/>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spTree>
    <p:extLst>
      <p:ext uri="{BB962C8B-B14F-4D97-AF65-F5344CB8AC3E}">
        <p14:creationId xmlns:p14="http://schemas.microsoft.com/office/powerpoint/2010/main" val="3867971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 xmlns:a16="http://schemas.microsoft.com/office/drawing/2014/main" id="{2FA392D8-3ED3-7940-83A8-1451AA8A08D4}"/>
              </a:ext>
            </a:extLst>
          </p:cNvPr>
          <p:cNvSpPr txBox="1"/>
          <p:nvPr/>
        </p:nvSpPr>
        <p:spPr>
          <a:xfrm>
            <a:off x="553590" y="373835"/>
            <a:ext cx="10800000" cy="4154984"/>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List the sample space of flipping a fair coin twice. On the first toss, the possible options are heads and tails. On the second toss, the two options are heads and tails. </a:t>
            </a: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Use the sample space to determine how likely it is to flip all heads when two coins are flipped. Create a ratio to compare the number of outcomes with only heads to the total number of outcomes in the sample space.</a:t>
            </a:r>
          </a:p>
        </p:txBody>
      </p:sp>
      <p:sp>
        <p:nvSpPr>
          <p:cNvPr id="6" name="Google Shape;278;g104476d1465_1_17">
            <a:extLst>
              <a:ext uri="{FF2B5EF4-FFF2-40B4-BE49-F238E27FC236}">
                <a16:creationId xmlns="" xmlns:a16="http://schemas.microsoft.com/office/drawing/2014/main" id="{8DFB160C-9BE1-1545-BD9C-EBC537BCD77A}"/>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spTree>
    <p:extLst>
      <p:ext uri="{BB962C8B-B14F-4D97-AF65-F5344CB8AC3E}">
        <p14:creationId xmlns:p14="http://schemas.microsoft.com/office/powerpoint/2010/main" val="3221096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 xmlns:a16="http://schemas.microsoft.com/office/drawing/2014/main" id="{2FA392D8-3ED3-7940-83A8-1451AA8A08D4}"/>
              </a:ext>
            </a:extLst>
          </p:cNvPr>
          <p:cNvSpPr txBox="1"/>
          <p:nvPr/>
        </p:nvSpPr>
        <p:spPr>
          <a:xfrm>
            <a:off x="545774" y="384908"/>
            <a:ext cx="10550769" cy="4154984"/>
          </a:xfrm>
          <a:prstGeom prst="rect">
            <a:avLst/>
          </a:prstGeom>
          <a:noFill/>
        </p:spPr>
        <p:txBody>
          <a:bodyPr wrap="square" rtlCol="0">
            <a:spAutoFit/>
          </a:bodyPr>
          <a:lstStyle/>
          <a:p>
            <a:pPr marL="457200" indent="-457200">
              <a:buFont typeface="+mj-lt"/>
              <a:buAutoNum type="arabicPeriod" startAt="4"/>
            </a:pPr>
            <a:r>
              <a:rPr lang="en-US" sz="2200" dirty="0">
                <a:latin typeface="Verdana" panose="020B0604030504040204" pitchFamily="34" charset="0"/>
                <a:ea typeface="Verdana" panose="020B0604030504040204" pitchFamily="34" charset="0"/>
                <a:cs typeface="Verdana" panose="020B0604030504040204" pitchFamily="34" charset="0"/>
              </a:rPr>
              <a:t>What if </a:t>
            </a:r>
            <a:r>
              <a:rPr lang="en-US" sz="2200" i="1" dirty="0">
                <a:latin typeface="Verdana" panose="020B0604030504040204" pitchFamily="34" charset="0"/>
                <a:ea typeface="Verdana" panose="020B0604030504040204" pitchFamily="34" charset="0"/>
                <a:cs typeface="Verdana" panose="020B0604030504040204" pitchFamily="34" charset="0"/>
              </a:rPr>
              <a:t>three</a:t>
            </a:r>
            <a:r>
              <a:rPr lang="en-US" sz="2200" dirty="0">
                <a:latin typeface="Verdana" panose="020B0604030504040204" pitchFamily="34" charset="0"/>
                <a:ea typeface="Verdana" panose="020B0604030504040204" pitchFamily="34" charset="0"/>
                <a:cs typeface="Verdana" panose="020B0604030504040204" pitchFamily="34" charset="0"/>
              </a:rPr>
              <a:t> fair coins are flipped? How will the sample space and the likelihood of flipping only heads change? </a:t>
            </a:r>
          </a:p>
          <a:p>
            <a:r>
              <a:rPr lang="en-US" sz="2200" dirty="0">
                <a:latin typeface="Verdana" panose="020B0604030504040204" pitchFamily="34" charset="0"/>
                <a:ea typeface="Verdana" panose="020B0604030504040204" pitchFamily="34" charset="0"/>
                <a:cs typeface="Verdana" panose="020B0604030504040204" pitchFamily="34" charset="0"/>
              </a:rPr>
              <a:t> </a:t>
            </a:r>
          </a:p>
          <a:p>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Make a prediction below. </a:t>
            </a:r>
          </a:p>
          <a:p>
            <a:pPr marL="914400" lvl="1"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Work with your partner to determine the sample space when three fair coins are flipped. </a:t>
            </a:r>
          </a:p>
        </p:txBody>
      </p:sp>
      <p:sp>
        <p:nvSpPr>
          <p:cNvPr id="6" name="Google Shape;278;g104476d1465_1_17">
            <a:extLst>
              <a:ext uri="{FF2B5EF4-FFF2-40B4-BE49-F238E27FC236}">
                <a16:creationId xmlns="" xmlns:a16="http://schemas.microsoft.com/office/drawing/2014/main" id="{8221DE51-EC2A-7749-BA7C-D69EC4B3B96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spTree>
    <p:extLst>
      <p:ext uri="{BB962C8B-B14F-4D97-AF65-F5344CB8AC3E}">
        <p14:creationId xmlns:p14="http://schemas.microsoft.com/office/powerpoint/2010/main" val="2820094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 xmlns:a16="http://schemas.microsoft.com/office/drawing/2014/main" id="{2FA392D8-3ED3-7940-83A8-1451AA8A08D4}"/>
              </a:ext>
            </a:extLst>
          </p:cNvPr>
          <p:cNvSpPr txBox="1"/>
          <p:nvPr/>
        </p:nvSpPr>
        <p:spPr>
          <a:xfrm>
            <a:off x="537957" y="380660"/>
            <a:ext cx="10117016" cy="3477875"/>
          </a:xfrm>
          <a:prstGeom prst="rect">
            <a:avLst/>
          </a:prstGeom>
          <a:noFill/>
        </p:spPr>
        <p:txBody>
          <a:bodyPr wrap="square" rtlCol="0">
            <a:spAutoFit/>
          </a:bodyPr>
          <a:lstStyle/>
          <a:p>
            <a:pPr marL="914400" indent="-457200">
              <a:buFont typeface="+mj-lt"/>
              <a:buAutoNum type="alphaLcPeriod" startAt="3"/>
            </a:pPr>
            <a:r>
              <a:rPr lang="en-US" sz="2200" dirty="0">
                <a:latin typeface="Verdana" panose="020B0604030504040204" pitchFamily="34" charset="0"/>
                <a:ea typeface="Verdana" panose="020B0604030504040204" pitchFamily="34" charset="0"/>
                <a:cs typeface="Verdana" panose="020B0604030504040204" pitchFamily="34" charset="0"/>
              </a:rPr>
              <a:t>Find the likelihood of flipping all heads when three fair coins are flipped. </a:t>
            </a: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200" dirty="0">
                <a:latin typeface="Verdana" panose="020B0604030504040204" pitchFamily="34" charset="0"/>
                <a:ea typeface="Verdana" panose="020B0604030504040204" pitchFamily="34" charset="0"/>
                <a:cs typeface="Verdana" panose="020B0604030504040204" pitchFamily="34" charset="0"/>
              </a:rPr>
              <a:t>Compare your work with that of another pair of students. Revise your work to make it more accurate, if necessary. </a:t>
            </a:r>
          </a:p>
        </p:txBody>
      </p:sp>
      <p:sp>
        <p:nvSpPr>
          <p:cNvPr id="6" name="Google Shape;278;g104476d1465_1_17">
            <a:extLst>
              <a:ext uri="{FF2B5EF4-FFF2-40B4-BE49-F238E27FC236}">
                <a16:creationId xmlns="" xmlns:a16="http://schemas.microsoft.com/office/drawing/2014/main" id="{8221DE51-EC2A-7749-BA7C-D69EC4B3B96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310</a:t>
            </a:r>
            <a:endParaRPr i="1" dirty="0">
              <a:latin typeface="Calibri"/>
              <a:ea typeface="Calibri"/>
              <a:cs typeface="Calibri"/>
              <a:sym typeface="Calibri"/>
            </a:endParaRPr>
          </a:p>
        </p:txBody>
      </p:sp>
    </p:spTree>
    <p:extLst>
      <p:ext uri="{BB962C8B-B14F-4D97-AF65-F5344CB8AC3E}">
        <p14:creationId xmlns:p14="http://schemas.microsoft.com/office/powerpoint/2010/main" val="1758169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47868" y="377090"/>
                <a:ext cx="10839799" cy="1107996"/>
              </a:xfrm>
              <a:prstGeom prst="rect">
                <a:avLst/>
              </a:prstGeom>
              <a:noFill/>
            </p:spPr>
            <p:txBody>
              <a:bodyPr wrap="square" rtlCol="0">
                <a:spAutoFit/>
              </a:bodyPr>
              <a:lstStyle/>
              <a:p>
                <a:pPr marL="457200" indent="-457200">
                  <a:buFont typeface="+mj-lt"/>
                  <a:buAutoNum type="arabicPeriod" startAt="5"/>
                </a:pPr>
                <a:r>
                  <a:rPr lang="en-US" sz="2200" dirty="0">
                    <a:latin typeface="Verdana" panose="020B0604030504040204" pitchFamily="34" charset="0"/>
                    <a:ea typeface="Verdana" panose="020B0604030504040204" pitchFamily="34" charset="0"/>
                    <a:cs typeface="Verdana" panose="020B0604030504040204" pitchFamily="34" charset="0"/>
                  </a:rPr>
                  <a:t>Work as a group of four to investigate how the sample space and the likelihood of flipping all heads changes when four fair coins are flipped. Fill in the table below with the information for flipping </a:t>
                </a:r>
                <a14:m>
                  <m:oMath xmlns:m="http://schemas.openxmlformats.org/officeDocument/2006/math">
                    <m:r>
                      <a:rPr lang="en-US" sz="2200" i="1">
                        <a:latin typeface="Cambria Math" panose="02040503050406030204" pitchFamily="18" charset="0"/>
                        <a:ea typeface="Cambria Math" panose="02040503050406030204" pitchFamily="18" charset="0"/>
                      </a:rPr>
                      <m:t>1</m:t>
                    </m:r>
                  </m:oMath>
                </a14:m>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200" i="1">
                        <a:latin typeface="Cambria Math" panose="02040503050406030204" pitchFamily="18" charset="0"/>
                        <a:ea typeface="Cambria Math" panose="02040503050406030204" pitchFamily="18" charset="0"/>
                      </a:rPr>
                      <m:t>2</m:t>
                    </m:r>
                  </m:oMath>
                </a14:m>
                <a:r>
                  <a:rPr lang="en-US" sz="22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200" i="1">
                        <a:latin typeface="Cambria Math" panose="02040503050406030204" pitchFamily="18" charset="0"/>
                        <a:ea typeface="Cambria Math" panose="02040503050406030204" pitchFamily="18" charset="0"/>
                      </a:rPr>
                      <m:t>3</m:t>
                    </m:r>
                  </m:oMath>
                </a14:m>
                <a:r>
                  <a:rPr lang="en-US" sz="2200" dirty="0">
                    <a:latin typeface="Verdana" panose="020B0604030504040204" pitchFamily="34" charset="0"/>
                    <a:ea typeface="Verdana" panose="020B0604030504040204" pitchFamily="34" charset="0"/>
                    <a:cs typeface="Verdana" panose="020B0604030504040204" pitchFamily="34" charset="0"/>
                  </a:rPr>
                  <a:t> coins.</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47868" y="377090"/>
                <a:ext cx="10839799" cy="1107996"/>
              </a:xfrm>
              <a:prstGeom prst="rect">
                <a:avLst/>
              </a:prstGeom>
              <a:blipFill rotWithShape="1">
                <a:blip r:embed="rId4"/>
                <a:stretch>
                  <a:fillRect l="-787" t="-3846" b="-9890"/>
                </a:stretch>
              </a:blipFill>
            </p:spPr>
            <p:txBody>
              <a:bodyPr/>
              <a:lstStyle/>
              <a:p>
                <a:r>
                  <a:rPr lang="en-PH">
                    <a:noFill/>
                  </a:rPr>
                  <a:t> </a:t>
                </a:r>
              </a:p>
            </p:txBody>
          </p:sp>
        </mc:Fallback>
      </mc:AlternateContent>
      <p:sp>
        <p:nvSpPr>
          <p:cNvPr id="6" name="Google Shape;278;g104476d1465_1_17">
            <a:extLst>
              <a:ext uri="{FF2B5EF4-FFF2-40B4-BE49-F238E27FC236}">
                <a16:creationId xmlns="" xmlns:a16="http://schemas.microsoft.com/office/drawing/2014/main" id="{8221DE51-EC2A-7749-BA7C-D69EC4B3B96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492455177"/>
                  </p:ext>
                </p:extLst>
              </p:nvPr>
            </p:nvGraphicFramePr>
            <p:xfrm>
              <a:off x="1110450" y="1612172"/>
              <a:ext cx="8640000" cy="3573226"/>
            </p:xfrm>
            <a:graphic>
              <a:graphicData uri="http://schemas.openxmlformats.org/drawingml/2006/table">
                <a:tbl>
                  <a:tblPr firstRow="1" firstCol="1" bandRow="1">
                    <a:tableStyleId>{5940675A-B579-460E-94D1-54222C63F5DA}</a:tableStyleId>
                  </a:tblPr>
                  <a:tblGrid>
                    <a:gridCol w="2880000">
                      <a:extLst>
                        <a:ext uri="{9D8B030D-6E8A-4147-A177-3AD203B41FA5}">
                          <a16:colId xmlns="" xmlns:a16="http://schemas.microsoft.com/office/drawing/2014/main" val="20000"/>
                        </a:ext>
                      </a:extLst>
                    </a:gridCol>
                    <a:gridCol w="2880000">
                      <a:extLst>
                        <a:ext uri="{9D8B030D-6E8A-4147-A177-3AD203B41FA5}">
                          <a16:colId xmlns="" xmlns:a16="http://schemas.microsoft.com/office/drawing/2014/main" val="20001"/>
                        </a:ext>
                      </a:extLst>
                    </a:gridCol>
                    <a:gridCol w="2880000">
                      <a:extLst>
                        <a:ext uri="{9D8B030D-6E8A-4147-A177-3AD203B41FA5}">
                          <a16:colId xmlns="" xmlns:a16="http://schemas.microsoft.com/office/drawing/2014/main" val="20002"/>
                        </a:ext>
                      </a:extLst>
                    </a:gridCol>
                  </a:tblGrid>
                  <a:tr h="981226">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Coins </a:t>
                          </a:r>
                          <a:r>
                            <a:rPr lang="en-US" sz="2000" b="1" dirty="0">
                              <a:effectLst/>
                              <a:latin typeface="Verdana" panose="020B0604030504040204" pitchFamily="34" charset="0"/>
                              <a:ea typeface="Verdana" panose="020B0604030504040204" pitchFamily="34" charset="0"/>
                              <a:cs typeface="Verdana" panose="020B0604030504040204" pitchFamily="34" charset="0"/>
                            </a:rPr>
                            <a:t>Flipped</a:t>
                          </a: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Outcomes in the Sample Space</a:t>
                          </a: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Likelihood of Getting All Heads</a:t>
                          </a: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648000">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600" dirty="0">
                              <a:effectLst/>
                            </a:rPr>
                            <a:t> </a:t>
                          </a:r>
                          <a:endParaRPr lang="en-US" sz="1100" dirty="0">
                            <a:effectLst/>
                            <a:latin typeface="Times New Roman" panose="02020603050405020304" pitchFamily="18" charset="0"/>
                            <a:ea typeface="Times New Roman" panose="020206030504050203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600">
                              <a:effectLst/>
                            </a:rPr>
                            <a:t> </a:t>
                          </a:r>
                          <a:endParaRPr lang="en-US" sz="1100">
                            <a:effectLst/>
                            <a:latin typeface="Times New Roman" panose="02020603050405020304" pitchFamily="18" charset="0"/>
                            <a:ea typeface="Times New Roman" panose="020206030504050203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648000">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600" dirty="0">
                              <a:effectLst/>
                            </a:rPr>
                            <a:t> </a:t>
                          </a:r>
                          <a:endParaRPr lang="en-US" sz="1100" dirty="0">
                            <a:effectLst/>
                            <a:latin typeface="Times New Roman" panose="02020603050405020304" pitchFamily="18" charset="0"/>
                            <a:ea typeface="Times New Roman" panose="020206030504050203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600">
                              <a:effectLst/>
                            </a:rPr>
                            <a:t> </a:t>
                          </a:r>
                          <a:endParaRPr lang="en-US" sz="1100">
                            <a:effectLst/>
                            <a:latin typeface="Times New Roman" panose="02020603050405020304" pitchFamily="18" charset="0"/>
                            <a:ea typeface="Times New Roman" panose="020206030504050203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648000">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600" dirty="0">
                              <a:effectLst/>
                            </a:rPr>
                            <a:t> </a:t>
                          </a:r>
                          <a:endParaRPr lang="en-US" sz="1100" dirty="0">
                            <a:effectLst/>
                            <a:latin typeface="Times New Roman" panose="02020603050405020304" pitchFamily="18" charset="0"/>
                            <a:ea typeface="Times New Roman" panose="020206030504050203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600">
                              <a:effectLst/>
                            </a:rPr>
                            <a:t> </a:t>
                          </a:r>
                          <a:endParaRPr lang="en-US" sz="1100">
                            <a:effectLst/>
                            <a:latin typeface="Times New Roman" panose="02020603050405020304" pitchFamily="18" charset="0"/>
                            <a:ea typeface="Times New Roman" panose="020206030504050203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648000">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600" dirty="0">
                              <a:effectLst/>
                            </a:rPr>
                            <a:t> </a:t>
                          </a:r>
                          <a:endParaRPr lang="en-US" sz="1100" dirty="0">
                            <a:effectLst/>
                            <a:latin typeface="Times New Roman" panose="02020603050405020304" pitchFamily="18" charset="0"/>
                            <a:ea typeface="Times New Roman" panose="020206030504050203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600" dirty="0">
                              <a:effectLst/>
                            </a:rPr>
                            <a:t> </a:t>
                          </a:r>
                          <a:endParaRPr lang="en-US" sz="1100" dirty="0">
                            <a:effectLst/>
                            <a:latin typeface="Times New Roman" panose="02020603050405020304" pitchFamily="18" charset="0"/>
                            <a:ea typeface="Times New Roman" panose="020206030504050203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492455177"/>
                  </p:ext>
                </p:extLst>
              </p:nvPr>
            </p:nvGraphicFramePr>
            <p:xfrm>
              <a:off x="1110450" y="1612172"/>
              <a:ext cx="8640000" cy="3573226"/>
            </p:xfrm>
            <a:graphic>
              <a:graphicData uri="http://schemas.openxmlformats.org/drawingml/2006/table">
                <a:tbl>
                  <a:tblPr firstRow="1" firstCol="1" bandRow="1">
                    <a:tableStyleId>{5940675A-B579-460E-94D1-54222C63F5DA}</a:tableStyleId>
                  </a:tblPr>
                  <a:tblGrid>
                    <a:gridCol w="2880000">
                      <a:extLst>
                        <a:ext uri="{9D8B030D-6E8A-4147-A177-3AD203B41FA5}">
                          <a16:colId xmlns:a16="http://schemas.microsoft.com/office/drawing/2014/main" xmlns:a14="http://schemas.microsoft.com/office/drawing/2010/main" xmlns="" val="20000"/>
                        </a:ext>
                      </a:extLst>
                    </a:gridCol>
                    <a:gridCol w="2880000">
                      <a:extLst>
                        <a:ext uri="{9D8B030D-6E8A-4147-A177-3AD203B41FA5}">
                          <a16:colId xmlns:a16="http://schemas.microsoft.com/office/drawing/2014/main" xmlns:a14="http://schemas.microsoft.com/office/drawing/2010/main" xmlns="" val="20001"/>
                        </a:ext>
                      </a:extLst>
                    </a:gridCol>
                    <a:gridCol w="2880000">
                      <a:extLst>
                        <a:ext uri="{9D8B030D-6E8A-4147-A177-3AD203B41FA5}">
                          <a16:colId xmlns:a16="http://schemas.microsoft.com/office/drawing/2014/main" xmlns:a14="http://schemas.microsoft.com/office/drawing/2010/main" xmlns="" val="20002"/>
                        </a:ext>
                      </a:extLst>
                    </a:gridCol>
                  </a:tblGrid>
                  <a:tr h="981226">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Coins </a:t>
                          </a:r>
                          <a:r>
                            <a:rPr lang="en-US" sz="2000" b="1" dirty="0">
                              <a:effectLst/>
                              <a:latin typeface="Verdana" panose="020B0604030504040204" pitchFamily="34" charset="0"/>
                              <a:ea typeface="Verdana" panose="020B0604030504040204" pitchFamily="34" charset="0"/>
                              <a:cs typeface="Verdana" panose="020B0604030504040204" pitchFamily="34" charset="0"/>
                            </a:rPr>
                            <a:t>Flipped</a:t>
                          </a: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Outcomes in the Sample Space</a:t>
                          </a: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Likelihood of Getting All Heads</a:t>
                          </a: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648000">
                    <a:tc>
                      <a:txBody>
                        <a:bodyPr/>
                        <a:lstStyle/>
                        <a:p>
                          <a:endParaRPr lang="en-US"/>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57009" r="-200424" b="-298131"/>
                          </a:stretch>
                        </a:blipFill>
                      </a:tcPr>
                    </a:tc>
                    <a:tc>
                      <a:txBody>
                        <a:bodyPr/>
                        <a:lstStyle/>
                        <a:p>
                          <a:pPr marL="0" marR="34290" algn="ctr">
                            <a:spcBef>
                              <a:spcPts val="0"/>
                            </a:spcBef>
                            <a:spcAft>
                              <a:spcPts val="0"/>
                            </a:spcAft>
                          </a:pPr>
                          <a:r>
                            <a:rPr lang="en-US" sz="1600" dirty="0">
                              <a:effectLst/>
                            </a:rPr>
                            <a:t> </a:t>
                          </a:r>
                          <a:endParaRPr lang="en-US" sz="1100" dirty="0">
                            <a:effectLst/>
                            <a:latin typeface="Times New Roman" panose="02020603050405020304" pitchFamily="18" charset="0"/>
                            <a:ea typeface="Times New Roman" panose="020206030504050203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600">
                              <a:effectLst/>
                            </a:rPr>
                            <a:t> </a:t>
                          </a:r>
                          <a:endParaRPr lang="en-US" sz="1100">
                            <a:effectLst/>
                            <a:latin typeface="Times New Roman" panose="02020603050405020304" pitchFamily="18" charset="0"/>
                            <a:ea typeface="Times New Roman" panose="020206030504050203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648000">
                    <a:tc>
                      <a:txBody>
                        <a:bodyPr/>
                        <a:lstStyle/>
                        <a:p>
                          <a:endParaRPr lang="en-US"/>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259434" r="-200424" b="-200943"/>
                          </a:stretch>
                        </a:blipFill>
                      </a:tcPr>
                    </a:tc>
                    <a:tc>
                      <a:txBody>
                        <a:bodyPr/>
                        <a:lstStyle/>
                        <a:p>
                          <a:pPr marL="0" marR="34290" algn="ctr">
                            <a:spcBef>
                              <a:spcPts val="0"/>
                            </a:spcBef>
                            <a:spcAft>
                              <a:spcPts val="0"/>
                            </a:spcAft>
                          </a:pPr>
                          <a:r>
                            <a:rPr lang="en-US" sz="1600" dirty="0">
                              <a:effectLst/>
                            </a:rPr>
                            <a:t> </a:t>
                          </a:r>
                          <a:endParaRPr lang="en-US" sz="1100" dirty="0">
                            <a:effectLst/>
                            <a:latin typeface="Times New Roman" panose="02020603050405020304" pitchFamily="18" charset="0"/>
                            <a:ea typeface="Times New Roman" panose="020206030504050203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600">
                              <a:effectLst/>
                            </a:rPr>
                            <a:t> </a:t>
                          </a:r>
                          <a:endParaRPr lang="en-US" sz="1100">
                            <a:effectLst/>
                            <a:latin typeface="Times New Roman" panose="02020603050405020304" pitchFamily="18" charset="0"/>
                            <a:ea typeface="Times New Roman" panose="020206030504050203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r h="648000">
                    <a:tc>
                      <a:txBody>
                        <a:bodyPr/>
                        <a:lstStyle/>
                        <a:p>
                          <a:endParaRPr lang="en-US"/>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356075" r="-200424" b="-99065"/>
                          </a:stretch>
                        </a:blipFill>
                      </a:tcPr>
                    </a:tc>
                    <a:tc>
                      <a:txBody>
                        <a:bodyPr/>
                        <a:lstStyle/>
                        <a:p>
                          <a:pPr marL="0" marR="34290" algn="ctr">
                            <a:spcBef>
                              <a:spcPts val="0"/>
                            </a:spcBef>
                            <a:spcAft>
                              <a:spcPts val="0"/>
                            </a:spcAft>
                          </a:pPr>
                          <a:r>
                            <a:rPr lang="en-US" sz="1600" dirty="0">
                              <a:effectLst/>
                            </a:rPr>
                            <a:t> </a:t>
                          </a:r>
                          <a:endParaRPr lang="en-US" sz="1100" dirty="0">
                            <a:effectLst/>
                            <a:latin typeface="Times New Roman" panose="02020603050405020304" pitchFamily="18" charset="0"/>
                            <a:ea typeface="Times New Roman" panose="020206030504050203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600">
                              <a:effectLst/>
                            </a:rPr>
                            <a:t> </a:t>
                          </a:r>
                          <a:endParaRPr lang="en-US" sz="1100">
                            <a:effectLst/>
                            <a:latin typeface="Times New Roman" panose="02020603050405020304" pitchFamily="18" charset="0"/>
                            <a:ea typeface="Times New Roman" panose="020206030504050203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r h="648000">
                    <a:tc>
                      <a:txBody>
                        <a:bodyPr/>
                        <a:lstStyle/>
                        <a:p>
                          <a:endParaRPr lang="en-US"/>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460377" r="-200424"/>
                          </a:stretch>
                        </a:blipFill>
                      </a:tcPr>
                    </a:tc>
                    <a:tc>
                      <a:txBody>
                        <a:bodyPr/>
                        <a:lstStyle/>
                        <a:p>
                          <a:pPr marL="0" marR="34290" algn="ctr">
                            <a:spcBef>
                              <a:spcPts val="0"/>
                            </a:spcBef>
                            <a:spcAft>
                              <a:spcPts val="0"/>
                            </a:spcAft>
                          </a:pPr>
                          <a:r>
                            <a:rPr lang="en-US" sz="1600" dirty="0">
                              <a:effectLst/>
                            </a:rPr>
                            <a:t> </a:t>
                          </a:r>
                          <a:endParaRPr lang="en-US" sz="1100" dirty="0">
                            <a:effectLst/>
                            <a:latin typeface="Times New Roman" panose="02020603050405020304" pitchFamily="18" charset="0"/>
                            <a:ea typeface="Times New Roman" panose="020206030504050203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600" dirty="0">
                              <a:effectLst/>
                            </a:rPr>
                            <a:t> </a:t>
                          </a:r>
                          <a:endParaRPr lang="en-US" sz="1100" dirty="0">
                            <a:effectLst/>
                            <a:latin typeface="Times New Roman" panose="02020603050405020304" pitchFamily="18" charset="0"/>
                            <a:ea typeface="Times New Roman" panose="02020603050405020304" pitchFamily="18" charset="0"/>
                            <a:cs typeface="Cambria" panose="02040503050406030204" pitchFamily="18" charset="0"/>
                          </a:endParaRPr>
                        </a:p>
                      </a:txBody>
                      <a:tcPr marL="60389" marR="603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4"/>
                      </a:ext>
                    </a:extLst>
                  </a:tr>
                </a:tbl>
              </a:graphicData>
            </a:graphic>
          </p:graphicFrame>
        </mc:Fallback>
      </mc:AlternateContent>
      <p:sp>
        <p:nvSpPr>
          <p:cNvPr id="7"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310</a:t>
            </a:r>
            <a:endParaRPr i="1" dirty="0">
              <a:latin typeface="Calibri"/>
              <a:ea typeface="Calibri"/>
              <a:cs typeface="Calibri"/>
              <a:sym typeface="Calibri"/>
            </a:endParaRPr>
          </a:p>
        </p:txBody>
      </p:sp>
    </p:spTree>
    <p:extLst>
      <p:ext uri="{BB962C8B-B14F-4D97-AF65-F5344CB8AC3E}">
        <p14:creationId xmlns:p14="http://schemas.microsoft.com/office/powerpoint/2010/main" val="3720917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 xmlns:a16="http://schemas.microsoft.com/office/drawing/2014/main" id="{2FA392D8-3ED3-7940-83A8-1451AA8A08D4}"/>
              </a:ext>
            </a:extLst>
          </p:cNvPr>
          <p:cNvSpPr txBox="1"/>
          <p:nvPr/>
        </p:nvSpPr>
        <p:spPr>
          <a:xfrm>
            <a:off x="544470" y="384258"/>
            <a:ext cx="10808677" cy="2800767"/>
          </a:xfrm>
          <a:prstGeom prst="rect">
            <a:avLst/>
          </a:prstGeom>
          <a:noFill/>
        </p:spPr>
        <p:txBody>
          <a:bodyPr wrap="square" rtlCol="0">
            <a:spAutoFit/>
          </a:bodyPr>
          <a:lstStyle/>
          <a:p>
            <a:pPr marL="457200" indent="-457200">
              <a:buFont typeface="+mj-lt"/>
              <a:buAutoNum type="arabicPeriod" startAt="6"/>
            </a:pPr>
            <a:r>
              <a:rPr lang="en-US" sz="2200" dirty="0">
                <a:latin typeface="Verdana" panose="020B0604030504040204" pitchFamily="34" charset="0"/>
                <a:ea typeface="Verdana" panose="020B0604030504040204" pitchFamily="34" charset="0"/>
                <a:cs typeface="Verdana" panose="020B0604030504040204" pitchFamily="34" charset="0"/>
              </a:rPr>
              <a:t>Use the table above to make a prediction about how the sample space and likelihood of getting all heads will change when </a:t>
            </a:r>
            <a:r>
              <a:rPr lang="en-US" sz="2200" i="1" dirty="0">
                <a:latin typeface="Verdana" panose="020B0604030504040204" pitchFamily="34" charset="0"/>
                <a:ea typeface="Verdana" panose="020B0604030504040204" pitchFamily="34" charset="0"/>
                <a:cs typeface="Verdana" panose="020B0604030504040204" pitchFamily="34" charset="0"/>
              </a:rPr>
              <a:t>four</a:t>
            </a:r>
            <a:r>
              <a:rPr lang="en-US" sz="2200" dirty="0">
                <a:latin typeface="Verdana" panose="020B0604030504040204" pitchFamily="34" charset="0"/>
                <a:ea typeface="Verdana" panose="020B0604030504040204" pitchFamily="34" charset="0"/>
                <a:cs typeface="Verdana" panose="020B0604030504040204" pitchFamily="34" charset="0"/>
              </a:rPr>
              <a:t> fair coins are flipped.</a:t>
            </a:r>
          </a:p>
          <a:p>
            <a:r>
              <a:rPr lang="en-US" sz="2200" dirty="0">
                <a:latin typeface="Verdana" panose="020B0604030504040204" pitchFamily="34" charset="0"/>
                <a:ea typeface="Verdana" panose="020B0604030504040204" pitchFamily="34" charset="0"/>
                <a:cs typeface="Verdana" panose="020B0604030504040204" pitchFamily="34" charset="0"/>
              </a:rPr>
              <a:t> </a:t>
            </a:r>
          </a:p>
          <a:p>
            <a:r>
              <a:rPr lang="en-US" sz="2200" dirty="0">
                <a:latin typeface="Verdana" panose="020B0604030504040204" pitchFamily="34" charset="0"/>
                <a:ea typeface="Verdana" panose="020B0604030504040204" pitchFamily="34" charset="0"/>
                <a:cs typeface="Verdana" panose="020B0604030504040204" pitchFamily="34" charset="0"/>
              </a:rPr>
              <a:t> </a:t>
            </a:r>
          </a:p>
          <a:p>
            <a:r>
              <a:rPr lang="en-US" sz="2200" dirty="0">
                <a:latin typeface="Verdana" panose="020B0604030504040204" pitchFamily="34" charset="0"/>
                <a:ea typeface="Verdana" panose="020B0604030504040204" pitchFamily="34" charset="0"/>
                <a:cs typeface="Verdana" panose="020B0604030504040204" pitchFamily="34" charset="0"/>
              </a:rPr>
              <a:t> </a:t>
            </a:r>
          </a:p>
          <a:p>
            <a:r>
              <a:rPr lang="en-US" sz="2200" dirty="0">
                <a:latin typeface="Verdana" panose="020B0604030504040204" pitchFamily="34" charset="0"/>
                <a:ea typeface="Verdana" panose="020B0604030504040204" pitchFamily="34" charset="0"/>
                <a:cs typeface="Verdana" panose="020B0604030504040204" pitchFamily="34" charset="0"/>
              </a:rPr>
              <a:t>Flipping a fair coin multiple times is an example of a </a:t>
            </a:r>
            <a:r>
              <a:rPr lang="en-US" sz="2200" b="1" i="1" dirty="0">
                <a:latin typeface="Verdana" panose="020B0604030504040204" pitchFamily="34" charset="0"/>
                <a:ea typeface="Verdana" panose="020B0604030504040204" pitchFamily="34" charset="0"/>
                <a:cs typeface="Verdana" panose="020B0604030504040204" pitchFamily="34" charset="0"/>
              </a:rPr>
              <a:t>repeated experiment</a:t>
            </a:r>
            <a:r>
              <a:rPr lang="en-US" sz="2200" dirty="0">
                <a:latin typeface="Verdana" panose="020B0604030504040204" pitchFamily="34" charset="0"/>
                <a:ea typeface="Verdana" panose="020B0604030504040204" pitchFamily="34" charset="0"/>
                <a:cs typeface="Verdana" panose="020B0604030504040204" pitchFamily="34" charset="0"/>
              </a:rPr>
              <a:t>. Each repetition — in this case, a coin toss — is a trial. </a:t>
            </a:r>
          </a:p>
        </p:txBody>
      </p:sp>
      <p:sp>
        <p:nvSpPr>
          <p:cNvPr id="6" name="Google Shape;278;g104476d1465_1_17">
            <a:extLst>
              <a:ext uri="{FF2B5EF4-FFF2-40B4-BE49-F238E27FC236}">
                <a16:creationId xmlns="" xmlns:a16="http://schemas.microsoft.com/office/drawing/2014/main" id="{8221DE51-EC2A-7749-BA7C-D69EC4B3B96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7" name="Group 6"/>
          <p:cNvGrpSpPr/>
          <p:nvPr/>
        </p:nvGrpSpPr>
        <p:grpSpPr>
          <a:xfrm>
            <a:off x="2781300" y="4336214"/>
            <a:ext cx="6629400" cy="1122680"/>
            <a:chOff x="2031300" y="3373599"/>
            <a:chExt cx="6629400" cy="1122745"/>
          </a:xfrm>
        </p:grpSpPr>
        <p:sp>
          <p:nvSpPr>
            <p:cNvPr id="8" name="Rectangle 7"/>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9" name="Group 8"/>
            <p:cNvGrpSpPr/>
            <p:nvPr/>
          </p:nvGrpSpPr>
          <p:grpSpPr>
            <a:xfrm>
              <a:off x="2031300" y="3373599"/>
              <a:ext cx="6629400" cy="1122745"/>
              <a:chOff x="0" y="-1"/>
              <a:chExt cx="6629400" cy="1122745"/>
            </a:xfrm>
          </p:grpSpPr>
          <p:sp>
            <p:nvSpPr>
              <p:cNvPr id="10" name="Rectangle 9"/>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sp>
            <p:nvSpPr>
              <p:cNvPr id="11" name="Rounded Rectangle 10"/>
              <p:cNvSpPr/>
              <p:nvPr/>
            </p:nvSpPr>
            <p:spPr>
              <a:xfrm>
                <a:off x="0" y="-1"/>
                <a:ext cx="6629400" cy="1122745"/>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repeated experiment</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random experiment done with the same conditions and parameters as a previous one.</a:t>
                </a:r>
                <a:endParaRPr lang="en-US" sz="2000" dirty="0">
                  <a:latin typeface="Times New Roman" panose="02020603050405020304" pitchFamily="18" charset="0"/>
                  <a:ea typeface="Times New Roman" panose="02020603050405020304" pitchFamily="18" charset="0"/>
                </a:endParaRPr>
              </a:p>
            </p:txBody>
          </p:sp>
          <p:pic>
            <p:nvPicPr>
              <p:cNvPr id="13" name="Shape 7"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38545" y="183807"/>
                <a:ext cx="539750" cy="539750"/>
              </a:xfrm>
              <a:prstGeom prst="rect">
                <a:avLst/>
              </a:prstGeom>
              <a:noFill/>
              <a:ln>
                <a:noFill/>
              </a:ln>
              <a:effectLst>
                <a:outerShdw blurRad="50800" dist="38100" dir="2700000" algn="tl" rotWithShape="0">
                  <a:prstClr val="black">
                    <a:alpha val="40000"/>
                  </a:prstClr>
                </a:outerShdw>
              </a:effectLst>
            </p:spPr>
          </p:pic>
        </p:grpSp>
      </p:grpSp>
      <p:sp>
        <p:nvSpPr>
          <p:cNvPr id="15"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310</a:t>
            </a:r>
            <a:endParaRPr i="1" dirty="0">
              <a:latin typeface="Calibri"/>
              <a:ea typeface="Calibri"/>
              <a:cs typeface="Calibri"/>
              <a:sym typeface="Calibri"/>
            </a:endParaRPr>
          </a:p>
        </p:txBody>
      </p:sp>
    </p:spTree>
    <p:extLst>
      <p:ext uri="{BB962C8B-B14F-4D97-AF65-F5344CB8AC3E}">
        <p14:creationId xmlns:p14="http://schemas.microsoft.com/office/powerpoint/2010/main" val="1276999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484791"/>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 xmlns:a16="http://schemas.microsoft.com/office/drawing/2014/main" id="{2AC58C8F-2DD8-F347-9ECA-58EE9E1B7E9C}"/>
              </a:ext>
            </a:extLst>
          </p:cNvPr>
          <p:cNvPicPr preferRelativeResize="0"/>
          <p:nvPr/>
        </p:nvPicPr>
        <p:blipFill rotWithShape="1">
          <a:blip r:embed="rId4">
            <a:alphaModFix/>
          </a:blip>
          <a:srcRect/>
          <a:stretch/>
        </p:blipFill>
        <p:spPr>
          <a:xfrm>
            <a:off x="4519075" y="2568566"/>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311</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270416" y="-17077"/>
            <a:ext cx="10887716" cy="135868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14.1.4 Guided Instruction: Tree Diagrams</a:t>
            </a:r>
          </a:p>
        </p:txBody>
      </p:sp>
      <p:pic>
        <p:nvPicPr>
          <p:cNvPr id="9" name="Google Shape;345;g103996e1364_0_321">
            <a:extLst>
              <a:ext uri="{FF2B5EF4-FFF2-40B4-BE49-F238E27FC236}">
                <a16:creationId xmlns="" xmlns:a16="http://schemas.microsoft.com/office/drawing/2014/main" id="{CBDD45DF-949B-9F42-BFF6-A7167F0CF795}"/>
              </a:ext>
            </a:extLst>
          </p:cNvPr>
          <p:cNvPicPr preferRelativeResize="0"/>
          <p:nvPr/>
        </p:nvPicPr>
        <p:blipFill rotWithShape="1">
          <a:blip r:embed="rId3">
            <a:alphaModFix/>
          </a:blip>
          <a:srcRect/>
          <a:stretch/>
        </p:blipFill>
        <p:spPr>
          <a:xfrm>
            <a:off x="452816" y="288615"/>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 xmlns:a16="http://schemas.microsoft.com/office/drawing/2014/main" id="{C01B13E8-EC8D-E443-A329-C5E3593DD13A}"/>
              </a:ext>
            </a:extLst>
          </p:cNvPr>
          <p:cNvSpPr txBox="1"/>
          <p:nvPr/>
        </p:nvSpPr>
        <p:spPr>
          <a:xfrm>
            <a:off x="541810" y="1467539"/>
            <a:ext cx="10703169" cy="286232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In addition to making a list, tree diagrams can also be used to determine the sample space for a repeated experiment.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Follow the prompts below to complete a tree diagram showing all possible outcomes when a fair coin is flipped two times</a:t>
            </a:r>
          </a:p>
        </p:txBody>
      </p:sp>
      <p:sp>
        <p:nvSpPr>
          <p:cNvPr id="8" name="Google Shape;278;g104476d1465_1_17">
            <a:extLst>
              <a:ext uri="{FF2B5EF4-FFF2-40B4-BE49-F238E27FC236}">
                <a16:creationId xmlns="" xmlns:a16="http://schemas.microsoft.com/office/drawing/2014/main" id="{AE4FE736-A36F-DC4F-BDE9-72EF780E2083}"/>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10" name="Group 9"/>
          <p:cNvGrpSpPr/>
          <p:nvPr/>
        </p:nvGrpSpPr>
        <p:grpSpPr>
          <a:xfrm>
            <a:off x="2781300" y="2394510"/>
            <a:ext cx="6629400" cy="1008380"/>
            <a:chOff x="2031300" y="3275735"/>
            <a:chExt cx="6629400" cy="1008530"/>
          </a:xfrm>
        </p:grpSpPr>
        <p:grpSp>
          <p:nvGrpSpPr>
            <p:cNvPr id="11" name="Group 10"/>
            <p:cNvGrpSpPr/>
            <p:nvPr/>
          </p:nvGrpSpPr>
          <p:grpSpPr>
            <a:xfrm>
              <a:off x="2031300" y="3275735"/>
              <a:ext cx="6629400" cy="1008530"/>
              <a:chOff x="2031300" y="3275735"/>
              <a:chExt cx="6629400" cy="1008530"/>
            </a:xfrm>
          </p:grpSpPr>
          <p:sp>
            <p:nvSpPr>
              <p:cNvPr id="14" name="Rectangle 13"/>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5" name="Group 14"/>
              <p:cNvGrpSpPr/>
              <p:nvPr/>
            </p:nvGrpSpPr>
            <p:grpSpPr>
              <a:xfrm>
                <a:off x="2031300" y="3275735"/>
                <a:ext cx="6629400" cy="1008530"/>
                <a:chOff x="2031300" y="3275735"/>
                <a:chExt cx="6629400" cy="1008530"/>
              </a:xfrm>
            </p:grpSpPr>
            <p:sp>
              <p:nvSpPr>
                <p:cNvPr id="16" name="Rectangle 15"/>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7" name="Group 16"/>
                <p:cNvGrpSpPr/>
                <p:nvPr/>
              </p:nvGrpSpPr>
              <p:grpSpPr>
                <a:xfrm>
                  <a:off x="2031300" y="3275735"/>
                  <a:ext cx="6629400" cy="1008530"/>
                  <a:chOff x="2031300" y="3275735"/>
                  <a:chExt cx="6629400" cy="1008530"/>
                </a:xfrm>
              </p:grpSpPr>
              <p:sp>
                <p:nvSpPr>
                  <p:cNvPr id="18" name="Rectangle 17"/>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9" name="Group 18"/>
                  <p:cNvGrpSpPr/>
                  <p:nvPr/>
                </p:nvGrpSpPr>
                <p:grpSpPr>
                  <a:xfrm>
                    <a:off x="2031300" y="3275735"/>
                    <a:ext cx="6629400" cy="1008530"/>
                    <a:chOff x="2031300" y="3275735"/>
                    <a:chExt cx="6629400" cy="1008530"/>
                  </a:xfrm>
                </p:grpSpPr>
                <p:sp>
                  <p:nvSpPr>
                    <p:cNvPr id="20" name="Rectangle 19"/>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1" name="Group 20"/>
                    <p:cNvGrpSpPr/>
                    <p:nvPr/>
                  </p:nvGrpSpPr>
                  <p:grpSpPr>
                    <a:xfrm>
                      <a:off x="2031300" y="3275735"/>
                      <a:ext cx="6629400" cy="1008530"/>
                      <a:chOff x="2031300" y="3275735"/>
                      <a:chExt cx="6629400" cy="1008530"/>
                    </a:xfrm>
                  </p:grpSpPr>
                  <p:sp>
                    <p:nvSpPr>
                      <p:cNvPr id="22" name="Rectangle 21"/>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3" name="Group 22"/>
                      <p:cNvGrpSpPr/>
                      <p:nvPr/>
                    </p:nvGrpSpPr>
                    <p:grpSpPr>
                      <a:xfrm>
                        <a:off x="2031300" y="3275735"/>
                        <a:ext cx="6629400" cy="1008530"/>
                        <a:chOff x="2031300" y="3275735"/>
                        <a:chExt cx="6629400" cy="1008530"/>
                      </a:xfrm>
                    </p:grpSpPr>
                    <p:sp>
                      <p:nvSpPr>
                        <p:cNvPr id="24" name="Rectangle 23"/>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5" name="Group 24"/>
                        <p:cNvGrpSpPr/>
                        <p:nvPr/>
                      </p:nvGrpSpPr>
                      <p:grpSpPr>
                        <a:xfrm>
                          <a:off x="2031300" y="3275735"/>
                          <a:ext cx="6629400" cy="1008530"/>
                          <a:chOff x="2031300" y="3275735"/>
                          <a:chExt cx="6629400" cy="1008530"/>
                        </a:xfrm>
                      </p:grpSpPr>
                      <p:sp>
                        <p:nvSpPr>
                          <p:cNvPr id="26" name="Rectangle 25"/>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7" name="Group 26"/>
                          <p:cNvGrpSpPr/>
                          <p:nvPr/>
                        </p:nvGrpSpPr>
                        <p:grpSpPr>
                          <a:xfrm>
                            <a:off x="2031300" y="3275735"/>
                            <a:ext cx="6629400" cy="1008530"/>
                            <a:chOff x="2031300" y="3275735"/>
                            <a:chExt cx="6629400" cy="1008530"/>
                          </a:xfrm>
                        </p:grpSpPr>
                        <p:sp>
                          <p:nvSpPr>
                            <p:cNvPr id="28" name="Rectangle 27"/>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9" name="Group 28"/>
                            <p:cNvGrpSpPr/>
                            <p:nvPr/>
                          </p:nvGrpSpPr>
                          <p:grpSpPr>
                            <a:xfrm>
                              <a:off x="2031300" y="3275735"/>
                              <a:ext cx="6629400" cy="1008530"/>
                              <a:chOff x="0" y="0"/>
                              <a:chExt cx="6629400" cy="1008530"/>
                            </a:xfrm>
                          </p:grpSpPr>
                          <p:sp>
                            <p:nvSpPr>
                              <p:cNvPr id="30" name="Rectangle 29"/>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31" name="Group 30"/>
                              <p:cNvGrpSpPr/>
                              <p:nvPr/>
                            </p:nvGrpSpPr>
                            <p:grpSpPr>
                              <a:xfrm>
                                <a:off x="0" y="0"/>
                                <a:ext cx="6629400" cy="1008530"/>
                                <a:chOff x="0" y="0"/>
                                <a:chExt cx="6629400" cy="1008530"/>
                              </a:xfrm>
                            </p:grpSpPr>
                            <p:sp>
                              <p:nvSpPr>
                                <p:cNvPr id="33" name="Rectangle 32"/>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sp>
                              <p:nvSpPr>
                                <p:cNvPr id="34" name="Rectangle 33"/>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sp>
                              <p:nvSpPr>
                                <p:cNvPr id="35" name="Rounded Rectangle 34"/>
                                <p:cNvSpPr/>
                                <p:nvPr/>
                              </p:nvSpPr>
                              <p:spPr>
                                <a:xfrm>
                                  <a:off x="0" y="0"/>
                                  <a:ext cx="6629400" cy="1008530"/>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r>
                                    <a:rPr lang="en-US" sz="2000" dirty="0">
                                      <a:solidFill>
                                        <a:srgbClr val="26619A"/>
                                      </a:solidFill>
                                      <a:latin typeface="Verdana" panose="020B0604030504040204" pitchFamily="34" charset="0"/>
                                      <a:ea typeface="Times New Roman" panose="02020603050405020304" pitchFamily="18" charset="0"/>
                                    </a:rPr>
                                    <a:t>This display is called a </a:t>
                                  </a:r>
                                  <a:r>
                                    <a:rPr lang="en-US" sz="2000" b="1" dirty="0">
                                      <a:solidFill>
                                        <a:srgbClr val="26619A"/>
                                      </a:solidFill>
                                      <a:latin typeface="Verdana" panose="020B0604030504040204" pitchFamily="34" charset="0"/>
                                      <a:ea typeface="Times New Roman" panose="02020603050405020304" pitchFamily="18" charset="0"/>
                                    </a:rPr>
                                    <a:t>tree diagram,</a:t>
                                  </a:r>
                                  <a:r>
                                    <a:rPr lang="en-US" sz="2000" dirty="0">
                                      <a:solidFill>
                                        <a:srgbClr val="26619A"/>
                                      </a:solidFill>
                                      <a:latin typeface="Verdana" panose="020B0604030504040204" pitchFamily="34" charset="0"/>
                                      <a:ea typeface="Times New Roman" panose="02020603050405020304" pitchFamily="18" charset="0"/>
                                    </a:rPr>
                                    <a:t> and it helps visualize the sample space.</a:t>
                                  </a:r>
                                  <a:endParaRPr lang="en-US" sz="2000" dirty="0">
                                    <a:latin typeface="Times New Roman" panose="02020603050405020304" pitchFamily="18" charset="0"/>
                                    <a:ea typeface="Times New Roman" panose="02020603050405020304" pitchFamily="18" charset="0"/>
                                  </a:endParaRPr>
                                </a:p>
                              </p:txBody>
                            </p:sp>
                          </p:grpSp>
                          <p:pic>
                            <p:nvPicPr>
                              <p:cNvPr id="32" name="Shape 55"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42400" y="159546"/>
                                <a:ext cx="539750" cy="539750"/>
                              </a:xfrm>
                              <a:prstGeom prst="rect">
                                <a:avLst/>
                              </a:prstGeom>
                              <a:noFill/>
                              <a:ln>
                                <a:noFill/>
                              </a:ln>
                              <a:effectLst>
                                <a:outerShdw blurRad="50800" dist="38100" dir="2700000" algn="tl" rotWithShape="0">
                                  <a:prstClr val="black">
                                    <a:alpha val="40000"/>
                                  </a:prstClr>
                                </a:outerShdw>
                              </a:effectLst>
                            </p:spPr>
                          </p:pic>
                        </p:grpSp>
                      </p:grpSp>
                    </p:grpSp>
                  </p:grpSp>
                </p:grpSp>
              </p:grpSp>
            </p:grpSp>
          </p:grpSp>
        </p:grpSp>
      </p:grpSp>
      <p:pic>
        <p:nvPicPr>
          <p:cNvPr id="2" name="Picture 1"/>
          <p:cNvPicPr>
            <a:picLocks noChangeAspect="1"/>
          </p:cNvPicPr>
          <p:nvPr/>
        </p:nvPicPr>
        <p:blipFill>
          <a:blip r:embed="rId5"/>
          <a:stretch>
            <a:fillRect/>
          </a:stretch>
        </p:blipFill>
        <p:spPr>
          <a:xfrm>
            <a:off x="3445694" y="4427976"/>
            <a:ext cx="4895400" cy="2365265"/>
          </a:xfrm>
          <a:prstGeom prst="rect">
            <a:avLst/>
          </a:prstGeom>
        </p:spPr>
      </p:pic>
      <p:pic>
        <p:nvPicPr>
          <p:cNvPr id="37" name="Google Shape;311;g104476d1465_1_39"/>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311</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 xmlns:a16="http://schemas.microsoft.com/office/drawing/2014/main" id="{2FA392D8-3ED3-7940-83A8-1451AA8A08D4}"/>
              </a:ext>
            </a:extLst>
          </p:cNvPr>
          <p:cNvSpPr txBox="1"/>
          <p:nvPr/>
        </p:nvSpPr>
        <p:spPr>
          <a:xfrm>
            <a:off x="537959" y="382893"/>
            <a:ext cx="10421815" cy="3170099"/>
          </a:xfrm>
          <a:prstGeom prst="rect">
            <a:avLst/>
          </a:prstGeom>
          <a:noFill/>
        </p:spPr>
        <p:txBody>
          <a:bodyPr wrap="square" rtlCol="0">
            <a:spAutoFit/>
          </a:bodyPr>
          <a:lstStyle/>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Write the possible outcomes for the first coin toss.</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b.	Write the possible outcomes for the second coin toss.</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c.	Write the sample space.</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d.	Complete the table.</a:t>
            </a:r>
          </a:p>
        </p:txBody>
      </p:sp>
      <p:sp>
        <p:nvSpPr>
          <p:cNvPr id="6" name="Google Shape;278;g104476d1465_1_17">
            <a:extLst>
              <a:ext uri="{FF2B5EF4-FFF2-40B4-BE49-F238E27FC236}">
                <a16:creationId xmlns="" xmlns:a16="http://schemas.microsoft.com/office/drawing/2014/main" id="{D351BC34-60FF-984A-AE0C-5354282DEDAC}"/>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2361292018"/>
              </p:ext>
            </p:extLst>
          </p:nvPr>
        </p:nvGraphicFramePr>
        <p:xfrm>
          <a:off x="1651640" y="3671519"/>
          <a:ext cx="9460360" cy="2439569"/>
        </p:xfrm>
        <a:graphic>
          <a:graphicData uri="http://schemas.openxmlformats.org/drawingml/2006/table">
            <a:tbl>
              <a:tblPr firstRow="1" firstCol="1" bandRow="1">
                <a:tableStyleId>{5940675A-B579-460E-94D1-54222C63F5DA}</a:tableStyleId>
              </a:tblPr>
              <a:tblGrid>
                <a:gridCol w="1900360">
                  <a:extLst>
                    <a:ext uri="{9D8B030D-6E8A-4147-A177-3AD203B41FA5}">
                      <a16:colId xmlns="" xmlns:a16="http://schemas.microsoft.com/office/drawing/2014/main" val="20000"/>
                    </a:ext>
                  </a:extLst>
                </a:gridCol>
                <a:gridCol w="2520000">
                  <a:extLst>
                    <a:ext uri="{9D8B030D-6E8A-4147-A177-3AD203B41FA5}">
                      <a16:colId xmlns="" xmlns:a16="http://schemas.microsoft.com/office/drawing/2014/main" val="20001"/>
                    </a:ext>
                  </a:extLst>
                </a:gridCol>
                <a:gridCol w="2520000">
                  <a:extLst>
                    <a:ext uri="{9D8B030D-6E8A-4147-A177-3AD203B41FA5}">
                      <a16:colId xmlns="" xmlns:a16="http://schemas.microsoft.com/office/drawing/2014/main" val="20002"/>
                    </a:ext>
                  </a:extLst>
                </a:gridCol>
                <a:gridCol w="2520000">
                  <a:extLst>
                    <a:ext uri="{9D8B030D-6E8A-4147-A177-3AD203B41FA5}">
                      <a16:colId xmlns="" xmlns:a16="http://schemas.microsoft.com/office/drawing/2014/main" val="20003"/>
                    </a:ext>
                  </a:extLst>
                </a:gridCol>
              </a:tblGrid>
              <a:tr h="1080000">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Experiment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Outcomes in the First Step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Outcomes in the Second Step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Total Number of Outcomes in the Sample Space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1359569">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Flipping a fair coin two times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p:pic>
        <p:nvPicPr>
          <p:cNvPr id="8"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311</a:t>
            </a:r>
            <a:endParaRPr i="1" dirty="0">
              <a:latin typeface="Calibri"/>
              <a:ea typeface="Calibri"/>
              <a:cs typeface="Calibri"/>
              <a:sym typeface="Calibri"/>
            </a:endParaRPr>
          </a:p>
        </p:txBody>
      </p:sp>
    </p:spTree>
    <p:extLst>
      <p:ext uri="{BB962C8B-B14F-4D97-AF65-F5344CB8AC3E}">
        <p14:creationId xmlns:p14="http://schemas.microsoft.com/office/powerpoint/2010/main" val="4194994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 xmlns:a16="http://schemas.microsoft.com/office/drawing/2014/main" id="{2FA392D8-3ED3-7940-83A8-1451AA8A08D4}"/>
              </a:ext>
            </a:extLst>
          </p:cNvPr>
          <p:cNvSpPr txBox="1"/>
          <p:nvPr/>
        </p:nvSpPr>
        <p:spPr>
          <a:xfrm>
            <a:off x="542721" y="381669"/>
            <a:ext cx="10525818" cy="1938992"/>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Suppose a fair coin is tossed three times.</a:t>
            </a:r>
          </a:p>
          <a:p>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Create a tree diagram to determine the sample space of flipping a fair coin three times.</a:t>
            </a:r>
          </a:p>
        </p:txBody>
      </p:sp>
      <p:sp>
        <p:nvSpPr>
          <p:cNvPr id="6" name="Google Shape;278;g104476d1465_1_17">
            <a:extLst>
              <a:ext uri="{FF2B5EF4-FFF2-40B4-BE49-F238E27FC236}">
                <a16:creationId xmlns="" xmlns:a16="http://schemas.microsoft.com/office/drawing/2014/main" id="{8221DE51-EC2A-7749-BA7C-D69EC4B3B96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8"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311</a:t>
            </a:r>
            <a:endParaRPr i="1" dirty="0">
              <a:latin typeface="Calibri"/>
              <a:ea typeface="Calibri"/>
              <a:cs typeface="Calibri"/>
              <a:sym typeface="Calibri"/>
            </a:endParaRPr>
          </a:p>
        </p:txBody>
      </p:sp>
    </p:spTree>
    <p:extLst>
      <p:ext uri="{BB962C8B-B14F-4D97-AF65-F5344CB8AC3E}">
        <p14:creationId xmlns:p14="http://schemas.microsoft.com/office/powerpoint/2010/main" val="999108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 xmlns:a16="http://schemas.microsoft.com/office/drawing/2014/main" id="{2FA392D8-3ED3-7940-83A8-1451AA8A08D4}"/>
              </a:ext>
            </a:extLst>
          </p:cNvPr>
          <p:cNvSpPr txBox="1"/>
          <p:nvPr/>
        </p:nvSpPr>
        <p:spPr>
          <a:xfrm>
            <a:off x="542716" y="378395"/>
            <a:ext cx="9053926" cy="4477444"/>
          </a:xfrm>
          <a:prstGeom prst="rect">
            <a:avLst/>
          </a:prstGeom>
          <a:noFill/>
        </p:spPr>
        <p:txBody>
          <a:bodyPr wrap="square" rtlCol="0">
            <a:spAutoFit/>
          </a:bodyPr>
          <a:lstStyle/>
          <a:p>
            <a:pPr marL="914400" indent="-457200">
              <a:buFont typeface="+mj-lt"/>
              <a:buAutoNum type="alphaLcPeriod" startAt="2"/>
            </a:pPr>
            <a:r>
              <a:rPr lang="en-US" sz="2200" dirty="0">
                <a:latin typeface="Verdana" panose="020B0604030504040204" pitchFamily="34" charset="0"/>
                <a:ea typeface="Verdana" panose="020B0604030504040204" pitchFamily="34" charset="0"/>
                <a:cs typeface="Verdana" panose="020B0604030504040204" pitchFamily="34" charset="0"/>
              </a:rPr>
              <a:t>How many outcomes are in the sample space?</a:t>
            </a: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2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 xmlns:a16="http://schemas.microsoft.com/office/drawing/2014/main" id="{8221DE51-EC2A-7749-BA7C-D69EC4B3B96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7" name="Table 6"/>
          <p:cNvGraphicFramePr>
            <a:graphicFrameLocks noGrp="1"/>
          </p:cNvGraphicFramePr>
          <p:nvPr>
            <p:extLst>
              <p:ext uri="{D42A27DB-BD31-4B8C-83A1-F6EECF244321}">
                <p14:modId xmlns:p14="http://schemas.microsoft.com/office/powerpoint/2010/main" val="654039436"/>
              </p:ext>
            </p:extLst>
          </p:nvPr>
        </p:nvGraphicFramePr>
        <p:xfrm>
          <a:off x="1592582" y="917980"/>
          <a:ext cx="10108656" cy="3807228"/>
        </p:xfrm>
        <a:graphic>
          <a:graphicData uri="http://schemas.openxmlformats.org/drawingml/2006/table">
            <a:tbl>
              <a:tblPr firstRow="1" firstCol="1" bandRow="1">
                <a:tableStyleId>{5940675A-B579-460E-94D1-54222C63F5DA}</a:tableStyleId>
              </a:tblPr>
              <a:tblGrid>
                <a:gridCol w="1828656">
                  <a:extLst>
                    <a:ext uri="{9D8B030D-6E8A-4147-A177-3AD203B41FA5}">
                      <a16:colId xmlns="" xmlns:a16="http://schemas.microsoft.com/office/drawing/2014/main" val="20000"/>
                    </a:ext>
                  </a:extLst>
                </a:gridCol>
                <a:gridCol w="1800000">
                  <a:extLst>
                    <a:ext uri="{9D8B030D-6E8A-4147-A177-3AD203B41FA5}">
                      <a16:colId xmlns="" xmlns:a16="http://schemas.microsoft.com/office/drawing/2014/main" val="20001"/>
                    </a:ext>
                  </a:extLst>
                </a:gridCol>
                <a:gridCol w="2160000">
                  <a:extLst>
                    <a:ext uri="{9D8B030D-6E8A-4147-A177-3AD203B41FA5}">
                      <a16:colId xmlns="" xmlns:a16="http://schemas.microsoft.com/office/drawing/2014/main" val="20002"/>
                    </a:ext>
                  </a:extLst>
                </a:gridCol>
                <a:gridCol w="2160000">
                  <a:extLst>
                    <a:ext uri="{9D8B030D-6E8A-4147-A177-3AD203B41FA5}">
                      <a16:colId xmlns="" xmlns:a16="http://schemas.microsoft.com/office/drawing/2014/main" val="20003"/>
                    </a:ext>
                  </a:extLst>
                </a:gridCol>
                <a:gridCol w="2160000">
                  <a:extLst>
                    <a:ext uri="{9D8B030D-6E8A-4147-A177-3AD203B41FA5}">
                      <a16:colId xmlns="" xmlns:a16="http://schemas.microsoft.com/office/drawing/2014/main" val="20004"/>
                    </a:ext>
                  </a:extLst>
                </a:gridCol>
              </a:tblGrid>
              <a:tr h="2148290">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Experiment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Outcomes in the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First </a:t>
                      </a:r>
                      <a:r>
                        <a:rPr lang="en-US" sz="2000" b="1" dirty="0">
                          <a:effectLst/>
                          <a:latin typeface="Verdana" panose="020B0604030504040204" pitchFamily="34" charset="0"/>
                          <a:ea typeface="Verdana" panose="020B0604030504040204" pitchFamily="34" charset="0"/>
                          <a:cs typeface="Verdana" panose="020B0604030504040204" pitchFamily="34" charset="0"/>
                        </a:rPr>
                        <a:t>Step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Outcomes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in </a:t>
                      </a:r>
                      <a:r>
                        <a:rPr lang="en-US" sz="2000" b="1" dirty="0">
                          <a:effectLst/>
                          <a:latin typeface="Verdana" panose="020B0604030504040204" pitchFamily="34" charset="0"/>
                          <a:ea typeface="Verdana" panose="020B0604030504040204" pitchFamily="34" charset="0"/>
                          <a:cs typeface="Verdana" panose="020B0604030504040204" pitchFamily="34" charset="0"/>
                        </a:rPr>
                        <a:t>the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Second </a:t>
                      </a:r>
                      <a:r>
                        <a:rPr lang="en-US" sz="2000" b="1" dirty="0">
                          <a:effectLst/>
                          <a:latin typeface="Verdana" panose="020B0604030504040204" pitchFamily="34" charset="0"/>
                          <a:ea typeface="Verdana" panose="020B0604030504040204" pitchFamily="34" charset="0"/>
                          <a:cs typeface="Verdana" panose="020B0604030504040204" pitchFamily="34" charset="0"/>
                        </a:rPr>
                        <a:t>Step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Number of Outcomes </a:t>
                      </a:r>
                      <a:r>
                        <a:rPr lang="en-US" sz="2000" b="1"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br>
                      <a:r>
                        <a:rPr lang="en-US" sz="2000" b="1"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in </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the </a:t>
                      </a:r>
                      <a:r>
                        <a:rPr lang="en-US" sz="2000" b="1"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br>
                      <a:r>
                        <a:rPr lang="en-US" sz="2000" b="1"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Third </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Step</a:t>
                      </a:r>
                      <a:endParaRPr lang="en-US" sz="2000" dirty="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Total Number of Outcomes in the </a:t>
                      </a:r>
                      <a:r>
                        <a:rPr lang="en-US" sz="2000" b="1"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br>
                      <a:r>
                        <a:rPr lang="en-US" sz="2000" b="1"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Sample </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Space</a:t>
                      </a:r>
                      <a:endParaRPr lang="en-US" sz="2000" dirty="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1658938">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Flipping a fair coin three times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200" dirty="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200" dirty="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p:pic>
        <p:nvPicPr>
          <p:cNvPr id="9"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312</a:t>
            </a:r>
            <a:endParaRPr i="1" dirty="0">
              <a:latin typeface="Calibri"/>
              <a:ea typeface="Calibri"/>
              <a:cs typeface="Calibri"/>
              <a:sym typeface="Calibri"/>
            </a:endParaRPr>
          </a:p>
        </p:txBody>
      </p:sp>
    </p:spTree>
    <p:extLst>
      <p:ext uri="{BB962C8B-B14F-4D97-AF65-F5344CB8AC3E}">
        <p14:creationId xmlns:p14="http://schemas.microsoft.com/office/powerpoint/2010/main" val="34689335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 xmlns:a16="http://schemas.microsoft.com/office/drawing/2014/main" id="{2FA392D8-3ED3-7940-83A8-1451AA8A08D4}"/>
              </a:ext>
            </a:extLst>
          </p:cNvPr>
          <p:cNvSpPr txBox="1"/>
          <p:nvPr/>
        </p:nvSpPr>
        <p:spPr>
          <a:xfrm>
            <a:off x="541866" y="379044"/>
            <a:ext cx="10562492" cy="4401205"/>
          </a:xfrm>
          <a:prstGeom prst="rect">
            <a:avLst/>
          </a:prstGeom>
          <a:noFill/>
        </p:spPr>
        <p:txBody>
          <a:bodyPr wrap="square" rtlCol="0">
            <a:spAutoFit/>
          </a:bodyPr>
          <a:lstStyle/>
          <a:p>
            <a:pPr marL="457200"/>
            <a:r>
              <a:rPr lang="en-US" sz="2000" dirty="0">
                <a:latin typeface="Verdana" panose="020B0604030504040204" pitchFamily="34" charset="0"/>
                <a:ea typeface="Verdana" panose="020B0604030504040204" pitchFamily="34" charset="0"/>
                <a:cs typeface="Verdana" panose="020B0604030504040204" pitchFamily="34" charset="0"/>
              </a:rPr>
              <a:t>c. How many outcomes are in Event A = Flipping all heads? </a:t>
            </a:r>
          </a:p>
          <a:p>
            <a:pPr marL="914400" indent="-457200">
              <a:buFont typeface="+mj-lt"/>
              <a:buAutoNum type="alphaL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d. How many outcomes are in Event B =  Flipping exactly one head?</a:t>
            </a:r>
          </a:p>
          <a:p>
            <a:endParaRPr lang="en-US" sz="2000" dirty="0" smtClean="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Tree diagrams can also be set up horizontally.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The sample space for rolling a fair die two times can be displayed in a tree diagram. Complete the tree diagram for rolling a 3 on the first roll.</a:t>
            </a:r>
          </a:p>
        </p:txBody>
      </p:sp>
      <p:sp>
        <p:nvSpPr>
          <p:cNvPr id="6" name="Google Shape;278;g104476d1465_1_17">
            <a:extLst>
              <a:ext uri="{FF2B5EF4-FFF2-40B4-BE49-F238E27FC236}">
                <a16:creationId xmlns="" xmlns:a16="http://schemas.microsoft.com/office/drawing/2014/main" id="{8221DE51-EC2A-7749-BA7C-D69EC4B3B96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312</a:t>
            </a:r>
            <a:endParaRPr i="1" dirty="0">
              <a:latin typeface="Calibri"/>
              <a:ea typeface="Calibri"/>
              <a:cs typeface="Calibri"/>
              <a:sym typeface="Calibri"/>
            </a:endParaRPr>
          </a:p>
        </p:txBody>
      </p:sp>
    </p:spTree>
    <p:extLst>
      <p:ext uri="{BB962C8B-B14F-4D97-AF65-F5344CB8AC3E}">
        <p14:creationId xmlns:p14="http://schemas.microsoft.com/office/powerpoint/2010/main" val="3064571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 xmlns:a16="http://schemas.microsoft.com/office/drawing/2014/main" id="{8221DE51-EC2A-7749-BA7C-D69EC4B3B96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rotWithShape="1">
          <a:blip r:embed="rId3"/>
          <a:srcRect l="285"/>
          <a:stretch/>
        </p:blipFill>
        <p:spPr>
          <a:xfrm>
            <a:off x="3174206" y="137160"/>
            <a:ext cx="5860298" cy="6583680"/>
          </a:xfrm>
          <a:prstGeom prst="rect">
            <a:avLst/>
          </a:prstGeom>
        </p:spPr>
      </p:pic>
      <p:pic>
        <p:nvPicPr>
          <p:cNvPr id="8"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312</a:t>
            </a:r>
            <a:endParaRPr i="1" dirty="0">
              <a:latin typeface="Calibri"/>
              <a:ea typeface="Calibri"/>
              <a:cs typeface="Calibri"/>
              <a:sym typeface="Calibri"/>
            </a:endParaRPr>
          </a:p>
        </p:txBody>
      </p:sp>
    </p:spTree>
    <p:extLst>
      <p:ext uri="{BB962C8B-B14F-4D97-AF65-F5344CB8AC3E}">
        <p14:creationId xmlns:p14="http://schemas.microsoft.com/office/powerpoint/2010/main" val="24676441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41214" y="383080"/>
                <a:ext cx="11168186" cy="1785104"/>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This tree diagram only shows half of the sample space because it does not include the outcomes for rolling a </a:t>
                </a:r>
                <a14:m>
                  <m:oMath xmlns:m="http://schemas.openxmlformats.org/officeDocument/2006/math">
                    <m:r>
                      <a:rPr lang="en-US" sz="2200" i="1">
                        <a:latin typeface="Cambria Math" panose="02040503050406030204" pitchFamily="18" charset="0"/>
                        <a:ea typeface="Cambria Math" panose="02040503050406030204" pitchFamily="18" charset="0"/>
                      </a:rPr>
                      <m:t>4</m:t>
                    </m:r>
                  </m:oMath>
                </a14:m>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200" i="1">
                        <a:latin typeface="Cambria Math" panose="02040503050406030204" pitchFamily="18" charset="0"/>
                        <a:ea typeface="Cambria Math" panose="02040503050406030204" pitchFamily="18" charset="0"/>
                      </a:rPr>
                      <m:t>5</m:t>
                    </m:r>
                  </m:oMath>
                </a14:m>
                <a:r>
                  <a:rPr lang="en-US" sz="2200" dirty="0">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200" i="1">
                        <a:latin typeface="Cambria Math" panose="02040503050406030204" pitchFamily="18" charset="0"/>
                        <a:ea typeface="Cambria Math" panose="02040503050406030204" pitchFamily="18" charset="0"/>
                      </a:rPr>
                      <m:t>6</m:t>
                    </m:r>
                  </m:oMath>
                </a14:m>
                <a:r>
                  <a:rPr lang="en-US" sz="2200" dirty="0">
                    <a:latin typeface="Verdana" panose="020B0604030504040204" pitchFamily="34" charset="0"/>
                    <a:ea typeface="Verdana" panose="020B0604030504040204" pitchFamily="34" charset="0"/>
                    <a:cs typeface="Verdana" panose="020B0604030504040204" pitchFamily="34" charset="0"/>
                  </a:rPr>
                  <a:t> on the first roll, yet it fills at least half a page. Even though a tree diagram can take up a lot of space, they are especially useful because they can be used to determine the sample space for repeated experiments with any number of steps, not just two.</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41214" y="383080"/>
                <a:ext cx="11168186" cy="1785104"/>
              </a:xfrm>
              <a:prstGeom prst="rect">
                <a:avLst/>
              </a:prstGeom>
              <a:blipFill rotWithShape="1">
                <a:blip r:embed="rId3"/>
                <a:stretch>
                  <a:fillRect l="-710" t="-1706" r="-655" b="-6143"/>
                </a:stretch>
              </a:blipFill>
            </p:spPr>
            <p:txBody>
              <a:bodyPr/>
              <a:lstStyle/>
              <a:p>
                <a:r>
                  <a:rPr lang="en-PH">
                    <a:noFill/>
                  </a:rPr>
                  <a:t> </a:t>
                </a:r>
              </a:p>
            </p:txBody>
          </p:sp>
        </mc:Fallback>
      </mc:AlternateContent>
      <p:sp>
        <p:nvSpPr>
          <p:cNvPr id="6" name="Google Shape;278;g104476d1465_1_17">
            <a:extLst>
              <a:ext uri="{FF2B5EF4-FFF2-40B4-BE49-F238E27FC236}">
                <a16:creationId xmlns="" xmlns:a16="http://schemas.microsoft.com/office/drawing/2014/main" id="{8221DE51-EC2A-7749-BA7C-D69EC4B3B96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8"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312</a:t>
            </a:r>
            <a:endParaRPr i="1" dirty="0">
              <a:latin typeface="Calibri"/>
              <a:ea typeface="Calibri"/>
              <a:cs typeface="Calibri"/>
              <a:sym typeface="Calibri"/>
            </a:endParaRPr>
          </a:p>
        </p:txBody>
      </p:sp>
    </p:spTree>
    <p:extLst>
      <p:ext uri="{BB962C8B-B14F-4D97-AF65-F5344CB8AC3E}">
        <p14:creationId xmlns:p14="http://schemas.microsoft.com/office/powerpoint/2010/main" val="30697351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33"/>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313</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 xmlns:a16="http://schemas.microsoft.com/office/drawing/2014/main" id="{68C03D65-F0BF-3F41-B52A-024F47388982}"/>
              </a:ext>
            </a:extLst>
          </p:cNvPr>
          <p:cNvSpPr txBox="1">
            <a:spLocks/>
          </p:cNvSpPr>
          <p:nvPr/>
        </p:nvSpPr>
        <p:spPr>
          <a:xfrm>
            <a:off x="1259303" y="-58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14.1.5 Wrap-Up: Reflection</a:t>
            </a:r>
          </a:p>
        </p:txBody>
      </p:sp>
      <p:pic>
        <p:nvPicPr>
          <p:cNvPr id="9" name="Google Shape;458;g103996e1364_0_463">
            <a:extLst>
              <a:ext uri="{FF2B5EF4-FFF2-40B4-BE49-F238E27FC236}">
                <a16:creationId xmlns="" xmlns:a16="http://schemas.microsoft.com/office/drawing/2014/main" id="{EEA44D6C-2366-AC41-B1B5-EDDC34786A66}"/>
              </a:ext>
            </a:extLst>
          </p:cNvPr>
          <p:cNvPicPr preferRelativeResize="0"/>
          <p:nvPr/>
        </p:nvPicPr>
        <p:blipFill rotWithShape="1">
          <a:blip r:embed="rId4">
            <a:alphaModFix/>
          </a:blip>
          <a:srcRect/>
          <a:stretch/>
        </p:blipFill>
        <p:spPr>
          <a:xfrm>
            <a:off x="452816" y="28861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 xmlns:a16="http://schemas.microsoft.com/office/drawing/2014/main" id="{0370EDB7-6994-3D43-ABF9-E04CBAFB9CD9}"/>
              </a:ext>
            </a:extLst>
          </p:cNvPr>
          <p:cNvSpPr txBox="1"/>
          <p:nvPr/>
        </p:nvSpPr>
        <p:spPr>
          <a:xfrm>
            <a:off x="553590" y="1466046"/>
            <a:ext cx="10058400"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the scale below to rate your ability to determine the sample space of a random process. </a:t>
            </a:r>
          </a:p>
        </p:txBody>
      </p:sp>
      <p:sp>
        <p:nvSpPr>
          <p:cNvPr id="8" name="Google Shape;278;g104476d1465_1_17">
            <a:extLst>
              <a:ext uri="{FF2B5EF4-FFF2-40B4-BE49-F238E27FC236}">
                <a16:creationId xmlns="" xmlns:a16="http://schemas.microsoft.com/office/drawing/2014/main" id="{535320C0-DAB2-7C41-B3D0-5B31075C43FF}"/>
              </a:ext>
            </a:extLst>
          </p:cNvPr>
          <p:cNvSpPr/>
          <p:nvPr/>
        </p:nvSpPr>
        <p:spPr>
          <a:xfrm>
            <a:off x="0" y="3903"/>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099757" y="2322343"/>
            <a:ext cx="6966065" cy="1766972"/>
          </a:xfrm>
          <a:prstGeom prst="rect">
            <a:avLst/>
          </a:prstGeom>
        </p:spPr>
      </p:pic>
      <p:sp>
        <p:nvSpPr>
          <p:cNvPr id="3" name="Rectangle 2"/>
          <p:cNvSpPr/>
          <p:nvPr/>
        </p:nvSpPr>
        <p:spPr>
          <a:xfrm>
            <a:off x="2223840" y="4621103"/>
            <a:ext cx="3045113" cy="707886"/>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0 = I don’t know what a sample space is.</a:t>
            </a:r>
            <a:r>
              <a:rPr lang="en-US" dirty="0">
                <a:latin typeface="Verdana" panose="020B0604030504040204" pitchFamily="34" charset="0"/>
                <a:ea typeface="Times New Roman" panose="02020603050405020304" pitchFamily="18" charset="0"/>
              </a:rPr>
              <a:t>	</a:t>
            </a:r>
            <a:endParaRPr lang="en-US" sz="1050" dirty="0">
              <a:latin typeface="Times New Roman" panose="02020603050405020304" pitchFamily="18" charset="0"/>
              <a:ea typeface="Times New Roman" panose="02020603050405020304" pitchFamily="18" charset="0"/>
            </a:endParaRPr>
          </a:p>
        </p:txBody>
      </p:sp>
      <p:sp>
        <p:nvSpPr>
          <p:cNvPr id="4" name="Rectangle 3"/>
          <p:cNvSpPr/>
          <p:nvPr/>
        </p:nvSpPr>
        <p:spPr>
          <a:xfrm>
            <a:off x="5554501" y="4313327"/>
            <a:ext cx="3724102" cy="1323439"/>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10 = I can teach someone else how to determine the sample space of a random process.</a:t>
            </a:r>
            <a:endParaRPr lang="en-US" sz="2000" dirty="0"/>
          </a:p>
        </p:txBody>
      </p:sp>
      <p:sp>
        <p:nvSpPr>
          <p:cNvPr id="11"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313</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 xmlns:a16="http://schemas.microsoft.com/office/drawing/2014/main" id="{2FA392D8-3ED3-7940-83A8-1451AA8A08D4}"/>
              </a:ext>
            </a:extLst>
          </p:cNvPr>
          <p:cNvSpPr txBox="1"/>
          <p:nvPr/>
        </p:nvSpPr>
        <p:spPr>
          <a:xfrm>
            <a:off x="542620" y="379563"/>
            <a:ext cx="10056895" cy="769441"/>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What questions or comments do you have about determining the sample space of a random process?  </a:t>
            </a:r>
          </a:p>
        </p:txBody>
      </p:sp>
      <p:sp>
        <p:nvSpPr>
          <p:cNvPr id="6" name="Google Shape;278;g104476d1465_1_17">
            <a:extLst>
              <a:ext uri="{FF2B5EF4-FFF2-40B4-BE49-F238E27FC236}">
                <a16:creationId xmlns="" xmlns:a16="http://schemas.microsoft.com/office/drawing/2014/main" id="{1B4CE872-CBCF-7A4A-8FD6-F7BE492A466A}"/>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313</a:t>
            </a:r>
            <a:endParaRPr i="1" dirty="0">
              <a:latin typeface="Calibri"/>
              <a:ea typeface="Calibri"/>
              <a:cs typeface="Calibri"/>
              <a:sym typeface="Calibri"/>
            </a:endParaRPr>
          </a:p>
        </p:txBody>
      </p:sp>
    </p:spTree>
    <p:extLst>
      <p:ext uri="{BB962C8B-B14F-4D97-AF65-F5344CB8AC3E}">
        <p14:creationId xmlns:p14="http://schemas.microsoft.com/office/powerpoint/2010/main" val="351273238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1459</TotalTime>
  <Words>1189</Words>
  <Application>Microsoft Office PowerPoint</Application>
  <PresentationFormat>Custom</PresentationFormat>
  <Paragraphs>286</Paragraphs>
  <Slides>30</Slides>
  <Notes>30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30</vt:i4>
      </vt:variant>
    </vt:vector>
  </HeadingPairs>
  <TitlesOfParts>
    <vt:vector size="41" baseType="lpstr">
      <vt:lpstr>Arial</vt:lpstr>
      <vt:lpstr>Wingdings</vt:lpstr>
      <vt:lpstr>Cambria Math</vt:lpstr>
      <vt:lpstr>Cambria</vt:lpstr>
      <vt:lpstr>Arial Black</vt:lpstr>
      <vt:lpstr>Verdana</vt:lpstr>
      <vt:lpstr>Calibri</vt:lpstr>
      <vt:lpstr>Yu Mincho</vt:lpstr>
      <vt:lpstr>Times New Roman</vt:lpstr>
      <vt:lpstr>Century Gothic</vt:lpstr>
      <vt:lpstr>1_Office Theme</vt:lpstr>
      <vt:lpstr>8th Grade Math: Pre-Algebra  Unit 14, Lesson 1  Determining Sample Space Using Lists and Tree Diagrams  Volume 2, pg. 307  </vt:lpstr>
      <vt:lpstr>Benchmarks</vt:lpstr>
      <vt:lpstr>PowerPoint Presentation</vt:lpstr>
      <vt:lpstr>PowerPoint Presentation</vt:lpstr>
      <vt:lpstr>Warm-Up</vt:lpstr>
      <vt:lpstr>PowerPoint Presentation</vt:lpstr>
      <vt:lpstr>Refresher</vt:lpstr>
      <vt:lpstr>PowerPoint Presentation</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37</cp:revision>
  <dcterms:created xsi:type="dcterms:W3CDTF">2015-03-17T18:51:18Z</dcterms:created>
  <dcterms:modified xsi:type="dcterms:W3CDTF">2022-06-22T00:43:55Z</dcterms:modified>
</cp:coreProperties>
</file>