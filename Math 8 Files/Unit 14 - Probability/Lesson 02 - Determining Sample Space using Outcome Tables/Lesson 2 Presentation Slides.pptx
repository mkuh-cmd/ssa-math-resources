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288" r:id="rId10"/>
    <p:sldId id="342" r:id="rId11"/>
    <p:sldId id="352" r:id="rId12"/>
    <p:sldId id="353" r:id="rId13"/>
    <p:sldId id="354" r:id="rId14"/>
    <p:sldId id="355" r:id="rId15"/>
    <p:sldId id="323" r:id="rId16"/>
    <p:sldId id="324" r:id="rId17"/>
    <p:sldId id="347" r:id="rId18"/>
    <p:sldId id="329" r:id="rId19"/>
    <p:sldId id="330" r:id="rId20"/>
    <p:sldId id="349" r:id="rId21"/>
    <p:sldId id="356" r:id="rId22"/>
    <p:sldId id="357" r:id="rId23"/>
    <p:sldId id="358" r:id="rId24"/>
    <p:sldId id="302" r:id="rId25"/>
    <p:sldId id="303" r:id="rId26"/>
    <p:sldId id="350" r:id="rId27"/>
    <p:sldId id="359" r:id="rId28"/>
    <p:sldId id="306" r:id="rId29"/>
    <p:sldId id="307" r:id="rId30"/>
  </p:sldIdLst>
  <p:sldSz cx="12192000" cy="6858000"/>
  <p:notesSz cx="6858000" cy="9144000"/>
  <p:embeddedFontLst>
    <p:embeddedFont>
      <p:font typeface="Cambria Math" pitchFamily="18" charset="0"/>
      <p:regular r:id="rId32"/>
    </p:embeddedFont>
    <p:embeddedFont>
      <p:font typeface="Cambria" pitchFamily="18" charset="0"/>
      <p:regular r:id="rId33"/>
      <p:bold r:id="rId34"/>
      <p:italic r:id="rId35"/>
      <p:boldItalic r:id="rId36"/>
    </p:embeddedFont>
    <p:embeddedFont>
      <p:font typeface="Arial Black" pitchFamily="34" charset="0"/>
      <p:bold r:id="rId37"/>
    </p:embeddedFont>
    <p:embeddedFont>
      <p:font typeface="Verdana" pitchFamily="34" charset="0"/>
      <p:regular r:id="rId38"/>
      <p:bold r:id="rId39"/>
      <p:italic r:id="rId40"/>
      <p:boldItalic r:id="rId41"/>
    </p:embeddedFont>
    <p:embeddedFont>
      <p:font typeface="Calibri" pitchFamily="34" charset="0"/>
      <p:regular r:id="rId42"/>
      <p:bold r:id="rId43"/>
      <p:italic r:id="rId44"/>
      <p:boldItalic r:id="rId45"/>
    </p:embeddedFont>
    <p:embeddedFont>
      <p:font typeface="Century Gothic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051A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62" autoAdjust="0"/>
    <p:restoredTop sz="94694"/>
  </p:normalViewPr>
  <p:slideViewPr>
    <p:cSldViewPr snapToGrid="0">
      <p:cViewPr varScale="1">
        <p:scale>
          <a:sx n="105" d="100"/>
          <a:sy n="105" d="100"/>
        </p:scale>
        <p:origin x="-46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4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72623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8443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7472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8802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0981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0877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093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259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8770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8137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31917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88274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8999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56781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30201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4620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commons.wikimedia.org/wiki/File:One_die.jpeg" TargetMode="External"/><Relationship Id="rId4" Type="http://schemas.openxmlformats.org/officeDocument/2006/relationships/image" Target="../media/image3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14, Lesson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Determining Sample Space Using Outcome Tables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313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xmlns="" id="{FC2FF27A-A046-614D-A5AC-E785259A48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677" y="1606550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55020" y="-12641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642" y="2765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7725" y="1592410"/>
            <a:ext cx="11381228" cy="368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MA.8.DP.2.1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sample space for a repeated experiment.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53455" y="-12641"/>
            <a:ext cx="863626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35339" y="1532980"/>
            <a:ext cx="10872467" cy="3792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2217DB94-8CD9-E344-BEB6-DB518B29A816}"/>
              </a:ext>
            </a:extLst>
          </p:cNvPr>
          <p:cNvSpPr/>
          <p:nvPr/>
        </p:nvSpPr>
        <p:spPr>
          <a:xfrm>
            <a:off x="3114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642" y="2765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49300" y="-12641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642" y="2765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5746" y="1585828"/>
            <a:ext cx="11027229" cy="4158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0238" indent="-623888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the sample space for a repeated experiment using lists, tables, and tree diagrams.</a:t>
            </a:r>
          </a:p>
          <a:p>
            <a:pPr marL="630238" indent="-623888">
              <a:buClr>
                <a:srgbClr val="434343"/>
              </a:buClr>
              <a:buSzPts val="3500"/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30238" indent="-623888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the sample space for a two-step experiment. 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A7D39B40-FA5F-1945-A581-51EB744FEBF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6088" y="-1264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14.2.1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642" y="2765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530335" y="1462085"/>
            <a:ext cx="786612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integer chips shown each have a yellow side to represent a positive integer and a red side to represent a negative integer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table for the random process below</a:t>
            </a: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2C7BF6D9-BF7E-4C45-A3A0-4D9A19E544B3}"/>
              </a:ext>
            </a:extLst>
          </p:cNvPr>
          <p:cNvSpPr/>
          <p:nvPr/>
        </p:nvSpPr>
        <p:spPr>
          <a:xfrm>
            <a:off x="-2371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6354" y="1462085"/>
            <a:ext cx="2933700" cy="14859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8651479"/>
                  </p:ext>
                </p:extLst>
              </p:nvPr>
            </p:nvGraphicFramePr>
            <p:xfrm>
              <a:off x="1183942" y="3424825"/>
              <a:ext cx="7401780" cy="29030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16178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Flips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 Integer Chip</a:t>
                          </a:r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Sample Space</a:t>
                          </a:r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8651479"/>
                  </p:ext>
                </p:extLst>
              </p:nvPr>
            </p:nvGraphicFramePr>
            <p:xfrm>
              <a:off x="1183942" y="3424825"/>
              <a:ext cx="7401780" cy="29030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1617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of Flips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 Integer Chip</a:t>
                          </a:r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Sample Space</a:t>
                          </a:r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1667" r="-128814" b="-19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05085" r="-128814" b="-102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300000" r="-128814" b="-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3429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0435" marR="6043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4837" y="-73716"/>
            <a:ext cx="10170933" cy="144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14.2.2 Collaboration: Outcome Tables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6642" y="27405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44DF7DE-9172-3E4E-B74A-7A51585FB6EA}"/>
              </a:ext>
            </a:extLst>
          </p:cNvPr>
          <p:cNvSpPr txBox="1"/>
          <p:nvPr/>
        </p:nvSpPr>
        <p:spPr>
          <a:xfrm>
            <a:off x="536148" y="1465925"/>
            <a:ext cx="1040674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Another way to organize the outcomes in a sample space is with an outcome table.</a:t>
            </a: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limitation of an outcome table is that it cannot be used to determine the sample space of experiments with more than two steps. 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EC2600D5-FE51-9C45-B0CD-9B63FA18546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2" name="Group 11"/>
          <p:cNvGrpSpPr/>
          <p:nvPr/>
        </p:nvGrpSpPr>
        <p:grpSpPr>
          <a:xfrm>
            <a:off x="2781300" y="2569210"/>
            <a:ext cx="6629400" cy="1719579"/>
            <a:chOff x="2031300" y="3275735"/>
            <a:chExt cx="6629400" cy="1720050"/>
          </a:xfrm>
        </p:grpSpPr>
        <p:grpSp>
          <p:nvGrpSpPr>
            <p:cNvPr id="13" name="Group 12"/>
            <p:cNvGrpSpPr/>
            <p:nvPr/>
          </p:nvGrpSpPr>
          <p:grpSpPr>
            <a:xfrm>
              <a:off x="2031300" y="3275735"/>
              <a:ext cx="6629400" cy="1720050"/>
              <a:chOff x="2031300" y="3275735"/>
              <a:chExt cx="6629400" cy="172005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2031300" y="3275735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6" name="Group 15"/>
              <p:cNvGrpSpPr/>
              <p:nvPr/>
            </p:nvGrpSpPr>
            <p:grpSpPr>
              <a:xfrm>
                <a:off x="2031300" y="3275735"/>
                <a:ext cx="6629400" cy="1720050"/>
                <a:chOff x="2031300" y="3275735"/>
                <a:chExt cx="6629400" cy="1720050"/>
              </a:xfrm>
            </p:grpSpPr>
            <p:sp>
              <p:nvSpPr>
                <p:cNvPr id="17" name="Rectangle 16"/>
                <p:cNvSpPr/>
                <p:nvPr/>
              </p:nvSpPr>
              <p:spPr>
                <a:xfrm>
                  <a:off x="2031300" y="3275735"/>
                  <a:ext cx="6629400" cy="10085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8" name="Group 17"/>
                <p:cNvGrpSpPr/>
                <p:nvPr/>
              </p:nvGrpSpPr>
              <p:grpSpPr>
                <a:xfrm>
                  <a:off x="2031300" y="3275735"/>
                  <a:ext cx="6629400" cy="1720050"/>
                  <a:chOff x="2031300" y="3275735"/>
                  <a:chExt cx="6629400" cy="1720050"/>
                </a:xfrm>
              </p:grpSpPr>
              <p:sp>
                <p:nvSpPr>
                  <p:cNvPr id="19" name="Rectangle 18"/>
                  <p:cNvSpPr/>
                  <p:nvPr/>
                </p:nvSpPr>
                <p:spPr>
                  <a:xfrm>
                    <a:off x="2031300" y="3275735"/>
                    <a:ext cx="6629400" cy="1008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20" name="Group 19"/>
                  <p:cNvGrpSpPr/>
                  <p:nvPr/>
                </p:nvGrpSpPr>
                <p:grpSpPr>
                  <a:xfrm>
                    <a:off x="2031300" y="3275735"/>
                    <a:ext cx="6629400" cy="1720050"/>
                    <a:chOff x="2031300" y="3275735"/>
                    <a:chExt cx="6629400" cy="1720050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>
                      <a:off x="2031300" y="3275735"/>
                      <a:ext cx="6629400" cy="10085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22" name="Group 21"/>
                    <p:cNvGrpSpPr/>
                    <p:nvPr/>
                  </p:nvGrpSpPr>
                  <p:grpSpPr>
                    <a:xfrm>
                      <a:off x="2031300" y="3275735"/>
                      <a:ext cx="6629400" cy="1720050"/>
                      <a:chOff x="2031300" y="3275735"/>
                      <a:chExt cx="6629400" cy="1720050"/>
                    </a:xfrm>
                  </p:grpSpPr>
                  <p:sp>
                    <p:nvSpPr>
                      <p:cNvPr id="23" name="Rectangle 22"/>
                      <p:cNvSpPr/>
                      <p:nvPr/>
                    </p:nvSpPr>
                    <p:spPr>
                      <a:xfrm>
                        <a:off x="2031300" y="3275735"/>
                        <a:ext cx="6629400" cy="100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r>
                          <a:rPr lang="en-US" sz="1200"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24" name="Group 23"/>
                      <p:cNvGrpSpPr/>
                      <p:nvPr/>
                    </p:nvGrpSpPr>
                    <p:grpSpPr>
                      <a:xfrm>
                        <a:off x="2031300" y="3275735"/>
                        <a:ext cx="6629400" cy="1720050"/>
                        <a:chOff x="2031300" y="3275735"/>
                        <a:chExt cx="6629400" cy="1720050"/>
                      </a:xfrm>
                    </p:grpSpPr>
                    <p:sp>
                      <p:nvSpPr>
                        <p:cNvPr id="25" name="Rectangle 24"/>
                        <p:cNvSpPr/>
                        <p:nvPr/>
                      </p:nvSpPr>
                      <p:spPr>
                        <a:xfrm>
                          <a:off x="2031300" y="3275735"/>
                          <a:ext cx="6629400" cy="1008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r>
                            <a:rPr lang="en-US" sz="120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6" name="Group 25"/>
                        <p:cNvGrpSpPr/>
                        <p:nvPr/>
                      </p:nvGrpSpPr>
                      <p:grpSpPr>
                        <a:xfrm>
                          <a:off x="2031300" y="3275735"/>
                          <a:ext cx="6629400" cy="1720050"/>
                          <a:chOff x="2031300" y="3275735"/>
                          <a:chExt cx="6629400" cy="1720050"/>
                        </a:xfrm>
                      </p:grpSpPr>
                      <p:sp>
                        <p:nvSpPr>
                          <p:cNvPr id="27" name="Rectangle 26"/>
                          <p:cNvSpPr/>
                          <p:nvPr/>
                        </p:nvSpPr>
                        <p:spPr>
                          <a:xfrm>
                            <a:off x="2031300" y="3275735"/>
                            <a:ext cx="6629400" cy="10085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r>
                              <a:rPr lang="en-US" sz="1200"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8" name="Group 27"/>
                          <p:cNvGrpSpPr/>
                          <p:nvPr/>
                        </p:nvGrpSpPr>
                        <p:grpSpPr>
                          <a:xfrm>
                            <a:off x="2031300" y="3275735"/>
                            <a:ext cx="6629400" cy="1720050"/>
                            <a:chOff x="2031300" y="3275735"/>
                            <a:chExt cx="6629400" cy="1720050"/>
                          </a:xfrm>
                        </p:grpSpPr>
                        <p:sp>
                          <p:nvSpPr>
                            <p:cNvPr id="29" name="Rectangle 28"/>
                            <p:cNvSpPr/>
                            <p:nvPr/>
                          </p:nvSpPr>
                          <p:spPr>
                            <a:xfrm>
                              <a:off x="2031300" y="3275735"/>
                              <a:ext cx="6629400" cy="10085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r>
                                <a:rPr lang="en-US" sz="120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p:grpSp>
                          <p:nvGrpSpPr>
                            <p:cNvPr id="30" name="Group 29"/>
                            <p:cNvGrpSpPr/>
                            <p:nvPr/>
                          </p:nvGrpSpPr>
                          <p:grpSpPr>
                            <a:xfrm>
                              <a:off x="2031300" y="3275735"/>
                              <a:ext cx="6629400" cy="1720050"/>
                              <a:chOff x="0" y="0"/>
                              <a:chExt cx="6629400" cy="1720050"/>
                            </a:xfrm>
                          </p:grpSpPr>
                          <p:sp>
                            <p:nvSpPr>
                              <p:cNvPr id="31" name="Rectangle 30"/>
                              <p:cNvSpPr/>
                              <p:nvPr/>
                            </p:nvSpPr>
                            <p:spPr>
                              <a:xfrm>
                                <a:off x="0" y="0"/>
                                <a:ext cx="6629400" cy="100852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r>
                                  <a:rPr lang="en-US" sz="1200">
                                    <a:latin typeface="Times New Roman" panose="02020603050405020304" pitchFamily="18" charset="0"/>
                                    <a:ea typeface="Times New Roman" panose="02020603050405020304" pitchFamily="18" charset="0"/>
                                  </a:rPr>
                                  <a:t> </a:t>
                                </a:r>
                              </a:p>
                            </p:txBody>
                          </p:sp>
                          <p:grpSp>
                            <p:nvGrpSpPr>
                              <p:cNvPr id="32" name="Group 31"/>
                              <p:cNvGrpSpPr/>
                              <p:nvPr/>
                            </p:nvGrpSpPr>
                            <p:grpSpPr>
                              <a:xfrm>
                                <a:off x="0" y="0"/>
                                <a:ext cx="6629400" cy="1720050"/>
                                <a:chOff x="0" y="0"/>
                                <a:chExt cx="6629400" cy="1720050"/>
                              </a:xfrm>
                            </p:grpSpPr>
                            <p:sp>
                              <p:nvSpPr>
                                <p:cNvPr id="34" name="Rectangle 33"/>
                                <p:cNvSpPr/>
                                <p:nvPr/>
                              </p:nvSpPr>
                              <p:spPr>
                                <a:xfrm>
                                  <a:off x="0" y="0"/>
                                  <a:ext cx="6629400" cy="786375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r>
                                    <a:rPr lang="en-US" sz="1200"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5" name="Rectangle 34"/>
                                <p:cNvSpPr/>
                                <p:nvPr/>
                              </p:nvSpPr>
                              <p:spPr>
                                <a:xfrm>
                                  <a:off x="0" y="0"/>
                                  <a:ext cx="6629400" cy="786375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r>
                                    <a:rPr lang="en-US" sz="1200"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6" name="Rounded Rectangle 35"/>
                                <p:cNvSpPr/>
                                <p:nvPr/>
                              </p:nvSpPr>
                              <p:spPr>
                                <a:xfrm>
                                  <a:off x="0" y="1"/>
                                  <a:ext cx="6629400" cy="1720049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rgbClr val="B8E6F5"/>
                                </a:solidFill>
                                <a:ln>
                                  <a:noFill/>
                                </a:ln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</p:spPr>
                              <p:txBody>
                                <a:bodyPr spcFirstLastPara="1" wrap="square" lIns="91425" tIns="45700" rIns="91425" bIns="45700" anchor="ctr" anchorCtr="0">
                                  <a:noAutofit/>
                                </a:bodyPr>
                                <a:lstStyle/>
                                <a:p>
                                  <a:pPr marL="685800"/>
                                  <a:r>
                                    <a:rPr lang="en-US" sz="2000" b="1" dirty="0">
                                      <a:solidFill>
                                        <a:srgbClr val="26619A"/>
                                      </a:solidFill>
                                      <a:latin typeface="Verdana" panose="020B0604030504040204" pitchFamily="34" charset="0"/>
                                      <a:ea typeface="Times New Roman" panose="02020603050405020304" pitchFamily="18" charset="0"/>
                                    </a:rPr>
                                    <a:t>Outcome tables</a:t>
                                  </a:r>
                                  <a:r>
                                    <a:rPr lang="en-US" sz="2000" dirty="0">
                                      <a:solidFill>
                                        <a:srgbClr val="26619A"/>
                                      </a:solidFill>
                                      <a:latin typeface="Verdana" panose="020B0604030504040204" pitchFamily="34" charset="0"/>
                                      <a:ea typeface="Times New Roman" panose="02020603050405020304" pitchFamily="18" charset="0"/>
                                    </a:rPr>
                                    <a:t> are a useful way to list and organize all possible outcomes in a random process with two steps. They are especially useful when there are a large number of outcomes in the sample space. </a:t>
                                  </a:r>
                                  <a:endParaRPr lang="en-US" sz="2000" dirty="0">
                                    <a:latin typeface="Times New Roman" panose="02020603050405020304" pitchFamily="18" charset="0"/>
                                    <a:ea typeface="Times New Roman" panose="02020603050405020304" pitchFamily="18" charset="0"/>
                                  </a:endParaRPr>
                                </a:p>
                              </p:txBody>
                            </p:sp>
                          </p:grpSp>
                          <p:pic>
                            <p:nvPicPr>
                              <p:cNvPr id="33" name="Shape 55" descr="Icon&#10;&#10;Description automatically generated"/>
                              <p:cNvPicPr preferRelativeResize="0"/>
                              <p:nvPr/>
                            </p:nvPicPr>
                            <p:blipFill rotWithShape="1">
                              <a:blip r:embed="rId4" cstate="screen">
                                <a:alphaModFix/>
                                <a:extLst>
                                  <a:ext uri="{28A0092B-C50C-407E-A947-70E740481C1C}">
                                    <a14:useLocalDpi xmlns:a14="http://schemas.microsoft.com/office/drawing/2010/main"/>
                                  </a:ext>
                                </a:extLst>
                              </a:blip>
                              <a:srcRect/>
                              <a:stretch/>
                            </p:blipFill>
                            <p:spPr>
                              <a:xfrm>
                                <a:off x="183914" y="151169"/>
                                <a:ext cx="539750" cy="53975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</p:spPr>
                          </p:pic>
                        </p:grpSp>
                      </p:grpSp>
                    </p:grpSp>
                  </p:grpSp>
                </p:grpSp>
              </p:grpSp>
            </p:grpSp>
          </p:grpSp>
        </p:grpSp>
      </p:grpSp>
      <p:pic>
        <p:nvPicPr>
          <p:cNvPr id="3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0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3506" y="378352"/>
            <a:ext cx="1066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Below is an outcome table showing the possible outcomes when a coin is flipped two times.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E2774663-8BD9-4C47-8B0B-3F2A1E30018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065" y="1147793"/>
            <a:ext cx="5942882" cy="3613915"/>
          </a:xfrm>
          <a:prstGeom prst="rect">
            <a:avLst/>
          </a:prstGeom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29173" y="378351"/>
            <a:ext cx="1109897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Since there are six possible outcomes when one standard six-sided die is rolled, the outcome table for rolling two six-sided dice needs to be six by six. 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the outcome table shown, the numbers 1-6 in the second column from the left represent the possible outcomes when the first die is rolled. 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grey row to represent the possible outcomes from rolling the second die.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FA2A97BF-3D7B-B547-BD66-4A4651071EA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0626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FA2A97BF-3D7B-B547-BD66-4A4651071EA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87" r="-1"/>
          <a:stretch/>
        </p:blipFill>
        <p:spPr>
          <a:xfrm>
            <a:off x="2281238" y="195988"/>
            <a:ext cx="6119317" cy="6457675"/>
          </a:xfrm>
          <a:prstGeom prst="rect">
            <a:avLst/>
          </a:prstGeom>
        </p:spPr>
      </p:pic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7033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3317" y="384277"/>
                <a:ext cx="10972972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pairs of numbers in the first white row of the outcome table represent all outcomes that can occur when a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rolled on the first die. The outcome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(1, 3)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means the first die rolled is a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the second die rolled is a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next row of the outcome table to show the possible outcomes when a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rolled on the first die.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patterns do you see in the outcome table at this time?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rest of the outcome table.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17" y="384277"/>
                <a:ext cx="10972972" cy="4832092"/>
              </a:xfrm>
              <a:prstGeom prst="rect">
                <a:avLst/>
              </a:prstGeom>
              <a:blipFill rotWithShape="1">
                <a:blip r:embed="rId3"/>
                <a:stretch>
                  <a:fillRect l="-722" t="-631" r="-167" b="-176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FA2A97BF-3D7B-B547-BD66-4A4651071EA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4879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2238" y="381815"/>
            <a:ext cx="10800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your outcome table is complete, find another pair of students to check your work with. Make any necessary changes. </a:t>
            </a:r>
          </a:p>
          <a:p>
            <a:pPr marL="457200" indent="-457200">
              <a:buFont typeface="+mj-lt"/>
              <a:buAutoNum type="arabicPeriod" startAt="5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FA2A97BF-3D7B-B547-BD66-4A4651071EA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640308"/>
              </p:ext>
            </p:extLst>
          </p:nvPr>
        </p:nvGraphicFramePr>
        <p:xfrm>
          <a:off x="1119999" y="1933455"/>
          <a:ext cx="10572393" cy="27081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323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Experiment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Number of Outcomes in the First Step 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Number of Outcomes in the Second Step 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Total Number of Outcomes in the Sample Space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628140"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Rolling a fair die two times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8355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0606" y="382567"/>
            <a:ext cx="10800000" cy="1787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outcomes are in Event A = rolling the same number?</a:t>
            </a:r>
          </a:p>
          <a:p>
            <a:pPr marL="457200" indent="-457200">
              <a:buFont typeface="+mj-lt"/>
              <a:buAutoNum type="arabicPeriod" startAt="7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7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table showing the strengths and weaknesses/limitations of tree diagrams and outcome tables.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FA2A97BF-3D7B-B547-BD66-4A4651071EA8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69297"/>
              </p:ext>
            </p:extLst>
          </p:nvPr>
        </p:nvGraphicFramePr>
        <p:xfrm>
          <a:off x="1139093" y="1961648"/>
          <a:ext cx="8280000" cy="398343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36778" marR="36778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Outcome Table</a:t>
                      </a:r>
                    </a:p>
                  </a:txBody>
                  <a:tcPr marL="36778" marR="367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Tree Diagram</a:t>
                      </a:r>
                    </a:p>
                  </a:txBody>
                  <a:tcPr marL="36778" marR="367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2171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Strengths</a:t>
                      </a:r>
                    </a:p>
                  </a:txBody>
                  <a:tcPr marL="36778" marR="367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36778" marR="367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36778" marR="367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2171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Weaknesses/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Limitations</a:t>
                      </a:r>
                    </a:p>
                  </a:txBody>
                  <a:tcPr marL="36778" marR="367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36778" marR="367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36778" marR="367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3502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2750" y="-9617"/>
            <a:ext cx="10684932" cy="132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14.2.3 Guided Practice: Determining the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Number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of Outcomes in the Sample Space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6642" y="27655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D40250-DEDD-2C41-8538-3D4DD18CCC4A}"/>
              </a:ext>
            </a:extLst>
          </p:cNvPr>
          <p:cNvSpPr txBox="1"/>
          <p:nvPr/>
        </p:nvSpPr>
        <p:spPr>
          <a:xfrm>
            <a:off x="531140" y="1464488"/>
            <a:ext cx="11097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fair coin is tossed, and a fair six-sided die is rolled. Determine the sample space using either a tree diagram or an outcome table.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9EF632C0-4346-7C46-A47D-60F9E852BB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7045" y="377302"/>
            <a:ext cx="10800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summarize the relationship between the number of outcomes in each step of a repeated experiment and the total number of outcomes in the experiment.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15313080-ADE1-E543-977F-AF86C524F91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338787"/>
              </p:ext>
            </p:extLst>
          </p:nvPr>
        </p:nvGraphicFramePr>
        <p:xfrm>
          <a:off x="1189054" y="894366"/>
          <a:ext cx="10518161" cy="25481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7816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Experiment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Number of Outcomes in the First Step 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Number of Outcomes in the Second Step 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Total Number of Outcomes in the Sample Space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68120"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Tossing a fair coin and rolling a fair die 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429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7263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485253" y="267906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71945" y="276583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9489" y="10018"/>
            <a:ext cx="10246176" cy="128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14.2.4 Bring It Together: Determining the Sample Space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69E00F9-F39F-5043-888E-B0A2D8C9AE0F}"/>
              </a:ext>
            </a:extLst>
          </p:cNvPr>
          <p:cNvSpPr txBox="1"/>
          <p:nvPr/>
        </p:nvSpPr>
        <p:spPr>
          <a:xfrm>
            <a:off x="532677" y="1462909"/>
            <a:ext cx="53532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Fill in the blue boxes with the same operation symbol to make all of the number sentences true.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xmlns="" id="{184E346C-1485-3C45-9A4A-2D894EB8F58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F61936AD-FCB7-9440-995C-794C60982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4134" y="27655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597" y="1462909"/>
            <a:ext cx="5538068" cy="4960606"/>
          </a:xfrm>
          <a:prstGeom prst="rect">
            <a:avLst/>
          </a:prstGeom>
        </p:spPr>
      </p:pic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F8FE04BB-F3FA-5B4A-8F1B-F17A449A27C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094" y="411699"/>
            <a:ext cx="6651812" cy="3903960"/>
          </a:xfrm>
          <a:prstGeom prst="rect">
            <a:avLst/>
          </a:prstGeom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5626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7944" y="383325"/>
            <a:ext cx="1108709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determine the sample space for a multi-step experiment, it can be </a:t>
            </a: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helpful 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know how many total outcomes should be in the sample space. </a:t>
            </a: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figure this out,		    </a:t>
            </a: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the 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 of outcomes in each step.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F8FE04BB-F3FA-5B4A-8F1B-F17A449A27C9}"/>
              </a:ext>
            </a:extLst>
          </p:cNvPr>
          <p:cNvSpPr/>
          <p:nvPr/>
        </p:nvSpPr>
        <p:spPr>
          <a:xfrm>
            <a:off x="3114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62" y="1513237"/>
            <a:ext cx="2009514" cy="957868"/>
          </a:xfrm>
          <a:prstGeom prst="rect">
            <a:avLst/>
          </a:prstGeom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6993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5809" y="379939"/>
            <a:ext cx="10800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example, if an experiment consists of flipping a fair coin and </a:t>
            </a: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spinning 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spinner with eight different outcomes, the total number of </a:t>
            </a: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outcomes 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the sample space can be found by		            the </a:t>
            </a: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 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outcomes in each step of the repeated experiment. </a:t>
            </a: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this </a:t>
            </a: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case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F8FE04BB-F3FA-5B4A-8F1B-F17A449A27C9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4233" y="1528933"/>
            <a:ext cx="2054790" cy="8413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72540" y="2871421"/>
            <a:ext cx="2140520" cy="840310"/>
          </a:xfrm>
          <a:prstGeom prst="rect">
            <a:avLst/>
          </a:prstGeom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1439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2766" y="383501"/>
            <a:ext cx="103087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a fair coin is tossed six times, the total number of outcomes in </a:t>
            </a: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2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sample space of this repeated experiment is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F8FE04BB-F3FA-5B4A-8F1B-F17A449A27C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8026" y="878320"/>
            <a:ext cx="2195130" cy="860934"/>
          </a:xfrm>
          <a:prstGeom prst="rect">
            <a:avLst/>
          </a:prstGeom>
        </p:spPr>
      </p:pic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6365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9409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48187" y="276559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14.2.5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642" y="2765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59C3E41-93EC-B84D-963F-86A3B15AC1C6}"/>
              </a:ext>
            </a:extLst>
          </p:cNvPr>
          <p:cNvSpPr txBox="1"/>
          <p:nvPr/>
        </p:nvSpPr>
        <p:spPr>
          <a:xfrm>
            <a:off x="532233" y="1465923"/>
            <a:ext cx="112750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Marianne and three friends are playing a game that requires them to spin the spinner shown, then roll a fair six-sided die on each person’s turn to play.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3497339A-36B9-2142-AAF4-61C2E4DE6EB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3" name="Picture 12" descr="File:One die.jpeg - Wikimedia Commons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6645683" y="3189152"/>
            <a:ext cx="988437" cy="95088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193" y="2407222"/>
            <a:ext cx="2422264" cy="2359785"/>
          </a:xfrm>
          <a:prstGeom prst="rect">
            <a:avLst/>
          </a:prstGeom>
        </p:spPr>
      </p:pic>
      <p:pic>
        <p:nvPicPr>
          <p:cNvPr id="11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1815" y="383319"/>
            <a:ext cx="1055914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outcomes are in the sample space when…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…the spinner is spun once? </a:t>
            </a:r>
          </a:p>
          <a:p>
            <a:pPr marL="914400" lvl="1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…a fair six-sided die is rolled once?</a:t>
            </a:r>
          </a:p>
          <a:p>
            <a:pPr marL="914400" lvl="1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…the spinner is spun, then a six-sided die is rolled?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FC9D7F98-E787-6F4D-92A1-6A0986979BF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8525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33930" y="379057"/>
            <a:ext cx="10800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a tree diagram or outcome table to determine the sample space. 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out the sample space for one player’s turn.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FC9D7F98-E787-6F4D-92A1-6A0986979BF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0894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55239" y="57982"/>
            <a:ext cx="10021001" cy="1184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14.2.6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642" y="2765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529490" y="1464665"/>
            <a:ext cx="1087482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Spinner A is shown.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	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	Spinner A</a:t>
            </a: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number of outcomes in the sample space when Spinner A is spun twice.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which method you would choose to determine the sample space for this random process: a list, table, or tree diagram.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sample space for this repeated experiment.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535320C0-DAB2-7C41-B3D0-5B31075C43F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10" descr="A picture containing text, clock&#10;&#10;Description automatically generated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42503" y="1464665"/>
            <a:ext cx="2547620" cy="243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Box 4"/>
          <p:cNvSpPr txBox="1"/>
          <p:nvPr/>
        </p:nvSpPr>
        <p:spPr>
          <a:xfrm>
            <a:off x="5528493" y="1717735"/>
            <a:ext cx="746125" cy="34544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</a:rPr>
              <a:t>red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Text Box 5"/>
          <p:cNvSpPr txBox="1"/>
          <p:nvPr/>
        </p:nvSpPr>
        <p:spPr>
          <a:xfrm>
            <a:off x="6567894" y="1706281"/>
            <a:ext cx="860425" cy="53848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</a:rPr>
              <a:t>green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Text Box 7"/>
          <p:cNvSpPr txBox="1"/>
          <p:nvPr/>
        </p:nvSpPr>
        <p:spPr>
          <a:xfrm>
            <a:off x="5367204" y="2624110"/>
            <a:ext cx="1068705" cy="53848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</a:rPr>
              <a:t>orange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" name="Text Box 8"/>
          <p:cNvSpPr txBox="1"/>
          <p:nvPr/>
        </p:nvSpPr>
        <p:spPr>
          <a:xfrm>
            <a:off x="6567896" y="2624110"/>
            <a:ext cx="746125" cy="53848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800">
                <a:solidFill>
                  <a:srgbClr val="FFFFFF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blue</a:t>
            </a:r>
            <a:endParaRPr lang="en-US" sz="12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38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0" name="Google Shape;282;g104476d1465_1_17"/>
          <p:cNvSpPr txBox="1"/>
          <p:nvPr/>
        </p:nvSpPr>
        <p:spPr>
          <a:xfrm>
            <a:off x="8863411" y="649331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843</Words>
  <Application>Microsoft Office PowerPoint</Application>
  <PresentationFormat>Custom</PresentationFormat>
  <Paragraphs>225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Wingdings</vt:lpstr>
      <vt:lpstr>Cambria Math</vt:lpstr>
      <vt:lpstr>Cambria</vt:lpstr>
      <vt:lpstr>Arial Black</vt:lpstr>
      <vt:lpstr>Verdana</vt:lpstr>
      <vt:lpstr>Calibri</vt:lpstr>
      <vt:lpstr>Times New Roman</vt:lpstr>
      <vt:lpstr>Century Gothic</vt:lpstr>
      <vt:lpstr>1_Office Theme</vt:lpstr>
      <vt:lpstr>8th Grade Math: Pre-Algebra  Unit 14, Lesson 2  Determining Sample Space Using Outcome Tables  Volume 2, pg. 313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35</cp:revision>
  <dcterms:created xsi:type="dcterms:W3CDTF">2015-03-17T18:51:18Z</dcterms:created>
  <dcterms:modified xsi:type="dcterms:W3CDTF">2022-06-22T01:33:07Z</dcterms:modified>
</cp:coreProperties>
</file>