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17" r:id="rId8"/>
    <p:sldId id="318" r:id="rId9"/>
    <p:sldId id="344" r:id="rId10"/>
    <p:sldId id="288" r:id="rId11"/>
    <p:sldId id="352" r:id="rId12"/>
    <p:sldId id="353" r:id="rId13"/>
    <p:sldId id="323" r:id="rId14"/>
    <p:sldId id="324" r:id="rId15"/>
    <p:sldId id="347" r:id="rId16"/>
    <p:sldId id="320" r:id="rId17"/>
    <p:sldId id="321" r:id="rId18"/>
    <p:sldId id="345" r:id="rId19"/>
    <p:sldId id="302" r:id="rId20"/>
    <p:sldId id="303" r:id="rId21"/>
    <p:sldId id="350" r:id="rId22"/>
    <p:sldId id="306" r:id="rId23"/>
    <p:sldId id="307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051A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22884" autoAdjust="0"/>
    <p:restoredTop sz="94694"/>
  </p:normalViewPr>
  <p:slideViewPr>
    <p:cSldViewPr snapToGrid="0">
      <p:cViewPr varScale="1">
        <p:scale>
          <a:sx n="114" d="100"/>
          <a:sy n="114" d="100"/>
        </p:scale>
        <p:origin x="111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182367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5554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1419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3719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9287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23967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3602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8137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12529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30201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10.png"/><Relationship Id="rId4" Type="http://schemas.openxmlformats.org/officeDocument/2006/relationships/hyperlink" Target="http://www.vecteezy.com/spills-splatters/6375-splatter-pack-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14, Lesson 5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Calculating Theoretical Probability of Compound Events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331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MA.8.DP.2.2</a:t>
            </a:r>
          </a:p>
          <a:p>
            <a:pPr indent="0">
              <a:buNone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theoretical probability of an event related to a repeated experiment. </a:t>
            </a:r>
            <a:endParaRPr lang="en-US" sz="3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2217DB94-8CD9-E344-BEB6-DB518B29A81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6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A7D39B40-FA5F-1945-A581-51EB744FEBF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6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79450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calculate theoretical probability of compound events.</a:t>
            </a:r>
            <a:endParaRPr lang="en-US" sz="3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5" y="1228396"/>
                <a:ext cx="10800319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Locate and label these numbers on the number line.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0.75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0.33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0.67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0.25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Choose one of the numbers from the previous question. Describe a game in which that number represents your probability of winning.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228396"/>
                <a:ext cx="10800319" cy="4093428"/>
              </a:xfrm>
              <a:prstGeom prst="rect">
                <a:avLst/>
              </a:prstGeom>
              <a:blipFill rotWithShape="1">
                <a:blip r:embed="rId3"/>
                <a:stretch>
                  <a:fillRect l="-621" t="-894" b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2C7BF6D9-BF7E-4C45-A3A0-4D9A19E544B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300651" y="3911388"/>
            <a:ext cx="6309995" cy="38989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14.5.1 Warm-Up: Ordering Probabilities</a:t>
            </a:r>
          </a:p>
        </p:txBody>
      </p:sp>
      <p:pic>
        <p:nvPicPr>
          <p:cNvPr id="16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D3B87611-8BAC-0F4E-AF1B-3B72DD036D68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9244" y="3161044"/>
            <a:ext cx="7325272" cy="3294620"/>
          </a:xfrm>
          <a:prstGeom prst="rect">
            <a:avLst/>
          </a:prstGeom>
        </p:spPr>
      </p:pic>
      <p:sp>
        <p:nvSpPr>
          <p:cNvPr id="13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156764"/>
            <a:ext cx="10478463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14.5.2 Activity: </a:t>
            </a:r>
            <a:b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Make Your Own Game</a:t>
            </a:r>
          </a:p>
        </p:txBody>
      </p:sp>
      <p:pic>
        <p:nvPicPr>
          <p:cNvPr id="17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29070" y="1386025"/>
                <a:ext cx="11001514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Option 1: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card is drawn from a standard deck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playing cards. There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cards in a standard deck of cards; half are red (hearts and diamonds), half are black (spades and clubs),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"face" cards (jacks, queens, and kings). Aces are considered to have a value of one.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70" y="1386025"/>
                <a:ext cx="11001514" cy="1631216"/>
              </a:xfrm>
              <a:prstGeom prst="rect">
                <a:avLst/>
              </a:prstGeom>
              <a:blipFill rotWithShape="1">
                <a:blip r:embed="rId6"/>
                <a:stretch>
                  <a:fillRect l="-609" t="-1866" r="-111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85364" y="400325"/>
                <a:ext cx="10971635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Option 2: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fair spinner, shown, is spun.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Option 3: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fair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-sided die is rolled.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64" y="400325"/>
                <a:ext cx="10971635" cy="4524315"/>
              </a:xfrm>
              <a:prstGeom prst="rect">
                <a:avLst/>
              </a:prstGeom>
              <a:blipFill rotWithShape="1">
                <a:blip r:embed="rId3"/>
                <a:stretch>
                  <a:fillRect l="-833" t="-1078" b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978AB0A-5717-184E-B05E-389F7177465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Chart, pie chart&#10;&#10;Description automatically generated"/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98276" y="328629"/>
            <a:ext cx="2899230" cy="30064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Icon&#10;&#10;Description automatically generated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37121" y="4205185"/>
            <a:ext cx="1468120" cy="14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4749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E2774663-8BD9-4C47-8B0B-3F2A1E30018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85364" y="400325"/>
            <a:ext cx="109716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following.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Step 1: Choose any two simple experiments from the options provided.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Step 2: Create a game with your partner using the two options you chose.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lvl="4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the game you created.</a:t>
            </a:r>
          </a:p>
          <a:p>
            <a:pPr marL="457200" lvl="4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number of outcomes in the sample space.</a:t>
            </a: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E2774663-8BD9-4C47-8B0B-3F2A1E300184}"/>
              </a:ext>
            </a:extLst>
          </p:cNvPr>
          <p:cNvSpPr/>
          <p:nvPr/>
        </p:nvSpPr>
        <p:spPr>
          <a:xfrm>
            <a:off x="3114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85364" y="400325"/>
            <a:ext cx="1097163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4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Define Event A = the outcomes resulting in a win.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Event A =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lvl="4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outcomes are in Event A?</a:t>
            </a:r>
          </a:p>
          <a:p>
            <a:pPr marL="457200" lvl="4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 the outcomes in Event A.</a:t>
            </a:r>
          </a:p>
        </p:txBody>
      </p:sp>
    </p:spTree>
    <p:extLst>
      <p:ext uri="{BB962C8B-B14F-4D97-AF65-F5344CB8AC3E}">
        <p14:creationId xmlns:p14="http://schemas.microsoft.com/office/powerpoint/2010/main" val="3271060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E2774663-8BD9-4C47-8B0B-3F2A1E300184}"/>
              </a:ext>
            </a:extLst>
          </p:cNvPr>
          <p:cNvSpPr/>
          <p:nvPr/>
        </p:nvSpPr>
        <p:spPr>
          <a:xfrm>
            <a:off x="-2371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85365" y="400325"/>
            <a:ext cx="109452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4" indent="-457200">
              <a:buFont typeface="+mj-lt"/>
              <a:buAutoNum type="arabicPeriod" startAt="6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probability of winning your game? </a:t>
            </a:r>
          </a:p>
          <a:p>
            <a:pPr marL="457200" lvl="4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 startAt="6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Switch games with another partner pair. Verify their work.</a:t>
            </a:r>
          </a:p>
          <a:p>
            <a:pPr marL="457200" lvl="4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4" indent="-457200">
              <a:buFont typeface="+mj-lt"/>
              <a:buAutoNum type="arabicPeriod" startAt="6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Make any adjustments necessary to your game based on the other partner pair’s review of your game.</a:t>
            </a:r>
          </a:p>
        </p:txBody>
      </p:sp>
    </p:spTree>
    <p:extLst>
      <p:ext uri="{BB962C8B-B14F-4D97-AF65-F5344CB8AC3E}">
        <p14:creationId xmlns:p14="http://schemas.microsoft.com/office/powerpoint/2010/main" val="1903575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9EF632C0-4346-7C46-A47D-60F9E852BB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1773" y="3065646"/>
            <a:ext cx="6658017" cy="2849204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136174"/>
            <a:ext cx="10477934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14.5.3 Guided Practice: Calculating Probability</a:t>
            </a:r>
          </a:p>
        </p:txBody>
      </p:sp>
      <p:pic>
        <p:nvPicPr>
          <p:cNvPr id="15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6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731519" y="1491419"/>
            <a:ext cx="107585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a probability of Event A from the P(A) triangle. Choose a probability of Event B from the P(B) triangle. Use those probabilities to calculate P(A and B). In your work, use P notation to specify which probability you are using: P(A), P(B), and P(A and B).</a:t>
            </a: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5313080-ADE1-E543-977F-AF86C524F91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67585" y="520393"/>
                <a:ext cx="109630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Suppose you have an evenly divided spinner that shows all the days of the week. You also have a bag of papers that list the months of the year.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Suppose you spin the spinner and pick a paper from the bag.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theoretical probability that you choose the paper with the current month and the spinner lands on the current day of the week? 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notation when calculating the probability.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85" y="520393"/>
                <a:ext cx="10963000" cy="2246769"/>
              </a:xfrm>
              <a:prstGeom prst="rect">
                <a:avLst/>
              </a:prstGeom>
              <a:blipFill rotWithShape="1">
                <a:blip r:embed="rId4"/>
                <a:stretch>
                  <a:fillRect l="-556" t="-1626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263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942" y="2506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244F00A5-2AA6-AE4D-816C-EE9779D15DDB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357773"/>
            <a:ext cx="10477934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14.5.4 Try It: Calculating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731519" y="1491419"/>
                <a:ext cx="10758527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4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 part of a game at the school carnival, the player picks a marble from a bag, replaces the marble, and picks a marble from the bag again. The bag of marbles has two green, two red, and two blue marbles.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Calculate the theoretical probability that a player chooses a green marble and a blue marble. Write the probability as a fraction, as a decimal rounded to the nearest thousandth, and as a percent rounded to the nearest tenth of a percent.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𝑔𝑟𝑒𝑒𝑛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𝑎𝑛𝑑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𝑏𝑙𝑢𝑒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491419"/>
                <a:ext cx="10758527" cy="3477875"/>
              </a:xfrm>
              <a:prstGeom prst="rect">
                <a:avLst/>
              </a:prstGeom>
              <a:blipFill rotWithShape="1">
                <a:blip r:embed="rId5"/>
                <a:stretch>
                  <a:fillRect l="-567" t="-1053" r="-1246" b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A2E66A11-7F46-5543-97C7-B5D75DA087B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67585" y="520393"/>
                <a:ext cx="10963000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Calculate the theoretical probability that a player doesn’t pick a red on either of their picks. </a:t>
                </a:r>
              </a:p>
              <a:p>
                <a:pPr marL="457200"/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652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𝑟𝑒𝑑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= 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integer chip with one yellow side and one red side is tossed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times.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2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probability that the first toss results in red and all subsequent tosses result in yellow?</a:t>
                </a:r>
              </a:p>
              <a:p>
                <a:pPr marL="914400" lvl="2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probability that all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tosses result in the same color?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85" y="520393"/>
                <a:ext cx="10963000" cy="4708981"/>
              </a:xfrm>
              <a:prstGeom prst="rect">
                <a:avLst/>
              </a:prstGeom>
              <a:blipFill rotWithShape="1">
                <a:blip r:embed="rId4"/>
                <a:stretch>
                  <a:fillRect l="-556" t="-776" r="-1223" b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3510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3497339A-36B9-2142-AAF4-61C2E4DE6EB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14.5.5 Your Turn!</a:t>
            </a:r>
          </a:p>
        </p:txBody>
      </p:sp>
      <p:pic>
        <p:nvPicPr>
          <p:cNvPr id="15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730266" y="1408886"/>
            <a:ext cx="1080031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Although she would like to have more, Wanda is only allowed to have two pets total. She is allowed to choose from these three options: a dog, a cat, and a rabbit. Wanda has decided to use a die to randomly choose which two pets she will have. If she rolls a 1 or a 2, she will get a dog, if the die lands on a 3 or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 she will get a cat, and she will get a rabbit if the die lands on 5 or 6.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037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Calculate the theoretical probability that Wanda will end up with </a:t>
            </a:r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cats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FC9D7F98-E787-6F4D-92A1-6A0986979BF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67585" y="520393"/>
            <a:ext cx="10963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textbook has exactly 428 pages numbered in order starting with 1 and ending with 428. You flip to a random page in the book in a way that it is equally likely to stop at any of the pages. Then you repeat the process.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Event N, turning to an odd numbered page three times in a row. </a:t>
            </a: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Calculate the theoretical probability of Event N. </a:t>
            </a:r>
          </a:p>
        </p:txBody>
      </p:sp>
    </p:spTree>
    <p:extLst>
      <p:ext uri="{BB962C8B-B14F-4D97-AF65-F5344CB8AC3E}">
        <p14:creationId xmlns:p14="http://schemas.microsoft.com/office/powerpoint/2010/main" val="678525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535320C0-DAB2-7C41-B3D0-5B31075C43F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 descr="Splatter pack 2 - Download Free Vector Art, Stock Graphics ..."/>
          <p:cNvPicPr/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314325" y="2580910"/>
            <a:ext cx="3632200" cy="2540000"/>
          </a:xfrm>
          <a:prstGeom prst="rect">
            <a:avLst/>
          </a:prstGeom>
        </p:spPr>
      </p:pic>
      <p:sp>
        <p:nvSpPr>
          <p:cNvPr id="13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14.5.6 Wrap-Up: Reflection</a:t>
            </a:r>
          </a:p>
        </p:txBody>
      </p:sp>
      <p:pic>
        <p:nvPicPr>
          <p:cNvPr id="16" name="Google Shape;469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730266" y="1376212"/>
            <a:ext cx="10800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was the </a:t>
            </a:r>
            <a:r>
              <a:rPr 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muddiest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(most difficult or confusing) point in today’s lesson on calculating theoretical probability?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</TotalTime>
  <Words>1080</Words>
  <Application>Microsoft Office PowerPoint</Application>
  <PresentationFormat>Widescreen</PresentationFormat>
  <Paragraphs>165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8th Grade Math: Pre-Algebra  Unit 14, Lesson 5  Calculating Theoretical Probability of Compound Events  Volume 2, pg. 331  </vt:lpstr>
      <vt:lpstr>PowerPoint Presentation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Try It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Heather  Rideout</cp:lastModifiedBy>
  <cp:revision>35</cp:revision>
  <dcterms:created xsi:type="dcterms:W3CDTF">2015-03-17T18:51:18Z</dcterms:created>
  <dcterms:modified xsi:type="dcterms:W3CDTF">2023-02-06T14:45:53Z</dcterms:modified>
</cp:coreProperties>
</file>