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288" r:id="rId10"/>
    <p:sldId id="323" r:id="rId11"/>
    <p:sldId id="324" r:id="rId12"/>
    <p:sldId id="342" r:id="rId13"/>
    <p:sldId id="347" r:id="rId14"/>
    <p:sldId id="302" r:id="rId15"/>
    <p:sldId id="303" r:id="rId16"/>
    <p:sldId id="350" r:id="rId17"/>
    <p:sldId id="352" r:id="rId18"/>
    <p:sldId id="306" r:id="rId19"/>
    <p:sldId id="307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51A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4890" autoAdjust="0"/>
    <p:restoredTop sz="94694"/>
  </p:normalViewPr>
  <p:slideViewPr>
    <p:cSldViewPr snapToGrid="0">
      <p:cViewPr>
        <p:scale>
          <a:sx n="80" d="100"/>
          <a:sy n="80" d="100"/>
        </p:scale>
        <p:origin x="1776" y="9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37464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9847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3486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924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981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8137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3020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9520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14,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Making Predictions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349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=""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0;g104476d1465_1_1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MA.8.DP.2.1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sample space for a repeated experiment.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8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MA.8.DP.2.2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theoretical probability of an event related to a repeated experiment.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8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MA.8.DP.2.3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real-world problems involving probabilities related to single or repeated experiments, including making predictions based on theoretical probability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2217DB94-8CD9-E344-BEB6-DB518B29A81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6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r>
              <a:rPr lang="en-US" sz="3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A7D39B40-FA5F-1945-A581-51EB744FEBF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theoretical probability to make predictions.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2C7BF6D9-BF7E-4C45-A3A0-4D9A19E544B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5" y="1228396"/>
                <a:ext cx="10800319" cy="344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sum of the following numbers.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0.008          33</m:t>
                      </m:r>
                      <m:f>
                        <m:fPr>
                          <m:ctrlPr>
                            <a:rPr lang="en-US" sz="20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       15%         </m:t>
                      </m:r>
                      <m:f>
                        <m:fPr>
                          <m:ctrlPr>
                            <a:rPr lang="en-US" sz="20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or not these numbers could be the probabilities in a probability distribution.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228396"/>
                <a:ext cx="10800319" cy="3440557"/>
              </a:xfrm>
              <a:prstGeom prst="rect">
                <a:avLst/>
              </a:prstGeom>
              <a:blipFill rotWithShape="1">
                <a:blip r:embed="rId4"/>
                <a:stretch>
                  <a:fillRect l="-621" t="-1064" b="-2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14.8.1 Warm-Up: Sum Probabilities</a:t>
            </a:r>
          </a:p>
        </p:txBody>
      </p:sp>
      <p:pic>
        <p:nvPicPr>
          <p:cNvPr id="16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29070" y="1386025"/>
                <a:ext cx="1100151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Three red marbles,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blue marbles,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yellow marbles,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orange marbles are in a bag.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representation of the marbles is shown.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a marble is chosen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times, with replacement, how many times do you expect to choose a blue marble?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Suppose two marbles are chosen, with replacement. What is the probability that a blue marble is chosen both times? 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this sequence is repeated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 (for a total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marbles), how many times do you expect to choose two blue marbles?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70" y="1386025"/>
                <a:ext cx="11001514" cy="4401205"/>
              </a:xfrm>
              <a:prstGeom prst="rect">
                <a:avLst/>
              </a:prstGeom>
              <a:blipFill rotWithShape="1">
                <a:blip r:embed="rId3"/>
                <a:stretch>
                  <a:fillRect l="-609" t="-8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EC2600D5-FE51-9C45-B0CD-9B63FA18546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449" y="2527903"/>
            <a:ext cx="4333509" cy="547257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56765"/>
            <a:ext cx="10478463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14.8.2 Collaboration: Solving Problems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With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Probability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ical user interface, text, application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25" r="77500" b="77403"/>
          <a:stretch/>
        </p:blipFill>
        <p:spPr bwMode="auto">
          <a:xfrm>
            <a:off x="7176979" y="1750647"/>
            <a:ext cx="1331062" cy="13804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Chart, pie chart&#10;&#10;Description automatically generated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001" r="22666" b="11909"/>
          <a:stretch/>
        </p:blipFill>
        <p:spPr bwMode="auto">
          <a:xfrm>
            <a:off x="3587287" y="1388624"/>
            <a:ext cx="2096209" cy="21045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part of a game, Spinner B is spun and a coin is flipped.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Spinner B			Coin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b="1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spinner lands on a primary color and the coin lands on heads, the player wins.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probability of winning the game? 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game is played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times, what is the predicted number of wins?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016758"/>
              </a:xfrm>
              <a:prstGeom prst="rect">
                <a:avLst/>
              </a:prstGeom>
              <a:blipFill rotWithShape="1">
                <a:blip r:embed="rId5"/>
                <a:stretch>
                  <a:fillRect l="-609" t="-729" r="-1217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E2774663-8BD9-4C47-8B0B-3F2A1E30018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9EF632C0-4346-7C46-A47D-60F9E852BB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7935859"/>
                  </p:ext>
                </p:extLst>
              </p:nvPr>
            </p:nvGraphicFramePr>
            <p:xfrm>
              <a:off x="2546659" y="4013723"/>
              <a:ext cx="7128245" cy="140018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34961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781881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781881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781881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782547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782547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782547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</a:tblGrid>
                  <a:tr h="72682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Heads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6733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Probability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7935859"/>
                  </p:ext>
                </p:extLst>
              </p:nvPr>
            </p:nvGraphicFramePr>
            <p:xfrm>
              <a:off x="2546659" y="4013723"/>
              <a:ext cx="7128245" cy="140018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3496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78188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78188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78188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78254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78254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  <a:gridCol w="78254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6"/>
                        </a:ext>
                      </a:extLst>
                    </a:gridCol>
                  </a:tblGrid>
                  <a:tr h="72682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Heads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0078" t="-1681" r="-497674" b="-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13281" t="-1681" r="-401563" b="-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13281" t="-1681" r="-301563" b="-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613281" t="-1681" r="-201563" b="-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07752" t="-1681" r="-100000" b="-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14063" t="-1681" r="-781" b="-9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733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Probability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0078" t="-109009" r="-497674" b="-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13281" t="-109009" r="-401563" b="-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13281" t="-109009" r="-301563" b="-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613281" t="-109009" r="-201563" b="-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07752" t="-109009" r="-100000" b="-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14063" t="-109009" r="-781" b="-9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1047793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14.8.3 Guided Practice: Predictions in Repeated Experiments</a:t>
            </a: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31D40250-DEDD-2C41-8538-3D4DD18CCC4A}"/>
              </a:ext>
            </a:extLst>
          </p:cNvPr>
          <p:cNvSpPr txBox="1"/>
          <p:nvPr/>
        </p:nvSpPr>
        <p:spPr>
          <a:xfrm>
            <a:off x="731519" y="1491419"/>
            <a:ext cx="107585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Suppose a game is played where a fair coin is tossed 5 times.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none of the tosses result in heads or all of the tosses result in heads,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player wins.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all other outcomes, the player loses.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probability distribution for the possible number of heads is shown below.</a:t>
            </a: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FA2A97BF-3D7B-B547-BD66-4A4651071EA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67585" y="520393"/>
            <a:ext cx="10963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probability that a player wins on their first game? 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probability that a player loses on their first game?</a:t>
            </a:r>
          </a:p>
        </p:txBody>
      </p:sp>
    </p:spTree>
    <p:extLst>
      <p:ext uri="{BB962C8B-B14F-4D97-AF65-F5344CB8AC3E}">
        <p14:creationId xmlns:p14="http://schemas.microsoft.com/office/powerpoint/2010/main" val="132062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15313080-ADE1-E543-977F-AF86C524F91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67585" y="520393"/>
                <a:ext cx="10963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a player plays this game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times, what is the predicted number of wins?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times will a player need to play the game in order to win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winning prize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it costs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play the game, would you want to play this game? Explain your reasoning.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85" y="520393"/>
                <a:ext cx="10963000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556" t="-966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263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=""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3497339A-36B9-2142-AAF4-61C2E4DE6EB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14.8.4 Your Turn!</a:t>
            </a:r>
          </a:p>
        </p:txBody>
      </p:sp>
      <p:pic>
        <p:nvPicPr>
          <p:cNvPr id="15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408886"/>
                <a:ext cx="10800318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Nikita decides to buy some chicken eggs to hatch. She buys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3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eggs because she wants to have three chickens in her yard. She finds out after she orders the eggs that there is a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50%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chance each egg will hatch. 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theoretical probability that only one of the eggs will hatch.</a:t>
                </a:r>
              </a:p>
              <a:p>
                <a:pPr marL="9144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𝑒𝑥𝑎𝑐𝑡𝑙𝑦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𝑒𝑔𝑔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h𝑎𝑡𝑐h𝑒𝑠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theoretical probability that exactly 2 of the eggs will hatch. </a:t>
                </a:r>
              </a:p>
              <a:p>
                <a:pPr marL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𝑒𝑥𝑎𝑐𝑡𝑙𝑦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𝑒𝑔𝑔𝑠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h𝑎𝑡𝑐h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likely is it that all three of Nikita’s eggs hatch?</a:t>
                </a:r>
              </a:p>
              <a:p>
                <a:pPr marL="914400"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3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𝑒𝑔𝑔𝑠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h𝑎𝑡𝑐h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08886"/>
                <a:ext cx="10800318" cy="4247317"/>
              </a:xfrm>
              <a:prstGeom prst="rect">
                <a:avLst/>
              </a:prstGeom>
              <a:blipFill rotWithShape="1">
                <a:blip r:embed="rId5"/>
                <a:stretch>
                  <a:fillRect l="-621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FC9D7F98-E787-6F4D-92A1-6A0986979BF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67585" y="520393"/>
                <a:ext cx="10963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she wants to have three chickens, explain how many eggs she should buy.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Marianne Douglass has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-card deck of cards, each with a unique letter of the alphabet on it.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she chooses two cards, with replacement, what is the probability she chooses her initials, MD, in the correct order?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she chooses a card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times, how many outcomes including an A are expected?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85" y="520393"/>
                <a:ext cx="10963000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556" t="-966" r="-500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525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67585" y="520393"/>
                <a:ext cx="10963000" cy="4594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Ann spins a fair spinner sectioned into seven equal parts, one for each day of the week,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times. She correctly predicts that she will land on Monday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 because the theoretical probability that she lands on Monday is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i="1" dirty="0">
                  <a:latin typeface="Cambria Math" panose="02040503050406030204" pitchFamily="18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 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                           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fair six-sided die is rolled four times. The probability of rolling the same number on all four rolls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If this experiment is performed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 (for a total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rolls), predict the number of repetitions that will result in all four rolls landing on the same number.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85" y="520393"/>
                <a:ext cx="10963000" cy="4594912"/>
              </a:xfrm>
              <a:prstGeom prst="rect">
                <a:avLst/>
              </a:prstGeom>
              <a:blipFill rotWithShape="1">
                <a:blip r:embed="rId3"/>
                <a:stretch>
                  <a:fillRect l="-556" t="-796" b="-1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FC9D7F98-E787-6F4D-92A1-6A0986979BF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54409" y="1575456"/>
            <a:ext cx="1079256" cy="5688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154409" y="2358928"/>
            <a:ext cx="1079256" cy="5688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653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535320C0-DAB2-7C41-B3D0-5B31075C43F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2102" y="2057557"/>
            <a:ext cx="6576646" cy="427542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14.8.5 Wrap-Up: Reflection</a:t>
            </a: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10800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icon that best describes your understanding of each concept.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611</Words>
  <Application>Microsoft Macintosh PowerPoint</Application>
  <PresentationFormat>Widescreen</PresentationFormat>
  <Paragraphs>165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Verdana</vt:lpstr>
      <vt:lpstr>Wingdings</vt:lpstr>
      <vt:lpstr>Arial</vt:lpstr>
      <vt:lpstr>Calibri</vt:lpstr>
      <vt:lpstr>Arial Black</vt:lpstr>
      <vt:lpstr>Century Gothic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36</cp:revision>
  <dcterms:created xsi:type="dcterms:W3CDTF">2015-03-17T18:51:18Z</dcterms:created>
  <dcterms:modified xsi:type="dcterms:W3CDTF">2022-07-22T18:31:04Z</dcterms:modified>
</cp:coreProperties>
</file>