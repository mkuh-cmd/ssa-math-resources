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14" r:id="rId8"/>
    <p:sldId id="315" r:id="rId9"/>
    <p:sldId id="288" r:id="rId10"/>
    <p:sldId id="352" r:id="rId11"/>
    <p:sldId id="353" r:id="rId12"/>
    <p:sldId id="354" r:id="rId13"/>
    <p:sldId id="355" r:id="rId14"/>
    <p:sldId id="342" r:id="rId15"/>
    <p:sldId id="356" r:id="rId16"/>
    <p:sldId id="357" r:id="rId17"/>
    <p:sldId id="302" r:id="rId18"/>
    <p:sldId id="303" r:id="rId19"/>
    <p:sldId id="358" r:id="rId20"/>
    <p:sldId id="306" r:id="rId21"/>
    <p:sldId id="307"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20940" autoAdjust="0"/>
    <p:restoredTop sz="94694"/>
  </p:normalViewPr>
  <p:slideViewPr>
    <p:cSldViewPr snapToGrid="0">
      <p:cViewPr varScale="1">
        <p:scale>
          <a:sx n="128" d="100"/>
          <a:sy n="128" d="100"/>
        </p:scale>
        <p:origin x="147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3174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14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649756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635608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36226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92004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31790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766106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58668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73734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994107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7" name="Google Shape;261;g104476d1465_0_0"/>
          <p:cNvSpPr txBox="1">
            <a:spLocks/>
          </p:cNvSpPr>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14,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Problems Using Probability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344</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pic>
        <p:nvPicPr>
          <p:cNvPr id="8" name="Picture 7" descr="Logo&#10;&#10;Description automatically generated">
            <a:extLst>
              <a:ext uri="{FF2B5EF4-FFF2-40B4-BE49-F238E27FC236}">
                <a16:creationId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918611"/>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Determine the sample space for a repeated experiment.</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Find the theoretical probability of an event related to a repeated experiment.</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MA.8.DP.2.3</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Solve real-world problems involving probabilities related to single or repeated experiments, including making predictions based on theoretical probability.</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8;g104476d1465_1_17">
            <a:extLst>
              <a:ext uri="{FF2B5EF4-FFF2-40B4-BE49-F238E27FC236}">
                <a16:creationId xmlns:a16="http://schemas.microsoft.com/office/drawing/2014/main" id="{2217DB94-8CD9-E344-BEB6-DB518B29A81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344</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4"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5"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6"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b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id="{A7D39B40-FA5F-1945-A581-51EB744FEBF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344</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6"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7"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use theoretical probability to make predictions.</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E1D7562E-134F-D14B-AF1A-DF40E11EF758}"/>
              </a:ext>
            </a:extLst>
          </p:cNvPr>
          <p:cNvSpPr txBox="1"/>
          <p:nvPr/>
        </p:nvSpPr>
        <p:spPr>
          <a:xfrm>
            <a:off x="730265" y="1228396"/>
            <a:ext cx="10800319" cy="317009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many different meals are possible if each meal includes one main course, one side dish, and one drink?</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Compare your calculations with your partner. Explain whether or not you solved the problem the same way.</a:t>
            </a:r>
          </a:p>
        </p:txBody>
      </p:sp>
      <p:sp>
        <p:nvSpPr>
          <p:cNvPr id="9" name="Google Shape;278;g104476d1465_1_17">
            <a:extLst>
              <a:ext uri="{FF2B5EF4-FFF2-40B4-BE49-F238E27FC236}">
                <a16:creationId xmlns:a16="http://schemas.microsoft.com/office/drawing/2014/main" id="{2C7BF6D9-BF7E-4C45-A3A0-4D9A19E544B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p:cNvGraphicFramePr>
            <a:graphicFrameLocks noGrp="1"/>
          </p:cNvGraphicFramePr>
          <p:nvPr>
            <p:extLst>
              <p:ext uri="{D42A27DB-BD31-4B8C-83A1-F6EECF244321}">
                <p14:modId xmlns:p14="http://schemas.microsoft.com/office/powerpoint/2010/main" val="3652694433"/>
              </p:ext>
            </p:extLst>
          </p:nvPr>
        </p:nvGraphicFramePr>
        <p:xfrm>
          <a:off x="1320003" y="2149405"/>
          <a:ext cx="6809013" cy="1206639"/>
        </p:xfrm>
        <a:graphic>
          <a:graphicData uri="http://schemas.openxmlformats.org/drawingml/2006/table">
            <a:tbl>
              <a:tblPr firstRow="1" firstCol="1" lastRow="1" lastCol="1">
                <a:tableStyleId>{5940675A-B579-460E-94D1-54222C63F5DA}</a:tableStyleId>
              </a:tblPr>
              <a:tblGrid>
                <a:gridCol w="2269671">
                  <a:extLst>
                    <a:ext uri="{9D8B030D-6E8A-4147-A177-3AD203B41FA5}">
                      <a16:colId xmlns:a16="http://schemas.microsoft.com/office/drawing/2014/main" val="20000"/>
                    </a:ext>
                  </a:extLst>
                </a:gridCol>
                <a:gridCol w="2269671">
                  <a:extLst>
                    <a:ext uri="{9D8B030D-6E8A-4147-A177-3AD203B41FA5}">
                      <a16:colId xmlns:a16="http://schemas.microsoft.com/office/drawing/2014/main" val="20001"/>
                    </a:ext>
                  </a:extLst>
                </a:gridCol>
                <a:gridCol w="2269671">
                  <a:extLst>
                    <a:ext uri="{9D8B030D-6E8A-4147-A177-3AD203B41FA5}">
                      <a16:colId xmlns:a16="http://schemas.microsoft.com/office/drawing/2014/main" val="20002"/>
                    </a:ext>
                  </a:extLst>
                </a:gridCol>
              </a:tblGrid>
              <a:tr h="38638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Main Courses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Side Dishes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Drinks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86382">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grilled chicken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salad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milk</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387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pasta salad</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applesauce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juice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344</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14.7.1 Warm-Up: Meal Combinations</a:t>
            </a:r>
          </a:p>
        </p:txBody>
      </p:sp>
      <p:pic>
        <p:nvPicPr>
          <p:cNvPr id="16"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78;g104476d1465_1_17">
            <a:extLst>
              <a:ext uri="{FF2B5EF4-FFF2-40B4-BE49-F238E27FC236}">
                <a16:creationId xmlns:a16="http://schemas.microsoft.com/office/drawing/2014/main" id="{EC2600D5-FE51-9C45-B0CD-9B63FA1854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3" name="Picture 1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86724" y="2954013"/>
            <a:ext cx="3309937" cy="2559043"/>
          </a:xfrm>
          <a:prstGeom prst="rect">
            <a:avLst/>
          </a:prstGeom>
        </p:spPr>
      </p:pic>
      <p:sp>
        <p:nvSpPr>
          <p:cNvPr id="3" name="Rectangle 2"/>
          <p:cNvSpPr/>
          <p:nvPr/>
        </p:nvSpPr>
        <p:spPr>
          <a:xfrm>
            <a:off x="529069" y="2954013"/>
            <a:ext cx="7557655" cy="1938992"/>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Consider a litter of puppies in which the father of the dogs has a short tail, and his genetic code for that is “Tt.” The mother of the litter also has a short tail with the same genetic code “Tt.” Here is how a Punnett Square can be used to determine the sample space for tails of the puppies in the litter.</a:t>
            </a: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156765"/>
            <a:ext cx="10478463"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14.7.2 Collaboration: Making Predictions With Punnett Squares</a:t>
            </a:r>
          </a:p>
        </p:txBody>
      </p:sp>
      <p:pic>
        <p:nvPicPr>
          <p:cNvPr id="17"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44DF7DE-9172-3E4E-B74A-7A51585FB6EA}"/>
              </a:ext>
            </a:extLst>
          </p:cNvPr>
          <p:cNvSpPr txBox="1"/>
          <p:nvPr/>
        </p:nvSpPr>
        <p:spPr>
          <a:xfrm>
            <a:off x="529070" y="1386025"/>
            <a:ext cx="11001514" cy="132343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Math can be used to help make sense of scientific processes. To study genetics, scientists use </a:t>
            </a: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Squares. </a:t>
            </a: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Squares can be used to determine what traits parents can pass on to their offspring and how likely it is that they pass on certain traits. </a:t>
            </a: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AA35BC6-D428-FC41-BDE5-6438AB8840FC}"/>
                  </a:ext>
                </a:extLst>
              </p:cNvPr>
              <p:cNvSpPr txBox="1"/>
              <p:nvPr/>
            </p:nvSpPr>
            <p:spPr>
              <a:xfrm>
                <a:off x="540565" y="410666"/>
                <a:ext cx="11018226" cy="5458354"/>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Punnett Square 1 shows that the puppies in the litter can either have a long tail (</a:t>
                </a:r>
                <a:r>
                  <a:rPr lang="en-US" sz="2000" dirty="0" err="1">
                    <a:latin typeface="Verdana" panose="020B0604030504040204" pitchFamily="34" charset="0"/>
                    <a:ea typeface="Verdana" panose="020B0604030504040204" pitchFamily="34" charset="0"/>
                    <a:cs typeface="Verdana" panose="020B0604030504040204" pitchFamily="34" charset="0"/>
                  </a:rPr>
                  <a:t>tt</a:t>
                </a:r>
                <a:r>
                  <a:rPr lang="en-US" sz="2000" dirty="0">
                    <a:latin typeface="Verdana" panose="020B0604030504040204" pitchFamily="34" charset="0"/>
                    <a:ea typeface="Verdana" panose="020B0604030504040204" pitchFamily="34" charset="0"/>
                    <a:cs typeface="Verdana" panose="020B0604030504040204" pitchFamily="34" charset="0"/>
                  </a:rPr>
                  <a:t>) or a short tail (Tt or TT). The Punnett Square can be used to make predictions about the litters of puppies from these parents to find how likely it is for the puppies in the litter to have certain traits.</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theoretical probability that a puppy from this litter will have a long tail (</a:t>
                </a:r>
                <a:r>
                  <a:rPr lang="en-US" sz="2000" dirty="0" err="1">
                    <a:latin typeface="Verdana" panose="020B0604030504040204" pitchFamily="34" charset="0"/>
                    <a:ea typeface="Verdana" panose="020B0604030504040204" pitchFamily="34" charset="0"/>
                    <a:cs typeface="Verdana" panose="020B0604030504040204" pitchFamily="34" charset="0"/>
                  </a:rPr>
                  <a:t>tt</a:t>
                </a:r>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a:br>
                  <a:rPr lang="en-US" sz="2000" dirty="0"/>
                </a:br>
                <a:br>
                  <a:rPr lang="en-US" sz="2000" dirty="0"/>
                </a:br>
                <a:endParaRPr lang="en-US" sz="2000" dirty="0"/>
              </a:p>
              <a:p>
                <a:pPr marL="914400"/>
                <a:r>
                  <a:rPr lang="en-US" sz="2000" dirty="0">
                    <a:latin typeface="Verdana" panose="020B0604030504040204" pitchFamily="34" charset="0"/>
                    <a:ea typeface="Verdana" panose="020B0604030504040204" pitchFamily="34" charset="0"/>
                    <a:cs typeface="Verdana" panose="020B0604030504040204" pitchFamily="34" charset="0"/>
                  </a:rPr>
                  <a:t>P(long tail-</a:t>
                </a:r>
                <a:r>
                  <a:rPr lang="en-US" sz="2000" dirty="0" err="1">
                    <a:latin typeface="Verdana" panose="020B0604030504040204" pitchFamily="34" charset="0"/>
                    <a:ea typeface="Verdana" panose="020B0604030504040204" pitchFamily="34" charset="0"/>
                    <a:cs typeface="Verdana" panose="020B0604030504040204" pitchFamily="34" charset="0"/>
                  </a:rPr>
                  <a:t>tt</a:t>
                </a:r>
                <a:r>
                  <a:rPr lang="en-US" sz="2000" dirty="0">
                    <a:latin typeface="Verdana" panose="020B0604030504040204" pitchFamily="34" charset="0"/>
                    <a:ea typeface="Verdana" panose="020B0604030504040204" pitchFamily="34" charset="0"/>
                    <a:cs typeface="Verdana" panose="020B0604030504040204" pitchFamily="34" charset="0"/>
                  </a:rPr>
                  <a:t>) =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2813"/>
                <a:r>
                  <a:rPr lang="en-US" sz="2000" dirty="0">
                    <a:latin typeface="Verdana" panose="020B0604030504040204" pitchFamily="34" charset="0"/>
                    <a:ea typeface="Verdana" panose="020B0604030504040204" pitchFamily="34" charset="0"/>
                    <a:cs typeface="Verdana" panose="020B0604030504040204" pitchFamily="34" charset="0"/>
                  </a:rPr>
                  <a:t>P(long tail-</a:t>
                </a:r>
                <a:r>
                  <a:rPr lang="en-US" sz="2000" dirty="0" err="1">
                    <a:latin typeface="Verdana" panose="020B0604030504040204" pitchFamily="34" charset="0"/>
                    <a:ea typeface="Verdana" panose="020B0604030504040204" pitchFamily="34" charset="0"/>
                    <a:cs typeface="Verdana" panose="020B0604030504040204" pitchFamily="34" charset="0"/>
                  </a:rPr>
                  <a:t>tt</a:t>
                </a:r>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                            </m:t>
                        </m:r>
                      </m:den>
                    </m:f>
                    <m:r>
                      <a:rPr lang="en-US" sz="2000" i="1">
                        <a:latin typeface="Cambria Math" panose="02040503050406030204" pitchFamily="18" charset="0"/>
                        <a:ea typeface="Verdana" panose="020B0604030504040204" pitchFamily="34" charset="0"/>
                        <a:cs typeface="Verdana" panose="020B0604030504040204" pitchFamily="34" charset="0"/>
                      </a:rPr>
                      <m:t>=</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25</m:t>
                        </m:r>
                      </m:num>
                      <m:den>
                        <m:r>
                          <a:rPr lang="en-US" sz="2000" i="1">
                            <a:latin typeface="Cambria Math" panose="02040503050406030204" pitchFamily="18" charset="0"/>
                            <a:ea typeface="Verdana" panose="020B0604030504040204" pitchFamily="34" charset="0"/>
                            <a:cs typeface="Verdana" panose="020B0604030504040204" pitchFamily="34" charset="0"/>
                          </a:rPr>
                          <m:t>100</m:t>
                        </m:r>
                      </m:den>
                    </m:f>
                    <m:r>
                      <a:rPr lang="en-US" sz="2000" i="1">
                        <a:latin typeface="Cambria Math" panose="02040503050406030204" pitchFamily="18" charset="0"/>
                        <a:ea typeface="Verdana" panose="020B0604030504040204" pitchFamily="34" charset="0"/>
                        <a:cs typeface="Verdana" panose="020B0604030504040204" pitchFamily="34" charset="0"/>
                      </a:rPr>
                      <m:t>=                    =                   %</m:t>
                    </m:r>
                  </m:oMath>
                </a14:m>
                <a:br>
                  <a:rPr lang="en-US" sz="2000" dirty="0">
                    <a:latin typeface="Verdana" panose="020B0604030504040204" pitchFamily="34" charset="0"/>
                    <a:ea typeface="Verdana" panose="020B0604030504040204" pitchFamily="34" charset="0"/>
                    <a:cs typeface="Verdana" panose="020B0604030504040204" pitchFamily="34" charset="0"/>
                  </a:rPr>
                </a:b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7" name="TextBox 16">
                <a:extLst>
                  <a:ext uri="{FF2B5EF4-FFF2-40B4-BE49-F238E27FC236}">
                    <a16:creationId xmlns="" xmlns:a16="http://schemas.microsoft.com/office/drawing/2014/main"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1018226" cy="5458354"/>
              </a:xfrm>
              <a:prstGeom prst="rect">
                <a:avLst/>
              </a:prstGeom>
              <a:blipFill rotWithShape="1">
                <a:blip r:embed="rId3"/>
                <a:stretch>
                  <a:fillRect l="-609" t="-670" r="-49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E2774663-8BD9-4C47-8B0B-3F2A1E300184}"/>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3667106" y="2895937"/>
            <a:ext cx="3900806" cy="1559747"/>
            <a:chOff x="4715976" y="3084195"/>
            <a:chExt cx="3900806" cy="1559747"/>
          </a:xfrm>
        </p:grpSpPr>
        <p:cxnSp>
          <p:nvCxnSpPr>
            <p:cNvPr id="7" name="Straight Connector 6"/>
            <p:cNvCxnSpPr/>
            <p:nvPr/>
          </p:nvCxnSpPr>
          <p:spPr>
            <a:xfrm>
              <a:off x="4715977" y="3864068"/>
              <a:ext cx="390080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334"/>
            <p:cNvSpPr txBox="1"/>
            <p:nvPr/>
          </p:nvSpPr>
          <p:spPr>
            <a:xfrm>
              <a:off x="4715976" y="3084195"/>
              <a:ext cx="3827780" cy="6896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2000" dirty="0">
                  <a:latin typeface="Verdana" panose="020B0604030504040204" pitchFamily="34" charset="0"/>
                  <a:ea typeface="Times New Roman" panose="02020603050405020304" pitchFamily="18" charset="0"/>
                  <a:cs typeface="Cambria" panose="02040503050406030204" pitchFamily="18" charset="0"/>
                </a:rPr>
                <a:t>the number of combinations that result in a long tail</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sp>
          <p:nvSpPr>
            <p:cNvPr id="9" name="Text Box 335"/>
            <p:cNvSpPr txBox="1"/>
            <p:nvPr/>
          </p:nvSpPr>
          <p:spPr>
            <a:xfrm>
              <a:off x="4715976" y="3954332"/>
              <a:ext cx="3827780" cy="6896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2000" dirty="0">
                  <a:latin typeface="Verdana" panose="020B0604030504040204" pitchFamily="34" charset="0"/>
                  <a:ea typeface="Times New Roman" panose="02020603050405020304" pitchFamily="18" charset="0"/>
                  <a:cs typeface="Cambria" panose="02040503050406030204" pitchFamily="18" charset="0"/>
                </a:rPr>
                <a:t>the number of </a:t>
              </a:r>
              <a:br>
                <a:rPr lang="en-US" sz="2000" dirty="0">
                  <a:latin typeface="Verdana" panose="020B0604030504040204" pitchFamily="34" charset="0"/>
                  <a:ea typeface="Times New Roman" panose="02020603050405020304" pitchFamily="18" charset="0"/>
                  <a:cs typeface="Cambria" panose="02040503050406030204" pitchFamily="18" charset="0"/>
                </a:rPr>
              </a:br>
              <a:r>
                <a:rPr lang="en-US" sz="2000" dirty="0">
                  <a:latin typeface="Verdana" panose="020B0604030504040204" pitchFamily="34" charset="0"/>
                  <a:ea typeface="Times New Roman" panose="02020603050405020304" pitchFamily="18" charset="0"/>
                  <a:cs typeface="Cambria" panose="02040503050406030204" pitchFamily="18" charset="0"/>
                </a:rPr>
                <a:t>total combinations</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grpSp>
      <p:sp>
        <p:nvSpPr>
          <p:cNvPr id="10" name="Rounded Rectangle 9"/>
          <p:cNvSpPr/>
          <p:nvPr/>
        </p:nvSpPr>
        <p:spPr>
          <a:xfrm>
            <a:off x="5813426" y="5032294"/>
            <a:ext cx="928267" cy="46736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ounded Rectangle 10"/>
          <p:cNvSpPr/>
          <p:nvPr/>
        </p:nvSpPr>
        <p:spPr>
          <a:xfrm>
            <a:off x="7103778" y="5032294"/>
            <a:ext cx="928267" cy="46736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ounded Rectangle 12"/>
          <p:cNvSpPr/>
          <p:nvPr/>
        </p:nvSpPr>
        <p:spPr>
          <a:xfrm>
            <a:off x="3774749" y="5365084"/>
            <a:ext cx="928267" cy="46736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1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E2774663-8BD9-4C47-8B0B-3F2A1E300184}"/>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830997"/>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theoretical probability that a puppy from this litter will have a short tail (TT or </a:t>
            </a:r>
            <a:r>
              <a:rPr lang="en-US" sz="2400" dirty="0" err="1">
                <a:latin typeface="Verdana" panose="020B0604030504040204" pitchFamily="34" charset="0"/>
                <a:ea typeface="Verdana" panose="020B0604030504040204" pitchFamily="34" charset="0"/>
                <a:cs typeface="Verdana" panose="020B0604030504040204" pitchFamily="34" charset="0"/>
              </a:rPr>
              <a:t>Tt</a:t>
            </a:r>
            <a:r>
              <a:rPr lang="en-US" sz="2400" dirty="0">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984588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AA35BC6-D428-FC41-BDE5-6438AB8840FC}"/>
                  </a:ext>
                </a:extLst>
              </p:cNvPr>
              <p:cNvSpPr txBox="1"/>
              <p:nvPr/>
            </p:nvSpPr>
            <p:spPr>
              <a:xfrm>
                <a:off x="540565" y="410666"/>
                <a:ext cx="11018226" cy="4041427"/>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Use one of these probabilities to predict how many puppies in a litter of </a:t>
                </a:r>
                <a:r>
                  <a:rPr lang="en-US" sz="2000" dirty="0">
                    <a:latin typeface="Cambria Math" panose="02040503050406030204" pitchFamily="18" charset="0"/>
                    <a:ea typeface="Cambria Math" panose="02040503050406030204" pitchFamily="18" charset="0"/>
                    <a:cs typeface="Verdana" panose="020B0604030504040204" pitchFamily="34" charset="0"/>
                  </a:rPr>
                  <a:t>8</a:t>
                </a:r>
                <a:r>
                  <a:rPr lang="en-US" sz="2000" dirty="0">
                    <a:latin typeface="Verdana" panose="020B0604030504040204" pitchFamily="34" charset="0"/>
                    <a:ea typeface="Verdana" panose="020B0604030504040204" pitchFamily="34" charset="0"/>
                    <a:cs typeface="Verdana" panose="020B0604030504040204" pitchFamily="34" charset="0"/>
                  </a:rPr>
                  <a:t> would have long tails.</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According to the Punnett Square, there is a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chance these puppies will have a long tail. That means in a litter of 4 puppies, one is expected to have a long tail. If the litter has double the puppies, or eight puppies, equivalent fractions can be used to calculate the number of puppies who are predicted to have a long tail.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For example,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r>
                      <a:rPr lang="en-US" sz="2000" i="1">
                        <a:latin typeface="Cambria Math" panose="02040503050406030204" pitchFamily="18" charset="0"/>
                        <a:ea typeface="Verdana" panose="020B0604030504040204" pitchFamily="34" charset="0"/>
                        <a:cs typeface="Verdana" panose="020B0604030504040204" pitchFamily="34" charset="0"/>
                      </a:rPr>
                      <m:t>=</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                  </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dogs are expected to have a long tail from the litter of </a:t>
                </a:r>
                <a:r>
                  <a:rPr lang="en-US" sz="2000" dirty="0">
                    <a:latin typeface="Cambria Math" panose="02040503050406030204" pitchFamily="18" charset="0"/>
                    <a:ea typeface="Cambria Math" panose="02040503050406030204" pitchFamily="18" charset="0"/>
                    <a:cs typeface="Verdana" panose="020B0604030504040204" pitchFamily="34" charset="0"/>
                  </a:rPr>
                  <a:t>8</a:t>
                </a:r>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1" name="TextBox 10">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0666"/>
                <a:ext cx="11018226" cy="4041427"/>
              </a:xfrm>
              <a:prstGeom prst="rect">
                <a:avLst/>
              </a:prstGeom>
              <a:blipFill>
                <a:blip r:embed="rId3"/>
                <a:stretch>
                  <a:fillRect l="-575" t="-1254" r="-1266" b="-188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E2774663-8BD9-4C47-8B0B-3F2A1E300184}"/>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Rounded Rectangle 6"/>
          <p:cNvSpPr/>
          <p:nvPr/>
        </p:nvSpPr>
        <p:spPr>
          <a:xfrm>
            <a:off x="3391626" y="3392713"/>
            <a:ext cx="521788" cy="4112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ounded Rectangle 1">
            <a:extLst>
              <a:ext uri="{FF2B5EF4-FFF2-40B4-BE49-F238E27FC236}">
                <a16:creationId xmlns:a16="http://schemas.microsoft.com/office/drawing/2014/main" id="{2D567E92-E36B-4D03-A0D1-936AD022D5BF}"/>
              </a:ext>
            </a:extLst>
          </p:cNvPr>
          <p:cNvSpPr/>
          <p:nvPr/>
        </p:nvSpPr>
        <p:spPr>
          <a:xfrm>
            <a:off x="4250657" y="3558606"/>
            <a:ext cx="521788" cy="4112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213298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E2774663-8BD9-4C47-8B0B-3F2A1E300184}"/>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4105558" y="3433050"/>
            <a:ext cx="3888240" cy="2869309"/>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2862322"/>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Throughout their lives, these two dogs were parents to </a:t>
            </a:r>
            <a:r>
              <a:rPr lang="en-US" sz="2000" dirty="0">
                <a:latin typeface="Cambria Math" panose="02040503050406030204" pitchFamily="18" charset="0"/>
                <a:ea typeface="Cambria Math" panose="02040503050406030204" pitchFamily="18" charset="0"/>
                <a:cs typeface="Verdana" panose="020B0604030504040204" pitchFamily="34" charset="0"/>
              </a:rPr>
              <a:t>4</a:t>
            </a:r>
            <a:r>
              <a:rPr lang="en-US" sz="2000" dirty="0">
                <a:latin typeface="Verdana" panose="020B0604030504040204" pitchFamily="34" charset="0"/>
                <a:ea typeface="Verdana" panose="020B0604030504040204" pitchFamily="34" charset="0"/>
                <a:cs typeface="Verdana" panose="020B0604030504040204" pitchFamily="34" charset="0"/>
              </a:rPr>
              <a:t> litters, a total of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Cambria Math" panose="02040503050406030204" pitchFamily="18" charset="0"/>
                <a:ea typeface="Cambria Math" panose="02040503050406030204" pitchFamily="18" charset="0"/>
                <a:cs typeface="Verdana" panose="020B0604030504040204" pitchFamily="34" charset="0"/>
              </a:rPr>
              <a:t>28</a:t>
            </a:r>
            <a:r>
              <a:rPr lang="en-US" sz="2000" dirty="0">
                <a:latin typeface="Verdana" panose="020B0604030504040204" pitchFamily="34" charset="0"/>
                <a:ea typeface="Verdana" panose="020B0604030504040204" pitchFamily="34" charset="0"/>
                <a:cs typeface="Verdana" panose="020B0604030504040204" pitchFamily="34" charset="0"/>
              </a:rPr>
              <a:t> dogs. Of these </a:t>
            </a:r>
            <a:r>
              <a:rPr lang="en-US" sz="2000" dirty="0">
                <a:latin typeface="Cambria Math" panose="02040503050406030204" pitchFamily="18" charset="0"/>
                <a:ea typeface="Cambria Math" panose="02040503050406030204" pitchFamily="18" charset="0"/>
                <a:cs typeface="Verdana" panose="020B0604030504040204" pitchFamily="34" charset="0"/>
              </a:rPr>
              <a:t>28</a:t>
            </a:r>
            <a:r>
              <a:rPr lang="en-US" sz="2000" dirty="0">
                <a:latin typeface="Verdana" panose="020B0604030504040204" pitchFamily="34" charset="0"/>
                <a:ea typeface="Verdana" panose="020B0604030504040204" pitchFamily="34" charset="0"/>
                <a:cs typeface="Verdana" panose="020B0604030504040204" pitchFamily="34" charset="0"/>
              </a:rPr>
              <a:t> dogs, how many are expected to have short tails? </a:t>
            </a:r>
            <a:br>
              <a:rPr lang="en-US" sz="2000" dirty="0">
                <a:latin typeface="Verdana" panose="020B0604030504040204" pitchFamily="34" charset="0"/>
                <a:ea typeface="Verdana" panose="020B0604030504040204" pitchFamily="34" charset="0"/>
                <a:cs typeface="Verdana" panose="020B0604030504040204" pitchFamily="34" charset="0"/>
              </a:rPr>
            </a:br>
            <a:endParaRPr lang="en-US" sz="2000" dirty="0">
              <a:latin typeface="Verdana" panose="020B0604030504040204" pitchFamily="34" charset="0"/>
              <a:ea typeface="Verdana" panose="020B0604030504040204" pitchFamily="34" charset="0"/>
              <a:cs typeface="Verdana" panose="020B0604030504040204" pitchFamily="34" charset="0"/>
            </a:endParaRPr>
          </a:p>
          <a:p>
            <a:pPr marL="865188"/>
            <a:r>
              <a:rPr lang="en-US" sz="2000" dirty="0">
                <a:latin typeface="Verdana" panose="020B0604030504040204" pitchFamily="34" charset="0"/>
                <a:ea typeface="Verdana" panose="020B0604030504040204" pitchFamily="34" charset="0"/>
                <a:cs typeface="Verdana" panose="020B0604030504040204" pitchFamily="34" charset="0"/>
              </a:rPr>
              <a:t>_____ of the </a:t>
            </a:r>
            <a:r>
              <a:rPr lang="en-US" sz="2000" dirty="0">
                <a:latin typeface="Cambria Math" panose="02040503050406030204" pitchFamily="18" charset="0"/>
                <a:ea typeface="Cambria Math" panose="02040503050406030204" pitchFamily="18" charset="0"/>
                <a:cs typeface="Verdana" panose="020B0604030504040204" pitchFamily="34" charset="0"/>
              </a:rPr>
              <a:t>28</a:t>
            </a:r>
            <a:r>
              <a:rPr lang="en-US" sz="2000" dirty="0">
                <a:latin typeface="Verdana" panose="020B0604030504040204" pitchFamily="34" charset="0"/>
                <a:ea typeface="Verdana" panose="020B0604030504040204" pitchFamily="34" charset="0"/>
                <a:cs typeface="Verdana" panose="020B0604030504040204" pitchFamily="34" charset="0"/>
              </a:rPr>
              <a:t> dogs are expected to be born with a short tail.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Complete </a:t>
            </a: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 2 to make a different kind of prediction. This </a:t>
            </a: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 shows the possible traits of puppies whose father’s tail code is “</a:t>
            </a:r>
            <a:r>
              <a:rPr lang="en-US" sz="2000" dirty="0" err="1">
                <a:latin typeface="Verdana" panose="020B0604030504040204" pitchFamily="34" charset="0"/>
                <a:ea typeface="Verdana" panose="020B0604030504040204" pitchFamily="34" charset="0"/>
                <a:cs typeface="Verdana" panose="020B0604030504040204" pitchFamily="34" charset="0"/>
              </a:rPr>
              <a:t>tt</a:t>
            </a:r>
            <a:r>
              <a:rPr lang="en-US" sz="2000" dirty="0">
                <a:latin typeface="Verdana" panose="020B0604030504040204" pitchFamily="34" charset="0"/>
                <a:ea typeface="Verdana" panose="020B0604030504040204" pitchFamily="34" charset="0"/>
                <a:cs typeface="Verdana" panose="020B0604030504040204" pitchFamily="34" charset="0"/>
              </a:rPr>
              <a:t>,” meaning he has a long tail, and whose mother’s tail code is “</a:t>
            </a:r>
            <a:r>
              <a:rPr lang="en-US" sz="2000" dirty="0" err="1">
                <a:latin typeface="Verdana" panose="020B0604030504040204" pitchFamily="34" charset="0"/>
                <a:ea typeface="Verdana" panose="020B0604030504040204" pitchFamily="34" charset="0"/>
                <a:cs typeface="Verdana" panose="020B0604030504040204" pitchFamily="34" charset="0"/>
              </a:rPr>
              <a:t>Tt</a:t>
            </a:r>
            <a:r>
              <a:rPr lang="en-US" sz="2000" dirty="0">
                <a:latin typeface="Verdana" panose="020B0604030504040204" pitchFamily="34" charset="0"/>
                <a:ea typeface="Verdana" panose="020B0604030504040204" pitchFamily="34" charset="0"/>
                <a:cs typeface="Verdana" panose="020B0604030504040204" pitchFamily="34" charset="0"/>
              </a:rPr>
              <a:t>,” which results in a short tail.</a:t>
            </a:r>
          </a:p>
        </p:txBody>
      </p:sp>
    </p:spTree>
    <p:extLst>
      <p:ext uri="{BB962C8B-B14F-4D97-AF65-F5344CB8AC3E}">
        <p14:creationId xmlns:p14="http://schemas.microsoft.com/office/powerpoint/2010/main" val="16185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E2774663-8BD9-4C47-8B0B-3F2A1E300184}"/>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4093428"/>
          </a:xfrm>
          <a:prstGeom prst="rect">
            <a:avLst/>
          </a:prstGeom>
          <a:noFill/>
        </p:spPr>
        <p:txBody>
          <a:bodyPr wrap="square" rtlCol="0">
            <a:spAutoFit/>
          </a:bodyPr>
          <a:lstStyle/>
          <a:p>
            <a:pPr marL="914400" lvl="1" indent="-457200">
              <a:buFont typeface="+mj-lt"/>
              <a:buAutoNum type="alphaLcPeriod"/>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What is the likelihood that these offspring will have short tails? Write the answer in decimal form.</a:t>
            </a:r>
          </a:p>
          <a:p>
            <a:pPr marL="914400" lvl="1" indent="-457200">
              <a:buFont typeface="+mj-lt"/>
              <a:buAutoNum type="alphaLcPeriod"/>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What is the likelihood that these offspring will not have short tails? Write the answer in decimal form.</a:t>
            </a:r>
          </a:p>
          <a:p>
            <a:pPr marL="914400" lvl="1" indent="-457200">
              <a:buFont typeface="+mj-lt"/>
              <a:buAutoNum type="alphaLcPeriod"/>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tabLst>
                <a:tab pos="293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tabLst>
                <a:tab pos="293688" algn="l"/>
              </a:tabLst>
            </a:pPr>
            <a:r>
              <a:rPr lang="en-US" sz="2000" dirty="0">
                <a:latin typeface="Verdana" panose="020B0604030504040204" pitchFamily="34" charset="0"/>
                <a:ea typeface="Verdana" panose="020B0604030504040204" pitchFamily="34" charset="0"/>
                <a:cs typeface="Verdana" panose="020B0604030504040204" pitchFamily="34" charset="0"/>
              </a:rPr>
              <a:t>Suppose that over time these parents have </a:t>
            </a:r>
            <a:r>
              <a:rPr lang="en-US" sz="2000" dirty="0">
                <a:latin typeface="Cambria Math" panose="02040503050406030204" pitchFamily="18" charset="0"/>
                <a:ea typeface="Cambria Math" panose="02040503050406030204" pitchFamily="18" charset="0"/>
                <a:cs typeface="Verdana" panose="020B0604030504040204" pitchFamily="34" charset="0"/>
              </a:rPr>
              <a:t>12</a:t>
            </a:r>
            <a:r>
              <a:rPr lang="en-US" sz="2000" dirty="0">
                <a:latin typeface="Verdana" panose="020B0604030504040204" pitchFamily="34" charset="0"/>
                <a:ea typeface="Verdana" panose="020B0604030504040204" pitchFamily="34" charset="0"/>
                <a:cs typeface="Verdana" panose="020B0604030504040204" pitchFamily="34" charset="0"/>
              </a:rPr>
              <a:t> puppies with short tails. How many total dogs are expected for these parents to have had?</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Use equivalent fractions to calculate how many total puppies these two parents had over time.</a:t>
            </a:r>
          </a:p>
        </p:txBody>
      </p:sp>
    </p:spTree>
    <p:extLst>
      <p:ext uri="{BB962C8B-B14F-4D97-AF65-F5344CB8AC3E}">
        <p14:creationId xmlns:p14="http://schemas.microsoft.com/office/powerpoint/2010/main" val="3107761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3994688" y="2707214"/>
            <a:ext cx="4109979" cy="3029206"/>
          </a:xfrm>
          <a:prstGeom prst="rect">
            <a:avLst/>
          </a:prstGeom>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1938992"/>
          </a:xfrm>
          <a:prstGeom prst="rect">
            <a:avLst/>
          </a:prstGeom>
          <a:noFill/>
        </p:spPr>
        <p:txBody>
          <a:bodyPr wrap="square" rtlCol="0">
            <a:spAutoFit/>
          </a:bodyPr>
          <a:lstStyle/>
          <a:p>
            <a:pPr marL="457200" indent="-457200">
              <a:buFont typeface="+mj-lt"/>
              <a:buAutoNum type="arabicPeriod" startAt="5"/>
            </a:pP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Squares can also be used to make predictions about fur patterns in a litter of kittens. The code for solid fur is “ff.” Cats with striped fur have the code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 (one of each letter), and cats with splotchy fur have the code “FF.”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a:t>
            </a: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 </a:t>
            </a:r>
            <a:r>
              <a:rPr lang="en-US" sz="2000" dirty="0">
                <a:latin typeface="Cambria Math" panose="02040503050406030204" pitchFamily="18" charset="0"/>
                <a:ea typeface="Cambria Math" panose="02040503050406030204" pitchFamily="18" charset="0"/>
                <a:cs typeface="Verdana" panose="020B0604030504040204" pitchFamily="34" charset="0"/>
              </a:rPr>
              <a:t>3</a:t>
            </a:r>
            <a:r>
              <a:rPr lang="en-US" sz="2000" dirty="0">
                <a:latin typeface="Verdana" panose="020B0604030504040204" pitchFamily="34" charset="0"/>
                <a:ea typeface="Verdana" panose="020B0604030504040204" pitchFamily="34" charset="0"/>
                <a:cs typeface="Verdana" panose="020B0604030504040204" pitchFamily="34" charset="0"/>
              </a:rPr>
              <a:t> to show the possible traits a litter of cats could have if their father has solid fur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 and their mother has striped fur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320626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AA35BC6-D428-FC41-BDE5-6438AB8840FC}"/>
              </a:ext>
            </a:extLst>
          </p:cNvPr>
          <p:cNvSpPr txBox="1"/>
          <p:nvPr/>
        </p:nvSpPr>
        <p:spPr>
          <a:xfrm>
            <a:off x="540565" y="410666"/>
            <a:ext cx="11018226" cy="2862322"/>
          </a:xfrm>
          <a:prstGeom prst="rect">
            <a:avLst/>
          </a:prstGeom>
          <a:noFill/>
        </p:spPr>
        <p:txBody>
          <a:bodyPr wrap="square" rtlCol="0">
            <a:spAutoFit/>
          </a:bodyPr>
          <a:lstStyle/>
          <a:p>
            <a:pPr marL="914400" lvl="1"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likelihood that these two cats will have offspring with splotchy fur (FF)? </a:t>
            </a:r>
          </a:p>
          <a:p>
            <a:pPr marL="914400" lvl="1"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At a cat sanctuary, </a:t>
            </a:r>
            <a:r>
              <a:rPr lang="en-US" sz="2000" dirty="0">
                <a:latin typeface="Cambria Math" panose="02040503050406030204" pitchFamily="18" charset="0"/>
                <a:ea typeface="Cambria Math" panose="02040503050406030204" pitchFamily="18" charset="0"/>
                <a:cs typeface="Verdana" panose="020B0604030504040204" pitchFamily="34" charset="0"/>
              </a:rPr>
              <a:t>150</a:t>
            </a:r>
            <a:r>
              <a:rPr lang="en-US" sz="2000" dirty="0">
                <a:latin typeface="Verdana" panose="020B0604030504040204" pitchFamily="34" charset="0"/>
                <a:ea typeface="Verdana" panose="020B0604030504040204" pitchFamily="34" charset="0"/>
                <a:cs typeface="Verdana" panose="020B0604030504040204" pitchFamily="34" charset="0"/>
              </a:rPr>
              <a:t> cats are born to one parent with solid fur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 and one parent with striped fur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 Explain how many of these cats you would expect to have striped fur.</a:t>
            </a:r>
          </a:p>
        </p:txBody>
      </p:sp>
    </p:spTree>
    <p:extLst>
      <p:ext uri="{BB962C8B-B14F-4D97-AF65-F5344CB8AC3E}">
        <p14:creationId xmlns:p14="http://schemas.microsoft.com/office/powerpoint/2010/main" val="340825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p:cNvPicPr>
            <a:picLocks noChangeAspect="1"/>
          </p:cNvPicPr>
          <p:nvPr/>
        </p:nvPicPr>
        <p:blipFill>
          <a:blip r:embed="rId3"/>
          <a:stretch>
            <a:fillRect/>
          </a:stretch>
        </p:blipFill>
        <p:spPr>
          <a:xfrm>
            <a:off x="7797446" y="1410292"/>
            <a:ext cx="3733138" cy="2787504"/>
          </a:xfrm>
          <a:prstGeom prst="rect">
            <a:avLst/>
          </a:prstGeom>
        </p:spPr>
      </p:pic>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a16="http://schemas.microsoft.com/office/drawing/2014/main" id="{2AA35BC6-D428-FC41-BDE5-6438AB8840FC}"/>
              </a:ext>
            </a:extLst>
          </p:cNvPr>
          <p:cNvSpPr txBox="1"/>
          <p:nvPr/>
        </p:nvSpPr>
        <p:spPr>
          <a:xfrm>
            <a:off x="540565" y="410666"/>
            <a:ext cx="11018226" cy="5324535"/>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Suppose a mother cat with striped fur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 and a father cat with striped fur (</a:t>
            </a:r>
            <a:r>
              <a:rPr lang="en-US" sz="2000" dirty="0" err="1">
                <a:latin typeface="Verdana" panose="020B0604030504040204" pitchFamily="34" charset="0"/>
                <a:ea typeface="Verdana" panose="020B0604030504040204" pitchFamily="34" charset="0"/>
                <a:cs typeface="Verdana" panose="020B0604030504040204" pitchFamily="34" charset="0"/>
              </a:rPr>
              <a:t>Ff</a:t>
            </a:r>
            <a:r>
              <a:rPr lang="en-US" sz="2000" dirty="0">
                <a:latin typeface="Verdana" panose="020B0604030504040204" pitchFamily="34" charset="0"/>
                <a:ea typeface="Verdana" panose="020B0604030504040204" pitchFamily="34" charset="0"/>
                <a:cs typeface="Verdana" panose="020B0604030504040204" pitchFamily="34" charset="0"/>
              </a:rPr>
              <a:t>) have </a:t>
            </a:r>
            <a:r>
              <a:rPr lang="en-US" sz="2000" dirty="0">
                <a:latin typeface="Cambria Math" panose="02040503050406030204" pitchFamily="18" charset="0"/>
                <a:ea typeface="Cambria Math" panose="02040503050406030204" pitchFamily="18" charset="0"/>
                <a:cs typeface="Verdana" panose="020B0604030504040204" pitchFamily="34" charset="0"/>
              </a:rPr>
              <a:t>36</a:t>
            </a:r>
            <a:r>
              <a:rPr lang="en-US" sz="2000" dirty="0">
                <a:latin typeface="Verdana" panose="020B0604030504040204" pitchFamily="34" charset="0"/>
                <a:ea typeface="Verdana" panose="020B0604030504040204" pitchFamily="34" charset="0"/>
                <a:cs typeface="Verdana" panose="020B0604030504040204" pitchFamily="34" charset="0"/>
              </a:rPr>
              <a:t> kittens with striped fur over the years.</a:t>
            </a: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a:t>
            </a:r>
            <a:r>
              <a:rPr lang="en-US" sz="2000" dirty="0" err="1">
                <a:latin typeface="Verdana" panose="020B0604030504040204" pitchFamily="34" charset="0"/>
                <a:ea typeface="Verdana" panose="020B0604030504040204" pitchFamily="34" charset="0"/>
                <a:cs typeface="Verdana" panose="020B0604030504040204" pitchFamily="34" charset="0"/>
              </a:rPr>
              <a:t>Punnett</a:t>
            </a:r>
            <a:r>
              <a:rPr lang="en-US" sz="2000" dirty="0">
                <a:latin typeface="Verdana" panose="020B0604030504040204" pitchFamily="34" charset="0"/>
                <a:ea typeface="Verdana" panose="020B0604030504040204" pitchFamily="34" charset="0"/>
                <a:cs typeface="Verdana" panose="020B0604030504040204" pitchFamily="34" charset="0"/>
              </a:rPr>
              <a:t> Square </a:t>
            </a:r>
            <a:r>
              <a:rPr lang="en-US" sz="2000" dirty="0">
                <a:latin typeface="Cambria Math" panose="02040503050406030204" pitchFamily="18" charset="0"/>
                <a:ea typeface="Cambria Math" panose="02040503050406030204" pitchFamily="18" charset="0"/>
                <a:cs typeface="Verdana" panose="020B0604030504040204" pitchFamily="34" charset="0"/>
              </a:rPr>
              <a:t>4</a:t>
            </a:r>
            <a:r>
              <a:rPr lang="en-US" sz="2000" dirty="0">
                <a:latin typeface="Verdana" panose="020B0604030504040204" pitchFamily="34" charset="0"/>
                <a:ea typeface="Verdana" panose="020B0604030504040204" pitchFamily="34" charset="0"/>
                <a:cs typeface="Verdana" panose="020B0604030504040204" pitchFamily="34" charset="0"/>
              </a:rPr>
              <a:t> to determine all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possible fur patterns for their offspring.</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marR="34290" lvl="1" indent="-457200">
              <a:buFont typeface="+mj-lt"/>
              <a:buAutoNum type="alphaLcPeriod" startAt="2"/>
            </a:pPr>
            <a:r>
              <a:rPr lang="en-US" sz="2000" dirty="0">
                <a:latin typeface="Verdana" panose="020B0604030504040204" pitchFamily="34" charset="0"/>
                <a:ea typeface="Times New Roman" panose="02020603050405020304" pitchFamily="18" charset="0"/>
                <a:cs typeface="Cambria" panose="02040503050406030204" pitchFamily="18" charset="0"/>
              </a:rPr>
              <a:t>Predict how many total kittens these </a:t>
            </a:r>
            <a:br>
              <a:rPr lang="en-US" sz="2000" dirty="0">
                <a:latin typeface="Verdana" panose="020B0604030504040204" pitchFamily="34" charset="0"/>
                <a:ea typeface="Times New Roman" panose="02020603050405020304" pitchFamily="18" charset="0"/>
                <a:cs typeface="Cambria" panose="02040503050406030204" pitchFamily="18" charset="0"/>
              </a:rPr>
            </a:br>
            <a:r>
              <a:rPr lang="en-US" sz="2000" dirty="0">
                <a:latin typeface="Verdana" panose="020B0604030504040204" pitchFamily="34" charset="0"/>
                <a:ea typeface="Times New Roman" panose="02020603050405020304" pitchFamily="18" charset="0"/>
                <a:cs typeface="Cambria" panose="02040503050406030204" pitchFamily="18" charset="0"/>
              </a:rPr>
              <a:t>parents had.</a:t>
            </a:r>
          </a:p>
          <a:p>
            <a:pPr marL="914400" marR="34290" lvl="1" indent="-457200">
              <a:buFont typeface="+mj-lt"/>
              <a:buAutoNum type="alphaLcPeriod" startAt="2"/>
            </a:pPr>
            <a:endParaRPr lang="en-PH" sz="2000" dirty="0">
              <a:latin typeface="Verdana" panose="020B0604030504040204" pitchFamily="34" charset="0"/>
              <a:ea typeface="Times New Roman" panose="02020603050405020304" pitchFamily="18" charset="0"/>
              <a:cs typeface="Cambria" panose="02040503050406030204" pitchFamily="18" charset="0"/>
            </a:endParaRPr>
          </a:p>
          <a:p>
            <a:pPr marL="914400" marR="34290" lvl="1" indent="-457200">
              <a:buFont typeface="+mj-lt"/>
              <a:buAutoNum type="alphaLcPeriod" startAt="2"/>
            </a:pPr>
            <a:endParaRPr lang="en-US" sz="2000" dirty="0">
              <a:latin typeface="Verdana" panose="020B0604030504040204" pitchFamily="34" charset="0"/>
              <a:ea typeface="Times New Roman" panose="02020603050405020304" pitchFamily="18" charset="0"/>
              <a:cs typeface="Cambria" panose="02040503050406030204" pitchFamily="18" charset="0"/>
            </a:endParaRPr>
          </a:p>
          <a:p>
            <a:pPr marL="914400" marR="34290" lvl="1" indent="-457200">
              <a:buFont typeface="+mj-lt"/>
              <a:buAutoNum type="alphaLcPeriod" startAt="2"/>
            </a:pPr>
            <a:r>
              <a:rPr lang="en-US" sz="2000" dirty="0">
                <a:latin typeface="Verdana" panose="020B0604030504040204" pitchFamily="34" charset="0"/>
                <a:ea typeface="Times New Roman" panose="02020603050405020304" pitchFamily="18" charset="0"/>
                <a:cs typeface="Cambria" panose="02040503050406030204" pitchFamily="18" charset="0"/>
              </a:rPr>
              <a:t>Predict the number of kittens these parents </a:t>
            </a:r>
            <a:br>
              <a:rPr lang="en-US" sz="2000" dirty="0">
                <a:latin typeface="Verdana" panose="020B0604030504040204" pitchFamily="34" charset="0"/>
                <a:ea typeface="Times New Roman" panose="02020603050405020304" pitchFamily="18" charset="0"/>
                <a:cs typeface="Cambria" panose="02040503050406030204" pitchFamily="18" charset="0"/>
              </a:rPr>
            </a:br>
            <a:r>
              <a:rPr lang="en-US" sz="2000" dirty="0">
                <a:latin typeface="Verdana" panose="020B0604030504040204" pitchFamily="34" charset="0"/>
                <a:ea typeface="Times New Roman" panose="02020603050405020304" pitchFamily="18" charset="0"/>
                <a:cs typeface="Cambria" panose="02040503050406030204" pitchFamily="18" charset="0"/>
              </a:rPr>
              <a:t>had with solid fur.</a:t>
            </a:r>
          </a:p>
          <a:p>
            <a:pPr marL="914400" marR="34290" lvl="1" indent="-457200">
              <a:buFont typeface="+mj-lt"/>
              <a:buAutoNum type="alphaLcPeriod" startAt="2"/>
            </a:pPr>
            <a:endParaRPr lang="en-PH" sz="2000" dirty="0">
              <a:latin typeface="Verdana" panose="020B0604030504040204" pitchFamily="34" charset="0"/>
              <a:ea typeface="Times New Roman" panose="02020603050405020304" pitchFamily="18" charset="0"/>
              <a:cs typeface="Cambria" panose="02040503050406030204" pitchFamily="18" charset="0"/>
            </a:endParaRPr>
          </a:p>
          <a:p>
            <a:pPr marL="914400" marR="34290" lvl="1" indent="-457200">
              <a:buFont typeface="+mj-lt"/>
              <a:buAutoNum type="alphaLcPeriod" startAt="2"/>
            </a:pPr>
            <a:endParaRPr lang="en-US" sz="2000" dirty="0">
              <a:latin typeface="Verdana" panose="020B0604030504040204" pitchFamily="34" charset="0"/>
              <a:ea typeface="Times New Roman" panose="02020603050405020304" pitchFamily="18" charset="0"/>
              <a:cs typeface="Cambria" panose="02040503050406030204" pitchFamily="18" charset="0"/>
            </a:endParaRPr>
          </a:p>
          <a:p>
            <a:pPr marL="914400" marR="34290" lvl="1" indent="-457200">
              <a:buFont typeface="+mj-lt"/>
              <a:buAutoNum type="alphaLcPeriod" startAt="2"/>
            </a:pPr>
            <a:r>
              <a:rPr lang="en-US" sz="2000" dirty="0">
                <a:latin typeface="Verdana" panose="020B0604030504040204" pitchFamily="34" charset="0"/>
                <a:ea typeface="Times New Roman" panose="02020603050405020304" pitchFamily="18" charset="0"/>
                <a:cs typeface="Cambria" panose="02040503050406030204" pitchFamily="18" charset="0"/>
              </a:rPr>
              <a:t>How many of these kittens are expected to </a:t>
            </a:r>
            <a:br>
              <a:rPr lang="en-US" sz="2000" dirty="0">
                <a:latin typeface="Verdana" panose="020B0604030504040204" pitchFamily="34" charset="0"/>
                <a:ea typeface="Times New Roman" panose="02020603050405020304" pitchFamily="18" charset="0"/>
                <a:cs typeface="Cambria" panose="02040503050406030204" pitchFamily="18" charset="0"/>
              </a:rPr>
            </a:br>
            <a:r>
              <a:rPr lang="en-US" sz="2000" dirty="0">
                <a:latin typeface="Verdana" panose="020B0604030504040204" pitchFamily="34" charset="0"/>
                <a:ea typeface="Times New Roman" panose="02020603050405020304" pitchFamily="18" charset="0"/>
                <a:cs typeface="Cambria" panose="02040503050406030204" pitchFamily="18" charset="0"/>
              </a:rPr>
              <a:t>have splotchy fur?</a:t>
            </a:r>
            <a:endParaRPr lang="en-US" sz="2000" dirty="0"/>
          </a:p>
        </p:txBody>
      </p:sp>
    </p:spTree>
    <p:extLst>
      <p:ext uri="{BB962C8B-B14F-4D97-AF65-F5344CB8AC3E}">
        <p14:creationId xmlns:p14="http://schemas.microsoft.com/office/powerpoint/2010/main" val="2517611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id="{3497339A-36B9-2142-AAF4-61C2E4DE6EB2}"/>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3365045" y="2756256"/>
            <a:ext cx="5461907" cy="3443376"/>
          </a:xfrm>
          <a:prstGeom prst="rect">
            <a:avLst/>
          </a:prstGeom>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28;g103996e1364_0_428">
            <a:extLst>
              <a:ext uri="{FF2B5EF4-FFF2-40B4-BE49-F238E27FC236}">
                <a16:creationId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14.7.3 Your Turn!</a:t>
            </a:r>
          </a:p>
        </p:txBody>
      </p:sp>
      <p:pic>
        <p:nvPicPr>
          <p:cNvPr id="15"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6" name="TextBox 15">
            <a:extLst>
              <a:ext uri="{FF2B5EF4-FFF2-40B4-BE49-F238E27FC236}">
                <a16:creationId xmlns:a16="http://schemas.microsoft.com/office/drawing/2014/main" id="{759C3E41-93EC-B84D-963F-86A3B15AC1C6}"/>
              </a:ext>
            </a:extLst>
          </p:cNvPr>
          <p:cNvSpPr txBox="1"/>
          <p:nvPr/>
        </p:nvSpPr>
        <p:spPr>
          <a:xfrm>
            <a:off x="730266" y="1408886"/>
            <a:ext cx="10800846"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At Alex’s Bakery, the owners keep detailed records about their sales.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graph below shows the probability that each flavor of doughnut will be purchased based on first quarter sales.</a:t>
            </a:r>
          </a:p>
        </p:txBody>
      </p:sp>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FA2A97BF-3D7B-B547-BD66-4A4651071EA8}"/>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348</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567585" y="520393"/>
            <a:ext cx="10963000" cy="4401205"/>
          </a:xfrm>
          <a:prstGeom prst="rect">
            <a:avLst/>
          </a:prstGeom>
          <a:noFill/>
        </p:spPr>
        <p:txBody>
          <a:bodyPr wrap="square" rtlCol="0">
            <a:spAutoFit/>
          </a:bodyPr>
          <a:lstStyle/>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If a total of </a:t>
            </a:r>
            <a:r>
              <a:rPr lang="en-US" sz="2000" dirty="0">
                <a:latin typeface="Cambria Math" panose="02040503050406030204" pitchFamily="18" charset="0"/>
                <a:ea typeface="Cambria Math" panose="02040503050406030204" pitchFamily="18" charset="0"/>
                <a:cs typeface="Verdana" panose="020B0604030504040204" pitchFamily="34" charset="0"/>
              </a:rPr>
              <a:t>1,000</a:t>
            </a:r>
            <a:r>
              <a:rPr lang="en-US" sz="2000" dirty="0">
                <a:latin typeface="Verdana" panose="020B0604030504040204" pitchFamily="34" charset="0"/>
                <a:ea typeface="Verdana" panose="020B0604030504040204" pitchFamily="34" charset="0"/>
                <a:cs typeface="Verdana" panose="020B0604030504040204" pitchFamily="34" charset="0"/>
              </a:rPr>
              <a:t> doughnuts are sold, predict how many of those are apple flavored. </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Suppose that </a:t>
            </a:r>
            <a:r>
              <a:rPr lang="en-US" sz="2000" dirty="0">
                <a:latin typeface="Cambria Math" panose="02040503050406030204" pitchFamily="18" charset="0"/>
                <a:ea typeface="Cambria Math" panose="02040503050406030204" pitchFamily="18" charset="0"/>
                <a:cs typeface="Verdana" panose="020B0604030504040204" pitchFamily="34" charset="0"/>
              </a:rPr>
              <a:t>107</a:t>
            </a:r>
            <a:r>
              <a:rPr lang="en-US" sz="2000" dirty="0">
                <a:latin typeface="Verdana" panose="020B0604030504040204" pitchFamily="34" charset="0"/>
                <a:ea typeface="Verdana" panose="020B0604030504040204" pitchFamily="34" charset="0"/>
                <a:cs typeface="Verdana" panose="020B0604030504040204" pitchFamily="34" charset="0"/>
              </a:rPr>
              <a:t> chocolate doughnuts are sold in a day. Predict how many total doughnuts were sold this same day. </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one year, Alex’s Bakery sells about </a:t>
            </a:r>
            <a:r>
              <a:rPr lang="en-US" sz="2000" dirty="0">
                <a:latin typeface="Cambria Math" panose="02040503050406030204" pitchFamily="18" charset="0"/>
                <a:ea typeface="Cambria Math" panose="02040503050406030204" pitchFamily="18" charset="0"/>
                <a:cs typeface="Verdana" panose="020B0604030504040204" pitchFamily="34" charset="0"/>
              </a:rPr>
              <a:t>4,000</a:t>
            </a:r>
            <a:r>
              <a:rPr lang="en-US" sz="2000" dirty="0">
                <a:latin typeface="Verdana" panose="020B0604030504040204" pitchFamily="34" charset="0"/>
                <a:ea typeface="Verdana" panose="020B0604030504040204" pitchFamily="34" charset="0"/>
                <a:cs typeface="Verdana" panose="020B0604030504040204" pitchFamily="34" charset="0"/>
              </a:rPr>
              <a:t> doughnuts. Estimate how many of those doughnuts are vanilla flavored.</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err="1">
                <a:latin typeface="Verdana" panose="020B0604030504040204" pitchFamily="34" charset="0"/>
                <a:ea typeface="Verdana" panose="020B0604030504040204" pitchFamily="34" charset="0"/>
                <a:cs typeface="Verdana" panose="020B0604030504040204" pitchFamily="34" charset="0"/>
              </a:rPr>
              <a:t>Darrielle</a:t>
            </a:r>
            <a:r>
              <a:rPr lang="en-US" sz="2000" dirty="0">
                <a:latin typeface="Verdana" panose="020B0604030504040204" pitchFamily="34" charset="0"/>
                <a:ea typeface="Verdana" panose="020B0604030504040204" pitchFamily="34" charset="0"/>
                <a:cs typeface="Verdana" panose="020B0604030504040204" pitchFamily="34" charset="0"/>
              </a:rPr>
              <a:t> picks </a:t>
            </a:r>
            <a:r>
              <a:rPr lang="en-US" sz="2000" dirty="0">
                <a:latin typeface="Cambria Math" panose="02040503050406030204" pitchFamily="18" charset="0"/>
                <a:ea typeface="Cambria Math" panose="02040503050406030204" pitchFamily="18" charset="0"/>
                <a:cs typeface="Verdana" panose="020B0604030504040204" pitchFamily="34" charset="0"/>
              </a:rPr>
              <a:t>10</a:t>
            </a:r>
            <a:r>
              <a:rPr lang="en-US" sz="2000" dirty="0">
                <a:latin typeface="Verdana" panose="020B0604030504040204" pitchFamily="34" charset="0"/>
                <a:ea typeface="Verdana" panose="020B0604030504040204" pitchFamily="34" charset="0"/>
                <a:cs typeface="Verdana" panose="020B0604030504040204" pitchFamily="34" charset="0"/>
              </a:rPr>
              <a:t> shoes out of her closet without looking. One fifth of them are blue. If there are </a:t>
            </a:r>
            <a:r>
              <a:rPr lang="en-US" sz="2000" dirty="0">
                <a:latin typeface="Cambria Math" panose="02040503050406030204" pitchFamily="18" charset="0"/>
                <a:ea typeface="Cambria Math" panose="02040503050406030204" pitchFamily="18" charset="0"/>
                <a:cs typeface="Verdana" panose="020B0604030504040204" pitchFamily="34" charset="0"/>
              </a:rPr>
              <a:t>20</a:t>
            </a:r>
            <a:r>
              <a:rPr lang="en-US" sz="2000" dirty="0">
                <a:latin typeface="Verdana" panose="020B0604030504040204" pitchFamily="34" charset="0"/>
                <a:ea typeface="Verdana" panose="020B0604030504040204" pitchFamily="34" charset="0"/>
                <a:cs typeface="Verdana" panose="020B0604030504040204" pitchFamily="34" charset="0"/>
              </a:rPr>
              <a:t> pairs of shoes in her closet, predict how many of those pairs are not blue.</a:t>
            </a:r>
          </a:p>
        </p:txBody>
      </p:sp>
    </p:spTree>
    <p:extLst>
      <p:ext uri="{BB962C8B-B14F-4D97-AF65-F5344CB8AC3E}">
        <p14:creationId xmlns:p14="http://schemas.microsoft.com/office/powerpoint/2010/main" val="3122781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id="{535320C0-DAB2-7C41-B3D0-5B31075C43F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349</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14.7.4 Wrap-Up: Ticket Out the Door</a:t>
            </a:r>
          </a:p>
        </p:txBody>
      </p:sp>
      <p:pic>
        <p:nvPicPr>
          <p:cNvPr id="15"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370EDB7-6994-3D43-ABF9-E04CBAFB9CD9}"/>
                  </a:ext>
                </a:extLst>
              </p:cNvPr>
              <p:cNvSpPr txBox="1"/>
              <p:nvPr/>
            </p:nvSpPr>
            <p:spPr>
              <a:xfrm>
                <a:off x="730266" y="1376212"/>
                <a:ext cx="10800318" cy="1323439"/>
              </a:xfrm>
              <a:prstGeom prst="rect">
                <a:avLst/>
              </a:prstGeom>
              <a:noFill/>
            </p:spPr>
            <p:txBody>
              <a:bodyPr wrap="square" rtlCol="0">
                <a:spAutoFit/>
              </a:bodyPr>
              <a:lstStyle/>
              <a:p>
                <a:pPr marL="457200" lvl="1"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-card deck contains one card for each of the U.S. states. Four of the U.S. states begin with the letter “A”. If Grant randomly selects a card, with replacement, </a:t>
                </a:r>
                <a14:m>
                  <m:oMath xmlns:m="http://schemas.openxmlformats.org/officeDocument/2006/math">
                    <m:r>
                      <a:rPr lang="en-US" sz="2000" i="1">
                        <a:latin typeface="Cambria Math" panose="02040503050406030204" pitchFamily="18" charset="0"/>
                        <a:ea typeface="Cambria Math" panose="02040503050406030204" pitchFamily="18" charset="0"/>
                      </a:rPr>
                      <m:t>200</m:t>
                    </m:r>
                  </m:oMath>
                </a14:m>
                <a:r>
                  <a:rPr lang="en-US" sz="2000" dirty="0">
                    <a:latin typeface="Verdana" panose="020B0604030504040204" pitchFamily="34" charset="0"/>
                    <a:ea typeface="Verdana" panose="020B0604030504040204" pitchFamily="34" charset="0"/>
                    <a:cs typeface="Verdana" panose="020B0604030504040204" pitchFamily="34" charset="0"/>
                  </a:rPr>
                  <a:t> times, predict the number of repetitions of the experiment that will result in a state that begins with the letter “A.”</a:t>
                </a:r>
              </a:p>
            </p:txBody>
          </p:sp>
        </mc:Choice>
        <mc:Fallback xmlns="">
          <p:sp>
            <p:nvSpPr>
              <p:cNvPr id="16" name="TextBox 15">
                <a:extLst>
                  <a:ext uri="{FF2B5EF4-FFF2-40B4-BE49-F238E27FC236}">
                    <a16:creationId xmlns="" xmlns:a16="http://schemas.microsoft.com/office/drawing/2014/main" xmlns:a14="http://schemas.microsoft.com/office/drawing/2010/main" id="{0370EDB7-6994-3D43-ABF9-E04CBAFB9CD9}"/>
                  </a:ext>
                </a:extLst>
              </p:cNvPr>
              <p:cNvSpPr txBox="1">
                <a:spLocks noRot="1" noChangeAspect="1" noMove="1" noResize="1" noEditPoints="1" noAdjustHandles="1" noChangeArrowheads="1" noChangeShapeType="1" noTextEdit="1"/>
              </p:cNvSpPr>
              <p:nvPr/>
            </p:nvSpPr>
            <p:spPr>
              <a:xfrm>
                <a:off x="730266" y="1376212"/>
                <a:ext cx="10800318" cy="1323439"/>
              </a:xfrm>
              <a:prstGeom prst="rect">
                <a:avLst/>
              </a:prstGeom>
              <a:blipFill rotWithShape="1">
                <a:blip r:embed="rId5"/>
                <a:stretch>
                  <a:fillRect l="-621" t="-2765" b="-7373"/>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1370</TotalTime>
  <Words>1353</Words>
  <Application>Microsoft Macintosh PowerPoint</Application>
  <PresentationFormat>Widescreen</PresentationFormat>
  <Paragraphs>144</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 Black</vt:lpstr>
      <vt:lpstr>Calibri</vt:lpstr>
      <vt:lpstr>Cambria</vt:lpstr>
      <vt:lpstr>Cambria Math</vt:lpstr>
      <vt:lpstr>Century Gothic</vt:lpstr>
      <vt:lpstr>Verdana</vt:lpstr>
      <vt:lpstr>Wingdings</vt:lpstr>
      <vt:lpstr>1_Office Theme</vt:lpstr>
      <vt:lpstr>PowerPoint Presentation</vt:lpstr>
      <vt:lpstr>PowerPoint Presentation</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41</cp:revision>
  <dcterms:created xsi:type="dcterms:W3CDTF">2015-03-17T18:51:18Z</dcterms:created>
  <dcterms:modified xsi:type="dcterms:W3CDTF">2023-02-09T18:17:17Z</dcterms:modified>
</cp:coreProperties>
</file>