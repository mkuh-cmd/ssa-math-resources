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85" r:id="rId4"/>
    <p:sldId id="286" r:id="rId5"/>
    <p:sldId id="261" r:id="rId6"/>
    <p:sldId id="287" r:id="rId7"/>
    <p:sldId id="311" r:id="rId8"/>
    <p:sldId id="312" r:id="rId9"/>
    <p:sldId id="332" r:id="rId10"/>
    <p:sldId id="333" r:id="rId11"/>
    <p:sldId id="329" r:id="rId12"/>
    <p:sldId id="330" r:id="rId13"/>
    <p:sldId id="331" r:id="rId14"/>
    <p:sldId id="346" r:id="rId15"/>
    <p:sldId id="337" r:id="rId16"/>
    <p:sldId id="339" r:id="rId17"/>
    <p:sldId id="323" r:id="rId18"/>
    <p:sldId id="324" r:id="rId19"/>
    <p:sldId id="340" r:id="rId20"/>
    <p:sldId id="325" r:id="rId21"/>
    <p:sldId id="341" r:id="rId22"/>
    <p:sldId id="342" r:id="rId23"/>
    <p:sldId id="302" r:id="rId24"/>
    <p:sldId id="303" r:id="rId25"/>
    <p:sldId id="306" r:id="rId26"/>
    <p:sldId id="307" r:id="rId27"/>
  </p:sldIdLst>
  <p:sldSz cx="12192000" cy="6858000"/>
  <p:notesSz cx="6858000" cy="9144000"/>
  <p:embeddedFontLst>
    <p:embeddedFont>
      <p:font typeface="Arial Black" panose="020B0604020202020204" pitchFamily="34" charset="0"/>
      <p:bold r:id="rId29"/>
    </p:embeddedFont>
    <p:embeddedFont>
      <p:font typeface="Calibri" panose="020F0502020204030204" pitchFamily="34" charset="0"/>
      <p:regular r:id="rId30"/>
      <p:bold r:id="rId31"/>
      <p:italic r:id="rId32"/>
      <p:boldItalic r:id="rId33"/>
    </p:embeddedFont>
    <p:embeddedFont>
      <p:font typeface="Cambria Math" panose="02040503050406030204" pitchFamily="18" charset="0"/>
      <p:regular r:id="rId34"/>
    </p:embeddedFont>
    <p:embeddedFont>
      <p:font typeface="Century Gothic" panose="020B0502020202020204" pitchFamily="34" charset="0"/>
      <p:regular r:id="rId35"/>
      <p:bold r:id="rId36"/>
      <p:italic r:id="rId37"/>
      <p:boldItalic r:id="rId38"/>
    </p:embeddedFont>
    <p:embeddedFont>
      <p:font typeface="Verdana" panose="020B0604030504040204" pitchFamily="3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99C8"/>
    <a:srgbClr val="1F3165"/>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533" autoAdjust="0"/>
    <p:restoredTop sz="94707" autoAdjust="0"/>
  </p:normalViewPr>
  <p:slideViewPr>
    <p:cSldViewPr snapToGrid="0">
      <p:cViewPr varScale="1">
        <p:scale>
          <a:sx n="128" d="100"/>
          <a:sy n="128" d="100"/>
        </p:scale>
        <p:origin x="800"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8415785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6836310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1452809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32481965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1215227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8406461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7684568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1973651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2812913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4668235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32384142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1880302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0815444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40.png"/><Relationship Id="rId5" Type="http://schemas.openxmlformats.org/officeDocument/2006/relationships/image" Target="../media/image10.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32.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34.png"/><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49901" y="2054277"/>
            <a:ext cx="5168900"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8</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 Pre-Algebra</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lvl="0" algn="ctr">
              <a:lnSpc>
                <a:spcPct val="100000"/>
              </a:lnSpc>
              <a:buClr>
                <a:srgbClr val="000000"/>
              </a:buClr>
            </a:pPr>
            <a:r>
              <a:rPr lang="en-US" sz="3600" b="1" dirty="0">
                <a:solidFill>
                  <a:srgbClr val="417DBF"/>
                </a:solidFill>
                <a:latin typeface="Verdana"/>
                <a:ea typeface="Verdana"/>
                <a:cs typeface="Verdana"/>
                <a:sym typeface="Verdana"/>
              </a:rPr>
              <a:t>Unit 11, Lesson 4</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I</a:t>
            </a:r>
            <a:r>
              <a:rPr lang="en-US" sz="3600" b="1" dirty="0">
                <a:solidFill>
                  <a:srgbClr val="417DBF"/>
                </a:solidFill>
                <a:latin typeface="Verdana"/>
                <a:ea typeface="Verdana"/>
                <a:cs typeface="Verdana"/>
              </a:rPr>
              <a:t>nformally Fitting a Line to </a:t>
            </a:r>
            <a:br>
              <a:rPr lang="en-US" sz="3600" b="1" dirty="0">
                <a:solidFill>
                  <a:srgbClr val="417DBF"/>
                </a:solidFill>
                <a:latin typeface="Verdana"/>
                <a:ea typeface="Verdana"/>
                <a:cs typeface="Verdana"/>
              </a:rPr>
            </a:br>
            <a:r>
              <a:rPr lang="en-US" sz="3600" b="1" dirty="0">
                <a:solidFill>
                  <a:srgbClr val="417DBF"/>
                </a:solidFill>
                <a:latin typeface="Verdana"/>
                <a:ea typeface="Verdana"/>
                <a:cs typeface="Verdana"/>
              </a:rPr>
              <a:t>Bivariate Data</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193</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70701"/>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id="{AB08A17F-C082-CD48-B100-6B09C860CC1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1762" y="1850136"/>
            <a:ext cx="3090582" cy="3602736"/>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336430" y="-12281"/>
            <a:ext cx="7760678" cy="1064381"/>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4900" y="56669"/>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994150" y="65293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193</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97877" y="1359878"/>
            <a:ext cx="11195538" cy="439615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lnSpc>
                <a:spcPct val="100000"/>
              </a:lnSpc>
              <a:spcBef>
                <a:spcPts val="0"/>
              </a:spcBef>
              <a:buSzPts val="1100"/>
              <a:buNone/>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a:t>
            </a:r>
            <a:r>
              <a:rPr lang="en-US" sz="3500" dirty="0">
                <a:latin typeface="Verdana" panose="020B0604030504040204" pitchFamily="34" charset="0"/>
                <a:ea typeface="Verdana" panose="020B0604030504040204" pitchFamily="34" charset="0"/>
                <a:cs typeface="Verdana" panose="020B0604030504040204" pitchFamily="34" charset="0"/>
              </a:rPr>
              <a:t>8.DP.1.2 </a:t>
            </a:r>
          </a:p>
          <a:p>
            <a:pPr indent="-449263">
              <a:lnSpc>
                <a:spcPct val="100000"/>
              </a:lnSpc>
              <a:spcBef>
                <a:spcPts val="0"/>
              </a:spcBef>
              <a:buSzPts val="1100"/>
              <a:buNone/>
            </a:pPr>
            <a:r>
              <a:rPr lang="en-US" sz="3500" dirty="0">
                <a:latin typeface="Verdana" panose="020B0604030504040204" pitchFamily="34" charset="0"/>
                <a:ea typeface="Verdana" panose="020B0604030504040204" pitchFamily="34" charset="0"/>
                <a:cs typeface="Verdana" panose="020B0604030504040204" pitchFamily="34" charset="0"/>
              </a:rPr>
              <a:t>	Given a scatter plot within a </a:t>
            </a:r>
            <a:br>
              <a:rPr lang="en-US" sz="3500" dirty="0">
                <a:latin typeface="Verdana" panose="020B0604030504040204" pitchFamily="34" charset="0"/>
                <a:ea typeface="Verdana" panose="020B0604030504040204" pitchFamily="34" charset="0"/>
                <a:cs typeface="Verdana" panose="020B0604030504040204" pitchFamily="34" charset="0"/>
              </a:rPr>
            </a:br>
            <a:r>
              <a:rPr lang="en-US" sz="3500" dirty="0">
                <a:latin typeface="Verdana" panose="020B0604030504040204" pitchFamily="34" charset="0"/>
                <a:ea typeface="Verdana" panose="020B0604030504040204" pitchFamily="34" charset="0"/>
                <a:cs typeface="Verdana" panose="020B0604030504040204" pitchFamily="34" charset="0"/>
              </a:rPr>
              <a:t>real-world context, describe patterns of association. </a:t>
            </a:r>
          </a:p>
          <a:p>
            <a:pPr marL="0" indent="0">
              <a:lnSpc>
                <a:spcPct val="100000"/>
              </a:lnSpc>
              <a:spcBef>
                <a:spcPts val="0"/>
              </a:spcBef>
              <a:buSzPts val="1100"/>
              <a:buNone/>
            </a:pPr>
            <a:endParaRPr lang="en-US" sz="3500" dirty="0">
              <a:latin typeface="Verdana" panose="020B0604030504040204" pitchFamily="34" charset="0"/>
              <a:ea typeface="Verdana" panose="020B0604030504040204" pitchFamily="34" charset="0"/>
              <a:cs typeface="Verdana" panose="020B0604030504040204" pitchFamily="34" charset="0"/>
            </a:endParaRPr>
          </a:p>
          <a:p>
            <a:pPr marL="0" indent="0">
              <a:lnSpc>
                <a:spcPct val="100000"/>
              </a:lnSpc>
              <a:spcBef>
                <a:spcPts val="0"/>
              </a:spcBef>
              <a:buSzPts val="1100"/>
              <a:buNone/>
            </a:pPr>
            <a:r>
              <a:rPr lang="en-US" sz="3500" dirty="0">
                <a:latin typeface="Verdana" panose="020B0604030504040204" pitchFamily="34" charset="0"/>
                <a:ea typeface="Verdana" panose="020B0604030504040204" pitchFamily="34" charset="0"/>
                <a:cs typeface="Verdana" panose="020B0604030504040204" pitchFamily="34" charset="0"/>
              </a:rPr>
              <a:t>MA.8.DP.1.3</a:t>
            </a:r>
          </a:p>
          <a:p>
            <a:pPr indent="-449263">
              <a:lnSpc>
                <a:spcPct val="100000"/>
              </a:lnSpc>
              <a:spcBef>
                <a:spcPts val="0"/>
              </a:spcBef>
              <a:buSzPts val="1100"/>
              <a:buNone/>
            </a:pPr>
            <a:r>
              <a:rPr lang="en-US" sz="3500" dirty="0">
                <a:latin typeface="Verdana" panose="020B0604030504040204" pitchFamily="34" charset="0"/>
                <a:ea typeface="Verdana" panose="020B0604030504040204" pitchFamily="34" charset="0"/>
                <a:cs typeface="Verdana" panose="020B0604030504040204" pitchFamily="34" charset="0"/>
              </a:rPr>
              <a:t>	Given a scatter plot with a linear association, informally fit a straight line. </a:t>
            </a:r>
          </a:p>
          <a:p>
            <a:pPr indent="0">
              <a:lnSpc>
                <a:spcPct val="100000"/>
              </a:lnSpc>
              <a:spcBef>
                <a:spcPts val="0"/>
              </a:spcBef>
              <a:buNone/>
            </a:pP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72704" y="113292"/>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16427"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269508" y="-92382"/>
            <a:ext cx="9808800" cy="135847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574431" y="1418491"/>
            <a:ext cx="10738338" cy="440787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a:extLst>
              <a:ext uri="{FF2B5EF4-FFF2-40B4-BE49-F238E27FC236}">
                <a16:creationId xmlns:a16="http://schemas.microsoft.com/office/drawing/2014/main" id="{765D55C9-B711-9249-95DD-C3E839177049}"/>
              </a:ext>
            </a:extLst>
          </p:cNvPr>
          <p:cNvSpPr txBox="1"/>
          <p:nvPr/>
        </p:nvSpPr>
        <p:spPr>
          <a:xfrm>
            <a:off x="8982427" y="65282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193</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15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233900" y="-96394"/>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4900" y="120568"/>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468923" y="1406769"/>
            <a:ext cx="11336215" cy="451338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720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describe patterns of associations in data on a scatter plot. </a:t>
            </a:r>
          </a:p>
          <a:p>
            <a:pPr marL="457200" indent="-457200">
              <a:buFont typeface="Wingdings" pitchFamily="2" charset="2"/>
              <a:buChar char="q"/>
            </a:pPr>
            <a:endParaRPr lang="en-US" sz="35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informally fit a straight line to data on a scatter plot. </a:t>
            </a:r>
          </a:p>
        </p:txBody>
      </p:sp>
      <p:sp>
        <p:nvSpPr>
          <p:cNvPr id="8" name="Google Shape;282;g104476d1465_1_17">
            <a:extLst>
              <a:ext uri="{FF2B5EF4-FFF2-40B4-BE49-F238E27FC236}">
                <a16:creationId xmlns:a16="http://schemas.microsoft.com/office/drawing/2014/main" id="{EA846F61-E7BF-7448-B000-1B6715399C32}"/>
              </a:ext>
            </a:extLst>
          </p:cNvPr>
          <p:cNvSpPr txBox="1"/>
          <p:nvPr/>
        </p:nvSpPr>
        <p:spPr>
          <a:xfrm>
            <a:off x="8994150" y="65292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193</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1F5BF932-422F-0E46-9B59-8E17E9C8B5FD}"/>
              </a:ext>
            </a:extLst>
          </p:cNvPr>
          <p:cNvSpPr txBox="1"/>
          <p:nvPr/>
        </p:nvSpPr>
        <p:spPr>
          <a:xfrm>
            <a:off x="8994150" y="65292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194</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9241"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13148" y="264862"/>
            <a:ext cx="9964452"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11.4.1 Warm-Up: </a:t>
            </a:r>
            <a:r>
              <a:rPr lang="en-US" sz="3600" b="1" dirty="0">
                <a:solidFill>
                  <a:srgbClr val="3F2A67"/>
                </a:solidFill>
                <a:latin typeface="Verdana"/>
                <a:ea typeface="Verdana"/>
                <a:cs typeface="Verdana"/>
              </a:rPr>
              <a:t>Notice and Wonder</a:t>
            </a:r>
            <a:endParaRPr lang="en-US" sz="3600" b="1" dirty="0">
              <a:solidFill>
                <a:srgbClr val="3F2A67"/>
              </a:solidFill>
              <a:latin typeface="Verdana"/>
              <a:ea typeface="Verdana"/>
              <a:cs typeface="Verdana"/>
              <a:sym typeface="Verdana"/>
            </a:endParaRP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94524" y="108453"/>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557561" y="1314645"/>
                <a:ext cx="9777340" cy="3785652"/>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The graph shows the percentage of the US population </a:t>
                </a:r>
                <a14:m>
                  <m:oMath xmlns:m="http://schemas.openxmlformats.org/officeDocument/2006/math">
                    <m:r>
                      <a:rPr lang="en-US" sz="2000">
                        <a:latin typeface="Cambria Math"/>
                        <a:ea typeface="Verdana" panose="020B0604030504040204" pitchFamily="34" charset="0"/>
                        <a:cs typeface="Verdana" panose="020B0604030504040204" pitchFamily="34" charset="0"/>
                      </a:rPr>
                      <m:t>5</m:t>
                    </m:r>
                  </m:oMath>
                </a14:m>
                <a:r>
                  <a:rPr lang="en-US" sz="2000" dirty="0">
                    <a:latin typeface="Verdana" panose="020B0604030504040204" pitchFamily="34" charset="0"/>
                    <a:ea typeface="Verdana" panose="020B0604030504040204" pitchFamily="34" charset="0"/>
                    <a:cs typeface="Verdana" panose="020B0604030504040204" pitchFamily="34" charset="0"/>
                  </a:rPr>
                  <a:t> years of age and older who speak a language other than English at home, according to the U.S. Census, since 1980.</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What do you notice?</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What do you wonder? </a:t>
                </a:r>
              </a:p>
              <a:p>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557561" y="1314645"/>
                <a:ext cx="9777340" cy="3785652"/>
              </a:xfrm>
              <a:prstGeom prst="rect">
                <a:avLst/>
              </a:prstGeom>
              <a:blipFill>
                <a:blip r:embed="rId5"/>
                <a:stretch>
                  <a:fillRect l="-686" t="-966"/>
                </a:stretch>
              </a:blipFill>
            </p:spPr>
            <p:txBody>
              <a:bodyPr/>
              <a:lstStyle/>
              <a:p>
                <a:r>
                  <a:rPr lang="en-US">
                    <a:noFill/>
                  </a:rPr>
                  <a:t> </a:t>
                </a:r>
              </a:p>
            </p:txBody>
          </p:sp>
        </mc:Fallback>
      </mc:AlternateContent>
      <p:sp>
        <p:nvSpPr>
          <p:cNvPr id="14" name="Google Shape;282;g104476d1465_1_17">
            <a:extLst>
              <a:ext uri="{FF2B5EF4-FFF2-40B4-BE49-F238E27FC236}">
                <a16:creationId xmlns:a16="http://schemas.microsoft.com/office/drawing/2014/main" id="{0821D91C-7597-7A42-813E-FD6B689BC78D}"/>
              </a:ext>
            </a:extLst>
          </p:cNvPr>
          <p:cNvSpPr txBox="1"/>
          <p:nvPr/>
        </p:nvSpPr>
        <p:spPr>
          <a:xfrm>
            <a:off x="9017901" y="65292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194</a:t>
            </a:r>
            <a:endParaRPr i="1" dirty="0">
              <a:latin typeface="Calibri"/>
              <a:ea typeface="Calibri"/>
              <a:cs typeface="Calibri"/>
              <a:sym typeface="Calibri"/>
            </a:endParaRPr>
          </a:p>
        </p:txBody>
      </p:sp>
      <p:pic>
        <p:nvPicPr>
          <p:cNvPr id="1026" name="Picture 2"/>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5308773" y="2117168"/>
            <a:ext cx="4759942" cy="4552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34028"/>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a16="http://schemas.microsoft.com/office/drawing/2014/main" id="{06087CE1-48D4-444E-9445-99518FD531DA}"/>
              </a:ext>
            </a:extLst>
          </p:cNvPr>
          <p:cNvSpPr txBox="1"/>
          <p:nvPr/>
        </p:nvSpPr>
        <p:spPr>
          <a:xfrm>
            <a:off x="8994150" y="653760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194</a:t>
            </a:r>
            <a:endParaRPr i="1" dirty="0">
              <a:latin typeface="Calibri"/>
              <a:ea typeface="Calibri"/>
              <a:cs typeface="Calibri"/>
              <a:sym typeface="Calibri"/>
            </a:endParaRPr>
          </a:p>
        </p:txBody>
      </p:sp>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052" name="Picture 4"/>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676186" y="3312983"/>
            <a:ext cx="5036177" cy="3416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08194" y="214324"/>
            <a:ext cx="8638166"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11.4.2 Exploration: Lines of Fit</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89570" y="116525"/>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2D1D4D-DCB8-A246-B186-D40316579D77}"/>
                  </a:ext>
                </a:extLst>
              </p:cNvPr>
              <p:cNvSpPr txBox="1"/>
              <p:nvPr/>
            </p:nvSpPr>
            <p:spPr>
              <a:xfrm>
                <a:off x="557562" y="1125413"/>
                <a:ext cx="10526750" cy="2246769"/>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the following.</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scatter plot shows the house size and price for the </a:t>
                </a:r>
                <a14:m>
                  <m:oMath xmlns:m="http://schemas.openxmlformats.org/officeDocument/2006/math">
                    <m:r>
                      <a:rPr lang="en-US" sz="2000">
                        <a:latin typeface="Cambria Math"/>
                      </a:rPr>
                      <m:t>15</m:t>
                    </m:r>
                  </m:oMath>
                </a14:m>
                <a:r>
                  <a:rPr lang="en-US" sz="2000" dirty="0">
                    <a:latin typeface="Verdana" panose="020B0604030504040204" pitchFamily="34" charset="0"/>
                    <a:ea typeface="Verdana" panose="020B0604030504040204" pitchFamily="34" charset="0"/>
                    <a:cs typeface="Verdana" panose="020B0604030504040204" pitchFamily="34" charset="0"/>
                  </a:rPr>
                  <a:t> houses sold in Orlando, FL, in 2020.</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One of the data points on the scatter plot is </a:t>
                </a:r>
                <a14:m>
                  <m:oMath xmlns:m="http://schemas.openxmlformats.org/officeDocument/2006/math">
                    <m:r>
                      <a:rPr lang="en-US" sz="2000">
                        <a:latin typeface="Cambria Math"/>
                        <a:ea typeface="Verdana" panose="020B0604030504040204" pitchFamily="34" charset="0"/>
                        <a:cs typeface="Verdana" panose="020B0604030504040204" pitchFamily="34" charset="0"/>
                      </a:rPr>
                      <m:t>(2056, 176900)</m:t>
                    </m:r>
                  </m:oMath>
                </a14:m>
                <a:r>
                  <a:rPr lang="en-US" sz="2000" dirty="0">
                    <a:latin typeface="Verdana" panose="020B0604030504040204" pitchFamily="34" charset="0"/>
                    <a:ea typeface="Verdana" panose="020B0604030504040204" pitchFamily="34" charset="0"/>
                    <a:cs typeface="Verdana" panose="020B0604030504040204" pitchFamily="34" charset="0"/>
                  </a:rPr>
                  <a:t>. Interpret this point in context. </a:t>
                </a:r>
              </a:p>
            </p:txBody>
          </p:sp>
        </mc:Choice>
        <mc:Fallback xmlns="">
          <p:sp>
            <p:nvSpPr>
              <p:cNvPr id="10" name="TextBox 9">
                <a:extLst>
                  <a:ext uri="{FF2B5EF4-FFF2-40B4-BE49-F238E27FC236}">
                    <a16:creationId xmlns:a16="http://schemas.microsoft.com/office/drawing/2014/main" id="{152D1D4D-DCB8-A246-B186-D40316579D77}"/>
                  </a:ext>
                </a:extLst>
              </p:cNvPr>
              <p:cNvSpPr txBox="1">
                <a:spLocks noRot="1" noChangeAspect="1" noMove="1" noResize="1" noEditPoints="1" noAdjustHandles="1" noChangeArrowheads="1" noChangeShapeType="1" noTextEdit="1"/>
              </p:cNvSpPr>
              <p:nvPr/>
            </p:nvSpPr>
            <p:spPr>
              <a:xfrm>
                <a:off x="557562" y="1125413"/>
                <a:ext cx="10526750" cy="2246769"/>
              </a:xfrm>
              <a:prstGeom prst="rect">
                <a:avLst/>
              </a:prstGeom>
              <a:blipFill>
                <a:blip r:embed="rId6"/>
                <a:stretch>
                  <a:fillRect l="-637" t="-1630" b="-4076"/>
                </a:stretch>
              </a:blipFill>
            </p:spPr>
            <p:txBody>
              <a:bodyPr/>
              <a:lstStyle/>
              <a:p>
                <a:r>
                  <a:rPr lang="en-US">
                    <a:noFill/>
                  </a:rPr>
                  <a:t> </a:t>
                </a:r>
              </a:p>
            </p:txBody>
          </p:sp>
        </mc:Fallback>
      </mc:AlternateContent>
      <p:sp>
        <p:nvSpPr>
          <p:cNvPr id="11" name="Google Shape;282;g104476d1465_1_17">
            <a:extLst>
              <a:ext uri="{FF2B5EF4-FFF2-40B4-BE49-F238E27FC236}">
                <a16:creationId xmlns:a16="http://schemas.microsoft.com/office/drawing/2014/main" id="{0D29D31B-B487-5844-A8B7-378F4C17A0E8}"/>
              </a:ext>
            </a:extLst>
          </p:cNvPr>
          <p:cNvSpPr txBox="1"/>
          <p:nvPr/>
        </p:nvSpPr>
        <p:spPr>
          <a:xfrm>
            <a:off x="8994150" y="65292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194</a:t>
            </a:r>
            <a:endParaRPr i="1" dirty="0">
              <a:latin typeface="Calibri"/>
              <a:ea typeface="Calibri"/>
              <a:cs typeface="Calibri"/>
              <a:sym typeface="Calibri"/>
            </a:endParaRPr>
          </a:p>
        </p:txBody>
      </p:sp>
    </p:spTree>
    <p:extLst>
      <p:ext uri="{BB962C8B-B14F-4D97-AF65-F5344CB8AC3E}">
        <p14:creationId xmlns:p14="http://schemas.microsoft.com/office/powerpoint/2010/main" val="223524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grpSp>
        <p:nvGrpSpPr>
          <p:cNvPr id="2" name="Group 1"/>
          <p:cNvGrpSpPr/>
          <p:nvPr/>
        </p:nvGrpSpPr>
        <p:grpSpPr>
          <a:xfrm>
            <a:off x="2007766" y="1300188"/>
            <a:ext cx="8660235" cy="3467794"/>
            <a:chOff x="483765" y="1226616"/>
            <a:chExt cx="8785366" cy="3517900"/>
          </a:xfrm>
        </p:grpSpPr>
        <p:pic>
          <p:nvPicPr>
            <p:cNvPr id="3074" name="Picture 2"/>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83765" y="1226616"/>
              <a:ext cx="4322763" cy="351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946368" y="1226616"/>
              <a:ext cx="4322763" cy="3462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78" name="Google Shape;278;g104476d1465_1_17"/>
          <p:cNvSpPr/>
          <p:nvPr/>
        </p:nvSpPr>
        <p:spPr>
          <a:xfrm>
            <a:off x="0" y="-1115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628150" y="6175537"/>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B74EB5C6-2FDE-474B-866F-02AD6706D73C}"/>
              </a:ext>
            </a:extLst>
          </p:cNvPr>
          <p:cNvSpPr txBox="1"/>
          <p:nvPr/>
        </p:nvSpPr>
        <p:spPr>
          <a:xfrm>
            <a:off x="504092" y="480645"/>
            <a:ext cx="10435254" cy="5016758"/>
          </a:xfrm>
          <a:prstGeom prst="rect">
            <a:avLst/>
          </a:prstGeom>
          <a:noFill/>
        </p:spPr>
        <p:txBody>
          <a:bodyPr wrap="square" rtlCol="0">
            <a:spAutoFit/>
          </a:bodyPr>
          <a:lstStyle/>
          <a:p>
            <a:pPr marL="7938"/>
            <a:r>
              <a:rPr lang="en-US" sz="2000" dirty="0">
                <a:latin typeface="Verdana" panose="020B0604030504040204" pitchFamily="34" charset="0"/>
                <a:ea typeface="Verdana" panose="020B0604030504040204" pitchFamily="34" charset="0"/>
                <a:cs typeface="Verdana" panose="020B0604030504040204" pitchFamily="34" charset="0"/>
              </a:rPr>
              <a:t>Two different lines, or models, are used to represent the relationship between house size and price on the scatter plot. Both models are shown.</a:t>
            </a:r>
          </a:p>
          <a:p>
            <a:pPr marL="465137"/>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5137"/>
            <a:endParaRPr lang="en-US" sz="2000" dirty="0">
              <a:latin typeface="Verdana" panose="020B0604030504040204" pitchFamily="34" charset="0"/>
              <a:ea typeface="Verdana" panose="020B0604030504040204" pitchFamily="34" charset="0"/>
              <a:cs typeface="Verdana" panose="020B0604030504040204" pitchFamily="34" charset="0"/>
            </a:endParaRPr>
          </a:p>
          <a:p>
            <a:pPr marL="465137"/>
            <a:endParaRPr lang="en-US" sz="2000" dirty="0">
              <a:latin typeface="Verdana" panose="020B0604030504040204" pitchFamily="34" charset="0"/>
              <a:ea typeface="Verdana" panose="020B0604030504040204" pitchFamily="34" charset="0"/>
              <a:cs typeface="Verdana" panose="020B0604030504040204" pitchFamily="34" charset="0"/>
            </a:endParaRPr>
          </a:p>
          <a:p>
            <a:pPr marL="465137"/>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926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926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926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9263">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What do you notice about the models?</a:t>
            </a:r>
          </a:p>
        </p:txBody>
      </p:sp>
      <p:sp>
        <p:nvSpPr>
          <p:cNvPr id="10" name="Google Shape;282;g104476d1465_1_17">
            <a:extLst>
              <a:ext uri="{FF2B5EF4-FFF2-40B4-BE49-F238E27FC236}">
                <a16:creationId xmlns:a16="http://schemas.microsoft.com/office/drawing/2014/main" id="{5B36C1E3-9DAF-1245-8E9E-517221A4E157}"/>
              </a:ext>
            </a:extLst>
          </p:cNvPr>
          <p:cNvSpPr txBox="1"/>
          <p:nvPr/>
        </p:nvSpPr>
        <p:spPr>
          <a:xfrm>
            <a:off x="8994150" y="65041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195</a:t>
            </a:r>
            <a:endParaRPr i="1" dirty="0">
              <a:latin typeface="Calibri"/>
              <a:ea typeface="Calibri"/>
              <a:cs typeface="Calibri"/>
              <a:sym typeface="Calibri"/>
            </a:endParaRPr>
          </a:p>
        </p:txBody>
      </p:sp>
    </p:spTree>
    <p:extLst>
      <p:ext uri="{BB962C8B-B14F-4D97-AF65-F5344CB8AC3E}">
        <p14:creationId xmlns:p14="http://schemas.microsoft.com/office/powerpoint/2010/main" val="1007615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B74EB5C6-2FDE-474B-866F-02AD6706D73C}"/>
              </a:ext>
            </a:extLst>
          </p:cNvPr>
          <p:cNvSpPr txBox="1"/>
          <p:nvPr/>
        </p:nvSpPr>
        <p:spPr>
          <a:xfrm>
            <a:off x="550283" y="299914"/>
            <a:ext cx="11513225" cy="1015663"/>
          </a:xfrm>
          <a:prstGeom prst="rect">
            <a:avLst/>
          </a:prstGeom>
          <a:noFill/>
        </p:spPr>
        <p:txBody>
          <a:bodyPr wrap="square" rtlCol="0">
            <a:spAutoFit/>
          </a:bodyPr>
          <a:lstStyle/>
          <a:p>
            <a:pPr marL="914400" lvl="1"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describe the similarities and differences between the models.</a:t>
            </a:r>
          </a:p>
          <a:p>
            <a:pPr marL="914400" lvl="1" indent="-449263">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2" name="Table 1">
            <a:extLst>
              <a:ext uri="{FF2B5EF4-FFF2-40B4-BE49-F238E27FC236}">
                <a16:creationId xmlns:a16="http://schemas.microsoft.com/office/drawing/2014/main" id="{C1E760AC-BC0D-404A-9263-4A8813387D2E}"/>
              </a:ext>
            </a:extLst>
          </p:cNvPr>
          <p:cNvGraphicFramePr>
            <a:graphicFrameLocks noGrp="1"/>
          </p:cNvGraphicFramePr>
          <p:nvPr>
            <p:extLst>
              <p:ext uri="{D42A27DB-BD31-4B8C-83A1-F6EECF244321}">
                <p14:modId xmlns:p14="http://schemas.microsoft.com/office/powerpoint/2010/main" val="3338352896"/>
              </p:ext>
            </p:extLst>
          </p:nvPr>
        </p:nvGraphicFramePr>
        <p:xfrm>
          <a:off x="3062724" y="1207493"/>
          <a:ext cx="6480000" cy="2268000"/>
        </p:xfrm>
        <a:graphic>
          <a:graphicData uri="http://schemas.openxmlformats.org/drawingml/2006/table">
            <a:tbl>
              <a:tblPr firstRow="1" firstCol="1" bandRow="1">
                <a:tableStyleId>{A91F0D33-8C57-4600-99A7-42BC86742BE1}</a:tableStyleId>
              </a:tblPr>
              <a:tblGrid>
                <a:gridCol w="3240000">
                  <a:extLst>
                    <a:ext uri="{9D8B030D-6E8A-4147-A177-3AD203B41FA5}">
                      <a16:colId xmlns:a16="http://schemas.microsoft.com/office/drawing/2014/main" val="3165250198"/>
                    </a:ext>
                  </a:extLst>
                </a:gridCol>
                <a:gridCol w="3240000">
                  <a:extLst>
                    <a:ext uri="{9D8B030D-6E8A-4147-A177-3AD203B41FA5}">
                      <a16:colId xmlns:a16="http://schemas.microsoft.com/office/drawing/2014/main" val="2124766644"/>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Similarities</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Differences</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243321062"/>
                  </a:ext>
                </a:extLst>
              </a:tr>
              <a:tr h="1800000">
                <a:tc>
                  <a:txBody>
                    <a:bodyPr/>
                    <a:lstStyle/>
                    <a:p>
                      <a:pPr marL="0" marR="0" algn="ctr">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5250502"/>
                  </a:ext>
                </a:extLst>
              </a:tr>
            </a:tbl>
          </a:graphicData>
        </a:graphic>
      </p:graphicFrame>
      <p:sp>
        <p:nvSpPr>
          <p:cNvPr id="10" name="Google Shape;282;g104476d1465_1_17">
            <a:extLst>
              <a:ext uri="{FF2B5EF4-FFF2-40B4-BE49-F238E27FC236}">
                <a16:creationId xmlns:a16="http://schemas.microsoft.com/office/drawing/2014/main" id="{B2D5F094-F275-0841-BDC5-7511E86ADCE1}"/>
              </a:ext>
            </a:extLst>
          </p:cNvPr>
          <p:cNvSpPr txBox="1"/>
          <p:nvPr/>
        </p:nvSpPr>
        <p:spPr>
          <a:xfrm>
            <a:off x="8994150" y="652872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195</a:t>
            </a:r>
            <a:endParaRPr i="1" dirty="0">
              <a:latin typeface="Calibri"/>
              <a:ea typeface="Calibri"/>
              <a:cs typeface="Calibri"/>
              <a:sym typeface="Calibri"/>
            </a:endParaRPr>
          </a:p>
        </p:txBody>
      </p:sp>
      <p:sp>
        <p:nvSpPr>
          <p:cNvPr id="7" name="TextBox 6">
            <a:extLst>
              <a:ext uri="{FF2B5EF4-FFF2-40B4-BE49-F238E27FC236}">
                <a16:creationId xmlns:a16="http://schemas.microsoft.com/office/drawing/2014/main" id="{B74EB5C6-2FDE-474B-866F-02AD6706D73C}"/>
              </a:ext>
            </a:extLst>
          </p:cNvPr>
          <p:cNvSpPr txBox="1"/>
          <p:nvPr/>
        </p:nvSpPr>
        <p:spPr>
          <a:xfrm>
            <a:off x="2102416" y="3612669"/>
            <a:ext cx="8327136" cy="400110"/>
          </a:xfrm>
          <a:prstGeom prst="rect">
            <a:avLst/>
          </a:prstGeom>
          <a:noFill/>
        </p:spPr>
        <p:txBody>
          <a:bodyPr wrap="square" rtlCol="0">
            <a:spAutoFit/>
          </a:bodyPr>
          <a:lstStyle/>
          <a:p>
            <a:pPr marL="7938" lvl="1"/>
            <a:r>
              <a:rPr lang="en-US" sz="2000" dirty="0">
                <a:latin typeface="Verdana" panose="020B0604030504040204" pitchFamily="34" charset="0"/>
                <a:ea typeface="Verdana" panose="020B0604030504040204" pitchFamily="34" charset="0"/>
                <a:cs typeface="Verdana" panose="020B0604030504040204" pitchFamily="34" charset="0"/>
              </a:rPr>
              <a:t>This type of model is called a </a:t>
            </a:r>
            <a:r>
              <a:rPr lang="en-US" sz="2000" b="1" i="1" dirty="0">
                <a:latin typeface="Verdana" panose="020B0604030504040204" pitchFamily="34" charset="0"/>
                <a:ea typeface="Verdana" panose="020B0604030504040204" pitchFamily="34" charset="0"/>
                <a:cs typeface="Verdana" panose="020B0604030504040204" pitchFamily="34" charset="0"/>
              </a:rPr>
              <a:t>line of fit</a:t>
            </a:r>
            <a:r>
              <a:rPr lang="en-US" sz="2000" dirty="0">
                <a:latin typeface="Verdana" panose="020B0604030504040204" pitchFamily="34" charset="0"/>
                <a:ea typeface="Verdana" panose="020B0604030504040204" pitchFamily="34" charset="0"/>
                <a:cs typeface="Verdana" panose="020B0604030504040204" pitchFamily="34" charset="0"/>
              </a:rPr>
              <a:t>.</a:t>
            </a:r>
          </a:p>
        </p:txBody>
      </p:sp>
      <p:grpSp>
        <p:nvGrpSpPr>
          <p:cNvPr id="8" name="Group 7">
            <a:extLst>
              <a:ext uri="{FF2B5EF4-FFF2-40B4-BE49-F238E27FC236}">
                <a16:creationId xmlns:a16="http://schemas.microsoft.com/office/drawing/2014/main" id="{07E0C914-62FE-1442-9789-5AA87956CDED}"/>
              </a:ext>
            </a:extLst>
          </p:cNvPr>
          <p:cNvGrpSpPr/>
          <p:nvPr/>
        </p:nvGrpSpPr>
        <p:grpSpPr>
          <a:xfrm>
            <a:off x="2177666" y="4031690"/>
            <a:ext cx="7560000" cy="1286867"/>
            <a:chOff x="2031300" y="3373600"/>
            <a:chExt cx="7560000" cy="1287187"/>
          </a:xfrm>
        </p:grpSpPr>
        <p:grpSp>
          <p:nvGrpSpPr>
            <p:cNvPr id="9" name="Group 8">
              <a:extLst>
                <a:ext uri="{FF2B5EF4-FFF2-40B4-BE49-F238E27FC236}">
                  <a16:creationId xmlns:a16="http://schemas.microsoft.com/office/drawing/2014/main" id="{C585CCCB-5316-814C-956D-6B6D053C75B6}"/>
                </a:ext>
              </a:extLst>
            </p:cNvPr>
            <p:cNvGrpSpPr/>
            <p:nvPr/>
          </p:nvGrpSpPr>
          <p:grpSpPr>
            <a:xfrm>
              <a:off x="2031300" y="3373600"/>
              <a:ext cx="7560000" cy="1287187"/>
              <a:chOff x="0" y="0"/>
              <a:chExt cx="7560000" cy="1287187"/>
            </a:xfrm>
          </p:grpSpPr>
          <p:sp>
            <p:nvSpPr>
              <p:cNvPr id="11" name="Rectangle 10">
                <a:extLst>
                  <a:ext uri="{FF2B5EF4-FFF2-40B4-BE49-F238E27FC236}">
                    <a16:creationId xmlns:a16="http://schemas.microsoft.com/office/drawing/2014/main" id="{C008A76D-B170-984E-A63C-6DAACA8E2AC0}"/>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sp>
            <p:nvSpPr>
              <p:cNvPr id="12" name="Rounded Rectangle 11">
                <a:extLst>
                  <a:ext uri="{FF2B5EF4-FFF2-40B4-BE49-F238E27FC236}">
                    <a16:creationId xmlns:a16="http://schemas.microsoft.com/office/drawing/2014/main" id="{A23B6086-EF62-E24D-B1B7-C3673FF5BC00}"/>
                  </a:ext>
                </a:extLst>
              </p:cNvPr>
              <p:cNvSpPr/>
              <p:nvPr/>
            </p:nvSpPr>
            <p:spPr>
              <a:xfrm>
                <a:off x="0" y="163240"/>
                <a:ext cx="7560000" cy="1123947"/>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spAutoFit/>
              </a:bodyPr>
              <a:lstStyle/>
              <a:p>
                <a:pPr marL="627063"/>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The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line of fit</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a line drawn on a scatter plot to estimate the relationship between two sets of data. </a:t>
                </a:r>
                <a:b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b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It is also known as a trend line. </a:t>
                </a:r>
                <a:endParaRPr lang="en-US" sz="2000" dirty="0">
                  <a:latin typeface="Times New Roman" panose="02020603050405020304" pitchFamily="18" charset="0"/>
                  <a:ea typeface="Times New Roman" panose="02020603050405020304" pitchFamily="18" charset="0"/>
                </a:endParaRPr>
              </a:p>
            </p:txBody>
          </p:sp>
          <p:pic>
            <p:nvPicPr>
              <p:cNvPr id="13" name="Shape 7" descr="Icon&#10;&#10;Description automatically generated">
                <a:extLst>
                  <a:ext uri="{FF2B5EF4-FFF2-40B4-BE49-F238E27FC236}">
                    <a16:creationId xmlns:a16="http://schemas.microsoft.com/office/drawing/2014/main" id="{9E0F4254-7AEA-4440-918A-5F895822057C}"/>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2419" y="455338"/>
                <a:ext cx="539750" cy="539750"/>
              </a:xfrm>
              <a:prstGeom prst="rect">
                <a:avLst/>
              </a:prstGeom>
              <a:noFill/>
              <a:ln>
                <a:noFill/>
              </a:ln>
              <a:effectLst>
                <a:outerShdw blurRad="50800" dist="38100" dir="2700000" algn="tl" rotWithShape="0">
                  <a:prstClr val="black">
                    <a:alpha val="40000"/>
                  </a:prstClr>
                </a:outerShdw>
              </a:effectLst>
            </p:spPr>
          </p:pic>
        </p:grpSp>
      </p:grpSp>
      <p:sp>
        <p:nvSpPr>
          <p:cNvPr id="14" name="TextBox 13">
            <a:extLst>
              <a:ext uri="{FF2B5EF4-FFF2-40B4-BE49-F238E27FC236}">
                <a16:creationId xmlns:a16="http://schemas.microsoft.com/office/drawing/2014/main" id="{B74EB5C6-2FDE-474B-866F-02AD6706D73C}"/>
              </a:ext>
            </a:extLst>
          </p:cNvPr>
          <p:cNvSpPr txBox="1"/>
          <p:nvPr/>
        </p:nvSpPr>
        <p:spPr>
          <a:xfrm>
            <a:off x="726831" y="5610583"/>
            <a:ext cx="11078307" cy="707886"/>
          </a:xfrm>
          <a:prstGeom prst="rect">
            <a:avLst/>
          </a:prstGeom>
          <a:noFill/>
        </p:spPr>
        <p:txBody>
          <a:bodyPr wrap="square" rtlCol="0">
            <a:spAutoFit/>
          </a:bodyPr>
          <a:lstStyle/>
          <a:p>
            <a:pPr marL="914400" lvl="1" indent="-457200">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which line appears to better estimate the relationship between house size and sale price. Summarize your discussion.</a:t>
            </a:r>
          </a:p>
        </p:txBody>
      </p:sp>
    </p:spTree>
    <p:extLst>
      <p:ext uri="{BB962C8B-B14F-4D97-AF65-F5344CB8AC3E}">
        <p14:creationId xmlns:p14="http://schemas.microsoft.com/office/powerpoint/2010/main" val="1785374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24071" y="2617960"/>
            <a:ext cx="6567929" cy="1152144"/>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sz="5100" b="1" dirty="0">
              <a:solidFill>
                <a:srgbClr val="26B7D4"/>
              </a:solidFill>
              <a:latin typeface="Verdana"/>
              <a:ea typeface="Verdana"/>
              <a:cs typeface="Verdana"/>
              <a:sym typeface="Verdana"/>
            </a:endParaRPr>
          </a:p>
        </p:txBody>
      </p:sp>
      <p:pic>
        <p:nvPicPr>
          <p:cNvPr id="13314" name="Picture 2" descr="Icon&#10;&#10;Description automatically generated">
            <a:extLst>
              <a:ext uri="{FF2B5EF4-FFF2-40B4-BE49-F238E27FC236}">
                <a16:creationId xmlns:a16="http://schemas.microsoft.com/office/drawing/2014/main" id="{31E4CCCA-703A-4C46-A49C-ABEAC0061CD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446903" y="2583292"/>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a:extLst>
              <a:ext uri="{FF2B5EF4-FFF2-40B4-BE49-F238E27FC236}">
                <a16:creationId xmlns:a16="http://schemas.microsoft.com/office/drawing/2014/main" id="{F460F91C-874E-3342-881A-9E7EEC076084}"/>
              </a:ext>
            </a:extLst>
          </p:cNvPr>
          <p:cNvSpPr txBox="1"/>
          <p:nvPr/>
        </p:nvSpPr>
        <p:spPr>
          <a:xfrm>
            <a:off x="8994150" y="65292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196</a:t>
            </a:r>
            <a:endParaRPr i="1" dirty="0">
              <a:latin typeface="Calibri"/>
              <a:ea typeface="Calibri"/>
              <a:cs typeface="Calibri"/>
              <a:sym typeface="Calibri"/>
            </a:endParaRPr>
          </a:p>
        </p:txBody>
      </p:sp>
    </p:spTree>
    <p:extLst>
      <p:ext uri="{BB962C8B-B14F-4D97-AF65-F5344CB8AC3E}">
        <p14:creationId xmlns:p14="http://schemas.microsoft.com/office/powerpoint/2010/main" val="2456065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10640" y="139799"/>
            <a:ext cx="10037298"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11.4.3 Bring It Together: </a:t>
            </a:r>
            <a:r>
              <a:rPr lang="en-US" sz="3200" b="1" dirty="0">
                <a:solidFill>
                  <a:srgbClr val="54B5D1"/>
                </a:solidFill>
                <a:latin typeface="Verdana"/>
                <a:ea typeface="Verdana"/>
                <a:cs typeface="Verdana"/>
              </a:rPr>
              <a:t>Fitting Lines to Model Bivariate Data</a:t>
            </a:r>
            <a:endParaRPr lang="en-US" sz="3200" b="1" dirty="0">
              <a:solidFill>
                <a:srgbClr val="54B5D1"/>
              </a:solidFill>
              <a:latin typeface="Verdana"/>
              <a:ea typeface="Verdana"/>
              <a:cs typeface="Verdana"/>
              <a:sym typeface="Verdana"/>
            </a:endParaRPr>
          </a:p>
        </p:txBody>
      </p:sp>
      <p:sp>
        <p:nvSpPr>
          <p:cNvPr id="8" name="TextBox 7">
            <a:extLst>
              <a:ext uri="{FF2B5EF4-FFF2-40B4-BE49-F238E27FC236}">
                <a16:creationId xmlns:a16="http://schemas.microsoft.com/office/drawing/2014/main" id="{669E00F9-F39F-5043-888E-B0A2D8C9AE0F}"/>
              </a:ext>
            </a:extLst>
          </p:cNvPr>
          <p:cNvSpPr txBox="1"/>
          <p:nvPr/>
        </p:nvSpPr>
        <p:spPr>
          <a:xfrm>
            <a:off x="557561" y="1386026"/>
            <a:ext cx="9830023" cy="452431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Complete the statements.</a:t>
            </a:r>
          </a:p>
          <a:p>
            <a:pPr marL="457200">
              <a:lnSpc>
                <a:spcPct val="250000"/>
              </a:lnSpc>
            </a:pPr>
            <a:r>
              <a:rPr lang="en-US" sz="2400" dirty="0">
                <a:latin typeface="Verdana" panose="020B0604030504040204" pitchFamily="34" charset="0"/>
                <a:ea typeface="Verdana" panose="020B0604030504040204" pitchFamily="34" charset="0"/>
                <a:cs typeface="Verdana" panose="020B0604030504040204" pitchFamily="34" charset="0"/>
              </a:rPr>
              <a:t>Most of the data points were below the line in Model	      Model          had an approximately equal number of data points above and below the line. Therefore,          better models the relationship between house size and sale price.</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10" name="Picture 2" descr="Icon&#10;&#10;Description automatically generated">
            <a:extLst>
              <a:ext uri="{FF2B5EF4-FFF2-40B4-BE49-F238E27FC236}">
                <a16:creationId xmlns:a16="http://schemas.microsoft.com/office/drawing/2014/main" id="{821E6401-0F72-0C44-A2BB-6CDA2AEE49EA}"/>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92016" y="11724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9" name="Rounded Rectangle 8">
            <a:extLst>
              <a:ext uri="{FF2B5EF4-FFF2-40B4-BE49-F238E27FC236}">
                <a16:creationId xmlns:a16="http://schemas.microsoft.com/office/drawing/2014/main" id="{75EA058B-A663-CC45-A5DA-FC5EA8BA7CE7}"/>
              </a:ext>
            </a:extLst>
          </p:cNvPr>
          <p:cNvSpPr/>
          <p:nvPr/>
        </p:nvSpPr>
        <p:spPr>
          <a:xfrm>
            <a:off x="9313437" y="1967763"/>
            <a:ext cx="901428" cy="911364"/>
          </a:xfrm>
          <a:prstGeom prst="round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73050" indent="-273050">
              <a:buFont typeface="Courier New" panose="02070309020205020404" pitchFamily="49" charset="0"/>
              <a:buChar char="o"/>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A.</a:t>
            </a:r>
          </a:p>
          <a:p>
            <a:pPr marL="273050" indent="-273050">
              <a:spcAft>
                <a:spcPts val="1000"/>
              </a:spcAft>
              <a:buFont typeface="Courier New" panose="02070309020205020404" pitchFamily="49" charset="0"/>
              <a:buChar char="o"/>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B.</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14" name="Google Shape;282;g104476d1465_1_17">
            <a:extLst>
              <a:ext uri="{FF2B5EF4-FFF2-40B4-BE49-F238E27FC236}">
                <a16:creationId xmlns:a16="http://schemas.microsoft.com/office/drawing/2014/main" id="{FA7FDB7D-3B21-7247-92FC-C6DB42CD500D}"/>
              </a:ext>
            </a:extLst>
          </p:cNvPr>
          <p:cNvSpPr txBox="1"/>
          <p:nvPr/>
        </p:nvSpPr>
        <p:spPr>
          <a:xfrm>
            <a:off x="8994150" y="651810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196</a:t>
            </a:r>
            <a:endParaRPr i="1" dirty="0">
              <a:latin typeface="Calibri"/>
              <a:ea typeface="Calibri"/>
              <a:cs typeface="Calibri"/>
              <a:sym typeface="Calibri"/>
            </a:endParaRPr>
          </a:p>
        </p:txBody>
      </p:sp>
      <p:sp>
        <p:nvSpPr>
          <p:cNvPr id="12" name="Rounded Rectangle 11">
            <a:extLst>
              <a:ext uri="{FF2B5EF4-FFF2-40B4-BE49-F238E27FC236}">
                <a16:creationId xmlns:a16="http://schemas.microsoft.com/office/drawing/2014/main" id="{75EA058B-A663-CC45-A5DA-FC5EA8BA7CE7}"/>
              </a:ext>
            </a:extLst>
          </p:cNvPr>
          <p:cNvSpPr/>
          <p:nvPr/>
        </p:nvSpPr>
        <p:spPr>
          <a:xfrm>
            <a:off x="2095348" y="2755127"/>
            <a:ext cx="901428" cy="911364"/>
          </a:xfrm>
          <a:prstGeom prst="round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73050" indent="-273050">
              <a:buFont typeface="Courier New" panose="02070309020205020404" pitchFamily="49" charset="0"/>
              <a:buChar char="o"/>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A</a:t>
            </a:r>
            <a:endParaRPr lang="en-US" sz="2400" dirty="0">
              <a:latin typeface="Verdana" panose="020B0604030504040204" pitchFamily="34" charset="0"/>
              <a:ea typeface="Verdana" panose="020B0604030504040204" pitchFamily="34" charset="0"/>
              <a:cs typeface="Verdana" panose="020B0604030504040204" pitchFamily="34" charset="0"/>
            </a:endParaRPr>
          </a:p>
          <a:p>
            <a:pPr marL="273050" indent="-273050">
              <a:spcAft>
                <a:spcPts val="1000"/>
              </a:spcAft>
              <a:buFont typeface="Courier New" panose="02070309020205020404" pitchFamily="49" charset="0"/>
              <a:buChar char="o"/>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B</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15" name="Rounded Rectangle 14">
            <a:extLst>
              <a:ext uri="{FF2B5EF4-FFF2-40B4-BE49-F238E27FC236}">
                <a16:creationId xmlns:a16="http://schemas.microsoft.com/office/drawing/2014/main" id="{75EA058B-A663-CC45-A5DA-FC5EA8BA7CE7}"/>
              </a:ext>
            </a:extLst>
          </p:cNvPr>
          <p:cNvSpPr/>
          <p:nvPr/>
        </p:nvSpPr>
        <p:spPr>
          <a:xfrm>
            <a:off x="7897058" y="3750804"/>
            <a:ext cx="901428" cy="911364"/>
          </a:xfrm>
          <a:prstGeom prst="round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73050" indent="-273050">
              <a:buFont typeface="Courier New" panose="02070309020205020404" pitchFamily="49" charset="0"/>
              <a:buChar char="o"/>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A</a:t>
            </a:r>
            <a:endParaRPr lang="en-US" sz="2400" dirty="0">
              <a:latin typeface="Verdana" panose="020B0604030504040204" pitchFamily="34" charset="0"/>
              <a:ea typeface="Verdana" panose="020B0604030504040204" pitchFamily="34" charset="0"/>
              <a:cs typeface="Verdana" panose="020B0604030504040204" pitchFamily="34" charset="0"/>
            </a:endParaRPr>
          </a:p>
          <a:p>
            <a:pPr marL="273050" indent="-273050">
              <a:spcAft>
                <a:spcPts val="1000"/>
              </a:spcAft>
              <a:buFont typeface="Courier New" panose="02070309020205020404" pitchFamily="49" charset="0"/>
              <a:buChar char="o"/>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B</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399856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4099" name="Picture 3"/>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2423844" y="3298966"/>
            <a:ext cx="3572589" cy="307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217151" y="3379713"/>
            <a:ext cx="3572589" cy="30687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08C1C0E-C7C0-F14B-88E2-57B6133AD69D}"/>
                  </a:ext>
                </a:extLst>
              </p:cNvPr>
              <p:cNvSpPr txBox="1"/>
              <p:nvPr/>
            </p:nvSpPr>
            <p:spPr>
              <a:xfrm>
                <a:off x="1008185" y="585354"/>
                <a:ext cx="10914184" cy="2246769"/>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The two scatter plots show the same set of data summarizing the average gestation period, in days, and average longevity, in years, for a sample of </a:t>
                </a:r>
                <a14:m>
                  <m:oMath xmlns:m="http://schemas.openxmlformats.org/officeDocument/2006/math">
                    <m:r>
                      <a:rPr lang="en-US" sz="2000">
                        <a:latin typeface="Cambria Math"/>
                      </a:rPr>
                      <m:t>30</m:t>
                    </m:r>
                  </m:oMath>
                </a14:m>
                <a:r>
                  <a:rPr lang="en-US" sz="2000" dirty="0">
                    <a:latin typeface="Verdana" panose="020B0604030504040204" pitchFamily="34" charset="0"/>
                    <a:ea typeface="Verdana" panose="020B0604030504040204" pitchFamily="34" charset="0"/>
                    <a:cs typeface="Verdana" panose="020B0604030504040204" pitchFamily="34" charset="0"/>
                  </a:rPr>
                  <a:t> animals as reported in </a:t>
                </a:r>
                <a:r>
                  <a:rPr lang="en-US" sz="2000" i="1" dirty="0">
                    <a:latin typeface="Verdana" panose="020B0604030504040204" pitchFamily="34" charset="0"/>
                    <a:ea typeface="Verdana" panose="020B0604030504040204" pitchFamily="34" charset="0"/>
                    <a:cs typeface="Verdana" panose="020B0604030504040204" pitchFamily="34" charset="0"/>
                  </a:rPr>
                  <a:t>The World Almanac and Book of Facts </a:t>
                </a:r>
                <a:r>
                  <a:rPr lang="en-US" sz="2000" dirty="0">
                    <a:latin typeface="Verdana" panose="020B0604030504040204" pitchFamily="34" charset="0"/>
                    <a:ea typeface="Verdana" panose="020B0604030504040204" pitchFamily="34" charset="0"/>
                    <a:cs typeface="Verdana" panose="020B0604030504040204" pitchFamily="34" charset="0"/>
                  </a:rPr>
                  <a:t>(</a:t>
                </a:r>
                <a:r>
                  <a:rPr lang="en-US" sz="2000" dirty="0" err="1">
                    <a:latin typeface="Verdana" panose="020B0604030504040204" pitchFamily="34" charset="0"/>
                    <a:ea typeface="Verdana" panose="020B0604030504040204" pitchFamily="34" charset="0"/>
                    <a:cs typeface="Verdana" panose="020B0604030504040204" pitchFamily="34" charset="0"/>
                  </a:rPr>
                  <a:t>McGeveran</a:t>
                </a:r>
                <a:r>
                  <a:rPr lang="en-US" sz="2000" dirty="0">
                    <a:latin typeface="Verdana" panose="020B0604030504040204" pitchFamily="34" charset="0"/>
                    <a:ea typeface="Verdana" panose="020B0604030504040204" pitchFamily="34" charset="0"/>
                    <a:cs typeface="Verdana" panose="020B0604030504040204" pitchFamily="34" charset="0"/>
                  </a:rPr>
                  <a:t>, 2006). A gestation period is the amount of time for which an animal is pregnant. Longevity refers to how long an animal lives. Each scatter plot shows a different line to model the relationship between gestation period and longevity. </a:t>
                </a:r>
              </a:p>
            </p:txBody>
          </p:sp>
        </mc:Choice>
        <mc:Fallback xmlns="">
          <p:sp>
            <p:nvSpPr>
              <p:cNvPr id="5" name="TextBox 4">
                <a:extLst>
                  <a:ext uri="{FF2B5EF4-FFF2-40B4-BE49-F238E27FC236}">
                    <a16:creationId xmlns:a16="http://schemas.microsoft.com/office/drawing/2014/main" id="{A08C1C0E-C7C0-F14B-88E2-57B6133AD69D}"/>
                  </a:ext>
                </a:extLst>
              </p:cNvPr>
              <p:cNvSpPr txBox="1">
                <a:spLocks noRot="1" noChangeAspect="1" noMove="1" noResize="1" noEditPoints="1" noAdjustHandles="1" noChangeArrowheads="1" noChangeShapeType="1" noTextEdit="1"/>
              </p:cNvSpPr>
              <p:nvPr/>
            </p:nvSpPr>
            <p:spPr>
              <a:xfrm>
                <a:off x="1008185" y="585354"/>
                <a:ext cx="10914184" cy="2246769"/>
              </a:xfrm>
              <a:prstGeom prst="rect">
                <a:avLst/>
              </a:prstGeom>
              <a:blipFill>
                <a:blip r:embed="rId6"/>
                <a:stretch>
                  <a:fillRect l="-581" t="-1685" r="-581" b="-3371"/>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id="{BC1200BD-2DF6-8549-A10E-082F5C6FF51F}"/>
              </a:ext>
            </a:extLst>
          </p:cNvPr>
          <p:cNvSpPr txBox="1"/>
          <p:nvPr/>
        </p:nvSpPr>
        <p:spPr>
          <a:xfrm>
            <a:off x="8994150" y="65292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196</a:t>
            </a:r>
            <a:endParaRPr i="1" dirty="0">
              <a:latin typeface="Calibri"/>
              <a:ea typeface="Calibri"/>
              <a:cs typeface="Calibri"/>
              <a:sym typeface="Calibri"/>
            </a:endParaRPr>
          </a:p>
        </p:txBody>
      </p:sp>
    </p:spTree>
    <p:extLst>
      <p:ext uri="{BB962C8B-B14F-4D97-AF65-F5344CB8AC3E}">
        <p14:creationId xmlns:p14="http://schemas.microsoft.com/office/powerpoint/2010/main" val="7722731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A08C1C0E-C7C0-F14B-88E2-57B6133AD69D}"/>
              </a:ext>
            </a:extLst>
          </p:cNvPr>
          <p:cNvSpPr txBox="1"/>
          <p:nvPr/>
        </p:nvSpPr>
        <p:spPr>
          <a:xfrm>
            <a:off x="579863" y="425408"/>
            <a:ext cx="10228928" cy="5170646"/>
          </a:xfrm>
          <a:prstGeom prst="rect">
            <a:avLst/>
          </a:prstGeom>
          <a:noFill/>
        </p:spPr>
        <p:txBody>
          <a:bodyPr wrap="square" rtlCol="0">
            <a:spAutoFit/>
          </a:bodyPr>
          <a:lstStyle/>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Explain which of the lines is a better fit to the data.</a:t>
            </a: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Complete the statements.</a:t>
            </a:r>
          </a:p>
          <a:p>
            <a:pPr marL="914400">
              <a:lnSpc>
                <a:spcPct val="250000"/>
              </a:lnSpc>
            </a:pPr>
            <a:r>
              <a:rPr lang="en-US" sz="2000" dirty="0">
                <a:latin typeface="Verdana" panose="020B0604030504040204" pitchFamily="34" charset="0"/>
                <a:ea typeface="Verdana" panose="020B0604030504040204" pitchFamily="34" charset="0"/>
                <a:cs typeface="Verdana" panose="020B0604030504040204" pitchFamily="34" charset="0"/>
              </a:rPr>
              <a:t>There is a                                             association between the gestation period and longevity of an animal. The association appears to be</a:t>
            </a: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10" name="Rounded Rectangle 9">
            <a:extLst>
              <a:ext uri="{FF2B5EF4-FFF2-40B4-BE49-F238E27FC236}">
                <a16:creationId xmlns:a16="http://schemas.microsoft.com/office/drawing/2014/main" id="{FA1BA120-ACB7-944C-9692-6B5588B3D742}"/>
              </a:ext>
            </a:extLst>
          </p:cNvPr>
          <p:cNvSpPr/>
          <p:nvPr/>
        </p:nvSpPr>
        <p:spPr>
          <a:xfrm>
            <a:off x="2957636" y="3022296"/>
            <a:ext cx="1781719" cy="731520"/>
          </a:xfrm>
          <a:prstGeom prst="round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273050" indent="-273050">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positive,</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273050" indent="-273050">
              <a:spcAft>
                <a:spcPts val="1000"/>
              </a:spcAft>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negative,</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11" name="Rounded Rectangle 10">
            <a:extLst>
              <a:ext uri="{FF2B5EF4-FFF2-40B4-BE49-F238E27FC236}">
                <a16:creationId xmlns:a16="http://schemas.microsoft.com/office/drawing/2014/main" id="{C99C5858-2C66-6342-9BF2-D0DC921828EC}"/>
              </a:ext>
            </a:extLst>
          </p:cNvPr>
          <p:cNvSpPr/>
          <p:nvPr/>
        </p:nvSpPr>
        <p:spPr>
          <a:xfrm>
            <a:off x="4895385" y="3022296"/>
            <a:ext cx="1845664" cy="731520"/>
          </a:xfrm>
          <a:prstGeom prst="round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273050" indent="-273050">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linear</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273050" indent="-273050">
              <a:spcAft>
                <a:spcPts val="1000"/>
              </a:spcAft>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non-linear</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13" name="Rounded Rectangle 12">
            <a:extLst>
              <a:ext uri="{FF2B5EF4-FFF2-40B4-BE49-F238E27FC236}">
                <a16:creationId xmlns:a16="http://schemas.microsoft.com/office/drawing/2014/main" id="{98379CBA-DE3C-974D-836E-E41AD27D97B1}"/>
              </a:ext>
            </a:extLst>
          </p:cNvPr>
          <p:cNvSpPr/>
          <p:nvPr/>
        </p:nvSpPr>
        <p:spPr>
          <a:xfrm>
            <a:off x="2358065" y="4417708"/>
            <a:ext cx="1909107" cy="1041400"/>
          </a:xfrm>
          <a:prstGeom prst="round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273050" indent="-273050">
              <a:buFont typeface="Courier New" panose="02070309020205020404" pitchFamily="49" charset="0"/>
              <a:buChar char="o"/>
              <a:tabLst>
                <a:tab pos="171450" algn="l"/>
              </a:tabLst>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weak.</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273050" indent="-273050">
              <a:buFont typeface="Courier New" panose="02070309020205020404" pitchFamily="49" charset="0"/>
              <a:buChar char="o"/>
              <a:tabLst>
                <a:tab pos="171450" algn="l"/>
              </a:tabLst>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moderate.</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273050" indent="-273050">
              <a:spcAft>
                <a:spcPts val="1000"/>
              </a:spcAft>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strong.</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14" name="Google Shape;282;g104476d1465_1_17">
            <a:extLst>
              <a:ext uri="{FF2B5EF4-FFF2-40B4-BE49-F238E27FC236}">
                <a16:creationId xmlns:a16="http://schemas.microsoft.com/office/drawing/2014/main" id="{A81DF555-F878-DD47-B2DE-1527FAC7F3C7}"/>
              </a:ext>
            </a:extLst>
          </p:cNvPr>
          <p:cNvSpPr txBox="1"/>
          <p:nvPr/>
        </p:nvSpPr>
        <p:spPr>
          <a:xfrm>
            <a:off x="8994150" y="653674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196</a:t>
            </a:r>
            <a:endParaRPr i="1" dirty="0">
              <a:latin typeface="Calibri"/>
              <a:ea typeface="Calibri"/>
              <a:cs typeface="Calibri"/>
              <a:sym typeface="Calibri"/>
            </a:endParaRPr>
          </a:p>
        </p:txBody>
      </p:sp>
    </p:spTree>
    <p:extLst>
      <p:ext uri="{BB962C8B-B14F-4D97-AF65-F5344CB8AC3E}">
        <p14:creationId xmlns:p14="http://schemas.microsoft.com/office/powerpoint/2010/main" val="15714524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83637"/>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A08C1C0E-C7C0-F14B-88E2-57B6133AD69D}"/>
              </a:ext>
            </a:extLst>
          </p:cNvPr>
          <p:cNvSpPr txBox="1"/>
          <p:nvPr/>
        </p:nvSpPr>
        <p:spPr>
          <a:xfrm>
            <a:off x="773723" y="539262"/>
            <a:ext cx="10867292" cy="4708981"/>
          </a:xfrm>
          <a:prstGeom prst="rect">
            <a:avLst/>
          </a:prstGeom>
          <a:noFill/>
        </p:spPr>
        <p:txBody>
          <a:bodyPr wrap="square" rtlCol="0">
            <a:spAutoFit/>
          </a:bodyPr>
          <a:lstStyle/>
          <a:p>
            <a:pPr marL="9144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how the slope of the line and fit to the data relates to the patterns of association in a scatter plot that appears linear. Then, summarize your discussion.</a:t>
            </a:r>
          </a:p>
          <a:p>
            <a:pPr marL="922337"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7"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7"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7"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7938"/>
            <a:r>
              <a:rPr lang="en-US" sz="2000" dirty="0">
                <a:latin typeface="Verdana" panose="020B0604030504040204" pitchFamily="34" charset="0"/>
                <a:ea typeface="Verdana" panose="020B0604030504040204" pitchFamily="34" charset="0"/>
                <a:cs typeface="Verdana" panose="020B0604030504040204" pitchFamily="34" charset="0"/>
              </a:rPr>
              <a:t>Sometimes data includes </a:t>
            </a:r>
            <a:r>
              <a:rPr lang="en-US" sz="2000" b="1" i="1" dirty="0">
                <a:latin typeface="Verdana" panose="020B0604030504040204" pitchFamily="34" charset="0"/>
                <a:ea typeface="Verdana" panose="020B0604030504040204" pitchFamily="34" charset="0"/>
                <a:cs typeface="Verdana" panose="020B0604030504040204" pitchFamily="34" charset="0"/>
              </a:rPr>
              <a:t>outliers</a:t>
            </a:r>
            <a:r>
              <a:rPr lang="en-US" sz="2000" dirty="0">
                <a:latin typeface="Verdana" panose="020B0604030504040204" pitchFamily="34" charset="0"/>
                <a:ea typeface="Verdana" panose="020B0604030504040204" pitchFamily="34" charset="0"/>
                <a:cs typeface="Verdana" panose="020B0604030504040204" pitchFamily="34" charset="0"/>
              </a:rPr>
              <a:t>.</a:t>
            </a:r>
          </a:p>
          <a:p>
            <a:pPr marL="7938"/>
            <a:endParaRPr lang="en-US" sz="2000" dirty="0">
              <a:latin typeface="Verdana" panose="020B0604030504040204" pitchFamily="34" charset="0"/>
              <a:ea typeface="Verdana" panose="020B0604030504040204" pitchFamily="34" charset="0"/>
              <a:cs typeface="Verdana" panose="020B0604030504040204" pitchFamily="34" charset="0"/>
            </a:endParaRPr>
          </a:p>
          <a:p>
            <a:pPr marL="7938"/>
            <a:endParaRPr lang="en-US" sz="2000" dirty="0">
              <a:latin typeface="Verdana" panose="020B0604030504040204" pitchFamily="34" charset="0"/>
              <a:ea typeface="Verdana" panose="020B0604030504040204" pitchFamily="34" charset="0"/>
              <a:cs typeface="Verdana" panose="020B0604030504040204" pitchFamily="34" charset="0"/>
            </a:endParaRPr>
          </a:p>
          <a:p>
            <a:pPr marL="7938"/>
            <a:endParaRPr lang="en-US" sz="2000" dirty="0">
              <a:latin typeface="Verdana" panose="020B0604030504040204" pitchFamily="34" charset="0"/>
              <a:ea typeface="Verdana" panose="020B0604030504040204" pitchFamily="34" charset="0"/>
              <a:cs typeface="Verdana" panose="020B0604030504040204" pitchFamily="34" charset="0"/>
            </a:endParaRPr>
          </a:p>
          <a:p>
            <a:pPr marL="7938"/>
            <a:endParaRPr lang="en-US" sz="2000" dirty="0">
              <a:latin typeface="Verdana" panose="020B0604030504040204" pitchFamily="34" charset="0"/>
              <a:ea typeface="Verdana" panose="020B0604030504040204" pitchFamily="34" charset="0"/>
              <a:cs typeface="Verdana" panose="020B0604030504040204" pitchFamily="34" charset="0"/>
            </a:endParaRPr>
          </a:p>
          <a:p>
            <a:pPr marL="7938"/>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Circle the point(s) on the scatter plot that appear to be outliers in the data set.</a:t>
            </a:r>
          </a:p>
        </p:txBody>
      </p:sp>
      <p:sp>
        <p:nvSpPr>
          <p:cNvPr id="9" name="Google Shape;282;g104476d1465_1_17">
            <a:extLst>
              <a:ext uri="{FF2B5EF4-FFF2-40B4-BE49-F238E27FC236}">
                <a16:creationId xmlns:a16="http://schemas.microsoft.com/office/drawing/2014/main" id="{5341AC6F-2DCA-2A4B-BE25-7AE9ECF0EC9A}"/>
              </a:ext>
            </a:extLst>
          </p:cNvPr>
          <p:cNvSpPr txBox="1"/>
          <p:nvPr/>
        </p:nvSpPr>
        <p:spPr>
          <a:xfrm>
            <a:off x="8994150" y="65122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197</a:t>
            </a:r>
            <a:endParaRPr i="1" dirty="0">
              <a:latin typeface="Calibri"/>
              <a:ea typeface="Calibri"/>
              <a:cs typeface="Calibri"/>
              <a:sym typeface="Calibri"/>
            </a:endParaRPr>
          </a:p>
        </p:txBody>
      </p:sp>
      <p:grpSp>
        <p:nvGrpSpPr>
          <p:cNvPr id="6" name="Group 5">
            <a:extLst>
              <a:ext uri="{FF2B5EF4-FFF2-40B4-BE49-F238E27FC236}">
                <a16:creationId xmlns:a16="http://schemas.microsoft.com/office/drawing/2014/main" id="{A894148B-D040-0544-8F28-93CB883582DA}"/>
              </a:ext>
            </a:extLst>
          </p:cNvPr>
          <p:cNvGrpSpPr/>
          <p:nvPr/>
        </p:nvGrpSpPr>
        <p:grpSpPr>
          <a:xfrm>
            <a:off x="2077361" y="3289561"/>
            <a:ext cx="7380000" cy="988041"/>
            <a:chOff x="-1" y="-1"/>
            <a:chExt cx="7054958" cy="1054080"/>
          </a:xfrm>
        </p:grpSpPr>
        <p:grpSp>
          <p:nvGrpSpPr>
            <p:cNvPr id="7" name="Group 6">
              <a:extLst>
                <a:ext uri="{FF2B5EF4-FFF2-40B4-BE49-F238E27FC236}">
                  <a16:creationId xmlns:a16="http://schemas.microsoft.com/office/drawing/2014/main" id="{B16BEB5B-5B2B-4246-97F0-93F1E2CA3986}"/>
                </a:ext>
              </a:extLst>
            </p:cNvPr>
            <p:cNvGrpSpPr/>
            <p:nvPr/>
          </p:nvGrpSpPr>
          <p:grpSpPr>
            <a:xfrm>
              <a:off x="-1" y="-1"/>
              <a:ext cx="7054958" cy="1054080"/>
              <a:chOff x="-1" y="-1"/>
              <a:chExt cx="7054958" cy="1054226"/>
            </a:xfrm>
          </p:grpSpPr>
          <p:sp>
            <p:nvSpPr>
              <p:cNvPr id="8" name="Rectangle 7">
                <a:extLst>
                  <a:ext uri="{FF2B5EF4-FFF2-40B4-BE49-F238E27FC236}">
                    <a16:creationId xmlns:a16="http://schemas.microsoft.com/office/drawing/2014/main" id="{DA8B9B87-7895-BF43-9459-FDB1A8BD4EBE}"/>
                  </a:ext>
                </a:extLst>
              </p:cNvPr>
              <p:cNvSpPr/>
              <p:nvPr/>
            </p:nvSpPr>
            <p:spPr>
              <a:xfrm>
                <a:off x="0" y="0"/>
                <a:ext cx="6629400" cy="10542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10" name="Group 9">
                <a:extLst>
                  <a:ext uri="{FF2B5EF4-FFF2-40B4-BE49-F238E27FC236}">
                    <a16:creationId xmlns:a16="http://schemas.microsoft.com/office/drawing/2014/main" id="{54D50305-FFC7-914B-84A1-29489786CB2E}"/>
                  </a:ext>
                </a:extLst>
              </p:cNvPr>
              <p:cNvGrpSpPr/>
              <p:nvPr/>
            </p:nvGrpSpPr>
            <p:grpSpPr>
              <a:xfrm>
                <a:off x="-1" y="-1"/>
                <a:ext cx="7054958" cy="1054226"/>
                <a:chOff x="-1" y="-1"/>
                <a:chExt cx="7054958" cy="1054226"/>
              </a:xfrm>
            </p:grpSpPr>
            <p:sp>
              <p:nvSpPr>
                <p:cNvPr id="11" name="Rectangle 10">
                  <a:extLst>
                    <a:ext uri="{FF2B5EF4-FFF2-40B4-BE49-F238E27FC236}">
                      <a16:creationId xmlns:a16="http://schemas.microsoft.com/office/drawing/2014/main" id="{CEAB6BD5-DC1A-2B46-9807-26999E1D62AF}"/>
                    </a:ext>
                  </a:extLst>
                </p:cNvPr>
                <p:cNvSpPr/>
                <p:nvPr/>
              </p:nvSpPr>
              <p:spPr>
                <a:xfrm>
                  <a:off x="0" y="0"/>
                  <a:ext cx="6629400" cy="10542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12" name="Group 11">
                  <a:extLst>
                    <a:ext uri="{FF2B5EF4-FFF2-40B4-BE49-F238E27FC236}">
                      <a16:creationId xmlns:a16="http://schemas.microsoft.com/office/drawing/2014/main" id="{30A1BFA2-33DC-F740-92B3-8862405ACBCA}"/>
                    </a:ext>
                  </a:extLst>
                </p:cNvPr>
                <p:cNvGrpSpPr/>
                <p:nvPr/>
              </p:nvGrpSpPr>
              <p:grpSpPr>
                <a:xfrm>
                  <a:off x="-1" y="-1"/>
                  <a:ext cx="7054958" cy="1054226"/>
                  <a:chOff x="-1" y="-1"/>
                  <a:chExt cx="7054958" cy="1054226"/>
                </a:xfrm>
              </p:grpSpPr>
              <p:sp>
                <p:nvSpPr>
                  <p:cNvPr id="13" name="Rectangle 12">
                    <a:extLst>
                      <a:ext uri="{FF2B5EF4-FFF2-40B4-BE49-F238E27FC236}">
                        <a16:creationId xmlns:a16="http://schemas.microsoft.com/office/drawing/2014/main" id="{79E1D759-9C4C-C442-AF67-82E44ACE105C}"/>
                      </a:ext>
                    </a:extLst>
                  </p:cNvPr>
                  <p:cNvSpPr/>
                  <p:nvPr/>
                </p:nvSpPr>
                <p:spPr>
                  <a:xfrm>
                    <a:off x="0" y="0"/>
                    <a:ext cx="6629400" cy="10542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14" name="Group 13">
                    <a:extLst>
                      <a:ext uri="{FF2B5EF4-FFF2-40B4-BE49-F238E27FC236}">
                        <a16:creationId xmlns:a16="http://schemas.microsoft.com/office/drawing/2014/main" id="{44A1579F-D886-6347-BC1B-C0C4AE79D359}"/>
                      </a:ext>
                    </a:extLst>
                  </p:cNvPr>
                  <p:cNvGrpSpPr/>
                  <p:nvPr/>
                </p:nvGrpSpPr>
                <p:grpSpPr>
                  <a:xfrm>
                    <a:off x="-1" y="-1"/>
                    <a:ext cx="7054958" cy="1054226"/>
                    <a:chOff x="-1" y="-1"/>
                    <a:chExt cx="7054958" cy="1054226"/>
                  </a:xfrm>
                </p:grpSpPr>
                <p:sp>
                  <p:nvSpPr>
                    <p:cNvPr id="15" name="Rectangle 14">
                      <a:extLst>
                        <a:ext uri="{FF2B5EF4-FFF2-40B4-BE49-F238E27FC236}">
                          <a16:creationId xmlns:a16="http://schemas.microsoft.com/office/drawing/2014/main" id="{BADBDF5F-86DE-0B41-986C-A7699677ADD3}"/>
                        </a:ext>
                      </a:extLst>
                    </p:cNvPr>
                    <p:cNvSpPr/>
                    <p:nvPr/>
                  </p:nvSpPr>
                  <p:spPr>
                    <a:xfrm>
                      <a:off x="0" y="0"/>
                      <a:ext cx="6629400" cy="10542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16" name="Group 15">
                      <a:extLst>
                        <a:ext uri="{FF2B5EF4-FFF2-40B4-BE49-F238E27FC236}">
                          <a16:creationId xmlns:a16="http://schemas.microsoft.com/office/drawing/2014/main" id="{61D5CBB9-BF11-2B49-92A3-7B1B2670906C}"/>
                        </a:ext>
                      </a:extLst>
                    </p:cNvPr>
                    <p:cNvGrpSpPr/>
                    <p:nvPr/>
                  </p:nvGrpSpPr>
                  <p:grpSpPr>
                    <a:xfrm>
                      <a:off x="-1" y="-1"/>
                      <a:ext cx="7054958" cy="1054226"/>
                      <a:chOff x="-1" y="-1"/>
                      <a:chExt cx="7054958" cy="1054226"/>
                    </a:xfrm>
                  </p:grpSpPr>
                  <p:sp>
                    <p:nvSpPr>
                      <p:cNvPr id="17" name="Rectangle 16">
                        <a:extLst>
                          <a:ext uri="{FF2B5EF4-FFF2-40B4-BE49-F238E27FC236}">
                            <a16:creationId xmlns:a16="http://schemas.microsoft.com/office/drawing/2014/main" id="{D237C150-F5AC-3048-BF9A-6A9B536F3A3C}"/>
                          </a:ext>
                        </a:extLst>
                      </p:cNvPr>
                      <p:cNvSpPr/>
                      <p:nvPr/>
                    </p:nvSpPr>
                    <p:spPr>
                      <a:xfrm>
                        <a:off x="0" y="0"/>
                        <a:ext cx="6629400" cy="10542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18" name="Group 17">
                        <a:extLst>
                          <a:ext uri="{FF2B5EF4-FFF2-40B4-BE49-F238E27FC236}">
                            <a16:creationId xmlns:a16="http://schemas.microsoft.com/office/drawing/2014/main" id="{FD7C8D44-95EA-EF48-8944-AD74DCDECBC1}"/>
                          </a:ext>
                        </a:extLst>
                      </p:cNvPr>
                      <p:cNvGrpSpPr/>
                      <p:nvPr/>
                    </p:nvGrpSpPr>
                    <p:grpSpPr>
                      <a:xfrm>
                        <a:off x="-1" y="-1"/>
                        <a:ext cx="7054958" cy="1054222"/>
                        <a:chOff x="-1" y="0"/>
                        <a:chExt cx="7054958" cy="1035400"/>
                      </a:xfrm>
                    </p:grpSpPr>
                    <p:sp>
                      <p:nvSpPr>
                        <p:cNvPr id="19" name="Rectangle 18">
                          <a:extLst>
                            <a:ext uri="{FF2B5EF4-FFF2-40B4-BE49-F238E27FC236}">
                              <a16:creationId xmlns:a16="http://schemas.microsoft.com/office/drawing/2014/main" id="{13941DE2-D942-7649-B420-E71A9C29770C}"/>
                            </a:ext>
                          </a:extLst>
                        </p:cNvPr>
                        <p:cNvSpPr/>
                        <p:nvPr/>
                      </p:nvSpPr>
                      <p:spPr>
                        <a:xfrm>
                          <a:off x="0" y="0"/>
                          <a:ext cx="6629400" cy="10354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20" name="Group 19">
                          <a:extLst>
                            <a:ext uri="{FF2B5EF4-FFF2-40B4-BE49-F238E27FC236}">
                              <a16:creationId xmlns:a16="http://schemas.microsoft.com/office/drawing/2014/main" id="{58D2D9F4-FD09-1241-BC72-196CC8741052}"/>
                            </a:ext>
                          </a:extLst>
                        </p:cNvPr>
                        <p:cNvGrpSpPr/>
                        <p:nvPr/>
                      </p:nvGrpSpPr>
                      <p:grpSpPr>
                        <a:xfrm>
                          <a:off x="-1" y="0"/>
                          <a:ext cx="7054958" cy="1035400"/>
                          <a:chOff x="-1" y="0"/>
                          <a:chExt cx="7054958" cy="1035400"/>
                        </a:xfrm>
                      </p:grpSpPr>
                      <p:sp>
                        <p:nvSpPr>
                          <p:cNvPr id="21" name="Rectangle 20">
                            <a:extLst>
                              <a:ext uri="{FF2B5EF4-FFF2-40B4-BE49-F238E27FC236}">
                                <a16:creationId xmlns:a16="http://schemas.microsoft.com/office/drawing/2014/main" id="{1BCDBE68-B63F-B348-B097-F3F14A71400D}"/>
                              </a:ext>
                            </a:extLst>
                          </p:cNvPr>
                          <p:cNvSpPr/>
                          <p:nvPr/>
                        </p:nvSpPr>
                        <p:spPr>
                          <a:xfrm>
                            <a:off x="0" y="0"/>
                            <a:ext cx="6629400" cy="10354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22" name="Group 21">
                            <a:extLst>
                              <a:ext uri="{FF2B5EF4-FFF2-40B4-BE49-F238E27FC236}">
                                <a16:creationId xmlns:a16="http://schemas.microsoft.com/office/drawing/2014/main" id="{749CE941-EAB6-314F-BCA3-BEA336320011}"/>
                              </a:ext>
                            </a:extLst>
                          </p:cNvPr>
                          <p:cNvGrpSpPr/>
                          <p:nvPr/>
                        </p:nvGrpSpPr>
                        <p:grpSpPr>
                          <a:xfrm>
                            <a:off x="-1" y="0"/>
                            <a:ext cx="7054958" cy="886893"/>
                            <a:chOff x="-1" y="0"/>
                            <a:chExt cx="7054958" cy="886893"/>
                          </a:xfrm>
                        </p:grpSpPr>
                        <p:sp>
                          <p:nvSpPr>
                            <p:cNvPr id="23" name="Rectangle 22">
                              <a:extLst>
                                <a:ext uri="{FF2B5EF4-FFF2-40B4-BE49-F238E27FC236}">
                                  <a16:creationId xmlns:a16="http://schemas.microsoft.com/office/drawing/2014/main" id="{D2BB98DC-5F46-1E48-8F65-FD272A7CFBDC}"/>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24" name="Group 23">
                              <a:extLst>
                                <a:ext uri="{FF2B5EF4-FFF2-40B4-BE49-F238E27FC236}">
                                  <a16:creationId xmlns:a16="http://schemas.microsoft.com/office/drawing/2014/main" id="{612D41BC-8883-EB49-A118-1EFD878D2377}"/>
                                </a:ext>
                              </a:extLst>
                            </p:cNvPr>
                            <p:cNvGrpSpPr/>
                            <p:nvPr/>
                          </p:nvGrpSpPr>
                          <p:grpSpPr>
                            <a:xfrm>
                              <a:off x="-1" y="0"/>
                              <a:ext cx="7054958" cy="886893"/>
                              <a:chOff x="-1" y="0"/>
                              <a:chExt cx="7054958" cy="886893"/>
                            </a:xfrm>
                          </p:grpSpPr>
                          <p:sp>
                            <p:nvSpPr>
                              <p:cNvPr id="25" name="Rectangle 24">
                                <a:extLst>
                                  <a:ext uri="{FF2B5EF4-FFF2-40B4-BE49-F238E27FC236}">
                                    <a16:creationId xmlns:a16="http://schemas.microsoft.com/office/drawing/2014/main" id="{30209431-0B5B-B847-8BAA-A545D6009087}"/>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sp>
                            <p:nvSpPr>
                              <p:cNvPr id="26" name="Rectangle: Rounded Corners 62">
                                <a:extLst>
                                  <a:ext uri="{FF2B5EF4-FFF2-40B4-BE49-F238E27FC236}">
                                    <a16:creationId xmlns:a16="http://schemas.microsoft.com/office/drawing/2014/main" id="{FCB1786D-D89B-CB4E-9A64-3C5D723FE268}"/>
                                  </a:ext>
                                </a:extLst>
                              </p:cNvPr>
                              <p:cNvSpPr/>
                              <p:nvPr/>
                            </p:nvSpPr>
                            <p:spPr>
                              <a:xfrm>
                                <a:off x="-1" y="66204"/>
                                <a:ext cx="7054958" cy="820689"/>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spAutoFit/>
                              </a:bodyPr>
                              <a:lstStyle/>
                              <a:p>
                                <a:pPr marL="627063"/>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An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outlier </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is a value that is much higher or much lower than the other values in a set of data.</a:t>
                                </a:r>
                                <a:endParaRPr lang="en-US" dirty="0">
                                  <a:latin typeface="Times New Roman" panose="02020603050405020304" pitchFamily="18" charset="0"/>
                                  <a:ea typeface="Times New Roman" panose="02020603050405020304" pitchFamily="18" charset="0"/>
                                </a:endParaRPr>
                              </a:p>
                            </p:txBody>
                          </p:sp>
                          <p:pic>
                            <p:nvPicPr>
                              <p:cNvPr id="27" name="Shape 21" descr="Icon&#10;&#10;Description automatically generated">
                                <a:extLst>
                                  <a:ext uri="{FF2B5EF4-FFF2-40B4-BE49-F238E27FC236}">
                                    <a16:creationId xmlns:a16="http://schemas.microsoft.com/office/drawing/2014/main" id="{92527F0E-CE63-834C-96A1-A754EDB6EE53}"/>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38545" y="193869"/>
                                <a:ext cx="515735" cy="565357"/>
                              </a:xfrm>
                              <a:prstGeom prst="rect">
                                <a:avLst/>
                              </a:prstGeom>
                              <a:noFill/>
                              <a:ln>
                                <a:noFill/>
                              </a:ln>
                              <a:effectLst>
                                <a:outerShdw blurRad="50800" dist="38100" dir="2700000" algn="tl" rotWithShape="0">
                                  <a:prstClr val="black">
                                    <a:alpha val="40000"/>
                                  </a:prstClr>
                                </a:outerShdw>
                              </a:effectLst>
                            </p:spPr>
                          </p:pic>
                        </p:grpSp>
                      </p:grpSp>
                    </p:grpSp>
                  </p:grpSp>
                </p:grpSp>
              </p:grpSp>
            </p:grpSp>
          </p:grpSp>
        </p:grpSp>
      </p:grpSp>
    </p:spTree>
    <p:extLst>
      <p:ext uri="{BB962C8B-B14F-4D97-AF65-F5344CB8AC3E}">
        <p14:creationId xmlns:p14="http://schemas.microsoft.com/office/powerpoint/2010/main" val="9719447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A08C1C0E-C7C0-F14B-88E2-57B6133AD69D}"/>
              </a:ext>
            </a:extLst>
          </p:cNvPr>
          <p:cNvSpPr txBox="1"/>
          <p:nvPr/>
        </p:nvSpPr>
        <p:spPr>
          <a:xfrm>
            <a:off x="546410" y="575338"/>
            <a:ext cx="11184673" cy="3915752"/>
          </a:xfrm>
          <a:prstGeom prst="rect">
            <a:avLst/>
          </a:prstGeom>
          <a:noFill/>
        </p:spPr>
        <p:txBody>
          <a:bodyPr wrap="square" rtlCol="0">
            <a:spAutoFit/>
          </a:bodyPr>
          <a:lstStyle/>
          <a:p>
            <a:pPr marL="914400" indent="-457200">
              <a:buFont typeface="+mj-lt"/>
              <a:buAutoNum type="alphaLcPeriod" startAt="5"/>
            </a:pPr>
            <a:r>
              <a:rPr lang="en-US" sz="2000" dirty="0">
                <a:latin typeface="Verdana" pitchFamily="34" charset="0"/>
                <a:ea typeface="Verdana" pitchFamily="34" charset="0"/>
              </a:rPr>
              <a:t>Complete the statement.</a:t>
            </a:r>
            <a:endParaRPr lang="en-US" sz="2000" i="1" dirty="0">
              <a:latin typeface="Verdana" pitchFamily="34" charset="0"/>
              <a:ea typeface="Verdana" pitchFamily="34" charset="0"/>
            </a:endParaRPr>
          </a:p>
          <a:p>
            <a:pPr marL="914400">
              <a:lnSpc>
                <a:spcPct val="300000"/>
              </a:lnSpc>
            </a:pPr>
            <a:r>
              <a:rPr lang="en-US" sz="2000" dirty="0">
                <a:latin typeface="Verdana" pitchFamily="34" charset="0"/>
                <a:ea typeface="Verdana" pitchFamily="34" charset="0"/>
              </a:rPr>
              <a:t>Most of the animals included in the data set follow a similar trend, modeled by the </a:t>
            </a:r>
            <a:r>
              <a:rPr lang="en-US" sz="2000" i="1" dirty="0">
                <a:latin typeface="Verdana" pitchFamily="34" charset="0"/>
                <a:ea typeface="Verdana" pitchFamily="34" charset="0"/>
              </a:rPr>
              <a:t>			 </a:t>
            </a:r>
            <a:r>
              <a:rPr lang="en-US" sz="2000" dirty="0">
                <a:latin typeface="Verdana" pitchFamily="34" charset="0"/>
                <a:ea typeface="Verdana" pitchFamily="34" charset="0"/>
              </a:rPr>
              <a:t>However, there                 animal(s) included in the data set who appear to             		  much longer than the others, regardless of </a:t>
            </a:r>
            <a:endParaRPr lang="en-US" sz="2000" i="1" dirty="0">
              <a:latin typeface="Verdana" pitchFamily="34" charset="0"/>
              <a:ea typeface="Verdana" pitchFamily="34" charset="0"/>
            </a:endParaRPr>
          </a:p>
        </p:txBody>
      </p:sp>
      <p:sp>
        <p:nvSpPr>
          <p:cNvPr id="6" name="Rounded Rectangle 5">
            <a:extLst>
              <a:ext uri="{FF2B5EF4-FFF2-40B4-BE49-F238E27FC236}">
                <a16:creationId xmlns:a16="http://schemas.microsoft.com/office/drawing/2014/main" id="{E14816BF-F4C2-544E-A59B-B1DC6EF4545B}"/>
              </a:ext>
            </a:extLst>
          </p:cNvPr>
          <p:cNvSpPr/>
          <p:nvPr/>
        </p:nvSpPr>
        <p:spPr>
          <a:xfrm>
            <a:off x="2078453" y="1950535"/>
            <a:ext cx="2211916" cy="783193"/>
          </a:xfrm>
          <a:prstGeom prst="round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73050" indent="-273050">
              <a:buFont typeface="Courier New" panose="02070309020205020404" pitchFamily="49" charset="0"/>
              <a:buChar char="o"/>
            </a:pPr>
            <a:r>
              <a:rPr lang="en-US" sz="2000" dirty="0">
                <a:solidFill>
                  <a:srgbClr val="000000"/>
                </a:solidFill>
                <a:latin typeface="Verdana" pitchFamily="34" charset="0"/>
                <a:ea typeface="Verdana" pitchFamily="34" charset="0"/>
                <a:cs typeface="Verdana" pitchFamily="34" charset="0"/>
              </a:rPr>
              <a:t>Line of Fit A.</a:t>
            </a:r>
            <a:endParaRPr lang="en-US" sz="2000" dirty="0">
              <a:latin typeface="Verdana" pitchFamily="34" charset="0"/>
              <a:ea typeface="Verdana" pitchFamily="34" charset="0"/>
              <a:cs typeface="Verdana" pitchFamily="34" charset="0"/>
            </a:endParaRPr>
          </a:p>
          <a:p>
            <a:pPr marL="273050" indent="-273050">
              <a:spcAft>
                <a:spcPts val="1000"/>
              </a:spcAft>
              <a:buFont typeface="Courier New" panose="02070309020205020404" pitchFamily="49" charset="0"/>
              <a:buChar char="o"/>
            </a:pPr>
            <a:r>
              <a:rPr lang="en-US" sz="2000" dirty="0">
                <a:solidFill>
                  <a:srgbClr val="000000"/>
                </a:solidFill>
                <a:latin typeface="Verdana" pitchFamily="34" charset="0"/>
                <a:ea typeface="Verdana" pitchFamily="34" charset="0"/>
                <a:cs typeface="Verdana" pitchFamily="34" charset="0"/>
              </a:rPr>
              <a:t>Line of Fit B.</a:t>
            </a:r>
            <a:endParaRPr lang="en-US" sz="2000" dirty="0">
              <a:latin typeface="Verdana" pitchFamily="34" charset="0"/>
              <a:ea typeface="Verdana" pitchFamily="34" charset="0"/>
              <a:cs typeface="Verdana" pitchFamily="34" charset="0"/>
            </a:endParaRPr>
          </a:p>
        </p:txBody>
      </p:sp>
      <mc:AlternateContent xmlns:mc="http://schemas.openxmlformats.org/markup-compatibility/2006" xmlns:a14="http://schemas.microsoft.com/office/drawing/2010/main">
        <mc:Choice Requires="a14">
          <p:sp>
            <p:nvSpPr>
              <p:cNvPr id="7" name="Rounded Rectangle 6">
                <a:extLst>
                  <a:ext uri="{FF2B5EF4-FFF2-40B4-BE49-F238E27FC236}">
                    <a16:creationId xmlns:a16="http://schemas.microsoft.com/office/drawing/2014/main" id="{F48FA4C8-BBEF-174F-8080-89F16EFCFD29}"/>
                  </a:ext>
                </a:extLst>
              </p:cNvPr>
              <p:cNvSpPr/>
              <p:nvPr/>
            </p:nvSpPr>
            <p:spPr>
              <a:xfrm>
                <a:off x="6440951" y="1780276"/>
                <a:ext cx="1283357" cy="1123712"/>
              </a:xfrm>
              <a:prstGeom prst="round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73050" indent="-273050">
                  <a:buFont typeface="Courier New" panose="02070309020205020404" pitchFamily="49" charset="0"/>
                  <a:buChar char="o"/>
                </a:pPr>
                <a:r>
                  <a:rPr lang="en-US" sz="2000" dirty="0">
                    <a:solidFill>
                      <a:srgbClr val="000000"/>
                    </a:solidFill>
                    <a:latin typeface="Verdana" pitchFamily="34" charset="0"/>
                    <a:ea typeface="Verdana" pitchFamily="34" charset="0"/>
                    <a:cs typeface="Verdana" pitchFamily="34" charset="0"/>
                  </a:rPr>
                  <a:t>is </a:t>
                </a:r>
                <a14:m>
                  <m:oMath xmlns:m="http://schemas.openxmlformats.org/officeDocument/2006/math">
                    <m:r>
                      <a:rPr lang="en-US"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273050" indent="-273050">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are </a:t>
                </a:r>
                <a14:m>
                  <m:oMath xmlns:m="http://schemas.openxmlformats.org/officeDocument/2006/math">
                    <m:r>
                      <a:rPr lang="en-US"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273050" indent="-273050">
                  <a:spcAft>
                    <a:spcPts val="1000"/>
                  </a:spcAft>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are </a:t>
                </a:r>
                <a14:m>
                  <m:oMath xmlns:m="http://schemas.openxmlformats.org/officeDocument/2006/math">
                    <m:r>
                      <a:rPr lang="en-US"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7" name="Rounded Rectangle 6">
                <a:extLst>
                  <a:ext uri="{FF2B5EF4-FFF2-40B4-BE49-F238E27FC236}">
                    <a16:creationId xmlns:a16="http://schemas.microsoft.com/office/drawing/2014/main" id="{F48FA4C8-BBEF-174F-8080-89F16EFCFD29}"/>
                  </a:ext>
                </a:extLst>
              </p:cNvPr>
              <p:cNvSpPr>
                <a:spLocks noRot="1" noChangeAspect="1" noMove="1" noResize="1" noEditPoints="1" noAdjustHandles="1" noChangeArrowheads="1" noChangeShapeType="1" noTextEdit="1"/>
              </p:cNvSpPr>
              <p:nvPr/>
            </p:nvSpPr>
            <p:spPr>
              <a:xfrm>
                <a:off x="6440951" y="1780276"/>
                <a:ext cx="1283357" cy="1123712"/>
              </a:xfrm>
              <a:prstGeom prst="roundRect">
                <a:avLst/>
              </a:prstGeom>
              <a:blipFill>
                <a:blip r:embed="rId4"/>
                <a:stretch>
                  <a:fillRect b="-5348"/>
                </a:stretch>
              </a:blipFill>
              <a:ln w="19050">
                <a:solidFill>
                  <a:schemeClr val="tx1"/>
                </a:solidFill>
              </a:ln>
              <a:effectLst/>
            </p:spPr>
            <p:txBody>
              <a:bodyPr/>
              <a:lstStyle/>
              <a:p>
                <a:r>
                  <a:rPr lang="en-US">
                    <a:noFill/>
                  </a:rPr>
                  <a:t> </a:t>
                </a:r>
              </a:p>
            </p:txBody>
          </p:sp>
        </mc:Fallback>
      </mc:AlternateContent>
      <p:sp>
        <p:nvSpPr>
          <p:cNvPr id="8" name="Rounded Rectangle 7">
            <a:extLst>
              <a:ext uri="{FF2B5EF4-FFF2-40B4-BE49-F238E27FC236}">
                <a16:creationId xmlns:a16="http://schemas.microsoft.com/office/drawing/2014/main" id="{5DE52970-FE95-B64D-8189-D4149186FAB9}"/>
              </a:ext>
            </a:extLst>
          </p:cNvPr>
          <p:cNvSpPr/>
          <p:nvPr/>
        </p:nvSpPr>
        <p:spPr>
          <a:xfrm>
            <a:off x="4589824" y="2982513"/>
            <a:ext cx="2558144" cy="783193"/>
          </a:xfrm>
          <a:prstGeom prst="round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73050" indent="-273050">
              <a:buFont typeface="Courier New" panose="02070309020205020404" pitchFamily="49" charset="0"/>
              <a:buChar char="o"/>
            </a:pPr>
            <a:r>
              <a:rPr lang="en-US" sz="2000" dirty="0">
                <a:solidFill>
                  <a:srgbClr val="000000"/>
                </a:solidFill>
                <a:latin typeface="Verdana" pitchFamily="34" charset="0"/>
                <a:ea typeface="Verdana" pitchFamily="34" charset="0"/>
                <a:cs typeface="Verdana" pitchFamily="34" charset="0"/>
              </a:rPr>
              <a:t>live</a:t>
            </a:r>
            <a:endParaRPr lang="en-US" sz="2000" dirty="0">
              <a:latin typeface="Verdana" pitchFamily="34" charset="0"/>
              <a:ea typeface="Verdana" pitchFamily="34" charset="0"/>
              <a:cs typeface="Verdana" pitchFamily="34" charset="0"/>
            </a:endParaRPr>
          </a:p>
          <a:p>
            <a:pPr marL="273050" indent="-273050">
              <a:spcAft>
                <a:spcPts val="1000"/>
              </a:spcAft>
              <a:buFont typeface="Courier New" panose="02070309020205020404" pitchFamily="49" charset="0"/>
              <a:buChar char="o"/>
            </a:pPr>
            <a:r>
              <a:rPr lang="en-US" sz="2000" dirty="0">
                <a:solidFill>
                  <a:srgbClr val="000000"/>
                </a:solidFill>
                <a:latin typeface="Verdana" pitchFamily="34" charset="0"/>
                <a:ea typeface="Verdana" pitchFamily="34" charset="0"/>
                <a:cs typeface="Verdana" pitchFamily="34" charset="0"/>
              </a:rPr>
              <a:t>be pregnant for</a:t>
            </a:r>
            <a:endParaRPr lang="en-US" sz="2000" dirty="0">
              <a:latin typeface="Verdana" pitchFamily="34" charset="0"/>
              <a:ea typeface="Verdana" pitchFamily="34" charset="0"/>
              <a:cs typeface="Verdana" pitchFamily="34" charset="0"/>
            </a:endParaRPr>
          </a:p>
        </p:txBody>
      </p:sp>
      <p:sp>
        <p:nvSpPr>
          <p:cNvPr id="9" name="Rounded Rectangle 8">
            <a:extLst>
              <a:ext uri="{FF2B5EF4-FFF2-40B4-BE49-F238E27FC236}">
                <a16:creationId xmlns:a16="http://schemas.microsoft.com/office/drawing/2014/main" id="{EF87FF7A-2892-7140-93B0-F4F2605B29F9}"/>
              </a:ext>
            </a:extLst>
          </p:cNvPr>
          <p:cNvSpPr/>
          <p:nvPr/>
        </p:nvSpPr>
        <p:spPr>
          <a:xfrm>
            <a:off x="3284772" y="3887588"/>
            <a:ext cx="5002285" cy="783193"/>
          </a:xfrm>
          <a:prstGeom prst="round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73050" indent="-273050">
              <a:buFont typeface="Courier New" panose="02070309020205020404" pitchFamily="49" charset="0"/>
              <a:buChar char="o"/>
            </a:pPr>
            <a:r>
              <a:rPr lang="en-US" sz="2000" dirty="0">
                <a:solidFill>
                  <a:srgbClr val="000000"/>
                </a:solidFill>
                <a:latin typeface="Verdana" pitchFamily="34" charset="0"/>
                <a:ea typeface="Verdana" pitchFamily="34" charset="0"/>
                <a:cs typeface="Verdana" pitchFamily="34" charset="0"/>
              </a:rPr>
              <a:t>how long they live.</a:t>
            </a:r>
            <a:endParaRPr lang="en-US" sz="2000" dirty="0">
              <a:latin typeface="Verdana" pitchFamily="34" charset="0"/>
              <a:ea typeface="Verdana" pitchFamily="34" charset="0"/>
              <a:cs typeface="Verdana" pitchFamily="34" charset="0"/>
            </a:endParaRPr>
          </a:p>
          <a:p>
            <a:pPr marL="273050" indent="-273050">
              <a:spcAft>
                <a:spcPts val="1000"/>
              </a:spcAft>
              <a:buFont typeface="Courier New" panose="02070309020205020404" pitchFamily="49" charset="0"/>
              <a:buChar char="o"/>
            </a:pPr>
            <a:r>
              <a:rPr lang="en-US" sz="2000" dirty="0">
                <a:solidFill>
                  <a:srgbClr val="000000"/>
                </a:solidFill>
                <a:latin typeface="Verdana" pitchFamily="34" charset="0"/>
                <a:ea typeface="Verdana" pitchFamily="34" charset="0"/>
                <a:cs typeface="Verdana" pitchFamily="34" charset="0"/>
              </a:rPr>
              <a:t>the length of the gestation period.</a:t>
            </a:r>
            <a:endParaRPr lang="en-US" sz="2000" dirty="0">
              <a:latin typeface="Verdana" pitchFamily="34" charset="0"/>
              <a:ea typeface="Verdana" pitchFamily="34" charset="0"/>
              <a:cs typeface="Verdana" pitchFamily="34" charset="0"/>
            </a:endParaRPr>
          </a:p>
        </p:txBody>
      </p:sp>
      <p:sp>
        <p:nvSpPr>
          <p:cNvPr id="10" name="Google Shape;282;g104476d1465_1_17">
            <a:extLst>
              <a:ext uri="{FF2B5EF4-FFF2-40B4-BE49-F238E27FC236}">
                <a16:creationId xmlns:a16="http://schemas.microsoft.com/office/drawing/2014/main" id="{9F15C38B-0A1B-5C43-81C4-9C885588BA4F}"/>
              </a:ext>
            </a:extLst>
          </p:cNvPr>
          <p:cNvSpPr txBox="1"/>
          <p:nvPr/>
        </p:nvSpPr>
        <p:spPr>
          <a:xfrm>
            <a:off x="8994150" y="65292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197</a:t>
            </a:r>
            <a:endParaRPr i="1" dirty="0">
              <a:latin typeface="Calibri"/>
              <a:ea typeface="Calibri"/>
              <a:cs typeface="Calibri"/>
              <a:sym typeface="Calibri"/>
            </a:endParaRPr>
          </a:p>
        </p:txBody>
      </p:sp>
    </p:spTree>
    <p:extLst>
      <p:ext uri="{BB962C8B-B14F-4D97-AF65-F5344CB8AC3E}">
        <p14:creationId xmlns:p14="http://schemas.microsoft.com/office/powerpoint/2010/main" val="3607608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707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99047" y="2766145"/>
            <a:ext cx="6461953" cy="1152144"/>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446903" y="2766145"/>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a:extLst>
              <a:ext uri="{FF2B5EF4-FFF2-40B4-BE49-F238E27FC236}">
                <a16:creationId xmlns:a16="http://schemas.microsoft.com/office/drawing/2014/main" id="{CC890269-CCED-DD4B-8258-7654559CFAD8}"/>
              </a:ext>
            </a:extLst>
          </p:cNvPr>
          <p:cNvSpPr txBox="1"/>
          <p:nvPr/>
        </p:nvSpPr>
        <p:spPr>
          <a:xfrm>
            <a:off x="8994150" y="64705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198</a:t>
            </a:r>
            <a:endParaRPr i="1" dirty="0">
              <a:latin typeface="Calibri"/>
              <a:ea typeface="Calibri"/>
              <a:cs typeface="Calibri"/>
              <a:sym typeface="Calibri"/>
            </a:endParaRPr>
          </a:p>
        </p:txBody>
      </p:sp>
    </p:spTree>
    <p:extLst>
      <p:ext uri="{BB962C8B-B14F-4D97-AF65-F5344CB8AC3E}">
        <p14:creationId xmlns:p14="http://schemas.microsoft.com/office/powerpoint/2010/main" val="16930146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10639" y="0"/>
            <a:ext cx="9849729" cy="1386026"/>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11.4.4 Guided Practice: </a:t>
            </a:r>
            <a:r>
              <a:rPr lang="en-US" sz="3600" b="1" dirty="0">
                <a:solidFill>
                  <a:srgbClr val="54B5D1"/>
                </a:solidFill>
                <a:latin typeface="Verdana"/>
                <a:ea typeface="Verdana"/>
                <a:cs typeface="Verdana"/>
              </a:rPr>
              <a:t>Informally Fitting a Line </a:t>
            </a:r>
            <a:endParaRPr lang="en-US" sz="3600" b="1" dirty="0">
              <a:solidFill>
                <a:srgbClr val="54B5D1"/>
              </a:solidFill>
              <a:latin typeface="Verdana"/>
              <a:ea typeface="Verdana"/>
              <a:cs typeface="Verdana"/>
              <a:sym typeface="Verdana"/>
            </a:endParaRP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92016" y="105369"/>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1D40250-DEDD-2C41-8538-3D4DD18CCC4A}"/>
              </a:ext>
            </a:extLst>
          </p:cNvPr>
          <p:cNvSpPr txBox="1"/>
          <p:nvPr/>
        </p:nvSpPr>
        <p:spPr>
          <a:xfrm>
            <a:off x="579863" y="1651882"/>
            <a:ext cx="11154937" cy="1015663"/>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scatter plot shows the relationship between driver age and the maximum distance to read a sign. </a:t>
            </a:r>
          </a:p>
          <a:p>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13" name="Google Shape;282;g104476d1465_1_17">
            <a:extLst>
              <a:ext uri="{FF2B5EF4-FFF2-40B4-BE49-F238E27FC236}">
                <a16:creationId xmlns:a16="http://schemas.microsoft.com/office/drawing/2014/main" id="{20D30068-C0C9-3F4A-BF64-BC361094CA5E}"/>
              </a:ext>
            </a:extLst>
          </p:cNvPr>
          <p:cNvSpPr txBox="1"/>
          <p:nvPr/>
        </p:nvSpPr>
        <p:spPr>
          <a:xfrm>
            <a:off x="8994150" y="652872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198</a:t>
            </a:r>
            <a:endParaRPr i="1" dirty="0">
              <a:latin typeface="Calibri"/>
              <a:ea typeface="Calibri"/>
              <a:cs typeface="Calibri"/>
              <a:sym typeface="Calibri"/>
            </a:endParaRPr>
          </a:p>
        </p:txBody>
      </p:sp>
      <p:pic>
        <p:nvPicPr>
          <p:cNvPr id="5122" name="Picture 2"/>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2523331" y="2406851"/>
            <a:ext cx="7145337" cy="3560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579863" y="5895625"/>
            <a:ext cx="9551898" cy="400110"/>
          </a:xfrm>
          <a:prstGeom prst="rect">
            <a:avLst/>
          </a:prstGeom>
        </p:spPr>
        <p:txBody>
          <a:bodyPr wrap="square">
            <a:spAutoFit/>
          </a:bodyPr>
          <a:lstStyle/>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Explain if the line shown is a good fit for the data.</a:t>
            </a:r>
          </a:p>
        </p:txBody>
      </p:sp>
    </p:spTree>
    <p:extLst>
      <p:ext uri="{BB962C8B-B14F-4D97-AF65-F5344CB8AC3E}">
        <p14:creationId xmlns:p14="http://schemas.microsoft.com/office/powerpoint/2010/main" val="7455233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A3BC97A7-8575-5A46-8E72-A886A83AEC7E}"/>
              </a:ext>
            </a:extLst>
          </p:cNvPr>
          <p:cNvSpPr txBox="1"/>
          <p:nvPr/>
        </p:nvSpPr>
        <p:spPr>
          <a:xfrm>
            <a:off x="557562" y="1094167"/>
            <a:ext cx="11493762" cy="400110"/>
          </a:xfrm>
          <a:prstGeom prst="rect">
            <a:avLst/>
          </a:prstGeom>
          <a:noFill/>
        </p:spPr>
        <p:txBody>
          <a:bodyPr wrap="square" rtlCol="0">
            <a:spAutoFit/>
          </a:bodyPr>
          <a:lstStyle/>
          <a:p>
            <a:pPr marL="914400" indent="-449263">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Using a straightedge, draw a line that better fits the data.</a:t>
            </a:r>
          </a:p>
        </p:txBody>
      </p:sp>
      <p:sp>
        <p:nvSpPr>
          <p:cNvPr id="8" name="Google Shape;282;g104476d1465_1_17">
            <a:extLst>
              <a:ext uri="{FF2B5EF4-FFF2-40B4-BE49-F238E27FC236}">
                <a16:creationId xmlns:a16="http://schemas.microsoft.com/office/drawing/2014/main" id="{F0680ABD-23A9-5940-A6E8-9DA440366FB8}"/>
              </a:ext>
            </a:extLst>
          </p:cNvPr>
          <p:cNvSpPr txBox="1"/>
          <p:nvPr/>
        </p:nvSpPr>
        <p:spPr>
          <a:xfrm>
            <a:off x="8994150" y="65041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198</a:t>
            </a:r>
            <a:endParaRPr i="1" dirty="0">
              <a:latin typeface="Calibri"/>
              <a:ea typeface="Calibri"/>
              <a:cs typeface="Calibri"/>
              <a:sym typeface="Calibri"/>
            </a:endParaRPr>
          </a:p>
        </p:txBody>
      </p:sp>
      <p:pic>
        <p:nvPicPr>
          <p:cNvPr id="6147" name="Picture 3"/>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2173401" y="2067056"/>
            <a:ext cx="7188200" cy="3560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504918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82316"/>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A3BC97A7-8575-5A46-8E72-A886A83AEC7E}"/>
              </a:ext>
            </a:extLst>
          </p:cNvPr>
          <p:cNvSpPr txBox="1"/>
          <p:nvPr/>
        </p:nvSpPr>
        <p:spPr>
          <a:xfrm>
            <a:off x="557561" y="386282"/>
            <a:ext cx="10582507" cy="5262979"/>
          </a:xfrm>
          <a:prstGeom prst="rect">
            <a:avLst/>
          </a:prstGeom>
          <a:noFill/>
        </p:spPr>
        <p:txBody>
          <a:bodyPr wrap="square" rtlCol="0">
            <a:spAutoFit/>
          </a:bodyPr>
          <a:lstStyle/>
          <a:p>
            <a:pPr marL="914400" indent="-449263">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Complete the statement. </a:t>
            </a:r>
          </a:p>
          <a:p>
            <a:pPr marL="914400">
              <a:lnSpc>
                <a:spcPct val="300000"/>
              </a:lnSpc>
              <a:tabLst>
                <a:tab pos="906463" algn="l"/>
              </a:tabLst>
            </a:pPr>
            <a:r>
              <a:rPr lang="en-US" sz="2400" dirty="0">
                <a:latin typeface="Verdana" panose="020B0604030504040204" pitchFamily="34" charset="0"/>
                <a:ea typeface="Verdana" panose="020B0604030504040204" pitchFamily="34" charset="0"/>
                <a:cs typeface="Verdana" panose="020B0604030504040204" pitchFamily="34" charset="0"/>
              </a:rPr>
              <a:t>As the independent variable 			   the dependent variable tends to 			   Therefore, there is a                   pattern of association between the variables, so the slope of the line fit to the data is </a:t>
            </a: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8" name="Rounded Rectangle 7">
            <a:extLst>
              <a:ext uri="{FF2B5EF4-FFF2-40B4-BE49-F238E27FC236}">
                <a16:creationId xmlns:a16="http://schemas.microsoft.com/office/drawing/2014/main" id="{A62487BE-8931-1E4D-8267-BBF3BCDA76A1}"/>
              </a:ext>
            </a:extLst>
          </p:cNvPr>
          <p:cNvSpPr/>
          <p:nvPr/>
        </p:nvSpPr>
        <p:spPr>
          <a:xfrm>
            <a:off x="5933958" y="1042545"/>
            <a:ext cx="2234726" cy="919401"/>
          </a:xfrm>
          <a:prstGeom prst="round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73050" indent="-273050">
              <a:buFont typeface="Courier New" panose="02070309020205020404" pitchFamily="49" charset="0"/>
              <a:buChar char="o"/>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increases,</a:t>
            </a:r>
            <a:endParaRPr lang="en-US" sz="2400" dirty="0">
              <a:latin typeface="Verdana" panose="020B0604030504040204" pitchFamily="34" charset="0"/>
              <a:ea typeface="Verdana" panose="020B0604030504040204" pitchFamily="34" charset="0"/>
              <a:cs typeface="Verdana" panose="020B0604030504040204" pitchFamily="34" charset="0"/>
            </a:endParaRPr>
          </a:p>
          <a:p>
            <a:pPr marL="273050" indent="-273050">
              <a:spcAft>
                <a:spcPts val="1000"/>
              </a:spcAft>
              <a:buFont typeface="Courier New" panose="02070309020205020404" pitchFamily="49" charset="0"/>
              <a:buChar char="o"/>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decreases,</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9" name="Rounded Rectangle 8">
            <a:extLst>
              <a:ext uri="{FF2B5EF4-FFF2-40B4-BE49-F238E27FC236}">
                <a16:creationId xmlns:a16="http://schemas.microsoft.com/office/drawing/2014/main" id="{2E5C8BA5-7FD5-2C4D-AAC4-5B1BE01914E3}"/>
              </a:ext>
            </a:extLst>
          </p:cNvPr>
          <p:cNvSpPr/>
          <p:nvPr/>
        </p:nvSpPr>
        <p:spPr>
          <a:xfrm>
            <a:off x="4204798" y="2158508"/>
            <a:ext cx="2080051" cy="919401"/>
          </a:xfrm>
          <a:prstGeom prst="round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73050" indent="-273050">
              <a:buFont typeface="Courier New" panose="02070309020205020404" pitchFamily="49" charset="0"/>
              <a:buChar char="o"/>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increase.</a:t>
            </a:r>
            <a:endParaRPr lang="en-US" sz="2400" dirty="0">
              <a:latin typeface="Verdana" panose="020B0604030504040204" pitchFamily="34" charset="0"/>
              <a:ea typeface="Verdana" panose="020B0604030504040204" pitchFamily="34" charset="0"/>
              <a:cs typeface="Verdana" panose="020B0604030504040204" pitchFamily="34" charset="0"/>
            </a:endParaRPr>
          </a:p>
          <a:p>
            <a:pPr marL="273050" indent="-273050">
              <a:spcAft>
                <a:spcPts val="1000"/>
              </a:spcAft>
              <a:buFont typeface="Courier New" panose="02070309020205020404" pitchFamily="49" charset="0"/>
              <a:buChar char="o"/>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decrease.</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10" name="Rounded Rectangle 9">
            <a:extLst>
              <a:ext uri="{FF2B5EF4-FFF2-40B4-BE49-F238E27FC236}">
                <a16:creationId xmlns:a16="http://schemas.microsoft.com/office/drawing/2014/main" id="{57C5CA3F-D2A3-0D41-B990-2A7EE9757C6C}"/>
              </a:ext>
            </a:extLst>
          </p:cNvPr>
          <p:cNvSpPr/>
          <p:nvPr/>
        </p:nvSpPr>
        <p:spPr>
          <a:xfrm>
            <a:off x="9719127" y="2158507"/>
            <a:ext cx="1909023" cy="919401"/>
          </a:xfrm>
          <a:prstGeom prst="round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73050" indent="-273050">
              <a:buFont typeface="Courier New" panose="02070309020205020404" pitchFamily="49" charset="0"/>
              <a:buChar char="o"/>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positive</a:t>
            </a:r>
            <a:endParaRPr lang="en-US" sz="2400" dirty="0">
              <a:latin typeface="Verdana" panose="020B0604030504040204" pitchFamily="34" charset="0"/>
              <a:ea typeface="Verdana" panose="020B0604030504040204" pitchFamily="34" charset="0"/>
              <a:cs typeface="Verdana" panose="020B0604030504040204" pitchFamily="34" charset="0"/>
            </a:endParaRPr>
          </a:p>
          <a:p>
            <a:pPr marL="273050" indent="-273050">
              <a:spcAft>
                <a:spcPts val="1000"/>
              </a:spcAft>
              <a:buFont typeface="Courier New" panose="02070309020205020404" pitchFamily="49" charset="0"/>
              <a:buChar char="o"/>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negative</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11" name="Rounded Rectangle 10">
            <a:extLst>
              <a:ext uri="{FF2B5EF4-FFF2-40B4-BE49-F238E27FC236}">
                <a16:creationId xmlns:a16="http://schemas.microsoft.com/office/drawing/2014/main" id="{9C3B8DE0-B91F-8849-9B05-C022761E6284}"/>
              </a:ext>
            </a:extLst>
          </p:cNvPr>
          <p:cNvSpPr/>
          <p:nvPr/>
        </p:nvSpPr>
        <p:spPr>
          <a:xfrm>
            <a:off x="5406878" y="4355279"/>
            <a:ext cx="2055321" cy="919401"/>
          </a:xfrm>
          <a:prstGeom prst="round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73050" indent="-273050">
              <a:buFont typeface="Courier New" panose="02070309020205020404" pitchFamily="49" charset="0"/>
              <a:buChar char="o"/>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positive.</a:t>
            </a:r>
            <a:endParaRPr lang="en-US" sz="2400" dirty="0">
              <a:latin typeface="Verdana" panose="020B0604030504040204" pitchFamily="34" charset="0"/>
              <a:ea typeface="Verdana" panose="020B0604030504040204" pitchFamily="34" charset="0"/>
              <a:cs typeface="Verdana" panose="020B0604030504040204" pitchFamily="34" charset="0"/>
            </a:endParaRPr>
          </a:p>
          <a:p>
            <a:pPr marL="273050" indent="-273050">
              <a:spcAft>
                <a:spcPts val="1000"/>
              </a:spcAft>
              <a:buFont typeface="Courier New" panose="02070309020205020404" pitchFamily="49" charset="0"/>
              <a:buChar char="o"/>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negative.</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13" name="Google Shape;282;g104476d1465_1_17">
            <a:extLst>
              <a:ext uri="{FF2B5EF4-FFF2-40B4-BE49-F238E27FC236}">
                <a16:creationId xmlns:a16="http://schemas.microsoft.com/office/drawing/2014/main" id="{99E1C324-189F-D64A-922F-04FFF02944DE}"/>
              </a:ext>
            </a:extLst>
          </p:cNvPr>
          <p:cNvSpPr txBox="1"/>
          <p:nvPr/>
        </p:nvSpPr>
        <p:spPr>
          <a:xfrm>
            <a:off x="8994150" y="651095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198</a:t>
            </a:r>
            <a:endParaRPr i="1" dirty="0">
              <a:latin typeface="Calibri"/>
              <a:ea typeface="Calibri"/>
              <a:cs typeface="Calibri"/>
              <a:sym typeface="Calibri"/>
            </a:endParaRPr>
          </a:p>
        </p:txBody>
      </p:sp>
    </p:spTree>
    <p:extLst>
      <p:ext uri="{BB962C8B-B14F-4D97-AF65-F5344CB8AC3E}">
        <p14:creationId xmlns:p14="http://schemas.microsoft.com/office/powerpoint/2010/main" val="19183854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A3BC97A7-8575-5A46-8E72-A886A83AEC7E}"/>
                  </a:ext>
                </a:extLst>
              </p:cNvPr>
              <p:cNvSpPr txBox="1"/>
              <p:nvPr/>
            </p:nvSpPr>
            <p:spPr>
              <a:xfrm>
                <a:off x="949569" y="492368"/>
                <a:ext cx="10808677" cy="5016758"/>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Wyatt’s Auto World sells used cars. The scatter plot displays the data for </a:t>
                </a:r>
                <a14:m>
                  <m:oMath xmlns:m="http://schemas.openxmlformats.org/officeDocument/2006/math">
                    <m:r>
                      <a:rPr lang="en-US" sz="2000" i="1">
                        <a:latin typeface="Cambria Math"/>
                      </a:rPr>
                      <m:t>2</m:t>
                    </m:r>
                    <m:r>
                      <a:rPr lang="en-US" sz="2000" b="0" i="1" smtClean="0">
                        <a:latin typeface="Cambria Math" panose="02040503050406030204" pitchFamily="18" charset="0"/>
                      </a:rPr>
                      <m:t>0</m:t>
                    </m:r>
                  </m:oMath>
                </a14:m>
                <a:r>
                  <a:rPr lang="en-US" sz="2000" dirty="0">
                    <a:latin typeface="Verdana" panose="020B0604030504040204" pitchFamily="34" charset="0"/>
                    <a:ea typeface="Verdana" panose="020B0604030504040204" pitchFamily="34" charset="0"/>
                    <a:cs typeface="Verdana" panose="020B0604030504040204" pitchFamily="34" charset="0"/>
                  </a:rPr>
                  <a:t> recently sold used cars by comparing the mileage of the car and its price. </a:t>
                </a:r>
              </a:p>
              <a:p>
                <a:pPr marL="914400" indent="-449263"/>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49263"/>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Using a straightedge, draw a line of fit for the scatterplot.</a:t>
                </a:r>
              </a:p>
            </p:txBody>
          </p:sp>
        </mc:Choice>
        <mc:Fallback>
          <p:sp>
            <p:nvSpPr>
              <p:cNvPr id="5" name="TextBox 4">
                <a:extLst>
                  <a:ext uri="{FF2B5EF4-FFF2-40B4-BE49-F238E27FC236}">
                    <a16:creationId xmlns:a16="http://schemas.microsoft.com/office/drawing/2014/main" id="{A3BC97A7-8575-5A46-8E72-A886A83AEC7E}"/>
                  </a:ext>
                </a:extLst>
              </p:cNvPr>
              <p:cNvSpPr txBox="1">
                <a:spLocks noRot="1" noChangeAspect="1" noMove="1" noResize="1" noEditPoints="1" noAdjustHandles="1" noChangeArrowheads="1" noChangeShapeType="1" noTextEdit="1"/>
              </p:cNvSpPr>
              <p:nvPr/>
            </p:nvSpPr>
            <p:spPr>
              <a:xfrm>
                <a:off x="949569" y="492368"/>
                <a:ext cx="10808677" cy="5016758"/>
              </a:xfrm>
              <a:prstGeom prst="rect">
                <a:avLst/>
              </a:prstGeom>
              <a:blipFill>
                <a:blip r:embed="rId4"/>
                <a:stretch>
                  <a:fillRect l="-587" t="-505" b="-1263"/>
                </a:stretch>
              </a:blipFill>
            </p:spPr>
            <p:txBody>
              <a:bodyPr/>
              <a:lstStyle/>
              <a:p>
                <a:r>
                  <a:rPr lang="en-US">
                    <a:noFill/>
                  </a:rPr>
                  <a:t> </a:t>
                </a:r>
              </a:p>
            </p:txBody>
          </p:sp>
        </mc:Fallback>
      </mc:AlternateContent>
      <p:sp>
        <p:nvSpPr>
          <p:cNvPr id="9" name="Google Shape;282;g104476d1465_1_17">
            <a:extLst>
              <a:ext uri="{FF2B5EF4-FFF2-40B4-BE49-F238E27FC236}">
                <a16:creationId xmlns:a16="http://schemas.microsoft.com/office/drawing/2014/main" id="{8ACF1941-2291-534B-BF7B-E3F922CDA018}"/>
              </a:ext>
            </a:extLst>
          </p:cNvPr>
          <p:cNvSpPr txBox="1"/>
          <p:nvPr/>
        </p:nvSpPr>
        <p:spPr>
          <a:xfrm>
            <a:off x="8994150" y="650778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198</a:t>
            </a:r>
            <a:endParaRPr i="1" dirty="0">
              <a:latin typeface="Calibri"/>
              <a:ea typeface="Calibri"/>
              <a:cs typeface="Calibri"/>
              <a:sym typeface="Calibri"/>
            </a:endParaRPr>
          </a:p>
        </p:txBody>
      </p:sp>
      <p:pic>
        <p:nvPicPr>
          <p:cNvPr id="7171" name="Picture 3"/>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2675732" y="1468093"/>
            <a:ext cx="6840537" cy="3468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353262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6580" y="6208824"/>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A3BC97A7-8575-5A46-8E72-A886A83AEC7E}"/>
              </a:ext>
            </a:extLst>
          </p:cNvPr>
          <p:cNvSpPr txBox="1"/>
          <p:nvPr/>
        </p:nvSpPr>
        <p:spPr>
          <a:xfrm>
            <a:off x="546410" y="386282"/>
            <a:ext cx="9713158" cy="4708981"/>
          </a:xfrm>
          <a:prstGeom prst="rect">
            <a:avLst/>
          </a:prstGeom>
          <a:noFill/>
        </p:spPr>
        <p:txBody>
          <a:bodyPr wrap="square" rtlCol="0">
            <a:spAutoFit/>
          </a:bodyPr>
          <a:lstStyle/>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Complete the statement.</a:t>
            </a:r>
          </a:p>
          <a:p>
            <a:pPr marL="914400">
              <a:lnSpc>
                <a:spcPct val="300000"/>
              </a:lnSpc>
            </a:pPr>
            <a:r>
              <a:rPr lang="en-US" sz="2000" dirty="0">
                <a:latin typeface="Verdana" panose="020B0604030504040204" pitchFamily="34" charset="0"/>
                <a:ea typeface="Verdana" panose="020B0604030504040204" pitchFamily="34" charset="0"/>
                <a:cs typeface="Verdana" panose="020B0604030504040204" pitchFamily="34" charset="0"/>
              </a:rPr>
              <a:t>The slope of the line of fit is 			 meaning as the mileage on a car  		       the price Wyatt’s Auto World can sell it for </a:t>
            </a:r>
          </a:p>
          <a:p>
            <a:pPr marL="9144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Describe any patterns of association. Use at least two words from the word bank in your description.</a:t>
            </a:r>
          </a:p>
          <a:p>
            <a:pPr marL="914400"/>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7" name="Rounded Rectangle 6">
            <a:extLst>
              <a:ext uri="{FF2B5EF4-FFF2-40B4-BE49-F238E27FC236}">
                <a16:creationId xmlns:a16="http://schemas.microsoft.com/office/drawing/2014/main" id="{BE35D0A3-306F-4D48-9026-8A06C9D4717F}"/>
              </a:ext>
            </a:extLst>
          </p:cNvPr>
          <p:cNvSpPr/>
          <p:nvPr/>
        </p:nvSpPr>
        <p:spPr>
          <a:xfrm>
            <a:off x="5170782" y="923441"/>
            <a:ext cx="1850435" cy="786765"/>
          </a:xfrm>
          <a:prstGeom prst="round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273050" indent="-273050">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positive,</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273050" indent="-273050">
              <a:spcAft>
                <a:spcPts val="1000"/>
              </a:spcAft>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negative,</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9" name="Rounded Rectangle 8">
            <a:extLst>
              <a:ext uri="{FF2B5EF4-FFF2-40B4-BE49-F238E27FC236}">
                <a16:creationId xmlns:a16="http://schemas.microsoft.com/office/drawing/2014/main" id="{186A194D-219F-6C4F-837D-09A0A94D1AEB}"/>
              </a:ext>
            </a:extLst>
          </p:cNvPr>
          <p:cNvSpPr/>
          <p:nvPr/>
        </p:nvSpPr>
        <p:spPr>
          <a:xfrm>
            <a:off x="3744523" y="1873448"/>
            <a:ext cx="2023514" cy="731520"/>
          </a:xfrm>
          <a:prstGeom prst="round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273050" indent="-273050">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increases,</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273050" indent="-273050">
              <a:spcAft>
                <a:spcPts val="1000"/>
              </a:spcAft>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decreases,</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10" name="Rounded Rectangle 9">
            <a:extLst>
              <a:ext uri="{FF2B5EF4-FFF2-40B4-BE49-F238E27FC236}">
                <a16:creationId xmlns:a16="http://schemas.microsoft.com/office/drawing/2014/main" id="{72F06141-78F8-0F48-8660-553FE5F89FDC}"/>
              </a:ext>
            </a:extLst>
          </p:cNvPr>
          <p:cNvSpPr/>
          <p:nvPr/>
        </p:nvSpPr>
        <p:spPr>
          <a:xfrm>
            <a:off x="2761328" y="2794326"/>
            <a:ext cx="2033296" cy="731520"/>
          </a:xfrm>
          <a:prstGeom prst="round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273050" indent="-273050">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increases.</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273050" indent="-273050">
              <a:spcAft>
                <a:spcPts val="1000"/>
              </a:spcAft>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decreases.</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11" name="Google Shape;282;g104476d1465_1_17">
            <a:extLst>
              <a:ext uri="{FF2B5EF4-FFF2-40B4-BE49-F238E27FC236}">
                <a16:creationId xmlns:a16="http://schemas.microsoft.com/office/drawing/2014/main" id="{2C0E29B7-A4EF-5E4F-B41D-92F1B501BFC8}"/>
              </a:ext>
            </a:extLst>
          </p:cNvPr>
          <p:cNvSpPr txBox="1"/>
          <p:nvPr/>
        </p:nvSpPr>
        <p:spPr>
          <a:xfrm>
            <a:off x="8972580" y="65374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199</a:t>
            </a:r>
            <a:endParaRPr i="1" dirty="0">
              <a:latin typeface="Calibri"/>
              <a:ea typeface="Calibri"/>
              <a:cs typeface="Calibri"/>
              <a:sym typeface="Calibri"/>
            </a:endParaRPr>
          </a:p>
        </p:txBody>
      </p:sp>
      <p:sp>
        <p:nvSpPr>
          <p:cNvPr id="12" name="Rounded Rectangle 11">
            <a:extLst>
              <a:ext uri="{FF2B5EF4-FFF2-40B4-BE49-F238E27FC236}">
                <a16:creationId xmlns:a16="http://schemas.microsoft.com/office/drawing/2014/main" id="{B728D74E-839D-F743-AB89-BC8327671B70}"/>
              </a:ext>
            </a:extLst>
          </p:cNvPr>
          <p:cNvSpPr/>
          <p:nvPr/>
        </p:nvSpPr>
        <p:spPr>
          <a:xfrm>
            <a:off x="3035999" y="4880285"/>
            <a:ext cx="6120000" cy="808672"/>
          </a:xfrm>
          <a:prstGeom prst="roundRect">
            <a:avLst/>
          </a:prstGeom>
          <a:noFill/>
          <a:ln w="1905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3" spcCol="0" rtlCol="0" fromWordArt="0" anchor="ctr" anchorCtr="0" forceAA="0" compatLnSpc="1">
            <a:prstTxWarp prst="textNoShape">
              <a:avLst/>
            </a:prstTxWarp>
            <a:noAutofit/>
          </a:bodyPr>
          <a:lstStyle/>
          <a:p>
            <a:pPr marL="7938" algn="ctr"/>
            <a:r>
              <a:rPr lang="en-US" sz="2000" dirty="0">
                <a:latin typeface="Verdana" panose="020B0604030504040204" pitchFamily="34" charset="0"/>
                <a:ea typeface="Verdana" panose="020B0604030504040204" pitchFamily="34" charset="0"/>
                <a:cs typeface="Verdana" panose="020B0604030504040204" pitchFamily="34" charset="0"/>
              </a:rPr>
              <a:t>decrease(s)</a:t>
            </a:r>
          </a:p>
          <a:p>
            <a:pPr marL="7938" algn="ctr"/>
            <a:r>
              <a:rPr lang="en-US" sz="2000" dirty="0">
                <a:latin typeface="Verdana" panose="020B0604030504040204" pitchFamily="34" charset="0"/>
                <a:ea typeface="Verdana" panose="020B0604030504040204" pitchFamily="34" charset="0"/>
                <a:cs typeface="Verdana" panose="020B0604030504040204" pitchFamily="34" charset="0"/>
              </a:rPr>
              <a:t>non-linear</a:t>
            </a:r>
          </a:p>
          <a:p>
            <a:pPr lvl="0" algn="ctr"/>
            <a:r>
              <a:rPr lang="en-US" sz="2000" dirty="0">
                <a:latin typeface="Verdana" panose="020B0604030504040204" pitchFamily="34" charset="0"/>
                <a:ea typeface="Verdana" panose="020B0604030504040204" pitchFamily="34" charset="0"/>
                <a:cs typeface="Verdana" panose="020B0604030504040204" pitchFamily="34" charset="0"/>
              </a:rPr>
              <a:t>increase(s)</a:t>
            </a:r>
          </a:p>
          <a:p>
            <a:pPr algn="ctr"/>
            <a:r>
              <a:rPr lang="en-US" sz="2000" dirty="0">
                <a:latin typeface="Verdana" panose="020B0604030504040204" pitchFamily="34" charset="0"/>
                <a:ea typeface="Verdana" panose="020B0604030504040204" pitchFamily="34" charset="0"/>
                <a:cs typeface="Verdana" panose="020B0604030504040204" pitchFamily="34" charset="0"/>
              </a:rPr>
              <a:t>positive</a:t>
            </a:r>
          </a:p>
          <a:p>
            <a:pPr algn="ctr"/>
            <a:r>
              <a:rPr lang="en-US" sz="2000" dirty="0">
                <a:latin typeface="Verdana" panose="020B0604030504040204" pitchFamily="34" charset="0"/>
                <a:ea typeface="Verdana" panose="020B0604030504040204" pitchFamily="34" charset="0"/>
                <a:cs typeface="Verdana" panose="020B0604030504040204" pitchFamily="34" charset="0"/>
              </a:rPr>
              <a:t>linear</a:t>
            </a:r>
          </a:p>
          <a:p>
            <a:pPr algn="ctr"/>
            <a:r>
              <a:rPr lang="en-US" sz="2000" dirty="0">
                <a:latin typeface="Verdana" panose="020B0604030504040204" pitchFamily="34" charset="0"/>
                <a:ea typeface="Verdana" panose="020B0604030504040204" pitchFamily="34" charset="0"/>
                <a:cs typeface="Verdana" panose="020B0604030504040204" pitchFamily="34" charset="0"/>
              </a:rPr>
              <a:t>negative </a:t>
            </a:r>
            <a:endParaRPr lang="en-US" sz="2000" dirty="0"/>
          </a:p>
        </p:txBody>
      </p:sp>
    </p:spTree>
    <p:extLst>
      <p:ext uri="{BB962C8B-B14F-4D97-AF65-F5344CB8AC3E}">
        <p14:creationId xmlns:p14="http://schemas.microsoft.com/office/powerpoint/2010/main" val="6642218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a:extLst>
              <a:ext uri="{FF2B5EF4-FFF2-40B4-BE49-F238E27FC236}">
                <a16:creationId xmlns:a16="http://schemas.microsoft.com/office/drawing/2014/main" id="{FEA60AFE-CEB5-FE4A-8C3E-D0F871A42281}"/>
              </a:ext>
            </a:extLst>
          </p:cNvPr>
          <p:cNvSpPr txBox="1"/>
          <p:nvPr/>
        </p:nvSpPr>
        <p:spPr>
          <a:xfrm>
            <a:off x="8994150" y="65292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199</a:t>
            </a:r>
            <a:endParaRPr i="1" dirty="0">
              <a:latin typeface="Calibri"/>
              <a:ea typeface="Calibri"/>
              <a:cs typeface="Calibri"/>
              <a:sym typeface="Calibri"/>
            </a:endParaRPr>
          </a:p>
        </p:txBody>
      </p:sp>
    </p:spTree>
    <p:extLst>
      <p:ext uri="{BB962C8B-B14F-4D97-AF65-F5344CB8AC3E}">
        <p14:creationId xmlns:p14="http://schemas.microsoft.com/office/powerpoint/2010/main" val="17908396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313148" y="72205"/>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E24E5F"/>
                </a:solidFill>
                <a:latin typeface="Verdana"/>
                <a:ea typeface="Verdana"/>
                <a:cs typeface="Verdana"/>
                <a:sym typeface="Verdana"/>
              </a:rPr>
              <a:t>11.4.5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4">
            <a:alphaModFix/>
          </a:blip>
          <a:srcRect/>
          <a:stretch/>
        </p:blipFill>
        <p:spPr>
          <a:xfrm>
            <a:off x="394524" y="60325"/>
            <a:ext cx="747300" cy="747300"/>
          </a:xfrm>
          <a:prstGeom prst="rect">
            <a:avLst/>
          </a:prstGeom>
          <a:noFill/>
          <a:ln>
            <a:noFill/>
          </a:ln>
        </p:spPr>
      </p:pic>
      <p:sp>
        <p:nvSpPr>
          <p:cNvPr id="12" name="TextBox 11">
            <a:extLst>
              <a:ext uri="{FF2B5EF4-FFF2-40B4-BE49-F238E27FC236}">
                <a16:creationId xmlns:a16="http://schemas.microsoft.com/office/drawing/2014/main" id="{759C3E41-93EC-B84D-963F-86A3B15AC1C6}"/>
              </a:ext>
            </a:extLst>
          </p:cNvPr>
          <p:cNvSpPr txBox="1"/>
          <p:nvPr/>
        </p:nvSpPr>
        <p:spPr>
          <a:xfrm>
            <a:off x="557563" y="1137137"/>
            <a:ext cx="5645078" cy="1323439"/>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scatter plot shows the average points per game scored by the Florida State University (FSU) Seminoles from 2011-2020. </a:t>
            </a:r>
          </a:p>
        </p:txBody>
      </p:sp>
      <p:sp>
        <p:nvSpPr>
          <p:cNvPr id="14" name="Google Shape;282;g104476d1465_1_17">
            <a:extLst>
              <a:ext uri="{FF2B5EF4-FFF2-40B4-BE49-F238E27FC236}">
                <a16:creationId xmlns:a16="http://schemas.microsoft.com/office/drawing/2014/main" id="{84B80156-EF59-8846-965F-90DCB7D3C13B}"/>
              </a:ext>
            </a:extLst>
          </p:cNvPr>
          <p:cNvSpPr txBox="1"/>
          <p:nvPr/>
        </p:nvSpPr>
        <p:spPr>
          <a:xfrm>
            <a:off x="8994150" y="652872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199</a:t>
            </a:r>
            <a:endParaRPr i="1" dirty="0">
              <a:latin typeface="Calibri"/>
              <a:ea typeface="Calibri"/>
              <a:cs typeface="Calibri"/>
              <a:sym typeface="Calibri"/>
            </a:endParaRPr>
          </a:p>
        </p:txBody>
      </p:sp>
      <p:pic>
        <p:nvPicPr>
          <p:cNvPr id="8194" name="Picture 2"/>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6245036" y="807625"/>
            <a:ext cx="4336510" cy="4283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TextBox 18">
            <a:extLst>
              <a:ext uri="{FF2B5EF4-FFF2-40B4-BE49-F238E27FC236}">
                <a16:creationId xmlns:a16="http://schemas.microsoft.com/office/drawing/2014/main" id="{08C67FCF-92C3-654A-BF40-5BDF7A4F9271}"/>
              </a:ext>
            </a:extLst>
          </p:cNvPr>
          <p:cNvSpPr txBox="1"/>
          <p:nvPr/>
        </p:nvSpPr>
        <p:spPr>
          <a:xfrm>
            <a:off x="557562" y="2790088"/>
            <a:ext cx="9830022" cy="3477875"/>
          </a:xfrm>
          <a:prstGeom prst="rect">
            <a:avLst/>
          </a:prstGeom>
          <a:noFill/>
        </p:spPr>
        <p:txBody>
          <a:bodyPr wrap="square" rtlCol="0">
            <a:spAutoFit/>
          </a:bodyPr>
          <a:lstStyle/>
          <a:p>
            <a:pPr marL="914400" lvl="1"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Use a straightedge to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draw a line that models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the relationship between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the variables.</a:t>
            </a:r>
          </a:p>
          <a:p>
            <a:pPr marL="914400" lvl="1"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Describe the patterns of association. Include if any points appear to be outliers in your description.</a:t>
            </a:r>
          </a:p>
          <a:p>
            <a:endParaRPr lang="en-US" sz="20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1012998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900"/>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99851"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F9589A69-79D2-4A40-A63F-641A910E63E6}"/>
              </a:ext>
            </a:extLst>
          </p:cNvPr>
          <p:cNvSpPr txBox="1"/>
          <p:nvPr/>
        </p:nvSpPr>
        <p:spPr>
          <a:xfrm>
            <a:off x="8965851" y="65292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200</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277"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5873"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91483" y="55849"/>
            <a:ext cx="8019300" cy="646290"/>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3F2A67"/>
                </a:solidFill>
                <a:latin typeface="Verdana"/>
                <a:ea typeface="Verdana"/>
                <a:cs typeface="Verdana"/>
                <a:sym typeface="Verdana"/>
              </a:rPr>
              <a:t>11.4.6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34830" y="60325"/>
            <a:ext cx="747300" cy="747300"/>
          </a:xfrm>
          <a:prstGeom prst="rect">
            <a:avLst/>
          </a:prstGeom>
          <a:noFill/>
          <a:ln>
            <a:noFill/>
          </a:ln>
        </p:spPr>
      </p:pic>
      <p:sp>
        <p:nvSpPr>
          <p:cNvPr id="12" name="TextBox 11">
            <a:extLst>
              <a:ext uri="{FF2B5EF4-FFF2-40B4-BE49-F238E27FC236}">
                <a16:creationId xmlns:a16="http://schemas.microsoft.com/office/drawing/2014/main" id="{0370EDB7-6994-3D43-ABF9-E04CBAFB9CD9}"/>
              </a:ext>
            </a:extLst>
          </p:cNvPr>
          <p:cNvSpPr txBox="1"/>
          <p:nvPr/>
        </p:nvSpPr>
        <p:spPr>
          <a:xfrm>
            <a:off x="961292" y="1060325"/>
            <a:ext cx="10703170" cy="707886"/>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Color in the arrow up to the statement that best describes your current understanding.</a:t>
            </a:r>
          </a:p>
        </p:txBody>
      </p:sp>
      <p:sp>
        <p:nvSpPr>
          <p:cNvPr id="8" name="Up Arrow 7">
            <a:extLst>
              <a:ext uri="{FF2B5EF4-FFF2-40B4-BE49-F238E27FC236}">
                <a16:creationId xmlns:a16="http://schemas.microsoft.com/office/drawing/2014/main" id="{FAFE4612-F8D4-2841-B6BE-1537ECC27449}"/>
              </a:ext>
            </a:extLst>
          </p:cNvPr>
          <p:cNvSpPr/>
          <p:nvPr/>
        </p:nvSpPr>
        <p:spPr>
          <a:xfrm>
            <a:off x="2686084" y="1881351"/>
            <a:ext cx="714409" cy="4487918"/>
          </a:xfrm>
          <a:prstGeom prst="upArrow">
            <a:avLst>
              <a:gd name="adj1" fmla="val 50000"/>
              <a:gd name="adj2" fmla="val 50000"/>
            </a:avLst>
          </a:prstGeom>
          <a:noFill/>
          <a:ln w="571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aphicFrame>
        <p:nvGraphicFramePr>
          <p:cNvPr id="4" name="Table 3">
            <a:extLst>
              <a:ext uri="{FF2B5EF4-FFF2-40B4-BE49-F238E27FC236}">
                <a16:creationId xmlns:a16="http://schemas.microsoft.com/office/drawing/2014/main" id="{22D5CBD0-D517-5843-AD2D-482E13048E3B}"/>
              </a:ext>
            </a:extLst>
          </p:cNvPr>
          <p:cNvGraphicFramePr>
            <a:graphicFrameLocks noGrp="1"/>
          </p:cNvGraphicFramePr>
          <p:nvPr>
            <p:extLst>
              <p:ext uri="{D42A27DB-BD31-4B8C-83A1-F6EECF244321}">
                <p14:modId xmlns:p14="http://schemas.microsoft.com/office/powerpoint/2010/main" val="702214104"/>
              </p:ext>
            </p:extLst>
          </p:nvPr>
        </p:nvGraphicFramePr>
        <p:xfrm>
          <a:off x="3598914" y="1797269"/>
          <a:ext cx="5734273" cy="4788000"/>
        </p:xfrm>
        <a:graphic>
          <a:graphicData uri="http://schemas.openxmlformats.org/drawingml/2006/table">
            <a:tbl>
              <a:tblPr firstRow="1" firstCol="1" bandRow="1">
                <a:tableStyleId>{A91F0D33-8C57-4600-99A7-42BC86742BE1}</a:tableStyleId>
              </a:tblPr>
              <a:tblGrid>
                <a:gridCol w="5734273">
                  <a:extLst>
                    <a:ext uri="{9D8B030D-6E8A-4147-A177-3AD203B41FA5}">
                      <a16:colId xmlns:a16="http://schemas.microsoft.com/office/drawing/2014/main" val="3597226416"/>
                    </a:ext>
                  </a:extLst>
                </a:gridCol>
              </a:tblGrid>
              <a:tr h="828000">
                <a:tc>
                  <a:txBody>
                    <a:bodyPr/>
                    <a:lstStyle/>
                    <a:p>
                      <a:pPr marL="1905" marR="0" indent="-1905">
                        <a:spcBef>
                          <a:spcPts val="0"/>
                        </a:spcBef>
                        <a:spcAft>
                          <a:spcPts val="0"/>
                        </a:spcAft>
                      </a:pPr>
                      <a:r>
                        <a:rPr lang="en-US" sz="2000" dirty="0">
                          <a:effectLst/>
                          <a:latin typeface="Verdana" pitchFamily="34" charset="0"/>
                          <a:ea typeface="Verdana" pitchFamily="34" charset="0"/>
                        </a:rPr>
                        <a:t>I’m so confident, I could explain this to someone else!</a:t>
                      </a:r>
                      <a:endParaRPr lang="en-US" sz="1400" dirty="0">
                        <a:effectLst/>
                        <a:latin typeface="Verdana" pitchFamily="34" charset="0"/>
                        <a:ea typeface="Verdana" pitchFamily="34" charset="0"/>
                      </a:endParaRPr>
                    </a:p>
                  </a:txBody>
                  <a:tcPr marL="63500" marR="63500" marT="63500" marB="635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87948844"/>
                  </a:ext>
                </a:extLst>
              </a:tr>
              <a:tr h="828000">
                <a:tc>
                  <a:txBody>
                    <a:bodyPr/>
                    <a:lstStyle/>
                    <a:p>
                      <a:pPr marL="1905" marR="0" indent="-1905">
                        <a:spcBef>
                          <a:spcPts val="0"/>
                        </a:spcBef>
                        <a:spcAft>
                          <a:spcPts val="0"/>
                        </a:spcAft>
                      </a:pPr>
                      <a:r>
                        <a:rPr lang="en-US" sz="2000" dirty="0">
                          <a:effectLst/>
                          <a:latin typeface="Verdana" pitchFamily="34" charset="0"/>
                          <a:ea typeface="Verdana" pitchFamily="34" charset="0"/>
                        </a:rPr>
                        <a:t>I can get to the right answer, but I don’t understand well enough to explain it yet.</a:t>
                      </a:r>
                      <a:endParaRPr lang="en-US" sz="1400" dirty="0">
                        <a:effectLst/>
                        <a:latin typeface="Verdana" pitchFamily="34" charset="0"/>
                        <a:ea typeface="Verdana" pitchFamily="34" charset="0"/>
                      </a:endParaRPr>
                    </a:p>
                  </a:txBody>
                  <a:tcPr marL="63500" marR="63500" marT="63500" marB="6350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82710806"/>
                  </a:ext>
                </a:extLst>
              </a:tr>
              <a:tr h="828000">
                <a:tc>
                  <a:txBody>
                    <a:bodyPr/>
                    <a:lstStyle/>
                    <a:p>
                      <a:pPr marL="1905" marR="0" indent="-1905">
                        <a:spcBef>
                          <a:spcPts val="0"/>
                        </a:spcBef>
                        <a:spcAft>
                          <a:spcPts val="0"/>
                        </a:spcAft>
                      </a:pPr>
                      <a:r>
                        <a:rPr lang="en-US" sz="2000" dirty="0">
                          <a:effectLst/>
                          <a:latin typeface="Verdana" pitchFamily="34" charset="0"/>
                          <a:ea typeface="Verdana" pitchFamily="34" charset="0"/>
                        </a:rPr>
                        <a:t>I understand some of this, but I don’t understand all of it yet.</a:t>
                      </a:r>
                      <a:endParaRPr lang="en-US" sz="1400" dirty="0">
                        <a:effectLst/>
                        <a:latin typeface="Verdana" pitchFamily="34" charset="0"/>
                        <a:ea typeface="Verdana" pitchFamily="34" charset="0"/>
                      </a:endParaRPr>
                    </a:p>
                  </a:txBody>
                  <a:tcPr marL="63500" marR="63500" marT="63500" marB="6350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62719894"/>
                  </a:ext>
                </a:extLst>
              </a:tr>
              <a:tr h="1152000">
                <a:tc>
                  <a:txBody>
                    <a:bodyPr/>
                    <a:lstStyle/>
                    <a:p>
                      <a:pPr marL="1905" marR="0" indent="-1905">
                        <a:spcBef>
                          <a:spcPts val="0"/>
                        </a:spcBef>
                        <a:spcAft>
                          <a:spcPts val="0"/>
                        </a:spcAft>
                      </a:pPr>
                      <a:r>
                        <a:rPr lang="en-US" sz="2000" dirty="0">
                          <a:effectLst/>
                          <a:latin typeface="Verdana" pitchFamily="34" charset="0"/>
                          <a:ea typeface="Verdana" pitchFamily="34" charset="0"/>
                        </a:rPr>
                        <a:t>I tried hard and listened, but I am finding this challenging. I will make sure that I get help with this next lesson.</a:t>
                      </a:r>
                      <a:endParaRPr lang="en-US" sz="1400" dirty="0">
                        <a:effectLst/>
                        <a:latin typeface="Verdana" pitchFamily="34" charset="0"/>
                        <a:ea typeface="Verdana" pitchFamily="34" charset="0"/>
                      </a:endParaRPr>
                    </a:p>
                  </a:txBody>
                  <a:tcPr marL="63500" marR="63500" marT="63500" marB="6350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02365249"/>
                  </a:ext>
                </a:extLst>
              </a:tr>
              <a:tr h="1152000">
                <a:tc>
                  <a:txBody>
                    <a:bodyPr/>
                    <a:lstStyle/>
                    <a:p>
                      <a:pPr marL="1905" marR="0" indent="-1905">
                        <a:spcBef>
                          <a:spcPts val="0"/>
                        </a:spcBef>
                        <a:spcAft>
                          <a:spcPts val="0"/>
                        </a:spcAft>
                      </a:pPr>
                      <a:r>
                        <a:rPr lang="en-US" sz="2000" dirty="0">
                          <a:effectLst/>
                          <a:latin typeface="Verdana" pitchFamily="34" charset="0"/>
                          <a:ea typeface="Verdana" pitchFamily="34" charset="0"/>
                        </a:rPr>
                        <a:t>I do not understand any of this yet. There are things I could do to be a better learner next lesson.</a:t>
                      </a:r>
                      <a:endParaRPr lang="en-US" sz="1400" dirty="0">
                        <a:effectLst/>
                        <a:latin typeface="Verdana" pitchFamily="34" charset="0"/>
                        <a:ea typeface="Verdana" pitchFamily="34" charset="0"/>
                      </a:endParaRPr>
                    </a:p>
                  </a:txBody>
                  <a:tcPr marL="63500" marR="63500" marT="63500" marB="6350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82264146"/>
                  </a:ext>
                </a:extLst>
              </a:tr>
            </a:tbl>
          </a:graphicData>
        </a:graphic>
      </p:graphicFrame>
      <p:sp>
        <p:nvSpPr>
          <p:cNvPr id="13" name="Google Shape;282;g104476d1465_1_17">
            <a:extLst>
              <a:ext uri="{FF2B5EF4-FFF2-40B4-BE49-F238E27FC236}">
                <a16:creationId xmlns:a16="http://schemas.microsoft.com/office/drawing/2014/main" id="{3865433D-7470-0B45-9201-F355E41809FB}"/>
              </a:ext>
            </a:extLst>
          </p:cNvPr>
          <p:cNvSpPr txBox="1"/>
          <p:nvPr/>
        </p:nvSpPr>
        <p:spPr>
          <a:xfrm>
            <a:off x="8991873" y="65292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200</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1508</TotalTime>
  <Words>1375</Words>
  <Application>Microsoft Macintosh PowerPoint</Application>
  <PresentationFormat>Widescreen</PresentationFormat>
  <Paragraphs>237</Paragraphs>
  <Slides>26</Slides>
  <Notes>26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26</vt:i4>
      </vt:variant>
    </vt:vector>
  </HeadingPairs>
  <TitlesOfParts>
    <vt:vector size="36" baseType="lpstr">
      <vt:lpstr>Wingdings</vt:lpstr>
      <vt:lpstr>Verdana</vt:lpstr>
      <vt:lpstr>Courier New</vt:lpstr>
      <vt:lpstr>Arial</vt:lpstr>
      <vt:lpstr>Century Gothic</vt:lpstr>
      <vt:lpstr>Times New Roman</vt:lpstr>
      <vt:lpstr>Calibri</vt:lpstr>
      <vt:lpstr>Arial Black</vt:lpstr>
      <vt:lpstr>Cambria Math</vt:lpstr>
      <vt:lpstr>1_Office Theme</vt:lpstr>
      <vt:lpstr>8th Grade Math: Pre-Algebra  Unit 11, Lesson 4  Informally Fitting a Line to  Bivariate Data  Volume 2, pg. 193  </vt:lpstr>
      <vt:lpstr>Benchmarks</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Bring It Together</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PowerPoint Presentation</vt:lpstr>
      <vt:lpstr>PowerPoint Presentation</vt:lpstr>
      <vt:lpstr>Your Turn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Diana Barnett</cp:lastModifiedBy>
  <cp:revision>33</cp:revision>
  <dcterms:created xsi:type="dcterms:W3CDTF">2015-03-17T18:51:18Z</dcterms:created>
  <dcterms:modified xsi:type="dcterms:W3CDTF">2023-02-09T19:47:22Z</dcterms:modified>
</cp:coreProperties>
</file>