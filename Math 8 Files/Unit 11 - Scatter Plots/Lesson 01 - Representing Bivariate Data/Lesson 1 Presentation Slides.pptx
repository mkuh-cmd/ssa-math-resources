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9" r:id="rId8"/>
    <p:sldId id="290" r:id="rId9"/>
    <p:sldId id="332" r:id="rId10"/>
    <p:sldId id="338" r:id="rId11"/>
    <p:sldId id="335" r:id="rId12"/>
    <p:sldId id="336" r:id="rId13"/>
    <p:sldId id="337" r:id="rId14"/>
    <p:sldId id="340" r:id="rId15"/>
    <p:sldId id="341" r:id="rId16"/>
    <p:sldId id="342" r:id="rId17"/>
    <p:sldId id="323" r:id="rId18"/>
    <p:sldId id="324" r:id="rId19"/>
    <p:sldId id="325" r:id="rId20"/>
    <p:sldId id="344" r:id="rId21"/>
    <p:sldId id="346" r:id="rId22"/>
    <p:sldId id="314" r:id="rId23"/>
    <p:sldId id="315" r:id="rId24"/>
    <p:sldId id="316" r:id="rId25"/>
    <p:sldId id="350" r:id="rId26"/>
    <p:sldId id="348" r:id="rId27"/>
    <p:sldId id="306" r:id="rId28"/>
    <p:sldId id="307"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39"/>
    <p:restoredTop sz="96743"/>
  </p:normalViewPr>
  <p:slideViewPr>
    <p:cSldViewPr snapToGrid="0">
      <p:cViewPr varScale="1">
        <p:scale>
          <a:sx n="86" d="100"/>
          <a:sy n="86" d="100"/>
        </p:scale>
        <p:origin x="90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73383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13469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794180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778016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5507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486114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4081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217849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56119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41551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375958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203067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11,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rPr>
              <a:t>Representing Bivariate Data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177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64599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815"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899" y="-5138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5807"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2335"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6335"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808892" y="1559169"/>
            <a:ext cx="10902462" cy="35169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a:t>
            </a:r>
            <a:r>
              <a:rPr lang="en-US" sz="3500" dirty="0">
                <a:solidFill>
                  <a:schemeClr val="tx1"/>
                </a:solidFill>
                <a:latin typeface="Verdana"/>
                <a:ea typeface="Verdana"/>
                <a:cs typeface="Verdana"/>
              </a:rPr>
              <a:t>8.DP.1.1 </a:t>
            </a:r>
            <a:endParaRPr lang="en-US" sz="3500" dirty="0">
              <a:solidFill>
                <a:schemeClr val="tx1"/>
              </a:solidFill>
              <a:latin typeface="Verdana"/>
              <a:ea typeface="Verdana"/>
              <a:cs typeface="Verdana"/>
              <a:sym typeface="Verdana"/>
            </a:endParaRPr>
          </a:p>
          <a:p>
            <a:pPr indent="0">
              <a:buNone/>
            </a:pPr>
            <a:r>
              <a:rPr lang="en-US" sz="3500" dirty="0">
                <a:solidFill>
                  <a:schemeClr val="tx1"/>
                </a:solidFill>
                <a:latin typeface="Verdana"/>
                <a:ea typeface="Verdana"/>
                <a:cs typeface="Verdana"/>
              </a:rPr>
              <a:t>Given a set of real-world bivariate numerical data, construct a scatter plot or a line graph as appropriate for the context.</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07873" y="13557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339846" y="-76417"/>
            <a:ext cx="10111994" cy="141735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62708" y="1535723"/>
            <a:ext cx="11277600" cy="42068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BDD0EBC3-470B-D742-9E37-F7FF534DF22D}"/>
              </a:ext>
            </a:extLst>
          </p:cNvPr>
          <p:cNvSpPr txBox="1"/>
          <p:nvPr/>
        </p:nvSpPr>
        <p:spPr>
          <a:xfrm>
            <a:off x="8994150" y="65157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18635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0284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04092" y="1371600"/>
            <a:ext cx="11183816" cy="42437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2800" dirty="0">
                <a:solidFill>
                  <a:schemeClr val="tx1"/>
                </a:solidFill>
                <a:latin typeface="Verdana"/>
                <a:ea typeface="Verdana"/>
                <a:cs typeface="Verdana"/>
              </a:rPr>
              <a:t>I can determine the independent and dependent variables in a given set of real-world bivariate data.</a:t>
            </a:r>
          </a:p>
          <a:p>
            <a:pPr lvl="0"/>
            <a:r>
              <a:rPr lang="en-US" sz="2800" dirty="0">
                <a:solidFill>
                  <a:schemeClr val="tx1"/>
                </a:solidFill>
                <a:latin typeface="Verdana"/>
                <a:ea typeface="Verdana"/>
                <a:cs typeface="Verdana"/>
              </a:rPr>
              <a:t> </a:t>
            </a:r>
          </a:p>
          <a:p>
            <a:pPr marL="457200" indent="-457200">
              <a:buFont typeface="Wingdings" pitchFamily="2" charset="2"/>
              <a:buChar char="q"/>
            </a:pPr>
            <a:r>
              <a:rPr lang="en-US" sz="2800" dirty="0">
                <a:solidFill>
                  <a:schemeClr val="tx1"/>
                </a:solidFill>
                <a:latin typeface="Verdana"/>
                <a:ea typeface="Verdana"/>
                <a:cs typeface="Verdana"/>
              </a:rPr>
              <a:t>I can determine if the data is best represented by a line graph or scatter plot.</a:t>
            </a:r>
          </a:p>
          <a:p>
            <a:pPr lvl="0"/>
            <a:endParaRPr lang="en-US" sz="2800" dirty="0">
              <a:solidFill>
                <a:schemeClr val="tx1"/>
              </a:solidFill>
              <a:latin typeface="Verdana"/>
              <a:ea typeface="Verdana"/>
              <a:cs typeface="Verdana"/>
            </a:endParaRPr>
          </a:p>
          <a:p>
            <a:pPr marL="457200" indent="-457200">
              <a:buFont typeface="Wingdings" pitchFamily="2" charset="2"/>
              <a:buChar char="q"/>
            </a:pPr>
            <a:r>
              <a:rPr lang="en-US" sz="2800" dirty="0">
                <a:solidFill>
                  <a:schemeClr val="tx1"/>
                </a:solidFill>
                <a:latin typeface="Verdana"/>
                <a:ea typeface="Verdana"/>
                <a:cs typeface="Verdana"/>
              </a:rPr>
              <a:t>I can determine an appropriate scale for the axis representing each variable. </a:t>
            </a:r>
            <a:endParaRPr lang="en-US" sz="2800" dirty="0">
              <a:solidFill>
                <a:schemeClr val="tx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C3FE185D-D091-5641-A161-DC76E456AE7B}"/>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3634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900550" y="221647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84B7D279-C1B4-7C4F-81C9-5A7CCD3E1F40}"/>
              </a:ext>
            </a:extLst>
          </p:cNvPr>
          <p:cNvSpPr txBox="1"/>
          <p:nvPr/>
        </p:nvSpPr>
        <p:spPr>
          <a:xfrm>
            <a:off x="8994150" y="65124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182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3148" y="28895"/>
            <a:ext cx="10609221" cy="94376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11.1.1 Warm-Up: Army Dentist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2700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86154" y="1336432"/>
            <a:ext cx="11148646"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Captain Ryan Romero was asked how he got started as an Army dentist, he said his first job was to be a dental assistant. He was sitting on the other side of the chair helping the dentist and he enjoyed it so much that he decided to pursue a career in Army dentistry. </a:t>
            </a: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When thinking about your future career, it’s helpful to explore areas of interest to help you identify careers you might like. What is a career you think you would like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have?</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could you do now or in the future to help you determine if that is a career you would enjoy?</a:t>
            </a:r>
          </a:p>
        </p:txBody>
      </p:sp>
      <p:sp>
        <p:nvSpPr>
          <p:cNvPr id="9" name="Google Shape;282;g104476d1465_1_17">
            <a:extLst>
              <a:ext uri="{FF2B5EF4-FFF2-40B4-BE49-F238E27FC236}">
                <a16:creationId xmlns:a16="http://schemas.microsoft.com/office/drawing/2014/main" id="{73C5E5CE-4825-EA4F-8E43-EF0E449E90B7}"/>
              </a:ext>
            </a:extLst>
          </p:cNvPr>
          <p:cNvSpPr txBox="1"/>
          <p:nvPr/>
        </p:nvSpPr>
        <p:spPr>
          <a:xfrm>
            <a:off x="8994150" y="652979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4872"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68237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766145"/>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FF3C8F3A-E445-6441-91D2-9DDCE2C0CF03}"/>
              </a:ext>
            </a:extLst>
          </p:cNvPr>
          <p:cNvSpPr txBox="1"/>
          <p:nvPr/>
        </p:nvSpPr>
        <p:spPr>
          <a:xfrm>
            <a:off x="8994150" y="65157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3148" y="86117"/>
            <a:ext cx="9800329" cy="93724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11.1.2 Guided Instruction: </a:t>
            </a:r>
            <a:r>
              <a:rPr lang="en-US" sz="3600" b="1" dirty="0">
                <a:solidFill>
                  <a:srgbClr val="54B5D1"/>
                </a:solidFill>
                <a:latin typeface="Verdana"/>
                <a:ea typeface="Verdana"/>
                <a:cs typeface="Verdana"/>
              </a:rPr>
              <a:t>Representing Bivariate Data </a:t>
            </a:r>
            <a:endParaRPr lang="en-US" sz="36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94524" y="8611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87255" y="1207478"/>
                <a:ext cx="11335114"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U.S. Centers for Disease Control and Prevention (CDC) is the nation’s health protection agency. Epidemiologists at the CDC study the spread and impact of diseases. The table shows the number of symptomatic cases of influenza, also called the flu, in millions, in the U.S. since 2011.</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year does the number </a:t>
                </a:r>
                <a14:m>
                  <m:oMath xmlns:m="http://schemas.openxmlformats.org/officeDocument/2006/math">
                    <m:r>
                      <a:rPr lang="en-US" sz="2000">
                        <a:latin typeface="Cambria Math"/>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represent?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87255" y="1207478"/>
                <a:ext cx="11335114" cy="4708981"/>
              </a:xfrm>
              <a:prstGeom prst="rect">
                <a:avLst/>
              </a:prstGeom>
              <a:blipFill>
                <a:blip r:embed="rId5"/>
                <a:stretch>
                  <a:fillRect l="-560" t="-806" b="-107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DCD64195-0A98-A645-A88B-7A107FBC6924}"/>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C080594C-5E1A-384A-9B4C-F26362646F3C}"/>
                  </a:ext>
                </a:extLst>
              </p:cNvPr>
              <p:cNvGraphicFramePr>
                <a:graphicFrameLocks noGrp="1"/>
              </p:cNvGraphicFramePr>
              <p:nvPr>
                <p:extLst>
                  <p:ext uri="{D42A27DB-BD31-4B8C-83A1-F6EECF244321}">
                    <p14:modId xmlns:p14="http://schemas.microsoft.com/office/powerpoint/2010/main" val="398480432"/>
                  </p:ext>
                </p:extLst>
              </p:nvPr>
            </p:nvGraphicFramePr>
            <p:xfrm>
              <a:off x="2603278" y="2798231"/>
              <a:ext cx="7223760" cy="2194560"/>
            </p:xfrm>
            <a:graphic>
              <a:graphicData uri="http://schemas.openxmlformats.org/drawingml/2006/table">
                <a:tbl>
                  <a:tblPr firstRow="1" firstCol="1" bandRow="1">
                    <a:tableStyleId>{A91F0D33-8C57-4600-99A7-42BC86742BE1}</a:tableStyleId>
                  </a:tblPr>
                  <a:tblGrid>
                    <a:gridCol w="1737360">
                      <a:extLst>
                        <a:ext uri="{9D8B030D-6E8A-4147-A177-3AD203B41FA5}">
                          <a16:colId xmlns:a16="http://schemas.microsoft.com/office/drawing/2014/main" val="2882035733"/>
                        </a:ext>
                      </a:extLst>
                    </a:gridCol>
                    <a:gridCol w="548640">
                      <a:extLst>
                        <a:ext uri="{9D8B030D-6E8A-4147-A177-3AD203B41FA5}">
                          <a16:colId xmlns:a16="http://schemas.microsoft.com/office/drawing/2014/main" val="3012745433"/>
                        </a:ext>
                      </a:extLst>
                    </a:gridCol>
                    <a:gridCol w="548640">
                      <a:extLst>
                        <a:ext uri="{9D8B030D-6E8A-4147-A177-3AD203B41FA5}">
                          <a16:colId xmlns:a16="http://schemas.microsoft.com/office/drawing/2014/main" val="4059343380"/>
                        </a:ext>
                      </a:extLst>
                    </a:gridCol>
                    <a:gridCol w="548640">
                      <a:extLst>
                        <a:ext uri="{9D8B030D-6E8A-4147-A177-3AD203B41FA5}">
                          <a16:colId xmlns:a16="http://schemas.microsoft.com/office/drawing/2014/main" val="4029337265"/>
                        </a:ext>
                      </a:extLst>
                    </a:gridCol>
                    <a:gridCol w="548640">
                      <a:extLst>
                        <a:ext uri="{9D8B030D-6E8A-4147-A177-3AD203B41FA5}">
                          <a16:colId xmlns:a16="http://schemas.microsoft.com/office/drawing/2014/main" val="1988464891"/>
                        </a:ext>
                      </a:extLst>
                    </a:gridCol>
                    <a:gridCol w="548640">
                      <a:extLst>
                        <a:ext uri="{9D8B030D-6E8A-4147-A177-3AD203B41FA5}">
                          <a16:colId xmlns:a16="http://schemas.microsoft.com/office/drawing/2014/main" val="1548176931"/>
                        </a:ext>
                      </a:extLst>
                    </a:gridCol>
                    <a:gridCol w="548640">
                      <a:extLst>
                        <a:ext uri="{9D8B030D-6E8A-4147-A177-3AD203B41FA5}">
                          <a16:colId xmlns:a16="http://schemas.microsoft.com/office/drawing/2014/main" val="3556891976"/>
                        </a:ext>
                      </a:extLst>
                    </a:gridCol>
                    <a:gridCol w="548640">
                      <a:extLst>
                        <a:ext uri="{9D8B030D-6E8A-4147-A177-3AD203B41FA5}">
                          <a16:colId xmlns:a16="http://schemas.microsoft.com/office/drawing/2014/main" val="1232026414"/>
                        </a:ext>
                      </a:extLst>
                    </a:gridCol>
                    <a:gridCol w="548640">
                      <a:extLst>
                        <a:ext uri="{9D8B030D-6E8A-4147-A177-3AD203B41FA5}">
                          <a16:colId xmlns:a16="http://schemas.microsoft.com/office/drawing/2014/main" val="1440181267"/>
                        </a:ext>
                      </a:extLst>
                    </a:gridCol>
                    <a:gridCol w="548640">
                      <a:extLst>
                        <a:ext uri="{9D8B030D-6E8A-4147-A177-3AD203B41FA5}">
                          <a16:colId xmlns:a16="http://schemas.microsoft.com/office/drawing/2014/main" val="2559190906"/>
                        </a:ext>
                      </a:extLst>
                    </a:gridCol>
                    <a:gridCol w="548640">
                      <a:extLst>
                        <a:ext uri="{9D8B030D-6E8A-4147-A177-3AD203B41FA5}">
                          <a16:colId xmlns:a16="http://schemas.microsoft.com/office/drawing/2014/main" val="1853804264"/>
                        </a:ext>
                      </a:extLst>
                    </a:gridCol>
                  </a:tblGrid>
                  <a:tr h="75753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Years Since 2011</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0</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1</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4</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5</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6</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7</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8</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9</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658665"/>
                      </a:ext>
                    </a:extLst>
                  </a:tr>
                  <a:tr h="10100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Cases, in millions</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21</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9.3</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34</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30</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30</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24</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29</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45</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36</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38</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6724132"/>
                      </a:ext>
                    </a:extLst>
                  </a:tr>
                </a:tbl>
              </a:graphicData>
            </a:graphic>
          </p:graphicFrame>
        </mc:Choice>
        <mc:Fallback xmlns="">
          <p:graphicFrame>
            <p:nvGraphicFramePr>
              <p:cNvPr id="11" name="Table 10">
                <a:extLst>
                  <a:ext uri="{FF2B5EF4-FFF2-40B4-BE49-F238E27FC236}">
                    <a16:creationId xmlns:a16="http://schemas.microsoft.com/office/drawing/2014/main" id="{C080594C-5E1A-384A-9B4C-F26362646F3C}"/>
                  </a:ext>
                </a:extLst>
              </p:cNvPr>
              <p:cNvGraphicFramePr>
                <a:graphicFrameLocks noGrp="1"/>
              </p:cNvGraphicFramePr>
              <p:nvPr>
                <p:extLst>
                  <p:ext uri="{D42A27DB-BD31-4B8C-83A1-F6EECF244321}">
                    <p14:modId xmlns:p14="http://schemas.microsoft.com/office/powerpoint/2010/main" val="398480432"/>
                  </p:ext>
                </p:extLst>
              </p:nvPr>
            </p:nvGraphicFramePr>
            <p:xfrm>
              <a:off x="2603278" y="2798231"/>
              <a:ext cx="7223760" cy="2194560"/>
            </p:xfrm>
            <a:graphic>
              <a:graphicData uri="http://schemas.openxmlformats.org/drawingml/2006/table">
                <a:tbl>
                  <a:tblPr firstRow="1" firstCol="1" bandRow="1">
                    <a:tableStyleId>{A91F0D33-8C57-4600-99A7-42BC86742BE1}</a:tableStyleId>
                  </a:tblPr>
                  <a:tblGrid>
                    <a:gridCol w="1737360">
                      <a:extLst>
                        <a:ext uri="{9D8B030D-6E8A-4147-A177-3AD203B41FA5}">
                          <a16:colId xmlns:a16="http://schemas.microsoft.com/office/drawing/2014/main" val="2882035733"/>
                        </a:ext>
                      </a:extLst>
                    </a:gridCol>
                    <a:gridCol w="548640">
                      <a:extLst>
                        <a:ext uri="{9D8B030D-6E8A-4147-A177-3AD203B41FA5}">
                          <a16:colId xmlns:a16="http://schemas.microsoft.com/office/drawing/2014/main" val="3012745433"/>
                        </a:ext>
                      </a:extLst>
                    </a:gridCol>
                    <a:gridCol w="548640">
                      <a:extLst>
                        <a:ext uri="{9D8B030D-6E8A-4147-A177-3AD203B41FA5}">
                          <a16:colId xmlns:a16="http://schemas.microsoft.com/office/drawing/2014/main" val="4059343380"/>
                        </a:ext>
                      </a:extLst>
                    </a:gridCol>
                    <a:gridCol w="548640">
                      <a:extLst>
                        <a:ext uri="{9D8B030D-6E8A-4147-A177-3AD203B41FA5}">
                          <a16:colId xmlns:a16="http://schemas.microsoft.com/office/drawing/2014/main" val="4029337265"/>
                        </a:ext>
                      </a:extLst>
                    </a:gridCol>
                    <a:gridCol w="548640">
                      <a:extLst>
                        <a:ext uri="{9D8B030D-6E8A-4147-A177-3AD203B41FA5}">
                          <a16:colId xmlns:a16="http://schemas.microsoft.com/office/drawing/2014/main" val="1988464891"/>
                        </a:ext>
                      </a:extLst>
                    </a:gridCol>
                    <a:gridCol w="548640">
                      <a:extLst>
                        <a:ext uri="{9D8B030D-6E8A-4147-A177-3AD203B41FA5}">
                          <a16:colId xmlns:a16="http://schemas.microsoft.com/office/drawing/2014/main" val="1548176931"/>
                        </a:ext>
                      </a:extLst>
                    </a:gridCol>
                    <a:gridCol w="548640">
                      <a:extLst>
                        <a:ext uri="{9D8B030D-6E8A-4147-A177-3AD203B41FA5}">
                          <a16:colId xmlns:a16="http://schemas.microsoft.com/office/drawing/2014/main" val="3556891976"/>
                        </a:ext>
                      </a:extLst>
                    </a:gridCol>
                    <a:gridCol w="548640">
                      <a:extLst>
                        <a:ext uri="{9D8B030D-6E8A-4147-A177-3AD203B41FA5}">
                          <a16:colId xmlns:a16="http://schemas.microsoft.com/office/drawing/2014/main" val="1232026414"/>
                        </a:ext>
                      </a:extLst>
                    </a:gridCol>
                    <a:gridCol w="548640">
                      <a:extLst>
                        <a:ext uri="{9D8B030D-6E8A-4147-A177-3AD203B41FA5}">
                          <a16:colId xmlns:a16="http://schemas.microsoft.com/office/drawing/2014/main" val="1440181267"/>
                        </a:ext>
                      </a:extLst>
                    </a:gridCol>
                    <a:gridCol w="548640">
                      <a:extLst>
                        <a:ext uri="{9D8B030D-6E8A-4147-A177-3AD203B41FA5}">
                          <a16:colId xmlns:a16="http://schemas.microsoft.com/office/drawing/2014/main" val="2559190906"/>
                        </a:ext>
                      </a:extLst>
                    </a:gridCol>
                    <a:gridCol w="548640">
                      <a:extLst>
                        <a:ext uri="{9D8B030D-6E8A-4147-A177-3AD203B41FA5}">
                          <a16:colId xmlns:a16="http://schemas.microsoft.com/office/drawing/2014/main" val="1853804264"/>
                        </a:ext>
                      </a:extLst>
                    </a:gridCol>
                  </a:tblGrid>
                  <a:tr h="10972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Years Since 2011</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18605" t="-1149" r="-911628"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09091" t="-1149" r="-790909"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20930" t="-1149" r="-709302"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620930" t="-1149" r="-609302"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04545" t="-1149" r="-495455"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23256" t="-1149" r="-406977"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23256" t="-1149" r="-306977"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23256" t="-1149" r="-206977"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97727" t="-1149" r="-102273" b="-10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225581" t="-1149" r="-4651" b="-105747"/>
                          </a:stretch>
                        </a:blipFill>
                      </a:tcPr>
                    </a:tc>
                    <a:extLst>
                      <a:ext uri="{0D108BD9-81ED-4DB2-BD59-A6C34878D82A}">
                        <a16:rowId xmlns:a16="http://schemas.microsoft.com/office/drawing/2014/main" val="3161658665"/>
                      </a:ext>
                    </a:extLst>
                  </a:tr>
                  <a:tr h="10972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Cases, in millions</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18605" t="-101149" r="-911628"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09091" t="-101149" r="-790909"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20930" t="-101149" r="-709302"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620930" t="-101149" r="-609302"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04545" t="-101149" r="-495455"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23256" t="-101149" r="-406977"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23256" t="-101149" r="-306977"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23256" t="-101149" r="-206977"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97727" t="-101149" r="-102273" b="-5747"/>
                          </a:stretch>
                        </a:blipFill>
                      </a:tcPr>
                    </a:tc>
                    <a:tc>
                      <a:txBody>
                        <a:bodyPr/>
                        <a:lstStyle/>
                        <a:p>
                          <a:endParaRPr lang="en-US"/>
                        </a:p>
                      </a:txBody>
                      <a:tcPr marL="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225581" t="-101149" r="-4651" b="-5747"/>
                          </a:stretch>
                        </a:blipFill>
                      </a:tcPr>
                    </a:tc>
                    <a:extLst>
                      <a:ext uri="{0D108BD9-81ED-4DB2-BD59-A6C34878D82A}">
                        <a16:rowId xmlns:a16="http://schemas.microsoft.com/office/drawing/2014/main" val="2106724132"/>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920261" y="646385"/>
            <a:ext cx="10351477" cy="440120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Keanu and Francisca were discussing what they noticed about the values in the table.</a:t>
            </a: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a:r>
              <a:rPr lang="en-US" sz="2000" dirty="0">
                <a:latin typeface="Verdana" panose="020B0604030504040204" pitchFamily="34" charset="0"/>
                <a:ea typeface="Verdana" panose="020B0604030504040204" pitchFamily="34" charset="0"/>
                <a:cs typeface="Verdana" panose="020B0604030504040204" pitchFamily="34" charset="0"/>
              </a:rPr>
              <a:t>Discuss Keanu’s and Francisca’s ideas with your partner.</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AF2ED5D-E741-954E-8A5C-C2F7019B9627}"/>
                  </a:ext>
                </a:extLst>
              </p:cNvPr>
              <p:cNvGraphicFramePr>
                <a:graphicFrameLocks noGrp="1"/>
              </p:cNvGraphicFramePr>
              <p:nvPr>
                <p:extLst>
                  <p:ext uri="{D42A27DB-BD31-4B8C-83A1-F6EECF244321}">
                    <p14:modId xmlns:p14="http://schemas.microsoft.com/office/powerpoint/2010/main" val="4230775645"/>
                  </p:ext>
                </p:extLst>
              </p:nvPr>
            </p:nvGraphicFramePr>
            <p:xfrm>
              <a:off x="2951420" y="1597307"/>
              <a:ext cx="6997330" cy="2499360"/>
            </p:xfrm>
            <a:graphic>
              <a:graphicData uri="http://schemas.openxmlformats.org/drawingml/2006/table">
                <a:tbl>
                  <a:tblPr firstRow="1" firstCol="1" bandRow="1">
                    <a:tableStyleId>{A91F0D33-8C57-4600-99A7-42BC86742BE1}</a:tableStyleId>
                  </a:tblPr>
                  <a:tblGrid>
                    <a:gridCol w="3498331">
                      <a:extLst>
                        <a:ext uri="{9D8B030D-6E8A-4147-A177-3AD203B41FA5}">
                          <a16:colId xmlns:a16="http://schemas.microsoft.com/office/drawing/2014/main" val="3616650716"/>
                        </a:ext>
                      </a:extLst>
                    </a:gridCol>
                    <a:gridCol w="3498999">
                      <a:extLst>
                        <a:ext uri="{9D8B030D-6E8A-4147-A177-3AD203B41FA5}">
                          <a16:colId xmlns:a16="http://schemas.microsoft.com/office/drawing/2014/main" val="1921596547"/>
                        </a:ext>
                      </a:extLst>
                    </a:gridCol>
                  </a:tblGrid>
                  <a:tr h="266528">
                    <a:tc>
                      <a:txBody>
                        <a:bodyPr/>
                        <a:lstStyle/>
                        <a:p>
                          <a:pPr marL="0" marR="0" indent="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Keanu</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Francisca</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14401669"/>
                      </a:ext>
                    </a:extLst>
                  </a:tr>
                  <a:tr h="1599168">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noticed the actual year was not used in the table. I think this makes sense because the flu may not have existed in </a:t>
                          </a:r>
                          <a14:m>
                            <m:oMath xmlns:m="http://schemas.openxmlformats.org/officeDocument/2006/math">
                              <m:r>
                                <a:rPr lang="en-US" sz="2000">
                                  <a:effectLst/>
                                  <a:latin typeface="Cambria Math"/>
                                </a:rPr>
                                <m:t>1700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noticed the information given in the table stated the information was from a study. I think the study did not start until </a:t>
                          </a:r>
                          <a14:m>
                            <m:oMath xmlns:m="http://schemas.openxmlformats.org/officeDocument/2006/math">
                              <m:r>
                                <a:rPr lang="en-US" sz="2000">
                                  <a:effectLst/>
                                  <a:latin typeface="Cambria Math"/>
                                </a:rPr>
                                <m:t>2011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972553"/>
                      </a:ext>
                    </a:extLst>
                  </a:tr>
                </a:tbl>
              </a:graphicData>
            </a:graphic>
          </p:graphicFrame>
        </mc:Choice>
        <mc:Fallback xmlns="">
          <p:graphicFrame>
            <p:nvGraphicFramePr>
              <p:cNvPr id="2" name="Table 1">
                <a:extLst>
                  <a:ext uri="{FF2B5EF4-FFF2-40B4-BE49-F238E27FC236}">
                    <a16:creationId xmlns:a16="http://schemas.microsoft.com/office/drawing/2014/main" id="{9AF2ED5D-E741-954E-8A5C-C2F7019B9627}"/>
                  </a:ext>
                </a:extLst>
              </p:cNvPr>
              <p:cNvGraphicFramePr>
                <a:graphicFrameLocks noGrp="1"/>
              </p:cNvGraphicFramePr>
              <p:nvPr>
                <p:extLst>
                  <p:ext uri="{D42A27DB-BD31-4B8C-83A1-F6EECF244321}">
                    <p14:modId xmlns:p14="http://schemas.microsoft.com/office/powerpoint/2010/main" val="4230775645"/>
                  </p:ext>
                </p:extLst>
              </p:nvPr>
            </p:nvGraphicFramePr>
            <p:xfrm>
              <a:off x="2951420" y="1597307"/>
              <a:ext cx="6997330" cy="2499360"/>
            </p:xfrm>
            <a:graphic>
              <a:graphicData uri="http://schemas.openxmlformats.org/drawingml/2006/table">
                <a:tbl>
                  <a:tblPr firstRow="1" firstCol="1" bandRow="1">
                    <a:tableStyleId>{A91F0D33-8C57-4600-99A7-42BC86742BE1}</a:tableStyleId>
                  </a:tblPr>
                  <a:tblGrid>
                    <a:gridCol w="3498331">
                      <a:extLst>
                        <a:ext uri="{9D8B030D-6E8A-4147-A177-3AD203B41FA5}">
                          <a16:colId xmlns:a16="http://schemas.microsoft.com/office/drawing/2014/main" val="3616650716"/>
                        </a:ext>
                      </a:extLst>
                    </a:gridCol>
                    <a:gridCol w="3498999">
                      <a:extLst>
                        <a:ext uri="{9D8B030D-6E8A-4147-A177-3AD203B41FA5}">
                          <a16:colId xmlns:a16="http://schemas.microsoft.com/office/drawing/2014/main" val="1921596547"/>
                        </a:ext>
                      </a:extLst>
                    </a:gridCol>
                  </a:tblGrid>
                  <a:tr h="487680">
                    <a:tc>
                      <a:txBody>
                        <a:bodyPr/>
                        <a:lstStyle/>
                        <a:p>
                          <a:pPr marL="0" marR="0" indent="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Keanu</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Francisca</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14401669"/>
                      </a:ext>
                    </a:extLst>
                  </a:tr>
                  <a:tr h="201168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62" t="-25157" r="-100725" b="-3145"/>
                          </a:stretch>
                        </a:blipFill>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362" t="-25157" r="-725" b="-3145"/>
                          </a:stretch>
                        </a:blipFill>
                      </a:tcPr>
                    </a:tc>
                    <a:extLst>
                      <a:ext uri="{0D108BD9-81ED-4DB2-BD59-A6C34878D82A}">
                        <a16:rowId xmlns:a16="http://schemas.microsoft.com/office/drawing/2014/main" val="4086972553"/>
                      </a:ext>
                    </a:extLst>
                  </a:tr>
                </a:tbl>
              </a:graphicData>
            </a:graphic>
          </p:graphicFrame>
        </mc:Fallback>
      </mc:AlternateContent>
      <p:sp>
        <p:nvSpPr>
          <p:cNvPr id="8" name="Google Shape;282;g104476d1465_1_17">
            <a:extLst>
              <a:ext uri="{FF2B5EF4-FFF2-40B4-BE49-F238E27FC236}">
                <a16:creationId xmlns:a16="http://schemas.microsoft.com/office/drawing/2014/main" id="{160B596B-F26A-C546-9549-A2481AD2EE09}"/>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329553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515815" y="246186"/>
            <a:ext cx="11430000"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you notice in the data. Summarize your discussion. </a:t>
            </a: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This data set is an example of </a:t>
            </a:r>
            <a:r>
              <a:rPr lang="en-US" sz="2000" b="1" i="1" dirty="0">
                <a:latin typeface="Verdana" panose="020B0604030504040204" pitchFamily="34" charset="0"/>
                <a:ea typeface="Verdana" panose="020B0604030504040204" pitchFamily="34" charset="0"/>
                <a:cs typeface="Verdana" panose="020B0604030504040204" pitchFamily="34" charset="0"/>
              </a:rPr>
              <a:t>bivariate data </a:t>
            </a:r>
            <a:r>
              <a:rPr lang="en-US" sz="2000" dirty="0">
                <a:latin typeface="Verdana" panose="020B0604030504040204" pitchFamily="34" charset="0"/>
                <a:ea typeface="Verdana" panose="020B0604030504040204" pitchFamily="34" charset="0"/>
                <a:cs typeface="Verdana" panose="020B0604030504040204" pitchFamily="34" charset="0"/>
              </a:rPr>
              <a:t>because two variables are being compared.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Based on the definition of bivariate data, what are the two characteristics measured in the table?</a:t>
            </a:r>
          </a:p>
        </p:txBody>
      </p:sp>
      <p:sp>
        <p:nvSpPr>
          <p:cNvPr id="7" name="Google Shape;282;g104476d1465_1_17">
            <a:extLst>
              <a:ext uri="{FF2B5EF4-FFF2-40B4-BE49-F238E27FC236}">
                <a16:creationId xmlns:a16="http://schemas.microsoft.com/office/drawing/2014/main" id="{4870543D-D2E3-9841-A476-35CEBF3126AF}"/>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grpSp>
        <p:nvGrpSpPr>
          <p:cNvPr id="9" name="Group 8">
            <a:extLst>
              <a:ext uri="{FF2B5EF4-FFF2-40B4-BE49-F238E27FC236}">
                <a16:creationId xmlns:a16="http://schemas.microsoft.com/office/drawing/2014/main" id="{B00A9613-BFF0-5D4B-9CB9-CCB3DB0B8C1E}"/>
              </a:ext>
            </a:extLst>
          </p:cNvPr>
          <p:cNvGrpSpPr/>
          <p:nvPr/>
        </p:nvGrpSpPr>
        <p:grpSpPr>
          <a:xfrm>
            <a:off x="2452116" y="3429000"/>
            <a:ext cx="6629400" cy="921284"/>
            <a:chOff x="2031300" y="3265116"/>
            <a:chExt cx="6629400" cy="921284"/>
          </a:xfrm>
          <a:effectLst>
            <a:outerShdw blurRad="50800" dist="38100" dir="2700000" algn="tl" rotWithShape="0">
              <a:prstClr val="black">
                <a:alpha val="40000"/>
              </a:prstClr>
            </a:outerShdw>
          </a:effectLst>
        </p:grpSpPr>
        <p:grpSp>
          <p:nvGrpSpPr>
            <p:cNvPr id="10" name="Group 9">
              <a:extLst>
                <a:ext uri="{FF2B5EF4-FFF2-40B4-BE49-F238E27FC236}">
                  <a16:creationId xmlns:a16="http://schemas.microsoft.com/office/drawing/2014/main" id="{7F0B8532-B01C-384D-870C-4B55DBC219F8}"/>
                </a:ext>
              </a:extLst>
            </p:cNvPr>
            <p:cNvGrpSpPr/>
            <p:nvPr/>
          </p:nvGrpSpPr>
          <p:grpSpPr>
            <a:xfrm>
              <a:off x="2031300" y="3265116"/>
              <a:ext cx="6629400" cy="921284"/>
              <a:chOff x="2031300" y="3265116"/>
              <a:chExt cx="6629400" cy="921284"/>
            </a:xfrm>
          </p:grpSpPr>
          <p:sp>
            <p:nvSpPr>
              <p:cNvPr id="11" name="Rectangle 10">
                <a:extLst>
                  <a:ext uri="{FF2B5EF4-FFF2-40B4-BE49-F238E27FC236}">
                    <a16:creationId xmlns:a16="http://schemas.microsoft.com/office/drawing/2014/main" id="{40CD6857-1959-0A4A-BE5D-83D58A4CAAC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2" name="Group 11">
                <a:extLst>
                  <a:ext uri="{FF2B5EF4-FFF2-40B4-BE49-F238E27FC236}">
                    <a16:creationId xmlns:a16="http://schemas.microsoft.com/office/drawing/2014/main" id="{E681D5F1-8F5D-F740-A649-38343A1AD452}"/>
                  </a:ext>
                </a:extLst>
              </p:cNvPr>
              <p:cNvGrpSpPr/>
              <p:nvPr/>
            </p:nvGrpSpPr>
            <p:grpSpPr>
              <a:xfrm>
                <a:off x="2031300" y="3265116"/>
                <a:ext cx="6629400" cy="921284"/>
                <a:chOff x="0" y="-108484"/>
                <a:chExt cx="6629400" cy="921284"/>
              </a:xfrm>
            </p:grpSpPr>
            <p:sp>
              <p:nvSpPr>
                <p:cNvPr id="13" name="Rectangle 12">
                  <a:extLst>
                    <a:ext uri="{FF2B5EF4-FFF2-40B4-BE49-F238E27FC236}">
                      <a16:creationId xmlns:a16="http://schemas.microsoft.com/office/drawing/2014/main" id="{8F00FA6C-D5C3-FA4B-BC8D-F439B04CDA7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4" name="Rounded Rectangle 13">
                  <a:extLst>
                    <a:ext uri="{FF2B5EF4-FFF2-40B4-BE49-F238E27FC236}">
                      <a16:creationId xmlns:a16="http://schemas.microsoft.com/office/drawing/2014/main" id="{324B8828-8EE8-C240-8E93-DC1E586FBD69}"/>
                    </a:ext>
                  </a:extLst>
                </p:cNvPr>
                <p:cNvSpPr/>
                <p:nvPr/>
              </p:nvSpPr>
              <p:spPr>
                <a:xfrm>
                  <a:off x="0" y="-108484"/>
                  <a:ext cx="6629400" cy="920990"/>
                </a:xfrm>
                <a:prstGeom prst="roundRect">
                  <a:avLst>
                    <a:gd name="adj" fmla="val 16667"/>
                  </a:avLst>
                </a:prstGeom>
                <a:solidFill>
                  <a:srgbClr val="E2EED5"/>
                </a:solidFill>
                <a:ln>
                  <a:noFill/>
                </a:ln>
              </p:spPr>
              <p:txBody>
                <a:bodyPr spcFirstLastPara="1" wrap="square" lIns="91425" tIns="91440" rIns="91425" bIns="0" anchor="ctr" anchorCtr="0">
                  <a:spAutoFit/>
                </a:bodyPr>
                <a:lstStyle/>
                <a:p>
                  <a:pPr marL="742950">
                    <a:spcAft>
                      <a:spcPts val="10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Bivariate data</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data that measures two characteristics of a population.</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5" name="Shape 7" descr="Icon&#10;&#10;Description automatically generated">
                  <a:extLst>
                    <a:ext uri="{FF2B5EF4-FFF2-40B4-BE49-F238E27FC236}">
                      <a16:creationId xmlns:a16="http://schemas.microsoft.com/office/drawing/2014/main" id="{7FAA1F68-7E68-3448-9EF3-26F33BE0035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47091" y="0"/>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126963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926"/>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1336891" y="386577"/>
            <a:ext cx="10433539"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Bivariate numerical data can be represented in different ways. One way to represent the data is a </a:t>
            </a:r>
            <a:r>
              <a:rPr lang="en-US" sz="2000" b="1" i="1" dirty="0">
                <a:latin typeface="Verdana" panose="020B0604030504040204" pitchFamily="34" charset="0"/>
                <a:ea typeface="Verdana" panose="020B0604030504040204" pitchFamily="34" charset="0"/>
                <a:cs typeface="Verdana" panose="020B0604030504040204" pitchFamily="34" charset="0"/>
              </a:rPr>
              <a:t>scatter plot </a:t>
            </a:r>
            <a:r>
              <a:rPr lang="en-US" sz="2000" dirty="0">
                <a:latin typeface="Verdana" panose="020B0604030504040204" pitchFamily="34" charset="0"/>
                <a:ea typeface="Verdana" panose="020B0604030504040204" pitchFamily="34" charset="0"/>
                <a:cs typeface="Verdana" panose="020B0604030504040204" pitchFamily="34" charset="0"/>
              </a:rPr>
              <a:t>with a </a:t>
            </a:r>
            <a:r>
              <a:rPr lang="en-US" sz="2000" b="1" i="1" dirty="0">
                <a:latin typeface="Verdana" panose="020B0604030504040204" pitchFamily="34" charset="0"/>
                <a:ea typeface="Verdana" panose="020B0604030504040204" pitchFamily="34" charset="0"/>
                <a:cs typeface="Verdana" panose="020B0604030504040204" pitchFamily="34" charset="0"/>
              </a:rPr>
              <a:t>line of fit</a:t>
            </a:r>
            <a:r>
              <a:rPr lang="en-US" sz="2000" dirty="0">
                <a:latin typeface="Verdana" panose="020B0604030504040204" pitchFamily="34" charset="0"/>
                <a:ea typeface="Verdana" panose="020B0604030504040204" pitchFamily="34" charset="0"/>
                <a:cs typeface="Verdana" panose="020B0604030504040204" pitchFamily="34" charset="0"/>
              </a:rPr>
              <a:t>.</a:t>
            </a:r>
          </a:p>
        </p:txBody>
      </p:sp>
      <p:grpSp>
        <p:nvGrpSpPr>
          <p:cNvPr id="14" name="Group 13">
            <a:extLst>
              <a:ext uri="{FF2B5EF4-FFF2-40B4-BE49-F238E27FC236}">
                <a16:creationId xmlns:a16="http://schemas.microsoft.com/office/drawing/2014/main" id="{29AC4090-E27A-B746-A239-97D452F30FE8}"/>
              </a:ext>
            </a:extLst>
          </p:cNvPr>
          <p:cNvGrpSpPr/>
          <p:nvPr/>
        </p:nvGrpSpPr>
        <p:grpSpPr>
          <a:xfrm>
            <a:off x="2002350" y="1569600"/>
            <a:ext cx="7946400" cy="1606069"/>
            <a:chOff x="2031300" y="3111301"/>
            <a:chExt cx="7946400" cy="1606425"/>
          </a:xfrm>
          <a:effectLst>
            <a:outerShdw blurRad="50800" dist="38100" dir="2700000" algn="tl" rotWithShape="0">
              <a:prstClr val="black">
                <a:alpha val="40000"/>
              </a:prstClr>
            </a:outerShdw>
          </a:effectLst>
        </p:grpSpPr>
        <p:grpSp>
          <p:nvGrpSpPr>
            <p:cNvPr id="22" name="Group 21">
              <a:extLst>
                <a:ext uri="{FF2B5EF4-FFF2-40B4-BE49-F238E27FC236}">
                  <a16:creationId xmlns:a16="http://schemas.microsoft.com/office/drawing/2014/main" id="{0DA723F8-6F30-CA4E-960D-7B0472E90210}"/>
                </a:ext>
              </a:extLst>
            </p:cNvPr>
            <p:cNvGrpSpPr/>
            <p:nvPr/>
          </p:nvGrpSpPr>
          <p:grpSpPr>
            <a:xfrm>
              <a:off x="2031300" y="3111301"/>
              <a:ext cx="7946400" cy="1606425"/>
              <a:chOff x="2031300" y="3111301"/>
              <a:chExt cx="7946400" cy="1606425"/>
            </a:xfrm>
          </p:grpSpPr>
          <p:sp>
            <p:nvSpPr>
              <p:cNvPr id="23" name="Rectangle 22">
                <a:extLst>
                  <a:ext uri="{FF2B5EF4-FFF2-40B4-BE49-F238E27FC236}">
                    <a16:creationId xmlns:a16="http://schemas.microsoft.com/office/drawing/2014/main" id="{4BD839B9-846F-9C42-962F-3C11BA5EE119}"/>
                  </a:ext>
                </a:extLst>
              </p:cNvPr>
              <p:cNvSpPr/>
              <p:nvPr/>
            </p:nvSpPr>
            <p:spPr>
              <a:xfrm>
                <a:off x="2031300" y="3469606"/>
                <a:ext cx="6629400" cy="620789"/>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4" name="Group 23">
                <a:extLst>
                  <a:ext uri="{FF2B5EF4-FFF2-40B4-BE49-F238E27FC236}">
                    <a16:creationId xmlns:a16="http://schemas.microsoft.com/office/drawing/2014/main" id="{5DDAD303-50E0-2F46-940A-9DE95FAD2557}"/>
                  </a:ext>
                </a:extLst>
              </p:cNvPr>
              <p:cNvGrpSpPr/>
              <p:nvPr/>
            </p:nvGrpSpPr>
            <p:grpSpPr>
              <a:xfrm>
                <a:off x="2031300" y="3111301"/>
                <a:ext cx="7946400" cy="1606425"/>
                <a:chOff x="0" y="-262299"/>
                <a:chExt cx="7946400" cy="1606425"/>
              </a:xfrm>
            </p:grpSpPr>
            <p:sp>
              <p:nvSpPr>
                <p:cNvPr id="25" name="Rectangle 24">
                  <a:extLst>
                    <a:ext uri="{FF2B5EF4-FFF2-40B4-BE49-F238E27FC236}">
                      <a16:creationId xmlns:a16="http://schemas.microsoft.com/office/drawing/2014/main" id="{EF64E905-3F84-FB45-9E58-6DD38CDF6868}"/>
                    </a:ext>
                  </a:extLst>
                </p:cNvPr>
                <p:cNvSpPr/>
                <p:nvPr/>
              </p:nvSpPr>
              <p:spPr>
                <a:xfrm>
                  <a:off x="0" y="96006"/>
                  <a:ext cx="6629400" cy="620789"/>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6" name="Rounded Rectangle 25">
                  <a:extLst>
                    <a:ext uri="{FF2B5EF4-FFF2-40B4-BE49-F238E27FC236}">
                      <a16:creationId xmlns:a16="http://schemas.microsoft.com/office/drawing/2014/main" id="{05B881C6-93FD-3B4F-8D4C-2F6F295CF6CF}"/>
                    </a:ext>
                  </a:extLst>
                </p:cNvPr>
                <p:cNvSpPr/>
                <p:nvPr/>
              </p:nvSpPr>
              <p:spPr>
                <a:xfrm>
                  <a:off x="0" y="-262299"/>
                  <a:ext cx="7946400" cy="1606425"/>
                </a:xfrm>
                <a:prstGeom prst="roundRect">
                  <a:avLst>
                    <a:gd name="adj" fmla="val 16667"/>
                  </a:avLst>
                </a:prstGeom>
                <a:solidFill>
                  <a:srgbClr val="E2EED5"/>
                </a:solidFill>
                <a:ln>
                  <a:noFill/>
                </a:ln>
              </p:spPr>
              <p:txBody>
                <a:bodyPr spcFirstLastPara="1" wrap="square" lIns="91425" tIns="45700" rIns="91425" bIns="4570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 scatter plot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graph in the coordinate plane representing a set of bivariate numerical data that is used to observe the relationship between two variables.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7" name="Shape 7" descr="Icon&#10;&#10;Description automatically generated">
                  <a:extLst>
                    <a:ext uri="{FF2B5EF4-FFF2-40B4-BE49-F238E27FC236}">
                      <a16:creationId xmlns:a16="http://schemas.microsoft.com/office/drawing/2014/main" id="{AC462BC4-C807-C54F-AB81-B1CF83E0C0D6}"/>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11697" y="-110210"/>
                  <a:ext cx="539750" cy="539750"/>
                </a:xfrm>
                <a:prstGeom prst="rect">
                  <a:avLst/>
                </a:prstGeom>
                <a:noFill/>
                <a:ln>
                  <a:noFill/>
                </a:ln>
                <a:effectLst>
                  <a:outerShdw blurRad="50800" dist="38100" dir="2700000" algn="tl" rotWithShape="0">
                    <a:prstClr val="black">
                      <a:alpha val="40000"/>
                    </a:prstClr>
                  </a:outerShdw>
                </a:effectLst>
              </p:spPr>
            </p:pic>
          </p:grpSp>
        </p:grpSp>
      </p:grpSp>
      <p:grpSp>
        <p:nvGrpSpPr>
          <p:cNvPr id="15" name="Group 14">
            <a:extLst>
              <a:ext uri="{FF2B5EF4-FFF2-40B4-BE49-F238E27FC236}">
                <a16:creationId xmlns:a16="http://schemas.microsoft.com/office/drawing/2014/main" id="{2328CAC4-7B55-064C-9BB4-9FBF9FED475B}"/>
              </a:ext>
            </a:extLst>
          </p:cNvPr>
          <p:cNvGrpSpPr/>
          <p:nvPr/>
        </p:nvGrpSpPr>
        <p:grpSpPr>
          <a:xfrm>
            <a:off x="2002350" y="3385777"/>
            <a:ext cx="7946400" cy="1370509"/>
            <a:chOff x="2031300" y="3373600"/>
            <a:chExt cx="7946400" cy="1370631"/>
          </a:xfrm>
        </p:grpSpPr>
        <p:grpSp>
          <p:nvGrpSpPr>
            <p:cNvPr id="16" name="Group 15">
              <a:extLst>
                <a:ext uri="{FF2B5EF4-FFF2-40B4-BE49-F238E27FC236}">
                  <a16:creationId xmlns:a16="http://schemas.microsoft.com/office/drawing/2014/main" id="{095C769B-D1C9-A343-B998-A3107B3E9CB7}"/>
                </a:ext>
              </a:extLst>
            </p:cNvPr>
            <p:cNvGrpSpPr/>
            <p:nvPr/>
          </p:nvGrpSpPr>
          <p:grpSpPr>
            <a:xfrm>
              <a:off x="2031300" y="3373600"/>
              <a:ext cx="7946400" cy="1370631"/>
              <a:chOff x="2031300" y="3373600"/>
              <a:chExt cx="7946400" cy="1370631"/>
            </a:xfrm>
          </p:grpSpPr>
          <p:sp>
            <p:nvSpPr>
              <p:cNvPr id="17" name="Rectangle 16">
                <a:extLst>
                  <a:ext uri="{FF2B5EF4-FFF2-40B4-BE49-F238E27FC236}">
                    <a16:creationId xmlns:a16="http://schemas.microsoft.com/office/drawing/2014/main" id="{1E1DE568-65B0-4F40-A3C7-094344CFE4ED}"/>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8" name="Group 17">
                <a:extLst>
                  <a:ext uri="{FF2B5EF4-FFF2-40B4-BE49-F238E27FC236}">
                    <a16:creationId xmlns:a16="http://schemas.microsoft.com/office/drawing/2014/main" id="{A71C7F96-1B29-7246-9A7A-4EF2E0933C86}"/>
                  </a:ext>
                </a:extLst>
              </p:cNvPr>
              <p:cNvGrpSpPr/>
              <p:nvPr/>
            </p:nvGrpSpPr>
            <p:grpSpPr>
              <a:xfrm>
                <a:off x="2031300" y="3373600"/>
                <a:ext cx="7946400" cy="1370631"/>
                <a:chOff x="0" y="0"/>
                <a:chExt cx="7946400" cy="1370631"/>
              </a:xfrm>
            </p:grpSpPr>
            <p:sp>
              <p:nvSpPr>
                <p:cNvPr id="19" name="Rectangle 18">
                  <a:extLst>
                    <a:ext uri="{FF2B5EF4-FFF2-40B4-BE49-F238E27FC236}">
                      <a16:creationId xmlns:a16="http://schemas.microsoft.com/office/drawing/2014/main" id="{82F2C6DB-1A81-5546-B805-0CA520BB41B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0" name="Rounded Rectangle 19">
                  <a:extLst>
                    <a:ext uri="{FF2B5EF4-FFF2-40B4-BE49-F238E27FC236}">
                      <a16:creationId xmlns:a16="http://schemas.microsoft.com/office/drawing/2014/main" id="{1E42534C-8BEA-A244-81CA-3E562D21CBA9}"/>
                    </a:ext>
                  </a:extLst>
                </p:cNvPr>
                <p:cNvSpPr/>
                <p:nvPr/>
              </p:nvSpPr>
              <p:spPr>
                <a:xfrm>
                  <a:off x="0" y="53864"/>
                  <a:ext cx="7946400" cy="131676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 line of fit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line drawn on a scatter plot to estimate the relationship between two sets of data. </a:t>
                  </a:r>
                  <a:b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line of fit is also known as a trend line.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1" name="Shape 7" descr="Icon&#10;&#10;Description automatically generated">
                  <a:extLst>
                    <a:ext uri="{FF2B5EF4-FFF2-40B4-BE49-F238E27FC236}">
                      <a16:creationId xmlns:a16="http://schemas.microsoft.com/office/drawing/2014/main" id="{DE421ADE-6C3E-A249-BC4D-BFB7120E7F36}"/>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20841" y="247828"/>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28" name="Google Shape;282;g104476d1465_1_17">
            <a:extLst>
              <a:ext uri="{FF2B5EF4-FFF2-40B4-BE49-F238E27FC236}">
                <a16:creationId xmlns:a16="http://schemas.microsoft.com/office/drawing/2014/main" id="{2341A0DA-1BFD-DD43-8855-DF2392FDFC3A}"/>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179</a:t>
            </a:r>
            <a:endParaRPr i="1" dirty="0">
              <a:latin typeface="Calibri"/>
              <a:ea typeface="Calibri"/>
              <a:cs typeface="Calibri"/>
              <a:sym typeface="Calibri"/>
            </a:endParaRPr>
          </a:p>
        </p:txBody>
      </p:sp>
    </p:spTree>
    <p:extLst>
      <p:ext uri="{BB962C8B-B14F-4D97-AF65-F5344CB8AC3E}">
        <p14:creationId xmlns:p14="http://schemas.microsoft.com/office/powerpoint/2010/main" val="226106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90925" y="1993814"/>
            <a:ext cx="501015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691662" y="292185"/>
                <a:ext cx="11066584" cy="132343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scatter plot of the data on symptomatic cases of the flu in the U.S. is shown. The line of fit, </a:t>
                </a:r>
                <a14:m>
                  <m:oMath xmlns:m="http://schemas.openxmlformats.org/officeDocument/2006/math">
                    <m:r>
                      <a:rPr lang="en-US" sz="2000">
                        <a:latin typeface="Cambria Math"/>
                        <a:ea typeface="Verdana" panose="020B0604030504040204" pitchFamily="34" charset="0"/>
                        <a:cs typeface="Verdana" panose="020B0604030504040204" pitchFamily="34" charset="0"/>
                      </a:rPr>
                      <m:t>𝑦</m:t>
                    </m:r>
                    <m:r>
                      <a:rPr lang="en-US" sz="2000">
                        <a:latin typeface="Cambria Math"/>
                        <a:ea typeface="Verdana" panose="020B0604030504040204" pitchFamily="34" charset="0"/>
                        <a:cs typeface="Verdana" panose="020B0604030504040204" pitchFamily="34" charset="0"/>
                      </a:rPr>
                      <m:t>=2.34</m:t>
                    </m:r>
                    <m:r>
                      <a:rPr lang="en-US" sz="2000">
                        <a:latin typeface="Cambria Math"/>
                        <a:ea typeface="Verdana" panose="020B0604030504040204" pitchFamily="34" charset="0"/>
                        <a:cs typeface="Verdana" panose="020B0604030504040204" pitchFamily="34" charset="0"/>
                      </a:rPr>
                      <m:t>𝑥</m:t>
                    </m:r>
                    <m:r>
                      <a:rPr lang="en-US" sz="2000">
                        <a:latin typeface="Cambria Math"/>
                        <a:ea typeface="Verdana" panose="020B0604030504040204" pitchFamily="34" charset="0"/>
                        <a:cs typeface="Verdana" panose="020B0604030504040204" pitchFamily="34" charset="0"/>
                      </a:rPr>
                      <m:t>+19.1</m:t>
                    </m:r>
                  </m:oMath>
                </a14:m>
                <a:r>
                  <a:rPr lang="en-US" sz="2000" dirty="0">
                    <a:latin typeface="Verdana" panose="020B0604030504040204" pitchFamily="34" charset="0"/>
                    <a:ea typeface="Verdana" panose="020B0604030504040204" pitchFamily="34" charset="0"/>
                    <a:cs typeface="Verdana" panose="020B0604030504040204" pitchFamily="34" charset="0"/>
                  </a:rPr>
                  <a:t>, is included on the scatter plot, where </a:t>
                </a:r>
                <a14:m>
                  <m:oMath xmlns:m="http://schemas.openxmlformats.org/officeDocument/2006/math">
                    <m:r>
                      <a:rPr lang="en-US" sz="2000">
                        <a:latin typeface="Cambria Math"/>
                        <a:ea typeface="Verdana" panose="020B0604030504040204" pitchFamily="34" charset="0"/>
                        <a:cs typeface="Verdana" panose="020B0604030504040204" pitchFamily="34"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 is the number of symptomatic cases of the flu in the U.S., in millions, and </a:t>
                </a:r>
                <a14:m>
                  <m:oMath xmlns:m="http://schemas.openxmlformats.org/officeDocument/2006/math">
                    <m:r>
                      <a:rPr lang="en-US" sz="2000">
                        <a:latin typeface="Cambria Math"/>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is the number of years since 2011.</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691662" y="292185"/>
                <a:ext cx="11066584" cy="1323439"/>
              </a:xfrm>
              <a:prstGeom prst="rect">
                <a:avLst/>
              </a:prstGeom>
              <a:blipFill>
                <a:blip r:embed="rId5"/>
                <a:stretch>
                  <a:fillRect l="-573" t="-2857" b="-6667"/>
                </a:stretch>
              </a:blipFill>
            </p:spPr>
            <p:txBody>
              <a:bodyPr/>
              <a:lstStyle/>
              <a:p>
                <a:r>
                  <a:rPr lang="en-US">
                    <a:noFill/>
                  </a:rPr>
                  <a:t> </a:t>
                </a:r>
              </a:p>
            </p:txBody>
          </p:sp>
        </mc:Fallback>
      </mc:AlternateContent>
      <p:sp>
        <p:nvSpPr>
          <p:cNvPr id="31" name="Google Shape;282;g104476d1465_1_17">
            <a:extLst>
              <a:ext uri="{FF2B5EF4-FFF2-40B4-BE49-F238E27FC236}">
                <a16:creationId xmlns:a16="http://schemas.microsoft.com/office/drawing/2014/main" id="{25B42BCB-594B-004F-8A71-CDF23B4CBBCF}"/>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179</a:t>
            </a:r>
            <a:endParaRPr i="1" dirty="0">
              <a:latin typeface="Calibri"/>
              <a:ea typeface="Calibri"/>
              <a:cs typeface="Calibri"/>
              <a:sym typeface="Calibri"/>
            </a:endParaRPr>
          </a:p>
        </p:txBody>
      </p:sp>
    </p:spTree>
    <p:extLst>
      <p:ext uri="{BB962C8B-B14F-4D97-AF65-F5344CB8AC3E}">
        <p14:creationId xmlns:p14="http://schemas.microsoft.com/office/powerpoint/2010/main" val="4097263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15674" y="1934565"/>
            <a:ext cx="5025819" cy="464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1371600" y="328761"/>
            <a:ext cx="8887968" cy="321160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           The same data can be represented using a </a:t>
            </a:r>
            <a:r>
              <a:rPr lang="en-US" sz="2000" b="1" i="1" dirty="0">
                <a:latin typeface="Verdana" panose="020B0604030504040204" pitchFamily="34" charset="0"/>
                <a:ea typeface="Verdana" panose="020B0604030504040204" pitchFamily="34" charset="0"/>
                <a:cs typeface="Verdana" panose="020B0604030504040204" pitchFamily="34" charset="0"/>
              </a:rPr>
              <a:t>line graph</a:t>
            </a:r>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 line graph of the data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on symptomatic cases of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flu in the U.S. is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shown.</a:t>
            </a:r>
          </a:p>
        </p:txBody>
      </p:sp>
      <p:sp>
        <p:nvSpPr>
          <p:cNvPr id="21" name="Google Shape;282;g104476d1465_1_17">
            <a:extLst>
              <a:ext uri="{FF2B5EF4-FFF2-40B4-BE49-F238E27FC236}">
                <a16:creationId xmlns:a16="http://schemas.microsoft.com/office/drawing/2014/main" id="{94944712-7D1E-F246-90F7-A8FE0852D681}"/>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179</a:t>
            </a:r>
            <a:endParaRPr i="1" dirty="0">
              <a:latin typeface="Calibri"/>
              <a:ea typeface="Calibri"/>
              <a:cs typeface="Calibri"/>
              <a:sym typeface="Calibri"/>
            </a:endParaRPr>
          </a:p>
        </p:txBody>
      </p:sp>
      <p:grpSp>
        <p:nvGrpSpPr>
          <p:cNvPr id="2" name="Group 1"/>
          <p:cNvGrpSpPr/>
          <p:nvPr/>
        </p:nvGrpSpPr>
        <p:grpSpPr>
          <a:xfrm>
            <a:off x="2070687" y="858319"/>
            <a:ext cx="8050626" cy="925076"/>
            <a:chOff x="478350" y="1041583"/>
            <a:chExt cx="8050626" cy="925076"/>
          </a:xfrm>
        </p:grpSpPr>
        <p:sp>
          <p:nvSpPr>
            <p:cNvPr id="19" name="Rounded Rectangle 18">
              <a:extLst>
                <a:ext uri="{FF2B5EF4-FFF2-40B4-BE49-F238E27FC236}">
                  <a16:creationId xmlns:a16="http://schemas.microsoft.com/office/drawing/2014/main" id="{8E7EC3EE-7421-954A-B49E-5A5A931A465C}"/>
                </a:ext>
              </a:extLst>
            </p:cNvPr>
            <p:cNvSpPr/>
            <p:nvPr/>
          </p:nvSpPr>
          <p:spPr>
            <a:xfrm>
              <a:off x="478350" y="1041583"/>
              <a:ext cx="8050626" cy="92507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 line graph</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graph that displays numerical data using connected line segments.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0" name="Shape 7" descr="Icon&#10;&#10;Description automatically generated">
              <a:extLst>
                <a:ext uri="{FF2B5EF4-FFF2-40B4-BE49-F238E27FC236}">
                  <a16:creationId xmlns:a16="http://schemas.microsoft.com/office/drawing/2014/main" id="{8A3411B6-5422-9542-AFB9-43511D011668}"/>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690047" y="1187805"/>
              <a:ext cx="539750" cy="539749"/>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067405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926"/>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3297" y="618713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832337" y="288746"/>
            <a:ext cx="11113477" cy="1323439"/>
          </a:xfrm>
          <a:prstGeom prst="rect">
            <a:avLst/>
          </a:prstGeom>
          <a:noFill/>
        </p:spPr>
        <p:txBody>
          <a:bodyPr wrap="square" rtlCol="0">
            <a:spAutoFit/>
          </a:bodyPr>
          <a:lstStyle/>
          <a:p>
            <a:pPr marL="458788" indent="-458788">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similarities and differences between the scatter plot and the line graph.</a:t>
            </a:r>
          </a:p>
          <a:p>
            <a:pPr marL="9191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000" dirty="0">
                <a:latin typeface="Verdana"/>
                <a:ea typeface="Times New Roman"/>
                <a:cs typeface="Times New Roman"/>
              </a:rPr>
              <a:t>Complete the table.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2">
            <a:extLst>
              <a:ext uri="{FF2B5EF4-FFF2-40B4-BE49-F238E27FC236}">
                <a16:creationId xmlns:a16="http://schemas.microsoft.com/office/drawing/2014/main" id="{3B51C2BA-B14F-A246-9292-6C4220FC72DA}"/>
              </a:ext>
            </a:extLst>
          </p:cNvPr>
          <p:cNvGraphicFramePr>
            <a:graphicFrameLocks noGrp="1"/>
          </p:cNvGraphicFramePr>
          <p:nvPr>
            <p:extLst>
              <p:ext uri="{D42A27DB-BD31-4B8C-83A1-F6EECF244321}">
                <p14:modId xmlns:p14="http://schemas.microsoft.com/office/powerpoint/2010/main" val="270832018"/>
              </p:ext>
            </p:extLst>
          </p:nvPr>
        </p:nvGraphicFramePr>
        <p:xfrm>
          <a:off x="2847244" y="2104756"/>
          <a:ext cx="7083662" cy="3341981"/>
        </p:xfrm>
        <a:graphic>
          <a:graphicData uri="http://schemas.openxmlformats.org/drawingml/2006/table">
            <a:tbl>
              <a:tblPr firstRow="1" firstCol="1" bandRow="1">
                <a:tableStyleId>{A91F0D33-8C57-4600-99A7-42BC86742BE1}</a:tableStyleId>
              </a:tblPr>
              <a:tblGrid>
                <a:gridCol w="3556382">
                  <a:extLst>
                    <a:ext uri="{9D8B030D-6E8A-4147-A177-3AD203B41FA5}">
                      <a16:colId xmlns:a16="http://schemas.microsoft.com/office/drawing/2014/main" val="1844393886"/>
                    </a:ext>
                  </a:extLst>
                </a:gridCol>
                <a:gridCol w="3527280">
                  <a:extLst>
                    <a:ext uri="{9D8B030D-6E8A-4147-A177-3AD203B41FA5}">
                      <a16:colId xmlns:a16="http://schemas.microsoft.com/office/drawing/2014/main" val="3757584676"/>
                    </a:ext>
                  </a:extLst>
                </a:gridCol>
              </a:tblGrid>
              <a:tr h="98949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Similarities Between Scatter Plots and Line Graphs</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Differences Between Scatter Plots and Line Graphs</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41750928"/>
                  </a:ext>
                </a:extLst>
              </a:tr>
              <a:tr h="2244701">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6028682"/>
                  </a:ext>
                </a:extLst>
              </a:tr>
            </a:tbl>
          </a:graphicData>
        </a:graphic>
      </p:graphicFrame>
      <p:sp>
        <p:nvSpPr>
          <p:cNvPr id="8" name="Google Shape;282;g104476d1465_1_17">
            <a:extLst>
              <a:ext uri="{FF2B5EF4-FFF2-40B4-BE49-F238E27FC236}">
                <a16:creationId xmlns:a16="http://schemas.microsoft.com/office/drawing/2014/main" id="{213449DB-1750-4C4D-B730-D8A01799ECC3}"/>
              </a:ext>
            </a:extLst>
          </p:cNvPr>
          <p:cNvSpPr txBox="1"/>
          <p:nvPr/>
        </p:nvSpPr>
        <p:spPr>
          <a:xfrm>
            <a:off x="8989297" y="65157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179</a:t>
            </a:r>
            <a:endParaRPr i="1" dirty="0">
              <a:latin typeface="Calibri"/>
              <a:ea typeface="Calibri"/>
              <a:cs typeface="Calibri"/>
              <a:sym typeface="Calibri"/>
            </a:endParaRPr>
          </a:p>
        </p:txBody>
      </p:sp>
    </p:spTree>
    <p:extLst>
      <p:ext uri="{BB962C8B-B14F-4D97-AF65-F5344CB8AC3E}">
        <p14:creationId xmlns:p14="http://schemas.microsoft.com/office/powerpoint/2010/main" val="3289860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539261" y="480645"/>
            <a:ext cx="11160369" cy="3477875"/>
          </a:xfrm>
          <a:prstGeom prst="rect">
            <a:avLst/>
          </a:prstGeom>
          <a:noFill/>
        </p:spPr>
        <p:txBody>
          <a:bodyPr wrap="square" rtlCol="0">
            <a:spAutoFit/>
          </a:bodyPr>
          <a:lstStyle/>
          <a:p>
            <a:pPr marL="919163" indent="-45085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Mateo is interested in determining how the number of flu cases in the U.S. has changed each year since 2011. Explain which graph is best for him to use.</a:t>
            </a: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Londyn is interested in the overall trend in the number of flu cases in the U.S. since 2011. Explain which graph is best for her to use.</a:t>
            </a: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a:extLst>
              <a:ext uri="{FF2B5EF4-FFF2-40B4-BE49-F238E27FC236}">
                <a16:creationId xmlns:a16="http://schemas.microsoft.com/office/drawing/2014/main" id="{0C6623A0-008D-5B42-BF7C-C9664DF10A82}"/>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180</a:t>
            </a:r>
            <a:endParaRPr i="1" dirty="0">
              <a:latin typeface="Calibri"/>
              <a:ea typeface="Calibri"/>
              <a:cs typeface="Calibri"/>
              <a:sym typeface="Calibri"/>
            </a:endParaRPr>
          </a:p>
        </p:txBody>
      </p:sp>
    </p:spTree>
    <p:extLst>
      <p:ext uri="{BB962C8B-B14F-4D97-AF65-F5344CB8AC3E}">
        <p14:creationId xmlns:p14="http://schemas.microsoft.com/office/powerpoint/2010/main" val="3303925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8AE5E1E0-A54D-BE42-84B5-F917038ADE99}"/>
              </a:ext>
            </a:extLst>
          </p:cNvPr>
          <p:cNvSpPr txBox="1"/>
          <p:nvPr/>
        </p:nvSpPr>
        <p:spPr>
          <a:xfrm>
            <a:off x="726831" y="288746"/>
            <a:ext cx="11090031" cy="707886"/>
          </a:xfrm>
          <a:prstGeom prst="rect">
            <a:avLst/>
          </a:prstGeom>
          <a:noFill/>
        </p:spPr>
        <p:txBody>
          <a:bodyPr wrap="square" rtlCol="0">
            <a:spAutoFit/>
          </a:bodyPr>
          <a:lstStyle/>
          <a:p>
            <a:pPr marL="919163" indent="-461963" fontAlgn="base">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variable is the independent variable and which is the dependent variable in this context. Identify your choices.</a:t>
            </a:r>
          </a:p>
        </p:txBody>
      </p:sp>
      <p:graphicFrame>
        <p:nvGraphicFramePr>
          <p:cNvPr id="2" name="Table 1">
            <a:extLst>
              <a:ext uri="{FF2B5EF4-FFF2-40B4-BE49-F238E27FC236}">
                <a16:creationId xmlns:a16="http://schemas.microsoft.com/office/drawing/2014/main" id="{15009042-6612-1A46-BD97-1E5A77712855}"/>
              </a:ext>
            </a:extLst>
          </p:cNvPr>
          <p:cNvGraphicFramePr>
            <a:graphicFrameLocks noGrp="1"/>
          </p:cNvGraphicFramePr>
          <p:nvPr>
            <p:extLst>
              <p:ext uri="{D42A27DB-BD31-4B8C-83A1-F6EECF244321}">
                <p14:modId xmlns:p14="http://schemas.microsoft.com/office/powerpoint/2010/main" val="72701219"/>
              </p:ext>
            </p:extLst>
          </p:nvPr>
        </p:nvGraphicFramePr>
        <p:xfrm>
          <a:off x="2993887" y="1542269"/>
          <a:ext cx="6370308" cy="1584960"/>
        </p:xfrm>
        <a:graphic>
          <a:graphicData uri="http://schemas.openxmlformats.org/drawingml/2006/table">
            <a:tbl>
              <a:tblPr firstRow="1" firstCol="1" bandRow="1">
                <a:tableStyleId>{A91F0D33-8C57-4600-99A7-42BC86742BE1}</a:tableStyleId>
              </a:tblPr>
              <a:tblGrid>
                <a:gridCol w="2103120">
                  <a:extLst>
                    <a:ext uri="{9D8B030D-6E8A-4147-A177-3AD203B41FA5}">
                      <a16:colId xmlns:a16="http://schemas.microsoft.com/office/drawing/2014/main" val="3371711071"/>
                    </a:ext>
                  </a:extLst>
                </a:gridCol>
                <a:gridCol w="4267188">
                  <a:extLst>
                    <a:ext uri="{9D8B030D-6E8A-4147-A177-3AD203B41FA5}">
                      <a16:colId xmlns:a16="http://schemas.microsoft.com/office/drawing/2014/main" val="2927498475"/>
                    </a:ext>
                  </a:extLst>
                </a:gridCol>
              </a:tblGrid>
              <a:tr h="70495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cases of the flu</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Years since 2011</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923386"/>
                  </a:ext>
                </a:extLst>
              </a:tr>
              <a:tr h="704952">
                <a:tc>
                  <a:txBody>
                    <a:bodyPr/>
                    <a:lstStyle/>
                    <a:p>
                      <a:pPr marL="0" marR="0" algn="ctr" fontAlgn="base">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cases of the flu</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Years since 2011</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931007"/>
                  </a:ext>
                </a:extLst>
              </a:tr>
            </a:tbl>
          </a:graphicData>
        </a:graphic>
      </p:graphicFrame>
      <p:sp>
        <p:nvSpPr>
          <p:cNvPr id="15" name="Google Shape;282;g104476d1465_1_17">
            <a:extLst>
              <a:ext uri="{FF2B5EF4-FFF2-40B4-BE49-F238E27FC236}">
                <a16:creationId xmlns:a16="http://schemas.microsoft.com/office/drawing/2014/main" id="{09B154EE-AF36-0845-8305-4E5C66FF3BAE}"/>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180</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DFC69664-6994-DD42-BF03-EAEAAB5C7ED7}"/>
              </a:ext>
            </a:extLst>
          </p:cNvPr>
          <p:cNvGrpSpPr/>
          <p:nvPr/>
        </p:nvGrpSpPr>
        <p:grpSpPr>
          <a:xfrm>
            <a:off x="2933700" y="3577779"/>
            <a:ext cx="6629400" cy="2627670"/>
            <a:chOff x="0" y="-224754"/>
            <a:chExt cx="6629400" cy="2628642"/>
          </a:xfrm>
          <a:effectLst>
            <a:outerShdw blurRad="50800" dist="38100" dir="2700000" algn="tl" rotWithShape="0">
              <a:prstClr val="black">
                <a:alpha val="40000"/>
              </a:prstClr>
            </a:outerShdw>
          </a:effectLst>
        </p:grpSpPr>
        <p:grpSp>
          <p:nvGrpSpPr>
            <p:cNvPr id="8" name="Group 7">
              <a:extLst>
                <a:ext uri="{FF2B5EF4-FFF2-40B4-BE49-F238E27FC236}">
                  <a16:creationId xmlns:a16="http://schemas.microsoft.com/office/drawing/2014/main" id="{7042A2C3-D9F6-6545-8174-ABA8BF9B74CF}"/>
                </a:ext>
              </a:extLst>
            </p:cNvPr>
            <p:cNvGrpSpPr/>
            <p:nvPr/>
          </p:nvGrpSpPr>
          <p:grpSpPr>
            <a:xfrm>
              <a:off x="0" y="-224754"/>
              <a:ext cx="6629400" cy="2628642"/>
              <a:chOff x="2031300" y="3162054"/>
              <a:chExt cx="6629400" cy="2628642"/>
            </a:xfrm>
          </p:grpSpPr>
          <p:grpSp>
            <p:nvGrpSpPr>
              <p:cNvPr id="10" name="Group 9">
                <a:extLst>
                  <a:ext uri="{FF2B5EF4-FFF2-40B4-BE49-F238E27FC236}">
                    <a16:creationId xmlns:a16="http://schemas.microsoft.com/office/drawing/2014/main" id="{7A68D68A-E789-7A4F-BBE9-D099787993BB}"/>
                  </a:ext>
                </a:extLst>
              </p:cNvPr>
              <p:cNvGrpSpPr/>
              <p:nvPr/>
            </p:nvGrpSpPr>
            <p:grpSpPr>
              <a:xfrm>
                <a:off x="2031300" y="3162054"/>
                <a:ext cx="6629400" cy="2628642"/>
                <a:chOff x="0" y="-224754"/>
                <a:chExt cx="6629400" cy="2628642"/>
              </a:xfrm>
            </p:grpSpPr>
            <p:sp>
              <p:nvSpPr>
                <p:cNvPr id="11" name="Rectangle 10">
                  <a:extLst>
                    <a:ext uri="{FF2B5EF4-FFF2-40B4-BE49-F238E27FC236}">
                      <a16:creationId xmlns:a16="http://schemas.microsoft.com/office/drawing/2014/main" id="{A8F64650-390E-D943-A19B-29B1511B509F}"/>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2" name="Rectangle 11">
                  <a:extLst>
                    <a:ext uri="{FF2B5EF4-FFF2-40B4-BE49-F238E27FC236}">
                      <a16:creationId xmlns:a16="http://schemas.microsoft.com/office/drawing/2014/main" id="{2054B414-C043-764A-875D-768B44FBFA4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ounded Rectangle 12">
                  <a:extLst>
                    <a:ext uri="{FF2B5EF4-FFF2-40B4-BE49-F238E27FC236}">
                      <a16:creationId xmlns:a16="http://schemas.microsoft.com/office/drawing/2014/main" id="{1CA15EC9-F927-944C-B05F-1A2765785EF1}"/>
                    </a:ext>
                  </a:extLst>
                </p:cNvPr>
                <p:cNvSpPr/>
                <p:nvPr/>
              </p:nvSpPr>
              <p:spPr>
                <a:xfrm>
                  <a:off x="0" y="-224754"/>
                  <a:ext cx="6629400" cy="2628642"/>
                </a:xfrm>
                <a:prstGeom prst="roundRect">
                  <a:avLst>
                    <a:gd name="adj" fmla="val 16667"/>
                  </a:avLst>
                </a:prstGeom>
                <a:solidFill>
                  <a:srgbClr val="B8E6F5"/>
                </a:solidFill>
                <a:ln>
                  <a:noFill/>
                </a:ln>
              </p:spPr>
              <p:txBody>
                <a:bodyPr spcFirstLastPara="1" wrap="square" lIns="91425" tIns="91440" rIns="91425" bIns="0" anchor="ctr" anchorCtr="0">
                  <a:spAutoFit/>
                </a:bodyPr>
                <a:lstStyle/>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Both scatter plots and line graphs can be used to observe the relationship between two variables in a set of bivariate data. While overall trends can be seen in both graphs, line graphs allow for closer analysis from one point to another in </a:t>
                  </a:r>
                  <a:b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data set.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9" name="image15.png" descr="Icon&#10;&#10;Description automatically generated">
              <a:extLst>
                <a:ext uri="{FF2B5EF4-FFF2-40B4-BE49-F238E27FC236}">
                  <a16:creationId xmlns:a16="http://schemas.microsoft.com/office/drawing/2014/main" id="{0B9EEF35-50A2-D140-B793-B175E5A6EA5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52534" y="-3626"/>
              <a:ext cx="539750" cy="539750"/>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4205083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24540" y="2815889"/>
            <a:ext cx="6567460" cy="1238922"/>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3004BA50-1B74-F548-95A2-7DF8BDAEA667}"/>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180</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20616" y="2491591"/>
            <a:ext cx="4004477" cy="3830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13691" y="-37212"/>
            <a:ext cx="10304585" cy="142323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11.1.3 Guided Practice: </a:t>
            </a:r>
            <a:r>
              <a:rPr lang="en-US" sz="3600" b="1" dirty="0">
                <a:solidFill>
                  <a:srgbClr val="54B5D1"/>
                </a:solidFill>
                <a:latin typeface="Verdana"/>
                <a:ea typeface="Verdana"/>
                <a:cs typeface="Verdana"/>
              </a:rPr>
              <a:t>Representing Bivariate Data </a:t>
            </a:r>
            <a:endParaRPr lang="en-US" sz="36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46813" y="9364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1D40250-DEDD-2C41-8538-3D4DD18CCC4A}"/>
                  </a:ext>
                </a:extLst>
              </p:cNvPr>
              <p:cNvSpPr txBox="1"/>
              <p:nvPr/>
            </p:nvSpPr>
            <p:spPr>
              <a:xfrm>
                <a:off x="568712" y="1386026"/>
                <a:ext cx="10415239"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scatter plot and a line graph comparing the weights, in kilograms (kg), and fuel efficiencies, in miles per gallon (mpg), of </a:t>
                </a:r>
                <a14:m>
                  <m:oMath xmlns:m="http://schemas.openxmlformats.org/officeDocument/2006/math">
                    <m:r>
                      <a:rPr lang="en-US" sz="2000">
                        <a:latin typeface="Cambria Math"/>
                        <a:ea typeface="Verdana" panose="020B0604030504040204" pitchFamily="34" charset="0"/>
                        <a:cs typeface="Verdana" panose="020B0604030504040204" pitchFamily="34" charset="0"/>
                      </a:rPr>
                      <m:t>18</m:t>
                    </m:r>
                  </m:oMath>
                </a14:m>
                <a:r>
                  <a:rPr lang="en-US" sz="2000" dirty="0">
                    <a:latin typeface="Verdana" panose="020B0604030504040204" pitchFamily="34" charset="0"/>
                    <a:ea typeface="Verdana" panose="020B0604030504040204" pitchFamily="34" charset="0"/>
                    <a:cs typeface="Verdana" panose="020B0604030504040204" pitchFamily="34" charset="0"/>
                  </a:rPr>
                  <a:t> cars are shown.</a:t>
                </a:r>
              </a:p>
            </p:txBody>
          </p:sp>
        </mc:Choice>
        <mc:Fallback>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68712" y="1386026"/>
                <a:ext cx="10415239" cy="707886"/>
              </a:xfrm>
              <a:prstGeom prst="rect">
                <a:avLst/>
              </a:prstGeom>
              <a:blipFill>
                <a:blip r:embed="rId6"/>
                <a:stretch>
                  <a:fillRect l="-644" t="-5172" b="-14655"/>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C4C38F34-EC47-9547-B88A-71A019A040B3}"/>
              </a:ext>
            </a:extLst>
          </p:cNvPr>
          <p:cNvSpPr txBox="1"/>
          <p:nvPr/>
        </p:nvSpPr>
        <p:spPr>
          <a:xfrm>
            <a:off x="8994150" y="652749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180</a:t>
            </a:r>
            <a:endParaRPr i="1" dirty="0">
              <a:latin typeface="Calibri"/>
              <a:ea typeface="Calibri"/>
              <a:cs typeface="Calibri"/>
              <a:sym typeface="Calibri"/>
            </a:endParaRP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2405551" y="2476350"/>
            <a:ext cx="4033037" cy="3892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5523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3297"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3BC97A7-8575-5A46-8E72-A886A83AEC7E}"/>
              </a:ext>
            </a:extLst>
          </p:cNvPr>
          <p:cNvSpPr txBox="1"/>
          <p:nvPr/>
        </p:nvSpPr>
        <p:spPr>
          <a:xfrm>
            <a:off x="761999" y="363416"/>
            <a:ext cx="10832123" cy="5493107"/>
          </a:xfrm>
          <a:prstGeom prst="rect">
            <a:avLst/>
          </a:prstGeom>
          <a:noFill/>
        </p:spPr>
        <p:txBody>
          <a:bodyPr wrap="square" rtlCol="0">
            <a:spAutoFit/>
          </a:bodyPr>
          <a:lstStyle/>
          <a:p>
            <a:pPr marL="919163" indent="-461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graph you think more clearly shows the relationship between a car’s weight and its fuel efficiency. Summarize your discussion.</a:t>
            </a: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 to describe the relationship shown on the graph identified in Part A.</a:t>
            </a:r>
          </a:p>
          <a:p>
            <a:pPr marL="914400" lvl="1">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graph shows that, in general, a car’s fuel 		       efficiency as the car’s weight increases.</a:t>
            </a:r>
          </a:p>
        </p:txBody>
      </p:sp>
      <p:sp>
        <p:nvSpPr>
          <p:cNvPr id="6" name="Google Shape;282;g104476d1465_1_17">
            <a:extLst>
              <a:ext uri="{FF2B5EF4-FFF2-40B4-BE49-F238E27FC236}">
                <a16:creationId xmlns:a16="http://schemas.microsoft.com/office/drawing/2014/main" id="{D175CCB9-F7A3-8143-8EB6-C57E03A2D883}"/>
              </a:ext>
            </a:extLst>
          </p:cNvPr>
          <p:cNvSpPr txBox="1"/>
          <p:nvPr/>
        </p:nvSpPr>
        <p:spPr>
          <a:xfrm>
            <a:off x="8989297" y="644595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181</a:t>
            </a:r>
            <a:endParaRPr i="1" dirty="0">
              <a:latin typeface="Calibri"/>
              <a:ea typeface="Calibri"/>
              <a:cs typeface="Calibri"/>
              <a:sym typeface="Calibri"/>
            </a:endParaRPr>
          </a:p>
        </p:txBody>
      </p:sp>
      <p:sp>
        <p:nvSpPr>
          <p:cNvPr id="7" name="Rounded Rectangle 6">
            <a:extLst>
              <a:ext uri="{FF2B5EF4-FFF2-40B4-BE49-F238E27FC236}">
                <a16:creationId xmlns:a16="http://schemas.microsoft.com/office/drawing/2014/main" id="{B7578EA0-A0AF-EC4E-998D-44C3C1D98B0C}"/>
              </a:ext>
            </a:extLst>
          </p:cNvPr>
          <p:cNvSpPr/>
          <p:nvPr/>
        </p:nvSpPr>
        <p:spPr>
          <a:xfrm>
            <a:off x="7665396" y="4503603"/>
            <a:ext cx="1933094" cy="783193"/>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Font typeface="Courier New" panose="02070309020205020404" pitchFamily="49" charset="0"/>
              <a:buChar char="o"/>
            </a:pPr>
            <a:r>
              <a:rPr lang="en-US" sz="2000" dirty="0">
                <a:solidFill>
                  <a:srgbClr val="000000"/>
                </a:solidFill>
                <a:latin typeface="Verdana" pitchFamily="34" charset="0"/>
                <a:ea typeface="Verdana" pitchFamily="34" charset="0"/>
                <a:cs typeface="Times New Roman" panose="02020603050405020304" pitchFamily="18" charset="0"/>
              </a:rPr>
              <a:t>increases</a:t>
            </a:r>
            <a:endParaRPr lang="en-US" sz="2000" dirty="0">
              <a:latin typeface="Verdana" pitchFamily="34" charset="0"/>
              <a:ea typeface="Verdana" pitchFamily="34"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itchFamily="34" charset="0"/>
                <a:cs typeface="Times New Roman" panose="02020603050405020304" pitchFamily="18" charset="0"/>
              </a:rPr>
              <a:t>decreases</a:t>
            </a:r>
            <a:endParaRPr lang="en-US" sz="2000" dirty="0">
              <a:latin typeface="Verdana" pitchFamily="34"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1918385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3BC97A7-8575-5A46-8E72-A886A83AEC7E}"/>
                  </a:ext>
                </a:extLst>
              </p:cNvPr>
              <p:cNvSpPr txBox="1"/>
              <p:nvPr/>
            </p:nvSpPr>
            <p:spPr>
              <a:xfrm>
                <a:off x="853908" y="696802"/>
                <a:ext cx="10599537" cy="1015663"/>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Kate noticed that there were cars of two different weights with the same fuel efficiency of </a:t>
                </a:r>
                <a14:m>
                  <m:oMath xmlns:m="http://schemas.openxmlformats.org/officeDocument/2006/math">
                    <m:r>
                      <a:rPr lang="en-US" sz="2000">
                        <a:latin typeface="Cambria Math"/>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mpg. How does this impact the visual representation of the data on the line graph?</a:t>
                </a:r>
              </a:p>
            </p:txBody>
          </p:sp>
        </mc:Choice>
        <mc:Fallback>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853908" y="696802"/>
                <a:ext cx="10599537" cy="1015663"/>
              </a:xfrm>
              <a:prstGeom prst="rect">
                <a:avLst/>
              </a:prstGeom>
              <a:blipFill>
                <a:blip r:embed="rId4"/>
                <a:stretch>
                  <a:fillRect t="-3593" b="-9581"/>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0A9A8187-BC7F-5D4D-8E32-5F11AFF959E3}"/>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181</a:t>
            </a:r>
            <a:endParaRPr i="1" dirty="0">
              <a:latin typeface="Calibri"/>
              <a:ea typeface="Calibri"/>
              <a:cs typeface="Calibri"/>
              <a:sym typeface="Calibri"/>
            </a:endParaRPr>
          </a:p>
        </p:txBody>
      </p:sp>
      <p:grpSp>
        <p:nvGrpSpPr>
          <p:cNvPr id="8" name="Group 7">
            <a:extLst>
              <a:ext uri="{FF2B5EF4-FFF2-40B4-BE49-F238E27FC236}">
                <a16:creationId xmlns:a16="http://schemas.microsoft.com/office/drawing/2014/main" id="{0FBB8461-ECF9-9048-9BD9-57998C514068}"/>
              </a:ext>
            </a:extLst>
          </p:cNvPr>
          <p:cNvGrpSpPr/>
          <p:nvPr/>
        </p:nvGrpSpPr>
        <p:grpSpPr>
          <a:xfrm>
            <a:off x="2643723" y="4112362"/>
            <a:ext cx="7019905" cy="1606069"/>
            <a:chOff x="-1" y="-77536"/>
            <a:chExt cx="7019905" cy="1828717"/>
          </a:xfrm>
          <a:effectLst>
            <a:outerShdw blurRad="50800" dist="38100" dir="2700000" algn="tl" rotWithShape="0">
              <a:prstClr val="black">
                <a:alpha val="40000"/>
              </a:prstClr>
            </a:outerShdw>
          </a:effectLst>
        </p:grpSpPr>
        <p:grpSp>
          <p:nvGrpSpPr>
            <p:cNvPr id="9" name="Group 8">
              <a:extLst>
                <a:ext uri="{FF2B5EF4-FFF2-40B4-BE49-F238E27FC236}">
                  <a16:creationId xmlns:a16="http://schemas.microsoft.com/office/drawing/2014/main" id="{DBA8041D-9FE8-854C-A054-1B9286F3EA08}"/>
                </a:ext>
              </a:extLst>
            </p:cNvPr>
            <p:cNvGrpSpPr/>
            <p:nvPr/>
          </p:nvGrpSpPr>
          <p:grpSpPr>
            <a:xfrm>
              <a:off x="-1" y="-77536"/>
              <a:ext cx="7019905" cy="1828717"/>
              <a:chOff x="2031299" y="3309272"/>
              <a:chExt cx="7019905" cy="1828717"/>
            </a:xfrm>
          </p:grpSpPr>
          <p:grpSp>
            <p:nvGrpSpPr>
              <p:cNvPr id="11" name="Group 10">
                <a:extLst>
                  <a:ext uri="{FF2B5EF4-FFF2-40B4-BE49-F238E27FC236}">
                    <a16:creationId xmlns:a16="http://schemas.microsoft.com/office/drawing/2014/main" id="{43F4292C-9125-5F43-9619-397776C5F099}"/>
                  </a:ext>
                </a:extLst>
              </p:cNvPr>
              <p:cNvGrpSpPr/>
              <p:nvPr/>
            </p:nvGrpSpPr>
            <p:grpSpPr>
              <a:xfrm>
                <a:off x="2031299" y="3309272"/>
                <a:ext cx="7019905" cy="1828717"/>
                <a:chOff x="-1" y="-77536"/>
                <a:chExt cx="7019905" cy="1828717"/>
              </a:xfrm>
            </p:grpSpPr>
            <p:sp>
              <p:nvSpPr>
                <p:cNvPr id="12" name="Rectangle 11">
                  <a:extLst>
                    <a:ext uri="{FF2B5EF4-FFF2-40B4-BE49-F238E27FC236}">
                      <a16:creationId xmlns:a16="http://schemas.microsoft.com/office/drawing/2014/main" id="{9E726456-F8FC-B746-85BE-623C7E5E4D0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ectangle 12">
                  <a:extLst>
                    <a:ext uri="{FF2B5EF4-FFF2-40B4-BE49-F238E27FC236}">
                      <a16:creationId xmlns:a16="http://schemas.microsoft.com/office/drawing/2014/main" id="{30A09117-32A7-AB43-AE2B-DB54E2E0838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4" name="Rounded Rectangle 13">
                  <a:extLst>
                    <a:ext uri="{FF2B5EF4-FFF2-40B4-BE49-F238E27FC236}">
                      <a16:creationId xmlns:a16="http://schemas.microsoft.com/office/drawing/2014/main" id="{A8133530-1B17-4F40-A94C-C366980EC818}"/>
                    </a:ext>
                  </a:extLst>
                </p:cNvPr>
                <p:cNvSpPr/>
                <p:nvPr/>
              </p:nvSpPr>
              <p:spPr>
                <a:xfrm>
                  <a:off x="-1" y="-77536"/>
                  <a:ext cx="7019905" cy="1828717"/>
                </a:xfrm>
                <a:prstGeom prst="roundRect">
                  <a:avLst>
                    <a:gd name="adj" fmla="val 16667"/>
                  </a:avLst>
                </a:prstGeom>
                <a:solidFill>
                  <a:srgbClr val="B8E6F5"/>
                </a:solidFill>
                <a:ln>
                  <a:noFill/>
                </a:ln>
              </p:spPr>
              <p:txBody>
                <a:bodyPr spcFirstLastPara="1" wrap="square" lIns="91425" tIns="45700" rIns="91425" bIns="45700" anchor="ctr" anchorCtr="0">
                  <a:spAutoFit/>
                </a:bodyPr>
                <a:lstStyle/>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When the goal of analyzing a set of bivariate numerical data is to observe the relationship between the two variables overall, a scatter plot is most useful.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0" name="image15.png" descr="Icon&#10;&#10;Description automatically generated">
              <a:extLst>
                <a:ext uri="{FF2B5EF4-FFF2-40B4-BE49-F238E27FC236}">
                  <a16:creationId xmlns:a16="http://schemas.microsoft.com/office/drawing/2014/main" id="{E9A4A6D7-604B-954A-B6C4-F74B599EC39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01708" y="80683"/>
              <a:ext cx="539750" cy="620297"/>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591392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815"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335"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3BC97A7-8575-5A46-8E72-A886A83AEC7E}"/>
              </a:ext>
            </a:extLst>
          </p:cNvPr>
          <p:cNvSpPr txBox="1"/>
          <p:nvPr/>
        </p:nvSpPr>
        <p:spPr>
          <a:xfrm>
            <a:off x="679938" y="386281"/>
            <a:ext cx="10972800" cy="5632311"/>
          </a:xfrm>
          <a:prstGeom prst="rect">
            <a:avLst/>
          </a:prstGeom>
          <a:noFill/>
        </p:spPr>
        <p:txBody>
          <a:bodyPr wrap="square" rtlCol="0">
            <a:spAutoFit/>
          </a:bodyPr>
          <a:lstStyle/>
          <a:p>
            <a:pPr marL="919163" indent="-461963">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 scatter plot representing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same bivariate data set, but using a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different scale is shown.</a:t>
            </a: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9163" indent="-450850">
              <a:buFont typeface="+mj-lt"/>
              <a:buAutoNum type="alphaL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000" dirty="0">
              <a:latin typeface="Verdana"/>
              <a:ea typeface="Helvetica Neue"/>
              <a:cs typeface="Helvetica Neue"/>
            </a:endParaRPr>
          </a:p>
          <a:p>
            <a:pPr marL="915988"/>
            <a:endParaRPr lang="en-US" sz="2000" dirty="0">
              <a:latin typeface="Verdana"/>
              <a:ea typeface="Helvetica Neue"/>
              <a:cs typeface="Helvetica Neue"/>
            </a:endParaRPr>
          </a:p>
          <a:p>
            <a:pPr marL="915988"/>
            <a:endParaRPr lang="en-US" sz="2000" dirty="0">
              <a:latin typeface="Verdana"/>
              <a:ea typeface="Helvetica Neue"/>
              <a:cs typeface="Helvetica Neue"/>
            </a:endParaRPr>
          </a:p>
          <a:p>
            <a:pPr marL="915988"/>
            <a:endParaRPr lang="en-US" sz="2000" dirty="0">
              <a:latin typeface="Verdana"/>
              <a:ea typeface="Helvetica Neue"/>
              <a:cs typeface="Helvetica Neue"/>
            </a:endParaRPr>
          </a:p>
          <a:p>
            <a:pPr marL="915988"/>
            <a:endParaRPr lang="en-US" sz="2000" dirty="0">
              <a:latin typeface="Verdana"/>
              <a:ea typeface="Helvetica Neue"/>
              <a:cs typeface="Helvetica Neue"/>
            </a:endParaRPr>
          </a:p>
          <a:p>
            <a:pPr marL="915988"/>
            <a:r>
              <a:rPr lang="en-US" sz="2000" dirty="0">
                <a:latin typeface="Verdana"/>
                <a:ea typeface="Helvetica Neue"/>
                <a:cs typeface="Helvetica Neue"/>
              </a:rPr>
              <a:t>Explain how the change in scale could influence how the relationship between the two variables is interpreted.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82;g104476d1465_1_17">
            <a:extLst>
              <a:ext uri="{FF2B5EF4-FFF2-40B4-BE49-F238E27FC236}">
                <a16:creationId xmlns:a16="http://schemas.microsoft.com/office/drawing/2014/main" id="{CC61161C-3D04-AC48-BF13-8EBF0EA2D3E9}"/>
              </a:ext>
            </a:extLst>
          </p:cNvPr>
          <p:cNvSpPr txBox="1"/>
          <p:nvPr/>
        </p:nvSpPr>
        <p:spPr>
          <a:xfrm>
            <a:off x="8992335"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181</a:t>
            </a:r>
            <a:endParaRPr i="1" dirty="0">
              <a:latin typeface="Calibri"/>
              <a:ea typeface="Calibri"/>
              <a:cs typeface="Calibri"/>
              <a:sym typeface="Calibri"/>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685392" y="386281"/>
            <a:ext cx="4728559" cy="4508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4983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4B74329D-4062-E74E-AC33-853271C08C50}"/>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0640" y="1"/>
            <a:ext cx="10271760" cy="1102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11.1.4 Collaboration: </a:t>
            </a:r>
            <a:r>
              <a:rPr lang="en-US" sz="3200" b="1" dirty="0">
                <a:solidFill>
                  <a:srgbClr val="33BEA6"/>
                </a:solidFill>
                <a:latin typeface="Verdana"/>
                <a:ea typeface="Verdana"/>
                <a:cs typeface="Verdana"/>
              </a:rPr>
              <a:t>Choosing an Appropriate Graph</a:t>
            </a:r>
            <a:endParaRPr lang="en-US" sz="32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4897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141824" y="1386027"/>
                <a:ext cx="1027176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relationship between the height, in inches (in.), and weight, in pounds (</a:t>
                </a:r>
                <a:r>
                  <a:rPr lang="en-US" sz="2400" dirty="0" err="1">
                    <a:latin typeface="Verdana" panose="020B0604030504040204" pitchFamily="34" charset="0"/>
                    <a:ea typeface="Verdana" panose="020B0604030504040204" pitchFamily="34" charset="0"/>
                    <a:cs typeface="Verdana" panose="020B0604030504040204" pitchFamily="34" charset="0"/>
                  </a:rPr>
                  <a:t>lb</a:t>
                </a:r>
                <a:r>
                  <a:rPr lang="en-US" sz="24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400">
                        <a:latin typeface="Cambria Math"/>
                        <a:ea typeface="Verdana" panose="020B0604030504040204" pitchFamily="34" charset="0"/>
                        <a:cs typeface="Verdana" panose="020B0604030504040204" pitchFamily="34" charset="0"/>
                      </a:rPr>
                      <m:t>25</m:t>
                    </m:r>
                  </m:oMath>
                </a14:m>
                <a:r>
                  <a:rPr lang="en-US" sz="2400" dirty="0">
                    <a:latin typeface="Verdana" panose="020B0604030504040204" pitchFamily="34" charset="0"/>
                    <a:ea typeface="Verdana" panose="020B0604030504040204" pitchFamily="34" charset="0"/>
                    <a:cs typeface="Verdana" panose="020B0604030504040204" pitchFamily="34" charset="0"/>
                  </a:rPr>
                  <a:t> dachshunds, a breed of dogs, is represented on the graphs.</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141824" y="1386027"/>
                <a:ext cx="10271760" cy="1200329"/>
              </a:xfrm>
              <a:prstGeom prst="rect">
                <a:avLst/>
              </a:prstGeom>
              <a:blipFill>
                <a:blip r:embed="rId5"/>
                <a:stretch>
                  <a:fillRect l="-890" t="-4061" b="-10660"/>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451C7B86-6B74-0746-8220-AB637D8592D7}"/>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graphicFrame>
        <p:nvGraphicFramePr>
          <p:cNvPr id="2" name="Table 1"/>
          <p:cNvGraphicFramePr>
            <a:graphicFrameLocks noGrp="1"/>
          </p:cNvGraphicFramePr>
          <p:nvPr>
            <p:extLst>
              <p:ext uri="{D42A27DB-BD31-4B8C-83A1-F6EECF244321}">
                <p14:modId xmlns:p14="http://schemas.microsoft.com/office/powerpoint/2010/main" val="356972593"/>
              </p:ext>
            </p:extLst>
          </p:nvPr>
        </p:nvGraphicFramePr>
        <p:xfrm>
          <a:off x="2608731" y="2685049"/>
          <a:ext cx="7315199" cy="3008376"/>
        </p:xfrm>
        <a:graphic>
          <a:graphicData uri="http://schemas.openxmlformats.org/drawingml/2006/table">
            <a:tbl>
              <a:tblPr firstRow="1" bandRow="1">
                <a:tableStyleId>{A91F0D33-8C57-4600-99A7-42BC86742BE1}</a:tableStyleId>
              </a:tblPr>
              <a:tblGrid>
                <a:gridCol w="1737360">
                  <a:extLst>
                    <a:ext uri="{9D8B030D-6E8A-4147-A177-3AD203B41FA5}">
                      <a16:colId xmlns:a16="http://schemas.microsoft.com/office/drawing/2014/main" val="20000"/>
                    </a:ext>
                  </a:extLst>
                </a:gridCol>
                <a:gridCol w="5577839">
                  <a:extLst>
                    <a:ext uri="{9D8B030D-6E8A-4147-A177-3AD203B41FA5}">
                      <a16:colId xmlns:a16="http://schemas.microsoft.com/office/drawing/2014/main" val="20001"/>
                    </a:ext>
                  </a:extLst>
                </a:gridCol>
              </a:tblGrid>
              <a:tr h="3008376">
                <a:tc>
                  <a:txBody>
                    <a:bodyPr/>
                    <a:lstStyle/>
                    <a:p>
                      <a:pPr algn="ctr"/>
                      <a:r>
                        <a:rPr lang="en-PH" sz="2000" b="1" dirty="0">
                          <a:latin typeface="Verdana" pitchFamily="34" charset="0"/>
                          <a:ea typeface="Verdana" pitchFamily="34" charset="0"/>
                        </a:rPr>
                        <a:t>Line Graph</a:t>
                      </a:r>
                      <a:br>
                        <a:rPr lang="en-PH" sz="2000" b="1" dirty="0">
                          <a:latin typeface="Verdana" pitchFamily="34" charset="0"/>
                          <a:ea typeface="Verdana" pitchFamily="34" charset="0"/>
                        </a:rPr>
                      </a:br>
                      <a:r>
                        <a:rPr lang="en-PH" sz="2000" b="1" dirty="0">
                          <a:latin typeface="Verdana" pitchFamily="34" charset="0"/>
                          <a:ea typeface="Verdana" pitchFamily="34" charset="0"/>
                        </a:rPr>
                        <a:t>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3075" name="Picture 3"/>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4970535" y="2812434"/>
            <a:ext cx="4490772"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4437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a:extLst>
              <a:ext uri="{FF2B5EF4-FFF2-40B4-BE49-F238E27FC236}">
                <a16:creationId xmlns:a16="http://schemas.microsoft.com/office/drawing/2014/main" id="{EAA54DD8-F278-0647-8BED-8BBC438A4B9C}"/>
              </a:ext>
            </a:extLst>
          </p:cNvPr>
          <p:cNvSpPr txBox="1"/>
          <p:nvPr/>
        </p:nvSpPr>
        <p:spPr>
          <a:xfrm>
            <a:off x="899415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graphicFrame>
        <p:nvGraphicFramePr>
          <p:cNvPr id="7" name="Table 6"/>
          <p:cNvGraphicFramePr>
            <a:graphicFrameLocks noGrp="1"/>
          </p:cNvGraphicFramePr>
          <p:nvPr>
            <p:extLst>
              <p:ext uri="{D42A27DB-BD31-4B8C-83A1-F6EECF244321}">
                <p14:modId xmlns:p14="http://schemas.microsoft.com/office/powerpoint/2010/main" val="726158988"/>
              </p:ext>
            </p:extLst>
          </p:nvPr>
        </p:nvGraphicFramePr>
        <p:xfrm>
          <a:off x="2608731" y="410665"/>
          <a:ext cx="7315199" cy="6008064"/>
        </p:xfrm>
        <a:graphic>
          <a:graphicData uri="http://schemas.openxmlformats.org/drawingml/2006/table">
            <a:tbl>
              <a:tblPr firstRow="1" bandRow="1">
                <a:tableStyleId>{A91F0D33-8C57-4600-99A7-42BC86742BE1}</a:tableStyleId>
              </a:tblPr>
              <a:tblGrid>
                <a:gridCol w="1737360">
                  <a:extLst>
                    <a:ext uri="{9D8B030D-6E8A-4147-A177-3AD203B41FA5}">
                      <a16:colId xmlns:a16="http://schemas.microsoft.com/office/drawing/2014/main" val="20000"/>
                    </a:ext>
                  </a:extLst>
                </a:gridCol>
                <a:gridCol w="5577839">
                  <a:extLst>
                    <a:ext uri="{9D8B030D-6E8A-4147-A177-3AD203B41FA5}">
                      <a16:colId xmlns:a16="http://schemas.microsoft.com/office/drawing/2014/main" val="20001"/>
                    </a:ext>
                  </a:extLst>
                </a:gridCol>
              </a:tblGrid>
              <a:tr h="3004032">
                <a:tc>
                  <a:txBody>
                    <a:bodyPr/>
                    <a:lstStyle/>
                    <a:p>
                      <a:pPr algn="ctr"/>
                      <a:r>
                        <a:rPr lang="en-PH" sz="2000" b="1" dirty="0">
                          <a:latin typeface="Verdana" pitchFamily="34" charset="0"/>
                          <a:ea typeface="Verdana" pitchFamily="34" charset="0"/>
                        </a:rPr>
                        <a:t>Line Graph</a:t>
                      </a:r>
                      <a:br>
                        <a:rPr lang="en-PH" sz="2000" b="1" dirty="0">
                          <a:latin typeface="Verdana" pitchFamily="34" charset="0"/>
                          <a:ea typeface="Verdana" pitchFamily="34" charset="0"/>
                        </a:rPr>
                      </a:br>
                      <a:r>
                        <a:rPr lang="en-PH" sz="2000" b="1" dirty="0">
                          <a:latin typeface="Verdana" pitchFamily="34" charset="0"/>
                          <a:ea typeface="Verdana" pitchFamily="34" charset="0"/>
                        </a:rPr>
                        <a:t>B</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04032">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effectLst/>
                          <a:latin typeface="Verdana"/>
                          <a:ea typeface="Helvetica Neue"/>
                          <a:cs typeface="Helvetica Neue"/>
                        </a:rPr>
                        <a:t>Scatter Plot 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4098"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003145" y="549649"/>
            <a:ext cx="4248443"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837793" y="3579320"/>
            <a:ext cx="4579144"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1846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1931"/>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AA35BC6-D428-FC41-BDE5-6438AB8840FC}"/>
              </a:ext>
            </a:extLst>
          </p:cNvPr>
          <p:cNvSpPr txBox="1"/>
          <p:nvPr/>
        </p:nvSpPr>
        <p:spPr>
          <a:xfrm>
            <a:off x="745332" y="566652"/>
            <a:ext cx="11041996" cy="5632311"/>
          </a:xfrm>
          <a:prstGeom prst="rect">
            <a:avLst/>
          </a:prstGeom>
          <a:noFill/>
        </p:spPr>
        <p:txBody>
          <a:bodyPr wrap="square" rtlCol="0">
            <a:spAutoFit/>
          </a:bodyPr>
          <a:lstStyle/>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explain which of the graphs is best to show the relationship between the weight and height of these dogs. Be sure to include information about the type of graph and the scale in your explanation.</a:t>
            </a: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relationship between a dachshund’s height and its weight using the graph identified in Part A.</a:t>
            </a:r>
          </a:p>
        </p:txBody>
      </p:sp>
      <p:sp>
        <p:nvSpPr>
          <p:cNvPr id="6" name="Google Shape;282;g104476d1465_1_17">
            <a:extLst>
              <a:ext uri="{FF2B5EF4-FFF2-40B4-BE49-F238E27FC236}">
                <a16:creationId xmlns:a16="http://schemas.microsoft.com/office/drawing/2014/main" id="{EAA54DD8-F278-0647-8BED-8BBC438A4B9C}"/>
              </a:ext>
            </a:extLst>
          </p:cNvPr>
          <p:cNvSpPr txBox="1"/>
          <p:nvPr/>
        </p:nvSpPr>
        <p:spPr>
          <a:xfrm>
            <a:off x="8994150" y="654056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graphicFrame>
        <p:nvGraphicFramePr>
          <p:cNvPr id="7" name="Table 6"/>
          <p:cNvGraphicFramePr>
            <a:graphicFrameLocks noGrp="1"/>
          </p:cNvGraphicFramePr>
          <p:nvPr>
            <p:extLst>
              <p:ext uri="{D42A27DB-BD31-4B8C-83A1-F6EECF244321}">
                <p14:modId xmlns:p14="http://schemas.microsoft.com/office/powerpoint/2010/main" val="3222640787"/>
              </p:ext>
            </p:extLst>
          </p:nvPr>
        </p:nvGraphicFramePr>
        <p:xfrm>
          <a:off x="2608731" y="416449"/>
          <a:ext cx="7315199" cy="3008376"/>
        </p:xfrm>
        <a:graphic>
          <a:graphicData uri="http://schemas.openxmlformats.org/drawingml/2006/table">
            <a:tbl>
              <a:tblPr firstRow="1" bandRow="1">
                <a:tableStyleId>{A91F0D33-8C57-4600-99A7-42BC86742BE1}</a:tableStyleId>
              </a:tblPr>
              <a:tblGrid>
                <a:gridCol w="1737360">
                  <a:extLst>
                    <a:ext uri="{9D8B030D-6E8A-4147-A177-3AD203B41FA5}">
                      <a16:colId xmlns:a16="http://schemas.microsoft.com/office/drawing/2014/main" val="20000"/>
                    </a:ext>
                  </a:extLst>
                </a:gridCol>
                <a:gridCol w="5577839">
                  <a:extLst>
                    <a:ext uri="{9D8B030D-6E8A-4147-A177-3AD203B41FA5}">
                      <a16:colId xmlns:a16="http://schemas.microsoft.com/office/drawing/2014/main" val="20001"/>
                    </a:ext>
                  </a:extLst>
                </a:gridCol>
              </a:tblGrid>
              <a:tr h="3008376">
                <a:tc>
                  <a:txBody>
                    <a:bodyPr/>
                    <a:lstStyle/>
                    <a:p>
                      <a:pPr algn="ctr"/>
                      <a:r>
                        <a:rPr lang="en-US" sz="2000" b="1" dirty="0">
                          <a:effectLst/>
                          <a:latin typeface="Verdana"/>
                          <a:ea typeface="Helvetica Neue"/>
                          <a:cs typeface="Helvetica Neue"/>
                        </a:rPr>
                        <a:t>Scatter Plot B</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5122"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912997" y="556229"/>
            <a:ext cx="4448817"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179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885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AA35BC6-D428-FC41-BDE5-6438AB8840FC}"/>
              </a:ext>
            </a:extLst>
          </p:cNvPr>
          <p:cNvSpPr txBox="1"/>
          <p:nvPr/>
        </p:nvSpPr>
        <p:spPr>
          <a:xfrm>
            <a:off x="679937" y="410666"/>
            <a:ext cx="11324493"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relationship between the age of a dachshund, in months, and its weight, in pounds (</a:t>
            </a:r>
            <a:r>
              <a:rPr lang="en-US" sz="2000" dirty="0" err="1">
                <a:latin typeface="Verdana" panose="020B0604030504040204" pitchFamily="34" charset="0"/>
                <a:ea typeface="Verdana" panose="020B0604030504040204" pitchFamily="34" charset="0"/>
                <a:cs typeface="Verdana" panose="020B0604030504040204" pitchFamily="34" charset="0"/>
              </a:rPr>
              <a:t>lb</a:t>
            </a:r>
            <a:r>
              <a:rPr lang="en-US" sz="2000" dirty="0">
                <a:latin typeface="Verdana" panose="020B0604030504040204" pitchFamily="34" charset="0"/>
                <a:ea typeface="Verdana" panose="020B0604030504040204" pitchFamily="34" charset="0"/>
                <a:cs typeface="Verdana" panose="020B0604030504040204" pitchFamily="34" charset="0"/>
              </a:rPr>
              <a:t>), is shown on the graphs.</a:t>
            </a: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Explain which of the graphs best demonstrates the relationship between the age and weight of dachshunds.</a:t>
            </a:r>
          </a:p>
        </p:txBody>
      </p:sp>
      <p:pic>
        <p:nvPicPr>
          <p:cNvPr id="6" name="Picture 5" descr="Chart, scatter chart&#10;&#10;Description automatically generated">
            <a:extLst>
              <a:ext uri="{FF2B5EF4-FFF2-40B4-BE49-F238E27FC236}">
                <a16:creationId xmlns:a16="http://schemas.microsoft.com/office/drawing/2014/main" id="{D9C6C319-82C9-4B4B-A013-516C0F0C15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4006" y="1744134"/>
            <a:ext cx="2802466" cy="2802466"/>
          </a:xfrm>
          <a:prstGeom prst="rect">
            <a:avLst/>
          </a:prstGeom>
        </p:spPr>
      </p:pic>
      <p:pic>
        <p:nvPicPr>
          <p:cNvPr id="7" name="Picture 6" descr="Chart, line chart&#10;&#10;Description automatically generated">
            <a:extLst>
              <a:ext uri="{FF2B5EF4-FFF2-40B4-BE49-F238E27FC236}">
                <a16:creationId xmlns:a16="http://schemas.microsoft.com/office/drawing/2014/main" id="{AD6285B5-0B5F-F643-8D76-6A0FC4B410F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47530" y="1744134"/>
            <a:ext cx="2802466" cy="2802466"/>
          </a:xfrm>
          <a:prstGeom prst="rect">
            <a:avLst/>
          </a:prstGeom>
        </p:spPr>
      </p:pic>
      <p:sp>
        <p:nvSpPr>
          <p:cNvPr id="9" name="Text Box 486">
            <a:extLst>
              <a:ext uri="{FF2B5EF4-FFF2-40B4-BE49-F238E27FC236}">
                <a16:creationId xmlns:a16="http://schemas.microsoft.com/office/drawing/2014/main" id="{8558E7DB-D894-7947-81C2-2DBDFDD051F7}"/>
              </a:ext>
            </a:extLst>
          </p:cNvPr>
          <p:cNvSpPr txBox="1"/>
          <p:nvPr/>
        </p:nvSpPr>
        <p:spPr>
          <a:xfrm>
            <a:off x="3425710" y="4546600"/>
            <a:ext cx="1828800" cy="4356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Age (months)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Text Box 487">
            <a:extLst>
              <a:ext uri="{FF2B5EF4-FFF2-40B4-BE49-F238E27FC236}">
                <a16:creationId xmlns:a16="http://schemas.microsoft.com/office/drawing/2014/main" id="{C99DDE2D-A0DF-E748-9121-2E7DA815711F}"/>
              </a:ext>
            </a:extLst>
          </p:cNvPr>
          <p:cNvSpPr txBox="1"/>
          <p:nvPr/>
        </p:nvSpPr>
        <p:spPr>
          <a:xfrm rot="16200000">
            <a:off x="1965490" y="2861098"/>
            <a:ext cx="1645285" cy="4076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Weight (</a:t>
            </a:r>
            <a:r>
              <a:rPr lang="en-US" sz="1800" dirty="0" err="1">
                <a:solidFill>
                  <a:srgbClr val="7030A0"/>
                </a:solidFill>
                <a:latin typeface="Verdana" panose="020B0604030504040204" pitchFamily="34" charset="0"/>
                <a:ea typeface="Times New Roman" panose="02020603050405020304" pitchFamily="18" charset="0"/>
                <a:cs typeface="Times New Roman" panose="02020603050405020304" pitchFamily="18" charset="0"/>
              </a:rPr>
              <a:t>lb</a:t>
            </a:r>
            <a:r>
              <a:rPr lang="en-US" sz="18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Text Box 488">
            <a:extLst>
              <a:ext uri="{FF2B5EF4-FFF2-40B4-BE49-F238E27FC236}">
                <a16:creationId xmlns:a16="http://schemas.microsoft.com/office/drawing/2014/main" id="{AC828224-DF7F-AD48-8E75-EDF567E7F292}"/>
              </a:ext>
            </a:extLst>
          </p:cNvPr>
          <p:cNvSpPr txBox="1"/>
          <p:nvPr/>
        </p:nvSpPr>
        <p:spPr>
          <a:xfrm>
            <a:off x="7334363" y="4546600"/>
            <a:ext cx="1828800" cy="4356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E36C0A"/>
                </a:solidFill>
                <a:latin typeface="Verdana" panose="020B0604030504040204" pitchFamily="34" charset="0"/>
                <a:ea typeface="Times New Roman" panose="02020603050405020304" pitchFamily="18" charset="0"/>
                <a:cs typeface="Times New Roman" panose="02020603050405020304" pitchFamily="18" charset="0"/>
              </a:rPr>
              <a:t>Age (months)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Text Box 489">
            <a:extLst>
              <a:ext uri="{FF2B5EF4-FFF2-40B4-BE49-F238E27FC236}">
                <a16:creationId xmlns:a16="http://schemas.microsoft.com/office/drawing/2014/main" id="{CA378F51-E86F-D34E-BE6C-429805A20B4F}"/>
              </a:ext>
            </a:extLst>
          </p:cNvPr>
          <p:cNvSpPr txBox="1"/>
          <p:nvPr/>
        </p:nvSpPr>
        <p:spPr>
          <a:xfrm rot="16200000">
            <a:off x="5802751" y="2861098"/>
            <a:ext cx="1645285" cy="4076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E36C0A"/>
                </a:solidFill>
                <a:latin typeface="Verdana" panose="020B0604030504040204" pitchFamily="34" charset="0"/>
                <a:ea typeface="Times New Roman" panose="02020603050405020304" pitchFamily="18" charset="0"/>
                <a:cs typeface="Times New Roman" panose="02020603050405020304" pitchFamily="18" charset="0"/>
              </a:rPr>
              <a:t>Weight (</a:t>
            </a:r>
            <a:r>
              <a:rPr lang="en-US" sz="1800" dirty="0" err="1">
                <a:solidFill>
                  <a:srgbClr val="E36C0A"/>
                </a:solidFill>
                <a:latin typeface="Verdana" panose="020B0604030504040204" pitchFamily="34" charset="0"/>
                <a:ea typeface="Times New Roman" panose="02020603050405020304" pitchFamily="18" charset="0"/>
                <a:cs typeface="Times New Roman" panose="02020603050405020304" pitchFamily="18" charset="0"/>
              </a:rPr>
              <a:t>lb</a:t>
            </a:r>
            <a:r>
              <a:rPr lang="en-US" sz="1800" dirty="0">
                <a:solidFill>
                  <a:srgbClr val="E36C0A"/>
                </a:solidFill>
                <a:latin typeface="Verdana" panose="020B0604030504040204" pitchFamily="34" charset="0"/>
                <a:ea typeface="Times New Roman" panose="02020603050405020304" pitchFamily="18" charset="0"/>
                <a:cs typeface="Times New Roman" panose="02020603050405020304" pitchFamily="18" charset="0"/>
              </a:rPr>
              <a: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Text Box 30">
            <a:extLst>
              <a:ext uri="{FF2B5EF4-FFF2-40B4-BE49-F238E27FC236}">
                <a16:creationId xmlns:a16="http://schemas.microsoft.com/office/drawing/2014/main" id="{C5323B47-2C46-674D-91F0-0889484672C4}"/>
              </a:ext>
            </a:extLst>
          </p:cNvPr>
          <p:cNvSpPr txBox="1"/>
          <p:nvPr/>
        </p:nvSpPr>
        <p:spPr>
          <a:xfrm>
            <a:off x="2584297" y="1211340"/>
            <a:ext cx="1575435" cy="3937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Scatter Plot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Text Box 59">
            <a:extLst>
              <a:ext uri="{FF2B5EF4-FFF2-40B4-BE49-F238E27FC236}">
                <a16:creationId xmlns:a16="http://schemas.microsoft.com/office/drawing/2014/main" id="{66489782-F3C5-C840-8203-8EB00E6C0239}"/>
              </a:ext>
            </a:extLst>
          </p:cNvPr>
          <p:cNvSpPr txBox="1"/>
          <p:nvPr/>
        </p:nvSpPr>
        <p:spPr>
          <a:xfrm>
            <a:off x="6312966" y="1211340"/>
            <a:ext cx="1575435" cy="3937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solidFill>
                  <a:srgbClr val="E36C0A"/>
                </a:solidFill>
                <a:latin typeface="Verdana" panose="020B0604030504040204" pitchFamily="34" charset="0"/>
                <a:ea typeface="Times New Roman" panose="02020603050405020304" pitchFamily="18" charset="0"/>
                <a:cs typeface="Times New Roman" panose="02020603050405020304" pitchFamily="18" charset="0"/>
              </a:rPr>
              <a:t>Line Graph</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Google Shape;282;g104476d1465_1_17">
            <a:extLst>
              <a:ext uri="{FF2B5EF4-FFF2-40B4-BE49-F238E27FC236}">
                <a16:creationId xmlns:a16="http://schemas.microsoft.com/office/drawing/2014/main" id="{87725351-880A-1749-ADA5-640604FD6AAB}"/>
              </a:ext>
            </a:extLst>
          </p:cNvPr>
          <p:cNvSpPr txBox="1"/>
          <p:nvPr/>
        </p:nvSpPr>
        <p:spPr>
          <a:xfrm>
            <a:off x="8994150" y="652749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spTree>
    <p:extLst>
      <p:ext uri="{BB962C8B-B14F-4D97-AF65-F5344CB8AC3E}">
        <p14:creationId xmlns:p14="http://schemas.microsoft.com/office/powerpoint/2010/main" val="3848025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FF2C43EC-9351-D543-963B-449D80D0126D}"/>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83327" y="30580"/>
            <a:ext cx="80193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11.1.5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18100"/>
            <a:ext cx="747300" cy="747300"/>
          </a:xfrm>
          <a:prstGeom prst="rect">
            <a:avLst/>
          </a:prstGeom>
          <a:noFill/>
          <a:ln>
            <a:noFill/>
          </a:ln>
        </p:spPr>
      </p:pic>
      <p:sp>
        <p:nvSpPr>
          <p:cNvPr id="17" name="Google Shape;282;g104476d1465_1_17">
            <a:extLst>
              <a:ext uri="{FF2B5EF4-FFF2-40B4-BE49-F238E27FC236}">
                <a16:creationId xmlns:a16="http://schemas.microsoft.com/office/drawing/2014/main" id="{7DCC7570-C6F3-9940-8D3D-7C4520FB5BB4}"/>
              </a:ext>
            </a:extLst>
          </p:cNvPr>
          <p:cNvSpPr txBox="1"/>
          <p:nvPr/>
        </p:nvSpPr>
        <p:spPr>
          <a:xfrm>
            <a:off x="8994150" y="649354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graphicFrame>
        <p:nvGraphicFramePr>
          <p:cNvPr id="10" name="Table 9">
            <a:extLst>
              <a:ext uri="{FF2B5EF4-FFF2-40B4-BE49-F238E27FC236}">
                <a16:creationId xmlns:a16="http://schemas.microsoft.com/office/drawing/2014/main" id="{D04581B0-A3D5-EA46-AA84-DB0176FCBC89}"/>
              </a:ext>
            </a:extLst>
          </p:cNvPr>
          <p:cNvGraphicFramePr>
            <a:graphicFrameLocks noGrp="1"/>
          </p:cNvGraphicFramePr>
          <p:nvPr>
            <p:extLst>
              <p:ext uri="{D42A27DB-BD31-4B8C-83A1-F6EECF244321}">
                <p14:modId xmlns:p14="http://schemas.microsoft.com/office/powerpoint/2010/main" val="294821096"/>
              </p:ext>
            </p:extLst>
          </p:nvPr>
        </p:nvGraphicFramePr>
        <p:xfrm>
          <a:off x="2632349" y="2535380"/>
          <a:ext cx="7269480" cy="2834640"/>
        </p:xfrm>
        <a:graphic>
          <a:graphicData uri="http://schemas.openxmlformats.org/drawingml/2006/table">
            <a:tbl>
              <a:tblPr bandRow="1">
                <a:tableStyleId>{A91F0D33-8C57-4600-99A7-42BC86742BE1}</a:tableStyleId>
              </a:tblPr>
              <a:tblGrid>
                <a:gridCol w="4754880">
                  <a:extLst>
                    <a:ext uri="{9D8B030D-6E8A-4147-A177-3AD203B41FA5}">
                      <a16:colId xmlns:a16="http://schemas.microsoft.com/office/drawing/2014/main" val="3360632844"/>
                    </a:ext>
                  </a:extLst>
                </a:gridCol>
                <a:gridCol w="2514600">
                  <a:extLst>
                    <a:ext uri="{9D8B030D-6E8A-4147-A177-3AD203B41FA5}">
                      <a16:colId xmlns:a16="http://schemas.microsoft.com/office/drawing/2014/main" val="822856791"/>
                    </a:ext>
                  </a:extLst>
                </a:gridCol>
              </a:tblGrid>
              <a:tr h="457200">
                <a:tc>
                  <a:txBody>
                    <a:bodyPr/>
                    <a:lstStyle/>
                    <a:p>
                      <a:pPr marL="0" marR="0" algn="l">
                        <a:spcBef>
                          <a:spcPts val="0"/>
                        </a:spcBef>
                        <a:spcAft>
                          <a:spcPts val="0"/>
                        </a:spcAft>
                      </a:pPr>
                      <a:r>
                        <a:rPr lang="en-US" sz="2000" dirty="0">
                          <a:effectLst/>
                          <a:latin typeface="Verdana"/>
                          <a:ea typeface="Times New Roman"/>
                          <a:cs typeface="Times New Roman"/>
                        </a:rPr>
                        <a:t>I can </a:t>
                      </a:r>
                      <a:r>
                        <a:rPr lang="en-US" sz="2000" dirty="0">
                          <a:solidFill>
                            <a:srgbClr val="000000"/>
                          </a:solidFill>
                          <a:effectLst/>
                          <a:latin typeface="Verdana"/>
                          <a:ea typeface="Times New Roman"/>
                          <a:cs typeface="Times New Roman"/>
                        </a:rPr>
                        <a:t>determ</a:t>
                      </a:r>
                      <a:r>
                        <a:rPr lang="en-US" sz="1800" dirty="0">
                          <a:solidFill>
                            <a:srgbClr val="000000"/>
                          </a:solidFill>
                          <a:effectLst/>
                          <a:latin typeface="Verdana"/>
                          <a:ea typeface="Times New Roman"/>
                          <a:cs typeface="Times New Roman"/>
                        </a:rPr>
                        <a:t>ine the independent and dependent variables in a set of </a:t>
                      </a:r>
                      <a:br>
                        <a:rPr lang="en-US" sz="1800" dirty="0">
                          <a:solidFill>
                            <a:srgbClr val="000000"/>
                          </a:solidFill>
                          <a:effectLst/>
                          <a:latin typeface="Verdana"/>
                          <a:ea typeface="Times New Roman"/>
                          <a:cs typeface="Times New Roman"/>
                        </a:rPr>
                      </a:br>
                      <a:r>
                        <a:rPr lang="en-US" sz="1800" dirty="0">
                          <a:solidFill>
                            <a:srgbClr val="000000"/>
                          </a:solidFill>
                          <a:effectLst/>
                          <a:latin typeface="Verdana"/>
                          <a:ea typeface="Times New Roman"/>
                          <a:cs typeface="Times New Roman"/>
                        </a:rPr>
                        <a:t>real-world bivariate data. </a:t>
                      </a: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itchFamily="34" charset="0"/>
                        <a:ea typeface="Verdana" pitchFamily="34" charset="0"/>
                        <a:cs typeface="Times New Roman" panose="02020603050405020304" pitchFamily="18"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0189658"/>
                  </a:ext>
                </a:extLst>
              </a:tr>
              <a:tr h="457200">
                <a:tc>
                  <a:txBody>
                    <a:bodyPr/>
                    <a:lstStyle/>
                    <a:p>
                      <a:pPr marL="0" marR="0" algn="l">
                        <a:spcBef>
                          <a:spcPts val="0"/>
                        </a:spcBef>
                        <a:spcAft>
                          <a:spcPts val="0"/>
                        </a:spcAft>
                      </a:pPr>
                      <a:r>
                        <a:rPr lang="en-US" sz="2000" dirty="0">
                          <a:effectLst/>
                          <a:latin typeface="Verdana"/>
                          <a:ea typeface="Times New Roman"/>
                          <a:cs typeface="Times New Roman"/>
                        </a:rPr>
                        <a:t>I can</a:t>
                      </a:r>
                      <a:r>
                        <a:rPr lang="en-US" sz="1800" dirty="0">
                          <a:solidFill>
                            <a:srgbClr val="000000"/>
                          </a:solidFill>
                          <a:effectLst/>
                          <a:latin typeface="Verdana"/>
                          <a:ea typeface="Times New Roman"/>
                          <a:cs typeface="Times New Roman"/>
                        </a:rPr>
                        <a:t> determine if the data is best represented by a line graph </a:t>
                      </a:r>
                      <a:r>
                        <a:rPr lang="en-US" sz="1800">
                          <a:solidFill>
                            <a:srgbClr val="000000"/>
                          </a:solidFill>
                          <a:effectLst/>
                          <a:latin typeface="Verdana"/>
                          <a:ea typeface="Times New Roman"/>
                          <a:cs typeface="Times New Roman"/>
                        </a:rPr>
                        <a:t>or </a:t>
                      </a:r>
                      <a:br>
                        <a:rPr lang="en-US" sz="1800">
                          <a:solidFill>
                            <a:srgbClr val="000000"/>
                          </a:solidFill>
                          <a:effectLst/>
                          <a:latin typeface="Verdana"/>
                          <a:ea typeface="Times New Roman"/>
                          <a:cs typeface="Times New Roman"/>
                        </a:rPr>
                      </a:br>
                      <a:r>
                        <a:rPr lang="en-US" sz="1800">
                          <a:solidFill>
                            <a:srgbClr val="000000"/>
                          </a:solidFill>
                          <a:effectLst/>
                          <a:latin typeface="Verdana"/>
                          <a:ea typeface="Times New Roman"/>
                          <a:cs typeface="Times New Roman"/>
                        </a:rPr>
                        <a:t>scatter </a:t>
                      </a:r>
                      <a:r>
                        <a:rPr lang="en-US" sz="1800" dirty="0">
                          <a:solidFill>
                            <a:srgbClr val="000000"/>
                          </a:solidFill>
                          <a:effectLst/>
                          <a:latin typeface="Verdana"/>
                          <a:ea typeface="Times New Roman"/>
                          <a:cs typeface="Times New Roman"/>
                        </a:rPr>
                        <a:t>plot.</a:t>
                      </a: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itchFamily="34" charset="0"/>
                        <a:ea typeface="Verdana" pitchFamily="34" charset="0"/>
                        <a:cs typeface="Times New Roman" panose="02020603050405020304" pitchFamily="18"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4245"/>
                  </a:ext>
                </a:extLst>
              </a:tr>
              <a:tr h="457200">
                <a:tc>
                  <a:txBody>
                    <a:bodyPr/>
                    <a:lstStyle/>
                    <a:p>
                      <a:pPr marL="0" marR="0" algn="l">
                        <a:spcBef>
                          <a:spcPts val="0"/>
                        </a:spcBef>
                        <a:spcAft>
                          <a:spcPts val="0"/>
                        </a:spcAft>
                      </a:pPr>
                      <a:r>
                        <a:rPr lang="en-US" sz="2000" dirty="0">
                          <a:effectLst/>
                          <a:latin typeface="Verdana"/>
                          <a:ea typeface="Times New Roman"/>
                          <a:cs typeface="Times New Roman"/>
                        </a:rPr>
                        <a:t>I can </a:t>
                      </a:r>
                      <a:r>
                        <a:rPr lang="en-US" sz="1800" dirty="0">
                          <a:solidFill>
                            <a:srgbClr val="000000"/>
                          </a:solidFill>
                          <a:effectLst/>
                          <a:latin typeface="Verdana"/>
                          <a:ea typeface="Times New Roman"/>
                          <a:cs typeface="Times New Roman"/>
                        </a:rPr>
                        <a:t>determine the best scale for the axis for which each variable will be represented.</a:t>
                      </a: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itchFamily="34" charset="0"/>
                        <a:ea typeface="Verdana" pitchFamily="34" charset="0"/>
                        <a:cs typeface="Times New Roman" panose="02020603050405020304" pitchFamily="18"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8720785"/>
                  </a:ext>
                </a:extLst>
              </a:tr>
            </a:tbl>
          </a:graphicData>
        </a:graphic>
      </p:graphicFrame>
      <p:sp>
        <p:nvSpPr>
          <p:cNvPr id="13" name="TextBox 12">
            <a:extLst>
              <a:ext uri="{FF2B5EF4-FFF2-40B4-BE49-F238E27FC236}">
                <a16:creationId xmlns:a16="http://schemas.microsoft.com/office/drawing/2014/main" id="{0370EDB7-6994-3D43-ABF9-E04CBAFB9CD9}"/>
              </a:ext>
            </a:extLst>
          </p:cNvPr>
          <p:cNvSpPr txBox="1"/>
          <p:nvPr/>
        </p:nvSpPr>
        <p:spPr>
          <a:xfrm>
            <a:off x="855785" y="979797"/>
            <a:ext cx="10925907"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icon that best describes your understanding of each learning target.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3225">
              <a:tabLst>
                <a:tab pos="3260725" algn="l"/>
                <a:tab pos="4975225" algn="l"/>
              </a:tabLst>
            </a:pPr>
            <a:r>
              <a:rPr lang="en-US" sz="2000" dirty="0">
                <a:latin typeface="Verdana" panose="020B0604030504040204" pitchFamily="34" charset="0"/>
                <a:ea typeface="Verdana" panose="020B0604030504040204" pitchFamily="34" charset="0"/>
                <a:cs typeface="Verdana" panose="020B0604030504040204" pitchFamily="34" charset="0"/>
              </a:rPr>
              <a:t>         I need help.                I got it.	                 I could help someone. </a:t>
            </a:r>
          </a:p>
        </p:txBody>
      </p:sp>
      <p:pic>
        <p:nvPicPr>
          <p:cNvPr id="14" name="image22.png" descr="Marketing">
            <a:extLst>
              <a:ext uri="{FF2B5EF4-FFF2-40B4-BE49-F238E27FC236}">
                <a16:creationId xmlns:a16="http://schemas.microsoft.com/office/drawing/2014/main" id="{68351F65-3DE0-9642-9A1C-A8C9AD61FB91}"/>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454692" y="1531952"/>
            <a:ext cx="520065" cy="520065"/>
          </a:xfrm>
          <a:prstGeom prst="rect">
            <a:avLst/>
          </a:prstGeom>
          <a:ln/>
        </p:spPr>
      </p:pic>
      <p:pic>
        <p:nvPicPr>
          <p:cNvPr id="15" name="image6.png" descr="Thumbs up sign">
            <a:extLst>
              <a:ext uri="{FF2B5EF4-FFF2-40B4-BE49-F238E27FC236}">
                <a16:creationId xmlns:a16="http://schemas.microsoft.com/office/drawing/2014/main" id="{845A1C2A-10D5-EF48-9945-3E419FDF0F77}"/>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458003" y="1565289"/>
            <a:ext cx="453390" cy="453390"/>
          </a:xfrm>
          <a:prstGeom prst="rect">
            <a:avLst/>
          </a:prstGeom>
          <a:ln/>
        </p:spPr>
      </p:pic>
      <p:pic>
        <p:nvPicPr>
          <p:cNvPr id="16" name="image1.png" descr="Shooting star">
            <a:extLst>
              <a:ext uri="{FF2B5EF4-FFF2-40B4-BE49-F238E27FC236}">
                <a16:creationId xmlns:a16="http://schemas.microsoft.com/office/drawing/2014/main" id="{884D3F26-2B02-8B44-9922-143BD2B28C1B}"/>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325630" y="1568464"/>
            <a:ext cx="447040" cy="447040"/>
          </a:xfrm>
          <a:prstGeom prst="rect">
            <a:avLst/>
          </a:prstGeom>
          <a:ln/>
        </p:spPr>
      </p:pic>
      <p:grpSp>
        <p:nvGrpSpPr>
          <p:cNvPr id="18" name="Group 17"/>
          <p:cNvGrpSpPr/>
          <p:nvPr/>
        </p:nvGrpSpPr>
        <p:grpSpPr>
          <a:xfrm>
            <a:off x="7693786" y="2749777"/>
            <a:ext cx="1875928" cy="520065"/>
            <a:chOff x="6210614" y="5666935"/>
            <a:chExt cx="1875928" cy="520065"/>
          </a:xfrm>
        </p:grpSpPr>
        <p:pic>
          <p:nvPicPr>
            <p:cNvPr id="19" name="image22.png" descr="Marketing">
              <a:extLst>
                <a:ext uri="{FF2B5EF4-FFF2-40B4-BE49-F238E27FC236}">
                  <a16:creationId xmlns:a16="http://schemas.microsoft.com/office/drawing/2014/main" id="{D558572D-950A-2342-AAB4-131EC0B739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6210614" y="5666935"/>
              <a:ext cx="520065" cy="520065"/>
            </a:xfrm>
            <a:prstGeom prst="rect">
              <a:avLst/>
            </a:prstGeom>
            <a:ln/>
          </p:spPr>
        </p:pic>
        <p:pic>
          <p:nvPicPr>
            <p:cNvPr id="20" name="image6.png" descr="Thumbs up sign">
              <a:extLst>
                <a:ext uri="{FF2B5EF4-FFF2-40B4-BE49-F238E27FC236}">
                  <a16:creationId xmlns:a16="http://schemas.microsoft.com/office/drawing/2014/main" id="{9DF4BC0C-839B-B444-AF41-A9B5FF1D7EF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941041" y="5708672"/>
              <a:ext cx="453390" cy="453390"/>
            </a:xfrm>
            <a:prstGeom prst="rect">
              <a:avLst/>
            </a:prstGeom>
            <a:ln/>
          </p:spPr>
        </p:pic>
        <p:pic>
          <p:nvPicPr>
            <p:cNvPr id="21" name="image1.png" descr="Shooting star">
              <a:extLst>
                <a:ext uri="{FF2B5EF4-FFF2-40B4-BE49-F238E27FC236}">
                  <a16:creationId xmlns:a16="http://schemas.microsoft.com/office/drawing/2014/main" id="{E7F25A4E-59B4-DF4A-BDAD-D9A0B6146463}"/>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639502" y="5700916"/>
              <a:ext cx="447040" cy="447040"/>
            </a:xfrm>
            <a:prstGeom prst="rect">
              <a:avLst/>
            </a:prstGeom>
            <a:ln/>
          </p:spPr>
        </p:pic>
      </p:grpSp>
      <p:grpSp>
        <p:nvGrpSpPr>
          <p:cNvPr id="22" name="Group 21"/>
          <p:cNvGrpSpPr/>
          <p:nvPr/>
        </p:nvGrpSpPr>
        <p:grpSpPr>
          <a:xfrm>
            <a:off x="7693786" y="3700031"/>
            <a:ext cx="1875928" cy="520065"/>
            <a:chOff x="6210614" y="5666935"/>
            <a:chExt cx="1875928" cy="520065"/>
          </a:xfrm>
        </p:grpSpPr>
        <p:pic>
          <p:nvPicPr>
            <p:cNvPr id="23" name="image22.png" descr="Marketing">
              <a:extLst>
                <a:ext uri="{FF2B5EF4-FFF2-40B4-BE49-F238E27FC236}">
                  <a16:creationId xmlns:a16="http://schemas.microsoft.com/office/drawing/2014/main" id="{D558572D-950A-2342-AAB4-131EC0B739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6210614" y="5666935"/>
              <a:ext cx="520065" cy="520065"/>
            </a:xfrm>
            <a:prstGeom prst="rect">
              <a:avLst/>
            </a:prstGeom>
            <a:ln/>
          </p:spPr>
        </p:pic>
        <p:pic>
          <p:nvPicPr>
            <p:cNvPr id="24" name="image6.png" descr="Thumbs up sign">
              <a:extLst>
                <a:ext uri="{FF2B5EF4-FFF2-40B4-BE49-F238E27FC236}">
                  <a16:creationId xmlns:a16="http://schemas.microsoft.com/office/drawing/2014/main" id="{9DF4BC0C-839B-B444-AF41-A9B5FF1D7EF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941041" y="5708672"/>
              <a:ext cx="453390" cy="453390"/>
            </a:xfrm>
            <a:prstGeom prst="rect">
              <a:avLst/>
            </a:prstGeom>
            <a:ln/>
          </p:spPr>
        </p:pic>
        <p:pic>
          <p:nvPicPr>
            <p:cNvPr id="25" name="image1.png" descr="Shooting star">
              <a:extLst>
                <a:ext uri="{FF2B5EF4-FFF2-40B4-BE49-F238E27FC236}">
                  <a16:creationId xmlns:a16="http://schemas.microsoft.com/office/drawing/2014/main" id="{E7F25A4E-59B4-DF4A-BDAD-D9A0B6146463}"/>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639502" y="5700916"/>
              <a:ext cx="447040" cy="447040"/>
            </a:xfrm>
            <a:prstGeom prst="rect">
              <a:avLst/>
            </a:prstGeom>
            <a:ln/>
          </p:spPr>
        </p:pic>
      </p:grpSp>
      <p:grpSp>
        <p:nvGrpSpPr>
          <p:cNvPr id="26" name="Group 25"/>
          <p:cNvGrpSpPr/>
          <p:nvPr/>
        </p:nvGrpSpPr>
        <p:grpSpPr>
          <a:xfrm>
            <a:off x="7693786" y="4677180"/>
            <a:ext cx="1875928" cy="520065"/>
            <a:chOff x="6210614" y="5666935"/>
            <a:chExt cx="1875928" cy="520065"/>
          </a:xfrm>
        </p:grpSpPr>
        <p:pic>
          <p:nvPicPr>
            <p:cNvPr id="27" name="image22.png" descr="Marketing">
              <a:extLst>
                <a:ext uri="{FF2B5EF4-FFF2-40B4-BE49-F238E27FC236}">
                  <a16:creationId xmlns:a16="http://schemas.microsoft.com/office/drawing/2014/main" id="{D558572D-950A-2342-AAB4-131EC0B739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6210614" y="5666935"/>
              <a:ext cx="520065" cy="520065"/>
            </a:xfrm>
            <a:prstGeom prst="rect">
              <a:avLst/>
            </a:prstGeom>
            <a:ln/>
          </p:spPr>
        </p:pic>
        <p:pic>
          <p:nvPicPr>
            <p:cNvPr id="28" name="image6.png" descr="Thumbs up sign">
              <a:extLst>
                <a:ext uri="{FF2B5EF4-FFF2-40B4-BE49-F238E27FC236}">
                  <a16:creationId xmlns:a16="http://schemas.microsoft.com/office/drawing/2014/main" id="{9DF4BC0C-839B-B444-AF41-A9B5FF1D7EF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941041" y="5708672"/>
              <a:ext cx="453390" cy="453390"/>
            </a:xfrm>
            <a:prstGeom prst="rect">
              <a:avLst/>
            </a:prstGeom>
            <a:ln/>
          </p:spPr>
        </p:pic>
        <p:pic>
          <p:nvPicPr>
            <p:cNvPr id="29" name="image1.png" descr="Shooting star">
              <a:extLst>
                <a:ext uri="{FF2B5EF4-FFF2-40B4-BE49-F238E27FC236}">
                  <a16:creationId xmlns:a16="http://schemas.microsoft.com/office/drawing/2014/main" id="{E7F25A4E-59B4-DF4A-BDAD-D9A0B6146463}"/>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639502" y="5700916"/>
              <a:ext cx="447040" cy="447040"/>
            </a:xfrm>
            <a:prstGeom prst="rect">
              <a:avLst/>
            </a:prstGeom>
            <a:ln/>
          </p:spPr>
        </p:pic>
      </p:gr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1502</TotalTime>
  <Words>1604</Words>
  <Application>Microsoft Office PowerPoint</Application>
  <PresentationFormat>Widescreen</PresentationFormat>
  <Paragraphs>278</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Verdana</vt:lpstr>
      <vt:lpstr>Wingdings</vt:lpstr>
      <vt:lpstr>Century Gothic</vt:lpstr>
      <vt:lpstr>Calibri</vt:lpstr>
      <vt:lpstr>Arial Black</vt:lpstr>
      <vt:lpstr>Cambria Math</vt:lpstr>
      <vt:lpstr>Courier New</vt:lpstr>
      <vt:lpstr>Arial</vt:lpstr>
      <vt:lpstr>Cambria</vt:lpstr>
      <vt:lpstr>1_Office Theme</vt:lpstr>
      <vt:lpstr>8th Grade Math: Pre-Algebra  Unit 11, Lesson 1  Representing Bivariate Data  Volume 2, pg. 177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39</cp:revision>
  <dcterms:created xsi:type="dcterms:W3CDTF">2015-03-17T18:51:18Z</dcterms:created>
  <dcterms:modified xsi:type="dcterms:W3CDTF">2022-06-19T14:24:08Z</dcterms:modified>
</cp:coreProperties>
</file>