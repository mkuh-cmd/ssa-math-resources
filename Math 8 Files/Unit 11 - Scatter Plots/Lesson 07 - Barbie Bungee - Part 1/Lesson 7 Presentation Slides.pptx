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85" r:id="rId4"/>
    <p:sldId id="286" r:id="rId5"/>
    <p:sldId id="261" r:id="rId6"/>
    <p:sldId id="287" r:id="rId7"/>
    <p:sldId id="317" r:id="rId8"/>
    <p:sldId id="318" r:id="rId9"/>
    <p:sldId id="319" r:id="rId10"/>
    <p:sldId id="320" r:id="rId11"/>
    <p:sldId id="321" r:id="rId12"/>
    <p:sldId id="323" r:id="rId13"/>
    <p:sldId id="306" r:id="rId14"/>
    <p:sldId id="307" r:id="rId15"/>
    <p:sldId id="310" r:id="rId16"/>
  </p:sldIdLst>
  <p:sldSz cx="12192000" cy="6858000"/>
  <p:notesSz cx="6858000" cy="9144000"/>
  <p:embeddedFontLst>
    <p:embeddedFont>
      <p:font typeface="Arial Black" panose="020B0A04020102020204" pitchFamily="34" charset="0"/>
      <p:bold r:id="rId18"/>
    </p:embeddedFont>
    <p:embeddedFont>
      <p:font typeface="Calibri" panose="020F0502020204030204" pitchFamily="34" charset="0"/>
      <p:regular r:id="rId19"/>
      <p:bold r:id="rId20"/>
      <p:italic r:id="rId21"/>
      <p:boldItalic r:id="rId22"/>
    </p:embeddedFont>
    <p:embeddedFont>
      <p:font typeface="Cambria Math" panose="02040503050406030204" pitchFamily="18" charset="0"/>
      <p:regular r:id="rId23"/>
    </p:embeddedFont>
    <p:embeddedFont>
      <p:font typeface="Century Gothic" panose="020B0502020202020204" pitchFamily="34" charset="0"/>
      <p:regular r:id="rId24"/>
      <p:bold r:id="rId25"/>
      <p:italic r:id="rId26"/>
      <p:boldItalic r:id="rId27"/>
    </p:embeddedFont>
    <p:embeddedFont>
      <p:font typeface="Verdana" panose="020B0604030504040204"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a:srgbClr val="1F0000"/>
    <a:srgbClr val="B399C8"/>
    <a:srgbClr val="1F3165"/>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horzBarState="maximized">
    <p:restoredLeft sz="11104" autoAdjust="0"/>
    <p:restoredTop sz="94707" autoAdjust="0"/>
  </p:normalViewPr>
  <p:slideViewPr>
    <p:cSldViewPr snapToGrid="0">
      <p:cViewPr varScale="1">
        <p:scale>
          <a:sx n="86" d="100"/>
          <a:sy n="86" d="100"/>
        </p:scale>
        <p:origin x="84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3927614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7030514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68003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94694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383565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11, Lesson 7</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Barbie Bungee – Part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209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AB08A17F-C082-CD48-B100-6B09C860CC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07927" y="690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84427" y="3048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209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39261" y="1746738"/>
            <a:ext cx="11031415" cy="3892062"/>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1100"/>
              <a:buNone/>
            </a:pPr>
            <a:r>
              <a:rPr lang="en-US" sz="3500" dirty="0">
                <a:solidFill>
                  <a:schemeClr val="tx1"/>
                </a:solidFill>
                <a:latin typeface="Verdana"/>
                <a:ea typeface="Verdana"/>
                <a:cs typeface="Verdana"/>
                <a:sym typeface="Verdana"/>
              </a:rPr>
              <a:t>MA.8.DP.1.1</a:t>
            </a:r>
          </a:p>
          <a:p>
            <a:pPr indent="0">
              <a:lnSpc>
                <a:spcPct val="100000"/>
              </a:lnSpc>
              <a:spcBef>
                <a:spcPts val="0"/>
              </a:spcBef>
              <a:buNone/>
            </a:pPr>
            <a:r>
              <a:rPr lang="en-US" sz="3500" dirty="0">
                <a:latin typeface="Verdana" panose="020B0604030504040204" pitchFamily="34" charset="0"/>
                <a:ea typeface="Verdana" panose="020B0604030504040204" pitchFamily="34" charset="0"/>
                <a:cs typeface="Verdana" panose="020B0604030504040204" pitchFamily="34" charset="0"/>
              </a:rPr>
              <a:t>Given a set of real-world bivariate numerical data, construct a scatter plot or a line graph as appropriate for the context. </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39900" y="180166"/>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64549" y="-62468"/>
            <a:ext cx="10077881" cy="136372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209</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656491" y="1559169"/>
            <a:ext cx="10890739" cy="426763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9961"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76319" y="-130477"/>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94157" y="158723"/>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61735" y="64658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209</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67807" y="1494692"/>
            <a:ext cx="11517978" cy="399170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collect data for an experiment.</a:t>
            </a:r>
          </a:p>
          <a:p>
            <a:pPr marL="536575" indent="-530225">
              <a:buClr>
                <a:srgbClr val="434343"/>
              </a:buClr>
              <a:buSzPts val="3500"/>
              <a:buFont typeface="Verdana"/>
              <a:buChar char="❏"/>
            </a:pPr>
            <a:endParaRPr lang="en-US" sz="3500" dirty="0">
              <a:solidFill>
                <a:schemeClr val="tx1"/>
              </a:solidFill>
              <a:latin typeface="Verdana"/>
              <a:ea typeface="Verdana"/>
              <a:cs typeface="Verdana"/>
              <a:sym typeface="Verdana"/>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28438" y="248051"/>
            <a:ext cx="9242196"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11.7.1 Warm-Up: Growth Mindset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81138" y="169846"/>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209</a:t>
            </a:r>
          </a:p>
        </p:txBody>
      </p:sp>
      <p:sp>
        <p:nvSpPr>
          <p:cNvPr id="2" name="TextBox 1">
            <a:extLst>
              <a:ext uri="{FF2B5EF4-FFF2-40B4-BE49-F238E27FC236}">
                <a16:creationId xmlns:a16="http://schemas.microsoft.com/office/drawing/2014/main" id="{E1D7562E-134F-D14B-AF1A-DF40E11EF758}"/>
              </a:ext>
            </a:extLst>
          </p:cNvPr>
          <p:cNvSpPr txBox="1"/>
          <p:nvPr/>
        </p:nvSpPr>
        <p:spPr>
          <a:xfrm>
            <a:off x="550985" y="1308126"/>
            <a:ext cx="11359661" cy="4708981"/>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Fear is a natural emotion but can be difficult to overcome when trying new things. The fear of trying something new sometimes fills us with doubt about our own abilities. Negative thoughts make giving up easy. However, with effort and perseverance, goals are achievable.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How does the statement display a growth mindset?</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Describe a time when you were fearful before trying or starting something new but did it anyway.</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How did it feel to overcome your fear?</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727"/>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0015"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679367"/>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61789"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210</a:t>
            </a: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091672" y="2766145"/>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111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4791"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28438" y="114349"/>
            <a:ext cx="10684932" cy="109700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11.7.2 Activity: Barbie Bungee – Part 1</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26565"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210</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78630" y="2879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3547ABD-563B-A148-B65C-C7679A7B43D4}"/>
              </a:ext>
            </a:extLst>
          </p:cNvPr>
          <p:cNvSpPr txBox="1"/>
          <p:nvPr/>
        </p:nvSpPr>
        <p:spPr>
          <a:xfrm>
            <a:off x="644769" y="1606060"/>
            <a:ext cx="11168601" cy="341632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Barbie and her friends are going bungee jumping, but safety is key! Conduct trials to help your team determine the number of rubber bands needed for Barbie to have a safe jump and thrilling bungee experience. Your teacher will explain the process.</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b="1" dirty="0">
                <a:latin typeface="Verdana" panose="020B0604030504040204" pitchFamily="34" charset="0"/>
                <a:ea typeface="Verdana" panose="020B0604030504040204" pitchFamily="34" charset="0"/>
                <a:cs typeface="Verdana" panose="020B0604030504040204" pitchFamily="34" charset="0"/>
              </a:rPr>
              <a:t>Pre-Experiment</a:t>
            </a:r>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b="1"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Measure the height of your Barbie in centimeters (cm).</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4069935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277"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5873" y="617691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7647" y="6433987"/>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210</a:t>
            </a:r>
          </a:p>
        </p:txBody>
      </p:sp>
      <p:sp>
        <p:nvSpPr>
          <p:cNvPr id="5" name="TextBox 4">
            <a:extLst>
              <a:ext uri="{FF2B5EF4-FFF2-40B4-BE49-F238E27FC236}">
                <a16:creationId xmlns:a16="http://schemas.microsoft.com/office/drawing/2014/main" id="{B6C08EE3-8247-C14E-9600-35165D5C8679}"/>
              </a:ext>
            </a:extLst>
          </p:cNvPr>
          <p:cNvSpPr txBox="1"/>
          <p:nvPr/>
        </p:nvSpPr>
        <p:spPr>
          <a:xfrm>
            <a:off x="1008185" y="281354"/>
            <a:ext cx="10328030"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Represent three different risk levels by coloring in each arrow from the top of the jump to the lowest point Barbie’s head is from the ground. </a:t>
            </a:r>
          </a:p>
        </p:txBody>
      </p:sp>
      <p:graphicFrame>
        <p:nvGraphicFramePr>
          <p:cNvPr id="26" name="Table 25">
            <a:extLst>
              <a:ext uri="{FF2B5EF4-FFF2-40B4-BE49-F238E27FC236}">
                <a16:creationId xmlns:a16="http://schemas.microsoft.com/office/drawing/2014/main" id="{8DE3A5B2-BEE7-9C4F-B5F2-82D7AE606632}"/>
              </a:ext>
            </a:extLst>
          </p:cNvPr>
          <p:cNvGraphicFramePr>
            <a:graphicFrameLocks noGrp="1"/>
          </p:cNvGraphicFramePr>
          <p:nvPr>
            <p:extLst>
              <p:ext uri="{D42A27DB-BD31-4B8C-83A1-F6EECF244321}">
                <p14:modId xmlns:p14="http://schemas.microsoft.com/office/powerpoint/2010/main" val="4000227287"/>
              </p:ext>
            </p:extLst>
          </p:nvPr>
        </p:nvGraphicFramePr>
        <p:xfrm>
          <a:off x="2494028" y="1445844"/>
          <a:ext cx="7560000" cy="3780000"/>
        </p:xfrm>
        <a:graphic>
          <a:graphicData uri="http://schemas.openxmlformats.org/drawingml/2006/table">
            <a:tbl>
              <a:tblPr firstRow="1" firstCol="1" bandRow="1">
                <a:tableStyleId>{A91F0D33-8C57-4600-99A7-42BC86742BE1}</a:tableStyleId>
              </a:tblPr>
              <a:tblGrid>
                <a:gridCol w="2520000">
                  <a:extLst>
                    <a:ext uri="{9D8B030D-6E8A-4147-A177-3AD203B41FA5}">
                      <a16:colId xmlns:a16="http://schemas.microsoft.com/office/drawing/2014/main" val="1364191778"/>
                    </a:ext>
                  </a:extLst>
                </a:gridCol>
                <a:gridCol w="2520000">
                  <a:extLst>
                    <a:ext uri="{9D8B030D-6E8A-4147-A177-3AD203B41FA5}">
                      <a16:colId xmlns:a16="http://schemas.microsoft.com/office/drawing/2014/main" val="829535949"/>
                    </a:ext>
                  </a:extLst>
                </a:gridCol>
                <a:gridCol w="2520000">
                  <a:extLst>
                    <a:ext uri="{9D8B030D-6E8A-4147-A177-3AD203B41FA5}">
                      <a16:colId xmlns:a16="http://schemas.microsoft.com/office/drawing/2014/main" val="2635331656"/>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Risk Level: </a:t>
                      </a:r>
                    </a:p>
                    <a:p>
                      <a:pPr marL="0" marR="0" algn="ctr">
                        <a:spcBef>
                          <a:spcPts val="0"/>
                        </a:spcBef>
                        <a:spcAft>
                          <a:spcPts val="0"/>
                        </a:spcAft>
                      </a:pPr>
                      <a:r>
                        <a:rPr lang="en-US" sz="2000" b="1" dirty="0">
                          <a:solidFill>
                            <a:srgbClr val="1F497D"/>
                          </a:solidFill>
                          <a:effectLst/>
                          <a:latin typeface="Verdana" panose="020B0604030504040204" pitchFamily="34" charset="0"/>
                          <a:ea typeface="Verdana" panose="020B0604030504040204" pitchFamily="34" charset="0"/>
                          <a:cs typeface="Verdana" panose="020B0604030504040204" pitchFamily="34" charset="0"/>
                        </a:rPr>
                        <a:t>Blue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Risk Level: </a:t>
                      </a:r>
                      <a:r>
                        <a:rPr lang="en-US" sz="2000" b="1" dirty="0">
                          <a:solidFill>
                            <a:srgbClr val="00B050"/>
                          </a:solidFill>
                          <a:effectLst/>
                          <a:latin typeface="Verdana" panose="020B0604030504040204" pitchFamily="34" charset="0"/>
                          <a:ea typeface="Verdana" panose="020B0604030504040204" pitchFamily="34" charset="0"/>
                          <a:cs typeface="Verdana" panose="020B0604030504040204" pitchFamily="34" charset="0"/>
                        </a:rPr>
                        <a:t>Green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Risk Level: </a:t>
                      </a:r>
                    </a:p>
                    <a:p>
                      <a:pPr marL="0" marR="0" algn="ctr">
                        <a:spcBef>
                          <a:spcPts val="0"/>
                        </a:spcBef>
                        <a:spcAft>
                          <a:spcPts val="0"/>
                        </a:spcAft>
                      </a:pPr>
                      <a:r>
                        <a:rPr lang="en-US" sz="2000" b="1" dirty="0">
                          <a:solidFill>
                            <a:srgbClr val="FF0000"/>
                          </a:solidFill>
                          <a:effectLst/>
                          <a:latin typeface="Verdana" panose="020B0604030504040204" pitchFamily="34" charset="0"/>
                          <a:ea typeface="Verdana" panose="020B0604030504040204" pitchFamily="34" charset="0"/>
                          <a:cs typeface="Verdana" panose="020B0604030504040204" pitchFamily="34" charset="0"/>
                        </a:rPr>
                        <a:t>Red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861938736"/>
                  </a:ext>
                </a:extLst>
              </a:tr>
              <a:tr h="12600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Jump is safe but not thrilling.</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Jump is thrilling and safe.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Jump is thrilling but a serious safety issue.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2628537"/>
                  </a:ext>
                </a:extLst>
              </a:tr>
              <a:tr h="1800000">
                <a:tc>
                  <a:txBody>
                    <a:bodyPr/>
                    <a:lstStyle/>
                    <a:p>
                      <a:pPr marL="0" marR="0">
                        <a:spcBef>
                          <a:spcPts val="0"/>
                        </a:spcBef>
                        <a:spcAft>
                          <a:spcPts val="0"/>
                        </a:spcAft>
                      </a:pPr>
                      <a:endParaRPr lang="en-US" sz="1200" dirty="0">
                        <a:effectLst/>
                        <a:latin typeface="Times New Roman" panose="02020603050405020304" pitchFamily="18" charset="0"/>
                        <a:ea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en-US" sz="1200" dirty="0">
                        <a:effectLst/>
                        <a:latin typeface="Times New Roman" panose="02020603050405020304" pitchFamily="18" charset="0"/>
                        <a:ea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766994"/>
                  </a:ext>
                </a:extLst>
              </a:tr>
            </a:tbl>
          </a:graphicData>
        </a:graphic>
      </p:graphicFrame>
      <p:sp>
        <p:nvSpPr>
          <p:cNvPr id="31" name="Text Box 17">
            <a:extLst>
              <a:ext uri="{FF2B5EF4-FFF2-40B4-BE49-F238E27FC236}">
                <a16:creationId xmlns:a16="http://schemas.microsoft.com/office/drawing/2014/main" id="{AF4CC5EE-5647-074D-B4C3-95A70F170219}"/>
              </a:ext>
            </a:extLst>
          </p:cNvPr>
          <p:cNvSpPr txBox="1">
            <a:spLocks noChangeArrowheads="1"/>
          </p:cNvSpPr>
          <p:nvPr/>
        </p:nvSpPr>
        <p:spPr bwMode="auto">
          <a:xfrm>
            <a:off x="25213875" y="2720976"/>
            <a:ext cx="17283500" cy="677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Text Box 18">
            <a:extLst>
              <a:ext uri="{FF2B5EF4-FFF2-40B4-BE49-F238E27FC236}">
                <a16:creationId xmlns:a16="http://schemas.microsoft.com/office/drawing/2014/main" id="{C3F85CD2-6261-134F-B239-ED1222F486DB}"/>
              </a:ext>
            </a:extLst>
          </p:cNvPr>
          <p:cNvSpPr txBox="1">
            <a:spLocks noChangeArrowheads="1"/>
          </p:cNvSpPr>
          <p:nvPr/>
        </p:nvSpPr>
        <p:spPr bwMode="auto">
          <a:xfrm>
            <a:off x="25207300" y="19629438"/>
            <a:ext cx="17274200" cy="677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Text Box 19">
            <a:extLst>
              <a:ext uri="{FF2B5EF4-FFF2-40B4-BE49-F238E27FC236}">
                <a16:creationId xmlns:a16="http://schemas.microsoft.com/office/drawing/2014/main" id="{A69D85EF-961E-3B49-9998-05832F207479}"/>
              </a:ext>
            </a:extLst>
          </p:cNvPr>
          <p:cNvSpPr txBox="1">
            <a:spLocks noChangeArrowheads="1"/>
          </p:cNvSpPr>
          <p:nvPr/>
        </p:nvSpPr>
        <p:spPr bwMode="auto">
          <a:xfrm>
            <a:off x="25208594" y="12928600"/>
            <a:ext cx="17280843"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Text Box 9">
            <a:extLst>
              <a:ext uri="{FF2B5EF4-FFF2-40B4-BE49-F238E27FC236}">
                <a16:creationId xmlns:a16="http://schemas.microsoft.com/office/drawing/2014/main" id="{09363563-BFD4-4E48-B774-BDE24A766FB7}"/>
              </a:ext>
            </a:extLst>
          </p:cNvPr>
          <p:cNvSpPr txBox="1">
            <a:spLocks noChangeArrowheads="1"/>
          </p:cNvSpPr>
          <p:nvPr/>
        </p:nvSpPr>
        <p:spPr bwMode="auto">
          <a:xfrm>
            <a:off x="24915222" y="2720976"/>
            <a:ext cx="15751765" cy="677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Text Box 10">
            <a:extLst>
              <a:ext uri="{FF2B5EF4-FFF2-40B4-BE49-F238E27FC236}">
                <a16:creationId xmlns:a16="http://schemas.microsoft.com/office/drawing/2014/main" id="{5C49F7A6-880A-184C-8903-FD2982FBB644}"/>
              </a:ext>
            </a:extLst>
          </p:cNvPr>
          <p:cNvSpPr txBox="1">
            <a:spLocks noChangeArrowheads="1"/>
          </p:cNvSpPr>
          <p:nvPr/>
        </p:nvSpPr>
        <p:spPr bwMode="auto">
          <a:xfrm>
            <a:off x="24914705" y="19629438"/>
            <a:ext cx="15749108" cy="677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Text Box 11">
            <a:extLst>
              <a:ext uri="{FF2B5EF4-FFF2-40B4-BE49-F238E27FC236}">
                <a16:creationId xmlns:a16="http://schemas.microsoft.com/office/drawing/2014/main" id="{C1EFEB50-8D0A-6E47-88C6-D115A007A8CA}"/>
              </a:ext>
            </a:extLst>
          </p:cNvPr>
          <p:cNvSpPr txBox="1">
            <a:spLocks noChangeArrowheads="1"/>
          </p:cNvSpPr>
          <p:nvPr/>
        </p:nvSpPr>
        <p:spPr bwMode="auto">
          <a:xfrm>
            <a:off x="24915222" y="12928600"/>
            <a:ext cx="15751765"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Text Box 38">
            <a:extLst>
              <a:ext uri="{FF2B5EF4-FFF2-40B4-BE49-F238E27FC236}">
                <a16:creationId xmlns:a16="http://schemas.microsoft.com/office/drawing/2014/main" id="{4797027B-8ABD-3246-9094-D8F2D9D506B5}"/>
              </a:ext>
            </a:extLst>
          </p:cNvPr>
          <p:cNvSpPr txBox="1">
            <a:spLocks noChangeArrowheads="1"/>
          </p:cNvSpPr>
          <p:nvPr/>
        </p:nvSpPr>
        <p:spPr bwMode="auto">
          <a:xfrm>
            <a:off x="24915222" y="2720976"/>
            <a:ext cx="15751765" cy="677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Text Box 39">
            <a:extLst>
              <a:ext uri="{FF2B5EF4-FFF2-40B4-BE49-F238E27FC236}">
                <a16:creationId xmlns:a16="http://schemas.microsoft.com/office/drawing/2014/main" id="{CF380778-E6D3-9641-A86F-2B9BB942D2B1}"/>
              </a:ext>
            </a:extLst>
          </p:cNvPr>
          <p:cNvSpPr txBox="1">
            <a:spLocks noChangeArrowheads="1"/>
          </p:cNvSpPr>
          <p:nvPr/>
        </p:nvSpPr>
        <p:spPr bwMode="auto">
          <a:xfrm>
            <a:off x="24914705" y="19629438"/>
            <a:ext cx="15749108" cy="677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Text Box 40">
            <a:extLst>
              <a:ext uri="{FF2B5EF4-FFF2-40B4-BE49-F238E27FC236}">
                <a16:creationId xmlns:a16="http://schemas.microsoft.com/office/drawing/2014/main" id="{054AD686-8C04-2747-9C33-F0609B4C4982}"/>
              </a:ext>
            </a:extLst>
          </p:cNvPr>
          <p:cNvSpPr txBox="1">
            <a:spLocks noChangeArrowheads="1"/>
          </p:cNvSpPr>
          <p:nvPr/>
        </p:nvSpPr>
        <p:spPr bwMode="auto">
          <a:xfrm>
            <a:off x="24915222" y="12928600"/>
            <a:ext cx="15751765"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58" name="Group 57">
            <a:extLst>
              <a:ext uri="{FF2B5EF4-FFF2-40B4-BE49-F238E27FC236}">
                <a16:creationId xmlns:a16="http://schemas.microsoft.com/office/drawing/2014/main" id="{282BEABD-449C-5E41-8506-32A436C56EF7}"/>
              </a:ext>
            </a:extLst>
          </p:cNvPr>
          <p:cNvGrpSpPr/>
          <p:nvPr/>
        </p:nvGrpSpPr>
        <p:grpSpPr>
          <a:xfrm>
            <a:off x="2832665" y="3555844"/>
            <a:ext cx="1827531" cy="1473200"/>
            <a:chOff x="0" y="0"/>
            <a:chExt cx="2395783" cy="1844152"/>
          </a:xfrm>
        </p:grpSpPr>
        <p:sp>
          <p:nvSpPr>
            <p:cNvPr id="59" name="Down Arrow 58">
              <a:extLst>
                <a:ext uri="{FF2B5EF4-FFF2-40B4-BE49-F238E27FC236}">
                  <a16:creationId xmlns:a16="http://schemas.microsoft.com/office/drawing/2014/main" id="{A8681AC5-D871-5E4B-A518-98D0811180B7}"/>
                </a:ext>
              </a:extLst>
            </p:cNvPr>
            <p:cNvSpPr/>
            <p:nvPr/>
          </p:nvSpPr>
          <p:spPr>
            <a:xfrm>
              <a:off x="0" y="145980"/>
              <a:ext cx="452176" cy="1698172"/>
            </a:xfrm>
            <a:prstGeom prst="downArrow">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60" name="Straight Connector 59">
              <a:extLst>
                <a:ext uri="{FF2B5EF4-FFF2-40B4-BE49-F238E27FC236}">
                  <a16:creationId xmlns:a16="http://schemas.microsoft.com/office/drawing/2014/main" id="{FC2BE59B-9323-C149-997E-FBE9D89BF9FF}"/>
                </a:ext>
              </a:extLst>
            </p:cNvPr>
            <p:cNvCxnSpPr/>
            <p:nvPr/>
          </p:nvCxnSpPr>
          <p:spPr>
            <a:xfrm>
              <a:off x="562708" y="259164"/>
              <a:ext cx="582804" cy="0"/>
            </a:xfrm>
            <a:prstGeom prst="line">
              <a:avLst/>
            </a:prstGeom>
            <a:effectLst/>
          </p:spPr>
          <p:style>
            <a:lnRef idx="2">
              <a:schemeClr val="dk1"/>
            </a:lnRef>
            <a:fillRef idx="0">
              <a:schemeClr val="dk1"/>
            </a:fillRef>
            <a:effectRef idx="1">
              <a:schemeClr val="dk1"/>
            </a:effectRef>
            <a:fontRef idx="minor">
              <a:schemeClr val="tx1"/>
            </a:fontRef>
          </p:style>
        </p:cxnSp>
        <p:cxnSp>
          <p:nvCxnSpPr>
            <p:cNvPr id="61" name="Straight Connector 60">
              <a:extLst>
                <a:ext uri="{FF2B5EF4-FFF2-40B4-BE49-F238E27FC236}">
                  <a16:creationId xmlns:a16="http://schemas.microsoft.com/office/drawing/2014/main" id="{34B031D3-01B1-584F-88F9-C459F2BFF6C8}"/>
                </a:ext>
              </a:extLst>
            </p:cNvPr>
            <p:cNvCxnSpPr/>
            <p:nvPr/>
          </p:nvCxnSpPr>
          <p:spPr>
            <a:xfrm>
              <a:off x="562708" y="912306"/>
              <a:ext cx="582804" cy="0"/>
            </a:xfrm>
            <a:prstGeom prst="line">
              <a:avLst/>
            </a:prstGeom>
            <a:effectLst/>
          </p:spPr>
          <p:style>
            <a:lnRef idx="2">
              <a:schemeClr val="dk1"/>
            </a:lnRef>
            <a:fillRef idx="0">
              <a:schemeClr val="dk1"/>
            </a:fillRef>
            <a:effectRef idx="1">
              <a:schemeClr val="dk1"/>
            </a:effectRef>
            <a:fontRef idx="minor">
              <a:schemeClr val="tx1"/>
            </a:fontRef>
          </p:style>
        </p:cxnSp>
        <p:cxnSp>
          <p:nvCxnSpPr>
            <p:cNvPr id="62" name="Straight Connector 61">
              <a:extLst>
                <a:ext uri="{FF2B5EF4-FFF2-40B4-BE49-F238E27FC236}">
                  <a16:creationId xmlns:a16="http://schemas.microsoft.com/office/drawing/2014/main" id="{689CBEE0-B71B-F74F-AC60-0B1D9F981C60}"/>
                </a:ext>
              </a:extLst>
            </p:cNvPr>
            <p:cNvCxnSpPr/>
            <p:nvPr/>
          </p:nvCxnSpPr>
          <p:spPr>
            <a:xfrm>
              <a:off x="562708" y="1382209"/>
              <a:ext cx="582804" cy="0"/>
            </a:xfrm>
            <a:prstGeom prst="line">
              <a:avLst/>
            </a:prstGeom>
            <a:effectLst/>
          </p:spPr>
          <p:style>
            <a:lnRef idx="2">
              <a:schemeClr val="dk1"/>
            </a:lnRef>
            <a:fillRef idx="0">
              <a:schemeClr val="dk1"/>
            </a:fillRef>
            <a:effectRef idx="1">
              <a:schemeClr val="dk1"/>
            </a:effectRef>
            <a:fontRef idx="minor">
              <a:schemeClr val="tx1"/>
            </a:fontRef>
          </p:style>
        </p:cxnSp>
        <p:sp>
          <p:nvSpPr>
            <p:cNvPr id="63" name="Text Box 17">
              <a:extLst>
                <a:ext uri="{FF2B5EF4-FFF2-40B4-BE49-F238E27FC236}">
                  <a16:creationId xmlns:a16="http://schemas.microsoft.com/office/drawing/2014/main" id="{A431C364-CD92-2947-BC77-611AD5D72DA4}"/>
                </a:ext>
              </a:extLst>
            </p:cNvPr>
            <p:cNvSpPr txBox="1"/>
            <p:nvPr/>
          </p:nvSpPr>
          <p:spPr>
            <a:xfrm>
              <a:off x="1094712" y="0"/>
              <a:ext cx="1301071" cy="42677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2000" dirty="0">
                  <a:latin typeface="Cambria Math" panose="02040503050406030204" pitchFamily="18" charset="0"/>
                  <a:ea typeface="Times New Roman" panose="02020603050405020304" pitchFamily="18" charset="0"/>
                </a:rPr>
                <a:t>400 cm</a:t>
              </a:r>
              <a:endParaRPr lang="en-US" sz="2000" dirty="0">
                <a:latin typeface="Times New Roman" panose="02020603050405020304" pitchFamily="18" charset="0"/>
                <a:ea typeface="Times New Roman" panose="02020603050405020304" pitchFamily="18" charset="0"/>
              </a:endParaRPr>
            </a:p>
          </p:txBody>
        </p:sp>
        <p:sp>
          <p:nvSpPr>
            <p:cNvPr id="64" name="Text Box 18">
              <a:extLst>
                <a:ext uri="{FF2B5EF4-FFF2-40B4-BE49-F238E27FC236}">
                  <a16:creationId xmlns:a16="http://schemas.microsoft.com/office/drawing/2014/main" id="{E7740FEE-098A-7946-BE8B-078B2D3ABA8D}"/>
                </a:ext>
              </a:extLst>
            </p:cNvPr>
            <p:cNvSpPr txBox="1"/>
            <p:nvPr/>
          </p:nvSpPr>
          <p:spPr>
            <a:xfrm>
              <a:off x="1094477" y="1065125"/>
              <a:ext cx="1300281" cy="42672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2000" dirty="0">
                  <a:latin typeface="Cambria Math" panose="02040503050406030204" pitchFamily="18" charset="0"/>
                  <a:ea typeface="Times New Roman" panose="02020603050405020304" pitchFamily="18" charset="0"/>
                </a:rPr>
                <a:t>100 cm</a:t>
              </a:r>
              <a:endParaRPr lang="en-US" sz="2000" dirty="0">
                <a:latin typeface="Times New Roman" panose="02020603050405020304" pitchFamily="18" charset="0"/>
                <a:ea typeface="Times New Roman" panose="02020603050405020304" pitchFamily="18" charset="0"/>
              </a:endParaRPr>
            </a:p>
          </p:txBody>
        </p:sp>
        <p:sp>
          <p:nvSpPr>
            <p:cNvPr id="65" name="Text Box 19">
              <a:extLst>
                <a:ext uri="{FF2B5EF4-FFF2-40B4-BE49-F238E27FC236}">
                  <a16:creationId xmlns:a16="http://schemas.microsoft.com/office/drawing/2014/main" id="{3B998E6B-6FDE-D745-99AD-8FAC3DE62C8C}"/>
                </a:ext>
              </a:extLst>
            </p:cNvPr>
            <p:cNvSpPr txBox="1"/>
            <p:nvPr/>
          </p:nvSpPr>
          <p:spPr>
            <a:xfrm>
              <a:off x="1094477" y="643094"/>
              <a:ext cx="1300793" cy="42677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2000" dirty="0">
                  <a:latin typeface="Cambria Math" panose="02040503050406030204" pitchFamily="18" charset="0"/>
                  <a:ea typeface="Times New Roman" panose="02020603050405020304" pitchFamily="18" charset="0"/>
                </a:rPr>
                <a:t>200 cm</a:t>
              </a:r>
              <a:endParaRPr lang="en-US" sz="2000" dirty="0">
                <a:latin typeface="Times New Roman" panose="02020603050405020304" pitchFamily="18" charset="0"/>
                <a:ea typeface="Times New Roman" panose="02020603050405020304" pitchFamily="18" charset="0"/>
              </a:endParaRPr>
            </a:p>
          </p:txBody>
        </p:sp>
      </p:grpSp>
      <p:grpSp>
        <p:nvGrpSpPr>
          <p:cNvPr id="66" name="Group 65">
            <a:extLst>
              <a:ext uri="{FF2B5EF4-FFF2-40B4-BE49-F238E27FC236}">
                <a16:creationId xmlns:a16="http://schemas.microsoft.com/office/drawing/2014/main" id="{84C54845-2EF9-2E42-A87E-E13E6FA952B9}"/>
              </a:ext>
            </a:extLst>
          </p:cNvPr>
          <p:cNvGrpSpPr/>
          <p:nvPr/>
        </p:nvGrpSpPr>
        <p:grpSpPr>
          <a:xfrm>
            <a:off x="5354697" y="3555844"/>
            <a:ext cx="1827531" cy="1473200"/>
            <a:chOff x="0" y="0"/>
            <a:chExt cx="2395783" cy="1844152"/>
          </a:xfrm>
        </p:grpSpPr>
        <p:sp>
          <p:nvSpPr>
            <p:cNvPr id="67" name="Down Arrow 66">
              <a:extLst>
                <a:ext uri="{FF2B5EF4-FFF2-40B4-BE49-F238E27FC236}">
                  <a16:creationId xmlns:a16="http://schemas.microsoft.com/office/drawing/2014/main" id="{B58C4C03-A586-9542-8DAD-185B05D84C4E}"/>
                </a:ext>
              </a:extLst>
            </p:cNvPr>
            <p:cNvSpPr/>
            <p:nvPr/>
          </p:nvSpPr>
          <p:spPr>
            <a:xfrm>
              <a:off x="0" y="145980"/>
              <a:ext cx="452176" cy="1698172"/>
            </a:xfrm>
            <a:prstGeom prst="downArrow">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68" name="Straight Connector 67">
              <a:extLst>
                <a:ext uri="{FF2B5EF4-FFF2-40B4-BE49-F238E27FC236}">
                  <a16:creationId xmlns:a16="http://schemas.microsoft.com/office/drawing/2014/main" id="{D3F58018-B516-1947-B921-999ACA7138FB}"/>
                </a:ext>
              </a:extLst>
            </p:cNvPr>
            <p:cNvCxnSpPr/>
            <p:nvPr/>
          </p:nvCxnSpPr>
          <p:spPr>
            <a:xfrm>
              <a:off x="562708" y="259164"/>
              <a:ext cx="582804" cy="0"/>
            </a:xfrm>
            <a:prstGeom prst="line">
              <a:avLst/>
            </a:prstGeom>
            <a:effectLst/>
          </p:spPr>
          <p:style>
            <a:lnRef idx="2">
              <a:schemeClr val="dk1"/>
            </a:lnRef>
            <a:fillRef idx="0">
              <a:schemeClr val="dk1"/>
            </a:fillRef>
            <a:effectRef idx="1">
              <a:schemeClr val="dk1"/>
            </a:effectRef>
            <a:fontRef idx="minor">
              <a:schemeClr val="tx1"/>
            </a:fontRef>
          </p:style>
        </p:cxnSp>
        <p:cxnSp>
          <p:nvCxnSpPr>
            <p:cNvPr id="69" name="Straight Connector 68">
              <a:extLst>
                <a:ext uri="{FF2B5EF4-FFF2-40B4-BE49-F238E27FC236}">
                  <a16:creationId xmlns:a16="http://schemas.microsoft.com/office/drawing/2014/main" id="{2AEB9BE2-D6FE-2D40-87AF-D87DDB260F19}"/>
                </a:ext>
              </a:extLst>
            </p:cNvPr>
            <p:cNvCxnSpPr/>
            <p:nvPr/>
          </p:nvCxnSpPr>
          <p:spPr>
            <a:xfrm>
              <a:off x="562708" y="912306"/>
              <a:ext cx="582804" cy="0"/>
            </a:xfrm>
            <a:prstGeom prst="line">
              <a:avLst/>
            </a:prstGeom>
            <a:effectLst/>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724D52A5-ACBA-ED4A-86E2-2B1F8D83E343}"/>
                </a:ext>
              </a:extLst>
            </p:cNvPr>
            <p:cNvCxnSpPr/>
            <p:nvPr/>
          </p:nvCxnSpPr>
          <p:spPr>
            <a:xfrm>
              <a:off x="562708" y="1382209"/>
              <a:ext cx="582804" cy="0"/>
            </a:xfrm>
            <a:prstGeom prst="line">
              <a:avLst/>
            </a:prstGeom>
            <a:effectLst/>
          </p:spPr>
          <p:style>
            <a:lnRef idx="2">
              <a:schemeClr val="dk1"/>
            </a:lnRef>
            <a:fillRef idx="0">
              <a:schemeClr val="dk1"/>
            </a:fillRef>
            <a:effectRef idx="1">
              <a:schemeClr val="dk1"/>
            </a:effectRef>
            <a:fontRef idx="minor">
              <a:schemeClr val="tx1"/>
            </a:fontRef>
          </p:style>
        </p:cxnSp>
        <p:sp>
          <p:nvSpPr>
            <p:cNvPr id="71" name="Text Box 17">
              <a:extLst>
                <a:ext uri="{FF2B5EF4-FFF2-40B4-BE49-F238E27FC236}">
                  <a16:creationId xmlns:a16="http://schemas.microsoft.com/office/drawing/2014/main" id="{DA48C955-E386-E744-B7AE-FFC9860DF3F2}"/>
                </a:ext>
              </a:extLst>
            </p:cNvPr>
            <p:cNvSpPr txBox="1"/>
            <p:nvPr/>
          </p:nvSpPr>
          <p:spPr>
            <a:xfrm>
              <a:off x="1094712" y="0"/>
              <a:ext cx="1301071" cy="42677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2000" dirty="0">
                  <a:latin typeface="Cambria Math" panose="02040503050406030204" pitchFamily="18" charset="0"/>
                  <a:ea typeface="Times New Roman" panose="02020603050405020304" pitchFamily="18" charset="0"/>
                </a:rPr>
                <a:t>400 cm</a:t>
              </a:r>
              <a:endParaRPr lang="en-US" sz="2000" dirty="0">
                <a:latin typeface="Times New Roman" panose="02020603050405020304" pitchFamily="18" charset="0"/>
                <a:ea typeface="Times New Roman" panose="02020603050405020304" pitchFamily="18" charset="0"/>
              </a:endParaRPr>
            </a:p>
          </p:txBody>
        </p:sp>
        <p:sp>
          <p:nvSpPr>
            <p:cNvPr id="72" name="Text Box 18">
              <a:extLst>
                <a:ext uri="{FF2B5EF4-FFF2-40B4-BE49-F238E27FC236}">
                  <a16:creationId xmlns:a16="http://schemas.microsoft.com/office/drawing/2014/main" id="{8F797252-FE63-6E4E-9FD2-21870830E00A}"/>
                </a:ext>
              </a:extLst>
            </p:cNvPr>
            <p:cNvSpPr txBox="1"/>
            <p:nvPr/>
          </p:nvSpPr>
          <p:spPr>
            <a:xfrm>
              <a:off x="1094477" y="1065125"/>
              <a:ext cx="1300281" cy="42672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2000" dirty="0">
                  <a:latin typeface="Cambria Math" panose="02040503050406030204" pitchFamily="18" charset="0"/>
                  <a:ea typeface="Times New Roman" panose="02020603050405020304" pitchFamily="18" charset="0"/>
                </a:rPr>
                <a:t>100 cm</a:t>
              </a:r>
              <a:endParaRPr lang="en-US" sz="2000" dirty="0">
                <a:latin typeface="Times New Roman" panose="02020603050405020304" pitchFamily="18" charset="0"/>
                <a:ea typeface="Times New Roman" panose="02020603050405020304" pitchFamily="18" charset="0"/>
              </a:endParaRPr>
            </a:p>
          </p:txBody>
        </p:sp>
        <p:sp>
          <p:nvSpPr>
            <p:cNvPr id="73" name="Text Box 19">
              <a:extLst>
                <a:ext uri="{FF2B5EF4-FFF2-40B4-BE49-F238E27FC236}">
                  <a16:creationId xmlns:a16="http://schemas.microsoft.com/office/drawing/2014/main" id="{B9B4B041-7ADE-0140-8BE9-D194E01137E2}"/>
                </a:ext>
              </a:extLst>
            </p:cNvPr>
            <p:cNvSpPr txBox="1"/>
            <p:nvPr/>
          </p:nvSpPr>
          <p:spPr>
            <a:xfrm>
              <a:off x="1094477" y="643094"/>
              <a:ext cx="1300793" cy="42677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2000" dirty="0">
                  <a:latin typeface="Cambria Math" panose="02040503050406030204" pitchFamily="18" charset="0"/>
                  <a:ea typeface="Times New Roman" panose="02020603050405020304" pitchFamily="18" charset="0"/>
                </a:rPr>
                <a:t>200 cm</a:t>
              </a:r>
              <a:endParaRPr lang="en-US" sz="2000" dirty="0">
                <a:latin typeface="Times New Roman" panose="02020603050405020304" pitchFamily="18" charset="0"/>
                <a:ea typeface="Times New Roman" panose="02020603050405020304" pitchFamily="18" charset="0"/>
              </a:endParaRPr>
            </a:p>
          </p:txBody>
        </p:sp>
      </p:grpSp>
      <p:grpSp>
        <p:nvGrpSpPr>
          <p:cNvPr id="74" name="Group 73">
            <a:extLst>
              <a:ext uri="{FF2B5EF4-FFF2-40B4-BE49-F238E27FC236}">
                <a16:creationId xmlns:a16="http://schemas.microsoft.com/office/drawing/2014/main" id="{A68FA75E-1C72-734D-B781-A2B8980B09C4}"/>
              </a:ext>
            </a:extLst>
          </p:cNvPr>
          <p:cNvGrpSpPr/>
          <p:nvPr/>
        </p:nvGrpSpPr>
        <p:grpSpPr>
          <a:xfrm>
            <a:off x="7894789" y="3555844"/>
            <a:ext cx="1827531" cy="1473200"/>
            <a:chOff x="0" y="0"/>
            <a:chExt cx="2395783" cy="1844152"/>
          </a:xfrm>
        </p:grpSpPr>
        <p:sp>
          <p:nvSpPr>
            <p:cNvPr id="75" name="Down Arrow 74">
              <a:extLst>
                <a:ext uri="{FF2B5EF4-FFF2-40B4-BE49-F238E27FC236}">
                  <a16:creationId xmlns:a16="http://schemas.microsoft.com/office/drawing/2014/main" id="{AAF9F1B9-6C03-2948-A913-603DFCC6EF34}"/>
                </a:ext>
              </a:extLst>
            </p:cNvPr>
            <p:cNvSpPr/>
            <p:nvPr/>
          </p:nvSpPr>
          <p:spPr>
            <a:xfrm>
              <a:off x="0" y="145980"/>
              <a:ext cx="452176" cy="1698172"/>
            </a:xfrm>
            <a:prstGeom prst="downArrow">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6" name="Straight Connector 75">
              <a:extLst>
                <a:ext uri="{FF2B5EF4-FFF2-40B4-BE49-F238E27FC236}">
                  <a16:creationId xmlns:a16="http://schemas.microsoft.com/office/drawing/2014/main" id="{920CA3E8-AC66-4541-BABF-597C0E06046C}"/>
                </a:ext>
              </a:extLst>
            </p:cNvPr>
            <p:cNvCxnSpPr/>
            <p:nvPr/>
          </p:nvCxnSpPr>
          <p:spPr>
            <a:xfrm>
              <a:off x="562708" y="259164"/>
              <a:ext cx="582804" cy="0"/>
            </a:xfrm>
            <a:prstGeom prst="line">
              <a:avLst/>
            </a:prstGeom>
            <a:effectLst/>
          </p:spPr>
          <p:style>
            <a:lnRef idx="2">
              <a:schemeClr val="dk1"/>
            </a:lnRef>
            <a:fillRef idx="0">
              <a:schemeClr val="dk1"/>
            </a:fillRef>
            <a:effectRef idx="1">
              <a:schemeClr val="dk1"/>
            </a:effectRef>
            <a:fontRef idx="minor">
              <a:schemeClr val="tx1"/>
            </a:fontRef>
          </p:style>
        </p:cxnSp>
        <p:cxnSp>
          <p:nvCxnSpPr>
            <p:cNvPr id="77" name="Straight Connector 76">
              <a:extLst>
                <a:ext uri="{FF2B5EF4-FFF2-40B4-BE49-F238E27FC236}">
                  <a16:creationId xmlns:a16="http://schemas.microsoft.com/office/drawing/2014/main" id="{77F00FCB-7A0A-924A-AE1C-6D71DA09B2C1}"/>
                </a:ext>
              </a:extLst>
            </p:cNvPr>
            <p:cNvCxnSpPr/>
            <p:nvPr/>
          </p:nvCxnSpPr>
          <p:spPr>
            <a:xfrm>
              <a:off x="562708" y="912306"/>
              <a:ext cx="582804" cy="0"/>
            </a:xfrm>
            <a:prstGeom prst="line">
              <a:avLst/>
            </a:prstGeom>
            <a:effectLst/>
          </p:spPr>
          <p:style>
            <a:lnRef idx="2">
              <a:schemeClr val="dk1"/>
            </a:lnRef>
            <a:fillRef idx="0">
              <a:schemeClr val="dk1"/>
            </a:fillRef>
            <a:effectRef idx="1">
              <a:schemeClr val="dk1"/>
            </a:effectRef>
            <a:fontRef idx="minor">
              <a:schemeClr val="tx1"/>
            </a:fontRef>
          </p:style>
        </p:cxnSp>
        <p:cxnSp>
          <p:nvCxnSpPr>
            <p:cNvPr id="78" name="Straight Connector 77">
              <a:extLst>
                <a:ext uri="{FF2B5EF4-FFF2-40B4-BE49-F238E27FC236}">
                  <a16:creationId xmlns:a16="http://schemas.microsoft.com/office/drawing/2014/main" id="{F8FC2C0C-3EE3-4245-BDCC-FBE79C51861E}"/>
                </a:ext>
              </a:extLst>
            </p:cNvPr>
            <p:cNvCxnSpPr/>
            <p:nvPr/>
          </p:nvCxnSpPr>
          <p:spPr>
            <a:xfrm>
              <a:off x="562708" y="1382209"/>
              <a:ext cx="582804" cy="0"/>
            </a:xfrm>
            <a:prstGeom prst="line">
              <a:avLst/>
            </a:prstGeom>
            <a:effectLst/>
          </p:spPr>
          <p:style>
            <a:lnRef idx="2">
              <a:schemeClr val="dk1"/>
            </a:lnRef>
            <a:fillRef idx="0">
              <a:schemeClr val="dk1"/>
            </a:fillRef>
            <a:effectRef idx="1">
              <a:schemeClr val="dk1"/>
            </a:effectRef>
            <a:fontRef idx="minor">
              <a:schemeClr val="tx1"/>
            </a:fontRef>
          </p:style>
        </p:cxnSp>
        <p:sp>
          <p:nvSpPr>
            <p:cNvPr id="79" name="Text Box 17">
              <a:extLst>
                <a:ext uri="{FF2B5EF4-FFF2-40B4-BE49-F238E27FC236}">
                  <a16:creationId xmlns:a16="http://schemas.microsoft.com/office/drawing/2014/main" id="{1FB2BB1A-8573-5740-AD34-45EF19BE224B}"/>
                </a:ext>
              </a:extLst>
            </p:cNvPr>
            <p:cNvSpPr txBox="1"/>
            <p:nvPr/>
          </p:nvSpPr>
          <p:spPr>
            <a:xfrm>
              <a:off x="1094712" y="0"/>
              <a:ext cx="1301071" cy="42677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2000" dirty="0">
                  <a:latin typeface="Cambria Math" panose="02040503050406030204" pitchFamily="18" charset="0"/>
                  <a:ea typeface="Times New Roman" panose="02020603050405020304" pitchFamily="18" charset="0"/>
                </a:rPr>
                <a:t>400 cm</a:t>
              </a:r>
              <a:endParaRPr lang="en-US" sz="2000" dirty="0">
                <a:latin typeface="Times New Roman" panose="02020603050405020304" pitchFamily="18" charset="0"/>
                <a:ea typeface="Times New Roman" panose="02020603050405020304" pitchFamily="18" charset="0"/>
              </a:endParaRPr>
            </a:p>
          </p:txBody>
        </p:sp>
        <p:sp>
          <p:nvSpPr>
            <p:cNvPr id="80" name="Text Box 18">
              <a:extLst>
                <a:ext uri="{FF2B5EF4-FFF2-40B4-BE49-F238E27FC236}">
                  <a16:creationId xmlns:a16="http://schemas.microsoft.com/office/drawing/2014/main" id="{CE3E9FA2-DF3D-E444-A6B8-85756FD42D31}"/>
                </a:ext>
              </a:extLst>
            </p:cNvPr>
            <p:cNvSpPr txBox="1"/>
            <p:nvPr/>
          </p:nvSpPr>
          <p:spPr>
            <a:xfrm>
              <a:off x="1094477" y="1065125"/>
              <a:ext cx="1300281" cy="42672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2000" dirty="0">
                  <a:latin typeface="Cambria Math" panose="02040503050406030204" pitchFamily="18" charset="0"/>
                  <a:ea typeface="Times New Roman" panose="02020603050405020304" pitchFamily="18" charset="0"/>
                </a:rPr>
                <a:t>100 cm</a:t>
              </a:r>
              <a:endParaRPr lang="en-US" sz="2000" dirty="0">
                <a:latin typeface="Times New Roman" panose="02020603050405020304" pitchFamily="18" charset="0"/>
                <a:ea typeface="Times New Roman" panose="02020603050405020304" pitchFamily="18" charset="0"/>
              </a:endParaRPr>
            </a:p>
          </p:txBody>
        </p:sp>
        <p:sp>
          <p:nvSpPr>
            <p:cNvPr id="81" name="Text Box 19">
              <a:extLst>
                <a:ext uri="{FF2B5EF4-FFF2-40B4-BE49-F238E27FC236}">
                  <a16:creationId xmlns:a16="http://schemas.microsoft.com/office/drawing/2014/main" id="{58224D7A-AC41-F54E-906C-DB6DC73DBFAB}"/>
                </a:ext>
              </a:extLst>
            </p:cNvPr>
            <p:cNvSpPr txBox="1"/>
            <p:nvPr/>
          </p:nvSpPr>
          <p:spPr>
            <a:xfrm>
              <a:off x="1094477" y="643094"/>
              <a:ext cx="1300793" cy="42677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2000" dirty="0">
                  <a:latin typeface="Cambria Math" panose="02040503050406030204" pitchFamily="18" charset="0"/>
                  <a:ea typeface="Times New Roman" panose="02020603050405020304" pitchFamily="18" charset="0"/>
                </a:rPr>
                <a:t>200 cm</a:t>
              </a:r>
              <a:endParaRPr lang="en-US" sz="2000" dirty="0">
                <a:latin typeface="Times New Roman" panose="02020603050405020304" pitchFamily="18" charset="0"/>
                <a:ea typeface="Times New Roman" panose="02020603050405020304" pitchFamily="18" charset="0"/>
              </a:endParaRPr>
            </a:p>
          </p:txBody>
        </p:sp>
      </p:grpSp>
      <p:sp>
        <p:nvSpPr>
          <p:cNvPr id="3" name="Rectangle 2"/>
          <p:cNvSpPr/>
          <p:nvPr/>
        </p:nvSpPr>
        <p:spPr>
          <a:xfrm>
            <a:off x="1418491" y="5537909"/>
            <a:ext cx="9917723" cy="722965"/>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Predict the maximum number of rubber bands needed for Barbie to achieve a jump in the green risk level. </a:t>
            </a:r>
          </a:p>
        </p:txBody>
      </p:sp>
    </p:spTree>
    <p:extLst>
      <p:ext uri="{BB962C8B-B14F-4D97-AF65-F5344CB8AC3E}">
        <p14:creationId xmlns:p14="http://schemas.microsoft.com/office/powerpoint/2010/main" val="2771154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846"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620" y="64658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210</a:t>
            </a:r>
          </a:p>
        </p:txBody>
      </p:sp>
      <p:sp>
        <p:nvSpPr>
          <p:cNvPr id="5" name="TextBox 4">
            <a:extLst>
              <a:ext uri="{FF2B5EF4-FFF2-40B4-BE49-F238E27FC236}">
                <a16:creationId xmlns:a16="http://schemas.microsoft.com/office/drawing/2014/main" id="{B6C08EE3-8247-C14E-9600-35165D5C8679}"/>
              </a:ext>
            </a:extLst>
          </p:cNvPr>
          <p:cNvSpPr txBox="1"/>
          <p:nvPr/>
        </p:nvSpPr>
        <p:spPr>
          <a:xfrm>
            <a:off x="937846" y="716948"/>
            <a:ext cx="10668000" cy="3875859"/>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cs typeface="Verdana" panose="020B0604030504040204" pitchFamily="34" charset="0"/>
              </a:rPr>
              <a:t>Data Collection</a:t>
            </a:r>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pPr>
              <a:spcAft>
                <a:spcPts val="1200"/>
              </a:spcAft>
            </a:pPr>
            <a:r>
              <a:rPr lang="en-US" sz="2400" dirty="0">
                <a:latin typeface="Verdana" panose="020B0604030504040204" pitchFamily="34" charset="0"/>
                <a:ea typeface="Verdana" panose="020B0604030504040204" pitchFamily="34" charset="0"/>
                <a:cs typeface="Verdana" panose="020B0604030504040204" pitchFamily="34" charset="0"/>
              </a:rPr>
              <a:t>For the most accurate data, ensure that:</a:t>
            </a:r>
          </a:p>
          <a:p>
            <a:pPr marL="914400" indent="-457200">
              <a:spcAft>
                <a:spcPts val="600"/>
              </a:spcAft>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Barbie is jumping from the specified jump line.</a:t>
            </a:r>
          </a:p>
          <a:p>
            <a:pPr marL="914400" indent="-457200">
              <a:spcAft>
                <a:spcPts val="600"/>
              </a:spcAft>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A team member is ready to mark the lowest point from each jump.</a:t>
            </a:r>
          </a:p>
          <a:p>
            <a:pPr marL="914400" indent="-457200">
              <a:spcAft>
                <a:spcPts val="600"/>
              </a:spcAft>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All measurements are in centimeters.</a:t>
            </a:r>
          </a:p>
          <a:p>
            <a:pPr marL="914400" indent="-45720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All data from jump malfunctions are disregarded and the trial is repeated.</a:t>
            </a:r>
          </a:p>
        </p:txBody>
      </p:sp>
      <p:sp>
        <p:nvSpPr>
          <p:cNvPr id="31" name="Text Box 17">
            <a:extLst>
              <a:ext uri="{FF2B5EF4-FFF2-40B4-BE49-F238E27FC236}">
                <a16:creationId xmlns:a16="http://schemas.microsoft.com/office/drawing/2014/main" id="{AF4CC5EE-5647-074D-B4C3-95A70F170219}"/>
              </a:ext>
            </a:extLst>
          </p:cNvPr>
          <p:cNvSpPr txBox="1">
            <a:spLocks noChangeArrowheads="1"/>
          </p:cNvSpPr>
          <p:nvPr/>
        </p:nvSpPr>
        <p:spPr bwMode="auto">
          <a:xfrm>
            <a:off x="25213875" y="2720976"/>
            <a:ext cx="17283500" cy="677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Text Box 18">
            <a:extLst>
              <a:ext uri="{FF2B5EF4-FFF2-40B4-BE49-F238E27FC236}">
                <a16:creationId xmlns:a16="http://schemas.microsoft.com/office/drawing/2014/main" id="{C3F85CD2-6261-134F-B239-ED1222F486DB}"/>
              </a:ext>
            </a:extLst>
          </p:cNvPr>
          <p:cNvSpPr txBox="1">
            <a:spLocks noChangeArrowheads="1"/>
          </p:cNvSpPr>
          <p:nvPr/>
        </p:nvSpPr>
        <p:spPr bwMode="auto">
          <a:xfrm>
            <a:off x="25207300" y="19629438"/>
            <a:ext cx="17274200" cy="677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Text Box 19">
            <a:extLst>
              <a:ext uri="{FF2B5EF4-FFF2-40B4-BE49-F238E27FC236}">
                <a16:creationId xmlns:a16="http://schemas.microsoft.com/office/drawing/2014/main" id="{A69D85EF-961E-3B49-9998-05832F207479}"/>
              </a:ext>
            </a:extLst>
          </p:cNvPr>
          <p:cNvSpPr txBox="1">
            <a:spLocks noChangeArrowheads="1"/>
          </p:cNvSpPr>
          <p:nvPr/>
        </p:nvSpPr>
        <p:spPr bwMode="auto">
          <a:xfrm>
            <a:off x="25208594" y="12928600"/>
            <a:ext cx="17280843"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Text Box 9">
            <a:extLst>
              <a:ext uri="{FF2B5EF4-FFF2-40B4-BE49-F238E27FC236}">
                <a16:creationId xmlns:a16="http://schemas.microsoft.com/office/drawing/2014/main" id="{09363563-BFD4-4E48-B774-BDE24A766FB7}"/>
              </a:ext>
            </a:extLst>
          </p:cNvPr>
          <p:cNvSpPr txBox="1">
            <a:spLocks noChangeArrowheads="1"/>
          </p:cNvSpPr>
          <p:nvPr/>
        </p:nvSpPr>
        <p:spPr bwMode="auto">
          <a:xfrm>
            <a:off x="24915222" y="2720976"/>
            <a:ext cx="15751765" cy="677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Text Box 10">
            <a:extLst>
              <a:ext uri="{FF2B5EF4-FFF2-40B4-BE49-F238E27FC236}">
                <a16:creationId xmlns:a16="http://schemas.microsoft.com/office/drawing/2014/main" id="{5C49F7A6-880A-184C-8903-FD2982FBB644}"/>
              </a:ext>
            </a:extLst>
          </p:cNvPr>
          <p:cNvSpPr txBox="1">
            <a:spLocks noChangeArrowheads="1"/>
          </p:cNvSpPr>
          <p:nvPr/>
        </p:nvSpPr>
        <p:spPr bwMode="auto">
          <a:xfrm>
            <a:off x="24914705" y="19629438"/>
            <a:ext cx="15749108" cy="677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Text Box 11">
            <a:extLst>
              <a:ext uri="{FF2B5EF4-FFF2-40B4-BE49-F238E27FC236}">
                <a16:creationId xmlns:a16="http://schemas.microsoft.com/office/drawing/2014/main" id="{C1EFEB50-8D0A-6E47-88C6-D115A007A8CA}"/>
              </a:ext>
            </a:extLst>
          </p:cNvPr>
          <p:cNvSpPr txBox="1">
            <a:spLocks noChangeArrowheads="1"/>
          </p:cNvSpPr>
          <p:nvPr/>
        </p:nvSpPr>
        <p:spPr bwMode="auto">
          <a:xfrm>
            <a:off x="24915222" y="12928600"/>
            <a:ext cx="15751765"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Text Box 38">
            <a:extLst>
              <a:ext uri="{FF2B5EF4-FFF2-40B4-BE49-F238E27FC236}">
                <a16:creationId xmlns:a16="http://schemas.microsoft.com/office/drawing/2014/main" id="{4797027B-8ABD-3246-9094-D8F2D9D506B5}"/>
              </a:ext>
            </a:extLst>
          </p:cNvPr>
          <p:cNvSpPr txBox="1">
            <a:spLocks noChangeArrowheads="1"/>
          </p:cNvSpPr>
          <p:nvPr/>
        </p:nvSpPr>
        <p:spPr bwMode="auto">
          <a:xfrm>
            <a:off x="24915222" y="2720976"/>
            <a:ext cx="15751765" cy="677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Text Box 39">
            <a:extLst>
              <a:ext uri="{FF2B5EF4-FFF2-40B4-BE49-F238E27FC236}">
                <a16:creationId xmlns:a16="http://schemas.microsoft.com/office/drawing/2014/main" id="{CF380778-E6D3-9641-A86F-2B9BB942D2B1}"/>
              </a:ext>
            </a:extLst>
          </p:cNvPr>
          <p:cNvSpPr txBox="1">
            <a:spLocks noChangeArrowheads="1"/>
          </p:cNvSpPr>
          <p:nvPr/>
        </p:nvSpPr>
        <p:spPr bwMode="auto">
          <a:xfrm>
            <a:off x="24914705" y="19629438"/>
            <a:ext cx="15749108" cy="677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Text Box 40">
            <a:extLst>
              <a:ext uri="{FF2B5EF4-FFF2-40B4-BE49-F238E27FC236}">
                <a16:creationId xmlns:a16="http://schemas.microsoft.com/office/drawing/2014/main" id="{054AD686-8C04-2747-9C33-F0609B4C4982}"/>
              </a:ext>
            </a:extLst>
          </p:cNvPr>
          <p:cNvSpPr txBox="1">
            <a:spLocks noChangeArrowheads="1"/>
          </p:cNvSpPr>
          <p:nvPr/>
        </p:nvSpPr>
        <p:spPr bwMode="auto">
          <a:xfrm>
            <a:off x="24915222" y="12928600"/>
            <a:ext cx="15751765"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45888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7691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33987"/>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210</a:t>
            </a:r>
          </a:p>
        </p:txBody>
      </p:sp>
      <p:sp>
        <p:nvSpPr>
          <p:cNvPr id="5" name="TextBox 4">
            <a:extLst>
              <a:ext uri="{FF2B5EF4-FFF2-40B4-BE49-F238E27FC236}">
                <a16:creationId xmlns:a16="http://schemas.microsoft.com/office/drawing/2014/main" id="{B6C08EE3-8247-C14E-9600-35165D5C8679}"/>
              </a:ext>
            </a:extLst>
          </p:cNvPr>
          <p:cNvSpPr txBox="1"/>
          <p:nvPr/>
        </p:nvSpPr>
        <p:spPr>
          <a:xfrm>
            <a:off x="808892" y="411677"/>
            <a:ext cx="11019692" cy="1569660"/>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Perform three trials for each number of rubber bands with your team.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49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Record your results from each trial in the table.</a:t>
            </a:r>
          </a:p>
        </p:txBody>
      </p:sp>
      <p:sp>
        <p:nvSpPr>
          <p:cNvPr id="31" name="Text Box 17">
            <a:extLst>
              <a:ext uri="{FF2B5EF4-FFF2-40B4-BE49-F238E27FC236}">
                <a16:creationId xmlns:a16="http://schemas.microsoft.com/office/drawing/2014/main" id="{AF4CC5EE-5647-074D-B4C3-95A70F170219}"/>
              </a:ext>
            </a:extLst>
          </p:cNvPr>
          <p:cNvSpPr txBox="1">
            <a:spLocks noChangeArrowheads="1"/>
          </p:cNvSpPr>
          <p:nvPr/>
        </p:nvSpPr>
        <p:spPr bwMode="auto">
          <a:xfrm>
            <a:off x="25213875" y="2720976"/>
            <a:ext cx="17283500" cy="677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Text Box 18">
            <a:extLst>
              <a:ext uri="{FF2B5EF4-FFF2-40B4-BE49-F238E27FC236}">
                <a16:creationId xmlns:a16="http://schemas.microsoft.com/office/drawing/2014/main" id="{C3F85CD2-6261-134F-B239-ED1222F486DB}"/>
              </a:ext>
            </a:extLst>
          </p:cNvPr>
          <p:cNvSpPr txBox="1">
            <a:spLocks noChangeArrowheads="1"/>
          </p:cNvSpPr>
          <p:nvPr/>
        </p:nvSpPr>
        <p:spPr bwMode="auto">
          <a:xfrm>
            <a:off x="25207300" y="19629438"/>
            <a:ext cx="17274200" cy="677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Text Box 19">
            <a:extLst>
              <a:ext uri="{FF2B5EF4-FFF2-40B4-BE49-F238E27FC236}">
                <a16:creationId xmlns:a16="http://schemas.microsoft.com/office/drawing/2014/main" id="{A69D85EF-961E-3B49-9998-05832F207479}"/>
              </a:ext>
            </a:extLst>
          </p:cNvPr>
          <p:cNvSpPr txBox="1">
            <a:spLocks noChangeArrowheads="1"/>
          </p:cNvSpPr>
          <p:nvPr/>
        </p:nvSpPr>
        <p:spPr bwMode="auto">
          <a:xfrm>
            <a:off x="25208594" y="12928600"/>
            <a:ext cx="17280843"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Text Box 9">
            <a:extLst>
              <a:ext uri="{FF2B5EF4-FFF2-40B4-BE49-F238E27FC236}">
                <a16:creationId xmlns:a16="http://schemas.microsoft.com/office/drawing/2014/main" id="{09363563-BFD4-4E48-B774-BDE24A766FB7}"/>
              </a:ext>
            </a:extLst>
          </p:cNvPr>
          <p:cNvSpPr txBox="1">
            <a:spLocks noChangeArrowheads="1"/>
          </p:cNvSpPr>
          <p:nvPr/>
        </p:nvSpPr>
        <p:spPr bwMode="auto">
          <a:xfrm>
            <a:off x="24915222" y="2720976"/>
            <a:ext cx="15751765" cy="677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Text Box 10">
            <a:extLst>
              <a:ext uri="{FF2B5EF4-FFF2-40B4-BE49-F238E27FC236}">
                <a16:creationId xmlns:a16="http://schemas.microsoft.com/office/drawing/2014/main" id="{5C49F7A6-880A-184C-8903-FD2982FBB644}"/>
              </a:ext>
            </a:extLst>
          </p:cNvPr>
          <p:cNvSpPr txBox="1">
            <a:spLocks noChangeArrowheads="1"/>
          </p:cNvSpPr>
          <p:nvPr/>
        </p:nvSpPr>
        <p:spPr bwMode="auto">
          <a:xfrm>
            <a:off x="24914705" y="19629438"/>
            <a:ext cx="15749108" cy="677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Text Box 11">
            <a:extLst>
              <a:ext uri="{FF2B5EF4-FFF2-40B4-BE49-F238E27FC236}">
                <a16:creationId xmlns:a16="http://schemas.microsoft.com/office/drawing/2014/main" id="{C1EFEB50-8D0A-6E47-88C6-D115A007A8CA}"/>
              </a:ext>
            </a:extLst>
          </p:cNvPr>
          <p:cNvSpPr txBox="1">
            <a:spLocks noChangeArrowheads="1"/>
          </p:cNvSpPr>
          <p:nvPr/>
        </p:nvSpPr>
        <p:spPr bwMode="auto">
          <a:xfrm>
            <a:off x="24915222" y="12928600"/>
            <a:ext cx="15751765"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Text Box 38">
            <a:extLst>
              <a:ext uri="{FF2B5EF4-FFF2-40B4-BE49-F238E27FC236}">
                <a16:creationId xmlns:a16="http://schemas.microsoft.com/office/drawing/2014/main" id="{4797027B-8ABD-3246-9094-D8F2D9D506B5}"/>
              </a:ext>
            </a:extLst>
          </p:cNvPr>
          <p:cNvSpPr txBox="1">
            <a:spLocks noChangeArrowheads="1"/>
          </p:cNvSpPr>
          <p:nvPr/>
        </p:nvSpPr>
        <p:spPr bwMode="auto">
          <a:xfrm>
            <a:off x="24915222" y="2720976"/>
            <a:ext cx="15751765" cy="677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Text Box 39">
            <a:extLst>
              <a:ext uri="{FF2B5EF4-FFF2-40B4-BE49-F238E27FC236}">
                <a16:creationId xmlns:a16="http://schemas.microsoft.com/office/drawing/2014/main" id="{CF380778-E6D3-9641-A86F-2B9BB942D2B1}"/>
              </a:ext>
            </a:extLst>
          </p:cNvPr>
          <p:cNvSpPr txBox="1">
            <a:spLocks noChangeArrowheads="1"/>
          </p:cNvSpPr>
          <p:nvPr/>
        </p:nvSpPr>
        <p:spPr bwMode="auto">
          <a:xfrm>
            <a:off x="24914705" y="19629438"/>
            <a:ext cx="15749108" cy="677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Text Box 40">
            <a:extLst>
              <a:ext uri="{FF2B5EF4-FFF2-40B4-BE49-F238E27FC236}">
                <a16:creationId xmlns:a16="http://schemas.microsoft.com/office/drawing/2014/main" id="{054AD686-8C04-2747-9C33-F0609B4C4982}"/>
              </a:ext>
            </a:extLst>
          </p:cNvPr>
          <p:cNvSpPr txBox="1">
            <a:spLocks noChangeArrowheads="1"/>
          </p:cNvSpPr>
          <p:nvPr/>
        </p:nvSpPr>
        <p:spPr bwMode="auto">
          <a:xfrm>
            <a:off x="24915222" y="12928600"/>
            <a:ext cx="15751765"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8D1D3CDB-2378-824C-B156-032B3E481D91}"/>
                  </a:ext>
                </a:extLst>
              </p:cNvPr>
              <p:cNvGraphicFramePr>
                <a:graphicFrameLocks noGrp="1"/>
              </p:cNvGraphicFramePr>
              <p:nvPr>
                <p:extLst>
                  <p:ext uri="{D42A27DB-BD31-4B8C-83A1-F6EECF244321}">
                    <p14:modId xmlns:p14="http://schemas.microsoft.com/office/powerpoint/2010/main" val="2154837468"/>
                  </p:ext>
                </p:extLst>
              </p:nvPr>
            </p:nvGraphicFramePr>
            <p:xfrm>
              <a:off x="2325675" y="2166133"/>
              <a:ext cx="7200000" cy="4339417"/>
            </p:xfrm>
            <a:graphic>
              <a:graphicData uri="http://schemas.openxmlformats.org/drawingml/2006/table">
                <a:tbl>
                  <a:tblPr>
                    <a:tableStyleId>{A91F0D33-8C57-4600-99A7-42BC86742BE1}</a:tableStyleId>
                  </a:tblPr>
                  <a:tblGrid>
                    <a:gridCol w="1800000">
                      <a:extLst>
                        <a:ext uri="{9D8B030D-6E8A-4147-A177-3AD203B41FA5}">
                          <a16:colId xmlns:a16="http://schemas.microsoft.com/office/drawing/2014/main" val="3164097714"/>
                        </a:ext>
                      </a:extLst>
                    </a:gridCol>
                    <a:gridCol w="1080000">
                      <a:extLst>
                        <a:ext uri="{9D8B030D-6E8A-4147-A177-3AD203B41FA5}">
                          <a16:colId xmlns:a16="http://schemas.microsoft.com/office/drawing/2014/main" val="2545153451"/>
                        </a:ext>
                      </a:extLst>
                    </a:gridCol>
                    <a:gridCol w="1080000">
                      <a:extLst>
                        <a:ext uri="{9D8B030D-6E8A-4147-A177-3AD203B41FA5}">
                          <a16:colId xmlns:a16="http://schemas.microsoft.com/office/drawing/2014/main" val="3111478782"/>
                        </a:ext>
                      </a:extLst>
                    </a:gridCol>
                    <a:gridCol w="1080000">
                      <a:extLst>
                        <a:ext uri="{9D8B030D-6E8A-4147-A177-3AD203B41FA5}">
                          <a16:colId xmlns:a16="http://schemas.microsoft.com/office/drawing/2014/main" val="2668935448"/>
                        </a:ext>
                      </a:extLst>
                    </a:gridCol>
                    <a:gridCol w="2160000">
                      <a:extLst>
                        <a:ext uri="{9D8B030D-6E8A-4147-A177-3AD203B41FA5}">
                          <a16:colId xmlns:a16="http://schemas.microsoft.com/office/drawing/2014/main" val="2496136110"/>
                        </a:ext>
                      </a:extLst>
                    </a:gridCol>
                  </a:tblGrid>
                  <a:tr h="436250">
                    <a:tc row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Rubber Bands Used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gridSpan="4">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Jump Distance (cm)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7283574"/>
                      </a:ext>
                    </a:extLst>
                  </a:tr>
                  <a:tr h="1095167">
                    <a:tc vMerge="1">
                      <a:txBody>
                        <a:bodyPr/>
                        <a:lstStyle/>
                        <a:p>
                          <a:endParaRPr lang="en-US"/>
                        </a:p>
                      </a:txBody>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TRIAL 1</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TRIAL 2</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TRIAL 3</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AVERAGE OF TRIALS</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668498751"/>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0997131"/>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5289896"/>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597689"/>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290176"/>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992351"/>
                      </a:ext>
                    </a:extLst>
                  </a:tr>
                  <a:tr h="468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13</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1809876"/>
                      </a:ext>
                    </a:extLst>
                  </a:tr>
                </a:tbl>
              </a:graphicData>
            </a:graphic>
          </p:graphicFrame>
        </mc:Choice>
        <mc:Fallback>
          <p:graphicFrame>
            <p:nvGraphicFramePr>
              <p:cNvPr id="2" name="Table 1">
                <a:extLst>
                  <a:ext uri="{FF2B5EF4-FFF2-40B4-BE49-F238E27FC236}">
                    <a16:creationId xmlns:a16="http://schemas.microsoft.com/office/drawing/2014/main" id="{8D1D3CDB-2378-824C-B156-032B3E481D91}"/>
                  </a:ext>
                </a:extLst>
              </p:cNvPr>
              <p:cNvGraphicFramePr>
                <a:graphicFrameLocks noGrp="1"/>
              </p:cNvGraphicFramePr>
              <p:nvPr>
                <p:extLst>
                  <p:ext uri="{D42A27DB-BD31-4B8C-83A1-F6EECF244321}">
                    <p14:modId xmlns:p14="http://schemas.microsoft.com/office/powerpoint/2010/main" val="2154837468"/>
                  </p:ext>
                </p:extLst>
              </p:nvPr>
            </p:nvGraphicFramePr>
            <p:xfrm>
              <a:off x="2325675" y="2166133"/>
              <a:ext cx="7200000" cy="4339417"/>
            </p:xfrm>
            <a:graphic>
              <a:graphicData uri="http://schemas.openxmlformats.org/drawingml/2006/table">
                <a:tbl>
                  <a:tblPr>
                    <a:tableStyleId>{A91F0D33-8C57-4600-99A7-42BC86742BE1}</a:tableStyleId>
                  </a:tblPr>
                  <a:tblGrid>
                    <a:gridCol w="1800000">
                      <a:extLst>
                        <a:ext uri="{9D8B030D-6E8A-4147-A177-3AD203B41FA5}">
                          <a16:colId xmlns:a16="http://schemas.microsoft.com/office/drawing/2014/main" val="3164097714"/>
                        </a:ext>
                      </a:extLst>
                    </a:gridCol>
                    <a:gridCol w="1080000">
                      <a:extLst>
                        <a:ext uri="{9D8B030D-6E8A-4147-A177-3AD203B41FA5}">
                          <a16:colId xmlns:a16="http://schemas.microsoft.com/office/drawing/2014/main" val="2545153451"/>
                        </a:ext>
                      </a:extLst>
                    </a:gridCol>
                    <a:gridCol w="1080000">
                      <a:extLst>
                        <a:ext uri="{9D8B030D-6E8A-4147-A177-3AD203B41FA5}">
                          <a16:colId xmlns:a16="http://schemas.microsoft.com/office/drawing/2014/main" val="3111478782"/>
                        </a:ext>
                      </a:extLst>
                    </a:gridCol>
                    <a:gridCol w="1080000">
                      <a:extLst>
                        <a:ext uri="{9D8B030D-6E8A-4147-A177-3AD203B41FA5}">
                          <a16:colId xmlns:a16="http://schemas.microsoft.com/office/drawing/2014/main" val="2668935448"/>
                        </a:ext>
                      </a:extLst>
                    </a:gridCol>
                    <a:gridCol w="2160000">
                      <a:extLst>
                        <a:ext uri="{9D8B030D-6E8A-4147-A177-3AD203B41FA5}">
                          <a16:colId xmlns:a16="http://schemas.microsoft.com/office/drawing/2014/main" val="2496136110"/>
                        </a:ext>
                      </a:extLst>
                    </a:gridCol>
                  </a:tblGrid>
                  <a:tr h="436250">
                    <a:tc row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Rubber Bands Used</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gridSpan="4">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Jump Distance (cm)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7283574"/>
                      </a:ext>
                    </a:extLst>
                  </a:tr>
                  <a:tr h="1095167">
                    <a:tc vMerge="1">
                      <a:txBody>
                        <a:bodyPr/>
                        <a:lstStyle/>
                        <a:p>
                          <a:endParaRPr lang="en-US"/>
                        </a:p>
                      </a:txBody>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TRIAL 1</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TRIAL 2</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TRIAL 3</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AVERAGE OF TRIALS</a:t>
                          </a: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668498751"/>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676" t="-329870" r="-300338" b="-502597"/>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0997131"/>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676" t="-435526" r="-300338" b="-409211"/>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5289896"/>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676" t="-528571" r="-300338" b="-303896"/>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597689"/>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676" t="-628571" r="-300338" b="-203896"/>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290176"/>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676" t="-728571" r="-300338" b="-103896"/>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992351"/>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676" t="-828571" r="-300338" b="-3896"/>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1809876"/>
                      </a:ext>
                    </a:extLst>
                  </a:tr>
                </a:tbl>
              </a:graphicData>
            </a:graphic>
          </p:graphicFrame>
        </mc:Fallback>
      </mc:AlternateContent>
    </p:spTree>
    <p:extLst>
      <p:ext uri="{BB962C8B-B14F-4D97-AF65-F5344CB8AC3E}">
        <p14:creationId xmlns:p14="http://schemas.microsoft.com/office/powerpoint/2010/main" val="3700412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210</a:t>
            </a:r>
          </a:p>
        </p:txBody>
      </p:sp>
      <p:sp>
        <p:nvSpPr>
          <p:cNvPr id="5" name="TextBox 4">
            <a:extLst>
              <a:ext uri="{FF2B5EF4-FFF2-40B4-BE49-F238E27FC236}">
                <a16:creationId xmlns:a16="http://schemas.microsoft.com/office/drawing/2014/main" id="{B6C08EE3-8247-C14E-9600-35165D5C8679}"/>
              </a:ext>
            </a:extLst>
          </p:cNvPr>
          <p:cNvSpPr txBox="1"/>
          <p:nvPr/>
        </p:nvSpPr>
        <p:spPr>
          <a:xfrm>
            <a:off x="844061" y="433754"/>
            <a:ext cx="10902461" cy="5632311"/>
          </a:xfrm>
          <a:prstGeom prst="rect">
            <a:avLst/>
          </a:prstGeom>
          <a:noFill/>
        </p:spPr>
        <p:txBody>
          <a:bodyPr wrap="square" rtlCol="0">
            <a:spAutoFit/>
          </a:bodyPr>
          <a:lstStyle/>
          <a:p>
            <a:pPr marL="914400" lvl="1"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Calculate the average of the trials for each number of rubber bands and record it in the table.</a:t>
            </a: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Consider the quantities being compared in this experiment.</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49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Identify the two variables represented in the table.</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4926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Label the variables identified in Part A as independent (I) and dependent (D). </a:t>
            </a:r>
          </a:p>
          <a:p>
            <a:pPr marL="914400" lvl="1" indent="-4492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49263"/>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4926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Explain how you determined the appropriate labels in Part B. </a:t>
            </a:r>
          </a:p>
        </p:txBody>
      </p:sp>
      <p:sp>
        <p:nvSpPr>
          <p:cNvPr id="31" name="Text Box 17">
            <a:extLst>
              <a:ext uri="{FF2B5EF4-FFF2-40B4-BE49-F238E27FC236}">
                <a16:creationId xmlns:a16="http://schemas.microsoft.com/office/drawing/2014/main" id="{AF4CC5EE-5647-074D-B4C3-95A70F170219}"/>
              </a:ext>
            </a:extLst>
          </p:cNvPr>
          <p:cNvSpPr txBox="1">
            <a:spLocks noChangeArrowheads="1"/>
          </p:cNvSpPr>
          <p:nvPr/>
        </p:nvSpPr>
        <p:spPr bwMode="auto">
          <a:xfrm>
            <a:off x="25213875" y="2720976"/>
            <a:ext cx="17283500" cy="677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Text Box 18">
            <a:extLst>
              <a:ext uri="{FF2B5EF4-FFF2-40B4-BE49-F238E27FC236}">
                <a16:creationId xmlns:a16="http://schemas.microsoft.com/office/drawing/2014/main" id="{C3F85CD2-6261-134F-B239-ED1222F486DB}"/>
              </a:ext>
            </a:extLst>
          </p:cNvPr>
          <p:cNvSpPr txBox="1">
            <a:spLocks noChangeArrowheads="1"/>
          </p:cNvSpPr>
          <p:nvPr/>
        </p:nvSpPr>
        <p:spPr bwMode="auto">
          <a:xfrm>
            <a:off x="25207300" y="19629438"/>
            <a:ext cx="17274200" cy="677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Text Box 19">
            <a:extLst>
              <a:ext uri="{FF2B5EF4-FFF2-40B4-BE49-F238E27FC236}">
                <a16:creationId xmlns:a16="http://schemas.microsoft.com/office/drawing/2014/main" id="{A69D85EF-961E-3B49-9998-05832F207479}"/>
              </a:ext>
            </a:extLst>
          </p:cNvPr>
          <p:cNvSpPr txBox="1">
            <a:spLocks noChangeArrowheads="1"/>
          </p:cNvSpPr>
          <p:nvPr/>
        </p:nvSpPr>
        <p:spPr bwMode="auto">
          <a:xfrm>
            <a:off x="25208594" y="12928600"/>
            <a:ext cx="17280843"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Text Box 9">
            <a:extLst>
              <a:ext uri="{FF2B5EF4-FFF2-40B4-BE49-F238E27FC236}">
                <a16:creationId xmlns:a16="http://schemas.microsoft.com/office/drawing/2014/main" id="{09363563-BFD4-4E48-B774-BDE24A766FB7}"/>
              </a:ext>
            </a:extLst>
          </p:cNvPr>
          <p:cNvSpPr txBox="1">
            <a:spLocks noChangeArrowheads="1"/>
          </p:cNvSpPr>
          <p:nvPr/>
        </p:nvSpPr>
        <p:spPr bwMode="auto">
          <a:xfrm>
            <a:off x="24915222" y="2720976"/>
            <a:ext cx="15751765" cy="677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Text Box 10">
            <a:extLst>
              <a:ext uri="{FF2B5EF4-FFF2-40B4-BE49-F238E27FC236}">
                <a16:creationId xmlns:a16="http://schemas.microsoft.com/office/drawing/2014/main" id="{5C49F7A6-880A-184C-8903-FD2982FBB644}"/>
              </a:ext>
            </a:extLst>
          </p:cNvPr>
          <p:cNvSpPr txBox="1">
            <a:spLocks noChangeArrowheads="1"/>
          </p:cNvSpPr>
          <p:nvPr/>
        </p:nvSpPr>
        <p:spPr bwMode="auto">
          <a:xfrm>
            <a:off x="24914705" y="19629438"/>
            <a:ext cx="15749108" cy="677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Text Box 11">
            <a:extLst>
              <a:ext uri="{FF2B5EF4-FFF2-40B4-BE49-F238E27FC236}">
                <a16:creationId xmlns:a16="http://schemas.microsoft.com/office/drawing/2014/main" id="{C1EFEB50-8D0A-6E47-88C6-D115A007A8CA}"/>
              </a:ext>
            </a:extLst>
          </p:cNvPr>
          <p:cNvSpPr txBox="1">
            <a:spLocks noChangeArrowheads="1"/>
          </p:cNvSpPr>
          <p:nvPr/>
        </p:nvSpPr>
        <p:spPr bwMode="auto">
          <a:xfrm>
            <a:off x="24915222" y="12928600"/>
            <a:ext cx="15751765"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Text Box 38">
            <a:extLst>
              <a:ext uri="{FF2B5EF4-FFF2-40B4-BE49-F238E27FC236}">
                <a16:creationId xmlns:a16="http://schemas.microsoft.com/office/drawing/2014/main" id="{4797027B-8ABD-3246-9094-D8F2D9D506B5}"/>
              </a:ext>
            </a:extLst>
          </p:cNvPr>
          <p:cNvSpPr txBox="1">
            <a:spLocks noChangeArrowheads="1"/>
          </p:cNvSpPr>
          <p:nvPr/>
        </p:nvSpPr>
        <p:spPr bwMode="auto">
          <a:xfrm>
            <a:off x="24915222" y="2720976"/>
            <a:ext cx="15751765" cy="677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Text Box 39">
            <a:extLst>
              <a:ext uri="{FF2B5EF4-FFF2-40B4-BE49-F238E27FC236}">
                <a16:creationId xmlns:a16="http://schemas.microsoft.com/office/drawing/2014/main" id="{CF380778-E6D3-9641-A86F-2B9BB942D2B1}"/>
              </a:ext>
            </a:extLst>
          </p:cNvPr>
          <p:cNvSpPr txBox="1">
            <a:spLocks noChangeArrowheads="1"/>
          </p:cNvSpPr>
          <p:nvPr/>
        </p:nvSpPr>
        <p:spPr bwMode="auto">
          <a:xfrm>
            <a:off x="24914705" y="19629438"/>
            <a:ext cx="15749108" cy="677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Text Box 40">
            <a:extLst>
              <a:ext uri="{FF2B5EF4-FFF2-40B4-BE49-F238E27FC236}">
                <a16:creationId xmlns:a16="http://schemas.microsoft.com/office/drawing/2014/main" id="{054AD686-8C04-2747-9C33-F0609B4C4982}"/>
              </a:ext>
            </a:extLst>
          </p:cNvPr>
          <p:cNvSpPr txBox="1">
            <a:spLocks noChangeArrowheads="1"/>
          </p:cNvSpPr>
          <p:nvPr/>
        </p:nvSpPr>
        <p:spPr bwMode="auto">
          <a:xfrm>
            <a:off x="24915222" y="12928600"/>
            <a:ext cx="15751765"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65011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211</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815"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211</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29345" y="227058"/>
            <a:ext cx="8806392"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11.7.3 Wrap-Up: Growth Mindset</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82045" y="148853"/>
            <a:ext cx="747300" cy="747300"/>
          </a:xfrm>
          <a:prstGeom prst="rect">
            <a:avLst/>
          </a:prstGeom>
          <a:noFill/>
          <a:ln>
            <a:noFill/>
          </a:ln>
        </p:spPr>
      </p:pic>
      <p:sp>
        <p:nvSpPr>
          <p:cNvPr id="12" name="TextBox 11">
            <a:extLst>
              <a:ext uri="{FF2B5EF4-FFF2-40B4-BE49-F238E27FC236}">
                <a16:creationId xmlns:a16="http://schemas.microsoft.com/office/drawing/2014/main" id="{0370EDB7-6994-3D43-ABF9-E04CBAFB9CD9}"/>
              </a:ext>
            </a:extLst>
          </p:cNvPr>
          <p:cNvSpPr txBox="1"/>
          <p:nvPr/>
        </p:nvSpPr>
        <p:spPr>
          <a:xfrm>
            <a:off x="1043354" y="1300744"/>
            <a:ext cx="10456984"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Reflect on your mindset today by placing a check next to the frequency that you demonstrated the behavior described in each statement.</a:t>
            </a:r>
          </a:p>
        </p:txBody>
      </p:sp>
      <p:graphicFrame>
        <p:nvGraphicFramePr>
          <p:cNvPr id="4" name="Table 4">
            <a:extLst>
              <a:ext uri="{FF2B5EF4-FFF2-40B4-BE49-F238E27FC236}">
                <a16:creationId xmlns:a16="http://schemas.microsoft.com/office/drawing/2014/main" id="{A9C3E20A-174A-984B-AFC9-74EC6EE795BF}"/>
              </a:ext>
            </a:extLst>
          </p:cNvPr>
          <p:cNvGraphicFramePr>
            <a:graphicFrameLocks noGrp="1"/>
          </p:cNvGraphicFramePr>
          <p:nvPr>
            <p:extLst>
              <p:ext uri="{D42A27DB-BD31-4B8C-83A1-F6EECF244321}">
                <p14:modId xmlns:p14="http://schemas.microsoft.com/office/powerpoint/2010/main" val="3768761304"/>
              </p:ext>
            </p:extLst>
          </p:nvPr>
        </p:nvGraphicFramePr>
        <p:xfrm>
          <a:off x="2146582" y="2792823"/>
          <a:ext cx="7560000" cy="2880000"/>
        </p:xfrm>
        <a:graphic>
          <a:graphicData uri="http://schemas.openxmlformats.org/drawingml/2006/table">
            <a:tbl>
              <a:tblPr firstRow="1" bandRow="1">
                <a:tableStyleId>{A91F0D33-8C57-4600-99A7-42BC86742BE1}</a:tableStyleId>
              </a:tblPr>
              <a:tblGrid>
                <a:gridCol w="5040000">
                  <a:extLst>
                    <a:ext uri="{9D8B030D-6E8A-4147-A177-3AD203B41FA5}">
                      <a16:colId xmlns:a16="http://schemas.microsoft.com/office/drawing/2014/main" val="3708275899"/>
                    </a:ext>
                  </a:extLst>
                </a:gridCol>
                <a:gridCol w="2520000">
                  <a:extLst>
                    <a:ext uri="{9D8B030D-6E8A-4147-A177-3AD203B41FA5}">
                      <a16:colId xmlns:a16="http://schemas.microsoft.com/office/drawing/2014/main" val="397570776"/>
                    </a:ext>
                  </a:extLst>
                </a:gridCol>
              </a:tblGrid>
              <a:tr h="1440000">
                <a:tc>
                  <a:txBody>
                    <a:bodyPr/>
                    <a:lstStyle/>
                    <a:p>
                      <a:pPr algn="ctr"/>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Today I listened to my teammates and I was open to discussing how to complete the work.</a:t>
                      </a: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Never</a:t>
                      </a:r>
                    </a:p>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Sometimes</a:t>
                      </a:r>
                    </a:p>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Usually </a:t>
                      </a:r>
                    </a:p>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Always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4432463"/>
                  </a:ext>
                </a:extLst>
              </a:tr>
              <a:tr h="1440000">
                <a:tc>
                  <a:txBody>
                    <a:bodyPr/>
                    <a:lstStyle/>
                    <a:p>
                      <a:pPr algn="ctr"/>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I thought of today’s lesson as a learning opportunity instead of rushing to complete the work.</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Never</a:t>
                      </a:r>
                    </a:p>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Sometimes</a:t>
                      </a:r>
                    </a:p>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Usually </a:t>
                      </a:r>
                    </a:p>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Always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8859620"/>
                  </a:ext>
                </a:extLst>
              </a:tr>
            </a:tbl>
          </a:graphicData>
        </a:graphic>
      </p:graphicFrame>
    </p:spTree>
    <p:extLst>
      <p:ext uri="{BB962C8B-B14F-4D97-AF65-F5344CB8AC3E}">
        <p14:creationId xmlns:p14="http://schemas.microsoft.com/office/powerpoint/2010/main" val="553995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2421"/>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9496"/>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211</a:t>
            </a:r>
          </a:p>
        </p:txBody>
      </p:sp>
      <p:sp>
        <p:nvSpPr>
          <p:cNvPr id="5" name="TextBox 4">
            <a:extLst>
              <a:ext uri="{FF2B5EF4-FFF2-40B4-BE49-F238E27FC236}">
                <a16:creationId xmlns:a16="http://schemas.microsoft.com/office/drawing/2014/main" id="{4CE9D117-FAE6-F74F-940B-9CD1479755BE}"/>
              </a:ext>
            </a:extLst>
          </p:cNvPr>
          <p:cNvSpPr txBox="1"/>
          <p:nvPr/>
        </p:nvSpPr>
        <p:spPr>
          <a:xfrm>
            <a:off x="1148290" y="4354128"/>
            <a:ext cx="10761785"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Based on your responses, what will you do to improve or maintain a growth mindset tomorrow?</a:t>
            </a:r>
          </a:p>
        </p:txBody>
      </p:sp>
      <p:graphicFrame>
        <p:nvGraphicFramePr>
          <p:cNvPr id="2" name="Table 1"/>
          <p:cNvGraphicFramePr>
            <a:graphicFrameLocks noGrp="1"/>
          </p:cNvGraphicFramePr>
          <p:nvPr>
            <p:extLst>
              <p:ext uri="{D42A27DB-BD31-4B8C-83A1-F6EECF244321}">
                <p14:modId xmlns:p14="http://schemas.microsoft.com/office/powerpoint/2010/main" val="714956490"/>
              </p:ext>
            </p:extLst>
          </p:nvPr>
        </p:nvGraphicFramePr>
        <p:xfrm>
          <a:off x="2492976" y="703906"/>
          <a:ext cx="7560000" cy="2880000"/>
        </p:xfrm>
        <a:graphic>
          <a:graphicData uri="http://schemas.openxmlformats.org/drawingml/2006/table">
            <a:tbl>
              <a:tblPr firstRow="1" bandRow="1">
                <a:tableStyleId>{A91F0D33-8C57-4600-99A7-42BC86742BE1}</a:tableStyleId>
              </a:tblPr>
              <a:tblGrid>
                <a:gridCol w="504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tblGrid>
              <a:tr h="1440000">
                <a:tc>
                  <a:txBody>
                    <a:bodyPr/>
                    <a:lstStyle/>
                    <a:p>
                      <a:pPr algn="ctr"/>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Today I asked for clarification when I was unsure about something.</a:t>
                      </a: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Never</a:t>
                      </a:r>
                    </a:p>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Sometimes</a:t>
                      </a:r>
                    </a:p>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Usually </a:t>
                      </a:r>
                    </a:p>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Always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440000">
                <a:tc>
                  <a:txBody>
                    <a:bodyPr/>
                    <a:lstStyle/>
                    <a:p>
                      <a:pPr algn="ctr"/>
                      <a:r>
                        <a:rPr lang="en-US" sz="2000" b="0" i="0" u="none" strike="noStrike" cap="none" dirty="0">
                          <a:solidFill>
                            <a:srgbClr val="000000"/>
                          </a:solidFill>
                          <a:effectLst/>
                          <a:latin typeface="Verdana" panose="020B0604030504040204" pitchFamily="34" charset="0"/>
                          <a:ea typeface="Verdana" panose="020B0604030504040204" pitchFamily="34" charset="0"/>
                          <a:cs typeface="Verdana" panose="020B0604030504040204" pitchFamily="34" charset="0"/>
                          <a:sym typeface="Arial"/>
                        </a:rPr>
                        <a:t>I put as much effort as I possibly could into today’s work.</a:t>
                      </a: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Never</a:t>
                      </a:r>
                    </a:p>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Sometimes</a:t>
                      </a:r>
                    </a:p>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Usually </a:t>
                      </a:r>
                    </a:p>
                    <a:p>
                      <a:pPr marL="536575"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Always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 name="Google Shape;278;g104476d1465_1_17"/>
          <p:cNvSpPr/>
          <p:nvPr/>
        </p:nvSpPr>
        <p:spPr>
          <a:xfrm>
            <a:off x="0" y="3597"/>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1295</TotalTime>
  <Words>826</Words>
  <Application>Microsoft Office PowerPoint</Application>
  <PresentationFormat>Widescreen</PresentationFormat>
  <Paragraphs>169</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Calibri</vt:lpstr>
      <vt:lpstr>Arial Black</vt:lpstr>
      <vt:lpstr>Cambria Math</vt:lpstr>
      <vt:lpstr>Courier New</vt:lpstr>
      <vt:lpstr>Arial</vt:lpstr>
      <vt:lpstr>Verdana</vt:lpstr>
      <vt:lpstr>Times New Roman</vt:lpstr>
      <vt:lpstr>Century Gothic</vt:lpstr>
      <vt:lpstr>1_Office Theme</vt:lpstr>
      <vt:lpstr>8th Grade Math: Pre-Algebra  Unit 11, Lesson 7  Barbie Bungee – Part 1  Volume 2, pg. 209  </vt:lpstr>
      <vt:lpstr>Benchmark</vt:lpstr>
      <vt:lpstr>PowerPoint Presentation</vt:lpstr>
      <vt:lpstr>PowerPoint Presentation</vt:lpstr>
      <vt:lpstr>Warm-Up</vt:lpstr>
      <vt:lpstr>PowerPoint Presentation</vt:lpstr>
      <vt:lpstr>Activity</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22</cp:revision>
  <dcterms:created xsi:type="dcterms:W3CDTF">2015-03-17T18:51:18Z</dcterms:created>
  <dcterms:modified xsi:type="dcterms:W3CDTF">2022-06-19T18:41:34Z</dcterms:modified>
</cp:coreProperties>
</file>