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33" r:id="rId11"/>
    <p:sldId id="334" r:id="rId12"/>
    <p:sldId id="329" r:id="rId13"/>
    <p:sldId id="330" r:id="rId14"/>
    <p:sldId id="323" r:id="rId15"/>
    <p:sldId id="324" r:id="rId16"/>
    <p:sldId id="325" r:id="rId17"/>
    <p:sldId id="336" r:id="rId18"/>
    <p:sldId id="337" r:id="rId19"/>
    <p:sldId id="302" r:id="rId20"/>
    <p:sldId id="303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57" autoAdjust="0"/>
    <p:restoredTop sz="94707" autoAdjust="0"/>
  </p:normalViewPr>
  <p:slideViewPr>
    <p:cSldViewPr snapToGrid="0">
      <p:cViewPr varScale="1">
        <p:scale>
          <a:sx n="86" d="100"/>
          <a:sy n="86" d="100"/>
        </p:scale>
        <p:origin x="90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76040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3887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2533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48915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12390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tiff"/><Relationship Id="rId5" Type="http://schemas.openxmlformats.org/officeDocument/2006/relationships/image" Target="../media/image370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6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Interpreting Linear Equations Fit to Bivariate Data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204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70678" y="-616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78" y="19421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57199" y="1264050"/>
            <a:ext cx="10937631" cy="4445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MA.8.AR.3.5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real-world context, determine and interpret the slope and 𝑦-intercept of a two-variable linear equation from a written description, a table, a graph, or an equation in slope-intercept form. 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MA.8.DP.1.2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Given a scatter plot within a real-world context, describe patterns of association.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73" y="242633"/>
            <a:ext cx="737873" cy="76656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2522" y="0"/>
            <a:ext cx="9763723" cy="1336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9262" y="1535723"/>
            <a:ext cx="11066584" cy="4454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76319" y="-8807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57" y="2011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0" y="1271954"/>
                <a:ext cx="11125200" cy="43140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solidFill>
                      <a:schemeClr val="tx1"/>
                    </a:solidFill>
                    <a:latin typeface="Verdana" pitchFamily="34" charset="0"/>
                    <a:ea typeface="Verdana" pitchFamily="34" charset="0"/>
                    <a:cs typeface="Verdana" pitchFamily="34" charset="0"/>
                    <a:sym typeface="Verdana"/>
                  </a:rPr>
                  <a:t>I</a:t>
                </a: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describe patterns of associations in data on a scatter plot. </a:t>
                </a:r>
              </a:p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determine the slope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from a given line fit to a set of bivariate data.</a:t>
                </a:r>
              </a:p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interpret the slope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8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a linear equation in a real-world context.</a:t>
                </a:r>
              </a:p>
            </p:txBody>
          </p:sp>
        </mc:Choice>
        <mc:Fallback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71954"/>
                <a:ext cx="11125200" cy="4314092"/>
              </a:xfrm>
              <a:prstGeom prst="rect">
                <a:avLst/>
              </a:prstGeom>
              <a:blipFill>
                <a:blip r:embed="rId5"/>
                <a:stretch>
                  <a:fillRect l="-1863" t="-5516" b="-50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13148" y="226803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11.6.1 Warm-Up: Number Puzzles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12089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53662" y="942875"/>
            <a:ext cx="8933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Read the clues for each puzzle to find the answer.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7BF280D-0CE0-4448-A34A-1C7CAB8C28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4110116"/>
                  </p:ext>
                </p:extLst>
              </p:nvPr>
            </p:nvGraphicFramePr>
            <p:xfrm>
              <a:off x="2640268" y="1533542"/>
              <a:ext cx="6840000" cy="41061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12316322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386224414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880565107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Clues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47733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Puzzle 1</a:t>
                          </a: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My value is even.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My value is greater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My value is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46343367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Puzzle 2</a:t>
                          </a: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My value is even.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My value is not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My value is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673595"/>
                      </a:ext>
                    </a:extLst>
                  </a:tr>
                  <a:tr h="1188000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Puzzle 3</a:t>
                          </a: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am a multiple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am greater than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4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  <a:p>
                          <a:pPr marL="342900" marR="0" lvl="0" indent="-3429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itchFamily="2" charset="2"/>
                            <a:buChar char="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am less than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US" sz="2000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25764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7BF280D-0CE0-4448-A34A-1C7CAB8C285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4110116"/>
                  </p:ext>
                </p:extLst>
              </p:nvPr>
            </p:nvGraphicFramePr>
            <p:xfrm>
              <a:off x="2640268" y="1533542"/>
              <a:ext cx="6840000" cy="41061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012316322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3862244141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880565107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Clues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447733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Puzzle 1</a:t>
                          </a: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7302" t="-45745" r="-42229" b="-20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4634336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Puzzle 2</a:t>
                          </a: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7302" t="-145745" r="-42229" b="-10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1673595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71755" marR="71755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Puzzle 3</a:t>
                          </a: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7302" t="-245745" r="-42229" b="-10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525764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575174" y="5830259"/>
            <a:ext cx="8812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strategies did you use to determine the answer for each puzzle? 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205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30460" y="-122145"/>
            <a:ext cx="10147140" cy="143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11.6.2 Exploration: Linear Equations Modeling Bivariate Data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205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4162" y="12598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992459" y="1437433"/>
                <a:ext cx="468121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Camilo traveled with his family from Jasper, FL to Hialeah, FL.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trip was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using I-95 to avoid tolls. Throughout the trip, Camilo recorded the distance traveled, in miles (mi), for specific amounts of time, in hours. The scatter plot shows the data Camilo recorded.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459" y="1437433"/>
                <a:ext cx="4681219" cy="3170099"/>
              </a:xfrm>
              <a:prstGeom prst="rect">
                <a:avLst/>
              </a:prstGeom>
              <a:blipFill>
                <a:blip r:embed="rId5"/>
                <a:stretch>
                  <a:fillRect l="-1432" t="-1346" r="-1563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5851640" y="1185304"/>
            <a:ext cx="4680911" cy="4716233"/>
            <a:chOff x="1541213" y="2013061"/>
            <a:chExt cx="4680911" cy="4716233"/>
          </a:xfrm>
        </p:grpSpPr>
        <p:pic>
          <p:nvPicPr>
            <p:cNvPr id="9" name="Picture 8" descr="Chart, scatter chart&#10;&#10;Description automatically generated">
              <a:extLst>
                <a:ext uri="{FF2B5EF4-FFF2-40B4-BE49-F238E27FC236}">
                  <a16:creationId xmlns:a16="http://schemas.microsoft.com/office/drawing/2014/main" id="{0483B9CF-05DC-0C4B-89FA-F6697916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67908" y="2013061"/>
              <a:ext cx="4254216" cy="4254216"/>
            </a:xfrm>
            <a:prstGeom prst="rect">
              <a:avLst/>
            </a:prstGeom>
          </p:spPr>
        </p:pic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9A5A8E63-5898-3A40-8B5E-F215B5BFEBB3}"/>
                </a:ext>
              </a:extLst>
            </p:cNvPr>
            <p:cNvSpPr txBox="1"/>
            <p:nvPr/>
          </p:nvSpPr>
          <p:spPr>
            <a:xfrm rot="16200000">
              <a:off x="-153920" y="3943319"/>
              <a:ext cx="3783965" cy="3937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Distance Traveled (mi)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301278" y="6329184"/>
              <a:ext cx="358623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Number of Hours Traveled</a:t>
              </a:r>
              <a:endParaRPr lang="en-PH" dirty="0"/>
            </a:p>
          </p:txBody>
        </p:sp>
      </p:grp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025913" y="826836"/>
                <a:ext cx="10322026" cy="5204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(0.5, 33.5)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on the scatter plot. Complete the statement to interpret the meaning of this point in context.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one of the times Camilo recorded their travel, the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family had traveled                             in 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At what speed was the family traveling during the period of time represented by the point in Part A?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association between the number of hours traveled and distance traveled by the family.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913" y="826836"/>
                <a:ext cx="10322026" cy="5204328"/>
              </a:xfrm>
              <a:prstGeom prst="rect">
                <a:avLst/>
              </a:prstGeom>
              <a:blipFill>
                <a:blip r:embed="rId4"/>
                <a:stretch>
                  <a:fillRect t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29A8DDE-4C74-B040-9340-60AA11B87544}"/>
                  </a:ext>
                </a:extLst>
              </p:cNvPr>
              <p:cNvSpPr/>
              <p:nvPr/>
            </p:nvSpPr>
            <p:spPr>
              <a:xfrm>
                <a:off x="4560312" y="2181135"/>
                <a:ext cx="2335788" cy="81247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73050" indent="-2730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33.5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miles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73050" indent="-27305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33.5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hours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D29A8DDE-4C74-B040-9340-60AA11B875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0312" y="2181135"/>
                <a:ext cx="2335788" cy="812476"/>
              </a:xfrm>
              <a:prstGeom prst="roundRect">
                <a:avLst/>
              </a:prstGeom>
              <a:blipFill>
                <a:blip r:embed="rId5"/>
                <a:stretch>
                  <a:fillRect l="-538" b="-7576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B99D9FD-642C-2749-908D-43FD81C41DA8}"/>
                  </a:ext>
                </a:extLst>
              </p:cNvPr>
              <p:cNvSpPr/>
              <p:nvPr/>
            </p:nvSpPr>
            <p:spPr>
              <a:xfrm>
                <a:off x="7486102" y="2181135"/>
                <a:ext cx="2103940" cy="812476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73050" indent="-2730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73050" indent="-27305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0.5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hour.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6B99D9FD-642C-2749-908D-43FD81C41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102" y="2181135"/>
                <a:ext cx="2103940" cy="812476"/>
              </a:xfrm>
              <a:prstGeom prst="roundRect">
                <a:avLst/>
              </a:prstGeom>
              <a:blipFill>
                <a:blip r:embed="rId6"/>
                <a:stretch>
                  <a:fillRect b="-7576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059366" y="664348"/>
                <a:ext cx="907931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49263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Suppose the line shown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is fit to the data.</a:t>
                </a:r>
              </a:p>
              <a:p>
                <a:pPr marL="7937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47675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the line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fit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=45.9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+11.5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47675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partner what you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think this line of fit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represents in this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context. Summarize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your discussion.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366" y="664348"/>
                <a:ext cx="9079317" cy="3785652"/>
              </a:xfrm>
              <a:prstGeom prst="rect">
                <a:avLst/>
              </a:prstGeom>
              <a:blipFill>
                <a:blip r:embed="rId4"/>
                <a:stretch>
                  <a:fillRect l="-672" t="-1127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5599024" y="664348"/>
            <a:ext cx="4485586" cy="4515287"/>
            <a:chOff x="4377998" y="1332213"/>
            <a:chExt cx="4485586" cy="4515287"/>
          </a:xfrm>
        </p:grpSpPr>
        <p:sp>
          <p:nvSpPr>
            <p:cNvPr id="9" name="Text Box 13">
              <a:extLst>
                <a:ext uri="{FF2B5EF4-FFF2-40B4-BE49-F238E27FC236}">
                  <a16:creationId xmlns:a16="http://schemas.microsoft.com/office/drawing/2014/main" id="{14D40386-7CC9-BE45-BEF9-EBFE3F253B25}"/>
                </a:ext>
              </a:extLst>
            </p:cNvPr>
            <p:cNvSpPr txBox="1"/>
            <p:nvPr/>
          </p:nvSpPr>
          <p:spPr>
            <a:xfrm rot="16200000">
              <a:off x="2682865" y="3181305"/>
              <a:ext cx="3783965" cy="39370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Distance Traveled (mi)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0" name="Picture 9" descr="Chart, line chart&#10;&#10;Description automatically generated">
              <a:extLst>
                <a:ext uri="{FF2B5EF4-FFF2-40B4-BE49-F238E27FC236}">
                  <a16:creationId xmlns:a16="http://schemas.microsoft.com/office/drawing/2014/main" id="{E75C80EB-5BBD-494B-8940-9FDA72E3E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71697" y="1332213"/>
              <a:ext cx="4091887" cy="4091887"/>
            </a:xfrm>
            <a:prstGeom prst="rect">
              <a:avLst/>
            </a:prstGeom>
          </p:spPr>
        </p:pic>
        <p:sp>
          <p:nvSpPr>
            <p:cNvPr id="3" name="Rectangle 2"/>
            <p:cNvSpPr/>
            <p:nvPr/>
          </p:nvSpPr>
          <p:spPr>
            <a:xfrm>
              <a:off x="4979637" y="5447390"/>
              <a:ext cx="367600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Number of Hours Traveled</a:t>
              </a:r>
              <a:endParaRPr lang="en-PH" dirty="0"/>
            </a:p>
          </p:txBody>
        </p:sp>
      </p:grpSp>
    </p:spTree>
    <p:extLst>
      <p:ext uri="{BB962C8B-B14F-4D97-AF65-F5344CB8AC3E}">
        <p14:creationId xmlns:p14="http://schemas.microsoft.com/office/powerpoint/2010/main" val="1675092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3941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081668" y="831289"/>
                <a:ext cx="9253233" cy="3939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914400">
                  <a:lnSpc>
                    <a:spcPct val="2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slope of the line fit to the data is                This means, on average, the family traveled about  			      on their trip from Jasper to Hialeah.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you think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line makes sense for this context.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668" y="831289"/>
                <a:ext cx="9253233" cy="3939540"/>
              </a:xfrm>
              <a:prstGeom prst="rect">
                <a:avLst/>
              </a:prstGeom>
              <a:blipFill>
                <a:blip r:embed="rId4"/>
                <a:stretch>
                  <a:fillRect t="-927" r="-1054" b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B2ED985-6DA0-5C46-8212-6B94A5C4AA7E}"/>
                  </a:ext>
                </a:extLst>
              </p:cNvPr>
              <p:cNvSpPr/>
              <p:nvPr/>
            </p:nvSpPr>
            <p:spPr>
              <a:xfrm>
                <a:off x="6931885" y="1269983"/>
                <a:ext cx="1194480" cy="783193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73050" indent="-2730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11.5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273050" indent="-27305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45.9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EB2ED985-6DA0-5C46-8212-6B94A5C4AA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885" y="1269983"/>
                <a:ext cx="1194480" cy="783193"/>
              </a:xfrm>
              <a:prstGeom prst="roundRect">
                <a:avLst/>
              </a:prstGeom>
              <a:blipFill>
                <a:blip r:embed="rId5"/>
                <a:stretch>
                  <a:fillRect l="-1005" b="-9091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E1E1663-6A08-7D42-B497-CE80EA6A4E05}"/>
              </a:ext>
            </a:extLst>
          </p:cNvPr>
          <p:cNvSpPr/>
          <p:nvPr/>
        </p:nvSpPr>
        <p:spPr>
          <a:xfrm>
            <a:off x="7776554" y="2113466"/>
            <a:ext cx="2472784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miles per hour</a:t>
            </a: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hours per mile</a:t>
            </a:r>
            <a:endParaRPr lang="en-US" sz="2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9BB37122-6FFB-054C-B22E-0E285BCB1825}"/>
                  </a:ext>
                </a:extLst>
              </p:cNvPr>
              <p:cNvSpPr/>
              <p:nvPr/>
            </p:nvSpPr>
            <p:spPr>
              <a:xfrm>
                <a:off x="6567134" y="2113467"/>
                <a:ext cx="1123857" cy="783193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73050" indent="-2730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11.5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273050" indent="-27305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45.9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9BB37122-6FFB-054C-B22E-0E285BCB1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134" y="2113467"/>
                <a:ext cx="1123857" cy="783193"/>
              </a:xfrm>
              <a:prstGeom prst="roundRect">
                <a:avLst/>
              </a:prstGeom>
              <a:blipFill>
                <a:blip r:embed="rId6"/>
                <a:stretch>
                  <a:fillRect l="-1064" b="-9160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710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8382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66870" y="2625467"/>
            <a:ext cx="6673437" cy="143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20156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206</a:t>
            </a: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14727" y="2712246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815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6335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30301" y="102671"/>
            <a:ext cx="10159021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11.6.3 Bring It Together: Linear Equations Modeling Bivariate Data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8109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753484" y="1586033"/>
                <a:ext cx="1044205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a linear equation is fit to bivariate data in a scatter plot, the line approximates the relationship between two sets of data to represent the overall trend.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slope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line can be interpreted in context, but there are times when the interpretation may not make sense in context because it is representing an estimate based on a set of data.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84" y="1586033"/>
                <a:ext cx="10442054" cy="3046988"/>
              </a:xfrm>
              <a:prstGeom prst="rect">
                <a:avLst/>
              </a:prstGeom>
              <a:blipFill>
                <a:blip r:embed="rId4"/>
                <a:stretch>
                  <a:fillRect l="-934" t="-1600" r="-1518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821E6401-0F72-0C44-A2BB-6CDA2AEE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8580" y="1075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306874" y="2713641"/>
            <a:ext cx="6321276" cy="143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64204" y="285850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28437" y="35030"/>
            <a:ext cx="10489131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11.6.4 Guided Practice: Interpreting Equations Fit to Bivariate Data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8630" y="8674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128437" y="1371468"/>
                <a:ext cx="4744825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Aditya works as a hair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stylist and was looking at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his  earnings for the past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few weeks. He created the scatter plot shown to see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if there was a relationship between how many clients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he saw in a day and how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much he earned in tips. </a:t>
                </a:r>
              </a:p>
              <a:p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452438"/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The equation of the line of </a:t>
                </a:r>
                <a:b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</a:br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fit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+61.94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libri" pitchFamily="34" charset="0"/>
                  </a:rPr>
                  <a:t>.</a:t>
                </a:r>
              </a:p>
              <a:p>
                <a:endParaRPr lang="en-US" sz="2000" dirty="0">
                  <a:latin typeface="Verdana" pitchFamily="34" charset="0"/>
                  <a:ea typeface="Verdana" pitchFamily="34" charset="0"/>
                  <a:cs typeface="Calibri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slope of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line fit to the data?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437" y="1371468"/>
                <a:ext cx="4744825" cy="4708981"/>
              </a:xfrm>
              <a:prstGeom prst="rect">
                <a:avLst/>
              </a:prstGeom>
              <a:blipFill>
                <a:blip r:embed="rId5"/>
                <a:stretch>
                  <a:fillRect l="-1414" t="-907" b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BE2F3E9F-784D-774E-911D-989C3BA9597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611721"/>
            <a:ext cx="4228476" cy="422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137138" y="820614"/>
                <a:ext cx="10163908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meaning of the slope in context.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-intercept of the line estimating the relationship between the variables does not make sense in this context.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138" y="820614"/>
                <a:ext cx="10163908" cy="4154984"/>
              </a:xfrm>
              <a:prstGeom prst="rect">
                <a:avLst/>
              </a:prstGeom>
              <a:blipFill>
                <a:blip r:embed="rId4"/>
                <a:stretch>
                  <a:fillRect t="-1175" r="-1620" b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1973" y="1690883"/>
            <a:ext cx="7288033" cy="3775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276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996460" y="375138"/>
                <a:ext cx="10527463" cy="5603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scatter plot shown represents the relationship between a car’s weight, in kilograms (kg), and its fuel efficiency, in miles per gallon (mpg).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the line of fit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=−0.012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+41.3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60" y="375138"/>
                <a:ext cx="10527463" cy="5603631"/>
              </a:xfrm>
              <a:prstGeom prst="rect">
                <a:avLst/>
              </a:prstGeom>
              <a:blipFill>
                <a:blip r:embed="rId5"/>
                <a:stretch>
                  <a:fillRect l="-869" t="-871" b="-1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605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523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6580" y="619658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8354" y="645366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081668" y="810508"/>
                <a:ext cx="9182823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pPr marL="914400">
                  <a:lnSpc>
                    <a:spcPct val="3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                           of the car                       by about                               	   as the                             of the car                       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how the direction of the association of the data relates to the slope of the line fit to the data.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668" y="810508"/>
                <a:ext cx="9182823" cy="4401205"/>
              </a:xfrm>
              <a:prstGeom prst="rect">
                <a:avLst/>
              </a:prstGeom>
              <a:blipFill>
                <a:blip r:embed="rId4"/>
                <a:stretch>
                  <a:fillRect t="-970" r="-22694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70E8F3-B1BE-A24C-A4AE-72FE275CE635}"/>
              </a:ext>
            </a:extLst>
          </p:cNvPr>
          <p:cNvSpPr/>
          <p:nvPr/>
        </p:nvSpPr>
        <p:spPr>
          <a:xfrm>
            <a:off x="2633750" y="1329320"/>
            <a:ext cx="230456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weight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fuel efficiency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2F458C-7A78-E245-8D31-C89CC8B9C910}"/>
              </a:ext>
            </a:extLst>
          </p:cNvPr>
          <p:cNvSpPr/>
          <p:nvPr/>
        </p:nvSpPr>
        <p:spPr>
          <a:xfrm>
            <a:off x="6370548" y="1329320"/>
            <a:ext cx="189825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increases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decreases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BFCB15-296C-9740-A749-EF73CEF72512}"/>
              </a:ext>
            </a:extLst>
          </p:cNvPr>
          <p:cNvSpPr/>
          <p:nvPr/>
        </p:nvSpPr>
        <p:spPr>
          <a:xfrm>
            <a:off x="2054491" y="2189501"/>
            <a:ext cx="1158519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kg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mpg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E094E8A-C462-604F-B81A-9D41FC9D7B08}"/>
                  </a:ext>
                </a:extLst>
              </p:cNvPr>
              <p:cNvSpPr/>
              <p:nvPr/>
            </p:nvSpPr>
            <p:spPr>
              <a:xfrm>
                <a:off x="9485830" y="1379467"/>
                <a:ext cx="1184338" cy="783193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73050" indent="-2730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0.012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273050" indent="-273050">
                  <a:spcAft>
                    <a:spcPts val="1000"/>
                  </a:spcAft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41.3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0E094E8A-C462-604F-B81A-9D41FC9D7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830" y="1379467"/>
                <a:ext cx="1184338" cy="783193"/>
              </a:xfrm>
              <a:prstGeom prst="roundRect">
                <a:avLst/>
              </a:prstGeom>
              <a:blipFill>
                <a:blip r:embed="rId5"/>
                <a:stretch>
                  <a:fillRect l="-1015" b="-9091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39EAF8-7F08-D247-A3FB-D0BA06C95D4D}"/>
              </a:ext>
            </a:extLst>
          </p:cNvPr>
          <p:cNvSpPr/>
          <p:nvPr/>
        </p:nvSpPr>
        <p:spPr>
          <a:xfrm>
            <a:off x="4090889" y="2203723"/>
            <a:ext cx="2373176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weight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fuel efficiency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16F0B1-E942-7245-8F65-28812F021DF4}"/>
              </a:ext>
            </a:extLst>
          </p:cNvPr>
          <p:cNvSpPr/>
          <p:nvPr/>
        </p:nvSpPr>
        <p:spPr>
          <a:xfrm>
            <a:off x="7919229" y="2239728"/>
            <a:ext cx="189825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increases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decreases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D5E976-DF44-8E40-918E-9793D12169F6}"/>
              </a:ext>
            </a:extLst>
          </p:cNvPr>
          <p:cNvSpPr/>
          <p:nvPr/>
        </p:nvSpPr>
        <p:spPr>
          <a:xfrm>
            <a:off x="2699667" y="3158122"/>
            <a:ext cx="123074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kg.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mpg.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231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28438" y="9364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11.6.5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138" y="9364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128438" y="1149171"/>
                <a:ext cx="1034845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2438" indent="-452438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Researchers have collected data comparing the wingspan and body length of butterflies, in millimeters (mm). The scatter plot represents the data collected with the line,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=0.238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+4.642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fit to the data.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438" y="1149171"/>
                <a:ext cx="10348454" cy="1015663"/>
              </a:xfrm>
              <a:prstGeom prst="rect">
                <a:avLst/>
              </a:prstGeom>
              <a:blipFill>
                <a:blip r:embed="rId5"/>
                <a:stretch>
                  <a:fillRect l="-490" t="-3704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2519850" y="2550253"/>
            <a:ext cx="4742462" cy="3255511"/>
            <a:chOff x="492069" y="2969668"/>
            <a:chExt cx="4742462" cy="3255511"/>
          </a:xfrm>
        </p:grpSpPr>
        <p:pic>
          <p:nvPicPr>
            <p:cNvPr id="8" name="Picture 7" descr="Diagram&#10;&#10;Description automatically generated">
              <a:extLst>
                <a:ext uri="{FF2B5EF4-FFF2-40B4-BE49-F238E27FC236}">
                  <a16:creationId xmlns:a16="http://schemas.microsoft.com/office/drawing/2014/main" id="{1958F783-1A15-6449-B7DE-8BBEA896AA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5779" b="8863"/>
            <a:stretch/>
          </p:blipFill>
          <p:spPr bwMode="auto">
            <a:xfrm>
              <a:off x="931136" y="2969668"/>
              <a:ext cx="4303395" cy="279971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46AA1DC7-4268-1347-B22B-EC13D7736A20}"/>
                </a:ext>
              </a:extLst>
            </p:cNvPr>
            <p:cNvSpPr txBox="1"/>
            <p:nvPr/>
          </p:nvSpPr>
          <p:spPr>
            <a:xfrm rot="16200000">
              <a:off x="-560718" y="4022456"/>
              <a:ext cx="2544642" cy="439067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Body length (mm)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56B809FF-B873-1E49-A6BE-606A2EA6239C}"/>
                </a:ext>
              </a:extLst>
            </p:cNvPr>
            <p:cNvSpPr txBox="1"/>
            <p:nvPr/>
          </p:nvSpPr>
          <p:spPr>
            <a:xfrm>
              <a:off x="2009419" y="5771335"/>
              <a:ext cx="2818132" cy="45384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Wingspan (mm)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pic>
        <p:nvPicPr>
          <p:cNvPr id="14" name="Picture" descr="A butterfly on a leaf&#10;&#10;Description automatically generated">
            <a:extLst>
              <a:ext uri="{FF2B5EF4-FFF2-40B4-BE49-F238E27FC236}">
                <a16:creationId xmlns:a16="http://schemas.microsoft.com/office/drawing/2014/main" id="{76CFC923-DC7F-3E48-A920-21B8C09D5DA0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567394" y="3044300"/>
            <a:ext cx="2485582" cy="181161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1128438" y="5805764"/>
            <a:ext cx="917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24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Interpret the slope of the equation modeling the relationship. </a:t>
            </a:r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74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7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208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06303" y="-83911"/>
            <a:ext cx="10264373" cy="10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11.6.6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1102" y="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1138402" y="1078523"/>
                <a:ext cx="9249182" cy="5120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Zoologists studied different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species of animals to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examine if there was any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relationship between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body mass of the animal,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pounds (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lbs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), and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animal’s bite force, in lbs.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the line of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=3.02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+154.7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slope of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line fit to the data?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Interpret the meaning of the slope in context.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402" y="1078523"/>
                <a:ext cx="9249182" cy="5120736"/>
              </a:xfrm>
              <a:prstGeom prst="rect">
                <a:avLst/>
              </a:prstGeom>
              <a:blipFill>
                <a:blip r:embed="rId5"/>
                <a:stretch>
                  <a:fillRect l="-725" t="-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, scatter chart&#10;&#10;Description automatically generated">
            <a:extLst>
              <a:ext uri="{FF2B5EF4-FFF2-40B4-BE49-F238E27FC236}">
                <a16:creationId xmlns:a16="http://schemas.microsoft.com/office/drawing/2014/main" id="{B6A666D1-E9C6-1840-8936-B08D3F38550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7741" y="1243130"/>
            <a:ext cx="4081377" cy="408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1232</Words>
  <Application>Microsoft Office PowerPoint</Application>
  <PresentationFormat>Widescreen</PresentationFormat>
  <Paragraphs>196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Calibri</vt:lpstr>
      <vt:lpstr>Arial Black</vt:lpstr>
      <vt:lpstr>Symbol</vt:lpstr>
      <vt:lpstr>Cambria Math</vt:lpstr>
      <vt:lpstr>Courier New</vt:lpstr>
      <vt:lpstr>Arial</vt:lpstr>
      <vt:lpstr>Verdana</vt:lpstr>
      <vt:lpstr>Times New Roman</vt:lpstr>
      <vt:lpstr>Century Gothic</vt:lpstr>
      <vt:lpstr>1_Office Theme</vt:lpstr>
      <vt:lpstr>8th Grade Math: Pre-Algebra  Unit 11, Lesson 6  Interpreting Linear Equations Fit to Bivariate Data  Volume 2, pg. 204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24</cp:revision>
  <dcterms:created xsi:type="dcterms:W3CDTF">2015-03-17T18:51:18Z</dcterms:created>
  <dcterms:modified xsi:type="dcterms:W3CDTF">2022-06-19T18:23:22Z</dcterms:modified>
</cp:coreProperties>
</file>