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332" r:id="rId11"/>
    <p:sldId id="333" r:id="rId12"/>
    <p:sldId id="334" r:id="rId13"/>
    <p:sldId id="335" r:id="rId14"/>
    <p:sldId id="317" r:id="rId15"/>
    <p:sldId id="318" r:id="rId16"/>
    <p:sldId id="306" r:id="rId17"/>
    <p:sldId id="307" r:id="rId18"/>
    <p:sldId id="310" r:id="rId19"/>
  </p:sldIdLst>
  <p:sldSz cx="12192000" cy="68580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4" autoAdjust="0"/>
    <p:restoredTop sz="94707" autoAdjust="0"/>
  </p:normalViewPr>
  <p:slideViewPr>
    <p:cSldViewPr snapToGrid="0">
      <p:cViewPr varScale="1">
        <p:scale>
          <a:sx n="86" d="100"/>
          <a:sy n="86" d="100"/>
        </p:scale>
        <p:origin x="94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02434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326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4453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6674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5441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tiff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Constructing 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Line Graphs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184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3900" y="-1202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9183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71846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713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62708" y="1477108"/>
            <a:ext cx="11043138" cy="392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8.DP.1.1 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Given a set of real-world bivariate numerical data, construct a scatter plot or a line graph as appropriate for the context. 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6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60291" y="129667"/>
            <a:ext cx="10480723" cy="926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52749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04092" y="1418491"/>
            <a:ext cx="11453446" cy="460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3900" y="30660"/>
            <a:ext cx="9305075" cy="117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5573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04092" y="1535724"/>
            <a:ext cx="11359662" cy="4091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I can construct a line graph given a set of real-world data.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9329F50-9638-B049-A75D-4F1FBA414557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3195F79-EECF-434C-BEF0-419C925F892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19748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11.2.1 Warm-Up: Trends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192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15108" y="1312985"/>
            <a:ext cx="1110175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term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trend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used in many contexts.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5613">
              <a:buFont typeface="+mj-lt"/>
              <a:buAutoNum type="alphaLcPeriod"/>
              <a:tabLst>
                <a:tab pos="1081088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 current fashion trend.</a:t>
            </a:r>
          </a:p>
          <a:p>
            <a:pPr marL="922338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2338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561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what it means for something to be “trending” on Netflix or Twitter.</a:t>
            </a:r>
          </a:p>
          <a:p>
            <a:pPr marL="914400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561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think “trend” means in mathematics in the context of numerical data?</a:t>
            </a:r>
          </a:p>
          <a:p>
            <a:pPr marL="922338" lvl="1" indent="-45561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8409360-DB75-354B-9C3D-DB7551E80B73}"/>
              </a:ext>
            </a:extLst>
          </p:cNvPr>
          <p:cNvSpPr txBox="1"/>
          <p:nvPr/>
        </p:nvSpPr>
        <p:spPr>
          <a:xfrm>
            <a:off x="8994150" y="65293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41944" y="2709851"/>
            <a:ext cx="6378442" cy="143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736832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845D5ADE-9C51-B949-87A1-C308364523BF}"/>
              </a:ext>
            </a:extLst>
          </p:cNvPr>
          <p:cNvSpPr txBox="1"/>
          <p:nvPr/>
        </p:nvSpPr>
        <p:spPr>
          <a:xfrm>
            <a:off x="8994150" y="65293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3148" y="-85980"/>
            <a:ext cx="9858944" cy="138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11.2.2 Guided Instruction: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Constructing Line Graphs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9783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28640" y="1512277"/>
                <a:ext cx="1144062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As of the 2020-2021 NBA season, Jimmy Butler of the Miami Heat played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seasons in the NBA. The table shows his average assists per game for his first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seasons. In basketball, a player records an assist when he or she passes the ball to a teammate and that teammate scores a field goal (two-point or three-point shot).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40" y="1512277"/>
                <a:ext cx="11440622" cy="1631216"/>
              </a:xfrm>
              <a:prstGeom prst="rect">
                <a:avLst/>
              </a:prstGeom>
              <a:blipFill>
                <a:blip r:embed="rId5"/>
                <a:stretch>
                  <a:fillRect l="-554" t="-2326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DE01482-458C-EC4F-998D-CF1FE95DAC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7817763"/>
                  </p:ext>
                </p:extLst>
              </p:nvPr>
            </p:nvGraphicFramePr>
            <p:xfrm>
              <a:off x="2663812" y="3244015"/>
              <a:ext cx="6660000" cy="316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298076616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907709033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553054118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4224032147"/>
                        </a:ext>
                      </a:extLst>
                    </a:gridCol>
                  </a:tblGrid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Season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(Years)</a:t>
                          </a: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1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(2011-12)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2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(2012-13)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3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(2013-14)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369859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Assists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per Game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1.4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2.6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9086787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Season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(Years)</a:t>
                          </a: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4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(2014-15)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5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(2015-16)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6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(2016-17)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6363528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Assists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per Game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3.3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4.8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5.5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559571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DE01482-458C-EC4F-998D-CF1FE95DAC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7817763"/>
                  </p:ext>
                </p:extLst>
              </p:nvPr>
            </p:nvGraphicFramePr>
            <p:xfrm>
              <a:off x="2663812" y="3244015"/>
              <a:ext cx="6660000" cy="316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298076616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907709033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553054118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4224032147"/>
                        </a:ext>
                      </a:extLst>
                    </a:gridCol>
                  </a:tblGrid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Season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(Years)</a:t>
                          </a: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1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(2011-12)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2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(2012-13)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3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(2013-14)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2369859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Assists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per Game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11719" t="-103226" r="-200781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11719" t="-103226" r="-100781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11719" t="-103226" r="-781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086787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Season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(Years)</a:t>
                          </a: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4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(2014-15)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5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(2015-16)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6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(2016-17)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6363528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Assists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per Game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11719" t="-304839" r="-200781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11719" t="-304839" r="-100781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11719" t="-304839" r="-781" b="-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9571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C5791C80-83BA-8549-AA05-5A2B3BFBE71D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949569" y="2839358"/>
            <a:ext cx="11242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561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the independent and dependent variable in this context.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ABA563-1BAE-8048-B419-85481791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663348"/>
              </p:ext>
            </p:extLst>
          </p:nvPr>
        </p:nvGraphicFramePr>
        <p:xfrm>
          <a:off x="3041428" y="3667549"/>
          <a:ext cx="7200000" cy="180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358668194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342677210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Independent Variable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28667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Dependent Variable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054286"/>
                  </a:ext>
                </a:extLst>
              </a:tr>
            </a:tbl>
          </a:graphicData>
        </a:graphic>
      </p:graphicFrame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567E058-5880-AD45-9E3E-48899CBF3FF7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DE01482-458C-EC4F-998D-CF1FE95DAC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7904359"/>
                  </p:ext>
                </p:extLst>
              </p:nvPr>
            </p:nvGraphicFramePr>
            <p:xfrm>
              <a:off x="2880784" y="522307"/>
              <a:ext cx="7380000" cy="1584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298076616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553054118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4224032147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539042306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326311032"/>
                        </a:ext>
                      </a:extLst>
                    </a:gridCol>
                  </a:tblGrid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Season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(Years)</a:t>
                          </a: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7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(2017-18)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8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(2018-19)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9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(2019-20)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10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(2020-21)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6363528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Assists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per Game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4.9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4.1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6.0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7.3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559571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DE01482-458C-EC4F-998D-CF1FE95DAC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7904359"/>
                  </p:ext>
                </p:extLst>
              </p:nvPr>
            </p:nvGraphicFramePr>
            <p:xfrm>
              <a:off x="2880784" y="522307"/>
              <a:ext cx="7380000" cy="1584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298076616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1553054118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4224032147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539042306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326311032"/>
                        </a:ext>
                      </a:extLst>
                    </a:gridCol>
                  </a:tblGrid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Season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(Years)</a:t>
                          </a:r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7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(2017-18)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8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(2018-19)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9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(2019-20)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10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(2020-21)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6363528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Assists </a:t>
                          </a:r>
                          <a:b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per Game</a:t>
                          </a:r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13274" t="-103226" r="-303540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11404" t="-103226" r="-200877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4159" t="-103226" r="-102655" b="-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0526" t="-103226" r="-1754" b="-80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9571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36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27537" y="398585"/>
                <a:ext cx="1134793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a line graph, the independent variable is represented along the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 and the dependent variable is represented along the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561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range of data values need to be represented along each axis to represent this data set?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37" y="398585"/>
                <a:ext cx="11347939" cy="3046988"/>
              </a:xfrm>
              <a:prstGeom prst="rect">
                <a:avLst/>
              </a:prstGeom>
              <a:blipFill>
                <a:blip r:embed="rId4"/>
                <a:stretch>
                  <a:fillRect l="-860" t="-1800" r="-16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24BB0DF-09D9-FB44-96F6-AE1F5AB037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922065"/>
                  </p:ext>
                </p:extLst>
              </p:nvPr>
            </p:nvGraphicFramePr>
            <p:xfrm>
              <a:off x="3021268" y="3162066"/>
              <a:ext cx="6840000" cy="180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58668194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val="3426772105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Range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-values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228667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Range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-values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80542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24BB0DF-09D9-FB44-96F6-AE1F5AB037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922065"/>
                  </p:ext>
                </p:extLst>
              </p:nvPr>
            </p:nvGraphicFramePr>
            <p:xfrm>
              <a:off x="3021268" y="3162066"/>
              <a:ext cx="6840000" cy="180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58668194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val="3426772105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r="-281690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228667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1408" r="-281690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80542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297B386-8BD5-1843-9DD7-6CC050BBB4D9}"/>
              </a:ext>
            </a:extLst>
          </p:cNvPr>
          <p:cNvSpPr txBox="1"/>
          <p:nvPr/>
        </p:nvSpPr>
        <p:spPr>
          <a:xfrm>
            <a:off x="8994150" y="65122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7136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08892" y="351693"/>
            <a:ext cx="1078523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5613">
              <a:spcAft>
                <a:spcPts val="1200"/>
              </a:spcAft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a line graph to represent the data by completing the following.</a:t>
            </a:r>
          </a:p>
          <a:p>
            <a:pPr marL="13716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the axes with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appropriate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variables.</a:t>
            </a:r>
          </a:p>
          <a:p>
            <a:pPr marL="13716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and label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appropriate scale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the data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axis on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grid.</a:t>
            </a:r>
          </a:p>
          <a:p>
            <a:pPr marL="13716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for each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pair of values in the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set.</a:t>
            </a:r>
          </a:p>
          <a:p>
            <a:pPr marL="13716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Connect the points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order, using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straightedge.</a:t>
            </a:r>
          </a:p>
          <a:p>
            <a:pPr marL="13716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Title the graph.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EA60D782-15D1-AA4E-AFD3-613D4A5688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63"/>
          <a:stretch/>
        </p:blipFill>
        <p:spPr>
          <a:xfrm>
            <a:off x="6096000" y="1294557"/>
            <a:ext cx="4291453" cy="4268886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F851DF5-BFB6-FD44-B7D9-373A5D4A23F4}"/>
              </a:ext>
            </a:extLst>
          </p:cNvPr>
          <p:cNvSpPr txBox="1"/>
          <p:nvPr/>
        </p:nvSpPr>
        <p:spPr>
          <a:xfrm>
            <a:off x="8960123" y="650630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0111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18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773723" y="3989420"/>
            <a:ext cx="10949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5613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trend of the data represented on the line graph.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B514DC-2DC3-8342-B84F-3DDFFF0A0F08}"/>
              </a:ext>
            </a:extLst>
          </p:cNvPr>
          <p:cNvGrpSpPr/>
          <p:nvPr/>
        </p:nvGrpSpPr>
        <p:grpSpPr>
          <a:xfrm>
            <a:off x="1956000" y="888828"/>
            <a:ext cx="8280000" cy="1635451"/>
            <a:chOff x="-801732" y="-61009"/>
            <a:chExt cx="8280000" cy="163545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34753-4E98-FC4D-8CCD-AC2B07DC5780}"/>
                </a:ext>
              </a:extLst>
            </p:cNvPr>
            <p:cNvGrpSpPr/>
            <p:nvPr/>
          </p:nvGrpSpPr>
          <p:grpSpPr>
            <a:xfrm>
              <a:off x="-801732" y="-61009"/>
              <a:ext cx="8280000" cy="1635451"/>
              <a:chOff x="1229568" y="3325799"/>
              <a:chExt cx="8280000" cy="163545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9C86C39-210B-914C-9731-70A46944D700}"/>
                  </a:ext>
                </a:extLst>
              </p:cNvPr>
              <p:cNvGrpSpPr/>
              <p:nvPr/>
            </p:nvGrpSpPr>
            <p:grpSpPr>
              <a:xfrm>
                <a:off x="1229568" y="3325799"/>
                <a:ext cx="8280000" cy="1635451"/>
                <a:chOff x="-801732" y="-61009"/>
                <a:chExt cx="8280000" cy="1635451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06EE6CE-A661-6A4F-A620-8F6E92DB6F8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61DC680-F978-8A4D-A558-0C449272735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711A3EB8-3699-FC49-8FF2-4057A12FCA66}"/>
                    </a:ext>
                  </a:extLst>
                </p:cNvPr>
                <p:cNvSpPr/>
                <p:nvPr/>
              </p:nvSpPr>
              <p:spPr>
                <a:xfrm>
                  <a:off x="-801732" y="-61009"/>
                  <a:ext cx="8280000" cy="1635451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627063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trend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in mathematics describes a change over time. In cases of bivariate data where one of the variables is not time, trends describe how one variable changes in relation to changes in the other.</a:t>
                  </a:r>
                  <a:endParaRPr lang="en-US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098B3A71-23F6-5140-8DE2-0F864D476301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642928" y="486841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D6CD6FFB-3D66-E049-B96F-BE1A7CFCBD43}"/>
              </a:ext>
            </a:extLst>
          </p:cNvPr>
          <p:cNvSpPr txBox="1"/>
          <p:nvPr/>
        </p:nvSpPr>
        <p:spPr>
          <a:xfrm>
            <a:off x="8907807" y="648458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1305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4122" y="620020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33045" y="288747"/>
                <a:ext cx="1096107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6725" indent="-466725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 line graph from Lesson 1 is shown. The original data set was given in years such as 2011, 2012, 2013, etc. Discuss with your partner how these values were represented on the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 of the graph.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45" y="288747"/>
                <a:ext cx="10961077" cy="1015663"/>
              </a:xfrm>
              <a:prstGeom prst="rect">
                <a:avLst/>
              </a:prstGeom>
              <a:blipFill>
                <a:blip r:embed="rId4"/>
                <a:stretch>
                  <a:fillRect l="-579" t="-2469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3535680" y="1742898"/>
            <a:ext cx="5319936" cy="4974029"/>
            <a:chOff x="2011680" y="1612184"/>
            <a:chExt cx="5319936" cy="4974029"/>
          </a:xfrm>
        </p:grpSpPr>
        <p:sp>
          <p:nvSpPr>
            <p:cNvPr id="15" name="Text Box 49">
              <a:extLst>
                <a:ext uri="{FF2B5EF4-FFF2-40B4-BE49-F238E27FC236}">
                  <a16:creationId xmlns:a16="http://schemas.microsoft.com/office/drawing/2014/main" id="{0B939297-566C-EF4A-A498-7929C01E646F}"/>
                </a:ext>
              </a:extLst>
            </p:cNvPr>
            <p:cNvSpPr txBox="1"/>
            <p:nvPr/>
          </p:nvSpPr>
          <p:spPr>
            <a:xfrm>
              <a:off x="3036523" y="6150603"/>
              <a:ext cx="4001770" cy="43561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000" dirty="0">
                  <a:solidFill>
                    <a:srgbClr val="009648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Number of Years Since 2011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Aft>
                  <a:spcPts val="1000"/>
                </a:spcAft>
              </a:pPr>
              <a:r>
                <a: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A55CC66A-14B9-BC42-9F7A-83FD968A4849}"/>
                </a:ext>
              </a:extLst>
            </p:cNvPr>
            <p:cNvSpPr txBox="1"/>
            <p:nvPr/>
          </p:nvSpPr>
          <p:spPr>
            <a:xfrm rot="16200000">
              <a:off x="213946" y="3540631"/>
              <a:ext cx="4326987" cy="7315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000" dirty="0">
                  <a:solidFill>
                    <a:srgbClr val="009648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Number of Symptomatic Cases of Flu in the U.S., in millions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Picture 16" descr="Chart, line chart&#10;&#10;Description automatically generated">
              <a:extLst>
                <a:ext uri="{FF2B5EF4-FFF2-40B4-BE49-F238E27FC236}">
                  <a16:creationId xmlns:a16="http://schemas.microsoft.com/office/drawing/2014/main" id="{D282318E-7D66-B747-ADAD-5B2C15B14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3200" y="1612184"/>
              <a:ext cx="4588416" cy="4588416"/>
            </a:xfrm>
            <a:prstGeom prst="rect">
              <a:avLst/>
            </a:prstGeom>
          </p:spPr>
        </p:pic>
      </p:grp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7079D273-DE53-A946-8522-BE6201BBC625}"/>
              </a:ext>
            </a:extLst>
          </p:cNvPr>
          <p:cNvSpPr txBox="1"/>
          <p:nvPr/>
        </p:nvSpPr>
        <p:spPr>
          <a:xfrm>
            <a:off x="8960122" y="652884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1492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88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937971" y="2679367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26841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7DED2E2-F574-A841-93E8-4D50A30CAF0B}"/>
              </a:ext>
            </a:extLst>
          </p:cNvPr>
          <p:cNvSpPr txBox="1"/>
          <p:nvPr/>
        </p:nvSpPr>
        <p:spPr>
          <a:xfrm>
            <a:off x="8994150" y="652749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0640" y="17274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11.2.3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9328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844062" y="1152720"/>
            <a:ext cx="11066584" cy="5166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or small group to construct a line graph to represent the data set assigned. Be sure to include the following when constructing your graph.</a:t>
            </a:r>
          </a:p>
          <a:p>
            <a:pPr marL="9144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the axes with the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appropriate variables.</a:t>
            </a:r>
          </a:p>
          <a:p>
            <a:pPr marL="9144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and label an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appropriate scale based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the data for each axis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the grid.</a:t>
            </a:r>
          </a:p>
          <a:p>
            <a:pPr marL="9144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for each pair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values in the data set.</a:t>
            </a:r>
          </a:p>
          <a:p>
            <a:pPr marL="9144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Connect the points in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order, using a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straightedge.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Title the graph.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2665589A-6170-8B4C-B599-63B201EF84F8}"/>
              </a:ext>
            </a:extLst>
          </p:cNvPr>
          <p:cNvSpPr txBox="1"/>
          <p:nvPr/>
        </p:nvSpPr>
        <p:spPr>
          <a:xfrm>
            <a:off x="8994150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E2E0E5D1-EA93-A044-B166-911574652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02" b="6723"/>
          <a:stretch/>
        </p:blipFill>
        <p:spPr bwMode="auto">
          <a:xfrm>
            <a:off x="6290912" y="2135587"/>
            <a:ext cx="4096673" cy="401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3B83683-1595-1D4D-9153-1C50F3517F49}"/>
              </a:ext>
            </a:extLst>
          </p:cNvPr>
          <p:cNvSpPr txBox="1"/>
          <p:nvPr/>
        </p:nvSpPr>
        <p:spPr>
          <a:xfrm>
            <a:off x="8994150" y="65293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42452" y="179496"/>
            <a:ext cx="10046871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11.2.4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9176" y="8619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62000" y="1374148"/>
                <a:ext cx="1101969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data shown to construct a line graph representing the average monthly chance of precipitation, represented as a percentage (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), in Jacksonville, FL.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374148"/>
                <a:ext cx="11019692" cy="707886"/>
              </a:xfrm>
              <a:prstGeom prst="rect">
                <a:avLst/>
              </a:prstGeom>
              <a:blipFill>
                <a:blip r:embed="rId5"/>
                <a:stretch>
                  <a:fillRect l="-576" t="-5263" b="-1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C18E188-3185-7E47-9DBF-AEFFBDEA7A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19157"/>
                  </p:ext>
                </p:extLst>
              </p:nvPr>
            </p:nvGraphicFramePr>
            <p:xfrm>
              <a:off x="2677813" y="2603852"/>
              <a:ext cx="7200000" cy="288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5423884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20894554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64335451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04368718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52425358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009545457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1078675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</a:t>
                          </a:r>
                          <a:endParaRPr lang="en-US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998536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Chance of Rain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en-US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26%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28%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27%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24%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29%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47%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3244355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</a:t>
                          </a:r>
                          <a:endParaRPr lang="en-US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701537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Chance of Rain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en-US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57%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52%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43%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18%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99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C18E188-3185-7E47-9DBF-AEFFBDEA7A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19157"/>
                  </p:ext>
                </p:extLst>
              </p:nvPr>
            </p:nvGraphicFramePr>
            <p:xfrm>
              <a:off x="2677813" y="2603852"/>
              <a:ext cx="7200000" cy="288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15423884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20894554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64335451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04368718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252425358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3009545457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val="11078675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</a:t>
                          </a:r>
                          <a:endParaRPr lang="en-US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408" t="-2326" r="-502817" b="-4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408" t="-2326" r="-402817" b="-4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1408" t="-2326" r="-302817" b="-4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1408" t="-2326" r="-202817" b="-4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01408" t="-2326" r="-102817" b="-432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1408" t="-2326" r="-2817" b="-432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9985368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4" t="-61972" r="-301408" b="-1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408" t="-61972" r="-502817" b="-1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408" t="-61972" r="-402817" b="-1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1408" t="-61972" r="-302817" b="-1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1408" t="-61972" r="-202817" b="-1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01408" t="-61972" r="-102817" b="-1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1408" t="-61972" r="-2817" b="-1619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2443559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Month</a:t>
                          </a:r>
                          <a:endParaRPr lang="en-US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408" t="-273810" r="-502817" b="-17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408" t="-273810" r="-402817" b="-17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1408" t="-273810" r="-302817" b="-17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1408" t="-273810" r="-202817" b="-17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01408" t="-273810" r="-102817" b="-17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1408" t="-273810" r="-2817" b="-17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701537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4" t="-221127" r="-301408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408" t="-221127" r="-502817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1408" t="-221127" r="-402817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1408" t="-221127" r="-302817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1408" t="-221127" r="-202817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01408" t="-221127" r="-102817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01408" t="-221127" r="-2817" b="-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4992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A60F716-2DA0-9B49-8310-16EC68EB3E13}"/>
              </a:ext>
            </a:extLst>
          </p:cNvPr>
          <p:cNvSpPr txBox="1"/>
          <p:nvPr/>
        </p:nvSpPr>
        <p:spPr>
          <a:xfrm>
            <a:off x="8994150" y="65374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8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41AB6A37-265A-DA4A-B70B-E548224D8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02" b="6723"/>
          <a:stretch/>
        </p:blipFill>
        <p:spPr bwMode="auto">
          <a:xfrm>
            <a:off x="2981801" y="357311"/>
            <a:ext cx="6228397" cy="610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761F1F1-C5D4-3343-BFE4-9AE3BB084D49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78;g104476d1465_1_17"/>
          <p:cNvSpPr/>
          <p:nvPr/>
        </p:nvSpPr>
        <p:spPr>
          <a:xfrm>
            <a:off x="-4758" y="292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910</Words>
  <Application>Microsoft Office PowerPoint</Application>
  <PresentationFormat>Widescreen</PresentationFormat>
  <Paragraphs>172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Calibri</vt:lpstr>
      <vt:lpstr>Arial Black</vt:lpstr>
      <vt:lpstr>Cambria Math</vt:lpstr>
      <vt:lpstr>Arial</vt:lpstr>
      <vt:lpstr>Cambria</vt:lpstr>
      <vt:lpstr>Verdana</vt:lpstr>
      <vt:lpstr>Wingdings</vt:lpstr>
      <vt:lpstr>Century Gothic</vt:lpstr>
      <vt:lpstr>1_Office Theme</vt:lpstr>
      <vt:lpstr>8th Grade Math: Pre-Algebra  Unit 11, Lesson 2  Constructing  Line Graphs  Volume 2, pg. 184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24</cp:revision>
  <dcterms:created xsi:type="dcterms:W3CDTF">2015-03-17T18:51:18Z</dcterms:created>
  <dcterms:modified xsi:type="dcterms:W3CDTF">2022-06-19T15:01:01Z</dcterms:modified>
</cp:coreProperties>
</file>