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7" r:id="rId9"/>
    <p:sldId id="318" r:id="rId10"/>
    <p:sldId id="319" r:id="rId11"/>
    <p:sldId id="331" r:id="rId12"/>
    <p:sldId id="333" r:id="rId13"/>
    <p:sldId id="329" r:id="rId14"/>
    <p:sldId id="330" r:id="rId15"/>
    <p:sldId id="306" r:id="rId16"/>
    <p:sldId id="307" r:id="rId17"/>
    <p:sldId id="310" r:id="rId18"/>
  </p:sldIdLst>
  <p:sldSz cx="12192000" cy="6858000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Century Gothic" panose="020B0502020202020204" pitchFamily="34" charset="0"/>
      <p:regular r:id="rId26"/>
      <p:bold r:id="rId27"/>
      <p:italic r:id="rId28"/>
      <p:boldItalic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38"/>
    <p:restoredTop sz="94691"/>
  </p:normalViewPr>
  <p:slideViewPr>
    <p:cSldViewPr snapToGrid="0">
      <p:cViewPr varScale="1">
        <p:scale>
          <a:sx n="81" d="100"/>
          <a:sy n="81" d="100"/>
        </p:scale>
        <p:origin x="101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44765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97675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Grade: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Barbie Bungee – Part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212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94937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437" y="2357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4626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19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71437" y="1325701"/>
            <a:ext cx="11602260" cy="478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MA.8.DP.1.1</a:t>
            </a:r>
          </a:p>
          <a:p>
            <a:pPr indent="0"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Given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set of real-world bivariate numerical data, construct a scatter plot or a line graph as appropriate for the context. </a:t>
            </a:r>
          </a:p>
          <a:p>
            <a:pPr marL="0" indent="0">
              <a:buSzPts val="1100"/>
              <a:buNone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MA.8.DP.1.2</a:t>
            </a:r>
          </a:p>
          <a:p>
            <a:pPr indent="0"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scatter plot within a real-world context, describe patterns of association.</a:t>
            </a:r>
          </a:p>
          <a:p>
            <a:pPr marL="0" indent="0">
              <a:buSzPts val="1100"/>
              <a:buNone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MA.8.DP.1.3</a:t>
            </a:r>
          </a:p>
          <a:p>
            <a:pPr indent="0"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scatter plot with a linear association, informally fit a straight line. </a:t>
            </a:r>
          </a:p>
          <a:p>
            <a:pPr marL="0" indent="0">
              <a:buSzPts val="1100"/>
              <a:buNone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MA.8.AR.3.5</a:t>
            </a:r>
          </a:p>
          <a:p>
            <a:pPr indent="0"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real-world context, determine and interpret the slope and 𝑦-intercept of a two-variable linear equation from a written description, a table, a graph, or an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equation in slope-intercept form.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900" y="16794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64550" y="-74685"/>
            <a:ext cx="11027450" cy="1310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492211" y="1414812"/>
            <a:ext cx="11207578" cy="434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</a:t>
            </a:r>
            <a:b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contexts.</a:t>
            </a:r>
            <a:endParaRPr lang="en-US" sz="2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76319" y="-9689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157" y="19230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4335" y="1482811"/>
                <a:ext cx="11059297" cy="4685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63550" indent="-457200">
                  <a:spcAft>
                    <a:spcPts val="1000"/>
                  </a:spcAft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collect data for an experiment.</a:t>
                </a:r>
              </a:p>
              <a:p>
                <a:pPr marL="463550" indent="-457200">
                  <a:spcAft>
                    <a:spcPts val="1000"/>
                  </a:spcAft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construct a scatter plot for a set of bivariate data.</a:t>
                </a:r>
              </a:p>
              <a:p>
                <a:pPr marL="463550" indent="-457200">
                  <a:spcAft>
                    <a:spcPts val="1000"/>
                  </a:spcAft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describe patterns of associations in data on a scatter plot. </a:t>
                </a:r>
              </a:p>
              <a:p>
                <a:pPr marL="463550" indent="-457200">
                  <a:spcAft>
                    <a:spcPts val="1000"/>
                  </a:spcAft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informally fit a straight line to data on a scatter plot.</a:t>
                </a:r>
              </a:p>
              <a:p>
                <a:pPr marL="463550" indent="-457200">
                  <a:spcAft>
                    <a:spcPts val="1000"/>
                  </a:spcAft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interpret the slope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𝑦</m:t>
                    </m:r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of a linear equation in a real-world context.</a:t>
                </a:r>
              </a:p>
            </p:txBody>
          </p:sp>
        </mc:Choice>
        <mc:Fallback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35" y="1482811"/>
                <a:ext cx="11059297" cy="4685664"/>
              </a:xfrm>
              <a:prstGeom prst="rect">
                <a:avLst/>
              </a:prstGeom>
              <a:blipFill>
                <a:blip r:embed="rId5"/>
                <a:stretch>
                  <a:fillRect l="-1819" t="-4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772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32989" y="-37735"/>
            <a:ext cx="9654460" cy="13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11.8.1 Warm-Up: What’s Going On in the Graph?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689" y="994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248032" y="1436635"/>
                <a:ext cx="1031789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shows the times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fastest women’s marathoners in the world from 2001 to 2020.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032" y="1436635"/>
                <a:ext cx="10317892" cy="707886"/>
              </a:xfrm>
              <a:prstGeom prst="rect">
                <a:avLst/>
              </a:prstGeom>
              <a:blipFill>
                <a:blip r:embed="rId5"/>
                <a:stretch>
                  <a:fillRect l="-615" t="-53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253A72F0-2610-8946-BE83-AD4061AB0B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1300" y="2194711"/>
            <a:ext cx="5986846" cy="4563864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89221" y="1067464"/>
            <a:ext cx="961355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how you know if the runners are getting faster or slower each year. 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/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/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 at least one possible explanation for the trend. 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98933" y="2667291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3486" y="2754069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8" y="60325"/>
            <a:ext cx="1027684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11.8.2 Activity: Barbie Bungee – Part 2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8630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753762" y="1673971"/>
            <a:ext cx="1065152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previous lesson, you performed an experiment and recorded the data for Barbie’s bungee experience. Work with your group to represent and analyze the data collected.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Representing and Analyzing the Data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Construct a scatter plot to represent the data collected, using the average of the trials for each number of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rubber bands.</a:t>
            </a:r>
          </a:p>
          <a:p>
            <a:pPr marL="9144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Label the axes with the appropriate variables.</a:t>
            </a:r>
          </a:p>
          <a:p>
            <a:pPr marL="9144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and label an appropriate scale for each axis on the grid.</a:t>
            </a:r>
          </a:p>
          <a:p>
            <a:pPr marL="9144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 point for each pair of values in the data set.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Title the graph.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292C2D04-B3EA-5E4A-9FC6-AAFFE7EABD3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02" b="4132"/>
          <a:stretch/>
        </p:blipFill>
        <p:spPr>
          <a:xfrm>
            <a:off x="2809875" y="442547"/>
            <a:ext cx="6623141" cy="5964557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654908" y="605480"/>
            <a:ext cx="107750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Interpret the data represented on your scatter plot.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relationship between the number of rubber bands used and the jump distance.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any patterns of association in the scatter plot. 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1070108" y="1074509"/>
            <a:ext cx="1045381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Informally fit a line to the data using a straightedge.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the following questions with your partner.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you think the data would change if Barbie were taller?</a:t>
            </a:r>
          </a:p>
          <a:p>
            <a:pPr marL="914400" lvl="1" indent="-449263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you think the data would change if Barbie were lighter?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9797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468000" y="248193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54692" y="2568717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27481" y="188092"/>
            <a:ext cx="9818691" cy="862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11.8.3 Bring It Together: Interpreting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741405" y="1680519"/>
                <a:ext cx="10886745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Noah performed the same Barbie Bungee experiment.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He fit the line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=7.2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+22.17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the data in his scatter plot,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the number of rubber bands used and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the jump distance in centimeters.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Interpret the slope of the line fit to Noah’s data.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 </a:t>
                </a:r>
              </a:p>
              <a:p>
                <a:pPr marL="914400" lvl="1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whether or not you think Noah’s line could be a good fit for the data you collected in the experiment.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05" y="1680519"/>
                <a:ext cx="10886745" cy="4524315"/>
              </a:xfrm>
              <a:prstGeom prst="rect">
                <a:avLst/>
              </a:prstGeom>
              <a:blipFill>
                <a:blip r:embed="rId4"/>
                <a:stretch>
                  <a:fillRect l="-896" t="-1078" r="-728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821E6401-0F72-0C44-A2BB-6CDA2AEE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7673" y="10957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62696" y="2433111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1690" y="2587706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49.png" descr="A close up of a flower&#10;&#10;Description automatically generated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458591" y="1852731"/>
            <a:ext cx="5530850" cy="4805045"/>
          </a:xfrm>
          <a:prstGeom prst="rect">
            <a:avLst/>
          </a:prstGeom>
          <a:ln/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03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69513" y="135189"/>
            <a:ext cx="80193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11.8.4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063" y="84683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151907" y="1032080"/>
            <a:ext cx="10760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 point on the grid below to indicate your thoughts about the Barbie Bungee activity.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6680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3924" y="6200724"/>
            <a:ext cx="668076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E9D117-FAE6-F74F-940B-9CD1479755BE}"/>
              </a:ext>
            </a:extLst>
          </p:cNvPr>
          <p:cNvSpPr txBox="1"/>
          <p:nvPr/>
        </p:nvSpPr>
        <p:spPr>
          <a:xfrm>
            <a:off x="1116281" y="707063"/>
            <a:ext cx="8832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why you placed your point there.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403037" y="6457799"/>
            <a:ext cx="3120887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785</Words>
  <Application>Microsoft Office PowerPoint</Application>
  <PresentationFormat>Widescreen</PresentationFormat>
  <Paragraphs>123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Verdana</vt:lpstr>
      <vt:lpstr>Century Gothic</vt:lpstr>
      <vt:lpstr>Calibri</vt:lpstr>
      <vt:lpstr>Arial Black</vt:lpstr>
      <vt:lpstr>Cambria Math</vt:lpstr>
      <vt:lpstr>Arial</vt:lpstr>
      <vt:lpstr>1_Office Theme</vt:lpstr>
      <vt:lpstr>8th Grade: Pre-Algebra  Unit 11, Lesson 8  Barbie Bungee – Part 2  Volume 2, pg. 212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24</cp:revision>
  <dcterms:created xsi:type="dcterms:W3CDTF">2015-03-17T18:51:18Z</dcterms:created>
  <dcterms:modified xsi:type="dcterms:W3CDTF">2022-06-19T19:29:19Z</dcterms:modified>
</cp:coreProperties>
</file>