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342" r:id="rId11"/>
    <p:sldId id="289" r:id="rId12"/>
    <p:sldId id="290" r:id="rId13"/>
    <p:sldId id="336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06" r:id="rId25"/>
    <p:sldId id="307" r:id="rId26"/>
    <p:sldId id="341" r:id="rId27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1348"/>
    <p:restoredTop sz="94694"/>
  </p:normalViewPr>
  <p:slideViewPr>
    <p:cSldViewPr snapToGrid="0">
      <p:cViewPr varScale="1">
        <p:scale>
          <a:sx n="63" d="100"/>
          <a:sy n="63" d="100"/>
        </p:scale>
        <p:origin x="19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140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220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0365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284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346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146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8614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4339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4229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421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36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112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74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3810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2139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Proportional Relationships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237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MA.8.AR.3.1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if a linear relationship is also a proportional relationship.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attributes of a proportional relationship between two variables represented by tables and equations.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5" y="1561154"/>
            <a:ext cx="84408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Ken Brown said, “You are hammered all through school to think, and the thinking part is a big part of your education where you are taught how to think and solve problems.”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is learning how to think and solve problems important for any job you do in the future? </a:t>
            </a:r>
          </a:p>
        </p:txBody>
      </p:sp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6390"/>
            <a:ext cx="108340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Day at Work – Bridge Builder</a:t>
            </a:r>
          </a:p>
        </p:txBody>
      </p:sp>
      <p:pic>
        <p:nvPicPr>
          <p:cNvPr id="15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8EE183-A88C-BC7C-2E84-7DA73359B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305" y="1455058"/>
            <a:ext cx="2304914" cy="233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1092882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how many cans of disinfectant spray a hospital receives depending on the number of cases ordered.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cans are in each separate case when 3 cases are ordered?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670" y="2599125"/>
            <a:ext cx="7077005" cy="187705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67532"/>
            <a:ext cx="9033046" cy="103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6.1.2 Exploration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What Is a Proportional Relationship?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cans are in each case when 5 cases are ordered? </a:t>
            </a:r>
          </a:p>
          <a:p>
            <a:pPr marL="457200" indent="-457200"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cans are in each case when 10 cases are ordered?</a:t>
            </a: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to determine the number of cans of disinfectant spray that would be in each separate case when ordering any number of cases. 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situation represents a proportional relationship. Discuss with your partner why the situation is a proportional relationship and summarize your conclusions.</a:t>
            </a:r>
          </a:p>
        </p:txBody>
      </p:sp>
    </p:spTree>
    <p:extLst>
      <p:ext uri="{BB962C8B-B14F-4D97-AF65-F5344CB8AC3E}">
        <p14:creationId xmlns:p14="http://schemas.microsoft.com/office/powerpoint/2010/main" val="71590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7" name="Group 16"/>
          <p:cNvGrpSpPr/>
          <p:nvPr/>
        </p:nvGrpSpPr>
        <p:grpSpPr>
          <a:xfrm>
            <a:off x="2521671" y="2673556"/>
            <a:ext cx="7340891" cy="1518988"/>
            <a:chOff x="199814" y="0"/>
            <a:chExt cx="7630342" cy="1622135"/>
          </a:xfrm>
        </p:grpSpPr>
        <p:sp>
          <p:nvSpPr>
            <p:cNvPr id="19" name="Rounded Rectangle 18"/>
            <p:cNvSpPr/>
            <p:nvPr/>
          </p:nvSpPr>
          <p:spPr>
            <a:xfrm>
              <a:off x="199814" y="0"/>
              <a:ext cx="7630342" cy="1622135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4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4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proportional relationship</a:t>
              </a:r>
              <a:r>
                <a:rPr lang="en-US" sz="24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collection of pairs of numbers that are in equivalent ratios.</a:t>
              </a:r>
              <a:endParaRPr lang="en-US" sz="24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Shape 7" descr="Icon&#10;&#10;Description automatically generated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9593" y="422941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6.1.3 Guided Instruction: Understanding Proportional Relationships</a:t>
            </a: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" descr="A screen shot of a computer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533090" y="2122191"/>
            <a:ext cx="6909435" cy="38836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ladybug and an ant move at constant speeds. The diagram with tick marks shows their positions at different times, in seconds (sec). Each tick mark represents 1 centimeter (cm).</a:t>
            </a: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9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of values for the ladybug and the ant.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way to determine if a relationship is proportional is to identify if ______________________ ratios exist.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164106"/>
              </p:ext>
            </p:extLst>
          </p:nvPr>
        </p:nvGraphicFramePr>
        <p:xfrm>
          <a:off x="3141453" y="1212545"/>
          <a:ext cx="2743200" cy="2895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Ladybug</a:t>
                      </a:r>
                      <a:endParaRPr lang="en-US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Time (sec)</a:t>
                      </a:r>
                      <a:endParaRPr lang="en-US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Distance (cm)</a:t>
                      </a:r>
                      <a:endParaRPr lang="en-US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939254"/>
              </p:ext>
            </p:extLst>
          </p:nvPr>
        </p:nvGraphicFramePr>
        <p:xfrm>
          <a:off x="6153912" y="1212545"/>
          <a:ext cx="2743200" cy="2895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Ant</a:t>
                      </a:r>
                      <a:endParaRPr lang="en-US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Time (sec)</a:t>
                      </a:r>
                      <a:endParaRPr lang="en-US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Distance (cm)</a:t>
                      </a:r>
                      <a:endParaRPr lang="en-US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377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18764" y="4049522"/>
            <a:ext cx="6438984" cy="103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2678990" y="4320090"/>
                <a:ext cx="6554470" cy="1606069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dependent variable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quantity in the relationship whose values depend on changes in the independent variable. It is typically represented by the variable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D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990" y="4320090"/>
                <a:ext cx="6554470" cy="1606069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417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writing ratios for situations with two variables, each ratio should compare the dependent variable to the independent variable and can be written in fractional form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dependent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variable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independent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variable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417760"/>
              </a:xfrm>
              <a:prstGeom prst="rect">
                <a:avLst/>
              </a:prstGeom>
              <a:blipFill rotWithShape="1">
                <a:blip r:embed="rId5"/>
                <a:stretch>
                  <a:fillRect l="-890" t="-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2717566" y="2443453"/>
                <a:ext cx="6554470" cy="1606069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57150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independent variable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quantity in the relationship whose values do not depend on changes in other variables. It is typically represented by the variable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D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566" y="2443453"/>
                <a:ext cx="6554470" cy="1606069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53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333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Time and distance are the two variables in this situation. Complete the ratio identifying the dependent and independent variables.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dependent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independent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333267"/>
              </a:xfrm>
              <a:prstGeom prst="rect">
                <a:avLst/>
              </a:prstGeom>
              <a:blipFill rotWithShape="1">
                <a:blip r:embed="rId4"/>
                <a:stretch>
                  <a:fillRect l="-890" t="-2089" r="-1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792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277229"/>
                  </p:ext>
                </p:extLst>
              </p:nvPr>
            </p:nvGraphicFramePr>
            <p:xfrm>
              <a:off x="2953512" y="1703832"/>
              <a:ext cx="5943600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Ladybug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 ratios equivalent?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 ratios equivalent?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277229"/>
                  </p:ext>
                </p:extLst>
              </p:nvPr>
            </p:nvGraphicFramePr>
            <p:xfrm>
              <a:off x="2953512" y="1703832"/>
              <a:ext cx="5943600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57200"/>
                    <a:gridCol w="2743200"/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Ladybug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Ant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2" t="-101786" r="-116667" b="-4241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6889" t="-101786" b="-4241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2" t="-200000" r="-116667" b="-3203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6889" t="-200000" b="-3203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2" t="-302679" r="-116667" b="-223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6889" t="-302679" b="-2232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15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ratios equivalent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ratios equivalent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set of ratios for each insect and determine if the ratios within each set are equivalent.</a:t>
            </a:r>
          </a:p>
        </p:txBody>
      </p:sp>
    </p:spTree>
    <p:extLst>
      <p:ext uri="{BB962C8B-B14F-4D97-AF65-F5344CB8AC3E}">
        <p14:creationId xmlns:p14="http://schemas.microsoft.com/office/powerpoint/2010/main" val="3861184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know if the tables each represent a proportional relationship.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why the ratio, when time is equal to zero, is not determined for each situation and summarize your conclusions. </a:t>
            </a:r>
          </a:p>
        </p:txBody>
      </p:sp>
    </p:spTree>
    <p:extLst>
      <p:ext uri="{BB962C8B-B14F-4D97-AF65-F5344CB8AC3E}">
        <p14:creationId xmlns:p14="http://schemas.microsoft.com/office/powerpoint/2010/main" val="4089730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used to represent any proportional relationship. </a:t>
                </a:r>
              </a:p>
              <a:p>
                <a:pPr lvl="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word bank to label each part of the equation.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686259" y="533066"/>
            <a:ext cx="6628765" cy="1265550"/>
            <a:chOff x="2686259" y="427659"/>
            <a:chExt cx="6628765" cy="1265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2686259" y="427659"/>
                  <a:ext cx="6628765" cy="126555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constant of proportionality</a:t>
                  </a:r>
                  <a:r>
                    <a:rPr lang="en-US" sz="2000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𝑘</m:t>
                      </m:r>
                    </m:oMath>
                  </a14:m>
                  <a:r>
                    <a:rPr lang="en-US" sz="2000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the constant value of the ratio of two proportional quantities.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6259" y="427659"/>
                  <a:ext cx="6628765" cy="1265550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Shape 7" descr="Icon&#10;&#10;Description automatically generated">
              <a:extLst>
                <a:ext uri="{FF2B5EF4-FFF2-40B4-BE49-F238E27FC236}">
                  <a16:creationId xmlns:a16="http://schemas.microsoft.com/office/drawing/2014/main" id="{67F3D55E-E829-A84C-B170-65BB544B089C}"/>
                </a:ext>
              </a:extLst>
            </p:cNvPr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865804" y="744324"/>
              <a:ext cx="539115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8E4A42-363E-A646-A495-ED54CD6A5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4718" y="3178107"/>
            <a:ext cx="7112915" cy="9776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AFECD9-59D4-E24F-83CC-8CA77F1C04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4718" y="4387030"/>
            <a:ext cx="6845300" cy="1485900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8628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9266746"/>
                  </p:ext>
                </p:extLst>
              </p:nvPr>
            </p:nvGraphicFramePr>
            <p:xfrm>
              <a:off x="2839795" y="2834275"/>
              <a:ext cx="6296025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027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932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in Context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9266746"/>
                  </p:ext>
                </p:extLst>
              </p:nvPr>
            </p:nvGraphicFramePr>
            <p:xfrm>
              <a:off x="2839795" y="2834275"/>
              <a:ext cx="6296025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027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6932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in Context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0" t="-101333" r="-29277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0" t="-201333" r="-29277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80" t="-301333" r="-292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constant of proportionality for the ladybug?</a:t>
                </a:r>
              </a:p>
              <a:p>
                <a:pPr marL="914400" lvl="1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explain what the constant of proportionality,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-variables represent in the context of the ladybug’s movement.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938992"/>
              </a:xfrm>
              <a:prstGeom prst="rect">
                <a:avLst/>
              </a:prstGeom>
              <a:blipFill rotWithShape="1">
                <a:blip r:embed="rId5"/>
                <a:stretch>
                  <a:fillRect t="-1881" b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420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for the ladybug’s movement. </a:t>
                </a: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constant of proportionality for the ant?</a:t>
                </a: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explain what the constant of proportionality,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-variables represent in the context of the ant’s movement.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554545"/>
              </a:xfrm>
              <a:prstGeom prst="rect">
                <a:avLst/>
              </a:prstGeom>
              <a:blipFill rotWithShape="1">
                <a:blip r:embed="rId4"/>
                <a:stretch>
                  <a:fillRect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1770183"/>
                  </p:ext>
                </p:extLst>
              </p:nvPr>
            </p:nvGraphicFramePr>
            <p:xfrm>
              <a:off x="2839795" y="3501025"/>
              <a:ext cx="6296025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027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932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in Context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1770183"/>
                  </p:ext>
                </p:extLst>
              </p:nvPr>
            </p:nvGraphicFramePr>
            <p:xfrm>
              <a:off x="2839795" y="3501025"/>
              <a:ext cx="6296025" cy="1828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027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6932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in Context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80" t="-100000" r="-292776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80" t="-200000" r="-292776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80" t="-300000" r="-292776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3140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for the ant’s movement. </a:t>
                </a: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if it is possible to write an equation for a proportional relationship if only the constant of proportionality is given. Summarize your discussion. </a:t>
                </a: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for the ladybug’s movement to 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for the ant’s movement to 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blipFill rotWithShape="1">
                <a:blip r:embed="rId4"/>
                <a:stretch>
                  <a:fillRect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529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explain why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be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no matter the value of constant of proportionality,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890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187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779665"/>
                  </p:ext>
                </p:extLst>
              </p:nvPr>
            </p:nvGraphicFramePr>
            <p:xfrm>
              <a:off x="2132616" y="3323512"/>
              <a:ext cx="7762388" cy="16154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605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018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2250"/>
                            </a:lnSpc>
                            <a:spcBef>
                              <a:spcPts val="0"/>
                            </a:spcBef>
                            <a:spcAft>
                              <a:spcPts val="1125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Jessica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When two quantities are proportional, it means that as one quantity increases the other will also increase at the same ratio for all values. An example is the circumference of a circle and its diameter. The ratio of the values always equal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779665"/>
                  </p:ext>
                </p:extLst>
              </p:nvPr>
            </p:nvGraphicFramePr>
            <p:xfrm>
              <a:off x="2132616" y="3323512"/>
              <a:ext cx="7762388" cy="16154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6055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650182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16154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2250"/>
                            </a:lnSpc>
                            <a:spcBef>
                              <a:spcPts val="0"/>
                            </a:spcBef>
                            <a:spcAft>
                              <a:spcPts val="1125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Jessica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512" t="-1887" r="-94" b="-67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6.1.4 Wrap-Up: Cool Down</a:t>
            </a: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28754" y="1403578"/>
                <a:ext cx="1121693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A textbook stated, “We say that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is directly proportional to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if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for some constant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.”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469900"/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For homework, students were asked to restate the definition in their own words and give an example. Below is the response from one student.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54" y="1403578"/>
                <a:ext cx="11216932" cy="1631216"/>
              </a:xfrm>
              <a:prstGeom prst="rect">
                <a:avLst/>
              </a:prstGeom>
              <a:blipFill rotWithShape="1">
                <a:blip r:embed="rId6"/>
                <a:stretch>
                  <a:fillRect l="-598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276124"/>
              </p:ext>
            </p:extLst>
          </p:nvPr>
        </p:nvGraphicFramePr>
        <p:xfrm>
          <a:off x="2946309" y="1624906"/>
          <a:ext cx="6299382" cy="457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5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0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Name</a:t>
                      </a:r>
                    </a:p>
                  </a:txBody>
                  <a:tcPr marL="63523" marR="6352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Definition &amp; Example</a:t>
                      </a:r>
                    </a:p>
                  </a:txBody>
                  <a:tcPr marL="63523" marR="6352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0">
                <a:tc>
                  <a:txBody>
                    <a:bodyPr/>
                    <a:lstStyle/>
                    <a:p>
                      <a:pPr marL="0" marR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1125"/>
                        </a:spcAft>
                      </a:pP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23" marR="6352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875"/>
                        </a:spcAft>
                      </a:pP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23" marR="6352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your own definition and example, including how to recognize a proportional relationship from a table and an equation.</a:t>
            </a:r>
          </a:p>
        </p:txBody>
      </p:sp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1234</Words>
  <Application>Microsoft Office PowerPoint</Application>
  <PresentationFormat>Widescreen</PresentationFormat>
  <Paragraphs>218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8th Grade Math: Pre-Algebra  Unit 6, Lesson 1  Proportional Relationships  Volume 1, pg. 237  </vt:lpstr>
      <vt:lpstr>PowerPoint Presentation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43</cp:revision>
  <dcterms:created xsi:type="dcterms:W3CDTF">2015-03-17T18:51:18Z</dcterms:created>
  <dcterms:modified xsi:type="dcterms:W3CDTF">2022-07-16T21:13:04Z</dcterms:modified>
</cp:coreProperties>
</file>