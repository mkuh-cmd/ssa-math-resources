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33" r:id="rId11"/>
    <p:sldId id="314" r:id="rId12"/>
    <p:sldId id="315" r:id="rId13"/>
    <p:sldId id="332" r:id="rId14"/>
    <p:sldId id="342" r:id="rId15"/>
    <p:sldId id="343" r:id="rId16"/>
    <p:sldId id="344" r:id="rId17"/>
    <p:sldId id="345" r:id="rId18"/>
    <p:sldId id="346" r:id="rId19"/>
    <p:sldId id="289" r:id="rId20"/>
    <p:sldId id="290" r:id="rId21"/>
    <p:sldId id="336" r:id="rId22"/>
    <p:sldId id="347" r:id="rId23"/>
    <p:sldId id="348" r:id="rId24"/>
    <p:sldId id="349" r:id="rId25"/>
    <p:sldId id="302" r:id="rId26"/>
    <p:sldId id="303" r:id="rId27"/>
    <p:sldId id="340" r:id="rId28"/>
    <p:sldId id="350" r:id="rId29"/>
    <p:sldId id="306" r:id="rId30"/>
    <p:sldId id="307" r:id="rId31"/>
  </p:sldIdLst>
  <p:sldSz cx="12192000" cy="6858000"/>
  <p:notesSz cx="6858000" cy="9144000"/>
  <p:embeddedFontLst>
    <p:embeddedFont>
      <p:font typeface="Cambria" pitchFamily="18" charset="0"/>
      <p:regular r:id="rId33"/>
      <p:bold r:id="rId34"/>
      <p:italic r:id="rId35"/>
      <p:boldItalic r:id="rId36"/>
    </p:embeddedFont>
    <p:embeddedFont>
      <p:font typeface="Arial Black" pitchFamily="34" charset="0"/>
      <p:bold r:id="rId37"/>
    </p:embeddedFont>
    <p:embeddedFont>
      <p:font typeface="Verdana" pitchFamily="34" charset="0"/>
      <p:regular r:id="rId38"/>
      <p:bold r:id="rId39"/>
      <p:italic r:id="rId40"/>
      <p:boldItalic r:id="rId41"/>
    </p:embeddedFont>
    <p:embeddedFont>
      <p:font typeface="Calibri" pitchFamily="34" charset="0"/>
      <p:regular r:id="rId42"/>
      <p:bold r:id="rId43"/>
      <p:italic r:id="rId44"/>
      <p:boldItalic r:id="rId45"/>
    </p:embeddedFont>
    <p:embeddedFont>
      <p:font typeface="Century Gothic" pitchFamily="34" charset="0"/>
      <p:regular r:id="rId46"/>
      <p:bold r:id="rId47"/>
      <p:italic r:id="rId48"/>
      <p:boldItalic r:id="rId49"/>
    </p:embeddedFont>
    <p:embeddedFont>
      <p:font typeface="Cambria Math" pitchFamily="18" charset="0"/>
      <p:regular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7720"/>
    <p:restoredTop sz="94659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38723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7253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7731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592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749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7757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90999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071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8181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26472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59083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2003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8351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20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tiff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0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-42772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xmlns="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4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Exploring Slope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254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MA.8.AR.3.2</a:t>
            </a:r>
          </a:p>
          <a:p>
            <a:pPr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table, graph, or written description of a linear relationship, determine the slope</a:t>
            </a:r>
            <a:r>
              <a:rPr lang="en-US" sz="3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254</a:t>
            </a: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254</a:t>
            </a: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5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254</a:t>
            </a: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define slope</a:t>
            </a:r>
            <a:r>
              <a:rPr lang="en-US" sz="3600" dirty="0" smtClean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</a:p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endParaRPr lang="en-US" sz="36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determine the slope given two points</a:t>
            </a:r>
            <a:r>
              <a:rPr lang="en-US" sz="3600" dirty="0" smtClean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lang="en-US" sz="36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254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2957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Text&#10;&#10;Description automatically generated"/>
          <p:cNvPicPr/>
          <p:nvPr/>
        </p:nvPicPr>
        <p:blipFill>
          <a:blip r:embed="rId3"/>
          <a:stretch>
            <a:fillRect/>
          </a:stretch>
        </p:blipFill>
        <p:spPr>
          <a:xfrm>
            <a:off x="4030510" y="2233154"/>
            <a:ext cx="4215765" cy="419798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254</a:t>
            </a: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E1D7562E-134F-D14B-AF1A-DF40E11EF758}"/>
              </a:ext>
            </a:extLst>
          </p:cNvPr>
          <p:cNvSpPr txBox="1"/>
          <p:nvPr/>
        </p:nvSpPr>
        <p:spPr>
          <a:xfrm>
            <a:off x="738235" y="1266496"/>
            <a:ext cx="10800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 explanation to convince the class whether this is a math fail or a reasonable approximation.</a:t>
            </a:r>
          </a:p>
        </p:txBody>
      </p:sp>
      <p:sp>
        <p:nvSpPr>
          <p:cNvPr id="15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6.4.1 Warm-Up: Convince the Class</a:t>
            </a:r>
          </a:p>
        </p:txBody>
      </p:sp>
      <p:pic>
        <p:nvPicPr>
          <p:cNvPr id="16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255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856978" y="1386025"/>
            <a:ext cx="10319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figure shows three right triangles, each with its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hypotenuse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the same line.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Each gridline is equal to one unit.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526386" y="2326757"/>
            <a:ext cx="6980204" cy="1285713"/>
            <a:chOff x="1680496" y="2899680"/>
            <a:chExt cx="6980204" cy="1286720"/>
          </a:xfrm>
        </p:grpSpPr>
        <p:grpSp>
          <p:nvGrpSpPr>
            <p:cNvPr id="12" name="Group 11"/>
            <p:cNvGrpSpPr/>
            <p:nvPr/>
          </p:nvGrpSpPr>
          <p:grpSpPr>
            <a:xfrm>
              <a:off x="1680496" y="2899680"/>
              <a:ext cx="6980204" cy="1286720"/>
              <a:chOff x="1680496" y="2899680"/>
              <a:chExt cx="6980204" cy="1286720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1680496" y="2899680"/>
                <a:ext cx="6980204" cy="1286720"/>
                <a:chOff x="-350804" y="-473920"/>
                <a:chExt cx="6980204" cy="1286720"/>
              </a:xfrm>
            </p:grpSpPr>
            <p:sp>
              <p:nvSpPr>
                <p:cNvPr id="16" name="Rectangle 15"/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7" name="Rounded Rectangle 16"/>
                <p:cNvSpPr/>
                <p:nvPr/>
              </p:nvSpPr>
              <p:spPr>
                <a:xfrm>
                  <a:off x="-350804" y="-473920"/>
                  <a:ext cx="6920768" cy="114309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68580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The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hypotenuse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the longest side of a right triangle; the side opposite the right angle.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8" name="Shape 7" descr="Icon&#10;&#10;Description automatically generated"/>
                <p:cNvPicPr preferRelativeResize="0"/>
                <p:nvPr/>
              </p:nvPicPr>
              <p:blipFill rotWithShape="1">
                <a:blip r:embed="rId3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-193675" y="-227190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pic>
        <p:nvPicPr>
          <p:cNvPr id="19" name="Picture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342" t="1449" r="7433" b="9627"/>
          <a:stretch/>
        </p:blipFill>
        <p:spPr bwMode="auto">
          <a:xfrm>
            <a:off x="3887732" y="3701798"/>
            <a:ext cx="4075421" cy="291734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255</a:t>
            </a:r>
          </a:p>
        </p:txBody>
      </p:sp>
      <p:pic>
        <p:nvPicPr>
          <p:cNvPr id="2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3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95232"/>
            <a:ext cx="10478462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6.4.2 Exploration: Exploring Slope </a:t>
            </a: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Through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Ratios</a:t>
            </a:r>
          </a:p>
        </p:txBody>
      </p:sp>
      <p:pic>
        <p:nvPicPr>
          <p:cNvPr id="24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342" t="1449" r="7433" b="9627"/>
          <a:stretch/>
        </p:blipFill>
        <p:spPr bwMode="auto">
          <a:xfrm>
            <a:off x="7962651" y="410666"/>
            <a:ext cx="3567933" cy="26724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6549298"/>
                  </p:ext>
                </p:extLst>
              </p:nvPr>
            </p:nvGraphicFramePr>
            <p:xfrm>
              <a:off x="1103606" y="3372031"/>
              <a:ext cx="7644995" cy="304738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1781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25492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638061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602852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731342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76949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Triangle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Vertical Side Length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Horizontal Side Length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𝐯𝐞𝐫𝐭𝐢𝐜𝐚𝐥</m:t>
                                    </m:r>
                                  </m:num>
                                  <m:den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𝐡𝐨𝐫𝐢𝐳𝐨𝐧𝐭𝐚𝐥</m:t>
                                    </m:r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Simplified</a:t>
                          </a:r>
                        </a:p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1099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𝑨𝑩𝑪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800">
                            <a:effectLst/>
                            <a:latin typeface="Century Gothic" panose="020B0502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1099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𝑪𝑫𝑬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800">
                            <a:effectLst/>
                            <a:latin typeface="Century Gothic" panose="020B0502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71099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𝑭𝑮𝑯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800">
                            <a:effectLst/>
                            <a:latin typeface="Century Gothic" panose="020B0502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6549298"/>
                  </p:ext>
                </p:extLst>
              </p:nvPr>
            </p:nvGraphicFramePr>
            <p:xfrm>
              <a:off x="1103606" y="3372031"/>
              <a:ext cx="7644995" cy="304738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1781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25492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63806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60285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173134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Triangle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Vertical Side Length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Horizontal Side Length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68821" t="-8000" r="-108365" b="-23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Simplified</a:t>
                          </a:r>
                        </a:p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109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38462" r="-43862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800">
                            <a:effectLst/>
                            <a:latin typeface="Century Gothic" panose="020B0502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68821" t="-138462" r="-10836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109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40517" r="-438627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800">
                            <a:effectLst/>
                            <a:latin typeface="Century Gothic" panose="020B0502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68821" t="-240517" r="-108365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109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37607" r="-438627" b="-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800">
                            <a:effectLst/>
                            <a:latin typeface="Century Gothic" panose="020B0502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68821" t="-337607" r="-108365" b="-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255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73937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table.</a:t>
            </a: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2104963" y="3575162"/>
            <a:ext cx="7861748" cy="1541779"/>
            <a:chOff x="2031300" y="2847894"/>
            <a:chExt cx="7861748" cy="1542717"/>
          </a:xfrm>
        </p:grpSpPr>
        <p:grpSp>
          <p:nvGrpSpPr>
            <p:cNvPr id="7" name="Group 6"/>
            <p:cNvGrpSpPr/>
            <p:nvPr/>
          </p:nvGrpSpPr>
          <p:grpSpPr>
            <a:xfrm>
              <a:off x="2031300" y="2847894"/>
              <a:ext cx="7861748" cy="1542717"/>
              <a:chOff x="0" y="-525706"/>
              <a:chExt cx="7861748" cy="1542717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ounded Rectangle 8"/>
                  <p:cNvSpPr/>
                  <p:nvPr/>
                </p:nvSpPr>
                <p:spPr>
                  <a:xfrm>
                    <a:off x="104226" y="-525706"/>
                    <a:ext cx="7757522" cy="1542717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742950">
                      <a:spcAft>
                        <a:spcPts val="1000"/>
                      </a:spcAft>
                    </a:pP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The </a:t>
                    </a:r>
                    <a:r>
                      <a:rPr lang="en-US" sz="20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slope</a:t>
                    </a: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is the ratio of the change in the vertical direction (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𝑦</m:t>
                        </m:r>
                      </m:oMath>
                    </a14:m>
                    <a:r>
                      <a:rPr lang="en-US" sz="2000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</a:t>
                    </a: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direction) to change in the horizontal direction (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oMath>
                    </a14:m>
                    <a:r>
                      <a:rPr lang="en-US" sz="2000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</a:t>
                    </a: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direction), often expressed as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∆</m:t>
                            </m:r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∆</m:t>
                            </m:r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den>
                        </m:f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.</a:t>
                    </a:r>
                    <a:endParaRPr lang="en-US" sz="20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9" name="Rounded Rectangle 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226" y="-525706"/>
                    <a:ext cx="7757522" cy="1542717"/>
                  </a:xfrm>
                  <a:prstGeom prst="roundRect">
                    <a:avLst>
                      <a:gd name="adj" fmla="val 16667"/>
                    </a:avLst>
                  </a:prstGeom>
                  <a:blipFill rotWithShape="1">
                    <a:blip r:embed="rId3"/>
                    <a:stretch>
                      <a:fillRect/>
                    </a:stretch>
                  </a:blip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0" name="Shape 7" descr="Icon&#10;&#10;Description automatically generated"/>
              <p:cNvPicPr preferRelativeResize="0"/>
              <p:nvPr/>
            </p:nvPicPr>
            <p:blipFill rotWithShape="1">
              <a:blip r:embed="rId4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137" y="-309725"/>
                <a:ext cx="539750" cy="5397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255</a:t>
            </a: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4" y="410666"/>
            <a:ext cx="109905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simplified ratios for the three triangles? 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and write a conjecture about the ratio of the vertical side length to the horizontal side length of any right triangle with a hypotenuse on the same line as the triangles above.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ratio of the vertical side length to the horizontal side length of a right triangle is known as the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slope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hypotenuse. </a:t>
            </a:r>
          </a:p>
        </p:txBody>
      </p:sp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256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10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635354" y="2015258"/>
            <a:ext cx="4345305" cy="31699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256</a:t>
            </a: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56764"/>
            <a:ext cx="9510717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6.4.3 Collaboration: Constant of Proportionality and Slope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44DF7DE-9172-3E4E-B74A-7A51585FB6EA}"/>
              </a:ext>
            </a:extLst>
          </p:cNvPr>
          <p:cNvSpPr txBox="1"/>
          <p:nvPr/>
        </p:nvSpPr>
        <p:spPr>
          <a:xfrm>
            <a:off x="529070" y="1386025"/>
            <a:ext cx="6805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of a relationship is shown.</a:t>
            </a: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4714262"/>
                  </p:ext>
                </p:extLst>
              </p:nvPr>
            </p:nvGraphicFramePr>
            <p:xfrm>
              <a:off x="6279075" y="1079015"/>
              <a:ext cx="2914650" cy="397827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5816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9913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65735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806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</a:t>
                          </a:r>
                          <a:r>
                            <a:rPr lang="en-US" sz="2000" dirty="0">
                              <a:effectLst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den>
                              </m:f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8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12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16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4714262"/>
                  </p:ext>
                </p:extLst>
              </p:nvPr>
            </p:nvGraphicFramePr>
            <p:xfrm>
              <a:off x="6279075" y="1079015"/>
              <a:ext cx="2914650" cy="397827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5816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69913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6573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806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532" r="-420652" b="-729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0702" t="-2532" r="-239474" b="-729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5735" t="-2532" r="-368" b="-7291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8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12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5829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16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632691" y="1120536"/>
            <a:ext cx="4345305" cy="31699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256</a:t>
            </a: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4"/>
                <a:ext cx="11065362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Use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graph to complete the table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table to complete the equation with the constant of proportionality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 ___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4"/>
                <a:ext cx="11065362" cy="5940088"/>
              </a:xfrm>
              <a:prstGeom prst="rect">
                <a:avLst/>
              </a:prstGeom>
              <a:blipFill rotWithShape="1">
                <a:blip r:embed="rId6"/>
                <a:stretch>
                  <a:fillRect t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85364" y="400325"/>
            <a:ext cx="10971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of the same relationship is shown with three right triangles such that their hypotenuses are on the line.</a:t>
            </a:r>
          </a:p>
        </p:txBody>
      </p:sp>
      <p:pic>
        <p:nvPicPr>
          <p:cNvPr id="6" name="Picture 5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5766" y="1470025"/>
            <a:ext cx="5370830" cy="39179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256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800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1299679"/>
                  </p:ext>
                </p:extLst>
              </p:nvPr>
            </p:nvGraphicFramePr>
            <p:xfrm>
              <a:off x="1605761" y="3424825"/>
              <a:ext cx="7827814" cy="2758440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{5940675A-B579-460E-94D1-54222C63F5DA}</a:tableStyleId>
                  </a:tblPr>
                  <a:tblGrid>
                    <a:gridCol w="158426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07652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2338229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Triangle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Horizontal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𝐯𝐞𝐫𝐭𝐢𝐜𝐚𝐥</m:t>
                                    </m:r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𝐡𝐨𝐫𝐢𝐳𝐨𝐧𝐭𝐚𝐥</m:t>
                                    </m:r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𝑨𝑩𝑪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54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Arial" panose="020B0604020202020204" pitchFamily="34" charset="0"/>
                            <a:buChar char=" "/>
                            <a:tabLst>
                              <a:tab pos="0" algn="l"/>
                            </a:tabLs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𝑪𝑫𝑬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54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Arial" panose="020B0604020202020204" pitchFamily="34" charset="0"/>
                            <a:buChar char=" "/>
                            <a:tabLst>
                              <a:tab pos="0" algn="l"/>
                            </a:tabLs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𝑬𝑭𝑮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54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Arial" panose="020B0604020202020204" pitchFamily="34" charset="0"/>
                            <a:buChar char=" "/>
                            <a:tabLst>
                              <a:tab pos="0" algn="l"/>
                            </a:tabLs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1299679"/>
                  </p:ext>
                </p:extLst>
              </p:nvPr>
            </p:nvGraphicFramePr>
            <p:xfrm>
              <a:off x="1605761" y="3424825"/>
              <a:ext cx="7827814" cy="2758440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{5940675A-B579-460E-94D1-54222C63F5DA}</a:tableStyleId>
                  </a:tblPr>
                  <a:tblGrid>
                    <a:gridCol w="158426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07652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233822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Triangle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Horizontal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34635" t="-4348" b="-293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07143" r="-394231" b="-2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6667" t="-107143" r="-241667" b="-2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64223" t="-107143" r="-112610" b="-2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Arial" panose="020B0604020202020204" pitchFamily="34" charset="0"/>
                            <a:buChar char=" "/>
                            <a:tabLst>
                              <a:tab pos="0" algn="l"/>
                            </a:tabLs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05310" r="-39423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54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64223" t="-205310" r="-11261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Arial" panose="020B0604020202020204" pitchFamily="34" charset="0"/>
                            <a:buChar char=" "/>
                            <a:tabLst>
                              <a:tab pos="0" algn="l"/>
                            </a:tabLs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308036" r="-394231" b="-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6667" t="-308036" r="-241667" b="-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Arial" panose="020B0604020202020204" pitchFamily="34" charset="0"/>
                            <a:buChar char=" "/>
                            <a:tabLst>
                              <a:tab pos="0" algn="l"/>
                            </a:tabLs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256</a:t>
            </a: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85364" y="400324"/>
            <a:ext cx="71203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 for the ratio of the vertical side lengths to the horizontal side lengths of each right triangle. </a:t>
            </a:r>
          </a:p>
        </p:txBody>
      </p:sp>
      <p:pic>
        <p:nvPicPr>
          <p:cNvPr id="12" name="Picture 11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839074" y="400324"/>
            <a:ext cx="3691509" cy="26929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96923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257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85364" y="400324"/>
            <a:ext cx="109452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value of each ratio in simplest form?</a:t>
            </a:r>
          </a:p>
          <a:p>
            <a:pPr marL="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slope of the line?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identifying the constant of proportionality is related to determining the slope of a proportional relationship. Summarize your discussion.</a:t>
            </a:r>
          </a:p>
        </p:txBody>
      </p:sp>
    </p:spTree>
    <p:extLst>
      <p:ext uri="{BB962C8B-B14F-4D97-AF65-F5344CB8AC3E}">
        <p14:creationId xmlns:p14="http://schemas.microsoft.com/office/powerpoint/2010/main" val="2264556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9456" y="1138873"/>
            <a:ext cx="4217035" cy="3970655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257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85364" y="400324"/>
            <a:ext cx="10945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slope of any linear relationship can be determined using two points on the line.</a:t>
            </a:r>
          </a:p>
        </p:txBody>
      </p:sp>
    </p:spTree>
    <p:extLst>
      <p:ext uri="{BB962C8B-B14F-4D97-AF65-F5344CB8AC3E}">
        <p14:creationId xmlns:p14="http://schemas.microsoft.com/office/powerpoint/2010/main" val="1979760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257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85364" y="400324"/>
            <a:ext cx="10945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the slope of any line could be determined when right triangles are not given on a graph. Then, summarize your discussion.</a:t>
            </a:r>
          </a:p>
        </p:txBody>
      </p:sp>
    </p:spTree>
    <p:extLst>
      <p:ext uri="{BB962C8B-B14F-4D97-AF65-F5344CB8AC3E}">
        <p14:creationId xmlns:p14="http://schemas.microsoft.com/office/powerpoint/2010/main" val="2014767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258</a:t>
            </a: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C01B13E8-EC8D-E443-A329-C5E3593DD13A}"/>
              </a:ext>
            </a:extLst>
          </p:cNvPr>
          <p:cNvSpPr txBox="1"/>
          <p:nvPr/>
        </p:nvSpPr>
        <p:spPr>
          <a:xfrm>
            <a:off x="751114" y="1386025"/>
            <a:ext cx="1074341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of a line is shown with the coordinates of two of its points labeled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Sketch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right triangle with a hypotenuse on the line and vertices connecting the two given points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345078" y="2090354"/>
            <a:ext cx="3555484" cy="309353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258</a:t>
            </a: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87527"/>
            <a:ext cx="1044187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6.4.4 Guided Instruction: Finding Slope given Two Points</a:t>
            </a:r>
          </a:p>
        </p:txBody>
      </p:sp>
      <p:pic>
        <p:nvPicPr>
          <p:cNvPr id="15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4412562"/>
                  </p:ext>
                </p:extLst>
              </p:nvPr>
            </p:nvGraphicFramePr>
            <p:xfrm>
              <a:off x="1628685" y="1947069"/>
              <a:ext cx="7728966" cy="2367280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{5940675A-B579-460E-94D1-54222C63F5DA}</a:tableStyleId>
                  </a:tblPr>
                  <a:tblGrid>
                    <a:gridCol w="186731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90389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125466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545793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Horizontal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𝐯𝐞𝐫𝐭𝐢𝐜𝐚𝐥</m:t>
                                    </m:r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𝐡𝐨𝐫𝐢𝐳𝐨𝐧𝐭𝐚𝐥</m:t>
                                    </m:r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2052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Arial" panose="020B0604020202020204" pitchFamily="34" charset="0"/>
                            <a:buChar char=" "/>
                            <a:tabLst>
                              <a:tab pos="0" algn="l"/>
                            </a:tabLs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4412562"/>
                  </p:ext>
                </p:extLst>
              </p:nvPr>
            </p:nvGraphicFramePr>
            <p:xfrm>
              <a:off x="1628685" y="1947069"/>
              <a:ext cx="7728966" cy="2367280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{5940675A-B579-460E-94D1-54222C63F5DA}</a:tableStyleId>
                  </a:tblPr>
                  <a:tblGrid>
                    <a:gridCol w="186731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19038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12546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54579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Horizontal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1379" t="-4348" r="-73276" b="-23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6662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Arial" panose="020B0604020202020204" pitchFamily="34" charset="0"/>
                            <a:buChar char=" "/>
                            <a:tabLst>
                              <a:tab pos="0" algn="l"/>
                            </a:tabLs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258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85364" y="400324"/>
            <a:ext cx="109452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sketch to your partner’s sketch.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right triangle to complete the table.</a:t>
            </a:r>
          </a:p>
        </p:txBody>
      </p:sp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85364" y="400324"/>
            <a:ext cx="109452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tabLst>
                <a:tab pos="3886200" algn="l"/>
              </a:tabLst>
            </a:pP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is needed to determine the slope</a:t>
            </a:r>
          </a:p>
          <a:p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/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line because the slope is</a:t>
            </a:r>
            <a:endParaRPr lang="en-US" sz="2000" dirty="0"/>
          </a:p>
          <a:p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/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 two points on the same line</a:t>
            </a: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/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940" y="1112586"/>
            <a:ext cx="3351235" cy="7990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235523" y="1378710"/>
            <a:ext cx="44632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523" y="1985373"/>
            <a:ext cx="3348726" cy="935289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258</a:t>
            </a: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8367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Chart, line chart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97112" y="428899"/>
            <a:ext cx="2859494" cy="37014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258</a:t>
            </a: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85364" y="400324"/>
            <a:ext cx="7949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of a line is shown.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to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3286288"/>
                  </p:ext>
                </p:extLst>
              </p:nvPr>
            </p:nvGraphicFramePr>
            <p:xfrm>
              <a:off x="1623118" y="1611432"/>
              <a:ext cx="7086600" cy="2537930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{5940675A-B579-460E-94D1-54222C63F5DA}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7032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Horizontal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𝐯𝐞𝐫𝐭𝐢𝐜𝐚𝐥</m:t>
                                    </m:r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𝐡𝐨𝐫𝐢𝐳𝐨𝐧𝐭𝐚𝐥</m:t>
                                    </m:r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8346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Arial" panose="020B0604020202020204" pitchFamily="34" charset="0"/>
                            <a:buChar char=" "/>
                            <a:tabLst>
                              <a:tab pos="0" algn="l"/>
                            </a:tabLs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3286288"/>
                  </p:ext>
                </p:extLst>
              </p:nvPr>
            </p:nvGraphicFramePr>
            <p:xfrm>
              <a:off x="1623118" y="1611432"/>
              <a:ext cx="7086600" cy="2537930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{5940675A-B579-460E-94D1-54222C63F5DA}</a:tableStyleId>
                  </a:tblPr>
                  <a:tblGrid>
                    <a:gridCol w="18288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3"/>
                        </a:ext>
                      </a:extLst>
                    </a:gridCol>
                  </a:tblGrid>
                  <a:tr h="7032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Horizontal Side Length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3448" r="-87667" b="-259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18346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Arial" panose="020B0604020202020204" pitchFamily="34" charset="0"/>
                            <a:buChar char=" "/>
                            <a:tabLst>
                              <a:tab pos="0" algn="l"/>
                            </a:tabLs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90529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259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85364" y="400324"/>
            <a:ext cx="109452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Without counting the units on the graph, how can the vertical distance between two points be determined?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Without counting the units on the graph, how can the horizontal distance between two points be determined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51304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259</a:t>
            </a: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466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283771" y="1386026"/>
            <a:ext cx="3247341" cy="33064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0966057"/>
                  </p:ext>
                </p:extLst>
              </p:nvPr>
            </p:nvGraphicFramePr>
            <p:xfrm>
              <a:off x="1695033" y="2593088"/>
              <a:ext cx="3370908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1547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05543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0966057"/>
                  </p:ext>
                </p:extLst>
              </p:nvPr>
            </p:nvGraphicFramePr>
            <p:xfrm>
              <a:off x="1695033" y="2593088"/>
              <a:ext cx="3370908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1547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2055432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0000" r="-156481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00000" r="-156481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259</a:t>
            </a: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6.4.5 Your Turn!</a:t>
            </a:r>
          </a:p>
        </p:txBody>
      </p:sp>
      <p:pic>
        <p:nvPicPr>
          <p:cNvPr id="15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631371" y="1386026"/>
                <a:ext cx="1089921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line is shown in the coordinate plane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the coordinates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71" y="1386026"/>
                <a:ext cx="10899213" cy="1015663"/>
              </a:xfrm>
              <a:prstGeom prst="rect">
                <a:avLst/>
              </a:prstGeom>
              <a:blipFill rotWithShape="1">
                <a:blip r:embed="rId7"/>
                <a:stretch>
                  <a:fillRect l="-615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217071" y="533066"/>
            <a:ext cx="3247341" cy="33064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259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Determine the slope of the red line.</a:t>
            </a:r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916" t="4282" b="15601"/>
          <a:stretch/>
        </p:blipFill>
        <p:spPr bwMode="auto">
          <a:xfrm>
            <a:off x="8957574" y="533066"/>
            <a:ext cx="2374293" cy="42245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260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6" y="533066"/>
                <a:ext cx="8070820" cy="2686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 triangles are shown on the graph such that their hypotenuses lie on the same green line.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Kiana uses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says the slope of this line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Jeff uses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argues that the slope of the green line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indent="4016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indent="4016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who is correct.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6" y="533066"/>
                <a:ext cx="8070820" cy="2686441"/>
              </a:xfrm>
              <a:prstGeom prst="rect">
                <a:avLst/>
              </a:prstGeom>
              <a:blipFill rotWithShape="1">
                <a:blip r:embed="rId5"/>
                <a:stretch>
                  <a:fillRect l="-831" t="-1361"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006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260</a:t>
            </a: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870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0250" y="1385906"/>
            <a:ext cx="4260850" cy="353504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260</a:t>
            </a: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6.4.6 Wrap-Up: Error Analysis</a:t>
            </a:r>
          </a:p>
        </p:txBody>
      </p:sp>
      <p:pic>
        <p:nvPicPr>
          <p:cNvPr id="14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8" y="1385906"/>
                <a:ext cx="620760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of a line is shown with the coordinates of two points labeled.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indent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Judah found the slope of the line to be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indent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the error Judah made. </a:t>
                </a:r>
                <a:r>
                  <a:rPr lang="en-US" sz="2000" dirty="0"/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/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/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/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correct slope of the line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5906"/>
                <a:ext cx="6207602" cy="3785652"/>
              </a:xfrm>
              <a:prstGeom prst="rect">
                <a:avLst/>
              </a:prstGeom>
              <a:blipFill rotWithShape="1">
                <a:blip r:embed="rId6"/>
                <a:stretch>
                  <a:fillRect l="-981" t="-966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962</Words>
  <Application>Microsoft Office PowerPoint</Application>
  <PresentationFormat>Custom</PresentationFormat>
  <Paragraphs>281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Cambria</vt:lpstr>
      <vt:lpstr>Arial Black</vt:lpstr>
      <vt:lpstr>Verdana</vt:lpstr>
      <vt:lpstr>Calibri</vt:lpstr>
      <vt:lpstr>Times New Roman</vt:lpstr>
      <vt:lpstr>Century Gothic</vt:lpstr>
      <vt:lpstr>Wingdings</vt:lpstr>
      <vt:lpstr>Cambria Math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41</cp:revision>
  <dcterms:created xsi:type="dcterms:W3CDTF">2015-03-17T18:51:18Z</dcterms:created>
  <dcterms:modified xsi:type="dcterms:W3CDTF">2022-06-17T10:09:40Z</dcterms:modified>
</cp:coreProperties>
</file>