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85" r:id="rId4"/>
    <p:sldId id="286" r:id="rId5"/>
    <p:sldId id="261" r:id="rId6"/>
    <p:sldId id="287" r:id="rId7"/>
    <p:sldId id="362" r:id="rId8"/>
    <p:sldId id="311" r:id="rId9"/>
    <p:sldId id="312" r:id="rId10"/>
    <p:sldId id="333" r:id="rId11"/>
    <p:sldId id="342" r:id="rId12"/>
    <p:sldId id="289" r:id="rId13"/>
    <p:sldId id="290" r:id="rId14"/>
    <p:sldId id="336" r:id="rId15"/>
    <p:sldId id="343" r:id="rId16"/>
    <p:sldId id="344" r:id="rId17"/>
    <p:sldId id="345" r:id="rId18"/>
    <p:sldId id="346" r:id="rId19"/>
    <p:sldId id="347" r:id="rId20"/>
    <p:sldId id="348" r:id="rId21"/>
    <p:sldId id="349" r:id="rId22"/>
    <p:sldId id="350" r:id="rId23"/>
    <p:sldId id="353" r:id="rId24"/>
    <p:sldId id="354" r:id="rId25"/>
    <p:sldId id="355" r:id="rId26"/>
    <p:sldId id="356" r:id="rId27"/>
    <p:sldId id="357" r:id="rId28"/>
    <p:sldId id="358" r:id="rId29"/>
    <p:sldId id="359" r:id="rId30"/>
    <p:sldId id="306" r:id="rId31"/>
    <p:sldId id="307" r:id="rId32"/>
    <p:sldId id="341" r:id="rId33"/>
  </p:sldIdLst>
  <p:sldSz cx="12192000" cy="6858000"/>
  <p:notesSz cx="6858000" cy="9144000"/>
  <p:embeddedFontLst>
    <p:embeddedFont>
      <p:font typeface="Arial Black" panose="020B0A04020102020204" pitchFamily="34" charset="0"/>
      <p:bold r:id="rId35"/>
    </p:embeddedFont>
    <p:embeddedFont>
      <p:font typeface="Calibri" panose="020F0502020204030204" pitchFamily="34" charset="0"/>
      <p:regular r:id="rId36"/>
      <p:bold r:id="rId37"/>
      <p:italic r:id="rId38"/>
      <p:boldItalic r:id="rId39"/>
    </p:embeddedFont>
    <p:embeddedFont>
      <p:font typeface="Cambria" panose="02040503050406030204" pitchFamily="18" charset="0"/>
      <p:regular r:id="rId40"/>
      <p:bold r:id="rId41"/>
      <p:italic r:id="rId42"/>
      <p:boldItalic r:id="rId43"/>
    </p:embeddedFont>
    <p:embeddedFont>
      <p:font typeface="Cambria Math" panose="02040503050406030204" pitchFamily="18" charset="0"/>
      <p:regular r:id="rId44"/>
    </p:embeddedFont>
    <p:embeddedFont>
      <p:font typeface="Century Gothic" panose="020B0502020202020204" pitchFamily="34" charset="0"/>
      <p:regular r:id="rId45"/>
      <p:bold r:id="rId46"/>
      <p:italic r:id="rId47"/>
      <p:boldItalic r:id="rId48"/>
    </p:embeddedFont>
    <p:embeddedFont>
      <p:font typeface="Verdana" panose="020B060403050404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C46"/>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374" autoAdjust="0"/>
    <p:restoredTop sz="94659"/>
  </p:normalViewPr>
  <p:slideViewPr>
    <p:cSldViewPr snapToGrid="0">
      <p:cViewPr varScale="1">
        <p:scale>
          <a:sx n="63" d="100"/>
          <a:sy n="63" d="100"/>
        </p:scale>
        <p:origin x="198"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71407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220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990365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997284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34059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94346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31146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428614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44339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704229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434218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93736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984112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804374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778896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675657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247564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58578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20490906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0968161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6856583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684968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1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2EEE98C1-FB4E-994A-82F1-A89135A82A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782947"/>
            <a:ext cx="2973100" cy="3465785"/>
          </a:xfrm>
          <a:prstGeom prst="rect">
            <a:avLst/>
          </a:prstGeom>
          <a:effectLst>
            <a:outerShdw blurRad="50800" dist="38100" dir="2700000" algn="tl" rotWithShape="0">
              <a:prstClr val="black">
                <a:alpha val="40000"/>
              </a:prstClr>
            </a:outerShdw>
          </a:effectLst>
        </p:spPr>
      </p:pic>
      <p:sp>
        <p:nvSpPr>
          <p:cNvPr id="9" name="Google Shape;261;g104476d1465_0_0"/>
          <p:cNvSpPr txBox="1">
            <a:spLocks/>
          </p:cNvSpPr>
          <p:nvPr/>
        </p:nvSpPr>
        <p:spPr>
          <a:xfrm>
            <a:off x="5514234" y="2054277"/>
            <a:ext cx="5382366"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8</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Pre-Algebra</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6, Lesson 5</a:t>
            </a:r>
            <a:br>
              <a:rPr lang="en-US" sz="4000" b="1" dirty="0">
                <a:solidFill>
                  <a:srgbClr val="417DBF"/>
                </a:solidFill>
                <a:latin typeface="Verdana"/>
                <a:ea typeface="Verdana"/>
                <a:cs typeface="Verdana"/>
                <a:sym typeface="Verdana"/>
              </a:rPr>
            </a:b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Proportional Relationships and Similar Triangles</a:t>
            </a:r>
            <a:br>
              <a:rPr lang="en-US" sz="4000" b="1" dirty="0">
                <a:solidFill>
                  <a:srgbClr val="417DBF"/>
                </a:solidFill>
                <a:latin typeface="Verdana"/>
                <a:ea typeface="Verdana"/>
                <a:cs typeface="Verdana"/>
                <a:sym typeface="Verdana"/>
              </a:rPr>
            </a:b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261</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MA.8.GR.2.4</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proportional relationships between similar triangles. </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5"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5"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Verdana"/>
              <a:buChar char="❏"/>
            </a:pPr>
            <a:r>
              <a:rPr lang="en-US" sz="3600" dirty="0">
                <a:latin typeface="Verdana" panose="020B0604030504040204" pitchFamily="34" charset="0"/>
                <a:ea typeface="Verdana" panose="020B0604030504040204" pitchFamily="34" charset="0"/>
                <a:cs typeface="Verdana" panose="020B0604030504040204" pitchFamily="34" charset="0"/>
              </a:rPr>
              <a:t>I can solve mathematical problems using similar triangles.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descr="Chart, line chart&#10;&#10;Description automatically generated">
            <a:extLst>
              <a:ext uri="{FF2B5EF4-FFF2-40B4-BE49-F238E27FC236}">
                <a16:creationId xmlns:a16="http://schemas.microsoft.com/office/drawing/2014/main" id="{1E6765F4-578D-2A4F-9DE5-A665F414B2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26388" y="2133196"/>
            <a:ext cx="5686524" cy="3993947"/>
          </a:xfrm>
          <a:prstGeom prst="rect">
            <a:avLst/>
          </a:prstGeom>
        </p:spPr>
      </p:pic>
      <p:sp>
        <p:nvSpPr>
          <p:cNvPr id="10"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6.5.1 Warm-Up: Finding Slope</a:t>
            </a:r>
          </a:p>
        </p:txBody>
      </p:sp>
      <p:pic>
        <p:nvPicPr>
          <p:cNvPr id="14"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5">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TextBox 14">
            <a:extLst>
              <a:ext uri="{FF2B5EF4-FFF2-40B4-BE49-F238E27FC236}">
                <a16:creationId xmlns:a16="http://schemas.microsoft.com/office/drawing/2014/main" id="{E1D7562E-134F-D14B-AF1A-DF40E11EF758}"/>
              </a:ext>
            </a:extLst>
          </p:cNvPr>
          <p:cNvSpPr txBox="1"/>
          <p:nvPr/>
        </p:nvSpPr>
        <p:spPr>
          <a:xfrm>
            <a:off x="738235" y="1266496"/>
            <a:ext cx="10800319"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slope of each line using the given information.</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descr="Graphical user interface&#10;&#10;Description automatically generated">
            <a:extLst>
              <a:ext uri="{FF2B5EF4-FFF2-40B4-BE49-F238E27FC236}">
                <a16:creationId xmlns:a16="http://schemas.microsoft.com/office/drawing/2014/main" id="{6C141692-0538-834B-B164-8EC70BF25A1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52739" y="1493316"/>
            <a:ext cx="5663297" cy="3871368"/>
          </a:xfrm>
          <a:prstGeom prst="rect">
            <a:avLst/>
          </a:prstGeom>
        </p:spPr>
      </p:pic>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9000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7" name="TextBox 16">
            <a:extLst>
              <a:ext uri="{FF2B5EF4-FFF2-40B4-BE49-F238E27FC236}">
                <a16:creationId xmlns:a16="http://schemas.microsoft.com/office/drawing/2014/main" id="{152D1D4D-DCB8-A246-B186-D40316579D77}"/>
              </a:ext>
            </a:extLst>
          </p:cNvPr>
          <p:cNvSpPr txBox="1"/>
          <p:nvPr/>
        </p:nvSpPr>
        <p:spPr>
          <a:xfrm>
            <a:off x="856978" y="1386025"/>
            <a:ext cx="10319021" cy="440120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Triangle 𝐴𝐵𝐶 is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Lauren wants to create three new triangles that have the same shape as triangle 𝐴𝐵𝐶, but are different sizes. She multiplies each side of triangle 𝐴𝐵𝐶 by the scale factors given in the table to determine the sides of the new triangles.</a:t>
            </a:r>
          </a:p>
        </p:txBody>
      </p:sp>
      <p:sp>
        <p:nvSpPr>
          <p:cNvPr id="278" name="Google Shape;278;g104476d1465_1_17"/>
          <p:cNvSpPr/>
          <p:nvPr/>
        </p:nvSpPr>
        <p:spPr>
          <a:xfrm>
            <a:off x="-4428"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image8.png">
            <a:extLst>
              <a:ext uri="{FF2B5EF4-FFF2-40B4-BE49-F238E27FC236}">
                <a16:creationId xmlns:a16="http://schemas.microsoft.com/office/drawing/2014/main" id="{A2CEF0CD-73AB-9842-AFD3-C1043812E16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790" t="10259" r="24905" b="13377"/>
          <a:stretch/>
        </p:blipFill>
        <p:spPr bwMode="auto">
          <a:xfrm>
            <a:off x="4387218" y="1230196"/>
            <a:ext cx="3258540" cy="3507474"/>
          </a:xfrm>
          <a:prstGeom prst="rect">
            <a:avLst/>
          </a:prstGeom>
          <a:ln>
            <a:noFill/>
          </a:ln>
          <a:extLst>
            <a:ext uri="{53640926-AAD7-44D8-BBD7-CCE9431645EC}">
              <a14:shadowObscured xmlns:a14="http://schemas.microsoft.com/office/drawing/2010/main"/>
            </a:ext>
          </a:extLst>
        </p:spPr>
      </p:pic>
      <p:sp>
        <p:nvSpPr>
          <p:cNvPr id="12"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167532"/>
            <a:ext cx="10478462" cy="10340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6.5.2 Exploration</a:t>
            </a:r>
            <a:r>
              <a:rPr lang="en-US" sz="3600" b="1" dirty="0">
                <a:solidFill>
                  <a:srgbClr val="33BEA6"/>
                </a:solidFill>
                <a:latin typeface="Verdana"/>
                <a:ea typeface="Verdana"/>
                <a:cs typeface="Verdana"/>
                <a:sym typeface="Verdana"/>
              </a:rPr>
              <a:t>: </a:t>
            </a:r>
            <a:br>
              <a:rPr lang="en-US" sz="3600" b="1" dirty="0">
                <a:solidFill>
                  <a:srgbClr val="33BEA6"/>
                </a:solidFill>
                <a:latin typeface="Verdana"/>
                <a:ea typeface="Verdana"/>
                <a:cs typeface="Verdana"/>
                <a:sym typeface="Verdana"/>
              </a:rPr>
            </a:br>
            <a:r>
              <a:rPr lang="en-US" sz="3200" b="1" dirty="0">
                <a:solidFill>
                  <a:srgbClr val="33BEA6"/>
                </a:solidFill>
                <a:latin typeface="Verdana"/>
                <a:ea typeface="Verdana"/>
                <a:cs typeface="Verdana"/>
                <a:sym typeface="Verdana"/>
              </a:rPr>
              <a:t>Ratios &amp; Similar Triangles</a:t>
            </a:r>
          </a:p>
        </p:txBody>
      </p:sp>
      <p:pic>
        <p:nvPicPr>
          <p:cNvPr id="16"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id="{2AA35BC6-D428-FC41-BDE5-6438AB8840FC}"/>
              </a:ext>
            </a:extLst>
          </p:cNvPr>
          <p:cNvSpPr txBox="1"/>
          <p:nvPr/>
        </p:nvSpPr>
        <p:spPr>
          <a:xfrm>
            <a:off x="540564" y="410666"/>
            <a:ext cx="10990547"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determine the side lengths of the three new triangles: triangle 𝐷𝐹𝐻, triangle 𝐺𝐾𝑀, and triangle 𝑆𝐿𝑁.</a:t>
            </a:r>
          </a:p>
        </p:txBody>
      </p:sp>
      <p:pic>
        <p:nvPicPr>
          <p:cNvPr id="4" name="Picture 3">
            <a:extLst>
              <a:ext uri="{FF2B5EF4-FFF2-40B4-BE49-F238E27FC236}">
                <a16:creationId xmlns:a16="http://schemas.microsoft.com/office/drawing/2014/main" id="{C63BFB09-41EC-11C4-3EE1-0BBC29F270F8}"/>
              </a:ext>
            </a:extLst>
          </p:cNvPr>
          <p:cNvPicPr>
            <a:picLocks noChangeAspect="1"/>
          </p:cNvPicPr>
          <p:nvPr/>
        </p:nvPicPr>
        <p:blipFill>
          <a:blip r:embed="rId4"/>
          <a:stretch>
            <a:fillRect/>
          </a:stretch>
        </p:blipFill>
        <p:spPr>
          <a:xfrm>
            <a:off x="2397063" y="1118552"/>
            <a:ext cx="6763984" cy="3819208"/>
          </a:xfrm>
          <a:prstGeom prst="rect">
            <a:avLst/>
          </a:prstGeom>
        </p:spPr>
      </p:pic>
    </p:spTree>
    <p:extLst>
      <p:ext uri="{BB962C8B-B14F-4D97-AF65-F5344CB8AC3E}">
        <p14:creationId xmlns:p14="http://schemas.microsoft.com/office/powerpoint/2010/main" val="15525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610764" y="386876"/>
            <a:ext cx="10641435" cy="440120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table by writing the following ratios.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answers with your partner. Then, discuss your observations of the ratios.</a:t>
            </a:r>
          </a:p>
        </p:txBody>
      </p:sp>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ECE1217-3969-5749-B30D-72C4AA5EB342}"/>
                  </a:ext>
                </a:extLst>
              </p:cNvPr>
              <p:cNvGraphicFramePr>
                <a:graphicFrameLocks noGrp="1"/>
              </p:cNvGraphicFramePr>
              <p:nvPr>
                <p:extLst>
                  <p:ext uri="{D42A27DB-BD31-4B8C-83A1-F6EECF244321}">
                    <p14:modId xmlns:p14="http://schemas.microsoft.com/office/powerpoint/2010/main" val="3478741385"/>
                  </p:ext>
                </p:extLst>
              </p:nvPr>
            </p:nvGraphicFramePr>
            <p:xfrm>
              <a:off x="1219200" y="990628"/>
              <a:ext cx="7029450" cy="2562734"/>
            </p:xfrm>
            <a:graphic>
              <a:graphicData uri="http://schemas.openxmlformats.org/drawingml/2006/table">
                <a:tbl>
                  <a:tblPr>
                    <a:tableStyleId>{A91F0D33-8C57-4600-99A7-42BC86742BE1}</a:tableStyleId>
                  </a:tblPr>
                  <a:tblGrid>
                    <a:gridCol w="1371600">
                      <a:extLst>
                        <a:ext uri="{9D8B030D-6E8A-4147-A177-3AD203B41FA5}">
                          <a16:colId xmlns:a16="http://schemas.microsoft.com/office/drawing/2014/main" val="1469422117"/>
                        </a:ext>
                      </a:extLst>
                    </a:gridCol>
                    <a:gridCol w="1943100">
                      <a:extLst>
                        <a:ext uri="{9D8B030D-6E8A-4147-A177-3AD203B41FA5}">
                          <a16:colId xmlns:a16="http://schemas.microsoft.com/office/drawing/2014/main" val="3783788020"/>
                        </a:ext>
                      </a:extLst>
                    </a:gridCol>
                    <a:gridCol w="1895475">
                      <a:extLst>
                        <a:ext uri="{9D8B030D-6E8A-4147-A177-3AD203B41FA5}">
                          <a16:colId xmlns:a16="http://schemas.microsoft.com/office/drawing/2014/main" val="1223659062"/>
                        </a:ext>
                      </a:extLst>
                    </a:gridCol>
                    <a:gridCol w="1819275">
                      <a:extLst>
                        <a:ext uri="{9D8B030D-6E8A-4147-A177-3AD203B41FA5}">
                          <a16:colId xmlns:a16="http://schemas.microsoft.com/office/drawing/2014/main" val="2092416504"/>
                        </a:ext>
                      </a:extLst>
                    </a:gridCol>
                  </a:tblGrid>
                  <a:tr h="62674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𝐥𝐨𝐧𝐠</m:t>
                                    </m:r>
                                    <m:r>
                                      <a:rPr lang="en-US" sz="2000">
                                        <a:effectLst/>
                                        <a:latin typeface="Cambria Math" panose="02040503050406030204" pitchFamily="18" charset="0"/>
                                      </a:rPr>
                                      <m:t> </m:t>
                                    </m:r>
                                    <m:r>
                                      <a:rPr lang="en-US" sz="2000">
                                        <a:effectLst/>
                                        <a:latin typeface="Cambria Math" panose="02040503050406030204" pitchFamily="18" charset="0"/>
                                      </a:rPr>
                                      <m:t>𝐬𝐢𝐝𝐞</m:t>
                                    </m:r>
                                  </m:num>
                                  <m:den>
                                    <m:r>
                                      <a:rPr lang="en-US" sz="2000">
                                        <a:effectLst/>
                                        <a:latin typeface="Cambria Math" panose="02040503050406030204" pitchFamily="18" charset="0"/>
                                      </a:rPr>
                                      <m:t>𝐬𝐡𝐨𝐫𝐭</m:t>
                                    </m:r>
                                    <m:r>
                                      <a:rPr lang="en-US" sz="2000">
                                        <a:effectLst/>
                                        <a:latin typeface="Cambria Math" panose="02040503050406030204" pitchFamily="18" charset="0"/>
                                      </a:rPr>
                                      <m:t> </m:t>
                                    </m:r>
                                    <m:r>
                                      <a:rPr lang="en-US" sz="2000">
                                        <a:effectLst/>
                                        <a:latin typeface="Cambria Math" panose="02040503050406030204" pitchFamily="18" charset="0"/>
                                      </a:rPr>
                                      <m:t>𝐬𝐢𝐝𝐞</m:t>
                                    </m:r>
                                  </m:den>
                                </m:f>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𝐥𝐨𝐧𝐠</m:t>
                                    </m:r>
                                    <m:r>
                                      <a:rPr lang="en-US" sz="2000">
                                        <a:effectLst/>
                                        <a:latin typeface="Cambria Math" panose="02040503050406030204" pitchFamily="18" charset="0"/>
                                      </a:rPr>
                                      <m:t> </m:t>
                                    </m:r>
                                    <m:r>
                                      <a:rPr lang="en-US" sz="2000">
                                        <a:effectLst/>
                                        <a:latin typeface="Cambria Math" panose="02040503050406030204" pitchFamily="18" charset="0"/>
                                      </a:rPr>
                                      <m:t>𝐬𝐢𝐝𝐞</m:t>
                                    </m:r>
                                  </m:num>
                                  <m:den>
                                    <m:r>
                                      <a:rPr lang="en-US" sz="2000">
                                        <a:effectLst/>
                                        <a:latin typeface="Cambria Math" panose="02040503050406030204" pitchFamily="18" charset="0"/>
                                      </a:rPr>
                                      <m:t>𝐦𝐞𝐝𝐢𝐮𝐦</m:t>
                                    </m:r>
                                    <m:r>
                                      <a:rPr lang="en-US" sz="2000">
                                        <a:effectLst/>
                                        <a:latin typeface="Cambria Math" panose="02040503050406030204" pitchFamily="18" charset="0"/>
                                      </a:rPr>
                                      <m:t> </m:t>
                                    </m:r>
                                    <m:r>
                                      <a:rPr lang="en-US" sz="2000">
                                        <a:effectLst/>
                                        <a:latin typeface="Cambria Math" panose="02040503050406030204" pitchFamily="18" charset="0"/>
                                      </a:rPr>
                                      <m:t>𝐬𝐢𝐝𝐞</m:t>
                                    </m:r>
                                  </m:den>
                                </m:f>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𝐦𝐞𝐝𝐢𝐮𝐦</m:t>
                                    </m:r>
                                    <m:r>
                                      <a:rPr lang="en-US" sz="2000">
                                        <a:effectLst/>
                                        <a:latin typeface="Cambria Math" panose="02040503050406030204" pitchFamily="18" charset="0"/>
                                      </a:rPr>
                                      <m:t> </m:t>
                                    </m:r>
                                    <m:r>
                                      <a:rPr lang="en-US" sz="2000">
                                        <a:effectLst/>
                                        <a:latin typeface="Cambria Math" panose="02040503050406030204" pitchFamily="18" charset="0"/>
                                      </a:rPr>
                                      <m:t>𝐬𝐢𝐝𝐞</m:t>
                                    </m:r>
                                  </m:num>
                                  <m:den>
                                    <m:r>
                                      <a:rPr lang="en-US" sz="2000">
                                        <a:effectLst/>
                                        <a:latin typeface="Cambria Math" panose="02040503050406030204" pitchFamily="18" charset="0"/>
                                      </a:rPr>
                                      <m:t>𝐬𝐡𝐨𝐫𝐭</m:t>
                                    </m:r>
                                    <m:r>
                                      <a:rPr lang="en-US" sz="2000">
                                        <a:effectLst/>
                                        <a:latin typeface="Cambria Math" panose="02040503050406030204" pitchFamily="18" charset="0"/>
                                      </a:rPr>
                                      <m:t> </m:t>
                                    </m:r>
                                    <m:r>
                                      <a:rPr lang="en-US" sz="2000">
                                        <a:effectLst/>
                                        <a:latin typeface="Cambria Math" panose="02040503050406030204" pitchFamily="18" charset="0"/>
                                      </a:rPr>
                                      <m:t>𝐬𝐢𝐝𝐞</m:t>
                                    </m:r>
                                  </m:den>
                                </m:f>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12912335"/>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𝑨𝑩𝑪</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7</m:t>
                                  </m:r>
                                </m:num>
                                <m:den>
                                  <m:r>
                                    <a:rPr lang="en-US" sz="2000">
                                      <a:effectLst/>
                                      <a:latin typeface="Cambria Math" panose="02040503050406030204" pitchFamily="18" charset="0"/>
                                    </a:rPr>
                                    <m:t>4</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000">
                                  <a:effectLst/>
                                  <a:latin typeface="Cambria Math" panose="02040503050406030204" pitchFamily="18" charset="0"/>
                                </a:rPr>
                                <m:t>1.75</m:t>
                              </m:r>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0467319"/>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𝑫𝑭𝑯</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930867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𝑮𝑲𝑴</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73289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𝑺𝑳𝑵</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6754871"/>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FECE1217-3969-5749-B30D-72C4AA5EB342}"/>
                  </a:ext>
                </a:extLst>
              </p:cNvPr>
              <p:cNvGraphicFramePr>
                <a:graphicFrameLocks noGrp="1"/>
              </p:cNvGraphicFramePr>
              <p:nvPr>
                <p:extLst>
                  <p:ext uri="{D42A27DB-BD31-4B8C-83A1-F6EECF244321}">
                    <p14:modId xmlns:p14="http://schemas.microsoft.com/office/powerpoint/2010/main" val="3478741385"/>
                  </p:ext>
                </p:extLst>
              </p:nvPr>
            </p:nvGraphicFramePr>
            <p:xfrm>
              <a:off x="1219200" y="990628"/>
              <a:ext cx="7029450" cy="2562734"/>
            </p:xfrm>
            <a:graphic>
              <a:graphicData uri="http://schemas.openxmlformats.org/drawingml/2006/table">
                <a:tbl>
                  <a:tblPr>
                    <a:tableStyleId>{A91F0D33-8C57-4600-99A7-42BC86742BE1}</a:tableStyleId>
                  </a:tblPr>
                  <a:tblGrid>
                    <a:gridCol w="1371600">
                      <a:extLst>
                        <a:ext uri="{9D8B030D-6E8A-4147-A177-3AD203B41FA5}">
                          <a16:colId xmlns:a16="http://schemas.microsoft.com/office/drawing/2014/main" xmlns:a14="http://schemas.microsoft.com/office/drawing/2010/main" xmlns="" val="1469422117"/>
                        </a:ext>
                      </a:extLst>
                    </a:gridCol>
                    <a:gridCol w="1943100">
                      <a:extLst>
                        <a:ext uri="{9D8B030D-6E8A-4147-A177-3AD203B41FA5}">
                          <a16:colId xmlns:a16="http://schemas.microsoft.com/office/drawing/2014/main" xmlns:a14="http://schemas.microsoft.com/office/drawing/2010/main" xmlns="" val="3783788020"/>
                        </a:ext>
                      </a:extLst>
                    </a:gridCol>
                    <a:gridCol w="1895475">
                      <a:extLst>
                        <a:ext uri="{9D8B030D-6E8A-4147-A177-3AD203B41FA5}">
                          <a16:colId xmlns:a16="http://schemas.microsoft.com/office/drawing/2014/main" xmlns:a14="http://schemas.microsoft.com/office/drawing/2010/main" xmlns="" val="1223659062"/>
                        </a:ext>
                      </a:extLst>
                    </a:gridCol>
                    <a:gridCol w="1819275">
                      <a:extLst>
                        <a:ext uri="{9D8B030D-6E8A-4147-A177-3AD203B41FA5}">
                          <a16:colId xmlns:a16="http://schemas.microsoft.com/office/drawing/2014/main" xmlns:a14="http://schemas.microsoft.com/office/drawing/2010/main" xmlns="" val="2092416504"/>
                        </a:ext>
                      </a:extLst>
                    </a:gridCol>
                  </a:tblGrid>
                  <a:tr h="6703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0533" t="-909" r="-191223" b="-281818"/>
                          </a:stretch>
                        </a:blipFill>
                      </a:tcPr>
                    </a:tc>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74920" t="-909" r="-96141" b="-281818"/>
                          </a:stretch>
                        </a:blipFill>
                      </a:tcPr>
                    </a:tc>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86913" t="-909" r="-336" b="-281818"/>
                          </a:stretch>
                        </a:blipFill>
                      </a:tcPr>
                    </a:tc>
                    <a:extLst>
                      <a:ext uri="{0D108BD9-81ED-4DB2-BD59-A6C34878D82A}">
                        <a16:rowId xmlns:a16="http://schemas.microsoft.com/office/drawing/2014/main" xmlns:a14="http://schemas.microsoft.com/office/drawing/2010/main" xmlns="" val="4212912335"/>
                      </a:ext>
                    </a:extLst>
                  </a:tr>
                  <a:tr h="520764">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30588" r="-412889" b="-264706"/>
                          </a:stretch>
                        </a:blipFill>
                      </a:tcPr>
                    </a:tc>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0533" t="-130588" r="-191223" b="-264706"/>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270467319"/>
                      </a:ext>
                    </a:extLst>
                  </a:tr>
                  <a:tr h="457200">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61333" r="-412889" b="-20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09308673"/>
                      </a:ext>
                    </a:extLst>
                  </a:tr>
                  <a:tr h="457200">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361333" r="-412889" b="-10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63732892"/>
                      </a:ext>
                    </a:extLst>
                  </a:tr>
                  <a:tr h="457200">
                    <a:tc>
                      <a:txBody>
                        <a:bodyPr/>
                        <a:lstStyle/>
                        <a:p>
                          <a:endParaRPr lang="en-US"/>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461333" r="-41288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146754871"/>
                      </a:ext>
                    </a:extLst>
                  </a:tr>
                </a:tbl>
              </a:graphicData>
            </a:graphic>
          </p:graphicFrame>
        </mc:Fallback>
      </mc:AlternateContent>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1590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263</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7" name="TextBox 16">
            <a:extLst>
              <a:ext uri="{FF2B5EF4-FFF2-40B4-BE49-F238E27FC236}">
                <a16:creationId xmlns:a16="http://schemas.microsoft.com/office/drawing/2014/main" id="{C01B13E8-EC8D-E443-A329-C5E3593DD13A}"/>
              </a:ext>
            </a:extLst>
          </p:cNvPr>
          <p:cNvSpPr txBox="1"/>
          <p:nvPr/>
        </p:nvSpPr>
        <p:spPr>
          <a:xfrm>
            <a:off x="751114" y="1386025"/>
            <a:ext cx="10743412"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the Exploration, the triangles created are called </a:t>
            </a:r>
            <a:r>
              <a:rPr lang="en-US" sz="2000" b="1" dirty="0">
                <a:latin typeface="Verdana" panose="020B0604030504040204" pitchFamily="34" charset="0"/>
                <a:ea typeface="Verdana" panose="020B0604030504040204" pitchFamily="34" charset="0"/>
                <a:cs typeface="Verdana" panose="020B0604030504040204" pitchFamily="34" charset="0"/>
              </a:rPr>
              <a:t>similar</a:t>
            </a:r>
            <a:r>
              <a:rPr lang="en-US" sz="2000" dirty="0">
                <a:latin typeface="Verdana" panose="020B0604030504040204" pitchFamily="34" charset="0"/>
                <a:ea typeface="Verdana" panose="020B0604030504040204" pitchFamily="34" charset="0"/>
                <a:cs typeface="Verdana" panose="020B0604030504040204" pitchFamily="34" charset="0"/>
              </a:rPr>
              <a:t> triangles. In mathematics, similar figures have the same shape, but are not necessarily the same size.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Three triangles are shown.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two triangles appear to be similar. </a:t>
            </a:r>
          </a:p>
        </p:txBody>
      </p:sp>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2" name="Picture 11">
            <a:extLst>
              <a:ext uri="{FF2B5EF4-FFF2-40B4-BE49-F238E27FC236}">
                <a16:creationId xmlns:a16="http://schemas.microsoft.com/office/drawing/2014/main" id="{E4FA665B-162D-7B4E-8D5E-B8CFE32C7D0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0958" t="17088" r="11241" b="45735"/>
          <a:stretch/>
        </p:blipFill>
        <p:spPr bwMode="auto">
          <a:xfrm>
            <a:off x="2632075" y="3056154"/>
            <a:ext cx="6927850" cy="1976120"/>
          </a:xfrm>
          <a:prstGeom prst="rect">
            <a:avLst/>
          </a:prstGeom>
          <a:noFill/>
          <a:ln>
            <a:noFill/>
          </a:ln>
          <a:extLst>
            <a:ext uri="{53640926-AAD7-44D8-BBD7-CCE9431645EC}">
              <a14:shadowObscured xmlns:a14="http://schemas.microsoft.com/office/drawing/2010/main"/>
            </a:ext>
          </a:extLst>
        </p:spPr>
      </p:pic>
      <p:sp>
        <p:nvSpPr>
          <p:cNvPr id="10"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263</a:t>
            </a: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7527"/>
            <a:ext cx="1044187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6.5.3 Guided Instruction: Similar Triangles and Proportionality</a:t>
            </a:r>
          </a:p>
        </p:txBody>
      </p:sp>
      <p:pic>
        <p:nvPicPr>
          <p:cNvPr id="16"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5">
            <a:alphaModFix/>
          </a:blip>
          <a:srcRect/>
          <a:stretch/>
        </p:blipFill>
        <p:spPr>
          <a:xfrm>
            <a:off x="305350" y="203221"/>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263</a:t>
            </a: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id="{2FA392D8-3ED3-7940-83A8-1451AA8A08D4}"/>
              </a:ext>
            </a:extLst>
          </p:cNvPr>
          <p:cNvSpPr txBox="1"/>
          <p:nvPr/>
        </p:nvSpPr>
        <p:spPr>
          <a:xfrm>
            <a:off x="585364" y="400324"/>
            <a:ext cx="10945220"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Similarity cannot be determined by appearance alone. Triangles are similar if their corresponding sides are proportional.</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The Exploration used the words “long,” “medium,” and “short” to describe the sides of the triangles. Sides of similar triangles that are paired are called </a:t>
            </a:r>
            <a:r>
              <a:rPr lang="en-US" sz="2400" b="1" dirty="0">
                <a:latin typeface="Verdana" panose="020B0604030504040204" pitchFamily="34" charset="0"/>
                <a:ea typeface="Verdana" panose="020B0604030504040204" pitchFamily="34" charset="0"/>
                <a:cs typeface="Verdana" panose="020B0604030504040204" pitchFamily="34" charset="0"/>
              </a:rPr>
              <a:t>corresponding sides</a:t>
            </a:r>
            <a:r>
              <a:rPr lang="en-US" sz="24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1617750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TextBox 11">
            <a:extLst>
              <a:ext uri="{FF2B5EF4-FFF2-40B4-BE49-F238E27FC236}">
                <a16:creationId xmlns:a16="http://schemas.microsoft.com/office/drawing/2014/main" id="{2FA392D8-3ED3-7940-83A8-1451AA8A08D4}"/>
              </a:ext>
            </a:extLst>
          </p:cNvPr>
          <p:cNvSpPr txBox="1"/>
          <p:nvPr/>
        </p:nvSpPr>
        <p:spPr>
          <a:xfrm>
            <a:off x="585364" y="400324"/>
            <a:ext cx="10945220" cy="5375831"/>
          </a:xfrm>
          <a:prstGeom prst="rect">
            <a:avLst/>
          </a:prstGeom>
          <a:noFill/>
        </p:spPr>
        <p:txBody>
          <a:bodyPr wrap="square" rtlCol="0">
            <a:spAutoFit/>
          </a:bodyPr>
          <a:lstStyle/>
          <a:p>
            <a:pPr>
              <a:spcBef>
                <a:spcPts val="180"/>
              </a:spcBef>
              <a:spcAft>
                <a:spcPts val="180"/>
              </a:spcAft>
            </a:pPr>
            <a:r>
              <a:rPr lang="en-US" sz="2000" dirty="0">
                <a:latin typeface="Verdana" panose="020B0604030504040204" pitchFamily="34" charset="0"/>
                <a:ea typeface="Times New Roman" panose="02020603050405020304" pitchFamily="18" charset="0"/>
                <a:cs typeface="Times New Roman" panose="02020603050405020304" pitchFamily="18" charset="0"/>
              </a:rPr>
              <a:t>Similar triangles 𝐴𝐵𝐶, 𝐷𝐹𝐻, 𝐺𝐾𝑀, and 𝑆𝐿𝑁 from the Exploration are shown.</a:t>
            </a: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spcBef>
                <a:spcPts val="180"/>
              </a:spcBef>
              <a:spcAft>
                <a:spcPts val="180"/>
              </a:spcAft>
            </a:pPr>
            <a:r>
              <a:rPr lang="en-US" sz="2000" dirty="0">
                <a:latin typeface="Verdana" panose="020B0604030504040204" pitchFamily="34" charset="0"/>
                <a:ea typeface="Times New Roman" panose="02020603050405020304" pitchFamily="18" charset="0"/>
                <a:cs typeface="Times New Roman" panose="02020603050405020304" pitchFamily="18" charset="0"/>
              </a:rPr>
              <a:t>In the Exploration, the long side of triangle 𝐴𝐵𝐶 is the side between points 𝐵 and 𝐶, called segment 𝐵𝐶.</a:t>
            </a:r>
          </a:p>
        </p:txBody>
      </p:sp>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9" name="Picture 8" descr="Chart, radar chart&#10;&#10;Description automatically generated">
            <a:extLst>
              <a:ext uri="{FF2B5EF4-FFF2-40B4-BE49-F238E27FC236}">
                <a16:creationId xmlns:a16="http://schemas.microsoft.com/office/drawing/2014/main" id="{3F821C82-CBF2-9643-AC8B-1F1C11FE690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7640" t="2394" r="23924" b="4226"/>
          <a:stretch/>
        </p:blipFill>
        <p:spPr bwMode="auto">
          <a:xfrm>
            <a:off x="2905516" y="939403"/>
            <a:ext cx="6304915" cy="4002405"/>
          </a:xfrm>
          <a:prstGeom prst="rect">
            <a:avLst/>
          </a:prstGeom>
          <a:ln>
            <a:noFill/>
          </a:ln>
          <a:extLst>
            <a:ext uri="{53640926-AAD7-44D8-BBD7-CCE9431645EC}">
              <a14:shadowObscured xmlns:a14="http://schemas.microsoft.com/office/drawing/2010/main"/>
            </a:ext>
          </a:extLst>
        </p:spPr>
      </p:pic>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263</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2377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80AA0A0-48AD-0040-AAB5-2B02BEB7FF72}"/>
                  </a:ext>
                </a:extLst>
              </p:cNvPr>
              <p:cNvGraphicFramePr>
                <a:graphicFrameLocks noGrp="1"/>
              </p:cNvGraphicFramePr>
              <p:nvPr>
                <p:extLst>
                  <p:ext uri="{D42A27DB-BD31-4B8C-83A1-F6EECF244321}">
                    <p14:modId xmlns:p14="http://schemas.microsoft.com/office/powerpoint/2010/main" val="925637674"/>
                  </p:ext>
                </p:extLst>
              </p:nvPr>
            </p:nvGraphicFramePr>
            <p:xfrm>
              <a:off x="3022356" y="1596025"/>
              <a:ext cx="6071235" cy="1828800"/>
            </p:xfrm>
            <a:graphic>
              <a:graphicData uri="http://schemas.openxmlformats.org/drawingml/2006/table">
                <a:tbl>
                  <a:tblPr firstRow="1" firstCol="1" bandRow="1">
                    <a:tableStyleId>{A91F0D33-8C57-4600-99A7-42BC86742BE1}</a:tableStyleId>
                  </a:tblPr>
                  <a:tblGrid>
                    <a:gridCol w="1943100">
                      <a:extLst>
                        <a:ext uri="{9D8B030D-6E8A-4147-A177-3AD203B41FA5}">
                          <a16:colId xmlns:a16="http://schemas.microsoft.com/office/drawing/2014/main" val="2541900028"/>
                        </a:ext>
                      </a:extLst>
                    </a:gridCol>
                    <a:gridCol w="4128135">
                      <a:extLst>
                        <a:ext uri="{9D8B030D-6E8A-4147-A177-3AD203B41FA5}">
                          <a16:colId xmlns:a16="http://schemas.microsoft.com/office/drawing/2014/main" val="369177124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Long Side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72428360"/>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a:effectLst/>
                                  <a:latin typeface="Cambria Math" panose="02040503050406030204" pitchFamily="18" charset="0"/>
                                </a:rPr>
                                <m:t>𝐷𝐹𝐻</m:t>
                              </m:r>
                            </m:oMath>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Segment ______</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6564488"/>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a:effectLst/>
                                  <a:latin typeface="Cambria Math" panose="02040503050406030204" pitchFamily="18" charset="0"/>
                                </a:rPr>
                                <m:t>𝐺𝐾𝑀</m:t>
                              </m:r>
                            </m:oMath>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Segment ______</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4288006"/>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a:effectLst/>
                                  <a:latin typeface="Cambria Math" panose="02040503050406030204" pitchFamily="18" charset="0"/>
                                </a:rPr>
                                <m:t>𝑆𝐿𝑁</m:t>
                              </m:r>
                            </m:oMath>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Segment ______</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85174"/>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380AA0A0-48AD-0040-AAB5-2B02BEB7FF72}"/>
                  </a:ext>
                </a:extLst>
              </p:cNvPr>
              <p:cNvGraphicFramePr>
                <a:graphicFrameLocks noGrp="1"/>
              </p:cNvGraphicFramePr>
              <p:nvPr>
                <p:extLst>
                  <p:ext uri="{D42A27DB-BD31-4B8C-83A1-F6EECF244321}">
                    <p14:modId xmlns:p14="http://schemas.microsoft.com/office/powerpoint/2010/main" val="925637674"/>
                  </p:ext>
                </p:extLst>
              </p:nvPr>
            </p:nvGraphicFramePr>
            <p:xfrm>
              <a:off x="3022356" y="1596025"/>
              <a:ext cx="6071235" cy="1828800"/>
            </p:xfrm>
            <a:graphic>
              <a:graphicData uri="http://schemas.openxmlformats.org/drawingml/2006/table">
                <a:tbl>
                  <a:tblPr firstRow="1" firstCol="1" bandRow="1">
                    <a:tableStyleId>{A91F0D33-8C57-4600-99A7-42BC86742BE1}</a:tableStyleId>
                  </a:tblPr>
                  <a:tblGrid>
                    <a:gridCol w="1943100">
                      <a:extLst>
                        <a:ext uri="{9D8B030D-6E8A-4147-A177-3AD203B41FA5}">
                          <a16:colId xmlns:a16="http://schemas.microsoft.com/office/drawing/2014/main" xmlns:a14="http://schemas.microsoft.com/office/drawing/2010/main" xmlns="" val="2541900028"/>
                        </a:ext>
                      </a:extLst>
                    </a:gridCol>
                    <a:gridCol w="4128135">
                      <a:extLst>
                        <a:ext uri="{9D8B030D-6E8A-4147-A177-3AD203B41FA5}">
                          <a16:colId xmlns:a16="http://schemas.microsoft.com/office/drawing/2014/main" xmlns:a14="http://schemas.microsoft.com/office/drawing/2010/main" xmlns="" val="369177124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Long Side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272428360"/>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3" t="-101333" r="-212226" b="-217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Segment ______</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786564488"/>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3" t="-201333" r="-212226" b="-117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Segment ______</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14288006"/>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3" t="-301333" r="-212226" b="-17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Segment ______</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38885174"/>
                      </a:ext>
                    </a:extLst>
                  </a:tr>
                </a:tbl>
              </a:graphicData>
            </a:graphic>
          </p:graphicFrame>
        </mc:Fallback>
      </mc:AlternateContent>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263</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a16="http://schemas.microsoft.com/office/drawing/2014/main" id="{2FA392D8-3ED3-7940-83A8-1451AA8A08D4}"/>
              </a:ext>
            </a:extLst>
          </p:cNvPr>
          <p:cNvSpPr txBox="1"/>
          <p:nvPr/>
        </p:nvSpPr>
        <p:spPr>
          <a:xfrm>
            <a:off x="585364" y="400324"/>
            <a:ext cx="1094522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table by naming the corresponding long sides of the triangles from the Exploration.</a:t>
            </a:r>
          </a:p>
        </p:txBody>
      </p:sp>
    </p:spTree>
    <p:extLst>
      <p:ext uri="{BB962C8B-B14F-4D97-AF65-F5344CB8AC3E}">
        <p14:creationId xmlns:p14="http://schemas.microsoft.com/office/powerpoint/2010/main" val="443530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7" name="Picture 6">
            <a:extLst>
              <a:ext uri="{FF2B5EF4-FFF2-40B4-BE49-F238E27FC236}">
                <a16:creationId xmlns:a16="http://schemas.microsoft.com/office/drawing/2014/main" id="{A4888CED-72B5-4846-8B46-7AE333E59404}"/>
              </a:ext>
            </a:extLst>
          </p:cNvPr>
          <p:cNvPicPr>
            <a:picLocks noChangeAspect="1"/>
          </p:cNvPicPr>
          <p:nvPr/>
        </p:nvPicPr>
        <p:blipFill>
          <a:blip r:embed="rId3"/>
          <a:stretch>
            <a:fillRect/>
          </a:stretch>
        </p:blipFill>
        <p:spPr>
          <a:xfrm>
            <a:off x="3560345" y="848929"/>
            <a:ext cx="4995258" cy="2844142"/>
          </a:xfrm>
          <a:prstGeom prst="rect">
            <a:avLst/>
          </a:prstGeom>
        </p:spPr>
      </p:pic>
      <p:sp>
        <p:nvSpPr>
          <p:cNvPr id="13" name="TextBox 12">
            <a:extLst>
              <a:ext uri="{FF2B5EF4-FFF2-40B4-BE49-F238E27FC236}">
                <a16:creationId xmlns:a16="http://schemas.microsoft.com/office/drawing/2014/main" id="{2FA392D8-3ED3-7940-83A8-1451AA8A08D4}"/>
              </a:ext>
            </a:extLst>
          </p:cNvPr>
          <p:cNvSpPr txBox="1"/>
          <p:nvPr/>
        </p:nvSpPr>
        <p:spPr>
          <a:xfrm>
            <a:off x="585364" y="400324"/>
            <a:ext cx="10945220" cy="5632311"/>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Triangle 𝐻𝐾𝐿 and triangle 𝑀𝑃𝑊 are similar.</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each statement to match the corresponding sides in the two similar triangles.</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indent="439738"/>
            <a:r>
              <a:rPr lang="en-US" sz="2400" dirty="0">
                <a:latin typeface="Verdana" panose="020B0604030504040204" pitchFamily="34" charset="0"/>
                <a:ea typeface="Verdana" panose="020B0604030504040204" pitchFamily="34" charset="0"/>
                <a:cs typeface="Verdana" panose="020B0604030504040204" pitchFamily="34" charset="0"/>
              </a:rPr>
              <a:t>Segment 𝐻𝐾 corresponds with segment ______.</a:t>
            </a:r>
          </a:p>
          <a:p>
            <a:pPr marL="465138" indent="439738"/>
            <a:r>
              <a:rPr lang="en-US" sz="2400" dirty="0">
                <a:latin typeface="Verdana" panose="020B0604030504040204" pitchFamily="34" charset="0"/>
                <a:ea typeface="Verdana" panose="020B0604030504040204" pitchFamily="34" charset="0"/>
                <a:cs typeface="Verdana" panose="020B0604030504040204" pitchFamily="34" charset="0"/>
              </a:rPr>
              <a:t>Segment 𝐻𝐿 corresponds with segment ______.</a:t>
            </a:r>
          </a:p>
          <a:p>
            <a:pPr marL="465138" indent="439738"/>
            <a:r>
              <a:rPr lang="en-US" sz="2400" dirty="0">
                <a:latin typeface="Verdana" panose="020B0604030504040204" pitchFamily="34" charset="0"/>
                <a:ea typeface="Verdana" panose="020B0604030504040204" pitchFamily="34" charset="0"/>
                <a:cs typeface="Verdana" panose="020B0604030504040204" pitchFamily="34" charset="0"/>
              </a:rPr>
              <a:t>Segment 𝐾𝐿 corresponds with segment ______.  </a:t>
            </a:r>
          </a:p>
        </p:txBody>
      </p:sp>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87792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FA392D8-3ED3-7940-83A8-1451AA8A08D4}"/>
                  </a:ext>
                </a:extLst>
              </p:cNvPr>
              <p:cNvSpPr txBox="1"/>
              <p:nvPr/>
            </p:nvSpPr>
            <p:spPr>
              <a:xfrm>
                <a:off x="585364" y="400324"/>
                <a:ext cx="10945220" cy="4114781"/>
              </a:xfrm>
              <a:prstGeom prst="rect">
                <a:avLst/>
              </a:prstGeom>
              <a:noFill/>
            </p:spPr>
            <p:txBody>
              <a:bodyPr wrap="square" rtlCol="0">
                <a:spAutoFit/>
              </a:bodyPr>
              <a:lstStyle/>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lnSpc>
                    <a:spcPct val="150000"/>
                  </a:lnSpc>
                </a:pPr>
                <a:r>
                  <a:rPr lang="en-US" sz="2400" dirty="0">
                    <a:latin typeface="Verdana" panose="020B0604030504040204" pitchFamily="34" charset="0"/>
                    <a:ea typeface="Verdana" panose="020B0604030504040204" pitchFamily="34" charset="0"/>
                    <a:cs typeface="Verdana" panose="020B0604030504040204" pitchFamily="34" charset="0"/>
                  </a:rPr>
                  <a:t>The constant of proportionality between any two similar triangles is the ratio of the corresponding side lengths. For triangle 𝐻𝐾𝐿 and triangle 𝑀𝑃𝑊, the constant of proportionality is written as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m:rPr>
                            <m:sty m:val="p"/>
                          </m:rPr>
                          <a:rPr lang="es-ES" sz="2400">
                            <a:latin typeface="Cambria Math" panose="02040503050406030204" pitchFamily="18" charset="0"/>
                            <a:ea typeface="Verdana" panose="020B0604030504040204" pitchFamily="34" charset="0"/>
                            <a:cs typeface="Verdana" panose="020B0604030504040204" pitchFamily="34" charset="0"/>
                          </a:rPr>
                          <m:t>corresponding</m:t>
                        </m:r>
                        <m:r>
                          <a:rPr lang="es-ES" sz="2400">
                            <a:latin typeface="Cambria Math" panose="02040503050406030204" pitchFamily="18" charset="0"/>
                            <a:ea typeface="Verdana" panose="020B0604030504040204" pitchFamily="34" charset="0"/>
                            <a:cs typeface="Verdana" panose="020B0604030504040204" pitchFamily="34" charset="0"/>
                          </a:rPr>
                          <m:t> </m:t>
                        </m:r>
                        <m:r>
                          <m:rPr>
                            <m:sty m:val="p"/>
                          </m:rPr>
                          <a:rPr lang="es-ES" sz="2400">
                            <a:latin typeface="Cambria Math" panose="02040503050406030204" pitchFamily="18" charset="0"/>
                            <a:ea typeface="Verdana" panose="020B0604030504040204" pitchFamily="34" charset="0"/>
                            <a:cs typeface="Verdana" panose="020B0604030504040204" pitchFamily="34" charset="0"/>
                          </a:rPr>
                          <m:t>side</m:t>
                        </m:r>
                        <m:r>
                          <a:rPr lang="es-ES" sz="2400">
                            <a:latin typeface="Cambria Math" panose="02040503050406030204" pitchFamily="18" charset="0"/>
                            <a:ea typeface="Verdana" panose="020B0604030504040204" pitchFamily="34" charset="0"/>
                            <a:cs typeface="Verdana" panose="020B0604030504040204" pitchFamily="34" charset="0"/>
                          </a:rPr>
                          <m:t> </m:t>
                        </m:r>
                        <m:r>
                          <m:rPr>
                            <m:sty m:val="p"/>
                          </m:rPr>
                          <a:rPr lang="es-ES" sz="2400">
                            <a:latin typeface="Cambria Math" panose="02040503050406030204" pitchFamily="18" charset="0"/>
                            <a:ea typeface="Verdana" panose="020B0604030504040204" pitchFamily="34" charset="0"/>
                            <a:cs typeface="Verdana" panose="020B0604030504040204" pitchFamily="34" charset="0"/>
                          </a:rPr>
                          <m:t>length</m:t>
                        </m:r>
                        <m:r>
                          <a:rPr lang="es-ES" sz="2400">
                            <a:latin typeface="Cambria Math" panose="02040503050406030204" pitchFamily="18" charset="0"/>
                            <a:ea typeface="Verdana" panose="020B0604030504040204" pitchFamily="34" charset="0"/>
                            <a:cs typeface="Verdana" panose="020B0604030504040204" pitchFamily="34" charset="0"/>
                          </a:rPr>
                          <m:t> </m:t>
                        </m:r>
                        <m:r>
                          <m:rPr>
                            <m:sty m:val="p"/>
                          </m:rPr>
                          <a:rPr lang="es-ES" sz="2400">
                            <a:latin typeface="Cambria Math" panose="02040503050406030204" pitchFamily="18" charset="0"/>
                            <a:ea typeface="Verdana" panose="020B0604030504040204" pitchFamily="34" charset="0"/>
                            <a:cs typeface="Verdana" panose="020B0604030504040204" pitchFamily="34" charset="0"/>
                          </a:rPr>
                          <m:t>on</m:t>
                        </m:r>
                        <m:r>
                          <a:rPr lang="es-ES" sz="2400">
                            <a:latin typeface="Cambria Math" panose="02040503050406030204" pitchFamily="18" charset="0"/>
                            <a:ea typeface="Verdana" panose="020B0604030504040204" pitchFamily="34" charset="0"/>
                            <a:cs typeface="Verdana" panose="020B0604030504040204" pitchFamily="34" charset="0"/>
                          </a:rPr>
                          <m:t> </m:t>
                        </m:r>
                        <m:r>
                          <a:rPr lang="es-ES" sz="2400" i="1">
                            <a:latin typeface="Cambria Math" panose="02040503050406030204" pitchFamily="18" charset="0"/>
                            <a:ea typeface="Verdana" panose="020B0604030504040204" pitchFamily="34" charset="0"/>
                            <a:cs typeface="Verdana" panose="020B0604030504040204" pitchFamily="34" charset="0"/>
                          </a:rPr>
                          <m:t>𝐻𝐾𝐿</m:t>
                        </m:r>
                      </m:num>
                      <m:den>
                        <m:r>
                          <m:rPr>
                            <m:sty m:val="p"/>
                          </m:rPr>
                          <a:rPr lang="es-ES" sz="2400">
                            <a:latin typeface="Cambria Math" panose="02040503050406030204" pitchFamily="18" charset="0"/>
                            <a:ea typeface="Verdana" panose="020B0604030504040204" pitchFamily="34" charset="0"/>
                            <a:cs typeface="Verdana" panose="020B0604030504040204" pitchFamily="34" charset="0"/>
                          </a:rPr>
                          <m:t>corresponding</m:t>
                        </m:r>
                        <m:r>
                          <a:rPr lang="es-ES" sz="2400">
                            <a:latin typeface="Cambria Math" panose="02040503050406030204" pitchFamily="18" charset="0"/>
                            <a:ea typeface="Verdana" panose="020B0604030504040204" pitchFamily="34" charset="0"/>
                            <a:cs typeface="Verdana" panose="020B0604030504040204" pitchFamily="34" charset="0"/>
                          </a:rPr>
                          <m:t> </m:t>
                        </m:r>
                        <m:r>
                          <m:rPr>
                            <m:sty m:val="p"/>
                          </m:rPr>
                          <a:rPr lang="es-ES" sz="2400">
                            <a:latin typeface="Cambria Math" panose="02040503050406030204" pitchFamily="18" charset="0"/>
                            <a:ea typeface="Verdana" panose="020B0604030504040204" pitchFamily="34" charset="0"/>
                            <a:cs typeface="Verdana" panose="020B0604030504040204" pitchFamily="34" charset="0"/>
                          </a:rPr>
                          <m:t>side</m:t>
                        </m:r>
                        <m:r>
                          <a:rPr lang="es-ES" sz="2400">
                            <a:latin typeface="Cambria Math" panose="02040503050406030204" pitchFamily="18" charset="0"/>
                            <a:ea typeface="Verdana" panose="020B0604030504040204" pitchFamily="34" charset="0"/>
                            <a:cs typeface="Verdana" panose="020B0604030504040204" pitchFamily="34" charset="0"/>
                          </a:rPr>
                          <m:t> </m:t>
                        </m:r>
                        <m:r>
                          <m:rPr>
                            <m:sty m:val="p"/>
                          </m:rPr>
                          <a:rPr lang="es-ES" sz="2400">
                            <a:latin typeface="Cambria Math" panose="02040503050406030204" pitchFamily="18" charset="0"/>
                            <a:ea typeface="Verdana" panose="020B0604030504040204" pitchFamily="34" charset="0"/>
                            <a:cs typeface="Verdana" panose="020B0604030504040204" pitchFamily="34" charset="0"/>
                          </a:rPr>
                          <m:t>length</m:t>
                        </m:r>
                        <m:r>
                          <a:rPr lang="es-ES" sz="2400">
                            <a:latin typeface="Cambria Math" panose="02040503050406030204" pitchFamily="18" charset="0"/>
                            <a:ea typeface="Verdana" panose="020B0604030504040204" pitchFamily="34" charset="0"/>
                            <a:cs typeface="Verdana" panose="020B0604030504040204" pitchFamily="34" charset="0"/>
                          </a:rPr>
                          <m:t> </m:t>
                        </m:r>
                        <m:r>
                          <m:rPr>
                            <m:sty m:val="p"/>
                          </m:rPr>
                          <a:rPr lang="es-ES" sz="2400">
                            <a:latin typeface="Cambria Math" panose="02040503050406030204" pitchFamily="18" charset="0"/>
                            <a:ea typeface="Verdana" panose="020B0604030504040204" pitchFamily="34" charset="0"/>
                            <a:cs typeface="Verdana" panose="020B0604030504040204" pitchFamily="34" charset="0"/>
                          </a:rPr>
                          <m:t>on</m:t>
                        </m:r>
                        <m:r>
                          <a:rPr lang="es-ES" sz="2400">
                            <a:latin typeface="Cambria Math" panose="02040503050406030204" pitchFamily="18" charset="0"/>
                            <a:ea typeface="Verdana" panose="020B0604030504040204" pitchFamily="34" charset="0"/>
                            <a:cs typeface="Verdana" panose="020B0604030504040204" pitchFamily="34" charset="0"/>
                          </a:rPr>
                          <m:t> </m:t>
                        </m:r>
                        <m:r>
                          <a:rPr lang="es-ES" sz="2400" i="1">
                            <a:latin typeface="Cambria Math" panose="02040503050406030204" pitchFamily="18" charset="0"/>
                            <a:ea typeface="Verdana" panose="020B0604030504040204" pitchFamily="34" charset="0"/>
                            <a:cs typeface="Verdana" panose="020B0604030504040204" pitchFamily="34" charset="0"/>
                          </a:rPr>
                          <m:t>𝑀𝑃𝑊</m:t>
                        </m:r>
                      </m:den>
                    </m:f>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31" name="TextBox 30">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585364" y="400324"/>
                <a:ext cx="10945220" cy="4114781"/>
              </a:xfrm>
              <a:prstGeom prst="rect">
                <a:avLst/>
              </a:prstGeom>
              <a:blipFill rotWithShape="1">
                <a:blip r:embed="rId3"/>
                <a:stretch>
                  <a:fillRect l="-835"/>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9" name="Group 8">
            <a:extLst>
              <a:ext uri="{FF2B5EF4-FFF2-40B4-BE49-F238E27FC236}">
                <a16:creationId xmlns:a16="http://schemas.microsoft.com/office/drawing/2014/main" id="{0C8A8757-0F59-AB49-8852-AD3E20998302}"/>
              </a:ext>
            </a:extLst>
          </p:cNvPr>
          <p:cNvGrpSpPr/>
          <p:nvPr/>
        </p:nvGrpSpPr>
        <p:grpSpPr>
          <a:xfrm>
            <a:off x="2781300" y="400324"/>
            <a:ext cx="6629400" cy="1564483"/>
            <a:chOff x="2031300" y="2839634"/>
            <a:chExt cx="6629400" cy="1444626"/>
          </a:xfrm>
        </p:grpSpPr>
        <p:sp>
          <p:nvSpPr>
            <p:cNvPr id="10" name="Rectangle 9">
              <a:extLst>
                <a:ext uri="{FF2B5EF4-FFF2-40B4-BE49-F238E27FC236}">
                  <a16:creationId xmlns:a16="http://schemas.microsoft.com/office/drawing/2014/main" id="{D45F118C-06A8-CB4D-BB8F-974373890AFD}"/>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grpSp>
          <p:nvGrpSpPr>
            <p:cNvPr id="11" name="Group 10">
              <a:extLst>
                <a:ext uri="{FF2B5EF4-FFF2-40B4-BE49-F238E27FC236}">
                  <a16:creationId xmlns:a16="http://schemas.microsoft.com/office/drawing/2014/main" id="{67C0A638-D114-2B43-9429-ACA3F53830FF}"/>
                </a:ext>
              </a:extLst>
            </p:cNvPr>
            <p:cNvGrpSpPr/>
            <p:nvPr/>
          </p:nvGrpSpPr>
          <p:grpSpPr>
            <a:xfrm>
              <a:off x="2031300" y="2839634"/>
              <a:ext cx="6629400" cy="1444626"/>
              <a:chOff x="2031300" y="2839634"/>
              <a:chExt cx="6629400" cy="1444626"/>
            </a:xfrm>
          </p:grpSpPr>
          <p:sp>
            <p:nvSpPr>
              <p:cNvPr id="12" name="Rectangle 11">
                <a:extLst>
                  <a:ext uri="{FF2B5EF4-FFF2-40B4-BE49-F238E27FC236}">
                    <a16:creationId xmlns:a16="http://schemas.microsoft.com/office/drawing/2014/main" id="{CFC036EE-0C06-554A-81EF-6367C8C25B36}"/>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grpSp>
            <p:nvGrpSpPr>
              <p:cNvPr id="13" name="Group 12">
                <a:extLst>
                  <a:ext uri="{FF2B5EF4-FFF2-40B4-BE49-F238E27FC236}">
                    <a16:creationId xmlns:a16="http://schemas.microsoft.com/office/drawing/2014/main" id="{E39EEEFC-F374-0744-B461-FDEC3081D2FC}"/>
                  </a:ext>
                </a:extLst>
              </p:cNvPr>
              <p:cNvGrpSpPr/>
              <p:nvPr/>
            </p:nvGrpSpPr>
            <p:grpSpPr>
              <a:xfrm>
                <a:off x="2031300" y="2839634"/>
                <a:ext cx="6629400" cy="1444626"/>
                <a:chOff x="2031300" y="2839634"/>
                <a:chExt cx="6629400" cy="1444626"/>
              </a:xfrm>
            </p:grpSpPr>
            <p:sp>
              <p:nvSpPr>
                <p:cNvPr id="15" name="Rectangle 14">
                  <a:extLst>
                    <a:ext uri="{FF2B5EF4-FFF2-40B4-BE49-F238E27FC236}">
                      <a16:creationId xmlns:a16="http://schemas.microsoft.com/office/drawing/2014/main" id="{8C331896-8B32-3147-92D6-F100EB1E718A}"/>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grpSp>
              <p:nvGrpSpPr>
                <p:cNvPr id="16" name="Group 15">
                  <a:extLst>
                    <a:ext uri="{FF2B5EF4-FFF2-40B4-BE49-F238E27FC236}">
                      <a16:creationId xmlns:a16="http://schemas.microsoft.com/office/drawing/2014/main" id="{C8D521D4-7645-7C43-9F22-5CD299F26EC0}"/>
                    </a:ext>
                  </a:extLst>
                </p:cNvPr>
                <p:cNvGrpSpPr/>
                <p:nvPr/>
              </p:nvGrpSpPr>
              <p:grpSpPr>
                <a:xfrm>
                  <a:off x="2031300" y="2839634"/>
                  <a:ext cx="6629400" cy="1444626"/>
                  <a:chOff x="2031300" y="2839634"/>
                  <a:chExt cx="6629400" cy="1444626"/>
                </a:xfrm>
              </p:grpSpPr>
              <p:sp>
                <p:nvSpPr>
                  <p:cNvPr id="17" name="Rectangle 16">
                    <a:extLst>
                      <a:ext uri="{FF2B5EF4-FFF2-40B4-BE49-F238E27FC236}">
                        <a16:creationId xmlns:a16="http://schemas.microsoft.com/office/drawing/2014/main" id="{B39182F5-FB61-194C-BDD4-DF9A3B3C2F62}"/>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grpSp>
                <p:nvGrpSpPr>
                  <p:cNvPr id="18" name="Group 17">
                    <a:extLst>
                      <a:ext uri="{FF2B5EF4-FFF2-40B4-BE49-F238E27FC236}">
                        <a16:creationId xmlns:a16="http://schemas.microsoft.com/office/drawing/2014/main" id="{C9038657-2F9B-8243-8B55-DBA1983BC06F}"/>
                      </a:ext>
                    </a:extLst>
                  </p:cNvPr>
                  <p:cNvGrpSpPr/>
                  <p:nvPr/>
                </p:nvGrpSpPr>
                <p:grpSpPr>
                  <a:xfrm>
                    <a:off x="2031300" y="2839634"/>
                    <a:ext cx="6629400" cy="1444626"/>
                    <a:chOff x="2031300" y="2839634"/>
                    <a:chExt cx="6629400" cy="1444626"/>
                  </a:xfrm>
                </p:grpSpPr>
                <p:sp>
                  <p:nvSpPr>
                    <p:cNvPr id="19" name="Rectangle 18">
                      <a:extLst>
                        <a:ext uri="{FF2B5EF4-FFF2-40B4-BE49-F238E27FC236}">
                          <a16:creationId xmlns:a16="http://schemas.microsoft.com/office/drawing/2014/main" id="{B9A8FED7-D434-234D-B84F-2F09C8F1A78C}"/>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grpSp>
                  <p:nvGrpSpPr>
                    <p:cNvPr id="20" name="Group 19">
                      <a:extLst>
                        <a:ext uri="{FF2B5EF4-FFF2-40B4-BE49-F238E27FC236}">
                          <a16:creationId xmlns:a16="http://schemas.microsoft.com/office/drawing/2014/main" id="{612C3CDA-E297-6141-A41D-AA6C0351404F}"/>
                        </a:ext>
                      </a:extLst>
                    </p:cNvPr>
                    <p:cNvGrpSpPr/>
                    <p:nvPr/>
                  </p:nvGrpSpPr>
                  <p:grpSpPr>
                    <a:xfrm>
                      <a:off x="2031300" y="2839634"/>
                      <a:ext cx="6629400" cy="1444626"/>
                      <a:chOff x="2031300" y="2839634"/>
                      <a:chExt cx="6629400" cy="1444626"/>
                    </a:xfrm>
                  </p:grpSpPr>
                  <p:sp>
                    <p:nvSpPr>
                      <p:cNvPr id="21" name="Rectangle 20">
                        <a:extLst>
                          <a:ext uri="{FF2B5EF4-FFF2-40B4-BE49-F238E27FC236}">
                            <a16:creationId xmlns:a16="http://schemas.microsoft.com/office/drawing/2014/main" id="{B36017FF-8175-4449-AF8B-3EFF119CA3C3}"/>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grpSp>
                    <p:nvGrpSpPr>
                      <p:cNvPr id="22" name="Group 21">
                        <a:extLst>
                          <a:ext uri="{FF2B5EF4-FFF2-40B4-BE49-F238E27FC236}">
                            <a16:creationId xmlns:a16="http://schemas.microsoft.com/office/drawing/2014/main" id="{6E9D030C-BA75-274B-93B1-A3F969C8339E}"/>
                          </a:ext>
                        </a:extLst>
                      </p:cNvPr>
                      <p:cNvGrpSpPr/>
                      <p:nvPr/>
                    </p:nvGrpSpPr>
                    <p:grpSpPr>
                      <a:xfrm>
                        <a:off x="2031300" y="2839634"/>
                        <a:ext cx="6629400" cy="1444626"/>
                        <a:chOff x="0" y="-436101"/>
                        <a:chExt cx="6629400" cy="1444626"/>
                      </a:xfrm>
                    </p:grpSpPr>
                    <p:sp>
                      <p:nvSpPr>
                        <p:cNvPr id="23" name="Rectangle 22">
                          <a:extLst>
                            <a:ext uri="{FF2B5EF4-FFF2-40B4-BE49-F238E27FC236}">
                              <a16:creationId xmlns:a16="http://schemas.microsoft.com/office/drawing/2014/main" id="{76C65A32-6E89-1B45-B4B8-3C61CA4EBAE2}"/>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grpSp>
                      <p:nvGrpSpPr>
                        <p:cNvPr id="24" name="Group 23">
                          <a:extLst>
                            <a:ext uri="{FF2B5EF4-FFF2-40B4-BE49-F238E27FC236}">
                              <a16:creationId xmlns:a16="http://schemas.microsoft.com/office/drawing/2014/main" id="{DE66AFCB-0D98-1A4A-B971-54F26FFCB4D4}"/>
                            </a:ext>
                          </a:extLst>
                        </p:cNvPr>
                        <p:cNvGrpSpPr/>
                        <p:nvPr/>
                      </p:nvGrpSpPr>
                      <p:grpSpPr>
                        <a:xfrm>
                          <a:off x="0" y="-436101"/>
                          <a:ext cx="6629400" cy="1222476"/>
                          <a:chOff x="0" y="-436101"/>
                          <a:chExt cx="6629400" cy="1222476"/>
                        </a:xfrm>
                      </p:grpSpPr>
                      <p:sp>
                        <p:nvSpPr>
                          <p:cNvPr id="26" name="Rectangle 25">
                            <a:extLst>
                              <a:ext uri="{FF2B5EF4-FFF2-40B4-BE49-F238E27FC236}">
                                <a16:creationId xmlns:a16="http://schemas.microsoft.com/office/drawing/2014/main" id="{95611964-3664-424D-8861-D7E322D1D629}"/>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sp>
                        <p:nvSpPr>
                          <p:cNvPr id="27" name="Rectangle 26">
                            <a:extLst>
                              <a:ext uri="{FF2B5EF4-FFF2-40B4-BE49-F238E27FC236}">
                                <a16:creationId xmlns:a16="http://schemas.microsoft.com/office/drawing/2014/main" id="{3816409F-D0B1-AC49-86C7-BF92348E9DCB}"/>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400">
                                <a:latin typeface="Cambria" panose="02040503050406030204" pitchFamily="18" charset="0"/>
                                <a:ea typeface="Cambria" panose="02040503050406030204" pitchFamily="18" charset="0"/>
                                <a:cs typeface="Cambria" panose="02040503050406030204" pitchFamily="18" charset="0"/>
                              </a:rPr>
                              <a:t> </a:t>
                            </a:r>
                            <a:endParaRPr lang="x-none" sz="2400">
                              <a:latin typeface="Cambria" panose="02040503050406030204" pitchFamily="18" charset="0"/>
                              <a:ea typeface="Cambria" panose="02040503050406030204" pitchFamily="18" charset="0"/>
                              <a:cs typeface="Cambria" panose="02040503050406030204" pitchFamily="18" charset="0"/>
                            </a:endParaRPr>
                          </a:p>
                        </p:txBody>
                      </p:sp>
                      <p:sp>
                        <p:nvSpPr>
                          <p:cNvPr id="28" name="Rounded Rectangle 27">
                            <a:extLst>
                              <a:ext uri="{FF2B5EF4-FFF2-40B4-BE49-F238E27FC236}">
                                <a16:creationId xmlns:a16="http://schemas.microsoft.com/office/drawing/2014/main" id="{FB2B0599-DB76-2742-A80E-51C603721CB2}"/>
                              </a:ext>
                            </a:extLst>
                          </p:cNvPr>
                          <p:cNvSpPr/>
                          <p:nvPr/>
                        </p:nvSpPr>
                        <p:spPr>
                          <a:xfrm>
                            <a:off x="0" y="-436101"/>
                            <a:ext cx="6629400" cy="1222358"/>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2400" dirty="0">
                                <a:solidFill>
                                  <a:srgbClr val="25639A"/>
                                </a:solidFill>
                                <a:latin typeface="Verdana" panose="020B0604030504040204" pitchFamily="34" charset="0"/>
                                <a:ea typeface="Verdana" panose="020B0604030504040204" pitchFamily="34" charset="0"/>
                                <a:cs typeface="Verdana" panose="020B0604030504040204" pitchFamily="34" charset="0"/>
                              </a:rPr>
                              <a:t>In similar triangles, corresponding sides are proportional.</a:t>
                            </a:r>
                            <a:r>
                              <a:rPr lang="en-US" sz="2400" dirty="0">
                                <a:latin typeface="Cambria" panose="02040503050406030204" pitchFamily="18" charset="0"/>
                                <a:ea typeface="Cambria" panose="02040503050406030204" pitchFamily="18" charset="0"/>
                                <a:cs typeface="Cambria" panose="02040503050406030204" pitchFamily="18" charset="0"/>
                              </a:rPr>
                              <a:t> </a:t>
                            </a:r>
                            <a:endParaRPr lang="x-none" sz="2400" dirty="0">
                              <a:latin typeface="Cambria" panose="02040503050406030204" pitchFamily="18" charset="0"/>
                              <a:ea typeface="Cambria" panose="02040503050406030204" pitchFamily="18" charset="0"/>
                              <a:cs typeface="Cambria" panose="02040503050406030204" pitchFamily="18" charset="0"/>
                            </a:endParaRPr>
                          </a:p>
                        </p:txBody>
                      </p:sp>
                    </p:grpSp>
                    <p:pic>
                      <p:nvPicPr>
                        <p:cNvPr id="25" name="Shape 40" descr="Icon&#10;&#10;Description automatically generated">
                          <a:extLst>
                            <a:ext uri="{FF2B5EF4-FFF2-40B4-BE49-F238E27FC236}">
                              <a16:creationId xmlns:a16="http://schemas.microsoft.com/office/drawing/2014/main" id="{FA6E4FE8-60BE-D141-98FA-33EFCDCA543D}"/>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83914" y="-113421"/>
                          <a:ext cx="548640" cy="506608"/>
                        </a:xfrm>
                        <a:prstGeom prst="rect">
                          <a:avLst/>
                        </a:prstGeom>
                        <a:noFill/>
                        <a:ln>
                          <a:noFill/>
                        </a:ln>
                        <a:effectLst>
                          <a:outerShdw blurRad="50800" dist="38100" dir="2700000" algn="tl" rotWithShape="0">
                            <a:prstClr val="black">
                              <a:alpha val="40000"/>
                            </a:prstClr>
                          </a:outerShdw>
                        </a:effectLst>
                      </p:spPr>
                    </p:pic>
                  </p:grpSp>
                </p:grpSp>
              </p:grpSp>
            </p:grpSp>
          </p:grpSp>
        </p:grpSp>
      </p:grpSp>
      <p:sp>
        <p:nvSpPr>
          <p:cNvPr id="2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p>
        </p:txBody>
      </p:sp>
      <p:pic>
        <p:nvPicPr>
          <p:cNvPr id="3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61184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057A968-823D-1345-B67D-1B1C64D9AB36}"/>
                  </a:ext>
                </a:extLst>
              </p:cNvPr>
              <p:cNvGraphicFramePr>
                <a:graphicFrameLocks noGrp="1"/>
              </p:cNvGraphicFramePr>
              <p:nvPr>
                <p:extLst>
                  <p:ext uri="{D42A27DB-BD31-4B8C-83A1-F6EECF244321}">
                    <p14:modId xmlns:p14="http://schemas.microsoft.com/office/powerpoint/2010/main" val="3147540308"/>
                  </p:ext>
                </p:extLst>
              </p:nvPr>
            </p:nvGraphicFramePr>
            <p:xfrm>
              <a:off x="2403231" y="1350276"/>
              <a:ext cx="7309485" cy="4330129"/>
            </p:xfrm>
            <a:graphic>
              <a:graphicData uri="http://schemas.openxmlformats.org/drawingml/2006/table">
                <a:tbl>
                  <a:tblPr firstRow="1" firstCol="1" bandRow="1">
                    <a:tableStyleId>{A91F0D33-8C57-4600-99A7-42BC86742BE1}</a:tableStyleId>
                  </a:tblPr>
                  <a:tblGrid>
                    <a:gridCol w="4480560">
                      <a:extLst>
                        <a:ext uri="{9D8B030D-6E8A-4147-A177-3AD203B41FA5}">
                          <a16:colId xmlns:a16="http://schemas.microsoft.com/office/drawing/2014/main" val="4033988272"/>
                        </a:ext>
                      </a:extLst>
                    </a:gridCol>
                    <a:gridCol w="2828925">
                      <a:extLst>
                        <a:ext uri="{9D8B030D-6E8A-4147-A177-3AD203B41FA5}">
                          <a16:colId xmlns:a16="http://schemas.microsoft.com/office/drawing/2014/main" val="1230036166"/>
                        </a:ext>
                      </a:extLst>
                    </a:gridCol>
                  </a:tblGrid>
                  <a:tr h="5029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b="1" i="0">
                                        <a:effectLst/>
                                        <a:latin typeface="Cambria Math" panose="02040503050406030204" pitchFamily="18" charset="0"/>
                                      </a:rPr>
                                      <m:t>𝐜</m:t>
                                    </m:r>
                                    <m:r>
                                      <a:rPr lang="en-US" sz="2000">
                                        <a:effectLst/>
                                        <a:latin typeface="Cambria Math" panose="02040503050406030204" pitchFamily="18" charset="0"/>
                                      </a:rPr>
                                      <m:t>𝐨𝐫𝐫𝐞𝐬𝐩𝐨𝐧𝐝𝐢𝐧𝐠</m:t>
                                    </m:r>
                                    <m:r>
                                      <a:rPr lang="en-US" sz="2000">
                                        <a:effectLst/>
                                        <a:latin typeface="Cambria Math" panose="02040503050406030204" pitchFamily="18" charset="0"/>
                                      </a:rPr>
                                      <m:t> </m:t>
                                    </m:r>
                                    <m:r>
                                      <a:rPr lang="en-US" sz="2000">
                                        <a:effectLst/>
                                        <a:latin typeface="Cambria Math" panose="02040503050406030204" pitchFamily="18" charset="0"/>
                                      </a:rPr>
                                      <m:t>𝐬𝐢𝐝𝐞</m:t>
                                    </m:r>
                                    <m:r>
                                      <a:rPr lang="en-US" sz="2000">
                                        <a:effectLst/>
                                        <a:latin typeface="Cambria Math" panose="02040503050406030204" pitchFamily="18" charset="0"/>
                                      </a:rPr>
                                      <m:t> </m:t>
                                    </m:r>
                                    <m:r>
                                      <a:rPr lang="en-US" sz="2000">
                                        <a:effectLst/>
                                        <a:latin typeface="Cambria Math" panose="02040503050406030204" pitchFamily="18" charset="0"/>
                                      </a:rPr>
                                      <m:t>𝐥𝐞𝐧𝐠𝐭𝐡</m:t>
                                    </m:r>
                                    <m:r>
                                      <a:rPr lang="en-US" sz="2000">
                                        <a:effectLst/>
                                        <a:latin typeface="Cambria Math" panose="02040503050406030204" pitchFamily="18" charset="0"/>
                                      </a:rPr>
                                      <m:t> </m:t>
                                    </m:r>
                                    <m:r>
                                      <a:rPr lang="en-US" sz="2000">
                                        <a:effectLst/>
                                        <a:latin typeface="Cambria Math" panose="02040503050406030204" pitchFamily="18" charset="0"/>
                                      </a:rPr>
                                      <m:t>𝐨𝐧</m:t>
                                    </m:r>
                                    <m:r>
                                      <a:rPr lang="en-US" sz="2000">
                                        <a:effectLst/>
                                        <a:latin typeface="Cambria Math" panose="02040503050406030204" pitchFamily="18" charset="0"/>
                                      </a:rPr>
                                      <m:t> </m:t>
                                    </m:r>
                                    <m:r>
                                      <a:rPr lang="en-US" sz="2000">
                                        <a:effectLst/>
                                        <a:latin typeface="Cambria Math" panose="02040503050406030204" pitchFamily="18" charset="0"/>
                                      </a:rPr>
                                      <m:t>𝑯𝑲𝑳</m:t>
                                    </m:r>
                                  </m:num>
                                  <m:den>
                                    <m:r>
                                      <a:rPr lang="en-US" sz="2000">
                                        <a:effectLst/>
                                        <a:latin typeface="Cambria Math" panose="02040503050406030204" pitchFamily="18" charset="0"/>
                                      </a:rPr>
                                      <m:t>𝐜𝐨𝐫𝐫𝐞𝐬𝐩𝐨𝐧𝐝𝐢𝐧𝐠</m:t>
                                    </m:r>
                                    <m:r>
                                      <a:rPr lang="en-US" sz="2000">
                                        <a:effectLst/>
                                        <a:latin typeface="Cambria Math" panose="02040503050406030204" pitchFamily="18" charset="0"/>
                                      </a:rPr>
                                      <m:t> </m:t>
                                    </m:r>
                                    <m:r>
                                      <a:rPr lang="en-US" sz="2000">
                                        <a:effectLst/>
                                        <a:latin typeface="Cambria Math" panose="02040503050406030204" pitchFamily="18" charset="0"/>
                                      </a:rPr>
                                      <m:t>𝐬𝐢𝐝𝐞</m:t>
                                    </m:r>
                                    <m:r>
                                      <a:rPr lang="en-US" sz="2000">
                                        <a:effectLst/>
                                        <a:latin typeface="Cambria Math" panose="02040503050406030204" pitchFamily="18" charset="0"/>
                                      </a:rPr>
                                      <m:t> </m:t>
                                    </m:r>
                                    <m:r>
                                      <a:rPr lang="en-US" sz="2000">
                                        <a:effectLst/>
                                        <a:latin typeface="Cambria Math" panose="02040503050406030204" pitchFamily="18" charset="0"/>
                                      </a:rPr>
                                      <m:t>𝐥𝐞𝐧𝐠𝐭𝐡</m:t>
                                    </m:r>
                                    <m:r>
                                      <a:rPr lang="en-US" sz="2000">
                                        <a:effectLst/>
                                        <a:latin typeface="Cambria Math" panose="02040503050406030204" pitchFamily="18" charset="0"/>
                                      </a:rPr>
                                      <m:t> </m:t>
                                    </m:r>
                                    <m:r>
                                      <a:rPr lang="en-US" sz="2000">
                                        <a:effectLst/>
                                        <a:latin typeface="Cambria Math" panose="02040503050406030204" pitchFamily="18" charset="0"/>
                                      </a:rPr>
                                      <m:t>𝐨𝐧</m:t>
                                    </m:r>
                                    <m:r>
                                      <a:rPr lang="en-US" sz="2000">
                                        <a:effectLst/>
                                        <a:latin typeface="Cambria Math" panose="02040503050406030204" pitchFamily="18" charset="0"/>
                                      </a:rPr>
                                      <m:t> </m:t>
                                    </m:r>
                                    <m:r>
                                      <a:rPr lang="en-US" sz="2000">
                                        <a:effectLst/>
                                        <a:latin typeface="Cambria Math" panose="02040503050406030204" pitchFamily="18" charset="0"/>
                                      </a:rPr>
                                      <m:t>𝑴𝑷𝑾</m:t>
                                    </m:r>
                                  </m:den>
                                </m:f>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Constant of Proportionality</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22833221"/>
                      </a:ext>
                    </a:extLst>
                  </a:tr>
                  <a:tr h="12020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             </m:t>
                                    </m:r>
                                  </m:num>
                                  <m:den>
                                    <m:r>
                                      <a:rPr lang="en-US" sz="2000">
                                        <a:effectLst/>
                                        <a:latin typeface="Cambria Math" panose="02040503050406030204" pitchFamily="18" charset="0"/>
                                      </a:rPr>
                                      <m:t>                  </m:t>
                                    </m:r>
                                  </m:den>
                                </m:f>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3107118"/>
                      </a:ext>
                    </a:extLst>
                  </a:tr>
                  <a:tr h="12020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             </m:t>
                                    </m:r>
                                  </m:num>
                                  <m:den>
                                    <m:r>
                                      <a:rPr lang="en-US" sz="2000">
                                        <a:effectLst/>
                                        <a:latin typeface="Cambria Math" panose="02040503050406030204" pitchFamily="18" charset="0"/>
                                      </a:rPr>
                                      <m:t>                  </m:t>
                                    </m:r>
                                  </m:den>
                                </m:f>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613444"/>
                      </a:ext>
                    </a:extLst>
                  </a:tr>
                  <a:tr h="12020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             </m:t>
                                    </m:r>
                                  </m:num>
                                  <m:den>
                                    <m:r>
                                      <a:rPr lang="en-US" sz="2000">
                                        <a:effectLst/>
                                        <a:latin typeface="Cambria Math" panose="02040503050406030204" pitchFamily="18" charset="0"/>
                                      </a:rPr>
                                      <m:t>                  </m:t>
                                    </m:r>
                                  </m:den>
                                </m:f>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0178113"/>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3057A968-823D-1345-B67D-1B1C64D9AB36}"/>
                  </a:ext>
                </a:extLst>
              </p:cNvPr>
              <p:cNvGraphicFramePr>
                <a:graphicFrameLocks noGrp="1"/>
              </p:cNvGraphicFramePr>
              <p:nvPr>
                <p:extLst>
                  <p:ext uri="{D42A27DB-BD31-4B8C-83A1-F6EECF244321}">
                    <p14:modId xmlns:p14="http://schemas.microsoft.com/office/powerpoint/2010/main" val="3147540308"/>
                  </p:ext>
                </p:extLst>
              </p:nvPr>
            </p:nvGraphicFramePr>
            <p:xfrm>
              <a:off x="2403231" y="1350276"/>
              <a:ext cx="7309485" cy="4330129"/>
            </p:xfrm>
            <a:graphic>
              <a:graphicData uri="http://schemas.openxmlformats.org/drawingml/2006/table">
                <a:tbl>
                  <a:tblPr firstRow="1" firstCol="1" bandRow="1">
                    <a:tableStyleId>{A91F0D33-8C57-4600-99A7-42BC86742BE1}</a:tableStyleId>
                  </a:tblPr>
                  <a:tblGrid>
                    <a:gridCol w="4480560">
                      <a:extLst>
                        <a:ext uri="{9D8B030D-6E8A-4147-A177-3AD203B41FA5}">
                          <a16:colId xmlns:a16="http://schemas.microsoft.com/office/drawing/2014/main" xmlns:a14="http://schemas.microsoft.com/office/drawing/2010/main" xmlns="" val="4033988272"/>
                        </a:ext>
                      </a:extLst>
                    </a:gridCol>
                    <a:gridCol w="2828925">
                      <a:extLst>
                        <a:ext uri="{9D8B030D-6E8A-4147-A177-3AD203B41FA5}">
                          <a16:colId xmlns:a16="http://schemas.microsoft.com/office/drawing/2014/main" xmlns:a14="http://schemas.microsoft.com/office/drawing/2010/main" xmlns="" val="1230036166"/>
                        </a:ext>
                      </a:extLst>
                    </a:gridCol>
                  </a:tblGrid>
                  <a:tr h="723964">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3361" r="-63265" b="-496639"/>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Constant of Proportionality</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4022833221"/>
                      </a:ext>
                    </a:extLst>
                  </a:tr>
                  <a:tr h="120205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62437" r="-63265" b="-20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643107118"/>
                      </a:ext>
                    </a:extLst>
                  </a:tr>
                  <a:tr h="120205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62437" r="-63265" b="-100000"/>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368613444"/>
                      </a:ext>
                    </a:extLst>
                  </a:tr>
                  <a:tr h="120205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62437" r="-63265"/>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80178113"/>
                      </a:ext>
                    </a:extLst>
                  </a:tr>
                </a:tbl>
              </a:graphicData>
            </a:graphic>
          </p:graphicFrame>
        </mc:Fallback>
      </mc:AlternateContent>
      <p:sp>
        <p:nvSpPr>
          <p:cNvPr id="7" name="Rectangle 6">
            <a:extLst>
              <a:ext uri="{FF2B5EF4-FFF2-40B4-BE49-F238E27FC236}">
                <a16:creationId xmlns:a16="http://schemas.microsoft.com/office/drawing/2014/main" id="{12A015FC-641D-8748-B66A-D510665F9654}"/>
              </a:ext>
            </a:extLst>
          </p:cNvPr>
          <p:cNvSpPr/>
          <p:nvPr/>
        </p:nvSpPr>
        <p:spPr>
          <a:xfrm>
            <a:off x="4246855" y="2713336"/>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A7B9BA46-241D-8A48-A287-F92A553B4E2D}"/>
              </a:ext>
            </a:extLst>
          </p:cNvPr>
          <p:cNvSpPr/>
          <p:nvPr/>
        </p:nvSpPr>
        <p:spPr>
          <a:xfrm>
            <a:off x="4243680" y="2118023"/>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59366248-B8EC-8148-8438-6AE95952C79A}"/>
              </a:ext>
            </a:extLst>
          </p:cNvPr>
          <p:cNvSpPr/>
          <p:nvPr/>
        </p:nvSpPr>
        <p:spPr>
          <a:xfrm>
            <a:off x="4246855" y="3917787"/>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450603C6-1218-5248-960C-8ED1AFF57E3E}"/>
              </a:ext>
            </a:extLst>
          </p:cNvPr>
          <p:cNvSpPr/>
          <p:nvPr/>
        </p:nvSpPr>
        <p:spPr>
          <a:xfrm>
            <a:off x="4243680" y="3322474"/>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C68358D4-A570-9A4C-9880-2CA2EC60E62E}"/>
              </a:ext>
            </a:extLst>
          </p:cNvPr>
          <p:cNvSpPr/>
          <p:nvPr/>
        </p:nvSpPr>
        <p:spPr>
          <a:xfrm>
            <a:off x="4246855" y="5116291"/>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id="{C9CCF56D-126E-9043-94FA-8B30C3F7870D}"/>
              </a:ext>
            </a:extLst>
          </p:cNvPr>
          <p:cNvSpPr/>
          <p:nvPr/>
        </p:nvSpPr>
        <p:spPr>
          <a:xfrm>
            <a:off x="4243680" y="4520978"/>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p>
        </p:txBody>
      </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6" name="TextBox 15">
            <a:extLst>
              <a:ext uri="{FF2B5EF4-FFF2-40B4-BE49-F238E27FC236}">
                <a16:creationId xmlns:a16="http://schemas.microsoft.com/office/drawing/2014/main" id="{2FA392D8-3ED3-7940-83A8-1451AA8A08D4}"/>
              </a:ext>
            </a:extLst>
          </p:cNvPr>
          <p:cNvSpPr txBox="1"/>
          <p:nvPr/>
        </p:nvSpPr>
        <p:spPr>
          <a:xfrm>
            <a:off x="585364" y="400324"/>
            <a:ext cx="10945220" cy="707886"/>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Find the constant of proportionality using each set of corresponding sides from triangle 𝐻𝐾𝐿 and triangle 𝑀𝑃𝑊.</a:t>
            </a:r>
          </a:p>
        </p:txBody>
      </p:sp>
    </p:spTree>
    <p:extLst>
      <p:ext uri="{BB962C8B-B14F-4D97-AF65-F5344CB8AC3E}">
        <p14:creationId xmlns:p14="http://schemas.microsoft.com/office/powerpoint/2010/main" val="4089730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a16="http://schemas.microsoft.com/office/drawing/2014/main" id="{2FA392D8-3ED3-7940-83A8-1451AA8A08D4}"/>
              </a:ext>
            </a:extLst>
          </p:cNvPr>
          <p:cNvSpPr txBox="1"/>
          <p:nvPr/>
        </p:nvSpPr>
        <p:spPr>
          <a:xfrm>
            <a:off x="585364" y="400324"/>
            <a:ext cx="10945220" cy="1569660"/>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With your partner, discuss whether it is necessary to calculate the constant of proportionality for all sets of corresponding sides, or to calculate the constant of proportionality for one set of corresponding sides. </a:t>
            </a:r>
          </a:p>
        </p:txBody>
      </p:sp>
    </p:spTree>
    <p:extLst>
      <p:ext uri="{BB962C8B-B14F-4D97-AF65-F5344CB8AC3E}">
        <p14:creationId xmlns:p14="http://schemas.microsoft.com/office/powerpoint/2010/main" val="3598628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7" name="Picture 6">
            <a:extLst>
              <a:ext uri="{FF2B5EF4-FFF2-40B4-BE49-F238E27FC236}">
                <a16:creationId xmlns:a16="http://schemas.microsoft.com/office/drawing/2014/main" id="{3FAB9A76-A03A-624C-83C6-80B01580803B}"/>
              </a:ext>
            </a:extLst>
          </p:cNvPr>
          <p:cNvPicPr>
            <a:picLocks noChangeAspect="1"/>
          </p:cNvPicPr>
          <p:nvPr/>
        </p:nvPicPr>
        <p:blipFill>
          <a:blip r:embed="rId3"/>
          <a:stretch>
            <a:fillRect/>
          </a:stretch>
        </p:blipFill>
        <p:spPr>
          <a:xfrm>
            <a:off x="2584450" y="790862"/>
            <a:ext cx="7023100" cy="2546350"/>
          </a:xfrm>
          <a:prstGeom prst="rect">
            <a:avLst/>
          </a:prstGeom>
        </p:spPr>
      </p:pic>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265</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A392D8-3ED3-7940-83A8-1451AA8A08D4}"/>
                  </a:ext>
                </a:extLst>
              </p:cNvPr>
              <p:cNvSpPr txBox="1"/>
              <p:nvPr/>
            </p:nvSpPr>
            <p:spPr>
              <a:xfrm>
                <a:off x="585364" y="400324"/>
                <a:ext cx="10945220" cy="5256182"/>
              </a:xfrm>
              <a:prstGeom prst="rect">
                <a:avLst/>
              </a:prstGeom>
              <a:noFill/>
            </p:spPr>
            <p:txBody>
              <a:bodyPr wrap="square" rtlCol="0">
                <a:spAutoFit/>
              </a:bodyPr>
              <a:lstStyle/>
              <a:p>
                <a:pPr marL="457200" lvl="1"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Triangle 𝑊𝑌𝑋 and triangle 𝑀𝑆𝑉 are shown.</a:t>
                </a: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a:r>
                  <a:rPr lang="en-US" sz="2000" dirty="0">
                    <a:latin typeface="Verdana" panose="020B0604030504040204" pitchFamily="34" charset="0"/>
                    <a:ea typeface="Verdana" panose="020B0604030504040204" pitchFamily="34" charset="0"/>
                    <a:cs typeface="Verdana" panose="020B0604030504040204" pitchFamily="34" charset="0"/>
                  </a:rPr>
                  <a:t>Mansoor claims that the two triangles are not similar because the ratios of the corresponding sides are not equivalent. His work supporting his claim is shown.</a:t>
                </a: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𝑊𝑌</m:t>
                          </m:r>
                        </m:num>
                        <m:den>
                          <m:r>
                            <a:rPr lang="es-ES" sz="2000" i="1" dirty="0">
                              <a:latin typeface="Cambria Math" panose="02040503050406030204" pitchFamily="18" charset="0"/>
                              <a:ea typeface="Verdana" panose="020B0604030504040204" pitchFamily="34" charset="0"/>
                              <a:cs typeface="Verdana" panose="020B0604030504040204" pitchFamily="34" charset="0"/>
                            </a:rPr>
                            <m:t>𝑀𝑆</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5</m:t>
                          </m:r>
                        </m:num>
                        <m:den>
                          <m:r>
                            <a:rPr lang="es-ES" sz="2000" i="1" dirty="0">
                              <a:latin typeface="Cambria Math" panose="02040503050406030204" pitchFamily="18" charset="0"/>
                              <a:ea typeface="Verdana" panose="020B0604030504040204" pitchFamily="34" charset="0"/>
                              <a:cs typeface="Verdana" panose="020B0604030504040204" pitchFamily="34" charset="0"/>
                            </a:rPr>
                            <m:t>2.5</m:t>
                          </m:r>
                        </m:den>
                      </m:f>
                      <m:r>
                        <a:rPr lang="en-US" sz="2000" i="1" dirty="0">
                          <a:latin typeface="Cambria Math" panose="02040503050406030204" pitchFamily="18" charset="0"/>
                          <a:ea typeface="Verdana" panose="020B0604030504040204" pitchFamily="34" charset="0"/>
                          <a:cs typeface="Verdana" panose="020B0604030504040204" pitchFamily="34" charset="0"/>
                        </a:rPr>
                        <m:t>=2</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lvl="1"/>
                <a:r>
                  <a:rPr lang="en-US" sz="2000" dirty="0">
                    <a:latin typeface="Verdana" panose="020B0604030504040204" pitchFamily="34" charset="0"/>
                    <a:ea typeface="Verdana" panose="020B0604030504040204" pitchFamily="34" charset="0"/>
                    <a:cs typeface="Verdana" panose="020B0604030504040204" pitchFamily="34" charset="0"/>
                  </a:rPr>
                  <a:t> </a:t>
                </a:r>
              </a:p>
              <a:p>
                <a:pPr lvl="1"/>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𝑌𝑋</m:t>
                          </m:r>
                        </m:num>
                        <m:den>
                          <m:r>
                            <a:rPr lang="es-ES" sz="2000" i="1" dirty="0">
                              <a:latin typeface="Cambria Math" panose="02040503050406030204" pitchFamily="18" charset="0"/>
                              <a:ea typeface="Verdana" panose="020B0604030504040204" pitchFamily="34" charset="0"/>
                              <a:cs typeface="Verdana" panose="020B0604030504040204" pitchFamily="34" charset="0"/>
                            </a:rPr>
                            <m:t>𝑀𝑉</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6</m:t>
                          </m:r>
                        </m:num>
                        <m:den>
                          <m:r>
                            <a:rPr lang="es-ES" sz="2000" i="1" dirty="0">
                              <a:latin typeface="Cambria Math" panose="02040503050406030204" pitchFamily="18" charset="0"/>
                              <a:ea typeface="Verdana" panose="020B0604030504040204" pitchFamily="34" charset="0"/>
                              <a:cs typeface="Verdana" panose="020B0604030504040204" pitchFamily="34" charset="0"/>
                            </a:rPr>
                            <m:t>4</m:t>
                          </m:r>
                        </m:den>
                      </m:f>
                      <m:r>
                        <a:rPr lang="en-US" sz="2000" i="1" dirty="0">
                          <a:latin typeface="Cambria Math" panose="02040503050406030204" pitchFamily="18" charset="0"/>
                          <a:ea typeface="Verdana" panose="020B0604030504040204" pitchFamily="34" charset="0"/>
                          <a:cs typeface="Verdana" panose="020B0604030504040204" pitchFamily="34" charset="0"/>
                        </a:rPr>
                        <m:t>=1.5</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1" name="TextBox 10">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585364" y="400324"/>
                <a:ext cx="10945220" cy="5256182"/>
              </a:xfrm>
              <a:prstGeom prst="rect">
                <a:avLst/>
              </a:prstGeom>
              <a:blipFill rotWithShape="1">
                <a:blip r:embed="rId5"/>
                <a:stretch>
                  <a:fillRect l="-557" t="-696"/>
                </a:stretch>
              </a:blipFill>
            </p:spPr>
            <p:txBody>
              <a:bodyPr/>
              <a:lstStyle/>
              <a:p>
                <a:r>
                  <a:rPr lang="en-US">
                    <a:noFill/>
                  </a:rPr>
                  <a:t> </a:t>
                </a:r>
              </a:p>
            </p:txBody>
          </p:sp>
        </mc:Fallback>
      </mc:AlternateContent>
    </p:spTree>
    <p:extLst>
      <p:ext uri="{BB962C8B-B14F-4D97-AF65-F5344CB8AC3E}">
        <p14:creationId xmlns:p14="http://schemas.microsoft.com/office/powerpoint/2010/main" val="3956420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265</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id="{2FA392D8-3ED3-7940-83A8-1451AA8A08D4}"/>
              </a:ext>
            </a:extLst>
          </p:cNvPr>
          <p:cNvSpPr txBox="1"/>
          <p:nvPr/>
        </p:nvSpPr>
        <p:spPr>
          <a:xfrm>
            <a:off x="585364" y="400324"/>
            <a:ext cx="10945220" cy="3785652"/>
          </a:xfrm>
          <a:prstGeom prst="rect">
            <a:avLst/>
          </a:prstGeom>
          <a:noFill/>
        </p:spPr>
        <p:txBody>
          <a:bodyPr wrap="square" rtlCol="0">
            <a:spAutoFit/>
          </a:bodyPr>
          <a:lstStyle/>
          <a:p>
            <a:pPr marL="914400" lvl="1" indent="-4476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whether you agree with </a:t>
            </a:r>
            <a:r>
              <a:rPr lang="en-US" sz="2000" dirty="0" err="1">
                <a:latin typeface="Verdana" panose="020B0604030504040204" pitchFamily="34" charset="0"/>
                <a:ea typeface="Verdana" panose="020B0604030504040204" pitchFamily="34" charset="0"/>
                <a:cs typeface="Verdana" panose="020B0604030504040204" pitchFamily="34" charset="0"/>
              </a:rPr>
              <a:t>Mansoor</a:t>
            </a:r>
            <a:r>
              <a:rPr lang="en-US" sz="2000" dirty="0">
                <a:latin typeface="Verdana" panose="020B0604030504040204" pitchFamily="34" charset="0"/>
                <a:ea typeface="Verdana" panose="020B0604030504040204" pitchFamily="34" charset="0"/>
                <a:cs typeface="Verdana" panose="020B0604030504040204" pitchFamily="34" charset="0"/>
              </a:rPr>
              <a:t>. Show any work that supports your answer.</a:t>
            </a: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Compare your work with your partner and resolve any differences, if necessary.</a:t>
            </a:r>
          </a:p>
        </p:txBody>
      </p:sp>
    </p:spTree>
    <p:extLst>
      <p:ext uri="{BB962C8B-B14F-4D97-AF65-F5344CB8AC3E}">
        <p14:creationId xmlns:p14="http://schemas.microsoft.com/office/powerpoint/2010/main" val="43140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pic>
        <p:nvPicPr>
          <p:cNvPr id="7" name="image6.png">
            <a:extLst>
              <a:ext uri="{FF2B5EF4-FFF2-40B4-BE49-F238E27FC236}">
                <a16:creationId xmlns:a16="http://schemas.microsoft.com/office/drawing/2014/main" id="{09D3CC5E-FCDA-3849-AD25-6FEF6BB8574E}"/>
              </a:ext>
            </a:extLst>
          </p:cNvPr>
          <p:cNvPicPr/>
          <p:nvPr/>
        </p:nvPicPr>
        <p:blipFill>
          <a:blip r:embed="rId3"/>
          <a:srcRect/>
          <a:stretch>
            <a:fillRect/>
          </a:stretch>
        </p:blipFill>
        <p:spPr>
          <a:xfrm>
            <a:off x="4630950" y="2850886"/>
            <a:ext cx="1156228" cy="1156228"/>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265</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58043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Chart, line chart&#10;&#10;Description automatically generated">
            <a:extLst>
              <a:ext uri="{FF2B5EF4-FFF2-40B4-BE49-F238E27FC236}">
                <a16:creationId xmlns:a16="http://schemas.microsoft.com/office/drawing/2014/main" id="{5B3E9CCC-FB2F-B242-830B-FB8CE38DF6A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76100" y="1958502"/>
            <a:ext cx="5895833" cy="4034942"/>
          </a:xfrm>
          <a:prstGeom prst="rect">
            <a:avLst/>
          </a:prstGeom>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265</a:t>
            </a: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156764"/>
            <a:ext cx="9510717"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6.5.4 Collaboration: </a:t>
            </a:r>
            <a:br>
              <a:rPr lang="en-US" sz="3200" b="1" dirty="0">
                <a:solidFill>
                  <a:srgbClr val="33BEA6"/>
                </a:solidFill>
                <a:latin typeface="Verdana"/>
                <a:ea typeface="Verdana"/>
                <a:cs typeface="Verdana"/>
                <a:sym typeface="Verdana"/>
              </a:rPr>
            </a:br>
            <a:r>
              <a:rPr lang="en-US" sz="3200" b="1" dirty="0">
                <a:solidFill>
                  <a:srgbClr val="33BEA6"/>
                </a:solidFill>
                <a:latin typeface="Verdana"/>
                <a:ea typeface="Verdana"/>
                <a:cs typeface="Verdana"/>
                <a:sym typeface="Verdana"/>
              </a:rPr>
              <a:t>Matching Similar Triangles</a:t>
            </a:r>
          </a:p>
        </p:txBody>
      </p:sp>
      <p:pic>
        <p:nvPicPr>
          <p:cNvPr id="15"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44DF7DE-9172-3E4E-B74A-7A51585FB6EA}"/>
              </a:ext>
            </a:extLst>
          </p:cNvPr>
          <p:cNvSpPr txBox="1"/>
          <p:nvPr/>
        </p:nvSpPr>
        <p:spPr>
          <a:xfrm>
            <a:off x="529070" y="1386025"/>
            <a:ext cx="6805179"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Eight triangles are shown. </a:t>
            </a:r>
          </a:p>
        </p:txBody>
      </p:sp>
    </p:spTree>
    <p:extLst>
      <p:ext uri="{BB962C8B-B14F-4D97-AF65-F5344CB8AC3E}">
        <p14:creationId xmlns:p14="http://schemas.microsoft.com/office/powerpoint/2010/main" val="310512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descr="Shape, line chart, polygon&#10;&#10;Description automatically generated">
            <a:extLst>
              <a:ext uri="{FF2B5EF4-FFF2-40B4-BE49-F238E27FC236}">
                <a16:creationId xmlns:a16="http://schemas.microsoft.com/office/drawing/2014/main" id="{D65DE7EB-4081-ED49-A5C2-B379D485BD3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76099" y="1287723"/>
            <a:ext cx="5878637" cy="4274205"/>
          </a:xfrm>
          <a:prstGeom prst="rect">
            <a:avLst/>
          </a:prstGeom>
        </p:spPr>
      </p:pic>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265</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28624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96E2797D-808B-384E-B72D-9503F63D9262}"/>
              </a:ext>
            </a:extLst>
          </p:cNvPr>
          <p:cNvGraphicFramePr>
            <a:graphicFrameLocks noGrp="1"/>
          </p:cNvGraphicFramePr>
          <p:nvPr>
            <p:extLst>
              <p:ext uri="{D42A27DB-BD31-4B8C-83A1-F6EECF244321}">
                <p14:modId xmlns:p14="http://schemas.microsoft.com/office/powerpoint/2010/main" val="3866954817"/>
              </p:ext>
            </p:extLst>
          </p:nvPr>
        </p:nvGraphicFramePr>
        <p:xfrm>
          <a:off x="2879210" y="1969331"/>
          <a:ext cx="6811844" cy="4231269"/>
        </p:xfrm>
        <a:graphic>
          <a:graphicData uri="http://schemas.openxmlformats.org/drawingml/2006/table">
            <a:tbl>
              <a:tblPr>
                <a:tableStyleId>{A91F0D33-8C57-4600-99A7-42BC86742BE1}</a:tableStyleId>
              </a:tblPr>
              <a:tblGrid>
                <a:gridCol w="2560320">
                  <a:extLst>
                    <a:ext uri="{9D8B030D-6E8A-4147-A177-3AD203B41FA5}">
                      <a16:colId xmlns:a16="http://schemas.microsoft.com/office/drawing/2014/main" val="1200512986"/>
                    </a:ext>
                  </a:extLst>
                </a:gridCol>
                <a:gridCol w="4251524">
                  <a:extLst>
                    <a:ext uri="{9D8B030D-6E8A-4147-A177-3AD203B41FA5}">
                      <a16:colId xmlns:a16="http://schemas.microsoft.com/office/drawing/2014/main" val="2166288426"/>
                    </a:ext>
                  </a:extLst>
                </a:gridCol>
              </a:tblGrid>
              <a:tr h="55698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Similar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Triangles</a:t>
                      </a:r>
                      <a:endParaRPr lang="x-none" sz="2000">
                        <a:effectLst/>
                        <a:latin typeface="Cambria" panose="02040503050406030204" pitchFamily="18" charset="0"/>
                        <a:ea typeface="Cambria" panose="02040503050406030204" pitchFamily="18" charset="0"/>
                        <a:cs typeface="Cambria" panose="02040503050406030204" pitchFamily="18" charset="0"/>
                      </a:endParaRPr>
                    </a:p>
                  </a:txBody>
                  <a:tcPr marL="63500" marR="63500" marT="63500" marB="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Constant of Proportionality</a:t>
                      </a:r>
                      <a:endParaRPr lang="x-none" sz="2000" dirty="0">
                        <a:effectLst/>
                        <a:latin typeface="Cambria" panose="02040503050406030204" pitchFamily="18" charset="0"/>
                        <a:ea typeface="Cambria" panose="02040503050406030204" pitchFamily="18" charset="0"/>
                        <a:cs typeface="Cambria" panose="02040503050406030204" pitchFamily="18" charset="0"/>
                      </a:endParaRPr>
                    </a:p>
                  </a:txBody>
                  <a:tcPr marL="63500" marR="63500" marT="63500" marB="635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68516848"/>
                  </a:ext>
                </a:extLst>
              </a:tr>
              <a:tr h="91857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Triangles</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 and _____</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7354188"/>
                  </a:ext>
                </a:extLst>
              </a:tr>
              <a:tr h="91857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Triangles</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 and _____</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786101"/>
                  </a:ext>
                </a:extLst>
              </a:tr>
              <a:tr h="918572">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Triangles</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_____ and _____</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900209"/>
                  </a:ext>
                </a:extLst>
              </a:tr>
              <a:tr h="91857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Triangles</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 and _____</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59571" marR="59571" marT="59571" marB="5957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548113"/>
                  </a:ext>
                </a:extLst>
              </a:tr>
            </a:tbl>
          </a:graphicData>
        </a:graphic>
      </p:graphicFrame>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266</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id="{2FA392D8-3ED3-7940-83A8-1451AA8A08D4}"/>
              </a:ext>
            </a:extLst>
          </p:cNvPr>
          <p:cNvSpPr txBox="1"/>
          <p:nvPr/>
        </p:nvSpPr>
        <p:spPr>
          <a:xfrm>
            <a:off x="540565" y="520394"/>
            <a:ext cx="11065362"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table by determining each pair of similar triangles and finding the constant of proportionality for each pair.</a:t>
            </a:r>
          </a:p>
        </p:txBody>
      </p:sp>
    </p:spTree>
    <p:extLst>
      <p:ext uri="{BB962C8B-B14F-4D97-AF65-F5344CB8AC3E}">
        <p14:creationId xmlns:p14="http://schemas.microsoft.com/office/powerpoint/2010/main" val="1009857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6938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8" name="image7.png" descr="Icon&#10;&#10;Description automatically generated">
            <a:extLst>
              <a:ext uri="{FF2B5EF4-FFF2-40B4-BE49-F238E27FC236}">
                <a16:creationId xmlns:a16="http://schemas.microsoft.com/office/drawing/2014/main" id="{566F31AF-F016-9248-A520-4E7D62ED7F81}"/>
              </a:ext>
            </a:extLst>
          </p:cNvPr>
          <p:cNvPicPr/>
          <p:nvPr/>
        </p:nvPicPr>
        <p:blipFill>
          <a:blip r:embed="rId3"/>
          <a:srcRect/>
          <a:stretch>
            <a:fillRect/>
          </a:stretch>
        </p:blipFill>
        <p:spPr>
          <a:xfrm>
            <a:off x="4690313" y="2849925"/>
            <a:ext cx="1158150" cy="1158150"/>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266</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66014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3" name="Picture 12">
            <a:extLst>
              <a:ext uri="{FF2B5EF4-FFF2-40B4-BE49-F238E27FC236}">
                <a16:creationId xmlns:a16="http://schemas.microsoft.com/office/drawing/2014/main" id="{D59EAEB4-4BCF-FB44-AD14-6602E298851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7763" t="5451" b="13191"/>
          <a:stretch/>
        </p:blipFill>
        <p:spPr bwMode="auto">
          <a:xfrm>
            <a:off x="3944070" y="1696004"/>
            <a:ext cx="4791710" cy="2808605"/>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266</a:t>
            </a:r>
          </a:p>
        </p:txBody>
      </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132532"/>
            <a:ext cx="10759859"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6.5.5 Guided Practice: Solving Mathematical Problems with Similar Triangles</a:t>
            </a:r>
          </a:p>
        </p:txBody>
      </p:sp>
      <p:pic>
        <p:nvPicPr>
          <p:cNvPr id="17"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19157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1D40250-DEDD-2C41-8538-3D4DD18CCC4A}"/>
              </a:ext>
            </a:extLst>
          </p:cNvPr>
          <p:cNvSpPr txBox="1"/>
          <p:nvPr/>
        </p:nvSpPr>
        <p:spPr>
          <a:xfrm>
            <a:off x="609600" y="1203735"/>
            <a:ext cx="10631186" cy="409342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Triangle 𝐺𝑇𝑌 is similar to triangle 𝑁𝑅𝐹.</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constant of proportionality between triangle 𝐺𝑇𝑌 and triangle 𝑁𝑅𝐹?</a:t>
            </a:r>
          </a:p>
        </p:txBody>
      </p:sp>
    </p:spTree>
    <p:extLst>
      <p:ext uri="{BB962C8B-B14F-4D97-AF65-F5344CB8AC3E}">
        <p14:creationId xmlns:p14="http://schemas.microsoft.com/office/powerpoint/2010/main" val="2885256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266</a:t>
            </a:r>
          </a:p>
        </p:txBody>
      </p:sp>
      <p:pic>
        <p:nvPicPr>
          <p:cNvPr id="1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8" name="TextBox 17">
            <a:extLst>
              <a:ext uri="{FF2B5EF4-FFF2-40B4-BE49-F238E27FC236}">
                <a16:creationId xmlns:a16="http://schemas.microsoft.com/office/drawing/2014/main" id="{2AA35BC6-D428-FC41-BDE5-6438AB8840FC}"/>
              </a:ext>
            </a:extLst>
          </p:cNvPr>
          <p:cNvSpPr txBox="1"/>
          <p:nvPr/>
        </p:nvSpPr>
        <p:spPr>
          <a:xfrm>
            <a:off x="540565" y="410666"/>
            <a:ext cx="11018226" cy="1631216"/>
          </a:xfrm>
          <a:prstGeom prst="rect">
            <a:avLst/>
          </a:prstGeom>
          <a:noFill/>
        </p:spPr>
        <p:txBody>
          <a:bodyPr wrap="square" rtlCol="0">
            <a:spAutoFit/>
          </a:bodyPr>
          <a:lstStyle/>
          <a:p>
            <a:pPr marL="922338"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Find the lengths of the missing sides of triangle 𝑁𝑅𝐹.</a:t>
            </a:r>
          </a:p>
          <a:p>
            <a:pPr marL="922338" indent="-455613"/>
            <a:r>
              <a:rPr lang="en-US" sz="2000" dirty="0">
                <a:latin typeface="Verdana" panose="020B0604030504040204" pitchFamily="34" charset="0"/>
                <a:ea typeface="Verdana" panose="020B0604030504040204" pitchFamily="34" charset="0"/>
                <a:cs typeface="Verdana" panose="020B0604030504040204" pitchFamily="34" charset="0"/>
              </a:rPr>
              <a:t>  </a:t>
            </a:r>
          </a:p>
          <a:p>
            <a:pPr marL="922338" indent="-455613"/>
            <a:r>
              <a:rPr lang="en-US" sz="2000" dirty="0">
                <a:latin typeface="Verdana" panose="020B0604030504040204" pitchFamily="34" charset="0"/>
                <a:ea typeface="Verdana" panose="020B0604030504040204" pitchFamily="34" charset="0"/>
                <a:cs typeface="Verdana" panose="020B0604030504040204" pitchFamily="34" charset="0"/>
              </a:rPr>
              <a:t> </a:t>
            </a:r>
          </a:p>
          <a:p>
            <a:pPr marL="922338" indent="-455613"/>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table to verify your work.</a:t>
            </a:r>
          </a:p>
        </p:txBody>
      </p:sp>
      <mc:AlternateContent xmlns:mc="http://schemas.openxmlformats.org/markup-compatibility/2006" xmlns:a14="http://schemas.microsoft.com/office/drawing/2010/main">
        <mc:Choice Requires="a14">
          <p:graphicFrame>
            <p:nvGraphicFramePr>
              <p:cNvPr id="26" name="Table 25">
                <a:extLst>
                  <a:ext uri="{FF2B5EF4-FFF2-40B4-BE49-F238E27FC236}">
                    <a16:creationId xmlns:a16="http://schemas.microsoft.com/office/drawing/2014/main" id="{3057A968-823D-1345-B67D-1B1C64D9AB36}"/>
                  </a:ext>
                </a:extLst>
              </p:cNvPr>
              <p:cNvGraphicFramePr>
                <a:graphicFrameLocks noGrp="1"/>
              </p:cNvGraphicFramePr>
              <p:nvPr>
                <p:extLst>
                  <p:ext uri="{D42A27DB-BD31-4B8C-83A1-F6EECF244321}">
                    <p14:modId xmlns:p14="http://schemas.microsoft.com/office/powerpoint/2010/main" val="3295254107"/>
                  </p:ext>
                </p:extLst>
              </p:nvPr>
            </p:nvGraphicFramePr>
            <p:xfrm>
              <a:off x="1587627" y="2209922"/>
              <a:ext cx="7309485" cy="4330129"/>
            </p:xfrm>
            <a:graphic>
              <a:graphicData uri="http://schemas.openxmlformats.org/drawingml/2006/table">
                <a:tbl>
                  <a:tblPr firstRow="1" firstCol="1" bandRow="1">
                    <a:tableStyleId>{A91F0D33-8C57-4600-99A7-42BC86742BE1}</a:tableStyleId>
                  </a:tblPr>
                  <a:tblGrid>
                    <a:gridCol w="4480560">
                      <a:extLst>
                        <a:ext uri="{9D8B030D-6E8A-4147-A177-3AD203B41FA5}">
                          <a16:colId xmlns:a16="http://schemas.microsoft.com/office/drawing/2014/main" val="4033988272"/>
                        </a:ext>
                      </a:extLst>
                    </a:gridCol>
                    <a:gridCol w="2828925">
                      <a:extLst>
                        <a:ext uri="{9D8B030D-6E8A-4147-A177-3AD203B41FA5}">
                          <a16:colId xmlns:a16="http://schemas.microsoft.com/office/drawing/2014/main" val="1230036166"/>
                        </a:ext>
                      </a:extLst>
                    </a:gridCol>
                  </a:tblGrid>
                  <a:tr h="5029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smtClean="0">
                                        <a:effectLst/>
                                        <a:latin typeface="Cambria Math" panose="02040503050406030204" pitchFamily="18" charset="0"/>
                                      </a:rPr>
                                    </m:ctrlPr>
                                  </m:fPr>
                                  <m:num>
                                    <m:r>
                                      <a:rPr lang="en-US" sz="2000" b="1" i="0">
                                        <a:effectLst/>
                                        <a:latin typeface="Cambria Math" panose="02040503050406030204" pitchFamily="18" charset="0"/>
                                      </a:rPr>
                                      <m:t>𝐜</m:t>
                                    </m:r>
                                    <m:r>
                                      <a:rPr lang="en-US" sz="2000">
                                        <a:effectLst/>
                                        <a:latin typeface="Cambria Math" panose="02040503050406030204" pitchFamily="18" charset="0"/>
                                      </a:rPr>
                                      <m:t>𝐨𝐫𝐫𝐞𝐬𝐩𝐨𝐧𝐝𝐢𝐧𝐠</m:t>
                                    </m:r>
                                    <m:r>
                                      <a:rPr lang="en-US" sz="2000">
                                        <a:effectLst/>
                                        <a:latin typeface="Cambria Math" panose="02040503050406030204" pitchFamily="18" charset="0"/>
                                      </a:rPr>
                                      <m:t> </m:t>
                                    </m:r>
                                    <m:r>
                                      <a:rPr lang="en-US" sz="2000">
                                        <a:effectLst/>
                                        <a:latin typeface="Cambria Math" panose="02040503050406030204" pitchFamily="18" charset="0"/>
                                      </a:rPr>
                                      <m:t>𝐬𝐢𝐝𝐞</m:t>
                                    </m:r>
                                    <m:r>
                                      <a:rPr lang="en-US" sz="2000">
                                        <a:effectLst/>
                                        <a:latin typeface="Cambria Math" panose="02040503050406030204" pitchFamily="18" charset="0"/>
                                      </a:rPr>
                                      <m:t> </m:t>
                                    </m:r>
                                    <m:r>
                                      <a:rPr lang="en-US" sz="2000">
                                        <a:effectLst/>
                                        <a:latin typeface="Cambria Math" panose="02040503050406030204" pitchFamily="18" charset="0"/>
                                      </a:rPr>
                                      <m:t>𝐥𝐞𝐧𝐠𝐭𝐡</m:t>
                                    </m:r>
                                    <m:r>
                                      <a:rPr lang="en-US" sz="2000">
                                        <a:effectLst/>
                                        <a:latin typeface="Cambria Math" panose="02040503050406030204" pitchFamily="18" charset="0"/>
                                      </a:rPr>
                                      <m:t> </m:t>
                                    </m:r>
                                    <m:r>
                                      <a:rPr lang="en-US" sz="2000">
                                        <a:effectLst/>
                                        <a:latin typeface="Cambria Math" panose="02040503050406030204" pitchFamily="18" charset="0"/>
                                      </a:rPr>
                                      <m:t>𝐨𝐧</m:t>
                                    </m:r>
                                    <m:r>
                                      <a:rPr lang="en-US" sz="2000">
                                        <a:effectLst/>
                                        <a:latin typeface="Cambria Math" panose="02040503050406030204" pitchFamily="18" charset="0"/>
                                      </a:rPr>
                                      <m:t> </m:t>
                                    </m:r>
                                    <m:r>
                                      <a:rPr lang="en-US" sz="2000" b="1" i="1" smtClean="0">
                                        <a:effectLst/>
                                        <a:latin typeface="Cambria Math"/>
                                      </a:rPr>
                                      <m:t>𝑮𝑻𝒀</m:t>
                                    </m:r>
                                  </m:num>
                                  <m:den>
                                    <m:r>
                                      <a:rPr lang="en-US" sz="2000">
                                        <a:effectLst/>
                                        <a:latin typeface="Cambria Math" panose="02040503050406030204" pitchFamily="18" charset="0"/>
                                      </a:rPr>
                                      <m:t>𝐜𝐨𝐫𝐫𝐞𝐬𝐩𝐨𝐧𝐝𝐢𝐧𝐠</m:t>
                                    </m:r>
                                    <m:r>
                                      <a:rPr lang="en-US" sz="2000">
                                        <a:effectLst/>
                                        <a:latin typeface="Cambria Math" panose="02040503050406030204" pitchFamily="18" charset="0"/>
                                      </a:rPr>
                                      <m:t> </m:t>
                                    </m:r>
                                    <m:r>
                                      <a:rPr lang="en-US" sz="2000">
                                        <a:effectLst/>
                                        <a:latin typeface="Cambria Math" panose="02040503050406030204" pitchFamily="18" charset="0"/>
                                      </a:rPr>
                                      <m:t>𝐬𝐢𝐝𝐞</m:t>
                                    </m:r>
                                    <m:r>
                                      <a:rPr lang="en-US" sz="2000">
                                        <a:effectLst/>
                                        <a:latin typeface="Cambria Math" panose="02040503050406030204" pitchFamily="18" charset="0"/>
                                      </a:rPr>
                                      <m:t> </m:t>
                                    </m:r>
                                    <m:r>
                                      <a:rPr lang="en-US" sz="2000">
                                        <a:effectLst/>
                                        <a:latin typeface="Cambria Math" panose="02040503050406030204" pitchFamily="18" charset="0"/>
                                      </a:rPr>
                                      <m:t>𝐥𝐞𝐧𝐠𝐭𝐡</m:t>
                                    </m:r>
                                    <m:r>
                                      <a:rPr lang="en-US" sz="2000">
                                        <a:effectLst/>
                                        <a:latin typeface="Cambria Math" panose="02040503050406030204" pitchFamily="18" charset="0"/>
                                      </a:rPr>
                                      <m:t> </m:t>
                                    </m:r>
                                    <m:r>
                                      <a:rPr lang="en-US" sz="2000">
                                        <a:effectLst/>
                                        <a:latin typeface="Cambria Math" panose="02040503050406030204" pitchFamily="18" charset="0"/>
                                      </a:rPr>
                                      <m:t>𝐨𝐧</m:t>
                                    </m:r>
                                    <m:r>
                                      <a:rPr lang="en-US" sz="2000">
                                        <a:effectLst/>
                                        <a:latin typeface="Cambria Math" panose="02040503050406030204" pitchFamily="18" charset="0"/>
                                      </a:rPr>
                                      <m:t> </m:t>
                                    </m:r>
                                    <m:r>
                                      <a:rPr lang="en-US" sz="2000" b="1" i="1" smtClean="0">
                                        <a:effectLst/>
                                        <a:latin typeface="Cambria Math"/>
                                      </a:rPr>
                                      <m:t>𝑵𝑹𝑭</m:t>
                                    </m:r>
                                  </m:den>
                                </m:f>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Constant of Proportionality</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22833221"/>
                      </a:ext>
                    </a:extLst>
                  </a:tr>
                  <a:tr h="12020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             </m:t>
                                    </m:r>
                                  </m:num>
                                  <m:den>
                                    <m:r>
                                      <a:rPr lang="en-US" sz="2000">
                                        <a:effectLst/>
                                        <a:latin typeface="Cambria Math" panose="02040503050406030204" pitchFamily="18" charset="0"/>
                                      </a:rPr>
                                      <m:t>                  </m:t>
                                    </m:r>
                                  </m:den>
                                </m:f>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3107118"/>
                      </a:ext>
                    </a:extLst>
                  </a:tr>
                  <a:tr h="12020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             </m:t>
                                    </m:r>
                                  </m:num>
                                  <m:den>
                                    <m:r>
                                      <a:rPr lang="en-US" sz="2000">
                                        <a:effectLst/>
                                        <a:latin typeface="Cambria Math" panose="02040503050406030204" pitchFamily="18" charset="0"/>
                                      </a:rPr>
                                      <m:t>                  </m:t>
                                    </m:r>
                                  </m:den>
                                </m:f>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613444"/>
                      </a:ext>
                    </a:extLst>
                  </a:tr>
                  <a:tr h="12020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panose="02040503050406030204" pitchFamily="18" charset="0"/>
                                      </a:rPr>
                                      <m:t>             </m:t>
                                    </m:r>
                                  </m:num>
                                  <m:den>
                                    <m:r>
                                      <a:rPr lang="en-US" sz="2000">
                                        <a:effectLst/>
                                        <a:latin typeface="Cambria Math" panose="02040503050406030204" pitchFamily="18" charset="0"/>
                                      </a:rPr>
                                      <m:t>                  </m:t>
                                    </m:r>
                                  </m:den>
                                </m:f>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0178113"/>
                      </a:ext>
                    </a:extLst>
                  </a:tr>
                </a:tbl>
              </a:graphicData>
            </a:graphic>
          </p:graphicFrame>
        </mc:Choice>
        <mc:Fallback xmlns="">
          <p:graphicFrame>
            <p:nvGraphicFramePr>
              <p:cNvPr id="26" name="Table 25">
                <a:extLst>
                  <a:ext uri="{FF2B5EF4-FFF2-40B4-BE49-F238E27FC236}">
                    <a16:creationId xmlns="" xmlns:a16="http://schemas.microsoft.com/office/drawing/2014/main" xmlns:a14="http://schemas.microsoft.com/office/drawing/2010/main" id="{3057A968-823D-1345-B67D-1B1C64D9AB36}"/>
                  </a:ext>
                </a:extLst>
              </p:cNvPr>
              <p:cNvGraphicFramePr>
                <a:graphicFrameLocks noGrp="1"/>
              </p:cNvGraphicFramePr>
              <p:nvPr>
                <p:extLst>
                  <p:ext uri="{D42A27DB-BD31-4B8C-83A1-F6EECF244321}">
                    <p14:modId xmlns:p14="http://schemas.microsoft.com/office/powerpoint/2010/main" val="3295254107"/>
                  </p:ext>
                </p:extLst>
              </p:nvPr>
            </p:nvGraphicFramePr>
            <p:xfrm>
              <a:off x="1587627" y="2209922"/>
              <a:ext cx="7309485" cy="4330129"/>
            </p:xfrm>
            <a:graphic>
              <a:graphicData uri="http://schemas.openxmlformats.org/drawingml/2006/table">
                <a:tbl>
                  <a:tblPr firstRow="1" firstCol="1" bandRow="1">
                    <a:tableStyleId>{A91F0D33-8C57-4600-99A7-42BC86742BE1}</a:tableStyleId>
                  </a:tblPr>
                  <a:tblGrid>
                    <a:gridCol w="4480560">
                      <a:extLst>
                        <a:ext uri="{9D8B030D-6E8A-4147-A177-3AD203B41FA5}">
                          <a16:colId xmlns="" xmlns:a16="http://schemas.microsoft.com/office/drawing/2014/main" xmlns:a14="http://schemas.microsoft.com/office/drawing/2010/main" val="4033988272"/>
                        </a:ext>
                      </a:extLst>
                    </a:gridCol>
                    <a:gridCol w="2828925">
                      <a:extLst>
                        <a:ext uri="{9D8B030D-6E8A-4147-A177-3AD203B41FA5}">
                          <a16:colId xmlns="" xmlns:a16="http://schemas.microsoft.com/office/drawing/2014/main" xmlns:a14="http://schemas.microsoft.com/office/drawing/2010/main" val="1230036166"/>
                        </a:ext>
                      </a:extLst>
                    </a:gridCol>
                  </a:tblGrid>
                  <a:tr h="723964">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361" r="-63043" b="-496639"/>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Constant of Proportionality</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4022833221"/>
                      </a:ext>
                    </a:extLst>
                  </a:tr>
                  <a:tr h="120205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62437" r="-63043" b="-20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643107118"/>
                      </a:ext>
                    </a:extLst>
                  </a:tr>
                  <a:tr h="120205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62437" r="-63043" b="-100000"/>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368613444"/>
                      </a:ext>
                    </a:extLst>
                  </a:tr>
                  <a:tr h="120205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62437" r="-63043"/>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580178113"/>
                      </a:ext>
                    </a:extLst>
                  </a:tr>
                </a:tbl>
              </a:graphicData>
            </a:graphic>
          </p:graphicFrame>
        </mc:Fallback>
      </mc:AlternateContent>
      <p:sp>
        <p:nvSpPr>
          <p:cNvPr id="27" name="Rectangle 26">
            <a:extLst>
              <a:ext uri="{FF2B5EF4-FFF2-40B4-BE49-F238E27FC236}">
                <a16:creationId xmlns:a16="http://schemas.microsoft.com/office/drawing/2014/main" id="{12A015FC-641D-8748-B66A-D510665F9654}"/>
              </a:ext>
            </a:extLst>
          </p:cNvPr>
          <p:cNvSpPr/>
          <p:nvPr/>
        </p:nvSpPr>
        <p:spPr>
          <a:xfrm>
            <a:off x="3431251" y="3572982"/>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Rectangle 27">
            <a:extLst>
              <a:ext uri="{FF2B5EF4-FFF2-40B4-BE49-F238E27FC236}">
                <a16:creationId xmlns:a16="http://schemas.microsoft.com/office/drawing/2014/main" id="{A7B9BA46-241D-8A48-A287-F92A553B4E2D}"/>
              </a:ext>
            </a:extLst>
          </p:cNvPr>
          <p:cNvSpPr/>
          <p:nvPr/>
        </p:nvSpPr>
        <p:spPr>
          <a:xfrm>
            <a:off x="3428076" y="2977669"/>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 name="Rectangle 28">
            <a:extLst>
              <a:ext uri="{FF2B5EF4-FFF2-40B4-BE49-F238E27FC236}">
                <a16:creationId xmlns:a16="http://schemas.microsoft.com/office/drawing/2014/main" id="{59366248-B8EC-8148-8438-6AE95952C79A}"/>
              </a:ext>
            </a:extLst>
          </p:cNvPr>
          <p:cNvSpPr/>
          <p:nvPr/>
        </p:nvSpPr>
        <p:spPr>
          <a:xfrm>
            <a:off x="3431251" y="4777433"/>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Rectangle 29">
            <a:extLst>
              <a:ext uri="{FF2B5EF4-FFF2-40B4-BE49-F238E27FC236}">
                <a16:creationId xmlns:a16="http://schemas.microsoft.com/office/drawing/2014/main" id="{450603C6-1218-5248-960C-8ED1AFF57E3E}"/>
              </a:ext>
            </a:extLst>
          </p:cNvPr>
          <p:cNvSpPr/>
          <p:nvPr/>
        </p:nvSpPr>
        <p:spPr>
          <a:xfrm>
            <a:off x="3428076" y="4182120"/>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 name="Rectangle 30">
            <a:extLst>
              <a:ext uri="{FF2B5EF4-FFF2-40B4-BE49-F238E27FC236}">
                <a16:creationId xmlns:a16="http://schemas.microsoft.com/office/drawing/2014/main" id="{C68358D4-A570-9A4C-9880-2CA2EC60E62E}"/>
              </a:ext>
            </a:extLst>
          </p:cNvPr>
          <p:cNvSpPr/>
          <p:nvPr/>
        </p:nvSpPr>
        <p:spPr>
          <a:xfrm>
            <a:off x="3431251" y="5975937"/>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Rectangle 31">
            <a:extLst>
              <a:ext uri="{FF2B5EF4-FFF2-40B4-BE49-F238E27FC236}">
                <a16:creationId xmlns:a16="http://schemas.microsoft.com/office/drawing/2014/main" id="{C9CCF56D-126E-9043-94FA-8B30C3F7870D}"/>
              </a:ext>
            </a:extLst>
          </p:cNvPr>
          <p:cNvSpPr/>
          <p:nvPr/>
        </p:nvSpPr>
        <p:spPr>
          <a:xfrm>
            <a:off x="3428076" y="5380624"/>
            <a:ext cx="736600" cy="457200"/>
          </a:xfrm>
          <a:prstGeom prst="rect">
            <a:avLst/>
          </a:prstGeom>
          <a:no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88238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267</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2818186" y="3222299"/>
            <a:ext cx="6638067" cy="1672039"/>
            <a:chOff x="2957015" y="3568992"/>
            <a:chExt cx="6638067" cy="1672039"/>
          </a:xfrm>
        </p:grpSpPr>
        <p:pic>
          <p:nvPicPr>
            <p:cNvPr id="11" name="Picture 10" descr="Chart&#10;&#10;Description automatically generated">
              <a:extLst>
                <a:ext uri="{FF2B5EF4-FFF2-40B4-BE49-F238E27FC236}">
                  <a16:creationId xmlns:a16="http://schemas.microsoft.com/office/drawing/2014/main" id="{185C81BC-FCFF-B841-B3A7-82C7932DBDE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46061" b="42612"/>
            <a:stretch/>
          </p:blipFill>
          <p:spPr bwMode="auto">
            <a:xfrm>
              <a:off x="3022625" y="4759066"/>
              <a:ext cx="6506845" cy="481965"/>
            </a:xfrm>
            <a:prstGeom prst="rect">
              <a:avLst/>
            </a:prstGeom>
            <a:ln>
              <a:noFill/>
            </a:ln>
            <a:extLst>
              <a:ext uri="{53640926-AAD7-44D8-BBD7-CCE9431645EC}">
                <a14:shadowObscured xmlns:a14="http://schemas.microsoft.com/office/drawing/2010/main"/>
              </a:ext>
            </a:extLst>
          </p:spPr>
        </p:pic>
        <p:pic>
          <p:nvPicPr>
            <p:cNvPr id="4" name="Picture 3" descr="A group of yellow smiley faces&#10;&#10;Description automatically generated with low confidence">
              <a:extLst>
                <a:ext uri="{FF2B5EF4-FFF2-40B4-BE49-F238E27FC236}">
                  <a16:creationId xmlns:a16="http://schemas.microsoft.com/office/drawing/2014/main" id="{5325E423-ED1C-954F-A336-E2A9B66F702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57015" y="3568992"/>
              <a:ext cx="6638067" cy="978654"/>
            </a:xfrm>
            <a:prstGeom prst="rect">
              <a:avLst/>
            </a:prstGeom>
          </p:spPr>
        </p:pic>
      </p:grpSp>
      <p:sp>
        <p:nvSpPr>
          <p:cNvPr id="13"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267</a:t>
            </a: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6.5.6 Wrap-Up: Reflection</a:t>
            </a:r>
          </a:p>
        </p:txBody>
      </p:sp>
      <p:pic>
        <p:nvPicPr>
          <p:cNvPr id="15" name="Google Shape;469;p34"/>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6" name="TextBox 15">
            <a:extLst>
              <a:ext uri="{FF2B5EF4-FFF2-40B4-BE49-F238E27FC236}">
                <a16:creationId xmlns:a16="http://schemas.microsoft.com/office/drawing/2014/main" id="{0370EDB7-6994-3D43-ABF9-E04CBAFB9CD9}"/>
              </a:ext>
            </a:extLst>
          </p:cNvPr>
          <p:cNvSpPr txBox="1"/>
          <p:nvPr/>
        </p:nvSpPr>
        <p:spPr>
          <a:xfrm>
            <a:off x="528754" y="1403578"/>
            <a:ext cx="11216932"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of the statements below, circle the </a:t>
            </a:r>
            <a:r>
              <a:rPr lang="en-US" sz="2000" dirty="0" err="1">
                <a:latin typeface="Verdana" panose="020B0604030504040204" pitchFamily="34" charset="0"/>
                <a:ea typeface="Verdana" panose="020B0604030504040204" pitchFamily="34" charset="0"/>
                <a:cs typeface="Verdana" panose="020B0604030504040204" pitchFamily="34" charset="0"/>
              </a:rPr>
              <a:t>emoji</a:t>
            </a:r>
            <a:r>
              <a:rPr lang="en-US" sz="2000" dirty="0">
                <a:latin typeface="Verdana" panose="020B0604030504040204" pitchFamily="34" charset="0"/>
                <a:ea typeface="Verdana" panose="020B0604030504040204" pitchFamily="34" charset="0"/>
                <a:cs typeface="Verdana" panose="020B0604030504040204" pitchFamily="34" charset="0"/>
              </a:rPr>
              <a:t> that represents your feelings toward each statement.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 can identify the corresponding sides of similar triangles.</a:t>
            </a:r>
          </a:p>
        </p:txBody>
      </p:sp>
    </p:spTree>
    <p:extLst>
      <p:ext uri="{BB962C8B-B14F-4D97-AF65-F5344CB8AC3E}">
        <p14:creationId xmlns:p14="http://schemas.microsoft.com/office/powerpoint/2010/main" val="553995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6" name="TextBox 15">
            <a:extLst>
              <a:ext uri="{FF2B5EF4-FFF2-40B4-BE49-F238E27FC236}">
                <a16:creationId xmlns:a16="http://schemas.microsoft.com/office/drawing/2014/main" id="{2FA392D8-3ED3-7940-83A8-1451AA8A08D4}"/>
              </a:ext>
            </a:extLst>
          </p:cNvPr>
          <p:cNvSpPr txBox="1"/>
          <p:nvPr/>
        </p:nvSpPr>
        <p:spPr>
          <a:xfrm>
            <a:off x="538193" y="454781"/>
            <a:ext cx="11327235" cy="3785652"/>
          </a:xfrm>
          <a:prstGeom prst="rect">
            <a:avLst/>
          </a:prstGeom>
          <a:noFill/>
        </p:spPr>
        <p:txBody>
          <a:bodyPr wrap="square" rtlCol="0">
            <a:spAutoFit/>
          </a:bodyPr>
          <a:lstStyle/>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 can determine whether two triangles are similar.</a:t>
            </a: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 can find the missing side lengths in similar triangle.</a:t>
            </a:r>
          </a:p>
        </p:txBody>
      </p:sp>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2957015" y="1327109"/>
            <a:ext cx="6638067" cy="1671663"/>
            <a:chOff x="2957015" y="1506201"/>
            <a:chExt cx="6638067" cy="1671663"/>
          </a:xfrm>
        </p:grpSpPr>
        <p:pic>
          <p:nvPicPr>
            <p:cNvPr id="8" name="Picture 7" descr="Chart&#10;&#10;Description automatically generated">
              <a:extLst>
                <a:ext uri="{FF2B5EF4-FFF2-40B4-BE49-F238E27FC236}">
                  <a16:creationId xmlns:a16="http://schemas.microsoft.com/office/drawing/2014/main" id="{BB926875-3D0A-5141-BAD3-F4C0FCF742F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46061" b="42612"/>
            <a:stretch/>
          </p:blipFill>
          <p:spPr bwMode="auto">
            <a:xfrm>
              <a:off x="3088237" y="2695899"/>
              <a:ext cx="6506845" cy="481965"/>
            </a:xfrm>
            <a:prstGeom prst="rect">
              <a:avLst/>
            </a:prstGeom>
            <a:ln>
              <a:noFill/>
            </a:ln>
            <a:extLst>
              <a:ext uri="{53640926-AAD7-44D8-BBD7-CCE9431645EC}">
                <a14:shadowObscured xmlns:a14="http://schemas.microsoft.com/office/drawing/2010/main"/>
              </a:ext>
            </a:extLst>
          </p:spPr>
        </p:pic>
        <p:pic>
          <p:nvPicPr>
            <p:cNvPr id="9" name="Picture 8" descr="A group of yellow smiley faces&#10;&#10;Description automatically generated with low confidence">
              <a:extLst>
                <a:ext uri="{FF2B5EF4-FFF2-40B4-BE49-F238E27FC236}">
                  <a16:creationId xmlns:a16="http://schemas.microsoft.com/office/drawing/2014/main" id="{34F8FB85-7FE7-A24D-A413-5CDE328977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57015" y="1506201"/>
              <a:ext cx="6638067" cy="978654"/>
            </a:xfrm>
            <a:prstGeom prst="rect">
              <a:avLst/>
            </a:prstGeom>
          </p:spPr>
        </p:pic>
      </p:grpSp>
      <p:grpSp>
        <p:nvGrpSpPr>
          <p:cNvPr id="3" name="Group 2"/>
          <p:cNvGrpSpPr/>
          <p:nvPr/>
        </p:nvGrpSpPr>
        <p:grpSpPr>
          <a:xfrm>
            <a:off x="2882776" y="4519729"/>
            <a:ext cx="6638067" cy="1671663"/>
            <a:chOff x="2957015" y="4617890"/>
            <a:chExt cx="6638067" cy="1671663"/>
          </a:xfrm>
        </p:grpSpPr>
        <p:pic>
          <p:nvPicPr>
            <p:cNvPr id="11" name="Picture 10" descr="Chart&#10;&#10;Description automatically generated">
              <a:extLst>
                <a:ext uri="{FF2B5EF4-FFF2-40B4-BE49-F238E27FC236}">
                  <a16:creationId xmlns:a16="http://schemas.microsoft.com/office/drawing/2014/main" id="{F43B2282-476C-194A-B3AD-6D02A338D0B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46061" b="42612"/>
            <a:stretch/>
          </p:blipFill>
          <p:spPr bwMode="auto">
            <a:xfrm>
              <a:off x="3088237" y="5807588"/>
              <a:ext cx="6506845" cy="481965"/>
            </a:xfrm>
            <a:prstGeom prst="rect">
              <a:avLst/>
            </a:prstGeom>
            <a:ln>
              <a:noFill/>
            </a:ln>
            <a:extLst>
              <a:ext uri="{53640926-AAD7-44D8-BBD7-CCE9431645EC}">
                <a14:shadowObscured xmlns:a14="http://schemas.microsoft.com/office/drawing/2010/main"/>
              </a:ext>
            </a:extLst>
          </p:spPr>
        </p:pic>
        <p:pic>
          <p:nvPicPr>
            <p:cNvPr id="12" name="Picture 11" descr="A group of yellow smiley faces&#10;&#10;Description automatically generated with low confidence">
              <a:extLst>
                <a:ext uri="{FF2B5EF4-FFF2-40B4-BE49-F238E27FC236}">
                  <a16:creationId xmlns:a16="http://schemas.microsoft.com/office/drawing/2014/main" id="{02D3B983-70CD-BF4C-97F5-1548112CC81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57015" y="4617890"/>
              <a:ext cx="6638067" cy="978654"/>
            </a:xfrm>
            <a:prstGeom prst="rect">
              <a:avLst/>
            </a:prstGeom>
          </p:spPr>
        </p:pic>
      </p:grpSp>
      <p:sp>
        <p:nvSpPr>
          <p:cNvPr id="13"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267</a:t>
            </a:r>
          </a:p>
        </p:txBody>
      </p:sp>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41741093"/>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1501</TotalTime>
  <Words>1092</Words>
  <Application>Microsoft Office PowerPoint</Application>
  <PresentationFormat>Widescreen</PresentationFormat>
  <Paragraphs>287</Paragraphs>
  <Slides>32</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Cambria Math</vt:lpstr>
      <vt:lpstr>Calibri</vt:lpstr>
      <vt:lpstr>Cambria</vt:lpstr>
      <vt:lpstr>Arial Black</vt:lpstr>
      <vt:lpstr>Verdana</vt:lpstr>
      <vt:lpstr>Century Gothic</vt:lpstr>
      <vt:lpstr>1_Office Theme</vt:lpstr>
      <vt:lpstr>PowerPoint Presentation</vt:lpstr>
      <vt:lpstr>PowerPoint Presentation</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48</cp:revision>
  <dcterms:created xsi:type="dcterms:W3CDTF">2015-03-17T18:51:18Z</dcterms:created>
  <dcterms:modified xsi:type="dcterms:W3CDTF">2022-07-16T23:00:47Z</dcterms:modified>
</cp:coreProperties>
</file>