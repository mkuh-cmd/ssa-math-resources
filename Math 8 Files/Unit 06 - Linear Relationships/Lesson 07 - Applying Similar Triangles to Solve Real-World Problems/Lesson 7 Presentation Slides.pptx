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57" r:id="rId3"/>
    <p:sldId id="285" r:id="rId4"/>
    <p:sldId id="286" r:id="rId5"/>
    <p:sldId id="261" r:id="rId6"/>
    <p:sldId id="287" r:id="rId7"/>
    <p:sldId id="362" r:id="rId8"/>
    <p:sldId id="311" r:id="rId9"/>
    <p:sldId id="312" r:id="rId10"/>
    <p:sldId id="333" r:id="rId11"/>
    <p:sldId id="342" r:id="rId12"/>
    <p:sldId id="363" r:id="rId13"/>
    <p:sldId id="364" r:id="rId14"/>
    <p:sldId id="357" r:id="rId15"/>
    <p:sldId id="358" r:id="rId16"/>
    <p:sldId id="359" r:id="rId17"/>
    <p:sldId id="365" r:id="rId18"/>
    <p:sldId id="306" r:id="rId19"/>
    <p:sldId id="307" r:id="rId20"/>
    <p:sldId id="341" r:id="rId21"/>
  </p:sldIdLst>
  <p:sldSz cx="12192000" cy="6858000"/>
  <p:notesSz cx="6858000" cy="9144000"/>
  <p:embeddedFontLst>
    <p:embeddedFont>
      <p:font typeface="Cambria Math" pitchFamily="18" charset="0"/>
      <p:regular r:id="rId23"/>
    </p:embeddedFont>
    <p:embeddedFont>
      <p:font typeface="Arial Black" pitchFamily="34" charset="0"/>
      <p:bold r:id="rId24"/>
    </p:embeddedFont>
    <p:embeddedFont>
      <p:font typeface="Verdana" pitchFamily="34" charset="0"/>
      <p:regular r:id="rId25"/>
      <p:bold r:id="rId26"/>
      <p:italic r:id="rId27"/>
      <p:boldItalic r:id="rId28"/>
    </p:embeddedFont>
    <p:embeddedFont>
      <p:font typeface="Calibri" pitchFamily="34" charset="0"/>
      <p:regular r:id="rId29"/>
      <p:bold r:id="rId30"/>
      <p:italic r:id="rId31"/>
      <p:boldItalic r:id="rId32"/>
    </p:embeddedFont>
    <p:embeddedFont>
      <p:font typeface="Century Gothic" pitchFamily="34"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4E5F"/>
    <a:srgbClr val="276C46"/>
    <a:srgbClr val="C9DF6F"/>
    <a:srgbClr val="417DBF"/>
    <a:srgbClr val="3F2A67"/>
    <a:srgbClr val="26B7D4"/>
    <a:srgbClr val="54B5D1"/>
    <a:srgbClr val="33BEA6"/>
    <a:srgbClr val="2DA48F"/>
    <a:srgbClr val="52B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0561" autoAdjust="0"/>
    <p:restoredTop sz="94659"/>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8714072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59220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9903658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19972843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2334059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511967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5943463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5667343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3348205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0490906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096816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856583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7427542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6849683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5.tiff"/><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https://lh6.googleusercontent.com/UjqrhMoPiom4LQGqffZI7XaLaT1DKh9rLm2cIEO_EKF87buIYs3CKa6ERDx3o7bM5CNOmTY9ZRAL22eLDhgEsshHLZE_6d0AFNeG-sB402OSVy3y8FO8ck2ii_JZTRWMFokpYQ"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7" name="Google Shape;261;g104476d1465_0_0"/>
          <p:cNvSpPr txBox="1">
            <a:spLocks/>
          </p:cNvSpPr>
          <p:nvPr/>
        </p:nvSpPr>
        <p:spPr>
          <a:xfrm>
            <a:off x="5328496" y="2054275"/>
            <a:ext cx="5753842"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3800" b="1" dirty="0">
                <a:solidFill>
                  <a:srgbClr val="417DBF"/>
                </a:solidFill>
                <a:latin typeface="Verdana"/>
                <a:ea typeface="Verdana"/>
                <a:cs typeface="Verdana"/>
                <a:sym typeface="Verdana"/>
              </a:rPr>
              <a:t>8</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Pre-Algebra</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6, Lesson 7</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Applying Similar Triangles to Solve Real-World Problems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1, pg. 274</a:t>
            </a:r>
          </a:p>
          <a:p>
            <a:pPr algn="ctr">
              <a:lnSpc>
                <a:spcPct val="100000"/>
              </a:lnSpc>
              <a:buClr>
                <a:srgbClr val="000000"/>
              </a:buClr>
            </a:pPr>
            <a:endParaRPr lang="en-US" sz="3600" b="1" dirty="0">
              <a:solidFill>
                <a:srgbClr val="417DBF"/>
              </a:solidFill>
              <a:latin typeface="Verdana"/>
              <a:ea typeface="Verdana"/>
              <a:cs typeface="Verdana"/>
              <a:sym typeface="Verdana"/>
            </a:endParaRPr>
          </a:p>
        </p:txBody>
      </p:sp>
      <p:pic>
        <p:nvPicPr>
          <p:cNvPr id="8" name="Picture 7" descr="Logo&#10;&#10;Description automatically generated">
            <a:extLst>
              <a:ext uri="{FF2B5EF4-FFF2-40B4-BE49-F238E27FC236}">
                <a16:creationId xmlns="" xmlns:a16="http://schemas.microsoft.com/office/drawing/2014/main" id="{2EEE98C1-FB4E-994A-82F1-A89135A82A7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1782947"/>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0"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1" name="Google Shape;280;g104476d1465_1_17">
            <a:extLst>
              <a:ext uri="{FF2B5EF4-FFF2-40B4-BE49-F238E27FC236}">
                <a16:creationId xmlns="" xmlns:a16="http://schemas.microsoft.com/office/drawing/2014/main" xmlns:a14="http://schemas.microsoft.com/office/drawing/2010/main" xmlns:mc="http://schemas.openxmlformats.org/markup-compatibility/2006"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MA.8.GR.2.4</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proportional relationships between similar triangles. </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2"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274</a:t>
            </a:r>
          </a:p>
        </p:txBody>
      </p:sp>
      <p:pic>
        <p:nvPicPr>
          <p:cNvPr id="1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274</a:t>
            </a:r>
          </a:p>
        </p:txBody>
      </p:sp>
      <p:pic>
        <p:nvPicPr>
          <p:cNvPr id="10"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Apply mathematics to real-world contexts.</a:t>
            </a:r>
          </a:p>
        </p:txBody>
      </p:sp>
      <p:sp>
        <p:nvSpPr>
          <p:cNvPr id="15"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274</a:t>
            </a: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5"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ct val="100000"/>
              <a:buFont typeface="Verdana"/>
              <a:buChar char="❏"/>
            </a:pPr>
            <a:r>
              <a:rPr lang="en-US" sz="3600" dirty="0">
                <a:latin typeface="Verdana" panose="020B0604030504040204" pitchFamily="34" charset="0"/>
                <a:ea typeface="Verdana" panose="020B0604030504040204" pitchFamily="34" charset="0"/>
                <a:cs typeface="Verdana" panose="020B0604030504040204" pitchFamily="34" charset="0"/>
              </a:rPr>
              <a:t>I can apply similar triangles to solve </a:t>
            </a:r>
            <a:r>
              <a:rPr lang="en-US" sz="3600" dirty="0" smtClean="0">
                <a:latin typeface="Verdana" panose="020B0604030504040204" pitchFamily="34" charset="0"/>
                <a:ea typeface="Verdana" panose="020B0604030504040204" pitchFamily="34" charset="0"/>
                <a:cs typeface="Verdana" panose="020B0604030504040204" pitchFamily="34" charset="0"/>
              </a:rPr>
              <a:t/>
            </a:r>
            <a:br>
              <a:rPr lang="en-US" sz="3600" dirty="0" smtClean="0">
                <a:latin typeface="Verdana" panose="020B0604030504040204" pitchFamily="34" charset="0"/>
                <a:ea typeface="Verdana" panose="020B0604030504040204" pitchFamily="34" charset="0"/>
                <a:cs typeface="Verdana" panose="020B0604030504040204" pitchFamily="34" charset="0"/>
              </a:rPr>
            </a:br>
            <a:r>
              <a:rPr lang="en-US" sz="3600" dirty="0" smtClean="0">
                <a:latin typeface="Verdana" panose="020B0604030504040204" pitchFamily="34" charset="0"/>
                <a:ea typeface="Verdana" panose="020B0604030504040204" pitchFamily="34" charset="0"/>
                <a:cs typeface="Verdana" panose="020B0604030504040204" pitchFamily="34" charset="0"/>
              </a:rPr>
              <a:t>real-world </a:t>
            </a:r>
            <a:r>
              <a:rPr lang="en-US" sz="3600" dirty="0">
                <a:latin typeface="Verdana" panose="020B0604030504040204" pitchFamily="34" charset="0"/>
                <a:ea typeface="Verdana" panose="020B0604030504040204" pitchFamily="34" charset="0"/>
                <a:cs typeface="Verdana" panose="020B0604030504040204" pitchFamily="34" charset="0"/>
              </a:rPr>
              <a:t>problems. </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275</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5" name="Picture 4" descr="Table&#10;&#10;Description automatically generated">
            <a:extLst>
              <a:ext uri="{FF2B5EF4-FFF2-40B4-BE49-F238E27FC236}">
                <a16:creationId xmlns:a16="http://schemas.microsoft.com/office/drawing/2014/main" xmlns="" id="{E49BAED3-43AD-3A4E-854A-845D04307C7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43019" y="2310954"/>
            <a:ext cx="5790750" cy="3535405"/>
          </a:xfrm>
          <a:prstGeom prst="rect">
            <a:avLst/>
          </a:prstGeom>
        </p:spPr>
      </p:pic>
      <p:sp>
        <p:nvSpPr>
          <p:cNvPr id="10"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275</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303389"/>
            <a:ext cx="10834000"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6.7.1 Warm-Up: Crack the Code</a:t>
            </a:r>
          </a:p>
        </p:txBody>
      </p:sp>
      <p:pic>
        <p:nvPicPr>
          <p:cNvPr id="14"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5">
            <a:alphaModFix/>
          </a:blip>
          <a:stretch>
            <a:fillRect/>
          </a:stretch>
        </p:blipFill>
        <p:spPr>
          <a:xfrm>
            <a:off x="305350" y="197484"/>
            <a:ext cx="747300" cy="747300"/>
          </a:xfrm>
          <a:prstGeom prst="rect">
            <a:avLst/>
          </a:prstGeom>
          <a:noFill/>
          <a:ln>
            <a:noFill/>
          </a:ln>
          <a:effectLst>
            <a:outerShdw blurRad="50800" dist="38100" dir="2700000" algn="tl" rotWithShape="0">
              <a:prstClr val="black">
                <a:alpha val="40000"/>
              </a:prstClr>
            </a:outerShdw>
          </a:effectLst>
        </p:spPr>
      </p:pic>
      <p:sp>
        <p:nvSpPr>
          <p:cNvPr id="15" name="TextBox 14">
            <a:extLst>
              <a:ext uri="{FF2B5EF4-FFF2-40B4-BE49-F238E27FC236}">
                <a16:creationId xmlns:mc="http://schemas.openxmlformats.org/markup-compatibility/2006" xmlns:a14="http://schemas.microsoft.com/office/drawing/2010/main" xmlns="" xmlns:a16="http://schemas.microsoft.com/office/drawing/2014/main" id="{E1D7562E-134F-D14B-AF1A-DF40E11EF758}"/>
              </a:ext>
            </a:extLst>
          </p:cNvPr>
          <p:cNvSpPr txBox="1"/>
          <p:nvPr/>
        </p:nvSpPr>
        <p:spPr>
          <a:xfrm>
            <a:off x="738235" y="1266496"/>
            <a:ext cx="10800319"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Feedback is given on four combination attempts to crack the code. Use the feedback on each attempt to crack the code.</a:t>
            </a: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275</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TextBox 9">
            <a:extLst>
              <a:ext uri="{FF2B5EF4-FFF2-40B4-BE49-F238E27FC236}">
                <a16:creationId xmlns:mc="http://schemas.openxmlformats.org/markup-compatibility/2006" xmlns:a14="http://schemas.microsoft.com/office/drawing/2010/main" xmlns:a16="http://schemas.microsoft.com/office/drawing/2014/main" xmlns="" id="{2AA35BC6-D428-FC41-BDE5-6438AB8840FC}"/>
              </a:ext>
            </a:extLst>
          </p:cNvPr>
          <p:cNvSpPr txBox="1"/>
          <p:nvPr/>
        </p:nvSpPr>
        <p:spPr>
          <a:xfrm>
            <a:off x="540564" y="410666"/>
            <a:ext cx="10990547" cy="3416320"/>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the code?</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why your code is correct.</a:t>
            </a:r>
          </a:p>
        </p:txBody>
      </p:sp>
    </p:spTree>
    <p:extLst>
      <p:ext uri="{BB962C8B-B14F-4D97-AF65-F5344CB8AC3E}">
        <p14:creationId xmlns:p14="http://schemas.microsoft.com/office/powerpoint/2010/main" val="3490003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xmlns="" id="{467567E5-BEAF-E24A-A492-D25759172D77}"/>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275</a:t>
            </a: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2" name="Picture 11">
            <a:extLst>
              <a:ext uri="{FF2B5EF4-FFF2-40B4-BE49-F238E27FC236}">
                <a16:creationId xmlns:a16="http://schemas.microsoft.com/office/drawing/2014/main" xmlns="" id="{333E8534-296D-9347-BE84-C00C7CD28177}"/>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r="4359"/>
          <a:stretch/>
        </p:blipFill>
        <p:spPr bwMode="auto">
          <a:xfrm>
            <a:off x="4018487" y="2701236"/>
            <a:ext cx="4546787" cy="3498396"/>
          </a:xfrm>
          <a:prstGeom prst="rect">
            <a:avLst/>
          </a:prstGeom>
          <a:ln>
            <a:noFill/>
          </a:ln>
          <a:extLst>
            <a:ext uri="{53640926-AAD7-44D8-BBD7-CCE9431645EC}">
              <a14:shadowObscured xmlns:a14="http://schemas.microsoft.com/office/drawing/2010/main"/>
            </a:ext>
          </a:ex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275</a:t>
            </a: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167532"/>
            <a:ext cx="10478462" cy="10340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6.7.2 Exploration</a:t>
            </a:r>
            <a:r>
              <a:rPr lang="en-US" sz="3600" b="1" dirty="0">
                <a:solidFill>
                  <a:srgbClr val="33BEA6"/>
                </a:solidFill>
                <a:latin typeface="Verdana"/>
                <a:ea typeface="Verdana"/>
                <a:cs typeface="Verdana"/>
                <a:sym typeface="Verdana"/>
              </a:rPr>
              <a:t>: </a:t>
            </a:r>
            <a:r>
              <a:rPr lang="en-US" sz="3200" b="1" dirty="0">
                <a:solidFill>
                  <a:srgbClr val="33BEA6"/>
                </a:solidFill>
                <a:latin typeface="Verdana"/>
                <a:ea typeface="Verdana"/>
                <a:cs typeface="Verdana"/>
                <a:sym typeface="Verdana"/>
              </a:rPr>
              <a:t>Mirror, Mirror </a:t>
            </a:r>
            <a:r>
              <a:rPr lang="en-US" sz="3200" b="1" dirty="0" smtClean="0">
                <a:solidFill>
                  <a:srgbClr val="33BEA6"/>
                </a:solidFill>
                <a:latin typeface="Verdana"/>
                <a:ea typeface="Verdana"/>
                <a:cs typeface="Verdana"/>
                <a:sym typeface="Verdana"/>
              </a:rPr>
              <a:t/>
            </a:r>
            <a:br>
              <a:rPr lang="en-US" sz="3200" b="1" dirty="0" smtClean="0">
                <a:solidFill>
                  <a:srgbClr val="33BEA6"/>
                </a:solidFill>
                <a:latin typeface="Verdana"/>
                <a:ea typeface="Verdana"/>
                <a:cs typeface="Verdana"/>
                <a:sym typeface="Verdana"/>
              </a:rPr>
            </a:br>
            <a:r>
              <a:rPr lang="en-US" sz="3200" b="1" dirty="0" smtClean="0">
                <a:solidFill>
                  <a:srgbClr val="33BEA6"/>
                </a:solidFill>
                <a:latin typeface="Verdana"/>
                <a:ea typeface="Verdana"/>
                <a:cs typeface="Verdana"/>
                <a:sym typeface="Verdana"/>
              </a:rPr>
              <a:t>on </a:t>
            </a:r>
            <a:r>
              <a:rPr lang="en-US" sz="3200" b="1" dirty="0">
                <a:solidFill>
                  <a:srgbClr val="33BEA6"/>
                </a:solidFill>
                <a:latin typeface="Verdana"/>
                <a:ea typeface="Verdana"/>
                <a:cs typeface="Verdana"/>
                <a:sym typeface="Verdana"/>
              </a:rPr>
              <a:t>the Ground</a:t>
            </a:r>
          </a:p>
        </p:txBody>
      </p:sp>
      <p:pic>
        <p:nvPicPr>
          <p:cNvPr id="15" name="Picture 2" descr="Icon&#10;&#10;Description automatically generated">
            <a:extLst>
              <a:ext uri="{FF2B5EF4-FFF2-40B4-BE49-F238E27FC236}">
                <a16:creationId xmlns=""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296352" y="308450"/>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xmlns="" id="{152D1D4D-DCB8-A246-B186-D40316579D77}"/>
              </a:ext>
            </a:extLst>
          </p:cNvPr>
          <p:cNvSpPr txBox="1"/>
          <p:nvPr/>
        </p:nvSpPr>
        <p:spPr>
          <a:xfrm>
            <a:off x="856978" y="1386025"/>
            <a:ext cx="10319021" cy="101566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If an object is visible in a mirror positioned on the ground, then the measures of the angles of reflection from the eye to the mirror, and the mirror to the object are equal and similar triangles are created.</a:t>
            </a:r>
          </a:p>
        </p:txBody>
      </p:sp>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275</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9" name="TextBox 8">
                <a:extLst>
                  <a:ext uri="{FF2B5EF4-FFF2-40B4-BE49-F238E27FC236}">
                    <a16:creationId xmlns="" xmlns:a16="http://schemas.microsoft.com/office/drawing/2014/main" id="{2AA35BC6-D428-FC41-BDE5-6438AB8840FC}"/>
                  </a:ext>
                </a:extLst>
              </p:cNvPr>
              <p:cNvSpPr txBox="1"/>
              <p:nvPr/>
            </p:nvSpPr>
            <p:spPr>
              <a:xfrm>
                <a:off x="540564" y="410666"/>
                <a:ext cx="10990547" cy="3785652"/>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In this Exploration, use a mirror and similar triangles to estimate the height of objects.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Materials required: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yardstick per group</a:t>
                </a:r>
              </a:p>
              <a:p>
                <a:pPr indent="3648075"/>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mirror per group</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With your partner, determine who is Partner A and who is </a:t>
                </a:r>
                <a:r>
                  <a:rPr lang="en-US" sz="2400" dirty="0" smtClean="0">
                    <a:latin typeface="Verdana" panose="020B0604030504040204" pitchFamily="34" charset="0"/>
                    <a:ea typeface="Verdana" panose="020B0604030504040204" pitchFamily="34" charset="0"/>
                    <a:cs typeface="Verdana" panose="020B0604030504040204" pitchFamily="34" charset="0"/>
                  </a:rPr>
                  <a:t/>
                </a:r>
                <a:br>
                  <a:rPr lang="en-US" sz="2400" dirty="0" smtClean="0">
                    <a:latin typeface="Verdana" panose="020B0604030504040204" pitchFamily="34" charset="0"/>
                    <a:ea typeface="Verdana" panose="020B0604030504040204" pitchFamily="34" charset="0"/>
                    <a:cs typeface="Verdana" panose="020B0604030504040204" pitchFamily="34" charset="0"/>
                  </a:rPr>
                </a:br>
                <a:r>
                  <a:rPr lang="en-US" sz="2400" dirty="0" smtClean="0">
                    <a:latin typeface="Verdana" panose="020B0604030504040204" pitchFamily="34" charset="0"/>
                    <a:ea typeface="Verdana" panose="020B0604030504040204" pitchFamily="34" charset="0"/>
                    <a:cs typeface="Verdana" panose="020B0604030504040204" pitchFamily="34" charset="0"/>
                  </a:rPr>
                  <a:t>Partner </a:t>
                </a:r>
                <a:r>
                  <a:rPr lang="en-US" sz="2400" dirty="0">
                    <a:latin typeface="Verdana" panose="020B0604030504040204" pitchFamily="34" charset="0"/>
                    <a:ea typeface="Verdana" panose="020B0604030504040204" pitchFamily="34" charset="0"/>
                    <a:cs typeface="Verdana" panose="020B0604030504040204" pitchFamily="34" charset="0"/>
                  </a:rPr>
                  <a:t>B. Then, work together to follow the steps.</a:t>
                </a:r>
              </a:p>
            </p:txBody>
          </p:sp>
        </mc:Choice>
        <mc:Fallback xmlns="">
          <p:sp>
            <p:nvSpPr>
              <p:cNvPr id="9" name="TextBox 8">
                <a:extLst>
                  <a:ext uri="{FF2B5EF4-FFF2-40B4-BE49-F238E27FC236}">
                    <a16:creationId xmlns:a16="http://schemas.microsoft.com/office/drawing/2014/main" xmlns=""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4" y="410666"/>
                <a:ext cx="10990547" cy="3785652"/>
              </a:xfrm>
              <a:prstGeom prst="rect">
                <a:avLst/>
              </a:prstGeom>
              <a:blipFill rotWithShape="1">
                <a:blip r:embed="rId4"/>
                <a:stretch>
                  <a:fillRect l="-887" t="-1288" r="-111" b="-2738"/>
                </a:stretch>
              </a:blipFill>
            </p:spPr>
            <p:txBody>
              <a:bodyPr/>
              <a:lstStyle/>
              <a:p>
                <a:r>
                  <a:rPr lang="en-US">
                    <a:noFill/>
                  </a:rPr>
                  <a:t> </a:t>
                </a:r>
              </a:p>
            </p:txBody>
          </p:sp>
        </mc:Fallback>
      </mc:AlternateContent>
    </p:spTree>
    <p:extLst>
      <p:ext uri="{BB962C8B-B14F-4D97-AF65-F5344CB8AC3E}">
        <p14:creationId xmlns:p14="http://schemas.microsoft.com/office/powerpoint/2010/main" val="155251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276</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3785652"/>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cs typeface="Verdana" panose="020B0604030504040204" pitchFamily="34" charset="0"/>
              </a:rPr>
              <a:t>Step 1: </a:t>
            </a:r>
            <a:r>
              <a:rPr lang="en-US" sz="2400" dirty="0">
                <a:latin typeface="Verdana" panose="020B0604030504040204" pitchFamily="34" charset="0"/>
                <a:ea typeface="Verdana" panose="020B0604030504040204" pitchFamily="34" charset="0"/>
                <a:cs typeface="Verdana" panose="020B0604030504040204" pitchFamily="34" charset="0"/>
              </a:rPr>
              <a:t>Partner B measures the distance from the floor to Partner A’s eyes. Label the above diagram with the measurement.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algn="ctr"/>
            <a:r>
              <a:rPr lang="en-US" sz="2400" dirty="0">
                <a:latin typeface="Verdana" panose="020B0604030504040204" pitchFamily="34" charset="0"/>
                <a:ea typeface="Verdana" panose="020B0604030504040204" pitchFamily="34" charset="0"/>
                <a:cs typeface="Verdana" panose="020B0604030504040204" pitchFamily="34" charset="0"/>
              </a:rPr>
              <a:t>Height of eye level: _____________ inches</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b="1" dirty="0">
                <a:latin typeface="Verdana" panose="020B0604030504040204" pitchFamily="34" charset="0"/>
                <a:ea typeface="Verdana" panose="020B0604030504040204" pitchFamily="34" charset="0"/>
                <a:cs typeface="Verdana" panose="020B0604030504040204" pitchFamily="34" charset="0"/>
              </a:rPr>
              <a:t>Step 2: </a:t>
            </a:r>
            <a:r>
              <a:rPr lang="en-US" sz="2400" dirty="0">
                <a:latin typeface="Verdana" panose="020B0604030504040204" pitchFamily="34" charset="0"/>
                <a:ea typeface="Verdana" panose="020B0604030504040204" pitchFamily="34" charset="0"/>
                <a:cs typeface="Verdana" panose="020B0604030504040204" pitchFamily="34" charset="0"/>
              </a:rPr>
              <a:t>Partner A places the mirror on the floor between themselves and the object to be measured, then measures the distance from the base of the object to the center of the mirror. Label the measurement on the diagram.</a:t>
            </a:r>
          </a:p>
        </p:txBody>
      </p:sp>
    </p:spTree>
    <p:extLst>
      <p:ext uri="{BB962C8B-B14F-4D97-AF65-F5344CB8AC3E}">
        <p14:creationId xmlns:p14="http://schemas.microsoft.com/office/powerpoint/2010/main" val="71590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276</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4893647"/>
          </a:xfrm>
          <a:prstGeom prst="rect">
            <a:avLst/>
          </a:prstGeom>
          <a:noFill/>
        </p:spPr>
        <p:txBody>
          <a:bodyPr wrap="square" rtlCol="0">
            <a:spAutoFit/>
          </a:bodyPr>
          <a:lstStyle/>
          <a:p>
            <a:r>
              <a:rPr lang="en-US" sz="2400" b="1" dirty="0">
                <a:latin typeface="Verdana" panose="020B0604030504040204" pitchFamily="34" charset="0"/>
                <a:ea typeface="Verdana" panose="020B0604030504040204" pitchFamily="34" charset="0"/>
                <a:cs typeface="Verdana" panose="020B0604030504040204" pitchFamily="34" charset="0"/>
              </a:rPr>
              <a:t>Step 3: </a:t>
            </a:r>
            <a:r>
              <a:rPr lang="en-US" sz="2400" dirty="0">
                <a:latin typeface="Verdana" panose="020B0604030504040204" pitchFamily="34" charset="0"/>
                <a:ea typeface="Verdana" panose="020B0604030504040204" pitchFamily="34" charset="0"/>
                <a:cs typeface="Verdana" panose="020B0604030504040204" pitchFamily="34" charset="0"/>
              </a:rPr>
              <a:t>Partner A starts at the mirror and walks backwards from the mirror and the object, stopping when the top of the object can be seen in the middle of the mirror.</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b="1" dirty="0">
                <a:latin typeface="Verdana" panose="020B0604030504040204" pitchFamily="34" charset="0"/>
                <a:ea typeface="Verdana" panose="020B0604030504040204" pitchFamily="34" charset="0"/>
                <a:cs typeface="Verdana" panose="020B0604030504040204" pitchFamily="34" charset="0"/>
              </a:rPr>
              <a:t>Step 4: </a:t>
            </a:r>
            <a:r>
              <a:rPr lang="en-US" sz="2400" dirty="0">
                <a:latin typeface="Verdana" panose="020B0604030504040204" pitchFamily="34" charset="0"/>
                <a:ea typeface="Verdana" panose="020B0604030504040204" pitchFamily="34" charset="0"/>
                <a:cs typeface="Verdana" panose="020B0604030504040204" pitchFamily="34" charset="0"/>
              </a:rPr>
              <a:t>Partner A stays in place and Partner B measures the distance from Partner A’s feet to the middle of the mirror. Label the measurement on the diagram.</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b="1" dirty="0">
                <a:latin typeface="Verdana" panose="020B0604030504040204" pitchFamily="34" charset="0"/>
                <a:ea typeface="Verdana" panose="020B0604030504040204" pitchFamily="34" charset="0"/>
                <a:cs typeface="Verdana" panose="020B0604030504040204" pitchFamily="34" charset="0"/>
              </a:rPr>
              <a:t>Step 5: </a:t>
            </a:r>
            <a:r>
              <a:rPr lang="en-US" sz="2400" dirty="0">
                <a:latin typeface="Verdana" panose="020B0604030504040204" pitchFamily="34" charset="0"/>
                <a:ea typeface="Verdana" panose="020B0604030504040204" pitchFamily="34" charset="0"/>
                <a:cs typeface="Verdana" panose="020B0604030504040204" pitchFamily="34" charset="0"/>
              </a:rPr>
              <a:t>Use your knowledge of similar triangles to estimate the height of the object.</a:t>
            </a:r>
          </a:p>
          <a:p>
            <a:r>
              <a:rPr lang="en-US" sz="24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328846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47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a:extLst>
              <a:ext uri="{FF2B5EF4-FFF2-40B4-BE49-F238E27FC236}">
                <a16:creationId xmlns:a16="http://schemas.microsoft.com/office/drawing/2014/main" xmlns="" id="{E9C5F3B0-85B9-1946-818A-0D40A279A3CA}"/>
              </a:ext>
            </a:extLst>
          </p:cNvPr>
          <p:cNvGraphicFramePr>
            <a:graphicFrameLocks noGrp="1"/>
          </p:cNvGraphicFramePr>
          <p:nvPr>
            <p:extLst>
              <p:ext uri="{D42A27DB-BD31-4B8C-83A1-F6EECF244321}">
                <p14:modId xmlns:p14="http://schemas.microsoft.com/office/powerpoint/2010/main" val="4072300856"/>
              </p:ext>
            </p:extLst>
          </p:nvPr>
        </p:nvGraphicFramePr>
        <p:xfrm>
          <a:off x="1110197" y="1391211"/>
          <a:ext cx="7955280" cy="4517961"/>
        </p:xfrm>
        <a:graphic>
          <a:graphicData uri="http://schemas.openxmlformats.org/drawingml/2006/table">
            <a:tbl>
              <a:tblPr>
                <a:tableStyleId>{A91F0D33-8C57-4600-99A7-42BC86742BE1}</a:tableStyleId>
              </a:tblPr>
              <a:tblGrid>
                <a:gridCol w="1097280">
                  <a:extLst>
                    <a:ext uri="{9D8B030D-6E8A-4147-A177-3AD203B41FA5}">
                      <a16:colId xmlns:a16="http://schemas.microsoft.com/office/drawing/2014/main" xmlns="" val="861398194"/>
                    </a:ext>
                  </a:extLst>
                </a:gridCol>
                <a:gridCol w="2011680">
                  <a:extLst>
                    <a:ext uri="{9D8B030D-6E8A-4147-A177-3AD203B41FA5}">
                      <a16:colId xmlns:a16="http://schemas.microsoft.com/office/drawing/2014/main" xmlns="" val="3726496118"/>
                    </a:ext>
                  </a:extLst>
                </a:gridCol>
                <a:gridCol w="1828800">
                  <a:extLst>
                    <a:ext uri="{9D8B030D-6E8A-4147-A177-3AD203B41FA5}">
                      <a16:colId xmlns:a16="http://schemas.microsoft.com/office/drawing/2014/main" xmlns="" val="295352232"/>
                    </a:ext>
                  </a:extLst>
                </a:gridCol>
                <a:gridCol w="3017520">
                  <a:extLst>
                    <a:ext uri="{9D8B030D-6E8A-4147-A177-3AD203B41FA5}">
                      <a16:colId xmlns:a16="http://schemas.microsoft.com/office/drawing/2014/main" xmlns="" val="4052406391"/>
                    </a:ext>
                  </a:extLst>
                </a:gridCol>
              </a:tblGrid>
              <a:tr h="1088961">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Object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from Partner to Mirror</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Distance from Object to Mirror</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Work to Determine Approximate Height</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287440911"/>
                  </a:ext>
                </a:extLst>
              </a:tr>
              <a:tr h="1143000">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20320733"/>
                  </a:ext>
                </a:extLst>
              </a:tr>
              <a:tr h="1143000">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073420026"/>
                  </a:ext>
                </a:extLst>
              </a:tr>
              <a:tr h="1143000">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357473605"/>
                  </a:ext>
                </a:extLst>
              </a:tr>
            </a:tbl>
          </a:graphicData>
        </a:graphic>
      </p:graphicFrame>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276</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AA35BC6-D428-FC41-BDE5-6438AB8840FC}"/>
              </a:ext>
            </a:extLst>
          </p:cNvPr>
          <p:cNvSpPr txBox="1"/>
          <p:nvPr/>
        </p:nvSpPr>
        <p:spPr>
          <a:xfrm>
            <a:off x="540564" y="410666"/>
            <a:ext cx="10990547" cy="70788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Repeat steps 2-5, alternating roles between Partner A and Partner B.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r>
              <a:rPr lang="en-US" sz="2000" dirty="0" smtClean="0">
                <a:latin typeface="Verdana" panose="020B0604030504040204" pitchFamily="34" charset="0"/>
                <a:ea typeface="Verdana" panose="020B0604030504040204" pitchFamily="34" charset="0"/>
                <a:cs typeface="Verdana" panose="020B0604030504040204" pitchFamily="34" charset="0"/>
              </a:rPr>
              <a:t>Record </a:t>
            </a:r>
            <a:r>
              <a:rPr lang="en-US" sz="2000" dirty="0">
                <a:latin typeface="Verdana" panose="020B0604030504040204" pitchFamily="34" charset="0"/>
                <a:ea typeface="Verdana" panose="020B0604030504040204" pitchFamily="34" charset="0"/>
                <a:cs typeface="Verdana" panose="020B0604030504040204" pitchFamily="34" charset="0"/>
              </a:rPr>
              <a:t>your results in the table.</a:t>
            </a:r>
          </a:p>
        </p:txBody>
      </p:sp>
    </p:spTree>
    <p:extLst>
      <p:ext uri="{BB962C8B-B14F-4D97-AF65-F5344CB8AC3E}">
        <p14:creationId xmlns:p14="http://schemas.microsoft.com/office/powerpoint/2010/main" val="4070883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558926"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2049" name="Picture 29" descr="Icon&#10;&#10;Description automatically generated">
            <a:extLst>
              <a:ext uri="{FF2B5EF4-FFF2-40B4-BE49-F238E27FC236}">
                <a16:creationId xmlns:a16="http://schemas.microsoft.com/office/drawing/2014/main" xmlns="" id="{88541238-9131-AC4D-A4B9-A09D42506215}"/>
              </a:ext>
            </a:extLst>
          </p:cNvPr>
          <p:cNvPicPr>
            <a:picLocks noChangeAspect="1" noChangeArrowheads="1"/>
          </p:cNvPicPr>
          <p:nvPr/>
        </p:nvPicPr>
        <p:blipFill>
          <a:blip r:embed="rId3" r:link="rId4">
            <a:extLst>
              <a:ext uri="{28A0092B-C50C-407E-A947-70E740481C1C}">
                <a14:useLocalDpi xmlns:a14="http://schemas.microsoft.com/office/drawing/2010/main"/>
              </a:ext>
            </a:extLst>
          </a:blip>
          <a:srcRect/>
          <a:stretch>
            <a:fillRect/>
          </a:stretch>
        </p:blipFill>
        <p:spPr bwMode="auto">
          <a:xfrm>
            <a:off x="4400776" y="2849925"/>
            <a:ext cx="1158150" cy="1158150"/>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277</a:t>
            </a:r>
          </a:p>
        </p:txBody>
      </p:sp>
      <p:pic>
        <p:nvPicPr>
          <p:cNvPr id="8" name="Google Shape;283;g104476d1465_1_17"/>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366014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8292"/>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15" name="Picture 14" descr="A picture containing shape&#10;&#10;Description automatically generated">
            <a:extLst>
              <a:ext uri="{FF2B5EF4-FFF2-40B4-BE49-F238E27FC236}">
                <a16:creationId xmlns:a16="http://schemas.microsoft.com/office/drawing/2014/main" xmlns="" id="{05901D42-D193-A54F-9491-CBB30BAF118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283867" y="3318786"/>
            <a:ext cx="5594220" cy="2880846"/>
          </a:xfrm>
          <a:prstGeom prst="rect">
            <a:avLst/>
          </a:prstGeom>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277</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3916" y="201168"/>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E24E5F"/>
                </a:solidFill>
                <a:latin typeface="Verdana"/>
                <a:ea typeface="Verdana"/>
                <a:cs typeface="Verdana"/>
                <a:sym typeface="Verdana"/>
              </a:rPr>
              <a:t>6.7.3 Your Turn!</a:t>
            </a:r>
          </a:p>
        </p:txBody>
      </p:sp>
      <p:pic>
        <p:nvPicPr>
          <p:cNvPr id="13" name="Google Shape;430;g103996e1364_0_428">
            <a:extLst>
              <a:ext uri="{FF2B5EF4-FFF2-40B4-BE49-F238E27FC236}">
                <a16:creationId xmlns="" xmlns:a16="http://schemas.microsoft.com/office/drawing/2014/main" id="{032D5487-B5A9-DE4B-AE87-33198BE16145}"/>
              </a:ext>
            </a:extLst>
          </p:cNvPr>
          <p:cNvPicPr preferRelativeResize="0"/>
          <p:nvPr/>
        </p:nvPicPr>
        <p:blipFill rotWithShape="1">
          <a:blip r:embed="rId5">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759C3E41-93EC-B84D-963F-86A3B15AC1C6}"/>
                  </a:ext>
                </a:extLst>
              </p:cNvPr>
              <p:cNvSpPr txBox="1"/>
              <p:nvPr/>
            </p:nvSpPr>
            <p:spPr>
              <a:xfrm>
                <a:off x="631371" y="1386026"/>
                <a:ext cx="10899213" cy="163121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Mrs. Robinson assigned her class a project to find the height of a flagpole. The students could not measure the height, so they used a mirror to determine the height of the flagpole. </a:t>
                </a:r>
                <a:r>
                  <a:rPr lang="en-US" sz="2000" dirty="0" err="1">
                    <a:latin typeface="Verdana" panose="020B0604030504040204" pitchFamily="34" charset="0"/>
                    <a:ea typeface="Verdana" panose="020B0604030504040204" pitchFamily="34" charset="0"/>
                    <a:cs typeface="Verdana" panose="020B0604030504040204" pitchFamily="34" charset="0"/>
                  </a:rPr>
                  <a:t>Tayveon</a:t>
                </a:r>
                <a:r>
                  <a:rPr lang="en-US" sz="2000" dirty="0">
                    <a:latin typeface="Verdana" panose="020B0604030504040204" pitchFamily="34" charset="0"/>
                    <a:ea typeface="Verdana" panose="020B0604030504040204" pitchFamily="34" charset="0"/>
                    <a:cs typeface="Verdana" panose="020B0604030504040204" pitchFamily="34" charset="0"/>
                  </a:rPr>
                  <a:t> placed a mirror on the ground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21</m:t>
                    </m:r>
                  </m:oMath>
                </a14:m>
                <a:r>
                  <a:rPr lang="en-US" sz="2000" dirty="0">
                    <a:latin typeface="Verdana" panose="020B0604030504040204" pitchFamily="34" charset="0"/>
                    <a:ea typeface="Verdana" panose="020B0604030504040204" pitchFamily="34" charset="0"/>
                    <a:cs typeface="Verdana" panose="020B0604030504040204" pitchFamily="34" charset="0"/>
                  </a:rPr>
                  <a:t> feet (ft.) from the base of the flagpole and backed up until the top of the pole was centered in the mirror.</a:t>
                </a:r>
              </a:p>
            </p:txBody>
          </p:sp>
        </mc:Choice>
        <mc:Fallback xmlns="">
          <p:sp>
            <p:nvSpPr>
              <p:cNvPr id="14" name="TextBox 13">
                <a:extLst>
                  <a:ext uri="{FF2B5EF4-FFF2-40B4-BE49-F238E27FC236}">
                    <a16:creationId xmlns:a14="http://schemas.microsoft.com/office/drawing/2010/main" xmlns:a16="http://schemas.microsoft.com/office/drawing/2014/main" xmlns="" id="{759C3E41-93EC-B84D-963F-86A3B15AC1C6}"/>
                  </a:ext>
                </a:extLst>
              </p:cNvPr>
              <p:cNvSpPr txBox="1">
                <a:spLocks noRot="1" noChangeAspect="1" noMove="1" noResize="1" noEditPoints="1" noAdjustHandles="1" noChangeArrowheads="1" noChangeShapeType="1" noTextEdit="1"/>
              </p:cNvSpPr>
              <p:nvPr/>
            </p:nvSpPr>
            <p:spPr>
              <a:xfrm>
                <a:off x="631371" y="1386026"/>
                <a:ext cx="10899213" cy="1631216"/>
              </a:xfrm>
              <a:prstGeom prst="rect">
                <a:avLst/>
              </a:prstGeom>
              <a:blipFill rotWithShape="1">
                <a:blip r:embed="rId6"/>
                <a:stretch>
                  <a:fillRect l="-615" t="-2239" r="-671" b="-5597"/>
                </a:stretch>
              </a:blipFill>
            </p:spPr>
            <p:txBody>
              <a:bodyPr/>
              <a:lstStyle/>
              <a:p>
                <a:r>
                  <a:rPr lang="en-US">
                    <a:noFill/>
                  </a:rPr>
                  <a:t> </a:t>
                </a:r>
              </a:p>
            </p:txBody>
          </p:sp>
        </mc:Fallback>
      </mc:AlternateContent>
    </p:spTree>
    <p:extLst>
      <p:ext uri="{BB962C8B-B14F-4D97-AF65-F5344CB8AC3E}">
        <p14:creationId xmlns:p14="http://schemas.microsoft.com/office/powerpoint/2010/main" val="28852561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277</a:t>
            </a: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xmlns="" id="{2AA35BC6-D428-FC41-BDE5-6438AB8840FC}"/>
                  </a:ext>
                </a:extLst>
              </p:cNvPr>
              <p:cNvSpPr txBox="1"/>
              <p:nvPr/>
            </p:nvSpPr>
            <p:spPr>
              <a:xfrm>
                <a:off x="540565" y="410666"/>
                <a:ext cx="10990020" cy="3046988"/>
              </a:xfrm>
              <a:prstGeom prst="rect">
                <a:avLst/>
              </a:prstGeom>
              <a:noFill/>
            </p:spPr>
            <p:txBody>
              <a:bodyPr wrap="square" rtlCol="0">
                <a:spAutoFit/>
              </a:bodyPr>
              <a:lstStyle/>
              <a:p>
                <a:pPr marL="914400" indent="-457200"/>
                <a:r>
                  <a:rPr lang="en-US" sz="2400" dirty="0">
                    <a:latin typeface="Verdana" panose="020B0604030504040204" pitchFamily="34" charset="0"/>
                    <a:ea typeface="Verdana" panose="020B0604030504040204" pitchFamily="34" charset="0"/>
                    <a:cs typeface="Verdana" panose="020B0604030504040204" pitchFamily="34" charset="0"/>
                  </a:rPr>
                  <a:t>Tayveon is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5.4</m:t>
                    </m:r>
                  </m:oMath>
                </a14:m>
                <a:r>
                  <a:rPr lang="en-US" sz="2400" dirty="0">
                    <a:latin typeface="Verdana" panose="020B0604030504040204" pitchFamily="34" charset="0"/>
                    <a:ea typeface="Verdana" panose="020B0604030504040204" pitchFamily="34" charset="0"/>
                    <a:cs typeface="Verdana" panose="020B0604030504040204" pitchFamily="34" charset="0"/>
                  </a:rPr>
                  <a:t> ft. tall and is standing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7.2</m:t>
                    </m:r>
                  </m:oMath>
                </a14:m>
                <a:r>
                  <a:rPr lang="en-US" sz="2400" dirty="0">
                    <a:latin typeface="Verdana" panose="020B0604030504040204" pitchFamily="34" charset="0"/>
                    <a:ea typeface="Verdana" panose="020B0604030504040204" pitchFamily="34" charset="0"/>
                    <a:cs typeface="Verdana" panose="020B0604030504040204" pitchFamily="34" charset="0"/>
                  </a:rPr>
                  <a:t> ft. from the mirror</a:t>
                </a:r>
                <a:r>
                  <a:rPr lang="en-US" sz="2400" dirty="0" smtClean="0">
                    <a:latin typeface="Verdana" panose="020B0604030504040204" pitchFamily="34" charset="0"/>
                    <a:ea typeface="Verdana" panose="020B0604030504040204" pitchFamily="34" charset="0"/>
                    <a:cs typeface="Verdana" panose="020B0604030504040204" pitchFamily="34" charset="0"/>
                  </a:rPr>
                  <a:t>.</a:t>
                </a:r>
              </a:p>
              <a:p>
                <a:pPr marL="914400" indent="-457200"/>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smtClean="0">
                    <a:latin typeface="Verdana" panose="020B0604030504040204" pitchFamily="34" charset="0"/>
                    <a:ea typeface="Verdana" panose="020B0604030504040204" pitchFamily="34" charset="0"/>
                    <a:cs typeface="Verdana" panose="020B0604030504040204" pitchFamily="34" charset="0"/>
                  </a:rPr>
                  <a:t>Label </a:t>
                </a:r>
                <a:r>
                  <a:rPr lang="en-US" sz="2400" dirty="0">
                    <a:latin typeface="Verdana" panose="020B0604030504040204" pitchFamily="34" charset="0"/>
                    <a:ea typeface="Verdana" panose="020B0604030504040204" pitchFamily="34" charset="0"/>
                    <a:cs typeface="Verdana" panose="020B0604030504040204" pitchFamily="34" charset="0"/>
                  </a:rPr>
                  <a:t>the diagram with the given </a:t>
                </a:r>
                <a:r>
                  <a:rPr lang="en-US" sz="2400" dirty="0" smtClean="0">
                    <a:latin typeface="Verdana" panose="020B0604030504040204" pitchFamily="34" charset="0"/>
                    <a:ea typeface="Verdana" panose="020B0604030504040204" pitchFamily="34" charset="0"/>
                    <a:cs typeface="Verdana" panose="020B0604030504040204" pitchFamily="34" charset="0"/>
                  </a:rPr>
                  <a:t>measurements.</a:t>
                </a:r>
              </a:p>
              <a:p>
                <a:pPr marL="914400" indent="-457200">
                  <a:buFont typeface="+mj-lt"/>
                  <a:buAutoNum type="alphaL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smtClean="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smtClean="0">
                    <a:latin typeface="Verdana" panose="020B0604030504040204" pitchFamily="34" charset="0"/>
                    <a:ea typeface="Verdana" panose="020B0604030504040204" pitchFamily="34" charset="0"/>
                    <a:cs typeface="Verdana" panose="020B0604030504040204" pitchFamily="34" charset="0"/>
                  </a:rPr>
                  <a:t>How </a:t>
                </a:r>
                <a:r>
                  <a:rPr lang="en-US" sz="2400" dirty="0">
                    <a:latin typeface="Verdana" panose="020B0604030504040204" pitchFamily="34" charset="0"/>
                    <a:ea typeface="Verdana" panose="020B0604030504040204" pitchFamily="34" charset="0"/>
                    <a:cs typeface="Verdana" panose="020B0604030504040204" pitchFamily="34" charset="0"/>
                  </a:rPr>
                  <a:t>tall is the flagpole?</a:t>
                </a:r>
              </a:p>
            </p:txBody>
          </p:sp>
        </mc:Choice>
        <mc:Fallback xmlns="">
          <p:sp>
            <p:nvSpPr>
              <p:cNvPr id="9" name="TextBox 8">
                <a:extLst>
                  <a:ext uri="{FF2B5EF4-FFF2-40B4-BE49-F238E27FC236}">
                    <a16:creationId xmlns="" xmlns:a16="http://schemas.microsoft.com/office/drawing/2014/main"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20" cy="3046988"/>
              </a:xfrm>
              <a:prstGeom prst="rect">
                <a:avLst/>
              </a:prstGeom>
              <a:blipFill rotWithShape="1">
                <a:blip r:embed="rId4"/>
                <a:stretch>
                  <a:fillRect t="-1800" b="-3600"/>
                </a:stretch>
              </a:blipFill>
            </p:spPr>
            <p:txBody>
              <a:bodyPr/>
              <a:lstStyle/>
              <a:p>
                <a:r>
                  <a:rPr lang="en-US">
                    <a:noFill/>
                  </a:rPr>
                  <a:t> </a:t>
                </a:r>
              </a:p>
            </p:txBody>
          </p:sp>
        </mc:Fallback>
      </mc:AlternateContent>
    </p:spTree>
    <p:extLst>
      <p:ext uri="{BB962C8B-B14F-4D97-AF65-F5344CB8AC3E}">
        <p14:creationId xmlns:p14="http://schemas.microsoft.com/office/powerpoint/2010/main" val="188238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smtClean="0">
                <a:latin typeface="Calibri"/>
                <a:ea typeface="Calibri"/>
                <a:cs typeface="Calibri"/>
                <a:sym typeface="Calibri"/>
              </a:rPr>
              <a:t>277</a:t>
            </a:r>
          </a:p>
        </p:txBody>
      </p:sp>
      <p:pic>
        <p:nvPicPr>
          <p:cNvPr id="7"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2AA35BC6-D428-FC41-BDE5-6438AB8840FC}"/>
                  </a:ext>
                </a:extLst>
              </p:cNvPr>
              <p:cNvSpPr txBox="1"/>
              <p:nvPr/>
            </p:nvSpPr>
            <p:spPr>
              <a:xfrm>
                <a:off x="540565" y="410666"/>
                <a:ext cx="10990020" cy="4220899"/>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rock climber wants to know the height of a cliff. She places a mirror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19.55</m:t>
                    </m:r>
                  </m:oMath>
                </a14:m>
                <a:r>
                  <a:rPr lang="en-US" sz="2000" dirty="0">
                    <a:latin typeface="Verdana" panose="020B0604030504040204" pitchFamily="34" charset="0"/>
                    <a:ea typeface="Verdana" panose="020B0604030504040204" pitchFamily="34" charset="0"/>
                    <a:cs typeface="Verdana" panose="020B0604030504040204" pitchFamily="34" charset="0"/>
                  </a:rPr>
                  <a:t> feet (ft.) from the base of the cliff, then backs up from the mirror until she can see the top of the cliff in the center of the mirror. At that point, her eye level is </a:t>
                </a:r>
                <a:r>
                  <a:rPr lang="en-US" sz="2000" dirty="0" smtClean="0">
                    <a:latin typeface="Verdana" panose="020B0604030504040204" pitchFamily="34" charset="0"/>
                    <a:ea typeface="Verdana" panose="020B0604030504040204" pitchFamily="34" charset="0"/>
                    <a:cs typeface="Verdana" panose="020B0604030504040204" pitchFamily="34" charset="0"/>
                  </a:rPr>
                  <a:t/>
                </a:r>
                <a:br>
                  <a:rPr lang="en-US" sz="2000" dirty="0" smtClean="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6.2</m:t>
                    </m:r>
                  </m:oMath>
                </a14:m>
                <a:r>
                  <a:rPr lang="en-US" sz="2000" dirty="0">
                    <a:latin typeface="Verdana" panose="020B0604030504040204" pitchFamily="34" charset="0"/>
                    <a:ea typeface="Verdana" panose="020B0604030504040204" pitchFamily="34" charset="0"/>
                    <a:cs typeface="Verdana" panose="020B0604030504040204" pitchFamily="34" charset="0"/>
                  </a:rPr>
                  <a:t> ft. above the ground and she is standing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5 </m:t>
                    </m:r>
                    <m:f>
                      <m:fPr>
                        <m:ctrlPr>
                          <a:rPr lang="en-US" sz="2000" i="1" dirty="0">
                            <a:latin typeface="Cambria Math"/>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ft. from the mirror.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Draw and label a diagram that represents this situation.</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Find the height of the cliff to the nearest tenth of a foot. </a:t>
                </a:r>
              </a:p>
            </p:txBody>
          </p:sp>
        </mc:Choice>
        <mc:Fallback xmlns="">
          <p:sp>
            <p:nvSpPr>
              <p:cNvPr id="8" name="TextBox 7">
                <a:extLst>
                  <a:ext uri="{FF2B5EF4-FFF2-40B4-BE49-F238E27FC236}">
                    <a16:creationId xmlns="" xmlns:a16="http://schemas.microsoft.com/office/drawing/2014/main" xmlns:a14="http://schemas.microsoft.com/office/drawing/2010/main" id="{2AA35BC6-D428-FC41-BDE5-6438AB8840FC}"/>
                  </a:ext>
                </a:extLst>
              </p:cNvPr>
              <p:cNvSpPr txBox="1">
                <a:spLocks noRot="1" noChangeAspect="1" noMove="1" noResize="1" noEditPoints="1" noAdjustHandles="1" noChangeArrowheads="1" noChangeShapeType="1" noTextEdit="1"/>
              </p:cNvSpPr>
              <p:nvPr/>
            </p:nvSpPr>
            <p:spPr>
              <a:xfrm>
                <a:off x="540565" y="410666"/>
                <a:ext cx="10990020" cy="4220899"/>
              </a:xfrm>
              <a:prstGeom prst="rect">
                <a:avLst/>
              </a:prstGeom>
              <a:blipFill rotWithShape="1">
                <a:blip r:embed="rId4"/>
                <a:stretch>
                  <a:fillRect l="-610" t="-866" r="-333" b="-1587"/>
                </a:stretch>
              </a:blipFill>
            </p:spPr>
            <p:txBody>
              <a:bodyPr/>
              <a:lstStyle/>
              <a:p>
                <a:r>
                  <a:rPr lang="en-US">
                    <a:noFill/>
                  </a:rPr>
                  <a:t> </a:t>
                </a:r>
              </a:p>
            </p:txBody>
          </p:sp>
        </mc:Fallback>
      </mc:AlternateContent>
    </p:spTree>
    <p:extLst>
      <p:ext uri="{BB962C8B-B14F-4D97-AF65-F5344CB8AC3E}">
        <p14:creationId xmlns:p14="http://schemas.microsoft.com/office/powerpoint/2010/main" val="16311621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278</a:t>
            </a: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1"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278</a:t>
            </a:r>
          </a:p>
        </p:txBody>
      </p:sp>
      <p:pic>
        <p:nvPicPr>
          <p:cNvPr id="1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6.7.4 Wrap-Up: Reflection</a:t>
            </a:r>
          </a:p>
        </p:txBody>
      </p:sp>
      <p:pic>
        <p:nvPicPr>
          <p:cNvPr id="14" name="Google Shape;469;p34"/>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15" name="TextBox 14">
            <a:extLst>
              <a:ext uri="{FF2B5EF4-FFF2-40B4-BE49-F238E27FC236}">
                <a16:creationId xmlns:mc="http://schemas.openxmlformats.org/markup-compatibility/2006" xmlns:a14="http://schemas.microsoft.com/office/drawing/2010/main" xmlns="" xmlns:a16="http://schemas.microsoft.com/office/drawing/2014/main" id="{0370EDB7-6994-3D43-ABF9-E04CBAFB9CD9}"/>
              </a:ext>
            </a:extLst>
          </p:cNvPr>
          <p:cNvSpPr txBox="1"/>
          <p:nvPr/>
        </p:nvSpPr>
        <p:spPr>
          <a:xfrm>
            <a:off x="593248" y="1385906"/>
            <a:ext cx="10937336"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In this unit, there were three benchmarks. For each of the benchmarks, write one thing you feel confident you know and one thing you are still unsure about.</a:t>
            </a:r>
          </a:p>
        </p:txBody>
      </p:sp>
      <p:graphicFrame>
        <p:nvGraphicFramePr>
          <p:cNvPr id="16" name="Table 15">
            <a:extLst>
              <a:ext uri="{FF2B5EF4-FFF2-40B4-BE49-F238E27FC236}">
                <a16:creationId xmlns:a16="http://schemas.microsoft.com/office/drawing/2014/main" xmlns="" id="{267DCF15-25AC-0445-8169-0DDD45887BA2}"/>
              </a:ext>
            </a:extLst>
          </p:cNvPr>
          <p:cNvGraphicFramePr>
            <a:graphicFrameLocks noGrp="1"/>
          </p:cNvGraphicFramePr>
          <p:nvPr>
            <p:extLst>
              <p:ext uri="{D42A27DB-BD31-4B8C-83A1-F6EECF244321}">
                <p14:modId xmlns:p14="http://schemas.microsoft.com/office/powerpoint/2010/main" val="3694464621"/>
              </p:ext>
            </p:extLst>
          </p:nvPr>
        </p:nvGraphicFramePr>
        <p:xfrm>
          <a:off x="2200274" y="2449016"/>
          <a:ext cx="8229600" cy="2682240"/>
        </p:xfrm>
        <a:graphic>
          <a:graphicData uri="http://schemas.openxmlformats.org/drawingml/2006/table">
            <a:tbl>
              <a:tblPr>
                <a:tableStyleId>{A91F0D33-8C57-4600-99A7-42BC86742BE1}</a:tableStyleId>
              </a:tblPr>
              <a:tblGrid>
                <a:gridCol w="3474720">
                  <a:extLst>
                    <a:ext uri="{9D8B030D-6E8A-4147-A177-3AD203B41FA5}">
                      <a16:colId xmlns:a16="http://schemas.microsoft.com/office/drawing/2014/main" xmlns="" val="847677316"/>
                    </a:ext>
                  </a:extLst>
                </a:gridCol>
                <a:gridCol w="2377440">
                  <a:extLst>
                    <a:ext uri="{9D8B030D-6E8A-4147-A177-3AD203B41FA5}">
                      <a16:colId xmlns:a16="http://schemas.microsoft.com/office/drawing/2014/main" xmlns="" val="3445086876"/>
                    </a:ext>
                  </a:extLst>
                </a:gridCol>
                <a:gridCol w="2377440">
                  <a:extLst>
                    <a:ext uri="{9D8B030D-6E8A-4147-A177-3AD203B41FA5}">
                      <a16:colId xmlns:a16="http://schemas.microsoft.com/office/drawing/2014/main" xmlns="" val="1444640133"/>
                    </a:ext>
                  </a:extLst>
                </a:gridCol>
              </a:tblGrid>
              <a:tr h="1371600">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Benchmark</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thing I am confident I know is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thing I am still unsure about is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588716977"/>
                  </a:ext>
                </a:extLst>
              </a:tr>
              <a:tr h="914400">
                <a:tc>
                  <a:txBody>
                    <a:bodyPr/>
                    <a:lstStyle/>
                    <a:p>
                      <a:pPr marL="0" marR="0">
                        <a:spcBef>
                          <a:spcPts val="0"/>
                        </a:spcBef>
                        <a:spcAft>
                          <a:spcPts val="0"/>
                        </a:spcAft>
                      </a:pPr>
                      <a:r>
                        <a:rPr lang="en-US" sz="2000" dirty="0" smtClean="0">
                          <a:effectLst/>
                          <a:latin typeface="Verdana" panose="020B0604030504040204" pitchFamily="34" charset="0"/>
                          <a:ea typeface="Verdana" panose="020B0604030504040204" pitchFamily="34" charset="0"/>
                          <a:cs typeface="Verdana" panose="020B0604030504040204" pitchFamily="34" charset="0"/>
                        </a:rPr>
                        <a:t>MA.8.AR.3.1</a:t>
                      </a:r>
                      <a:endParaRPr lang="x-none" sz="2000" smtClean="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smtClean="0">
                          <a:effectLst/>
                          <a:latin typeface="Verdana" panose="020B0604030504040204" pitchFamily="34" charset="0"/>
                          <a:ea typeface="Verdana" panose="020B0604030504040204" pitchFamily="34" charset="0"/>
                          <a:cs typeface="Verdana" panose="020B0604030504040204" pitchFamily="34" charset="0"/>
                        </a:rPr>
                        <a:t>Determine if a linear relationship is also a proportional relationship.</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5539956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276C46"/>
          </a:solidFill>
          <a:ln w="9525" cap="flat" cmpd="sng">
            <a:solidFill>
              <a:srgbClr val="276C46"/>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6" name="Google Shape;282;g104476d1465_1_17"/>
          <p:cNvSpPr txBox="1"/>
          <p:nvPr/>
        </p:nvSpPr>
        <p:spPr>
          <a:xfrm>
            <a:off x="8897112" y="645566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a:t>
            </a:r>
            <a:r>
              <a:rPr lang="en-US" i="1" dirty="0" smtClean="0">
                <a:latin typeface="Calibri"/>
                <a:ea typeface="Calibri"/>
                <a:cs typeface="Calibri"/>
                <a:sym typeface="Calibri"/>
              </a:rPr>
              <a:t>278</a:t>
            </a: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9" name="Table 8">
            <a:extLst>
              <a:ext uri="{FF2B5EF4-FFF2-40B4-BE49-F238E27FC236}">
                <a16:creationId xmlns:a16="http://schemas.microsoft.com/office/drawing/2014/main" xmlns="" id="{267DCF15-25AC-0445-8169-0DDD45887BA2}"/>
              </a:ext>
            </a:extLst>
          </p:cNvPr>
          <p:cNvGraphicFramePr>
            <a:graphicFrameLocks noGrp="1"/>
          </p:cNvGraphicFramePr>
          <p:nvPr>
            <p:extLst>
              <p:ext uri="{D42A27DB-BD31-4B8C-83A1-F6EECF244321}">
                <p14:modId xmlns:p14="http://schemas.microsoft.com/office/powerpoint/2010/main" val="1133943990"/>
              </p:ext>
            </p:extLst>
          </p:nvPr>
        </p:nvGraphicFramePr>
        <p:xfrm>
          <a:off x="1895474" y="410666"/>
          <a:ext cx="8229600" cy="4907280"/>
        </p:xfrm>
        <a:graphic>
          <a:graphicData uri="http://schemas.openxmlformats.org/drawingml/2006/table">
            <a:tbl>
              <a:tblPr>
                <a:tableStyleId>{A91F0D33-8C57-4600-99A7-42BC86742BE1}</a:tableStyleId>
              </a:tblPr>
              <a:tblGrid>
                <a:gridCol w="3474720">
                  <a:extLst>
                    <a:ext uri="{9D8B030D-6E8A-4147-A177-3AD203B41FA5}">
                      <a16:colId xmlns:a16="http://schemas.microsoft.com/office/drawing/2014/main" xmlns="" val="847677316"/>
                    </a:ext>
                  </a:extLst>
                </a:gridCol>
                <a:gridCol w="2377440">
                  <a:extLst>
                    <a:ext uri="{9D8B030D-6E8A-4147-A177-3AD203B41FA5}">
                      <a16:colId xmlns:a16="http://schemas.microsoft.com/office/drawing/2014/main" xmlns="" val="3445086876"/>
                    </a:ext>
                  </a:extLst>
                </a:gridCol>
                <a:gridCol w="2377440">
                  <a:extLst>
                    <a:ext uri="{9D8B030D-6E8A-4147-A177-3AD203B41FA5}">
                      <a16:colId xmlns:a16="http://schemas.microsoft.com/office/drawing/2014/main" xmlns="" val="1444640133"/>
                    </a:ext>
                  </a:extLst>
                </a:gridCol>
              </a:tblGrid>
              <a:tr h="1371600">
                <a:tc>
                  <a:txBody>
                    <a:bodyPr/>
                    <a:lstStyle/>
                    <a:p>
                      <a:pPr marL="0" marR="0">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Benchmark</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thing I am confident I know is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thing I am still unsure about is ...</a:t>
                      </a:r>
                      <a:endParaRPr lang="x-none" sz="2000" b="1" dirty="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588716977"/>
                  </a:ext>
                </a:extLst>
              </a:tr>
              <a:tr h="914400">
                <a:tc>
                  <a:txBody>
                    <a:bodyPr/>
                    <a:lstStyle/>
                    <a:p>
                      <a:pPr marL="0" marR="0">
                        <a:spcBef>
                          <a:spcPts val="0"/>
                        </a:spcBef>
                        <a:spcAft>
                          <a:spcPts val="0"/>
                        </a:spcAft>
                      </a:pPr>
                      <a:r>
                        <a:rPr lang="en-US" sz="2000" dirty="0" smtClean="0">
                          <a:effectLst/>
                          <a:latin typeface="Verdana" panose="020B0604030504040204" pitchFamily="34" charset="0"/>
                          <a:ea typeface="Verdana" panose="020B0604030504040204" pitchFamily="34" charset="0"/>
                          <a:cs typeface="Verdana" panose="020B0604030504040204" pitchFamily="34" charset="0"/>
                        </a:rPr>
                        <a:t>MA.8.AR.3.2</a:t>
                      </a:r>
                      <a:endParaRPr lang="x-none" sz="1100" smtClean="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smtClean="0">
                          <a:effectLst/>
                          <a:latin typeface="Verdana" panose="020B0604030504040204" pitchFamily="34" charset="0"/>
                          <a:ea typeface="Verdana" panose="020B0604030504040204" pitchFamily="34" charset="0"/>
                          <a:cs typeface="Verdana" panose="020B0604030504040204" pitchFamily="34" charset="0"/>
                        </a:rPr>
                        <a:t>Given a table, graph or written description of a linear relationship, determine the slope.</a:t>
                      </a: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r h="914400">
                <a:tc>
                  <a:txBody>
                    <a:bodyPr/>
                    <a:lstStyle/>
                    <a:p>
                      <a:pPr marL="0" marR="0">
                        <a:spcBef>
                          <a:spcPts val="0"/>
                        </a:spcBef>
                        <a:spcAft>
                          <a:spcPts val="0"/>
                        </a:spcAft>
                      </a:pPr>
                      <a:r>
                        <a:rPr lang="en-US" sz="2000" dirty="0" smtClean="0">
                          <a:effectLst/>
                          <a:latin typeface="Verdana" panose="020B0604030504040204" pitchFamily="34" charset="0"/>
                          <a:ea typeface="Verdana" panose="020B0604030504040204" pitchFamily="34" charset="0"/>
                          <a:cs typeface="Verdana" panose="020B0604030504040204" pitchFamily="34" charset="0"/>
                        </a:rPr>
                        <a:t>MA.8.GR.2.4</a:t>
                      </a:r>
                      <a:endParaRPr lang="x-none" sz="1100" smtClean="0">
                        <a:effectLst/>
                        <a:latin typeface="Verdana" panose="020B0604030504040204" pitchFamily="34" charset="0"/>
                        <a:ea typeface="Verdana" panose="020B0604030504040204" pitchFamily="34" charset="0"/>
                        <a:cs typeface="Verdana" panose="020B0604030504040204" pitchFamily="34" charset="0"/>
                      </a:endParaRPr>
                    </a:p>
                    <a:p>
                      <a:pPr marL="0" marR="0">
                        <a:spcBef>
                          <a:spcPts val="0"/>
                        </a:spcBef>
                        <a:spcAft>
                          <a:spcPts val="0"/>
                        </a:spcAft>
                      </a:pPr>
                      <a:r>
                        <a:rPr lang="en-US" sz="2000" dirty="0" smtClean="0">
                          <a:effectLst/>
                          <a:latin typeface="Verdana" panose="020B0604030504040204" pitchFamily="34" charset="0"/>
                          <a:ea typeface="Verdana" panose="020B0604030504040204" pitchFamily="34" charset="0"/>
                          <a:cs typeface="Verdana" panose="020B0604030504040204" pitchFamily="34" charset="0"/>
                        </a:rPr>
                        <a:t>Solve mathematical and real-world problems involving proportional relationships between similar triangles.</a:t>
                      </a:r>
                      <a:endParaRPr lang="x-none" sz="2000" smtClean="0">
                        <a:effectLst/>
                        <a:latin typeface="Verdana" panose="020B0604030504040204" pitchFamily="34" charset="0"/>
                        <a:ea typeface="Verdana" panose="020B0604030504040204" pitchFamily="34" charset="0"/>
                        <a:cs typeface="Verdana" panose="020B0604030504040204"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endParaRPr lang="x-none" sz="2000" dirty="0">
                        <a:effectLst/>
                        <a:latin typeface="Verdana" panose="020B0604030504040204" pitchFamily="34" charset="0"/>
                        <a:ea typeface="Verdana" panose="020B0604030504040204" pitchFamily="34" charset="0"/>
                        <a:cs typeface="Verdana" panose="020B0604030504040204"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1241741093"/>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1469</TotalTime>
  <Words>664</Words>
  <Application>Microsoft Office PowerPoint</Application>
  <PresentationFormat>Custom</PresentationFormat>
  <Paragraphs>133</Paragraphs>
  <Slides>20</Slides>
  <Notes>20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Cambria Math</vt:lpstr>
      <vt:lpstr>Arial Black</vt:lpstr>
      <vt:lpstr>Verdana</vt:lpstr>
      <vt:lpstr>Calibri</vt:lpstr>
      <vt:lpstr>Century Gothic</vt:lpstr>
      <vt:lpstr>1_Office Theme</vt:lpstr>
      <vt:lpstr>PowerPoint Presentation</vt:lpstr>
      <vt:lpstr>PowerPoint Presentation</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47</cp:revision>
  <dcterms:created xsi:type="dcterms:W3CDTF">2015-03-17T18:51:18Z</dcterms:created>
  <dcterms:modified xsi:type="dcterms:W3CDTF">2022-06-17T12:53:41Z</dcterms:modified>
</cp:coreProperties>
</file>