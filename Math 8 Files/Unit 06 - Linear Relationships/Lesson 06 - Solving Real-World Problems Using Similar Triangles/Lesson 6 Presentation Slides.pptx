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5" r:id="rId4"/>
    <p:sldId id="286" r:id="rId5"/>
    <p:sldId id="261" r:id="rId6"/>
    <p:sldId id="287" r:id="rId7"/>
    <p:sldId id="311" r:id="rId8"/>
    <p:sldId id="312" r:id="rId9"/>
    <p:sldId id="333" r:id="rId10"/>
    <p:sldId id="342" r:id="rId11"/>
    <p:sldId id="367" r:id="rId12"/>
    <p:sldId id="368" r:id="rId13"/>
    <p:sldId id="369" r:id="rId14"/>
    <p:sldId id="370" r:id="rId15"/>
    <p:sldId id="289" r:id="rId16"/>
    <p:sldId id="290" r:id="rId17"/>
    <p:sldId id="336" r:id="rId18"/>
    <p:sldId id="343" r:id="rId19"/>
    <p:sldId id="344" r:id="rId20"/>
    <p:sldId id="345" r:id="rId21"/>
    <p:sldId id="353" r:id="rId22"/>
    <p:sldId id="354" r:id="rId23"/>
    <p:sldId id="355" r:id="rId24"/>
    <p:sldId id="356" r:id="rId25"/>
    <p:sldId id="363" r:id="rId26"/>
    <p:sldId id="364" r:id="rId27"/>
    <p:sldId id="365" r:id="rId28"/>
    <p:sldId id="366" r:id="rId29"/>
    <p:sldId id="357" r:id="rId30"/>
    <p:sldId id="358" r:id="rId31"/>
    <p:sldId id="306" r:id="rId32"/>
    <p:sldId id="307" r:id="rId33"/>
  </p:sldIdLst>
  <p:sldSz cx="12192000" cy="6858000"/>
  <p:notesSz cx="6858000" cy="9144000"/>
  <p:embeddedFontLst>
    <p:embeddedFont>
      <p:font typeface="Cambria Math" pitchFamily="18" charset="0"/>
      <p:regular r:id="rId35"/>
    </p:embeddedFont>
    <p:embeddedFont>
      <p:font typeface="Arial Black" pitchFamily="34" charset="0"/>
      <p:bold r:id="rId36"/>
    </p:embeddedFont>
    <p:embeddedFont>
      <p:font typeface="Verdana" pitchFamily="34" charset="0"/>
      <p:regular r:id="rId37"/>
      <p:bold r:id="rId38"/>
      <p:italic r:id="rId39"/>
      <p:boldItalic r:id="rId40"/>
    </p:embeddedFont>
    <p:embeddedFont>
      <p:font typeface="Calibri" pitchFamily="34" charset="0"/>
      <p:regular r:id="rId41"/>
      <p:bold r:id="rId42"/>
      <p:italic r:id="rId43"/>
      <p:boldItalic r:id="rId44"/>
    </p:embeddedFont>
    <p:embeddedFont>
      <p:font typeface="Century Gothic"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276C46"/>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374" autoAdjust="0"/>
    <p:restoredTop sz="94659"/>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71407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220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990365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997284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94346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276371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27167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044881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285894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31146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428614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044339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7788967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67565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247564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585780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363866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4122896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466215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872610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0490906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0968161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https://lh6.googleusercontent.com/UjqrhMoPiom4LQGqffZI7XaLaT1DKh9rLm2cIEO_EKF87buIYs3CKa6ERDx3o7bM5CNOmTY9ZRAL22eLDhgEsshHLZE_6d0AFNeG-sB402OSVy3y8FO8ck2ii_JZTRWMFokpYQ"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261;g104476d1465_0_0"/>
          <p:cNvSpPr txBox="1">
            <a:spLocks/>
          </p:cNvSpPr>
          <p:nvPr/>
        </p:nvSpPr>
        <p:spPr>
          <a:xfrm>
            <a:off x="5328496" y="2054275"/>
            <a:ext cx="5753842"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8</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Pre-Algebra</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6, Lesson 6</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Solving Real-World Problems Using Similar Triangles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267</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pic>
        <p:nvPicPr>
          <p:cNvPr id="10" name="Picture 9" descr="Logo&#10;&#10;Description automatically generated">
            <a:extLst>
              <a:ext uri="{FF2B5EF4-FFF2-40B4-BE49-F238E27FC236}">
                <a16:creationId xmlns:a16="http://schemas.microsoft.com/office/drawing/2014/main" xmlns="" id="{2EEE98C1-FB4E-994A-82F1-A89135A82A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78294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mc="http://schemas.openxmlformats.org/markup-compatibility/2006" xmlns:a14="http://schemas.microsoft.com/office/drawing/2010/main" xmlns:a16="http://schemas.microsoft.com/office/drawing/2014/main" xmlns=""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MA.8.GR.2.4</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proportional relationships between similar triangles.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267</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267</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15"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267</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600" dirty="0">
                <a:latin typeface="Verdana" panose="020B0604030504040204" pitchFamily="34" charset="0"/>
                <a:ea typeface="Verdana" panose="020B0604030504040204" pitchFamily="34" charset="0"/>
                <a:cs typeface="Verdana" panose="020B0604030504040204" pitchFamily="34" charset="0"/>
              </a:rPr>
              <a:t>I can solve real-world problems using similar triangles.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268</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268</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81790"/>
            <a:ext cx="108340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6.6.1 Warm-Up: Brains Think About </a:t>
            </a:r>
            <a:r>
              <a:rPr lang="en-US" sz="3200" b="1" dirty="0" smtClean="0">
                <a:solidFill>
                  <a:srgbClr val="3F2A67"/>
                </a:solidFill>
                <a:latin typeface="Verdana"/>
                <a:ea typeface="Verdana"/>
                <a:cs typeface="Verdana"/>
                <a:sym typeface="Verdana"/>
              </a:rPr>
              <a:t/>
            </a:r>
            <a:br>
              <a:rPr lang="en-US" sz="3200" b="1" dirty="0" smtClean="0">
                <a:solidFill>
                  <a:srgbClr val="3F2A67"/>
                </a:solidFill>
                <a:latin typeface="Verdana"/>
                <a:ea typeface="Verdana"/>
                <a:cs typeface="Verdana"/>
                <a:sym typeface="Verdana"/>
              </a:rPr>
            </a:br>
            <a:r>
              <a:rPr lang="en-US" sz="3200" b="1" dirty="0" smtClean="0">
                <a:solidFill>
                  <a:srgbClr val="3F2A67"/>
                </a:solidFill>
                <a:latin typeface="Verdana"/>
                <a:ea typeface="Verdana"/>
                <a:cs typeface="Verdana"/>
                <a:sym typeface="Verdana"/>
              </a:rPr>
              <a:t>Math </a:t>
            </a:r>
            <a:r>
              <a:rPr lang="en-US" sz="3200" b="1" dirty="0">
                <a:solidFill>
                  <a:srgbClr val="3F2A67"/>
                </a:solidFill>
                <a:latin typeface="Verdana"/>
                <a:ea typeface="Verdana"/>
                <a:cs typeface="Verdana"/>
                <a:sym typeface="Verdana"/>
              </a:rPr>
              <a:t>Visually</a:t>
            </a:r>
          </a:p>
        </p:txBody>
      </p:sp>
      <p:pic>
        <p:nvPicPr>
          <p:cNvPr id="14"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05350" y="197484"/>
            <a:ext cx="747300" cy="747300"/>
          </a:xfrm>
          <a:prstGeom prst="rect">
            <a:avLst/>
          </a:prstGeom>
          <a:noFill/>
          <a:ln>
            <a:noFill/>
          </a:ln>
          <a:effectLst>
            <a:outerShdw blurRad="50800" dist="38100" dir="2700000" algn="tl" rotWithShape="0">
              <a:prstClr val="black">
                <a:alpha val="40000"/>
              </a:prstClr>
            </a:outerShdw>
          </a:effectLst>
        </p:spPr>
      </p:pic>
      <p:sp>
        <p:nvSpPr>
          <p:cNvPr id="15" name="TextBox 14">
            <a:extLst>
              <a:ext uri="{FF2B5EF4-FFF2-40B4-BE49-F238E27FC236}">
                <a16:creationId xmlns:a16="http://schemas.microsoft.com/office/drawing/2014/main" xmlns="" xmlns:a14="http://schemas.microsoft.com/office/drawing/2010/main" xmlns:mc="http://schemas.openxmlformats.org/markup-compatibility/2006" id="{E1D7562E-134F-D14B-AF1A-DF40E11EF758}"/>
              </a:ext>
            </a:extLst>
          </p:cNvPr>
          <p:cNvSpPr txBox="1"/>
          <p:nvPr/>
        </p:nvSpPr>
        <p:spPr>
          <a:xfrm>
            <a:off x="738235" y="1266496"/>
            <a:ext cx="10800319"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a time in math class when you used a visual representation of a problem to help solve it.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did that visual representation help you? </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268</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Picture 11">
            <a:extLst>
              <a:ext uri="{FF2B5EF4-FFF2-40B4-BE49-F238E27FC236}">
                <a16:creationId xmlns:a16="http://schemas.microsoft.com/office/drawing/2014/main" xmlns="" id="{99DF5BEF-2E88-C047-82EB-48F1FF04E1A4}"/>
              </a:ext>
            </a:extLst>
          </p:cNvPr>
          <p:cNvPicPr>
            <a:picLocks noChangeAspect="1"/>
          </p:cNvPicPr>
          <p:nvPr/>
        </p:nvPicPr>
        <p:blipFill>
          <a:blip r:embed="rId3"/>
          <a:stretch>
            <a:fillRect/>
          </a:stretch>
        </p:blipFill>
        <p:spPr>
          <a:xfrm>
            <a:off x="3443364" y="3557580"/>
            <a:ext cx="5697033" cy="2898084"/>
          </a:xfrm>
          <a:prstGeom prst="rect">
            <a:avLst/>
          </a:prstGeom>
        </p:spPr>
      </p:pic>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268</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xmlns="" id="{152D1D4D-DCB8-A246-B186-D40316579D77}"/>
              </a:ext>
            </a:extLst>
          </p:cNvPr>
          <p:cNvSpPr txBox="1"/>
          <p:nvPr/>
        </p:nvSpPr>
        <p:spPr>
          <a:xfrm>
            <a:off x="856978" y="1386025"/>
            <a:ext cx="10319021" cy="1938992"/>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previous lesson introduced similar triangles and the relationship between their corresponding sides. The relative side lengths of the triangles in those situations were used to identify corresponding sides. In some cases, it may be more helpful to use angle measures to help identify corresponding sides.</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p>
          <a:p>
            <a:pPr lvl="0"/>
            <a:r>
              <a:rPr lang="en-US" sz="2000" dirty="0">
                <a:latin typeface="Verdana" panose="020B0604030504040204" pitchFamily="34" charset="0"/>
                <a:ea typeface="Verdana" panose="020B0604030504040204" pitchFamily="34" charset="0"/>
                <a:cs typeface="Verdana" panose="020B0604030504040204" pitchFamily="34" charset="0"/>
              </a:rPr>
              <a:t>Triangle 𝑃𝐹𝐾 and triangle 𝐷𝐿𝑌 are similar. </a:t>
            </a:r>
          </a:p>
        </p:txBody>
      </p:sp>
      <p:sp>
        <p:nvSpPr>
          <p:cNvPr id="15"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167532"/>
            <a:ext cx="10478462" cy="10340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6.6.2 Exploration</a:t>
            </a:r>
            <a:r>
              <a:rPr lang="en-US" sz="3600" b="1" dirty="0">
                <a:solidFill>
                  <a:srgbClr val="33BEA6"/>
                </a:solidFill>
                <a:latin typeface="Verdana"/>
                <a:ea typeface="Verdana"/>
                <a:cs typeface="Verdana"/>
                <a:sym typeface="Verdana"/>
              </a:rPr>
              <a:t>: </a:t>
            </a:r>
            <a:r>
              <a:rPr lang="en-US" sz="3200" b="1" dirty="0">
                <a:solidFill>
                  <a:srgbClr val="33BEA6"/>
                </a:solidFill>
                <a:latin typeface="Verdana"/>
                <a:ea typeface="Verdana"/>
                <a:cs typeface="Verdana"/>
                <a:sym typeface="Verdana"/>
              </a:rPr>
              <a:t>Angles in </a:t>
            </a:r>
            <a:r>
              <a:rPr lang="en-US" sz="3200" b="1" dirty="0" smtClean="0">
                <a:solidFill>
                  <a:srgbClr val="33BEA6"/>
                </a:solidFill>
                <a:latin typeface="Verdana"/>
                <a:ea typeface="Verdana"/>
                <a:cs typeface="Verdana"/>
                <a:sym typeface="Verdana"/>
              </a:rPr>
              <a:t/>
            </a:r>
            <a:br>
              <a:rPr lang="en-US" sz="3200" b="1" dirty="0" smtClean="0">
                <a:solidFill>
                  <a:srgbClr val="33BEA6"/>
                </a:solidFill>
                <a:latin typeface="Verdana"/>
                <a:ea typeface="Verdana"/>
                <a:cs typeface="Verdana"/>
                <a:sym typeface="Verdana"/>
              </a:rPr>
            </a:br>
            <a:r>
              <a:rPr lang="en-US" sz="3200" b="1" dirty="0" smtClean="0">
                <a:solidFill>
                  <a:srgbClr val="33BEA6"/>
                </a:solidFill>
                <a:latin typeface="Verdana"/>
                <a:ea typeface="Verdana"/>
                <a:cs typeface="Verdana"/>
                <a:sym typeface="Verdana"/>
              </a:rPr>
              <a:t>Similar </a:t>
            </a:r>
            <a:r>
              <a:rPr lang="en-US" sz="3200" b="1" dirty="0">
                <a:solidFill>
                  <a:srgbClr val="33BEA6"/>
                </a:solidFill>
                <a:latin typeface="Verdana"/>
                <a:ea typeface="Verdana"/>
                <a:cs typeface="Verdana"/>
                <a:sym typeface="Verdana"/>
              </a:rPr>
              <a:t>Triangles</a:t>
            </a:r>
          </a:p>
        </p:txBody>
      </p:sp>
      <p:pic>
        <p:nvPicPr>
          <p:cNvPr id="16"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p:cNvSpPr txBox="1"/>
          <p:nvPr/>
        </p:nvSpPr>
        <p:spPr>
          <a:xfrm>
            <a:off x="87625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268</a:t>
            </a:r>
            <a:endParaRPr i="1" dirty="0">
              <a:latin typeface="Calibri"/>
              <a:ea typeface="Calibri"/>
              <a:cs typeface="Calibri"/>
              <a:sym typeface="Calibri"/>
            </a:endParaRPr>
          </a:p>
        </p:txBody>
      </p:sp>
      <p:sp>
        <p:nvSpPr>
          <p:cNvPr id="7" name="TextBox 6">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Line segment 𝑃𝐾 corresponds to line segment 𝐷𝑌.</a:t>
            </a:r>
          </a:p>
          <a:p>
            <a:r>
              <a:rPr lang="en-US" sz="2400" dirty="0">
                <a:latin typeface="Verdana" panose="020B0604030504040204" pitchFamily="34" charset="0"/>
                <a:ea typeface="Verdana" panose="020B0604030504040204" pitchFamily="34" charset="0"/>
                <a:cs typeface="Verdana" panose="020B0604030504040204" pitchFamily="34" charset="0"/>
              </a:rPr>
              <a:t>Line segment 𝑃𝐹 corresponds to line segment 𝐷𝐿.</a:t>
            </a:r>
          </a:p>
          <a:p>
            <a:r>
              <a:rPr lang="en-US" sz="2400" dirty="0">
                <a:latin typeface="Verdana" panose="020B0604030504040204" pitchFamily="34" charset="0"/>
                <a:ea typeface="Verdana" panose="020B0604030504040204" pitchFamily="34" charset="0"/>
                <a:cs typeface="Verdana" panose="020B0604030504040204" pitchFamily="34" charset="0"/>
              </a:rPr>
              <a:t>Line segment 𝐹𝐾 corresponds to line segment 𝐿𝑌.</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Mark </a:t>
            </a:r>
            <a:r>
              <a:rPr lang="en-US" sz="2400" dirty="0">
                <a:latin typeface="Verdana" panose="020B0604030504040204" pitchFamily="34" charset="0"/>
                <a:ea typeface="Verdana" panose="020B0604030504040204" pitchFamily="34" charset="0"/>
                <a:cs typeface="Verdana" panose="020B0604030504040204" pitchFamily="34" charset="0"/>
              </a:rPr>
              <a:t>the figures to show which sides correspond, based on the given information, using colors or symbols.</a:t>
            </a:r>
          </a:p>
        </p:txBody>
      </p:sp>
    </p:spTree>
    <p:extLst>
      <p:ext uri="{BB962C8B-B14F-4D97-AF65-F5344CB8AC3E}">
        <p14:creationId xmlns:p14="http://schemas.microsoft.com/office/powerpoint/2010/main" val="155251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9DEFB45F-5B66-E244-8E4B-2C934BCBE6AC}"/>
                  </a:ext>
                </a:extLst>
              </p:cNvPr>
              <p:cNvGraphicFramePr>
                <a:graphicFrameLocks noGrp="1"/>
              </p:cNvGraphicFramePr>
              <p:nvPr>
                <p:extLst>
                  <p:ext uri="{D42A27DB-BD31-4B8C-83A1-F6EECF244321}">
                    <p14:modId xmlns:p14="http://schemas.microsoft.com/office/powerpoint/2010/main" val="1166881026"/>
                  </p:ext>
                </p:extLst>
              </p:nvPr>
            </p:nvGraphicFramePr>
            <p:xfrm>
              <a:off x="1089970" y="1188168"/>
              <a:ext cx="6476424" cy="2498322"/>
            </p:xfrm>
            <a:graphic>
              <a:graphicData uri="http://schemas.openxmlformats.org/drawingml/2006/table">
                <a:tbl>
                  <a:tblPr firstRow="1" firstCol="1" bandRow="1">
                    <a:tableStyleId>{A91F0D33-8C57-4600-99A7-42BC86742BE1}</a:tableStyleId>
                  </a:tblPr>
                  <a:tblGrid>
                    <a:gridCol w="1487731">
                      <a:extLst>
                        <a:ext uri="{9D8B030D-6E8A-4147-A177-3AD203B41FA5}">
                          <a16:colId xmlns:a16="http://schemas.microsoft.com/office/drawing/2014/main" xmlns="" val="558113414"/>
                        </a:ext>
                      </a:extLst>
                    </a:gridCol>
                    <a:gridCol w="1556030">
                      <a:extLst>
                        <a:ext uri="{9D8B030D-6E8A-4147-A177-3AD203B41FA5}">
                          <a16:colId xmlns:a16="http://schemas.microsoft.com/office/drawing/2014/main" xmlns="" val="985628196"/>
                        </a:ext>
                      </a:extLst>
                    </a:gridCol>
                    <a:gridCol w="457200">
                      <a:extLst>
                        <a:ext uri="{9D8B030D-6E8A-4147-A177-3AD203B41FA5}">
                          <a16:colId xmlns:a16="http://schemas.microsoft.com/office/drawing/2014/main" xmlns="" val="343400566"/>
                        </a:ext>
                      </a:extLst>
                    </a:gridCol>
                    <a:gridCol w="1486989">
                      <a:extLst>
                        <a:ext uri="{9D8B030D-6E8A-4147-A177-3AD203B41FA5}">
                          <a16:colId xmlns:a16="http://schemas.microsoft.com/office/drawing/2014/main" xmlns="" val="348679831"/>
                        </a:ext>
                      </a:extLst>
                    </a:gridCol>
                    <a:gridCol w="1488474">
                      <a:extLst>
                        <a:ext uri="{9D8B030D-6E8A-4147-A177-3AD203B41FA5}">
                          <a16:colId xmlns:a16="http://schemas.microsoft.com/office/drawing/2014/main" xmlns="" val="1736635006"/>
                        </a:ext>
                      </a:extLst>
                    </a:gridCol>
                  </a:tblGrid>
                  <a:tr h="423996">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𝑷𝑭𝑲</m:t>
                              </m:r>
                            </m:oMath>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x-none"/>
                        </a:p>
                      </a:txBody>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Triangle</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rPr>
                                <m:t>𝑫𝑳𝒀</m:t>
                              </m:r>
                            </m:oMath>
                          </a14:m>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x-none"/>
                        </a:p>
                      </a:txBody>
                      <a:tcPr/>
                    </a:tc>
                    <a:extLst>
                      <a:ext uri="{0D108BD9-81ED-4DB2-BD59-A6C34878D82A}">
                        <a16:rowId xmlns:a16="http://schemas.microsoft.com/office/drawing/2014/main" xmlns="" val="1520720337"/>
                      </a:ext>
                    </a:extLst>
                  </a:tr>
                  <a:tr h="85929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Opposite Angle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Opposite Angle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440763453"/>
                      </a:ext>
                    </a:extLst>
                  </a:tr>
                  <a:tr h="405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𝐹𝐾</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𝐿𝑌</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21223950"/>
                      </a:ext>
                    </a:extLst>
                  </a:tr>
                  <a:tr h="405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𝐾𝑃</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𝑌𝐷</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65347808"/>
                      </a:ext>
                    </a:extLst>
                  </a:tr>
                  <a:tr h="40501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𝑃𝐹</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x-none" sz="2000" i="1">
                                        <a:effectLst/>
                                        <a:latin typeface="Cambria Math"/>
                                      </a:rPr>
                                    </m:ctrlPr>
                                  </m:accPr>
                                  <m:e>
                                    <m:r>
                                      <a:rPr lang="en-US" sz="2000">
                                        <a:effectLst/>
                                        <a:latin typeface="Cambria Math" panose="02040503050406030204" pitchFamily="18" charset="0"/>
                                      </a:rPr>
                                      <m:t>𝐷𝐿</m:t>
                                    </m:r>
                                  </m:e>
                                </m:acc>
                              </m:oMath>
                            </m:oMathPara>
                          </a14:m>
                          <a:endParaRPr lang="x-none"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34374318"/>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9DEFB45F-5B66-E244-8E4B-2C934BCBE6AC}"/>
                  </a:ext>
                </a:extLst>
              </p:cNvPr>
              <p:cNvGraphicFramePr>
                <a:graphicFrameLocks noGrp="1"/>
              </p:cNvGraphicFramePr>
              <p:nvPr>
                <p:extLst>
                  <p:ext uri="{D42A27DB-BD31-4B8C-83A1-F6EECF244321}">
                    <p14:modId xmlns:p14="http://schemas.microsoft.com/office/powerpoint/2010/main" val="1166881026"/>
                  </p:ext>
                </p:extLst>
              </p:nvPr>
            </p:nvGraphicFramePr>
            <p:xfrm>
              <a:off x="1089970" y="1188168"/>
              <a:ext cx="6476424" cy="2498322"/>
            </p:xfrm>
            <a:graphic>
              <a:graphicData uri="http://schemas.openxmlformats.org/drawingml/2006/table">
                <a:tbl>
                  <a:tblPr firstRow="1" firstCol="1" bandRow="1">
                    <a:tableStyleId>{A91F0D33-8C57-4600-99A7-42BC86742BE1}</a:tableStyleId>
                  </a:tblPr>
                  <a:tblGrid>
                    <a:gridCol w="1487731">
                      <a:extLst>
                        <a:ext uri="{9D8B030D-6E8A-4147-A177-3AD203B41FA5}">
                          <a16:colId xmlns:a16="http://schemas.microsoft.com/office/drawing/2014/main" xmlns:a14="http://schemas.microsoft.com/office/drawing/2010/main" xmlns="" val="558113414"/>
                        </a:ext>
                      </a:extLst>
                    </a:gridCol>
                    <a:gridCol w="1556030">
                      <a:extLst>
                        <a:ext uri="{9D8B030D-6E8A-4147-A177-3AD203B41FA5}">
                          <a16:colId xmlns:a16="http://schemas.microsoft.com/office/drawing/2014/main" xmlns:a14="http://schemas.microsoft.com/office/drawing/2010/main" xmlns="" val="985628196"/>
                        </a:ext>
                      </a:extLst>
                    </a:gridCol>
                    <a:gridCol w="457200">
                      <a:extLst>
                        <a:ext uri="{9D8B030D-6E8A-4147-A177-3AD203B41FA5}">
                          <a16:colId xmlns:a16="http://schemas.microsoft.com/office/drawing/2014/main" xmlns:a14="http://schemas.microsoft.com/office/drawing/2010/main" xmlns="" val="343400566"/>
                        </a:ext>
                      </a:extLst>
                    </a:gridCol>
                    <a:gridCol w="1486989">
                      <a:extLst>
                        <a:ext uri="{9D8B030D-6E8A-4147-A177-3AD203B41FA5}">
                          <a16:colId xmlns:a16="http://schemas.microsoft.com/office/drawing/2014/main" xmlns:a14="http://schemas.microsoft.com/office/drawing/2010/main" xmlns="" val="348679831"/>
                        </a:ext>
                      </a:extLst>
                    </a:gridCol>
                    <a:gridCol w="1488474">
                      <a:extLst>
                        <a:ext uri="{9D8B030D-6E8A-4147-A177-3AD203B41FA5}">
                          <a16:colId xmlns:a16="http://schemas.microsoft.com/office/drawing/2014/main" xmlns:a14="http://schemas.microsoft.com/office/drawing/2010/main" xmlns="" val="1736635006"/>
                        </a:ext>
                      </a:extLst>
                    </a:gridCol>
                  </a:tblGrid>
                  <a:tr h="423996">
                    <a:tc gridSpan="2">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00" t="-4286" r="-113026" b="-485714"/>
                          </a:stretch>
                        </a:blipFill>
                      </a:tcPr>
                    </a:tc>
                    <a:tc hMerge="1">
                      <a:txBody>
                        <a:bodyPr/>
                        <a:lstStyle/>
                        <a:p>
                          <a:endParaRPr lang="x-none"/>
                        </a:p>
                      </a:txBody>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gridSpan="2">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7828" t="-4286" r="-205" b="-485714"/>
                          </a:stretch>
                        </a:blipFill>
                      </a:tcPr>
                    </a:tc>
                    <a:tc hMerge="1">
                      <a:txBody>
                        <a:bodyPr/>
                        <a:lstStyle/>
                        <a:p>
                          <a:endParaRPr lang="x-none"/>
                        </a:p>
                      </a:txBody>
                      <a:tcPr/>
                    </a:tc>
                    <a:extLst>
                      <a:ext uri="{0D108BD9-81ED-4DB2-BD59-A6C34878D82A}">
                        <a16:rowId xmlns:a16="http://schemas.microsoft.com/office/drawing/2014/main" xmlns:a14="http://schemas.microsoft.com/office/drawing/2010/main" xmlns="" val="1520720337"/>
                      </a:ext>
                    </a:extLst>
                  </a:tr>
                  <a:tr h="859293">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Opposite Angle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Opposite Angle</a:t>
                          </a:r>
                          <a:endParaRPr lang="x-none"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440763453"/>
                      </a:ext>
                    </a:extLst>
                  </a:tr>
                  <a:tr h="405011">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10" t="-324242" r="-335656" b="-201515"/>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5656" t="-324242" r="-100410" b="-201515"/>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921223950"/>
                      </a:ext>
                    </a:extLst>
                  </a:tr>
                  <a:tr h="405011">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10" t="-417910" r="-335656" b="-9850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5656" t="-417910" r="-100410" b="-98507"/>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965347808"/>
                      </a:ext>
                    </a:extLst>
                  </a:tr>
                  <a:tr h="405011">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410" t="-525758" r="-335656"/>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235656" t="-525758" r="-10041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534374318"/>
                      </a:ext>
                    </a:extLst>
                  </a:tr>
                </a:tbl>
              </a:graphicData>
            </a:graphic>
          </p:graphicFrame>
        </mc:Fallback>
      </mc:AlternateContent>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269</a:t>
            </a: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Identify the angles opposite each line segment.</a:t>
            </a:r>
          </a:p>
        </p:txBody>
      </p:sp>
    </p:spTree>
    <p:extLst>
      <p:ext uri="{BB962C8B-B14F-4D97-AF65-F5344CB8AC3E}">
        <p14:creationId xmlns:p14="http://schemas.microsoft.com/office/powerpoint/2010/main" val="71590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269</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526297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Angles opposite corresponding sides are called </a:t>
            </a:r>
            <a:r>
              <a:rPr lang="en-US" sz="2400" b="1" dirty="0">
                <a:latin typeface="Verdana" panose="020B0604030504040204" pitchFamily="34" charset="0"/>
                <a:ea typeface="Verdana" panose="020B0604030504040204" pitchFamily="34" charset="0"/>
                <a:cs typeface="Verdana" panose="020B0604030504040204" pitchFamily="34" charset="0"/>
              </a:rPr>
              <a:t>corresponding angles</a:t>
            </a:r>
            <a:r>
              <a:rPr lang="en-US" sz="2400" dirty="0">
                <a:latin typeface="Verdana" panose="020B0604030504040204" pitchFamily="34" charset="0"/>
                <a:ea typeface="Verdana" panose="020B0604030504040204" pitchFamily="34" charset="0"/>
                <a:cs typeface="Verdana" panose="020B0604030504040204" pitchFamily="34" charset="0"/>
              </a:rPr>
              <a:t>. Use colors or markings to show which angles correspond to each other on the triangles.</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Complete the statement by identifying corresponding angle pairs in triangles 𝑃𝐹𝐾 and 𝐷𝐿𝑌.</a:t>
            </a:r>
          </a:p>
          <a:p>
            <a:pPr indent="454025"/>
            <a:r>
              <a:rPr lang="en-US" sz="2400" dirty="0">
                <a:latin typeface="Verdana" panose="020B0604030504040204" pitchFamily="34" charset="0"/>
                <a:ea typeface="Verdana" panose="020B0604030504040204" pitchFamily="34" charset="0"/>
                <a:cs typeface="Verdana" panose="020B0604030504040204" pitchFamily="34" charset="0"/>
              </a:rPr>
              <a:t> </a:t>
            </a:r>
          </a:p>
          <a:p>
            <a:pPr indent="454025"/>
            <a:r>
              <a:rPr lang="en-US" sz="2400" dirty="0">
                <a:latin typeface="Verdana" panose="020B0604030504040204" pitchFamily="34" charset="0"/>
                <a:ea typeface="Verdana" panose="020B0604030504040204" pitchFamily="34" charset="0"/>
                <a:cs typeface="Verdana" panose="020B0604030504040204" pitchFamily="34" charset="0"/>
              </a:rPr>
              <a:t>∠𝑃𝐹𝐾 corresponds with ∠</a:t>
            </a:r>
            <a:r>
              <a:rPr lang="en-US" sz="2400" dirty="0" smtClean="0">
                <a:latin typeface="Verdana" panose="020B0604030504040204" pitchFamily="34" charset="0"/>
                <a:ea typeface="Verdana" panose="020B0604030504040204" pitchFamily="34" charset="0"/>
                <a:cs typeface="Verdana" panose="020B0604030504040204" pitchFamily="34" charset="0"/>
              </a:rPr>
              <a:t>_________.</a:t>
            </a:r>
            <a:br>
              <a:rPr lang="en-US" sz="2400" dirty="0" smtClean="0">
                <a:latin typeface="Verdana" panose="020B0604030504040204" pitchFamily="34" charset="0"/>
                <a:ea typeface="Verdana" panose="020B0604030504040204" pitchFamily="34" charset="0"/>
                <a:cs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pPr indent="454025"/>
            <a:r>
              <a:rPr lang="en-US" sz="2400" dirty="0">
                <a:latin typeface="Verdana" panose="020B0604030504040204" pitchFamily="34" charset="0"/>
                <a:ea typeface="Verdana" panose="020B0604030504040204" pitchFamily="34" charset="0"/>
                <a:cs typeface="Verdana" panose="020B0604030504040204" pitchFamily="34" charset="0"/>
              </a:rPr>
              <a:t>∠𝐹𝐾𝑃 corresponds with ∠</a:t>
            </a:r>
            <a:r>
              <a:rPr lang="en-US" sz="2400" dirty="0" smtClean="0">
                <a:latin typeface="Verdana" panose="020B0604030504040204" pitchFamily="34" charset="0"/>
                <a:ea typeface="Verdana" panose="020B0604030504040204" pitchFamily="34" charset="0"/>
                <a:cs typeface="Verdana" panose="020B0604030504040204" pitchFamily="34" charset="0"/>
              </a:rPr>
              <a:t>_________.</a:t>
            </a:r>
            <a:br>
              <a:rPr lang="en-US" sz="2400" dirty="0" smtClean="0">
                <a:latin typeface="Verdana" panose="020B0604030504040204" pitchFamily="34" charset="0"/>
                <a:ea typeface="Verdana" panose="020B0604030504040204" pitchFamily="34" charset="0"/>
                <a:cs typeface="Verdana" panose="020B0604030504040204" pitchFamily="34" charset="0"/>
              </a:rPr>
            </a:br>
            <a:endParaRPr lang="en-US" sz="2400" dirty="0">
              <a:latin typeface="Verdana" panose="020B0604030504040204" pitchFamily="34" charset="0"/>
              <a:ea typeface="Verdana" panose="020B0604030504040204" pitchFamily="34" charset="0"/>
              <a:cs typeface="Verdana" panose="020B0604030504040204" pitchFamily="34" charset="0"/>
            </a:endParaRPr>
          </a:p>
          <a:p>
            <a:pPr indent="454025"/>
            <a:r>
              <a:rPr lang="en-US" sz="2400" dirty="0">
                <a:latin typeface="Verdana" panose="020B0604030504040204" pitchFamily="34" charset="0"/>
                <a:ea typeface="Verdana" panose="020B0604030504040204" pitchFamily="34" charset="0"/>
                <a:cs typeface="Verdana" panose="020B0604030504040204" pitchFamily="34" charset="0"/>
              </a:rPr>
              <a:t>∠𝐾𝑃𝐹 corresponds with ∠_________.</a:t>
            </a:r>
          </a:p>
        </p:txBody>
      </p:sp>
    </p:spTree>
    <p:extLst>
      <p:ext uri="{BB962C8B-B14F-4D97-AF65-F5344CB8AC3E}">
        <p14:creationId xmlns:p14="http://schemas.microsoft.com/office/powerpoint/2010/main" val="14634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269</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3785652"/>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Consider the size of each pair of corresponding angles. With your partner, write a hypothesis regarding the relationship between each angle pair.</a:t>
            </a: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Trace a copy of triangle 𝑃𝐹𝐾 on patty paper. Be sure to label each vertex.</a:t>
            </a:r>
          </a:p>
        </p:txBody>
      </p:sp>
    </p:spTree>
    <p:extLst>
      <p:ext uri="{BB962C8B-B14F-4D97-AF65-F5344CB8AC3E}">
        <p14:creationId xmlns:p14="http://schemas.microsoft.com/office/powerpoint/2010/main" val="506054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0468"/>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269</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3046988"/>
          </a:xfrm>
          <a:prstGeom prst="rect">
            <a:avLst/>
          </a:prstGeom>
          <a:noFill/>
        </p:spPr>
        <p:txBody>
          <a:bodyPr wrap="square" rtlCol="0">
            <a:spAutoFit/>
          </a:bodyPr>
          <a:lstStyle/>
          <a:p>
            <a:pPr marL="457200" indent="-457200">
              <a:buFont typeface="+mj-lt"/>
              <a:buAutoNum type="arabicPeriod" startAt="7"/>
            </a:pPr>
            <a:r>
              <a:rPr lang="en-US" sz="2400" dirty="0">
                <a:latin typeface="Verdana" panose="020B0604030504040204" pitchFamily="34" charset="0"/>
                <a:ea typeface="Verdana" panose="020B0604030504040204" pitchFamily="34" charset="0"/>
                <a:cs typeface="Verdana" panose="020B0604030504040204" pitchFamily="34" charset="0"/>
              </a:rPr>
              <a:t>Place the copy of triangle 𝑃𝐹𝐾 on top of triangle 𝐷𝐿𝑌 so that angle 𝑃𝐹𝐾 overlaps angle 𝐷𝐿𝑌. What do you notice?</a:t>
            </a:r>
          </a:p>
          <a:p>
            <a:pPr marL="457200" indent="-457200">
              <a:buFont typeface="+mj-lt"/>
              <a:buAutoNum type="arabicPeriod" startAt="7"/>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400" dirty="0">
                <a:latin typeface="Verdana" panose="020B0604030504040204" pitchFamily="34" charset="0"/>
                <a:ea typeface="Verdana" panose="020B0604030504040204" pitchFamily="34" charset="0"/>
                <a:cs typeface="Verdana" panose="020B0604030504040204" pitchFamily="34" charset="0"/>
              </a:rPr>
              <a:t>Repeat the process for each pair of corresponding angles. </a:t>
            </a:r>
          </a:p>
        </p:txBody>
      </p:sp>
    </p:spTree>
    <p:extLst>
      <p:ext uri="{BB962C8B-B14F-4D97-AF65-F5344CB8AC3E}">
        <p14:creationId xmlns:p14="http://schemas.microsoft.com/office/powerpoint/2010/main" val="2295803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7" name="Group 6">
            <a:extLst>
              <a:ext uri="{FF2B5EF4-FFF2-40B4-BE49-F238E27FC236}">
                <a16:creationId xmlns:a16="http://schemas.microsoft.com/office/drawing/2014/main" xmlns="" id="{45836A58-121C-4E41-A52F-A1D17DDA1E12}"/>
              </a:ext>
            </a:extLst>
          </p:cNvPr>
          <p:cNvGrpSpPr/>
          <p:nvPr/>
        </p:nvGrpSpPr>
        <p:grpSpPr>
          <a:xfrm>
            <a:off x="2781300" y="4281170"/>
            <a:ext cx="6629400" cy="1064260"/>
            <a:chOff x="2031300" y="3275735"/>
            <a:chExt cx="6629400" cy="1064302"/>
          </a:xfrm>
        </p:grpSpPr>
        <p:grpSp>
          <p:nvGrpSpPr>
            <p:cNvPr id="8" name="Group 7">
              <a:extLst>
                <a:ext uri="{FF2B5EF4-FFF2-40B4-BE49-F238E27FC236}">
                  <a16:creationId xmlns:a16="http://schemas.microsoft.com/office/drawing/2014/main" xmlns="" id="{416FE598-2C50-EE4C-92BB-179694F3115A}"/>
                </a:ext>
              </a:extLst>
            </p:cNvPr>
            <p:cNvGrpSpPr/>
            <p:nvPr/>
          </p:nvGrpSpPr>
          <p:grpSpPr>
            <a:xfrm>
              <a:off x="2031300" y="3275735"/>
              <a:ext cx="6629400" cy="1064302"/>
              <a:chOff x="2031300" y="3275735"/>
              <a:chExt cx="6629400" cy="1064302"/>
            </a:xfrm>
          </p:grpSpPr>
          <p:sp>
            <p:nvSpPr>
              <p:cNvPr id="9" name="Rectangle 8">
                <a:extLst>
                  <a:ext uri="{FF2B5EF4-FFF2-40B4-BE49-F238E27FC236}">
                    <a16:creationId xmlns:a16="http://schemas.microsoft.com/office/drawing/2014/main" xmlns="" id="{92001F1A-8966-844D-B8FB-33A5982A48D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0" name="Group 9">
                <a:extLst>
                  <a:ext uri="{FF2B5EF4-FFF2-40B4-BE49-F238E27FC236}">
                    <a16:creationId xmlns:a16="http://schemas.microsoft.com/office/drawing/2014/main" xmlns="" id="{CBD4EEEB-4351-7E4A-AA0C-40CE8FA7B1CB}"/>
                  </a:ext>
                </a:extLst>
              </p:cNvPr>
              <p:cNvGrpSpPr/>
              <p:nvPr/>
            </p:nvGrpSpPr>
            <p:grpSpPr>
              <a:xfrm>
                <a:off x="2031300" y="3275735"/>
                <a:ext cx="6629400" cy="1064302"/>
                <a:chOff x="2031300" y="3275735"/>
                <a:chExt cx="6629400" cy="1064302"/>
              </a:xfrm>
            </p:grpSpPr>
            <p:sp>
              <p:nvSpPr>
                <p:cNvPr id="11" name="Rectangle 10">
                  <a:extLst>
                    <a:ext uri="{FF2B5EF4-FFF2-40B4-BE49-F238E27FC236}">
                      <a16:creationId xmlns:a16="http://schemas.microsoft.com/office/drawing/2014/main" xmlns="" id="{7D93B8F0-1133-844E-B17B-50B2409F418A}"/>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2" name="Group 11">
                  <a:extLst>
                    <a:ext uri="{FF2B5EF4-FFF2-40B4-BE49-F238E27FC236}">
                      <a16:creationId xmlns:a16="http://schemas.microsoft.com/office/drawing/2014/main" xmlns="" id="{A2F59B7E-82C8-534C-93E9-E9044DCCA9AD}"/>
                    </a:ext>
                  </a:extLst>
                </p:cNvPr>
                <p:cNvGrpSpPr/>
                <p:nvPr/>
              </p:nvGrpSpPr>
              <p:grpSpPr>
                <a:xfrm>
                  <a:off x="2031300" y="3275735"/>
                  <a:ext cx="6629400" cy="1064302"/>
                  <a:chOff x="2031300" y="3275735"/>
                  <a:chExt cx="6629400" cy="1064302"/>
                </a:xfrm>
              </p:grpSpPr>
              <p:sp>
                <p:nvSpPr>
                  <p:cNvPr id="13" name="Rectangle 12">
                    <a:extLst>
                      <a:ext uri="{FF2B5EF4-FFF2-40B4-BE49-F238E27FC236}">
                        <a16:creationId xmlns:a16="http://schemas.microsoft.com/office/drawing/2014/main" xmlns="" id="{49639039-5858-F74C-AB11-BCE82366EBF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5" name="Group 14">
                    <a:extLst>
                      <a:ext uri="{FF2B5EF4-FFF2-40B4-BE49-F238E27FC236}">
                        <a16:creationId xmlns:a16="http://schemas.microsoft.com/office/drawing/2014/main" xmlns="" id="{60DCA997-C272-3946-8819-1B219EE7981E}"/>
                      </a:ext>
                    </a:extLst>
                  </p:cNvPr>
                  <p:cNvGrpSpPr/>
                  <p:nvPr/>
                </p:nvGrpSpPr>
                <p:grpSpPr>
                  <a:xfrm>
                    <a:off x="2031300" y="3275735"/>
                    <a:ext cx="6629400" cy="1064302"/>
                    <a:chOff x="2031300" y="3275735"/>
                    <a:chExt cx="6629400" cy="1064302"/>
                  </a:xfrm>
                </p:grpSpPr>
                <p:sp>
                  <p:nvSpPr>
                    <p:cNvPr id="16" name="Rectangle 15">
                      <a:extLst>
                        <a:ext uri="{FF2B5EF4-FFF2-40B4-BE49-F238E27FC236}">
                          <a16:creationId xmlns:a16="http://schemas.microsoft.com/office/drawing/2014/main" xmlns="" id="{88A54FA5-9821-F640-BF77-BBF6E7D33743}"/>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7" name="Group 16">
                      <a:extLst>
                        <a:ext uri="{FF2B5EF4-FFF2-40B4-BE49-F238E27FC236}">
                          <a16:creationId xmlns:a16="http://schemas.microsoft.com/office/drawing/2014/main" xmlns="" id="{CD702AE3-AB2D-214F-8242-8B9D7012616A}"/>
                        </a:ext>
                      </a:extLst>
                    </p:cNvPr>
                    <p:cNvGrpSpPr/>
                    <p:nvPr/>
                  </p:nvGrpSpPr>
                  <p:grpSpPr>
                    <a:xfrm>
                      <a:off x="2031300" y="3275735"/>
                      <a:ext cx="6629400" cy="1064302"/>
                      <a:chOff x="2031300" y="3275735"/>
                      <a:chExt cx="6629400" cy="1064302"/>
                    </a:xfrm>
                  </p:grpSpPr>
                  <p:sp>
                    <p:nvSpPr>
                      <p:cNvPr id="18" name="Rectangle 17">
                        <a:extLst>
                          <a:ext uri="{FF2B5EF4-FFF2-40B4-BE49-F238E27FC236}">
                            <a16:creationId xmlns:a16="http://schemas.microsoft.com/office/drawing/2014/main" xmlns="" id="{4DFB8906-E961-B34F-BE89-2EBA222F0C6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19" name="Group 18">
                        <a:extLst>
                          <a:ext uri="{FF2B5EF4-FFF2-40B4-BE49-F238E27FC236}">
                            <a16:creationId xmlns:a16="http://schemas.microsoft.com/office/drawing/2014/main" xmlns="" id="{17CD748F-6F24-9149-90D3-CBD2D2CBA76F}"/>
                          </a:ext>
                        </a:extLst>
                      </p:cNvPr>
                      <p:cNvGrpSpPr/>
                      <p:nvPr/>
                    </p:nvGrpSpPr>
                    <p:grpSpPr>
                      <a:xfrm>
                        <a:off x="2031300" y="3275735"/>
                        <a:ext cx="6629400" cy="1064302"/>
                        <a:chOff x="2031300" y="3275735"/>
                        <a:chExt cx="6629400" cy="1064302"/>
                      </a:xfrm>
                    </p:grpSpPr>
                    <p:sp>
                      <p:nvSpPr>
                        <p:cNvPr id="20" name="Rectangle 19">
                          <a:extLst>
                            <a:ext uri="{FF2B5EF4-FFF2-40B4-BE49-F238E27FC236}">
                              <a16:creationId xmlns:a16="http://schemas.microsoft.com/office/drawing/2014/main" xmlns="" id="{AB3BCD10-A1BE-5649-8D31-DB7EBBAED0D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21" name="Group 20">
                          <a:extLst>
                            <a:ext uri="{FF2B5EF4-FFF2-40B4-BE49-F238E27FC236}">
                              <a16:creationId xmlns:a16="http://schemas.microsoft.com/office/drawing/2014/main" xmlns="" id="{3A59DDA5-CEFB-924F-8476-DC8E66A7E9ED}"/>
                            </a:ext>
                          </a:extLst>
                        </p:cNvPr>
                        <p:cNvGrpSpPr/>
                        <p:nvPr/>
                      </p:nvGrpSpPr>
                      <p:grpSpPr>
                        <a:xfrm>
                          <a:off x="2031300" y="3275735"/>
                          <a:ext cx="6629400" cy="1064302"/>
                          <a:chOff x="0" y="0"/>
                          <a:chExt cx="6629400" cy="1064302"/>
                        </a:xfrm>
                      </p:grpSpPr>
                      <p:sp>
                        <p:nvSpPr>
                          <p:cNvPr id="22" name="Rectangle 21">
                            <a:extLst>
                              <a:ext uri="{FF2B5EF4-FFF2-40B4-BE49-F238E27FC236}">
                                <a16:creationId xmlns:a16="http://schemas.microsoft.com/office/drawing/2014/main" xmlns="" id="{1E7AEFE6-F097-F74F-853A-A0F04D50B735}"/>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grpSp>
                        <p:nvGrpSpPr>
                          <p:cNvPr id="23" name="Group 22">
                            <a:extLst>
                              <a:ext uri="{FF2B5EF4-FFF2-40B4-BE49-F238E27FC236}">
                                <a16:creationId xmlns:a16="http://schemas.microsoft.com/office/drawing/2014/main" xmlns="" id="{445E4B71-729C-7E40-937F-9213CC258BF9}"/>
                              </a:ext>
                            </a:extLst>
                          </p:cNvPr>
                          <p:cNvGrpSpPr/>
                          <p:nvPr/>
                        </p:nvGrpSpPr>
                        <p:grpSpPr>
                          <a:xfrm>
                            <a:off x="0" y="0"/>
                            <a:ext cx="6629400" cy="1064302"/>
                            <a:chOff x="0" y="0"/>
                            <a:chExt cx="6629400" cy="1064302"/>
                          </a:xfrm>
                        </p:grpSpPr>
                        <p:sp>
                          <p:nvSpPr>
                            <p:cNvPr id="25" name="Rectangle 24">
                              <a:extLst>
                                <a:ext uri="{FF2B5EF4-FFF2-40B4-BE49-F238E27FC236}">
                                  <a16:creationId xmlns:a16="http://schemas.microsoft.com/office/drawing/2014/main" xmlns="" id="{CAED73D0-1039-E047-815B-1A2305F8A09B}"/>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sp>
                          <p:nvSpPr>
                            <p:cNvPr id="26" name="Rectangle 25">
                              <a:extLst>
                                <a:ext uri="{FF2B5EF4-FFF2-40B4-BE49-F238E27FC236}">
                                  <a16:creationId xmlns:a16="http://schemas.microsoft.com/office/drawing/2014/main" xmlns="" id="{B03D1DCD-0BEB-1149-BC3E-FC2336120C6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r>
                                <a:rPr lang="en-US" sz="1200">
                                  <a:latin typeface="Times New Roman" panose="02020603050405020304" pitchFamily="18" charset="0"/>
                                  <a:ea typeface="Times New Roman" panose="02020603050405020304" pitchFamily="18" charset="0"/>
                                </a:rPr>
                                <a:t> </a:t>
                              </a:r>
                              <a:endParaRPr lang="x-none" sz="1200">
                                <a:latin typeface="Times New Roman" panose="02020603050405020304" pitchFamily="18" charset="0"/>
                                <a:ea typeface="Times New Roman" panose="02020603050405020304" pitchFamily="18" charset="0"/>
                              </a:endParaRPr>
                            </a:p>
                          </p:txBody>
                        </p:sp>
                        <p:sp>
                          <p:nvSpPr>
                            <p:cNvPr id="27" name="Rounded Rectangle 26">
                              <a:extLst>
                                <a:ext uri="{FF2B5EF4-FFF2-40B4-BE49-F238E27FC236}">
                                  <a16:creationId xmlns:a16="http://schemas.microsoft.com/office/drawing/2014/main" xmlns="" id="{397368A0-B6FF-8D4D-84AD-D50F3655E734}"/>
                                </a:ext>
                              </a:extLst>
                            </p:cNvPr>
                            <p:cNvSpPr/>
                            <p:nvPr/>
                          </p:nvSpPr>
                          <p:spPr>
                            <a:xfrm>
                              <a:off x="0" y="0"/>
                              <a:ext cx="6629400" cy="1064302"/>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r>
                                <a:rPr lang="en-US" sz="2000" dirty="0">
                                  <a:solidFill>
                                    <a:srgbClr val="24629A"/>
                                  </a:solidFill>
                                  <a:latin typeface="Verdana" panose="020B0604030504040204" pitchFamily="34" charset="0"/>
                                  <a:ea typeface="Verdana" panose="020B0604030504040204" pitchFamily="34" charset="0"/>
                                  <a:cs typeface="Verdana" panose="020B0604030504040204" pitchFamily="34" charset="0"/>
                                </a:rPr>
                                <a:t>In similar triangles, </a:t>
                              </a:r>
                              <a:r>
                                <a:rPr lang="en-US" sz="2000" b="1" dirty="0">
                                  <a:solidFill>
                                    <a:srgbClr val="24629A"/>
                                  </a:solidFill>
                                  <a:latin typeface="Verdana" panose="020B0604030504040204" pitchFamily="34" charset="0"/>
                                  <a:ea typeface="Verdana" panose="020B0604030504040204" pitchFamily="34" charset="0"/>
                                  <a:cs typeface="Verdana" panose="020B0604030504040204" pitchFamily="34" charset="0"/>
                                </a:rPr>
                                <a:t>corresponding angles</a:t>
                              </a:r>
                              <a:r>
                                <a:rPr lang="en-US" sz="2000" dirty="0">
                                  <a:solidFill>
                                    <a:srgbClr val="24629A"/>
                                  </a:solidFill>
                                  <a:latin typeface="Verdana" panose="020B0604030504040204" pitchFamily="34" charset="0"/>
                                  <a:ea typeface="Verdana" panose="020B0604030504040204" pitchFamily="34" charset="0"/>
                                  <a:cs typeface="Verdana" panose="020B0604030504040204" pitchFamily="34" charset="0"/>
                                </a:rPr>
                                <a:t> have equal measures and are opposite corresponding sides.</a:t>
                              </a:r>
                              <a:r>
                                <a:rPr lang="en-US" sz="2000" dirty="0">
                                  <a:latin typeface="Times New Roman" panose="02020603050405020304" pitchFamily="18" charset="0"/>
                                  <a:ea typeface="Times New Roman" panose="02020603050405020304" pitchFamily="18" charset="0"/>
                                </a:rPr>
                                <a:t> </a:t>
                              </a:r>
                              <a:endParaRPr lang="x-none" sz="2000" dirty="0">
                                <a:latin typeface="Times New Roman" panose="02020603050405020304" pitchFamily="18" charset="0"/>
                                <a:ea typeface="Times New Roman" panose="02020603050405020304" pitchFamily="18" charset="0"/>
                              </a:endParaRPr>
                            </a:p>
                          </p:txBody>
                        </p:sp>
                      </p:grpSp>
                      <p:pic>
                        <p:nvPicPr>
                          <p:cNvPr id="24" name="Shape 40" descr="Icon&#10;&#10;Description automatically generated">
                            <a:extLst>
                              <a:ext uri="{FF2B5EF4-FFF2-40B4-BE49-F238E27FC236}">
                                <a16:creationId xmlns:a16="http://schemas.microsoft.com/office/drawing/2014/main" xmlns="" id="{26AEA16B-696A-A646-A2C3-7A4DE8C3D8B1}"/>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a:effectLst>
                            <a:outerShdw blurRad="50800" dist="38100" dir="2700000" algn="tl" rotWithShape="0">
                              <a:prstClr val="black">
                                <a:alpha val="40000"/>
                              </a:prstClr>
                            </a:outerShdw>
                          </a:effectLst>
                        </p:spPr>
                      </p:pic>
                    </p:grpSp>
                  </p:grpSp>
                </p:grpSp>
              </p:grpSp>
            </p:grpSp>
          </p:grpSp>
        </p:grpSp>
      </p:grpSp>
      <p:sp>
        <p:nvSpPr>
          <p:cNvPr id="2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269</a:t>
            </a:r>
          </a:p>
        </p:txBody>
      </p:sp>
      <p:pic>
        <p:nvPicPr>
          <p:cNvPr id="2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0" name="TextBox 29">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1200329"/>
          </a:xfrm>
          <a:prstGeom prst="rect">
            <a:avLst/>
          </a:prstGeom>
          <a:noFill/>
        </p:spPr>
        <p:txBody>
          <a:bodyPr wrap="square" rtlCol="0">
            <a:spAutoFit/>
          </a:bodyPr>
          <a:lstStyle/>
          <a:p>
            <a:pPr marL="457200" indent="-457200">
              <a:buFont typeface="+mj-lt"/>
              <a:buAutoNum type="arabicPeriod" startAt="9"/>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whether your observations support or disprove your hypothesis about the relationship between each angle pair. Then, summarize your discussion.</a:t>
            </a:r>
          </a:p>
        </p:txBody>
      </p:sp>
    </p:spTree>
    <p:extLst>
      <p:ext uri="{BB962C8B-B14F-4D97-AF65-F5344CB8AC3E}">
        <p14:creationId xmlns:p14="http://schemas.microsoft.com/office/powerpoint/2010/main" val="3015182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270</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270</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43;g103996e1364_0_321">
            <a:extLst>
              <a:ext uri="{FF2B5EF4-FFF2-40B4-BE49-F238E27FC236}">
                <a16:creationId xmlns:mc="http://schemas.openxmlformats.org/markup-compatibility/2006" xmlns:a14="http://schemas.microsoft.com/office/drawing/2010/main" xmlns:a16="http://schemas.microsoft.com/office/drawing/2014/main" xmlns="" id="{21B1DF8E-16A0-FA4E-8CEB-434668DFA68D}"/>
              </a:ext>
            </a:extLst>
          </p:cNvPr>
          <p:cNvSpPr txBox="1">
            <a:spLocks/>
          </p:cNvSpPr>
          <p:nvPr/>
        </p:nvSpPr>
        <p:spPr>
          <a:xfrm>
            <a:off x="1052650" y="87527"/>
            <a:ext cx="10441876"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6.6.3 Guided Instruction: Using Similar Triangles to Solve Real-World Problems</a:t>
            </a:r>
          </a:p>
        </p:txBody>
      </p:sp>
      <p:pic>
        <p:nvPicPr>
          <p:cNvPr id="13"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05350"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C01B13E8-EC8D-E443-A329-C5E3593DD13A}"/>
                  </a:ext>
                </a:extLst>
              </p:cNvPr>
              <p:cNvSpPr txBox="1"/>
              <p:nvPr/>
            </p:nvSpPr>
            <p:spPr>
              <a:xfrm>
                <a:off x="751114" y="1386025"/>
                <a:ext cx="1074341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largest native tree in Florida is a bald cypress located in Hamilton County. It’s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101</m:t>
                    </m:r>
                  </m:oMath>
                </a14:m>
                <a:r>
                  <a:rPr lang="en-US" sz="2000" dirty="0">
                    <a:latin typeface="Verdana" panose="020B0604030504040204" pitchFamily="34" charset="0"/>
                    <a:ea typeface="Verdana" panose="020B0604030504040204" pitchFamily="34" charset="0"/>
                    <a:cs typeface="Verdana" panose="020B0604030504040204" pitchFamily="34" charset="0"/>
                  </a:rPr>
                  <a:t> feet (ft.) tall. In a local park, there is a very tall tree. Ryan wants to find out if the tree in the local park is close in height to the bald cypress.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When two objects are near one another, the sun hits those objects at approximately the same angle. Ryan walks toward the tree until his shadow and the tree’s shadow end at the same point. He is exactly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5.5</m:t>
                    </m:r>
                  </m:oMath>
                </a14:m>
                <a:r>
                  <a:rPr lang="en-US" sz="2000" dirty="0">
                    <a:latin typeface="Verdana" panose="020B0604030504040204" pitchFamily="34" charset="0"/>
                    <a:ea typeface="Verdana" panose="020B0604030504040204" pitchFamily="34" charset="0"/>
                    <a:cs typeface="Verdana" panose="020B0604030504040204" pitchFamily="34" charset="0"/>
                  </a:rPr>
                  <a:t> ft. tall and casts a shadow of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ft. When the shadows are at the same point, Ryan is standing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56</m:t>
                    </m:r>
                  </m:oMath>
                </a14:m>
                <a:r>
                  <a:rPr lang="en-US" sz="2000" dirty="0">
                    <a:latin typeface="Verdana" panose="020B0604030504040204" pitchFamily="34" charset="0"/>
                    <a:ea typeface="Verdana" panose="020B0604030504040204" pitchFamily="34" charset="0"/>
                    <a:cs typeface="Verdana" panose="020B0604030504040204" pitchFamily="34" charset="0"/>
                  </a:rPr>
                  <a:t> ft. from the base of the tree.</a:t>
                </a:r>
              </a:p>
            </p:txBody>
          </p:sp>
        </mc:Choice>
        <mc:Fallback xmlns="">
          <p:sp>
            <p:nvSpPr>
              <p:cNvPr id="14" name="TextBox 13">
                <a:extLst>
                  <a:ext uri="{FF2B5EF4-FFF2-40B4-BE49-F238E27FC236}">
                    <a16:creationId xmlns:a16="http://schemas.microsoft.com/office/drawing/2014/main" xmlns=""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751114" y="1386025"/>
                <a:ext cx="10743412" cy="2862322"/>
              </a:xfrm>
              <a:prstGeom prst="rect">
                <a:avLst/>
              </a:prstGeom>
              <a:blipFill rotWithShape="1">
                <a:blip r:embed="rId5"/>
                <a:stretch>
                  <a:fillRect l="-567" t="-1064" r="-1191" b="-2766"/>
                </a:stretch>
              </a:blipFill>
            </p:spPr>
            <p:txBody>
              <a:bodyPr/>
              <a:lstStyle/>
              <a:p>
                <a:r>
                  <a:rPr lang="en-US">
                    <a:noFill/>
                  </a:rPr>
                  <a:t> </a:t>
                </a:r>
              </a:p>
            </p:txBody>
          </p:sp>
        </mc:Fallback>
      </mc:AlternateContent>
    </p:spTree>
    <p:extLst>
      <p:ext uri="{BB962C8B-B14F-4D97-AF65-F5344CB8AC3E}">
        <p14:creationId xmlns:p14="http://schemas.microsoft.com/office/powerpoint/2010/main" val="390245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Diagram&#10;&#10;Description automatically generated">
            <a:extLst>
              <a:ext uri="{FF2B5EF4-FFF2-40B4-BE49-F238E27FC236}">
                <a16:creationId xmlns:a16="http://schemas.microsoft.com/office/drawing/2014/main" xmlns="" id="{F75AF36B-477A-2849-9256-9546289F5A8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22550" y="856821"/>
            <a:ext cx="6946900" cy="4049395"/>
          </a:xfrm>
          <a:prstGeom prst="rect">
            <a:avLst/>
          </a:prstGeom>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270</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TextBox 10">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Label the diagram with the given information</a:t>
            </a:r>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smtClean="0">
                <a:latin typeface="Verdana" panose="020B0604030504040204" pitchFamily="34" charset="0"/>
                <a:ea typeface="Verdana" panose="020B0604030504040204" pitchFamily="34" charset="0"/>
                <a:cs typeface="Verdana" panose="020B0604030504040204" pitchFamily="34" charset="0"/>
              </a:rPr>
              <a:t>How </a:t>
            </a:r>
            <a:r>
              <a:rPr lang="en-US" sz="2400" dirty="0">
                <a:latin typeface="Verdana" panose="020B0604030504040204" pitchFamily="34" charset="0"/>
                <a:ea typeface="Verdana" panose="020B0604030504040204" pitchFamily="34" charset="0"/>
                <a:cs typeface="Verdana" panose="020B0604030504040204" pitchFamily="34" charset="0"/>
              </a:rPr>
              <a:t>long is the tree’s shadow</a:t>
            </a:r>
            <a:r>
              <a:rPr lang="en-US" sz="2400" dirty="0" smtClean="0">
                <a:latin typeface="Verdana" panose="020B0604030504040204" pitchFamily="34" charset="0"/>
                <a:ea typeface="Verdana" panose="020B0604030504040204" pitchFamily="34" charset="0"/>
                <a:cs typeface="Verdana" panose="020B0604030504040204" pitchFamily="34"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617750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TextBox 11">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965462"/>
          </a:xfrm>
          <a:prstGeom prst="rect">
            <a:avLst/>
          </a:prstGeom>
          <a:noFill/>
        </p:spPr>
        <p:txBody>
          <a:bodyPr wrap="square" rtlCol="0">
            <a:spAutoFit/>
          </a:bodyPr>
          <a:lstStyle/>
          <a:p>
            <a:pPr marL="457200" indent="-457200">
              <a:spcBef>
                <a:spcPts val="180"/>
              </a:spcBef>
              <a:spcAft>
                <a:spcPts val="180"/>
              </a:spcAft>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The diagram shows two similar triangles that can be used to represent the situation. </a:t>
            </a: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pPr marL="457200" indent="-457200">
              <a:spcBef>
                <a:spcPts val="180"/>
              </a:spcBef>
              <a:spcAft>
                <a:spcPts val="180"/>
              </a:spcAft>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spcBef>
                <a:spcPts val="180"/>
              </a:spcBef>
              <a:spcAft>
                <a:spcPts val="180"/>
              </a:spcAft>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Mark the corresponding angles and label the sides with the known measurements</a:t>
            </a:r>
            <a:r>
              <a:rPr lang="en-US" sz="2000" dirty="0" smtClean="0">
                <a:latin typeface="Verdana" panose="020B0604030504040204" pitchFamily="34" charset="0"/>
                <a:ea typeface="Times New Roman" panose="02020603050405020304" pitchFamily="18" charset="0"/>
                <a:cs typeface="Times New Roman" panose="02020603050405020304" pitchFamily="18" charset="0"/>
              </a:rPr>
              <a:t>.</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pic>
        <p:nvPicPr>
          <p:cNvPr id="8" name="Picture 7" descr="Diagram&#10;&#10;Description automatically generated">
            <a:extLst>
              <a:ext uri="{FF2B5EF4-FFF2-40B4-BE49-F238E27FC236}">
                <a16:creationId xmlns:a16="http://schemas.microsoft.com/office/drawing/2014/main" xmlns="" id="{459DFD17-7161-4047-84B4-88F0DE86472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2870" t="6140" r="7130" b="6203"/>
          <a:stretch/>
        </p:blipFill>
        <p:spPr bwMode="auto">
          <a:xfrm>
            <a:off x="2625408" y="1141556"/>
            <a:ext cx="6941185" cy="3261360"/>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270</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2377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270</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TextBox 7">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3416320"/>
          </a:xfrm>
          <a:prstGeom prst="rect">
            <a:avLst/>
          </a:prstGeom>
          <a:noFill/>
        </p:spPr>
        <p:txBody>
          <a:bodyPr wrap="square" rtlCol="0">
            <a:spAutoFit/>
          </a:bodyPr>
          <a:lstStyle/>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Determine the constant of proportionality, relating the length of the tree’s shadow to the length of Ryan’s shadow.</a:t>
            </a: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Use the constant of proportionality to determine the height of the tree.</a:t>
            </a:r>
          </a:p>
        </p:txBody>
      </p:sp>
    </p:spTree>
    <p:extLst>
      <p:ext uri="{BB962C8B-B14F-4D97-AF65-F5344CB8AC3E}">
        <p14:creationId xmlns:p14="http://schemas.microsoft.com/office/powerpoint/2010/main" val="443530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271</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830997"/>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Explain whether or not the height of the tree in the park is close in height to the bald cypress in Hamilton County.</a:t>
            </a:r>
          </a:p>
        </p:txBody>
      </p:sp>
    </p:spTree>
    <p:extLst>
      <p:ext uri="{BB962C8B-B14F-4D97-AF65-F5344CB8AC3E}">
        <p14:creationId xmlns:p14="http://schemas.microsoft.com/office/powerpoint/2010/main" val="3987792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7" name="image6.png">
            <a:extLst>
              <a:ext uri="{FF2B5EF4-FFF2-40B4-BE49-F238E27FC236}">
                <a16:creationId xmlns:a16="http://schemas.microsoft.com/office/drawing/2014/main" xmlns="" id="{09D3CC5E-FCDA-3849-AD25-6FEF6BB8574E}"/>
              </a:ext>
            </a:extLst>
          </p:cNvPr>
          <p:cNvPicPr/>
          <p:nvPr/>
        </p:nvPicPr>
        <p:blipFill>
          <a:blip r:embed="rId3"/>
          <a:srcRect/>
          <a:stretch>
            <a:fillRect/>
          </a:stretch>
        </p:blipFill>
        <p:spPr>
          <a:xfrm>
            <a:off x="4630950" y="2850886"/>
            <a:ext cx="1156228" cy="1156228"/>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271</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580438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271</a:t>
            </a: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378363"/>
            <a:ext cx="9510717"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6.6.4 Collaboration: Error Analysis</a:t>
            </a:r>
          </a:p>
        </p:txBody>
      </p:sp>
      <p:pic>
        <p:nvPicPr>
          <p:cNvPr id="15"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E44DF7DE-9172-3E4E-B74A-7A51585FB6EA}"/>
                  </a:ext>
                </a:extLst>
              </p:cNvPr>
              <p:cNvSpPr txBox="1"/>
              <p:nvPr/>
            </p:nvSpPr>
            <p:spPr>
              <a:xfrm>
                <a:off x="529070" y="1386025"/>
                <a:ext cx="11001514"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Erika and Michael were working together on the following problem.</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93713"/>
                <a:r>
                  <a:rPr lang="en-US" sz="2400" dirty="0">
                    <a:latin typeface="Verdana" panose="020B0604030504040204" pitchFamily="34" charset="0"/>
                    <a:ea typeface="Verdana" panose="020B0604030504040204" pitchFamily="34" charset="0"/>
                    <a:cs typeface="Verdana" panose="020B0604030504040204" pitchFamily="34" charset="0"/>
                  </a:rPr>
                  <a:t>A man is standing near the Washington Monument. He is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5.5</m:t>
                    </m:r>
                  </m:oMath>
                </a14:m>
                <a:r>
                  <a:rPr lang="en-US" sz="2400" dirty="0">
                    <a:latin typeface="Verdana" panose="020B0604030504040204" pitchFamily="34" charset="0"/>
                    <a:ea typeface="Verdana" panose="020B0604030504040204" pitchFamily="34" charset="0"/>
                    <a:cs typeface="Verdana" panose="020B0604030504040204" pitchFamily="34" charset="0"/>
                  </a:rPr>
                  <a:t> feet (ft.) tall and casts a shadow that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1.25</m:t>
                    </m:r>
                  </m:oMath>
                </a14:m>
                <a:r>
                  <a:rPr lang="en-US" sz="2400" dirty="0">
                    <a:latin typeface="Verdana" panose="020B0604030504040204" pitchFamily="34" charset="0"/>
                    <a:ea typeface="Verdana" panose="020B0604030504040204" pitchFamily="34" charset="0"/>
                    <a:cs typeface="Verdana" panose="020B0604030504040204" pitchFamily="34" charset="0"/>
                  </a:rPr>
                  <a:t> ft. long.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The </a:t>
                </a:r>
                <a:r>
                  <a:rPr lang="en-US" sz="2400" dirty="0">
                    <a:latin typeface="Verdana" panose="020B0604030504040204" pitchFamily="34" charset="0"/>
                    <a:ea typeface="Verdana" panose="020B0604030504040204" pitchFamily="34" charset="0"/>
                    <a:cs typeface="Verdana" panose="020B0604030504040204" pitchFamily="34" charset="0"/>
                  </a:rPr>
                  <a:t>shadow of the Washington Monument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127</m:t>
                    </m:r>
                  </m:oMath>
                </a14:m>
                <a:r>
                  <a:rPr lang="en-US" sz="2400" dirty="0">
                    <a:latin typeface="Verdana" panose="020B0604030504040204" pitchFamily="34" charset="0"/>
                    <a:ea typeface="Verdana" panose="020B0604030504040204" pitchFamily="34" charset="0"/>
                    <a:cs typeface="Verdana" panose="020B0604030504040204" pitchFamily="34" charset="0"/>
                  </a:rPr>
                  <a:t> ft. long.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What </a:t>
                </a:r>
                <a:r>
                  <a:rPr lang="en-US" sz="2400" dirty="0">
                    <a:latin typeface="Verdana" panose="020B0604030504040204" pitchFamily="34" charset="0"/>
                    <a:ea typeface="Verdana" panose="020B0604030504040204" pitchFamily="34" charset="0"/>
                    <a:cs typeface="Verdana" panose="020B0604030504040204" pitchFamily="34" charset="0"/>
                  </a:rPr>
                  <a:t>is the height of the Washington Monument?</a:t>
                </a:r>
              </a:p>
            </p:txBody>
          </p:sp>
        </mc:Choice>
        <mc:Fallback xmlns="">
          <p:sp>
            <p:nvSpPr>
              <p:cNvPr id="16" name="TextBox 15">
                <a:extLst>
                  <a:ext uri="{FF2B5EF4-FFF2-40B4-BE49-F238E27FC236}">
                    <a16:creationId xmlns:a16="http://schemas.microsoft.com/office/drawing/2014/main" xmlns="" id="{E44DF7DE-9172-3E4E-B74A-7A51585FB6EA}"/>
                  </a:ext>
                </a:extLst>
              </p:cNvPr>
              <p:cNvSpPr txBox="1">
                <a:spLocks noRot="1" noChangeAspect="1" noMove="1" noResize="1" noEditPoints="1" noAdjustHandles="1" noChangeArrowheads="1" noChangeShapeType="1" noTextEdit="1"/>
              </p:cNvSpPr>
              <p:nvPr/>
            </p:nvSpPr>
            <p:spPr>
              <a:xfrm>
                <a:off x="529070" y="1386025"/>
                <a:ext cx="11001514" cy="2308324"/>
              </a:xfrm>
              <a:prstGeom prst="rect">
                <a:avLst/>
              </a:prstGeom>
              <a:blipFill rotWithShape="1">
                <a:blip r:embed="rId5"/>
                <a:stretch>
                  <a:fillRect l="-886" t="-2111" b="-5013"/>
                </a:stretch>
              </a:blipFill>
            </p:spPr>
            <p:txBody>
              <a:bodyPr/>
              <a:lstStyle/>
              <a:p>
                <a:r>
                  <a:rPr lang="en-US">
                    <a:noFill/>
                  </a:rPr>
                  <a:t> </a:t>
                </a:r>
              </a:p>
            </p:txBody>
          </p:sp>
        </mc:Fallback>
      </mc:AlternateContent>
      <p:sp>
        <p:nvSpPr>
          <p:cNvPr id="17"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10512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TextBox 11">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They drew the following visual representation to help solve the problem</a:t>
            </a:r>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There is an error in their diagram. Describe the mistake they made</a:t>
            </a:r>
            <a:r>
              <a:rPr lang="en-US" sz="2400" dirty="0" smtClean="0">
                <a:latin typeface="Verdana" panose="020B0604030504040204" pitchFamily="34" charset="0"/>
                <a:ea typeface="Verdana" panose="020B0604030504040204" pitchFamily="34" charset="0"/>
                <a:cs typeface="Verdana" panose="020B0604030504040204" pitchFamily="34"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Diagram&#10;&#10;Description automatically generated">
            <a:extLst>
              <a:ext uri="{FF2B5EF4-FFF2-40B4-BE49-F238E27FC236}">
                <a16:creationId xmlns:a16="http://schemas.microsoft.com/office/drawing/2014/main" xmlns="" id="{59841F4E-BE4E-1B4C-A828-D7DA99C3445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53379" y="1187825"/>
            <a:ext cx="4364915" cy="3149071"/>
          </a:xfrm>
          <a:prstGeom prst="rect">
            <a:avLst/>
          </a:prstGeom>
        </p:spPr>
      </p:pic>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271</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28624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272</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3046988"/>
          </a:xfrm>
          <a:prstGeom prst="rect">
            <a:avLst/>
          </a:prstGeom>
          <a:noFill/>
        </p:spPr>
        <p:txBody>
          <a:bodyPr wrap="square" rtlCol="0">
            <a:spAutoFit/>
          </a:bodyPr>
          <a:lstStyle/>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Draw a correct diagram. Mark the corresponding angles and label the sides with the known measurements.</a:t>
            </a: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Find the height of the Washington Monument.</a:t>
            </a:r>
          </a:p>
        </p:txBody>
      </p:sp>
    </p:spTree>
    <p:extLst>
      <p:ext uri="{BB962C8B-B14F-4D97-AF65-F5344CB8AC3E}">
        <p14:creationId xmlns:p14="http://schemas.microsoft.com/office/powerpoint/2010/main" val="1009857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pic>
        <p:nvPicPr>
          <p:cNvPr id="7" name="image6.png">
            <a:extLst>
              <a:ext uri="{FF2B5EF4-FFF2-40B4-BE49-F238E27FC236}">
                <a16:creationId xmlns:a16="http://schemas.microsoft.com/office/drawing/2014/main" xmlns="" id="{09D3CC5E-FCDA-3849-AD25-6FEF6BB8574E}"/>
              </a:ext>
            </a:extLst>
          </p:cNvPr>
          <p:cNvPicPr/>
          <p:nvPr/>
        </p:nvPicPr>
        <p:blipFill>
          <a:blip r:embed="rId3"/>
          <a:srcRect/>
          <a:stretch>
            <a:fillRect/>
          </a:stretch>
        </p:blipFill>
        <p:spPr>
          <a:xfrm>
            <a:off x="4630950" y="2850886"/>
            <a:ext cx="1156228" cy="1156228"/>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272</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120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272</a:t>
            </a: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156764"/>
            <a:ext cx="9510717"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6.6.5 Collaboration: Using Similar Triangles to Solve Real-World Problems</a:t>
            </a:r>
          </a:p>
        </p:txBody>
      </p:sp>
      <p:pic>
        <p:nvPicPr>
          <p:cNvPr id="15"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xmlns="" id="{E44DF7DE-9172-3E4E-B74A-7A51585FB6EA}"/>
                  </a:ext>
                </a:extLst>
              </p:cNvPr>
              <p:cNvSpPr txBox="1"/>
              <p:nvPr/>
            </p:nvSpPr>
            <p:spPr>
              <a:xfrm>
                <a:off x="529070" y="1386025"/>
                <a:ext cx="11001514" cy="2461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While hiking, Selena comes to a cliff overlooking the ocean. She notices a ship in the distance and wonders how far the ship is from the coast. She knows that the cliff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34.5</m:t>
                    </m:r>
                  </m:oMath>
                </a14:m>
                <a:r>
                  <a:rPr lang="en-US" sz="2400" dirty="0">
                    <a:latin typeface="Verdana" panose="020B0604030504040204" pitchFamily="34" charset="0"/>
                    <a:ea typeface="Verdana" panose="020B0604030504040204" pitchFamily="34" charset="0"/>
                    <a:cs typeface="Verdana" panose="020B0604030504040204" pitchFamily="34" charset="0"/>
                  </a:rPr>
                  <a:t> feet (ft.) above the water. If she stands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ft. from the edge of the cliff, she can visually align the top of the cliff with the water at the back of the ship. Her eye level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m:t>
                        </m:r>
                      </m:num>
                      <m:den>
                        <m:r>
                          <a:rPr lang="es-ES" sz="2400" i="1" dirty="0">
                            <a:latin typeface="Cambria Math" panose="02040503050406030204" pitchFamily="18" charset="0"/>
                            <a:ea typeface="Verdana" panose="020B0604030504040204" pitchFamily="34" charset="0"/>
                            <a:cs typeface="Verdana" panose="020B0604030504040204" pitchFamily="34" charset="0"/>
                          </a:rPr>
                          <m:t>4</m:t>
                        </m:r>
                      </m:den>
                    </m:f>
                  </m:oMath>
                </a14:m>
                <a:r>
                  <a:rPr lang="en-US" sz="2400" dirty="0">
                    <a:latin typeface="Verdana" panose="020B0604030504040204" pitchFamily="34" charset="0"/>
                    <a:ea typeface="Verdana" panose="020B0604030504040204" pitchFamily="34" charset="0"/>
                    <a:cs typeface="Verdana" panose="020B0604030504040204" pitchFamily="34" charset="0"/>
                  </a:rPr>
                  <a:t> ft. above the ground. </a:t>
                </a:r>
              </a:p>
            </p:txBody>
          </p:sp>
        </mc:Choice>
        <mc:Fallback xmlns="">
          <p:sp>
            <p:nvSpPr>
              <p:cNvPr id="16" name="TextBox 15">
                <a:extLst>
                  <a:ext uri="{FF2B5EF4-FFF2-40B4-BE49-F238E27FC236}">
                    <a16:creationId xmlns:a16="http://schemas.microsoft.com/office/drawing/2014/main" xmlns="" id="{E44DF7DE-9172-3E4E-B74A-7A51585FB6EA}"/>
                  </a:ext>
                </a:extLst>
              </p:cNvPr>
              <p:cNvSpPr txBox="1">
                <a:spLocks noRot="1" noChangeAspect="1" noMove="1" noResize="1" noEditPoints="1" noAdjustHandles="1" noChangeArrowheads="1" noChangeShapeType="1" noTextEdit="1"/>
              </p:cNvSpPr>
              <p:nvPr/>
            </p:nvSpPr>
            <p:spPr>
              <a:xfrm>
                <a:off x="529070" y="1386025"/>
                <a:ext cx="11001514" cy="2461315"/>
              </a:xfrm>
              <a:prstGeom prst="rect">
                <a:avLst/>
              </a:prstGeom>
              <a:blipFill rotWithShape="1">
                <a:blip r:embed="rId5"/>
                <a:stretch>
                  <a:fillRect l="-886" t="-1980" r="-1496" b="-990"/>
                </a:stretch>
              </a:blipFill>
            </p:spPr>
            <p:txBody>
              <a:bodyPr/>
              <a:lstStyle/>
              <a:p>
                <a:r>
                  <a:rPr lang="en-US">
                    <a:noFill/>
                  </a:rPr>
                  <a:t> </a:t>
                </a:r>
              </a:p>
            </p:txBody>
          </p:sp>
        </mc:Fallback>
      </mc:AlternateContent>
      <p:sp>
        <p:nvSpPr>
          <p:cNvPr id="17"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774794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3" name="TextBox 12">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893647"/>
          </a:xfrm>
          <a:prstGeom prst="rect">
            <a:avLst/>
          </a:prstGeom>
          <a:noFill/>
        </p:spPr>
        <p:txBody>
          <a:bodyPr wrap="square" rtlCol="0">
            <a:spAutoFit/>
          </a:bodyPr>
          <a:lstStyle/>
          <a:p>
            <a:pPr marL="922338" indent="-455613">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smtClean="0">
                <a:latin typeface="Verdana" panose="020B0604030504040204" pitchFamily="34" charset="0"/>
                <a:ea typeface="Verdana" panose="020B0604030504040204" pitchFamily="34" charset="0"/>
                <a:cs typeface="Verdana" panose="020B0604030504040204" pitchFamily="34" charset="0"/>
              </a:rPr>
              <a:t>Label </a:t>
            </a:r>
            <a:r>
              <a:rPr lang="en-US" sz="2400" dirty="0">
                <a:latin typeface="Verdana" panose="020B0604030504040204" pitchFamily="34" charset="0"/>
                <a:ea typeface="Verdana" panose="020B0604030504040204" pitchFamily="34" charset="0"/>
                <a:cs typeface="Verdana" panose="020B0604030504040204" pitchFamily="34" charset="0"/>
              </a:rPr>
              <a:t>the similar triangles with the given information.</a:t>
            </a: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distance from the coast to the ship.</a:t>
            </a:r>
          </a:p>
        </p:txBody>
      </p:sp>
      <p:pic>
        <p:nvPicPr>
          <p:cNvPr id="7" name="Picture 6">
            <a:extLst>
              <a:ext uri="{FF2B5EF4-FFF2-40B4-BE49-F238E27FC236}">
                <a16:creationId xmlns:a16="http://schemas.microsoft.com/office/drawing/2014/main" xmlns="" id="{5C00C9C9-0613-1943-AFAE-64D2E780B57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086" t="12749" r="21318" b="13588"/>
          <a:stretch/>
        </p:blipFill>
        <p:spPr bwMode="auto">
          <a:xfrm>
            <a:off x="2684463" y="37418"/>
            <a:ext cx="6823075" cy="3117215"/>
          </a:xfrm>
          <a:prstGeom prst="rect">
            <a:avLst/>
          </a:prstGeom>
          <a:ln>
            <a:noFill/>
          </a:ln>
          <a:extLst>
            <a:ext uri="{53640926-AAD7-44D8-BBD7-CCE9431645EC}">
              <a14:shadowObscured xmlns:a14="http://schemas.microsoft.com/office/drawing/2010/main"/>
            </a:ext>
          </a:extLst>
        </p:spPr>
      </p:pic>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272</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3071032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7" name="Picture 6" descr="A picture containing text, businesscard&#10;&#10;Description automatically generated">
            <a:extLst>
              <a:ext uri="{FF2B5EF4-FFF2-40B4-BE49-F238E27FC236}">
                <a16:creationId xmlns:a16="http://schemas.microsoft.com/office/drawing/2014/main" xmlns="" id="{E19188BD-805C-2047-BCCE-9732F80D714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9461" t="12397" r="22532" b="9795"/>
          <a:stretch/>
        </p:blipFill>
        <p:spPr bwMode="auto">
          <a:xfrm>
            <a:off x="4092182" y="1687938"/>
            <a:ext cx="4158302" cy="2473325"/>
          </a:xfrm>
          <a:prstGeom prst="rect">
            <a:avLst/>
          </a:prstGeom>
          <a:ln>
            <a:noFill/>
          </a:ln>
          <a:extLst>
            <a:ext uri="{53640926-AAD7-44D8-BBD7-CCE9431645EC}">
              <a14:shadowObscured xmlns:a14="http://schemas.microsoft.com/office/drawing/2010/main"/>
            </a:ext>
          </a:ex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273</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1" name="TextBox 10">
                <a:extLst>
                  <a:ext uri="{FF2B5EF4-FFF2-40B4-BE49-F238E27FC236}">
                    <a16:creationId xmlns="" xmlns:a16="http://schemas.microsoft.com/office/drawing/2014/main" id="{2AA35BC6-D428-FC41-BDE5-6438AB8840FC}"/>
                  </a:ext>
                </a:extLst>
              </p:cNvPr>
              <p:cNvSpPr txBox="1"/>
              <p:nvPr/>
            </p:nvSpPr>
            <p:spPr>
              <a:xfrm>
                <a:off x="540564" y="410666"/>
                <a:ext cx="10990547"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Yan is walking his dog. At a certain point in their walk, he notices that their shadows end at the same spot. Yan’s dog is walking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24</m:t>
                    </m:r>
                  </m:oMath>
                </a14:m>
                <a:r>
                  <a:rPr lang="en-US" sz="2000" dirty="0">
                    <a:latin typeface="Verdana" panose="020B0604030504040204" pitchFamily="34" charset="0"/>
                    <a:ea typeface="Verdana" panose="020B0604030504040204" pitchFamily="34" charset="0"/>
                    <a:cs typeface="Verdana" panose="020B0604030504040204" pitchFamily="34" charset="0"/>
                  </a:rPr>
                  <a:t> inches (in.) in front of him. His dog’s height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in. and is casting a shadow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18</m:t>
                    </m:r>
                  </m:oMath>
                </a14:m>
                <a:r>
                  <a:rPr lang="en-US" sz="2000" dirty="0">
                    <a:latin typeface="Verdana" panose="020B0604030504040204" pitchFamily="34" charset="0"/>
                    <a:ea typeface="Verdana" panose="020B0604030504040204" pitchFamily="34" charset="0"/>
                    <a:cs typeface="Verdana" panose="020B0604030504040204" pitchFamily="34" charset="0"/>
                  </a:rPr>
                  <a:t> in. long</a:t>
                </a:r>
                <a:r>
                  <a:rPr lang="en-US" sz="2000" dirty="0" smtClean="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smtClean="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the similar triangles with the given information.</a:t>
                </a:r>
              </a:p>
              <a:p>
                <a:pPr marL="922338" indent="-45561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2338" indent="-45561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Yan’s height</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4" y="410666"/>
                <a:ext cx="10990547" cy="5324535"/>
              </a:xfrm>
              <a:prstGeom prst="rect">
                <a:avLst/>
              </a:prstGeom>
              <a:blipFill rotWithShape="1">
                <a:blip r:embed="rId5"/>
                <a:stretch>
                  <a:fillRect l="-610" t="-686" b="-1030"/>
                </a:stretch>
              </a:blipFill>
            </p:spPr>
            <p:txBody>
              <a:bodyPr/>
              <a:lstStyle/>
              <a:p>
                <a:r>
                  <a:rPr lang="en-US">
                    <a:noFill/>
                  </a:rPr>
                  <a:t> </a:t>
                </a:r>
              </a:p>
            </p:txBody>
          </p:sp>
        </mc:Fallback>
      </mc:AlternateContent>
    </p:spTree>
    <p:extLst>
      <p:ext uri="{BB962C8B-B14F-4D97-AF65-F5344CB8AC3E}">
        <p14:creationId xmlns:p14="http://schemas.microsoft.com/office/powerpoint/2010/main" val="21035049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49574"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3073" name="Picture 29" descr="Icon&#10;&#10;Description automatically generated">
            <a:extLst>
              <a:ext uri="{FF2B5EF4-FFF2-40B4-BE49-F238E27FC236}">
                <a16:creationId xmlns:a16="http://schemas.microsoft.com/office/drawing/2014/main" xmlns="" id="{15FC68D7-FB31-E44F-9BE5-B516C346CF7F}"/>
              </a:ext>
            </a:extLst>
          </p:cNvPr>
          <p:cNvPicPr>
            <a:picLocks noChangeAspect="1" noChangeArrowheads="1"/>
          </p:cNvPicPr>
          <p:nvPr/>
        </p:nvPicPr>
        <p:blipFill>
          <a:blip r:embed="rId3" r:link="rId4">
            <a:extLst>
              <a:ext uri="{28A0092B-C50C-407E-A947-70E740481C1C}">
                <a14:useLocalDpi xmlns:a14="http://schemas.microsoft.com/office/drawing/2010/main"/>
              </a:ext>
            </a:extLst>
          </a:blip>
          <a:srcRect/>
          <a:stretch>
            <a:fillRect/>
          </a:stretch>
        </p:blipFill>
        <p:spPr bwMode="auto">
          <a:xfrm>
            <a:off x="4591426" y="2849921"/>
            <a:ext cx="1158149" cy="115814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273</a:t>
            </a: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66014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5" name="image12.png" descr="Diagram&#10;&#10;Description automatically generated">
            <a:extLst>
              <a:ext uri="{FF2B5EF4-FFF2-40B4-BE49-F238E27FC236}">
                <a16:creationId xmlns:a16="http://schemas.microsoft.com/office/drawing/2014/main" xmlns="" id="{FDA2B979-AE8C-6842-AC98-1AEEF4378F0C}"/>
              </a:ext>
            </a:extLst>
          </p:cNvPr>
          <p:cNvPicPr>
            <a:picLocks noChangeAspect="1"/>
          </p:cNvPicPr>
          <p:nvPr/>
        </p:nvPicPr>
        <p:blipFill>
          <a:blip r:embed="rId3" cstate="screen">
            <a:extLst>
              <a:ext uri="{28A0092B-C50C-407E-A947-70E740481C1C}">
                <a14:useLocalDpi xmlns:a14="http://schemas.microsoft.com/office/drawing/2010/main"/>
              </a:ext>
            </a:extLst>
          </a:blip>
          <a:srcRect l="2006" r="2006"/>
          <a:stretch>
            <a:fillRect/>
          </a:stretch>
        </p:blipFill>
        <p:spPr bwMode="auto">
          <a:xfrm>
            <a:off x="3536736" y="2561347"/>
            <a:ext cx="5118527" cy="2563509"/>
          </a:xfrm>
          <a:prstGeom prst="rect">
            <a:avLst/>
          </a:prstGeom>
          <a:ln>
            <a:noFill/>
          </a:ln>
          <a:extLst>
            <a:ext uri="{53640926-AAD7-44D8-BBD7-CCE9431645EC}">
              <a14:shadowObscured xmlns:a14="http://schemas.microsoft.com/office/drawing/2010/main"/>
            </a:ext>
          </a:extLst>
        </p:spPr>
      </p:pic>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273</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6.6.6 Your Turn!</a:t>
            </a:r>
          </a:p>
        </p:txBody>
      </p:sp>
      <p:pic>
        <p:nvPicPr>
          <p:cNvPr id="14"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7" name="TextBox 16">
            <a:extLst>
              <a:ext uri="{FF2B5EF4-FFF2-40B4-BE49-F238E27FC236}">
                <a16:creationId xmlns="" xmlns:a16="http://schemas.microsoft.com/office/drawing/2014/main" xmlns:a14="http://schemas.microsoft.com/office/drawing/2010/main" xmlns:mc="http://schemas.openxmlformats.org/markup-compatibility/2006" id="{759C3E41-93EC-B84D-963F-86A3B15AC1C6}"/>
              </a:ext>
            </a:extLst>
          </p:cNvPr>
          <p:cNvSpPr txBox="1"/>
          <p:nvPr/>
        </p:nvSpPr>
        <p:spPr>
          <a:xfrm>
            <a:off x="631371" y="1386026"/>
            <a:ext cx="10899213" cy="440120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surveyor is measuring the width of a river for a future bridge. He is unable to measure across water, so he uses similar triangles and takes a series of measurements on land. The diagram shows his </a:t>
            </a:r>
            <a:r>
              <a:rPr lang="en-US" sz="2000" dirty="0" smtClean="0">
                <a:latin typeface="Verdana" panose="020B0604030504040204" pitchFamily="34" charset="0"/>
                <a:ea typeface="Verdana" panose="020B0604030504040204" pitchFamily="34" charset="0"/>
                <a:cs typeface="Verdana" panose="020B0604030504040204" pitchFamily="34" charset="0"/>
              </a:rPr>
              <a:t>measurements.</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Use </a:t>
            </a:r>
            <a:r>
              <a:rPr lang="en-US" sz="2000" dirty="0">
                <a:latin typeface="Verdana" panose="020B0604030504040204" pitchFamily="34" charset="0"/>
                <a:ea typeface="Verdana" panose="020B0604030504040204" pitchFamily="34" charset="0"/>
                <a:cs typeface="Verdana" panose="020B0604030504040204" pitchFamily="34" charset="0"/>
              </a:rPr>
              <a:t>the surveyor’s measurements to determine the width of the river</a:t>
            </a:r>
            <a:r>
              <a:rPr lang="en-US" sz="2000" dirty="0" smtClean="0">
                <a:latin typeface="Verdana" panose="020B0604030504040204" pitchFamily="34" charset="0"/>
                <a:ea typeface="Verdana" panose="020B0604030504040204" pitchFamily="34" charset="0"/>
                <a:cs typeface="Verdana" panose="020B0604030504040204" pitchFamily="34" charset="0"/>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885256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274</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67690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274</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6.6.7 Wrap-Up: Ticket Out the Door</a:t>
            </a:r>
          </a:p>
        </p:txBody>
      </p:sp>
      <p:pic>
        <p:nvPicPr>
          <p:cNvPr id="14"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5" name="TextBox 14">
                <a:extLst>
                  <a:ext uri="{FF2B5EF4-FFF2-40B4-BE49-F238E27FC236}">
                    <a16:creationId xmlns="" xmlns:a16="http://schemas.microsoft.com/office/drawing/2014/main" id="{0370EDB7-6994-3D43-ABF9-E04CBAFB9CD9}"/>
                  </a:ext>
                </a:extLst>
              </p:cNvPr>
              <p:cNvSpPr txBox="1"/>
              <p:nvPr/>
            </p:nvSpPr>
            <p:spPr>
              <a:xfrm>
                <a:off x="593248" y="1385906"/>
                <a:ext cx="10937336" cy="193899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Shanice and her younger brother are walking home from school. Shanice notices that her shadow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 feet (ft.) long. Shanice is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ft. tall and her brother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ft. tall.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a:r>
                  <a:rPr lang="en-US" sz="2400" dirty="0">
                    <a:latin typeface="Verdana" panose="020B0604030504040204" pitchFamily="34" charset="0"/>
                    <a:ea typeface="Verdana" panose="020B0604030504040204" pitchFamily="34" charset="0"/>
                    <a:cs typeface="Verdana" panose="020B0604030504040204" pitchFamily="34" charset="0"/>
                  </a:rPr>
                  <a:t>Determine the length of her brother’s shadow.</a:t>
                </a:r>
              </a:p>
            </p:txBody>
          </p:sp>
        </mc:Choice>
        <mc:Fallback xmlns="">
          <p:sp>
            <p:nvSpPr>
              <p:cNvPr id="15" name="TextBox 14">
                <a:extLst>
                  <a:ext uri="{FF2B5EF4-FFF2-40B4-BE49-F238E27FC236}">
                    <a16:creationId xmlns="" xmlns:a16="http://schemas.microsoft.com/office/drawing/2014/main" xmlns:a14="http://schemas.microsoft.com/office/drawing/2010/main" id="{0370EDB7-6994-3D43-ABF9-E04CBAFB9CD9}"/>
                  </a:ext>
                </a:extLst>
              </p:cNvPr>
              <p:cNvSpPr txBox="1">
                <a:spLocks noRot="1" noChangeAspect="1" noMove="1" noResize="1" noEditPoints="1" noAdjustHandles="1" noChangeArrowheads="1" noChangeShapeType="1" noTextEdit="1"/>
              </p:cNvSpPr>
              <p:nvPr/>
            </p:nvSpPr>
            <p:spPr>
              <a:xfrm>
                <a:off x="593248" y="1385906"/>
                <a:ext cx="10937336" cy="1938992"/>
              </a:xfrm>
              <a:prstGeom prst="rect">
                <a:avLst/>
              </a:prstGeom>
              <a:blipFill rotWithShape="1">
                <a:blip r:embed="rId5"/>
                <a:stretch>
                  <a:fillRect l="-836" t="-2516" b="-6289"/>
                </a:stretch>
              </a:blipFill>
            </p:spPr>
            <p:txBody>
              <a:bodyPr/>
              <a:lstStyle/>
              <a:p>
                <a:r>
                  <a:rPr lang="en-US">
                    <a:noFill/>
                  </a:rPr>
                  <a:t> </a:t>
                </a:r>
              </a:p>
            </p:txBody>
          </p:sp>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1534</TotalTime>
  <Words>1108</Words>
  <Application>Microsoft Office PowerPoint</Application>
  <PresentationFormat>Custom</PresentationFormat>
  <Paragraphs>258</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Cambria Math</vt:lpstr>
      <vt:lpstr>Arial Black</vt:lpstr>
      <vt:lpstr>Verdana</vt:lpstr>
      <vt:lpstr>Calibri</vt:lpstr>
      <vt:lpstr>Times New Roman</vt:lpstr>
      <vt:lpstr>Century Gothic</vt:lpstr>
      <vt:lpstr>1_Office Theme</vt:lpstr>
      <vt:lpstr>PowerPoint Presentation</vt:lpstr>
      <vt:lpstr>PowerPoint Presentation</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48</cp:revision>
  <dcterms:created xsi:type="dcterms:W3CDTF">2015-03-17T18:51:18Z</dcterms:created>
  <dcterms:modified xsi:type="dcterms:W3CDTF">2022-06-17T12:23:30Z</dcterms:modified>
</cp:coreProperties>
</file>