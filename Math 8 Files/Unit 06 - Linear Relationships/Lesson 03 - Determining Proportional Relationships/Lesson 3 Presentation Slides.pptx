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33" r:id="rId11"/>
    <p:sldId id="342" r:id="rId12"/>
    <p:sldId id="343" r:id="rId13"/>
    <p:sldId id="323" r:id="rId14"/>
    <p:sldId id="324" r:id="rId15"/>
    <p:sldId id="337" r:id="rId16"/>
    <p:sldId id="344" r:id="rId17"/>
    <p:sldId id="345" r:id="rId18"/>
    <p:sldId id="306" r:id="rId19"/>
    <p:sldId id="307" r:id="rId20"/>
    <p:sldId id="346" r:id="rId21"/>
  </p:sldIdLst>
  <p:sldSz cx="12192000" cy="6858000"/>
  <p:notesSz cx="6858000" cy="9144000"/>
  <p:embeddedFontLst>
    <p:embeddedFont>
      <p:font typeface="Calibri" pitchFamily="34" charset="0"/>
      <p:regular r:id="rId23"/>
      <p:bold r:id="rId24"/>
      <p:italic r:id="rId25"/>
      <p:boldItalic r:id="rId26"/>
    </p:embeddedFont>
    <p:embeddedFont>
      <p:font typeface="Century Gothic" pitchFamily="34" charset="0"/>
      <p:regular r:id="rId27"/>
      <p:bold r:id="rId28"/>
      <p:italic r:id="rId29"/>
      <p:boldItalic r:id="rId30"/>
    </p:embeddedFont>
    <p:embeddedFont>
      <p:font typeface="Cambria Math" pitchFamily="18" charset="0"/>
      <p:regular r:id="rId31"/>
    </p:embeddedFont>
    <p:embeddedFont>
      <p:font typeface="Cambria" pitchFamily="18" charset="0"/>
      <p:regular r:id="rId32"/>
      <p:bold r:id="rId33"/>
      <p:italic r:id="rId34"/>
      <p:boldItalic r:id="rId35"/>
    </p:embeddedFont>
    <p:embeddedFont>
      <p:font typeface="Arial Black" pitchFamily="34" charset="0"/>
      <p:bold r:id="rId36"/>
    </p:embeddedFont>
    <p:embeddedFont>
      <p:font typeface="Verdana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5956"/>
    <p:restoredTop sz="94694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101478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2111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8000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6402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7072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8398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87872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40793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8531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flickr.com/photos/dixiebellecupcakecafe/5456378943/" TargetMode="External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xmlns="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3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Determining Proportional Relationships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248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0;g104476d1465_1_17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MA.8.AR.3.1</a:t>
            </a:r>
          </a:p>
          <a:p>
            <a:pPr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if a linear relationship is also a proportional relationship.</a:t>
            </a:r>
            <a:endParaRPr lang="en-US" sz="3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5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if a linear relationship is also a proportional relationship given a graph, table, equation, or written description. 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8235" y="1266496"/>
                <a:ext cx="1080031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following situations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</a:t>
                </a:r>
              </a:p>
              <a:p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Situation A</a:t>
                </a:r>
                <a:r>
                  <a:rPr lang="en-US" sz="2000" b="1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cost to make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cupcakes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You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charge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$0.50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per cupcake.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Situation B</a:t>
                </a:r>
                <a:r>
                  <a:rPr lang="en-US" sz="2000" b="1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cost to make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cupcakes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$8.00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You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charge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$18.00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all three dozen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cupcakes.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situation would you rather be in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en-US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35" y="1266496"/>
                <a:ext cx="10800319" cy="3785652"/>
              </a:xfrm>
              <a:prstGeom prst="rect">
                <a:avLst/>
              </a:prstGeom>
              <a:blipFill rotWithShape="1">
                <a:blip r:embed="rId3"/>
                <a:stretch>
                  <a:fillRect l="-564" t="-805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Chocolate Raspberry Cupcakes | Chocolate Raspberry Cupcake ...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6724651" y="1238490"/>
            <a:ext cx="4805934" cy="3219482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6.3.1 Warm-Up: Would You Rather?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or show your work to justify your reasoning.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12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778357"/>
                  </p:ext>
                </p:extLst>
              </p:nvPr>
            </p:nvGraphicFramePr>
            <p:xfrm>
              <a:off x="8330573" y="1460161"/>
              <a:ext cx="3200011" cy="381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1411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585896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Hours Worked</a:t>
                          </a:r>
                        </a:p>
                      </a:txBody>
                      <a:tcPr marL="60953" marR="60953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Amount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Saved </a:t>
                          </a:r>
                        </a:p>
                      </a:txBody>
                      <a:tcPr marL="60953" marR="60953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6.5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778357"/>
                  </p:ext>
                </p:extLst>
              </p:nvPr>
            </p:nvGraphicFramePr>
            <p:xfrm>
              <a:off x="8330573" y="1460161"/>
              <a:ext cx="3200011" cy="381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1411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58589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Hours Worked</a:t>
                          </a:r>
                        </a:p>
                      </a:txBody>
                      <a:tcPr marL="60953" marR="60953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Amount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Saved </a:t>
                          </a:r>
                        </a:p>
                      </a:txBody>
                      <a:tcPr marL="60953" marR="60953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7" t="-150667" r="-98113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2308" t="-150667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7" t="-250667" r="-98113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7" t="-350667" r="-98113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7" t="-450667" r="-9811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7" t="-550667" r="-9811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7" t="-650667" r="-9811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7" t="-750667" r="-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195232"/>
            <a:ext cx="10478462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6.3.2 Exploration: Exploring Proportional vs. Non-Proportional Relationships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152D1D4D-DCB8-A246-B186-D40316579D77}"/>
              </a:ext>
            </a:extLst>
          </p:cNvPr>
          <p:cNvSpPr txBox="1"/>
          <p:nvPr/>
        </p:nvSpPr>
        <p:spPr>
          <a:xfrm>
            <a:off x="601762" y="1460161"/>
            <a:ext cx="73897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following.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Diego earns $10 per hour babysitting. He has no money saved before he starts babysitting and plans to save all of his earnings. Complete the table with Diego’s savings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1059605"/>
                  </p:ext>
                </p:extLst>
              </p:nvPr>
            </p:nvGraphicFramePr>
            <p:xfrm>
              <a:off x="8221572" y="484619"/>
              <a:ext cx="3200011" cy="381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1411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585896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Hours Worked</a:t>
                          </a:r>
                        </a:p>
                      </a:txBody>
                      <a:tcPr marL="60953" marR="60953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Amount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Saved </a:t>
                          </a:r>
                        </a:p>
                      </a:txBody>
                      <a:tcPr marL="60953" marR="60953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6.5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1059605"/>
                  </p:ext>
                </p:extLst>
              </p:nvPr>
            </p:nvGraphicFramePr>
            <p:xfrm>
              <a:off x="8221572" y="484619"/>
              <a:ext cx="3200011" cy="381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1411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58589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Hours Worked</a:t>
                          </a:r>
                        </a:p>
                      </a:txBody>
                      <a:tcPr marL="60953" marR="60953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Amount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Saved </a:t>
                          </a:r>
                        </a:p>
                      </a:txBody>
                      <a:tcPr marL="60953" marR="60953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7" t="-149333" r="-98113" b="-6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2308" t="-149333" b="-6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7" t="-249333" r="-98113" b="-5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7" t="-349333" r="-98113" b="-4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7" t="-449333" r="-98113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7" t="-549333" r="-98113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7" t="-649333" r="-98113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7" t="-749333" r="-98113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53" marR="6095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739376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Diego’s sister, Camilla, started with 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$30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saved before she starts babysitting. She earns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$10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per hour as well and saves all that she earns. Complete the table with Camilla’s savings.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7393760" cy="1323439"/>
              </a:xfrm>
              <a:prstGeom prst="rect">
                <a:avLst/>
              </a:prstGeom>
              <a:blipFill rotWithShape="1">
                <a:blip r:embed="rId5"/>
                <a:stretch>
                  <a:fillRect l="-907" t="-2765" r="-1814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3" name="Group 2"/>
          <p:cNvGrpSpPr/>
          <p:nvPr/>
        </p:nvGrpSpPr>
        <p:grpSpPr>
          <a:xfrm>
            <a:off x="7076503" y="164921"/>
            <a:ext cx="4337997" cy="4697020"/>
            <a:chOff x="2007765" y="1119529"/>
            <a:chExt cx="4337997" cy="4697020"/>
          </a:xfrm>
        </p:grpSpPr>
        <p:pic>
          <p:nvPicPr>
            <p:cNvPr id="6" name="Picture 5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2486892" y="1457267"/>
              <a:ext cx="3858870" cy="3867793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7" name="Text Box 30"/>
            <p:cNvSpPr txBox="1"/>
            <p:nvPr/>
          </p:nvSpPr>
          <p:spPr>
            <a:xfrm rot="16200000">
              <a:off x="150745" y="2976549"/>
              <a:ext cx="4205532" cy="491491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2000" b="1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Amount Saved (in dollars)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Box 31"/>
            <p:cNvSpPr txBox="1"/>
            <p:nvPr/>
          </p:nvSpPr>
          <p:spPr>
            <a:xfrm>
              <a:off x="3133858" y="5325059"/>
              <a:ext cx="2737434" cy="49149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2000" b="1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Hours Worked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5" y="410665"/>
            <a:ext cx="63460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Diego’s savings are modeled by the </a:t>
            </a:r>
            <a:r>
              <a:rPr lang="en-US" sz="2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red line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Camilla’s savings are modeled by the </a:t>
            </a:r>
            <a:r>
              <a:rPr lang="en-US" sz="2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blue line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 evidence from the tables and the graph, explain which line represents a proportional relationship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686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2179692"/>
                  </p:ext>
                </p:extLst>
              </p:nvPr>
            </p:nvGraphicFramePr>
            <p:xfrm>
              <a:off x="4033363" y="3281950"/>
              <a:ext cx="3600450" cy="11582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161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78435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Diego’s Savings</a:t>
                          </a: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Camilla’s Savings </a:t>
                          </a: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=10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=10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+30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2179692"/>
                  </p:ext>
                </p:extLst>
              </p:nvPr>
            </p:nvGraphicFramePr>
            <p:xfrm>
              <a:off x="4033363" y="3281950"/>
              <a:ext cx="3600450" cy="11582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161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7843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Diego’s Savings</a:t>
                          </a: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Camilla’s Savings </a:t>
                          </a: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36" t="-160000" r="-98322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2397" t="-160000" r="-342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Graphs of proportional relationships meet two criteria. Complete the statements to describe both criteria.</a:t>
            </a:r>
          </a:p>
          <a:p>
            <a:pPr marL="457200" lvl="6" indent="-571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6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must be </a:t>
            </a:r>
            <a:r>
              <a:rPr lang="en-US" sz="20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914400" lvl="6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6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must cross the coordinates (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).</a:t>
            </a:r>
          </a:p>
          <a:p>
            <a:pPr marL="400050" lvl="6" indent="571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6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equations used to model the savings for Diego and Camilla are shown. </a:t>
            </a: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6"/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6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6"/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6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6"/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6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6" indent="-457200">
              <a:buFont typeface="+mj-lt"/>
              <a:buAutoNum type="arabi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the difference between the two equations and explain how to determine if an equation represents a proportional relationship or not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618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7264605"/>
                  </p:ext>
                </p:extLst>
              </p:nvPr>
            </p:nvGraphicFramePr>
            <p:xfrm>
              <a:off x="6290959" y="1174175"/>
              <a:ext cx="5136106" cy="527196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29461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50664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 or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Proportional?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=8+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</a:t>
                          </a: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proportional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=−4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</a:t>
                          </a: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proportional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=5+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</a:t>
                          </a: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proportional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</a:t>
                          </a: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proportional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=6−2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</a:t>
                          </a: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proportional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=−0.75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</a:t>
                          </a: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proportional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</a:t>
                          </a: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proportional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7264605"/>
                  </p:ext>
                </p:extLst>
              </p:nvPr>
            </p:nvGraphicFramePr>
            <p:xfrm>
              <a:off x="6290959" y="1174175"/>
              <a:ext cx="5136106" cy="527196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2946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50664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 or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Proportional?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660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5" t="-103670" r="-215730" b="-6284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</a:t>
                          </a: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proportional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6660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5" t="-203670" r="-215730" b="-5284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</a:t>
                          </a: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proportional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6660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5" t="-303670" r="-215730" b="-4284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</a:t>
                          </a: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proportional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6660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5" t="-400000" r="-215730" b="-32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</a:t>
                          </a: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proportional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6660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5" t="-504587" r="-215730" b="-2275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</a:t>
                          </a: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proportional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6660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5" t="-604587" r="-215730" b="-1275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</a:t>
                          </a: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proportional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  <a:tr h="6660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5" t="-704587" r="-215730" b="-275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proportional</a:t>
                          </a: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proportional</a:t>
                          </a:r>
                        </a:p>
                      </a:txBody>
                      <a:tcPr marL="41474" marR="4147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132532"/>
            <a:ext cx="10759859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6.3.3 Guided Practice: </a:t>
            </a:r>
            <a:r>
              <a:rPr lang="en-US" sz="28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Determining </a:t>
            </a: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if a </a:t>
            </a:r>
            <a:r>
              <a:rPr lang="en-US" sz="28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8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Relationship </a:t>
            </a: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is Proportional</a:t>
            </a:r>
            <a:endParaRPr lang="en-US" sz="28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91573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31D40250-DEDD-2C41-8538-3D4DD18CCC4A}"/>
              </a:ext>
            </a:extLst>
          </p:cNvPr>
          <p:cNvSpPr txBox="1"/>
          <p:nvPr/>
        </p:nvSpPr>
        <p:spPr>
          <a:xfrm>
            <a:off x="609600" y="1203735"/>
            <a:ext cx="54387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if each equation is proportional or not.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 is proportional, circle the constant of proportionality in the equation. If it is not proportional, box the portion of the equation that indicates the relationship is not proportional.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 startAt="2"/>
            </a:pP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Jada's grandparents started a savings account for her in 2010. The table shows the amount in the account each year.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whether this is a proportional relationship or not. 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800268"/>
              </p:ext>
            </p:extLst>
          </p:nvPr>
        </p:nvGraphicFramePr>
        <p:xfrm>
          <a:off x="3877748" y="1334269"/>
          <a:ext cx="4343859" cy="2410580"/>
        </p:xfrm>
        <a:graphic>
          <a:graphicData uri="http://schemas.openxmlformats.org/drawingml/2006/table">
            <a:tbl>
              <a:tblPr firstRow="1" firstCol="1" lastRow="1" lastCol="1">
                <a:tableStyleId>{5940675A-B579-460E-94D1-54222C63F5DA}</a:tableStyleId>
              </a:tblPr>
              <a:tblGrid>
                <a:gridCol w="18087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350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012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Years Since 2010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Amount</a:t>
                      </a:r>
                    </a:p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(in dollars)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21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600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90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US" sz="20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750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90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US" sz="20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900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90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endParaRPr lang="en-US" sz="20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1050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6837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7771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8258796"/>
                  </p:ext>
                </p:extLst>
              </p:nvPr>
            </p:nvGraphicFramePr>
            <p:xfrm>
              <a:off x="8368847" y="410665"/>
              <a:ext cx="3028950" cy="42672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5875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44145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Classes Attended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Cost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8258796"/>
                  </p:ext>
                </p:extLst>
              </p:nvPr>
            </p:nvGraphicFramePr>
            <p:xfrm>
              <a:off x="8368847" y="410665"/>
              <a:ext cx="3028950" cy="42672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5875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4414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Classes Attended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Cost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85" t="-149333" r="-91154" b="-7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85" t="-249333" r="-91154" b="-6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85" t="-349333" r="-91154" b="-5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85" t="-449333" r="-91154" b="-4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85" t="-549333" r="-91154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85" t="-649333" r="-91154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85" t="-749333" r="-91154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85" t="-849333" r="-91154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581526" y="1952725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5"/>
                <a:ext cx="7517585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Customers at the local gym pay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$59.99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membership fee to join and then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$15.50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 for each class they attend.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3" indent="-457200">
                  <a:buFont typeface="+mj-lt"/>
                  <a:buAutoNum type="alphaLcPeriod"/>
                </a:pP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table with the total costs per classes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attended.</a:t>
                </a:r>
              </a:p>
              <a:p>
                <a:pPr marL="914400" lvl="3" indent="-457200">
                  <a:buFont typeface="+mj-lt"/>
                  <a:buAutoNum type="alphaL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3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evidence from the written description or the table to explain if the situation is a proportional relationship or not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5"/>
                <a:ext cx="7517585" cy="3170099"/>
              </a:xfrm>
              <a:prstGeom prst="rect">
                <a:avLst/>
              </a:prstGeom>
              <a:blipFill rotWithShape="1">
                <a:blip r:embed="rId5"/>
                <a:stretch>
                  <a:fillRect l="-892" t="-1154" r="-1135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8009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782" y="1838879"/>
            <a:ext cx="4416659" cy="402717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5" y="410665"/>
            <a:ext cx="1099001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Ashley is reading a book for book club. After reading the first 40 pages of the book in a week, she plans to read 30 pages each day until she finishes to complete the book in time for her next book club meeting. The graph of the situation is shown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Ashley’s friend said the situation is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proportional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because she reads the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same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 of pages each day and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graph is a straight line. Use the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graph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correct her friend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027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1E2A4D3-6981-D346-BF2B-F4223C543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66" y="2008632"/>
            <a:ext cx="7073900" cy="4191000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6.3.4 Wrap-Up: Ticket Out the Door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528754" y="1403578"/>
            <a:ext cx="11216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Mark each relationship as either proportional or not proportional.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C1AEFB2-7880-A645-98C4-31106925B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527050"/>
            <a:ext cx="7010400" cy="5803900"/>
          </a:xfrm>
          <a:prstGeom prst="rect">
            <a:avLst/>
          </a:prstGeom>
        </p:spPr>
      </p:pic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92987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</TotalTime>
  <Words>661</Words>
  <Application>Microsoft Office PowerPoint</Application>
  <PresentationFormat>Custom</PresentationFormat>
  <Paragraphs>201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Calibri</vt:lpstr>
      <vt:lpstr>Courier New</vt:lpstr>
      <vt:lpstr>Times New Roman</vt:lpstr>
      <vt:lpstr>Century Gothic</vt:lpstr>
      <vt:lpstr>Wingdings</vt:lpstr>
      <vt:lpstr>Cambria Math</vt:lpstr>
      <vt:lpstr>Cambria</vt:lpstr>
      <vt:lpstr>Arial Black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36</cp:revision>
  <dcterms:created xsi:type="dcterms:W3CDTF">2015-03-17T18:51:18Z</dcterms:created>
  <dcterms:modified xsi:type="dcterms:W3CDTF">2022-06-16T12:25:23Z</dcterms:modified>
</cp:coreProperties>
</file>