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62" r:id="rId10"/>
    <p:sldId id="371" r:id="rId11"/>
    <p:sldId id="372" r:id="rId12"/>
    <p:sldId id="289" r:id="rId13"/>
    <p:sldId id="290" r:id="rId14"/>
    <p:sldId id="365" r:id="rId15"/>
    <p:sldId id="373" r:id="rId16"/>
    <p:sldId id="314" r:id="rId17"/>
    <p:sldId id="315" r:id="rId18"/>
    <p:sldId id="352" r:id="rId19"/>
    <p:sldId id="374" r:id="rId20"/>
    <p:sldId id="375" r:id="rId21"/>
    <p:sldId id="376" r:id="rId22"/>
    <p:sldId id="302" r:id="rId23"/>
    <p:sldId id="303" r:id="rId24"/>
    <p:sldId id="369" r:id="rId25"/>
    <p:sldId id="306" r:id="rId26"/>
    <p:sldId id="307" r:id="rId27"/>
  </p:sldIdLst>
  <p:sldSz cx="12192000" cy="6858000"/>
  <p:notesSz cx="6858000" cy="9144000"/>
  <p:embeddedFontLst>
    <p:embeddedFont>
      <p:font typeface="Century Gothic" pitchFamily="34" charset="0"/>
      <p:regular r:id="rId29"/>
      <p:bold r:id="rId30"/>
      <p:italic r:id="rId31"/>
      <p:boldItalic r:id="rId32"/>
    </p:embeddedFont>
    <p:embeddedFont>
      <p:font typeface="Cambria Math" pitchFamily="18" charset="0"/>
      <p:regular r:id="rId33"/>
    </p:embeddedFont>
    <p:embeddedFont>
      <p:font typeface="Cambria" pitchFamily="18" charset="0"/>
      <p:regular r:id="rId34"/>
      <p:bold r:id="rId35"/>
      <p:italic r:id="rId36"/>
      <p:boldItalic r:id="rId37"/>
    </p:embeddedFont>
    <p:embeddedFont>
      <p:font typeface="Arial Black" pitchFamily="34" charset="0"/>
      <p:bold r:id="rId38"/>
    </p:embeddedFont>
    <p:embeddedFont>
      <p:font typeface="Verdana" pitchFamily="34" charset="0"/>
      <p:regular r:id="rId39"/>
      <p:bold r:id="rId40"/>
      <p:italic r:id="rId41"/>
      <p:boldItalic r:id="rId42"/>
    </p:embeddedFont>
    <p:embeddedFont>
      <p:font typeface="Calibri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C058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9097" autoAdjust="0"/>
    <p:restoredTop sz="94737" autoAdjust="0"/>
  </p:normalViewPr>
  <p:slideViewPr>
    <p:cSldViewPr snapToGrid="0">
      <p:cViewPr varScale="1">
        <p:scale>
          <a:sx n="105" d="100"/>
          <a:sy n="105" d="100"/>
        </p:scale>
        <p:origin x="-462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7525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2830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283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283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70252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7025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31289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8.png"/><Relationship Id="rId4" Type="http://schemas.openxmlformats.org/officeDocument/2006/relationships/image" Target="../media/image2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4597400" y="2054277"/>
            <a:ext cx="7179734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5, Lesson 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Triangle Inequality Theorem and the Converse of the Pythagorean Theorem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190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29141D4E-DA2B-B445-945E-1FC65102392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762" y="1627632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50098" y="0"/>
            <a:ext cx="88421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090" y="2882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83480" y="1451388"/>
            <a:ext cx="1137289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MA.8.GR.1.3 </a:t>
            </a:r>
          </a:p>
          <a:p>
            <a:pPr indent="0">
              <a:buNone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Use the Triangle Inequality Theorem to determine if a triangle can be formed from a given set of sides. Use the converse of the Pythagorean Theorem to determine if a right triangle can be formed from a given set of sides.</a:t>
            </a:r>
            <a:endParaRPr lang="en-US" sz="28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51887" y="0"/>
            <a:ext cx="1034075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251886" y="1574240"/>
            <a:ext cx="1083479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090" y="2882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60534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090" y="2882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31147" y="1452571"/>
            <a:ext cx="1129301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41338" indent="-534988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use the Triangle Inequality Theorem to determine if a triangle can be formed from a given set of sides.</a:t>
            </a:r>
          </a:p>
          <a:p>
            <a:pPr marL="541338" indent="-534988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endParaRPr lang="en-US" sz="28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541338" indent="-534988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use the converse of the Pythagorean Theorem to determine if a right triangle can be formed from a given set of sides. </a:t>
            </a: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2772" y="0"/>
            <a:ext cx="1054470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5.4.1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090" y="2882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534461" y="1465444"/>
            <a:ext cx="1067113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square and two right triangles are shown.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3763" indent="-441325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the square and the two triangles?</a:t>
            </a:r>
          </a:p>
          <a:p>
            <a:pPr marL="893763" indent="-441325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3763" indent="-441325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wonder about the square and the two triangles?</a:t>
            </a: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648436" y="2126860"/>
            <a:ext cx="7783652" cy="2327694"/>
            <a:chOff x="0" y="285200"/>
            <a:chExt cx="2950500" cy="865625"/>
          </a:xfrm>
        </p:grpSpPr>
        <p:sp>
          <p:nvSpPr>
            <p:cNvPr id="10" name="Rectangle 9"/>
            <p:cNvSpPr/>
            <p:nvPr/>
          </p:nvSpPr>
          <p:spPr>
            <a:xfrm>
              <a:off x="0" y="285200"/>
              <a:ext cx="885000" cy="865500"/>
            </a:xfrm>
            <a:prstGeom prst="rect">
              <a:avLst/>
            </a:prstGeom>
            <a:solidFill>
              <a:srgbClr val="EAD1D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Cambria"/>
                  <a:ea typeface="Cambria"/>
                  <a:cs typeface="Cambria"/>
                </a:rPr>
                <a:t> </a:t>
              </a:r>
              <a:endParaRPr lang="en-PH" sz="1200">
                <a:latin typeface="Cambria"/>
                <a:ea typeface="Cambria"/>
                <a:cs typeface="Cambria"/>
              </a:endParaRPr>
            </a:p>
          </p:txBody>
        </p:sp>
        <p:sp>
          <p:nvSpPr>
            <p:cNvPr id="11" name="Right Triangle 10"/>
            <p:cNvSpPr/>
            <p:nvPr/>
          </p:nvSpPr>
          <p:spPr>
            <a:xfrm>
              <a:off x="1160575" y="285200"/>
              <a:ext cx="845700" cy="865500"/>
            </a:xfrm>
            <a:prstGeom prst="rtTriangl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Cambria"/>
                  <a:ea typeface="Cambria"/>
                  <a:cs typeface="Cambria"/>
                </a:rPr>
                <a:t> </a:t>
              </a:r>
              <a:endParaRPr lang="en-PH" sz="1200">
                <a:latin typeface="Cambria"/>
                <a:ea typeface="Cambria"/>
                <a:cs typeface="Cambria"/>
              </a:endParaRPr>
            </a:p>
          </p:txBody>
        </p:sp>
        <p:sp>
          <p:nvSpPr>
            <p:cNvPr id="12" name="Right Triangle 11"/>
            <p:cNvSpPr/>
            <p:nvPr/>
          </p:nvSpPr>
          <p:spPr>
            <a:xfrm>
              <a:off x="2104800" y="285200"/>
              <a:ext cx="845700" cy="865500"/>
            </a:xfrm>
            <a:prstGeom prst="rtTriangl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Cambria"/>
                  <a:ea typeface="Cambria"/>
                  <a:cs typeface="Cambria"/>
                </a:rPr>
                <a:t> </a:t>
              </a:r>
              <a:endParaRPr lang="en-PH" sz="1200">
                <a:latin typeface="Cambria"/>
                <a:ea typeface="Cambria"/>
                <a:cs typeface="Cambria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160575" y="1032625"/>
              <a:ext cx="117900" cy="1182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Cambria"/>
                  <a:ea typeface="Cambria"/>
                  <a:cs typeface="Cambria"/>
                </a:rPr>
                <a:t> </a:t>
              </a:r>
              <a:endParaRPr lang="en-PH" sz="1200">
                <a:latin typeface="Cambria"/>
                <a:ea typeface="Cambria"/>
                <a:cs typeface="Cambria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104800" y="1032625"/>
              <a:ext cx="117900" cy="1182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Cambria"/>
                  <a:ea typeface="Cambria"/>
                  <a:cs typeface="Cambria"/>
                </a:rPr>
                <a:t> </a:t>
              </a:r>
              <a:endParaRPr lang="en-PH" sz="1200">
                <a:latin typeface="Cambria"/>
                <a:ea typeface="Cambria"/>
                <a:cs typeface="Cambria"/>
              </a:endParaRPr>
            </a:p>
          </p:txBody>
        </p:sp>
      </p:grpSp>
      <p:sp>
        <p:nvSpPr>
          <p:cNvPr id="15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5319" y="-3427"/>
            <a:ext cx="1066363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5.4.2 Exploration: </a:t>
            </a: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Triangle Inequality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Theorem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4136" y="283296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52D1D4D-DCB8-A246-B186-D40316579D77}"/>
              </a:ext>
            </a:extLst>
          </p:cNvPr>
          <p:cNvSpPr txBox="1"/>
          <p:nvPr/>
        </p:nvSpPr>
        <p:spPr>
          <a:xfrm>
            <a:off x="534877" y="1451758"/>
            <a:ext cx="1086245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 will receive five different lengths of string, paper, or straw for this activity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52438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Attempt to make three different triangles on your desk using different sizes for the sides. </a:t>
            </a:r>
          </a:p>
          <a:p>
            <a:pPr marL="985838" indent="-541338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 indent="-452438">
              <a:buFont typeface="+mj-lt"/>
              <a:buAutoNum type="alphaLcPeriod"/>
            </a:pPr>
            <a:r>
              <a:rPr lang="en-US" sz="2000" spc="-7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Measure each side and record the lengths in the table. Indicate if the chosen side lengths formed a triangle or not.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250956"/>
              </p:ext>
            </p:extLst>
          </p:nvPr>
        </p:nvGraphicFramePr>
        <p:xfrm>
          <a:off x="1561077" y="3789517"/>
          <a:ext cx="8280000" cy="280416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Attempt</a:t>
                      </a:r>
                      <a:endParaRPr lang="en-PH" sz="2000" dirty="0">
                        <a:effectLst/>
                        <a:latin typeface="Cambria"/>
                        <a:ea typeface="Cambria"/>
                        <a:cs typeface="Cambri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Side </a:t>
                      </a:r>
                      <a:r>
                        <a:rPr lang="en-US" sz="2000" b="1" dirty="0" smtClean="0">
                          <a:effectLst/>
                          <a:latin typeface="Verdana"/>
                          <a:ea typeface="Verdana"/>
                          <a:cs typeface="Verdana"/>
                        </a:rPr>
                        <a:t/>
                      </a:r>
                      <a:br>
                        <a:rPr lang="en-US" sz="2000" b="1" dirty="0" smtClean="0">
                          <a:effectLst/>
                          <a:latin typeface="Verdana"/>
                          <a:ea typeface="Verdana"/>
                          <a:cs typeface="Verdana"/>
                        </a:rPr>
                      </a:br>
                      <a:r>
                        <a:rPr lang="en-US" sz="2000" b="1" dirty="0" smtClean="0">
                          <a:effectLst/>
                          <a:latin typeface="Verdana"/>
                          <a:ea typeface="Verdana"/>
                          <a:cs typeface="Verdana"/>
                        </a:rPr>
                        <a:t>Length </a:t>
                      </a:r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1</a:t>
                      </a:r>
                      <a:endParaRPr lang="en-PH" sz="2000" dirty="0">
                        <a:effectLst/>
                        <a:latin typeface="Cambria"/>
                        <a:ea typeface="Cambria"/>
                        <a:cs typeface="Cambri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Side </a:t>
                      </a:r>
                      <a:r>
                        <a:rPr lang="en-US" sz="2000" b="1" dirty="0" smtClean="0">
                          <a:effectLst/>
                          <a:latin typeface="Verdana"/>
                          <a:ea typeface="Verdana"/>
                          <a:cs typeface="Verdana"/>
                        </a:rPr>
                        <a:t/>
                      </a:r>
                      <a:br>
                        <a:rPr lang="en-US" sz="2000" b="1" dirty="0" smtClean="0">
                          <a:effectLst/>
                          <a:latin typeface="Verdana"/>
                          <a:ea typeface="Verdana"/>
                          <a:cs typeface="Verdana"/>
                        </a:rPr>
                      </a:br>
                      <a:r>
                        <a:rPr lang="en-US" sz="2000" b="1" dirty="0" smtClean="0">
                          <a:effectLst/>
                          <a:latin typeface="Verdana"/>
                          <a:ea typeface="Verdana"/>
                          <a:cs typeface="Verdana"/>
                        </a:rPr>
                        <a:t>Length </a:t>
                      </a:r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2</a:t>
                      </a:r>
                      <a:endParaRPr lang="en-PH" sz="2000" dirty="0">
                        <a:effectLst/>
                        <a:latin typeface="Cambria"/>
                        <a:ea typeface="Cambria"/>
                        <a:cs typeface="Cambri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Side </a:t>
                      </a:r>
                      <a:r>
                        <a:rPr lang="en-US" sz="2000" b="1" dirty="0" smtClean="0">
                          <a:effectLst/>
                          <a:latin typeface="Verdana"/>
                          <a:ea typeface="Verdana"/>
                          <a:cs typeface="Verdana"/>
                        </a:rPr>
                        <a:t/>
                      </a:r>
                      <a:br>
                        <a:rPr lang="en-US" sz="2000" b="1" dirty="0" smtClean="0">
                          <a:effectLst/>
                          <a:latin typeface="Verdana"/>
                          <a:ea typeface="Verdana"/>
                          <a:cs typeface="Verdana"/>
                        </a:rPr>
                      </a:br>
                      <a:r>
                        <a:rPr lang="en-US" sz="2000" b="1" dirty="0" smtClean="0">
                          <a:effectLst/>
                          <a:latin typeface="Verdana"/>
                          <a:ea typeface="Verdana"/>
                          <a:cs typeface="Verdana"/>
                        </a:rPr>
                        <a:t>Length </a:t>
                      </a:r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3</a:t>
                      </a:r>
                      <a:endParaRPr lang="en-PH" sz="2000" dirty="0">
                        <a:effectLst/>
                        <a:latin typeface="Cambria"/>
                        <a:ea typeface="Cambria"/>
                        <a:cs typeface="Cambri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Triangle Formed?</a:t>
                      </a:r>
                      <a:endParaRPr lang="en-PH" sz="2000" dirty="0">
                        <a:effectLst/>
                        <a:latin typeface="Cambria"/>
                        <a:ea typeface="Cambria"/>
                        <a:cs typeface="Cambri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A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Cambri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Cambri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>
                        <a:effectLst/>
                        <a:latin typeface="Verdana" pitchFamily="34" charset="0"/>
                        <a:ea typeface="Verdana" pitchFamily="34" charset="0"/>
                        <a:cs typeface="Cambri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Cambri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66700" lvl="0" indent="-266700"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Yes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pPr marL="266700" lvl="0" indent="-266700"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No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Cambri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B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Cambri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Cambri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Cambri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>
                        <a:effectLst/>
                        <a:latin typeface="Verdana" pitchFamily="34" charset="0"/>
                        <a:ea typeface="Verdana" pitchFamily="34" charset="0"/>
                        <a:cs typeface="Cambri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66700" lvl="0" indent="-266700"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Yes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pPr marL="266700" lvl="0" indent="-266700"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No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Cambri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C</a:t>
                      </a:r>
                      <a:endParaRPr lang="en-PH" sz="2000">
                        <a:effectLst/>
                        <a:latin typeface="Verdana" pitchFamily="34" charset="0"/>
                        <a:ea typeface="Verdana" pitchFamily="34" charset="0"/>
                        <a:cs typeface="Cambri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Cambri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>
                        <a:effectLst/>
                        <a:latin typeface="Verdana" pitchFamily="34" charset="0"/>
                        <a:ea typeface="Verdana" pitchFamily="34" charset="0"/>
                        <a:cs typeface="Cambri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Cambri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66700" lvl="0" indent="-266700"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Yes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pPr marL="266700" lvl="0" indent="-266700"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No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Cambria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1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3920" y="382539"/>
            <a:ext cx="1127358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6938" indent="-452438">
              <a:buFont typeface="+mj-lt"/>
              <a:buAutoNum type="alphaLcPeriod" startAt="3"/>
              <a:tabLst>
                <a:tab pos="896938" algn="l"/>
              </a:tabLst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For each attempt, compare the sum of two side lengths to the length of the third. </a:t>
            </a:r>
          </a:p>
          <a:p>
            <a:pPr marL="896938" indent="-452438">
              <a:buFont typeface="+mj-lt"/>
              <a:buAutoNum type="alphaLcPeriod" startAt="3"/>
              <a:tabLst>
                <a:tab pos="896938" algn="l"/>
              </a:tabLst>
            </a:pP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896938" indent="-452438">
              <a:buFont typeface="+mj-lt"/>
              <a:buAutoNum type="alphaLcPeriod" startAt="3"/>
              <a:tabLst>
                <a:tab pos="896938" algn="l"/>
              </a:tabLst>
            </a:pP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896938" indent="-452438">
              <a:buFont typeface="+mj-lt"/>
              <a:buAutoNum type="alphaLcPeriod" startAt="3"/>
              <a:tabLst>
                <a:tab pos="896938" algn="l"/>
              </a:tabLst>
            </a:pP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896938" indent="-452438">
              <a:buFont typeface="+mj-lt"/>
              <a:buAutoNum type="alphaLcPeriod" startAt="3"/>
              <a:tabLst>
                <a:tab pos="896938" algn="l"/>
              </a:tabLst>
            </a:pP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896938" indent="-452438">
              <a:buFont typeface="+mj-lt"/>
              <a:buAutoNum type="alphaLcPeriod" startAt="3"/>
              <a:tabLst>
                <a:tab pos="896938" algn="l"/>
              </a:tabLst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Record the results in the table.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0070603"/>
                  </p:ext>
                </p:extLst>
              </p:nvPr>
            </p:nvGraphicFramePr>
            <p:xfrm>
              <a:off x="1581132" y="2780785"/>
              <a:ext cx="8460000" cy="2633475"/>
            </p:xfrm>
            <a:graphic>
              <a:graphicData uri="http://schemas.openxmlformats.org/drawingml/2006/table">
                <a:tbl>
                  <a:tblPr>
                    <a:tableStyleId>{A91F0D33-8C57-4600-99A7-42BC86742BE1}</a:tableStyleId>
                  </a:tblPr>
                  <a:tblGrid>
                    <a:gridCol w="306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523875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Attempt A</a:t>
                          </a:r>
                          <a:endParaRPr lang="en-PH" sz="2000" b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Attempt B</a:t>
                          </a:r>
                          <a:endParaRPr lang="en-PH" sz="2000" b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Attempt C</a:t>
                          </a:r>
                          <a:endParaRPr lang="en-PH" sz="2000" b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15290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𝐬𝐢𝐝𝐞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 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𝟏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𝐬𝐢𝐝𝐞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 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𝟐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&gt;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𝐬𝐢𝐝𝐞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 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 Math" pitchFamily="18" charset="0"/>
                            <a:ea typeface="Cambria Math" pitchFamily="18" charset="0"/>
                            <a:cs typeface="Cambria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66700" lvl="2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True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2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False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180000" marR="46800" marT="46800" marB="468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True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False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180000" marR="46800" marT="46800" marB="468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True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False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180000" marR="46800" marT="46800" marB="468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𝐬𝐢𝐝𝐞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 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𝟏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𝐬𝐢𝐝𝐞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 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𝟑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&gt;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𝐬𝐢𝐝𝐞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 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 Math" pitchFamily="18" charset="0"/>
                            <a:ea typeface="Cambria Math" pitchFamily="18" charset="0"/>
                            <a:cs typeface="Cambria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66700" lvl="2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True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2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False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180000" marR="46800" marT="46800" marB="468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True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False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180000" marR="46800" marT="46800" marB="468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True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False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180000" marR="46800" marT="46800" marB="468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𝐬𝐢𝐝𝐞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 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𝟐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𝐬𝐢𝐝𝐞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 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𝟑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&gt;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𝐬𝐢𝐝𝐞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 </m:t>
                                </m:r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 Math" pitchFamily="18" charset="0"/>
                            <a:ea typeface="Cambria Math" pitchFamily="18" charset="0"/>
                            <a:cs typeface="Cambria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66700" lvl="2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True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2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False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180000" marR="46800" marT="46800" marB="468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True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False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180000" marR="46800" marT="46800" marB="468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True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False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180000" marR="46800" marT="46800" marB="468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0070603"/>
                  </p:ext>
                </p:extLst>
              </p:nvPr>
            </p:nvGraphicFramePr>
            <p:xfrm>
              <a:off x="1581132" y="2780785"/>
              <a:ext cx="8460000" cy="2633475"/>
            </p:xfrm>
            <a:graphic>
              <a:graphicData uri="http://schemas.openxmlformats.org/drawingml/2006/table">
                <a:tbl>
                  <a:tblPr>
                    <a:tableStyleId>{A91F0D33-8C57-4600-99A7-42BC86742BE1}</a:tableStyleId>
                  </a:tblPr>
                  <a:tblGrid>
                    <a:gridCol w="30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523875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Attempt A</a:t>
                          </a:r>
                          <a:endParaRPr lang="en-PH" sz="2000" b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Attempt B</a:t>
                          </a:r>
                          <a:endParaRPr lang="en-PH" sz="2000" b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Attempt C</a:t>
                          </a:r>
                          <a:endParaRPr lang="en-PH" sz="2000" b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703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74783" r="-176693" b="-2191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66700" lvl="2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True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2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False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180000" marR="46800" marT="46800" marB="468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True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False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180000" marR="46800" marT="46800" marB="468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True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False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180000" marR="46800" marT="46800" marB="468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703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73276" r="-176693" b="-1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66700" lvl="2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True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2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False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180000" marR="46800" marT="46800" marB="468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True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False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180000" marR="46800" marT="46800" marB="468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True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False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180000" marR="46800" marT="46800" marB="468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703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75652" r="-176693" b="-1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66700" lvl="2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True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2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False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180000" marR="46800" marT="46800" marB="468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True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False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180000" marR="46800" marT="46800" marB="468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True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False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180000" marR="46800" marT="46800" marB="468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4813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9359" y="380320"/>
            <a:ext cx="10822461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 startAt="2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Complete the statements.</a:t>
            </a:r>
          </a:p>
          <a:p>
            <a:pPr marL="896938" indent="-452438">
              <a:buFont typeface="+mj-lt"/>
              <a:buAutoNum type="alphaLcPeriod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When the chosen side lengths formed a triangle, the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side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length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/>
            </a:r>
            <a:br>
              <a:rPr lang="en-US" sz="2000" dirty="0" smtClean="0">
                <a:latin typeface="Verdana" pitchFamily="34" charset="0"/>
                <a:ea typeface="Verdana" pitchFamily="34" charset="0"/>
              </a:rPr>
            </a:br>
            <a:r>
              <a:rPr lang="en-US" sz="2000" dirty="0" smtClean="0">
                <a:latin typeface="Verdana" pitchFamily="34" charset="0"/>
                <a:ea typeface="Verdana" pitchFamily="34" charset="0"/>
              </a:rPr>
              <a:t/>
            </a:r>
            <a:br>
              <a:rPr lang="en-US" sz="2000" dirty="0" smtClean="0">
                <a:latin typeface="Verdana" pitchFamily="34" charset="0"/>
                <a:ea typeface="Verdana" pitchFamily="34" charset="0"/>
              </a:rPr>
            </a:br>
            <a:r>
              <a:rPr lang="en-US" sz="2000" dirty="0" smtClean="0">
                <a:latin typeface="Verdana" pitchFamily="34" charset="0"/>
                <a:ea typeface="Verdana" pitchFamily="34" charset="0"/>
              </a:rPr>
              <a:t/>
            </a:r>
            <a:br>
              <a:rPr lang="en-US" sz="2000" dirty="0" smtClean="0">
                <a:latin typeface="Verdana" pitchFamily="34" charset="0"/>
                <a:ea typeface="Verdana" pitchFamily="34" charset="0"/>
              </a:rPr>
            </a:br>
            <a:r>
              <a:rPr lang="en-US" sz="2000" dirty="0" smtClean="0">
                <a:latin typeface="Verdana" pitchFamily="34" charset="0"/>
                <a:ea typeface="Verdana" pitchFamily="34" charset="0"/>
              </a:rPr>
              <a:t>comparisons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were </a:t>
            </a:r>
          </a:p>
          <a:p>
            <a:pPr marL="896938" indent="-452438"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marL="896938" indent="-452438"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marL="896938" indent="-452438"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marL="896938" indent="-452438"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marL="896938" indent="-452438"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marL="896938" indent="-452438">
              <a:buFont typeface="+mj-lt"/>
              <a:buAutoNum type="alphaLcPeriod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When the chosen side lengths did not form a triangle,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the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side length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/>
            </a:r>
            <a:br>
              <a:rPr lang="en-US" sz="2000" dirty="0" smtClean="0">
                <a:latin typeface="Verdana" pitchFamily="34" charset="0"/>
                <a:ea typeface="Verdana" pitchFamily="34" charset="0"/>
              </a:rPr>
            </a:br>
            <a:r>
              <a:rPr lang="en-US" sz="2000" dirty="0" smtClean="0">
                <a:latin typeface="Verdana" pitchFamily="34" charset="0"/>
                <a:ea typeface="Verdana" pitchFamily="34" charset="0"/>
              </a:rPr>
              <a:t/>
            </a:r>
            <a:br>
              <a:rPr lang="en-US" sz="2000" dirty="0" smtClean="0">
                <a:latin typeface="Verdana" pitchFamily="34" charset="0"/>
                <a:ea typeface="Verdana" pitchFamily="34" charset="0"/>
              </a:rPr>
            </a:br>
            <a:r>
              <a:rPr lang="en-US" sz="2000" dirty="0" smtClean="0">
                <a:latin typeface="Verdana" pitchFamily="34" charset="0"/>
                <a:ea typeface="Verdana" pitchFamily="34" charset="0"/>
              </a:rPr>
              <a:t/>
            </a:r>
            <a:br>
              <a:rPr lang="en-US" sz="2000" dirty="0" smtClean="0">
                <a:latin typeface="Verdana" pitchFamily="34" charset="0"/>
                <a:ea typeface="Verdana" pitchFamily="34" charset="0"/>
              </a:rPr>
            </a:br>
            <a:r>
              <a:rPr lang="en-US" sz="2000" dirty="0" smtClean="0">
                <a:latin typeface="Verdana" pitchFamily="34" charset="0"/>
                <a:ea typeface="Verdana" pitchFamily="34" charset="0"/>
              </a:rPr>
              <a:t>comparison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were </a:t>
            </a:r>
            <a:endParaRPr lang="en-PH" sz="20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995542" y="1484620"/>
            <a:ext cx="2073029" cy="1009650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>
              <a:buFont typeface="Courier New" pitchFamily="49" charset="0"/>
              <a:buChar char="o"/>
              <a:tabLst>
                <a:tab pos="266700" algn="l"/>
              </a:tabLst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Cambria"/>
              </a:rPr>
              <a:t>all true.</a:t>
            </a:r>
            <a:endParaRPr lang="en-PH" sz="2000" dirty="0">
              <a:latin typeface="Verdana" pitchFamily="34" charset="0"/>
              <a:ea typeface="Verdana" pitchFamily="34" charset="0"/>
              <a:cs typeface="Cambria"/>
            </a:endParaRPr>
          </a:p>
          <a:p>
            <a:pPr marL="266700" indent="-266700">
              <a:buFont typeface="Courier New" pitchFamily="49" charset="0"/>
              <a:buChar char="o"/>
              <a:tabLst>
                <a:tab pos="266700" algn="l"/>
              </a:tabLst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Cambria"/>
              </a:rPr>
              <a:t>all false.</a:t>
            </a:r>
            <a:endParaRPr lang="en-PH" sz="2000" dirty="0">
              <a:latin typeface="Verdana" pitchFamily="34" charset="0"/>
              <a:ea typeface="Verdana" pitchFamily="34" charset="0"/>
              <a:cs typeface="Cambria"/>
            </a:endParaRPr>
          </a:p>
          <a:p>
            <a:pPr marL="266700" indent="-266700">
              <a:spcAft>
                <a:spcPts val="1000"/>
              </a:spcAft>
              <a:buFont typeface="Courier New" pitchFamily="49" charset="0"/>
              <a:buChar char="o"/>
              <a:tabLst>
                <a:tab pos="266700" algn="l"/>
              </a:tabLst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Cambria"/>
              </a:rPr>
              <a:t>not all true.</a:t>
            </a:r>
            <a:endParaRPr lang="en-PH" sz="2000" dirty="0">
              <a:latin typeface="Verdana" pitchFamily="34" charset="0"/>
              <a:ea typeface="Verdana" pitchFamily="34" charset="0"/>
              <a:cs typeface="Cambria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877560" y="4177430"/>
            <a:ext cx="2073029" cy="1009650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>
              <a:buFont typeface="Courier New" pitchFamily="49" charset="0"/>
              <a:buChar char="o"/>
              <a:tabLst>
                <a:tab pos="266700" algn="l"/>
              </a:tabLst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Cambria"/>
              </a:rPr>
              <a:t>all true.</a:t>
            </a:r>
            <a:endParaRPr lang="en-PH" sz="2000" dirty="0">
              <a:latin typeface="Verdana" pitchFamily="34" charset="0"/>
              <a:ea typeface="Verdana" pitchFamily="34" charset="0"/>
              <a:cs typeface="Cambria"/>
            </a:endParaRPr>
          </a:p>
          <a:p>
            <a:pPr marL="266700" indent="-266700">
              <a:buFont typeface="Courier New" pitchFamily="49" charset="0"/>
              <a:buChar char="o"/>
              <a:tabLst>
                <a:tab pos="266700" algn="l"/>
              </a:tabLst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Cambria"/>
              </a:rPr>
              <a:t>all false.</a:t>
            </a:r>
            <a:endParaRPr lang="en-PH" sz="2000" dirty="0">
              <a:latin typeface="Verdana" pitchFamily="34" charset="0"/>
              <a:ea typeface="Verdana" pitchFamily="34" charset="0"/>
              <a:cs typeface="Cambria"/>
            </a:endParaRPr>
          </a:p>
          <a:p>
            <a:pPr marL="266700" indent="-266700">
              <a:spcAft>
                <a:spcPts val="1000"/>
              </a:spcAft>
              <a:buFont typeface="Courier New" pitchFamily="49" charset="0"/>
              <a:buChar char="o"/>
              <a:tabLst>
                <a:tab pos="266700" algn="l"/>
              </a:tabLst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Cambria"/>
              </a:rPr>
              <a:t>not all true.</a:t>
            </a:r>
            <a:endParaRPr lang="en-PH" sz="2000" dirty="0">
              <a:latin typeface="Verdana" pitchFamily="34" charset="0"/>
              <a:ea typeface="Verdana" pitchFamily="34" charset="0"/>
              <a:cs typeface="Cambria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01174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6916" y="2514977"/>
            <a:ext cx="1080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Draw a picture to show what happens when the length of the third side of a triangle is not longer than the sum of the other two sides.</a:t>
            </a:r>
            <a:endParaRPr lang="en-PH" sz="2000" dirty="0">
              <a:latin typeface="Verdana" pitchFamily="34" charset="0"/>
              <a:ea typeface="Verdana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990434" y="368573"/>
            <a:ext cx="6673215" cy="1766497"/>
            <a:chOff x="1235392" y="2545756"/>
            <a:chExt cx="6673215" cy="1766497"/>
          </a:xfrm>
        </p:grpSpPr>
        <p:grpSp>
          <p:nvGrpSpPr>
            <p:cNvPr id="9" name="Group 8"/>
            <p:cNvGrpSpPr/>
            <p:nvPr/>
          </p:nvGrpSpPr>
          <p:grpSpPr>
            <a:xfrm>
              <a:off x="1235392" y="2545756"/>
              <a:ext cx="6673215" cy="1766497"/>
              <a:chOff x="2031300" y="3310835"/>
              <a:chExt cx="6673602" cy="1089758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2031300" y="3310835"/>
                <a:ext cx="6673602" cy="1089758"/>
                <a:chOff x="0" y="-75973"/>
                <a:chExt cx="6673602" cy="1089758"/>
              </a:xfrm>
            </p:grpSpPr>
            <p:sp>
              <p:nvSpPr>
                <p:cNvPr id="11" name="Rectangle 10"/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/>
                      <a:ea typeface="Cambria"/>
                      <a:cs typeface="Cambria"/>
                    </a:rPr>
                    <a:t> </a:t>
                  </a:r>
                  <a:endParaRPr lang="en-PH" sz="1200">
                    <a:latin typeface="Cambria"/>
                    <a:ea typeface="Cambria"/>
                    <a:cs typeface="Cambria"/>
                  </a:endParaRPr>
                </a:p>
              </p:txBody>
            </p:sp>
            <p:sp>
              <p:nvSpPr>
                <p:cNvPr id="13" name="Rectangle 12"/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/>
                      <a:ea typeface="Cambria"/>
                      <a:cs typeface="Cambria"/>
                    </a:rPr>
                    <a:t> </a:t>
                  </a:r>
                  <a:endParaRPr lang="en-PH" sz="1200">
                    <a:latin typeface="Cambria"/>
                    <a:ea typeface="Cambria"/>
                    <a:cs typeface="Cambria"/>
                  </a:endParaRPr>
                </a:p>
              </p:txBody>
            </p:sp>
            <p:sp>
              <p:nvSpPr>
                <p:cNvPr id="15" name="Rounded Rectangle 14"/>
                <p:cNvSpPr/>
                <p:nvPr/>
              </p:nvSpPr>
              <p:spPr>
                <a:xfrm>
                  <a:off x="44202" y="-75973"/>
                  <a:ext cx="6629400" cy="1089758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108000" rIns="91425" bIns="0" anchor="ctr" anchorCtr="0">
                  <a:spAutoFit/>
                </a:bodyPr>
                <a:lstStyle/>
                <a:p>
                  <a:pPr marL="742950">
                    <a:spcAft>
                      <a:spcPts val="1000"/>
                    </a:spcAft>
                  </a:pPr>
                  <a:r>
                    <a:rPr lang="en-US" sz="2000" b="1" dirty="0">
                      <a:solidFill>
                        <a:srgbClr val="00619E"/>
                      </a:solidFill>
                      <a:latin typeface="Verdana" pitchFamily="34" charset="0"/>
                      <a:ea typeface="Verdana" pitchFamily="34" charset="0"/>
                      <a:cs typeface="Verdana"/>
                    </a:rPr>
                    <a:t>Triangle Inequality Theorem</a:t>
                  </a:r>
                  <a:endParaRPr lang="en-PH" sz="2000" dirty="0">
                    <a:latin typeface="Verdana" pitchFamily="34" charset="0"/>
                    <a:ea typeface="Verdana" pitchFamily="34" charset="0"/>
                    <a:cs typeface="Cambria"/>
                  </a:endParaRPr>
                </a:p>
                <a:p>
                  <a:pPr marL="742950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00619E"/>
                      </a:solidFill>
                      <a:latin typeface="Verdana" pitchFamily="34" charset="0"/>
                      <a:ea typeface="Verdana" pitchFamily="34" charset="0"/>
                      <a:cs typeface="Verdana"/>
                    </a:rPr>
                    <a:t>The sum of the lengths of any two sides of a triangle is greater than the length of the third side. </a:t>
                  </a:r>
                  <a:r>
                    <a:rPr lang="en-US" sz="2000" dirty="0">
                      <a:solidFill>
                        <a:srgbClr val="00619E"/>
                      </a:solidFill>
                      <a:latin typeface="Verdana" pitchFamily="34" charset="0"/>
                      <a:ea typeface="Verdana" pitchFamily="34" charset="0"/>
                      <a:cs typeface="Cambria"/>
                    </a:rPr>
                    <a:t> </a:t>
                  </a:r>
                  <a:endParaRPr lang="en-PH" sz="2000" dirty="0">
                    <a:latin typeface="Verdana" pitchFamily="34" charset="0"/>
                    <a:ea typeface="Verdana" pitchFamily="34" charset="0"/>
                    <a:cs typeface="Cambria"/>
                  </a:endParaRPr>
                </a:p>
              </p:txBody>
            </p:sp>
          </p:grpSp>
        </p:grpSp>
        <p:pic>
          <p:nvPicPr>
            <p:cNvPr id="16" name="Shape 40" descr="Icon&#10;&#10;Description automatically generated"/>
            <p:cNvPicPr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96781" y="2707224"/>
              <a:ext cx="539750" cy="53911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8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2112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59880" y="5553"/>
            <a:ext cx="1099529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5.4.3 Guided Instruction: </a:t>
            </a: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Converse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of the Pythagorean Theorem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9090" y="29475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01B13E8-EC8D-E443-A329-C5E3593DD13A}"/>
              </a:ext>
            </a:extLst>
          </p:cNvPr>
          <p:cNvSpPr txBox="1"/>
          <p:nvPr/>
        </p:nvSpPr>
        <p:spPr>
          <a:xfrm>
            <a:off x="533530" y="1477420"/>
            <a:ext cx="10730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grid to complete the steps.</a:t>
            </a:r>
          </a:p>
        </p:txBody>
      </p:sp>
      <p:pic>
        <p:nvPicPr>
          <p:cNvPr id="8" name="image7.png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38016" y="2037137"/>
            <a:ext cx="4572000" cy="4572000"/>
          </a:xfrm>
          <a:prstGeom prst="rect">
            <a:avLst/>
          </a:prstGeom>
          <a:ln/>
        </p:spPr>
      </p:pic>
      <p:sp>
        <p:nvSpPr>
          <p:cNvPr id="11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1507" y="390520"/>
                <a:ext cx="11307544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19138" indent="-274638">
                  <a:buFont typeface="Arial" pitchFamily="34" charset="0"/>
                  <a:buChar char="•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In the middle of the grid, draw a right triangle with legs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3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units long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units long. Connect the legs to form the hypotenuse that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units.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719138" indent="-274638">
                  <a:buFont typeface="Arial" pitchFamily="34" charset="0"/>
                  <a:buChar char="•"/>
                </a:pP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719138" indent="-274638">
                  <a:buFont typeface="Arial" pitchFamily="34" charset="0"/>
                  <a:buChar char="•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Draw a square with side lengths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3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units on the outside of the triangle and that shares a side with a leg of the triangle.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719138" indent="-274638">
                  <a:buFont typeface="Arial" pitchFamily="34" charset="0"/>
                  <a:buChar char="•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719138" indent="-274638">
                  <a:buFont typeface="Arial" pitchFamily="34" charset="0"/>
                  <a:buChar char="•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Draw a square with side lengths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units on the outside of the triangle and that shares a side with the other leg of the triangle.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719138" indent="-274638">
                  <a:buFont typeface="Arial" pitchFamily="34" charset="0"/>
                  <a:buChar char="•"/>
                </a:pP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719138" indent="-274638">
                  <a:buFont typeface="Arial" pitchFamily="34" charset="0"/>
                  <a:buChar char="•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Draw a square with side lengths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units on the outside of the triangle and that shares a side with the hypotenuse of the triangle.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07" y="390520"/>
                <a:ext cx="11307544" cy="4524315"/>
              </a:xfrm>
              <a:prstGeom prst="rect">
                <a:avLst/>
              </a:prstGeom>
              <a:blipFill rotWithShape="1">
                <a:blip r:embed="rId3"/>
                <a:stretch>
                  <a:fillRect t="-1213" r="-323" b="-215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0458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6251" y="382542"/>
                <a:ext cx="11471479" cy="5052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Complete the table with the area of each square.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spcAft>
                    <a:spcPts val="1200"/>
                  </a:spcAft>
                  <a:buFont typeface="+mj-lt"/>
                  <a:buAutoNum type="arabi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Complete the comparison for the sum of the areas of the squared legs to the square of the hypotenuse. 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400" i="1">
                              <a:latin typeface="Cambria Math"/>
                              <a:ea typeface="Cambria Math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itchFamily="18" charset="0"/>
                          <a:ea typeface="Cambria Math" pitchFamily="18" charset="0"/>
                        </a:rPr>
                        <m:t>+</m:t>
                      </m:r>
                      <m:sSup>
                        <m:sSupPr>
                          <m:ctrlPr>
                            <a:rPr lang="en-PH" sz="2400" i="1">
                              <a:latin typeface="Cambria Math"/>
                              <a:ea typeface="Cambria Math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itchFamily="18" charset="0"/>
                          <a:ea typeface="Cambria Math" pitchFamily="18" charset="0"/>
                        </a:rPr>
                        <m:t>       ⃞  </m:t>
                      </m:r>
                      <m:sSup>
                        <m:sSupPr>
                          <m:ctrlPr>
                            <a:rPr lang="en-PH" sz="2400" i="1">
                              <a:latin typeface="Cambria Math"/>
                              <a:ea typeface="Cambria Math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PH" sz="2400" dirty="0"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51" y="382542"/>
                <a:ext cx="11471479" cy="5052986"/>
              </a:xfrm>
              <a:prstGeom prst="rect">
                <a:avLst/>
              </a:prstGeom>
              <a:blipFill rotWithShape="1">
                <a:blip r:embed="rId3"/>
                <a:stretch>
                  <a:fillRect l="-850" t="-965" b="-132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9246869"/>
                  </p:ext>
                </p:extLst>
              </p:nvPr>
            </p:nvGraphicFramePr>
            <p:xfrm>
              <a:off x="1231990" y="943183"/>
              <a:ext cx="5040000" cy="2356000"/>
            </p:xfrm>
            <a:graphic>
              <a:graphicData uri="http://schemas.openxmlformats.org/drawingml/2006/table">
                <a:tbl>
                  <a:tblPr>
                    <a:tableStyleId>{A91F0D33-8C57-4600-99A7-42BC86742BE1}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Side Length (units)</a:t>
                          </a:r>
                          <a:endParaRPr lang="en-PH" sz="2000" dirty="0">
                            <a:effectLst/>
                            <a:latin typeface="Cambria"/>
                            <a:ea typeface="Cambria"/>
                            <a:cs typeface="Cambria"/>
                          </a:endParaRPr>
                        </a:p>
                      </a:txBody>
                      <a:tcPr marL="63500" marR="63500" marT="63500" marB="63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Area of Square (square units)</a:t>
                          </a:r>
                          <a:endParaRPr lang="en-PH" sz="2000" dirty="0">
                            <a:effectLst/>
                            <a:latin typeface="Cambria"/>
                            <a:ea typeface="Cambria"/>
                            <a:cs typeface="Cambria"/>
                          </a:endParaRPr>
                        </a:p>
                      </a:txBody>
                      <a:tcPr marL="63500" marR="63500" marT="63500" marB="63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 Math" pitchFamily="18" charset="0"/>
                            <a:ea typeface="Cambria Math" pitchFamily="18" charset="0"/>
                            <a:cs typeface="Cambria"/>
                          </a:endParaRPr>
                        </a:p>
                      </a:txBody>
                      <a:tcPr marL="45720" marR="45720" marT="10800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 Math" pitchFamily="18" charset="0"/>
                            <a:ea typeface="Cambria Math" pitchFamily="18" charset="0"/>
                            <a:cs typeface="Cambria"/>
                          </a:endParaRPr>
                        </a:p>
                      </a:txBody>
                      <a:tcPr marL="45720" marR="45720" marT="10800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itchFamily="18" charset="0"/>
                                    <a:ea typeface="Cambria Math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 Math" pitchFamily="18" charset="0"/>
                            <a:ea typeface="Cambria Math" pitchFamily="18" charset="0"/>
                            <a:cs typeface="Cambria"/>
                          </a:endParaRPr>
                        </a:p>
                      </a:txBody>
                      <a:tcPr marL="45720" marR="45720" marT="10800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9246869"/>
                  </p:ext>
                </p:extLst>
              </p:nvPr>
            </p:nvGraphicFramePr>
            <p:xfrm>
              <a:off x="1231990" y="943183"/>
              <a:ext cx="5040000" cy="2356000"/>
            </p:xfrm>
            <a:graphic>
              <a:graphicData uri="http://schemas.openxmlformats.org/drawingml/2006/table">
                <a:tbl>
                  <a:tblPr>
                    <a:tableStyleId>{A91F0D33-8C57-4600-99A7-42BC86742BE1}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7366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Side Length (units)</a:t>
                          </a:r>
                          <a:endParaRPr lang="en-PH" sz="2000" dirty="0">
                            <a:effectLst/>
                            <a:latin typeface="Cambria"/>
                            <a:ea typeface="Cambria"/>
                            <a:cs typeface="Cambria"/>
                          </a:endParaRPr>
                        </a:p>
                      </a:txBody>
                      <a:tcPr marL="63500" marR="63500" marT="63500" marB="63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Area of Square (square units)</a:t>
                          </a:r>
                          <a:endParaRPr lang="en-PH" sz="2000" dirty="0">
                            <a:effectLst/>
                            <a:latin typeface="Cambria"/>
                            <a:ea typeface="Cambria"/>
                            <a:cs typeface="Cambria"/>
                          </a:endParaRPr>
                        </a:p>
                      </a:txBody>
                      <a:tcPr marL="63500" marR="63500" marT="63500" marB="635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539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10800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39773" r="-99758" b="-20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539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10800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37079" r="-9975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539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10800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340909" r="-99758" b="-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364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0819" y="0"/>
            <a:ext cx="1089678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5.4.4 Collaboration: The Triangle Inequality </a:t>
            </a:r>
            <a:r>
              <a:rPr lang="en-US" sz="28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28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Theorem </a:t>
            </a: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and the Converse of the </a:t>
            </a:r>
            <a:r>
              <a:rPr lang="en-US" sz="28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28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Pythagorean </a:t>
            </a: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Theorem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9090" y="28574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44081" y="1466224"/>
                <a:ext cx="11140828" cy="28315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You will receive five different lengths of string, paper, or straw for this activity.</a:t>
                </a:r>
              </a:p>
              <a:p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Discuss with your partner if a triangle can be formed with the side lengths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itchFamily="18" charset="0"/>
                        <a:ea typeface="Cambria Math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centimeters (cm), </a:t>
                </a: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4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cm,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itchFamily="18" charset="0"/>
                        <a:ea typeface="Cambria Math" pitchFamily="18" charset="0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cm. 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896938" indent="-452438"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Test your prediction by attempting to form a triangle with the side lengths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itchFamily="18" charset="0"/>
                        <a:ea typeface="Cambria Math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cm,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itchFamily="18" charset="0"/>
                        <a:ea typeface="Cambria Math" pitchFamily="18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cm,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itchFamily="18" charset="0"/>
                        <a:ea typeface="Cambria Math" pitchFamily="18" charset="0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cm.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81" y="1466224"/>
                <a:ext cx="11140828" cy="2831544"/>
              </a:xfrm>
              <a:prstGeom prst="rect">
                <a:avLst/>
              </a:prstGeom>
              <a:blipFill rotWithShape="1">
                <a:blip r:embed="rId4"/>
                <a:stretch>
                  <a:fillRect l="-821" t="-1724" r="-766" b="-387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1690" y="390818"/>
                <a:ext cx="10800000" cy="3944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96938" indent="-452438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Discuss with your partner if the given lengths form a triangle. If the lengths formed a triangle, classify the type of triangle. 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/>
                </a:r>
                <a:br>
                  <a:rPr lang="en-US" sz="2400" dirty="0" smtClean="0">
                    <a:latin typeface="Verdana" pitchFamily="34" charset="0"/>
                    <a:ea typeface="Verdana" pitchFamily="34" charset="0"/>
                  </a:rPr>
                </a:b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If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the lengths did not form a triangle, explain why not. Summarize your discussion.</a:t>
                </a:r>
              </a:p>
              <a:p>
                <a:pPr marL="896938" indent="-452438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896938" indent="-452438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896938" indent="-452438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896938" indent="-452438">
                  <a:spcAft>
                    <a:spcPts val="1200"/>
                  </a:spcAft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Complete the comparison for the sum of the areas of the squared legs to the square of the hypotenuse. 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indent="35560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400" i="1">
                              <a:latin typeface="Cambria Math"/>
                              <a:ea typeface="Cambria Math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itchFamily="18" charset="0"/>
                          <a:ea typeface="Cambria Math" pitchFamily="18" charset="0"/>
                        </a:rPr>
                        <m:t>+</m:t>
                      </m:r>
                      <m:sSup>
                        <m:sSupPr>
                          <m:ctrlPr>
                            <a:rPr lang="en-PH" sz="2400" i="1">
                              <a:latin typeface="Cambria Math"/>
                              <a:ea typeface="Cambria Math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itchFamily="18" charset="0"/>
                          <a:ea typeface="Cambria Math" pitchFamily="18" charset="0"/>
                        </a:rPr>
                        <m:t>       ⃞  </m:t>
                      </m:r>
                      <m:sSup>
                        <m:sSupPr>
                          <m:ctrlPr>
                            <a:rPr lang="en-PH" sz="2400" i="1">
                              <a:latin typeface="Cambria Math"/>
                              <a:ea typeface="Cambria Math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PH" sz="2400" dirty="0"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90" y="390818"/>
                <a:ext cx="10800000" cy="3944991"/>
              </a:xfrm>
              <a:prstGeom prst="rect">
                <a:avLst/>
              </a:prstGeom>
              <a:blipFill rotWithShape="1">
                <a:blip r:embed="rId3"/>
                <a:stretch>
                  <a:fillRect t="-1236" b="-200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1022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3596" y="372165"/>
                <a:ext cx="11286544" cy="4098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Font typeface="+mj-lt"/>
                  <a:buAutoNum type="arabi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Discuss with your partner if a triangle can be formed with the side lengths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itchFamily="18" charset="0"/>
                        <a:ea typeface="Cambria Math" pitchFamily="18" charset="0"/>
                      </a:rPr>
                      <m:t>6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cm, </a:t>
                </a:r>
                <a:r>
                  <a:rPr lang="en-US" sz="2400" dirty="0">
                    <a:latin typeface="Cambria Math" pitchFamily="18" charset="0"/>
                    <a:ea typeface="Cambria Math" pitchFamily="18" charset="0"/>
                  </a:rPr>
                  <a:t>8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cm,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itchFamily="18" charset="0"/>
                        <a:ea typeface="Cambria Math" pitchFamily="18" charset="0"/>
                      </a:rPr>
                      <m:t>10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cm. 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896938" indent="-452438">
                  <a:spcAft>
                    <a:spcPts val="1200"/>
                  </a:spcAft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Complete the comparison for the sum of the areas of the squared legs to the square of the hypotenuse. 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sz="2400" i="1">
                              <a:latin typeface="Cambria Math"/>
                              <a:ea typeface="Cambria Math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itchFamily="18" charset="0"/>
                          <a:ea typeface="Cambria Math" pitchFamily="18" charset="0"/>
                        </a:rPr>
                        <m:t>+</m:t>
                      </m:r>
                      <m:sSup>
                        <m:sSupPr>
                          <m:ctrlPr>
                            <a:rPr lang="en-PH" sz="2400" i="1">
                              <a:latin typeface="Cambria Math"/>
                              <a:ea typeface="Cambria Math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itchFamily="18" charset="0"/>
                          <a:ea typeface="Cambria Math" pitchFamily="18" charset="0"/>
                        </a:rPr>
                        <m:t>       ⃞  </m:t>
                      </m:r>
                      <m:sSup>
                        <m:sSupPr>
                          <m:ctrlPr>
                            <a:rPr lang="en-PH" sz="2400" i="1">
                              <a:latin typeface="Cambria Math"/>
                              <a:ea typeface="Cambria Math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PH" sz="2400" dirty="0">
                  <a:latin typeface="Cambria Math" pitchFamily="18" charset="0"/>
                  <a:ea typeface="Cambria Math" pitchFamily="18" charset="0"/>
                </a:endParaRPr>
              </a:p>
              <a:p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</a:t>
                </a:r>
              </a:p>
              <a:p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896938" indent="-452438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Based on the comparison, predict the classification of the triangle formed with side lengths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itchFamily="18" charset="0"/>
                        <a:ea typeface="Cambria Math" pitchFamily="18" charset="0"/>
                      </a:rPr>
                      <m:t>6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cm,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itchFamily="18" charset="0"/>
                        <a:ea typeface="Cambria Math" pitchFamily="18" charset="0"/>
                      </a:rPr>
                      <m:t>8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cm,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itchFamily="18" charset="0"/>
                        <a:ea typeface="Cambria Math" pitchFamily="18" charset="0"/>
                      </a:rPr>
                      <m:t>10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cm.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96" y="372165"/>
                <a:ext cx="11286544" cy="4098879"/>
              </a:xfrm>
              <a:prstGeom prst="rect">
                <a:avLst/>
              </a:prstGeom>
              <a:blipFill rotWithShape="1">
                <a:blip r:embed="rId3"/>
                <a:stretch>
                  <a:fillRect l="-810" t="-1190" r="-918" b="-238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98350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9194" y="379613"/>
                <a:ext cx="11105539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017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Sketch a triangle with side lengths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itchFamily="18" charset="0"/>
                        <a:ea typeface="Cambria Math" pitchFamily="18" charset="0"/>
                      </a:rPr>
                      <m:t>6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cm,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itchFamily="18" charset="0"/>
                        <a:ea typeface="Cambria Math" pitchFamily="18" charset="0"/>
                      </a:rPr>
                      <m:t>8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cm,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itchFamily="18" charset="0"/>
                        <a:ea typeface="Cambria Math" pitchFamily="18" charset="0"/>
                      </a:rPr>
                      <m:t>10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cm.</a:t>
                </a:r>
              </a:p>
              <a:p>
                <a:pPr marL="901700" indent="-457200">
                  <a:buFont typeface="+mj-lt"/>
                  <a:buAutoNum type="alphaLcPeriod" startAt="3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1700" indent="-457200">
                  <a:buFont typeface="+mj-lt"/>
                  <a:buAutoNum type="alphaLcPeriod" startAt="3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1700" indent="-457200">
                  <a:buFont typeface="+mj-lt"/>
                  <a:buAutoNum type="alphaLcPeriod" startAt="3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1700" indent="-457200">
                  <a:buFont typeface="+mj-lt"/>
                  <a:buAutoNum type="alphaLcPeriod" startAt="3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1700" indent="-457200">
                  <a:buFont typeface="+mj-lt"/>
                  <a:buAutoNum type="alphaLcPeriod" startAt="3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1700" indent="-457200">
                  <a:buFont typeface="+mj-lt"/>
                  <a:buAutoNum type="alphaLcPeriod" startAt="3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1700" indent="-457200">
                  <a:buFont typeface="+mj-lt"/>
                  <a:buAutoNum type="alphaLcPeriod" startAt="3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1700" indent="-457200">
                  <a:buFont typeface="+mj-lt"/>
                  <a:buAutoNum type="alphaLcPeriod" startAt="3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1700" indent="-457200">
                  <a:buFont typeface="+mj-lt"/>
                  <a:buAutoNum type="alphaLcPeriod" startAt="3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1700" indent="-457200">
                  <a:buFont typeface="+mj-lt"/>
                  <a:buAutoNum type="alphaLcPeriod" startAt="3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1700" indent="-457200">
                  <a:buFont typeface="+mj-lt"/>
                  <a:buAutoNum type="alphaLcPeriod" startAt="3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1700" indent="-457200">
                  <a:buFont typeface="+mj-lt"/>
                  <a:buAutoNum type="alphaLcPeriod" startAt="3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17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What is the classification the triangle formed?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194" y="379613"/>
                <a:ext cx="11105539" cy="5262979"/>
              </a:xfrm>
              <a:prstGeom prst="rect">
                <a:avLst/>
              </a:prstGeom>
              <a:blipFill rotWithShape="1">
                <a:blip r:embed="rId3"/>
                <a:stretch>
                  <a:fillRect t="-1042" b="-162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7.png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 r="49583" b="49743"/>
          <a:stretch/>
        </p:blipFill>
        <p:spPr bwMode="auto">
          <a:xfrm>
            <a:off x="3937400" y="998341"/>
            <a:ext cx="4527481" cy="40255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7883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6062" y="373314"/>
            <a:ext cx="113029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1700" indent="-457200">
              <a:buFont typeface="+mj-lt"/>
              <a:buAutoNum type="alphaLcPeriod" startAt="5"/>
            </a:pPr>
            <a:r>
              <a:rPr lang="en-US" sz="2400" dirty="0">
                <a:latin typeface="Verdana"/>
                <a:ea typeface="Verdana"/>
                <a:cs typeface="Verdana"/>
              </a:rPr>
              <a:t>Discuss with your partner whether your prediction was correct or incorrect. Include how the comparison of the square of the legs </a:t>
            </a:r>
            <a:r>
              <a:rPr lang="en-US" sz="2400" dirty="0" smtClean="0">
                <a:latin typeface="Verdana"/>
                <a:ea typeface="Verdana"/>
                <a:cs typeface="Verdana"/>
              </a:rPr>
              <a:t/>
            </a:r>
            <a:br>
              <a:rPr lang="en-US" sz="2400" dirty="0" smtClean="0">
                <a:latin typeface="Verdana"/>
                <a:ea typeface="Verdana"/>
                <a:cs typeface="Verdana"/>
              </a:rPr>
            </a:br>
            <a:r>
              <a:rPr lang="en-US" sz="2400" dirty="0" smtClean="0">
                <a:latin typeface="Verdana"/>
                <a:ea typeface="Verdana"/>
                <a:cs typeface="Verdana"/>
              </a:rPr>
              <a:t>to </a:t>
            </a:r>
            <a:r>
              <a:rPr lang="en-US" sz="2400" dirty="0">
                <a:latin typeface="Verdana"/>
                <a:ea typeface="Verdana"/>
                <a:cs typeface="Verdana"/>
              </a:rPr>
              <a:t>the square of the hypotenuse helped with your prediction. Summarize your discussion.</a:t>
            </a:r>
            <a:endParaRPr lang="en-PH" sz="2400" dirty="0">
              <a:latin typeface="Cambria"/>
              <a:ea typeface="Cambria"/>
              <a:cs typeface="Cambria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534389" y="4195842"/>
            <a:ext cx="7123221" cy="1624614"/>
            <a:chOff x="2031300" y="3046612"/>
            <a:chExt cx="7123221" cy="1624614"/>
          </a:xfrm>
        </p:grpSpPr>
        <p:grpSp>
          <p:nvGrpSpPr>
            <p:cNvPr id="9" name="Group 8"/>
            <p:cNvGrpSpPr/>
            <p:nvPr/>
          </p:nvGrpSpPr>
          <p:grpSpPr>
            <a:xfrm>
              <a:off x="2031300" y="3046612"/>
              <a:ext cx="7123221" cy="1624614"/>
              <a:chOff x="2031300" y="3046612"/>
              <a:chExt cx="7123221" cy="1624614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/>
                    <a:ea typeface="Cambria"/>
                    <a:cs typeface="Cambria"/>
                  </a:rPr>
                  <a:t> </a:t>
                </a:r>
                <a:endParaRPr lang="en-PH" sz="1200">
                  <a:latin typeface="Cambria"/>
                  <a:ea typeface="Cambria"/>
                  <a:cs typeface="Cambria"/>
                </a:endParaRPr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2031300" y="3046612"/>
                <a:ext cx="7123221" cy="1624614"/>
                <a:chOff x="0" y="-326988"/>
                <a:chExt cx="7123221" cy="1624614"/>
              </a:xfrm>
            </p:grpSpPr>
            <p:sp>
              <p:nvSpPr>
                <p:cNvPr id="13" name="Rectangle 12"/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/>
                      <a:ea typeface="Cambria"/>
                      <a:cs typeface="Cambria"/>
                    </a:rPr>
                    <a:t> </a:t>
                  </a:r>
                  <a:endParaRPr lang="en-PH" sz="1200">
                    <a:latin typeface="Cambria"/>
                    <a:ea typeface="Cambria"/>
                    <a:cs typeface="Cambria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Rounded Rectangle 14"/>
                    <p:cNvSpPr/>
                    <p:nvPr/>
                  </p:nvSpPr>
                  <p:spPr>
                    <a:xfrm>
                      <a:off x="1" y="-326988"/>
                      <a:ext cx="7123220" cy="1624614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108000" rIns="91425" bIns="0" anchor="ctr" anchorCtr="0">
                      <a:spAutoFit/>
                    </a:bodyPr>
                    <a:lstStyle/>
                    <a:p>
                      <a:pPr marL="685800"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The </a:t>
                      </a:r>
                      <a:r>
                        <a:rPr lang="en-US" sz="2000" b="1" i="1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Converse of the Pythagorean Theorem 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states that if the lengths 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Cambria Math" pitchFamily="18" charset="0"/>
                          <a:ea typeface="Cambria Math" pitchFamily="18" charset="0"/>
                          <a:cs typeface="Cambria Math"/>
                        </a:rPr>
                        <a:t>𝑎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, 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Cambria Math" pitchFamily="18" charset="0"/>
                          <a:ea typeface="Cambria Math" pitchFamily="18" charset="0"/>
                          <a:cs typeface="Cambria Math"/>
                        </a:rPr>
                        <a:t>𝑏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Cambria Math"/>
                        </a:rPr>
                        <a:t>,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 and 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Cambria Math" pitchFamily="18" charset="0"/>
                          <a:ea typeface="Cambria Math" pitchFamily="18" charset="0"/>
                          <a:cs typeface="Cambria Math"/>
                        </a:rPr>
                        <a:t>𝑐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 of the three sides of a triangle satisfy the relationship </a:t>
                      </a:r>
                      <a:br>
                        <a:rPr lang="en-US" sz="2000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Verdana"/>
                        </a:rPr>
                      </a:br>
                      <a14:m>
                        <m:oMath xmlns:m="http://schemas.openxmlformats.org/officeDocument/2006/math">
                          <m:sSup>
                            <m:sSupPr>
                              <m:ctrlPr>
                                <a:rPr lang="en-PH" sz="2000" i="1">
                                  <a:solidFill>
                                    <a:srgbClr val="6C993D"/>
                                  </a:solidFill>
                                  <a:latin typeface="Cambria Math"/>
                                  <a:ea typeface="Cambria Math" pitchFamily="18" charset="0"/>
                                  <a:cs typeface="Verdana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Cambria Math" pitchFamily="18" charset="0"/>
                                  <a:cs typeface="Verdana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Cambria Math" pitchFamily="18" charset="0"/>
                                  <a:cs typeface="Verdana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itchFamily="18" charset="0"/>
                              <a:ea typeface="Cambria Math" pitchFamily="18" charset="0"/>
                              <a:cs typeface="Verdana"/>
                            </a:rPr>
                            <m:t>+</m:t>
                          </m:r>
                          <m:sSup>
                            <m:sSupPr>
                              <m:ctrlPr>
                                <a:rPr lang="en-PH" sz="2000" i="1">
                                  <a:solidFill>
                                    <a:srgbClr val="6C993D"/>
                                  </a:solidFill>
                                  <a:latin typeface="Cambria Math"/>
                                  <a:ea typeface="Cambria Math" pitchFamily="18" charset="0"/>
                                  <a:cs typeface="Verdana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Cambria Math" pitchFamily="18" charset="0"/>
                                  <a:cs typeface="Verdana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Cambria Math" pitchFamily="18" charset="0"/>
                                  <a:cs typeface="Verdana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itchFamily="18" charset="0"/>
                              <a:ea typeface="Cambria Math" pitchFamily="18" charset="0"/>
                              <a:cs typeface="Verdana"/>
                            </a:rPr>
                            <m:t>=</m:t>
                          </m:r>
                          <m:sSup>
                            <m:sSupPr>
                              <m:ctrlPr>
                                <a:rPr lang="en-PH" sz="2000" i="1">
                                  <a:solidFill>
                                    <a:srgbClr val="6C993D"/>
                                  </a:solidFill>
                                  <a:latin typeface="Cambria Math"/>
                                  <a:ea typeface="Cambria Math" pitchFamily="18" charset="0"/>
                                  <a:cs typeface="Verdana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Cambria Math" pitchFamily="18" charset="0"/>
                                  <a:cs typeface="Verdana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Cambria Math" pitchFamily="18" charset="0"/>
                                  <a:cs typeface="Verdana"/>
                                </a:rPr>
                                <m:t>2</m:t>
                              </m:r>
                            </m:sup>
                          </m:sSup>
                        </m:oMath>
                      </a14:m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 then the triangle is a right triangle.</a:t>
                      </a:r>
                      <a:endParaRPr lang="en-PH" sz="2000" dirty="0">
                        <a:latin typeface="Verdana" pitchFamily="34" charset="0"/>
                        <a:ea typeface="Verdana" pitchFamily="34" charset="0"/>
                        <a:cs typeface="Cambria"/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Rounded Rectangle 14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" y="-326988"/>
                      <a:ext cx="7123220" cy="1624614"/>
                    </a:xfrm>
                    <a:prstGeom prst="roundRect">
                      <a:avLst>
                        <a:gd name="adj" fmla="val 16667"/>
                      </a:avLst>
                    </a:prstGeom>
                    <a:blipFill rotWithShape="1">
                      <a:blip r:embed="rId4"/>
                      <a:stretch>
                        <a:fillRect/>
                      </a:stretch>
                    </a:blip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r>
                        <a:rPr lang="en-PH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16" name="Shape 7" descr="Icon&#10;&#10;Description automatically generated"/>
                <p:cNvPicPr preferRelativeResize="0"/>
                <p:nvPr/>
              </p:nvPicPr>
              <p:blipFill rotWithShape="1">
                <a:blip r:embed="rId5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176981" y="-133350"/>
                  <a:ext cx="539750" cy="53975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p:sp>
        <p:nvSpPr>
          <p:cNvPr id="17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3816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250999" y="291774"/>
            <a:ext cx="10268481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5.4.5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9090" y="2882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59C3E41-93EC-B84D-963F-86A3B15AC1C6}"/>
              </a:ext>
            </a:extLst>
          </p:cNvPr>
          <p:cNvSpPr txBox="1"/>
          <p:nvPr/>
        </p:nvSpPr>
        <p:spPr>
          <a:xfrm>
            <a:off x="545445" y="1457093"/>
            <a:ext cx="1080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itchFamily="34" charset="0"/>
                <a:ea typeface="Verdana" pitchFamily="34" charset="0"/>
              </a:rPr>
              <a:t>Determine if each set of side lengths form a triangle. If the side lengths form a triangle, determine if it is a right triangle.</a:t>
            </a:r>
            <a:endParaRPr lang="en-PH" sz="2400" dirty="0">
              <a:latin typeface="Verdana" pitchFamily="34" charset="0"/>
              <a:ea typeface="Verdana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4564690"/>
                  </p:ext>
                </p:extLst>
              </p:nvPr>
            </p:nvGraphicFramePr>
            <p:xfrm>
              <a:off x="2651464" y="2454705"/>
              <a:ext cx="6840000" cy="2804160"/>
            </p:xfrm>
            <a:graphic>
              <a:graphicData uri="http://schemas.openxmlformats.org/drawingml/2006/table">
                <a:tbl>
                  <a:tblPr>
                    <a:tableStyleId>{A91F0D33-8C57-4600-99A7-42BC86742BE1}</a:tableStyleId>
                  </a:tblPr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Side Lengths</a:t>
                          </a:r>
                          <a:endParaRPr lang="en-PH" sz="1400" dirty="0">
                            <a:effectLst/>
                            <a:latin typeface="Cambria"/>
                            <a:ea typeface="Cambria"/>
                            <a:cs typeface="Cambria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Triangle?</a:t>
                          </a:r>
                          <a:endParaRPr lang="en-PH" sz="1400" dirty="0">
                            <a:effectLst/>
                            <a:latin typeface="Cambria"/>
                            <a:ea typeface="Cambria"/>
                            <a:cs typeface="Cambria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Right Triangle?</a:t>
                          </a:r>
                          <a:endParaRPr lang="en-PH" sz="1400" dirty="0">
                            <a:effectLst/>
                            <a:latin typeface="Cambria"/>
                            <a:ea typeface="Cambria"/>
                            <a:cs typeface="Cambria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6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in.,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12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in.,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13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in.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Yes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No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28800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Yes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No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28800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4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ft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15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ft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17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ft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Yes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No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28800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Yes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No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28800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yd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10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yd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itchFamily="18" charset="0"/>
                                  <a:ea typeface="Cambria Math" pitchFamily="18" charset="0"/>
                                </a:rPr>
                                <m:t>15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yd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Yes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No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28800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Yes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No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28800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4564690"/>
                  </p:ext>
                </p:extLst>
              </p:nvPr>
            </p:nvGraphicFramePr>
            <p:xfrm>
              <a:off x="2651464" y="2454705"/>
              <a:ext cx="6840000" cy="2804160"/>
            </p:xfrm>
            <a:graphic>
              <a:graphicData uri="http://schemas.openxmlformats.org/drawingml/2006/table">
                <a:tbl>
                  <a:tblPr>
                    <a:tableStyleId>{A91F0D33-8C57-4600-99A7-42BC86742BE1}</a:tableStyleId>
                  </a:tblPr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Side Lengths</a:t>
                          </a:r>
                          <a:endParaRPr lang="en-PH" sz="1400" dirty="0">
                            <a:effectLst/>
                            <a:latin typeface="Cambria"/>
                            <a:ea typeface="Cambria"/>
                            <a:cs typeface="Cambria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Triangle?</a:t>
                          </a:r>
                          <a:endParaRPr lang="en-PH" sz="1400" dirty="0">
                            <a:effectLst/>
                            <a:latin typeface="Cambria"/>
                            <a:ea typeface="Cambria"/>
                            <a:cs typeface="Cambria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Right Triangle?</a:t>
                          </a:r>
                          <a:endParaRPr lang="en-PH" sz="1400" dirty="0">
                            <a:effectLst/>
                            <a:latin typeface="Cambria"/>
                            <a:ea typeface="Cambria"/>
                            <a:cs typeface="Cambria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88" t="-104348" r="-111299" b="-21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Yes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No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28800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Yes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No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28800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88" t="-204348" r="-111299" b="-11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Yes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No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28800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Yes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No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28800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88" t="-304348" r="-111299" b="-18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Yes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No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28800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Yes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266700" lvl="0" indent="-266700">
                            <a:spcAft>
                              <a:spcPts val="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No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 marL="28800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5668" y="383401"/>
                <a:ext cx="10800000" cy="6155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/>
                  </a:rPr>
                  <a:t>Pablo and Gloria were given the sides lengths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/>
                  </a:rPr>
                  <a:t> cm,</a:t>
                </a:r>
                <a14:m>
                  <m:oMath xmlns:m="http://schemas.openxmlformats.org/officeDocument/2006/math">
                    <m:r>
                      <a:rPr lang="en-PH" sz="2400">
                        <a:latin typeface="Cambria Math"/>
                        <a:ea typeface="Verdana"/>
                        <a:cs typeface="Verdana"/>
                      </a:rPr>
                      <m:t>   </m:t>
                    </m:r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/>
                  </a:rPr>
                  <a:t> cm,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17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/>
                  </a:rPr>
                  <a:t> cm then asked to determine if a right triangle was formed.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457200" indent="-457200">
                  <a:spcAft>
                    <a:spcPts val="1200"/>
                  </a:spcAft>
                  <a:buFont typeface="+mj-lt"/>
                  <a:buAutoNum type="arabicPeriod" startAt="2"/>
                </a:pPr>
                <a:endParaRPr lang="en-US" sz="2400" dirty="0"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896938" indent="-452438"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Explain why Gloria is correct.</a:t>
                </a:r>
              </a:p>
              <a:p>
                <a:pPr marL="896938" indent="-452438">
                  <a:buFont typeface="+mj-lt"/>
                  <a:buAutoNum type="alphaLcPeriod"/>
                </a:pP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896938" indent="-452438">
                  <a:buFont typeface="+mj-lt"/>
                  <a:buAutoNum type="alphaLcPeriod"/>
                </a:pP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896938" indent="-452438"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What was Pablo’s mistake or misconception?</a:t>
                </a:r>
              </a:p>
              <a:p>
                <a:pPr marL="896938" indent="-452438">
                  <a:buFont typeface="+mj-lt"/>
                  <a:buAutoNum type="alphaLcPeriod"/>
                </a:pP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896938" indent="-452438">
                  <a:buFont typeface="+mj-lt"/>
                  <a:buAutoNum type="alphaLcPeriod"/>
                </a:pP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896938" indent="-452438"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What does Pablo’s statement tell you about the given side lengths? 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  <a:cs typeface="Cambria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68" y="383401"/>
                <a:ext cx="10800000" cy="6155531"/>
              </a:xfrm>
              <a:prstGeom prst="rect">
                <a:avLst/>
              </a:prstGeom>
              <a:blipFill rotWithShape="1">
                <a:blip r:embed="rId3"/>
                <a:stretch>
                  <a:fillRect l="-903" t="-89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5977066"/>
                  </p:ext>
                </p:extLst>
              </p:nvPr>
            </p:nvGraphicFramePr>
            <p:xfrm>
              <a:off x="2335668" y="1338178"/>
              <a:ext cx="7200000" cy="11887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Pablo says it is a </a:t>
                          </a:r>
                          <a:b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</a:b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right triangle because</a:t>
                          </a:r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  <a:p>
                          <a:pPr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itchFamily="18" charset="0"/>
                                  <a:ea typeface="Cambria Math" pitchFamily="18" charset="0"/>
                                  <a:cs typeface="Verdana"/>
                                </a:rPr>
                                <m:t>5+12=17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.</a:t>
                          </a:r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Gloria says it is not a right triangle because </a:t>
                          </a:r>
                          <a:b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</a:b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PH" sz="2400" i="1">
                                      <a:effectLst/>
                                      <a:latin typeface="Cambria Math"/>
                                      <a:ea typeface="Cambria Math" pitchFamily="18" charset="0"/>
                                      <a:cs typeface="Verdana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itchFamily="18" charset="0"/>
                                      <a:cs typeface="Verdana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itchFamily="18" charset="0"/>
                                      <a:cs typeface="Verdana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>
                              <a:effectLst/>
                              <a:latin typeface="Cambria Math" pitchFamily="18" charset="0"/>
                              <a:ea typeface="Cambria Math" pitchFamily="18" charset="0"/>
                              <a:cs typeface="Verdana"/>
                            </a:rPr>
                            <a:t> +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PH" sz="2400" i="1">
                                      <a:effectLst/>
                                      <a:latin typeface="Cambria Math"/>
                                      <a:ea typeface="Cambria Math" pitchFamily="18" charset="0"/>
                                      <a:cs typeface="Verdana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itchFamily="18" charset="0"/>
                                      <a:cs typeface="Verdana"/>
                                    </a:rPr>
                                    <m:t>12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itchFamily="18" charset="0"/>
                                      <a:cs typeface="Verdana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>
                              <a:effectLst/>
                              <a:latin typeface="Cambria Math" pitchFamily="18" charset="0"/>
                              <a:ea typeface="Cambria Math" pitchFamily="18" charset="0"/>
                              <a:cs typeface="Verdana"/>
                            </a:rPr>
                            <a:t> ≠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PH" sz="2400" i="1">
                                      <a:effectLst/>
                                      <a:latin typeface="Cambria Math"/>
                                      <a:ea typeface="Cambria Math" pitchFamily="18" charset="0"/>
                                      <a:cs typeface="Verdana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itchFamily="18" charset="0"/>
                                      <a:cs typeface="Verdana"/>
                                    </a:rPr>
                                    <m:t>17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itchFamily="18" charset="0"/>
                                      <a:cs typeface="Verdana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.</a:t>
                          </a:r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5977066"/>
                  </p:ext>
                </p:extLst>
              </p:nvPr>
            </p:nvGraphicFramePr>
            <p:xfrm>
              <a:off x="2335668" y="1338178"/>
              <a:ext cx="7200000" cy="11887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4103" r="-100000" b="-117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169" t="-4103" r="-169" b="-117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5277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80860" y="2217023"/>
            <a:ext cx="4977109" cy="444075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53292" y="0"/>
            <a:ext cx="948040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5.4.6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090" y="2882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544761" y="1472133"/>
            <a:ext cx="105951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itchFamily="34" charset="0"/>
                <a:ea typeface="Verdana" pitchFamily="34" charset="0"/>
              </a:rPr>
              <a:t>Plot a point on the grid below to indicate your level of interest for today’s learning target.</a:t>
            </a:r>
            <a:endParaRPr lang="en-PH" sz="2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28540" y="650206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1418</TotalTime>
  <Words>1192</Words>
  <Application>Microsoft Office PowerPoint</Application>
  <PresentationFormat>Custom</PresentationFormat>
  <Paragraphs>270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</vt:lpstr>
      <vt:lpstr>Century Gothic</vt:lpstr>
      <vt:lpstr>Wingdings</vt:lpstr>
      <vt:lpstr>Cambria Math</vt:lpstr>
      <vt:lpstr>Cambria</vt:lpstr>
      <vt:lpstr>Arial Black</vt:lpstr>
      <vt:lpstr>Verdana</vt:lpstr>
      <vt:lpstr>Calibri</vt:lpstr>
      <vt:lpstr>Courier New</vt:lpstr>
      <vt:lpstr>1_Office Theme</vt:lpstr>
      <vt:lpstr>8th Grade Math:  Pre-Algebra  Unit 5, Lesson 4  The Triangle Inequality Theorem and the Converse of the Pythagorean Theorem  Volume 1, pg. 190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31</cp:revision>
  <dcterms:created xsi:type="dcterms:W3CDTF">2015-03-17T18:51:18Z</dcterms:created>
  <dcterms:modified xsi:type="dcterms:W3CDTF">2022-06-16T03:17:58Z</dcterms:modified>
</cp:coreProperties>
</file>