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embeddedFontLst>
    <p:embeddedFont>
      <p:font typeface="Century Gothic" pitchFamily="34" charset="0"/>
      <p:regular r:id="rId26"/>
      <p:bold r:id="rId27"/>
      <p:italic r:id="rId28"/>
      <p:boldItalic r:id="rId29"/>
    </p:embeddedFont>
    <p:embeddedFont>
      <p:font typeface="Cambria Math" pitchFamily="18" charset="0"/>
      <p:regular r:id="rId30"/>
    </p:embeddedFont>
    <p:embeddedFont>
      <p:font typeface="Arial Black" pitchFamily="34" charset="0"/>
      <p:bold r:id="rId31"/>
    </p:embeddedFont>
    <p:embeddedFont>
      <p:font typeface="Verdana" pitchFamily="34" charset="0"/>
      <p:regular r:id="rId32"/>
      <p:bold r:id="rId33"/>
      <p:italic r:id="rId34"/>
      <p:boldItalic r:id="rId35"/>
    </p:embeddedFont>
    <p:embeddedFont>
      <p:font typeface="Calibri"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gMBE6PnO4EuDkd90JQqURup7COX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14BEB874-8EB6-4976-96A3-DF805651A6B6}">
  <a:tblStyle styleId="{14BEB874-8EB6-4976-96A3-DF805651A6B6}"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714"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8193316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 name="Google Shape;249;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 name="Google Shape;30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9" name="Google Shape;30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5" name="Google Shape;375;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3" name="Google Shape;39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4" name="Google Shape;39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 name="Google Shape;403;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 name="Google Shape;404;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0.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300"/>
              <a:buFont typeface="Calibri"/>
              <a:buNone/>
            </a:pPr>
            <a:r>
              <a:rPr lang="en-US" sz="3800" b="1" i="0" u="none" strike="noStrike" cap="none" dirty="0">
                <a:solidFill>
                  <a:srgbClr val="417DBF"/>
                </a:solidFill>
                <a:latin typeface="Verdana"/>
                <a:ea typeface="Verdana"/>
                <a:cs typeface="Verdana"/>
                <a:sym typeface="Verdana"/>
              </a:rPr>
              <a:t>8</a:t>
            </a:r>
            <a:r>
              <a:rPr lang="en-US" sz="3800" b="1" i="0" u="none" strike="noStrike" cap="none" baseline="30000" dirty="0">
                <a:solidFill>
                  <a:srgbClr val="417DBF"/>
                </a:solidFill>
                <a:latin typeface="Verdana"/>
                <a:ea typeface="Verdana"/>
                <a:cs typeface="Verdana"/>
                <a:sym typeface="Verdana"/>
              </a:rPr>
              <a:t>th</a:t>
            </a:r>
            <a:r>
              <a:rPr lang="en-US" sz="3800" b="1" i="0" u="none" strike="noStrike" cap="none" dirty="0">
                <a:solidFill>
                  <a:srgbClr val="417DBF"/>
                </a:solidFill>
                <a:latin typeface="Verdana"/>
                <a:ea typeface="Verdana"/>
                <a:cs typeface="Verdana"/>
                <a:sym typeface="Verdana"/>
              </a:rPr>
              <a:t> Grade Math: Pre-Algebra</a:t>
            </a:r>
            <a:br>
              <a:rPr lang="en-US" sz="3800" b="1" i="0" u="none" strike="noStrike" cap="none" dirty="0">
                <a:solidFill>
                  <a:srgbClr val="417DBF"/>
                </a:solidFill>
                <a:latin typeface="Verdana"/>
                <a:ea typeface="Verdana"/>
                <a:cs typeface="Verdana"/>
                <a:sym typeface="Verdana"/>
              </a:rPr>
            </a:br>
            <a:endParaRPr sz="3800" b="1" i="0" u="none" strike="noStrike" cap="none" dirty="0">
              <a:solidFill>
                <a:srgbClr val="417DBF"/>
              </a:solidFill>
              <a:latin typeface="Verdana"/>
              <a:ea typeface="Verdana"/>
              <a:cs typeface="Verdana"/>
              <a:sym typeface="Verdana"/>
            </a:endParaRPr>
          </a:p>
          <a:p>
            <a:pPr marL="0" marR="0" lvl="0" indent="0" algn="ctr" rtl="0">
              <a:lnSpc>
                <a:spcPct val="100000"/>
              </a:lnSpc>
              <a:spcBef>
                <a:spcPts val="0"/>
              </a:spcBef>
              <a:spcAft>
                <a:spcPts val="0"/>
              </a:spcAft>
              <a:buClr>
                <a:srgbClr val="000000"/>
              </a:buClr>
              <a:buSzPts val="3300"/>
              <a:buFont typeface="Calibri"/>
              <a:buNone/>
            </a:pPr>
            <a:r>
              <a:rPr lang="en-US" sz="3800" b="1" i="0" u="none" strike="noStrike" cap="none" dirty="0">
                <a:solidFill>
                  <a:srgbClr val="417DBF"/>
                </a:solidFill>
                <a:latin typeface="Verdana"/>
                <a:ea typeface="Verdana"/>
                <a:cs typeface="Verdana"/>
                <a:sym typeface="Verdana"/>
              </a:rPr>
              <a:t>Unit 5, Lesson 1</a:t>
            </a:r>
            <a:br>
              <a:rPr lang="en-US" sz="3800" b="1" i="0" u="none" strike="noStrike" cap="none" dirty="0">
                <a:solidFill>
                  <a:srgbClr val="417DBF"/>
                </a:solidFill>
                <a:latin typeface="Verdana"/>
                <a:ea typeface="Verdana"/>
                <a:cs typeface="Verdana"/>
                <a:sym typeface="Verdana"/>
              </a:rPr>
            </a:br>
            <a:r>
              <a:rPr lang="en-US" sz="3800" b="1" i="0" u="none" strike="noStrike" cap="none" dirty="0">
                <a:solidFill>
                  <a:srgbClr val="417DBF"/>
                </a:solidFill>
                <a:latin typeface="Verdana"/>
                <a:ea typeface="Verdana"/>
                <a:cs typeface="Verdana"/>
                <a:sym typeface="Verdana"/>
              </a:rPr>
              <a:t/>
            </a:r>
            <a:br>
              <a:rPr lang="en-US" sz="3800" b="1" i="0" u="none" strike="noStrike" cap="none" dirty="0">
                <a:solidFill>
                  <a:srgbClr val="417DBF"/>
                </a:solidFill>
                <a:latin typeface="Verdana"/>
                <a:ea typeface="Verdana"/>
                <a:cs typeface="Verdana"/>
                <a:sym typeface="Verdana"/>
              </a:rPr>
            </a:br>
            <a:r>
              <a:rPr lang="en-US" sz="3800" b="1" i="0" u="none" strike="noStrike" cap="none" dirty="0">
                <a:solidFill>
                  <a:srgbClr val="417DBF"/>
                </a:solidFill>
                <a:latin typeface="Verdana"/>
                <a:ea typeface="Verdana"/>
                <a:cs typeface="Verdana"/>
                <a:sym typeface="Verdana"/>
              </a:rPr>
              <a:t>Determining Solutions to Inequalities</a:t>
            </a:r>
            <a:br>
              <a:rPr lang="en-US" sz="3800" b="1" i="0" u="none" strike="noStrike" cap="none" dirty="0">
                <a:solidFill>
                  <a:srgbClr val="417DBF"/>
                </a:solidFill>
                <a:latin typeface="Verdana"/>
                <a:ea typeface="Verdana"/>
                <a:cs typeface="Verdana"/>
                <a:sym typeface="Verdana"/>
              </a:rPr>
            </a:br>
            <a:r>
              <a:rPr lang="en-US" sz="3800" b="1" i="0" u="none" strike="noStrike" cap="none" dirty="0">
                <a:solidFill>
                  <a:srgbClr val="417DBF"/>
                </a:solidFill>
                <a:latin typeface="Verdana"/>
                <a:ea typeface="Verdana"/>
                <a:cs typeface="Verdana"/>
                <a:sym typeface="Verdana"/>
              </a:rPr>
              <a:t/>
            </a:r>
            <a:br>
              <a:rPr lang="en-US" sz="3800" b="1" i="0" u="none" strike="noStrike" cap="none" dirty="0">
                <a:solidFill>
                  <a:srgbClr val="417DBF"/>
                </a:solidFill>
                <a:latin typeface="Verdana"/>
                <a:ea typeface="Verdana"/>
                <a:cs typeface="Verdana"/>
                <a:sym typeface="Verdana"/>
              </a:rPr>
            </a:br>
            <a:r>
              <a:rPr lang="en-US" sz="2800" b="1" i="0" u="none" strike="noStrike" cap="none" dirty="0">
                <a:solidFill>
                  <a:srgbClr val="417DBF"/>
                </a:solidFill>
                <a:latin typeface="Verdana"/>
                <a:ea typeface="Verdana"/>
                <a:cs typeface="Verdana"/>
                <a:sym typeface="Verdana"/>
              </a:rPr>
              <a:t>Volume 1, pg. 177</a:t>
            </a:r>
            <a:endParaRPr dirty="0"/>
          </a:p>
          <a:p>
            <a:pPr marL="0" marR="0" lvl="0" indent="0" algn="ctr" rtl="0">
              <a:lnSpc>
                <a:spcPct val="100000"/>
              </a:lnSpc>
              <a:spcBef>
                <a:spcPts val="0"/>
              </a:spcBef>
              <a:spcAft>
                <a:spcPts val="0"/>
              </a:spcAft>
              <a:buClr>
                <a:srgbClr val="000000"/>
              </a:buClr>
              <a:buSzPts val="3300"/>
              <a:buFont typeface="Calibri"/>
              <a:buNone/>
            </a:pPr>
            <a:endParaRPr sz="3400" b="1" i="0" u="none" strike="noStrike" cap="none" dirty="0">
              <a:solidFill>
                <a:srgbClr val="417DBF"/>
              </a:solidFill>
              <a:latin typeface="Verdana"/>
              <a:ea typeface="Verdana"/>
              <a:cs typeface="Verdana"/>
              <a:sym typeface="Verdana"/>
            </a:endParaRPr>
          </a:p>
          <a:p>
            <a:pPr marL="0" marR="0" lvl="0" indent="0" algn="ctr" rtl="0">
              <a:lnSpc>
                <a:spcPct val="75000"/>
              </a:lnSpc>
              <a:spcBef>
                <a:spcPts val="0"/>
              </a:spcBef>
              <a:spcAft>
                <a:spcPts val="0"/>
              </a:spcAft>
              <a:buClr>
                <a:schemeClr val="dk1"/>
              </a:buClr>
              <a:buSzPts val="3300"/>
              <a:buFont typeface="Calibri"/>
              <a:buNone/>
            </a:pPr>
            <a:endParaRPr sz="3100" b="0" i="0" u="none" strike="noStrike" cap="none" dirty="0">
              <a:solidFill>
                <a:srgbClr val="417DBF"/>
              </a:solidFill>
              <a:latin typeface="Calibri"/>
              <a:ea typeface="Calibri"/>
              <a:cs typeface="Calibri"/>
              <a:sym typeface="Calibri"/>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01762" y="1627632"/>
            <a:ext cx="3090582" cy="3602736"/>
          </a:xfrm>
          <a:prstGeom prst="rect">
            <a:avLst/>
          </a:prstGeom>
          <a:noFill/>
          <a:ln>
            <a:noFill/>
          </a:ln>
          <a:effectLst>
            <a:outerShdw blurRad="50800" dist="38100" dir="2700000" algn="tl" rotWithShape="0">
              <a:srgbClr val="000000">
                <a:alpha val="40000"/>
              </a:srgbClr>
            </a:outerShdw>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3" name="Google Shape;123;g104476d1465_1_17"/>
          <p:cNvSpPr txBox="1">
            <a:spLocks noGrp="1"/>
          </p:cNvSpPr>
          <p:nvPr>
            <p:ph type="title" idx="4294967295"/>
          </p:nvPr>
        </p:nvSpPr>
        <p:spPr>
          <a:xfrm>
            <a:off x="1154000" y="7123"/>
            <a:ext cx="75099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None/>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354900" y="296323"/>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177</a:t>
            </a:r>
            <a:endParaRPr sz="1400" b="0" i="1" u="none" strike="noStrike" cap="none" dirty="0">
              <a:solidFill>
                <a:srgbClr val="000000"/>
              </a:solidFill>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536698" y="1599153"/>
            <a:ext cx="10749560" cy="42057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750"/>
              </a:spcBef>
              <a:spcAft>
                <a:spcPts val="0"/>
              </a:spcAft>
              <a:buClr>
                <a:schemeClr val="dk1"/>
              </a:buClr>
              <a:buSzPts val="1100"/>
              <a:buFont typeface="Arial"/>
              <a:buNone/>
            </a:pPr>
            <a:r>
              <a:rPr lang="en-US" sz="3500" b="0" i="0" u="none" strike="noStrike" cap="none" dirty="0">
                <a:solidFill>
                  <a:schemeClr val="dk1"/>
                </a:solidFill>
                <a:latin typeface="Verdana"/>
                <a:ea typeface="Verdana"/>
                <a:cs typeface="Verdana"/>
                <a:sym typeface="Verdana"/>
              </a:rPr>
              <a:t>MA.8.AR.2.2</a:t>
            </a:r>
            <a:endParaRPr dirty="0"/>
          </a:p>
          <a:p>
            <a:pPr marL="457200" marR="0" lvl="0" indent="0" algn="l" rtl="0">
              <a:lnSpc>
                <a:spcPct val="90000"/>
              </a:lnSpc>
              <a:spcBef>
                <a:spcPts val="750"/>
              </a:spcBef>
              <a:spcAft>
                <a:spcPts val="0"/>
              </a:spcAft>
              <a:buClr>
                <a:schemeClr val="dk1"/>
              </a:buClr>
              <a:buSzPts val="2100"/>
              <a:buFont typeface="Arial"/>
              <a:buNone/>
            </a:pPr>
            <a:r>
              <a:rPr lang="en-US" sz="3500" b="0" i="0" u="none" strike="noStrike" cap="none" dirty="0">
                <a:solidFill>
                  <a:schemeClr val="dk1"/>
                </a:solidFill>
                <a:latin typeface="Verdana"/>
                <a:ea typeface="Verdana"/>
                <a:cs typeface="Verdana"/>
                <a:sym typeface="Verdana"/>
              </a:rPr>
              <a:t>Solve two-step linear inequalities in one variable and represent solutions algebraically and graphically.</a:t>
            </a:r>
            <a:endParaRPr sz="3500" b="0" i="0" u="none" strike="noStrike" cap="none" dirty="0">
              <a:solidFill>
                <a:schemeClr val="dk1"/>
              </a:solidFill>
              <a:latin typeface="Century Gothic"/>
              <a:ea typeface="Century Gothic"/>
              <a:cs typeface="Century Gothic"/>
              <a:sym typeface="Century Gothic"/>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6" name="Google Shape;136;p1"/>
          <p:cNvSpPr txBox="1"/>
          <p:nvPr/>
        </p:nvSpPr>
        <p:spPr>
          <a:xfrm>
            <a:off x="1149863" y="7123"/>
            <a:ext cx="8938019"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3000" b="1" i="0" u="none" strike="noStrike" cap="none" dirty="0">
                <a:solidFill>
                  <a:srgbClr val="54B5D1"/>
                </a:solidFill>
                <a:latin typeface="Verdana"/>
                <a:ea typeface="Verdana"/>
                <a:cs typeface="Verdana"/>
                <a:sym typeface="Verdana"/>
              </a:rPr>
              <a:t>Integrated Mathematical Thinking and Reasoning Standards</a:t>
            </a:r>
            <a:endParaRPr dirty="0"/>
          </a:p>
        </p:txBody>
      </p:sp>
      <p:sp>
        <p:nvSpPr>
          <p:cNvPr id="137" name="Google Shape;137;p1"/>
          <p:cNvSpPr txBox="1"/>
          <p:nvPr/>
        </p:nvSpPr>
        <p:spPr>
          <a:xfrm>
            <a:off x="1116975" y="1582568"/>
            <a:ext cx="10800000" cy="4205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0" i="0" u="none" strike="noStrike" cap="none" dirty="0">
                <a:solidFill>
                  <a:schemeClr val="dk1"/>
                </a:solidFill>
                <a:latin typeface="Verdana"/>
                <a:ea typeface="Verdana"/>
                <a:cs typeface="Verdana"/>
                <a:sym typeface="Verdana"/>
              </a:rPr>
              <a:t>MA.K12.MTR.1.1 Actively participate in effortful learning both individually and collectively.</a:t>
            </a:r>
            <a:endParaRPr dirty="0"/>
          </a:p>
          <a:p>
            <a:pPr marL="457200" marR="0" lvl="0" indent="0" algn="l" rtl="0">
              <a:lnSpc>
                <a:spcPct val="100000"/>
              </a:lnSpc>
              <a:spcBef>
                <a:spcPts val="0"/>
              </a:spcBef>
              <a:spcAft>
                <a:spcPts val="0"/>
              </a:spcAft>
              <a:buNone/>
            </a:pPr>
            <a:endParaRPr sz="20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None/>
            </a:pPr>
            <a:r>
              <a:rPr lang="en-US" sz="2000" b="0" i="0" u="none" strike="noStrike" cap="none" dirty="0">
                <a:solidFill>
                  <a:schemeClr val="dk1"/>
                </a:solidFill>
                <a:latin typeface="Verdana"/>
                <a:ea typeface="Verdana"/>
                <a:cs typeface="Verdana"/>
                <a:sym typeface="Verdana"/>
              </a:rPr>
              <a:t>MA.K12.MTR.2.1 Demonstrate understanding by representing problems in multiple ways.</a:t>
            </a:r>
            <a:endParaRPr dirty="0"/>
          </a:p>
          <a:p>
            <a:pPr marL="457200" marR="0" lvl="0" indent="0" algn="l" rtl="0">
              <a:lnSpc>
                <a:spcPct val="100000"/>
              </a:lnSpc>
              <a:spcBef>
                <a:spcPts val="0"/>
              </a:spcBef>
              <a:spcAft>
                <a:spcPts val="0"/>
              </a:spcAft>
              <a:buNone/>
            </a:pPr>
            <a:endParaRPr sz="20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None/>
            </a:pPr>
            <a:r>
              <a:rPr lang="en-US" sz="2000" b="0" i="0" u="none" strike="noStrike" cap="none" dirty="0">
                <a:solidFill>
                  <a:schemeClr val="dk1"/>
                </a:solidFill>
                <a:latin typeface="Verdana"/>
                <a:ea typeface="Verdana"/>
                <a:cs typeface="Verdana"/>
                <a:sym typeface="Verdana"/>
              </a:rPr>
              <a:t>MA.K12.MTR.4.1 Engage in discussions that reflect on the mathematical thinking of self and others.</a:t>
            </a:r>
            <a:endParaRPr dirty="0"/>
          </a:p>
          <a:p>
            <a:pPr marL="457200" marR="0" lvl="0" indent="0" algn="l" rtl="0">
              <a:lnSpc>
                <a:spcPct val="100000"/>
              </a:lnSpc>
              <a:spcBef>
                <a:spcPts val="0"/>
              </a:spcBef>
              <a:spcAft>
                <a:spcPts val="0"/>
              </a:spcAft>
              <a:buNone/>
            </a:pPr>
            <a:endParaRPr sz="20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None/>
            </a:pPr>
            <a:r>
              <a:rPr lang="en-US" sz="2000" b="0" i="0" u="none" strike="noStrike" cap="none" dirty="0">
                <a:solidFill>
                  <a:schemeClr val="dk1"/>
                </a:solidFill>
                <a:latin typeface="Verdana"/>
                <a:ea typeface="Verdana"/>
                <a:cs typeface="Verdana"/>
                <a:sym typeface="Verdana"/>
              </a:rPr>
              <a:t>MA.K12.MTR.5.1 Use patterns and structure to help understand and connect mathematical concepts.</a:t>
            </a:r>
            <a:endParaRPr dirty="0"/>
          </a:p>
          <a:p>
            <a:pPr marL="0" marR="0" lvl="0" indent="0" algn="l" rtl="0">
              <a:lnSpc>
                <a:spcPct val="100000"/>
              </a:lnSpc>
              <a:spcBef>
                <a:spcPts val="0"/>
              </a:spcBef>
              <a:spcAft>
                <a:spcPts val="0"/>
              </a:spcAft>
              <a:buNone/>
            </a:pPr>
            <a:endParaRPr sz="20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None/>
            </a:pPr>
            <a:r>
              <a:rPr lang="en-US" sz="2000" b="0" i="0" u="none" strike="noStrike" cap="none" dirty="0">
                <a:solidFill>
                  <a:schemeClr val="dk1"/>
                </a:solidFill>
                <a:latin typeface="Verdana"/>
                <a:ea typeface="Verdana"/>
                <a:cs typeface="Verdana"/>
                <a:sym typeface="Verdana"/>
              </a:rPr>
              <a:t>MA.K12.MTR.6.1 Assess the reasonableness of solutions.</a:t>
            </a:r>
            <a:endParaRPr dirty="0"/>
          </a:p>
        </p:txBody>
      </p:sp>
      <p:pic>
        <p:nvPicPr>
          <p:cNvPr id="9" name="Google Shape;124;g104476d1465_1_17"/>
          <p:cNvPicPr preferRelativeResize="0"/>
          <p:nvPr/>
        </p:nvPicPr>
        <p:blipFill rotWithShape="1">
          <a:blip r:embed="rId3">
            <a:alphaModFix/>
          </a:blip>
          <a:srcRect/>
          <a:stretch/>
        </p:blipFill>
        <p:spPr>
          <a:xfrm>
            <a:off x="354900" y="296323"/>
            <a:ext cx="747300" cy="747300"/>
          </a:xfrm>
          <a:prstGeom prst="rect">
            <a:avLst/>
          </a:prstGeom>
          <a:noFill/>
          <a:ln>
            <a:noFill/>
          </a:ln>
          <a:effectLst>
            <a:outerShdw blurRad="57150" dist="19050" dir="5400000" algn="bl" rotWithShape="0">
              <a:srgbClr val="000000">
                <a:alpha val="49803"/>
              </a:srgbClr>
            </a:outerShdw>
          </a:effectLst>
        </p:spPr>
      </p:pic>
      <p:sp>
        <p:nvSpPr>
          <p:cNvPr id="10"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177</a:t>
            </a:r>
            <a:endParaRPr sz="1400" b="0" i="1" u="none" strike="noStrike" cap="none" dirty="0">
              <a:solidFill>
                <a:srgbClr val="000000"/>
              </a:solidFill>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highlight>
                <a:srgbClr val="FFFF00"/>
              </a:highlight>
              <a:latin typeface="Arial"/>
              <a:ea typeface="Arial"/>
              <a:cs typeface="Arial"/>
              <a:sym typeface="Arial"/>
            </a:endParaRPr>
          </a:p>
        </p:txBody>
      </p:sp>
      <p:sp>
        <p:nvSpPr>
          <p:cNvPr id="146" name="Google Shape;146;p2"/>
          <p:cNvSpPr txBox="1"/>
          <p:nvPr/>
        </p:nvSpPr>
        <p:spPr>
          <a:xfrm>
            <a:off x="1156836" y="-1231"/>
            <a:ext cx="7958400"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4700" b="1" i="0" u="none" strike="noStrike" cap="none" dirty="0">
                <a:solidFill>
                  <a:srgbClr val="52BDA6"/>
                </a:solidFill>
                <a:latin typeface="Verdana"/>
                <a:ea typeface="Verdana"/>
                <a:cs typeface="Verdana"/>
                <a:sym typeface="Verdana"/>
              </a:rPr>
              <a:t>Learning Targets</a:t>
            </a:r>
            <a:endParaRPr dirty="0"/>
          </a:p>
        </p:txBody>
      </p:sp>
      <p:pic>
        <p:nvPicPr>
          <p:cNvPr id="147" name="Google Shape;147;p2"/>
          <p:cNvPicPr preferRelativeResize="0"/>
          <p:nvPr/>
        </p:nvPicPr>
        <p:blipFill rotWithShape="1">
          <a:blip r:embed="rId3">
            <a:alphaModFix/>
          </a:blip>
          <a:srcRect/>
          <a:stretch/>
        </p:blipFill>
        <p:spPr>
          <a:xfrm>
            <a:off x="354900" y="287969"/>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603813" y="1321975"/>
            <a:ext cx="10800000" cy="4205700"/>
          </a:xfrm>
          <a:prstGeom prst="rect">
            <a:avLst/>
          </a:prstGeom>
          <a:noFill/>
          <a:ln>
            <a:noFill/>
          </a:ln>
        </p:spPr>
        <p:txBody>
          <a:bodyPr spcFirstLastPara="1" wrap="square" lIns="91425" tIns="45700" rIns="91425" bIns="45700" anchor="t" anchorCtr="0">
            <a:noAutofit/>
          </a:bodyPr>
          <a:lstStyle/>
          <a:p>
            <a:pPr marL="463550" marR="0" lvl="0" indent="-457200" algn="l" rtl="0">
              <a:lnSpc>
                <a:spcPct val="100000"/>
              </a:lnSpc>
              <a:spcBef>
                <a:spcPts val="0"/>
              </a:spcBef>
              <a:spcAft>
                <a:spcPts val="0"/>
              </a:spcAft>
              <a:buClr>
                <a:srgbClr val="434343"/>
              </a:buClr>
              <a:buSzPts val="2800"/>
              <a:buFont typeface="Wingdings" pitchFamily="2" charset="2"/>
              <a:buChar char="q"/>
            </a:pPr>
            <a:r>
              <a:rPr lang="en-US" sz="2800" b="0" i="0" u="none" strike="noStrike" cap="none" dirty="0">
                <a:solidFill>
                  <a:schemeClr val="dk1"/>
                </a:solidFill>
                <a:latin typeface="Verdana"/>
                <a:ea typeface="Verdana"/>
                <a:cs typeface="Verdana"/>
                <a:sym typeface="Verdana"/>
              </a:rPr>
              <a:t>I can determine which value from a set of values makes an inequality true. </a:t>
            </a:r>
            <a:endParaRPr dirty="0"/>
          </a:p>
          <a:p>
            <a:pPr marL="463550" marR="0" lvl="0" indent="-457200" algn="l" rtl="0">
              <a:lnSpc>
                <a:spcPct val="100000"/>
              </a:lnSpc>
              <a:spcBef>
                <a:spcPts val="2400"/>
              </a:spcBef>
              <a:spcAft>
                <a:spcPts val="0"/>
              </a:spcAft>
              <a:buClr>
                <a:srgbClr val="434343"/>
              </a:buClr>
              <a:buSzPts val="2800"/>
              <a:buFont typeface="Wingdings" pitchFamily="2" charset="2"/>
              <a:buChar char="q"/>
            </a:pPr>
            <a:r>
              <a:rPr lang="en-US" sz="2800" b="0" i="0" u="none" strike="noStrike" cap="none" dirty="0">
                <a:solidFill>
                  <a:schemeClr val="dk1"/>
                </a:solidFill>
                <a:latin typeface="Verdana"/>
                <a:ea typeface="Verdana"/>
                <a:cs typeface="Verdana"/>
                <a:sym typeface="Verdana"/>
              </a:rPr>
              <a:t>I can determine if a value on a number line represents a solution set.</a:t>
            </a:r>
            <a:endParaRPr dirty="0"/>
          </a:p>
          <a:p>
            <a:pPr marL="463550" marR="0" lvl="0" indent="-457200" algn="l" rtl="0">
              <a:lnSpc>
                <a:spcPct val="100000"/>
              </a:lnSpc>
              <a:spcBef>
                <a:spcPts val="2400"/>
              </a:spcBef>
              <a:spcAft>
                <a:spcPts val="0"/>
              </a:spcAft>
              <a:buClr>
                <a:srgbClr val="434343"/>
              </a:buClr>
              <a:buSzPts val="2800"/>
              <a:buFont typeface="Wingdings" pitchFamily="2" charset="2"/>
              <a:buChar char="q"/>
            </a:pPr>
            <a:r>
              <a:rPr lang="en-US" sz="2800" b="0" i="0" u="none" strike="noStrike" cap="none" dirty="0">
                <a:solidFill>
                  <a:schemeClr val="dk1"/>
                </a:solidFill>
                <a:latin typeface="Verdana"/>
                <a:ea typeface="Verdana"/>
                <a:cs typeface="Verdana"/>
                <a:sym typeface="Verdana"/>
              </a:rPr>
              <a:t>I can solve inequalities and represent solutions on a number line.</a:t>
            </a:r>
            <a:endParaRPr dirty="0"/>
          </a:p>
        </p:txBody>
      </p:sp>
      <p:sp>
        <p:nvSpPr>
          <p:cNvPr id="9"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177</a:t>
            </a:r>
            <a:endParaRPr sz="1400" b="0" i="1" u="none" strike="noStrike" cap="none" dirty="0">
              <a:solidFill>
                <a:srgbClr val="000000"/>
              </a:solidFill>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800"/>
              <a:buNone/>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177</a:t>
            </a:r>
            <a:endParaRPr sz="1400" b="0" i="1" u="none" strike="noStrike" cap="none" dirty="0">
              <a:solidFill>
                <a:srgbClr val="000000"/>
              </a:solidFill>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7" name="Google Shape;167;p4"/>
          <p:cNvSpPr txBox="1"/>
          <p:nvPr/>
        </p:nvSpPr>
        <p:spPr>
          <a:xfrm>
            <a:off x="1157962" y="-1231"/>
            <a:ext cx="10631925"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3600" b="1" i="0" u="none" strike="noStrike" cap="none" dirty="0">
                <a:solidFill>
                  <a:srgbClr val="3F2A67"/>
                </a:solidFill>
                <a:latin typeface="Verdana"/>
                <a:ea typeface="Verdana"/>
                <a:cs typeface="Verdana"/>
                <a:sym typeface="Verdana"/>
              </a:rPr>
              <a:t>5.1.1 Warm-Up: Careers - Forester</a:t>
            </a:r>
            <a:endParaRPr dirty="0"/>
          </a:p>
        </p:txBody>
      </p:sp>
      <p:pic>
        <p:nvPicPr>
          <p:cNvPr id="168" name="Google Shape;168;p4"/>
          <p:cNvPicPr preferRelativeResize="0"/>
          <p:nvPr/>
        </p:nvPicPr>
        <p:blipFill rotWithShape="1">
          <a:blip r:embed="rId3">
            <a:alphaModFix/>
          </a:blip>
          <a:srcRect/>
          <a:stretch/>
        </p:blipFill>
        <p:spPr>
          <a:xfrm>
            <a:off x="354900" y="287969"/>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531830" y="1460978"/>
            <a:ext cx="10800000" cy="378561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000000"/>
                </a:solidFill>
                <a:latin typeface="Verdana"/>
                <a:ea typeface="Verdana"/>
                <a:cs typeface="Verdana"/>
                <a:sym typeface="Verdana"/>
              </a:rPr>
              <a:t>Foresters have a wide range of duties, depending on who their employer is. Some primary duties of foresters are drawing up plans to regenerate forested lands, monitoring the progress of those lands, and supervising tree harvests. Another duty of a forester is devising plans to keep forests free from disease, harmful insects, and damaging wildfires.</a:t>
            </a:r>
            <a:endParaRPr dirty="0"/>
          </a:p>
          <a:p>
            <a:pPr marL="0" marR="0" lvl="0" indent="0" algn="l" rtl="0">
              <a:lnSpc>
                <a:spcPct val="100000"/>
              </a:lnSpc>
              <a:spcBef>
                <a:spcPts val="0"/>
              </a:spcBef>
              <a:spcAft>
                <a:spcPts val="0"/>
              </a:spcAft>
              <a:buNone/>
            </a:pPr>
            <a:endParaRPr sz="2000" b="0" i="0" u="none" strike="noStrike" cap="none" dirty="0">
              <a:solidFill>
                <a:srgbClr val="000000"/>
              </a:solidFill>
              <a:latin typeface="Verdana"/>
              <a:ea typeface="Verdana"/>
              <a:cs typeface="Verdana"/>
              <a:sym typeface="Verdana"/>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sz="2000" b="0" i="0" u="none" strike="noStrike" cap="none" dirty="0">
                <a:solidFill>
                  <a:srgbClr val="000000"/>
                </a:solidFill>
                <a:latin typeface="Verdana"/>
                <a:ea typeface="Verdana"/>
                <a:cs typeface="Verdana"/>
                <a:sym typeface="Verdana"/>
              </a:rPr>
              <a:t>Why do you think being an effective communicator and a team player is essential to the </a:t>
            </a:r>
            <a:r>
              <a:rPr lang="en-US" sz="2000" b="0" i="0" u="none" strike="noStrike" cap="none" dirty="0" smtClean="0">
                <a:solidFill>
                  <a:srgbClr val="000000"/>
                </a:solidFill>
                <a:latin typeface="Verdana"/>
                <a:ea typeface="Verdana"/>
                <a:cs typeface="Verdana"/>
                <a:sym typeface="Verdana"/>
              </a:rPr>
              <a:t>job?</a:t>
            </a:r>
          </a:p>
          <a:p>
            <a:pPr marL="457200" marR="0" lvl="0" indent="-457200" algn="l" rtl="0">
              <a:lnSpc>
                <a:spcPct val="100000"/>
              </a:lnSpc>
              <a:spcBef>
                <a:spcPts val="0"/>
              </a:spcBef>
              <a:spcAft>
                <a:spcPts val="0"/>
              </a:spcAft>
              <a:buClr>
                <a:srgbClr val="000000"/>
              </a:buClr>
              <a:buSzPts val="2000"/>
              <a:buFont typeface="Arial"/>
              <a:buAutoNum type="arabicPeriod"/>
            </a:pPr>
            <a:endParaRPr lang="en-US" sz="2000" dirty="0">
              <a:latin typeface="Verdana"/>
              <a:ea typeface="Verdana"/>
              <a:cs typeface="Verdana"/>
              <a:sym typeface="Verdana"/>
            </a:endParaRPr>
          </a:p>
          <a:p>
            <a:pPr marL="457200" marR="0" lvl="0" indent="-457200" algn="l" rtl="0">
              <a:lnSpc>
                <a:spcPct val="100000"/>
              </a:lnSpc>
              <a:spcBef>
                <a:spcPts val="0"/>
              </a:spcBef>
              <a:spcAft>
                <a:spcPts val="0"/>
              </a:spcAft>
              <a:buClr>
                <a:srgbClr val="000000"/>
              </a:buClr>
              <a:buSzPts val="2000"/>
              <a:buFont typeface="Arial"/>
              <a:buAutoNum type="arabicPeriod"/>
            </a:pPr>
            <a:endParaRPr lang="en-US" sz="2000" b="0" i="0" u="none" strike="noStrike" cap="none" dirty="0" smtClean="0">
              <a:solidFill>
                <a:srgbClr val="000000"/>
              </a:solidFill>
              <a:latin typeface="Verdana"/>
              <a:ea typeface="Verdana"/>
              <a:cs typeface="Verdana"/>
              <a:sym typeface="Verdana"/>
            </a:endParaRPr>
          </a:p>
          <a:p>
            <a:pPr marL="457200" marR="0" lvl="0" indent="-457200" algn="l" rtl="0">
              <a:lnSpc>
                <a:spcPct val="100000"/>
              </a:lnSpc>
              <a:spcBef>
                <a:spcPts val="0"/>
              </a:spcBef>
              <a:spcAft>
                <a:spcPts val="0"/>
              </a:spcAft>
              <a:buClr>
                <a:srgbClr val="000000"/>
              </a:buClr>
              <a:buSzPts val="2000"/>
              <a:buFont typeface="Arial"/>
              <a:buAutoNum type="arabicPeriod"/>
            </a:pPr>
            <a:endParaRPr lang="en-US" sz="2000" b="0" i="0" u="none" strike="noStrike" cap="none" dirty="0" smtClean="0">
              <a:solidFill>
                <a:srgbClr val="000000"/>
              </a:solidFill>
              <a:latin typeface="Verdana"/>
              <a:ea typeface="Verdana"/>
              <a:cs typeface="Verdana"/>
              <a:sym typeface="Verdana"/>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sz="2000" b="0" i="0" u="none" strike="noStrike" cap="none" dirty="0" smtClean="0">
                <a:solidFill>
                  <a:srgbClr val="000000"/>
                </a:solidFill>
                <a:latin typeface="Verdana"/>
                <a:ea typeface="Verdana"/>
                <a:cs typeface="Verdana"/>
                <a:sym typeface="Verdana"/>
              </a:rPr>
              <a:t>Describe </a:t>
            </a:r>
            <a:r>
              <a:rPr lang="en-US" sz="2000" b="0" i="0" u="none" strike="noStrike" cap="none" dirty="0">
                <a:solidFill>
                  <a:srgbClr val="000000"/>
                </a:solidFill>
                <a:latin typeface="Verdana"/>
                <a:ea typeface="Verdana"/>
                <a:cs typeface="Verdana"/>
                <a:sym typeface="Verdana"/>
              </a:rPr>
              <a:t>a time when you had to be an effective communicator and team player.</a:t>
            </a:r>
            <a:endParaRPr sz="2000" b="0" i="0" u="none" strike="noStrike" cap="none" dirty="0">
              <a:solidFill>
                <a:srgbClr val="000000"/>
              </a:solidFill>
              <a:latin typeface="Verdana"/>
              <a:ea typeface="Verdana"/>
              <a:cs typeface="Verdana"/>
              <a:sym typeface="Verdana"/>
            </a:endParaRPr>
          </a:p>
        </p:txBody>
      </p:sp>
      <p:sp>
        <p:nvSpPr>
          <p:cNvPr id="8"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177</a:t>
            </a:r>
            <a:endParaRPr sz="1400" b="0" i="1" u="none" strike="noStrike" cap="none" dirty="0">
              <a:solidFill>
                <a:srgbClr val="000000"/>
              </a:solidFill>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5"/>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8" name="Google Shape;178;p5"/>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ct val="96969"/>
              <a:buNone/>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179" name="Google Shape;179;p5"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9"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a:t>
            </a:r>
            <a:r>
              <a:rPr lang="en-US" sz="1400" b="0" i="1" u="none" strike="noStrike" cap="none" dirty="0" smtClean="0">
                <a:solidFill>
                  <a:srgbClr val="000000"/>
                </a:solidFill>
                <a:latin typeface="Calibri"/>
                <a:ea typeface="Calibri"/>
                <a:cs typeface="Calibri"/>
                <a:sym typeface="Calibri"/>
              </a:rPr>
              <a:t>178</a:t>
            </a:r>
            <a:endParaRPr sz="1400" b="0" i="1" u="none" strike="noStrike" cap="none" dirty="0">
              <a:solidFill>
                <a:srgbClr val="000000"/>
              </a:solidFill>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6"/>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8" name="Google Shape;188;p6"/>
          <p:cNvSpPr txBox="1"/>
          <p:nvPr/>
        </p:nvSpPr>
        <p:spPr>
          <a:xfrm>
            <a:off x="1161339" y="1246"/>
            <a:ext cx="10578945"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3600" b="1" i="0" u="none" strike="noStrike" cap="none" dirty="0">
                <a:solidFill>
                  <a:srgbClr val="33BEA6"/>
                </a:solidFill>
                <a:latin typeface="Verdana"/>
                <a:ea typeface="Verdana"/>
                <a:cs typeface="Verdana"/>
                <a:sym typeface="Verdana"/>
              </a:rPr>
              <a:t>5.1.2 Exploration: Is It a Solution?</a:t>
            </a:r>
            <a:endParaRPr dirty="0"/>
          </a:p>
        </p:txBody>
      </p:sp>
      <p:pic>
        <p:nvPicPr>
          <p:cNvPr id="189" name="Google Shape;189;p6"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354900" y="287969"/>
            <a:ext cx="752254" cy="752254"/>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mc:Choice xmlns:a14="http://schemas.microsoft.com/office/drawing/2010/main" Requires="a14">
          <p:graphicFrame>
            <p:nvGraphicFramePr>
              <p:cNvPr id="191" name="Google Shape;191;p6"/>
              <p:cNvGraphicFramePr/>
              <p:nvPr>
                <p:extLst>
                  <p:ext uri="{D42A27DB-BD31-4B8C-83A1-F6EECF244321}">
                    <p14:modId xmlns:p14="http://schemas.microsoft.com/office/powerpoint/2010/main" val="3373445873"/>
                  </p:ext>
                </p:extLst>
              </p:nvPr>
            </p:nvGraphicFramePr>
            <p:xfrm>
              <a:off x="2496105" y="3043625"/>
              <a:ext cx="7200000" cy="2855202"/>
            </p:xfrm>
            <a:graphic>
              <a:graphicData uri="http://schemas.openxmlformats.org/drawingml/2006/table">
                <a:tbl>
                  <a:tblPr firstRow="1" bandRow="1">
                    <a:noFill/>
                    <a:tableStyleId>{14BEB874-8EB6-4976-96A3-DF805651A6B6}</a:tableStyleId>
                  </a:tblPr>
                  <a:tblGrid>
                    <a:gridCol w="1800000"/>
                    <a:gridCol w="1800000"/>
                    <a:gridCol w="1800000"/>
                    <a:gridCol w="1800000"/>
                  </a:tblGrid>
                  <a:tr h="468000">
                    <a:tc gridSpan="4">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Possible Solution Values</a:t>
                          </a:r>
                          <a:endParaRPr sz="2000" b="1" u="none" strike="noStrike" cap="none" dirty="0">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795734">
                    <a:tc>
                      <a:txBody>
                        <a:bodyPr/>
                        <a:lstStyle/>
                        <a:p>
                          <a:pPr marL="0" marR="0" lvl="0" indent="0" algn="ctr" rtl="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b="0" i="1" u="none" strike="noStrike" cap="none" dirty="0" smtClean="0">
                                    <a:latin typeface="Cambria Math"/>
                                    <a:ea typeface="Cambria Math"/>
                                    <a:cs typeface="Cambria Math"/>
                                    <a:sym typeface="Cambria Math"/>
                                  </a:rPr>
                                  <m:t>9</m:t>
                                </m:r>
                                <m:r>
                                  <a:rPr lang="en-US" sz="2000" b="0" i="1" u="none" strike="noStrike" cap="none" dirty="0" smtClean="0">
                                    <a:latin typeface="Cambria Math"/>
                                    <a:ea typeface="Cambria Math"/>
                                    <a:cs typeface="Cambria Math"/>
                                    <a:sym typeface="Cambria Math"/>
                                  </a:rPr>
                                  <m:t>.</m:t>
                                </m:r>
                                <m:r>
                                  <a:rPr lang="en-US" sz="2000" b="0" i="1" u="none" strike="noStrike" cap="none" dirty="0" smtClean="0">
                                    <a:latin typeface="Cambria Math"/>
                                    <a:ea typeface="Cambria Math"/>
                                    <a:cs typeface="Cambria Math"/>
                                    <a:sym typeface="Cambria Math"/>
                                  </a:rPr>
                                  <m:t>01</m:t>
                                </m:r>
                              </m:oMath>
                            </m:oMathPara>
                          </a14:m>
                          <a:endParaRPr dirty="0"/>
                        </a:p>
                      </a:txBody>
                      <a:tcPr marL="91450" marR="91450" marT="91450"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lvl="0" indent="0" algn="ctr" rtl="0">
                            <a:lnSpc>
                              <a:spcPct val="100000"/>
                            </a:lnSpc>
                            <a:spcBef>
                              <a:spcPts val="0"/>
                            </a:spcBef>
                            <a:spcAft>
                              <a:spcPts val="0"/>
                            </a:spcAft>
                            <a:buSzPts val="1100"/>
                            <a:buNone/>
                          </a:pPr>
                          <a14:m>
                            <m:oMathPara xmlns:m="http://schemas.openxmlformats.org/officeDocument/2006/math">
                              <m:oMathParaPr>
                                <m:jc m:val="centerGroup"/>
                              </m:oMathParaPr>
                              <m:oMath xmlns:m="http://schemas.openxmlformats.org/officeDocument/2006/math">
                                <m:r>
                                  <a:rPr lang="en-US" sz="2000" i="1" dirty="0" smtClean="0">
                                    <a:solidFill>
                                      <a:schemeClr val="dk1"/>
                                    </a:solidFill>
                                    <a:latin typeface="Cambria Math"/>
                                    <a:ea typeface="Cambria Math"/>
                                    <a:cs typeface="Cambria Math"/>
                                    <a:sym typeface="Cambria Math"/>
                                  </a:rPr>
                                  <m:t>−</m:t>
                                </m:r>
                                <m:r>
                                  <a:rPr lang="en-US" sz="2000" i="1" dirty="0" smtClean="0">
                                    <a:solidFill>
                                      <a:schemeClr val="dk1"/>
                                    </a:solidFill>
                                    <a:latin typeface="Cambria Math"/>
                                    <a:ea typeface="Cambria Math"/>
                                    <a:cs typeface="Cambria Math"/>
                                    <a:sym typeface="Cambria Math"/>
                                  </a:rPr>
                                  <m:t>4000</m:t>
                                </m:r>
                              </m:oMath>
                            </m:oMathPara>
                          </a14:m>
                          <a:endParaRPr dirty="0"/>
                        </a:p>
                      </a:txBody>
                      <a:tcPr marL="91450" marR="91450" marT="91450"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b="0" i="1" u="none" strike="noStrike" cap="none" dirty="0" smtClean="0">
                                    <a:latin typeface="Cambria Math"/>
                                    <a:ea typeface="Cambria Math"/>
                                    <a:cs typeface="Cambria Math"/>
                                    <a:sym typeface="Cambria Math"/>
                                  </a:rPr>
                                  <m:t>11</m:t>
                                </m:r>
                                <m:r>
                                  <a:rPr lang="en-US" sz="2000" b="0" i="1" u="none" strike="noStrike" cap="none" dirty="0" smtClean="0">
                                    <a:latin typeface="Cambria Math"/>
                                    <a:ea typeface="Cambria Math"/>
                                    <a:cs typeface="Cambria Math"/>
                                    <a:sym typeface="Cambria Math"/>
                                  </a:rPr>
                                  <m:t>.</m:t>
                                </m:r>
                                <m:r>
                                  <a:rPr lang="en-US" sz="2000" b="0" i="1" u="none" strike="noStrike" cap="none" dirty="0" smtClean="0">
                                    <a:latin typeface="Cambria Math"/>
                                    <a:ea typeface="Cambria Math"/>
                                    <a:cs typeface="Cambria Math"/>
                                    <a:sym typeface="Cambria Math"/>
                                  </a:rPr>
                                  <m:t>47</m:t>
                                </m:r>
                              </m:oMath>
                            </m:oMathPara>
                          </a14:m>
                          <a:endParaRPr dirty="0"/>
                        </a:p>
                      </a:txBody>
                      <a:tcPr marL="91450" marR="91450" marT="91450"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b="0" i="1" u="none" strike="noStrike" cap="none" dirty="0" smtClean="0">
                                    <a:latin typeface="Cambria Math"/>
                                    <a:ea typeface="Cambria Math"/>
                                    <a:cs typeface="Cambria Math"/>
                                    <a:sym typeface="Cambria Math"/>
                                  </a:rPr>
                                  <m:t>0</m:t>
                                </m:r>
                              </m:oMath>
                            </m:oMathPara>
                          </a14:m>
                          <a:endParaRPr dirty="0"/>
                        </a:p>
                      </a:txBody>
                      <a:tcPr marL="91450" marR="91450" marT="91450"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795734">
                    <a:tc>
                      <a:txBody>
                        <a:bodyPr/>
                        <a:lstStyle/>
                        <a:p>
                          <a:pPr marL="0" lvl="0" indent="0" algn="ctr" rtl="0">
                            <a:lnSpc>
                              <a:spcPct val="100000"/>
                            </a:lnSpc>
                            <a:spcBef>
                              <a:spcPts val="0"/>
                            </a:spcBef>
                            <a:spcAft>
                              <a:spcPts val="0"/>
                            </a:spcAft>
                            <a:buSzPts val="1100"/>
                            <a:buNone/>
                          </a:pPr>
                          <a14:m>
                            <m:oMathPara xmlns:m="http://schemas.openxmlformats.org/officeDocument/2006/math">
                              <m:oMathParaPr>
                                <m:jc m:val="centerGroup"/>
                              </m:oMathParaPr>
                              <m:oMath xmlns:m="http://schemas.openxmlformats.org/officeDocument/2006/math">
                                <m:r>
                                  <a:rPr lang="en-US" sz="2000" i="1" dirty="0" smtClean="0">
                                    <a:solidFill>
                                      <a:schemeClr val="dk1"/>
                                    </a:solidFill>
                                    <a:latin typeface="Cambria Math"/>
                                    <a:ea typeface="Cambria Math"/>
                                    <a:cs typeface="Cambria Math"/>
                                    <a:sym typeface="Cambria Math"/>
                                  </a:rPr>
                                  <m:t>115</m:t>
                                </m:r>
                                <m:r>
                                  <a:rPr lang="en-US" sz="2000" i="1" dirty="0" smtClean="0">
                                    <a:solidFill>
                                      <a:schemeClr val="dk1"/>
                                    </a:solidFill>
                                    <a:latin typeface="Cambria Math"/>
                                    <a:ea typeface="Cambria Math"/>
                                    <a:cs typeface="Cambria Math"/>
                                    <a:sym typeface="Cambria Math"/>
                                  </a:rPr>
                                  <m:t> </m:t>
                                </m:r>
                                <m:f>
                                  <m:fPr>
                                    <m:ctrlPr>
                                      <a:rPr lang="en-US" sz="2000" i="1" dirty="0" smtClean="0">
                                        <a:solidFill>
                                          <a:schemeClr val="dk1"/>
                                        </a:solidFill>
                                        <a:latin typeface="Cambria Math"/>
                                        <a:ea typeface="Cambria Math"/>
                                        <a:sym typeface="Cambria Math"/>
                                      </a:rPr>
                                    </m:ctrlPr>
                                  </m:fPr>
                                  <m:num>
                                    <m:r>
                                      <a:rPr lang="en-PH" sz="2000" b="0" i="1" dirty="0" smtClean="0">
                                        <a:solidFill>
                                          <a:schemeClr val="dk1"/>
                                        </a:solidFill>
                                        <a:latin typeface="Cambria Math"/>
                                        <a:ea typeface="Cambria Math"/>
                                        <a:sym typeface="Cambria Math"/>
                                      </a:rPr>
                                      <m:t>3</m:t>
                                    </m:r>
                                  </m:num>
                                  <m:den>
                                    <m:r>
                                      <a:rPr lang="en-PH" sz="2000" b="0" i="1" dirty="0" smtClean="0">
                                        <a:solidFill>
                                          <a:schemeClr val="dk1"/>
                                        </a:solidFill>
                                        <a:latin typeface="Cambria Math"/>
                                        <a:ea typeface="Cambria Math"/>
                                        <a:sym typeface="Cambria Math"/>
                                      </a:rPr>
                                      <m:t>4</m:t>
                                    </m:r>
                                  </m:den>
                                </m:f>
                              </m:oMath>
                            </m:oMathPara>
                          </a14:m>
                          <a:endParaRPr dirty="0"/>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lvl="0" indent="0" algn="ctr" rtl="0">
                            <a:lnSpc>
                              <a:spcPct val="100000"/>
                            </a:lnSpc>
                            <a:spcBef>
                              <a:spcPts val="0"/>
                            </a:spcBef>
                            <a:spcAft>
                              <a:spcPts val="0"/>
                            </a:spcAft>
                            <a:buSzPts val="1100"/>
                            <a:buNone/>
                          </a:pPr>
                          <a14:m>
                            <m:oMathPara xmlns:m="http://schemas.openxmlformats.org/officeDocument/2006/math">
                              <m:oMathParaPr>
                                <m:jc m:val="centerGroup"/>
                              </m:oMathParaPr>
                              <m:oMath xmlns:m="http://schemas.openxmlformats.org/officeDocument/2006/math">
                                <m:r>
                                  <a:rPr lang="en-US" sz="2000" i="1" dirty="0" smtClean="0">
                                    <a:solidFill>
                                      <a:schemeClr val="dk1"/>
                                    </a:solidFill>
                                    <a:latin typeface="Cambria Math"/>
                                    <a:ea typeface="Cambria Math"/>
                                    <a:cs typeface="Cambria Math"/>
                                    <a:sym typeface="Cambria Math"/>
                                  </a:rPr>
                                  <m:t>−</m:t>
                                </m:r>
                                <m:r>
                                  <a:rPr lang="en-US" sz="2000" i="1" dirty="0" smtClean="0">
                                    <a:solidFill>
                                      <a:schemeClr val="dk1"/>
                                    </a:solidFill>
                                    <a:latin typeface="Cambria Math"/>
                                    <a:ea typeface="Cambria Math"/>
                                    <a:cs typeface="Cambria Math"/>
                                    <a:sym typeface="Cambria Math"/>
                                  </a:rPr>
                                  <m:t>9</m:t>
                                </m:r>
                              </m:oMath>
                            </m:oMathPara>
                          </a14:m>
                          <a:endParaRPr dirty="0"/>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000"/>
                            <a:buFont typeface="Arial"/>
                            <a:buNone/>
                          </a:pPr>
                          <a14:m>
                            <m:oMathPara xmlns:m="http://schemas.openxmlformats.org/officeDocument/2006/math">
                              <m:oMathParaPr>
                                <m:jc m:val="centerGroup"/>
                              </m:oMathParaPr>
                              <m:oMath xmlns:m="http://schemas.openxmlformats.org/officeDocument/2006/math">
                                <m:r>
                                  <a:rPr lang="en-US" sz="2000" b="0" i="1" u="none" strike="noStrike" cap="none" dirty="0" smtClean="0">
                                    <a:latin typeface="Cambria Math"/>
                                    <a:ea typeface="Cambria Math"/>
                                    <a:cs typeface="Cambria Math"/>
                                    <a:sym typeface="Cambria Math"/>
                                  </a:rPr>
                                  <m:t>9</m:t>
                                </m:r>
                              </m:oMath>
                            </m:oMathPara>
                          </a14:m>
                          <a:endParaRPr dirty="0"/>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lvl="0" indent="0" algn="ctr" rtl="0">
                            <a:lnSpc>
                              <a:spcPct val="100000"/>
                            </a:lnSpc>
                            <a:spcBef>
                              <a:spcPts val="0"/>
                            </a:spcBef>
                            <a:spcAft>
                              <a:spcPts val="0"/>
                            </a:spcAft>
                            <a:buSzPts val="1100"/>
                            <a:buNone/>
                          </a:pPr>
                          <a14:m>
                            <m:oMathPara xmlns:m="http://schemas.openxmlformats.org/officeDocument/2006/math">
                              <m:oMathParaPr>
                                <m:jc m:val="centerGroup"/>
                              </m:oMathParaPr>
                              <m:oMath xmlns:m="http://schemas.openxmlformats.org/officeDocument/2006/math">
                                <m:r>
                                  <a:rPr lang="en-US" sz="2000" i="1" dirty="0" smtClean="0">
                                    <a:solidFill>
                                      <a:schemeClr val="dk1"/>
                                    </a:solidFill>
                                    <a:latin typeface="Cambria Math"/>
                                    <a:ea typeface="Cambria Math"/>
                                    <a:cs typeface="Cambria Math"/>
                                    <a:sym typeface="Cambria Math"/>
                                  </a:rPr>
                                  <m:t>−</m:t>
                                </m:r>
                                <m:r>
                                  <a:rPr lang="en-US" sz="2000" i="1" dirty="0" smtClean="0">
                                    <a:solidFill>
                                      <a:schemeClr val="dk1"/>
                                    </a:solidFill>
                                    <a:latin typeface="Cambria Math"/>
                                    <a:ea typeface="Cambria Math"/>
                                    <a:cs typeface="Cambria Math"/>
                                    <a:sym typeface="Cambria Math"/>
                                  </a:rPr>
                                  <m:t>6</m:t>
                                </m:r>
                                <m:r>
                                  <a:rPr lang="en-US" sz="2000" i="1" dirty="0" smtClean="0">
                                    <a:solidFill>
                                      <a:schemeClr val="dk1"/>
                                    </a:solidFill>
                                    <a:latin typeface="Cambria Math"/>
                                    <a:ea typeface="Cambria Math"/>
                                    <a:cs typeface="Cambria Math"/>
                                    <a:sym typeface="Cambria Math"/>
                                  </a:rPr>
                                  <m:t>.</m:t>
                                </m:r>
                                <m:r>
                                  <a:rPr lang="en-US" sz="2000" i="1" dirty="0" smtClean="0">
                                    <a:solidFill>
                                      <a:schemeClr val="dk1"/>
                                    </a:solidFill>
                                    <a:latin typeface="Cambria Math"/>
                                    <a:ea typeface="Cambria Math"/>
                                    <a:cs typeface="Cambria Math"/>
                                    <a:sym typeface="Cambria Math"/>
                                  </a:rPr>
                                  <m:t>25</m:t>
                                </m:r>
                              </m:oMath>
                            </m:oMathPara>
                          </a14:m>
                          <a:endParaRPr dirty="0"/>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795734">
                    <a:tc>
                      <a:txBody>
                        <a:bodyPr/>
                        <a:lstStyle/>
                        <a:p>
                          <a:pPr marL="0" marR="0" lvl="0" indent="0" algn="ctr" rtl="0">
                            <a:lnSpc>
                              <a:spcPct val="100000"/>
                            </a:lnSpc>
                            <a:spcBef>
                              <a:spcPts val="0"/>
                            </a:spcBef>
                            <a:spcAft>
                              <a:spcPts val="0"/>
                            </a:spcAft>
                            <a:buClr>
                              <a:srgbClr val="000000"/>
                            </a:buClr>
                            <a:buSzPts val="2000"/>
                            <a:buFont typeface="Arial"/>
                            <a:buNone/>
                          </a:pPr>
                          <a14:m>
                            <m:oMathPara xmlns:m="http://schemas.openxmlformats.org/officeDocument/2006/math">
                              <m:oMathParaPr>
                                <m:jc m:val="centerGroup"/>
                              </m:oMathParaPr>
                              <m:oMath xmlns:m="http://schemas.openxmlformats.org/officeDocument/2006/math">
                                <m:r>
                                  <a:rPr lang="en-US" sz="2000" b="0" i="1" u="none" strike="noStrike" cap="none" dirty="0" smtClean="0">
                                    <a:latin typeface="Cambria Math"/>
                                    <a:ea typeface="Cambria Math"/>
                                    <a:cs typeface="Cambria Math"/>
                                    <a:sym typeface="Cambria Math"/>
                                  </a:rPr>
                                  <m:t>8</m:t>
                                </m:r>
                                <m:r>
                                  <a:rPr lang="en-US" sz="2000" b="0" i="1" u="none" strike="noStrike" cap="none" dirty="0" smtClean="0">
                                    <a:latin typeface="Cambria Math"/>
                                    <a:ea typeface="Cambria Math"/>
                                    <a:cs typeface="Cambria Math"/>
                                    <a:sym typeface="Cambria Math"/>
                                  </a:rPr>
                                  <m:t>.</m:t>
                                </m:r>
                                <m:r>
                                  <a:rPr lang="en-US" sz="2000" b="0" i="1" u="none" strike="noStrike" cap="none" dirty="0" smtClean="0">
                                    <a:latin typeface="Cambria Math"/>
                                    <a:ea typeface="Cambria Math"/>
                                    <a:cs typeface="Cambria Math"/>
                                    <a:sym typeface="Cambria Math"/>
                                  </a:rPr>
                                  <m:t>375</m:t>
                                </m:r>
                              </m:oMath>
                            </m:oMathPara>
                          </a14:m>
                          <a:endParaRPr sz="2000" b="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b="0" i="1" u="none" strike="noStrike" cap="none" dirty="0" smtClean="0">
                                    <a:latin typeface="Cambria Math"/>
                                    <a:ea typeface="Cambria Math"/>
                                    <a:cs typeface="Cambria Math"/>
                                    <a:sym typeface="Cambria Math"/>
                                  </a:rPr>
                                  <m:t>10</m:t>
                                </m:r>
                              </m:oMath>
                            </m:oMathPara>
                          </a14:m>
                          <a:endParaRPr sz="2000" b="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000"/>
                            <a:buFont typeface="Arial"/>
                            <a:buNone/>
                          </a:pPr>
                          <a14:m>
                            <m:oMathPara xmlns:m="http://schemas.openxmlformats.org/officeDocument/2006/math">
                              <m:oMathParaPr>
                                <m:jc m:val="centerGroup"/>
                              </m:oMathParaPr>
                              <m:oMath xmlns:m="http://schemas.openxmlformats.org/officeDocument/2006/math">
                                <m:r>
                                  <a:rPr lang="en-US" sz="2000" b="0" i="1" u="none" strike="noStrike" cap="none" dirty="0" smtClean="0">
                                    <a:latin typeface="Cambria Math"/>
                                    <a:ea typeface="Cambria Math"/>
                                    <a:cs typeface="Cambria Math"/>
                                    <a:sym typeface="Cambria Math"/>
                                  </a:rPr>
                                  <m:t>38</m:t>
                                </m:r>
                              </m:oMath>
                            </m:oMathPara>
                          </a14:m>
                          <a:endParaRPr sz="2000" b="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lvl="0" indent="0" algn="ctr" rtl="0">
                            <a:lnSpc>
                              <a:spcPct val="100000"/>
                            </a:lnSpc>
                            <a:spcBef>
                              <a:spcPts val="0"/>
                            </a:spcBef>
                            <a:spcAft>
                              <a:spcPts val="0"/>
                            </a:spcAft>
                            <a:buSzPts val="1100"/>
                            <a:buNone/>
                          </a:pPr>
                          <a14:m>
                            <m:oMathPara xmlns:m="http://schemas.openxmlformats.org/officeDocument/2006/math">
                              <m:oMathParaPr>
                                <m:jc m:val="centerGroup"/>
                              </m:oMathParaPr>
                              <m:oMath xmlns:m="http://schemas.openxmlformats.org/officeDocument/2006/math">
                                <m:r>
                                  <a:rPr lang="en-US" sz="2000" i="1" dirty="0" smtClean="0">
                                    <a:solidFill>
                                      <a:schemeClr val="dk1"/>
                                    </a:solidFill>
                                    <a:latin typeface="Cambria Math"/>
                                    <a:ea typeface="Cambria Math"/>
                                    <a:cs typeface="Cambria Math"/>
                                    <a:sym typeface="Cambria Math"/>
                                  </a:rPr>
                                  <m:t>4</m:t>
                                </m:r>
                                <m:f>
                                  <m:fPr>
                                    <m:ctrlPr>
                                      <a:rPr lang="en-US" sz="2000" i="1" dirty="0" smtClean="0">
                                        <a:solidFill>
                                          <a:schemeClr val="dk1"/>
                                        </a:solidFill>
                                        <a:latin typeface="Cambria Math"/>
                                        <a:ea typeface="Cambria Math"/>
                                        <a:sym typeface="Cambria Math"/>
                                      </a:rPr>
                                    </m:ctrlPr>
                                  </m:fPr>
                                  <m:num>
                                    <m:r>
                                      <a:rPr lang="en-PH" sz="2000" b="0" i="1" dirty="0" smtClean="0">
                                        <a:solidFill>
                                          <a:schemeClr val="dk1"/>
                                        </a:solidFill>
                                        <a:latin typeface="Cambria Math"/>
                                        <a:ea typeface="Cambria Math"/>
                                        <a:sym typeface="Cambria Math"/>
                                      </a:rPr>
                                      <m:t>1</m:t>
                                    </m:r>
                                  </m:num>
                                  <m:den>
                                    <m:r>
                                      <a:rPr lang="en-PH" sz="2000" b="0" i="1" dirty="0" smtClean="0">
                                        <a:solidFill>
                                          <a:schemeClr val="dk1"/>
                                        </a:solidFill>
                                        <a:latin typeface="Cambria Math"/>
                                        <a:ea typeface="Cambria Math"/>
                                        <a:sym typeface="Cambria Math"/>
                                      </a:rPr>
                                      <m:t>6</m:t>
                                    </m:r>
                                  </m:den>
                                </m:f>
                              </m:oMath>
                            </m:oMathPara>
                          </a14:m>
                          <a:endParaRPr dirty="0"/>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mc:Choice>
        <mc:Fallback>
          <p:graphicFrame>
            <p:nvGraphicFramePr>
              <p:cNvPr id="191" name="Google Shape;191;p6"/>
              <p:cNvGraphicFramePr/>
              <p:nvPr>
                <p:extLst>
                  <p:ext uri="{D42A27DB-BD31-4B8C-83A1-F6EECF244321}">
                    <p14:modId xmlns:p14="http://schemas.microsoft.com/office/powerpoint/2010/main" val="3373445873"/>
                  </p:ext>
                </p:extLst>
              </p:nvPr>
            </p:nvGraphicFramePr>
            <p:xfrm>
              <a:off x="2496105" y="3043625"/>
              <a:ext cx="7200000" cy="2855202"/>
            </p:xfrm>
            <a:graphic>
              <a:graphicData uri="http://schemas.openxmlformats.org/drawingml/2006/table">
                <a:tbl>
                  <a:tblPr firstRow="1" bandRow="1">
                    <a:noFill/>
                    <a:tableStyleId>{14BEB874-8EB6-4976-96A3-DF805651A6B6}</a:tableStyleId>
                  </a:tblPr>
                  <a:tblGrid>
                    <a:gridCol w="1800000"/>
                    <a:gridCol w="1800000"/>
                    <a:gridCol w="1800000"/>
                    <a:gridCol w="1800000"/>
                  </a:tblGrid>
                  <a:tr h="468000">
                    <a:tc gridSpan="4">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Possible Solution Values</a:t>
                          </a:r>
                          <a:endParaRPr sz="2000" b="1" u="none" strike="noStrike" cap="none" dirty="0">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795734">
                    <a:tc>
                      <a:txBody>
                        <a:bodyPr/>
                        <a:lstStyle/>
                        <a:p>
                          <a:endParaRPr lang="en-US"/>
                        </a:p>
                      </a:txBody>
                      <a:tcPr marL="91450" marR="91450" marT="91450"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58779" r="-299324" b="-199237"/>
                          </a:stretch>
                        </a:blipFill>
                      </a:tcPr>
                    </a:tc>
                    <a:tc>
                      <a:txBody>
                        <a:bodyPr/>
                        <a:lstStyle/>
                        <a:p>
                          <a:endParaRPr lang="en-US"/>
                        </a:p>
                      </a:txBody>
                      <a:tcPr marL="91450" marR="91450" marT="91450"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339" t="-58779" r="-200339" b="-199237"/>
                          </a:stretch>
                        </a:blipFill>
                      </a:tcPr>
                    </a:tc>
                    <a:tc>
                      <a:txBody>
                        <a:bodyPr/>
                        <a:lstStyle/>
                        <a:p>
                          <a:endParaRPr lang="en-US"/>
                        </a:p>
                      </a:txBody>
                      <a:tcPr marL="91450" marR="91450" marT="91450"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99662" t="-58779" r="-99662" b="-199237"/>
                          </a:stretch>
                        </a:blipFill>
                      </a:tcPr>
                    </a:tc>
                    <a:tc>
                      <a:txBody>
                        <a:bodyPr/>
                        <a:lstStyle/>
                        <a:p>
                          <a:endParaRPr lang="en-US"/>
                        </a:p>
                      </a:txBody>
                      <a:tcPr marL="91450" marR="91450" marT="91450"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678" t="-58779" b="-199237"/>
                          </a:stretch>
                        </a:blipFill>
                      </a:tcPr>
                    </a:tc>
                  </a:tr>
                  <a:tr h="795734">
                    <a:tc>
                      <a:txBody>
                        <a:bodyPr/>
                        <a:lstStyle/>
                        <a:p>
                          <a:endParaRPr lang="en-US"/>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60000" r="-299324" b="-100769"/>
                          </a:stretch>
                        </a:blipFill>
                      </a:tcPr>
                    </a:tc>
                    <a:tc>
                      <a:txBody>
                        <a:bodyPr/>
                        <a:lstStyle/>
                        <a:p>
                          <a:endParaRPr lang="en-US"/>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339" t="-160000" r="-200339" b="-100769"/>
                          </a:stretch>
                        </a:blipFill>
                      </a:tcPr>
                    </a:tc>
                    <a:tc>
                      <a:txBody>
                        <a:bodyPr/>
                        <a:lstStyle/>
                        <a:p>
                          <a:endParaRPr lang="en-US"/>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99662" t="-160000" r="-99662" b="-100769"/>
                          </a:stretch>
                        </a:blipFill>
                      </a:tcPr>
                    </a:tc>
                    <a:tc>
                      <a:txBody>
                        <a:bodyPr/>
                        <a:lstStyle/>
                        <a:p>
                          <a:endParaRPr lang="en-US"/>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678" t="-160000" b="-100769"/>
                          </a:stretch>
                        </a:blipFill>
                      </a:tcPr>
                    </a:tc>
                  </a:tr>
                  <a:tr h="795734">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58015" r="-299324"/>
                          </a:stretch>
                        </a:blipFill>
                      </a:tcPr>
                    </a:tc>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339" t="-258015" r="-200339"/>
                          </a:stretch>
                        </a:blipFill>
                      </a:tcPr>
                    </a:tc>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99662" t="-258015" r="-99662"/>
                          </a:stretch>
                        </a:blipFill>
                      </a:tcPr>
                    </a:tc>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678" t="-258015"/>
                          </a:stretch>
                        </a:blipFill>
                      </a:tcPr>
                    </a:tc>
                  </a:tr>
                </a:tbl>
              </a:graphicData>
            </a:graphic>
          </p:graphicFrame>
        </mc:Fallback>
      </mc:AlternateContent>
      <p:sp>
        <p:nvSpPr>
          <p:cNvPr id="11"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a:t>
            </a:r>
            <a:r>
              <a:rPr lang="en-US" sz="1400" b="0" i="1" u="none" strike="noStrike" cap="none" dirty="0" smtClean="0">
                <a:solidFill>
                  <a:srgbClr val="000000"/>
                </a:solidFill>
                <a:latin typeface="Calibri"/>
                <a:ea typeface="Calibri"/>
                <a:cs typeface="Calibri"/>
                <a:sym typeface="Calibri"/>
              </a:rPr>
              <a:t>178</a:t>
            </a:r>
            <a:endParaRPr sz="1400" b="0" i="1" u="none" strike="noStrike" cap="none" dirty="0">
              <a:solidFill>
                <a:srgbClr val="000000"/>
              </a:solidFill>
              <a:latin typeface="Calibri"/>
              <a:ea typeface="Calibri"/>
              <a:cs typeface="Calibri"/>
              <a:sym typeface="Calibri"/>
            </a:endParaRPr>
          </a:p>
        </p:txBody>
      </p:sp>
      <p:pic>
        <p:nvPicPr>
          <p:cNvPr id="12"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mc:AlternateContent xmlns:mc="http://schemas.openxmlformats.org/markup-compatibility/2006">
        <mc:Choice xmlns:a14="http://schemas.microsoft.com/office/drawing/2010/main" Requires="a14">
          <p:sp>
            <p:nvSpPr>
              <p:cNvPr id="2" name="Rectangle 1"/>
              <p:cNvSpPr/>
              <p:nvPr/>
            </p:nvSpPr>
            <p:spPr>
              <a:xfrm>
                <a:off x="531952" y="1451621"/>
                <a:ext cx="10800000" cy="1323439"/>
              </a:xfrm>
              <a:prstGeom prst="rect">
                <a:avLst/>
              </a:prstGeom>
            </p:spPr>
            <p:txBody>
              <a:bodyPr>
                <a:spAutoFit/>
              </a:bodyPr>
              <a:lstStyle/>
              <a:p>
                <a:r>
                  <a:rPr lang="en-US" sz="2000" dirty="0">
                    <a:latin typeface="Verdana" pitchFamily="34" charset="0"/>
                    <a:ea typeface="Verdana" pitchFamily="34" charset="0"/>
                  </a:rPr>
                  <a:t>A solution to an inequality is any value that, when substituted for the variable, makes the inequality statement true</a:t>
                </a:r>
                <a:r>
                  <a:rPr lang="en-US" sz="2000" dirty="0" smtClean="0">
                    <a:latin typeface="Verdana" pitchFamily="34" charset="0"/>
                    <a:ea typeface="Verdana" pitchFamily="34" charset="0"/>
                  </a:rPr>
                  <a:t>.</a:t>
                </a:r>
              </a:p>
              <a:p>
                <a:endParaRPr lang="en-US" sz="2000" dirty="0">
                  <a:latin typeface="Verdana" pitchFamily="34" charset="0"/>
                  <a:ea typeface="Verdana" pitchFamily="34" charset="0"/>
                </a:endParaRPr>
              </a:p>
              <a:p>
                <a:r>
                  <a:rPr lang="en-US" sz="2000" dirty="0">
                    <a:latin typeface="Verdana" pitchFamily="34" charset="0"/>
                    <a:ea typeface="Verdana" pitchFamily="34" charset="0"/>
                  </a:rPr>
                  <a:t>A list of possible solutions for the inequalities </a:t>
                </a:r>
                <a14:m>
                  <m:oMath xmlns:m="http://schemas.openxmlformats.org/officeDocument/2006/math">
                    <m:r>
                      <a:rPr lang="en-US" sz="2000" i="1" dirty="0" smtClean="0">
                        <a:latin typeface="Cambria Math"/>
                        <a:ea typeface="Verdana" pitchFamily="34" charset="0"/>
                      </a:rPr>
                      <m:t>2</m:t>
                    </m:r>
                    <m:r>
                      <a:rPr lang="en-US" sz="2000" i="1" dirty="0" smtClean="0">
                        <a:latin typeface="Cambria Math"/>
                        <a:ea typeface="Verdana" pitchFamily="34" charset="0"/>
                      </a:rPr>
                      <m:t>𝑥</m:t>
                    </m:r>
                    <m:r>
                      <a:rPr lang="en-US" sz="2000" i="1" dirty="0" smtClean="0">
                        <a:latin typeface="Cambria Math"/>
                        <a:ea typeface="Verdana" pitchFamily="34" charset="0"/>
                      </a:rPr>
                      <m:t>−</m:t>
                    </m:r>
                    <m:r>
                      <a:rPr lang="en-US" sz="2000" i="1" dirty="0" smtClean="0">
                        <a:latin typeface="Cambria Math"/>
                        <a:ea typeface="Verdana" pitchFamily="34" charset="0"/>
                      </a:rPr>
                      <m:t>5</m:t>
                    </m:r>
                    <m:r>
                      <a:rPr lang="en-US" sz="2000" i="1" dirty="0" smtClean="0">
                        <a:latin typeface="Cambria Math"/>
                        <a:ea typeface="Verdana" pitchFamily="34" charset="0"/>
                      </a:rPr>
                      <m:t>&gt;</m:t>
                    </m:r>
                    <m:r>
                      <a:rPr lang="en-US" sz="2000" i="1" dirty="0" smtClean="0">
                        <a:latin typeface="Cambria Math"/>
                        <a:ea typeface="Verdana" pitchFamily="34" charset="0"/>
                      </a:rPr>
                      <m:t>13</m:t>
                    </m:r>
                  </m:oMath>
                </a14:m>
                <a:r>
                  <a:rPr lang="en-US" sz="2000" dirty="0">
                    <a:latin typeface="Verdana" pitchFamily="34" charset="0"/>
                    <a:ea typeface="Verdana" pitchFamily="34" charset="0"/>
                  </a:rPr>
                  <a:t> and </a:t>
                </a:r>
                <a14:m>
                  <m:oMath xmlns:m="http://schemas.openxmlformats.org/officeDocument/2006/math">
                    <m:r>
                      <a:rPr lang="en-US" sz="2000" i="1" dirty="0" smtClean="0">
                        <a:latin typeface="Cambria Math"/>
                        <a:ea typeface="Verdana" pitchFamily="34" charset="0"/>
                      </a:rPr>
                      <m:t>2</m:t>
                    </m:r>
                    <m:r>
                      <a:rPr lang="en-US" sz="2000" i="1" dirty="0" smtClean="0">
                        <a:latin typeface="Cambria Math"/>
                        <a:ea typeface="Verdana" pitchFamily="34" charset="0"/>
                      </a:rPr>
                      <m:t>𝑥</m:t>
                    </m:r>
                    <m:r>
                      <a:rPr lang="en-US" sz="2000" i="1" dirty="0" smtClean="0">
                        <a:latin typeface="Cambria Math"/>
                        <a:ea typeface="Verdana" pitchFamily="34" charset="0"/>
                      </a:rPr>
                      <m:t>−</m:t>
                    </m:r>
                    <m:r>
                      <a:rPr lang="en-US" sz="2000" i="1" dirty="0" smtClean="0">
                        <a:latin typeface="Cambria Math"/>
                        <a:ea typeface="Verdana" pitchFamily="34" charset="0"/>
                      </a:rPr>
                      <m:t>5</m:t>
                    </m:r>
                    <m:r>
                      <a:rPr lang="en-US" sz="2000" i="1" dirty="0" smtClean="0">
                        <a:latin typeface="Cambria Math"/>
                        <a:ea typeface="Verdana" pitchFamily="34" charset="0"/>
                      </a:rPr>
                      <m:t>&lt;</m:t>
                    </m:r>
                    <m:r>
                      <a:rPr lang="en-US" sz="2000" i="1" dirty="0" smtClean="0">
                        <a:latin typeface="Cambria Math"/>
                        <a:ea typeface="Verdana" pitchFamily="34" charset="0"/>
                      </a:rPr>
                      <m:t>13</m:t>
                    </m:r>
                  </m:oMath>
                </a14:m>
                <a:r>
                  <a:rPr lang="en-US" sz="2000" dirty="0">
                    <a:latin typeface="Verdana" pitchFamily="34" charset="0"/>
                    <a:ea typeface="Verdana" pitchFamily="34" charset="0"/>
                  </a:rPr>
                  <a:t> is shown.</a:t>
                </a:r>
              </a:p>
            </p:txBody>
          </p:sp>
        </mc:Choice>
        <mc:Fallback>
          <p:sp>
            <p:nvSpPr>
              <p:cNvPr id="2" name="Rectangle 1"/>
              <p:cNvSpPr>
                <a:spLocks noRot="1" noChangeAspect="1" noMove="1" noResize="1" noEditPoints="1" noAdjustHandles="1" noChangeArrowheads="1" noChangeShapeType="1" noTextEdit="1"/>
              </p:cNvSpPr>
              <p:nvPr/>
            </p:nvSpPr>
            <p:spPr>
              <a:xfrm>
                <a:off x="531952" y="1451621"/>
                <a:ext cx="10800000" cy="1323439"/>
              </a:xfrm>
              <a:prstGeom prst="rect">
                <a:avLst/>
              </a:prstGeom>
              <a:blipFill rotWithShape="1">
                <a:blip r:embed="rId6"/>
                <a:stretch>
                  <a:fillRect l="-564" t="-2304" b="-7373"/>
                </a:stretch>
              </a:blipFill>
            </p:spPr>
            <p:txBody>
              <a:bodyPr/>
              <a:lstStyle/>
              <a:p>
                <a:r>
                  <a:rPr lang="en-PH">
                    <a:noFill/>
                  </a:rPr>
                  <a:t> </a:t>
                </a:r>
              </a:p>
            </p:txBody>
          </p:sp>
        </mc:Fallback>
      </mc:AlternateContent>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0" name="Google Shape;200;p7"/>
          <p:cNvSpPr txBox="1"/>
          <p:nvPr/>
        </p:nvSpPr>
        <p:spPr>
          <a:xfrm>
            <a:off x="527666" y="384174"/>
            <a:ext cx="11129500" cy="1508105"/>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rgbClr val="000000"/>
              </a:buClr>
              <a:buSzPts val="2400"/>
              <a:buFont typeface="Arial"/>
              <a:buAutoNum type="arabicPeriod"/>
            </a:pPr>
            <a:r>
              <a:rPr lang="en-US" sz="2400" b="0" i="0" u="none" strike="noStrike" cap="none" dirty="0">
                <a:solidFill>
                  <a:srgbClr val="000000"/>
                </a:solidFill>
                <a:latin typeface="Verdana"/>
                <a:ea typeface="Verdana"/>
                <a:cs typeface="Verdana"/>
                <a:sym typeface="Verdana"/>
              </a:rPr>
              <a:t>Determine whether each of the possible values is a solution to the given inequalities.</a:t>
            </a:r>
            <a:endParaRPr dirty="0"/>
          </a:p>
          <a:p>
            <a:pPr marL="914400" marR="0" lvl="0" indent="-457200" algn="l" rtl="0">
              <a:lnSpc>
                <a:spcPct val="100000"/>
              </a:lnSpc>
              <a:spcBef>
                <a:spcPts val="2400"/>
              </a:spcBef>
              <a:spcAft>
                <a:spcPts val="0"/>
              </a:spcAft>
              <a:buClr>
                <a:srgbClr val="000000"/>
              </a:buClr>
              <a:buSzPts val="2400"/>
              <a:buFont typeface="Arial"/>
              <a:buAutoNum type="alphaLcPeriod"/>
            </a:pPr>
            <a:r>
              <a:rPr lang="en-US" sz="2400" b="0" i="0" u="none" strike="noStrike" cap="none" dirty="0">
                <a:solidFill>
                  <a:srgbClr val="000000"/>
                </a:solidFill>
                <a:latin typeface="Verdana"/>
                <a:ea typeface="Verdana"/>
                <a:cs typeface="Verdana"/>
                <a:sym typeface="Verdana"/>
              </a:rPr>
              <a:t>Record the solutions in the table.</a:t>
            </a:r>
            <a:endParaRPr sz="2400" b="0" i="0" u="none" strike="noStrike" cap="none" dirty="0">
              <a:solidFill>
                <a:srgbClr val="000000"/>
              </a:solidFill>
              <a:latin typeface="Verdana"/>
              <a:ea typeface="Verdana"/>
              <a:cs typeface="Verdana"/>
              <a:sym typeface="Verdana"/>
            </a:endParaRPr>
          </a:p>
        </p:txBody>
      </p:sp>
      <mc:AlternateContent xmlns:mc="http://schemas.openxmlformats.org/markup-compatibility/2006">
        <mc:Choice xmlns:a14="http://schemas.microsoft.com/office/drawing/2010/main" Requires="a14">
          <p:graphicFrame>
            <p:nvGraphicFramePr>
              <p:cNvPr id="201" name="Google Shape;201;p7"/>
              <p:cNvGraphicFramePr/>
              <p:nvPr>
                <p:extLst>
                  <p:ext uri="{D42A27DB-BD31-4B8C-83A1-F6EECF244321}">
                    <p14:modId xmlns:p14="http://schemas.microsoft.com/office/powerpoint/2010/main" val="3778998248"/>
                  </p:ext>
                </p:extLst>
              </p:nvPr>
            </p:nvGraphicFramePr>
            <p:xfrm>
              <a:off x="1601416" y="2024789"/>
              <a:ext cx="7644350" cy="3734650"/>
            </p:xfrm>
            <a:graphic>
              <a:graphicData uri="http://schemas.openxmlformats.org/drawingml/2006/table">
                <a:tbl>
                  <a:tblPr firstRow="1" bandRow="1">
                    <a:noFill/>
                    <a:tableStyleId>{14BEB874-8EB6-4976-96A3-DF805651A6B6}</a:tableStyleId>
                  </a:tblPr>
                  <a:tblGrid>
                    <a:gridCol w="2382175"/>
                    <a:gridCol w="2382175"/>
                    <a:gridCol w="2880000"/>
                  </a:tblGrid>
                  <a:tr h="900000">
                    <a:tc>
                      <a:txBody>
                        <a:bodyPr/>
                        <a:lstStyle/>
                        <a:p>
                          <a:pPr marL="0" lvl="0" indent="0" algn="ctr" rtl="0">
                            <a:lnSpc>
                              <a:spcPct val="100000"/>
                            </a:lnSpc>
                            <a:spcBef>
                              <a:spcPts val="0"/>
                            </a:spcBef>
                            <a:spcAft>
                              <a:spcPts val="0"/>
                            </a:spcAft>
                            <a:buClr>
                              <a:schemeClr val="dk1"/>
                            </a:buClr>
                            <a:buSzPts val="1100"/>
                            <a:buFont typeface="Arial"/>
                            <a:buNone/>
                          </a:pPr>
                          <a14:m>
                            <m:oMathPara xmlns:m="http://schemas.openxmlformats.org/officeDocument/2006/math">
                              <m:oMathParaPr>
                                <m:jc m:val="centerGroup"/>
                              </m:oMathParaPr>
                              <m:oMath xmlns:m="http://schemas.openxmlformats.org/officeDocument/2006/math">
                                <m:r>
                                  <a:rPr lang="en-US" sz="2000" b="1" i="1" dirty="0" smtClean="0">
                                    <a:solidFill>
                                      <a:schemeClr val="dk1"/>
                                    </a:solidFill>
                                    <a:latin typeface="Cambria Math"/>
                                    <a:ea typeface="Cambria Math"/>
                                    <a:cs typeface="Cambria Math"/>
                                    <a:sym typeface="Cambria Math"/>
                                  </a:rPr>
                                  <m:t>𝟐</m:t>
                                </m:r>
                                <m:r>
                                  <a:rPr lang="en-US" sz="2000" b="1" i="1" dirty="0" smtClean="0">
                                    <a:solidFill>
                                      <a:schemeClr val="dk1"/>
                                    </a:solidFill>
                                    <a:latin typeface="Cambria Math"/>
                                    <a:ea typeface="Cambria Math"/>
                                    <a:cs typeface="Cambria Math"/>
                                    <a:sym typeface="Cambria Math"/>
                                  </a:rPr>
                                  <m:t>𝒙</m:t>
                                </m:r>
                                <m:r>
                                  <a:rPr lang="en-US" sz="2000" b="1" i="1" dirty="0" smtClean="0">
                                    <a:solidFill>
                                      <a:schemeClr val="dk1"/>
                                    </a:solidFill>
                                    <a:latin typeface="Cambria Math"/>
                                    <a:ea typeface="Cambria Math"/>
                                    <a:cs typeface="Cambria Math"/>
                                    <a:sym typeface="Cambria Math"/>
                                  </a:rPr>
                                  <m:t>−</m:t>
                                </m:r>
                                <m:r>
                                  <a:rPr lang="en-US" sz="2000" b="1" i="1" dirty="0" smtClean="0">
                                    <a:solidFill>
                                      <a:schemeClr val="dk1"/>
                                    </a:solidFill>
                                    <a:latin typeface="Cambria Math"/>
                                    <a:ea typeface="Cambria Math"/>
                                    <a:cs typeface="Cambria Math"/>
                                    <a:sym typeface="Cambria Math"/>
                                  </a:rPr>
                                  <m:t>𝟓</m:t>
                                </m:r>
                                <m:r>
                                  <a:rPr lang="en-US" sz="2000" b="1" i="1" dirty="0" smtClean="0">
                                    <a:solidFill>
                                      <a:schemeClr val="dk1"/>
                                    </a:solidFill>
                                    <a:latin typeface="Cambria Math"/>
                                    <a:ea typeface="Cambria Math"/>
                                    <a:cs typeface="Cambria Math"/>
                                    <a:sym typeface="Cambria Math"/>
                                  </a:rPr>
                                  <m:t>&gt;</m:t>
                                </m:r>
                                <m:r>
                                  <a:rPr lang="en-US" sz="2000" b="1" i="1" dirty="0" smtClean="0">
                                    <a:solidFill>
                                      <a:schemeClr val="dk1"/>
                                    </a:solidFill>
                                    <a:latin typeface="Cambria Math"/>
                                    <a:ea typeface="Cambria Math"/>
                                    <a:cs typeface="Cambria Math"/>
                                    <a:sym typeface="Cambria Math"/>
                                  </a:rPr>
                                  <m:t>𝟏𝟑</m:t>
                                </m:r>
                              </m:oMath>
                            </m:oMathPara>
                          </a14:m>
                          <a:endParaRPr dirty="0"/>
                        </a:p>
                      </a:txBody>
                      <a:tcPr marL="91450" marR="91450" marT="91450"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lvl="0" indent="0" algn="ctr" rtl="0">
                            <a:lnSpc>
                              <a:spcPct val="100000"/>
                            </a:lnSpc>
                            <a:spcBef>
                              <a:spcPts val="0"/>
                            </a:spcBef>
                            <a:spcAft>
                              <a:spcPts val="0"/>
                            </a:spcAft>
                            <a:buClr>
                              <a:schemeClr val="dk1"/>
                            </a:buClr>
                            <a:buSzPts val="1100"/>
                            <a:buFont typeface="Arial"/>
                            <a:buNone/>
                          </a:pPr>
                          <a14:m>
                            <m:oMathPara xmlns:m="http://schemas.openxmlformats.org/officeDocument/2006/math">
                              <m:oMathParaPr>
                                <m:jc m:val="centerGroup"/>
                              </m:oMathParaPr>
                              <m:oMath xmlns:m="http://schemas.openxmlformats.org/officeDocument/2006/math">
                                <m:r>
                                  <a:rPr lang="en-US" sz="2000" b="1" i="1" dirty="0" smtClean="0">
                                    <a:solidFill>
                                      <a:schemeClr val="dk1"/>
                                    </a:solidFill>
                                    <a:latin typeface="Cambria Math"/>
                                    <a:ea typeface="Cambria Math"/>
                                    <a:cs typeface="Cambria Math"/>
                                    <a:sym typeface="Cambria Math"/>
                                  </a:rPr>
                                  <m:t>𝟐</m:t>
                                </m:r>
                                <m:r>
                                  <a:rPr lang="en-US" sz="2000" b="1" i="1" dirty="0" smtClean="0">
                                    <a:solidFill>
                                      <a:schemeClr val="dk1"/>
                                    </a:solidFill>
                                    <a:latin typeface="Cambria Math"/>
                                    <a:ea typeface="Cambria Math"/>
                                    <a:cs typeface="Cambria Math"/>
                                    <a:sym typeface="Cambria Math"/>
                                  </a:rPr>
                                  <m:t>𝒙</m:t>
                                </m:r>
                                <m:r>
                                  <a:rPr lang="en-US" sz="2000" b="1" i="1" dirty="0" smtClean="0">
                                    <a:solidFill>
                                      <a:schemeClr val="dk1"/>
                                    </a:solidFill>
                                    <a:latin typeface="Cambria Math"/>
                                    <a:ea typeface="Cambria Math"/>
                                    <a:cs typeface="Cambria Math"/>
                                    <a:sym typeface="Cambria Math"/>
                                  </a:rPr>
                                  <m:t>−</m:t>
                                </m:r>
                                <m:r>
                                  <a:rPr lang="en-US" sz="2000" b="1" i="1" dirty="0" smtClean="0">
                                    <a:solidFill>
                                      <a:schemeClr val="dk1"/>
                                    </a:solidFill>
                                    <a:latin typeface="Cambria Math"/>
                                    <a:ea typeface="Cambria Math"/>
                                    <a:cs typeface="Cambria Math"/>
                                    <a:sym typeface="Cambria Math"/>
                                  </a:rPr>
                                  <m:t>𝟓</m:t>
                                </m:r>
                                <m:r>
                                  <a:rPr lang="en-US" sz="2000" b="1" i="1" dirty="0" smtClean="0">
                                    <a:solidFill>
                                      <a:schemeClr val="dk1"/>
                                    </a:solidFill>
                                    <a:latin typeface="Cambria Math"/>
                                    <a:ea typeface="Cambria Math"/>
                                    <a:cs typeface="Cambria Math"/>
                                    <a:sym typeface="Cambria Math"/>
                                  </a:rPr>
                                  <m:t>&lt;</m:t>
                                </m:r>
                                <m:r>
                                  <a:rPr lang="en-US" sz="2000" b="1" i="1" dirty="0" smtClean="0">
                                    <a:solidFill>
                                      <a:schemeClr val="dk1"/>
                                    </a:solidFill>
                                    <a:latin typeface="Cambria Math"/>
                                    <a:ea typeface="Cambria Math"/>
                                    <a:cs typeface="Cambria Math"/>
                                    <a:sym typeface="Cambria Math"/>
                                  </a:rPr>
                                  <m:t>𝟏𝟑</m:t>
                                </m:r>
                              </m:oMath>
                            </m:oMathPara>
                          </a14:m>
                          <a:endParaRPr dirty="0"/>
                        </a:p>
                      </a:txBody>
                      <a:tcPr marL="91450" marR="91450" marT="91450"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Not a Solution </a:t>
                          </a:r>
                          <a:r>
                            <a:rPr lang="en-US" sz="2000" b="1" u="none" strike="noStrike" cap="none" dirty="0" smtClean="0">
                              <a:latin typeface="Verdana"/>
                              <a:ea typeface="Verdana"/>
                              <a:cs typeface="Verdana"/>
                              <a:sym typeface="Verdana"/>
                            </a:rPr>
                            <a:t/>
                          </a:r>
                          <a:br>
                            <a:rPr lang="en-US" sz="2000" b="1" u="none" strike="noStrike" cap="none" dirty="0" smtClean="0">
                              <a:latin typeface="Verdana"/>
                              <a:ea typeface="Verdana"/>
                              <a:cs typeface="Verdana"/>
                              <a:sym typeface="Verdana"/>
                            </a:rPr>
                          </a:br>
                          <a:r>
                            <a:rPr lang="en-US" sz="2000" b="1" u="none" strike="noStrike" cap="none" dirty="0" smtClean="0">
                              <a:latin typeface="Verdana"/>
                              <a:ea typeface="Verdana"/>
                              <a:cs typeface="Verdana"/>
                              <a:sym typeface="Verdana"/>
                            </a:rPr>
                            <a:t>to </a:t>
                          </a:r>
                          <a:r>
                            <a:rPr lang="en-US" sz="2000" b="1" u="none" strike="noStrike" cap="none" dirty="0">
                              <a:latin typeface="Verdana"/>
                              <a:ea typeface="Verdana"/>
                              <a:cs typeface="Verdana"/>
                              <a:sym typeface="Verdana"/>
                            </a:rPr>
                            <a:t>Either</a:t>
                          </a:r>
                          <a:endParaRPr sz="2000" u="none" strike="noStrike" cap="none" dirty="0">
                            <a:latin typeface="Verdana"/>
                            <a:ea typeface="Verdana"/>
                            <a:cs typeface="Verdana"/>
                            <a:sym typeface="Verdana"/>
                          </a:endParaRPr>
                        </a:p>
                      </a:txBody>
                      <a:tcPr marL="91450" marR="91450" marT="91450"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r>
                  <a:tr h="2697950">
                    <a:tc>
                      <a:txBody>
                        <a:bodyPr/>
                        <a:lstStyle/>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txBody>
                      <a:tcPr marL="91450" marR="91450" marT="45725" marB="45725">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91450" marR="91450" marT="45725" marB="45725">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91450" marR="91450" marT="45725" marB="45725">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mc:Choice>
        <mc:Fallback>
          <p:graphicFrame>
            <p:nvGraphicFramePr>
              <p:cNvPr id="201" name="Google Shape;201;p7"/>
              <p:cNvGraphicFramePr/>
              <p:nvPr>
                <p:extLst>
                  <p:ext uri="{D42A27DB-BD31-4B8C-83A1-F6EECF244321}">
                    <p14:modId xmlns:p14="http://schemas.microsoft.com/office/powerpoint/2010/main" val="3778998248"/>
                  </p:ext>
                </p:extLst>
              </p:nvPr>
            </p:nvGraphicFramePr>
            <p:xfrm>
              <a:off x="1601416" y="2024789"/>
              <a:ext cx="7644350" cy="3734650"/>
            </p:xfrm>
            <a:graphic>
              <a:graphicData uri="http://schemas.openxmlformats.org/drawingml/2006/table">
                <a:tbl>
                  <a:tblPr firstRow="1" bandRow="1">
                    <a:noFill/>
                    <a:tableStyleId>{14BEB874-8EB6-4976-96A3-DF805651A6B6}</a:tableStyleId>
                  </a:tblPr>
                  <a:tblGrid>
                    <a:gridCol w="2382175"/>
                    <a:gridCol w="2382175"/>
                    <a:gridCol w="2880000"/>
                  </a:tblGrid>
                  <a:tr h="900000">
                    <a:tc>
                      <a:txBody>
                        <a:bodyPr/>
                        <a:lstStyle/>
                        <a:p>
                          <a:endParaRPr lang="en-US"/>
                        </a:p>
                      </a:txBody>
                      <a:tcPr marL="91450" marR="91450" marT="91450"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56" r="-220716" b="-314189"/>
                          </a:stretch>
                        </a:blipFill>
                      </a:tcPr>
                    </a:tc>
                    <a:tc>
                      <a:txBody>
                        <a:bodyPr/>
                        <a:lstStyle/>
                        <a:p>
                          <a:endParaRPr lang="en-US"/>
                        </a:p>
                      </a:txBody>
                      <a:tcPr marL="91450" marR="91450" marT="91450"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256" r="-120716" b="-314189"/>
                          </a:stretch>
                        </a:blipFill>
                      </a:tcPr>
                    </a:tc>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Not a Solution </a:t>
                          </a:r>
                          <a:r>
                            <a:rPr lang="en-US" sz="2000" b="1" u="none" strike="noStrike" cap="none" dirty="0" smtClean="0">
                              <a:latin typeface="Verdana"/>
                              <a:ea typeface="Verdana"/>
                              <a:cs typeface="Verdana"/>
                              <a:sym typeface="Verdana"/>
                            </a:rPr>
                            <a:t/>
                          </a:r>
                          <a:br>
                            <a:rPr lang="en-US" sz="2000" b="1" u="none" strike="noStrike" cap="none" dirty="0" smtClean="0">
                              <a:latin typeface="Verdana"/>
                              <a:ea typeface="Verdana"/>
                              <a:cs typeface="Verdana"/>
                              <a:sym typeface="Verdana"/>
                            </a:rPr>
                          </a:br>
                          <a:r>
                            <a:rPr lang="en-US" sz="2000" b="1" u="none" strike="noStrike" cap="none" dirty="0" smtClean="0">
                              <a:latin typeface="Verdana"/>
                              <a:ea typeface="Verdana"/>
                              <a:cs typeface="Verdana"/>
                              <a:sym typeface="Verdana"/>
                            </a:rPr>
                            <a:t>to </a:t>
                          </a:r>
                          <a:r>
                            <a:rPr lang="en-US" sz="2000" b="1" u="none" strike="noStrike" cap="none" dirty="0">
                              <a:latin typeface="Verdana"/>
                              <a:ea typeface="Verdana"/>
                              <a:cs typeface="Verdana"/>
                              <a:sym typeface="Verdana"/>
                            </a:rPr>
                            <a:t>Either</a:t>
                          </a:r>
                          <a:endParaRPr sz="2000" u="none" strike="noStrike" cap="none" dirty="0">
                            <a:latin typeface="Verdana"/>
                            <a:ea typeface="Verdana"/>
                            <a:cs typeface="Verdana"/>
                            <a:sym typeface="Verdana"/>
                          </a:endParaRPr>
                        </a:p>
                      </a:txBody>
                      <a:tcPr marL="91450" marR="91450" marT="91450"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r>
                  <a:tr h="2834650">
                    <a:tc>
                      <a:txBody>
                        <a:bodyPr/>
                        <a:lstStyle/>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txBody>
                      <a:tcPr marL="91450" marR="91450" marT="45725" marB="45725">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91450" marR="91450" marT="45725" marB="45725">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91450" marR="91450" marT="45725" marB="45725">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mc:Fallback>
      </mc:AlternateContent>
      <p:sp>
        <p:nvSpPr>
          <p:cNvPr id="9"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a:t>
            </a:r>
            <a:r>
              <a:rPr lang="en-US" sz="1400" b="0" i="1" u="none" strike="noStrike" cap="none" dirty="0" smtClean="0">
                <a:solidFill>
                  <a:srgbClr val="000000"/>
                </a:solidFill>
                <a:latin typeface="Calibri"/>
                <a:ea typeface="Calibri"/>
                <a:cs typeface="Calibri"/>
                <a:sym typeface="Calibri"/>
              </a:rPr>
              <a:t>178</a:t>
            </a:r>
            <a:endParaRPr sz="1400" b="0" i="1" u="none" strike="noStrike" cap="none" dirty="0">
              <a:solidFill>
                <a:srgbClr val="000000"/>
              </a:solidFill>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8"/>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0" name="Google Shape;210;p8"/>
          <p:cNvSpPr txBox="1"/>
          <p:nvPr/>
        </p:nvSpPr>
        <p:spPr>
          <a:xfrm>
            <a:off x="534802" y="382422"/>
            <a:ext cx="11182126" cy="461665"/>
          </a:xfrm>
          <a:prstGeom prst="rect">
            <a:avLst/>
          </a:prstGeom>
          <a:noFill/>
          <a:ln>
            <a:noFill/>
          </a:ln>
        </p:spPr>
        <p:txBody>
          <a:bodyPr spcFirstLastPara="1" wrap="square" lIns="91425" tIns="45700" rIns="91425" bIns="45700" anchor="t" anchorCtr="0">
            <a:spAutoFit/>
          </a:bodyPr>
          <a:lstStyle/>
          <a:p>
            <a:pPr marL="914400" marR="0" lvl="0" indent="-457200" algn="l" rtl="0">
              <a:lnSpc>
                <a:spcPct val="100000"/>
              </a:lnSpc>
              <a:spcBef>
                <a:spcPts val="0"/>
              </a:spcBef>
              <a:spcAft>
                <a:spcPts val="0"/>
              </a:spcAft>
              <a:buClr>
                <a:srgbClr val="000000"/>
              </a:buClr>
              <a:buSzPts val="2400"/>
              <a:buFont typeface="Arial"/>
              <a:buAutoNum type="alphaLcPeriod" startAt="2"/>
            </a:pPr>
            <a:r>
              <a:rPr lang="en-US" sz="2400" b="0" i="0" u="none" strike="noStrike" cap="none" dirty="0">
                <a:solidFill>
                  <a:srgbClr val="000000"/>
                </a:solidFill>
                <a:latin typeface="Verdana"/>
                <a:ea typeface="Verdana"/>
                <a:cs typeface="Verdana"/>
                <a:sym typeface="Verdana"/>
              </a:rPr>
              <a:t>Explain the strategy you used to identify solutions.</a:t>
            </a:r>
            <a:endParaRPr sz="2400" b="0" i="0" u="none" strike="noStrike" cap="none" dirty="0">
              <a:solidFill>
                <a:srgbClr val="000000"/>
              </a:solidFill>
              <a:latin typeface="Verdana"/>
              <a:ea typeface="Verdana"/>
              <a:cs typeface="Verdana"/>
              <a:sym typeface="Verdana"/>
            </a:endParaRPr>
          </a:p>
        </p:txBody>
      </p:sp>
      <p:grpSp>
        <p:nvGrpSpPr>
          <p:cNvPr id="211" name="Google Shape;211;p8"/>
          <p:cNvGrpSpPr/>
          <p:nvPr/>
        </p:nvGrpSpPr>
        <p:grpSpPr>
          <a:xfrm>
            <a:off x="2421110" y="4944022"/>
            <a:ext cx="7009130" cy="1007745"/>
            <a:chOff x="1957558" y="3275735"/>
            <a:chExt cx="7009216" cy="1008525"/>
          </a:xfrm>
        </p:grpSpPr>
        <p:sp>
          <p:nvSpPr>
            <p:cNvPr id="212" name="Google Shape;212;p8"/>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Times New Roman"/>
                  <a:ea typeface="Times New Roman"/>
                  <a:cs typeface="Times New Roman"/>
                  <a:sym typeface="Times New Roman"/>
                </a:rPr>
                <a:t> </a:t>
              </a:r>
              <a:endParaRPr/>
            </a:p>
          </p:txBody>
        </p:sp>
        <p:grpSp>
          <p:nvGrpSpPr>
            <p:cNvPr id="213" name="Google Shape;213;p8"/>
            <p:cNvGrpSpPr/>
            <p:nvPr/>
          </p:nvGrpSpPr>
          <p:grpSpPr>
            <a:xfrm>
              <a:off x="1957558" y="3275735"/>
              <a:ext cx="7009216" cy="1008525"/>
              <a:chOff x="1957558" y="3275735"/>
              <a:chExt cx="7009216" cy="1008525"/>
            </a:xfrm>
          </p:grpSpPr>
          <p:sp>
            <p:nvSpPr>
              <p:cNvPr id="214" name="Google Shape;214;p8"/>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Times New Roman"/>
                    <a:ea typeface="Times New Roman"/>
                    <a:cs typeface="Times New Roman"/>
                    <a:sym typeface="Times New Roman"/>
                  </a:rPr>
                  <a:t> </a:t>
                </a:r>
                <a:endParaRPr/>
              </a:p>
            </p:txBody>
          </p:sp>
          <p:grpSp>
            <p:nvGrpSpPr>
              <p:cNvPr id="215" name="Google Shape;215;p8"/>
              <p:cNvGrpSpPr/>
              <p:nvPr/>
            </p:nvGrpSpPr>
            <p:grpSpPr>
              <a:xfrm>
                <a:off x="1957558" y="3275735"/>
                <a:ext cx="7009216" cy="1008525"/>
                <a:chOff x="1957558" y="3275735"/>
                <a:chExt cx="7009216" cy="1008525"/>
              </a:xfrm>
            </p:grpSpPr>
            <p:sp>
              <p:nvSpPr>
                <p:cNvPr id="216" name="Google Shape;216;p8"/>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Times New Roman"/>
                      <a:ea typeface="Times New Roman"/>
                      <a:cs typeface="Times New Roman"/>
                      <a:sym typeface="Times New Roman"/>
                    </a:rPr>
                    <a:t> </a:t>
                  </a:r>
                  <a:endParaRPr/>
                </a:p>
              </p:txBody>
            </p:sp>
            <p:grpSp>
              <p:nvGrpSpPr>
                <p:cNvPr id="217" name="Google Shape;217;p8"/>
                <p:cNvGrpSpPr/>
                <p:nvPr/>
              </p:nvGrpSpPr>
              <p:grpSpPr>
                <a:xfrm>
                  <a:off x="1957558" y="3275735"/>
                  <a:ext cx="7009216" cy="1008525"/>
                  <a:chOff x="1957558" y="3275735"/>
                  <a:chExt cx="7009216" cy="1008525"/>
                </a:xfrm>
              </p:grpSpPr>
              <p:sp>
                <p:nvSpPr>
                  <p:cNvPr id="218" name="Google Shape;218;p8"/>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Times New Roman"/>
                        <a:ea typeface="Times New Roman"/>
                        <a:cs typeface="Times New Roman"/>
                        <a:sym typeface="Times New Roman"/>
                      </a:rPr>
                      <a:t> </a:t>
                    </a:r>
                    <a:endParaRPr/>
                  </a:p>
                </p:txBody>
              </p:sp>
              <p:grpSp>
                <p:nvGrpSpPr>
                  <p:cNvPr id="219" name="Google Shape;219;p8"/>
                  <p:cNvGrpSpPr/>
                  <p:nvPr/>
                </p:nvGrpSpPr>
                <p:grpSpPr>
                  <a:xfrm>
                    <a:off x="1957558" y="3275735"/>
                    <a:ext cx="7009216" cy="1008525"/>
                    <a:chOff x="-73742" y="0"/>
                    <a:chExt cx="7009216" cy="1008525"/>
                  </a:xfrm>
                </p:grpSpPr>
                <p:sp>
                  <p:nvSpPr>
                    <p:cNvPr id="220" name="Google Shape;220;p8"/>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Times New Roman"/>
                          <a:ea typeface="Times New Roman"/>
                          <a:cs typeface="Times New Roman"/>
                          <a:sym typeface="Times New Roman"/>
                        </a:rPr>
                        <a:t> </a:t>
                      </a:r>
                      <a:endParaRPr/>
                    </a:p>
                  </p:txBody>
                </p:sp>
                <p:grpSp>
                  <p:nvGrpSpPr>
                    <p:cNvPr id="221" name="Google Shape;221;p8"/>
                    <p:cNvGrpSpPr/>
                    <p:nvPr/>
                  </p:nvGrpSpPr>
                  <p:grpSpPr>
                    <a:xfrm>
                      <a:off x="-73742" y="0"/>
                      <a:ext cx="7009216" cy="891332"/>
                      <a:chOff x="-73742" y="0"/>
                      <a:chExt cx="7009216" cy="891332"/>
                    </a:xfrm>
                  </p:grpSpPr>
                  <p:sp>
                    <p:nvSpPr>
                      <p:cNvPr id="222" name="Google Shape;222;p8"/>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Times New Roman"/>
                            <a:ea typeface="Times New Roman"/>
                            <a:cs typeface="Times New Roman"/>
                            <a:sym typeface="Times New Roman"/>
                          </a:rPr>
                          <a:t> </a:t>
                        </a:r>
                        <a:endParaRPr/>
                      </a:p>
                    </p:txBody>
                  </p:sp>
                  <p:sp>
                    <p:nvSpPr>
                      <p:cNvPr id="223" name="Google Shape;223;p8"/>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Times New Roman"/>
                            <a:ea typeface="Times New Roman"/>
                            <a:cs typeface="Times New Roman"/>
                            <a:sym typeface="Times New Roman"/>
                          </a:rPr>
                          <a:t> </a:t>
                        </a:r>
                        <a:endParaRPr/>
                      </a:p>
                    </p:txBody>
                  </p:sp>
                  <p:sp>
                    <p:nvSpPr>
                      <p:cNvPr id="224" name="Google Shape;224;p8"/>
                      <p:cNvSpPr/>
                      <p:nvPr/>
                    </p:nvSpPr>
                    <p:spPr>
                      <a:xfrm>
                        <a:off x="-73742" y="107578"/>
                        <a:ext cx="7009216" cy="783754"/>
                      </a:xfrm>
                      <a:prstGeom prst="roundRect">
                        <a:avLst>
                          <a:gd name="adj" fmla="val 16667"/>
                        </a:avLst>
                      </a:prstGeom>
                      <a:solidFill>
                        <a:srgbClr val="B8E6F5"/>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spAutoFit/>
                      </a:bodyPr>
                      <a:lstStyle/>
                      <a:p>
                        <a:pPr marL="742950" marR="0" lvl="0" indent="0" algn="l" rtl="0">
                          <a:lnSpc>
                            <a:spcPct val="100000"/>
                          </a:lnSpc>
                          <a:spcBef>
                            <a:spcPts val="0"/>
                          </a:spcBef>
                          <a:spcAft>
                            <a:spcPts val="0"/>
                          </a:spcAft>
                          <a:buNone/>
                        </a:pPr>
                        <a:r>
                          <a:rPr lang="en-US" sz="2000" b="0" i="0" u="none" strike="noStrike" cap="none" dirty="0">
                            <a:solidFill>
                              <a:srgbClr val="05619E"/>
                            </a:solidFill>
                            <a:latin typeface="Verdana"/>
                            <a:ea typeface="Verdana"/>
                            <a:cs typeface="Verdana"/>
                            <a:sym typeface="Verdana"/>
                          </a:rPr>
                          <a:t>An inequality has infinite solutions and can be represented on a number line.</a:t>
                        </a:r>
                        <a:endParaRPr sz="2000" b="0" i="0" u="none" strike="noStrike" cap="none" dirty="0">
                          <a:solidFill>
                            <a:srgbClr val="000000"/>
                          </a:solidFill>
                          <a:latin typeface="Verdana"/>
                          <a:ea typeface="Verdana"/>
                          <a:cs typeface="Verdana"/>
                          <a:sym typeface="Verdana"/>
                        </a:endParaRPr>
                      </a:p>
                    </p:txBody>
                  </p:sp>
                </p:grpSp>
                <p:pic>
                  <p:nvPicPr>
                    <p:cNvPr id="225" name="Google Shape;225;p8"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24921" y="219748"/>
                      <a:ext cx="539750" cy="539750"/>
                    </a:xfrm>
                    <a:prstGeom prst="rect">
                      <a:avLst/>
                    </a:prstGeom>
                    <a:noFill/>
                    <a:ln>
                      <a:noFill/>
                    </a:ln>
                    <a:effectLst>
                      <a:outerShdw blurRad="50800" dist="38100" dir="2700000" algn="tl" rotWithShape="0">
                        <a:srgbClr val="000000">
                          <a:alpha val="40000"/>
                        </a:srgbClr>
                      </a:outerShdw>
                    </a:effectLst>
                  </p:spPr>
                </p:pic>
              </p:grpSp>
            </p:grpSp>
          </p:grpSp>
        </p:grpSp>
      </p:grpSp>
      <p:sp>
        <p:nvSpPr>
          <p:cNvPr id="23"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a:t>
            </a:r>
            <a:r>
              <a:rPr lang="en-US" sz="1400" b="0" i="1" u="none" strike="noStrike" cap="none" dirty="0" smtClean="0">
                <a:solidFill>
                  <a:srgbClr val="000000"/>
                </a:solidFill>
                <a:latin typeface="Calibri"/>
                <a:ea typeface="Calibri"/>
                <a:cs typeface="Calibri"/>
                <a:sym typeface="Calibri"/>
              </a:rPr>
              <a:t>178</a:t>
            </a:r>
            <a:endParaRPr sz="1400" b="0" i="1" u="none" strike="noStrike" cap="none" dirty="0">
              <a:solidFill>
                <a:srgbClr val="000000"/>
              </a:solidFill>
              <a:latin typeface="Calibri"/>
              <a:ea typeface="Calibri"/>
              <a:cs typeface="Calibri"/>
              <a:sym typeface="Calibri"/>
            </a:endParaRPr>
          </a:p>
        </p:txBody>
      </p:sp>
      <p:pic>
        <p:nvPicPr>
          <p:cNvPr id="24"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9"/>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a:t>
            </a:r>
            <a:r>
              <a:rPr lang="en-US" sz="1400" b="0" i="1" u="none" strike="noStrike" cap="none" dirty="0" smtClean="0">
                <a:solidFill>
                  <a:srgbClr val="000000"/>
                </a:solidFill>
                <a:latin typeface="Calibri"/>
                <a:ea typeface="Calibri"/>
                <a:cs typeface="Calibri"/>
                <a:sym typeface="Calibri"/>
              </a:rPr>
              <a:t>178</a:t>
            </a:r>
            <a:endParaRPr sz="1400" b="0" i="1" u="none" strike="noStrike" cap="none" dirty="0">
              <a:solidFill>
                <a:srgbClr val="000000"/>
              </a:solidFill>
              <a:latin typeface="Calibri"/>
              <a:ea typeface="Calibri"/>
              <a:cs typeface="Calibri"/>
              <a:sym typeface="Calibri"/>
            </a:endParaRPr>
          </a:p>
        </p:txBody>
      </p:sp>
      <p:pic>
        <p:nvPicPr>
          <p:cNvPr id="9"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mc:AlternateContent xmlns:mc="http://schemas.openxmlformats.org/markup-compatibility/2006">
        <mc:Choice xmlns:a14="http://schemas.microsoft.com/office/drawing/2010/main" Requires="a14">
          <p:sp>
            <p:nvSpPr>
              <p:cNvPr id="10" name="Google Shape;210;p8"/>
              <p:cNvSpPr txBox="1"/>
              <p:nvPr/>
            </p:nvSpPr>
            <p:spPr>
              <a:xfrm>
                <a:off x="534802" y="382422"/>
                <a:ext cx="11182126" cy="5016718"/>
              </a:xfrm>
              <a:prstGeom prst="rect">
                <a:avLst/>
              </a:prstGeom>
              <a:noFill/>
              <a:ln>
                <a:noFill/>
              </a:ln>
            </p:spPr>
            <p:txBody>
              <a:bodyPr spcFirstLastPara="1" wrap="square" lIns="91425" tIns="45700" rIns="91425" bIns="45700" anchor="t" anchorCtr="0">
                <a:spAutoFit/>
              </a:bodyPr>
              <a:lstStyle/>
              <a:p>
                <a:pPr marL="457200" lvl="0" indent="-457200">
                  <a:buSzPct val="100000"/>
                  <a:buFont typeface="+mj-lt"/>
                  <a:buAutoNum type="arabicPeriod" startAt="2"/>
                </a:pPr>
                <a:r>
                  <a:rPr lang="en-US" sz="2000" dirty="0" smtClean="0">
                    <a:latin typeface="Verdana" pitchFamily="34" charset="0"/>
                    <a:ea typeface="Verdana" pitchFamily="34" charset="0"/>
                  </a:rPr>
                  <a:t>Discuss with your partner why an inequality has infinitely many solutions.</a:t>
                </a:r>
              </a:p>
              <a:p>
                <a:pPr marL="457200" lvl="0" indent="-457200">
                  <a:buSzPct val="100000"/>
                  <a:buFont typeface="+mj-lt"/>
                  <a:buAutoNum type="arabicPeriod" startAt="2"/>
                </a:pPr>
                <a:endParaRPr lang="en-US" sz="2000" dirty="0">
                  <a:latin typeface="Verdana" pitchFamily="34" charset="0"/>
                  <a:ea typeface="Verdana" pitchFamily="34" charset="0"/>
                </a:endParaRPr>
              </a:p>
              <a:p>
                <a:pPr marL="457200" lvl="0" indent="-457200">
                  <a:buSzPct val="100000"/>
                  <a:buFont typeface="+mj-lt"/>
                  <a:buAutoNum type="arabicPeriod" startAt="2"/>
                </a:pPr>
                <a:endParaRPr lang="en-US" sz="2000" dirty="0" smtClean="0">
                  <a:latin typeface="Verdana" pitchFamily="34" charset="0"/>
                  <a:ea typeface="Verdana" pitchFamily="34" charset="0"/>
                </a:endParaRPr>
              </a:p>
              <a:p>
                <a:pPr marL="457200" lvl="0" indent="-457200">
                  <a:buSzPct val="100000"/>
                  <a:buFont typeface="+mj-lt"/>
                  <a:buAutoNum type="arabicPeriod" startAt="2"/>
                </a:pPr>
                <a:r>
                  <a:rPr lang="en-US" sz="2000" dirty="0">
                    <a:latin typeface="Verdana" pitchFamily="34" charset="0"/>
                    <a:ea typeface="Verdana" pitchFamily="34" charset="0"/>
                  </a:rPr>
                  <a:t>Predict the solution set for </a:t>
                </a:r>
                <a14:m>
                  <m:oMath xmlns:m="http://schemas.openxmlformats.org/officeDocument/2006/math">
                    <m:r>
                      <a:rPr lang="en-US" sz="2000" i="1" dirty="0" smtClean="0">
                        <a:latin typeface="Cambria Math"/>
                      </a:rPr>
                      <m:t>2</m:t>
                    </m:r>
                    <m:r>
                      <a:rPr lang="en-US" sz="2000" i="1" dirty="0" smtClean="0">
                        <a:latin typeface="Cambria Math"/>
                      </a:rPr>
                      <m:t>𝑥</m:t>
                    </m:r>
                    <m:r>
                      <a:rPr lang="en-US" sz="2000" i="1" dirty="0" smtClean="0">
                        <a:latin typeface="Cambria Math"/>
                      </a:rPr>
                      <m:t>−</m:t>
                    </m:r>
                    <m:r>
                      <a:rPr lang="en-US" sz="2000" i="1" dirty="0" smtClean="0">
                        <a:latin typeface="Cambria Math"/>
                      </a:rPr>
                      <m:t>5</m:t>
                    </m:r>
                    <m:r>
                      <a:rPr lang="en-US" sz="2000" i="1" dirty="0" smtClean="0">
                        <a:latin typeface="Cambria Math"/>
                      </a:rPr>
                      <m:t>&gt;</m:t>
                    </m:r>
                    <m:r>
                      <a:rPr lang="en-US" sz="2000" i="1" dirty="0" smtClean="0">
                        <a:latin typeface="Cambria Math"/>
                      </a:rPr>
                      <m:t>13</m:t>
                    </m:r>
                  </m:oMath>
                </a14:m>
                <a:r>
                  <a:rPr lang="en-US" sz="2000" dirty="0" smtClean="0">
                    <a:latin typeface="Verdana" pitchFamily="34" charset="0"/>
                    <a:ea typeface="Verdana" pitchFamily="34" charset="0"/>
                  </a:rPr>
                  <a:t>.</a:t>
                </a:r>
              </a:p>
              <a:p>
                <a:pPr marL="457200" lvl="0" indent="-457200">
                  <a:buSzPct val="100000"/>
                  <a:buFont typeface="+mj-lt"/>
                  <a:buAutoNum type="arabicPeriod" startAt="2"/>
                </a:pPr>
                <a:endParaRPr lang="en-US" sz="2000" dirty="0">
                  <a:latin typeface="Verdana" pitchFamily="34" charset="0"/>
                  <a:ea typeface="Verdana" pitchFamily="34" charset="0"/>
                </a:endParaRPr>
              </a:p>
              <a:p>
                <a:pPr marL="457200" lvl="0" indent="-457200">
                  <a:buSzPct val="100000"/>
                  <a:buFont typeface="+mj-lt"/>
                  <a:buAutoNum type="arabicPeriod" startAt="2"/>
                </a:pPr>
                <a:endParaRPr lang="en-US" sz="2000" dirty="0" smtClean="0">
                  <a:latin typeface="Verdana" pitchFamily="34" charset="0"/>
                  <a:ea typeface="Verdana" pitchFamily="34" charset="0"/>
                </a:endParaRPr>
              </a:p>
              <a:p>
                <a:pPr marL="457200" lvl="0" indent="-457200">
                  <a:buSzPct val="100000"/>
                  <a:buFont typeface="+mj-lt"/>
                  <a:buAutoNum type="arabicPeriod" startAt="2"/>
                </a:pPr>
                <a:r>
                  <a:rPr lang="en-US" sz="2000" dirty="0">
                    <a:latin typeface="Verdana" pitchFamily="34" charset="0"/>
                    <a:ea typeface="Verdana" pitchFamily="34" charset="0"/>
                  </a:rPr>
                  <a:t>Predict the solution set for </a:t>
                </a:r>
                <a14:m>
                  <m:oMath xmlns:m="http://schemas.openxmlformats.org/officeDocument/2006/math">
                    <m:r>
                      <a:rPr lang="en-US" sz="2000" i="1" dirty="0" smtClean="0">
                        <a:latin typeface="Cambria Math"/>
                      </a:rPr>
                      <m:t>2</m:t>
                    </m:r>
                    <m:r>
                      <a:rPr lang="en-US" sz="2000" i="1" dirty="0" smtClean="0">
                        <a:latin typeface="Cambria Math"/>
                      </a:rPr>
                      <m:t>𝑥</m:t>
                    </m:r>
                    <m:r>
                      <a:rPr lang="en-US" sz="2000" i="1" dirty="0" smtClean="0">
                        <a:latin typeface="Cambria Math"/>
                      </a:rPr>
                      <m:t>−</m:t>
                    </m:r>
                    <m:r>
                      <a:rPr lang="en-US" sz="2000" i="1" dirty="0" smtClean="0">
                        <a:latin typeface="Cambria Math"/>
                      </a:rPr>
                      <m:t>5</m:t>
                    </m:r>
                    <m:r>
                      <a:rPr lang="en-US" sz="2000" i="1" dirty="0" smtClean="0">
                        <a:latin typeface="Cambria Math"/>
                      </a:rPr>
                      <m:t>&lt;</m:t>
                    </m:r>
                    <m:r>
                      <a:rPr lang="en-US" sz="2000" i="1" dirty="0" smtClean="0">
                        <a:latin typeface="Cambria Math"/>
                      </a:rPr>
                      <m:t>13</m:t>
                    </m:r>
                  </m:oMath>
                </a14:m>
                <a:r>
                  <a:rPr lang="en-US" sz="2000" dirty="0" smtClean="0">
                    <a:latin typeface="Verdana" pitchFamily="34" charset="0"/>
                    <a:ea typeface="Verdana" pitchFamily="34" charset="0"/>
                  </a:rPr>
                  <a:t>.</a:t>
                </a:r>
              </a:p>
              <a:p>
                <a:pPr marL="457200" lvl="0" indent="-457200">
                  <a:buSzPct val="100000"/>
                  <a:buFont typeface="+mj-lt"/>
                  <a:buAutoNum type="arabicPeriod" startAt="2"/>
                </a:pPr>
                <a:endParaRPr lang="en-US" sz="2000" dirty="0">
                  <a:latin typeface="Verdana" pitchFamily="34" charset="0"/>
                  <a:ea typeface="Verdana" pitchFamily="34" charset="0"/>
                </a:endParaRPr>
              </a:p>
              <a:p>
                <a:pPr marL="457200" lvl="0" indent="-457200">
                  <a:buSzPct val="100000"/>
                  <a:buFont typeface="+mj-lt"/>
                  <a:buAutoNum type="arabicPeriod" startAt="2"/>
                </a:pPr>
                <a:endParaRPr lang="en-US" sz="2000" dirty="0" smtClean="0">
                  <a:latin typeface="Verdana" pitchFamily="34" charset="0"/>
                  <a:ea typeface="Verdana" pitchFamily="34" charset="0"/>
                </a:endParaRPr>
              </a:p>
              <a:p>
                <a:pPr marL="457200" lvl="0" indent="-457200">
                  <a:buSzPct val="100000"/>
                  <a:buFont typeface="+mj-lt"/>
                  <a:buAutoNum type="arabicPeriod" startAt="2"/>
                </a:pPr>
                <a:r>
                  <a:rPr lang="en-US" sz="2000" dirty="0" smtClean="0">
                    <a:latin typeface="Verdana" pitchFamily="34" charset="0"/>
                    <a:ea typeface="Verdana" pitchFamily="34" charset="0"/>
                  </a:rPr>
                  <a:t>There </a:t>
                </a:r>
                <a:r>
                  <a:rPr lang="en-US" sz="2000" dirty="0">
                    <a:latin typeface="Verdana" pitchFamily="34" charset="0"/>
                    <a:ea typeface="Verdana" pitchFamily="34" charset="0"/>
                  </a:rPr>
                  <a:t>are no values for </a:t>
                </a:r>
                <a14:m>
                  <m:oMath xmlns:m="http://schemas.openxmlformats.org/officeDocument/2006/math">
                    <m:r>
                      <a:rPr lang="en-US" sz="2000" i="1" dirty="0" smtClean="0">
                        <a:latin typeface="Cambria Math"/>
                      </a:rPr>
                      <m:t>𝑥</m:t>
                    </m:r>
                  </m:oMath>
                </a14:m>
                <a:r>
                  <a:rPr lang="en-US" sz="2000" dirty="0">
                    <a:latin typeface="Verdana" pitchFamily="34" charset="0"/>
                    <a:ea typeface="Verdana" pitchFamily="34" charset="0"/>
                  </a:rPr>
                  <a:t> that satisfy </a:t>
                </a:r>
                <a:r>
                  <a:rPr lang="en-US" sz="2000" dirty="0" smtClean="0">
                    <a:latin typeface="Verdana" pitchFamily="34" charset="0"/>
                    <a:ea typeface="Verdana" pitchFamily="34" charset="0"/>
                  </a:rPr>
                  <a:t>both </a:t>
                </a:r>
                <a:r>
                  <a:rPr lang="en-US" sz="2000" dirty="0">
                    <a:latin typeface="Verdana" pitchFamily="34" charset="0"/>
                    <a:ea typeface="Verdana" pitchFamily="34" charset="0"/>
                  </a:rPr>
                  <a:t>inequalities. Discuss with your partner why that is the case. Summarize your discussion</a:t>
                </a:r>
                <a:r>
                  <a:rPr lang="en-US" sz="2000" dirty="0" smtClean="0">
                    <a:latin typeface="Verdana" pitchFamily="34" charset="0"/>
                    <a:ea typeface="Verdana" pitchFamily="34" charset="0"/>
                  </a:rPr>
                  <a:t>.</a:t>
                </a:r>
              </a:p>
              <a:p>
                <a:pPr marL="457200" lvl="0" indent="-457200">
                  <a:buSzPct val="100000"/>
                  <a:buFont typeface="+mj-lt"/>
                  <a:buAutoNum type="arabicPeriod" startAt="2"/>
                </a:pPr>
                <a:endParaRPr lang="en-US" sz="2000" dirty="0">
                  <a:latin typeface="Verdana" pitchFamily="34" charset="0"/>
                  <a:ea typeface="Verdana" pitchFamily="34" charset="0"/>
                </a:endParaRPr>
              </a:p>
              <a:p>
                <a:pPr marL="457200" lvl="0" indent="-457200">
                  <a:buSzPct val="100000"/>
                  <a:buFont typeface="+mj-lt"/>
                  <a:buAutoNum type="arabicPeriod" startAt="2"/>
                </a:pPr>
                <a:endParaRPr lang="en-US" sz="2000" dirty="0" smtClean="0">
                  <a:latin typeface="Verdana" pitchFamily="34" charset="0"/>
                  <a:ea typeface="Verdana" pitchFamily="34" charset="0"/>
                </a:endParaRPr>
              </a:p>
              <a:p>
                <a:pPr marL="457200" lvl="0" indent="-457200">
                  <a:buSzPct val="100000"/>
                  <a:buFont typeface="+mj-lt"/>
                  <a:buAutoNum type="arabicPeriod" startAt="2"/>
                </a:pPr>
                <a:endParaRPr lang="en-US" sz="2000" dirty="0" smtClean="0">
                  <a:latin typeface="Verdana" pitchFamily="34" charset="0"/>
                  <a:ea typeface="Verdana" pitchFamily="34" charset="0"/>
                </a:endParaRPr>
              </a:p>
              <a:p>
                <a:pPr marL="457200" lvl="0" indent="-457200">
                  <a:buSzPct val="100000"/>
                  <a:buFont typeface="+mj-lt"/>
                  <a:buAutoNum type="arabicPeriod" startAt="2"/>
                </a:pPr>
                <a:r>
                  <a:rPr lang="en-US" sz="2000" dirty="0">
                    <a:latin typeface="Verdana" pitchFamily="34" charset="0"/>
                    <a:ea typeface="Verdana" pitchFamily="34" charset="0"/>
                  </a:rPr>
                  <a:t>Neither inequality had a solution of </a:t>
                </a:r>
                <a14:m>
                  <m:oMath xmlns:m="http://schemas.openxmlformats.org/officeDocument/2006/math">
                    <m:r>
                      <a:rPr lang="en-US" sz="2000" i="1" dirty="0">
                        <a:latin typeface="Cambria Math"/>
                      </a:rPr>
                      <m:t>9</m:t>
                    </m:r>
                  </m:oMath>
                </a14:m>
                <a:r>
                  <a:rPr lang="en-US" sz="2000" dirty="0">
                    <a:latin typeface="Verdana" pitchFamily="34" charset="0"/>
                    <a:ea typeface="Verdana" pitchFamily="34" charset="0"/>
                  </a:rPr>
                  <a:t>. How could the </a:t>
                </a:r>
                <a:r>
                  <a:rPr lang="en-US" sz="2000" dirty="0">
                    <a:latin typeface="Verdana" pitchFamily="34" charset="0"/>
                    <a:ea typeface="Verdana" pitchFamily="34" charset="0"/>
                  </a:rPr>
                  <a:t>inequalities</a:t>
                </a:r>
                <a:r>
                  <a:rPr lang="en-US" sz="2000" dirty="0" smtClean="0">
                    <a:latin typeface="Verdana" pitchFamily="34" charset="0"/>
                    <a:ea typeface="Verdana" pitchFamily="34" charset="0"/>
                  </a:rPr>
                  <a:t> </a:t>
                </a:r>
                <a14:m>
                  <m:oMath xmlns:m="http://schemas.openxmlformats.org/officeDocument/2006/math">
                    <m:r>
                      <a:rPr lang="en-US" sz="2000" i="1" dirty="0">
                        <a:latin typeface="Cambria Math"/>
                      </a:rPr>
                      <m:t>2</m:t>
                    </m:r>
                    <m:r>
                      <a:rPr lang="en-US" sz="2000" i="1" dirty="0">
                        <a:latin typeface="Cambria Math"/>
                      </a:rPr>
                      <m:t>𝑥</m:t>
                    </m:r>
                    <m:r>
                      <a:rPr lang="en-US" sz="2000" i="1" dirty="0">
                        <a:latin typeface="Cambria Math"/>
                      </a:rPr>
                      <m:t>−</m:t>
                    </m:r>
                    <m:r>
                      <a:rPr lang="en-US" sz="2000" i="1" dirty="0">
                        <a:latin typeface="Cambria Math"/>
                      </a:rPr>
                      <m:t>5</m:t>
                    </m:r>
                    <m:r>
                      <a:rPr lang="en-US" sz="2000" i="1" dirty="0">
                        <a:latin typeface="Cambria Math"/>
                      </a:rPr>
                      <m:t>&gt;</m:t>
                    </m:r>
                    <m:r>
                      <a:rPr lang="en-US" sz="2000" i="1" dirty="0">
                        <a:latin typeface="Cambria Math"/>
                      </a:rPr>
                      <m:t>13</m:t>
                    </m:r>
                  </m:oMath>
                </a14:m>
                <a:r>
                  <a:rPr lang="en-US" sz="2000" dirty="0" smtClean="0">
                    <a:latin typeface="Verdana" pitchFamily="34" charset="0"/>
                    <a:ea typeface="Verdana" pitchFamily="34" charset="0"/>
                  </a:rPr>
                  <a:t> </a:t>
                </a:r>
                <a:r>
                  <a:rPr lang="en-US" sz="2000" dirty="0">
                    <a:latin typeface="Verdana" pitchFamily="34" charset="0"/>
                    <a:ea typeface="Verdana" pitchFamily="34" charset="0"/>
                  </a:rPr>
                  <a:t>and </a:t>
                </a:r>
                <a14:m>
                  <m:oMath xmlns:m="http://schemas.openxmlformats.org/officeDocument/2006/math">
                    <m:r>
                      <a:rPr lang="en-US" sz="2000" i="1" dirty="0">
                        <a:latin typeface="Cambria Math"/>
                      </a:rPr>
                      <m:t>2</m:t>
                    </m:r>
                    <m:r>
                      <a:rPr lang="en-US" sz="2000" i="1" dirty="0">
                        <a:latin typeface="Cambria Math"/>
                      </a:rPr>
                      <m:t>𝑥</m:t>
                    </m:r>
                    <m:r>
                      <a:rPr lang="en-US" sz="2000" i="1" dirty="0">
                        <a:latin typeface="Cambria Math"/>
                      </a:rPr>
                      <m:t>−</m:t>
                    </m:r>
                    <m:r>
                      <a:rPr lang="en-US" sz="2000" i="1" dirty="0">
                        <a:latin typeface="Cambria Math"/>
                      </a:rPr>
                      <m:t>5</m:t>
                    </m:r>
                    <m:r>
                      <a:rPr lang="en-US" sz="2000" i="1" dirty="0">
                        <a:latin typeface="Cambria Math"/>
                      </a:rPr>
                      <m:t>&lt;</m:t>
                    </m:r>
                    <m:r>
                      <a:rPr lang="en-US" sz="2000" i="1" dirty="0">
                        <a:latin typeface="Cambria Math"/>
                      </a:rPr>
                      <m:t>13</m:t>
                    </m:r>
                  </m:oMath>
                </a14:m>
                <a:r>
                  <a:rPr lang="en-US" sz="2000" dirty="0">
                    <a:latin typeface="Verdana" pitchFamily="34" charset="0"/>
                    <a:ea typeface="Verdana" pitchFamily="34" charset="0"/>
                  </a:rPr>
                  <a:t> be rewritten so that </a:t>
                </a:r>
                <a14:m>
                  <m:oMath xmlns:m="http://schemas.openxmlformats.org/officeDocument/2006/math">
                    <m:r>
                      <a:rPr lang="en-US" sz="2000" i="1" dirty="0">
                        <a:latin typeface="Cambria Math"/>
                      </a:rPr>
                      <m:t>9</m:t>
                    </m:r>
                  </m:oMath>
                </a14:m>
                <a:r>
                  <a:rPr lang="en-US" sz="2000" dirty="0">
                    <a:latin typeface="Verdana" pitchFamily="34" charset="0"/>
                    <a:ea typeface="Verdana" pitchFamily="34" charset="0"/>
                  </a:rPr>
                  <a:t> would be part of the solution set</a:t>
                </a:r>
                <a:r>
                  <a:rPr lang="en-US" sz="2000" dirty="0">
                    <a:latin typeface="Verdana" pitchFamily="34" charset="0"/>
                    <a:ea typeface="Verdana" pitchFamily="34" charset="0"/>
                  </a:rPr>
                  <a:t>?</a:t>
                </a:r>
                <a:endParaRPr sz="2000" dirty="0">
                  <a:latin typeface="Verdana" pitchFamily="34" charset="0"/>
                  <a:ea typeface="Verdana" pitchFamily="34" charset="0"/>
                  <a:sym typeface="Verdana"/>
                </a:endParaRPr>
              </a:p>
            </p:txBody>
          </p:sp>
        </mc:Choice>
        <mc:Fallback>
          <p:sp>
            <p:nvSpPr>
              <p:cNvPr id="10" name="Google Shape;210;p8"/>
              <p:cNvSpPr txBox="1">
                <a:spLocks noRot="1" noChangeAspect="1" noMove="1" noResize="1" noEditPoints="1" noAdjustHandles="1" noChangeArrowheads="1" noChangeShapeType="1" noTextEdit="1"/>
              </p:cNvSpPr>
              <p:nvPr/>
            </p:nvSpPr>
            <p:spPr>
              <a:xfrm>
                <a:off x="534802" y="382422"/>
                <a:ext cx="11182126" cy="5016718"/>
              </a:xfrm>
              <a:prstGeom prst="rect">
                <a:avLst/>
              </a:prstGeom>
              <a:blipFill rotWithShape="1">
                <a:blip r:embed="rId4"/>
                <a:stretch>
                  <a:fillRect l="-600" t="-729" b="-1215"/>
                </a:stretch>
              </a:blipFill>
              <a:ln>
                <a:noFill/>
              </a:ln>
            </p:spPr>
            <p:txBody>
              <a:bodyPr/>
              <a:lstStyle/>
              <a:p>
                <a:r>
                  <a:rPr lang="en-PH">
                    <a:noFill/>
                  </a:rPr>
                  <a:t> </a:t>
                </a:r>
              </a:p>
            </p:txBody>
          </p:sp>
        </mc:Fallback>
      </mc:AlternateContent>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0"/>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3" name="Google Shape;243;p10"/>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ct val="96969"/>
              <a:buNone/>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244" name="Google Shape;244;p10" descr="Icon&#10;&#10;Description automatically generated"/>
          <p:cNvPicPr preferRelativeResize="0"/>
          <p:nvPr/>
        </p:nvPicPr>
        <p:blipFill rotWithShape="1">
          <a:blip r:embed="rId3">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a:t>
            </a:r>
            <a:r>
              <a:rPr lang="en-US" sz="1400" b="0" i="1" u="none" strike="noStrike" cap="none" dirty="0" smtClean="0">
                <a:solidFill>
                  <a:srgbClr val="000000"/>
                </a:solidFill>
                <a:latin typeface="Calibri"/>
                <a:ea typeface="Calibri"/>
                <a:cs typeface="Calibri"/>
                <a:sym typeface="Calibri"/>
              </a:rPr>
              <a:t>179</a:t>
            </a:r>
            <a:endParaRPr sz="1400" b="0" i="1" u="none" strike="noStrike" cap="none" dirty="0">
              <a:solidFill>
                <a:srgbClr val="000000"/>
              </a:solidFill>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1"/>
          <p:cNvSpPr/>
          <p:nvPr/>
        </p:nvSpPr>
        <p:spPr>
          <a:xfrm>
            <a:off x="0" y="-3721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mc:AlternateContent xmlns:mc="http://schemas.openxmlformats.org/markup-compatibility/2006">
        <mc:Choice xmlns:a14="http://schemas.microsoft.com/office/drawing/2010/main" Requires="a14">
          <p:sp>
            <p:nvSpPr>
              <p:cNvPr id="12" name="Rectangle 11"/>
              <p:cNvSpPr/>
              <p:nvPr/>
            </p:nvSpPr>
            <p:spPr>
              <a:xfrm>
                <a:off x="531951" y="1451621"/>
                <a:ext cx="11506169" cy="5016758"/>
              </a:xfrm>
              <a:prstGeom prst="rect">
                <a:avLst/>
              </a:prstGeom>
            </p:spPr>
            <p:txBody>
              <a:bodyPr wrap="square">
                <a:spAutoFit/>
              </a:bodyPr>
              <a:lstStyle/>
              <a:p>
                <a:pPr>
                  <a:spcAft>
                    <a:spcPts val="1200"/>
                  </a:spcAft>
                </a:pPr>
                <a:r>
                  <a:rPr lang="en-US" sz="2000" dirty="0" smtClean="0">
                    <a:latin typeface="Verdana" pitchFamily="34" charset="0"/>
                    <a:ea typeface="Verdana" pitchFamily="34" charset="0"/>
                  </a:rPr>
                  <a:t>Inequalities can be solved using similar strategies that are used for solving equations. </a:t>
                </a:r>
              </a:p>
              <a:p>
                <a:pPr marL="457200" indent="-457200">
                  <a:buFont typeface="+mj-lt"/>
                  <a:buAutoNum type="arabicPeriod"/>
                </a:pPr>
                <a:r>
                  <a:rPr lang="en-US" sz="2000" dirty="0" smtClean="0">
                    <a:latin typeface="Verdana" pitchFamily="34" charset="0"/>
                    <a:ea typeface="Verdana" pitchFamily="34" charset="0"/>
                  </a:rPr>
                  <a:t>The work for solving the equation </a:t>
                </a:r>
                <a14:m>
                  <m:oMath xmlns:m="http://schemas.openxmlformats.org/officeDocument/2006/math">
                    <m:r>
                      <a:rPr lang="en-US" sz="2000" i="1" dirty="0" smtClean="0">
                        <a:latin typeface="Cambria Math"/>
                        <a:ea typeface="Verdana" pitchFamily="34" charset="0"/>
                      </a:rPr>
                      <m:t>17</m:t>
                    </m:r>
                    <m:r>
                      <a:rPr lang="en-US" sz="2000" i="1" dirty="0" smtClean="0">
                        <a:latin typeface="Cambria Math"/>
                        <a:ea typeface="Verdana" pitchFamily="34" charset="0"/>
                      </a:rPr>
                      <m:t>=</m:t>
                    </m:r>
                    <m:r>
                      <a:rPr lang="en-US" sz="2000" i="1" dirty="0" smtClean="0">
                        <a:latin typeface="Cambria Math"/>
                        <a:ea typeface="Verdana" pitchFamily="34" charset="0"/>
                      </a:rPr>
                      <m:t>5</m:t>
                    </m:r>
                    <m:r>
                      <a:rPr lang="en-US" sz="2000" i="1" dirty="0" smtClean="0">
                        <a:latin typeface="Cambria Math"/>
                        <a:ea typeface="Verdana" pitchFamily="34" charset="0"/>
                      </a:rPr>
                      <m:t>𝑥</m:t>
                    </m:r>
                    <m:r>
                      <a:rPr lang="en-US" sz="2000" i="1" dirty="0" smtClean="0">
                        <a:latin typeface="Cambria Math"/>
                        <a:ea typeface="Verdana" pitchFamily="34" charset="0"/>
                      </a:rPr>
                      <m:t>+</m:t>
                    </m:r>
                    <m:r>
                      <a:rPr lang="en-US" sz="2000" i="1" dirty="0" smtClean="0">
                        <a:latin typeface="Cambria Math"/>
                        <a:ea typeface="Verdana" pitchFamily="34" charset="0"/>
                      </a:rPr>
                      <m:t>9</m:t>
                    </m:r>
                  </m:oMath>
                </a14:m>
                <a:r>
                  <a:rPr lang="en-US" sz="2000" dirty="0" smtClean="0">
                    <a:latin typeface="Verdana" pitchFamily="34" charset="0"/>
                    <a:ea typeface="Verdana" pitchFamily="34" charset="0"/>
                  </a:rPr>
                  <a:t> and the work for solving the inequality </a:t>
                </a:r>
                <a14:m>
                  <m:oMath xmlns:m="http://schemas.openxmlformats.org/officeDocument/2006/math">
                    <m:r>
                      <a:rPr lang="en-US" sz="2000" i="1" dirty="0" smtClean="0">
                        <a:latin typeface="Cambria Math"/>
                        <a:ea typeface="Verdana" pitchFamily="34" charset="0"/>
                      </a:rPr>
                      <m:t>17</m:t>
                    </m:r>
                    <m:r>
                      <a:rPr lang="en-US" sz="2000" i="1" dirty="0" smtClean="0">
                        <a:latin typeface="Cambria Math"/>
                        <a:ea typeface="Verdana" pitchFamily="34" charset="0"/>
                      </a:rPr>
                      <m:t>&lt;</m:t>
                    </m:r>
                    <m:r>
                      <a:rPr lang="en-US" sz="2000" i="1" dirty="0" smtClean="0">
                        <a:latin typeface="Cambria Math"/>
                        <a:ea typeface="Verdana" pitchFamily="34" charset="0"/>
                      </a:rPr>
                      <m:t>5</m:t>
                    </m:r>
                    <m:r>
                      <a:rPr lang="en-US" sz="2000" i="1" dirty="0" smtClean="0">
                        <a:latin typeface="Cambria Math"/>
                        <a:ea typeface="Verdana" pitchFamily="34" charset="0"/>
                      </a:rPr>
                      <m:t>𝑥</m:t>
                    </m:r>
                    <m:r>
                      <a:rPr lang="en-US" sz="2000" i="1" dirty="0" smtClean="0">
                        <a:latin typeface="Cambria Math"/>
                        <a:ea typeface="Verdana" pitchFamily="34" charset="0"/>
                      </a:rPr>
                      <m:t>+</m:t>
                    </m:r>
                    <m:r>
                      <a:rPr lang="en-US" sz="2000" i="1" dirty="0" smtClean="0">
                        <a:latin typeface="Cambria Math"/>
                        <a:ea typeface="Verdana" pitchFamily="34" charset="0"/>
                      </a:rPr>
                      <m:t>9</m:t>
                    </m:r>
                  </m:oMath>
                </a14:m>
                <a:r>
                  <a:rPr lang="en-US" sz="2000" dirty="0" smtClean="0">
                    <a:latin typeface="Verdana" pitchFamily="34" charset="0"/>
                    <a:ea typeface="Verdana" pitchFamily="34" charset="0"/>
                  </a:rPr>
                  <a:t> is shown.</a:t>
                </a:r>
              </a:p>
              <a:p>
                <a:pPr marL="457200" indent="-457200">
                  <a:buFont typeface="+mj-lt"/>
                  <a:buAutoNum type="arabicPeriod"/>
                </a:pPr>
                <a:endParaRPr lang="en-US" sz="2000" dirty="0" smtClean="0">
                  <a:latin typeface="Verdana" pitchFamily="34" charset="0"/>
                  <a:ea typeface="Verdana" pitchFamily="34" charset="0"/>
                </a:endParaRPr>
              </a:p>
              <a:p>
                <a:pPr marL="457200" indent="-457200">
                  <a:buFont typeface="+mj-lt"/>
                  <a:buAutoNum type="arabicPeriod"/>
                </a:pPr>
                <a:endParaRPr lang="en-US" sz="2000" dirty="0">
                  <a:latin typeface="Verdana" pitchFamily="34" charset="0"/>
                  <a:ea typeface="Verdana" pitchFamily="34" charset="0"/>
                </a:endParaRPr>
              </a:p>
              <a:p>
                <a:pPr marL="457200" indent="-457200">
                  <a:buFont typeface="+mj-lt"/>
                  <a:buAutoNum type="arabicPeriod"/>
                </a:pPr>
                <a:endParaRPr lang="en-US" sz="2000" dirty="0" smtClean="0">
                  <a:latin typeface="Verdana" pitchFamily="34" charset="0"/>
                  <a:ea typeface="Verdana" pitchFamily="34" charset="0"/>
                </a:endParaRPr>
              </a:p>
              <a:p>
                <a:pPr marL="457200" indent="-457200">
                  <a:buFont typeface="+mj-lt"/>
                  <a:buAutoNum type="arabicPeriod"/>
                </a:pPr>
                <a:endParaRPr lang="en-US" sz="2000" dirty="0">
                  <a:latin typeface="Verdana" pitchFamily="34" charset="0"/>
                  <a:ea typeface="Verdana" pitchFamily="34" charset="0"/>
                </a:endParaRPr>
              </a:p>
              <a:p>
                <a:pPr marL="457200" indent="-457200">
                  <a:buFont typeface="+mj-lt"/>
                  <a:buAutoNum type="arabicPeriod"/>
                </a:pPr>
                <a:endParaRPr lang="en-US" sz="2000" dirty="0" smtClean="0">
                  <a:latin typeface="Verdana" pitchFamily="34" charset="0"/>
                  <a:ea typeface="Verdana" pitchFamily="34" charset="0"/>
                </a:endParaRPr>
              </a:p>
              <a:p>
                <a:pPr marL="457200" indent="-457200">
                  <a:buFont typeface="+mj-lt"/>
                  <a:buAutoNum type="arabicPeriod"/>
                </a:pPr>
                <a:endParaRPr lang="en-US" sz="2000" dirty="0">
                  <a:latin typeface="Verdana" pitchFamily="34" charset="0"/>
                  <a:ea typeface="Verdana" pitchFamily="34" charset="0"/>
                </a:endParaRPr>
              </a:p>
              <a:p>
                <a:pPr marL="457200" indent="-457200">
                  <a:buFont typeface="+mj-lt"/>
                  <a:buAutoNum type="arabicPeriod"/>
                </a:pPr>
                <a:endParaRPr lang="en-US" sz="2000" dirty="0" smtClean="0">
                  <a:latin typeface="Verdana" pitchFamily="34" charset="0"/>
                  <a:ea typeface="Verdana" pitchFamily="34" charset="0"/>
                </a:endParaRPr>
              </a:p>
              <a:p>
                <a:pPr marL="457200" indent="-457200">
                  <a:spcAft>
                    <a:spcPts val="1200"/>
                  </a:spcAft>
                  <a:buFont typeface="+mj-lt"/>
                  <a:buAutoNum type="arabicPeriod"/>
                </a:pPr>
                <a:endParaRPr lang="en-US" sz="2000" dirty="0">
                  <a:latin typeface="Verdana" pitchFamily="34" charset="0"/>
                  <a:ea typeface="Verdana" pitchFamily="34" charset="0"/>
                </a:endParaRPr>
              </a:p>
              <a:p>
                <a:pPr marL="457200" indent="-457200">
                  <a:buFont typeface="+mj-lt"/>
                  <a:buAutoNum type="arabicPeriod"/>
                </a:pPr>
                <a:endParaRPr lang="en-US" sz="2000" dirty="0" smtClean="0">
                  <a:latin typeface="Verdana" pitchFamily="34" charset="0"/>
                  <a:ea typeface="Verdana" pitchFamily="34" charset="0"/>
                </a:endParaRPr>
              </a:p>
              <a:p>
                <a:pPr marL="457200" indent="-457200">
                  <a:buFont typeface="+mj-lt"/>
                  <a:buAutoNum type="arabicPeriod"/>
                </a:pPr>
                <a:endParaRPr lang="en-US" sz="2000" dirty="0" smtClean="0">
                  <a:latin typeface="Verdana" pitchFamily="34" charset="0"/>
                  <a:ea typeface="Verdana" pitchFamily="34" charset="0"/>
                </a:endParaRPr>
              </a:p>
              <a:p>
                <a:pPr marL="900113" indent="-457200">
                  <a:buFont typeface="+mj-lt"/>
                  <a:buAutoNum type="alphaLcPeriod"/>
                </a:pPr>
                <a:r>
                  <a:rPr lang="en-US" sz="2000" dirty="0" smtClean="0">
                    <a:latin typeface="Verdana" pitchFamily="34" charset="0"/>
                    <a:ea typeface="Verdana" pitchFamily="34" charset="0"/>
                  </a:rPr>
                  <a:t>Complete </a:t>
                </a:r>
                <a:r>
                  <a:rPr lang="en-US" sz="2000" dirty="0">
                    <a:latin typeface="Verdana" pitchFamily="34" charset="0"/>
                    <a:ea typeface="Verdana" pitchFamily="34" charset="0"/>
                  </a:rPr>
                  <a:t>the table with the justification of each step used for solving the equation and the inequality</a:t>
                </a:r>
                <a:r>
                  <a:rPr lang="en-US" sz="2000" dirty="0" smtClean="0">
                    <a:latin typeface="Verdana" pitchFamily="34" charset="0"/>
                    <a:ea typeface="Verdana" pitchFamily="34" charset="0"/>
                  </a:rPr>
                  <a:t>.</a:t>
                </a:r>
                <a:endParaRPr lang="en-US" sz="2000" dirty="0">
                  <a:latin typeface="Verdana" pitchFamily="34" charset="0"/>
                  <a:ea typeface="Verdana" pitchFamily="34" charset="0"/>
                </a:endParaRPr>
              </a:p>
            </p:txBody>
          </p:sp>
        </mc:Choice>
        <mc:Fallback>
          <p:sp>
            <p:nvSpPr>
              <p:cNvPr id="12" name="Rectangle 11"/>
              <p:cNvSpPr>
                <a:spLocks noRot="1" noChangeAspect="1" noMove="1" noResize="1" noEditPoints="1" noAdjustHandles="1" noChangeArrowheads="1" noChangeShapeType="1" noTextEdit="1"/>
              </p:cNvSpPr>
              <p:nvPr/>
            </p:nvSpPr>
            <p:spPr>
              <a:xfrm>
                <a:off x="531951" y="1451621"/>
                <a:ext cx="11506169" cy="5016758"/>
              </a:xfrm>
              <a:prstGeom prst="rect">
                <a:avLst/>
              </a:prstGeom>
              <a:blipFill rotWithShape="1">
                <a:blip r:embed="rId3"/>
                <a:stretch>
                  <a:fillRect l="-530" t="-608" b="-1215"/>
                </a:stretch>
              </a:blipFill>
            </p:spPr>
            <p:txBody>
              <a:bodyPr/>
              <a:lstStyle/>
              <a:p>
                <a:r>
                  <a:rPr lang="en-PH">
                    <a:noFill/>
                  </a:rPr>
                  <a:t> </a:t>
                </a:r>
              </a:p>
            </p:txBody>
          </p:sp>
        </mc:Fallback>
      </mc:AlternateContent>
      <p:sp>
        <p:nvSpPr>
          <p:cNvPr id="253" name="Google Shape;253;p11"/>
          <p:cNvSpPr txBox="1"/>
          <p:nvPr/>
        </p:nvSpPr>
        <p:spPr>
          <a:xfrm>
            <a:off x="1154008" y="0"/>
            <a:ext cx="10703882"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3600" b="1" i="0" u="none" strike="noStrike" cap="none" dirty="0">
                <a:solidFill>
                  <a:srgbClr val="54B5D1"/>
                </a:solidFill>
                <a:latin typeface="Verdana"/>
                <a:ea typeface="Verdana"/>
                <a:cs typeface="Verdana"/>
                <a:sym typeface="Verdana"/>
              </a:rPr>
              <a:t>5.1.3 Guided Practice: </a:t>
            </a:r>
            <a:r>
              <a:rPr lang="en-US" sz="3600" b="1" i="0" u="none" strike="noStrike" cap="none" dirty="0" smtClean="0">
                <a:solidFill>
                  <a:srgbClr val="54B5D1"/>
                </a:solidFill>
                <a:latin typeface="Verdana"/>
                <a:ea typeface="Verdana"/>
                <a:cs typeface="Verdana"/>
                <a:sym typeface="Verdana"/>
              </a:rPr>
              <a:t/>
            </a:r>
            <a:br>
              <a:rPr lang="en-US" sz="3600" b="1" i="0" u="none" strike="noStrike" cap="none" dirty="0" smtClean="0">
                <a:solidFill>
                  <a:srgbClr val="54B5D1"/>
                </a:solidFill>
                <a:latin typeface="Verdana"/>
                <a:ea typeface="Verdana"/>
                <a:cs typeface="Verdana"/>
                <a:sym typeface="Verdana"/>
              </a:rPr>
            </a:br>
            <a:r>
              <a:rPr lang="en-US" sz="3600" b="1" i="0" u="none" strike="noStrike" cap="none" dirty="0" smtClean="0">
                <a:solidFill>
                  <a:srgbClr val="54B5D1"/>
                </a:solidFill>
                <a:latin typeface="Verdana"/>
                <a:ea typeface="Verdana"/>
                <a:cs typeface="Verdana"/>
                <a:sym typeface="Verdana"/>
              </a:rPr>
              <a:t>Solving </a:t>
            </a:r>
            <a:r>
              <a:rPr lang="en-US" sz="3600" b="1" i="0" u="none" strike="noStrike" cap="none" dirty="0">
                <a:solidFill>
                  <a:srgbClr val="54B5D1"/>
                </a:solidFill>
                <a:latin typeface="Verdana"/>
                <a:ea typeface="Verdana"/>
                <a:cs typeface="Verdana"/>
                <a:sym typeface="Verdana"/>
              </a:rPr>
              <a:t>Two-Step Inequalities</a:t>
            </a:r>
            <a:endParaRPr dirty="0"/>
          </a:p>
        </p:txBody>
      </p:sp>
      <p:pic>
        <p:nvPicPr>
          <p:cNvPr id="254" name="Google Shape;254;p11"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54900" y="290415"/>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mc:Choice xmlns:a14="http://schemas.microsoft.com/office/drawing/2010/main" Requires="a14">
          <p:graphicFrame>
            <p:nvGraphicFramePr>
              <p:cNvPr id="256" name="Google Shape;256;p11"/>
              <p:cNvGraphicFramePr/>
              <p:nvPr>
                <p:extLst>
                  <p:ext uri="{D42A27DB-BD31-4B8C-83A1-F6EECF244321}">
                    <p14:modId xmlns:p14="http://schemas.microsoft.com/office/powerpoint/2010/main" val="1896510938"/>
                  </p:ext>
                </p:extLst>
              </p:nvPr>
            </p:nvGraphicFramePr>
            <p:xfrm>
              <a:off x="2470272" y="2746869"/>
              <a:ext cx="7629525" cy="2753567"/>
            </p:xfrm>
            <a:graphic>
              <a:graphicData uri="http://schemas.openxmlformats.org/drawingml/2006/table">
                <a:tbl>
                  <a:tblPr firstRow="1" bandRow="1">
                    <a:noFill/>
                    <a:tableStyleId>{14BEB874-8EB6-4976-96A3-DF805651A6B6}</a:tableStyleId>
                  </a:tblPr>
                  <a:tblGrid>
                    <a:gridCol w="2543175"/>
                    <a:gridCol w="2543175"/>
                    <a:gridCol w="2543175"/>
                  </a:tblGrid>
                  <a:tr h="487675">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Equation</a:t>
                          </a:r>
                          <a:endParaRPr sz="2000" b="1" u="none" strike="noStrike" cap="none" dirty="0">
                            <a:latin typeface="Verdana"/>
                            <a:ea typeface="Verdana"/>
                            <a:cs typeface="Verdana"/>
                            <a:sym typeface="Verdana"/>
                          </a:endParaRPr>
                        </a:p>
                      </a:txBody>
                      <a:tcPr marL="91450" marR="91450" marT="914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Justification</a:t>
                          </a:r>
                          <a:endParaRPr sz="2000" b="1" u="none" strike="noStrike" cap="none">
                            <a:latin typeface="Verdana"/>
                            <a:ea typeface="Verdana"/>
                            <a:cs typeface="Verdana"/>
                            <a:sym typeface="Verdana"/>
                          </a:endParaRPr>
                        </a:p>
                      </a:txBody>
                      <a:tcPr marL="91450" marR="91450" marT="914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Inequality</a:t>
                          </a:r>
                          <a:endParaRPr sz="2000" b="1" u="none" strike="noStrike" cap="none">
                            <a:latin typeface="Verdana"/>
                            <a:ea typeface="Verdana"/>
                            <a:cs typeface="Verdana"/>
                            <a:sym typeface="Verdana"/>
                          </a:endParaRPr>
                        </a:p>
                      </a:txBody>
                      <a:tcPr marL="91450" marR="91450" marT="914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r>
                  <a:tr h="441950">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dirty="0" smtClean="0">
                                    <a:latin typeface="Cambria Math"/>
                                    <a:ea typeface="Cambria Math"/>
                                    <a:cs typeface="Cambria Math"/>
                                    <a:sym typeface="Cambria Math"/>
                                  </a:rPr>
                                  <m:t>17</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5</m:t>
                                </m:r>
                                <m:r>
                                  <a:rPr lang="en-US" sz="2000" i="1" dirty="0" smtClean="0">
                                    <a:latin typeface="Cambria Math"/>
                                    <a:ea typeface="Cambria Math"/>
                                    <a:cs typeface="Cambria Math"/>
                                    <a:sym typeface="Cambria Math"/>
                                  </a:rPr>
                                  <m:t>𝑥</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9</m:t>
                                </m:r>
                              </m:oMath>
                            </m:oMathPara>
                          </a14:m>
                          <a:endParaRPr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rowSpan="4">
                      <a:txBody>
                        <a:bodyPr/>
                        <a:lstStyle/>
                        <a:p>
                          <a:pPr marL="0" marR="0" lvl="0" indent="0" algn="l" rtl="0">
                            <a:lnSpc>
                              <a:spcPct val="100000"/>
                            </a:lnSpc>
                            <a:spcBef>
                              <a:spcPts val="0"/>
                            </a:spcBef>
                            <a:spcAft>
                              <a:spcPts val="0"/>
                            </a:spcAft>
                            <a:buNone/>
                          </a:pPr>
                          <a:r>
                            <a:rPr lang="en-US" sz="2000" u="none" strike="noStrike" cap="none" dirty="0">
                              <a:latin typeface="Verdana"/>
                              <a:ea typeface="Verdana"/>
                              <a:cs typeface="Verdana"/>
                              <a:sym typeface="Verdana"/>
                            </a:rPr>
                            <a:t>______________</a:t>
                          </a:r>
                          <a:endParaRPr sz="2000" u="none" strike="noStrike" cap="none" dirty="0">
                            <a:latin typeface="Verdana"/>
                            <a:ea typeface="Verdana"/>
                            <a:cs typeface="Verdana"/>
                            <a:sym typeface="Verdana"/>
                          </a:endParaRPr>
                        </a:p>
                        <a:p>
                          <a:pPr marL="0" marR="0" lvl="0" indent="0" algn="l" rtl="0">
                            <a:lnSpc>
                              <a:spcPct val="100000"/>
                            </a:lnSpc>
                            <a:spcBef>
                              <a:spcPts val="900"/>
                            </a:spcBef>
                            <a:spcAft>
                              <a:spcPts val="0"/>
                            </a:spcAft>
                            <a:buNone/>
                          </a:pPr>
                          <a:r>
                            <a:rPr lang="en-US" sz="2000" u="none" strike="noStrike" cap="none" dirty="0">
                              <a:latin typeface="Verdana"/>
                              <a:ea typeface="Verdana"/>
                              <a:cs typeface="Verdana"/>
                              <a:sym typeface="Verdana"/>
                            </a:rPr>
                            <a:t>______________</a:t>
                          </a:r>
                          <a:endParaRPr sz="2000" u="none" strike="noStrike" cap="none" dirty="0">
                            <a:latin typeface="Verdana"/>
                            <a:ea typeface="Verdana"/>
                            <a:cs typeface="Verdana"/>
                            <a:sym typeface="Verdana"/>
                          </a:endParaRPr>
                        </a:p>
                        <a:p>
                          <a:pPr marL="0" marR="0" lvl="0" indent="0" algn="l" rtl="0">
                            <a:lnSpc>
                              <a:spcPct val="100000"/>
                            </a:lnSpc>
                            <a:spcBef>
                              <a:spcPts val="900"/>
                            </a:spcBef>
                            <a:spcAft>
                              <a:spcPts val="0"/>
                            </a:spcAft>
                            <a:buNone/>
                          </a:pPr>
                          <a:r>
                            <a:rPr lang="en-US" sz="2000" u="none" strike="noStrike" cap="none" dirty="0">
                              <a:latin typeface="Verdana"/>
                              <a:ea typeface="Verdana"/>
                              <a:cs typeface="Verdana"/>
                              <a:sym typeface="Verdana"/>
                            </a:rPr>
                            <a:t>______________</a:t>
                          </a:r>
                          <a:endParaRPr sz="2000" u="none" strike="noStrike" cap="none" dirty="0">
                            <a:latin typeface="Verdana"/>
                            <a:ea typeface="Verdana"/>
                            <a:cs typeface="Verdana"/>
                            <a:sym typeface="Verdana"/>
                          </a:endParaRPr>
                        </a:p>
                        <a:p>
                          <a:pPr marL="0" marR="0" lvl="0" indent="0" algn="l" rtl="0">
                            <a:lnSpc>
                              <a:spcPct val="100000"/>
                            </a:lnSpc>
                            <a:spcBef>
                              <a:spcPts val="900"/>
                            </a:spcBef>
                            <a:spcAft>
                              <a:spcPts val="0"/>
                            </a:spcAft>
                            <a:buNone/>
                          </a:pPr>
                          <a:r>
                            <a:rPr lang="en-US" sz="2000" u="none" strike="noStrike" cap="none" dirty="0">
                              <a:latin typeface="Verdana"/>
                              <a:ea typeface="Verdana"/>
                              <a:cs typeface="Verdana"/>
                              <a:sym typeface="Verdana"/>
                            </a:rPr>
                            <a:t>______________</a:t>
                          </a:r>
                          <a:endParaRPr sz="2000" u="none" strike="noStrike" cap="none" dirty="0">
                            <a:latin typeface="Verdana"/>
                            <a:ea typeface="Verdana"/>
                            <a:cs typeface="Verdana"/>
                            <a:sym typeface="Verdana"/>
                          </a:endParaRPr>
                        </a:p>
                      </a:txBody>
                      <a:tcPr marL="137150" marR="91450" marT="1371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dirty="0" smtClean="0">
                                    <a:latin typeface="Cambria Math"/>
                                    <a:ea typeface="Cambria Math"/>
                                    <a:cs typeface="Cambria Math"/>
                                    <a:sym typeface="Cambria Math"/>
                                  </a:rPr>
                                  <m:t>17</m:t>
                                </m:r>
                                <m:r>
                                  <a:rPr lang="en-US" sz="2000" i="1" dirty="0" smtClean="0">
                                    <a:latin typeface="Cambria Math"/>
                                    <a:ea typeface="Cambria Math"/>
                                    <a:cs typeface="Cambria Math"/>
                                    <a:sym typeface="Cambria Math"/>
                                  </a:rPr>
                                  <m:t>&lt;</m:t>
                                </m:r>
                                <m:r>
                                  <a:rPr lang="en-US" sz="2000" i="1" dirty="0" smtClean="0">
                                    <a:latin typeface="Cambria Math"/>
                                    <a:ea typeface="Cambria Math"/>
                                    <a:cs typeface="Cambria Math"/>
                                    <a:sym typeface="Cambria Math"/>
                                  </a:rPr>
                                  <m:t>5</m:t>
                                </m:r>
                                <m:r>
                                  <a:rPr lang="en-US" sz="2000" i="1" dirty="0" smtClean="0">
                                    <a:latin typeface="Cambria Math"/>
                                    <a:ea typeface="Cambria Math"/>
                                    <a:cs typeface="Cambria Math"/>
                                    <a:sym typeface="Cambria Math"/>
                                  </a:rPr>
                                  <m:t>𝑥</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9</m:t>
                                </m:r>
                              </m:oMath>
                            </m:oMathPara>
                          </a14:m>
                          <a:endParaRPr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441950">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9</m:t>
                                </m:r>
                                <m:r>
                                  <a:rPr lang="en-US" sz="2000" i="1" dirty="0" smtClean="0">
                                    <a:latin typeface="Cambria Math"/>
                                    <a:ea typeface="Cambria Math"/>
                                    <a:cs typeface="Cambria Math"/>
                                    <a:sym typeface="Cambria Math"/>
                                  </a:rPr>
                                  <m:t>          </m:t>
                                </m:r>
                                <m:r>
                                  <a:rPr lang="en-US" sz="2000" i="1" dirty="0" smtClean="0">
                                    <a:latin typeface="Cambria Math"/>
                                    <a:ea typeface="Cambria Math"/>
                                    <a:cs typeface="Cambria Math"/>
                                    <a:sym typeface="Cambria Math"/>
                                  </a:rPr>
                                  <m:t>	</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9</m:t>
                                </m:r>
                              </m:oMath>
                            </m:oMathPara>
                          </a14:m>
                          <a:endParaRPr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9</m:t>
                                </m:r>
                                <m:r>
                                  <a:rPr lang="en-US" sz="2000" i="1" dirty="0" smtClean="0">
                                    <a:latin typeface="Cambria Math"/>
                                    <a:ea typeface="Cambria Math"/>
                                    <a:cs typeface="Cambria Math"/>
                                    <a:sym typeface="Cambria Math"/>
                                  </a:rPr>
                                  <m:t>          </m:t>
                                </m:r>
                                <m:r>
                                  <a:rPr lang="en-US" sz="2000" i="1" dirty="0" smtClean="0">
                                    <a:latin typeface="Cambria Math"/>
                                    <a:ea typeface="Cambria Math"/>
                                    <a:cs typeface="Cambria Math"/>
                                    <a:sym typeface="Cambria Math"/>
                                  </a:rPr>
                                  <m:t>	</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9</m:t>
                                </m:r>
                              </m:oMath>
                            </m:oMathPara>
                          </a14:m>
                          <a:endParaRPr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574475">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f>
                                  <m:fPr>
                                    <m:ctrlPr>
                                      <a:rPr lang="en-US" sz="2000" i="1" dirty="0" smtClean="0">
                                        <a:latin typeface="Cambria Math"/>
                                        <a:ea typeface="Cambria Math"/>
                                        <a:sym typeface="Cambria Math"/>
                                      </a:rPr>
                                    </m:ctrlPr>
                                  </m:fPr>
                                  <m:num>
                                    <m:r>
                                      <a:rPr lang="en-US" sz="2000" b="0" i="1" dirty="0" smtClean="0">
                                        <a:latin typeface="Cambria Math"/>
                                        <a:ea typeface="Cambria Math"/>
                                        <a:sym typeface="Cambria Math"/>
                                      </a:rPr>
                                      <m:t>8</m:t>
                                    </m:r>
                                  </m:num>
                                  <m:den>
                                    <m:r>
                                      <a:rPr lang="en-US" sz="2000" b="0" i="1" dirty="0" smtClean="0">
                                        <a:latin typeface="Cambria Math"/>
                                        <a:ea typeface="Cambria Math"/>
                                        <a:sym typeface="Cambria Math"/>
                                      </a:rPr>
                                      <m:t>5</m:t>
                                    </m:r>
                                  </m:den>
                                </m:f>
                                <m:r>
                                  <a:rPr lang="en-US" sz="2000" i="1" dirty="0" smtClean="0">
                                    <a:latin typeface="Cambria Math"/>
                                    <a:ea typeface="Cambria Math"/>
                                    <a:cs typeface="Cambria Math"/>
                                    <a:sym typeface="Cambria Math"/>
                                  </a:rPr>
                                  <m:t>=</m:t>
                                </m:r>
                                <m:f>
                                  <m:fPr>
                                    <m:ctrlPr>
                                      <a:rPr lang="en-US" sz="2000" i="1" dirty="0" smtClean="0">
                                        <a:latin typeface="Cambria Math"/>
                                        <a:ea typeface="Cambria Math"/>
                                        <a:sym typeface="Cambria Math"/>
                                      </a:rPr>
                                    </m:ctrlPr>
                                  </m:fPr>
                                  <m:num>
                                    <m:r>
                                      <a:rPr lang="en-US" sz="2000" b="0" i="1" dirty="0" smtClean="0">
                                        <a:latin typeface="Cambria Math"/>
                                        <a:ea typeface="Cambria Math"/>
                                        <a:sym typeface="Cambria Math"/>
                                      </a:rPr>
                                      <m:t>5</m:t>
                                    </m:r>
                                    <m:r>
                                      <a:rPr lang="en-US" sz="2000" b="0" i="1" dirty="0" smtClean="0">
                                        <a:latin typeface="Cambria Math"/>
                                        <a:ea typeface="Cambria Math"/>
                                        <a:sym typeface="Cambria Math"/>
                                      </a:rPr>
                                      <m:t>𝑥</m:t>
                                    </m:r>
                                  </m:num>
                                  <m:den>
                                    <m:r>
                                      <a:rPr lang="en-US" sz="2000" b="0" i="1" dirty="0" smtClean="0">
                                        <a:latin typeface="Cambria Math"/>
                                        <a:ea typeface="Cambria Math"/>
                                        <a:sym typeface="Cambria Math"/>
                                      </a:rPr>
                                      <m:t>5</m:t>
                                    </m:r>
                                  </m:den>
                                </m:f>
                              </m:oMath>
                            </m:oMathPara>
                          </a14:m>
                          <a:endParaRPr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f>
                                  <m:fPr>
                                    <m:ctrlPr>
                                      <a:rPr lang="ar-AE" sz="2000" i="1" dirty="0" smtClean="0">
                                        <a:latin typeface="Cambria Math"/>
                                        <a:ea typeface="Cambria Math"/>
                                        <a:sym typeface="Cambria Math"/>
                                      </a:rPr>
                                    </m:ctrlPr>
                                  </m:fPr>
                                  <m:num>
                                    <m:r>
                                      <a:rPr lang="ar-AE" sz="2000" b="0" i="1" dirty="0" smtClean="0">
                                        <a:latin typeface="Cambria Math"/>
                                        <a:ea typeface="Cambria Math"/>
                                        <a:sym typeface="Cambria Math"/>
                                      </a:rPr>
                                      <m:t>8</m:t>
                                    </m:r>
                                  </m:num>
                                  <m:den>
                                    <m:r>
                                      <a:rPr lang="ar-AE" sz="2000" b="0" i="1" dirty="0" smtClean="0">
                                        <a:latin typeface="Cambria Math"/>
                                        <a:ea typeface="Cambria Math"/>
                                        <a:sym typeface="Cambria Math"/>
                                      </a:rPr>
                                      <m:t>5</m:t>
                                    </m:r>
                                  </m:den>
                                </m:f>
                                <m:r>
                                  <a:rPr lang="en-US" sz="2000" b="0" i="1" dirty="0" smtClean="0">
                                    <a:latin typeface="Cambria Math"/>
                                    <a:ea typeface="Cambria Math"/>
                                    <a:cs typeface="Cambria Math"/>
                                    <a:sym typeface="Cambria Math"/>
                                  </a:rPr>
                                  <m:t>&lt;</m:t>
                                </m:r>
                                <m:f>
                                  <m:fPr>
                                    <m:ctrlPr>
                                      <a:rPr lang="ar-AE" sz="2000" i="1" dirty="0" smtClean="0">
                                        <a:latin typeface="Cambria Math"/>
                                        <a:ea typeface="Cambria Math"/>
                                        <a:sym typeface="Cambria Math"/>
                                      </a:rPr>
                                    </m:ctrlPr>
                                  </m:fPr>
                                  <m:num>
                                    <m:r>
                                      <a:rPr lang="ar-AE" sz="2000" b="0" i="1" dirty="0" smtClean="0">
                                        <a:latin typeface="Cambria Math"/>
                                        <a:ea typeface="Cambria Math"/>
                                        <a:sym typeface="Cambria Math"/>
                                      </a:rPr>
                                      <m:t>5</m:t>
                                    </m:r>
                                    <m:r>
                                      <a:rPr lang="en-US" sz="2000" b="0" i="1" dirty="0" smtClean="0">
                                        <a:latin typeface="Cambria Math"/>
                                        <a:ea typeface="Cambria Math"/>
                                        <a:sym typeface="Cambria Math"/>
                                      </a:rPr>
                                      <m:t>𝑥</m:t>
                                    </m:r>
                                  </m:num>
                                  <m:den>
                                    <m:r>
                                      <a:rPr lang="ar-AE" sz="2000" b="0" i="1" dirty="0" smtClean="0">
                                        <a:latin typeface="Cambria Math"/>
                                        <a:ea typeface="Cambria Math"/>
                                        <a:sym typeface="Cambria Math"/>
                                      </a:rPr>
                                      <m:t>5</m:t>
                                    </m:r>
                                  </m:den>
                                </m:f>
                              </m:oMath>
                            </m:oMathPara>
                          </a14:m>
                          <a:endParaRPr lang="ar-AE"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441950">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dirty="0" smtClean="0">
                                    <a:latin typeface="Cambria Math"/>
                                    <a:ea typeface="Cambria Math"/>
                                    <a:cs typeface="Cambria Math"/>
                                    <a:sym typeface="Cambria Math"/>
                                  </a:rPr>
                                  <m:t>1</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6</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𝑥</m:t>
                                </m:r>
                              </m:oMath>
                            </m:oMathPara>
                          </a14:m>
                          <a:endParaRPr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dirty="0" smtClean="0">
                                    <a:latin typeface="Cambria Math"/>
                                    <a:ea typeface="Cambria Math"/>
                                    <a:cs typeface="Cambria Math"/>
                                    <a:sym typeface="Cambria Math"/>
                                  </a:rPr>
                                  <m:t>1</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6</m:t>
                                </m:r>
                                <m:r>
                                  <a:rPr lang="en-US" sz="2000" i="1" dirty="0" smtClean="0">
                                    <a:latin typeface="Cambria Math"/>
                                    <a:ea typeface="Cambria Math"/>
                                    <a:cs typeface="Cambria Math"/>
                                    <a:sym typeface="Cambria Math"/>
                                  </a:rPr>
                                  <m:t>&lt;</m:t>
                                </m:r>
                                <m:r>
                                  <a:rPr lang="en-US" sz="2000" i="1" dirty="0" smtClean="0">
                                    <a:latin typeface="Cambria Math"/>
                                    <a:ea typeface="Cambria Math"/>
                                    <a:cs typeface="Cambria Math"/>
                                    <a:sym typeface="Cambria Math"/>
                                  </a:rPr>
                                  <m:t>𝑥</m:t>
                                </m:r>
                              </m:oMath>
                            </m:oMathPara>
                          </a14:m>
                          <a:endParaRPr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mc:Choice>
        <mc:Fallback>
          <p:graphicFrame>
            <p:nvGraphicFramePr>
              <p:cNvPr id="256" name="Google Shape;256;p11"/>
              <p:cNvGraphicFramePr/>
              <p:nvPr>
                <p:extLst>
                  <p:ext uri="{D42A27DB-BD31-4B8C-83A1-F6EECF244321}">
                    <p14:modId xmlns:p14="http://schemas.microsoft.com/office/powerpoint/2010/main" val="1896510938"/>
                  </p:ext>
                </p:extLst>
              </p:nvPr>
            </p:nvGraphicFramePr>
            <p:xfrm>
              <a:off x="2470272" y="2746869"/>
              <a:ext cx="7629525" cy="2753567"/>
            </p:xfrm>
            <a:graphic>
              <a:graphicData uri="http://schemas.openxmlformats.org/drawingml/2006/table">
                <a:tbl>
                  <a:tblPr firstRow="1" bandRow="1">
                    <a:noFill/>
                    <a:tableStyleId>{14BEB874-8EB6-4976-96A3-DF805651A6B6}</a:tableStyleId>
                  </a:tblPr>
                  <a:tblGrid>
                    <a:gridCol w="2543175"/>
                    <a:gridCol w="2543175"/>
                    <a:gridCol w="2543175"/>
                  </a:tblGrid>
                  <a:tr h="487700">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Equation</a:t>
                          </a:r>
                          <a:endParaRPr sz="2000" b="1" u="none" strike="noStrike" cap="none" dirty="0">
                            <a:latin typeface="Verdana"/>
                            <a:ea typeface="Verdana"/>
                            <a:cs typeface="Verdana"/>
                            <a:sym typeface="Verdana"/>
                          </a:endParaRPr>
                        </a:p>
                      </a:txBody>
                      <a:tcPr marL="91450" marR="91450" marT="914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Justification</a:t>
                          </a:r>
                          <a:endParaRPr sz="2000" b="1" u="none" strike="noStrike" cap="none">
                            <a:latin typeface="Verdana"/>
                            <a:ea typeface="Verdana"/>
                            <a:cs typeface="Verdana"/>
                            <a:sym typeface="Verdana"/>
                          </a:endParaRPr>
                        </a:p>
                      </a:txBody>
                      <a:tcPr marL="91450" marR="91450" marT="914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Inequality</a:t>
                          </a:r>
                          <a:endParaRPr sz="2000" b="1" u="none" strike="noStrike" cap="none">
                            <a:latin typeface="Verdana"/>
                            <a:ea typeface="Verdana"/>
                            <a:cs typeface="Verdana"/>
                            <a:sym typeface="Verdana"/>
                          </a:endParaRPr>
                        </a:p>
                      </a:txBody>
                      <a:tcPr marL="91450" marR="91450" marT="914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r>
                  <a:tr h="487695">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01250" r="-200240" b="-365000"/>
                          </a:stretch>
                        </a:blipFill>
                      </a:tcPr>
                    </a:tc>
                    <a:tc rowSpan="4">
                      <a:txBody>
                        <a:bodyPr/>
                        <a:lstStyle/>
                        <a:p>
                          <a:pPr marL="0" marR="0" lvl="0" indent="0" algn="l" rtl="0">
                            <a:lnSpc>
                              <a:spcPct val="100000"/>
                            </a:lnSpc>
                            <a:spcBef>
                              <a:spcPts val="0"/>
                            </a:spcBef>
                            <a:spcAft>
                              <a:spcPts val="0"/>
                            </a:spcAft>
                            <a:buNone/>
                          </a:pPr>
                          <a:r>
                            <a:rPr lang="en-US" sz="2000" u="none" strike="noStrike" cap="none" dirty="0">
                              <a:latin typeface="Verdana"/>
                              <a:ea typeface="Verdana"/>
                              <a:cs typeface="Verdana"/>
                              <a:sym typeface="Verdana"/>
                            </a:rPr>
                            <a:t>______________</a:t>
                          </a:r>
                          <a:endParaRPr sz="2000" u="none" strike="noStrike" cap="none" dirty="0">
                            <a:latin typeface="Verdana"/>
                            <a:ea typeface="Verdana"/>
                            <a:cs typeface="Verdana"/>
                            <a:sym typeface="Verdana"/>
                          </a:endParaRPr>
                        </a:p>
                        <a:p>
                          <a:pPr marL="0" marR="0" lvl="0" indent="0" algn="l" rtl="0">
                            <a:lnSpc>
                              <a:spcPct val="100000"/>
                            </a:lnSpc>
                            <a:spcBef>
                              <a:spcPts val="900"/>
                            </a:spcBef>
                            <a:spcAft>
                              <a:spcPts val="0"/>
                            </a:spcAft>
                            <a:buNone/>
                          </a:pPr>
                          <a:r>
                            <a:rPr lang="en-US" sz="2000" u="none" strike="noStrike" cap="none" dirty="0">
                              <a:latin typeface="Verdana"/>
                              <a:ea typeface="Verdana"/>
                              <a:cs typeface="Verdana"/>
                              <a:sym typeface="Verdana"/>
                            </a:rPr>
                            <a:t>______________</a:t>
                          </a:r>
                          <a:endParaRPr sz="2000" u="none" strike="noStrike" cap="none" dirty="0">
                            <a:latin typeface="Verdana"/>
                            <a:ea typeface="Verdana"/>
                            <a:cs typeface="Verdana"/>
                            <a:sym typeface="Verdana"/>
                          </a:endParaRPr>
                        </a:p>
                        <a:p>
                          <a:pPr marL="0" marR="0" lvl="0" indent="0" algn="l" rtl="0">
                            <a:lnSpc>
                              <a:spcPct val="100000"/>
                            </a:lnSpc>
                            <a:spcBef>
                              <a:spcPts val="900"/>
                            </a:spcBef>
                            <a:spcAft>
                              <a:spcPts val="0"/>
                            </a:spcAft>
                            <a:buNone/>
                          </a:pPr>
                          <a:r>
                            <a:rPr lang="en-US" sz="2000" u="none" strike="noStrike" cap="none" dirty="0">
                              <a:latin typeface="Verdana"/>
                              <a:ea typeface="Verdana"/>
                              <a:cs typeface="Verdana"/>
                              <a:sym typeface="Verdana"/>
                            </a:rPr>
                            <a:t>______________</a:t>
                          </a:r>
                          <a:endParaRPr sz="2000" u="none" strike="noStrike" cap="none" dirty="0">
                            <a:latin typeface="Verdana"/>
                            <a:ea typeface="Verdana"/>
                            <a:cs typeface="Verdana"/>
                            <a:sym typeface="Verdana"/>
                          </a:endParaRPr>
                        </a:p>
                        <a:p>
                          <a:pPr marL="0" marR="0" lvl="0" indent="0" algn="l" rtl="0">
                            <a:lnSpc>
                              <a:spcPct val="100000"/>
                            </a:lnSpc>
                            <a:spcBef>
                              <a:spcPts val="900"/>
                            </a:spcBef>
                            <a:spcAft>
                              <a:spcPts val="0"/>
                            </a:spcAft>
                            <a:buNone/>
                          </a:pPr>
                          <a:r>
                            <a:rPr lang="en-US" sz="2000" u="none" strike="noStrike" cap="none" dirty="0">
                              <a:latin typeface="Verdana"/>
                              <a:ea typeface="Verdana"/>
                              <a:cs typeface="Verdana"/>
                              <a:sym typeface="Verdana"/>
                            </a:rPr>
                            <a:t>______________</a:t>
                          </a:r>
                          <a:endParaRPr sz="2000" u="none" strike="noStrike" cap="none" dirty="0">
                            <a:latin typeface="Verdana"/>
                            <a:ea typeface="Verdana"/>
                            <a:cs typeface="Verdana"/>
                            <a:sym typeface="Verdana"/>
                          </a:endParaRPr>
                        </a:p>
                      </a:txBody>
                      <a:tcPr marL="137150" marR="91450" marT="1371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00240" t="-101250" b="-365000"/>
                          </a:stretch>
                        </a:blipFill>
                      </a:tcPr>
                    </a:tc>
                  </a:tr>
                  <a:tr h="487695">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201250" r="-200240" b="-265000"/>
                          </a:stretch>
                        </a:blipFill>
                      </a:tcPr>
                    </a:tc>
                    <a:tc vMerge="1">
                      <a:txBody>
                        <a:bodyPr/>
                        <a:lstStyle/>
                        <a:p>
                          <a:endParaRPr lang="en-US"/>
                        </a:p>
                      </a:txBody>
                      <a:tcPr/>
                    </a:tc>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00240" t="-201250" b="-265000"/>
                          </a:stretch>
                        </a:blipFill>
                      </a:tcPr>
                    </a:tc>
                  </a:tr>
                  <a:tr h="802782">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83969" r="-200240" b="-61832"/>
                          </a:stretch>
                        </a:blipFill>
                      </a:tcPr>
                    </a:tc>
                    <a:tc vMerge="1">
                      <a:txBody>
                        <a:bodyPr/>
                        <a:lstStyle/>
                        <a:p>
                          <a:endParaRPr lang="en-US"/>
                        </a:p>
                      </a:txBody>
                      <a:tcPr/>
                    </a:tc>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00240" t="-183969" b="-61832"/>
                          </a:stretch>
                        </a:blipFill>
                      </a:tcPr>
                    </a:tc>
                  </a:tr>
                  <a:tr h="487695">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465000" r="-200240" b="-1250"/>
                          </a:stretch>
                        </a:blipFill>
                      </a:tcPr>
                    </a:tc>
                    <a:tc vMerge="1">
                      <a:txBody>
                        <a:bodyPr/>
                        <a:lstStyle/>
                        <a:p>
                          <a:endParaRPr lang="en-US"/>
                        </a:p>
                      </a:txBody>
                      <a:tcPr/>
                    </a:tc>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00240" t="-465000" b="-1250"/>
                          </a:stretch>
                        </a:blipFill>
                      </a:tcPr>
                    </a:tc>
                  </a:tr>
                </a:tbl>
              </a:graphicData>
            </a:graphic>
          </p:graphicFrame>
        </mc:Fallback>
      </mc:AlternateContent>
      <p:sp>
        <p:nvSpPr>
          <p:cNvPr id="9"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a:t>
            </a:r>
            <a:r>
              <a:rPr lang="en-US" sz="1400" b="0" i="1" u="none" strike="noStrike" cap="none" smtClean="0">
                <a:solidFill>
                  <a:srgbClr val="000000"/>
                </a:solidFill>
                <a:latin typeface="Calibri"/>
                <a:ea typeface="Calibri"/>
                <a:cs typeface="Calibri"/>
                <a:sym typeface="Calibri"/>
              </a:rPr>
              <a:t>179</a:t>
            </a:r>
            <a:endParaRPr sz="1400" b="0" i="1" u="none" strike="noStrike" cap="none" dirty="0">
              <a:solidFill>
                <a:srgbClr val="000000"/>
              </a:solidFill>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2"/>
          <p:cNvSpPr/>
          <p:nvPr/>
        </p:nvSpPr>
        <p:spPr>
          <a:xfrm>
            <a:off x="1328"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5" name="Google Shape;265;p12"/>
          <p:cNvSpPr txBox="1"/>
          <p:nvPr/>
        </p:nvSpPr>
        <p:spPr>
          <a:xfrm>
            <a:off x="532787" y="375703"/>
            <a:ext cx="10984287" cy="40934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000000"/>
                </a:solidFill>
                <a:latin typeface="Verdana"/>
                <a:ea typeface="Verdana"/>
                <a:cs typeface="Verdana"/>
                <a:sym typeface="Verdana"/>
              </a:rPr>
              <a:t>The solution for the equation and the solution set for the inequality is shown.</a:t>
            </a:r>
            <a:endParaRPr dirty="0"/>
          </a:p>
          <a:p>
            <a:pPr marL="0" marR="0" lvl="0" indent="0" algn="l" rtl="0">
              <a:lnSpc>
                <a:spcPct val="100000"/>
              </a:lnSpc>
              <a:spcBef>
                <a:spcPts val="0"/>
              </a:spcBef>
              <a:spcAft>
                <a:spcPts val="0"/>
              </a:spcAft>
              <a:buNone/>
            </a:pPr>
            <a:endParaRPr sz="2000" b="0" i="0" u="none" strike="noStrike" cap="none" dirty="0">
              <a:solidFill>
                <a:srgbClr val="000000"/>
              </a:solidFill>
              <a:latin typeface="Verdana"/>
              <a:ea typeface="Verdana"/>
              <a:cs typeface="Verdana"/>
              <a:sym typeface="Verdana"/>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Verdana"/>
              <a:ea typeface="Verdana"/>
              <a:cs typeface="Verdana"/>
              <a:sym typeface="Verdana"/>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Verdana"/>
              <a:ea typeface="Verdana"/>
              <a:cs typeface="Verdana"/>
              <a:sym typeface="Verdana"/>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Verdana"/>
              <a:ea typeface="Verdana"/>
              <a:cs typeface="Verdana"/>
              <a:sym typeface="Verdana"/>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Verdana"/>
              <a:ea typeface="Verdana"/>
              <a:cs typeface="Verdana"/>
              <a:sym typeface="Verdana"/>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Verdana"/>
              <a:ea typeface="Verdana"/>
              <a:cs typeface="Verdana"/>
              <a:sym typeface="Verdana"/>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Verdana"/>
              <a:ea typeface="Verdana"/>
              <a:cs typeface="Verdana"/>
              <a:sym typeface="Verdana"/>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Verdana"/>
              <a:ea typeface="Verdana"/>
              <a:cs typeface="Verdana"/>
              <a:sym typeface="Verdana"/>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Verdana"/>
              <a:ea typeface="Verdana"/>
              <a:cs typeface="Verdana"/>
              <a:sym typeface="Verdana"/>
            </a:endParaRPr>
          </a:p>
          <a:p>
            <a:pPr marL="914400" marR="0" lvl="0" indent="-457200" algn="l" rtl="0">
              <a:lnSpc>
                <a:spcPct val="100000"/>
              </a:lnSpc>
              <a:spcBef>
                <a:spcPts val="0"/>
              </a:spcBef>
              <a:spcAft>
                <a:spcPts val="0"/>
              </a:spcAft>
              <a:buClr>
                <a:srgbClr val="000000"/>
              </a:buClr>
              <a:buSzPts val="2000"/>
              <a:buFont typeface="Arial"/>
              <a:buAutoNum type="alphaLcPeriod" startAt="2"/>
            </a:pPr>
            <a:r>
              <a:rPr lang="en-US" sz="2000" b="0" i="0" u="none" strike="noStrike" cap="none" dirty="0">
                <a:solidFill>
                  <a:srgbClr val="000000"/>
                </a:solidFill>
                <a:latin typeface="Verdana"/>
                <a:ea typeface="Verdana"/>
                <a:cs typeface="Verdana"/>
                <a:sym typeface="Verdana"/>
              </a:rPr>
              <a:t>Discuss with your partner the similarities and differences between solving and graphing the solutions for equations and inequalities. Summarize your discussion.</a:t>
            </a:r>
            <a:endParaRPr sz="2000" b="0" i="0" u="none" strike="noStrike" cap="none" dirty="0">
              <a:solidFill>
                <a:srgbClr val="000000"/>
              </a:solidFill>
              <a:latin typeface="Verdana"/>
              <a:ea typeface="Verdana"/>
              <a:cs typeface="Verdana"/>
              <a:sym typeface="Verdana"/>
            </a:endParaRPr>
          </a:p>
        </p:txBody>
      </p:sp>
      <mc:AlternateContent xmlns:mc="http://schemas.openxmlformats.org/markup-compatibility/2006">
        <mc:Choice xmlns:a14="http://schemas.microsoft.com/office/drawing/2010/main" Requires="a14">
          <p:graphicFrame>
            <p:nvGraphicFramePr>
              <p:cNvPr id="266" name="Google Shape;266;p12"/>
              <p:cNvGraphicFramePr/>
              <p:nvPr>
                <p:extLst>
                  <p:ext uri="{D42A27DB-BD31-4B8C-83A1-F6EECF244321}">
                    <p14:modId xmlns:p14="http://schemas.microsoft.com/office/powerpoint/2010/main" val="1353777254"/>
                  </p:ext>
                </p:extLst>
              </p:nvPr>
            </p:nvGraphicFramePr>
            <p:xfrm>
              <a:off x="2121408" y="936922"/>
              <a:ext cx="7136900" cy="2011700"/>
            </p:xfrm>
            <a:graphic>
              <a:graphicData uri="http://schemas.openxmlformats.org/drawingml/2006/table">
                <a:tbl>
                  <a:tblPr firstRow="1" bandRow="1">
                    <a:noFill/>
                    <a:tableStyleId>{14BEB874-8EB6-4976-96A3-DF805651A6B6}</a:tableStyleId>
                  </a:tblPr>
                  <a:tblGrid>
                    <a:gridCol w="1371600"/>
                    <a:gridCol w="5765300"/>
                  </a:tblGrid>
                  <a:tr h="1005850">
                    <a:tc>
                      <a:txBody>
                        <a:bodyPr/>
                        <a:lstStyle/>
                        <a:p>
                          <a:pPr marL="0" lvl="0" indent="0" algn="l"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b="1" i="1" dirty="0" smtClean="0">
                                    <a:latin typeface="Cambria Math"/>
                                    <a:ea typeface="Cambria Math"/>
                                    <a:cs typeface="Cambria Math"/>
                                    <a:sym typeface="Cambria Math"/>
                                  </a:rPr>
                                  <m:t>𝟏</m:t>
                                </m:r>
                                <m:r>
                                  <a:rPr lang="en-US" sz="2000" b="1" i="1" dirty="0" smtClean="0">
                                    <a:latin typeface="Cambria Math"/>
                                    <a:ea typeface="Cambria Math"/>
                                    <a:cs typeface="Cambria Math"/>
                                    <a:sym typeface="Cambria Math"/>
                                  </a:rPr>
                                  <m:t>.</m:t>
                                </m:r>
                                <m:r>
                                  <a:rPr lang="en-US" sz="2000" b="1" i="1" dirty="0" smtClean="0">
                                    <a:latin typeface="Cambria Math"/>
                                    <a:ea typeface="Cambria Math"/>
                                    <a:cs typeface="Cambria Math"/>
                                    <a:sym typeface="Cambria Math"/>
                                  </a:rPr>
                                  <m:t>𝟔</m:t>
                                </m:r>
                                <m:r>
                                  <a:rPr lang="en-US" sz="2000" b="1" i="1" dirty="0" smtClean="0">
                                    <a:latin typeface="Cambria Math"/>
                                    <a:ea typeface="Cambria Math"/>
                                    <a:cs typeface="Cambria Math"/>
                                    <a:sym typeface="Cambria Math"/>
                                  </a:rPr>
                                  <m:t>=</m:t>
                                </m:r>
                                <m:r>
                                  <a:rPr lang="en-US" sz="2000" b="1" i="1" dirty="0" smtClean="0">
                                    <a:latin typeface="Cambria Math"/>
                                    <a:ea typeface="Cambria Math"/>
                                    <a:cs typeface="Cambria Math"/>
                                    <a:sym typeface="Cambria Math"/>
                                  </a:rPr>
                                  <m:t>𝒙</m:t>
                                </m:r>
                              </m:oMath>
                            </m:oMathPara>
                          </a14:m>
                          <a:endParaRPr sz="2000" b="1" u="none" strike="noStrike" cap="none" dirty="0">
                            <a:latin typeface="Cambria Math"/>
                            <a:ea typeface="Cambria Math"/>
                            <a:cs typeface="Cambria Math"/>
                            <a:sym typeface="Cambria Math"/>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1005850">
                    <a:tc>
                      <a:txBody>
                        <a:bodyPr/>
                        <a:lstStyle/>
                        <a:p>
                          <a:pPr marL="0" lvl="0" indent="0" algn="l"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b="1" i="1" dirty="0" smtClean="0">
                                    <a:latin typeface="Cambria Math"/>
                                    <a:ea typeface="Cambria Math"/>
                                    <a:cs typeface="Cambria Math"/>
                                    <a:sym typeface="Cambria Math"/>
                                  </a:rPr>
                                  <m:t>𝟏</m:t>
                                </m:r>
                                <m:r>
                                  <a:rPr lang="en-US" sz="2000" b="1" i="1" dirty="0" smtClean="0">
                                    <a:latin typeface="Cambria Math"/>
                                    <a:ea typeface="Cambria Math"/>
                                    <a:cs typeface="Cambria Math"/>
                                    <a:sym typeface="Cambria Math"/>
                                  </a:rPr>
                                  <m:t>.</m:t>
                                </m:r>
                                <m:r>
                                  <a:rPr lang="en-US" sz="2000" b="1" i="1" dirty="0" smtClean="0">
                                    <a:latin typeface="Cambria Math"/>
                                    <a:ea typeface="Cambria Math"/>
                                    <a:cs typeface="Cambria Math"/>
                                    <a:sym typeface="Cambria Math"/>
                                  </a:rPr>
                                  <m:t>𝟔</m:t>
                                </m:r>
                                <m:r>
                                  <a:rPr lang="en-US" sz="2000" b="1" i="1" dirty="0" smtClean="0">
                                    <a:latin typeface="Cambria Math"/>
                                    <a:ea typeface="Cambria Math"/>
                                    <a:cs typeface="Cambria Math"/>
                                    <a:sym typeface="Cambria Math"/>
                                  </a:rPr>
                                  <m:t>&lt;</m:t>
                                </m:r>
                                <m:r>
                                  <a:rPr lang="en-US" sz="2000" b="1" i="1" dirty="0" smtClean="0">
                                    <a:latin typeface="Cambria Math"/>
                                    <a:ea typeface="Cambria Math"/>
                                    <a:cs typeface="Cambria Math"/>
                                    <a:sym typeface="Cambria Math"/>
                                  </a:rPr>
                                  <m:t>𝒙</m:t>
                                </m:r>
                              </m:oMath>
                            </m:oMathPara>
                          </a14:m>
                          <a:endParaRPr sz="2000" b="1" u="none" strike="noStrike" cap="none" dirty="0">
                            <a:latin typeface="Cambria Math"/>
                            <a:ea typeface="Cambria Math"/>
                            <a:cs typeface="Cambria Math"/>
                            <a:sym typeface="Cambria Math"/>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mc:Choice>
        <mc:Fallback>
          <p:graphicFrame>
            <p:nvGraphicFramePr>
              <p:cNvPr id="266" name="Google Shape;266;p12"/>
              <p:cNvGraphicFramePr/>
              <p:nvPr>
                <p:extLst>
                  <p:ext uri="{D42A27DB-BD31-4B8C-83A1-F6EECF244321}">
                    <p14:modId xmlns:p14="http://schemas.microsoft.com/office/powerpoint/2010/main" val="1353777254"/>
                  </p:ext>
                </p:extLst>
              </p:nvPr>
            </p:nvGraphicFramePr>
            <p:xfrm>
              <a:off x="2121408" y="936922"/>
              <a:ext cx="7136900" cy="2011700"/>
            </p:xfrm>
            <a:graphic>
              <a:graphicData uri="http://schemas.openxmlformats.org/drawingml/2006/table">
                <a:tbl>
                  <a:tblPr firstRow="1" bandRow="1">
                    <a:noFill/>
                    <a:tableStyleId>{14BEB874-8EB6-4976-96A3-DF805651A6B6}</a:tableStyleId>
                  </a:tblPr>
                  <a:tblGrid>
                    <a:gridCol w="1371600"/>
                    <a:gridCol w="5765300"/>
                  </a:tblGrid>
                  <a:tr h="1005850">
                    <a:tc>
                      <a:txBody>
                        <a:bodyPr/>
                        <a:lstStyle/>
                        <a:p>
                          <a:endParaRPr lang="en-US"/>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606" r="-420444" b="-100000"/>
                          </a:stretch>
                        </a:blipFill>
                      </a:tcPr>
                    </a:tc>
                    <a:tc>
                      <a:txBody>
                        <a:bodyPr/>
                        <a:lstStyle/>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1005850">
                    <a:tc>
                      <a:txBody>
                        <a:bodyPr/>
                        <a:lstStyle/>
                        <a:p>
                          <a:endParaRPr lang="en-US"/>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100606" r="-420444"/>
                          </a:stretch>
                        </a:blipFill>
                      </a:tcPr>
                    </a:tc>
                    <a:tc>
                      <a:txBody>
                        <a:bodyPr/>
                        <a:lstStyle/>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mc:Fallback>
      </mc:AlternateContent>
      <p:grpSp>
        <p:nvGrpSpPr>
          <p:cNvPr id="267" name="Google Shape;267;p12"/>
          <p:cNvGrpSpPr/>
          <p:nvPr/>
        </p:nvGrpSpPr>
        <p:grpSpPr>
          <a:xfrm>
            <a:off x="3704978" y="1222418"/>
            <a:ext cx="5260975" cy="457200"/>
            <a:chOff x="0" y="0"/>
            <a:chExt cx="5261429" cy="457200"/>
          </a:xfrm>
        </p:grpSpPr>
        <p:pic>
          <p:nvPicPr>
            <p:cNvPr id="268" name="Google Shape;268;p12"/>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04800" y="0"/>
              <a:ext cx="4956629" cy="457200"/>
            </a:xfrm>
            <a:prstGeom prst="rect">
              <a:avLst/>
            </a:prstGeom>
            <a:noFill/>
            <a:ln>
              <a:noFill/>
            </a:ln>
          </p:spPr>
        </p:pic>
        <p:pic>
          <p:nvPicPr>
            <p:cNvPr id="269" name="Google Shape;269;p12"/>
            <p:cNvPicPr preferRelativeResize="0"/>
            <p:nvPr/>
          </p:nvPicPr>
          <p:blipFill rotWithShape="1">
            <a:blip r:embed="rId5">
              <a:alphaModFix/>
            </a:blip>
            <a:srcRect/>
            <a:stretch/>
          </p:blipFill>
          <p:spPr>
            <a:xfrm flipH="1">
              <a:off x="0" y="79829"/>
              <a:ext cx="478971" cy="137885"/>
            </a:xfrm>
            <a:prstGeom prst="rect">
              <a:avLst/>
            </a:prstGeom>
            <a:noFill/>
            <a:ln>
              <a:noFill/>
            </a:ln>
          </p:spPr>
        </p:pic>
        <p:sp>
          <p:nvSpPr>
            <p:cNvPr id="270" name="Google Shape;270;p12"/>
            <p:cNvSpPr/>
            <p:nvPr/>
          </p:nvSpPr>
          <p:spPr>
            <a:xfrm>
              <a:off x="3780971" y="94343"/>
              <a:ext cx="118745" cy="118110"/>
            </a:xfrm>
            <a:prstGeom prst="ellipse">
              <a:avLst/>
            </a:prstGeom>
            <a:solidFill>
              <a:srgbClr val="7030A0"/>
            </a:solidFill>
            <a:ln w="28575"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grpSp>
        <p:nvGrpSpPr>
          <p:cNvPr id="271" name="Google Shape;271;p12"/>
          <p:cNvGrpSpPr/>
          <p:nvPr/>
        </p:nvGrpSpPr>
        <p:grpSpPr>
          <a:xfrm>
            <a:off x="3704977" y="2243244"/>
            <a:ext cx="5340350" cy="454660"/>
            <a:chOff x="-304799" y="2932386"/>
            <a:chExt cx="5340350" cy="454660"/>
          </a:xfrm>
        </p:grpSpPr>
        <p:grpSp>
          <p:nvGrpSpPr>
            <p:cNvPr id="272" name="Google Shape;272;p12"/>
            <p:cNvGrpSpPr/>
            <p:nvPr/>
          </p:nvGrpSpPr>
          <p:grpSpPr>
            <a:xfrm>
              <a:off x="-304799" y="2932386"/>
              <a:ext cx="5257800" cy="454660"/>
              <a:chOff x="-365759" y="3522139"/>
              <a:chExt cx="6309360" cy="546100"/>
            </a:xfrm>
          </p:grpSpPr>
          <p:pic>
            <p:nvPicPr>
              <p:cNvPr id="273" name="Google Shape;273;p12"/>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 y="3522139"/>
                <a:ext cx="5943600" cy="546100"/>
              </a:xfrm>
              <a:prstGeom prst="rect">
                <a:avLst/>
              </a:prstGeom>
              <a:noFill/>
              <a:ln>
                <a:noFill/>
              </a:ln>
            </p:spPr>
          </p:pic>
          <p:pic>
            <p:nvPicPr>
              <p:cNvPr id="274" name="Google Shape;274;p12"/>
              <p:cNvPicPr preferRelativeResize="0"/>
              <p:nvPr/>
            </p:nvPicPr>
            <p:blipFill rotWithShape="1">
              <a:blip r:embed="rId5">
                <a:alphaModFix/>
              </a:blip>
              <a:srcRect/>
              <a:stretch/>
            </p:blipFill>
            <p:spPr>
              <a:xfrm flipH="1">
                <a:off x="-365759" y="3621199"/>
                <a:ext cx="571500" cy="167640"/>
              </a:xfrm>
              <a:prstGeom prst="rect">
                <a:avLst/>
              </a:prstGeom>
              <a:noFill/>
              <a:ln>
                <a:noFill/>
              </a:ln>
            </p:spPr>
          </p:pic>
        </p:grpSp>
        <p:grpSp>
          <p:nvGrpSpPr>
            <p:cNvPr id="275" name="Google Shape;275;p12"/>
            <p:cNvGrpSpPr/>
            <p:nvPr/>
          </p:nvGrpSpPr>
          <p:grpSpPr>
            <a:xfrm>
              <a:off x="3514726" y="3046686"/>
              <a:ext cx="1520825" cy="118745"/>
              <a:chOff x="-304799" y="2932386"/>
              <a:chExt cx="1520825" cy="118745"/>
            </a:xfrm>
          </p:grpSpPr>
          <p:sp>
            <p:nvSpPr>
              <p:cNvPr id="276" name="Google Shape;276;p12"/>
              <p:cNvSpPr/>
              <p:nvPr/>
            </p:nvSpPr>
            <p:spPr>
              <a:xfrm>
                <a:off x="-304799" y="2932386"/>
                <a:ext cx="118745" cy="118745"/>
              </a:xfrm>
              <a:prstGeom prst="ellipse">
                <a:avLst/>
              </a:prstGeom>
              <a:noFill/>
              <a:ln w="28575"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277" name="Google Shape;277;p12"/>
              <p:cNvCxnSpPr/>
              <p:nvPr/>
            </p:nvCxnSpPr>
            <p:spPr>
              <a:xfrm>
                <a:off x="-180974" y="2989536"/>
                <a:ext cx="1397000" cy="0"/>
              </a:xfrm>
              <a:prstGeom prst="straightConnector1">
                <a:avLst/>
              </a:prstGeom>
              <a:noFill/>
              <a:ln w="38100" cap="flat" cmpd="sng">
                <a:solidFill>
                  <a:srgbClr val="7030A0"/>
                </a:solidFill>
                <a:prstDash val="solid"/>
                <a:round/>
                <a:headEnd type="none" w="sm" len="sm"/>
                <a:tailEnd type="triangle" w="med" len="med"/>
              </a:ln>
            </p:spPr>
          </p:cxnSp>
        </p:grpSp>
      </p:grpSp>
      <p:sp>
        <p:nvSpPr>
          <p:cNvPr id="18"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a:t>
            </a:r>
            <a:r>
              <a:rPr lang="en-US" sz="1400" b="0" i="1" u="none" strike="noStrike" cap="none" smtClean="0">
                <a:solidFill>
                  <a:srgbClr val="000000"/>
                </a:solidFill>
                <a:latin typeface="Calibri"/>
                <a:ea typeface="Calibri"/>
                <a:cs typeface="Calibri"/>
                <a:sym typeface="Calibri"/>
              </a:rPr>
              <a:t>179</a:t>
            </a:r>
            <a:endParaRPr sz="1400" b="0" i="1" u="none" strike="noStrike" cap="none" dirty="0">
              <a:solidFill>
                <a:srgbClr val="000000"/>
              </a:solidFill>
              <a:latin typeface="Calibri"/>
              <a:ea typeface="Calibri"/>
              <a:cs typeface="Calibri"/>
              <a:sym typeface="Calibri"/>
            </a:endParaRPr>
          </a:p>
        </p:txBody>
      </p:sp>
      <p:pic>
        <p:nvPicPr>
          <p:cNvPr id="19"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Google Shape;265;p12"/>
              <p:cNvSpPr txBox="1"/>
              <p:nvPr/>
            </p:nvSpPr>
            <p:spPr>
              <a:xfrm>
                <a:off x="532787" y="375703"/>
                <a:ext cx="10984287" cy="5940047"/>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000" dirty="0">
                    <a:latin typeface="Verdana" pitchFamily="34" charset="0"/>
                    <a:ea typeface="Verdana" pitchFamily="34" charset="0"/>
                  </a:rPr>
                  <a:t>The work for solving the equation </a:t>
                </a:r>
                <a14:m>
                  <m:oMath xmlns:m="http://schemas.openxmlformats.org/officeDocument/2006/math">
                    <m:r>
                      <a:rPr lang="en-US" sz="2000" i="1" dirty="0" smtClean="0">
                        <a:latin typeface="Cambria Math"/>
                        <a:ea typeface="Verdana" pitchFamily="34" charset="0"/>
                      </a:rPr>
                      <m:t>13</m:t>
                    </m:r>
                    <m:r>
                      <a:rPr lang="en-US" sz="2000" i="1" dirty="0" smtClean="0">
                        <a:latin typeface="Cambria Math"/>
                        <a:ea typeface="Verdana" pitchFamily="34" charset="0"/>
                      </a:rPr>
                      <m:t>=−</m:t>
                    </m:r>
                    <m:r>
                      <a:rPr lang="en-US" sz="2000" i="1" dirty="0" smtClean="0">
                        <a:latin typeface="Cambria Math"/>
                        <a:ea typeface="Verdana" pitchFamily="34" charset="0"/>
                      </a:rPr>
                      <m:t>5</m:t>
                    </m:r>
                    <m:r>
                      <a:rPr lang="en-US" sz="2000" i="1" dirty="0" smtClean="0">
                        <a:latin typeface="Cambria Math"/>
                        <a:ea typeface="Verdana" pitchFamily="34" charset="0"/>
                      </a:rPr>
                      <m:t>𝑡</m:t>
                    </m:r>
                    <m:r>
                      <a:rPr lang="en-US" sz="2000" i="1" dirty="0" smtClean="0">
                        <a:latin typeface="Cambria Math"/>
                        <a:ea typeface="Verdana" pitchFamily="34" charset="0"/>
                      </a:rPr>
                      <m:t>−</m:t>
                    </m:r>
                    <m:r>
                      <a:rPr lang="en-US" sz="2000" i="1" dirty="0" smtClean="0">
                        <a:latin typeface="Cambria Math"/>
                        <a:ea typeface="Verdana" pitchFamily="34" charset="0"/>
                      </a:rPr>
                      <m:t>7</m:t>
                    </m:r>
                  </m:oMath>
                </a14:m>
                <a:r>
                  <a:rPr lang="en-US" sz="2000" dirty="0">
                    <a:latin typeface="Verdana" pitchFamily="34" charset="0"/>
                    <a:ea typeface="Verdana" pitchFamily="34" charset="0"/>
                  </a:rPr>
                  <a:t> and the inequality </a:t>
                </a:r>
                <a14:m>
                  <m:oMath xmlns:m="http://schemas.openxmlformats.org/officeDocument/2006/math">
                    <m:r>
                      <a:rPr lang="en-US" sz="2000" i="1" dirty="0" smtClean="0">
                        <a:latin typeface="Cambria Math"/>
                        <a:ea typeface="Verdana" pitchFamily="34" charset="0"/>
                      </a:rPr>
                      <m:t>13</m:t>
                    </m:r>
                    <m:r>
                      <a:rPr lang="en-US" sz="2000" i="1" dirty="0" smtClean="0">
                        <a:latin typeface="Cambria Math"/>
                        <a:ea typeface="Verdana" pitchFamily="34" charset="0"/>
                      </a:rPr>
                      <m:t>≥−</m:t>
                    </m:r>
                    <m:r>
                      <a:rPr lang="en-US" sz="2000" i="1" dirty="0" smtClean="0">
                        <a:latin typeface="Cambria Math"/>
                        <a:ea typeface="Verdana" pitchFamily="34" charset="0"/>
                      </a:rPr>
                      <m:t>5</m:t>
                    </m:r>
                    <m:r>
                      <a:rPr lang="en-US" sz="2000" i="1" dirty="0" smtClean="0">
                        <a:latin typeface="Cambria Math"/>
                        <a:ea typeface="Verdana" pitchFamily="34" charset="0"/>
                      </a:rPr>
                      <m:t>𝑡</m:t>
                    </m:r>
                    <m:r>
                      <a:rPr lang="en-US" sz="2000" i="1" dirty="0" smtClean="0">
                        <a:latin typeface="Cambria Math"/>
                        <a:ea typeface="Verdana" pitchFamily="34" charset="0"/>
                      </a:rPr>
                      <m:t>−</m:t>
                    </m:r>
                    <m:r>
                      <a:rPr lang="en-US" sz="2000" i="1" dirty="0" smtClean="0">
                        <a:latin typeface="Cambria Math"/>
                        <a:ea typeface="Verdana" pitchFamily="34" charset="0"/>
                      </a:rPr>
                      <m:t>7</m:t>
                    </m:r>
                  </m:oMath>
                </a14:m>
                <a:r>
                  <a:rPr lang="en-US" sz="2000" dirty="0">
                    <a:latin typeface="Verdana" pitchFamily="34" charset="0"/>
                    <a:ea typeface="Verdana" pitchFamily="34" charset="0"/>
                  </a:rPr>
                  <a:t> is shown</a:t>
                </a:r>
                <a:r>
                  <a:rPr lang="en-US" sz="2000" dirty="0" smtClean="0">
                    <a:latin typeface="Verdana" pitchFamily="34" charset="0"/>
                    <a:ea typeface="Verdana" pitchFamily="34" charset="0"/>
                  </a:rPr>
                  <a:t>.</a:t>
                </a:r>
              </a:p>
              <a:p>
                <a:pPr marL="457200" indent="-457200">
                  <a:buFont typeface="+mj-lt"/>
                  <a:buAutoNum type="arabicPeriod" startAt="2"/>
                </a:pPr>
                <a:endParaRPr lang="en-US" sz="2000" dirty="0">
                  <a:latin typeface="Verdana" pitchFamily="34" charset="0"/>
                  <a:ea typeface="Verdana" pitchFamily="34" charset="0"/>
                </a:endParaRPr>
              </a:p>
              <a:p>
                <a:pPr marL="457200" indent="-457200">
                  <a:buFont typeface="+mj-lt"/>
                  <a:buAutoNum type="arabicPeriod" startAt="2"/>
                </a:pPr>
                <a:endParaRPr lang="en-US" sz="2000" dirty="0" smtClean="0">
                  <a:latin typeface="Verdana" pitchFamily="34" charset="0"/>
                  <a:ea typeface="Verdana" pitchFamily="34" charset="0"/>
                </a:endParaRPr>
              </a:p>
              <a:p>
                <a:pPr marL="457200" indent="-457200">
                  <a:buFont typeface="+mj-lt"/>
                  <a:buAutoNum type="arabicPeriod" startAt="2"/>
                </a:pPr>
                <a:endParaRPr lang="en-US" sz="2000" dirty="0">
                  <a:latin typeface="Verdana" pitchFamily="34" charset="0"/>
                  <a:ea typeface="Verdana" pitchFamily="34" charset="0"/>
                </a:endParaRPr>
              </a:p>
              <a:p>
                <a:pPr marL="457200" indent="-457200">
                  <a:buFont typeface="+mj-lt"/>
                  <a:buAutoNum type="arabicPeriod" startAt="2"/>
                </a:pPr>
                <a:endParaRPr lang="en-US" sz="2000" dirty="0" smtClean="0">
                  <a:latin typeface="Verdana" pitchFamily="34" charset="0"/>
                  <a:ea typeface="Verdana" pitchFamily="34" charset="0"/>
                </a:endParaRPr>
              </a:p>
              <a:p>
                <a:pPr marL="457200" indent="-457200">
                  <a:buFont typeface="+mj-lt"/>
                  <a:buAutoNum type="arabicPeriod" startAt="2"/>
                </a:pPr>
                <a:endParaRPr lang="en-US" sz="2000" dirty="0">
                  <a:latin typeface="Verdana" pitchFamily="34" charset="0"/>
                  <a:ea typeface="Verdana" pitchFamily="34" charset="0"/>
                </a:endParaRPr>
              </a:p>
              <a:p>
                <a:pPr marL="457200" indent="-457200">
                  <a:buFont typeface="+mj-lt"/>
                  <a:buAutoNum type="arabicPeriod" startAt="2"/>
                </a:pPr>
                <a:endParaRPr lang="en-US" sz="2000" dirty="0" smtClean="0">
                  <a:latin typeface="Verdana" pitchFamily="34" charset="0"/>
                  <a:ea typeface="Verdana" pitchFamily="34" charset="0"/>
                </a:endParaRPr>
              </a:p>
              <a:p>
                <a:pPr marL="457200" indent="-457200">
                  <a:buFont typeface="+mj-lt"/>
                  <a:buAutoNum type="arabicPeriod" startAt="2"/>
                </a:pPr>
                <a:endParaRPr lang="en-US" sz="2000" dirty="0">
                  <a:latin typeface="Verdana" pitchFamily="34" charset="0"/>
                  <a:ea typeface="Verdana" pitchFamily="34" charset="0"/>
                </a:endParaRPr>
              </a:p>
              <a:p>
                <a:pPr marL="457200" indent="-457200">
                  <a:buFont typeface="+mj-lt"/>
                  <a:buAutoNum type="arabicPeriod" startAt="2"/>
                </a:pPr>
                <a:endParaRPr lang="en-US" sz="2000" dirty="0" smtClean="0">
                  <a:latin typeface="Verdana" pitchFamily="34" charset="0"/>
                  <a:ea typeface="Verdana" pitchFamily="34" charset="0"/>
                </a:endParaRPr>
              </a:p>
              <a:p>
                <a:pPr marL="457200" indent="-457200">
                  <a:buFont typeface="+mj-lt"/>
                  <a:buAutoNum type="arabicPeriod" startAt="2"/>
                </a:pPr>
                <a:endParaRPr lang="en-US" sz="2000" dirty="0">
                  <a:latin typeface="Verdana" pitchFamily="34" charset="0"/>
                  <a:ea typeface="Verdana" pitchFamily="34" charset="0"/>
                </a:endParaRPr>
              </a:p>
              <a:p>
                <a:pPr marL="457200" indent="-457200">
                  <a:buFont typeface="+mj-lt"/>
                  <a:buAutoNum type="arabicPeriod" startAt="2"/>
                </a:pPr>
                <a:endParaRPr lang="en-US" sz="2000" dirty="0" smtClean="0">
                  <a:latin typeface="Verdana" pitchFamily="34" charset="0"/>
                  <a:ea typeface="Verdana" pitchFamily="34" charset="0"/>
                </a:endParaRPr>
              </a:p>
              <a:p>
                <a:pPr marL="457200" indent="-457200">
                  <a:buFont typeface="+mj-lt"/>
                  <a:buAutoNum type="arabicPeriod" startAt="2"/>
                </a:pPr>
                <a:endParaRPr lang="en-US" sz="2000" dirty="0">
                  <a:latin typeface="Verdana" pitchFamily="34" charset="0"/>
                  <a:ea typeface="Verdana" pitchFamily="34" charset="0"/>
                </a:endParaRPr>
              </a:p>
              <a:p>
                <a:pPr marL="457200" indent="-457200">
                  <a:buFont typeface="+mj-lt"/>
                  <a:buAutoNum type="arabicPeriod" startAt="2"/>
                </a:pPr>
                <a:endParaRPr lang="en-US" sz="2000" dirty="0" smtClean="0">
                  <a:latin typeface="Verdana" pitchFamily="34" charset="0"/>
                  <a:ea typeface="Verdana" pitchFamily="34" charset="0"/>
                </a:endParaRPr>
              </a:p>
              <a:p>
                <a:pPr marL="900113" indent="-457200">
                  <a:buFont typeface="+mj-lt"/>
                  <a:buAutoNum type="alphaLcPeriod"/>
                </a:pPr>
                <a:r>
                  <a:rPr lang="en-US" sz="2000" dirty="0">
                    <a:latin typeface="Verdana" pitchFamily="34" charset="0"/>
                    <a:ea typeface="Verdana" pitchFamily="34" charset="0"/>
                  </a:rPr>
                  <a:t>Complete the table with the justification of each step used for solving the equation and the inequality</a:t>
                </a:r>
                <a:r>
                  <a:rPr lang="en-US" sz="2000" dirty="0" smtClean="0">
                    <a:latin typeface="Verdana" pitchFamily="34" charset="0"/>
                    <a:ea typeface="Verdana" pitchFamily="34" charset="0"/>
                  </a:rPr>
                  <a:t>.</a:t>
                </a:r>
              </a:p>
              <a:p>
                <a:pPr marL="900113" indent="-457200">
                  <a:buFont typeface="+mj-lt"/>
                  <a:buAutoNum type="alphaLcPeriod"/>
                </a:pPr>
                <a:endParaRPr lang="en-US" sz="2000" dirty="0" smtClean="0">
                  <a:latin typeface="Verdana" pitchFamily="34" charset="0"/>
                  <a:ea typeface="Verdana" pitchFamily="34" charset="0"/>
                </a:endParaRPr>
              </a:p>
              <a:p>
                <a:pPr marL="900113" indent="-457200">
                  <a:buFont typeface="+mj-lt"/>
                  <a:buAutoNum type="alphaLcPeriod"/>
                </a:pPr>
                <a:r>
                  <a:rPr lang="en-US" sz="2000" dirty="0">
                    <a:latin typeface="Verdana" pitchFamily="34" charset="0"/>
                    <a:ea typeface="Verdana" pitchFamily="34" charset="0"/>
                  </a:rPr>
                  <a:t>How did the final step of solving the inequality </a:t>
                </a:r>
                <a14:m>
                  <m:oMath xmlns:m="http://schemas.openxmlformats.org/officeDocument/2006/math">
                    <m:r>
                      <a:rPr lang="en-US" sz="2000" i="1" dirty="0" smtClean="0">
                        <a:latin typeface="Cambria Math"/>
                        <a:ea typeface="Verdana" pitchFamily="34" charset="0"/>
                      </a:rPr>
                      <m:t>13</m:t>
                    </m:r>
                    <m:r>
                      <a:rPr lang="en-US" sz="2000" i="1" dirty="0" smtClean="0">
                        <a:latin typeface="Cambria Math"/>
                        <a:ea typeface="Verdana" pitchFamily="34" charset="0"/>
                      </a:rPr>
                      <m:t>≥−</m:t>
                    </m:r>
                    <m:r>
                      <a:rPr lang="en-US" sz="2000" i="1" dirty="0" smtClean="0">
                        <a:latin typeface="Cambria Math"/>
                        <a:ea typeface="Verdana" pitchFamily="34" charset="0"/>
                      </a:rPr>
                      <m:t>5</m:t>
                    </m:r>
                    <m:r>
                      <a:rPr lang="en-US" sz="2000" i="1" dirty="0" smtClean="0">
                        <a:latin typeface="Cambria Math"/>
                        <a:ea typeface="Verdana" pitchFamily="34" charset="0"/>
                      </a:rPr>
                      <m:t>𝑡</m:t>
                    </m:r>
                    <m:r>
                      <a:rPr lang="en-US" sz="2000" i="1" dirty="0" smtClean="0">
                        <a:latin typeface="Cambria Math"/>
                        <a:ea typeface="Verdana" pitchFamily="34" charset="0"/>
                      </a:rPr>
                      <m:t>−</m:t>
                    </m:r>
                    <m:r>
                      <a:rPr lang="en-US" sz="2000" i="1" dirty="0" smtClean="0">
                        <a:latin typeface="Cambria Math"/>
                        <a:ea typeface="Verdana" pitchFamily="34" charset="0"/>
                      </a:rPr>
                      <m:t>7</m:t>
                    </m:r>
                  </m:oMath>
                </a14:m>
                <a:r>
                  <a:rPr lang="en-US" sz="2000" dirty="0">
                    <a:latin typeface="Verdana" pitchFamily="34" charset="0"/>
                    <a:ea typeface="Verdana" pitchFamily="34" charset="0"/>
                  </a:rPr>
                  <a:t> differ from the final step of solving the inequality </a:t>
                </a:r>
                <a14:m>
                  <m:oMath xmlns:m="http://schemas.openxmlformats.org/officeDocument/2006/math">
                    <m:r>
                      <a:rPr lang="en-US" sz="2000" i="1" dirty="0" smtClean="0">
                        <a:latin typeface="Cambria Math"/>
                        <a:ea typeface="Verdana" pitchFamily="34" charset="0"/>
                      </a:rPr>
                      <m:t>17</m:t>
                    </m:r>
                    <m:r>
                      <a:rPr lang="en-US" sz="2000" i="1" dirty="0" smtClean="0">
                        <a:latin typeface="Cambria Math"/>
                        <a:ea typeface="Verdana" pitchFamily="34" charset="0"/>
                      </a:rPr>
                      <m:t>&lt;</m:t>
                    </m:r>
                    <m:r>
                      <a:rPr lang="en-US" sz="2000" i="1" dirty="0" smtClean="0">
                        <a:latin typeface="Cambria Math"/>
                        <a:ea typeface="Verdana" pitchFamily="34" charset="0"/>
                      </a:rPr>
                      <m:t>5</m:t>
                    </m:r>
                    <m:r>
                      <a:rPr lang="en-US" sz="2000" i="1" dirty="0" smtClean="0">
                        <a:latin typeface="Cambria Math"/>
                        <a:ea typeface="Verdana" pitchFamily="34" charset="0"/>
                      </a:rPr>
                      <m:t>𝑥</m:t>
                    </m:r>
                    <m:r>
                      <a:rPr lang="en-US" sz="2000" i="1" dirty="0" smtClean="0">
                        <a:latin typeface="Cambria Math"/>
                        <a:ea typeface="Verdana" pitchFamily="34" charset="0"/>
                      </a:rPr>
                      <m:t>+</m:t>
                    </m:r>
                    <m:r>
                      <a:rPr lang="en-US" sz="2000" i="1" dirty="0" smtClean="0">
                        <a:latin typeface="Cambria Math"/>
                        <a:ea typeface="Verdana" pitchFamily="34" charset="0"/>
                      </a:rPr>
                      <m:t>9</m:t>
                    </m:r>
                  </m:oMath>
                </a14:m>
                <a:r>
                  <a:rPr lang="en-US" sz="2000" dirty="0">
                    <a:latin typeface="Verdana" pitchFamily="34" charset="0"/>
                    <a:ea typeface="Verdana" pitchFamily="34" charset="0"/>
                  </a:rPr>
                  <a:t>?</a:t>
                </a:r>
              </a:p>
            </p:txBody>
          </p:sp>
        </mc:Choice>
        <mc:Fallback>
          <p:sp>
            <p:nvSpPr>
              <p:cNvPr id="9" name="Google Shape;265;p12"/>
              <p:cNvSpPr txBox="1">
                <a:spLocks noRot="1" noChangeAspect="1" noMove="1" noResize="1" noEditPoints="1" noAdjustHandles="1" noChangeArrowheads="1" noChangeShapeType="1" noTextEdit="1"/>
              </p:cNvSpPr>
              <p:nvPr/>
            </p:nvSpPr>
            <p:spPr>
              <a:xfrm>
                <a:off x="532787" y="375703"/>
                <a:ext cx="10984287" cy="5940047"/>
              </a:xfrm>
              <a:prstGeom prst="rect">
                <a:avLst/>
              </a:prstGeom>
              <a:blipFill rotWithShape="1">
                <a:blip r:embed="rId3"/>
                <a:stretch>
                  <a:fillRect l="-555" t="-616" b="-924"/>
                </a:stretch>
              </a:blipFill>
              <a:ln>
                <a:noFill/>
              </a:ln>
            </p:spPr>
            <p:txBody>
              <a:bodyPr/>
              <a:lstStyle/>
              <a:p>
                <a:r>
                  <a:rPr lang="en-PH">
                    <a:noFill/>
                  </a:rPr>
                  <a:t> </a:t>
                </a:r>
              </a:p>
            </p:txBody>
          </p:sp>
        </mc:Fallback>
      </mc:AlternateContent>
      <p:sp>
        <p:nvSpPr>
          <p:cNvPr id="284" name="Google Shape;284;p13"/>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mc:AlternateContent xmlns:mc="http://schemas.openxmlformats.org/markup-compatibility/2006">
        <mc:Choice xmlns:a14="http://schemas.microsoft.com/office/drawing/2010/main" Requires="a14">
          <p:graphicFrame>
            <p:nvGraphicFramePr>
              <p:cNvPr id="287" name="Google Shape;287;p13"/>
              <p:cNvGraphicFramePr/>
              <p:nvPr>
                <p:extLst>
                  <p:ext uri="{D42A27DB-BD31-4B8C-83A1-F6EECF244321}">
                    <p14:modId xmlns:p14="http://schemas.microsoft.com/office/powerpoint/2010/main" val="924794664"/>
                  </p:ext>
                </p:extLst>
              </p:nvPr>
            </p:nvGraphicFramePr>
            <p:xfrm>
              <a:off x="2281237" y="1199969"/>
              <a:ext cx="7629525" cy="3113056"/>
            </p:xfrm>
            <a:graphic>
              <a:graphicData uri="http://schemas.openxmlformats.org/drawingml/2006/table">
                <a:tbl>
                  <a:tblPr firstRow="1" bandRow="1">
                    <a:noFill/>
                    <a:tableStyleId>{14BEB874-8EB6-4976-96A3-DF805651A6B6}</a:tableStyleId>
                  </a:tblPr>
                  <a:tblGrid>
                    <a:gridCol w="2543175"/>
                    <a:gridCol w="2543175"/>
                    <a:gridCol w="2543175"/>
                  </a:tblGrid>
                  <a:tr h="487675">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Equation</a:t>
                          </a:r>
                          <a:endParaRPr sz="2000" b="1" u="none" strike="noStrike" cap="none" dirty="0">
                            <a:latin typeface="Verdana"/>
                            <a:ea typeface="Verdana"/>
                            <a:cs typeface="Verdana"/>
                            <a:sym typeface="Verdana"/>
                          </a:endParaRPr>
                        </a:p>
                      </a:txBody>
                      <a:tcPr marL="91450" marR="91450" marT="914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Justification</a:t>
                          </a:r>
                          <a:endParaRPr sz="2000" b="1" u="none" strike="noStrike" cap="none" dirty="0">
                            <a:latin typeface="Verdana"/>
                            <a:ea typeface="Verdana"/>
                            <a:cs typeface="Verdana"/>
                            <a:sym typeface="Verdana"/>
                          </a:endParaRPr>
                        </a:p>
                      </a:txBody>
                      <a:tcPr marL="91450" marR="91450" marT="914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Inequality</a:t>
                          </a:r>
                          <a:endParaRPr sz="2000" b="1" u="none" strike="noStrike" cap="none">
                            <a:latin typeface="Verdana"/>
                            <a:ea typeface="Verdana"/>
                            <a:cs typeface="Verdana"/>
                            <a:sym typeface="Verdana"/>
                          </a:endParaRPr>
                        </a:p>
                      </a:txBody>
                      <a:tcPr marL="91450" marR="91450" marT="914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r>
                  <a:tr h="441950">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dirty="0" smtClean="0">
                                    <a:latin typeface="Cambria Math"/>
                                    <a:ea typeface="Cambria Math"/>
                                    <a:cs typeface="Cambria Math"/>
                                    <a:sym typeface="Cambria Math"/>
                                  </a:rPr>
                                  <m:t>13</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5</m:t>
                                </m:r>
                                <m:r>
                                  <a:rPr lang="en-US" sz="2000" i="1" dirty="0" smtClean="0">
                                    <a:latin typeface="Cambria Math"/>
                                    <a:ea typeface="Cambria Math"/>
                                    <a:cs typeface="Cambria Math"/>
                                    <a:sym typeface="Cambria Math"/>
                                  </a:rPr>
                                  <m:t>𝑡</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7</m:t>
                                </m:r>
                              </m:oMath>
                            </m:oMathPara>
                          </a14:m>
                          <a:endParaRPr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rowSpan="5">
                      <a:txBody>
                        <a:bodyPr/>
                        <a:lstStyle/>
                        <a:p>
                          <a:pPr marL="0" marR="0" lvl="0" indent="0" algn="l" rtl="0">
                            <a:lnSpc>
                              <a:spcPct val="100000"/>
                            </a:lnSpc>
                            <a:spcBef>
                              <a:spcPts val="0"/>
                            </a:spcBef>
                            <a:spcAft>
                              <a:spcPts val="0"/>
                            </a:spcAft>
                            <a:buNone/>
                          </a:pPr>
                          <a:r>
                            <a:rPr lang="en-US" sz="2000" u="none" strike="noStrike" cap="none">
                              <a:latin typeface="Verdana"/>
                              <a:ea typeface="Verdana"/>
                              <a:cs typeface="Verdana"/>
                              <a:sym typeface="Verdana"/>
                            </a:rPr>
                            <a:t>______________</a:t>
                          </a:r>
                          <a:endParaRPr sz="2000" u="none" strike="noStrike" cap="none">
                            <a:latin typeface="Verdana"/>
                            <a:ea typeface="Verdana"/>
                            <a:cs typeface="Verdana"/>
                            <a:sym typeface="Verdana"/>
                          </a:endParaRPr>
                        </a:p>
                        <a:p>
                          <a:pPr marL="0" marR="0" lvl="0" indent="0" algn="l" rtl="0">
                            <a:lnSpc>
                              <a:spcPct val="100000"/>
                            </a:lnSpc>
                            <a:spcBef>
                              <a:spcPts val="900"/>
                            </a:spcBef>
                            <a:spcAft>
                              <a:spcPts val="0"/>
                            </a:spcAft>
                            <a:buNone/>
                          </a:pPr>
                          <a:r>
                            <a:rPr lang="en-US" sz="2000" u="none" strike="noStrike" cap="none">
                              <a:latin typeface="Verdana"/>
                              <a:ea typeface="Verdana"/>
                              <a:cs typeface="Verdana"/>
                              <a:sym typeface="Verdana"/>
                            </a:rPr>
                            <a:t>______________</a:t>
                          </a:r>
                          <a:endParaRPr sz="2000" u="none" strike="noStrike" cap="none">
                            <a:latin typeface="Verdana"/>
                            <a:ea typeface="Verdana"/>
                            <a:cs typeface="Verdana"/>
                            <a:sym typeface="Verdana"/>
                          </a:endParaRPr>
                        </a:p>
                        <a:p>
                          <a:pPr marL="0" marR="0" lvl="0" indent="0" algn="l" rtl="0">
                            <a:lnSpc>
                              <a:spcPct val="100000"/>
                            </a:lnSpc>
                            <a:spcBef>
                              <a:spcPts val="900"/>
                            </a:spcBef>
                            <a:spcAft>
                              <a:spcPts val="0"/>
                            </a:spcAft>
                            <a:buNone/>
                          </a:pPr>
                          <a:r>
                            <a:rPr lang="en-US" sz="2000" u="none" strike="noStrike" cap="none">
                              <a:latin typeface="Verdana"/>
                              <a:ea typeface="Verdana"/>
                              <a:cs typeface="Verdana"/>
                              <a:sym typeface="Verdana"/>
                            </a:rPr>
                            <a:t>______________</a:t>
                          </a:r>
                          <a:endParaRPr sz="2000" u="none" strike="noStrike" cap="none">
                            <a:latin typeface="Verdana"/>
                            <a:ea typeface="Verdana"/>
                            <a:cs typeface="Verdana"/>
                            <a:sym typeface="Verdana"/>
                          </a:endParaRPr>
                        </a:p>
                        <a:p>
                          <a:pPr marL="0" marR="0" lvl="0" indent="0" algn="l" rtl="0">
                            <a:lnSpc>
                              <a:spcPct val="100000"/>
                            </a:lnSpc>
                            <a:spcBef>
                              <a:spcPts val="900"/>
                            </a:spcBef>
                            <a:spcAft>
                              <a:spcPts val="0"/>
                            </a:spcAft>
                            <a:buNone/>
                          </a:pPr>
                          <a:r>
                            <a:rPr lang="en-US" sz="2000" u="none" strike="noStrike" cap="none">
                              <a:latin typeface="Verdana"/>
                              <a:ea typeface="Verdana"/>
                              <a:cs typeface="Verdana"/>
                              <a:sym typeface="Verdana"/>
                            </a:rPr>
                            <a:t>______________</a:t>
                          </a:r>
                          <a:endParaRPr/>
                        </a:p>
                        <a:p>
                          <a:pPr marL="0" marR="0" lvl="0" indent="0" algn="l" rtl="0">
                            <a:lnSpc>
                              <a:spcPct val="100000"/>
                            </a:lnSpc>
                            <a:spcBef>
                              <a:spcPts val="900"/>
                            </a:spcBef>
                            <a:spcAft>
                              <a:spcPts val="0"/>
                            </a:spcAft>
                            <a:buNone/>
                          </a:pPr>
                          <a:r>
                            <a:rPr lang="en-US" sz="2000" u="none" strike="noStrike" cap="none">
                              <a:latin typeface="Verdana"/>
                              <a:ea typeface="Verdana"/>
                              <a:cs typeface="Verdana"/>
                              <a:sym typeface="Verdana"/>
                            </a:rPr>
                            <a:t>______________</a:t>
                          </a:r>
                          <a:endParaRPr sz="2000" u="none" strike="noStrike" cap="none">
                            <a:latin typeface="Verdana"/>
                            <a:ea typeface="Verdana"/>
                            <a:cs typeface="Verdana"/>
                            <a:sym typeface="Verdana"/>
                          </a:endParaRPr>
                        </a:p>
                      </a:txBody>
                      <a:tcPr marL="137150" marR="91450" marT="1371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dirty="0" smtClean="0">
                                    <a:latin typeface="Cambria Math"/>
                                    <a:ea typeface="Cambria Math"/>
                                    <a:cs typeface="Cambria Math"/>
                                    <a:sym typeface="Cambria Math"/>
                                  </a:rPr>
                                  <m:t>13</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5</m:t>
                                </m:r>
                                <m:r>
                                  <a:rPr lang="en-US" sz="2000" i="1" dirty="0" smtClean="0">
                                    <a:latin typeface="Cambria Math"/>
                                    <a:ea typeface="Cambria Math"/>
                                    <a:cs typeface="Cambria Math"/>
                                    <a:sym typeface="Cambria Math"/>
                                  </a:rPr>
                                  <m:t>𝑡</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7</m:t>
                                </m:r>
                              </m:oMath>
                            </m:oMathPara>
                          </a14:m>
                          <a:endParaRPr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441950">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7</m:t>
                                </m:r>
                                <m:r>
                                  <a:rPr lang="en-US" sz="2000" i="1" dirty="0" smtClean="0">
                                    <a:latin typeface="Cambria Math"/>
                                    <a:ea typeface="Cambria Math"/>
                                    <a:cs typeface="Cambria Math"/>
                                    <a:sym typeface="Cambria Math"/>
                                  </a:rPr>
                                  <m:t>          </m:t>
                                </m:r>
                                <m:r>
                                  <a:rPr lang="en-US" sz="2000" i="1" dirty="0" smtClean="0">
                                    <a:latin typeface="Cambria Math"/>
                                    <a:ea typeface="Cambria Math"/>
                                    <a:cs typeface="Cambria Math"/>
                                    <a:sym typeface="Cambria Math"/>
                                  </a:rPr>
                                  <m:t>	</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7</m:t>
                                </m:r>
                              </m:oMath>
                            </m:oMathPara>
                          </a14:m>
                          <a:endParaRPr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7</m:t>
                                </m:r>
                                <m:r>
                                  <a:rPr lang="en-US" sz="2000" i="1" dirty="0" smtClean="0">
                                    <a:latin typeface="Cambria Math"/>
                                    <a:ea typeface="Cambria Math"/>
                                    <a:cs typeface="Cambria Math"/>
                                    <a:sym typeface="Cambria Math"/>
                                  </a:rPr>
                                  <m:t>          </m:t>
                                </m:r>
                                <m:r>
                                  <a:rPr lang="en-US" sz="2000" i="1" dirty="0" smtClean="0">
                                    <a:latin typeface="Cambria Math"/>
                                    <a:ea typeface="Cambria Math"/>
                                    <a:cs typeface="Cambria Math"/>
                                    <a:sym typeface="Cambria Math"/>
                                  </a:rPr>
                                  <m:t>	</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7</m:t>
                                </m:r>
                              </m:oMath>
                            </m:oMathPara>
                          </a14:m>
                          <a:endParaRPr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441950">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dirty="0" smtClean="0">
                                    <a:latin typeface="Cambria Math"/>
                                    <a:ea typeface="Cambria Math"/>
                                    <a:cs typeface="Cambria Math"/>
                                    <a:sym typeface="Cambria Math"/>
                                  </a:rPr>
                                  <m:t>20</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5</m:t>
                                </m:r>
                                <m:r>
                                  <a:rPr lang="en-US" sz="2000" i="1" dirty="0" smtClean="0">
                                    <a:latin typeface="Cambria Math"/>
                                    <a:ea typeface="Cambria Math"/>
                                    <a:cs typeface="Cambria Math"/>
                                    <a:sym typeface="Cambria Math"/>
                                  </a:rPr>
                                  <m:t>𝑡</m:t>
                                </m:r>
                              </m:oMath>
                            </m:oMathPara>
                          </a14:m>
                          <a:endParaRPr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dirty="0" smtClean="0">
                                    <a:latin typeface="Cambria Math"/>
                                    <a:ea typeface="Cambria Math"/>
                                    <a:cs typeface="Cambria Math"/>
                                    <a:sym typeface="Cambria Math"/>
                                  </a:rPr>
                                  <m:t>20</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5</m:t>
                                </m:r>
                                <m:r>
                                  <a:rPr lang="en-US" sz="2000" i="1" dirty="0" smtClean="0">
                                    <a:latin typeface="Cambria Math"/>
                                    <a:ea typeface="Cambria Math"/>
                                    <a:cs typeface="Cambria Math"/>
                                    <a:sym typeface="Cambria Math"/>
                                  </a:rPr>
                                  <m:t>𝑡</m:t>
                                </m:r>
                              </m:oMath>
                            </m:oMathPara>
                          </a14:m>
                          <a:endParaRPr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508125">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f>
                                  <m:fPr>
                                    <m:ctrlPr>
                                      <a:rPr lang="en-US" sz="2000" i="1" dirty="0" smtClean="0">
                                        <a:latin typeface="Cambria Math"/>
                                        <a:ea typeface="Cambria Math"/>
                                        <a:sym typeface="Cambria Math"/>
                                      </a:rPr>
                                    </m:ctrlPr>
                                  </m:fPr>
                                  <m:num>
                                    <m:r>
                                      <a:rPr lang="en-US" sz="2000" b="0" i="1" dirty="0" smtClean="0">
                                        <a:latin typeface="Cambria Math"/>
                                        <a:ea typeface="Cambria Math"/>
                                        <a:sym typeface="Cambria Math"/>
                                      </a:rPr>
                                      <m:t> </m:t>
                                    </m:r>
                                  </m:num>
                                  <m:den>
                                    <m:r>
                                      <a:rPr lang="en-US" sz="2000" b="0" i="1" dirty="0" smtClean="0">
                                        <a:latin typeface="Cambria Math"/>
                                        <a:ea typeface="Cambria Math"/>
                                        <a:sym typeface="Cambria Math"/>
                                      </a:rPr>
                                      <m:t>(−</m:t>
                                    </m:r>
                                    <m:r>
                                      <a:rPr lang="en-US" sz="2000" b="0" i="1" dirty="0" smtClean="0">
                                        <a:latin typeface="Cambria Math"/>
                                        <a:ea typeface="Cambria Math"/>
                                        <a:sym typeface="Cambria Math"/>
                                      </a:rPr>
                                      <m:t>5</m:t>
                                    </m:r>
                                    <m:r>
                                      <a:rPr lang="en-US" sz="2000" b="0" i="1" dirty="0" smtClean="0">
                                        <a:latin typeface="Cambria Math"/>
                                        <a:ea typeface="Cambria Math"/>
                                        <a:sym typeface="Cambria Math"/>
                                      </a:rPr>
                                      <m:t>)</m:t>
                                    </m:r>
                                  </m:den>
                                </m:f>
                                <m:r>
                                  <a:rPr lang="en-US" sz="2000" b="0" i="1" dirty="0" smtClean="0">
                                    <a:latin typeface="Cambria Math"/>
                                    <a:ea typeface="Cambria Math"/>
                                    <a:sym typeface="Cambria Math"/>
                                  </a:rPr>
                                  <m:t>      </m:t>
                                </m:r>
                                <m:r>
                                  <a:rPr lang="en-US" sz="2000" i="1" dirty="0" smtClean="0">
                                    <a:latin typeface="Cambria Math"/>
                                    <a:ea typeface="Cambria Math"/>
                                    <a:cs typeface="Cambria Math"/>
                                    <a:sym typeface="Cambria Math"/>
                                  </a:rPr>
                                  <m:t> </m:t>
                                </m:r>
                                <m:r>
                                  <a:rPr lang="en-US" sz="2000" i="1" dirty="0" smtClean="0">
                                    <a:latin typeface="Cambria Math"/>
                                    <a:ea typeface="Cambria Math"/>
                                    <a:cs typeface="Cambria Math"/>
                                    <a:sym typeface="Cambria Math"/>
                                  </a:rPr>
                                  <m:t>	</m:t>
                                </m:r>
                                <m:f>
                                  <m:fPr>
                                    <m:ctrlPr>
                                      <a:rPr lang="en-US" sz="2000" i="1" dirty="0" smtClean="0">
                                        <a:latin typeface="Cambria Math"/>
                                        <a:ea typeface="Cambria Math"/>
                                        <a:sym typeface="Cambria Math"/>
                                      </a:rPr>
                                    </m:ctrlPr>
                                  </m:fPr>
                                  <m:num>
                                    <m:r>
                                      <a:rPr lang="en-US" sz="2000" b="0" i="1" dirty="0" smtClean="0">
                                        <a:latin typeface="Cambria Math"/>
                                        <a:ea typeface="Cambria Math"/>
                                        <a:sym typeface="Cambria Math"/>
                                      </a:rPr>
                                      <m:t> </m:t>
                                    </m:r>
                                  </m:num>
                                  <m:den>
                                    <m:r>
                                      <a:rPr lang="en-US" sz="2000" b="0" i="1" dirty="0" smtClean="0">
                                        <a:latin typeface="Cambria Math"/>
                                        <a:ea typeface="Cambria Math"/>
                                        <a:sym typeface="Cambria Math"/>
                                      </a:rPr>
                                      <m:t>(−</m:t>
                                    </m:r>
                                    <m:r>
                                      <a:rPr lang="en-US" sz="2000" b="0" i="1" dirty="0" smtClean="0">
                                        <a:latin typeface="Cambria Math"/>
                                        <a:ea typeface="Cambria Math"/>
                                        <a:sym typeface="Cambria Math"/>
                                      </a:rPr>
                                      <m:t>5</m:t>
                                    </m:r>
                                    <m:r>
                                      <a:rPr lang="en-US" sz="2000" b="0" i="1" dirty="0" smtClean="0">
                                        <a:latin typeface="Cambria Math"/>
                                        <a:ea typeface="Cambria Math"/>
                                        <a:sym typeface="Cambria Math"/>
                                      </a:rPr>
                                      <m:t>)</m:t>
                                    </m:r>
                                  </m:den>
                                </m:f>
                              </m:oMath>
                            </m:oMathPara>
                          </a14:m>
                          <a:endParaRPr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f>
                                  <m:fPr>
                                    <m:ctrlPr>
                                      <a:rPr lang="ar-AE" sz="2000" i="1" dirty="0" smtClean="0">
                                        <a:latin typeface="Cambria Math"/>
                                        <a:ea typeface="Cambria Math"/>
                                        <a:sym typeface="Cambria Math"/>
                                      </a:rPr>
                                    </m:ctrlPr>
                                  </m:fPr>
                                  <m:num>
                                    <m:r>
                                      <a:rPr lang="ar-AE" sz="2000" b="0" i="1" dirty="0" smtClean="0">
                                        <a:latin typeface="Cambria Math"/>
                                        <a:ea typeface="Cambria Math"/>
                                        <a:sym typeface="Cambria Math"/>
                                      </a:rPr>
                                      <m:t> </m:t>
                                    </m:r>
                                  </m:num>
                                  <m:den>
                                    <m:r>
                                      <a:rPr lang="ar-AE" sz="2000" b="0" i="1" dirty="0" smtClean="0">
                                        <a:latin typeface="Cambria Math"/>
                                        <a:ea typeface="Cambria Math"/>
                                        <a:sym typeface="Cambria Math"/>
                                      </a:rPr>
                                      <m:t>(−</m:t>
                                    </m:r>
                                    <m:r>
                                      <a:rPr lang="ar-AE" sz="2000" b="0" i="1" dirty="0" smtClean="0">
                                        <a:latin typeface="Cambria Math"/>
                                        <a:ea typeface="Cambria Math"/>
                                        <a:sym typeface="Cambria Math"/>
                                      </a:rPr>
                                      <m:t>5</m:t>
                                    </m:r>
                                    <m:r>
                                      <a:rPr lang="ar-AE" sz="2000" b="0" i="1" dirty="0" smtClean="0">
                                        <a:latin typeface="Cambria Math"/>
                                        <a:ea typeface="Cambria Math"/>
                                        <a:sym typeface="Cambria Math"/>
                                      </a:rPr>
                                      <m:t>)</m:t>
                                    </m:r>
                                  </m:den>
                                </m:f>
                                <m:r>
                                  <a:rPr lang="ar-AE" sz="2000" b="0" i="1" dirty="0" smtClean="0">
                                    <a:latin typeface="Cambria Math"/>
                                    <a:ea typeface="Cambria Math"/>
                                    <a:sym typeface="Cambria Math"/>
                                  </a:rPr>
                                  <m:t>      </m:t>
                                </m:r>
                                <m:r>
                                  <a:rPr lang="ar-AE" sz="2000" i="1" dirty="0" smtClean="0">
                                    <a:latin typeface="Cambria Math"/>
                                    <a:ea typeface="Cambria Math"/>
                                    <a:cs typeface="Cambria Math"/>
                                    <a:sym typeface="Cambria Math"/>
                                  </a:rPr>
                                  <m:t> </m:t>
                                </m:r>
                                <m:r>
                                  <a:rPr lang="ar-AE" sz="2000" i="1" dirty="0" smtClean="0">
                                    <a:latin typeface="Cambria Math"/>
                                    <a:ea typeface="Cambria Math"/>
                                    <a:cs typeface="Cambria Math"/>
                                    <a:sym typeface="Cambria Math"/>
                                  </a:rPr>
                                  <m:t>	</m:t>
                                </m:r>
                                <m:f>
                                  <m:fPr>
                                    <m:ctrlPr>
                                      <a:rPr lang="ar-AE" sz="2000" i="1" dirty="0" smtClean="0">
                                        <a:latin typeface="Cambria Math"/>
                                        <a:ea typeface="Cambria Math"/>
                                        <a:sym typeface="Cambria Math"/>
                                      </a:rPr>
                                    </m:ctrlPr>
                                  </m:fPr>
                                  <m:num>
                                    <m:r>
                                      <a:rPr lang="ar-AE" sz="2000" b="0" i="1" dirty="0" smtClean="0">
                                        <a:latin typeface="Cambria Math"/>
                                        <a:ea typeface="Cambria Math"/>
                                        <a:sym typeface="Cambria Math"/>
                                      </a:rPr>
                                      <m:t> </m:t>
                                    </m:r>
                                  </m:num>
                                  <m:den>
                                    <m:r>
                                      <a:rPr lang="ar-AE" sz="2000" b="0" i="1" dirty="0" smtClean="0">
                                        <a:latin typeface="Cambria Math"/>
                                        <a:ea typeface="Cambria Math"/>
                                        <a:sym typeface="Cambria Math"/>
                                      </a:rPr>
                                      <m:t>(−</m:t>
                                    </m:r>
                                    <m:r>
                                      <a:rPr lang="ar-AE" sz="2000" b="0" i="1" dirty="0" smtClean="0">
                                        <a:latin typeface="Cambria Math"/>
                                        <a:ea typeface="Cambria Math"/>
                                        <a:sym typeface="Cambria Math"/>
                                      </a:rPr>
                                      <m:t>5</m:t>
                                    </m:r>
                                    <m:r>
                                      <a:rPr lang="ar-AE" sz="2000" b="0" i="1" dirty="0" smtClean="0">
                                        <a:latin typeface="Cambria Math"/>
                                        <a:ea typeface="Cambria Math"/>
                                        <a:sym typeface="Cambria Math"/>
                                      </a:rPr>
                                      <m:t>)</m:t>
                                    </m:r>
                                  </m:den>
                                </m:f>
                              </m:oMath>
                            </m:oMathPara>
                          </a14:m>
                          <a:endParaRPr lang="ar-AE"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441950">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4</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𝑡</m:t>
                                </m:r>
                              </m:oMath>
                            </m:oMathPara>
                          </a14:m>
                          <a:endParaRPr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lvl="0" indent="0" algn="ctr" rtl="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4</m:t>
                                </m:r>
                                <m:r>
                                  <a:rPr lang="en-US" sz="2000" i="1" dirty="0" smtClean="0">
                                    <a:latin typeface="Cambria Math"/>
                                    <a:ea typeface="Cambria Math"/>
                                    <a:cs typeface="Cambria Math"/>
                                    <a:sym typeface="Cambria Math"/>
                                  </a:rPr>
                                  <m:t>≤</m:t>
                                </m:r>
                                <m:r>
                                  <a:rPr lang="en-US" sz="2000" i="1" dirty="0" smtClean="0">
                                    <a:latin typeface="Cambria Math"/>
                                    <a:ea typeface="Cambria Math"/>
                                    <a:cs typeface="Cambria Math"/>
                                    <a:sym typeface="Cambria Math"/>
                                  </a:rPr>
                                  <m:t>𝑡</m:t>
                                </m:r>
                              </m:oMath>
                            </m:oMathPara>
                          </a14:m>
                          <a:endParaRPr sz="2000" u="none" strike="noStrike" cap="none" dirty="0">
                            <a:latin typeface="Cambria Math"/>
                            <a:ea typeface="Cambria Math"/>
                            <a:cs typeface="Cambria Math"/>
                            <a:sym typeface="Cambria Math"/>
                          </a:endParaRPr>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mc:Choice>
        <mc:Fallback>
          <p:graphicFrame>
            <p:nvGraphicFramePr>
              <p:cNvPr id="287" name="Google Shape;287;p13"/>
              <p:cNvGraphicFramePr/>
              <p:nvPr>
                <p:extLst>
                  <p:ext uri="{D42A27DB-BD31-4B8C-83A1-F6EECF244321}">
                    <p14:modId xmlns:p14="http://schemas.microsoft.com/office/powerpoint/2010/main" val="924794664"/>
                  </p:ext>
                </p:extLst>
              </p:nvPr>
            </p:nvGraphicFramePr>
            <p:xfrm>
              <a:off x="2281237" y="1199969"/>
              <a:ext cx="7629525" cy="3113056"/>
            </p:xfrm>
            <a:graphic>
              <a:graphicData uri="http://schemas.openxmlformats.org/drawingml/2006/table">
                <a:tbl>
                  <a:tblPr firstRow="1" bandRow="1">
                    <a:noFill/>
                    <a:tableStyleId>{14BEB874-8EB6-4976-96A3-DF805651A6B6}</a:tableStyleId>
                  </a:tblPr>
                  <a:tblGrid>
                    <a:gridCol w="2543175"/>
                    <a:gridCol w="2543175"/>
                    <a:gridCol w="2543175"/>
                  </a:tblGrid>
                  <a:tr h="487700">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Equation</a:t>
                          </a:r>
                          <a:endParaRPr sz="2000" b="1" u="none" strike="noStrike" cap="none" dirty="0">
                            <a:latin typeface="Verdana"/>
                            <a:ea typeface="Verdana"/>
                            <a:cs typeface="Verdana"/>
                            <a:sym typeface="Verdana"/>
                          </a:endParaRPr>
                        </a:p>
                      </a:txBody>
                      <a:tcPr marL="91450" marR="91450" marT="914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Justification</a:t>
                          </a:r>
                          <a:endParaRPr sz="2000" b="1" u="none" strike="noStrike" cap="none" dirty="0">
                            <a:latin typeface="Verdana"/>
                            <a:ea typeface="Verdana"/>
                            <a:cs typeface="Verdana"/>
                            <a:sym typeface="Verdana"/>
                          </a:endParaRPr>
                        </a:p>
                      </a:txBody>
                      <a:tcPr marL="91450" marR="91450" marT="914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Inequality</a:t>
                          </a:r>
                          <a:endParaRPr sz="2000" b="1" u="none" strike="noStrike" cap="none">
                            <a:latin typeface="Verdana"/>
                            <a:ea typeface="Verdana"/>
                            <a:cs typeface="Verdana"/>
                            <a:sym typeface="Verdana"/>
                          </a:endParaRPr>
                        </a:p>
                      </a:txBody>
                      <a:tcPr marL="91450" marR="91450" marT="914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r>
                  <a:tr h="487695">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01250" r="-200240" b="-438750"/>
                          </a:stretch>
                        </a:blipFill>
                      </a:tcPr>
                    </a:tc>
                    <a:tc rowSpan="5">
                      <a:txBody>
                        <a:bodyPr/>
                        <a:lstStyle/>
                        <a:p>
                          <a:pPr marL="0" marR="0" lvl="0" indent="0" algn="l" rtl="0">
                            <a:lnSpc>
                              <a:spcPct val="100000"/>
                            </a:lnSpc>
                            <a:spcBef>
                              <a:spcPts val="0"/>
                            </a:spcBef>
                            <a:spcAft>
                              <a:spcPts val="0"/>
                            </a:spcAft>
                            <a:buNone/>
                          </a:pPr>
                          <a:r>
                            <a:rPr lang="en-US" sz="2000" u="none" strike="noStrike" cap="none">
                              <a:latin typeface="Verdana"/>
                              <a:ea typeface="Verdana"/>
                              <a:cs typeface="Verdana"/>
                              <a:sym typeface="Verdana"/>
                            </a:rPr>
                            <a:t>______________</a:t>
                          </a:r>
                          <a:endParaRPr sz="2000" u="none" strike="noStrike" cap="none">
                            <a:latin typeface="Verdana"/>
                            <a:ea typeface="Verdana"/>
                            <a:cs typeface="Verdana"/>
                            <a:sym typeface="Verdana"/>
                          </a:endParaRPr>
                        </a:p>
                        <a:p>
                          <a:pPr marL="0" marR="0" lvl="0" indent="0" algn="l" rtl="0">
                            <a:lnSpc>
                              <a:spcPct val="100000"/>
                            </a:lnSpc>
                            <a:spcBef>
                              <a:spcPts val="900"/>
                            </a:spcBef>
                            <a:spcAft>
                              <a:spcPts val="0"/>
                            </a:spcAft>
                            <a:buNone/>
                          </a:pPr>
                          <a:r>
                            <a:rPr lang="en-US" sz="2000" u="none" strike="noStrike" cap="none">
                              <a:latin typeface="Verdana"/>
                              <a:ea typeface="Verdana"/>
                              <a:cs typeface="Verdana"/>
                              <a:sym typeface="Verdana"/>
                            </a:rPr>
                            <a:t>______________</a:t>
                          </a:r>
                          <a:endParaRPr sz="2000" u="none" strike="noStrike" cap="none">
                            <a:latin typeface="Verdana"/>
                            <a:ea typeface="Verdana"/>
                            <a:cs typeface="Verdana"/>
                            <a:sym typeface="Verdana"/>
                          </a:endParaRPr>
                        </a:p>
                        <a:p>
                          <a:pPr marL="0" marR="0" lvl="0" indent="0" algn="l" rtl="0">
                            <a:lnSpc>
                              <a:spcPct val="100000"/>
                            </a:lnSpc>
                            <a:spcBef>
                              <a:spcPts val="900"/>
                            </a:spcBef>
                            <a:spcAft>
                              <a:spcPts val="0"/>
                            </a:spcAft>
                            <a:buNone/>
                          </a:pPr>
                          <a:r>
                            <a:rPr lang="en-US" sz="2000" u="none" strike="noStrike" cap="none">
                              <a:latin typeface="Verdana"/>
                              <a:ea typeface="Verdana"/>
                              <a:cs typeface="Verdana"/>
                              <a:sym typeface="Verdana"/>
                            </a:rPr>
                            <a:t>______________</a:t>
                          </a:r>
                          <a:endParaRPr sz="2000" u="none" strike="noStrike" cap="none">
                            <a:latin typeface="Verdana"/>
                            <a:ea typeface="Verdana"/>
                            <a:cs typeface="Verdana"/>
                            <a:sym typeface="Verdana"/>
                          </a:endParaRPr>
                        </a:p>
                        <a:p>
                          <a:pPr marL="0" marR="0" lvl="0" indent="0" algn="l" rtl="0">
                            <a:lnSpc>
                              <a:spcPct val="100000"/>
                            </a:lnSpc>
                            <a:spcBef>
                              <a:spcPts val="900"/>
                            </a:spcBef>
                            <a:spcAft>
                              <a:spcPts val="0"/>
                            </a:spcAft>
                            <a:buNone/>
                          </a:pPr>
                          <a:r>
                            <a:rPr lang="en-US" sz="2000" u="none" strike="noStrike" cap="none">
                              <a:latin typeface="Verdana"/>
                              <a:ea typeface="Verdana"/>
                              <a:cs typeface="Verdana"/>
                              <a:sym typeface="Verdana"/>
                            </a:rPr>
                            <a:t>______________</a:t>
                          </a:r>
                          <a:endParaRPr/>
                        </a:p>
                        <a:p>
                          <a:pPr marL="0" marR="0" lvl="0" indent="0" algn="l" rtl="0">
                            <a:lnSpc>
                              <a:spcPct val="100000"/>
                            </a:lnSpc>
                            <a:spcBef>
                              <a:spcPts val="900"/>
                            </a:spcBef>
                            <a:spcAft>
                              <a:spcPts val="0"/>
                            </a:spcAft>
                            <a:buNone/>
                          </a:pPr>
                          <a:r>
                            <a:rPr lang="en-US" sz="2000" u="none" strike="noStrike" cap="none">
                              <a:latin typeface="Verdana"/>
                              <a:ea typeface="Verdana"/>
                              <a:cs typeface="Verdana"/>
                              <a:sym typeface="Verdana"/>
                            </a:rPr>
                            <a:t>______________</a:t>
                          </a:r>
                          <a:endParaRPr sz="2000" u="none" strike="noStrike" cap="none">
                            <a:latin typeface="Verdana"/>
                            <a:ea typeface="Verdana"/>
                            <a:cs typeface="Verdana"/>
                            <a:sym typeface="Verdana"/>
                          </a:endParaRPr>
                        </a:p>
                      </a:txBody>
                      <a:tcPr marL="137150" marR="91450" marT="1371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240" t="-101250" b="-438750"/>
                          </a:stretch>
                        </a:blipFill>
                      </a:tcPr>
                    </a:tc>
                  </a:tr>
                  <a:tr h="487695">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01250" r="-200240" b="-338750"/>
                          </a:stretch>
                        </a:blipFill>
                      </a:tcPr>
                    </a:tc>
                    <a:tc vMerge="1">
                      <a:txBody>
                        <a:bodyPr/>
                        <a:lstStyle/>
                        <a:p>
                          <a:endParaRPr lang="en-US"/>
                        </a:p>
                      </a:txBody>
                      <a:tcPr/>
                    </a:tc>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240" t="-201250" b="-338750"/>
                          </a:stretch>
                        </a:blipFill>
                      </a:tcPr>
                    </a:tc>
                  </a:tr>
                  <a:tr h="487695">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301250" r="-200240" b="-238750"/>
                          </a:stretch>
                        </a:blipFill>
                      </a:tcPr>
                    </a:tc>
                    <a:tc vMerge="1">
                      <a:txBody>
                        <a:bodyPr/>
                        <a:lstStyle/>
                        <a:p>
                          <a:endParaRPr lang="en-US"/>
                        </a:p>
                      </a:txBody>
                      <a:tcPr/>
                    </a:tc>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240" t="-301250" b="-238750"/>
                          </a:stretch>
                        </a:blipFill>
                      </a:tcPr>
                    </a:tc>
                  </a:tr>
                  <a:tr h="674576">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89189" r="-200240" b="-72072"/>
                          </a:stretch>
                        </a:blipFill>
                      </a:tcPr>
                    </a:tc>
                    <a:tc vMerge="1">
                      <a:txBody>
                        <a:bodyPr/>
                        <a:lstStyle/>
                        <a:p>
                          <a:endParaRPr lang="en-US"/>
                        </a:p>
                      </a:txBody>
                      <a:tcPr/>
                    </a:tc>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240" t="-289189" b="-72072"/>
                          </a:stretch>
                        </a:blipFill>
                      </a:tcPr>
                    </a:tc>
                  </a:tr>
                  <a:tr h="487695">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540000" r="-200240"/>
                          </a:stretch>
                        </a:blipFill>
                      </a:tcPr>
                    </a:tc>
                    <a:tc vMerge="1">
                      <a:txBody>
                        <a:bodyPr/>
                        <a:lstStyle/>
                        <a:p>
                          <a:endParaRPr lang="en-US"/>
                        </a:p>
                      </a:txBody>
                      <a:tcPr/>
                    </a:tc>
                    <a:tc>
                      <a:txBody>
                        <a:bodyPr/>
                        <a:lstStyle/>
                        <a:p>
                          <a:endParaRPr lang="en-US"/>
                        </a:p>
                      </a:txBody>
                      <a:tcPr marL="91450" marR="91450" marT="45725" marB="914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240" t="-540000"/>
                          </a:stretch>
                        </a:blipFill>
                      </a:tcPr>
                    </a:tc>
                  </a:tr>
                </a:tbl>
              </a:graphicData>
            </a:graphic>
          </p:graphicFrame>
        </mc:Fallback>
      </mc:AlternateContent>
      <p:sp>
        <p:nvSpPr>
          <p:cNvPr id="7"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a:t>
            </a:r>
            <a:r>
              <a:rPr lang="en-US" sz="1400" b="0" i="1" u="none" strike="noStrike" cap="none" smtClean="0">
                <a:solidFill>
                  <a:srgbClr val="000000"/>
                </a:solidFill>
                <a:latin typeface="Calibri"/>
                <a:ea typeface="Calibri"/>
                <a:cs typeface="Calibri"/>
                <a:sym typeface="Calibri"/>
              </a:rPr>
              <a:t>179</a:t>
            </a:r>
            <a:endParaRPr sz="1400" b="0" i="1" u="none" strike="noStrike" cap="none" dirty="0">
              <a:solidFill>
                <a:srgbClr val="000000"/>
              </a:solidFill>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4"/>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297" name="Google Shape;297;p14"/>
          <p:cNvGrpSpPr/>
          <p:nvPr/>
        </p:nvGrpSpPr>
        <p:grpSpPr>
          <a:xfrm>
            <a:off x="1857099" y="368407"/>
            <a:ext cx="8327136" cy="1804705"/>
            <a:chOff x="0" y="-59392"/>
            <a:chExt cx="8327136" cy="1804705"/>
          </a:xfrm>
        </p:grpSpPr>
        <p:grpSp>
          <p:nvGrpSpPr>
            <p:cNvPr id="298" name="Google Shape;298;p14"/>
            <p:cNvGrpSpPr/>
            <p:nvPr/>
          </p:nvGrpSpPr>
          <p:grpSpPr>
            <a:xfrm>
              <a:off x="0" y="-59392"/>
              <a:ext cx="8327136" cy="1804705"/>
              <a:chOff x="0" y="-59392"/>
              <a:chExt cx="8327136" cy="1804705"/>
            </a:xfrm>
          </p:grpSpPr>
          <p:sp>
            <p:nvSpPr>
              <p:cNvPr id="299" name="Google Shape;299;p14"/>
              <p:cNvSpPr/>
              <p:nvPr/>
            </p:nvSpPr>
            <p:spPr>
              <a:xfrm>
                <a:off x="0" y="208536"/>
                <a:ext cx="6629400" cy="369302"/>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Times New Roman"/>
                    <a:ea typeface="Times New Roman"/>
                    <a:cs typeface="Times New Roman"/>
                    <a:sym typeface="Times New Roman"/>
                  </a:rPr>
                  <a:t> </a:t>
                </a:r>
                <a:endParaRPr/>
              </a:p>
            </p:txBody>
          </p:sp>
          <p:sp>
            <p:nvSpPr>
              <p:cNvPr id="300" name="Google Shape;300;p14"/>
              <p:cNvSpPr/>
              <p:nvPr/>
            </p:nvSpPr>
            <p:spPr>
              <a:xfrm>
                <a:off x="0" y="208536"/>
                <a:ext cx="6629400" cy="369302"/>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Times New Roman"/>
                    <a:ea typeface="Times New Roman"/>
                    <a:cs typeface="Times New Roman"/>
                    <a:sym typeface="Times New Roman"/>
                  </a:rPr>
                  <a:t> </a:t>
                </a:r>
                <a:endParaRPr/>
              </a:p>
            </p:txBody>
          </p:sp>
          <p:sp>
            <p:nvSpPr>
              <p:cNvPr id="301" name="Google Shape;301;p14"/>
              <p:cNvSpPr/>
              <p:nvPr/>
            </p:nvSpPr>
            <p:spPr>
              <a:xfrm>
                <a:off x="0" y="-59392"/>
                <a:ext cx="8327136" cy="1804705"/>
              </a:xfrm>
              <a:prstGeom prst="roundRect">
                <a:avLst>
                  <a:gd name="adj" fmla="val 16667"/>
                </a:avLst>
              </a:prstGeom>
              <a:blipFill rotWithShape="1">
                <a:blip r:embed="rId3" cstate="screen">
                  <a:alphaModFix/>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grpSp>
        <p:pic>
          <p:nvPicPr>
            <p:cNvPr id="302" name="Google Shape;302;p14"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77414" y="107006"/>
              <a:ext cx="539750" cy="539750"/>
            </a:xfrm>
            <a:prstGeom prst="rect">
              <a:avLst/>
            </a:prstGeom>
            <a:noFill/>
            <a:ln>
              <a:noFill/>
            </a:ln>
            <a:effectLst>
              <a:outerShdw blurRad="50800" dist="38100" dir="2700000" algn="tl" rotWithShape="0">
                <a:srgbClr val="000000">
                  <a:alpha val="40000"/>
                </a:srgbClr>
              </a:outerShdw>
            </a:effectLst>
          </p:spPr>
        </p:pic>
      </p:grpSp>
      <mc:AlternateContent xmlns:mc="http://schemas.openxmlformats.org/markup-compatibility/2006">
        <mc:Choice xmlns:a14="http://schemas.microsoft.com/office/drawing/2010/main" Requires="a14">
          <p:sp>
            <p:nvSpPr>
              <p:cNvPr id="16" name="Google Shape;265;p12"/>
              <p:cNvSpPr txBox="1"/>
              <p:nvPr/>
            </p:nvSpPr>
            <p:spPr>
              <a:xfrm>
                <a:off x="532787" y="2334054"/>
                <a:ext cx="10984287" cy="3054578"/>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3"/>
                </a:pPr>
                <a:r>
                  <a:rPr lang="en-US" sz="2000" dirty="0" smtClean="0">
                    <a:latin typeface="Verdana" pitchFamily="34" charset="0"/>
                    <a:ea typeface="Verdana" pitchFamily="34" charset="0"/>
                  </a:rPr>
                  <a:t>Solve each inequality and graph the solution.</a:t>
                </a:r>
              </a:p>
              <a:p>
                <a:pPr marL="457200" indent="-457200">
                  <a:buFont typeface="+mj-lt"/>
                  <a:buAutoNum type="arabicPeriod" startAt="3"/>
                </a:pPr>
                <a:endParaRPr lang="en-US" sz="2000" dirty="0" smtClean="0">
                  <a:latin typeface="Verdana" pitchFamily="34" charset="0"/>
                  <a:ea typeface="Verdana" pitchFamily="34" charset="0"/>
                </a:endParaRPr>
              </a:p>
              <a:p>
                <a:pPr marL="719138" indent="-276225">
                  <a:buFont typeface="+mj-lt"/>
                  <a:buAutoNum type="alphaLcPeriod"/>
                </a:pPr>
                <a:r>
                  <a:rPr lang="en-PH" sz="2000" dirty="0" smtClean="0">
                    <a:latin typeface="Verdana" pitchFamily="34" charset="0"/>
                    <a:ea typeface="Verdana" pitchFamily="34" charset="0"/>
                  </a:rPr>
                  <a:t> </a:t>
                </a:r>
                <a14:m>
                  <m:oMath xmlns:m="http://schemas.openxmlformats.org/officeDocument/2006/math">
                    <m:r>
                      <a:rPr lang="en-PH" sz="2000" i="1" dirty="0" smtClean="0">
                        <a:latin typeface="Cambria Math"/>
                      </a:rPr>
                      <m:t>2</m:t>
                    </m:r>
                    <m:r>
                      <a:rPr lang="en-PH" sz="2000" i="1" dirty="0">
                        <a:latin typeface="Cambria Math"/>
                      </a:rPr>
                      <m:t>−</m:t>
                    </m:r>
                    <m:f>
                      <m:fPr>
                        <m:ctrlPr>
                          <a:rPr lang="en-PH" sz="2000" i="1" dirty="0" smtClean="0">
                            <a:latin typeface="Cambria Math"/>
                          </a:rPr>
                        </m:ctrlPr>
                      </m:fPr>
                      <m:num>
                        <m:r>
                          <a:rPr lang="en-US" sz="2000" b="0" i="1" dirty="0" smtClean="0">
                            <a:latin typeface="Cambria Math"/>
                          </a:rPr>
                          <m:t>𝑎</m:t>
                        </m:r>
                      </m:num>
                      <m:den>
                        <m:r>
                          <a:rPr lang="en-US" sz="2000" b="0" i="1" dirty="0" smtClean="0">
                            <a:latin typeface="Cambria Math"/>
                          </a:rPr>
                          <m:t>6</m:t>
                        </m:r>
                      </m:den>
                    </m:f>
                    <m:r>
                      <a:rPr lang="en-PH" sz="2000" i="1" dirty="0">
                        <a:latin typeface="Cambria Math"/>
                      </a:rPr>
                      <m:t>≥−</m:t>
                    </m:r>
                    <m:r>
                      <a:rPr lang="en-PH" sz="2000" i="1" dirty="0">
                        <a:latin typeface="Cambria Math"/>
                      </a:rPr>
                      <m:t>4</m:t>
                    </m:r>
                    <m:r>
                      <a:rPr lang="en-PH" sz="2000" i="1" dirty="0">
                        <a:latin typeface="Cambria Math"/>
                      </a:rPr>
                      <m:t>      </m:t>
                    </m:r>
                    <m:r>
                      <a:rPr lang="en-PH" sz="2000" i="1" dirty="0">
                        <a:latin typeface="Cambria Math"/>
                      </a:rPr>
                      <m:t> </m:t>
                    </m:r>
                  </m:oMath>
                </a14:m>
                <a:endParaRPr lang="en-US" sz="2000" i="1" dirty="0" smtClean="0">
                  <a:latin typeface="Cambria Math"/>
                </a:endParaRPr>
              </a:p>
              <a:p>
                <a:pPr marL="719138" indent="-276225">
                  <a:buFont typeface="+mj-lt"/>
                  <a:buAutoNum type="alphaLcPeriod"/>
                </a:pPr>
                <a:endParaRPr lang="en-US" sz="2000" i="1" dirty="0" smtClean="0">
                  <a:latin typeface="Verdana" pitchFamily="34" charset="0"/>
                  <a:ea typeface="Verdana" pitchFamily="34" charset="0"/>
                </a:endParaRPr>
              </a:p>
              <a:p>
                <a:pPr marL="719138" indent="-276225">
                  <a:buFont typeface="+mj-lt"/>
                  <a:buAutoNum type="alphaLcPeriod"/>
                </a:pPr>
                <a:endParaRPr lang="en-US" sz="2000" i="1" dirty="0">
                  <a:latin typeface="Verdana" pitchFamily="34" charset="0"/>
                  <a:ea typeface="Verdana" pitchFamily="34" charset="0"/>
                </a:endParaRPr>
              </a:p>
              <a:p>
                <a:pPr marL="719138" indent="-276225">
                  <a:buFont typeface="+mj-lt"/>
                  <a:buAutoNum type="alphaLcPeriod"/>
                </a:pPr>
                <a:endParaRPr lang="en-US" sz="2000" i="1" dirty="0" smtClean="0">
                  <a:latin typeface="Verdana" pitchFamily="34" charset="0"/>
                  <a:ea typeface="Verdana" pitchFamily="34" charset="0"/>
                </a:endParaRPr>
              </a:p>
              <a:p>
                <a:pPr marL="719138" indent="-276225">
                  <a:buFont typeface="+mj-lt"/>
                  <a:buAutoNum type="alphaLcPeriod"/>
                </a:pPr>
                <a:endParaRPr lang="en-US" sz="2000" i="1" dirty="0">
                  <a:latin typeface="Verdana" pitchFamily="34" charset="0"/>
                  <a:ea typeface="Verdana" pitchFamily="34" charset="0"/>
                </a:endParaRPr>
              </a:p>
              <a:p>
                <a:pPr marL="719138" indent="-276225">
                  <a:buFont typeface="+mj-lt"/>
                  <a:buAutoNum type="alphaLcPeriod"/>
                </a:pPr>
                <a:endParaRPr lang="en-US" sz="2000" i="1" dirty="0" smtClean="0">
                  <a:latin typeface="Verdana" pitchFamily="34" charset="0"/>
                  <a:ea typeface="Verdana" pitchFamily="34" charset="0"/>
                </a:endParaRPr>
              </a:p>
              <a:p>
                <a:pPr marL="719138" indent="-276225">
                  <a:buFont typeface="+mj-lt"/>
                  <a:buAutoNum type="alphaLcPeriod"/>
                </a:pPr>
                <a:r>
                  <a:rPr lang="en-PH" sz="2000" dirty="0" smtClean="0">
                    <a:latin typeface="Verdana" pitchFamily="34" charset="0"/>
                    <a:ea typeface="Verdana" pitchFamily="34" charset="0"/>
                  </a:rPr>
                  <a:t> </a:t>
                </a:r>
                <a14:m>
                  <m:oMath xmlns:m="http://schemas.openxmlformats.org/officeDocument/2006/math">
                    <m:r>
                      <a:rPr lang="en-PH" sz="2000" i="1" dirty="0" smtClean="0">
                        <a:latin typeface="Cambria Math"/>
                      </a:rPr>
                      <m:t>13</m:t>
                    </m:r>
                    <m:r>
                      <a:rPr lang="en-PH" sz="2000" i="1" dirty="0">
                        <a:latin typeface="Cambria Math"/>
                      </a:rPr>
                      <m:t>≥−</m:t>
                    </m:r>
                    <m:r>
                      <a:rPr lang="en-PH" sz="2000" i="1" dirty="0">
                        <a:latin typeface="Cambria Math"/>
                      </a:rPr>
                      <m:t>5</m:t>
                    </m:r>
                    <m:r>
                      <a:rPr lang="en-PH" sz="2000" i="1" dirty="0">
                        <a:latin typeface="Cambria Math"/>
                      </a:rPr>
                      <m:t>𝑡</m:t>
                    </m:r>
                    <m:r>
                      <a:rPr lang="en-PH" sz="2000" i="1" dirty="0">
                        <a:latin typeface="Cambria Math"/>
                      </a:rPr>
                      <m:t>−</m:t>
                    </m:r>
                    <m:r>
                      <a:rPr lang="en-PH" sz="2000" i="1" dirty="0">
                        <a:latin typeface="Cambria Math"/>
                      </a:rPr>
                      <m:t>7</m:t>
                    </m:r>
                    <m:r>
                      <a:rPr lang="en-PH" sz="2000" i="1" dirty="0">
                        <a:latin typeface="Cambria Math"/>
                      </a:rPr>
                      <m:t>  </m:t>
                    </m:r>
                  </m:oMath>
                </a14:m>
                <a:endParaRPr lang="en-US" sz="2000" dirty="0">
                  <a:latin typeface="Verdana" pitchFamily="34" charset="0"/>
                  <a:ea typeface="Verdana" pitchFamily="34" charset="0"/>
                </a:endParaRPr>
              </a:p>
            </p:txBody>
          </p:sp>
        </mc:Choice>
        <mc:Fallback>
          <p:sp>
            <p:nvSpPr>
              <p:cNvPr id="16" name="Google Shape;265;p12"/>
              <p:cNvSpPr txBox="1">
                <a:spLocks noRot="1" noChangeAspect="1" noMove="1" noResize="1" noEditPoints="1" noAdjustHandles="1" noChangeArrowheads="1" noChangeShapeType="1" noTextEdit="1"/>
              </p:cNvSpPr>
              <p:nvPr/>
            </p:nvSpPr>
            <p:spPr>
              <a:xfrm>
                <a:off x="532787" y="2334054"/>
                <a:ext cx="10984287" cy="3054578"/>
              </a:xfrm>
              <a:prstGeom prst="rect">
                <a:avLst/>
              </a:prstGeom>
              <a:blipFill rotWithShape="1">
                <a:blip r:embed="rId5"/>
                <a:stretch>
                  <a:fillRect l="-555" t="-1198" b="-1198"/>
                </a:stretch>
              </a:blipFill>
              <a:ln>
                <a:noFill/>
              </a:ln>
            </p:spPr>
            <p:txBody>
              <a:bodyPr/>
              <a:lstStyle/>
              <a:p>
                <a:r>
                  <a:rPr lang="en-PH">
                    <a:noFill/>
                  </a:rPr>
                  <a:t> </a:t>
                </a:r>
              </a:p>
            </p:txBody>
          </p:sp>
        </mc:Fallback>
      </mc:AlternateContent>
      <p:cxnSp>
        <p:nvCxnSpPr>
          <p:cNvPr id="303" name="Google Shape;303;p14"/>
          <p:cNvCxnSpPr/>
          <p:nvPr/>
        </p:nvCxnSpPr>
        <p:spPr>
          <a:xfrm>
            <a:off x="3047999" y="4052243"/>
            <a:ext cx="4003675" cy="0"/>
          </a:xfrm>
          <a:prstGeom prst="straightConnector1">
            <a:avLst/>
          </a:prstGeom>
          <a:noFill/>
          <a:ln w="34925" cap="flat" cmpd="sng">
            <a:solidFill>
              <a:schemeClr val="dk1"/>
            </a:solidFill>
            <a:prstDash val="solid"/>
            <a:round/>
            <a:headEnd type="triangle" w="med" len="med"/>
            <a:tailEnd type="triangle" w="med" len="med"/>
          </a:ln>
          <a:effectLst>
            <a:outerShdw blurRad="40000" dist="20000" dir="5400000" rotWithShape="0">
              <a:srgbClr val="000000">
                <a:alpha val="0"/>
              </a:srgbClr>
            </a:outerShdw>
          </a:effectLst>
        </p:spPr>
      </p:cxnSp>
      <p:cxnSp>
        <p:nvCxnSpPr>
          <p:cNvPr id="304" name="Google Shape;304;p14"/>
          <p:cNvCxnSpPr/>
          <p:nvPr/>
        </p:nvCxnSpPr>
        <p:spPr>
          <a:xfrm>
            <a:off x="3048000" y="5760454"/>
            <a:ext cx="4003675" cy="0"/>
          </a:xfrm>
          <a:prstGeom prst="straightConnector1">
            <a:avLst/>
          </a:prstGeom>
          <a:noFill/>
          <a:ln w="34925" cap="flat" cmpd="sng">
            <a:solidFill>
              <a:schemeClr val="dk1"/>
            </a:solidFill>
            <a:prstDash val="solid"/>
            <a:round/>
            <a:headEnd type="triangle" w="med" len="med"/>
            <a:tailEnd type="triangle" w="med" len="med"/>
          </a:ln>
          <a:effectLst>
            <a:outerShdw blurRad="40000" dist="20000" dir="5400000" rotWithShape="0">
              <a:srgbClr val="000000">
                <a:alpha val="0"/>
              </a:srgbClr>
            </a:outerShdw>
          </a:effectLst>
        </p:spPr>
      </p:cxnSp>
      <p:sp>
        <p:nvSpPr>
          <p:cNvPr id="14"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a:t>
            </a:r>
            <a:r>
              <a:rPr lang="en-US" sz="1400" b="0" i="1" u="none" strike="noStrike" cap="none" dirty="0" smtClean="0">
                <a:solidFill>
                  <a:srgbClr val="000000"/>
                </a:solidFill>
                <a:latin typeface="Calibri"/>
                <a:ea typeface="Calibri"/>
                <a:cs typeface="Calibri"/>
                <a:sym typeface="Calibri"/>
              </a:rPr>
              <a:t>180</a:t>
            </a:r>
            <a:endParaRPr sz="1400" b="0" i="1" u="none" strike="noStrike" cap="none" dirty="0">
              <a:solidFill>
                <a:srgbClr val="000000"/>
              </a:solidFill>
              <a:latin typeface="Calibri"/>
              <a:ea typeface="Calibri"/>
              <a:cs typeface="Calibri"/>
              <a:sym typeface="Calibri"/>
            </a:endParaRPr>
          </a:p>
        </p:txBody>
      </p:sp>
      <p:pic>
        <p:nvPicPr>
          <p:cNvPr id="15"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15"/>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3" name="Google Shape;313;p15"/>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800"/>
              <a:buNone/>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314" name="Google Shape;314;p15"/>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a:t>
            </a:r>
            <a:r>
              <a:rPr lang="en-US" sz="1400" b="0" i="1" u="none" strike="noStrike" cap="none" dirty="0" smtClean="0">
                <a:solidFill>
                  <a:srgbClr val="000000"/>
                </a:solidFill>
                <a:latin typeface="Calibri"/>
                <a:ea typeface="Calibri"/>
                <a:cs typeface="Calibri"/>
                <a:sym typeface="Calibri"/>
              </a:rPr>
              <a:t>180</a:t>
            </a:r>
            <a:endParaRPr sz="1400" b="0" i="1" u="none" strike="noStrike" cap="none" dirty="0">
              <a:solidFill>
                <a:srgbClr val="000000"/>
              </a:solidFill>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6"/>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3" name="Google Shape;323;p16"/>
          <p:cNvSpPr txBox="1"/>
          <p:nvPr/>
        </p:nvSpPr>
        <p:spPr>
          <a:xfrm>
            <a:off x="1152460" y="293382"/>
            <a:ext cx="10404665" cy="7473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4300" b="1" i="0" u="none" strike="noStrike" cap="none" dirty="0">
                <a:solidFill>
                  <a:srgbClr val="E24E5F"/>
                </a:solidFill>
                <a:latin typeface="Verdana"/>
                <a:ea typeface="Verdana"/>
                <a:cs typeface="Verdana"/>
                <a:sym typeface="Verdana"/>
              </a:rPr>
              <a:t>5.1.4 Your Turn!</a:t>
            </a:r>
            <a:endParaRPr dirty="0"/>
          </a:p>
        </p:txBody>
      </p:sp>
      <p:pic>
        <p:nvPicPr>
          <p:cNvPr id="324" name="Google Shape;324;p16"/>
          <p:cNvPicPr preferRelativeResize="0"/>
          <p:nvPr/>
        </p:nvPicPr>
        <p:blipFill rotWithShape="1">
          <a:blip r:embed="rId3">
            <a:alphaModFix/>
          </a:blip>
          <a:srcRect/>
          <a:stretch/>
        </p:blipFill>
        <p:spPr>
          <a:xfrm>
            <a:off x="354900" y="293382"/>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mc:Choice xmlns:a14="http://schemas.microsoft.com/office/drawing/2010/main" Requires="a14">
          <p:sp>
            <p:nvSpPr>
              <p:cNvPr id="13" name="Rectangle 12"/>
              <p:cNvSpPr/>
              <p:nvPr/>
            </p:nvSpPr>
            <p:spPr>
              <a:xfrm>
                <a:off x="531951" y="1451621"/>
                <a:ext cx="11506169" cy="4067011"/>
              </a:xfrm>
              <a:prstGeom prst="rect">
                <a:avLst/>
              </a:prstGeom>
            </p:spPr>
            <p:txBody>
              <a:bodyPr wrap="square">
                <a:spAutoFit/>
              </a:bodyPr>
              <a:lstStyle/>
              <a:p>
                <a:pPr marL="457200" indent="-457200">
                  <a:spcAft>
                    <a:spcPts val="1200"/>
                  </a:spcAft>
                  <a:buFont typeface="+mj-lt"/>
                  <a:buAutoNum type="arabicPeriod"/>
                </a:pPr>
                <a:r>
                  <a:rPr lang="en-US" sz="2000" dirty="0" smtClean="0">
                    <a:latin typeface="Verdana" pitchFamily="34" charset="0"/>
                    <a:ea typeface="Verdana" pitchFamily="34" charset="0"/>
                  </a:rPr>
                  <a:t>Solve each inequality and graph the solution. </a:t>
                </a:r>
              </a:p>
              <a:p>
                <a:pPr marL="808038" indent="-355600">
                  <a:buFont typeface="+mj-lt"/>
                  <a:buAutoNum type="alphaLcPeriod"/>
                </a:pPr>
                <a:r>
                  <a:rPr lang="en-PH" sz="2000" dirty="0" smtClean="0">
                    <a:latin typeface="Verdana" pitchFamily="34" charset="0"/>
                    <a:ea typeface="Verdana" pitchFamily="34" charset="0"/>
                  </a:rPr>
                  <a:t> </a:t>
                </a:r>
                <a14:m>
                  <m:oMath xmlns:m="http://schemas.openxmlformats.org/officeDocument/2006/math">
                    <m:r>
                      <a:rPr lang="en-PH" sz="2000" i="1" dirty="0" smtClean="0">
                        <a:latin typeface="Cambria Math"/>
                        <a:ea typeface="Verdana" pitchFamily="34" charset="0"/>
                      </a:rPr>
                      <m:t>56</m:t>
                    </m:r>
                    <m:r>
                      <a:rPr lang="en-PH" sz="2000" i="1" dirty="0">
                        <a:latin typeface="Cambria Math"/>
                        <a:ea typeface="Verdana" pitchFamily="34" charset="0"/>
                      </a:rPr>
                      <m:t>≥</m:t>
                    </m:r>
                    <m:r>
                      <a:rPr lang="en-PH" sz="2000" i="1" dirty="0" smtClean="0">
                        <a:latin typeface="Cambria Math"/>
                        <a:ea typeface="Verdana" pitchFamily="34" charset="0"/>
                      </a:rPr>
                      <m:t>8</m:t>
                    </m:r>
                    <m:r>
                      <a:rPr lang="en-PH" sz="2000" i="1" dirty="0" smtClean="0">
                        <a:latin typeface="Cambria Math"/>
                        <a:ea typeface="Verdana" pitchFamily="34" charset="0"/>
                      </a:rPr>
                      <m:t>𝑥</m:t>
                    </m:r>
                    <m:r>
                      <a:rPr lang="en-PH" sz="2000" i="1" dirty="0" smtClean="0">
                        <a:latin typeface="Cambria Math"/>
                        <a:ea typeface="Verdana" pitchFamily="34" charset="0"/>
                      </a:rPr>
                      <m:t>+</m:t>
                    </m:r>
                    <m:r>
                      <a:rPr lang="en-PH" sz="2000" i="1" dirty="0" smtClean="0">
                        <a:latin typeface="Cambria Math"/>
                        <a:ea typeface="Verdana" pitchFamily="34" charset="0"/>
                      </a:rPr>
                      <m:t>21</m:t>
                    </m:r>
                  </m:oMath>
                </a14:m>
                <a:endParaRPr lang="en-PH" sz="2000" dirty="0" smtClean="0">
                  <a:latin typeface="Verdana" pitchFamily="34" charset="0"/>
                  <a:ea typeface="Verdana" pitchFamily="34" charset="0"/>
                </a:endParaRPr>
              </a:p>
              <a:p>
                <a:pPr marL="808038" indent="-355600">
                  <a:buFont typeface="+mj-lt"/>
                  <a:buAutoNum type="alphaLcPeriod"/>
                </a:pPr>
                <a:endParaRPr lang="en-US" sz="2000" dirty="0">
                  <a:latin typeface="Verdana" pitchFamily="34" charset="0"/>
                  <a:ea typeface="Verdana" pitchFamily="34" charset="0"/>
                </a:endParaRPr>
              </a:p>
              <a:p>
                <a:pPr marL="808038" indent="-355600">
                  <a:buFont typeface="+mj-lt"/>
                  <a:buAutoNum type="alphaLcPeriod"/>
                </a:pPr>
                <a:endParaRPr lang="en-US" sz="2000" dirty="0" smtClean="0">
                  <a:latin typeface="Verdana" pitchFamily="34" charset="0"/>
                  <a:ea typeface="Verdana" pitchFamily="34" charset="0"/>
                </a:endParaRPr>
              </a:p>
              <a:p>
                <a:pPr marL="808038" indent="-355600">
                  <a:buFont typeface="+mj-lt"/>
                  <a:buAutoNum type="alphaLcPeriod"/>
                </a:pPr>
                <a:endParaRPr lang="en-US" sz="2000" dirty="0" smtClean="0">
                  <a:latin typeface="Verdana" pitchFamily="34" charset="0"/>
                  <a:ea typeface="Verdana" pitchFamily="34" charset="0"/>
                </a:endParaRPr>
              </a:p>
              <a:p>
                <a:pPr marL="808038" indent="-355600">
                  <a:buFont typeface="+mj-lt"/>
                  <a:buAutoNum type="alphaLcPeriod"/>
                </a:pPr>
                <a:endParaRPr lang="en-PH" sz="2000" dirty="0" smtClean="0">
                  <a:latin typeface="Verdana" pitchFamily="34" charset="0"/>
                  <a:ea typeface="Verdana" pitchFamily="34" charset="0"/>
                </a:endParaRPr>
              </a:p>
              <a:p>
                <a:pPr marL="808038" indent="-355600">
                  <a:buFont typeface="+mj-lt"/>
                  <a:buAutoNum type="alphaLcPeriod"/>
                </a:pPr>
                <a:r>
                  <a:rPr lang="en-US" sz="2000" b="0" dirty="0" smtClean="0">
                    <a:latin typeface="Verdana" pitchFamily="34" charset="0"/>
                    <a:ea typeface="Verdana" pitchFamily="34" charset="0"/>
                  </a:rPr>
                  <a:t> </a:t>
                </a:r>
                <a14:m>
                  <m:oMath xmlns:m="http://schemas.openxmlformats.org/officeDocument/2006/math">
                    <m:r>
                      <a:rPr lang="en-US" sz="2000" b="0" i="1" smtClean="0">
                        <a:latin typeface="Cambria Math"/>
                        <a:ea typeface="Verdana" pitchFamily="34" charset="0"/>
                      </a:rPr>
                      <m:t>−</m:t>
                    </m:r>
                    <m:r>
                      <a:rPr lang="en-US" sz="2000" b="0" i="1" smtClean="0">
                        <a:latin typeface="Cambria Math"/>
                        <a:ea typeface="Verdana" pitchFamily="34" charset="0"/>
                      </a:rPr>
                      <m:t>2</m:t>
                    </m:r>
                    <m:r>
                      <a:rPr lang="en-US" sz="2000" b="0" i="1" smtClean="0">
                        <a:latin typeface="Cambria Math"/>
                        <a:ea typeface="Verdana" pitchFamily="34" charset="0"/>
                      </a:rPr>
                      <m:t>.</m:t>
                    </m:r>
                    <m:r>
                      <a:rPr lang="en-US" sz="2000" b="0" i="1" smtClean="0">
                        <a:latin typeface="Cambria Math"/>
                        <a:ea typeface="Verdana" pitchFamily="34" charset="0"/>
                      </a:rPr>
                      <m:t>7</m:t>
                    </m:r>
                    <m:r>
                      <a:rPr lang="en-US" sz="2000" b="0" i="1" smtClean="0">
                        <a:latin typeface="Cambria Math"/>
                        <a:ea typeface="Verdana" pitchFamily="34" charset="0"/>
                      </a:rPr>
                      <m:t>−</m:t>
                    </m:r>
                    <m:r>
                      <a:rPr lang="en-US" sz="2000" b="0" i="1" smtClean="0">
                        <a:latin typeface="Cambria Math"/>
                        <a:ea typeface="Verdana" pitchFamily="34" charset="0"/>
                      </a:rPr>
                      <m:t>0</m:t>
                    </m:r>
                    <m:r>
                      <a:rPr lang="en-US" sz="2000" b="0" i="1" smtClean="0">
                        <a:latin typeface="Cambria Math"/>
                        <a:ea typeface="Verdana" pitchFamily="34" charset="0"/>
                      </a:rPr>
                      <m:t>.</m:t>
                    </m:r>
                    <m:r>
                      <a:rPr lang="en-US" sz="2000" b="0" i="1" smtClean="0">
                        <a:latin typeface="Cambria Math"/>
                        <a:ea typeface="Verdana" pitchFamily="34" charset="0"/>
                      </a:rPr>
                      <m:t>5</m:t>
                    </m:r>
                    <m:r>
                      <a:rPr lang="en-US" sz="2000" b="0" i="1" smtClean="0">
                        <a:latin typeface="Cambria Math"/>
                        <a:ea typeface="Verdana" pitchFamily="34" charset="0"/>
                      </a:rPr>
                      <m:t>𝑡</m:t>
                    </m:r>
                    <m:r>
                      <a:rPr lang="en-US" sz="2000" b="0" i="1" smtClean="0">
                        <a:latin typeface="Cambria Math"/>
                        <a:ea typeface="Verdana" pitchFamily="34" charset="0"/>
                      </a:rPr>
                      <m:t>&gt;</m:t>
                    </m:r>
                    <m:r>
                      <a:rPr lang="en-US" sz="2000" b="0" i="1" smtClean="0">
                        <a:latin typeface="Cambria Math"/>
                        <a:ea typeface="Verdana" pitchFamily="34" charset="0"/>
                      </a:rPr>
                      <m:t>8</m:t>
                    </m:r>
                    <m:r>
                      <a:rPr lang="en-US" sz="2000" b="0" i="1" smtClean="0">
                        <a:latin typeface="Cambria Math"/>
                        <a:ea typeface="Verdana" pitchFamily="34" charset="0"/>
                      </a:rPr>
                      <m:t>.</m:t>
                    </m:r>
                    <m:r>
                      <a:rPr lang="en-US" sz="2000" b="0" i="1" smtClean="0">
                        <a:latin typeface="Cambria Math"/>
                        <a:ea typeface="Verdana" pitchFamily="34" charset="0"/>
                      </a:rPr>
                      <m:t>3</m:t>
                    </m:r>
                  </m:oMath>
                </a14:m>
                <a:endParaRPr lang="en-PH" sz="2000" dirty="0" smtClean="0">
                  <a:latin typeface="Verdana" pitchFamily="34" charset="0"/>
                  <a:ea typeface="Verdana" pitchFamily="34" charset="0"/>
                </a:endParaRPr>
              </a:p>
              <a:p>
                <a:pPr marL="808038" indent="-355600">
                  <a:buFont typeface="+mj-lt"/>
                  <a:buAutoNum type="alphaLcPeriod"/>
                </a:pPr>
                <a:endParaRPr lang="en-US" sz="2000" dirty="0">
                  <a:latin typeface="Verdana" pitchFamily="34" charset="0"/>
                  <a:ea typeface="Verdana" pitchFamily="34" charset="0"/>
                </a:endParaRPr>
              </a:p>
              <a:p>
                <a:pPr marL="808038" indent="-355600">
                  <a:buFont typeface="+mj-lt"/>
                  <a:buAutoNum type="alphaLcPeriod"/>
                </a:pPr>
                <a:endParaRPr lang="en-US" sz="2000" dirty="0" smtClean="0">
                  <a:latin typeface="Verdana" pitchFamily="34" charset="0"/>
                  <a:ea typeface="Verdana" pitchFamily="34" charset="0"/>
                </a:endParaRPr>
              </a:p>
              <a:p>
                <a:pPr marL="808038" indent="-355600">
                  <a:buFont typeface="+mj-lt"/>
                  <a:buAutoNum type="alphaLcPeriod"/>
                </a:pPr>
                <a:endParaRPr lang="en-US" sz="2000" dirty="0" smtClean="0">
                  <a:latin typeface="Verdana" pitchFamily="34" charset="0"/>
                  <a:ea typeface="Verdana" pitchFamily="34" charset="0"/>
                </a:endParaRPr>
              </a:p>
              <a:p>
                <a:pPr marL="808038" indent="-355600">
                  <a:buFont typeface="+mj-lt"/>
                  <a:buAutoNum type="alphaLcPeriod"/>
                </a:pPr>
                <a:endParaRPr lang="en-PH" sz="2000" dirty="0" smtClean="0">
                  <a:latin typeface="Verdana" pitchFamily="34" charset="0"/>
                  <a:ea typeface="Verdana" pitchFamily="34" charset="0"/>
                </a:endParaRPr>
              </a:p>
              <a:p>
                <a:pPr marL="808038" indent="-355600">
                  <a:buFont typeface="+mj-lt"/>
                  <a:buAutoNum type="alphaLcPeriod"/>
                </a:pPr>
                <a:r>
                  <a:rPr lang="en-US" sz="2000" dirty="0">
                    <a:latin typeface="Verdana" pitchFamily="34" charset="0"/>
                    <a:ea typeface="Verdana" pitchFamily="34" charset="0"/>
                  </a:rPr>
                  <a:t> </a:t>
                </a:r>
                <a14:m>
                  <m:oMath xmlns:m="http://schemas.openxmlformats.org/officeDocument/2006/math">
                    <m:r>
                      <a:rPr lang="en-US" sz="2000" b="0" i="1" smtClean="0">
                        <a:latin typeface="Cambria Math"/>
                        <a:ea typeface="Verdana" pitchFamily="34" charset="0"/>
                      </a:rPr>
                      <m:t>6</m:t>
                    </m:r>
                    <m:r>
                      <a:rPr lang="en-US" sz="2000" b="0" i="1" smtClean="0">
                        <a:latin typeface="Cambria Math"/>
                        <a:ea typeface="Verdana" pitchFamily="34" charset="0"/>
                      </a:rPr>
                      <m:t>+</m:t>
                    </m:r>
                    <m:f>
                      <m:fPr>
                        <m:ctrlPr>
                          <a:rPr lang="en-US" sz="2000" b="0" i="1" smtClean="0">
                            <a:latin typeface="Cambria Math"/>
                            <a:ea typeface="Verdana" pitchFamily="34" charset="0"/>
                          </a:rPr>
                        </m:ctrlPr>
                      </m:fPr>
                      <m:num>
                        <m:r>
                          <a:rPr lang="en-US" sz="2000" b="0" i="1" smtClean="0">
                            <a:latin typeface="Cambria Math"/>
                            <a:ea typeface="Verdana" pitchFamily="34" charset="0"/>
                          </a:rPr>
                          <m:t>3</m:t>
                        </m:r>
                      </m:num>
                      <m:den>
                        <m:r>
                          <a:rPr lang="en-US" sz="2000" b="0" i="1" smtClean="0">
                            <a:latin typeface="Cambria Math"/>
                            <a:ea typeface="Verdana" pitchFamily="34" charset="0"/>
                          </a:rPr>
                          <m:t>4</m:t>
                        </m:r>
                      </m:den>
                    </m:f>
                    <m:r>
                      <a:rPr lang="en-US" sz="2000" b="0" i="1" smtClean="0">
                        <a:latin typeface="Cambria Math"/>
                        <a:ea typeface="Verdana" pitchFamily="34" charset="0"/>
                      </a:rPr>
                      <m:t>𝑘</m:t>
                    </m:r>
                    <m:r>
                      <a:rPr lang="en-US" sz="2000" b="0" i="1" smtClean="0">
                        <a:latin typeface="Cambria Math"/>
                        <a:ea typeface="Verdana" pitchFamily="34" charset="0"/>
                      </a:rPr>
                      <m:t>&lt;−</m:t>
                    </m:r>
                    <m:r>
                      <a:rPr lang="en-US" sz="2000" b="0" i="1" smtClean="0">
                        <a:latin typeface="Cambria Math"/>
                        <a:ea typeface="Verdana" pitchFamily="34" charset="0"/>
                      </a:rPr>
                      <m:t>12</m:t>
                    </m:r>
                  </m:oMath>
                </a14:m>
                <a:endParaRPr lang="en-PH" sz="2000" dirty="0" smtClean="0">
                  <a:latin typeface="Verdana" pitchFamily="34" charset="0"/>
                  <a:ea typeface="Verdana" pitchFamily="34" charset="0"/>
                </a:endParaRPr>
              </a:p>
            </p:txBody>
          </p:sp>
        </mc:Choice>
        <mc:Fallback>
          <p:sp>
            <p:nvSpPr>
              <p:cNvPr id="13" name="Rectangle 12"/>
              <p:cNvSpPr>
                <a:spLocks noRot="1" noChangeAspect="1" noMove="1" noResize="1" noEditPoints="1" noAdjustHandles="1" noChangeArrowheads="1" noChangeShapeType="1" noTextEdit="1"/>
              </p:cNvSpPr>
              <p:nvPr/>
            </p:nvSpPr>
            <p:spPr>
              <a:xfrm>
                <a:off x="531951" y="1451621"/>
                <a:ext cx="11506169" cy="4067011"/>
              </a:xfrm>
              <a:prstGeom prst="rect">
                <a:avLst/>
              </a:prstGeom>
              <a:blipFill rotWithShape="1">
                <a:blip r:embed="rId4"/>
                <a:stretch>
                  <a:fillRect l="-530" t="-900"/>
                </a:stretch>
              </a:blipFill>
            </p:spPr>
            <p:txBody>
              <a:bodyPr/>
              <a:lstStyle/>
              <a:p>
                <a:r>
                  <a:rPr lang="en-PH">
                    <a:noFill/>
                  </a:rPr>
                  <a:t> </a:t>
                </a:r>
              </a:p>
            </p:txBody>
          </p:sp>
        </mc:Fallback>
      </mc:AlternateContent>
      <p:cxnSp>
        <p:nvCxnSpPr>
          <p:cNvPr id="326" name="Google Shape;326;p16"/>
          <p:cNvCxnSpPr/>
          <p:nvPr/>
        </p:nvCxnSpPr>
        <p:spPr>
          <a:xfrm>
            <a:off x="3097714" y="2819568"/>
            <a:ext cx="4003675" cy="0"/>
          </a:xfrm>
          <a:prstGeom prst="straightConnector1">
            <a:avLst/>
          </a:prstGeom>
          <a:noFill/>
          <a:ln w="34925" cap="flat" cmpd="sng">
            <a:solidFill>
              <a:schemeClr val="dk1"/>
            </a:solidFill>
            <a:prstDash val="solid"/>
            <a:round/>
            <a:headEnd type="triangle" w="med" len="med"/>
            <a:tailEnd type="triangle" w="med" len="med"/>
          </a:ln>
          <a:effectLst>
            <a:outerShdw blurRad="40000" dist="20000" dir="5400000" rotWithShape="0">
              <a:srgbClr val="000000">
                <a:alpha val="0"/>
              </a:srgbClr>
            </a:outerShdw>
          </a:effectLst>
        </p:spPr>
      </p:cxnSp>
      <p:cxnSp>
        <p:nvCxnSpPr>
          <p:cNvPr id="327" name="Google Shape;327;p16"/>
          <p:cNvCxnSpPr/>
          <p:nvPr/>
        </p:nvCxnSpPr>
        <p:spPr>
          <a:xfrm>
            <a:off x="3097714" y="4544547"/>
            <a:ext cx="4003675" cy="0"/>
          </a:xfrm>
          <a:prstGeom prst="straightConnector1">
            <a:avLst/>
          </a:prstGeom>
          <a:noFill/>
          <a:ln w="34925" cap="flat" cmpd="sng">
            <a:solidFill>
              <a:schemeClr val="dk1"/>
            </a:solidFill>
            <a:prstDash val="solid"/>
            <a:round/>
            <a:headEnd type="triangle" w="med" len="med"/>
            <a:tailEnd type="triangle" w="med" len="med"/>
          </a:ln>
          <a:effectLst>
            <a:outerShdw blurRad="40000" dist="20000" dir="5400000" rotWithShape="0">
              <a:srgbClr val="000000">
                <a:alpha val="0"/>
              </a:srgbClr>
            </a:outerShdw>
          </a:effectLst>
        </p:spPr>
      </p:cxnSp>
      <p:cxnSp>
        <p:nvCxnSpPr>
          <p:cNvPr id="328" name="Google Shape;328;p16"/>
          <p:cNvCxnSpPr/>
          <p:nvPr/>
        </p:nvCxnSpPr>
        <p:spPr>
          <a:xfrm>
            <a:off x="3097713" y="6110909"/>
            <a:ext cx="4003675" cy="0"/>
          </a:xfrm>
          <a:prstGeom prst="straightConnector1">
            <a:avLst/>
          </a:prstGeom>
          <a:noFill/>
          <a:ln w="34925" cap="flat" cmpd="sng">
            <a:solidFill>
              <a:schemeClr val="dk1"/>
            </a:solidFill>
            <a:prstDash val="solid"/>
            <a:round/>
            <a:headEnd type="triangle" w="med" len="med"/>
            <a:tailEnd type="triangle" w="med" len="med"/>
          </a:ln>
          <a:effectLst>
            <a:outerShdw blurRad="40000" dist="20000" dir="5400000" rotWithShape="0">
              <a:srgbClr val="000000">
                <a:alpha val="0"/>
              </a:srgbClr>
            </a:outerShdw>
          </a:effectLst>
        </p:spPr>
      </p:cxnSp>
      <p:sp>
        <p:nvSpPr>
          <p:cNvPr id="11"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a:t>
            </a:r>
            <a:r>
              <a:rPr lang="en-US" sz="1400" b="0" i="1" u="none" strike="noStrike" cap="none" dirty="0" smtClean="0">
                <a:solidFill>
                  <a:srgbClr val="000000"/>
                </a:solidFill>
                <a:latin typeface="Calibri"/>
                <a:ea typeface="Calibri"/>
                <a:cs typeface="Calibri"/>
                <a:sym typeface="Calibri"/>
              </a:rPr>
              <a:t>180</a:t>
            </a:r>
            <a:endParaRPr sz="1400" b="0" i="1" u="none" strike="noStrike" cap="none" dirty="0">
              <a:solidFill>
                <a:srgbClr val="000000"/>
              </a:solidFill>
              <a:latin typeface="Calibri"/>
              <a:ea typeface="Calibri"/>
              <a:cs typeface="Calibri"/>
              <a:sym typeface="Calibri"/>
            </a:endParaRPr>
          </a:p>
        </p:txBody>
      </p:sp>
      <p:pic>
        <p:nvPicPr>
          <p:cNvPr id="12"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
        <p:nvSpPr>
          <p:cNvPr id="2"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r>
              <a:rPr kumimoji="0" lang="en-US" sz="1300" b="0" i="0" u="none" strike="noStrike" cap="none" normalizeH="0" baseline="0" smtClean="0">
                <a:ln>
                  <a:noFill/>
                </a:ln>
                <a:solidFill>
                  <a:srgbClr val="2A2B2D"/>
                </a:solidFill>
                <a:effectLst/>
                <a:latin typeface="Open Sans"/>
                <a:cs typeface="Arial" pitchFamily="34" charset="0"/>
              </a:rPr>
              <a:t>  </a:t>
            </a:r>
            <a:r>
              <a:rPr kumimoji="0" lang="en-US" sz="800" b="0" i="0" u="none" strike="noStrike" cap="none" normalizeH="0" baseline="0" smtClean="0">
                <a:ln>
                  <a:noFill/>
                </a:ln>
                <a:solidFill>
                  <a:schemeClr val="tx1"/>
                </a:solidFill>
                <a:effectLst/>
                <a:latin typeface="Arial" pitchFamily="34"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17"/>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7" name="Google Shape;337;p17"/>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ct val="96969"/>
              <a:buNone/>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338" name="Google Shape;338;p17"/>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a:t>
            </a:r>
            <a:r>
              <a:rPr lang="en-US" sz="1400" b="0" i="1" u="none" strike="noStrike" cap="none" dirty="0" smtClean="0">
                <a:solidFill>
                  <a:srgbClr val="000000"/>
                </a:solidFill>
                <a:latin typeface="Calibri"/>
                <a:ea typeface="Calibri"/>
                <a:cs typeface="Calibri"/>
                <a:sym typeface="Calibri"/>
              </a:rPr>
              <a:t>181</a:t>
            </a:r>
            <a:endParaRPr sz="1400" b="0" i="1" u="none" strike="noStrike" cap="none" dirty="0">
              <a:solidFill>
                <a:srgbClr val="000000"/>
              </a:solidFill>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18"/>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7" name="Google Shape;347;p18"/>
          <p:cNvSpPr txBox="1"/>
          <p:nvPr/>
        </p:nvSpPr>
        <p:spPr>
          <a:xfrm>
            <a:off x="1157976" y="5436"/>
            <a:ext cx="8019300"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3600" b="1" i="0" u="none" strike="noStrike" cap="none" dirty="0">
                <a:solidFill>
                  <a:srgbClr val="33BEA6"/>
                </a:solidFill>
                <a:latin typeface="Verdana"/>
                <a:ea typeface="Verdana"/>
                <a:cs typeface="Verdana"/>
                <a:sym typeface="Verdana"/>
              </a:rPr>
              <a:t>5.1.5 Collaboration: </a:t>
            </a:r>
            <a:br>
              <a:rPr lang="en-US" sz="3600" b="1" i="0" u="none" strike="noStrike" cap="none" dirty="0">
                <a:solidFill>
                  <a:srgbClr val="33BEA6"/>
                </a:solidFill>
                <a:latin typeface="Verdana"/>
                <a:ea typeface="Verdana"/>
                <a:cs typeface="Verdana"/>
                <a:sym typeface="Verdana"/>
              </a:rPr>
            </a:br>
            <a:r>
              <a:rPr lang="en-US" sz="3600" b="1" i="0" u="none" strike="noStrike" cap="none" dirty="0">
                <a:solidFill>
                  <a:srgbClr val="33BEA6"/>
                </a:solidFill>
                <a:latin typeface="Verdana"/>
                <a:ea typeface="Verdana"/>
                <a:cs typeface="Verdana"/>
                <a:sym typeface="Verdana"/>
              </a:rPr>
              <a:t>Matching Inequalities</a:t>
            </a:r>
            <a:endParaRPr dirty="0"/>
          </a:p>
        </p:txBody>
      </p:sp>
      <p:pic>
        <p:nvPicPr>
          <p:cNvPr id="348" name="Google Shape;348;p1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354900" y="293382"/>
            <a:ext cx="749808" cy="749808"/>
          </a:xfrm>
          <a:prstGeom prst="rect">
            <a:avLst/>
          </a:prstGeom>
          <a:noFill/>
          <a:ln>
            <a:noFill/>
          </a:ln>
          <a:effectLst>
            <a:outerShdw blurRad="50800" dist="38100" dir="2700000" algn="tl" rotWithShape="0">
              <a:srgbClr val="000000">
                <a:alpha val="40000"/>
              </a:srgbClr>
            </a:outerShdw>
          </a:effectLst>
        </p:spPr>
      </p:pic>
      <p:sp>
        <p:nvSpPr>
          <p:cNvPr id="349" name="Google Shape;349;p18"/>
          <p:cNvSpPr txBox="1"/>
          <p:nvPr/>
        </p:nvSpPr>
        <p:spPr>
          <a:xfrm>
            <a:off x="536960" y="1464400"/>
            <a:ext cx="10898946"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000000"/>
                </a:solidFill>
                <a:latin typeface="Verdana"/>
                <a:ea typeface="Verdana"/>
                <a:cs typeface="Verdana"/>
                <a:sym typeface="Verdana"/>
              </a:rPr>
              <a:t>Work with your partner to match each of the given inequalities to their graph of possible solutions.</a:t>
            </a:r>
            <a:endParaRPr dirty="0"/>
          </a:p>
          <a:p>
            <a:pPr marL="0" marR="0" lvl="0" indent="0" algn="l" rtl="0">
              <a:lnSpc>
                <a:spcPct val="100000"/>
              </a:lnSpc>
              <a:spcBef>
                <a:spcPts val="0"/>
              </a:spcBef>
              <a:spcAft>
                <a:spcPts val="0"/>
              </a:spcAft>
              <a:buNone/>
            </a:pPr>
            <a:endParaRPr sz="2000" b="0" i="0" u="none" strike="noStrike" cap="none" dirty="0">
              <a:solidFill>
                <a:srgbClr val="000000"/>
              </a:solidFill>
              <a:latin typeface="Verdana"/>
              <a:ea typeface="Verdana"/>
              <a:cs typeface="Verdana"/>
              <a:sym typeface="Verdana"/>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sz="2000" b="0" i="0" u="none" strike="noStrike" cap="none" dirty="0">
                <a:solidFill>
                  <a:srgbClr val="000000"/>
                </a:solidFill>
                <a:latin typeface="Verdana"/>
                <a:ea typeface="Verdana"/>
                <a:cs typeface="Verdana"/>
                <a:sym typeface="Verdana"/>
              </a:rPr>
              <a:t>Record your matches in the table. </a:t>
            </a:r>
            <a:endParaRPr sz="1400" b="0" i="0" u="none" strike="noStrike" cap="none" dirty="0">
              <a:solidFill>
                <a:srgbClr val="000000"/>
              </a:solidFill>
              <a:latin typeface="Times New Roman"/>
              <a:ea typeface="Times New Roman"/>
              <a:cs typeface="Times New Roman"/>
              <a:sym typeface="Times New Roman"/>
            </a:endParaRPr>
          </a:p>
        </p:txBody>
      </p:sp>
      <p:graphicFrame>
        <p:nvGraphicFramePr>
          <p:cNvPr id="350" name="Google Shape;350;p18"/>
          <p:cNvGraphicFramePr/>
          <p:nvPr>
            <p:extLst>
              <p:ext uri="{D42A27DB-BD31-4B8C-83A1-F6EECF244321}">
                <p14:modId xmlns:p14="http://schemas.microsoft.com/office/powerpoint/2010/main" val="2149614911"/>
              </p:ext>
            </p:extLst>
          </p:nvPr>
        </p:nvGraphicFramePr>
        <p:xfrm>
          <a:off x="1157976" y="2879382"/>
          <a:ext cx="7589500" cy="3291900"/>
        </p:xfrm>
        <a:graphic>
          <a:graphicData uri="http://schemas.openxmlformats.org/drawingml/2006/table">
            <a:tbl>
              <a:tblPr firstRow="1" bandRow="1">
                <a:noFill/>
                <a:tableStyleId>{14BEB874-8EB6-4976-96A3-DF805651A6B6}</a:tableStyleId>
              </a:tblPr>
              <a:tblGrid>
                <a:gridCol w="5852150"/>
                <a:gridCol w="1737350"/>
              </a:tblGrid>
              <a:tr h="370850">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Graph</a:t>
                      </a:r>
                      <a:endParaRPr sz="2000" b="1" u="none" strike="noStrike" cap="none" dirty="0">
                        <a:latin typeface="Verdana"/>
                        <a:ea typeface="Verdana"/>
                        <a:cs typeface="Verdana"/>
                        <a:sym typeface="Verdana"/>
                      </a:endParaRPr>
                    </a:p>
                  </a:txBody>
                  <a:tcPr marL="91450" marR="91450" marT="914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Inequality</a:t>
                      </a:r>
                      <a:endParaRPr sz="2000" b="1" u="none" strike="noStrike" cap="none">
                        <a:latin typeface="Verdana"/>
                        <a:ea typeface="Verdana"/>
                        <a:cs typeface="Verdana"/>
                        <a:sym typeface="Verdana"/>
                      </a:endParaRPr>
                    </a:p>
                  </a:txBody>
                  <a:tcPr marL="91450" marR="91450" marT="914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r>
              <a:tr h="370850">
                <a:tc>
                  <a:txBody>
                    <a:bodyPr/>
                    <a:lstStyle/>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370850">
                <a:tc>
                  <a:txBody>
                    <a:bodyPr/>
                    <a:lstStyle/>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370850">
                <a:tc>
                  <a:txBody>
                    <a:bodyPr/>
                    <a:lstStyle/>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370850">
                <a:tc>
                  <a:txBody>
                    <a:bodyPr/>
                    <a:lstStyle/>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p:grpSp>
        <p:nvGrpSpPr>
          <p:cNvPr id="351" name="Google Shape;351;p18"/>
          <p:cNvGrpSpPr/>
          <p:nvPr/>
        </p:nvGrpSpPr>
        <p:grpSpPr>
          <a:xfrm>
            <a:off x="1557455" y="3512417"/>
            <a:ext cx="5095875" cy="352425"/>
            <a:chOff x="0" y="0"/>
            <a:chExt cx="4389120" cy="303530"/>
          </a:xfrm>
        </p:grpSpPr>
        <p:pic>
          <p:nvPicPr>
            <p:cNvPr id="352" name="Google Shape;352;p18"/>
            <p:cNvPicPr preferRelativeResize="0"/>
            <p:nvPr/>
          </p:nvPicPr>
          <p:blipFill rotWithShape="1">
            <a:blip r:embed="rId4">
              <a:alphaModFix/>
            </a:blip>
            <a:srcRect/>
            <a:stretch/>
          </p:blipFill>
          <p:spPr>
            <a:xfrm>
              <a:off x="0" y="0"/>
              <a:ext cx="4389120" cy="303530"/>
            </a:xfrm>
            <a:prstGeom prst="rect">
              <a:avLst/>
            </a:prstGeom>
            <a:noFill/>
            <a:ln>
              <a:noFill/>
            </a:ln>
          </p:spPr>
        </p:pic>
        <p:grpSp>
          <p:nvGrpSpPr>
            <p:cNvPr id="353" name="Google Shape;353;p18"/>
            <p:cNvGrpSpPr/>
            <p:nvPr/>
          </p:nvGrpSpPr>
          <p:grpSpPr>
            <a:xfrm>
              <a:off x="66675" y="9525"/>
              <a:ext cx="1250315" cy="118745"/>
              <a:chOff x="0" y="0"/>
              <a:chExt cx="1250315" cy="118745"/>
            </a:xfrm>
          </p:grpSpPr>
          <p:sp>
            <p:nvSpPr>
              <p:cNvPr id="354" name="Google Shape;354;p18"/>
              <p:cNvSpPr/>
              <p:nvPr/>
            </p:nvSpPr>
            <p:spPr>
              <a:xfrm>
                <a:off x="1131570" y="0"/>
                <a:ext cx="118745" cy="118745"/>
              </a:xfrm>
              <a:prstGeom prst="ellipse">
                <a:avLst/>
              </a:prstGeom>
              <a:solidFill>
                <a:schemeClr val="accent2"/>
              </a:solidFill>
              <a:ln w="2857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355" name="Google Shape;355;p18"/>
              <p:cNvCxnSpPr/>
              <p:nvPr/>
            </p:nvCxnSpPr>
            <p:spPr>
              <a:xfrm rot="10800000">
                <a:off x="0" y="53701"/>
                <a:ext cx="1188720" cy="0"/>
              </a:xfrm>
              <a:prstGeom prst="straightConnector1">
                <a:avLst/>
              </a:prstGeom>
              <a:noFill/>
              <a:ln w="38100" cap="flat" cmpd="sng">
                <a:solidFill>
                  <a:schemeClr val="accent2"/>
                </a:solidFill>
                <a:prstDash val="solid"/>
                <a:round/>
                <a:headEnd type="none" w="sm" len="sm"/>
                <a:tailEnd type="triangle" w="med" len="med"/>
              </a:ln>
            </p:spPr>
          </p:cxnSp>
        </p:grpSp>
      </p:grpSp>
      <p:grpSp>
        <p:nvGrpSpPr>
          <p:cNvPr id="356" name="Google Shape;356;p18"/>
          <p:cNvGrpSpPr/>
          <p:nvPr/>
        </p:nvGrpSpPr>
        <p:grpSpPr>
          <a:xfrm>
            <a:off x="1462204" y="4209651"/>
            <a:ext cx="5212080" cy="356235"/>
            <a:chOff x="0" y="0"/>
            <a:chExt cx="4389120" cy="303530"/>
          </a:xfrm>
        </p:grpSpPr>
        <p:pic>
          <p:nvPicPr>
            <p:cNvPr id="357" name="Google Shape;357;p18"/>
            <p:cNvPicPr preferRelativeResize="0"/>
            <p:nvPr/>
          </p:nvPicPr>
          <p:blipFill rotWithShape="1">
            <a:blip r:embed="rId4">
              <a:alphaModFix/>
            </a:blip>
            <a:srcRect/>
            <a:stretch/>
          </p:blipFill>
          <p:spPr>
            <a:xfrm>
              <a:off x="0" y="0"/>
              <a:ext cx="4389120" cy="303530"/>
            </a:xfrm>
            <a:prstGeom prst="rect">
              <a:avLst/>
            </a:prstGeom>
            <a:noFill/>
            <a:ln>
              <a:noFill/>
            </a:ln>
          </p:spPr>
        </p:pic>
        <p:grpSp>
          <p:nvGrpSpPr>
            <p:cNvPr id="358" name="Google Shape;358;p18"/>
            <p:cNvGrpSpPr/>
            <p:nvPr/>
          </p:nvGrpSpPr>
          <p:grpSpPr>
            <a:xfrm>
              <a:off x="28575" y="9525"/>
              <a:ext cx="794385" cy="127635"/>
              <a:chOff x="0" y="0"/>
              <a:chExt cx="794385" cy="127635"/>
            </a:xfrm>
          </p:grpSpPr>
          <p:cxnSp>
            <p:nvCxnSpPr>
              <p:cNvPr id="359" name="Google Shape;359;p18"/>
              <p:cNvCxnSpPr/>
              <p:nvPr/>
            </p:nvCxnSpPr>
            <p:spPr>
              <a:xfrm rot="10800000">
                <a:off x="0" y="53340"/>
                <a:ext cx="682519" cy="0"/>
              </a:xfrm>
              <a:prstGeom prst="straightConnector1">
                <a:avLst/>
              </a:prstGeom>
              <a:noFill/>
              <a:ln w="38100" cap="flat" cmpd="sng">
                <a:solidFill>
                  <a:srgbClr val="00B0F0"/>
                </a:solidFill>
                <a:prstDash val="solid"/>
                <a:round/>
                <a:headEnd type="none" w="sm" len="sm"/>
                <a:tailEnd type="triangle" w="med" len="med"/>
              </a:ln>
            </p:spPr>
          </p:cxnSp>
          <p:sp>
            <p:nvSpPr>
              <p:cNvPr id="360" name="Google Shape;360;p18"/>
              <p:cNvSpPr/>
              <p:nvPr/>
            </p:nvSpPr>
            <p:spPr>
              <a:xfrm>
                <a:off x="666750" y="0"/>
                <a:ext cx="127635" cy="127635"/>
              </a:xfrm>
              <a:prstGeom prst="ellipse">
                <a:avLst/>
              </a:prstGeom>
              <a:noFill/>
              <a:ln w="28575" cap="flat" cmpd="sng">
                <a:solidFill>
                  <a:srgbClr val="00B0F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grpSp>
      <p:grpSp>
        <p:nvGrpSpPr>
          <p:cNvPr id="361" name="Google Shape;361;p18"/>
          <p:cNvGrpSpPr/>
          <p:nvPr/>
        </p:nvGrpSpPr>
        <p:grpSpPr>
          <a:xfrm>
            <a:off x="1452679" y="4920212"/>
            <a:ext cx="5212080" cy="356235"/>
            <a:chOff x="0" y="0"/>
            <a:chExt cx="4389120" cy="303530"/>
          </a:xfrm>
        </p:grpSpPr>
        <p:pic>
          <p:nvPicPr>
            <p:cNvPr id="362" name="Google Shape;362;p18"/>
            <p:cNvPicPr preferRelativeResize="0"/>
            <p:nvPr/>
          </p:nvPicPr>
          <p:blipFill rotWithShape="1">
            <a:blip r:embed="rId4">
              <a:alphaModFix/>
            </a:blip>
            <a:srcRect/>
            <a:stretch/>
          </p:blipFill>
          <p:spPr>
            <a:xfrm>
              <a:off x="0" y="0"/>
              <a:ext cx="4389120" cy="303530"/>
            </a:xfrm>
            <a:prstGeom prst="rect">
              <a:avLst/>
            </a:prstGeom>
            <a:noFill/>
            <a:ln>
              <a:noFill/>
            </a:ln>
          </p:spPr>
        </p:pic>
        <p:grpSp>
          <p:nvGrpSpPr>
            <p:cNvPr id="363" name="Google Shape;363;p18"/>
            <p:cNvGrpSpPr/>
            <p:nvPr/>
          </p:nvGrpSpPr>
          <p:grpSpPr>
            <a:xfrm>
              <a:off x="19050" y="9525"/>
              <a:ext cx="3387097" cy="95250"/>
              <a:chOff x="0" y="0"/>
              <a:chExt cx="4098925" cy="95250"/>
            </a:xfrm>
          </p:grpSpPr>
          <p:sp>
            <p:nvSpPr>
              <p:cNvPr id="364" name="Google Shape;364;p18"/>
              <p:cNvSpPr/>
              <p:nvPr/>
            </p:nvSpPr>
            <p:spPr>
              <a:xfrm>
                <a:off x="3992880" y="0"/>
                <a:ext cx="106045" cy="95250"/>
              </a:xfrm>
              <a:prstGeom prst="ellipse">
                <a:avLst/>
              </a:prstGeom>
              <a:solidFill>
                <a:srgbClr val="002060"/>
              </a:solidFill>
              <a:ln w="25400"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365" name="Google Shape;365;p18"/>
              <p:cNvCxnSpPr/>
              <p:nvPr/>
            </p:nvCxnSpPr>
            <p:spPr>
              <a:xfrm rot="10800000">
                <a:off x="0" y="53340"/>
                <a:ext cx="4023360" cy="0"/>
              </a:xfrm>
              <a:prstGeom prst="straightConnector1">
                <a:avLst/>
              </a:prstGeom>
              <a:solidFill>
                <a:srgbClr val="002060"/>
              </a:solidFill>
              <a:ln w="38100" cap="flat" cmpd="sng">
                <a:solidFill>
                  <a:srgbClr val="002060"/>
                </a:solidFill>
                <a:prstDash val="solid"/>
                <a:round/>
                <a:headEnd type="none" w="sm" len="sm"/>
                <a:tailEnd type="triangle" w="med" len="med"/>
              </a:ln>
            </p:spPr>
          </p:cxnSp>
        </p:grpSp>
      </p:grpSp>
      <p:grpSp>
        <p:nvGrpSpPr>
          <p:cNvPr id="366" name="Google Shape;366;p18"/>
          <p:cNvGrpSpPr/>
          <p:nvPr/>
        </p:nvGrpSpPr>
        <p:grpSpPr>
          <a:xfrm>
            <a:off x="1438988" y="5632364"/>
            <a:ext cx="5215255" cy="360680"/>
            <a:chOff x="0" y="0"/>
            <a:chExt cx="4389120" cy="303530"/>
          </a:xfrm>
        </p:grpSpPr>
        <p:pic>
          <p:nvPicPr>
            <p:cNvPr id="367" name="Google Shape;367;p18"/>
            <p:cNvPicPr preferRelativeResize="0"/>
            <p:nvPr/>
          </p:nvPicPr>
          <p:blipFill rotWithShape="1">
            <a:blip r:embed="rId4">
              <a:alphaModFix/>
            </a:blip>
            <a:srcRect/>
            <a:stretch/>
          </p:blipFill>
          <p:spPr>
            <a:xfrm>
              <a:off x="0" y="0"/>
              <a:ext cx="4389120" cy="303530"/>
            </a:xfrm>
            <a:prstGeom prst="rect">
              <a:avLst/>
            </a:prstGeom>
            <a:noFill/>
            <a:ln>
              <a:noFill/>
            </a:ln>
          </p:spPr>
        </p:pic>
        <p:grpSp>
          <p:nvGrpSpPr>
            <p:cNvPr id="368" name="Google Shape;368;p18"/>
            <p:cNvGrpSpPr/>
            <p:nvPr/>
          </p:nvGrpSpPr>
          <p:grpSpPr>
            <a:xfrm>
              <a:off x="704850" y="0"/>
              <a:ext cx="3608070" cy="118745"/>
              <a:chOff x="0" y="0"/>
              <a:chExt cx="3608070" cy="118745"/>
            </a:xfrm>
          </p:grpSpPr>
          <p:cxnSp>
            <p:nvCxnSpPr>
              <p:cNvPr id="369" name="Google Shape;369;p18"/>
              <p:cNvCxnSpPr/>
              <p:nvPr/>
            </p:nvCxnSpPr>
            <p:spPr>
              <a:xfrm>
                <a:off x="133350" y="60960"/>
                <a:ext cx="3474720" cy="0"/>
              </a:xfrm>
              <a:prstGeom prst="straightConnector1">
                <a:avLst/>
              </a:prstGeom>
              <a:noFill/>
              <a:ln w="38100" cap="flat" cmpd="sng">
                <a:solidFill>
                  <a:srgbClr val="7030A0"/>
                </a:solidFill>
                <a:prstDash val="solid"/>
                <a:round/>
                <a:headEnd type="none" w="sm" len="sm"/>
                <a:tailEnd type="triangle" w="med" len="med"/>
              </a:ln>
            </p:spPr>
          </p:cxnSp>
          <p:sp>
            <p:nvSpPr>
              <p:cNvPr id="370" name="Google Shape;370;p18"/>
              <p:cNvSpPr/>
              <p:nvPr/>
            </p:nvSpPr>
            <p:spPr>
              <a:xfrm>
                <a:off x="0" y="0"/>
                <a:ext cx="118745" cy="118745"/>
              </a:xfrm>
              <a:prstGeom prst="ellipse">
                <a:avLst/>
              </a:prstGeom>
              <a:noFill/>
              <a:ln w="28575"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grpSp>
      <p:sp>
        <p:nvSpPr>
          <p:cNvPr id="29"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a:t>
            </a:r>
            <a:r>
              <a:rPr lang="en-US" sz="1400" b="0" i="1" u="none" strike="noStrike" cap="none" dirty="0" smtClean="0">
                <a:solidFill>
                  <a:srgbClr val="000000"/>
                </a:solidFill>
                <a:latin typeface="Calibri"/>
                <a:ea typeface="Calibri"/>
                <a:cs typeface="Calibri"/>
                <a:sym typeface="Calibri"/>
              </a:rPr>
              <a:t>181</a:t>
            </a:r>
            <a:endParaRPr sz="1400" b="0" i="1" u="none" strike="noStrike" cap="none" dirty="0">
              <a:solidFill>
                <a:srgbClr val="000000"/>
              </a:solidFill>
              <a:latin typeface="Calibri"/>
              <a:ea typeface="Calibri"/>
              <a:cs typeface="Calibri"/>
              <a:sym typeface="Calibri"/>
            </a:endParaRPr>
          </a:p>
        </p:txBody>
      </p:sp>
      <p:pic>
        <p:nvPicPr>
          <p:cNvPr id="3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19"/>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79" name="Google Shape;379;p19"/>
          <p:cNvSpPr txBox="1"/>
          <p:nvPr/>
        </p:nvSpPr>
        <p:spPr>
          <a:xfrm>
            <a:off x="543278" y="2500440"/>
            <a:ext cx="10834436" cy="400069"/>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rgbClr val="000000"/>
              </a:buClr>
              <a:buSzPts val="2000"/>
              <a:buFont typeface="Arial"/>
              <a:buAutoNum type="arabicPeriod" startAt="2"/>
            </a:pPr>
            <a:r>
              <a:rPr lang="en-US" sz="2000" b="0" i="0" u="none" strike="noStrike" cap="none" dirty="0" smtClean="0">
                <a:solidFill>
                  <a:srgbClr val="000000"/>
                </a:solidFill>
                <a:latin typeface="Verdana"/>
                <a:ea typeface="Verdana"/>
                <a:cs typeface="Verdana"/>
                <a:sym typeface="Verdana"/>
              </a:rPr>
              <a:t>What </a:t>
            </a:r>
            <a:r>
              <a:rPr lang="en-US" sz="2000" b="0" i="0" u="none" strike="noStrike" cap="none" dirty="0">
                <a:solidFill>
                  <a:srgbClr val="000000"/>
                </a:solidFill>
                <a:latin typeface="Verdana"/>
                <a:ea typeface="Verdana"/>
                <a:cs typeface="Verdana"/>
                <a:sym typeface="Verdana"/>
              </a:rPr>
              <a:t>strategies did you use to match each inequality to its graph?</a:t>
            </a:r>
            <a:endParaRPr sz="2000" b="0" i="0" u="none" strike="noStrike" cap="none" dirty="0">
              <a:solidFill>
                <a:srgbClr val="000000"/>
              </a:solidFill>
              <a:latin typeface="Verdana"/>
              <a:ea typeface="Verdana"/>
              <a:cs typeface="Verdana"/>
              <a:sym typeface="Verdana"/>
            </a:endParaRPr>
          </a:p>
        </p:txBody>
      </p:sp>
      <p:graphicFrame>
        <p:nvGraphicFramePr>
          <p:cNvPr id="380" name="Google Shape;380;p19"/>
          <p:cNvGraphicFramePr/>
          <p:nvPr>
            <p:extLst>
              <p:ext uri="{D42A27DB-BD31-4B8C-83A1-F6EECF244321}">
                <p14:modId xmlns:p14="http://schemas.microsoft.com/office/powerpoint/2010/main" val="2459047606"/>
              </p:ext>
            </p:extLst>
          </p:nvPr>
        </p:nvGraphicFramePr>
        <p:xfrm>
          <a:off x="1109337" y="376580"/>
          <a:ext cx="7589500" cy="1889800"/>
        </p:xfrm>
        <a:graphic>
          <a:graphicData uri="http://schemas.openxmlformats.org/drawingml/2006/table">
            <a:tbl>
              <a:tblPr firstRow="1" bandRow="1">
                <a:noFill/>
                <a:tableStyleId>{14BEB874-8EB6-4976-96A3-DF805651A6B6}</a:tableStyleId>
              </a:tblPr>
              <a:tblGrid>
                <a:gridCol w="5852150"/>
                <a:gridCol w="1737350"/>
              </a:tblGrid>
              <a:tr h="370850">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Graph</a:t>
                      </a:r>
                      <a:endParaRPr sz="2000" b="1" u="none" strike="noStrike" cap="none" dirty="0">
                        <a:latin typeface="Verdana"/>
                        <a:ea typeface="Verdana"/>
                        <a:cs typeface="Verdana"/>
                        <a:sym typeface="Verdana"/>
                      </a:endParaRPr>
                    </a:p>
                  </a:txBody>
                  <a:tcPr marL="91450" marR="91450" marT="914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Inequality</a:t>
                      </a:r>
                      <a:endParaRPr sz="2000" b="1" u="none" strike="noStrike" cap="none">
                        <a:latin typeface="Verdana"/>
                        <a:ea typeface="Verdana"/>
                        <a:cs typeface="Verdana"/>
                        <a:sym typeface="Verdana"/>
                      </a:endParaRPr>
                    </a:p>
                  </a:txBody>
                  <a:tcPr marL="91450" marR="91450" marT="91450" marB="9145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r>
              <a:tr h="370850">
                <a:tc>
                  <a:txBody>
                    <a:bodyPr/>
                    <a:lstStyle/>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u="none" strike="noStrike" cap="none">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370850">
                <a:tc>
                  <a:txBody>
                    <a:bodyPr/>
                    <a:lstStyle/>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91450" marR="91450" marT="45725" marB="4572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p:grpSp>
        <p:nvGrpSpPr>
          <p:cNvPr id="381" name="Google Shape;381;p19"/>
          <p:cNvGrpSpPr/>
          <p:nvPr/>
        </p:nvGrpSpPr>
        <p:grpSpPr>
          <a:xfrm>
            <a:off x="1451279" y="1008036"/>
            <a:ext cx="5215255" cy="360680"/>
            <a:chOff x="0" y="0"/>
            <a:chExt cx="4389120" cy="303530"/>
          </a:xfrm>
        </p:grpSpPr>
        <p:pic>
          <p:nvPicPr>
            <p:cNvPr id="382" name="Google Shape;382;p19"/>
            <p:cNvPicPr preferRelativeResize="0"/>
            <p:nvPr/>
          </p:nvPicPr>
          <p:blipFill rotWithShape="1">
            <a:blip r:embed="rId3">
              <a:alphaModFix/>
            </a:blip>
            <a:srcRect/>
            <a:stretch/>
          </p:blipFill>
          <p:spPr>
            <a:xfrm>
              <a:off x="0" y="0"/>
              <a:ext cx="4389120" cy="303530"/>
            </a:xfrm>
            <a:prstGeom prst="rect">
              <a:avLst/>
            </a:prstGeom>
            <a:noFill/>
            <a:ln>
              <a:noFill/>
            </a:ln>
          </p:spPr>
        </p:pic>
        <p:grpSp>
          <p:nvGrpSpPr>
            <p:cNvPr id="383" name="Google Shape;383;p19"/>
            <p:cNvGrpSpPr/>
            <p:nvPr/>
          </p:nvGrpSpPr>
          <p:grpSpPr>
            <a:xfrm>
              <a:off x="3324225" y="19050"/>
              <a:ext cx="1047750" cy="118745"/>
              <a:chOff x="0" y="0"/>
              <a:chExt cx="1048271" cy="118745"/>
            </a:xfrm>
          </p:grpSpPr>
          <p:sp>
            <p:nvSpPr>
              <p:cNvPr id="384" name="Google Shape;384;p19"/>
              <p:cNvSpPr/>
              <p:nvPr/>
            </p:nvSpPr>
            <p:spPr>
              <a:xfrm>
                <a:off x="0" y="0"/>
                <a:ext cx="118745" cy="118745"/>
              </a:xfrm>
              <a:prstGeom prst="ellipse">
                <a:avLst/>
              </a:prstGeom>
              <a:solidFill>
                <a:schemeClr val="accent4"/>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385" name="Google Shape;385;p19"/>
              <p:cNvCxnSpPr/>
              <p:nvPr/>
            </p:nvCxnSpPr>
            <p:spPr>
              <a:xfrm>
                <a:off x="53340" y="57150"/>
                <a:ext cx="994931" cy="0"/>
              </a:xfrm>
              <a:prstGeom prst="straightConnector1">
                <a:avLst/>
              </a:prstGeom>
              <a:noFill/>
              <a:ln w="38100" cap="flat" cmpd="sng">
                <a:solidFill>
                  <a:schemeClr val="accent4"/>
                </a:solidFill>
                <a:prstDash val="solid"/>
                <a:round/>
                <a:headEnd type="none" w="sm" len="sm"/>
                <a:tailEnd type="triangle" w="med" len="med"/>
              </a:ln>
            </p:spPr>
          </p:cxnSp>
        </p:grpSp>
      </p:grpSp>
      <p:grpSp>
        <p:nvGrpSpPr>
          <p:cNvPr id="386" name="Google Shape;386;p19"/>
          <p:cNvGrpSpPr/>
          <p:nvPr/>
        </p:nvGrpSpPr>
        <p:grpSpPr>
          <a:xfrm>
            <a:off x="1470570" y="1761916"/>
            <a:ext cx="5215255" cy="360680"/>
            <a:chOff x="0" y="0"/>
            <a:chExt cx="4389120" cy="303530"/>
          </a:xfrm>
        </p:grpSpPr>
        <p:pic>
          <p:nvPicPr>
            <p:cNvPr id="387" name="Google Shape;387;p19"/>
            <p:cNvPicPr preferRelativeResize="0"/>
            <p:nvPr/>
          </p:nvPicPr>
          <p:blipFill rotWithShape="1">
            <a:blip r:embed="rId3">
              <a:alphaModFix/>
            </a:blip>
            <a:srcRect/>
            <a:stretch/>
          </p:blipFill>
          <p:spPr>
            <a:xfrm>
              <a:off x="0" y="0"/>
              <a:ext cx="4389120" cy="303530"/>
            </a:xfrm>
            <a:prstGeom prst="rect">
              <a:avLst/>
            </a:prstGeom>
            <a:noFill/>
            <a:ln>
              <a:noFill/>
            </a:ln>
          </p:spPr>
        </p:pic>
        <p:cxnSp>
          <p:nvCxnSpPr>
            <p:cNvPr id="388" name="Google Shape;388;p19"/>
            <p:cNvCxnSpPr/>
            <p:nvPr/>
          </p:nvCxnSpPr>
          <p:spPr>
            <a:xfrm rot="10800000">
              <a:off x="47625" y="76200"/>
              <a:ext cx="1124496" cy="0"/>
            </a:xfrm>
            <a:prstGeom prst="straightConnector1">
              <a:avLst/>
            </a:prstGeom>
            <a:noFill/>
            <a:ln w="38100" cap="flat" cmpd="sng">
              <a:solidFill>
                <a:srgbClr val="00B050"/>
              </a:solidFill>
              <a:prstDash val="solid"/>
              <a:round/>
              <a:headEnd type="none" w="sm" len="sm"/>
              <a:tailEnd type="triangle" w="med" len="med"/>
            </a:ln>
          </p:spPr>
        </p:cxnSp>
        <p:sp>
          <p:nvSpPr>
            <p:cNvPr id="389" name="Google Shape;389;p19"/>
            <p:cNvSpPr/>
            <p:nvPr/>
          </p:nvSpPr>
          <p:spPr>
            <a:xfrm>
              <a:off x="1181100" y="9525"/>
              <a:ext cx="118745" cy="118745"/>
            </a:xfrm>
            <a:prstGeom prst="ellipse">
              <a:avLst/>
            </a:prstGeom>
            <a:noFill/>
            <a:ln w="28575"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
        <p:nvSpPr>
          <p:cNvPr id="16"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a:t>
            </a:r>
            <a:r>
              <a:rPr lang="en-US" sz="1400" b="0" i="1" u="none" strike="noStrike" cap="none" dirty="0" smtClean="0">
                <a:solidFill>
                  <a:srgbClr val="000000"/>
                </a:solidFill>
                <a:latin typeface="Calibri"/>
                <a:ea typeface="Calibri"/>
                <a:cs typeface="Calibri"/>
                <a:sym typeface="Calibri"/>
              </a:rPr>
              <a:t>181</a:t>
            </a:r>
            <a:endParaRPr sz="1400" b="0" i="1" u="none" strike="noStrike" cap="none" dirty="0">
              <a:solidFill>
                <a:srgbClr val="000000"/>
              </a:solidFill>
              <a:latin typeface="Calibri"/>
              <a:ea typeface="Calibri"/>
              <a:cs typeface="Calibri"/>
              <a:sym typeface="Calibri"/>
            </a:endParaRPr>
          </a:p>
        </p:txBody>
      </p:sp>
      <p:pic>
        <p:nvPicPr>
          <p:cNvPr id="1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20"/>
          <p:cNvSpPr/>
          <p:nvPr/>
        </p:nvSpPr>
        <p:spPr>
          <a:xfrm>
            <a:off x="0" y="-405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98" name="Google Shape;398;p20"/>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800"/>
              <a:buNone/>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399" name="Google Shape;399;p20"/>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a:t>
            </a:r>
            <a:r>
              <a:rPr lang="en-US" sz="1400" b="0" i="1" u="none" strike="noStrike" cap="none" dirty="0" smtClean="0">
                <a:solidFill>
                  <a:srgbClr val="000000"/>
                </a:solidFill>
                <a:latin typeface="Calibri"/>
                <a:ea typeface="Calibri"/>
                <a:cs typeface="Calibri"/>
                <a:sym typeface="Calibri"/>
              </a:rPr>
              <a:t>181</a:t>
            </a:r>
            <a:endParaRPr sz="1400" b="0" i="1" u="none" strike="noStrike" cap="none" dirty="0">
              <a:solidFill>
                <a:srgbClr val="000000"/>
              </a:solidFill>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pic>
        <p:nvPicPr>
          <p:cNvPr id="2050" name="Picture 2"/>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691871" y="1465460"/>
            <a:ext cx="4967033" cy="5147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6" name="Google Shape;406;p21"/>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8" name="Google Shape;408;p21"/>
          <p:cNvSpPr txBox="1"/>
          <p:nvPr/>
        </p:nvSpPr>
        <p:spPr>
          <a:xfrm>
            <a:off x="1154231" y="371586"/>
            <a:ext cx="9074303" cy="590891"/>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chemeClr val="dk1"/>
              </a:buClr>
              <a:buSzPts val="5400"/>
              <a:buFont typeface="Century Gothic"/>
              <a:buNone/>
            </a:pPr>
            <a:r>
              <a:rPr lang="en-US" sz="3600" b="1" i="0" u="none" strike="noStrike" cap="none" dirty="0">
                <a:solidFill>
                  <a:srgbClr val="3F2A67"/>
                </a:solidFill>
                <a:latin typeface="Verdana"/>
                <a:ea typeface="Verdana"/>
                <a:cs typeface="Verdana"/>
                <a:sym typeface="Verdana"/>
              </a:rPr>
              <a:t>5.1.6 Wrap-Up: Reflection</a:t>
            </a:r>
            <a:endParaRPr dirty="0"/>
          </a:p>
        </p:txBody>
      </p:sp>
      <p:pic>
        <p:nvPicPr>
          <p:cNvPr id="409" name="Google Shape;409;p21"/>
          <p:cNvPicPr preferRelativeResize="0"/>
          <p:nvPr/>
        </p:nvPicPr>
        <p:blipFill rotWithShape="1">
          <a:blip r:embed="rId4">
            <a:alphaModFix/>
          </a:blip>
          <a:srcRect/>
          <a:stretch/>
        </p:blipFill>
        <p:spPr>
          <a:xfrm>
            <a:off x="354900" y="293382"/>
            <a:ext cx="747300" cy="747300"/>
          </a:xfrm>
          <a:prstGeom prst="rect">
            <a:avLst/>
          </a:prstGeom>
          <a:noFill/>
          <a:ln>
            <a:noFill/>
          </a:ln>
          <a:effectLst>
            <a:outerShdw blurRad="50800" dist="38100" dir="2700000" algn="tl" rotWithShape="0">
              <a:srgbClr val="000000">
                <a:alpha val="40000"/>
              </a:srgbClr>
            </a:outerShdw>
          </a:effectLst>
        </p:spPr>
      </p:pic>
      <p:sp>
        <p:nvSpPr>
          <p:cNvPr id="410" name="Google Shape;410;p21"/>
          <p:cNvSpPr txBox="1"/>
          <p:nvPr/>
        </p:nvSpPr>
        <p:spPr>
          <a:xfrm>
            <a:off x="528304" y="1465460"/>
            <a:ext cx="8327136" cy="400110"/>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rgbClr val="000000"/>
              </a:buClr>
              <a:buSzPts val="2000"/>
              <a:buFont typeface="Arial"/>
              <a:buAutoNum type="arabicPeriod"/>
            </a:pPr>
            <a:r>
              <a:rPr lang="en-US" sz="2000" b="0" i="0" u="none" strike="noStrike" cap="none" dirty="0">
                <a:solidFill>
                  <a:srgbClr val="000000"/>
                </a:solidFill>
                <a:latin typeface="Verdana"/>
                <a:ea typeface="Verdana"/>
                <a:cs typeface="Verdana"/>
                <a:sym typeface="Verdana"/>
              </a:rPr>
              <a:t>Complete the learning pyramid.</a:t>
            </a:r>
            <a:endParaRPr sz="2000" b="0" i="0" u="none" strike="noStrike" cap="none" dirty="0">
              <a:solidFill>
                <a:srgbClr val="000000"/>
              </a:solidFill>
              <a:latin typeface="Verdana"/>
              <a:ea typeface="Verdana"/>
              <a:cs typeface="Verdana"/>
              <a:sym typeface="Verdana"/>
            </a:endParaRPr>
          </a:p>
        </p:txBody>
      </p:sp>
      <p:sp>
        <p:nvSpPr>
          <p:cNvPr id="9" name="Google Shape;125;g104476d1465_1_17"/>
          <p:cNvSpPr txBox="1"/>
          <p:nvPr/>
        </p:nvSpPr>
        <p:spPr>
          <a:xfrm>
            <a:off x="8828540" y="651666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dirty="0">
                <a:solidFill>
                  <a:srgbClr val="000000"/>
                </a:solidFill>
                <a:latin typeface="Calibri"/>
                <a:ea typeface="Calibri"/>
                <a:cs typeface="Calibri"/>
                <a:sym typeface="Calibri"/>
              </a:rPr>
              <a:t>volume 1, pg. </a:t>
            </a:r>
            <a:r>
              <a:rPr lang="en-US" sz="1400" b="0" i="1" u="none" strike="noStrike" cap="none" dirty="0" smtClean="0">
                <a:solidFill>
                  <a:srgbClr val="000000"/>
                </a:solidFill>
                <a:latin typeface="Calibri"/>
                <a:ea typeface="Calibri"/>
                <a:cs typeface="Calibri"/>
                <a:sym typeface="Calibri"/>
              </a:rPr>
              <a:t>181</a:t>
            </a:r>
            <a:endParaRPr sz="1400" b="0" i="1" u="none" strike="noStrike" cap="none" dirty="0">
              <a:solidFill>
                <a:srgbClr val="000000"/>
              </a:solidFill>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79220" y="6165087"/>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813</Words>
  <Application>Microsoft Office PowerPoint</Application>
  <PresentationFormat>Custom</PresentationFormat>
  <Paragraphs>244</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Century Gothic</vt:lpstr>
      <vt:lpstr>Wingdings</vt:lpstr>
      <vt:lpstr>Cambria Math</vt:lpstr>
      <vt:lpstr>Arial Black</vt:lpstr>
      <vt:lpstr>Verdana</vt:lpstr>
      <vt:lpstr>Open Sans</vt:lpstr>
      <vt:lpstr>Calibri</vt:lpstr>
      <vt:lpstr>Times New Roman</vt:lpstr>
      <vt:lpstr>1_Office Theme</vt:lpstr>
      <vt:lpstr>8th Grade Math: Pre-Algebra  Unit 5, Lesson 1  Determining Solutions to Inequalities  Volume 1, pg. 177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Your Turn</vt:lpstr>
      <vt:lpstr>PowerPoint Presentation</vt:lpstr>
      <vt:lpstr>Collaboration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8th Grade Math: Pre-Algebra  Unit 5, Lesson 1  Determining Solutions to Inequalities  Volume 1, pg. 177</dc:title>
  <dc:creator>Karen McKenzie</dc:creator>
  <cp:lastModifiedBy>Sensei</cp:lastModifiedBy>
  <cp:revision>8</cp:revision>
  <dcterms:created xsi:type="dcterms:W3CDTF">2015-03-17T18:51:18Z</dcterms:created>
  <dcterms:modified xsi:type="dcterms:W3CDTF">2022-06-16T00:27:02Z</dcterms:modified>
</cp:coreProperties>
</file>