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314" r:id="rId8"/>
    <p:sldId id="315" r:id="rId9"/>
    <p:sldId id="352" r:id="rId10"/>
    <p:sldId id="370" r:id="rId11"/>
    <p:sldId id="317" r:id="rId12"/>
    <p:sldId id="318" r:id="rId13"/>
    <p:sldId id="363" r:id="rId14"/>
    <p:sldId id="371" r:id="rId15"/>
    <p:sldId id="302" r:id="rId16"/>
    <p:sldId id="303" r:id="rId17"/>
    <p:sldId id="369" r:id="rId18"/>
    <p:sldId id="306" r:id="rId19"/>
    <p:sldId id="307" r:id="rId20"/>
  </p:sldIdLst>
  <p:sldSz cx="12192000" cy="6858000"/>
  <p:notesSz cx="6858000" cy="9144000"/>
  <p:embeddedFontLst>
    <p:embeddedFont>
      <p:font typeface="Arial Black" panose="020B0604020202020204" pitchFamily="34" charset="0"/>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autoAdjust="0"/>
    <p:restoredTop sz="94694"/>
  </p:normalViewPr>
  <p:slideViewPr>
    <p:cSldViewPr snapToGrid="0">
      <p:cViewPr varScale="1">
        <p:scale>
          <a:sx n="81" d="100"/>
          <a:sy n="81" d="100"/>
        </p:scale>
        <p:origin x="200" y="3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99434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92116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92116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00.png"/><Relationship Id="rId5" Type="http://schemas.openxmlformats.org/officeDocument/2006/relationships/image" Target="../media/image2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14875"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10" name="Google Shape;261;g104476d1465_0_0"/>
          <p:cNvSpPr txBox="1">
            <a:spLocks/>
          </p:cNvSpPr>
          <p:nvPr/>
        </p:nvSpPr>
        <p:spPr>
          <a:xfrm>
            <a:off x="5269997" y="2054274"/>
            <a:ext cx="587084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400" b="1" dirty="0">
                <a:solidFill>
                  <a:srgbClr val="417DBF"/>
                </a:solidFill>
                <a:latin typeface="Verdana"/>
                <a:ea typeface="Verdana"/>
                <a:cs typeface="Verdana"/>
                <a:sym typeface="Verdana"/>
              </a:rPr>
              <a:t>8</a:t>
            </a:r>
            <a:r>
              <a:rPr lang="en-US" sz="3400" b="1" baseline="30000" dirty="0">
                <a:solidFill>
                  <a:srgbClr val="417DBF"/>
                </a:solidFill>
                <a:latin typeface="Verdana"/>
                <a:ea typeface="Verdana"/>
                <a:cs typeface="Verdana"/>
                <a:sym typeface="Verdana"/>
              </a:rPr>
              <a:t>th</a:t>
            </a:r>
            <a:r>
              <a:rPr lang="en-US" sz="3400" b="1" dirty="0">
                <a:solidFill>
                  <a:srgbClr val="417DBF"/>
                </a:solidFill>
                <a:latin typeface="Verdana"/>
                <a:ea typeface="Verdana"/>
                <a:cs typeface="Verdana"/>
                <a:sym typeface="Verdana"/>
              </a:rPr>
              <a:t> Grade Math: </a:t>
            </a:r>
            <a:br>
              <a:rPr lang="en-US" sz="34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Pre-Algebra</a:t>
            </a:r>
            <a:br>
              <a:rPr lang="en-US" sz="3400" b="1" dirty="0">
                <a:solidFill>
                  <a:srgbClr val="417DBF"/>
                </a:solidFill>
                <a:latin typeface="Verdana"/>
                <a:ea typeface="Verdana"/>
                <a:cs typeface="Verdana"/>
                <a:sym typeface="Verdana"/>
              </a:rPr>
            </a:br>
            <a:endParaRPr lang="en-US" sz="3400" b="1" dirty="0">
              <a:solidFill>
                <a:srgbClr val="417DBF"/>
              </a:solidFill>
              <a:latin typeface="Verdana"/>
              <a:ea typeface="Verdana"/>
              <a:cs typeface="Verdana"/>
              <a:sym typeface="Verdana"/>
            </a:endParaRPr>
          </a:p>
          <a:p>
            <a:pPr lvl="0" algn="ctr">
              <a:lnSpc>
                <a:spcPct val="100000"/>
              </a:lnSpc>
              <a:buClr>
                <a:srgbClr val="000000"/>
              </a:buClr>
            </a:pPr>
            <a:r>
              <a:rPr lang="en-US" sz="3400" b="1" dirty="0">
                <a:solidFill>
                  <a:srgbClr val="417DBF"/>
                </a:solidFill>
                <a:latin typeface="Verdana"/>
                <a:ea typeface="Verdana"/>
                <a:cs typeface="Verdana"/>
                <a:sym typeface="Verdana"/>
              </a:rPr>
              <a:t>Unit 5, Lesson 10</a:t>
            </a:r>
            <a:br>
              <a:rPr lang="en-US" sz="3400" b="1" dirty="0">
                <a:solidFill>
                  <a:srgbClr val="417DBF"/>
                </a:solidFill>
                <a:latin typeface="Verdana"/>
                <a:ea typeface="Verdana"/>
                <a:cs typeface="Verdana"/>
                <a:sym typeface="Verdana"/>
              </a:rPr>
            </a:br>
            <a:br>
              <a:rPr lang="en-US" sz="34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Solving Real-World Problems on a Coordinate Plane with the Pythagorean Theorem</a:t>
            </a:r>
            <a:br>
              <a:rPr lang="en-US" sz="3400" b="1" dirty="0">
                <a:solidFill>
                  <a:srgbClr val="417DBF"/>
                </a:solidFill>
                <a:latin typeface="Verdana"/>
                <a:ea typeface="Verdana"/>
                <a:cs typeface="Verdana"/>
                <a:sym typeface="Verdana"/>
              </a:rPr>
            </a:br>
            <a:br>
              <a:rPr lang="en-US" sz="34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228</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MA.8.GR.1.2</a:t>
            </a:r>
          </a:p>
          <a:p>
            <a:pPr indent="0">
              <a:buNone/>
            </a:pPr>
            <a:r>
              <a:rPr lang="en-US" sz="3600" dirty="0">
                <a:solidFill>
                  <a:schemeClr val="tx1"/>
                </a:solidFill>
                <a:latin typeface="Verdana"/>
                <a:ea typeface="Verdana"/>
                <a:cs typeface="Verdana"/>
                <a:sym typeface="Verdana"/>
              </a:rPr>
              <a:t>Apply the Pythagorean Theorem to solve mathematical and real-world problems involving the distance between two points in a coordinate plane.</a:t>
            </a:r>
            <a:endParaRPr lang="en-US" sz="2400" dirty="0">
              <a:solidFill>
                <a:schemeClr val="tx1"/>
              </a:solidFill>
              <a:latin typeface="Century Gothic"/>
              <a:ea typeface="Century Gothic"/>
              <a:cs typeface="Century Gothic"/>
              <a:sym typeface="Century Gothic"/>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5"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5"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apply the Pythagorean Theorem to determine the distance between two points on a coordinate plane.</a:t>
            </a:r>
          </a:p>
          <a:p>
            <a:pPr marL="685800" indent="-685800">
              <a:buClr>
                <a:srgbClr val="434343"/>
              </a:buClr>
              <a:buSzPts val="3500"/>
              <a:buFont typeface="Wingdings" pitchFamily="2" charset="2"/>
              <a:buChar char="q"/>
            </a:pPr>
            <a:endParaRPr lang="en-US" sz="3500" dirty="0">
              <a:solidFill>
                <a:schemeClr val="tx1"/>
              </a:solidFill>
              <a:latin typeface="Verdana"/>
              <a:ea typeface="Verdana"/>
              <a:cs typeface="Verdana"/>
              <a:sym typeface="Verdana"/>
            </a:endParaRPr>
          </a:p>
          <a:p>
            <a:pPr marL="685800" indent="-685800">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apply the Pythagorean Theorem in a real-world context.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47334" y="1196711"/>
                <a:ext cx="8327135" cy="5017464"/>
              </a:xfrm>
              <a:prstGeom prst="rect">
                <a:avLst/>
              </a:prstGeom>
              <a:noFill/>
            </p:spPr>
            <p:txBody>
              <a:bodyPr wrap="square" rtlCol="0">
                <a:spAutoFit/>
              </a:bodyPr>
              <a:lstStyle/>
              <a:p>
                <a:pPr>
                  <a:spcAft>
                    <a:spcPts val="1200"/>
                  </a:spcAft>
                </a:pPr>
                <a:r>
                  <a:rPr lang="en-US" sz="2000" dirty="0">
                    <a:latin typeface="Verdana"/>
                    <a:ea typeface="Times New Roman"/>
                    <a:cs typeface="Times New Roman"/>
                  </a:rPr>
                  <a:t>Triangle </a:t>
                </a:r>
                <a14:m>
                  <m:oMath xmlns:m="http://schemas.openxmlformats.org/officeDocument/2006/math">
                    <m:r>
                      <a:rPr lang="en-US" sz="2000" i="1">
                        <a:latin typeface="Cambria Math"/>
                        <a:ea typeface="Times New Roman"/>
                        <a:cs typeface="Times New Roman"/>
                      </a:rPr>
                      <m:t>𝐺𝐿𝐴</m:t>
                    </m:r>
                  </m:oMath>
                </a14:m>
                <a:r>
                  <a:rPr lang="en-US" sz="2000" dirty="0">
                    <a:latin typeface="Verdana"/>
                    <a:ea typeface="Times New Roman"/>
                    <a:cs typeface="Times New Roman"/>
                  </a:rPr>
                  <a:t> is shown on the coordinate plane.</a:t>
                </a: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a:spcAft>
                    <a:spcPts val="1200"/>
                  </a:spcAft>
                </a:pPr>
                <a:endParaRPr lang="en-US" sz="2000" dirty="0">
                  <a:latin typeface="Verdana"/>
                  <a:ea typeface="Verdana" pitchFamily="34" charset="0"/>
                  <a:cs typeface="Times New Roman"/>
                </a:endParaRPr>
              </a:p>
              <a:p>
                <a:pPr marL="457200" indent="-457200">
                  <a:spcAft>
                    <a:spcPts val="1200"/>
                  </a:spcAft>
                  <a:buFont typeface="+mj-lt"/>
                  <a:buAutoNum type="arabicPeriod"/>
                </a:pPr>
                <a:r>
                  <a:rPr lang="en-US" sz="2000" dirty="0">
                    <a:latin typeface="Verdana"/>
                    <a:ea typeface="Times New Roman"/>
                    <a:cs typeface="Times New Roman"/>
                  </a:rPr>
                  <a:t>Find the exact length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ea typeface="Times New Roman"/>
                            <a:cs typeface="Times New Roman"/>
                          </a:rPr>
                          <m:t>𝐺𝐿</m:t>
                        </m:r>
                      </m:e>
                    </m:acc>
                    <m:r>
                      <a:rPr lang="en-US" sz="2000" i="1">
                        <a:latin typeface="Cambria Math"/>
                        <a:ea typeface="Times New Roman"/>
                        <a:cs typeface="Times New Roman"/>
                      </a:rPr>
                      <m:t>.</m:t>
                    </m:r>
                  </m:oMath>
                </a14:m>
                <a:endParaRPr lang="en-US" sz="2000" dirty="0">
                  <a:latin typeface="Verdana"/>
                  <a:ea typeface="Verdana" pitchFamily="34" charset="0"/>
                  <a:cs typeface="Times New Roman"/>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47334" y="1196711"/>
                <a:ext cx="8327135" cy="5017464"/>
              </a:xfrm>
              <a:prstGeom prst="rect">
                <a:avLst/>
              </a:prstGeom>
              <a:blipFill>
                <a:blip r:embed="rId5"/>
                <a:stretch>
                  <a:fillRect l="-805" t="-608" b="-1337"/>
                </a:stretch>
              </a:blipFill>
            </p:spPr>
            <p:txBody>
              <a:bodyPr/>
              <a:lstStyle/>
              <a:p>
                <a:r>
                  <a:rPr lang="en-US">
                    <a:noFill/>
                  </a:rPr>
                  <a:t> </a:t>
                </a:r>
              </a:p>
            </p:txBody>
          </p:sp>
        </mc:Fallback>
      </mc:AlternateContent>
      <p:pic>
        <p:nvPicPr>
          <p:cNvPr id="11" name="Picture 10" descr="Chart, line chart&#10;&#10;Description automatically generated"/>
          <p:cNvPicPr/>
          <p:nvPr/>
        </p:nvPicPr>
        <p:blipFill>
          <a:blip r:embed="rId6" cstate="screen">
            <a:extLst>
              <a:ext uri="{28A0092B-C50C-407E-A947-70E740481C1C}">
                <a14:useLocalDpi xmlns:a14="http://schemas.microsoft.com/office/drawing/2010/main"/>
              </a:ext>
            </a:extLst>
          </a:blip>
          <a:stretch>
            <a:fillRect/>
          </a:stretch>
        </p:blipFill>
        <p:spPr>
          <a:xfrm>
            <a:off x="3687890" y="1753390"/>
            <a:ext cx="5563520" cy="3904106"/>
          </a:xfrm>
          <a:prstGeom prst="rect">
            <a:avLst/>
          </a:prstGeom>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10"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5.10.1 Warm-Up: Bell Work</a:t>
            </a:r>
          </a:p>
        </p:txBody>
      </p:sp>
      <p:pic>
        <p:nvPicPr>
          <p:cNvPr id="15"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8">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529070" y="1386025"/>
            <a:ext cx="6805179" cy="3631763"/>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a:ea typeface="Times New Roman"/>
                <a:cs typeface="Times New Roman"/>
              </a:rPr>
              <a:t>Work with your partner to answer the following questions.</a:t>
            </a:r>
            <a:br>
              <a:rPr lang="en-US" sz="2000" dirty="0">
                <a:latin typeface="Verdana"/>
                <a:ea typeface="Times New Roman"/>
                <a:cs typeface="Times New Roman"/>
              </a:rPr>
            </a:br>
            <a:br>
              <a:rPr lang="en-US" sz="2000" dirty="0">
                <a:latin typeface="Verdana"/>
                <a:ea typeface="Times New Roman"/>
                <a:cs typeface="Times New Roman"/>
              </a:rPr>
            </a:br>
            <a:r>
              <a:rPr lang="en-US" sz="2000" dirty="0">
                <a:latin typeface="Verdana"/>
                <a:ea typeface="Times New Roman"/>
                <a:cs typeface="Times New Roman"/>
              </a:rPr>
              <a:t>The figure shows the position of different soccer players during a recent game. Jose wants to pass the ball to Harlan.</a:t>
            </a:r>
            <a:br>
              <a:rPr lang="en-US" sz="2000" dirty="0">
                <a:latin typeface="Verdana"/>
                <a:ea typeface="Times New Roman"/>
                <a:cs typeface="Times New Roman"/>
              </a:rPr>
            </a:br>
            <a:br>
              <a:rPr lang="en-US" sz="2000" dirty="0">
                <a:latin typeface="Verdana"/>
                <a:ea typeface="Times New Roman"/>
                <a:cs typeface="Times New Roman"/>
              </a:rPr>
            </a:br>
            <a:r>
              <a:rPr lang="en-US" sz="2000" dirty="0">
                <a:latin typeface="Verdana"/>
                <a:ea typeface="Times New Roman"/>
                <a:cs typeface="Times New Roman"/>
              </a:rPr>
              <a:t>He has two options.</a:t>
            </a:r>
          </a:p>
          <a:p>
            <a:pPr marL="914400" indent="-457200">
              <a:buFont typeface="+mj-lt"/>
              <a:buAutoNum type="alphaUcPeriod"/>
            </a:pPr>
            <a:r>
              <a:rPr lang="en-US" sz="2000" dirty="0">
                <a:latin typeface="Verdana"/>
                <a:ea typeface="Times New Roman"/>
                <a:cs typeface="Times New Roman"/>
              </a:rPr>
              <a:t>Pass the ball directly to Harlan.</a:t>
            </a:r>
          </a:p>
          <a:p>
            <a:pPr marL="914400" indent="-457200">
              <a:buFont typeface="+mj-lt"/>
              <a:buAutoNum type="alphaUcPeriod"/>
            </a:pPr>
            <a:r>
              <a:rPr lang="en-US" sz="2000" dirty="0">
                <a:latin typeface="Verdana"/>
                <a:ea typeface="Times New Roman"/>
                <a:cs typeface="Times New Roman"/>
              </a:rPr>
              <a:t>Pass the ball to Alma, who can pass </a:t>
            </a:r>
            <a:br>
              <a:rPr lang="en-US" sz="2000" dirty="0">
                <a:latin typeface="Verdana"/>
                <a:ea typeface="Times New Roman"/>
                <a:cs typeface="Times New Roman"/>
              </a:rPr>
            </a:br>
            <a:r>
              <a:rPr lang="en-US" sz="2000" dirty="0">
                <a:latin typeface="Verdana"/>
                <a:ea typeface="Times New Roman"/>
                <a:cs typeface="Times New Roman"/>
              </a:rPr>
              <a:t>the ball to Harlan.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2"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40530" y="1386025"/>
            <a:ext cx="3990582" cy="3893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378363"/>
            <a:ext cx="9510717"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5.10.2 Collaboration: Pass the Ball!</a:t>
            </a:r>
          </a:p>
        </p:txBody>
      </p:sp>
      <p:pic>
        <p:nvPicPr>
          <p:cNvPr id="16"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FA392D8-3ED3-7940-83A8-1451AA8A08D4}"/>
              </a:ext>
            </a:extLst>
          </p:cNvPr>
          <p:cNvSpPr txBox="1"/>
          <p:nvPr/>
        </p:nvSpPr>
        <p:spPr>
          <a:xfrm>
            <a:off x="540565" y="520394"/>
            <a:ext cx="11065362" cy="4524315"/>
          </a:xfrm>
          <a:prstGeom prst="rect">
            <a:avLst/>
          </a:prstGeom>
          <a:noFill/>
        </p:spPr>
        <p:txBody>
          <a:bodyPr wrap="square" rtlCol="0">
            <a:spAutoFit/>
          </a:bodyPr>
          <a:lstStyle/>
          <a:p>
            <a:pPr marL="914400" indent="-457200">
              <a:buFont typeface="+mj-lt"/>
              <a:buAutoNum type="alphaLcPeriod"/>
            </a:pPr>
            <a:r>
              <a:rPr lang="en-US" sz="2400" dirty="0">
                <a:latin typeface="Verdana"/>
                <a:ea typeface="Times New Roman"/>
                <a:cs typeface="Times New Roman"/>
              </a:rPr>
              <a:t>Which strategy, A or B, do you think will get the ball to Harlan faster?</a:t>
            </a: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r>
              <a:rPr lang="en-US" sz="2400" dirty="0">
                <a:latin typeface="Verdana"/>
                <a:ea typeface="Times New Roman"/>
                <a:cs typeface="Times New Roman"/>
              </a:rPr>
              <a:t>How far does the ball travel with strategy A?</a:t>
            </a: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endParaRPr lang="en-US" sz="2400" dirty="0">
              <a:latin typeface="Verdana"/>
              <a:ea typeface="Times New Roman"/>
              <a:cs typeface="Times New Roman"/>
            </a:endParaRPr>
          </a:p>
          <a:p>
            <a:pPr marL="914400" indent="-457200">
              <a:buFont typeface="+mj-lt"/>
              <a:buAutoNum type="alphaLcPeriod"/>
            </a:pPr>
            <a:r>
              <a:rPr lang="en-US" sz="2400" dirty="0">
                <a:latin typeface="Verdana"/>
                <a:ea typeface="Times New Roman"/>
                <a:cs typeface="Times New Roman"/>
              </a:rPr>
              <a:t>How far does the ball travel with strategy B?</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540565" y="520394"/>
                <a:ext cx="11065362" cy="5592237"/>
              </a:xfrm>
              <a:prstGeom prst="rect">
                <a:avLst/>
              </a:prstGeom>
              <a:noFill/>
            </p:spPr>
            <p:txBody>
              <a:bodyPr wrap="square" rtlCol="0">
                <a:spAutoFit/>
              </a:bodyPr>
              <a:lstStyle/>
              <a:p>
                <a:r>
                  <a:rPr lang="en-US" sz="2000" dirty="0">
                    <a:latin typeface="Verdana"/>
                    <a:ea typeface="Times New Roman"/>
                    <a:cs typeface="Times New Roman"/>
                  </a:rPr>
                  <a:t>Jose and Alma pass the ball at different speeds. Jose can kick the ball forward at a rate of </a:t>
                </a:r>
                <a14:m>
                  <m:oMath xmlns:m="http://schemas.openxmlformats.org/officeDocument/2006/math">
                    <m:r>
                      <a:rPr lang="en-US" sz="2000" i="1">
                        <a:latin typeface="Cambria Math"/>
                        <a:ea typeface="Times New Roman"/>
                        <a:cs typeface="Times New Roman"/>
                      </a:rPr>
                      <m:t>2</m:t>
                    </m:r>
                  </m:oMath>
                </a14:m>
                <a:r>
                  <a:rPr lang="en-US" sz="2000" dirty="0">
                    <a:latin typeface="Verdana"/>
                    <a:ea typeface="Times New Roman"/>
                    <a:cs typeface="Times New Roman"/>
                  </a:rPr>
                  <a:t> meters per second, while Alma can kick the ball forward at a rate of </a:t>
                </a:r>
                <a14:m>
                  <m:oMath xmlns:m="http://schemas.openxmlformats.org/officeDocument/2006/math">
                    <m:r>
                      <a:rPr lang="en-US" sz="2000" i="1">
                        <a:latin typeface="Cambria Math"/>
                        <a:ea typeface="Times New Roman"/>
                        <a:cs typeface="Times New Roman"/>
                      </a:rPr>
                      <m:t>4</m:t>
                    </m:r>
                  </m:oMath>
                </a14:m>
                <a:r>
                  <a:rPr lang="en-US" sz="2000" dirty="0">
                    <a:latin typeface="Verdana"/>
                    <a:ea typeface="Times New Roman"/>
                    <a:cs typeface="Times New Roman"/>
                  </a:rPr>
                  <a:t> meters per second.</a:t>
                </a:r>
              </a:p>
              <a:p>
                <a:pPr marL="914400" indent="-457200">
                  <a:spcBef>
                    <a:spcPts val="2000"/>
                  </a:spcBef>
                  <a:spcAft>
                    <a:spcPts val="1200"/>
                  </a:spcAft>
                  <a:buFont typeface="+mj-lt"/>
                  <a:buAutoNum type="alphaLcPeriod" startAt="4"/>
                </a:pPr>
                <a:r>
                  <a:rPr lang="en-US" sz="2000" dirty="0">
                    <a:latin typeface="Verdana"/>
                    <a:ea typeface="Times New Roman"/>
                    <a:cs typeface="Times New Roman"/>
                  </a:rPr>
                  <a:t>Calculate the time that each strategy would take.</a:t>
                </a:r>
              </a:p>
              <a:p>
                <a:pPr marL="457200">
                  <a:lnSpc>
                    <a:spcPct val="115000"/>
                  </a:lnSpc>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Times New Roman"/>
                              <a:cs typeface="Times New Roman"/>
                            </a:rPr>
                          </m:ctrlPr>
                        </m:fPr>
                        <m:num>
                          <m:r>
                            <a:rPr lang="en-US" sz="2000" i="1">
                              <a:latin typeface="Cambria Math"/>
                              <a:ea typeface="Times New Roman"/>
                              <a:cs typeface="Times New Roman"/>
                            </a:rPr>
                            <m:t>𝐷𝑖𝑠𝑡𝑎𝑛𝑐𝑒</m:t>
                          </m:r>
                        </m:num>
                        <m:den>
                          <m:r>
                            <a:rPr lang="en-US" sz="2000" i="1">
                              <a:latin typeface="Cambria Math"/>
                              <a:ea typeface="Times New Roman"/>
                              <a:cs typeface="Times New Roman"/>
                            </a:rPr>
                            <m:t>𝑅𝑎𝑡𝑒</m:t>
                          </m:r>
                        </m:den>
                      </m:f>
                      <m:r>
                        <a:rPr lang="en-US" sz="2000" i="1">
                          <a:latin typeface="Cambria Math"/>
                          <a:ea typeface="Times New Roman"/>
                          <a:cs typeface="Times New Roman"/>
                        </a:rPr>
                        <m:t>=</m:t>
                      </m:r>
                      <m:r>
                        <a:rPr lang="en-US" sz="2000" i="1">
                          <a:latin typeface="Cambria Math"/>
                          <a:ea typeface="Times New Roman"/>
                          <a:cs typeface="Times New Roman"/>
                        </a:rPr>
                        <m:t>𝑇𝑖𝑚𝑒</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15000"/>
                  </a:lnSpc>
                  <a:spcAft>
                    <a:spcPts val="12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spcBef>
                    <a:spcPts val="2000"/>
                  </a:spcBef>
                  <a:spcAft>
                    <a:spcPts val="1000"/>
                  </a:spcAft>
                  <a:buSzPts val="1800"/>
                  <a:buFont typeface="+mj-lt"/>
                  <a:buAutoNum type="alphaLcPeriod" startAt="5"/>
                </a:pPr>
                <a:r>
                  <a:rPr lang="en-US" sz="2000" dirty="0">
                    <a:latin typeface="Verdana"/>
                    <a:ea typeface="Times New Roman"/>
                    <a:cs typeface="Times New Roman"/>
                  </a:rPr>
                  <a:t>How did the actual times for each strategy compare to your prediction?</a:t>
                </a:r>
                <a:endParaRPr lang="en-US" sz="2000" dirty="0">
                  <a:latin typeface="Cambria"/>
                  <a:ea typeface="Times New Roman"/>
                  <a:cs typeface="Times New Roman"/>
                </a:endParaRPr>
              </a:p>
            </p:txBody>
          </p:sp>
        </mc:Choice>
        <mc:Fallback xmlns="">
          <p:sp>
            <p:nvSpPr>
              <p:cNvPr id="10" name="TextBox 9">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40565" y="520394"/>
                <a:ext cx="11065362" cy="5592237"/>
              </a:xfrm>
              <a:prstGeom prst="rect">
                <a:avLst/>
              </a:prstGeom>
              <a:blipFill rotWithShape="1">
                <a:blip r:embed="rId3"/>
                <a:stretch>
                  <a:fillRect l="-606" t="-545" b="-871"/>
                </a:stretch>
              </a:blipFill>
            </p:spPr>
            <p:txBody>
              <a:bodyPr/>
              <a:lstStyle/>
              <a:p>
                <a:r>
                  <a:rPr lang="en-US">
                    <a:noFill/>
                  </a:rPr>
                  <a:t> </a:t>
                </a:r>
              </a:p>
            </p:txBody>
          </p:sp>
        </mc:Fallback>
      </mc:AlternateContent>
      <p:sp>
        <p:nvSpPr>
          <p:cNvPr id="278" name="Google Shape;278;g104476d1465_1_17"/>
          <p:cNvSpPr/>
          <p:nvPr/>
        </p:nvSpPr>
        <p:spPr>
          <a:xfrm>
            <a:off x="-2371"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p:cNvGraphicFramePr>
            <a:graphicFrameLocks noGrp="1"/>
          </p:cNvGraphicFramePr>
          <p:nvPr>
            <p:extLst>
              <p:ext uri="{D42A27DB-BD31-4B8C-83A1-F6EECF244321}">
                <p14:modId xmlns:p14="http://schemas.microsoft.com/office/powerpoint/2010/main" val="56388363"/>
              </p:ext>
            </p:extLst>
          </p:nvPr>
        </p:nvGraphicFramePr>
        <p:xfrm>
          <a:off x="1572388" y="3098525"/>
          <a:ext cx="7315199" cy="2407920"/>
        </p:xfrm>
        <a:graphic>
          <a:graphicData uri="http://schemas.openxmlformats.org/drawingml/2006/table">
            <a:tbl>
              <a:tblPr firstRow="1" firstCol="1" bandRow="1"/>
              <a:tblGrid>
                <a:gridCol w="2646754">
                  <a:extLst>
                    <a:ext uri="{9D8B030D-6E8A-4147-A177-3AD203B41FA5}">
                      <a16:colId xmlns:a16="http://schemas.microsoft.com/office/drawing/2014/main" val="20000"/>
                    </a:ext>
                  </a:extLst>
                </a:gridCol>
                <a:gridCol w="2333854">
                  <a:extLst>
                    <a:ext uri="{9D8B030D-6E8A-4147-A177-3AD203B41FA5}">
                      <a16:colId xmlns:a16="http://schemas.microsoft.com/office/drawing/2014/main" val="20001"/>
                    </a:ext>
                  </a:extLst>
                </a:gridCol>
                <a:gridCol w="2334591">
                  <a:extLst>
                    <a:ext uri="{9D8B030D-6E8A-4147-A177-3AD203B41FA5}">
                      <a16:colId xmlns:a16="http://schemas.microsoft.com/office/drawing/2014/main" val="20002"/>
                    </a:ext>
                  </a:extLst>
                </a:gridCol>
              </a:tblGrid>
              <a:tr h="457200">
                <a:tc>
                  <a:txBody>
                    <a:bodyPr/>
                    <a:lstStyle/>
                    <a:p>
                      <a:pPr marL="0" indent="0" algn="ctr">
                        <a:spcAft>
                          <a:spcPts val="0"/>
                        </a:spcAft>
                      </a:pPr>
                      <a:r>
                        <a:rPr lang="en-US" sz="2000" b="1" dirty="0">
                          <a:effectLst/>
                          <a:latin typeface="Verdana" pitchFamily="34" charset="0"/>
                          <a:ea typeface="Verdana" pitchFamily="34" charset="0"/>
                          <a:cs typeface="Times New Roman"/>
                        </a:rPr>
                        <a:t>Jose to Harlan</a:t>
                      </a:r>
                      <a:endParaRPr lang="en-US" sz="2000"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indent="0" algn="ctr">
                        <a:spcAft>
                          <a:spcPts val="0"/>
                        </a:spcAft>
                      </a:pPr>
                      <a:r>
                        <a:rPr lang="en-US" sz="2000" b="1" dirty="0">
                          <a:effectLst/>
                          <a:latin typeface="Verdana" pitchFamily="34" charset="0"/>
                          <a:ea typeface="Verdana" pitchFamily="34" charset="0"/>
                          <a:cs typeface="Times New Roman"/>
                        </a:rPr>
                        <a:t>Jose to Alma</a:t>
                      </a:r>
                      <a:endParaRPr lang="en-US" sz="2000"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indent="0" algn="ctr">
                        <a:spcAft>
                          <a:spcPts val="0"/>
                        </a:spcAft>
                      </a:pPr>
                      <a:r>
                        <a:rPr lang="en-US" sz="2000" b="1" dirty="0">
                          <a:effectLst/>
                          <a:latin typeface="Verdana" pitchFamily="34" charset="0"/>
                          <a:ea typeface="Verdana" pitchFamily="34" charset="0"/>
                          <a:cs typeface="Times New Roman"/>
                        </a:rPr>
                        <a:t>Alma to Harlan</a:t>
                      </a:r>
                      <a:endParaRPr lang="en-US" sz="2000"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pPr marL="457200" algn="ctr">
                        <a:spcAft>
                          <a:spcPts val="0"/>
                        </a:spcAft>
                      </a:pPr>
                      <a:endParaRPr lang="en-US" sz="2000" b="1" dirty="0">
                        <a:effectLst/>
                        <a:latin typeface="Verdana" pitchFamily="34" charset="0"/>
                        <a:ea typeface="Verdana" pitchFamily="34" charset="0"/>
                        <a:cs typeface="Times New Roman"/>
                      </a:endParaRPr>
                    </a:p>
                    <a:p>
                      <a:pPr marL="457200" algn="ctr">
                        <a:spcAft>
                          <a:spcPts val="0"/>
                        </a:spcAft>
                      </a:pPr>
                      <a:endParaRPr lang="en-US" sz="2000" b="1" dirty="0">
                        <a:effectLst/>
                        <a:latin typeface="Verdana" pitchFamily="34" charset="0"/>
                        <a:ea typeface="Verdana" pitchFamily="34" charset="0"/>
                        <a:cs typeface="Times New Roman"/>
                      </a:endParaRPr>
                    </a:p>
                    <a:p>
                      <a:pPr marL="457200" algn="ctr">
                        <a:spcAft>
                          <a:spcPts val="0"/>
                        </a:spcAft>
                      </a:pPr>
                      <a:endParaRPr lang="en-US" sz="2000" b="1" dirty="0">
                        <a:effectLst/>
                        <a:latin typeface="Verdana" pitchFamily="34" charset="0"/>
                        <a:ea typeface="Verdana" pitchFamily="34" charset="0"/>
                        <a:cs typeface="Times New Roman"/>
                      </a:endParaRPr>
                    </a:p>
                    <a:p>
                      <a:pPr marL="457200" algn="ctr">
                        <a:spcAft>
                          <a:spcPts val="0"/>
                        </a:spcAft>
                      </a:pPr>
                      <a:endParaRPr lang="en-US" sz="2000" b="1"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7200" algn="ctr">
                        <a:spcAft>
                          <a:spcPts val="0"/>
                        </a:spcAft>
                      </a:pPr>
                      <a:r>
                        <a:rPr lang="en-US" sz="2000" b="1" dirty="0">
                          <a:effectLst/>
                          <a:latin typeface="Verdana" pitchFamily="34" charset="0"/>
                          <a:ea typeface="Verdana" pitchFamily="34" charset="0"/>
                          <a:cs typeface="Times New Roman"/>
                        </a:rPr>
                        <a:t> </a:t>
                      </a:r>
                      <a:endParaRPr lang="en-US" sz="2000"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7200" algn="ctr">
                        <a:spcAft>
                          <a:spcPts val="0"/>
                        </a:spcAft>
                      </a:pPr>
                      <a:r>
                        <a:rPr lang="en-US" sz="2000" b="1" dirty="0">
                          <a:effectLst/>
                          <a:latin typeface="Verdana" pitchFamily="34" charset="0"/>
                          <a:ea typeface="Verdana" pitchFamily="34" charset="0"/>
                          <a:cs typeface="Times New Roman"/>
                        </a:rPr>
                        <a:t> </a:t>
                      </a:r>
                      <a:endParaRPr lang="en-US" sz="2000" dirty="0">
                        <a:effectLst/>
                        <a:latin typeface="Verdana" pitchFamily="34" charset="0"/>
                        <a:ea typeface="Verdana" pitchFamily="34" charset="0"/>
                        <a:cs typeface="Times New Roman"/>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spcAft>
                          <a:spcPts val="0"/>
                        </a:spcAft>
                      </a:pPr>
                      <a:r>
                        <a:rPr lang="en-US" sz="2000" b="1" dirty="0">
                          <a:effectLst/>
                          <a:latin typeface="Verdana" pitchFamily="34" charset="0"/>
                          <a:ea typeface="Verdana" pitchFamily="34" charset="0"/>
                          <a:cs typeface="Times New Roman"/>
                        </a:rPr>
                        <a:t>Total Time for Strategy A:</a:t>
                      </a:r>
                      <a:endParaRPr lang="en-US"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indent="0">
                        <a:spcAft>
                          <a:spcPts val="0"/>
                        </a:spcAft>
                      </a:pPr>
                      <a:r>
                        <a:rPr lang="en-US" sz="2000" b="1" dirty="0">
                          <a:effectLst/>
                          <a:latin typeface="Verdana" pitchFamily="34" charset="0"/>
                          <a:ea typeface="Verdana" pitchFamily="34" charset="0"/>
                          <a:cs typeface="Times New Roman"/>
                        </a:rPr>
                        <a:t>Total Time for </a:t>
                      </a:r>
                      <a:br>
                        <a:rPr lang="en-US" sz="2000" b="1" dirty="0">
                          <a:effectLst/>
                          <a:latin typeface="Verdana" pitchFamily="34" charset="0"/>
                          <a:ea typeface="Verdana" pitchFamily="34" charset="0"/>
                          <a:cs typeface="Times New Roman"/>
                        </a:rPr>
                      </a:br>
                      <a:r>
                        <a:rPr lang="en-US" sz="2000" b="1" dirty="0">
                          <a:effectLst/>
                          <a:latin typeface="Verdana" pitchFamily="34" charset="0"/>
                          <a:ea typeface="Verdana" pitchFamily="34" charset="0"/>
                          <a:cs typeface="Times New Roman"/>
                        </a:rPr>
                        <a:t>Strategy B:</a:t>
                      </a:r>
                      <a:endParaRPr lang="en-US"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8616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10"/>
          <p:cNvPicPr/>
          <p:nvPr/>
        </p:nvPicPr>
        <p:blipFill rotWithShape="1">
          <a:blip r:embed="rId3" cstate="screen">
            <a:extLst>
              <a:ext uri="{28A0092B-C50C-407E-A947-70E740481C1C}">
                <a14:useLocalDpi xmlns:a14="http://schemas.microsoft.com/office/drawing/2010/main"/>
              </a:ext>
            </a:extLst>
          </a:blip>
          <a:srcRect l="37798" t="5163" r="23044" b="-5163"/>
          <a:stretch/>
        </p:blipFill>
        <p:spPr bwMode="auto">
          <a:xfrm>
            <a:off x="7135828" y="1386026"/>
            <a:ext cx="4394756" cy="4548050"/>
          </a:xfrm>
          <a:prstGeom prst="rect">
            <a:avLst/>
          </a:prstGeom>
          <a:ln>
            <a:noFill/>
          </a:ln>
          <a:extLst>
            <a:ext uri="{53640926-AAD7-44D8-BBD7-CCE9431645EC}">
              <a14:shadowObscured xmlns:a14="http://schemas.microsoft.com/office/drawing/2010/main"/>
            </a:ext>
          </a:extLst>
        </p:spPr>
      </p:pic>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230</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31604"/>
            <a:ext cx="10138514"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5.10.3 Activity: Target Practice</a:t>
            </a:r>
          </a:p>
        </p:txBody>
      </p:sp>
      <p:pic>
        <p:nvPicPr>
          <p:cNvPr id="16"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244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3547ABD-563B-A148-B65C-C7679A7B43D4}"/>
                  </a:ext>
                </a:extLst>
              </p:cNvPr>
              <p:cNvSpPr txBox="1"/>
              <p:nvPr/>
            </p:nvSpPr>
            <p:spPr>
              <a:xfrm>
                <a:off x="593248" y="1287029"/>
                <a:ext cx="6340952" cy="3170099"/>
              </a:xfrm>
              <a:prstGeom prst="rect">
                <a:avLst/>
              </a:prstGeom>
              <a:noFill/>
            </p:spPr>
            <p:txBody>
              <a:bodyPr wrap="square" rtlCol="0">
                <a:spAutoFit/>
              </a:bodyPr>
              <a:lstStyle/>
              <a:p>
                <a:r>
                  <a:rPr lang="en-US" sz="2000" dirty="0">
                    <a:latin typeface="Verdana"/>
                    <a:ea typeface="Times New Roman"/>
                    <a:cs typeface="Times New Roman"/>
                  </a:rPr>
                  <a:t>You and your partner will attempt to guess the coordinates of a point on each other’s graphs. If the guess is incorrect, the owner of the board will calculate the distance between the two points then share the distance with the guesser. Take turns guessing the coordinates of each other’s points and calculating the distance between the two. The first partner to guess the coordinate correctly or with the closest distance when after </a:t>
                </a:r>
                <a14:m>
                  <m:oMath xmlns:m="http://schemas.openxmlformats.org/officeDocument/2006/math">
                    <m:r>
                      <a:rPr lang="en-US" sz="2000" i="1">
                        <a:latin typeface="Cambria Math"/>
                        <a:ea typeface="Times New Roman"/>
                        <a:cs typeface="Times New Roman"/>
                      </a:rPr>
                      <m:t>4</m:t>
                    </m:r>
                  </m:oMath>
                </a14:m>
                <a:r>
                  <a:rPr lang="en-US" sz="2000" dirty="0">
                    <a:latin typeface="Verdana"/>
                    <a:ea typeface="Times New Roman"/>
                    <a:cs typeface="Times New Roman"/>
                  </a:rPr>
                  <a:t> rounds, wins!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 name="TextBox 16">
                <a:extLst>
                  <a:ext uri="{FF2B5EF4-FFF2-40B4-BE49-F238E27FC236}">
                    <a16:creationId xmlns:a16="http://schemas.microsoft.com/office/drawing/2014/main" xmlns="" id="{A3547ABD-563B-A148-B65C-C7679A7B43D4}"/>
                  </a:ext>
                </a:extLst>
              </p:cNvPr>
              <p:cNvSpPr txBox="1">
                <a:spLocks noRot="1" noChangeAspect="1" noMove="1" noResize="1" noEditPoints="1" noAdjustHandles="1" noChangeArrowheads="1" noChangeShapeType="1" noTextEdit="1"/>
              </p:cNvSpPr>
              <p:nvPr/>
            </p:nvSpPr>
            <p:spPr>
              <a:xfrm>
                <a:off x="593248" y="1287029"/>
                <a:ext cx="6340952" cy="3170099"/>
              </a:xfrm>
              <a:prstGeom prst="rect">
                <a:avLst/>
              </a:prstGeom>
              <a:blipFill rotWithShape="1">
                <a:blip r:embed="rId6"/>
                <a:stretch>
                  <a:fillRect l="-961" t="-962" r="-2017" b="-2500"/>
                </a:stretch>
              </a:blipFill>
            </p:spPr>
            <p:txBody>
              <a:bodyPr/>
              <a:lstStyle/>
              <a:p>
                <a:r>
                  <a:rPr lang="en-US">
                    <a:noFill/>
                  </a:rPr>
                  <a:t> </a:t>
                </a:r>
              </a:p>
            </p:txBody>
          </p:sp>
        </mc:Fallback>
      </mc:AlternateContent>
    </p:spTree>
    <p:extLst>
      <p:ext uri="{BB962C8B-B14F-4D97-AF65-F5344CB8AC3E}">
        <p14:creationId xmlns:p14="http://schemas.microsoft.com/office/powerpoint/2010/main" val="4069935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876806636"/>
              </p:ext>
            </p:extLst>
          </p:nvPr>
        </p:nvGraphicFramePr>
        <p:xfrm>
          <a:off x="1136937" y="1773187"/>
          <a:ext cx="7379775" cy="4032000"/>
        </p:xfrm>
        <a:graphic>
          <a:graphicData uri="http://schemas.openxmlformats.org/drawingml/2006/table">
            <a:tbl>
              <a:tblPr firstRow="1" bandRow="1">
                <a:tableStyleId>{A91F0D33-8C57-4600-99A7-42BC86742BE1}</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2807775">
                  <a:extLst>
                    <a:ext uri="{9D8B030D-6E8A-4147-A177-3AD203B41FA5}">
                      <a16:colId xmlns:a16="http://schemas.microsoft.com/office/drawing/2014/main" val="20003"/>
                    </a:ext>
                  </a:extLst>
                </a:gridCol>
              </a:tblGrid>
              <a:tr h="720000">
                <a:tc>
                  <a:txBody>
                    <a:bodyPr/>
                    <a:lstStyle/>
                    <a:p>
                      <a:pPr algn="ctr"/>
                      <a:r>
                        <a:rPr lang="en-US" sz="2000" b="1" dirty="0">
                          <a:effectLst/>
                          <a:latin typeface="Verdana"/>
                          <a:ea typeface="Times New Roman"/>
                          <a:cs typeface="Times New Roman"/>
                        </a:rPr>
                        <a:t>Round</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Your Point</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Partner’s Guess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Distance Calculations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828000">
                <a:tc>
                  <a:txBody>
                    <a:bodyPr/>
                    <a:lstStyle/>
                    <a:p>
                      <a:pPr algn="ctr"/>
                      <a:r>
                        <a:rPr lang="en-US" sz="2000" dirty="0">
                          <a:latin typeface="Verdana" pitchFamily="34" charset="0"/>
                          <a:ea typeface="Verdana" pitchFamily="34" charset="0"/>
                        </a:rPr>
                        <a:t>1</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28000">
                <a:tc>
                  <a:txBody>
                    <a:bodyPr/>
                    <a:lstStyle/>
                    <a:p>
                      <a:pPr algn="ctr"/>
                      <a:r>
                        <a:rPr lang="en-US" sz="2000" dirty="0">
                          <a:latin typeface="Verdana" pitchFamily="34" charset="0"/>
                          <a:ea typeface="Verdana" pitchFamily="34" charset="0"/>
                        </a:rPr>
                        <a:t>2</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8000">
                <a:tc>
                  <a:txBody>
                    <a:bodyPr/>
                    <a:lstStyle/>
                    <a:p>
                      <a:pPr algn="ctr"/>
                      <a:r>
                        <a:rPr lang="en-US" sz="2000" dirty="0">
                          <a:latin typeface="Verdana" pitchFamily="34" charset="0"/>
                          <a:ea typeface="Verdana" pitchFamily="34" charset="0"/>
                        </a:rPr>
                        <a:t>3</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28000">
                <a:tc>
                  <a:txBody>
                    <a:bodyPr/>
                    <a:lstStyle/>
                    <a:p>
                      <a:pPr algn="ctr"/>
                      <a:r>
                        <a:rPr lang="en-US" sz="2000" dirty="0">
                          <a:latin typeface="Verdana" pitchFamily="34" charset="0"/>
                          <a:ea typeface="Verdana" pitchFamily="34" charset="0"/>
                        </a:rPr>
                        <a:t>Final</a:t>
                      </a:r>
                      <a:br>
                        <a:rPr lang="en-US" sz="2000" dirty="0">
                          <a:latin typeface="Verdana" pitchFamily="34" charset="0"/>
                          <a:ea typeface="Verdana" pitchFamily="34" charset="0"/>
                        </a:rPr>
                      </a:br>
                      <a:r>
                        <a:rPr lang="en-US" sz="2000" dirty="0">
                          <a:latin typeface="Verdana" pitchFamily="34" charset="0"/>
                          <a:ea typeface="Verdana" pitchFamily="34" charset="0"/>
                        </a:rPr>
                        <a:t>Guess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540565" y="520394"/>
            <a:ext cx="11065362" cy="1015663"/>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Plot an ordered pair to on the grid (do not let your partner see it).</a:t>
            </a: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r>
              <a:rPr lang="en-US" sz="2000" dirty="0">
                <a:latin typeface="Verdana"/>
                <a:ea typeface="Times New Roman"/>
                <a:cs typeface="Times New Roman"/>
              </a:rPr>
              <a:t>Record your partner’s guesses and your guesses in the tables below.</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05544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255036129"/>
              </p:ext>
            </p:extLst>
          </p:nvPr>
        </p:nvGraphicFramePr>
        <p:xfrm>
          <a:off x="3069151" y="520393"/>
          <a:ext cx="5855775" cy="4032000"/>
        </p:xfrm>
        <a:graphic>
          <a:graphicData uri="http://schemas.openxmlformats.org/drawingml/2006/table">
            <a:tbl>
              <a:tblPr firstRow="1" bandRow="1">
                <a:tableStyleId>{A91F0D33-8C57-4600-99A7-42BC86742BE1}</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807775">
                  <a:extLst>
                    <a:ext uri="{9D8B030D-6E8A-4147-A177-3AD203B41FA5}">
                      <a16:colId xmlns:a16="http://schemas.microsoft.com/office/drawing/2014/main" val="20002"/>
                    </a:ext>
                  </a:extLst>
                </a:gridCol>
              </a:tblGrid>
              <a:tr h="720000">
                <a:tc>
                  <a:txBody>
                    <a:bodyPr/>
                    <a:lstStyle/>
                    <a:p>
                      <a:pPr algn="ctr"/>
                      <a:r>
                        <a:rPr lang="en-US" sz="2000" b="1" dirty="0">
                          <a:effectLst/>
                          <a:latin typeface="Verdana"/>
                          <a:ea typeface="Times New Roman"/>
                          <a:cs typeface="Times New Roman"/>
                        </a:rPr>
                        <a:t>Round</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Your Guess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Distance From Partner’s Point</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828000">
                <a:tc>
                  <a:txBody>
                    <a:bodyPr/>
                    <a:lstStyle/>
                    <a:p>
                      <a:pPr algn="ctr"/>
                      <a:r>
                        <a:rPr lang="en-US" sz="2000" dirty="0">
                          <a:latin typeface="Verdana" pitchFamily="34" charset="0"/>
                          <a:ea typeface="Verdana" pitchFamily="34" charset="0"/>
                        </a:rPr>
                        <a:t>1</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28000">
                <a:tc>
                  <a:txBody>
                    <a:bodyPr/>
                    <a:lstStyle/>
                    <a:p>
                      <a:pPr algn="ctr"/>
                      <a:r>
                        <a:rPr lang="en-US" sz="2000" dirty="0">
                          <a:latin typeface="Verdana" pitchFamily="34" charset="0"/>
                          <a:ea typeface="Verdana" pitchFamily="34" charset="0"/>
                        </a:rPr>
                        <a:t>2</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8000">
                <a:tc>
                  <a:txBody>
                    <a:bodyPr/>
                    <a:lstStyle/>
                    <a:p>
                      <a:pPr algn="ctr"/>
                      <a:r>
                        <a:rPr lang="en-US" sz="2000" dirty="0">
                          <a:latin typeface="Verdana" pitchFamily="34" charset="0"/>
                          <a:ea typeface="Verdana" pitchFamily="34" charset="0"/>
                        </a:rPr>
                        <a:t>3</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28000">
                <a:tc>
                  <a:txBody>
                    <a:bodyPr/>
                    <a:lstStyle/>
                    <a:p>
                      <a:pPr algn="ctr"/>
                      <a:r>
                        <a:rPr lang="en-US" sz="2000" dirty="0">
                          <a:latin typeface="Verdana" pitchFamily="34" charset="0"/>
                          <a:ea typeface="Verdana" pitchFamily="34" charset="0"/>
                        </a:rPr>
                        <a:t>Final</a:t>
                      </a:r>
                      <a:br>
                        <a:rPr lang="en-US" sz="2000" dirty="0">
                          <a:latin typeface="Verdana" pitchFamily="34" charset="0"/>
                          <a:ea typeface="Verdana" pitchFamily="34" charset="0"/>
                        </a:rPr>
                      </a:br>
                      <a:r>
                        <a:rPr lang="en-US" sz="2000" dirty="0">
                          <a:latin typeface="Verdana" pitchFamily="34" charset="0"/>
                          <a:ea typeface="Verdana" pitchFamily="34" charset="0"/>
                        </a:rPr>
                        <a:t>Guess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540565" y="520394"/>
            <a:ext cx="11065362" cy="4708981"/>
          </a:xfrm>
          <a:prstGeom prst="rect">
            <a:avLst/>
          </a:prstGeom>
          <a:noFill/>
        </p:spPr>
        <p:txBody>
          <a:bodyPr wrap="square" rtlCol="0">
            <a:spAutoFit/>
          </a:bodyPr>
          <a:lstStyle/>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endParaRPr lang="en-US" sz="2000" dirty="0">
              <a:latin typeface="Verdana"/>
              <a:ea typeface="Times New Roman"/>
              <a:cs typeface="Times New Roman"/>
            </a:endParaRPr>
          </a:p>
          <a:p>
            <a:pPr marL="457200" indent="-457200">
              <a:buFont typeface="+mj-lt"/>
              <a:buAutoNum type="arabicPeriod" startAt="3"/>
            </a:pPr>
            <a:r>
              <a:rPr lang="en-US" sz="2000" dirty="0">
                <a:latin typeface="Verdana"/>
                <a:ea typeface="Times New Roman"/>
                <a:cs typeface="Times New Roman"/>
              </a:rPr>
              <a:t>What strategies did you use to help determine your next guess?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96816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59C3E41-93EC-B84D-963F-86A3B15AC1C6}"/>
                  </a:ext>
                </a:extLst>
              </p:cNvPr>
              <p:cNvSpPr txBox="1"/>
              <p:nvPr/>
            </p:nvSpPr>
            <p:spPr>
              <a:xfrm>
                <a:off x="593248" y="1385905"/>
                <a:ext cx="10937336" cy="5016758"/>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Triangle </a:t>
                </a:r>
                <a14:m>
                  <m:oMath xmlns:m="http://schemas.openxmlformats.org/officeDocument/2006/math">
                    <m:r>
                      <a:rPr lang="en-US" sz="2000" i="1">
                        <a:latin typeface="Cambria Math"/>
                        <a:ea typeface="Times New Roman"/>
                        <a:cs typeface="Times New Roman"/>
                      </a:rPr>
                      <m:t>𝐴𝐵𝐷</m:t>
                    </m:r>
                  </m:oMath>
                </a14:m>
                <a:r>
                  <a:rPr lang="en-US" sz="2000" dirty="0">
                    <a:latin typeface="Verdana"/>
                    <a:ea typeface="Times New Roman"/>
                    <a:cs typeface="Times New Roman"/>
                  </a:rPr>
                  <a:t> is shown on the coordinate plane.</a:t>
                </a: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a:r>
                  <a:rPr lang="en-US" sz="2000" dirty="0">
                    <a:latin typeface="Verdana"/>
                    <a:ea typeface="Times New Roman"/>
                    <a:cs typeface="Times New Roman"/>
                  </a:rPr>
                  <a:t>Find the perimeter of Triangle </a:t>
                </a:r>
                <a14:m>
                  <m:oMath xmlns:m="http://schemas.openxmlformats.org/officeDocument/2006/math">
                    <m:r>
                      <a:rPr lang="en-US" sz="2000" i="1">
                        <a:latin typeface="Cambria Math"/>
                        <a:ea typeface="Times New Roman"/>
                        <a:cs typeface="Times New Roman"/>
                      </a:rPr>
                      <m:t>𝐴𝐵𝐷</m:t>
                    </m:r>
                  </m:oMath>
                </a14:m>
                <a:r>
                  <a:rPr lang="en-US" sz="2000" dirty="0">
                    <a:latin typeface="Verdana"/>
                    <a:ea typeface="Times New Roman"/>
                    <a:cs typeface="Times New Roman"/>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 name="TextBox 15">
                <a:extLst>
                  <a:ext uri="{FF2B5EF4-FFF2-40B4-BE49-F238E27FC236}">
                    <a16:creationId xmlns=""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93248" y="1385905"/>
                <a:ext cx="10937336" cy="5016758"/>
              </a:xfrm>
              <a:prstGeom prst="rect">
                <a:avLst/>
              </a:prstGeom>
              <a:blipFill rotWithShape="1">
                <a:blip r:embed="rId3"/>
                <a:stretch>
                  <a:fillRect l="-557" t="-729" b="-1215"/>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Chart, line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2787397" y="1937055"/>
            <a:ext cx="6549038" cy="3914457"/>
          </a:xfrm>
          <a:prstGeom prst="rect">
            <a:avLst/>
          </a:prstGeom>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232</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5.10.4 Your Turn!</a:t>
            </a:r>
          </a:p>
        </p:txBody>
      </p:sp>
      <p:pic>
        <p:nvPicPr>
          <p:cNvPr id="15"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38193" y="454781"/>
            <a:ext cx="11327235"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A walkway is constructed around a triangular field, as shown below.</a:t>
            </a: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a:r>
              <a:rPr lang="en-US" sz="2000" dirty="0">
                <a:latin typeface="Verdana"/>
                <a:ea typeface="Times New Roman"/>
                <a:cs typeface="Times New Roman"/>
              </a:rPr>
              <a:t>How far is the walk around the field? Round your answer to the nearest tenth.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993775" y="1172591"/>
            <a:ext cx="4615957" cy="4047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5277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370EDB7-6994-3D43-ABF9-E04CBAFB9CD9}"/>
                  </a:ext>
                </a:extLst>
              </p:cNvPr>
              <p:cNvSpPr txBox="1"/>
              <p:nvPr/>
            </p:nvSpPr>
            <p:spPr>
              <a:xfrm>
                <a:off x="593248" y="1385906"/>
                <a:ext cx="11005504" cy="4619341"/>
              </a:xfrm>
              <a:prstGeom prst="rect">
                <a:avLst/>
              </a:prstGeom>
              <a:noFill/>
            </p:spPr>
            <p:txBody>
              <a:bodyPr wrap="square" rtlCol="0">
                <a:spAutoFit/>
              </a:bodyPr>
              <a:lstStyle/>
              <a:p>
                <a:pPr>
                  <a:spcAft>
                    <a:spcPts val="1200"/>
                  </a:spcAft>
                </a:pPr>
                <a:r>
                  <a:rPr lang="en-US" sz="2000" dirty="0">
                    <a:latin typeface="Verdana"/>
                    <a:ea typeface="Times New Roman"/>
                    <a:cs typeface="Times New Roman"/>
                  </a:rPr>
                  <a:t>Ellena found the distance between the points</a:t>
                </a:r>
                <a:r>
                  <a:rPr lang="en-US" sz="2000" i="1" dirty="0">
                    <a:latin typeface="Verdana"/>
                    <a:ea typeface="Times New Roman"/>
                    <a:cs typeface="Times New Roman"/>
                  </a:rPr>
                  <a:t> </a:t>
                </a:r>
                <a:br>
                  <a:rPr lang="en-US" sz="2000" i="1" dirty="0">
                    <a:latin typeface="Verdana"/>
                    <a:ea typeface="Times New Roman"/>
                    <a:cs typeface="Times New Roman"/>
                  </a:rPr>
                </a:br>
                <a14:m>
                  <m:oMath xmlns:m="http://schemas.openxmlformats.org/officeDocument/2006/math">
                    <m:r>
                      <a:rPr lang="en-US" sz="2000">
                        <a:latin typeface="Cambria Math"/>
                        <a:ea typeface="Times New Roman"/>
                        <a:cs typeface="Times New Roman"/>
                      </a:rPr>
                      <m:t>(</m:t>
                    </m:r>
                    <m:r>
                      <a:rPr lang="en-US" sz="2000" i="1">
                        <a:latin typeface="Cambria Math"/>
                        <a:ea typeface="Times New Roman"/>
                        <a:cs typeface="Times New Roman"/>
                      </a:rPr>
                      <m:t>−</m:t>
                    </m:r>
                    <m:r>
                      <a:rPr lang="en-US" sz="2000">
                        <a:latin typeface="Cambria Math"/>
                        <a:ea typeface="Times New Roman"/>
                        <a:cs typeface="Times New Roman"/>
                      </a:rPr>
                      <m:t>2, 5</m:t>
                    </m:r>
                    <m:r>
                      <a:rPr lang="en-US" sz="2000" i="1">
                        <a:latin typeface="Cambria Math"/>
                        <a:ea typeface="Times New Roman"/>
                        <a:cs typeface="Times New Roman"/>
                      </a:rPr>
                      <m:t>)</m:t>
                    </m:r>
                  </m:oMath>
                </a14:m>
                <a:r>
                  <a:rPr lang="en-US" sz="2000" i="1" dirty="0">
                    <a:latin typeface="Verdana"/>
                    <a:ea typeface="Times New Roman"/>
                    <a:cs typeface="Times New Roman"/>
                  </a:rPr>
                  <a:t> </a:t>
                </a:r>
                <a:r>
                  <a:rPr lang="en-US" sz="2000" dirty="0">
                    <a:latin typeface="Verdana"/>
                    <a:ea typeface="Times New Roman"/>
                    <a:cs typeface="Times New Roman"/>
                  </a:rPr>
                  <a:t>and</a:t>
                </a:r>
                <a:r>
                  <a:rPr lang="en-US" sz="2000" i="1" dirty="0">
                    <a:latin typeface="Verdana"/>
                    <a:ea typeface="Times New Roman"/>
                    <a:cs typeface="Times New Roman"/>
                  </a:rPr>
                  <a:t> </a:t>
                </a:r>
                <a14:m>
                  <m:oMath xmlns:m="http://schemas.openxmlformats.org/officeDocument/2006/math">
                    <m:r>
                      <a:rPr lang="en-US" sz="2000" i="1">
                        <a:latin typeface="Cambria Math"/>
                        <a:ea typeface="Times New Roman"/>
                        <a:cs typeface="Times New Roman"/>
                      </a:rPr>
                      <m:t>(9, 9)</m:t>
                    </m:r>
                  </m:oMath>
                </a14:m>
                <a:r>
                  <a:rPr lang="en-US" sz="2000" i="1" dirty="0">
                    <a:latin typeface="Verdana"/>
                    <a:ea typeface="Times New Roman"/>
                    <a:cs typeface="Times New Roman"/>
                  </a:rPr>
                  <a:t>. </a:t>
                </a:r>
                <a:r>
                  <a:rPr lang="en-US" sz="2000" dirty="0">
                    <a:latin typeface="Verdana"/>
                    <a:ea typeface="Times New Roman"/>
                    <a:cs typeface="Times New Roman"/>
                  </a:rPr>
                  <a:t>Her work is shown.</a:t>
                </a:r>
              </a:p>
              <a:p>
                <a:pPr>
                  <a:tabLst>
                    <a:tab pos="1885950" algn="l"/>
                  </a:tabLst>
                </a:pPr>
                <a:r>
                  <a:rPr lang="en-US" sz="2000" dirty="0"/>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4</m:t>
                        </m:r>
                      </m:e>
                      <m:sup>
                        <m:r>
                          <a:rPr lang="en-US" sz="2000" i="1">
                            <a:latin typeface="Cambria Math"/>
                          </a:rPr>
                          <m:t>2</m:t>
                        </m:r>
                      </m:sup>
                    </m:sSup>
                    <m:r>
                      <a:rPr lang="en-US" sz="2000" i="1">
                        <a:latin typeface="Cambria Math"/>
                      </a:rPr>
                      <m:t>+</m:t>
                    </m:r>
                    <m:sSup>
                      <m:sSupPr>
                        <m:ctrlPr>
                          <a:rPr lang="en-US" sz="2000" i="1">
                            <a:latin typeface="Cambria Math" panose="02040503050406030204" pitchFamily="18" charset="0"/>
                          </a:rPr>
                        </m:ctrlPr>
                      </m:sSupPr>
                      <m:e>
                        <m:r>
                          <a:rPr lang="en-US" sz="2000" i="1">
                            <a:latin typeface="Cambria Math"/>
                          </a:rPr>
                          <m:t>𝑏</m:t>
                        </m:r>
                      </m:e>
                      <m:sup>
                        <m:r>
                          <a:rPr lang="en-US" sz="2000" i="1">
                            <a:latin typeface="Cambria Math"/>
                          </a:rPr>
                          <m:t>2</m:t>
                        </m:r>
                      </m:sup>
                    </m:sSup>
                    <m:r>
                      <a:rPr lang="en-US" sz="2000" i="1">
                        <a:latin typeface="Cambria Math"/>
                      </a:rPr>
                      <m:t>=</m:t>
                    </m:r>
                    <m:sSup>
                      <m:sSupPr>
                        <m:ctrlPr>
                          <a:rPr lang="en-US" sz="2000" i="1">
                            <a:latin typeface="Cambria Math" panose="02040503050406030204" pitchFamily="18" charset="0"/>
                          </a:rPr>
                        </m:ctrlPr>
                      </m:sSupPr>
                      <m:e>
                        <m:r>
                          <a:rPr lang="en-US" sz="2000" i="1">
                            <a:latin typeface="Cambria Math"/>
                          </a:rPr>
                          <m:t>11</m:t>
                        </m:r>
                      </m:e>
                      <m:sup>
                        <m:r>
                          <a:rPr lang="en-US" sz="2000" i="1">
                            <a:latin typeface="Cambria Math"/>
                          </a:rPr>
                          <m:t>2</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tabLst>
                    <a:tab pos="1714500" algn="l"/>
                  </a:tabLst>
                </a:pPr>
                <a:r>
                  <a:rPr lang="en-US" sz="2000" dirty="0">
                    <a:ea typeface="Times New Roman"/>
                    <a:cs typeface="Times New Roman"/>
                  </a:rPr>
                  <a:t>	</a:t>
                </a:r>
                <a14:m>
                  <m:oMath xmlns:m="http://schemas.openxmlformats.org/officeDocument/2006/math">
                    <m:r>
                      <a:rPr lang="en-US" sz="2000" i="1">
                        <a:latin typeface="Cambria Math"/>
                        <a:ea typeface="Times New Roman"/>
                        <a:cs typeface="Times New Roman"/>
                      </a:rPr>
                      <m:t>16+</m:t>
                    </m:r>
                    <m:sSup>
                      <m:sSupPr>
                        <m:ctrlPr>
                          <a:rPr lang="en-US" sz="2000" i="1">
                            <a:latin typeface="Cambria Math" panose="02040503050406030204" pitchFamily="18" charset="0"/>
                          </a:rPr>
                        </m:ctrlPr>
                      </m:sSupPr>
                      <m:e>
                        <m:r>
                          <a:rPr lang="en-US" sz="2000" i="1">
                            <a:latin typeface="Cambria Math"/>
                            <a:ea typeface="Times New Roman"/>
                            <a:cs typeface="Times New Roman"/>
                          </a:rPr>
                          <m:t>𝑏</m:t>
                        </m:r>
                      </m:e>
                      <m:sup>
                        <m:r>
                          <a:rPr lang="en-US" sz="2000" i="1">
                            <a:latin typeface="Cambria Math"/>
                            <a:ea typeface="Times New Roman"/>
                            <a:cs typeface="Times New Roman"/>
                          </a:rPr>
                          <m:t>2</m:t>
                        </m:r>
                      </m:sup>
                    </m:sSup>
                    <m:r>
                      <a:rPr lang="en-US" sz="2000" i="1">
                        <a:latin typeface="Cambria Math"/>
                        <a:ea typeface="Times New Roman"/>
                        <a:cs typeface="Times New Roman"/>
                      </a:rPr>
                      <m:t>=121</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tabLst>
                    <a:tab pos="1943100" algn="l"/>
                  </a:tabLst>
                </a:pPr>
                <a:r>
                  <a:rPr lang="en-US" sz="2000" dirty="0"/>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ea typeface="Times New Roman"/>
                            <a:cs typeface="Times New Roman"/>
                          </a:rPr>
                          <m:t>𝑏</m:t>
                        </m:r>
                      </m:e>
                      <m:sup>
                        <m:r>
                          <a:rPr lang="en-US" sz="2000" i="1">
                            <a:latin typeface="Cambria Math"/>
                            <a:ea typeface="Times New Roman"/>
                            <a:cs typeface="Times New Roman"/>
                          </a:rPr>
                          <m:t>2</m:t>
                        </m:r>
                      </m:sup>
                    </m:sSup>
                    <m:r>
                      <a:rPr lang="en-US" sz="2000" i="1">
                        <a:latin typeface="Cambria Math"/>
                        <a:ea typeface="Times New Roman"/>
                        <a:cs typeface="Times New Roman"/>
                      </a:rPr>
                      <m:t>=105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tabLst>
                    <a:tab pos="2057400" algn="l"/>
                  </a:tabLst>
                </a:pPr>
                <a:r>
                  <a:rPr lang="en-US" sz="2000" dirty="0">
                    <a:ea typeface="Times New Roman"/>
                    <a:cs typeface="Times New Roman"/>
                  </a:rPr>
                  <a:t>	</a:t>
                </a:r>
                <a14:m>
                  <m:oMath xmlns:m="http://schemas.openxmlformats.org/officeDocument/2006/math">
                    <m:r>
                      <a:rPr lang="en-US" sz="2000" i="1">
                        <a:latin typeface="Cambria Math"/>
                        <a:ea typeface="Times New Roman"/>
                        <a:cs typeface="Times New Roman"/>
                      </a:rPr>
                      <m:t>𝑏</m:t>
                    </m:r>
                    <m:r>
                      <a:rPr lang="en-US" sz="2000" i="1">
                        <a:latin typeface="Cambria Math"/>
                        <a:ea typeface="Times New Roman"/>
                        <a:cs typeface="Times New Roman"/>
                      </a:rPr>
                      <m:t>=</m:t>
                    </m:r>
                    <m:rad>
                      <m:radPr>
                        <m:degHide m:val="on"/>
                        <m:ctrlPr>
                          <a:rPr lang="en-US" sz="2000" i="1">
                            <a:latin typeface="Cambria Math" panose="02040503050406030204" pitchFamily="18" charset="0"/>
                          </a:rPr>
                        </m:ctrlPr>
                      </m:radPr>
                      <m:deg/>
                      <m:e>
                        <m:r>
                          <a:rPr lang="en-US" sz="2000" i="1">
                            <a:latin typeface="Cambria Math"/>
                            <a:ea typeface="Times New Roman"/>
                            <a:cs typeface="Times New Roman"/>
                          </a:rPr>
                          <m:t>105</m:t>
                        </m:r>
                      </m:e>
                    </m:rad>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spcBef>
                    <a:spcPts val="1200"/>
                  </a:spcBef>
                </a:pPr>
                <a:r>
                  <a:rPr lang="en-US" sz="2000" dirty="0">
                    <a:latin typeface="Verdana" pitchFamily="34" charset="0"/>
                    <a:ea typeface="Verdana" pitchFamily="34" charset="0"/>
                    <a:cs typeface="Times New Roman"/>
                  </a:rPr>
                  <a:t>	The distance is </a:t>
                </a:r>
                <a14:m>
                  <m:oMath xmlns:m="http://schemas.openxmlformats.org/officeDocument/2006/math">
                    <m:rad>
                      <m:radPr>
                        <m:degHide m:val="on"/>
                        <m:ctrlPr>
                          <a:rPr lang="en-US" sz="2000" i="1">
                            <a:latin typeface="Cambria Math" panose="02040503050406030204" pitchFamily="18" charset="0"/>
                          </a:rPr>
                        </m:ctrlPr>
                      </m:radPr>
                      <m:deg/>
                      <m:e>
                        <m:r>
                          <a:rPr lang="en-US" sz="2000" i="1">
                            <a:latin typeface="Cambria Math"/>
                            <a:ea typeface="Times New Roman"/>
                            <a:cs typeface="Times New Roman"/>
                          </a:rPr>
                          <m:t>105</m:t>
                        </m:r>
                      </m:e>
                    </m:rad>
                  </m:oMath>
                </a14:m>
                <a:r>
                  <a:rPr lang="en-US" sz="2000" dirty="0">
                    <a:latin typeface="Verdana" pitchFamily="34" charset="0"/>
                    <a:ea typeface="Verdana" pitchFamily="34" charset="0"/>
                    <a:cs typeface="Times New Roman"/>
                  </a:rPr>
                  <a:t> units.</a:t>
                </a:r>
              </a:p>
              <a:p>
                <a:pPr>
                  <a:spcBef>
                    <a:spcPts val="1200"/>
                  </a:spcBef>
                </a:pPr>
                <a:endParaRPr lang="en-US" sz="2000" dirty="0">
                  <a:latin typeface="Verdana" pitchFamily="34" charset="0"/>
                  <a:ea typeface="Verdana" pitchFamily="34" charset="0"/>
                  <a:cs typeface="Times New Roman"/>
                </a:endParaRPr>
              </a:p>
              <a:p>
                <a:pPr marL="457200" indent="-457200">
                  <a:spcBef>
                    <a:spcPts val="1200"/>
                  </a:spcBef>
                  <a:buFont typeface="+mj-lt"/>
                  <a:buAutoNum type="arabicPeriod"/>
                </a:pPr>
                <a:r>
                  <a:rPr lang="en-US" sz="2000" dirty="0">
                    <a:latin typeface="Verdana"/>
                    <a:ea typeface="Times New Roman"/>
                    <a:cs typeface="Times New Roman"/>
                  </a:rPr>
                  <a:t>Circle the error(s) made.</a:t>
                </a:r>
              </a:p>
              <a:p>
                <a:pPr marL="457200" indent="-457200">
                  <a:spcBef>
                    <a:spcPts val="1200"/>
                  </a:spcBef>
                  <a:buFont typeface="+mj-lt"/>
                  <a:buAutoNum type="arabicPeriod"/>
                </a:pPr>
                <a:r>
                  <a:rPr lang="en-US" sz="2000" dirty="0">
                    <a:latin typeface="Verdana"/>
                    <a:ea typeface="Times New Roman"/>
                    <a:cs typeface="Times New Roman"/>
                  </a:rPr>
                  <a:t>Write a short explanation to </a:t>
                </a:r>
                <a:r>
                  <a:rPr lang="en-US" sz="2000" dirty="0" err="1">
                    <a:latin typeface="Verdana"/>
                    <a:ea typeface="Times New Roman"/>
                    <a:cs typeface="Times New Roman"/>
                  </a:rPr>
                  <a:t>Ellena</a:t>
                </a:r>
                <a:r>
                  <a:rPr lang="en-US" sz="2000" dirty="0">
                    <a:latin typeface="Verdana"/>
                    <a:ea typeface="Times New Roman"/>
                    <a:cs typeface="Times New Roman"/>
                  </a:rPr>
                  <a:t> explaining the mistake and what she needs to remember about determining the distance between two points on a coordinate plane.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 name="TextBox 16">
                <a:extLst>
                  <a:ext uri="{FF2B5EF4-FFF2-40B4-BE49-F238E27FC236}">
                    <a16:creationId xmlns=""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8" y="1385906"/>
                <a:ext cx="11005504" cy="4619341"/>
              </a:xfrm>
              <a:prstGeom prst="rect">
                <a:avLst/>
              </a:prstGeom>
              <a:blipFill rotWithShape="1">
                <a:blip r:embed="rId3"/>
                <a:stretch>
                  <a:fillRect l="-554" t="-660" b="-1451"/>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descr="Chart, line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6753225" y="1386024"/>
            <a:ext cx="4777359" cy="3418283"/>
          </a:xfrm>
          <a:prstGeom prst="rect">
            <a:avLst/>
          </a:prstGeom>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5.10.5 Wrap-Up: Error Analysis</a:t>
            </a:r>
          </a:p>
        </p:txBody>
      </p:sp>
      <p:pic>
        <p:nvPicPr>
          <p:cNvPr id="16" name="Google Shape;469;p34"/>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1411</TotalTime>
  <Words>830</Words>
  <Application>Microsoft Macintosh PowerPoint</Application>
  <PresentationFormat>Widescreen</PresentationFormat>
  <Paragraphs>186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Century Gothic</vt:lpstr>
      <vt:lpstr>Cambria</vt:lpstr>
      <vt:lpstr>Calibri</vt:lpstr>
      <vt:lpstr>Arial Black</vt:lpstr>
      <vt:lpstr>Cambria Math</vt:lpstr>
      <vt:lpstr>Arial</vt:lpstr>
      <vt:lpstr>Wingdings</vt:lpstr>
      <vt:lpstr>Verdana</vt:lpstr>
      <vt:lpstr>1_Office Theme</vt:lpstr>
      <vt:lpstr>PowerPoint Presentation</vt:lpstr>
      <vt:lpstr>PowerPoint Presentation</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Activity</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Akarshna Iyer</cp:lastModifiedBy>
  <cp:revision>41</cp:revision>
  <dcterms:created xsi:type="dcterms:W3CDTF">2015-03-17T18:51:18Z</dcterms:created>
  <dcterms:modified xsi:type="dcterms:W3CDTF">2022-07-18T23:44:00Z</dcterms:modified>
</cp:coreProperties>
</file>