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62" r:id="rId10"/>
    <p:sldId id="371" r:id="rId11"/>
    <p:sldId id="372" r:id="rId12"/>
    <p:sldId id="323" r:id="rId13"/>
    <p:sldId id="324" r:id="rId14"/>
    <p:sldId id="366" r:id="rId15"/>
    <p:sldId id="289" r:id="rId16"/>
    <p:sldId id="290" r:id="rId17"/>
    <p:sldId id="365" r:id="rId18"/>
    <p:sldId id="373" r:id="rId19"/>
    <p:sldId id="374" r:id="rId20"/>
    <p:sldId id="302" r:id="rId21"/>
    <p:sldId id="303" r:id="rId22"/>
    <p:sldId id="369" r:id="rId23"/>
    <p:sldId id="375" r:id="rId24"/>
    <p:sldId id="306" r:id="rId25"/>
    <p:sldId id="307" r:id="rId26"/>
  </p:sldIdLst>
  <p:sldSz cx="12192000" cy="6858000"/>
  <p:notesSz cx="6858000" cy="9144000"/>
  <p:embeddedFontLst>
    <p:embeddedFont>
      <p:font typeface="Arial Black" panose="020B0604020202020204" pitchFamily="34" charset="0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mbria Math" panose="02040503050406030204" pitchFamily="18" charset="0"/>
      <p:regular r:id="rId33"/>
    </p:embeddedFon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C058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1028" autoAdjust="0"/>
    <p:restoredTop sz="94694"/>
  </p:normalViewPr>
  <p:slideViewPr>
    <p:cSldViewPr snapToGrid="0">
      <p:cViewPr varScale="1">
        <p:scale>
          <a:sx n="124" d="100"/>
          <a:sy n="124" d="100"/>
        </p:scale>
        <p:origin x="153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746934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2830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283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283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82847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70252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70252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70252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31289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31289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9144"/>
            <a:ext cx="4094106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261;g104476d1465_0_0"/>
          <p:cNvSpPr txBox="1">
            <a:spLocks/>
          </p:cNvSpPr>
          <p:nvPr/>
        </p:nvSpPr>
        <p:spPr>
          <a:xfrm>
            <a:off x="5647954" y="2054275"/>
            <a:ext cx="5114926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40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Pre-Algebra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5, Lesson 9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Finding Distances on a Coordinate Plane</a:t>
            </a:r>
            <a:b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221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6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MA.8.GR.1.2</a:t>
            </a:r>
          </a:p>
          <a:p>
            <a:pPr indent="0">
              <a:buNone/>
            </a:pPr>
            <a:r>
              <a:rPr lang="en-US" sz="36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Apply the Pythagorean Theorem to solve mathematical and real-world problems involving the distance between two points in a coordinate plane.</a:t>
            </a:r>
            <a:endParaRPr lang="en-US" sz="24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3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4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9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1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79450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determine the distance between two points on the coordinate plane.</a:t>
            </a:r>
          </a:p>
        </p:txBody>
      </p:sp>
      <p:sp>
        <p:nvSpPr>
          <p:cNvPr id="15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3785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730265" y="1228396"/>
            <a:ext cx="1080031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/>
                <a:ea typeface="Times New Roman"/>
              </a:rPr>
              <a:t>In carpentry, right triangles are commonly used in constructing roofs. A roof’s pitch is the steepness of the roof. It can be determined by the ratio between the two legs of the right triangle.</a:t>
            </a:r>
          </a:p>
          <a:p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Times New Roman"/>
                <a:cs typeface="Calibri"/>
              </a:rPr>
              <a:t>What do you notice or wonder about the use of right triangles in construction?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41798" y="2397046"/>
            <a:ext cx="4777251" cy="295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5.9.1 Warm-Up: Notice and Wonder</a:t>
            </a:r>
          </a:p>
        </p:txBody>
      </p:sp>
      <p:pic>
        <p:nvPicPr>
          <p:cNvPr id="14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66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601762" y="1460161"/>
                <a:ext cx="83271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Work with your partner to answer each of the following.</a:t>
                </a:r>
              </a:p>
              <a:p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What is the distance between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62" y="1460161"/>
                <a:ext cx="8327136" cy="1015663"/>
              </a:xfrm>
              <a:prstGeom prst="rect">
                <a:avLst/>
              </a:prstGeom>
              <a:blipFill>
                <a:blip r:embed="rId5"/>
                <a:stretch>
                  <a:fillRect l="-805" t="-3614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Chart, line 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7195" y="2633984"/>
            <a:ext cx="5881370" cy="3894286"/>
          </a:xfrm>
          <a:prstGeom prst="rect">
            <a:avLst/>
          </a:prstGeom>
        </p:spPr>
      </p:pic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195232"/>
            <a:ext cx="9033046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5.9.2 Exploration: Finding the </a:t>
            </a:r>
            <a:b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Right Distance</a:t>
            </a:r>
          </a:p>
        </p:txBody>
      </p:sp>
      <p:pic>
        <p:nvPicPr>
          <p:cNvPr id="15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What is the distance between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?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What strategy did you and your partner use to find the distance of the horizontal and vertical lines?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5324535"/>
              </a:xfrm>
              <a:prstGeom prst="rect">
                <a:avLst/>
              </a:prstGeom>
              <a:blipFill rotWithShape="1">
                <a:blip r:embed="rId3"/>
                <a:stretch>
                  <a:fillRect l="-609" t="-686" r="-1162" b="-1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Chart, line chart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09882" y="994727"/>
            <a:ext cx="5879592" cy="3895344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4813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0990019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What is the distance between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?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On the graph, label the length of segment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𝐵𝐶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,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 </m:t>
                    </m:r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𝑐</m:t>
                    </m:r>
                    <m:r>
                      <a:rPr lang="en-US" sz="2000">
                        <a:latin typeface="Cambria Math"/>
                        <a:ea typeface="Times New Roman"/>
                        <a:cs typeface="Times New Roman"/>
                      </a:rPr>
                      <m:t>.</m:t>
                    </m:r>
                  </m:oMath>
                </a14:m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Create a right triangle with hypotenuse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𝑐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by sketching horizontal and vertical legs. Label the legs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𝑎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𝑏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Apply the Pythagorean Theorem to find the length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𝑐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. Round to the nearest tenth if necessary.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0990019" cy="5632311"/>
              </a:xfrm>
              <a:prstGeom prst="rect">
                <a:avLst/>
              </a:prstGeom>
              <a:blipFill>
                <a:blip r:embed="rId3"/>
                <a:stretch>
                  <a:fillRect l="-577" t="-676" r="-1153" b="-11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Chart, line chart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0974" y="1013142"/>
            <a:ext cx="5029200" cy="3200400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3456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099001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000" dirty="0">
                <a:latin typeface="Verdana"/>
                <a:ea typeface="Times New Roman"/>
              </a:rPr>
              <a:t>Discuss with your partner how to find the length of any diagonal on the coordinate plane.</a:t>
            </a:r>
          </a:p>
          <a:p>
            <a:pPr marL="457200" indent="-457200">
              <a:buFont typeface="+mj-lt"/>
              <a:buAutoNum type="arabicPeriod" startAt="5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5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Complete the statement.</a:t>
            </a: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r>
              <a:rPr lang="en-US" sz="2000" dirty="0">
                <a:latin typeface="Verdana"/>
                <a:ea typeface="Times New Roman"/>
                <a:cs typeface="Times New Roman"/>
              </a:rPr>
              <a:t>The length of any non-vertical or non-horizontal segment</a:t>
            </a: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r>
              <a:rPr lang="en-US" sz="2000" dirty="0">
                <a:latin typeface="Verdana"/>
                <a:ea typeface="Times New Roman"/>
                <a:cs typeface="Times New Roman"/>
              </a:rPr>
              <a:t>can be determined by using the endpoints as a </a:t>
            </a: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r>
              <a:rPr lang="en-US" sz="2000" dirty="0">
                <a:latin typeface="Verdana"/>
                <a:ea typeface="Times New Roman"/>
                <a:cs typeface="Times New Roman"/>
              </a:rPr>
              <a:t>		          of a right triangle and sketching the</a:t>
            </a: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r>
              <a:rPr lang="en-US" sz="2000" dirty="0">
                <a:latin typeface="Verdana"/>
                <a:ea typeface="Times New Roman"/>
                <a:cs typeface="Times New Roman"/>
              </a:rPr>
              <a:t>horizontal and vertical			  then applying</a:t>
            </a: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r>
              <a:rPr lang="en-US" sz="2000" dirty="0">
                <a:latin typeface="Verdana"/>
                <a:ea typeface="Times New Roman"/>
                <a:cs typeface="Times New Roman"/>
              </a:rPr>
              <a:t>the 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42597" y="3585250"/>
            <a:ext cx="2103120" cy="7696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hypotenuse</a:t>
            </a:r>
          </a:p>
          <a:p>
            <a:pPr marL="285750" indent="-285750">
              <a:spcAft>
                <a:spcPts val="1000"/>
              </a:spcAft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leg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77385" y="4490164"/>
            <a:ext cx="2103120" cy="76962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hypotenuse</a:t>
            </a:r>
          </a:p>
          <a:p>
            <a:pPr marL="285750" indent="-285750">
              <a:spcAft>
                <a:spcPts val="1000"/>
              </a:spcAft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leg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11150" y="5416439"/>
            <a:ext cx="3566160" cy="783193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ourier New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Pythagorean Theorem.</a:t>
            </a: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 </a:t>
            </a:r>
          </a:p>
          <a:p>
            <a:pPr marL="342900" indent="-342900">
              <a:spcAft>
                <a:spcPts val="1000"/>
              </a:spcAft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Area Formula.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5683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609600" y="1386025"/>
                <a:ext cx="10920984" cy="45550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Use the coordinate grid to find the exact 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distance between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−3,1</m:t>
                        </m:r>
                      </m:e>
                    </m:d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(5,7)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Plot and connect the points on the grid.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Create a right triangle by drawing 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horizontal and vertical line segments.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Apply the Pythagorean Theorem to 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find the missing side.</a:t>
                </a:r>
              </a:p>
              <a:p>
                <a:pPr marL="914400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  <a:ea typeface="Times New Roman"/>
                              <a:cs typeface="Times New Roman"/>
                            </a:rPr>
                            <m:t>𝑎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  <a:ea typeface="Times New Roman"/>
                              <a:cs typeface="Times New Roman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/>
                          <a:ea typeface="Times New Roman"/>
                          <a:cs typeface="Times New Roman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  <a:ea typeface="Times New Roman"/>
                              <a:cs typeface="Times New Roman"/>
                            </a:rPr>
                            <m:t>𝑏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  <a:ea typeface="Times New Roman"/>
                              <a:cs typeface="Times New Roman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/>
                          <a:ea typeface="Times New Roman"/>
                          <a:cs typeface="Times New Roman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Times New Roman"/>
                              <a:cs typeface="Times New Roman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  <a:ea typeface="Times New Roman"/>
                              <a:cs typeface="Times New Roman"/>
                            </a:rPr>
                            <m:t>𝑐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  <a:ea typeface="Times New Roman"/>
                              <a:cs typeface="Times New Roman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>
                  <a:spcBef>
                    <a:spcPts val="1200"/>
                  </a:spcBef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The exact distance between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−3,1</m:t>
                        </m:r>
                      </m:e>
                    </m:d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and 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(5,7)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is __ units.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386025"/>
                <a:ext cx="10920984" cy="4555093"/>
              </a:xfrm>
              <a:prstGeom prst="rect">
                <a:avLst/>
              </a:prstGeom>
              <a:blipFill rotWithShape="1">
                <a:blip r:embed="rId3"/>
                <a:stretch>
                  <a:fillRect l="-558" t="-802" b="-1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19212" y="1386025"/>
            <a:ext cx="4111900" cy="4111900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80774"/>
            <a:ext cx="10477934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5.9.3 Guided Practice: Finding Distance on the Coordinate Plane</a:t>
            </a:r>
          </a:p>
        </p:txBody>
      </p:sp>
      <p:pic>
        <p:nvPicPr>
          <p:cNvPr id="15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5061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Use the coordinate grid to find the exact distance between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−2,−5</m:t>
                        </m:r>
                      </m:e>
                    </m:d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(6,1)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/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The exact distance between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−2,−5</m:t>
                        </m:r>
                      </m:e>
                    </m:d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(6,1)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is __ units.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5632311"/>
              </a:xfrm>
              <a:prstGeom prst="rect">
                <a:avLst/>
              </a:prstGeom>
              <a:blipFill rotWithShape="1">
                <a:blip r:embed="rId3"/>
                <a:stretch>
                  <a:fillRect l="-612" t="-649" b="-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9933" y="1131346"/>
            <a:ext cx="4435750" cy="4435750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709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hart, line chart&#10;&#10;Description automatically generated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5439" y="1937385"/>
            <a:ext cx="6211801" cy="4520290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5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62866"/>
            <a:ext cx="1095738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5.9.4 Guided Instruction: Converse of the Pythagorean Theorem</a:t>
            </a:r>
          </a:p>
        </p:txBody>
      </p:sp>
      <p:pic>
        <p:nvPicPr>
          <p:cNvPr id="16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5350" y="1785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545130" y="1386025"/>
            <a:ext cx="98424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/>
                <a:ea typeface="Times New Roman"/>
                <a:cs typeface="Times New Roman"/>
              </a:rPr>
              <a:t>The sketch shows a design for a new roof.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4711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Predict whether this design is in the shape of a right triangle.</a:t>
                </a:r>
              </a:p>
              <a:p>
                <a:pPr marL="457200" indent="-457200">
                  <a:spcBef>
                    <a:spcPts val="2000"/>
                  </a:spcBef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To determine whether this is a right triangle, determine the length of each side and prove whether the Pythagorean Theorem holds true.</a:t>
                </a:r>
              </a:p>
              <a:p>
                <a:pPr marL="914400" indent="-457200">
                  <a:spcBef>
                    <a:spcPts val="2000"/>
                  </a:spcBef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Find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𝐴𝐶</m:t>
                        </m:r>
                      </m:e>
                    </m:acc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.</a:t>
                </a:r>
              </a:p>
              <a:p>
                <a:pPr marL="914400" indent="-457200">
                  <a:spcBef>
                    <a:spcPts val="2000"/>
                  </a:spcBef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spcBef>
                    <a:spcPts val="2000"/>
                  </a:spcBef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Find the exact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by creating a right triangle with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as the hypotenuse.</a:t>
                </a:r>
              </a:p>
              <a:p>
                <a:pPr marL="914400" indent="-457200">
                  <a:spcBef>
                    <a:spcPts val="2000"/>
                  </a:spcBef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spcBef>
                    <a:spcPts val="2000"/>
                  </a:spcBef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Find the exact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𝐵𝐶</m:t>
                        </m:r>
                      </m:e>
                    </m:acc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by creating a right triangle with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𝐵𝐶</m:t>
                        </m:r>
                      </m:e>
                    </m:acc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as the hypotenuse.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4711098"/>
              </a:xfrm>
              <a:prstGeom prst="rect">
                <a:avLst/>
              </a:prstGeom>
              <a:blipFill rotWithShape="1">
                <a:blip r:embed="rId4"/>
                <a:stretch>
                  <a:fillRect l="-612" t="-776" b="-1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0458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3787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List the three side lengths of the triangle.</a:t>
                </a:r>
                <a:br>
                  <a:rPr lang="en-US" sz="2400" dirty="0">
                    <a:latin typeface="Verdana"/>
                    <a:ea typeface="Times New Roman"/>
                    <a:cs typeface="Times New Roman"/>
                  </a:rPr>
                </a:br>
                <a:br>
                  <a:rPr lang="en-US" sz="2400" dirty="0">
                    <a:latin typeface="Verdana"/>
                    <a:ea typeface="Times New Roman"/>
                    <a:cs typeface="Times New Roman"/>
                  </a:rPr>
                </a:b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𝐴𝐶</m:t>
                        </m:r>
                      </m:e>
                    </m:acc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= _________ units</a:t>
                </a:r>
                <a:br>
                  <a:rPr lang="en-US" sz="2400" dirty="0">
                    <a:latin typeface="Verdana"/>
                    <a:ea typeface="Times New Roman"/>
                    <a:cs typeface="Times New Roman"/>
                  </a:rPr>
                </a:br>
                <a:br>
                  <a:rPr lang="en-US" sz="2400" dirty="0">
                    <a:latin typeface="Verdana"/>
                    <a:ea typeface="Times New Roman"/>
                    <a:cs typeface="Times New Roman"/>
                  </a:rPr>
                </a:b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= _________ units</a:t>
                </a:r>
                <a:br>
                  <a:rPr lang="en-US" sz="2400" dirty="0">
                    <a:latin typeface="Verdana"/>
                    <a:ea typeface="Times New Roman"/>
                    <a:cs typeface="Times New Roman"/>
                  </a:rPr>
                </a:br>
                <a:br>
                  <a:rPr lang="en-US" sz="2400" dirty="0">
                    <a:latin typeface="Verdana"/>
                    <a:ea typeface="Times New Roman"/>
                    <a:cs typeface="Times New Roman"/>
                  </a:rPr>
                </a:b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𝐵𝐶</m:t>
                        </m:r>
                      </m:e>
                    </m:acc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= _________ units</a:t>
                </a:r>
                <a:br>
                  <a:rPr lang="en-US" sz="2400" dirty="0">
                    <a:latin typeface="Verdana"/>
                    <a:ea typeface="Times New Roman"/>
                    <a:cs typeface="Times New Roman"/>
                  </a:rPr>
                </a:b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Determine if Triangle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𝐴𝐵𝐶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is a right triangle using the converse of the Pythagorean Theorem.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3787960"/>
              </a:xfrm>
              <a:prstGeom prst="rect">
                <a:avLst/>
              </a:prstGeom>
              <a:blipFill rotWithShape="1">
                <a:blip r:embed="rId4"/>
                <a:stretch>
                  <a:fillRect t="-1286" r="-334" b="-25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2940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3787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rabicPeriod" startAt="3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Complete the statement.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</a:b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</a:b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</a:br>
            <a:r>
              <a:rPr lang="en-US" sz="2400" dirty="0">
                <a:latin typeface="Verdana"/>
                <a:ea typeface="Times New Roman"/>
                <a:cs typeface="Times New Roman"/>
              </a:rPr>
              <a:t>The roof design			 satisfy the </a:t>
            </a:r>
            <a:br>
              <a:rPr lang="en-US" sz="2400" dirty="0">
                <a:latin typeface="Verdana"/>
                <a:ea typeface="Times New Roman"/>
                <a:cs typeface="Times New Roman"/>
              </a:rPr>
            </a:br>
            <a:br>
              <a:rPr lang="en-US" sz="2400" dirty="0">
                <a:latin typeface="Verdana"/>
                <a:ea typeface="Times New Roman"/>
                <a:cs typeface="Times New Roman"/>
              </a:rPr>
            </a:br>
            <a:br>
              <a:rPr lang="en-US" sz="2400" dirty="0">
                <a:latin typeface="Verdana"/>
                <a:ea typeface="Times New Roman"/>
                <a:cs typeface="Times New Roman"/>
              </a:rPr>
            </a:br>
            <a:r>
              <a:rPr lang="en-US" sz="2400" dirty="0">
                <a:latin typeface="Verdana"/>
                <a:ea typeface="Times New Roman"/>
                <a:cs typeface="Times New Roman"/>
              </a:rPr>
              <a:t>Pythagorean Theorem, therefore, the design</a:t>
            </a:r>
            <a:br>
              <a:rPr lang="en-US" sz="2400" dirty="0">
                <a:latin typeface="Verdana"/>
                <a:ea typeface="Times New Roman"/>
                <a:cs typeface="Times New Roman"/>
              </a:rPr>
            </a:br>
            <a:br>
              <a:rPr lang="en-US" sz="2400" dirty="0">
                <a:latin typeface="Verdana"/>
                <a:ea typeface="Times New Roman"/>
                <a:cs typeface="Times New Roman"/>
              </a:rPr>
            </a:br>
            <a:br>
              <a:rPr lang="en-US" sz="2400" dirty="0">
                <a:latin typeface="Verdana"/>
                <a:ea typeface="Times New Roman"/>
                <a:cs typeface="Times New Roman"/>
              </a:rPr>
            </a:br>
            <a:r>
              <a:rPr lang="en-US" sz="2400" dirty="0">
                <a:latin typeface="Verdana"/>
                <a:ea typeface="Times New Roman"/>
                <a:cs typeface="Times New Roman"/>
              </a:rPr>
              <a:t>	       a right triangle. 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034790" y="1421920"/>
            <a:ext cx="2011680" cy="91940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ourier New" pitchFamily="49" charset="0"/>
              <a:buChar char="o"/>
            </a:pPr>
            <a:r>
              <a:rPr lang="en-US" sz="2400" dirty="0">
                <a:latin typeface="Verdana" pitchFamily="34" charset="0"/>
                <a:ea typeface="Verdana" pitchFamily="34" charset="0"/>
                <a:cs typeface="Times New Roman"/>
              </a:rPr>
              <a:t>does</a:t>
            </a:r>
          </a:p>
          <a:p>
            <a:pPr marL="342900" indent="-342900">
              <a:spcAft>
                <a:spcPts val="1000"/>
              </a:spcAft>
              <a:buFont typeface="Courier New" pitchFamily="49" charset="0"/>
              <a:buChar char="o"/>
            </a:pPr>
            <a:r>
              <a:rPr lang="en-US" sz="2400" dirty="0">
                <a:latin typeface="Verdana" pitchFamily="34" charset="0"/>
                <a:ea typeface="Verdana" pitchFamily="34" charset="0"/>
                <a:cs typeface="Times New Roman"/>
              </a:rPr>
              <a:t>does not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25361" y="3620385"/>
            <a:ext cx="1554480" cy="91940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ourier New" pitchFamily="49" charset="0"/>
              <a:buChar char="o"/>
            </a:pPr>
            <a:r>
              <a:rPr lang="en-US" sz="2400" dirty="0">
                <a:latin typeface="Verdana" pitchFamily="34" charset="0"/>
                <a:ea typeface="Verdana" pitchFamily="34" charset="0"/>
                <a:cs typeface="Times New Roman"/>
              </a:rPr>
              <a:t>is</a:t>
            </a:r>
          </a:p>
          <a:p>
            <a:pPr marL="342900" indent="-342900">
              <a:spcAft>
                <a:spcPts val="1000"/>
              </a:spcAft>
              <a:buFont typeface="Courier New" pitchFamily="49" charset="0"/>
              <a:buChar char="o"/>
            </a:pPr>
            <a:r>
              <a:rPr lang="en-US" sz="2400" dirty="0">
                <a:latin typeface="Verdana" pitchFamily="34" charset="0"/>
                <a:ea typeface="Verdana" pitchFamily="34" charset="0"/>
                <a:cs typeface="Times New Roman"/>
              </a:rPr>
              <a:t>is not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7153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0075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87829" y="1386025"/>
                <a:ext cx="979975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Find the exact distance from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to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1386025"/>
                <a:ext cx="9799755" cy="400110"/>
              </a:xfrm>
              <a:prstGeom prst="rect">
                <a:avLst/>
              </a:prstGeom>
              <a:blipFill>
                <a:blip r:embed="rId5"/>
                <a:stretch>
                  <a:fillRect l="-684" t="-909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Chart, line 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5538" y="2015738"/>
            <a:ext cx="5797677" cy="4325625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5.9.5 Your Turn!</a:t>
            </a:r>
          </a:p>
        </p:txBody>
      </p:sp>
      <p:pic>
        <p:nvPicPr>
          <p:cNvPr id="14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9500" y="1371233"/>
            <a:ext cx="6946900" cy="3681095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Find the exact distance between the two points.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2776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Picture 7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624" t="16233" r="9490" b="6778"/>
          <a:stretch/>
        </p:blipFill>
        <p:spPr bwMode="auto">
          <a:xfrm>
            <a:off x="2627388" y="1838595"/>
            <a:ext cx="6720840" cy="31724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Use the converse of the Pythagorean Theorem to determine if the figure is a right triangle.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684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7797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28754" y="1403578"/>
            <a:ext cx="11216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Select the </a:t>
            </a:r>
            <a:r>
              <a:rPr lang="en-US" sz="2000" dirty="0" err="1">
                <a:latin typeface="Verdana"/>
                <a:ea typeface="Times New Roman"/>
                <a:cs typeface="Times New Roman"/>
              </a:rPr>
              <a:t>emoji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 face that corresponds to your feeling toward today’s learning target.</a:t>
            </a: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r>
              <a:rPr lang="en-US" sz="2000" dirty="0">
                <a:latin typeface="Verdana"/>
                <a:ea typeface="Times New Roman"/>
                <a:cs typeface="Times New Roman"/>
              </a:rPr>
              <a:t>I can determine the distance between two points on the coordinate plane.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02000" y="3377200"/>
            <a:ext cx="7086600" cy="197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5.9.6 Wrap-Up: Reflection</a:t>
            </a:r>
          </a:p>
        </p:txBody>
      </p:sp>
      <p:pic>
        <p:nvPicPr>
          <p:cNvPr id="14" name="Google Shape;469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1423</TotalTime>
  <Words>947</Words>
  <Application>Microsoft Macintosh PowerPoint</Application>
  <PresentationFormat>Widescreen</PresentationFormat>
  <Paragraphs>178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Century Gothic</vt:lpstr>
      <vt:lpstr>Calibri</vt:lpstr>
      <vt:lpstr>Arial Black</vt:lpstr>
      <vt:lpstr>Cambria Math</vt:lpstr>
      <vt:lpstr>Arial</vt:lpstr>
      <vt:lpstr>Wingdings</vt:lpstr>
      <vt:lpstr>Verdana</vt:lpstr>
      <vt:lpstr>Courier New</vt:lpstr>
      <vt:lpstr>1_Office Theme</vt:lpstr>
      <vt:lpstr>PowerPoint Presentation</vt:lpstr>
      <vt:lpstr>PowerPoint Presentation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Akarshna Iyer</cp:lastModifiedBy>
  <cp:revision>49</cp:revision>
  <dcterms:created xsi:type="dcterms:W3CDTF">2015-03-17T18:51:18Z</dcterms:created>
  <dcterms:modified xsi:type="dcterms:W3CDTF">2022-07-18T23:32:05Z</dcterms:modified>
</cp:coreProperties>
</file>