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85" r:id="rId4"/>
    <p:sldId id="286" r:id="rId5"/>
    <p:sldId id="261" r:id="rId6"/>
    <p:sldId id="287" r:id="rId7"/>
    <p:sldId id="314" r:id="rId8"/>
    <p:sldId id="315" r:id="rId9"/>
    <p:sldId id="352" r:id="rId10"/>
    <p:sldId id="289" r:id="rId11"/>
    <p:sldId id="290" r:id="rId12"/>
    <p:sldId id="365" r:id="rId13"/>
    <p:sldId id="375" r:id="rId14"/>
    <p:sldId id="376" r:id="rId15"/>
    <p:sldId id="323" r:id="rId16"/>
    <p:sldId id="324" r:id="rId17"/>
    <p:sldId id="366" r:id="rId18"/>
    <p:sldId id="371" r:id="rId19"/>
    <p:sldId id="372" r:id="rId20"/>
    <p:sldId id="373" r:id="rId21"/>
    <p:sldId id="302" r:id="rId22"/>
    <p:sldId id="303" r:id="rId23"/>
    <p:sldId id="369" r:id="rId24"/>
    <p:sldId id="377" r:id="rId25"/>
    <p:sldId id="306" r:id="rId26"/>
    <p:sldId id="307" r:id="rId27"/>
  </p:sldIdLst>
  <p:sldSz cx="12192000" cy="6858000"/>
  <p:notesSz cx="6858000" cy="9144000"/>
  <p:embeddedFontLst>
    <p:embeddedFont>
      <p:font typeface="Century Gothic" pitchFamily="34" charset="0"/>
      <p:regular r:id="rId29"/>
      <p:bold r:id="rId30"/>
      <p:italic r:id="rId31"/>
      <p:boldItalic r:id="rId32"/>
    </p:embeddedFont>
    <p:embeddedFont>
      <p:font typeface="Cambria Math" pitchFamily="18" charset="0"/>
      <p:regular r:id="rId33"/>
    </p:embeddedFont>
    <p:embeddedFont>
      <p:font typeface="Cambria" pitchFamily="18" charset="0"/>
      <p:regular r:id="rId34"/>
      <p:bold r:id="rId35"/>
      <p:italic r:id="rId36"/>
      <p:boldItalic r:id="rId37"/>
    </p:embeddedFont>
    <p:embeddedFont>
      <p:font typeface="Arial Black" pitchFamily="34" charset="0"/>
      <p:bold r:id="rId38"/>
    </p:embeddedFont>
    <p:embeddedFont>
      <p:font typeface="Verdana" pitchFamily="34" charset="0"/>
      <p:regular r:id="rId39"/>
      <p:bold r:id="rId40"/>
      <p:italic r:id="rId41"/>
      <p:boldItalic r:id="rId42"/>
    </p:embeddedFont>
    <p:embeddedFont>
      <p:font typeface="Calibri" pitchFamily="34"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9C058"/>
    <a:srgbClr val="3465B0"/>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28" autoAdjust="0"/>
    <p:restoredTop sz="94694"/>
  </p:normalViewPr>
  <p:slideViewPr>
    <p:cSldViewPr snapToGrid="0">
      <p:cViewPr>
        <p:scale>
          <a:sx n="100" d="100"/>
          <a:sy n="100" d="100"/>
        </p:scale>
        <p:origin x="-660" y="-330"/>
      </p:cViewPr>
      <p:guideLst>
        <p:guide orient="horz" pos="2160"/>
        <p:guide pos="3840"/>
      </p:guideLst>
    </p:cSldViewPr>
  </p:slideViewPr>
  <p:notesTextViewPr>
    <p:cViewPr>
      <p:scale>
        <a:sx n="1" d="1"/>
        <a:sy n="1" d="1"/>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5573881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0893168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0870252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0870252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0870252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1882847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0893168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2431289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22431289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6.png"/><Relationship Id="rId7" Type="http://schemas.openxmlformats.org/officeDocument/2006/relationships/hyperlink" Target="https://en.wikipedia.org/wiki/File:Compass_rose_simple.svg" TargetMode="External"/><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172076" y="2054277"/>
            <a:ext cx="601980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8</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Pre-Algebra</a:t>
            </a:r>
            <a:br>
              <a:rPr lang="en-US" sz="3800" b="1" dirty="0">
                <a:solidFill>
                  <a:srgbClr val="417DBF"/>
                </a:solidFill>
                <a:latin typeface="Verdana"/>
                <a:ea typeface="Verdana"/>
                <a:cs typeface="Verdana"/>
                <a:sym typeface="Verdana"/>
              </a:rPr>
            </a:br>
            <a:endParaRPr lang="en-US" sz="3200" b="1" dirty="0">
              <a:solidFill>
                <a:srgbClr val="417DBF"/>
              </a:solidFill>
              <a:latin typeface="Verdana"/>
              <a:ea typeface="Verdana"/>
              <a:cs typeface="Verdana"/>
              <a:sym typeface="Verdana"/>
            </a:endParaRPr>
          </a:p>
          <a:p>
            <a:pPr algn="ctr">
              <a:lnSpc>
                <a:spcPct val="100000"/>
              </a:lnSpc>
              <a:buClr>
                <a:srgbClr val="000000"/>
              </a:buClr>
              <a:tabLst>
                <a:tab pos="1431925" algn="l"/>
              </a:tabLst>
            </a:pPr>
            <a:r>
              <a:rPr lang="en-US" sz="3800" b="1" dirty="0">
                <a:solidFill>
                  <a:srgbClr val="417DBF"/>
                </a:solidFill>
                <a:latin typeface="Verdana"/>
                <a:ea typeface="Verdana"/>
                <a:cs typeface="Verdana"/>
                <a:sym typeface="Verdana"/>
              </a:rPr>
              <a:t>Unit 5, Lesson 7</a:t>
            </a:r>
            <a:br>
              <a:rPr lang="en-US" sz="38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
            </a:r>
            <a:br>
              <a:rPr lang="en-US" sz="32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Using the Pythagorean Theorem to Solve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Real-World Problems</a:t>
            </a:r>
            <a:br>
              <a:rPr lang="en-US" sz="38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
            </a:r>
            <a:br>
              <a:rPr lang="en-US" sz="32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208</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xmlns="" id="{29141D4E-DA2B-B445-945E-1FC65102392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59374" y="1645996"/>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58835" y="925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48855" y="298450"/>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533400" y="1462225"/>
            <a:ext cx="1116584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a:ea typeface="Verdana"/>
                <a:cs typeface="Verdana"/>
                <a:sym typeface="Verdana"/>
              </a:rPr>
              <a:t>MA.8.GR.1.1</a:t>
            </a:r>
          </a:p>
          <a:p>
            <a:pPr indent="0">
              <a:buNone/>
            </a:pPr>
            <a:r>
              <a:rPr lang="en-US" sz="3500" dirty="0">
                <a:solidFill>
                  <a:schemeClr val="tx1"/>
                </a:solidFill>
                <a:latin typeface="Verdana"/>
                <a:ea typeface="Verdana"/>
                <a:cs typeface="Verdana"/>
                <a:sym typeface="Verdana"/>
              </a:rPr>
              <a:t>Apply the Pythagorean Theorem to solve mathematical and real-world problems involving unknown side lengths in right triangles.</a:t>
            </a:r>
            <a:endParaRPr lang="en-US" sz="3500" dirty="0">
              <a:solidFill>
                <a:schemeClr val="tx1"/>
              </a:solidFill>
              <a:latin typeface="Century Gothic"/>
              <a:ea typeface="Century Gothic"/>
              <a:cs typeface="Century Gothic"/>
              <a:sym typeface="Century Gothic"/>
            </a:endParaRPr>
          </a:p>
        </p:txBody>
      </p:sp>
      <p:pic>
        <p:nvPicPr>
          <p:cNvPr id="9"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881" y="615214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p:cNvSpPr txBox="1"/>
          <p:nvPr/>
        </p:nvSpPr>
        <p:spPr>
          <a:xfrm>
            <a:off x="8910505" y="64807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208</a:t>
            </a:r>
            <a:endParaRPr i="1" dirty="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253305" y="9250"/>
            <a:ext cx="882723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209035" y="1455367"/>
            <a:ext cx="9499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pic>
        <p:nvPicPr>
          <p:cNvPr id="10"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2881" y="615214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p:cNvSpPr txBox="1"/>
          <p:nvPr/>
        </p:nvSpPr>
        <p:spPr>
          <a:xfrm>
            <a:off x="8910505" y="64807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208</a:t>
            </a:r>
            <a:endParaRPr i="1" dirty="0">
              <a:latin typeface="Calibri"/>
              <a:ea typeface="Calibri"/>
              <a:cs typeface="Calibri"/>
              <a:sym typeface="Calibri"/>
            </a:endParaRPr>
          </a:p>
        </p:txBody>
      </p:sp>
      <p:pic>
        <p:nvPicPr>
          <p:cNvPr id="13" name="Google Shape;281;g104476d1465_1_17"/>
          <p:cNvPicPr preferRelativeResize="0"/>
          <p:nvPr/>
        </p:nvPicPr>
        <p:blipFill>
          <a:blip r:embed="rId4">
            <a:alphaModFix/>
          </a:blip>
          <a:stretch>
            <a:fillRect/>
          </a:stretch>
        </p:blipFill>
        <p:spPr>
          <a:xfrm>
            <a:off x="448855" y="298450"/>
            <a:ext cx="747300" cy="74730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259775" y="925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3">
            <a:alphaModFix/>
          </a:blip>
          <a:stretch>
            <a:fillRect/>
          </a:stretch>
        </p:blipFill>
        <p:spPr>
          <a:xfrm>
            <a:off x="448855" y="29845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536800" y="1470925"/>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71500" indent="-565150">
              <a:buClr>
                <a:srgbClr val="434343"/>
              </a:buClr>
              <a:buSzPts val="3500"/>
              <a:buFont typeface="Wingdings" pitchFamily="2" charset="2"/>
              <a:buChar char="q"/>
            </a:pPr>
            <a:r>
              <a:rPr lang="en-US" sz="3500" dirty="0">
                <a:solidFill>
                  <a:schemeClr val="tx1"/>
                </a:solidFill>
                <a:latin typeface="Verdana"/>
                <a:ea typeface="Verdana"/>
                <a:cs typeface="Verdana"/>
                <a:sym typeface="Verdana"/>
              </a:rPr>
              <a:t>I can solve real-world problems by applying the Pythagorean Theorem.</a:t>
            </a:r>
          </a:p>
        </p:txBody>
      </p:sp>
      <p:pic>
        <p:nvPicPr>
          <p:cNvPr id="9"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881" y="6152140"/>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p:cNvSpPr txBox="1"/>
          <p:nvPr/>
        </p:nvSpPr>
        <p:spPr>
          <a:xfrm>
            <a:off x="8910505" y="64807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208</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pic>
        <p:nvPicPr>
          <p:cNvPr id="7"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881" y="615214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910505" y="64807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209</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61654"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5.7.1 Warm-Up: Bell Work</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3">
            <a:alphaModFix/>
          </a:blip>
          <a:stretch>
            <a:fillRect/>
          </a:stretch>
        </p:blipFill>
        <p:spPr>
          <a:xfrm>
            <a:off x="448855" y="298450"/>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xmlns="" id="{E1D7562E-134F-D14B-AF1A-DF40E11EF758}"/>
              </a:ext>
            </a:extLst>
          </p:cNvPr>
          <p:cNvSpPr txBox="1"/>
          <p:nvPr/>
        </p:nvSpPr>
        <p:spPr>
          <a:xfrm>
            <a:off x="530860" y="1386026"/>
            <a:ext cx="9818624" cy="4401205"/>
          </a:xfrm>
          <a:prstGeom prst="rect">
            <a:avLst/>
          </a:prstGeom>
          <a:noFill/>
        </p:spPr>
        <p:txBody>
          <a:bodyPr wrap="square" rtlCol="0">
            <a:spAutoFit/>
          </a:bodyPr>
          <a:lstStyle/>
          <a:p>
            <a:r>
              <a:rPr lang="en-US" sz="2000" dirty="0">
                <a:latin typeface="Verdana"/>
                <a:ea typeface="Verdana"/>
                <a:cs typeface="Verdana"/>
              </a:rPr>
              <a:t>Sawyer applied the Pythagorean Theorem to find the length of the missing side of the triangle. His work is shown.</a:t>
            </a:r>
          </a:p>
          <a:p>
            <a:endParaRPr lang="en-PH" sz="2000" dirty="0">
              <a:latin typeface="Verdana"/>
              <a:ea typeface="Verdana"/>
              <a:cs typeface="Verdana" panose="020B0604030504040204" pitchFamily="34" charset="0"/>
            </a:endParaRPr>
          </a:p>
          <a:p>
            <a:endParaRPr lang="en-PH" sz="2000" dirty="0">
              <a:latin typeface="Verdana"/>
              <a:ea typeface="Verdana"/>
              <a:cs typeface="Verdana" panose="020B0604030504040204" pitchFamily="34" charset="0"/>
            </a:endParaRPr>
          </a:p>
          <a:p>
            <a:endParaRPr lang="en-PH" sz="2000" dirty="0">
              <a:latin typeface="Verdana"/>
              <a:ea typeface="Verdana"/>
              <a:cs typeface="Verdana" panose="020B0604030504040204" pitchFamily="34" charset="0"/>
            </a:endParaRPr>
          </a:p>
          <a:p>
            <a:endParaRPr lang="en-PH" sz="2000" dirty="0">
              <a:latin typeface="Verdana"/>
              <a:ea typeface="Verdana"/>
              <a:cs typeface="Verdana" panose="020B0604030504040204" pitchFamily="34" charset="0"/>
            </a:endParaRPr>
          </a:p>
          <a:p>
            <a:endParaRPr lang="en-PH" sz="2000" dirty="0">
              <a:latin typeface="Verdana"/>
              <a:ea typeface="Verdana"/>
              <a:cs typeface="Verdana" panose="020B0604030504040204" pitchFamily="34" charset="0"/>
            </a:endParaRPr>
          </a:p>
          <a:p>
            <a:endParaRPr lang="en-PH" sz="2000" dirty="0">
              <a:latin typeface="Verdana"/>
              <a:ea typeface="Verdana"/>
              <a:cs typeface="Verdana" panose="020B0604030504040204" pitchFamily="34" charset="0"/>
            </a:endParaRPr>
          </a:p>
          <a:p>
            <a:endParaRPr lang="en-PH" sz="2000" dirty="0">
              <a:latin typeface="Verdana"/>
              <a:ea typeface="Verdana"/>
              <a:cs typeface="Verdana" panose="020B0604030504040204" pitchFamily="34" charset="0"/>
            </a:endParaRPr>
          </a:p>
          <a:p>
            <a:endParaRPr lang="en-PH" sz="2000" dirty="0">
              <a:latin typeface="Verdana"/>
              <a:ea typeface="Verdana"/>
              <a:cs typeface="Verdana" panose="020B0604030504040204" pitchFamily="34" charset="0"/>
            </a:endParaRPr>
          </a:p>
          <a:p>
            <a:endParaRPr lang="en-PH" sz="2000" dirty="0">
              <a:latin typeface="Verdana"/>
              <a:ea typeface="Verdana"/>
              <a:cs typeface="Verdana" panose="020B0604030504040204" pitchFamily="34" charset="0"/>
            </a:endParaRPr>
          </a:p>
          <a:p>
            <a:endParaRPr lang="en-PH" sz="2000" dirty="0">
              <a:latin typeface="Verdana"/>
              <a:ea typeface="Verdana"/>
              <a:cs typeface="Verdana" panose="020B0604030504040204" pitchFamily="34" charset="0"/>
            </a:endParaRPr>
          </a:p>
          <a:p>
            <a:endParaRPr lang="en-PH" sz="2000" dirty="0">
              <a:latin typeface="Verdana"/>
              <a:ea typeface="Verdana"/>
              <a:cs typeface="Verdana" panose="020B0604030504040204" pitchFamily="34" charset="0"/>
            </a:endParaRPr>
          </a:p>
          <a:p>
            <a:pPr marL="457200" indent="-457200">
              <a:buFont typeface="+mj-lt"/>
              <a:buAutoNum type="arabicPeriod"/>
            </a:pPr>
            <a:r>
              <a:rPr lang="en-US" sz="2000" dirty="0">
                <a:latin typeface="Verdana"/>
              </a:rPr>
              <a:t>Write a note to Sawyer explaining his mistake.</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2212849" y="2247901"/>
            <a:ext cx="4207875" cy="2746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E1D7562E-134F-D14B-AF1A-DF40E11EF758}"/>
                  </a:ext>
                </a:extLst>
              </p:cNvPr>
              <p:cNvSpPr txBox="1"/>
              <p:nvPr/>
            </p:nvSpPr>
            <p:spPr>
              <a:xfrm>
                <a:off x="6918199" y="2343149"/>
                <a:ext cx="3416703" cy="27168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2000" i="1">
                              <a:latin typeface="Cambria Math"/>
                              <a:ea typeface="Verdana"/>
                              <a:cs typeface="Verdana"/>
                            </a:rPr>
                          </m:ctrlPr>
                        </m:sSupPr>
                        <m:e>
                          <m:r>
                            <a:rPr lang="en-US" sz="2000" i="1">
                              <a:latin typeface="Cambria Math"/>
                              <a:ea typeface="Verdana"/>
                              <a:cs typeface="Verdana"/>
                            </a:rPr>
                            <m:t>𝑎</m:t>
                          </m:r>
                        </m:e>
                        <m:sup>
                          <m:r>
                            <a:rPr lang="en-US" sz="2000" i="1">
                              <a:latin typeface="Cambria Math"/>
                              <a:ea typeface="Verdana"/>
                              <a:cs typeface="Verdana"/>
                            </a:rPr>
                            <m:t>2</m:t>
                          </m:r>
                        </m:sup>
                      </m:sSup>
                      <m:r>
                        <a:rPr lang="en-US" sz="2000" i="1">
                          <a:latin typeface="Cambria Math"/>
                          <a:ea typeface="Verdana"/>
                          <a:cs typeface="Verdana"/>
                        </a:rPr>
                        <m:t>+</m:t>
                      </m:r>
                      <m:sSup>
                        <m:sSupPr>
                          <m:ctrlPr>
                            <a:rPr lang="en-US" sz="2000" i="1">
                              <a:latin typeface="Cambria Math"/>
                              <a:ea typeface="Verdana"/>
                              <a:cs typeface="Verdana"/>
                            </a:rPr>
                          </m:ctrlPr>
                        </m:sSupPr>
                        <m:e>
                          <m:r>
                            <a:rPr lang="en-US" sz="2000" i="1">
                              <a:latin typeface="Cambria Math"/>
                              <a:ea typeface="Verdana"/>
                              <a:cs typeface="Verdana"/>
                            </a:rPr>
                            <m:t>𝑏</m:t>
                          </m:r>
                        </m:e>
                        <m:sup>
                          <m:r>
                            <a:rPr lang="en-US" sz="2000" i="1">
                              <a:latin typeface="Cambria Math"/>
                              <a:ea typeface="Verdana"/>
                              <a:cs typeface="Verdana"/>
                            </a:rPr>
                            <m:t>2</m:t>
                          </m:r>
                        </m:sup>
                      </m:sSup>
                      <m:r>
                        <a:rPr lang="en-US" sz="2000" i="1">
                          <a:latin typeface="Cambria Math"/>
                          <a:ea typeface="Verdana"/>
                          <a:cs typeface="Verdana"/>
                        </a:rPr>
                        <m:t>=</m:t>
                      </m:r>
                      <m:sSup>
                        <m:sSupPr>
                          <m:ctrlPr>
                            <a:rPr lang="en-US" sz="2000" i="1">
                              <a:latin typeface="Cambria Math"/>
                              <a:ea typeface="Verdana"/>
                              <a:cs typeface="Verdana"/>
                            </a:rPr>
                          </m:ctrlPr>
                        </m:sSupPr>
                        <m:e>
                          <m:r>
                            <a:rPr lang="en-US" sz="2000" i="1">
                              <a:latin typeface="Cambria Math"/>
                              <a:ea typeface="Verdana"/>
                              <a:cs typeface="Verdana"/>
                            </a:rPr>
                            <m:t>𝑐</m:t>
                          </m:r>
                        </m:e>
                        <m:sup>
                          <m:r>
                            <a:rPr lang="en-US" sz="2000" i="1">
                              <a:latin typeface="Cambria Math"/>
                              <a:ea typeface="Verdana"/>
                              <a:cs typeface="Verdana"/>
                            </a:rPr>
                            <m:t>2</m:t>
                          </m:r>
                        </m:sup>
                      </m:sSup>
                    </m:oMath>
                  </m:oMathPara>
                </a14:m>
                <a:endParaRPr lang="en-US" sz="2000" dirty="0">
                  <a:latin typeface="Verdana" panose="020B0604030504040204" pitchFamily="34" charset="0"/>
                  <a:ea typeface="Verdana" panose="020B0604030504040204" pitchFamily="34" charset="0"/>
                  <a:cs typeface="Verdana" panose="020B0604030504040204" pitchFamily="34" charset="0"/>
                </a:endParaRPr>
              </a:p>
              <a:p>
                <a:pPr/>
                <a14:m>
                  <m:oMathPara xmlns:m="http://schemas.openxmlformats.org/officeDocument/2006/math">
                    <m:oMathParaPr>
                      <m:jc m:val="centerGroup"/>
                    </m:oMathParaPr>
                    <m:oMath xmlns:m="http://schemas.openxmlformats.org/officeDocument/2006/math">
                      <m:sSup>
                        <m:sSupPr>
                          <m:ctrlPr>
                            <a:rPr lang="en-US" sz="2000" i="1">
                              <a:latin typeface="Cambria Math"/>
                              <a:ea typeface="Verdana"/>
                              <a:cs typeface="Verdana"/>
                            </a:rPr>
                          </m:ctrlPr>
                        </m:sSupPr>
                        <m:e>
                          <m:r>
                            <a:rPr lang="en-US" sz="2000" i="1">
                              <a:latin typeface="Cambria Math"/>
                              <a:ea typeface="Verdana"/>
                              <a:cs typeface="Verdana"/>
                            </a:rPr>
                            <m:t>13</m:t>
                          </m:r>
                        </m:e>
                        <m:sup>
                          <m:r>
                            <a:rPr lang="en-US" sz="2000" i="1">
                              <a:latin typeface="Cambria Math"/>
                              <a:ea typeface="Verdana"/>
                              <a:cs typeface="Verdana"/>
                            </a:rPr>
                            <m:t>2</m:t>
                          </m:r>
                        </m:sup>
                      </m:sSup>
                      <m:r>
                        <a:rPr lang="en-US" sz="2000" i="1">
                          <a:latin typeface="Cambria Math"/>
                          <a:ea typeface="Verdana"/>
                          <a:cs typeface="Verdana"/>
                        </a:rPr>
                        <m:t>+</m:t>
                      </m:r>
                      <m:sSup>
                        <m:sSupPr>
                          <m:ctrlPr>
                            <a:rPr lang="en-US" sz="2000" i="1">
                              <a:latin typeface="Cambria Math"/>
                              <a:ea typeface="Verdana"/>
                              <a:cs typeface="Verdana"/>
                            </a:rPr>
                          </m:ctrlPr>
                        </m:sSupPr>
                        <m:e>
                          <m:rad>
                            <m:radPr>
                              <m:degHide m:val="on"/>
                              <m:ctrlPr>
                                <a:rPr lang="en-US" sz="2000" i="1">
                                  <a:latin typeface="Cambria Math"/>
                                  <a:ea typeface="Verdana"/>
                                  <a:cs typeface="Verdana"/>
                                </a:rPr>
                              </m:ctrlPr>
                            </m:radPr>
                            <m:deg/>
                            <m:e>
                              <m:r>
                                <a:rPr lang="en-US" sz="2000" i="1">
                                  <a:latin typeface="Cambria Math"/>
                                  <a:ea typeface="Verdana"/>
                                  <a:cs typeface="Verdana"/>
                                </a:rPr>
                                <m:t>218</m:t>
                              </m:r>
                            </m:e>
                          </m:rad>
                        </m:e>
                        <m:sup>
                          <m:r>
                            <a:rPr lang="en-US" sz="2000" i="1">
                              <a:latin typeface="Cambria Math"/>
                              <a:ea typeface="Verdana"/>
                              <a:cs typeface="Verdana"/>
                            </a:rPr>
                            <m:t>2</m:t>
                          </m:r>
                        </m:sup>
                      </m:sSup>
                      <m:r>
                        <a:rPr lang="en-US" sz="2000" i="1">
                          <a:latin typeface="Cambria Math"/>
                          <a:ea typeface="Verdana"/>
                          <a:cs typeface="Verdana"/>
                        </a:rPr>
                        <m:t>=</m:t>
                      </m:r>
                      <m:sSup>
                        <m:sSupPr>
                          <m:ctrlPr>
                            <a:rPr lang="en-US" sz="2000" i="1">
                              <a:latin typeface="Cambria Math"/>
                              <a:ea typeface="Verdana"/>
                              <a:cs typeface="Verdana"/>
                            </a:rPr>
                          </m:ctrlPr>
                        </m:sSupPr>
                        <m:e>
                          <m:r>
                            <a:rPr lang="en-US" sz="2000" i="1">
                              <a:latin typeface="Cambria Math"/>
                              <a:ea typeface="Verdana"/>
                              <a:cs typeface="Verdana"/>
                            </a:rPr>
                            <m:t>𝑐</m:t>
                          </m:r>
                        </m:e>
                        <m:sup>
                          <m:r>
                            <a:rPr lang="en-US" sz="2000" i="1">
                              <a:latin typeface="Cambria Math"/>
                              <a:ea typeface="Verdana"/>
                              <a:cs typeface="Verdana"/>
                            </a:rPr>
                            <m:t>2</m:t>
                          </m:r>
                        </m:sup>
                      </m:sSup>
                    </m:oMath>
                  </m:oMathPara>
                </a14:m>
                <a:endParaRPr lang="en-US" sz="2000" dirty="0">
                  <a:latin typeface="Verdana" panose="020B0604030504040204" pitchFamily="34" charset="0"/>
                  <a:ea typeface="Verdana" panose="020B0604030504040204" pitchFamily="34" charset="0"/>
                  <a:cs typeface="Verdana" panose="020B0604030504040204" pitchFamily="34" charset="0"/>
                </a:endParaRPr>
              </a:p>
              <a:p>
                <a:pPr/>
                <a14:m>
                  <m:oMathPara xmlns:m="http://schemas.openxmlformats.org/officeDocument/2006/math">
                    <m:oMathParaPr>
                      <m:jc m:val="centerGroup"/>
                    </m:oMathParaPr>
                    <m:oMath xmlns:m="http://schemas.openxmlformats.org/officeDocument/2006/math">
                      <m:r>
                        <a:rPr lang="en-US" sz="2000" i="1">
                          <a:latin typeface="Cambria Math"/>
                          <a:ea typeface="Verdana"/>
                          <a:cs typeface="Verdana"/>
                        </a:rPr>
                        <m:t>169+218=</m:t>
                      </m:r>
                      <m:sSup>
                        <m:sSupPr>
                          <m:ctrlPr>
                            <a:rPr lang="en-US" sz="2000" i="1">
                              <a:latin typeface="Cambria Math"/>
                              <a:ea typeface="Verdana"/>
                              <a:cs typeface="Verdana"/>
                            </a:rPr>
                          </m:ctrlPr>
                        </m:sSupPr>
                        <m:e>
                          <m:r>
                            <a:rPr lang="en-US" sz="2000" i="1">
                              <a:latin typeface="Cambria Math"/>
                              <a:ea typeface="Verdana"/>
                              <a:cs typeface="Verdana"/>
                            </a:rPr>
                            <m:t>𝑐</m:t>
                          </m:r>
                        </m:e>
                        <m:sup>
                          <m:r>
                            <a:rPr lang="en-US" sz="2000" i="1">
                              <a:latin typeface="Cambria Math"/>
                              <a:ea typeface="Verdana"/>
                              <a:cs typeface="Verdana"/>
                            </a:rPr>
                            <m:t>2</m:t>
                          </m:r>
                        </m:sup>
                      </m:sSup>
                    </m:oMath>
                  </m:oMathPara>
                </a14:m>
                <a:endParaRPr lang="en-US" sz="2000" dirty="0">
                  <a:latin typeface="Verdana" panose="020B0604030504040204" pitchFamily="34" charset="0"/>
                  <a:ea typeface="Verdana" panose="020B0604030504040204" pitchFamily="34" charset="0"/>
                  <a:cs typeface="Verdana" panose="020B0604030504040204" pitchFamily="34" charset="0"/>
                </a:endParaRPr>
              </a:p>
              <a:p>
                <a:pPr/>
                <a14:m>
                  <m:oMathPara xmlns:m="http://schemas.openxmlformats.org/officeDocument/2006/math">
                    <m:oMathParaPr>
                      <m:jc m:val="centerGroup"/>
                    </m:oMathParaPr>
                    <m:oMath xmlns:m="http://schemas.openxmlformats.org/officeDocument/2006/math">
                      <m:r>
                        <a:rPr lang="en-US" sz="2000" i="1">
                          <a:latin typeface="Cambria Math"/>
                          <a:ea typeface="Verdana"/>
                          <a:cs typeface="Verdana"/>
                        </a:rPr>
                        <m:t>387=</m:t>
                      </m:r>
                      <m:sSup>
                        <m:sSupPr>
                          <m:ctrlPr>
                            <a:rPr lang="en-US" sz="2000" i="1">
                              <a:latin typeface="Cambria Math"/>
                              <a:ea typeface="Verdana"/>
                              <a:cs typeface="Verdana"/>
                            </a:rPr>
                          </m:ctrlPr>
                        </m:sSupPr>
                        <m:e>
                          <m:r>
                            <a:rPr lang="en-US" sz="2000" i="1">
                              <a:latin typeface="Cambria Math"/>
                              <a:ea typeface="Verdana"/>
                              <a:cs typeface="Verdana"/>
                            </a:rPr>
                            <m:t>𝑐</m:t>
                          </m:r>
                        </m:e>
                        <m:sup>
                          <m:r>
                            <a:rPr lang="en-US" sz="2000" i="1">
                              <a:latin typeface="Cambria Math"/>
                              <a:ea typeface="Verdana"/>
                              <a:cs typeface="Verdana"/>
                            </a:rPr>
                            <m:t>2</m:t>
                          </m:r>
                        </m:sup>
                      </m:sSup>
                    </m:oMath>
                  </m:oMathPara>
                </a14:m>
                <a:endParaRPr lang="en-US" sz="2000" dirty="0">
                  <a:latin typeface="Verdana" panose="020B0604030504040204" pitchFamily="34" charset="0"/>
                  <a:ea typeface="Verdana" panose="020B0604030504040204" pitchFamily="34" charset="0"/>
                  <a:cs typeface="Verdana" panose="020B0604030504040204" pitchFamily="34" charset="0"/>
                </a:endParaRPr>
              </a:p>
              <a:p>
                <a:pPr/>
                <a14:m>
                  <m:oMathPara xmlns:m="http://schemas.openxmlformats.org/officeDocument/2006/math">
                    <m:oMathParaPr>
                      <m:jc m:val="centerGroup"/>
                    </m:oMathParaPr>
                    <m:oMath xmlns:m="http://schemas.openxmlformats.org/officeDocument/2006/math">
                      <m:rad>
                        <m:radPr>
                          <m:degHide m:val="on"/>
                          <m:ctrlPr>
                            <a:rPr lang="en-US" sz="2000" i="1">
                              <a:latin typeface="Cambria Math"/>
                              <a:ea typeface="Verdana"/>
                              <a:cs typeface="Verdana"/>
                            </a:rPr>
                          </m:ctrlPr>
                        </m:radPr>
                        <m:deg/>
                        <m:e>
                          <m:r>
                            <a:rPr lang="en-US" sz="2000" i="1">
                              <a:latin typeface="Cambria Math"/>
                              <a:ea typeface="Verdana"/>
                              <a:cs typeface="Verdana"/>
                            </a:rPr>
                            <m:t>387</m:t>
                          </m:r>
                        </m:e>
                      </m:rad>
                      <m:r>
                        <a:rPr lang="en-US" sz="2000" i="1">
                          <a:latin typeface="Cambria Math"/>
                          <a:ea typeface="Verdana"/>
                          <a:cs typeface="Verdana"/>
                        </a:rPr>
                        <m:t>=</m:t>
                      </m:r>
                      <m:r>
                        <a:rPr lang="en-US" sz="2000" i="1">
                          <a:latin typeface="Cambria Math"/>
                          <a:ea typeface="Verdana"/>
                          <a:cs typeface="Verdana"/>
                        </a:rPr>
                        <m:t>𝑐</m:t>
                      </m:r>
                    </m:oMath>
                  </m:oMathPara>
                </a14:m>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a:ea typeface="Verdana"/>
                    <a:cs typeface="Verdana"/>
                  </a:rPr>
                  <a:t>The missing side is </a:t>
                </a:r>
                <a14:m>
                  <m:oMath xmlns:m="http://schemas.openxmlformats.org/officeDocument/2006/math">
                    <m:rad>
                      <m:radPr>
                        <m:degHide m:val="on"/>
                        <m:ctrlPr>
                          <a:rPr lang="en-US" sz="2000" i="1">
                            <a:latin typeface="Cambria Math"/>
                            <a:ea typeface="Verdana"/>
                            <a:cs typeface="Verdana"/>
                          </a:rPr>
                        </m:ctrlPr>
                      </m:radPr>
                      <m:deg/>
                      <m:e>
                        <m:r>
                          <a:rPr lang="en-US" sz="2000" i="1">
                            <a:latin typeface="Cambria Math"/>
                            <a:ea typeface="Verdana"/>
                            <a:cs typeface="Verdana"/>
                          </a:rPr>
                          <m:t>387</m:t>
                        </m:r>
                      </m:e>
                    </m:rad>
                  </m:oMath>
                </a14:m>
                <a:r>
                  <a:rPr lang="en-US" sz="2000" dirty="0">
                    <a:latin typeface="Verdana"/>
                    <a:ea typeface="Verdana"/>
                    <a:cs typeface="Verdana"/>
                  </a:rPr>
                  <a:t> units long.</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6918199" y="2343149"/>
                <a:ext cx="3416703" cy="2716898"/>
              </a:xfrm>
              <a:prstGeom prst="rect">
                <a:avLst/>
              </a:prstGeom>
              <a:blipFill>
                <a:blip r:embed="rId6"/>
                <a:stretch>
                  <a:fillRect l="-1964" b="-3139"/>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xmlns="" id="{55A04D4B-85A7-4743-9036-0886C8286E3E}"/>
              </a:ext>
            </a:extLst>
          </p:cNvPr>
          <p:cNvSpPr txBox="1"/>
          <p:nvPr/>
        </p:nvSpPr>
        <p:spPr>
          <a:xfrm>
            <a:off x="530860" y="6017170"/>
            <a:ext cx="9320635" cy="400110"/>
          </a:xfrm>
          <a:prstGeom prst="rect">
            <a:avLst/>
          </a:prstGeom>
          <a:noFill/>
        </p:spPr>
        <p:txBody>
          <a:bodyPr wrap="square" rtlCol="0">
            <a:spAutoFit/>
          </a:bodyPr>
          <a:lstStyle/>
          <a:p>
            <a:pPr marL="457200" indent="-457200">
              <a:buFont typeface="+mj-lt"/>
              <a:buAutoNum type="arabicPeriod" startAt="2"/>
            </a:pPr>
            <a:r>
              <a:rPr lang="en-US" sz="2000" dirty="0">
                <a:latin typeface="Verdana"/>
              </a:rPr>
              <a:t>Correct Sawyer’s mistake.</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12" name="Google Shape;311;g104476d1465_1_39"/>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582881" y="6152140"/>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82;g104476d1465_1_17"/>
          <p:cNvSpPr txBox="1"/>
          <p:nvPr/>
        </p:nvSpPr>
        <p:spPr>
          <a:xfrm>
            <a:off x="8910505" y="64807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smtClean="0">
                <a:latin typeface="Calibri"/>
                <a:ea typeface="Calibri"/>
                <a:cs typeface="Calibri"/>
                <a:sym typeface="Calibri"/>
              </a:rPr>
              <a:t>209</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7"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881" y="615214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910505" y="64807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smtClean="0">
                <a:latin typeface="Calibri"/>
                <a:ea typeface="Calibri"/>
                <a:cs typeface="Calibri"/>
                <a:sym typeface="Calibri"/>
              </a:rPr>
              <a:t>209</a:t>
            </a:r>
            <a:endParaRPr i="1" dirty="0">
              <a:latin typeface="Calibri"/>
              <a:ea typeface="Calibri"/>
              <a:cs typeface="Calibri"/>
              <a:sym typeface="Calibri"/>
            </a:endParaRPr>
          </a:p>
        </p:txBody>
      </p:sp>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473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53145" y="10504"/>
            <a:ext cx="983811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5.7.2 Collaboration: Who Wins?</a:t>
            </a:r>
          </a:p>
        </p:txBody>
      </p:sp>
      <p:pic>
        <p:nvPicPr>
          <p:cNvPr id="9"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27137" y="298450"/>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xmlns="" id="{E44DF7DE-9172-3E4E-B74A-7A51585FB6EA}"/>
                  </a:ext>
                </a:extLst>
              </p:cNvPr>
              <p:cNvSpPr txBox="1"/>
              <p:nvPr/>
            </p:nvSpPr>
            <p:spPr>
              <a:xfrm>
                <a:off x="532742" y="1452700"/>
                <a:ext cx="10800000" cy="2677656"/>
              </a:xfrm>
              <a:prstGeom prst="rect">
                <a:avLst/>
              </a:prstGeom>
              <a:noFill/>
            </p:spPr>
            <p:txBody>
              <a:bodyPr wrap="square" rtlCol="0">
                <a:spAutoFit/>
              </a:bodyPr>
              <a:lstStyle/>
              <a:p>
                <a:r>
                  <a:rPr lang="en-US" sz="2400" dirty="0">
                    <a:latin typeface="Verdana"/>
                    <a:ea typeface="Times New Roman"/>
                    <a:cs typeface="Times New Roman"/>
                  </a:rPr>
                  <a:t>Mai and Tyler were standing at one corner of a large rectangular field and decided to race to the opposite corner. Since Mai had a bike and Tyler did not, they thought it would be a more equal race if Mai rode along the sidewalk that surrounds the field while Tyler ran the shorter distance directly across </a:t>
                </a:r>
                <a:r>
                  <a:rPr lang="en-US" sz="2400" dirty="0" smtClean="0">
                    <a:latin typeface="Verdana"/>
                    <a:ea typeface="Times New Roman"/>
                    <a:cs typeface="Times New Roman"/>
                  </a:rPr>
                  <a:t>the </a:t>
                </a:r>
                <a:r>
                  <a:rPr lang="en-US" sz="2400" dirty="0">
                    <a:latin typeface="Verdana"/>
                    <a:ea typeface="Times New Roman"/>
                    <a:cs typeface="Times New Roman"/>
                  </a:rPr>
                  <a:t>field.</a:t>
                </a:r>
              </a:p>
              <a:p>
                <a:endParaRPr lang="en-PH" sz="2400" dirty="0">
                  <a:latin typeface="Verdana"/>
                  <a:ea typeface="Verdana" panose="020B0604030504040204" pitchFamily="34" charset="0"/>
                  <a:cs typeface="Times New Roman"/>
                </a:endParaRPr>
              </a:p>
              <a:p>
                <a:r>
                  <a:rPr lang="en-US" sz="2400" dirty="0">
                    <a:latin typeface="Verdana"/>
                    <a:ea typeface="Times New Roman"/>
                    <a:cs typeface="Times New Roman"/>
                  </a:rPr>
                  <a:t>The field is </a:t>
                </a:r>
                <a14:m>
                  <m:oMath xmlns:m="http://schemas.openxmlformats.org/officeDocument/2006/math">
                    <m:r>
                      <a:rPr lang="en-US" sz="2400" i="1">
                        <a:latin typeface="Cambria Math"/>
                        <a:ea typeface="Times New Roman"/>
                        <a:cs typeface="Times New Roman"/>
                      </a:rPr>
                      <m:t>12</m:t>
                    </m:r>
                  </m:oMath>
                </a14:m>
                <a:r>
                  <a:rPr lang="en-US" sz="2400" dirty="0">
                    <a:latin typeface="Verdana"/>
                    <a:ea typeface="Times New Roman"/>
                    <a:cs typeface="Times New Roman"/>
                  </a:rPr>
                  <a:t> meters (m) long and </a:t>
                </a:r>
                <a14:m>
                  <m:oMath xmlns:m="http://schemas.openxmlformats.org/officeDocument/2006/math">
                    <m:r>
                      <a:rPr lang="en-US" sz="2400" i="1">
                        <a:latin typeface="Cambria Math"/>
                        <a:ea typeface="Times New Roman"/>
                        <a:cs typeface="Times New Roman"/>
                      </a:rPr>
                      <m:t>9</m:t>
                    </m:r>
                  </m:oMath>
                </a14:m>
                <a:r>
                  <a:rPr lang="en-US" sz="2400" dirty="0">
                    <a:latin typeface="Verdana"/>
                    <a:ea typeface="Times New Roman"/>
                    <a:cs typeface="Times New Roman"/>
                  </a:rPr>
                  <a:t> m wide.</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532742" y="1452700"/>
                <a:ext cx="10800000" cy="2677656"/>
              </a:xfrm>
              <a:prstGeom prst="rect">
                <a:avLst/>
              </a:prstGeom>
              <a:blipFill rotWithShape="1">
                <a:blip r:embed="rId4"/>
                <a:stretch>
                  <a:fillRect l="-847" t="-1818" r="-1354" b="-3864"/>
                </a:stretch>
              </a:blipFill>
            </p:spPr>
            <p:txBody>
              <a:bodyPr/>
              <a:lstStyle/>
              <a:p>
                <a:r>
                  <a:rPr lang="en-PH">
                    <a:noFill/>
                  </a:rPr>
                  <a:t> </a:t>
                </a:r>
              </a:p>
            </p:txBody>
          </p:sp>
        </mc:Fallback>
      </mc:AlternateContent>
      <p:pic>
        <p:nvPicPr>
          <p:cNvPr id="12" name="Google Shape;311;g104476d1465_1_39"/>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2881" y="6152140"/>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282;g104476d1465_1_17"/>
          <p:cNvSpPr txBox="1"/>
          <p:nvPr/>
        </p:nvSpPr>
        <p:spPr>
          <a:xfrm>
            <a:off x="8910505" y="64807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smtClean="0">
                <a:latin typeface="Calibri"/>
                <a:ea typeface="Calibri"/>
                <a:cs typeface="Calibri"/>
                <a:sym typeface="Calibri"/>
              </a:rPr>
              <a:t>209</a:t>
            </a:r>
            <a:endParaRPr i="1" dirty="0">
              <a:latin typeface="Calibri"/>
              <a:ea typeface="Calibri"/>
              <a:cs typeface="Calibri"/>
              <a:sym typeface="Calibri"/>
            </a:endParaRPr>
          </a:p>
        </p:txBody>
      </p:sp>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5940" y="377518"/>
                <a:ext cx="9857381" cy="4708981"/>
              </a:xfrm>
              <a:prstGeom prst="rect">
                <a:avLst/>
              </a:prstGeom>
              <a:noFill/>
            </p:spPr>
            <p:txBody>
              <a:bodyPr wrap="square" rtlCol="0">
                <a:spAutoFit/>
              </a:bodyPr>
              <a:lstStyle/>
              <a:p>
                <a:pPr marL="457200" indent="-457200">
                  <a:buFont typeface="+mj-lt"/>
                  <a:buAutoNum type="arabicPeriod"/>
                </a:pPr>
                <a:r>
                  <a:rPr lang="en-US" sz="2000" dirty="0">
                    <a:latin typeface="Verdana" pitchFamily="34" charset="0"/>
                    <a:ea typeface="Verdana" pitchFamily="34" charset="0"/>
                    <a:cs typeface="Times New Roman"/>
                  </a:rPr>
                  <a:t>Tyler can run at around </a:t>
                </a:r>
                <a14:m>
                  <m:oMath xmlns:m="http://schemas.openxmlformats.org/officeDocument/2006/math">
                    <m:r>
                      <a:rPr lang="en-US" sz="2000" i="1">
                        <a:latin typeface="Cambria Math"/>
                        <a:ea typeface="Times New Roman"/>
                        <a:cs typeface="Times New Roman"/>
                      </a:rPr>
                      <m:t>5</m:t>
                    </m:r>
                  </m:oMath>
                </a14:m>
                <a:r>
                  <a:rPr lang="en-US" sz="2000" dirty="0">
                    <a:latin typeface="Verdana" pitchFamily="34" charset="0"/>
                    <a:ea typeface="Verdana" pitchFamily="34" charset="0"/>
                    <a:cs typeface="Times New Roman"/>
                  </a:rPr>
                  <a:t> m per second, and Mai can ride her bike at around </a:t>
                </a:r>
                <a14:m>
                  <m:oMath xmlns:m="http://schemas.openxmlformats.org/officeDocument/2006/math">
                    <m:r>
                      <a:rPr lang="en-US" sz="2000" i="1">
                        <a:latin typeface="Cambria Math"/>
                        <a:ea typeface="Times New Roman"/>
                        <a:cs typeface="Times New Roman"/>
                      </a:rPr>
                      <m:t>7.5</m:t>
                    </m:r>
                  </m:oMath>
                </a14:m>
                <a:r>
                  <a:rPr lang="en-US" sz="2000" dirty="0">
                    <a:latin typeface="Verdana" pitchFamily="34" charset="0"/>
                    <a:ea typeface="Verdana" pitchFamily="34" charset="0"/>
                    <a:cs typeface="Times New Roman"/>
                  </a:rPr>
                  <a:t> m per second.</a:t>
                </a:r>
              </a:p>
              <a:p>
                <a:pPr marL="457200" indent="-457200">
                  <a:buFont typeface="+mj-lt"/>
                  <a:buAutoNum type="arabicPeriod"/>
                </a:pPr>
                <a:endParaRPr lang="en-PH" sz="2000" dirty="0">
                  <a:latin typeface="Verdana" pitchFamily="34" charset="0"/>
                  <a:ea typeface="Verdana" pitchFamily="34" charset="0"/>
                  <a:cs typeface="Times New Roman"/>
                </a:endParaRPr>
              </a:p>
              <a:p>
                <a:pPr marL="457200" indent="-457200">
                  <a:buFont typeface="+mj-lt"/>
                  <a:buAutoNum type="arabicPeriod"/>
                </a:pPr>
                <a:endParaRPr lang="en-PH" sz="2000" dirty="0">
                  <a:latin typeface="Verdana" pitchFamily="34" charset="0"/>
                  <a:ea typeface="Verdana" pitchFamily="34" charset="0"/>
                  <a:cs typeface="Times New Roman"/>
                </a:endParaRPr>
              </a:p>
              <a:p>
                <a:pPr marL="457200" indent="-457200">
                  <a:buFont typeface="+mj-lt"/>
                  <a:buAutoNum type="arabicPeriod"/>
                </a:pPr>
                <a:endParaRPr lang="en-PH" sz="2000" dirty="0">
                  <a:latin typeface="Verdana" pitchFamily="34" charset="0"/>
                  <a:ea typeface="Verdana" pitchFamily="34" charset="0"/>
                  <a:cs typeface="Times New Roman"/>
                </a:endParaRPr>
              </a:p>
              <a:p>
                <a:pPr marL="457200" indent="-457200">
                  <a:buFont typeface="+mj-lt"/>
                  <a:buAutoNum type="arabicPeriod"/>
                </a:pPr>
                <a:endParaRPr lang="en-PH" sz="2000" dirty="0">
                  <a:latin typeface="Verdana" pitchFamily="34" charset="0"/>
                  <a:ea typeface="Verdana" pitchFamily="34" charset="0"/>
                  <a:cs typeface="Times New Roman"/>
                </a:endParaRPr>
              </a:p>
              <a:p>
                <a:pPr marL="457200" indent="-457200">
                  <a:buFont typeface="+mj-lt"/>
                  <a:buAutoNum type="arabicPeriod"/>
                </a:pPr>
                <a:endParaRPr lang="en-PH" sz="2000" dirty="0">
                  <a:latin typeface="Verdana" pitchFamily="34" charset="0"/>
                  <a:ea typeface="Verdana" pitchFamily="34" charset="0"/>
                  <a:cs typeface="Times New Roman"/>
                </a:endParaRPr>
              </a:p>
              <a:p>
                <a:pPr marL="457200" indent="-457200">
                  <a:buFont typeface="+mj-lt"/>
                  <a:buAutoNum type="arabicPeriod"/>
                </a:pPr>
                <a:endParaRPr lang="en-PH" sz="2000" dirty="0">
                  <a:latin typeface="Verdana" pitchFamily="34" charset="0"/>
                  <a:ea typeface="Verdana" pitchFamily="34" charset="0"/>
                  <a:cs typeface="Times New Roman"/>
                </a:endParaRPr>
              </a:p>
              <a:p>
                <a:pPr marL="457200" indent="-457200">
                  <a:buFont typeface="+mj-lt"/>
                  <a:buAutoNum type="arabicPeriod"/>
                </a:pPr>
                <a:endParaRPr lang="en-PH" sz="2000" dirty="0">
                  <a:latin typeface="Verdana" pitchFamily="34" charset="0"/>
                  <a:ea typeface="Verdana" pitchFamily="34" charset="0"/>
                  <a:cs typeface="Times New Roman"/>
                </a:endParaRPr>
              </a:p>
              <a:p>
                <a:pPr marL="457200" indent="-457200">
                  <a:buFont typeface="+mj-lt"/>
                  <a:buAutoNum type="arabicPeriod"/>
                </a:pPr>
                <a:endParaRPr lang="en-PH" sz="2000" dirty="0">
                  <a:latin typeface="Verdana" pitchFamily="34" charset="0"/>
                  <a:ea typeface="Verdana" pitchFamily="34" charset="0"/>
                  <a:cs typeface="Times New Roman"/>
                </a:endParaRPr>
              </a:p>
              <a:p>
                <a:pPr marL="457200" indent="-457200">
                  <a:buFont typeface="+mj-lt"/>
                  <a:buAutoNum type="arabicPeriod"/>
                </a:pPr>
                <a:endParaRPr lang="en-PH" sz="2000" dirty="0">
                  <a:latin typeface="Verdana" pitchFamily="34" charset="0"/>
                  <a:ea typeface="Verdana" pitchFamily="34" charset="0"/>
                  <a:cs typeface="Times New Roman"/>
                </a:endParaRPr>
              </a:p>
              <a:p>
                <a:pPr marL="457200" indent="-457200">
                  <a:buFont typeface="+mj-lt"/>
                  <a:buAutoNum type="arabicPeriod"/>
                </a:pPr>
                <a:endParaRPr lang="en-PH" sz="2000" dirty="0">
                  <a:latin typeface="Verdana" pitchFamily="34" charset="0"/>
                  <a:ea typeface="Verdana" pitchFamily="34" charset="0"/>
                  <a:cs typeface="Times New Roman"/>
                </a:endParaRPr>
              </a:p>
              <a:p>
                <a:pPr marL="457200" indent="-457200">
                  <a:buFont typeface="+mj-lt"/>
                  <a:buAutoNum type="arabicPeriod"/>
                </a:pPr>
                <a:endParaRPr lang="en-US" sz="2000" dirty="0">
                  <a:latin typeface="Verdana" pitchFamily="34" charset="0"/>
                  <a:ea typeface="Verdana" pitchFamily="34" charset="0"/>
                  <a:cs typeface="Times New Roman"/>
                </a:endParaRPr>
              </a:p>
              <a:p>
                <a:pPr marL="914400" indent="-457200">
                  <a:buFont typeface="+mj-lt"/>
                  <a:buAutoNum type="alphaLcPeriod"/>
                </a:pPr>
                <a:r>
                  <a:rPr lang="en-US" sz="2000" dirty="0">
                    <a:latin typeface="Verdana" pitchFamily="34" charset="0"/>
                    <a:ea typeface="Verdana" pitchFamily="34" charset="0"/>
                    <a:cs typeface="Times New Roman"/>
                  </a:rPr>
                  <a:t>Before making any calculations, predict who you think will win and by how much. Show or explain your thinking.</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5940" y="377518"/>
                <a:ext cx="9857381" cy="4708981"/>
              </a:xfrm>
              <a:prstGeom prst="rect">
                <a:avLst/>
              </a:prstGeom>
              <a:blipFill rotWithShape="1">
                <a:blip r:embed="rId3"/>
                <a:stretch>
                  <a:fillRect l="-680" t="-777" b="-1425"/>
                </a:stretch>
              </a:blipFill>
            </p:spPr>
            <p:txBody>
              <a:bodyPr/>
              <a:lstStyle/>
              <a:p>
                <a:r>
                  <a:rPr lang="en-PH">
                    <a:noFill/>
                  </a:rPr>
                  <a:t> </a:t>
                </a:r>
              </a:p>
            </p:txBody>
          </p:sp>
        </mc:Fallback>
      </mc:AlternateContent>
      <p:pic>
        <p:nvPicPr>
          <p:cNvPr id="7" name="Picture 6"/>
          <p:cNvPicPr/>
          <p:nvPr/>
        </p:nvPicPr>
        <p:blipFill>
          <a:blip r:embed="rId4">
            <a:extLst>
              <a:ext uri="{28A0092B-C50C-407E-A947-70E740481C1C}">
                <a14:useLocalDpi xmlns:a14="http://schemas.microsoft.com/office/drawing/2010/main"/>
              </a:ext>
            </a:extLst>
          </a:blip>
          <a:stretch>
            <a:fillRect/>
          </a:stretch>
        </p:blipFill>
        <p:spPr>
          <a:xfrm>
            <a:off x="4245378" y="1286113"/>
            <a:ext cx="3851910" cy="2891790"/>
          </a:xfrm>
          <a:prstGeom prst="rect">
            <a:avLst/>
          </a:prstGeom>
        </p:spPr>
      </p:pic>
      <p:sp>
        <p:nvSpPr>
          <p:cNvPr id="9" name="TextBox 8">
            <a:extLst>
              <a:ext uri="{FF2B5EF4-FFF2-40B4-BE49-F238E27FC236}">
                <a16:creationId xmlns:a16="http://schemas.microsoft.com/office/drawing/2014/main" xmlns="" id="{BF9E87D4-254C-44E7-8344-C48EB96B6449}"/>
              </a:ext>
            </a:extLst>
          </p:cNvPr>
          <p:cNvSpPr txBox="1"/>
          <p:nvPr/>
        </p:nvSpPr>
        <p:spPr>
          <a:xfrm>
            <a:off x="535939" y="5266032"/>
            <a:ext cx="9857381" cy="707886"/>
          </a:xfrm>
          <a:prstGeom prst="rect">
            <a:avLst/>
          </a:prstGeom>
          <a:noFill/>
        </p:spPr>
        <p:txBody>
          <a:bodyPr wrap="square" rtlCol="0">
            <a:spAutoFit/>
          </a:bodyPr>
          <a:lstStyle/>
          <a:p>
            <a:pPr marL="914400" indent="-457200">
              <a:buFont typeface="+mj-lt"/>
              <a:buAutoNum type="alphaLcPeriod" startAt="2"/>
            </a:pPr>
            <a:r>
              <a:rPr lang="en-US" sz="2000" dirty="0">
                <a:latin typeface="Verdana" pitchFamily="34" charset="0"/>
                <a:ea typeface="Verdana" pitchFamily="34" charset="0"/>
                <a:cs typeface="Times New Roman"/>
              </a:rPr>
              <a:t>Work with your partner to mathematically determine who will win the race.</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10" name="Google Shape;311;g104476d1465_1_39"/>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2881" y="6152140"/>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p:cNvSpPr txBox="1"/>
          <p:nvPr/>
        </p:nvSpPr>
        <p:spPr>
          <a:xfrm>
            <a:off x="8910505" y="64807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smtClean="0">
                <a:latin typeface="Calibri"/>
                <a:ea typeface="Calibri"/>
                <a:cs typeface="Calibri"/>
                <a:sym typeface="Calibri"/>
              </a:rPr>
              <a:t>209</a:t>
            </a:r>
            <a:endParaRPr i="1" dirty="0">
              <a:latin typeface="Calibri"/>
              <a:ea typeface="Calibri"/>
              <a:cs typeface="Calibri"/>
              <a:sym typeface="Calibri"/>
            </a:endParaRPr>
          </a:p>
        </p:txBody>
      </p:sp>
    </p:spTree>
    <p:extLst>
      <p:ext uri="{BB962C8B-B14F-4D97-AF65-F5344CB8AC3E}">
        <p14:creationId xmlns:p14="http://schemas.microsoft.com/office/powerpoint/2010/main" val="1841022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pic>
        <p:nvPicPr>
          <p:cNvPr id="8"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881" y="615214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p:cNvSpPr txBox="1"/>
          <p:nvPr/>
        </p:nvSpPr>
        <p:spPr>
          <a:xfrm>
            <a:off x="8910505" y="64807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210</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261654" y="9250"/>
            <a:ext cx="1211243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5.7.3 Guided Instruction: Applying the Pythagorean Theorem</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3">
            <a:alphaModFix/>
          </a:blip>
          <a:srcRect/>
          <a:stretch/>
        </p:blipFill>
        <p:spPr>
          <a:xfrm>
            <a:off x="448855" y="298450"/>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xmlns="" id="{C01B13E8-EC8D-E443-A329-C5E3593DD13A}"/>
              </a:ext>
            </a:extLst>
          </p:cNvPr>
          <p:cNvSpPr txBox="1"/>
          <p:nvPr/>
        </p:nvSpPr>
        <p:spPr>
          <a:xfrm>
            <a:off x="534035" y="1452701"/>
            <a:ext cx="10800000" cy="830997"/>
          </a:xfrm>
          <a:prstGeom prst="rect">
            <a:avLst/>
          </a:prstGeom>
          <a:noFill/>
        </p:spPr>
        <p:txBody>
          <a:bodyPr wrap="square" rtlCol="0">
            <a:spAutoFit/>
          </a:bodyPr>
          <a:lstStyle/>
          <a:p>
            <a:r>
              <a:rPr lang="en-US" sz="2400" dirty="0">
                <a:latin typeface="Verdana"/>
                <a:ea typeface="Times New Roman"/>
                <a:cs typeface="Times New Roman"/>
              </a:rPr>
              <a:t>The Pythagorean Theorem can be used to find an unknown side length of any right triangle.</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8" name="Rounded Rectangle 7"/>
          <p:cNvSpPr/>
          <p:nvPr/>
        </p:nvSpPr>
        <p:spPr>
          <a:xfrm>
            <a:off x="2155235" y="2451509"/>
            <a:ext cx="7557600" cy="1946632"/>
          </a:xfrm>
          <a:prstGeom prst="round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171450" indent="-228600" algn="ctr">
              <a:spcAft>
                <a:spcPts val="1000"/>
              </a:spcAft>
            </a:pPr>
            <a:r>
              <a:rPr lang="en-US" sz="2000" dirty="0">
                <a:solidFill>
                  <a:srgbClr val="000000"/>
                </a:solidFill>
                <a:latin typeface="Verdana" pitchFamily="34" charset="0"/>
                <a:ea typeface="Verdana" pitchFamily="34" charset="0"/>
                <a:cs typeface="Cambria"/>
              </a:rPr>
              <a:t>Pythagorean Theorem Problem-Solving Steps</a:t>
            </a:r>
            <a:endParaRPr lang="en-US" sz="2000" dirty="0">
              <a:latin typeface="Verdana" pitchFamily="34" charset="0"/>
              <a:ea typeface="Verdana" pitchFamily="34" charset="0"/>
              <a:cs typeface="Cambria"/>
            </a:endParaRPr>
          </a:p>
          <a:p>
            <a:pPr marL="447675" indent="-447675">
              <a:buFont typeface="+mj-lt"/>
              <a:buAutoNum type="arabicPeriod"/>
            </a:pPr>
            <a:r>
              <a:rPr lang="en-US" sz="2000" dirty="0">
                <a:solidFill>
                  <a:srgbClr val="000000"/>
                </a:solidFill>
                <a:latin typeface="Verdana" pitchFamily="34" charset="0"/>
                <a:ea typeface="Verdana" pitchFamily="34" charset="0"/>
                <a:cs typeface="Cambria"/>
              </a:rPr>
              <a:t>Model the problem with a diagram (if not provided).</a:t>
            </a:r>
            <a:endParaRPr lang="en-US" sz="2000" dirty="0">
              <a:latin typeface="Verdana" pitchFamily="34" charset="0"/>
              <a:ea typeface="Verdana" pitchFamily="34" charset="0"/>
              <a:cs typeface="Cambria"/>
            </a:endParaRPr>
          </a:p>
          <a:p>
            <a:pPr marL="447675" indent="-447675">
              <a:buFont typeface="+mj-lt"/>
              <a:buAutoNum type="arabicPeriod"/>
            </a:pPr>
            <a:r>
              <a:rPr lang="en-US" sz="2000" dirty="0">
                <a:solidFill>
                  <a:srgbClr val="000000"/>
                </a:solidFill>
                <a:latin typeface="Verdana" pitchFamily="34" charset="0"/>
                <a:ea typeface="Verdana" pitchFamily="34" charset="0"/>
                <a:cs typeface="Cambria"/>
              </a:rPr>
              <a:t>State the Pythagorean Theorem.</a:t>
            </a:r>
            <a:endParaRPr lang="en-US" sz="2000" dirty="0">
              <a:latin typeface="Verdana" pitchFamily="34" charset="0"/>
              <a:ea typeface="Verdana" pitchFamily="34" charset="0"/>
              <a:cs typeface="Cambria"/>
            </a:endParaRPr>
          </a:p>
          <a:p>
            <a:pPr marL="447675" indent="-447675">
              <a:buFont typeface="+mj-lt"/>
              <a:buAutoNum type="arabicPeriod"/>
            </a:pPr>
            <a:r>
              <a:rPr lang="en-US" sz="2000" dirty="0">
                <a:solidFill>
                  <a:srgbClr val="000000"/>
                </a:solidFill>
                <a:latin typeface="Verdana" pitchFamily="34" charset="0"/>
                <a:ea typeface="Verdana" pitchFamily="34" charset="0"/>
                <a:cs typeface="Cambria"/>
              </a:rPr>
              <a:t>Substitute given values.</a:t>
            </a:r>
            <a:endParaRPr lang="en-US" sz="2000" dirty="0">
              <a:latin typeface="Verdana" pitchFamily="34" charset="0"/>
              <a:ea typeface="Verdana" pitchFamily="34" charset="0"/>
              <a:cs typeface="Cambria"/>
            </a:endParaRPr>
          </a:p>
          <a:p>
            <a:pPr marL="447675" indent="-447675">
              <a:spcAft>
                <a:spcPts val="1000"/>
              </a:spcAft>
              <a:buFont typeface="+mj-lt"/>
              <a:buAutoNum type="arabicPeriod"/>
            </a:pPr>
            <a:r>
              <a:rPr lang="en-US" sz="2000" dirty="0">
                <a:solidFill>
                  <a:srgbClr val="000000"/>
                </a:solidFill>
                <a:latin typeface="Verdana" pitchFamily="34" charset="0"/>
                <a:ea typeface="Verdana" pitchFamily="34" charset="0"/>
                <a:cs typeface="Cambria"/>
              </a:rPr>
              <a:t>Solve for the unknown. </a:t>
            </a:r>
            <a:endParaRPr lang="en-US" sz="2000" dirty="0">
              <a:latin typeface="Verdana" pitchFamily="34" charset="0"/>
              <a:ea typeface="Verdana" pitchFamily="34" charset="0"/>
              <a:cs typeface="Cambria"/>
            </a:endParaRPr>
          </a:p>
        </p:txBody>
      </p:sp>
      <p:pic>
        <p:nvPicPr>
          <p:cNvPr id="11"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881" y="615214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p:cNvSpPr txBox="1"/>
          <p:nvPr/>
        </p:nvSpPr>
        <p:spPr>
          <a:xfrm>
            <a:off x="8910505" y="64807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210</a:t>
            </a:r>
            <a:endParaRPr i="1" dirty="0">
              <a:latin typeface="Calibri"/>
              <a:ea typeface="Calibri"/>
              <a:cs typeface="Calibri"/>
              <a:sym typeface="Calibri"/>
            </a:endParaRPr>
          </a:p>
        </p:txBody>
      </p:sp>
    </p:spTree>
    <p:extLst>
      <p:ext uri="{BB962C8B-B14F-4D97-AF65-F5344CB8AC3E}">
        <p14:creationId xmlns:p14="http://schemas.microsoft.com/office/powerpoint/2010/main" val="3902457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7845" y="377519"/>
                <a:ext cx="9765941" cy="5016758"/>
              </a:xfrm>
              <a:prstGeom prst="rect">
                <a:avLst/>
              </a:prstGeom>
              <a:noFill/>
            </p:spPr>
            <p:txBody>
              <a:bodyPr wrap="square" rtlCol="0">
                <a:spAutoFit/>
              </a:bodyPr>
              <a:lstStyle/>
              <a:p>
                <a:pPr marL="457200" indent="-457200">
                  <a:buFont typeface="+mj-lt"/>
                  <a:buAutoNum type="arabicPeriod"/>
                </a:pPr>
                <a:r>
                  <a:rPr lang="en-US" sz="2000" dirty="0">
                    <a:latin typeface="Verdana"/>
                    <a:ea typeface="Times New Roman"/>
                    <a:cs typeface="Times New Roman"/>
                  </a:rPr>
                  <a:t>A </a:t>
                </a:r>
                <a14:m>
                  <m:oMath xmlns:m="http://schemas.openxmlformats.org/officeDocument/2006/math">
                    <m:r>
                      <a:rPr lang="en-US" sz="2000" i="1">
                        <a:latin typeface="Cambria Math"/>
                        <a:ea typeface="Times New Roman"/>
                        <a:cs typeface="Times New Roman"/>
                      </a:rPr>
                      <m:t>12</m:t>
                    </m:r>
                  </m:oMath>
                </a14:m>
                <a:r>
                  <a:rPr lang="en-US" sz="2000" dirty="0">
                    <a:latin typeface="Verdana"/>
                    <a:ea typeface="Times New Roman"/>
                    <a:cs typeface="Times New Roman"/>
                  </a:rPr>
                  <a:t>-foot long ladder leans against a </a:t>
                </a:r>
                <a:r>
                  <a:rPr lang="en-US" sz="2000" dirty="0" smtClean="0">
                    <a:latin typeface="Verdana"/>
                    <a:ea typeface="Times New Roman"/>
                    <a:cs typeface="Times New Roman"/>
                  </a:rPr>
                  <a:t>vertical </a:t>
                </a:r>
                <a:r>
                  <a:rPr lang="en-US" sz="2000" dirty="0">
                    <a:latin typeface="Verdana"/>
                    <a:ea typeface="Times New Roman"/>
                    <a:cs typeface="Times New Roman"/>
                  </a:rPr>
                  <a:t>wall. </a:t>
                </a:r>
                <a:r>
                  <a:rPr lang="en-US" sz="2000" dirty="0" smtClean="0">
                    <a:latin typeface="Verdana"/>
                    <a:ea typeface="Times New Roman"/>
                    <a:cs typeface="Times New Roman"/>
                  </a:rPr>
                  <a:t/>
                </a:r>
                <a:br>
                  <a:rPr lang="en-US" sz="2000" dirty="0" smtClean="0">
                    <a:latin typeface="Verdana"/>
                    <a:ea typeface="Times New Roman"/>
                    <a:cs typeface="Times New Roman"/>
                  </a:rPr>
                </a:br>
                <a:r>
                  <a:rPr lang="en-US" sz="2000" dirty="0" smtClean="0">
                    <a:latin typeface="Verdana"/>
                    <a:ea typeface="Times New Roman"/>
                    <a:cs typeface="Times New Roman"/>
                  </a:rPr>
                  <a:t>The </a:t>
                </a:r>
                <a:r>
                  <a:rPr lang="en-US" sz="2000" dirty="0">
                    <a:latin typeface="Verdana"/>
                    <a:ea typeface="Times New Roman"/>
                    <a:cs typeface="Times New Roman"/>
                  </a:rPr>
                  <a:t>base of the ladder is </a:t>
                </a:r>
                <a14:m>
                  <m:oMath xmlns:m="http://schemas.openxmlformats.org/officeDocument/2006/math">
                    <m:r>
                      <a:rPr lang="en-US" sz="2000" i="1">
                        <a:latin typeface="Cambria Math"/>
                        <a:ea typeface="Times New Roman"/>
                        <a:cs typeface="Times New Roman"/>
                      </a:rPr>
                      <m:t>7</m:t>
                    </m:r>
                  </m:oMath>
                </a14:m>
                <a:r>
                  <a:rPr lang="en-US" sz="2000" dirty="0">
                    <a:latin typeface="Verdana"/>
                    <a:ea typeface="Times New Roman"/>
                    <a:cs typeface="Times New Roman"/>
                  </a:rPr>
                  <a:t> feet from the bottom </a:t>
                </a:r>
                <a:r>
                  <a:rPr lang="en-US" sz="2000" dirty="0" smtClean="0">
                    <a:latin typeface="Verdana"/>
                    <a:ea typeface="Times New Roman"/>
                    <a:cs typeface="Times New Roman"/>
                  </a:rPr>
                  <a:t/>
                </a:r>
                <a:br>
                  <a:rPr lang="en-US" sz="2000" dirty="0" smtClean="0">
                    <a:latin typeface="Verdana"/>
                    <a:ea typeface="Times New Roman"/>
                    <a:cs typeface="Times New Roman"/>
                  </a:rPr>
                </a:br>
                <a:r>
                  <a:rPr lang="en-US" sz="2000" dirty="0" smtClean="0">
                    <a:latin typeface="Verdana"/>
                    <a:ea typeface="Times New Roman"/>
                    <a:cs typeface="Times New Roman"/>
                  </a:rPr>
                  <a:t>of </a:t>
                </a:r>
                <a:r>
                  <a:rPr lang="en-US" sz="2000" dirty="0">
                    <a:latin typeface="Verdana"/>
                    <a:ea typeface="Times New Roman"/>
                    <a:cs typeface="Times New Roman"/>
                  </a:rPr>
                  <a:t>the wall. </a:t>
                </a:r>
                <a:r>
                  <a:rPr lang="en-US" sz="2000" dirty="0" smtClean="0">
                    <a:latin typeface="Verdana"/>
                    <a:ea typeface="Times New Roman"/>
                    <a:cs typeface="Times New Roman"/>
                  </a:rPr>
                  <a:t>Determine</a:t>
                </a:r>
                <a:r>
                  <a:rPr lang="en-US" sz="2000" dirty="0">
                    <a:latin typeface="Verdana"/>
                    <a:ea typeface="Times New Roman"/>
                    <a:cs typeface="Times New Roman"/>
                  </a:rPr>
                  <a:t>, to the nearest tenth of </a:t>
                </a:r>
                <a:r>
                  <a:rPr lang="en-US" sz="2000" dirty="0" smtClean="0">
                    <a:latin typeface="Verdana"/>
                    <a:ea typeface="Times New Roman"/>
                    <a:cs typeface="Times New Roman"/>
                  </a:rPr>
                  <a:t>a </a:t>
                </a:r>
                <a:br>
                  <a:rPr lang="en-US" sz="2000" dirty="0" smtClean="0">
                    <a:latin typeface="Verdana"/>
                    <a:ea typeface="Times New Roman"/>
                    <a:cs typeface="Times New Roman"/>
                  </a:rPr>
                </a:br>
                <a:r>
                  <a:rPr lang="en-US" sz="2000" dirty="0" smtClean="0">
                    <a:latin typeface="Verdana"/>
                    <a:ea typeface="Times New Roman"/>
                    <a:cs typeface="Times New Roman"/>
                  </a:rPr>
                  <a:t>foot</a:t>
                </a:r>
                <a:r>
                  <a:rPr lang="en-US" sz="2000" dirty="0">
                    <a:latin typeface="Verdana"/>
                    <a:ea typeface="Times New Roman"/>
                    <a:cs typeface="Times New Roman"/>
                  </a:rPr>
                  <a:t>, how high the ladder reaches </a:t>
                </a:r>
                <a:r>
                  <a:rPr lang="en-US" sz="2000" dirty="0" smtClean="0">
                    <a:latin typeface="Verdana"/>
                    <a:ea typeface="Times New Roman"/>
                    <a:cs typeface="Times New Roman"/>
                  </a:rPr>
                  <a:t>up </a:t>
                </a:r>
                <a:r>
                  <a:rPr lang="en-US" sz="2000" dirty="0">
                    <a:latin typeface="Verdana"/>
                    <a:ea typeface="Times New Roman"/>
                    <a:cs typeface="Times New Roman"/>
                  </a:rPr>
                  <a:t>the wall.</a:t>
                </a:r>
              </a:p>
              <a:p>
                <a:pPr marL="457200" indent="-457200">
                  <a:buFont typeface="+mj-lt"/>
                  <a:buAutoNum type="arabicPeriod"/>
                </a:pPr>
                <a:endParaRPr lang="en-PH" sz="2000" dirty="0">
                  <a:latin typeface="Verdana"/>
                  <a:ea typeface="Verdana" panose="020B0604030504040204" pitchFamily="34" charset="0"/>
                  <a:cs typeface="Times New Roman"/>
                </a:endParaRPr>
              </a:p>
              <a:p>
                <a:pPr marL="914400" indent="-457200">
                  <a:buFont typeface="+mj-lt"/>
                  <a:buAutoNum type="alphaLcPeriod"/>
                </a:pPr>
                <a:r>
                  <a:rPr lang="en-US" sz="2000" dirty="0">
                    <a:latin typeface="Verdana"/>
                    <a:ea typeface="Times New Roman"/>
                    <a:cs typeface="Times New Roman"/>
                  </a:rPr>
                  <a:t>Label the diagram with the </a:t>
                </a:r>
                <a:br>
                  <a:rPr lang="en-US" sz="2000" dirty="0">
                    <a:latin typeface="Verdana"/>
                    <a:ea typeface="Times New Roman"/>
                    <a:cs typeface="Times New Roman"/>
                  </a:rPr>
                </a:br>
                <a:r>
                  <a:rPr lang="en-US" sz="2000" dirty="0">
                    <a:latin typeface="Verdana"/>
                    <a:ea typeface="Times New Roman"/>
                    <a:cs typeface="Times New Roman"/>
                  </a:rPr>
                  <a:t>given information.</a:t>
                </a: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r>
                  <a:rPr lang="en-US" sz="2000" dirty="0">
                    <a:latin typeface="Verdana"/>
                    <a:ea typeface="Times New Roman"/>
                    <a:cs typeface="Times New Roman"/>
                  </a:rPr>
                  <a:t>State Pythagorean Theorem		        </a:t>
                </a:r>
                <a14:m>
                  <m:oMath xmlns:m="http://schemas.openxmlformats.org/officeDocument/2006/math">
                    <m:sSup>
                      <m:sSupPr>
                        <m:ctrlPr>
                          <a:rPr lang="en-US" sz="2000" i="1">
                            <a:latin typeface="Cambria Math"/>
                            <a:ea typeface="Verdana"/>
                            <a:cs typeface="Verdana"/>
                          </a:rPr>
                        </m:ctrlPr>
                      </m:sSupPr>
                      <m:e>
                        <m:r>
                          <a:rPr lang="en-US" sz="2000" i="1">
                            <a:latin typeface="Cambria Math"/>
                            <a:ea typeface="Verdana"/>
                            <a:cs typeface="Verdana"/>
                          </a:rPr>
                          <m:t>𝑎</m:t>
                        </m:r>
                      </m:e>
                      <m:sup>
                        <m:r>
                          <a:rPr lang="en-US" sz="2000" i="1">
                            <a:latin typeface="Cambria Math"/>
                            <a:ea typeface="Verdana"/>
                            <a:cs typeface="Verdana"/>
                          </a:rPr>
                          <m:t>2</m:t>
                        </m:r>
                      </m:sup>
                    </m:sSup>
                    <m:r>
                      <a:rPr lang="en-US" sz="2000" i="1">
                        <a:latin typeface="Cambria Math"/>
                        <a:ea typeface="Verdana"/>
                        <a:cs typeface="Verdana"/>
                      </a:rPr>
                      <m:t>+</m:t>
                    </m:r>
                    <m:sSup>
                      <m:sSupPr>
                        <m:ctrlPr>
                          <a:rPr lang="en-US" sz="2000" i="1">
                            <a:latin typeface="Cambria Math"/>
                            <a:ea typeface="Verdana"/>
                            <a:cs typeface="Verdana"/>
                          </a:rPr>
                        </m:ctrlPr>
                      </m:sSupPr>
                      <m:e>
                        <m:r>
                          <a:rPr lang="en-US" sz="2000" i="1">
                            <a:latin typeface="Cambria Math"/>
                            <a:ea typeface="Verdana"/>
                            <a:cs typeface="Verdana"/>
                          </a:rPr>
                          <m:t>𝑏</m:t>
                        </m:r>
                      </m:e>
                      <m:sup>
                        <m:r>
                          <a:rPr lang="en-US" sz="2000" i="1">
                            <a:latin typeface="Cambria Math"/>
                            <a:ea typeface="Verdana"/>
                            <a:cs typeface="Verdana"/>
                          </a:rPr>
                          <m:t>2</m:t>
                        </m:r>
                      </m:sup>
                    </m:sSup>
                    <m:r>
                      <a:rPr lang="en-US" sz="2000" i="1">
                        <a:latin typeface="Cambria Math"/>
                        <a:ea typeface="Verdana"/>
                        <a:cs typeface="Verdana"/>
                      </a:rPr>
                      <m:t>=</m:t>
                    </m:r>
                    <m:sSup>
                      <m:sSupPr>
                        <m:ctrlPr>
                          <a:rPr lang="en-US" sz="2000" i="1">
                            <a:latin typeface="Cambria Math"/>
                            <a:ea typeface="Verdana"/>
                            <a:cs typeface="Verdana"/>
                          </a:rPr>
                        </m:ctrlPr>
                      </m:sSupPr>
                      <m:e>
                        <m:r>
                          <a:rPr lang="en-US" sz="2000" i="1">
                            <a:latin typeface="Cambria Math"/>
                            <a:ea typeface="Verdana"/>
                            <a:cs typeface="Verdana"/>
                          </a:rPr>
                          <m:t>𝑐</m:t>
                        </m:r>
                      </m:e>
                      <m:sup>
                        <m:r>
                          <a:rPr lang="en-US" sz="2000" i="1">
                            <a:latin typeface="Cambria Math"/>
                            <a:ea typeface="Verdana"/>
                            <a:cs typeface="Verdana"/>
                          </a:rPr>
                          <m:t>2</m:t>
                        </m:r>
                      </m:sup>
                    </m:sSup>
                  </m:oMath>
                </a14:m>
                <a:endParaRPr lang="en-US" sz="2000" dirty="0">
                  <a:latin typeface="Verdana"/>
                  <a:ea typeface="Times New Roman"/>
                  <a:cs typeface="Times New Roman"/>
                </a:endParaRP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r>
                  <a:rPr lang="en-US" sz="2000" dirty="0">
                    <a:latin typeface="Verdana"/>
                    <a:ea typeface="Times New Roman"/>
                    <a:cs typeface="Times New Roman"/>
                  </a:rPr>
                  <a:t>Substitute given values	         </a:t>
                </a:r>
                <a14:m>
                  <m:oMath xmlns:m="http://schemas.openxmlformats.org/officeDocument/2006/math">
                    <m:sSup>
                      <m:sSupPr>
                        <m:ctrlPr>
                          <a:rPr lang="en-US" sz="2000" i="1">
                            <a:latin typeface="Cambria Math"/>
                            <a:ea typeface="Verdana"/>
                            <a:cs typeface="Verdana"/>
                          </a:rPr>
                        </m:ctrlPr>
                      </m:sSupPr>
                      <m:e>
                        <m:r>
                          <a:rPr lang="en-US" sz="2000" i="1">
                            <a:latin typeface="Cambria Math"/>
                            <a:ea typeface="Verdana"/>
                            <a:cs typeface="Verdana"/>
                          </a:rPr>
                          <m:t>______</m:t>
                        </m:r>
                      </m:e>
                      <m:sup>
                        <m:r>
                          <a:rPr lang="en-US" sz="2000" i="1">
                            <a:latin typeface="Cambria Math"/>
                            <a:ea typeface="Verdana"/>
                            <a:cs typeface="Verdana"/>
                          </a:rPr>
                          <m:t>2</m:t>
                        </m:r>
                      </m:sup>
                    </m:sSup>
                    <m:r>
                      <a:rPr lang="en-US" sz="2000" i="1">
                        <a:latin typeface="Cambria Math"/>
                        <a:ea typeface="Verdana"/>
                        <a:cs typeface="Verdana"/>
                      </a:rPr>
                      <m:t>+</m:t>
                    </m:r>
                    <m:sSup>
                      <m:sSupPr>
                        <m:ctrlPr>
                          <a:rPr lang="en-US" sz="2000" i="1">
                            <a:latin typeface="Cambria Math"/>
                            <a:ea typeface="Verdana"/>
                            <a:cs typeface="Verdana"/>
                          </a:rPr>
                        </m:ctrlPr>
                      </m:sSupPr>
                      <m:e>
                        <m:r>
                          <a:rPr lang="en-US" sz="2000" i="1">
                            <a:latin typeface="Cambria Math"/>
                            <a:ea typeface="Verdana"/>
                            <a:cs typeface="Verdana"/>
                          </a:rPr>
                          <m:t>______</m:t>
                        </m:r>
                      </m:e>
                      <m:sup>
                        <m:r>
                          <a:rPr lang="en-US" sz="2000" i="1">
                            <a:latin typeface="Cambria Math"/>
                            <a:ea typeface="Verdana"/>
                            <a:cs typeface="Verdana"/>
                          </a:rPr>
                          <m:t>2</m:t>
                        </m:r>
                      </m:sup>
                    </m:sSup>
                    <m:r>
                      <a:rPr lang="en-US" sz="2000" i="1">
                        <a:latin typeface="Cambria Math"/>
                        <a:ea typeface="Verdana"/>
                        <a:cs typeface="Verdana"/>
                      </a:rPr>
                      <m:t>=</m:t>
                    </m:r>
                    <m:sSup>
                      <m:sSupPr>
                        <m:ctrlPr>
                          <a:rPr lang="en-US" sz="2000" i="1">
                            <a:latin typeface="Cambria Math"/>
                            <a:ea typeface="Verdana"/>
                            <a:cs typeface="Verdana"/>
                          </a:rPr>
                        </m:ctrlPr>
                      </m:sSupPr>
                      <m:e>
                        <m:r>
                          <a:rPr lang="en-US" sz="2000" i="1">
                            <a:latin typeface="Cambria Math"/>
                            <a:ea typeface="Verdana"/>
                            <a:cs typeface="Verdana"/>
                          </a:rPr>
                          <m:t>_______</m:t>
                        </m:r>
                      </m:e>
                      <m:sup>
                        <m:r>
                          <a:rPr lang="en-US" sz="2000" i="1">
                            <a:latin typeface="Cambria Math"/>
                            <a:ea typeface="Verdana"/>
                            <a:cs typeface="Verdana"/>
                          </a:rPr>
                          <m:t>2</m:t>
                        </m:r>
                      </m:sup>
                    </m:sSup>
                  </m:oMath>
                </a14:m>
                <a:endParaRPr lang="en-US" sz="2000" dirty="0">
                  <a:latin typeface="Verdana"/>
                  <a:ea typeface="Times New Roman"/>
                  <a:cs typeface="Times New Roman"/>
                </a:endParaRP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r>
                  <a:rPr lang="en-US" sz="2000" dirty="0">
                    <a:latin typeface="Verdana"/>
                    <a:ea typeface="Times New Roman"/>
                    <a:cs typeface="Times New Roman"/>
                  </a:rPr>
                  <a:t>Solve for the unknown</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7845" y="377519"/>
                <a:ext cx="9765941" cy="5016758"/>
              </a:xfrm>
              <a:prstGeom prst="rect">
                <a:avLst/>
              </a:prstGeom>
              <a:blipFill rotWithShape="1">
                <a:blip r:embed="rId3"/>
                <a:stretch>
                  <a:fillRect l="-624" t="-729" b="-1215"/>
                </a:stretch>
              </a:blipFill>
            </p:spPr>
            <p:txBody>
              <a:bodyPr/>
              <a:lstStyle/>
              <a:p>
                <a:r>
                  <a:rPr lang="en-PH">
                    <a:noFill/>
                  </a:rPr>
                  <a:t> </a:t>
                </a:r>
              </a:p>
            </p:txBody>
          </p:sp>
        </mc:Fallback>
      </mc:AlternateContent>
      <p:pic>
        <p:nvPicPr>
          <p:cNvPr id="6" name="Picture 5"/>
          <p:cNvPicPr/>
          <p:nvPr/>
        </p:nvPicPr>
        <p:blipFill rotWithShape="1">
          <a:blip r:embed="rId4"/>
          <a:srcRect t="4673" b="2785"/>
          <a:stretch/>
        </p:blipFill>
        <p:spPr bwMode="auto">
          <a:xfrm>
            <a:off x="7881897" y="377519"/>
            <a:ext cx="2643505" cy="2572385"/>
          </a:xfrm>
          <a:prstGeom prst="rect">
            <a:avLst/>
          </a:prstGeom>
          <a:ln>
            <a:noFill/>
          </a:ln>
          <a:extLst>
            <a:ext uri="{53640926-AAD7-44D8-BBD7-CCE9431645EC}">
              <a14:shadowObscured xmlns:a14="http://schemas.microsoft.com/office/drawing/2010/main"/>
            </a:ext>
          </a:extLst>
        </p:spPr>
      </p:pic>
      <p:pic>
        <p:nvPicPr>
          <p:cNvPr id="8" name="Google Shape;311;g104476d1465_1_39"/>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2881" y="615214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910505" y="64807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210</a:t>
            </a:r>
            <a:endParaRPr i="1" dirty="0">
              <a:latin typeface="Calibri"/>
              <a:ea typeface="Calibri"/>
              <a:cs typeface="Calibri"/>
              <a:sym typeface="Calibri"/>
            </a:endParaRPr>
          </a:p>
        </p:txBody>
      </p:sp>
    </p:spTree>
    <p:extLst>
      <p:ext uri="{BB962C8B-B14F-4D97-AF65-F5344CB8AC3E}">
        <p14:creationId xmlns:p14="http://schemas.microsoft.com/office/powerpoint/2010/main" val="500458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1494" y="377519"/>
                <a:ext cx="10800000" cy="5632311"/>
              </a:xfrm>
              <a:prstGeom prst="rect">
                <a:avLst/>
              </a:prstGeom>
              <a:noFill/>
            </p:spPr>
            <p:txBody>
              <a:bodyPr wrap="square" rtlCol="0">
                <a:spAutoFit/>
              </a:bodyPr>
              <a:lstStyle/>
              <a:p>
                <a:pPr marL="457200" indent="-457200">
                  <a:buFont typeface="+mj-lt"/>
                  <a:buAutoNum type="arabicPeriod" startAt="2"/>
                </a:pPr>
                <a:r>
                  <a:rPr lang="en-US" sz="2000" dirty="0">
                    <a:latin typeface="Verdana"/>
                    <a:ea typeface="Times New Roman"/>
                    <a:cs typeface="Times New Roman"/>
                  </a:rPr>
                  <a:t>A cable is being placed on level ground to support a tower. The cable is </a:t>
                </a:r>
                <a14:m>
                  <m:oMath xmlns:m="http://schemas.openxmlformats.org/officeDocument/2006/math">
                    <m:r>
                      <a:rPr lang="en-US" sz="2000" i="1">
                        <a:latin typeface="Cambria Math"/>
                        <a:ea typeface="Times New Roman"/>
                        <a:cs typeface="Times New Roman"/>
                      </a:rPr>
                      <m:t>17</m:t>
                    </m:r>
                  </m:oMath>
                </a14:m>
                <a:r>
                  <a:rPr lang="en-US" sz="2000" dirty="0">
                    <a:latin typeface="Verdana"/>
                    <a:ea typeface="Times New Roman"/>
                    <a:cs typeface="Times New Roman"/>
                  </a:rPr>
                  <a:t> feet (</a:t>
                </a:r>
                <a:r>
                  <a:rPr lang="en-US" sz="2000" dirty="0" err="1">
                    <a:latin typeface="Verdana"/>
                    <a:ea typeface="Times New Roman"/>
                    <a:cs typeface="Times New Roman"/>
                  </a:rPr>
                  <a:t>ft</a:t>
                </a:r>
                <a:r>
                  <a:rPr lang="en-US" sz="2000" dirty="0">
                    <a:latin typeface="Verdana"/>
                    <a:ea typeface="Times New Roman"/>
                    <a:cs typeface="Times New Roman"/>
                  </a:rPr>
                  <a:t>) and should be connected </a:t>
                </a:r>
                <a14:m>
                  <m:oMath xmlns:m="http://schemas.openxmlformats.org/officeDocument/2006/math">
                    <m:r>
                      <a:rPr lang="en-US" sz="2000" i="1">
                        <a:latin typeface="Cambria Math"/>
                        <a:ea typeface="Times New Roman"/>
                        <a:cs typeface="Times New Roman"/>
                      </a:rPr>
                      <m:t>15</m:t>
                    </m:r>
                  </m:oMath>
                </a14:m>
                <a:r>
                  <a:rPr lang="en-US" sz="2000" dirty="0">
                    <a:latin typeface="Verdana"/>
                    <a:ea typeface="Times New Roman"/>
                    <a:cs typeface="Times New Roman"/>
                  </a:rPr>
                  <a:t> </a:t>
                </a:r>
                <a:r>
                  <a:rPr lang="en-US" sz="2000" dirty="0" err="1">
                    <a:latin typeface="Verdana"/>
                    <a:ea typeface="Times New Roman"/>
                    <a:cs typeface="Times New Roman"/>
                  </a:rPr>
                  <a:t>ft</a:t>
                </a:r>
                <a:r>
                  <a:rPr lang="en-US" sz="2000" dirty="0">
                    <a:latin typeface="Verdana"/>
                    <a:ea typeface="Times New Roman"/>
                    <a:cs typeface="Times New Roman"/>
                  </a:rPr>
                  <a:t> up the tower. How far away from the bottom of the tower should the other end of the cable connect to the ground?</a:t>
                </a:r>
              </a:p>
              <a:p>
                <a:pPr marL="457200" indent="-457200">
                  <a:buFont typeface="+mj-lt"/>
                  <a:buAutoNum type="arabicPeriod" startAt="2"/>
                </a:pPr>
                <a:endParaRPr lang="en-PH" sz="2000" dirty="0">
                  <a:latin typeface="Verdana"/>
                  <a:ea typeface="Verdana" panose="020B0604030504040204" pitchFamily="34" charset="0"/>
                  <a:cs typeface="Times New Roman"/>
                </a:endParaRPr>
              </a:p>
              <a:p>
                <a:pPr marL="914400" indent="-457200">
                  <a:buFont typeface="+mj-lt"/>
                  <a:buAutoNum type="alphaLcPeriod"/>
                </a:pPr>
                <a:r>
                  <a:rPr lang="en-US" sz="2000" dirty="0">
                    <a:latin typeface="Verdana"/>
                    <a:ea typeface="Times New Roman"/>
                    <a:cs typeface="Times New Roman"/>
                  </a:rPr>
                  <a:t>Model the problem.</a:t>
                </a:r>
              </a:p>
              <a:p>
                <a:pPr marL="914400" indent="-457200">
                  <a:buFont typeface="+mj-lt"/>
                  <a:buAutoNum type="alphaLcPeriod"/>
                </a:pPr>
                <a:endParaRPr lang="en-PH" sz="2000" dirty="0">
                  <a:latin typeface="Verdana"/>
                  <a:ea typeface="Times New Roman"/>
                  <a:cs typeface="Times New Roman"/>
                </a:endParaRPr>
              </a:p>
              <a:p>
                <a:pPr marL="914400" indent="-457200">
                  <a:buFont typeface="+mj-lt"/>
                  <a:buAutoNum type="alphaLcPeriod"/>
                </a:pPr>
                <a:endParaRPr lang="en-PH" sz="2000" dirty="0">
                  <a:latin typeface="Verdana"/>
                  <a:ea typeface="Times New Roman"/>
                  <a:cs typeface="Times New Roman"/>
                </a:endParaRP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r>
                  <a:rPr lang="en-US" sz="2000" dirty="0">
                    <a:latin typeface="Verdana"/>
                    <a:ea typeface="Times New Roman"/>
                    <a:cs typeface="Times New Roman"/>
                  </a:rPr>
                  <a:t>State Pythagorean Theorem		        </a:t>
                </a:r>
                <a14:m>
                  <m:oMath xmlns:m="http://schemas.openxmlformats.org/officeDocument/2006/math">
                    <m:sSup>
                      <m:sSupPr>
                        <m:ctrlPr>
                          <a:rPr lang="en-US" sz="2000" i="1">
                            <a:latin typeface="Cambria Math"/>
                            <a:ea typeface="Verdana"/>
                            <a:cs typeface="Verdana"/>
                          </a:rPr>
                        </m:ctrlPr>
                      </m:sSupPr>
                      <m:e>
                        <m:r>
                          <a:rPr lang="en-US" sz="2000" i="1">
                            <a:latin typeface="Cambria Math"/>
                            <a:ea typeface="Verdana"/>
                            <a:cs typeface="Verdana"/>
                          </a:rPr>
                          <m:t>𝑎</m:t>
                        </m:r>
                      </m:e>
                      <m:sup>
                        <m:r>
                          <a:rPr lang="en-US" sz="2000" i="1">
                            <a:latin typeface="Cambria Math"/>
                            <a:ea typeface="Verdana"/>
                            <a:cs typeface="Verdana"/>
                          </a:rPr>
                          <m:t>2</m:t>
                        </m:r>
                      </m:sup>
                    </m:sSup>
                    <m:r>
                      <a:rPr lang="en-US" sz="2000" i="1">
                        <a:latin typeface="Cambria Math"/>
                        <a:ea typeface="Verdana"/>
                        <a:cs typeface="Verdana"/>
                      </a:rPr>
                      <m:t>+</m:t>
                    </m:r>
                    <m:sSup>
                      <m:sSupPr>
                        <m:ctrlPr>
                          <a:rPr lang="en-US" sz="2000" i="1">
                            <a:latin typeface="Cambria Math"/>
                            <a:ea typeface="Verdana"/>
                            <a:cs typeface="Verdana"/>
                          </a:rPr>
                        </m:ctrlPr>
                      </m:sSupPr>
                      <m:e>
                        <m:r>
                          <a:rPr lang="en-US" sz="2000" i="1">
                            <a:latin typeface="Cambria Math"/>
                            <a:ea typeface="Verdana"/>
                            <a:cs typeface="Verdana"/>
                          </a:rPr>
                          <m:t>𝑏</m:t>
                        </m:r>
                      </m:e>
                      <m:sup>
                        <m:r>
                          <a:rPr lang="en-US" sz="2000" i="1">
                            <a:latin typeface="Cambria Math"/>
                            <a:ea typeface="Verdana"/>
                            <a:cs typeface="Verdana"/>
                          </a:rPr>
                          <m:t>2</m:t>
                        </m:r>
                      </m:sup>
                    </m:sSup>
                    <m:r>
                      <a:rPr lang="en-US" sz="2000" i="1">
                        <a:latin typeface="Cambria Math"/>
                        <a:ea typeface="Verdana"/>
                        <a:cs typeface="Verdana"/>
                      </a:rPr>
                      <m:t>=</m:t>
                    </m:r>
                    <m:sSup>
                      <m:sSupPr>
                        <m:ctrlPr>
                          <a:rPr lang="en-US" sz="2000" i="1">
                            <a:latin typeface="Cambria Math"/>
                            <a:ea typeface="Verdana"/>
                            <a:cs typeface="Verdana"/>
                          </a:rPr>
                        </m:ctrlPr>
                      </m:sSupPr>
                      <m:e>
                        <m:r>
                          <a:rPr lang="en-US" sz="2000" i="1">
                            <a:latin typeface="Cambria Math"/>
                            <a:ea typeface="Verdana"/>
                            <a:cs typeface="Verdana"/>
                          </a:rPr>
                          <m:t>𝑐</m:t>
                        </m:r>
                      </m:e>
                      <m:sup>
                        <m:r>
                          <a:rPr lang="en-US" sz="2000" i="1">
                            <a:latin typeface="Cambria Math"/>
                            <a:ea typeface="Verdana"/>
                            <a:cs typeface="Verdana"/>
                          </a:rPr>
                          <m:t>2</m:t>
                        </m:r>
                      </m:sup>
                    </m:sSup>
                  </m:oMath>
                </a14:m>
                <a:endParaRPr lang="en-US" sz="2000" dirty="0">
                  <a:latin typeface="Verdana"/>
                  <a:ea typeface="Times New Roman"/>
                  <a:cs typeface="Times New Roman"/>
                </a:endParaRP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r>
                  <a:rPr lang="en-US" sz="2000" dirty="0">
                    <a:latin typeface="Verdana"/>
                    <a:ea typeface="Times New Roman"/>
                    <a:cs typeface="Times New Roman"/>
                  </a:rPr>
                  <a:t>Substitute given values	         </a:t>
                </a:r>
                <a14:m>
                  <m:oMath xmlns:m="http://schemas.openxmlformats.org/officeDocument/2006/math">
                    <m:sSup>
                      <m:sSupPr>
                        <m:ctrlPr>
                          <a:rPr lang="en-US" sz="2000" i="1">
                            <a:latin typeface="Cambria Math"/>
                            <a:ea typeface="Verdana"/>
                            <a:cs typeface="Verdana"/>
                          </a:rPr>
                        </m:ctrlPr>
                      </m:sSupPr>
                      <m:e>
                        <m:r>
                          <a:rPr lang="en-US" sz="2000" i="1">
                            <a:latin typeface="Cambria Math"/>
                            <a:ea typeface="Verdana"/>
                            <a:cs typeface="Verdana"/>
                          </a:rPr>
                          <m:t>______</m:t>
                        </m:r>
                      </m:e>
                      <m:sup>
                        <m:r>
                          <a:rPr lang="en-US" sz="2000" i="1">
                            <a:latin typeface="Cambria Math"/>
                            <a:ea typeface="Verdana"/>
                            <a:cs typeface="Verdana"/>
                          </a:rPr>
                          <m:t>2</m:t>
                        </m:r>
                      </m:sup>
                    </m:sSup>
                    <m:r>
                      <a:rPr lang="en-US" sz="2000" i="1">
                        <a:latin typeface="Cambria Math"/>
                        <a:ea typeface="Verdana"/>
                        <a:cs typeface="Verdana"/>
                      </a:rPr>
                      <m:t>+</m:t>
                    </m:r>
                    <m:sSup>
                      <m:sSupPr>
                        <m:ctrlPr>
                          <a:rPr lang="en-US" sz="2000" i="1">
                            <a:latin typeface="Cambria Math"/>
                            <a:ea typeface="Verdana"/>
                            <a:cs typeface="Verdana"/>
                          </a:rPr>
                        </m:ctrlPr>
                      </m:sSupPr>
                      <m:e>
                        <m:r>
                          <a:rPr lang="en-US" sz="2000" i="1">
                            <a:latin typeface="Cambria Math"/>
                            <a:ea typeface="Verdana"/>
                            <a:cs typeface="Verdana"/>
                          </a:rPr>
                          <m:t>______</m:t>
                        </m:r>
                      </m:e>
                      <m:sup>
                        <m:r>
                          <a:rPr lang="en-US" sz="2000" i="1">
                            <a:latin typeface="Cambria Math"/>
                            <a:ea typeface="Verdana"/>
                            <a:cs typeface="Verdana"/>
                          </a:rPr>
                          <m:t>2</m:t>
                        </m:r>
                      </m:sup>
                    </m:sSup>
                    <m:r>
                      <a:rPr lang="en-US" sz="2000" i="1">
                        <a:latin typeface="Cambria Math"/>
                        <a:ea typeface="Verdana"/>
                        <a:cs typeface="Verdana"/>
                      </a:rPr>
                      <m:t>=</m:t>
                    </m:r>
                    <m:sSup>
                      <m:sSupPr>
                        <m:ctrlPr>
                          <a:rPr lang="en-US" sz="2000" i="1">
                            <a:latin typeface="Cambria Math"/>
                            <a:ea typeface="Verdana"/>
                            <a:cs typeface="Verdana"/>
                          </a:rPr>
                        </m:ctrlPr>
                      </m:sSupPr>
                      <m:e>
                        <m:r>
                          <a:rPr lang="en-US" sz="2000" i="1">
                            <a:latin typeface="Cambria Math"/>
                            <a:ea typeface="Verdana"/>
                            <a:cs typeface="Verdana"/>
                          </a:rPr>
                          <m:t>_______</m:t>
                        </m:r>
                      </m:e>
                      <m:sup>
                        <m:r>
                          <a:rPr lang="en-US" sz="2000" i="1">
                            <a:latin typeface="Cambria Math"/>
                            <a:ea typeface="Verdana"/>
                            <a:cs typeface="Verdana"/>
                          </a:rPr>
                          <m:t>2</m:t>
                        </m:r>
                      </m:sup>
                    </m:sSup>
                  </m:oMath>
                </a14:m>
                <a:endParaRPr lang="en-US" sz="2000" dirty="0">
                  <a:latin typeface="Verdana"/>
                  <a:ea typeface="Times New Roman"/>
                  <a:cs typeface="Times New Roman"/>
                </a:endParaRP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r>
                  <a:rPr lang="en-US" sz="2000" dirty="0">
                    <a:latin typeface="Verdana"/>
                    <a:ea typeface="Times New Roman"/>
                    <a:cs typeface="Times New Roman"/>
                  </a:rPr>
                  <a:t>Solve for the unknown</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1494" y="377519"/>
                <a:ext cx="10800000" cy="5632311"/>
              </a:xfrm>
              <a:prstGeom prst="rect">
                <a:avLst/>
              </a:prstGeom>
              <a:blipFill rotWithShape="1">
                <a:blip r:embed="rId3"/>
                <a:stretch>
                  <a:fillRect l="-564" t="-649" r="-734"/>
                </a:stretch>
              </a:blipFill>
            </p:spPr>
            <p:txBody>
              <a:bodyPr/>
              <a:lstStyle/>
              <a:p>
                <a:r>
                  <a:rPr lang="en-PH">
                    <a:noFill/>
                  </a:rPr>
                  <a:t> </a:t>
                </a:r>
              </a:p>
            </p:txBody>
          </p:sp>
        </mc:Fallback>
      </mc:AlternateContent>
      <p:pic>
        <p:nvPicPr>
          <p:cNvPr id="6"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881" y="615214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p:cNvSpPr txBox="1"/>
          <p:nvPr/>
        </p:nvSpPr>
        <p:spPr>
          <a:xfrm>
            <a:off x="8910505" y="64807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211</a:t>
            </a:r>
            <a:endParaRPr i="1" dirty="0">
              <a:latin typeface="Calibri"/>
              <a:ea typeface="Calibri"/>
              <a:cs typeface="Calibri"/>
              <a:sym typeface="Calibri"/>
            </a:endParaRPr>
          </a:p>
        </p:txBody>
      </p:sp>
    </p:spTree>
    <p:extLst>
      <p:ext uri="{BB962C8B-B14F-4D97-AF65-F5344CB8AC3E}">
        <p14:creationId xmlns:p14="http://schemas.microsoft.com/office/powerpoint/2010/main" val="9915554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6574" y="377519"/>
                <a:ext cx="10800000" cy="5324535"/>
              </a:xfrm>
              <a:prstGeom prst="rect">
                <a:avLst/>
              </a:prstGeom>
              <a:noFill/>
            </p:spPr>
            <p:txBody>
              <a:bodyPr wrap="square" rtlCol="0">
                <a:spAutoFit/>
              </a:bodyPr>
              <a:lstStyle/>
              <a:p>
                <a:pPr marL="457200" indent="-457200">
                  <a:buFont typeface="+mj-lt"/>
                  <a:buAutoNum type="arabicPeriod" startAt="3"/>
                </a:pPr>
                <a:r>
                  <a:rPr lang="en-US" sz="2000" dirty="0">
                    <a:latin typeface="Verdana"/>
                    <a:ea typeface="Times New Roman"/>
                    <a:cs typeface="Times New Roman"/>
                  </a:rPr>
                  <a:t>A soccer field is </a:t>
                </a:r>
                <a14:m>
                  <m:oMath xmlns:m="http://schemas.openxmlformats.org/officeDocument/2006/math">
                    <m:r>
                      <a:rPr lang="en-US" sz="2000" i="1">
                        <a:latin typeface="Cambria Math"/>
                        <a:ea typeface="Times New Roman"/>
                        <a:cs typeface="Times New Roman"/>
                      </a:rPr>
                      <m:t>115</m:t>
                    </m:r>
                  </m:oMath>
                </a14:m>
                <a:r>
                  <a:rPr lang="en-US" sz="2000" dirty="0">
                    <a:latin typeface="Verdana"/>
                    <a:ea typeface="Times New Roman"/>
                    <a:cs typeface="Times New Roman"/>
                  </a:rPr>
                  <a:t> yards (</a:t>
                </a:r>
                <a:r>
                  <a:rPr lang="en-US" sz="2000" dirty="0" err="1">
                    <a:latin typeface="Verdana"/>
                    <a:ea typeface="Times New Roman"/>
                    <a:cs typeface="Times New Roman"/>
                  </a:rPr>
                  <a:t>yd</a:t>
                </a:r>
                <a:r>
                  <a:rPr lang="en-US" sz="2000" dirty="0">
                    <a:latin typeface="Verdana"/>
                    <a:ea typeface="Times New Roman"/>
                    <a:cs typeface="Times New Roman"/>
                  </a:rPr>
                  <a:t>) long by </a:t>
                </a:r>
                <a14:m>
                  <m:oMath xmlns:m="http://schemas.openxmlformats.org/officeDocument/2006/math">
                    <m:r>
                      <a:rPr lang="en-US" sz="2000" i="1">
                        <a:latin typeface="Cambria Math"/>
                        <a:ea typeface="Times New Roman"/>
                        <a:cs typeface="Times New Roman"/>
                      </a:rPr>
                      <m:t>70</m:t>
                    </m:r>
                  </m:oMath>
                </a14:m>
                <a:r>
                  <a:rPr lang="en-US" sz="2000" dirty="0">
                    <a:latin typeface="Verdana"/>
                    <a:ea typeface="Times New Roman"/>
                    <a:cs typeface="Times New Roman"/>
                  </a:rPr>
                  <a:t> </a:t>
                </a:r>
                <a:r>
                  <a:rPr lang="en-US" sz="2000" dirty="0" err="1">
                    <a:latin typeface="Verdana"/>
                    <a:ea typeface="Times New Roman"/>
                    <a:cs typeface="Times New Roman"/>
                  </a:rPr>
                  <a:t>yd</a:t>
                </a:r>
                <a:r>
                  <a:rPr lang="en-US" sz="2000" dirty="0">
                    <a:latin typeface="Verdana"/>
                    <a:ea typeface="Times New Roman"/>
                    <a:cs typeface="Times New Roman"/>
                  </a:rPr>
                  <a:t> wide. What is the length of the diagonal of a soccer field? Round your answer to the nearest tenth.</a:t>
                </a:r>
              </a:p>
              <a:p>
                <a:pPr marL="457200" indent="-457200">
                  <a:buFont typeface="+mj-lt"/>
                  <a:buAutoNum type="arabicPeriod" startAt="3"/>
                </a:pPr>
                <a:endParaRPr lang="en-PH" sz="2000" dirty="0">
                  <a:latin typeface="Verdana"/>
                  <a:ea typeface="Verdana" panose="020B0604030504040204" pitchFamily="34" charset="0"/>
                  <a:cs typeface="Times New Roman"/>
                </a:endParaRPr>
              </a:p>
              <a:p>
                <a:pPr marL="914400" indent="-457200">
                  <a:buFont typeface="+mj-lt"/>
                  <a:buAutoNum type="alphaLcPeriod"/>
                </a:pPr>
                <a:r>
                  <a:rPr lang="en-US" sz="2000" dirty="0">
                    <a:latin typeface="Verdana"/>
                    <a:ea typeface="Times New Roman"/>
                    <a:cs typeface="Times New Roman"/>
                  </a:rPr>
                  <a:t>Model the problem.</a:t>
                </a:r>
              </a:p>
              <a:p>
                <a:pPr marL="914400" indent="-457200">
                  <a:buFont typeface="+mj-lt"/>
                  <a:buAutoNum type="alphaLcPeriod"/>
                </a:pPr>
                <a:endParaRPr lang="en-PH" sz="2000" dirty="0">
                  <a:latin typeface="Verdana"/>
                  <a:ea typeface="Times New Roman"/>
                  <a:cs typeface="Times New Roman"/>
                </a:endParaRPr>
              </a:p>
              <a:p>
                <a:pPr marL="914400" indent="-457200">
                  <a:buFont typeface="+mj-lt"/>
                  <a:buAutoNum type="alphaLcPeriod"/>
                </a:pPr>
                <a:endParaRPr lang="en-PH" sz="2000" dirty="0">
                  <a:latin typeface="Verdana"/>
                  <a:ea typeface="Times New Roman"/>
                  <a:cs typeface="Times New Roman"/>
                </a:endParaRP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r>
                  <a:rPr lang="en-US" sz="2000" dirty="0">
                    <a:latin typeface="Verdana"/>
                    <a:ea typeface="Times New Roman"/>
                    <a:cs typeface="Times New Roman"/>
                  </a:rPr>
                  <a:t>State Pythagorean Theorem		        </a:t>
                </a:r>
                <a14:m>
                  <m:oMath xmlns:m="http://schemas.openxmlformats.org/officeDocument/2006/math">
                    <m:sSup>
                      <m:sSupPr>
                        <m:ctrlPr>
                          <a:rPr lang="en-US" sz="2000" i="1">
                            <a:latin typeface="Cambria Math"/>
                            <a:ea typeface="Verdana"/>
                            <a:cs typeface="Verdana"/>
                          </a:rPr>
                        </m:ctrlPr>
                      </m:sSupPr>
                      <m:e>
                        <m:r>
                          <a:rPr lang="en-US" sz="2000" i="1">
                            <a:latin typeface="Cambria Math"/>
                            <a:ea typeface="Verdana"/>
                            <a:cs typeface="Verdana"/>
                          </a:rPr>
                          <m:t>𝑎</m:t>
                        </m:r>
                      </m:e>
                      <m:sup>
                        <m:r>
                          <a:rPr lang="en-US" sz="2000" i="1">
                            <a:latin typeface="Cambria Math"/>
                            <a:ea typeface="Verdana"/>
                            <a:cs typeface="Verdana"/>
                          </a:rPr>
                          <m:t>2</m:t>
                        </m:r>
                      </m:sup>
                    </m:sSup>
                    <m:r>
                      <a:rPr lang="en-US" sz="2000" i="1">
                        <a:latin typeface="Cambria Math"/>
                        <a:ea typeface="Verdana"/>
                        <a:cs typeface="Verdana"/>
                      </a:rPr>
                      <m:t>+</m:t>
                    </m:r>
                    <m:sSup>
                      <m:sSupPr>
                        <m:ctrlPr>
                          <a:rPr lang="en-US" sz="2000" i="1">
                            <a:latin typeface="Cambria Math"/>
                            <a:ea typeface="Verdana"/>
                            <a:cs typeface="Verdana"/>
                          </a:rPr>
                        </m:ctrlPr>
                      </m:sSupPr>
                      <m:e>
                        <m:r>
                          <a:rPr lang="en-US" sz="2000" i="1">
                            <a:latin typeface="Cambria Math"/>
                            <a:ea typeface="Verdana"/>
                            <a:cs typeface="Verdana"/>
                          </a:rPr>
                          <m:t>𝑏</m:t>
                        </m:r>
                      </m:e>
                      <m:sup>
                        <m:r>
                          <a:rPr lang="en-US" sz="2000" i="1">
                            <a:latin typeface="Cambria Math"/>
                            <a:ea typeface="Verdana"/>
                            <a:cs typeface="Verdana"/>
                          </a:rPr>
                          <m:t>2</m:t>
                        </m:r>
                      </m:sup>
                    </m:sSup>
                    <m:r>
                      <a:rPr lang="en-US" sz="2000" i="1">
                        <a:latin typeface="Cambria Math"/>
                        <a:ea typeface="Verdana"/>
                        <a:cs typeface="Verdana"/>
                      </a:rPr>
                      <m:t>=</m:t>
                    </m:r>
                    <m:sSup>
                      <m:sSupPr>
                        <m:ctrlPr>
                          <a:rPr lang="en-US" sz="2000" i="1">
                            <a:latin typeface="Cambria Math"/>
                            <a:ea typeface="Verdana"/>
                            <a:cs typeface="Verdana"/>
                          </a:rPr>
                        </m:ctrlPr>
                      </m:sSupPr>
                      <m:e>
                        <m:r>
                          <a:rPr lang="en-US" sz="2000" i="1">
                            <a:latin typeface="Cambria Math"/>
                            <a:ea typeface="Verdana"/>
                            <a:cs typeface="Verdana"/>
                          </a:rPr>
                          <m:t>𝑐</m:t>
                        </m:r>
                      </m:e>
                      <m:sup>
                        <m:r>
                          <a:rPr lang="en-US" sz="2000" i="1">
                            <a:latin typeface="Cambria Math"/>
                            <a:ea typeface="Verdana"/>
                            <a:cs typeface="Verdana"/>
                          </a:rPr>
                          <m:t>2</m:t>
                        </m:r>
                      </m:sup>
                    </m:sSup>
                  </m:oMath>
                </a14:m>
                <a:endParaRPr lang="en-US" sz="2000" dirty="0">
                  <a:latin typeface="Verdana"/>
                  <a:ea typeface="Times New Roman"/>
                  <a:cs typeface="Times New Roman"/>
                </a:endParaRP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r>
                  <a:rPr lang="en-US" sz="2000" dirty="0">
                    <a:latin typeface="Verdana"/>
                    <a:ea typeface="Times New Roman"/>
                    <a:cs typeface="Times New Roman"/>
                  </a:rPr>
                  <a:t>Substitute given values	         </a:t>
                </a:r>
                <a14:m>
                  <m:oMath xmlns:m="http://schemas.openxmlformats.org/officeDocument/2006/math">
                    <m:sSup>
                      <m:sSupPr>
                        <m:ctrlPr>
                          <a:rPr lang="en-US" sz="2000" i="1">
                            <a:latin typeface="Cambria Math"/>
                            <a:ea typeface="Verdana"/>
                            <a:cs typeface="Verdana"/>
                          </a:rPr>
                        </m:ctrlPr>
                      </m:sSupPr>
                      <m:e>
                        <m:r>
                          <a:rPr lang="en-US" sz="2000" i="1">
                            <a:latin typeface="Cambria Math"/>
                            <a:ea typeface="Verdana"/>
                            <a:cs typeface="Verdana"/>
                          </a:rPr>
                          <m:t>______</m:t>
                        </m:r>
                      </m:e>
                      <m:sup>
                        <m:r>
                          <a:rPr lang="en-US" sz="2000" i="1">
                            <a:latin typeface="Cambria Math"/>
                            <a:ea typeface="Verdana"/>
                            <a:cs typeface="Verdana"/>
                          </a:rPr>
                          <m:t>2</m:t>
                        </m:r>
                      </m:sup>
                    </m:sSup>
                    <m:r>
                      <a:rPr lang="en-US" sz="2000" i="1">
                        <a:latin typeface="Cambria Math"/>
                        <a:ea typeface="Verdana"/>
                        <a:cs typeface="Verdana"/>
                      </a:rPr>
                      <m:t>+</m:t>
                    </m:r>
                    <m:sSup>
                      <m:sSupPr>
                        <m:ctrlPr>
                          <a:rPr lang="en-US" sz="2000" i="1">
                            <a:latin typeface="Cambria Math"/>
                            <a:ea typeface="Verdana"/>
                            <a:cs typeface="Verdana"/>
                          </a:rPr>
                        </m:ctrlPr>
                      </m:sSupPr>
                      <m:e>
                        <m:r>
                          <a:rPr lang="en-US" sz="2000" i="1">
                            <a:latin typeface="Cambria Math"/>
                            <a:ea typeface="Verdana"/>
                            <a:cs typeface="Verdana"/>
                          </a:rPr>
                          <m:t>______</m:t>
                        </m:r>
                      </m:e>
                      <m:sup>
                        <m:r>
                          <a:rPr lang="en-US" sz="2000" i="1">
                            <a:latin typeface="Cambria Math"/>
                            <a:ea typeface="Verdana"/>
                            <a:cs typeface="Verdana"/>
                          </a:rPr>
                          <m:t>2</m:t>
                        </m:r>
                      </m:sup>
                    </m:sSup>
                    <m:r>
                      <a:rPr lang="en-US" sz="2000" i="1">
                        <a:latin typeface="Cambria Math"/>
                        <a:ea typeface="Verdana"/>
                        <a:cs typeface="Verdana"/>
                      </a:rPr>
                      <m:t>=</m:t>
                    </m:r>
                    <m:sSup>
                      <m:sSupPr>
                        <m:ctrlPr>
                          <a:rPr lang="en-US" sz="2000" i="1">
                            <a:latin typeface="Cambria Math"/>
                            <a:ea typeface="Verdana"/>
                            <a:cs typeface="Verdana"/>
                          </a:rPr>
                        </m:ctrlPr>
                      </m:sSupPr>
                      <m:e>
                        <m:r>
                          <a:rPr lang="en-US" sz="2000" i="1">
                            <a:latin typeface="Cambria Math"/>
                            <a:ea typeface="Verdana"/>
                            <a:cs typeface="Verdana"/>
                          </a:rPr>
                          <m:t>_______</m:t>
                        </m:r>
                      </m:e>
                      <m:sup>
                        <m:r>
                          <a:rPr lang="en-US" sz="2000" i="1">
                            <a:latin typeface="Cambria Math"/>
                            <a:ea typeface="Verdana"/>
                            <a:cs typeface="Verdana"/>
                          </a:rPr>
                          <m:t>2</m:t>
                        </m:r>
                      </m:sup>
                    </m:sSup>
                  </m:oMath>
                </a14:m>
                <a:endParaRPr lang="en-US" sz="2000" dirty="0">
                  <a:latin typeface="Verdana"/>
                  <a:ea typeface="Times New Roman"/>
                  <a:cs typeface="Times New Roman"/>
                </a:endParaRP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r>
                  <a:rPr lang="en-US" sz="2000" dirty="0">
                    <a:latin typeface="Verdana"/>
                    <a:ea typeface="Times New Roman"/>
                    <a:cs typeface="Times New Roman"/>
                  </a:rPr>
                  <a:t>Solve for the unknown</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6574" y="377519"/>
                <a:ext cx="10800000" cy="5324535"/>
              </a:xfrm>
              <a:prstGeom prst="rect">
                <a:avLst/>
              </a:prstGeom>
              <a:blipFill rotWithShape="1">
                <a:blip r:embed="rId3"/>
                <a:stretch>
                  <a:fillRect l="-564" t="-687"/>
                </a:stretch>
              </a:blipFill>
            </p:spPr>
            <p:txBody>
              <a:bodyPr/>
              <a:lstStyle/>
              <a:p>
                <a:r>
                  <a:rPr lang="en-PH">
                    <a:noFill/>
                  </a:rPr>
                  <a:t> </a:t>
                </a:r>
              </a:p>
            </p:txBody>
          </p:sp>
        </mc:Fallback>
      </mc:AlternateContent>
      <p:pic>
        <p:nvPicPr>
          <p:cNvPr id="7"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881" y="615214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910505" y="64807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smtClean="0">
                <a:latin typeface="Calibri"/>
                <a:ea typeface="Calibri"/>
                <a:cs typeface="Calibri"/>
                <a:sym typeface="Calibri"/>
              </a:rPr>
              <a:t>211</a:t>
            </a:r>
            <a:endParaRPr i="1" dirty="0">
              <a:latin typeface="Calibri"/>
              <a:ea typeface="Calibri"/>
              <a:cs typeface="Calibri"/>
              <a:sym typeface="Calibri"/>
            </a:endParaRPr>
          </a:p>
        </p:txBody>
      </p:sp>
    </p:spTree>
    <p:extLst>
      <p:ext uri="{BB962C8B-B14F-4D97-AF65-F5344CB8AC3E}">
        <p14:creationId xmlns:p14="http://schemas.microsoft.com/office/powerpoint/2010/main" val="3286357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xmlns=""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8"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881" y="615214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910505" y="64807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212</a:t>
            </a:r>
            <a:endParaRPr i="1" dirty="0">
              <a:latin typeface="Calibri"/>
              <a:ea typeface="Calibri"/>
              <a:cs typeface="Calibri"/>
              <a:sym typeface="Calibri"/>
            </a:endParaRPr>
          </a:p>
        </p:txBody>
      </p:sp>
    </p:spTree>
    <p:extLst>
      <p:ext uri="{BB962C8B-B14F-4D97-AF65-F5344CB8AC3E}">
        <p14:creationId xmlns:p14="http://schemas.microsoft.com/office/powerpoint/2010/main" val="1693014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268228" y="7996"/>
            <a:ext cx="1036531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5.7.4 Guided Practice: Applying the Pythagorean Theorem</a:t>
            </a:r>
          </a:p>
        </p:txBody>
      </p:sp>
      <p:pic>
        <p:nvPicPr>
          <p:cNvPr id="8"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48855" y="29594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xmlns="" id="{31D40250-DEDD-2C41-8538-3D4DD18CCC4A}"/>
                  </a:ext>
                </a:extLst>
              </p:cNvPr>
              <p:cNvSpPr txBox="1"/>
              <p:nvPr/>
            </p:nvSpPr>
            <p:spPr>
              <a:xfrm>
                <a:off x="545269" y="1459939"/>
                <a:ext cx="10800000" cy="2462213"/>
              </a:xfrm>
              <a:prstGeom prst="rect">
                <a:avLst/>
              </a:prstGeom>
              <a:noFill/>
            </p:spPr>
            <p:txBody>
              <a:bodyPr wrap="square" rtlCol="0">
                <a:spAutoFit/>
              </a:bodyPr>
              <a:lstStyle/>
              <a:p>
                <a:pPr>
                  <a:spcAft>
                    <a:spcPts val="1200"/>
                  </a:spcAft>
                </a:pPr>
                <a:r>
                  <a:rPr lang="en-US" sz="2400" dirty="0">
                    <a:latin typeface="Verdana"/>
                    <a:ea typeface="Verdana"/>
                    <a:cs typeface="Verdana"/>
                  </a:rPr>
                  <a:t>Solve each problem using the Pythagorean Theorem.</a:t>
                </a:r>
              </a:p>
              <a:p>
                <a:pPr marL="457200" indent="-457200">
                  <a:buFont typeface="+mj-lt"/>
                  <a:buAutoNum type="arabicPeriod"/>
                </a:pPr>
                <a:r>
                  <a:rPr lang="en-US" sz="2400" dirty="0">
                    <a:latin typeface="Verdana"/>
                    <a:ea typeface="Times New Roman"/>
                    <a:cs typeface="Times New Roman"/>
                  </a:rPr>
                  <a:t>Malik leaves his house and drives </a:t>
                </a:r>
                <a14:m>
                  <m:oMath xmlns:m="http://schemas.openxmlformats.org/officeDocument/2006/math">
                    <m:r>
                      <a:rPr lang="en-US" sz="2400" i="1">
                        <a:latin typeface="Cambria Math"/>
                        <a:ea typeface="Times New Roman"/>
                        <a:cs typeface="Times New Roman"/>
                      </a:rPr>
                      <m:t>7</m:t>
                    </m:r>
                  </m:oMath>
                </a14:m>
                <a:r>
                  <a:rPr lang="en-US" sz="2400" dirty="0">
                    <a:latin typeface="Verdana"/>
                    <a:ea typeface="Times New Roman"/>
                    <a:cs typeface="Times New Roman"/>
                  </a:rPr>
                  <a:t> miles (mi) west. He then turns and drives </a:t>
                </a:r>
                <a14:m>
                  <m:oMath xmlns:m="http://schemas.openxmlformats.org/officeDocument/2006/math">
                    <m:r>
                      <a:rPr lang="en-US" sz="2400" i="1">
                        <a:latin typeface="Cambria Math"/>
                        <a:ea typeface="Times New Roman"/>
                        <a:cs typeface="Times New Roman"/>
                      </a:rPr>
                      <m:t>5</m:t>
                    </m:r>
                  </m:oMath>
                </a14:m>
                <a:r>
                  <a:rPr lang="en-US" sz="2400" dirty="0">
                    <a:latin typeface="Verdana"/>
                    <a:ea typeface="Times New Roman"/>
                    <a:cs typeface="Times New Roman"/>
                  </a:rPr>
                  <a:t> mi north. How far away is he from his house? Round your answer to the nearest tenth.</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0" name="TextBox 9">
                <a:extLst>
                  <a:ext uri="{FF2B5EF4-FFF2-40B4-BE49-F238E27FC236}">
                    <a16:creationId xmlns:a16="http://schemas.microsoft.com/office/drawing/2014/main" xmlns:a14="http://schemas.microsoft.com/office/drawing/2010/main" xmlns="" id="{31D40250-DEDD-2C41-8538-3D4DD18CCC4A}"/>
                  </a:ext>
                </a:extLst>
              </p:cNvPr>
              <p:cNvSpPr txBox="1">
                <a:spLocks noRot="1" noChangeAspect="1" noMove="1" noResize="1" noEditPoints="1" noAdjustHandles="1" noChangeArrowheads="1" noChangeShapeType="1" noTextEdit="1"/>
              </p:cNvSpPr>
              <p:nvPr/>
            </p:nvSpPr>
            <p:spPr>
              <a:xfrm>
                <a:off x="545269" y="1459939"/>
                <a:ext cx="10800000" cy="2462213"/>
              </a:xfrm>
              <a:prstGeom prst="rect">
                <a:avLst/>
              </a:prstGeom>
              <a:blipFill rotWithShape="1">
                <a:blip r:embed="rId4"/>
                <a:stretch>
                  <a:fillRect l="-847" t="-1980"/>
                </a:stretch>
              </a:blipFill>
            </p:spPr>
            <p:txBody>
              <a:bodyPr/>
              <a:lstStyle/>
              <a:p>
                <a:r>
                  <a:rPr lang="en-PH">
                    <a:noFill/>
                  </a:rPr>
                  <a:t> </a:t>
                </a:r>
              </a:p>
            </p:txBody>
          </p:sp>
        </mc:Fallback>
      </mc:AlternateContent>
      <p:pic>
        <p:nvPicPr>
          <p:cNvPr id="9" name="Picture 8"/>
          <p:cNvPicPr/>
          <p:nvPr/>
        </p:nvPicPr>
        <p:blipFill>
          <a:blip r:embed="rId5" cstate="screen">
            <a:extLst>
              <a:ext uri="{28A0092B-C50C-407E-A947-70E740481C1C}">
                <a14:useLocalDpi xmlns:a14="http://schemas.microsoft.com/office/drawing/2010/main"/>
              </a:ext>
              <a:ext uri="{837473B0-CC2E-450A-ABE3-18F120FF3D39}">
                <a1611:picAttrSrcUrl xmlns:a1611="http://schemas.microsoft.com/office/drawing/2016/11/main" xmlns="" r:id="rId7"/>
              </a:ext>
            </a:extLst>
          </a:blip>
          <a:stretch>
            <a:fillRect/>
          </a:stretch>
        </p:blipFill>
        <p:spPr>
          <a:xfrm>
            <a:off x="8633914" y="3011271"/>
            <a:ext cx="2738226" cy="2738226"/>
          </a:xfrm>
          <a:prstGeom prst="rect">
            <a:avLst/>
          </a:prstGeom>
        </p:spPr>
      </p:pic>
      <p:pic>
        <p:nvPicPr>
          <p:cNvPr id="12" name="Google Shape;311;g104476d1465_1_39"/>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582881" y="6152140"/>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282;g104476d1465_1_17"/>
          <p:cNvSpPr txBox="1"/>
          <p:nvPr/>
        </p:nvSpPr>
        <p:spPr>
          <a:xfrm>
            <a:off x="8910505" y="64807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212</a:t>
            </a:r>
            <a:endParaRPr i="1" dirty="0">
              <a:latin typeface="Calibri"/>
              <a:ea typeface="Calibri"/>
              <a:cs typeface="Calibri"/>
              <a:sym typeface="Calibri"/>
            </a:endParaRPr>
          </a:p>
        </p:txBody>
      </p:sp>
    </p:spTree>
    <p:extLst>
      <p:ext uri="{BB962C8B-B14F-4D97-AF65-F5344CB8AC3E}">
        <p14:creationId xmlns:p14="http://schemas.microsoft.com/office/powerpoint/2010/main" val="745523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5744" y="387043"/>
                <a:ext cx="10800000" cy="1938992"/>
              </a:xfrm>
              <a:prstGeom prst="rect">
                <a:avLst/>
              </a:prstGeom>
              <a:noFill/>
            </p:spPr>
            <p:txBody>
              <a:bodyPr wrap="square" rtlCol="0">
                <a:spAutoFit/>
              </a:bodyPr>
              <a:lstStyle/>
              <a:p>
                <a:pPr marL="457200" indent="-457200">
                  <a:buFont typeface="+mj-lt"/>
                  <a:buAutoNum type="arabicPeriod" startAt="2"/>
                </a:pPr>
                <a:r>
                  <a:rPr lang="en-US" sz="2400" dirty="0">
                    <a:latin typeface="Verdana"/>
                    <a:ea typeface="Times New Roman"/>
                    <a:cs typeface="Times New Roman"/>
                  </a:rPr>
                  <a:t>Audrey designs a </a:t>
                </a:r>
                <a14:m>
                  <m:oMath xmlns:m="http://schemas.openxmlformats.org/officeDocument/2006/math">
                    <m:r>
                      <a:rPr lang="en-US" sz="2400" i="1">
                        <a:latin typeface="Cambria Math"/>
                        <a:ea typeface="Times New Roman"/>
                        <a:cs typeface="Times New Roman"/>
                      </a:rPr>
                      <m:t>15</m:t>
                    </m:r>
                  </m:oMath>
                </a14:m>
                <a:r>
                  <a:rPr lang="en-US" sz="2400" dirty="0">
                    <a:latin typeface="Verdana"/>
                    <a:ea typeface="Times New Roman"/>
                    <a:cs typeface="Times New Roman"/>
                  </a:rPr>
                  <a:t>-foot slide from her bedroom window into her swimming pool. The end of the slide is </a:t>
                </a:r>
                <a14:m>
                  <m:oMath xmlns:m="http://schemas.openxmlformats.org/officeDocument/2006/math">
                    <m:r>
                      <a:rPr lang="en-US" sz="2400" i="1">
                        <a:latin typeface="Cambria Math"/>
                        <a:ea typeface="Times New Roman"/>
                        <a:cs typeface="Times New Roman"/>
                      </a:rPr>
                      <m:t>9</m:t>
                    </m:r>
                  </m:oMath>
                </a14:m>
                <a:r>
                  <a:rPr lang="en-US" sz="2400" dirty="0">
                    <a:latin typeface="Verdana"/>
                    <a:ea typeface="Times New Roman"/>
                    <a:cs typeface="Times New Roman"/>
                  </a:rPr>
                  <a:t> feet from the base of her house. How high up is her window? Round your answer to the nearest tenth.</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5744" y="387043"/>
                <a:ext cx="10800000" cy="1938992"/>
              </a:xfrm>
              <a:prstGeom prst="rect">
                <a:avLst/>
              </a:prstGeom>
              <a:blipFill rotWithShape="1">
                <a:blip r:embed="rId3"/>
                <a:stretch>
                  <a:fillRect l="-903" t="-2821" r="-1298"/>
                </a:stretch>
              </a:blipFill>
            </p:spPr>
            <p:txBody>
              <a:bodyPr/>
              <a:lstStyle/>
              <a:p>
                <a:r>
                  <a:rPr lang="en-PH">
                    <a:noFill/>
                  </a:rPr>
                  <a:t> </a:t>
                </a:r>
              </a:p>
            </p:txBody>
          </p:sp>
        </mc:Fallback>
      </mc:AlternateContent>
      <p:pic>
        <p:nvPicPr>
          <p:cNvPr id="7"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881" y="615214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910505" y="64807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212</a:t>
            </a:r>
            <a:endParaRPr i="1" dirty="0">
              <a:latin typeface="Calibri"/>
              <a:ea typeface="Calibri"/>
              <a:cs typeface="Calibri"/>
              <a:sym typeface="Calibri"/>
            </a:endParaRPr>
          </a:p>
        </p:txBody>
      </p:sp>
    </p:spTree>
    <p:extLst>
      <p:ext uri="{BB962C8B-B14F-4D97-AF65-F5344CB8AC3E}">
        <p14:creationId xmlns:p14="http://schemas.microsoft.com/office/powerpoint/2010/main" val="20807090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7"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881" y="615214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910505" y="64807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212</a:t>
            </a:r>
            <a:endParaRPr i="1" dirty="0">
              <a:latin typeface="Calibri"/>
              <a:ea typeface="Calibri"/>
              <a:cs typeface="Calibri"/>
              <a:sym typeface="Calibri"/>
            </a:endParaRPr>
          </a:p>
        </p:txBody>
      </p:sp>
    </p:spTree>
    <p:extLst>
      <p:ext uri="{BB962C8B-B14F-4D97-AF65-F5344CB8AC3E}">
        <p14:creationId xmlns:p14="http://schemas.microsoft.com/office/powerpoint/2010/main" val="27442323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62006" y="10504"/>
            <a:ext cx="1084697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5.7.5 Collaboration: Internal Dimensions</a:t>
            </a:r>
          </a:p>
        </p:txBody>
      </p:sp>
      <p:pic>
        <p:nvPicPr>
          <p:cNvPr id="9"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46347" y="298450"/>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E44DF7DE-9172-3E4E-B74A-7A51585FB6EA}"/>
              </a:ext>
            </a:extLst>
          </p:cNvPr>
          <p:cNvSpPr txBox="1"/>
          <p:nvPr/>
        </p:nvSpPr>
        <p:spPr>
          <a:xfrm>
            <a:off x="534891" y="1453938"/>
            <a:ext cx="10800000" cy="5055415"/>
          </a:xfrm>
          <a:prstGeom prst="rect">
            <a:avLst/>
          </a:prstGeom>
          <a:noFill/>
        </p:spPr>
        <p:txBody>
          <a:bodyPr wrap="square" rtlCol="0">
            <a:spAutoFit/>
          </a:bodyPr>
          <a:lstStyle/>
          <a:p>
            <a:pPr marL="457200" indent="-457200">
              <a:buFont typeface="+mj-lt"/>
              <a:buAutoNum type="arabicPeriod"/>
            </a:pPr>
            <a:r>
              <a:rPr lang="en-US" sz="2000" dirty="0">
                <a:latin typeface="Verdana"/>
                <a:ea typeface="Times New Roman"/>
                <a:cs typeface="Times New Roman"/>
              </a:rPr>
              <a:t>Two rectangular prisms are shown:</a:t>
            </a:r>
          </a:p>
          <a:p>
            <a:pPr marL="457200" indent="-457200">
              <a:buFont typeface="+mj-lt"/>
              <a:buAutoNum type="arabicPeriod"/>
            </a:pPr>
            <a:endParaRPr lang="en-PH" sz="2000" dirty="0">
              <a:latin typeface="Verdana"/>
              <a:ea typeface="Verdana" panose="020B0604030504040204" pitchFamily="34" charset="0"/>
              <a:cs typeface="Times New Roman"/>
            </a:endParaRPr>
          </a:p>
          <a:p>
            <a:pPr marL="457200" indent="-457200">
              <a:buFont typeface="+mj-lt"/>
              <a:buAutoNum type="arabicPeriod"/>
            </a:pPr>
            <a:endParaRPr lang="en-PH" sz="2000" dirty="0">
              <a:latin typeface="Verdana"/>
              <a:ea typeface="Verdana" panose="020B0604030504040204" pitchFamily="34" charset="0"/>
              <a:cs typeface="Times New Roman"/>
            </a:endParaRPr>
          </a:p>
          <a:p>
            <a:pPr marL="457200" indent="-457200">
              <a:buFont typeface="+mj-lt"/>
              <a:buAutoNum type="arabicPeriod"/>
            </a:pPr>
            <a:endParaRPr lang="en-PH" sz="2000" dirty="0">
              <a:latin typeface="Verdana"/>
              <a:ea typeface="Verdana" panose="020B0604030504040204" pitchFamily="34" charset="0"/>
              <a:cs typeface="Times New Roman"/>
            </a:endParaRPr>
          </a:p>
          <a:p>
            <a:pPr marL="457200" indent="-457200">
              <a:buFont typeface="+mj-lt"/>
              <a:buAutoNum type="arabicPeriod"/>
            </a:pPr>
            <a:endParaRPr lang="en-PH" sz="2000" dirty="0">
              <a:latin typeface="Verdana"/>
              <a:ea typeface="Verdana" panose="020B0604030504040204" pitchFamily="34" charset="0"/>
              <a:cs typeface="Times New Roman"/>
            </a:endParaRPr>
          </a:p>
          <a:p>
            <a:pPr marL="457200" indent="-457200">
              <a:buFont typeface="+mj-lt"/>
              <a:buAutoNum type="arabicPeriod"/>
            </a:pPr>
            <a:endParaRPr lang="en-PH" sz="2000" dirty="0">
              <a:latin typeface="Verdana"/>
              <a:ea typeface="Verdana" panose="020B0604030504040204" pitchFamily="34" charset="0"/>
              <a:cs typeface="Times New Roman"/>
            </a:endParaRPr>
          </a:p>
          <a:p>
            <a:pPr marL="457200" indent="-457200">
              <a:buFont typeface="+mj-lt"/>
              <a:buAutoNum type="arabicPeriod"/>
            </a:pPr>
            <a:endParaRPr lang="en-PH" sz="2000" dirty="0">
              <a:latin typeface="Verdana"/>
              <a:ea typeface="Verdana" panose="020B0604030504040204" pitchFamily="34" charset="0"/>
              <a:cs typeface="Times New Roman"/>
            </a:endParaRPr>
          </a:p>
          <a:p>
            <a:pPr marL="457200" indent="-457200">
              <a:buFont typeface="+mj-lt"/>
              <a:buAutoNum type="arabicPeriod"/>
            </a:pPr>
            <a:endParaRPr lang="en-PH" sz="2000" dirty="0">
              <a:latin typeface="Verdana"/>
              <a:ea typeface="Verdana" panose="020B0604030504040204" pitchFamily="34" charset="0"/>
              <a:cs typeface="Times New Roman"/>
            </a:endParaRPr>
          </a:p>
          <a:p>
            <a:pPr marL="457200" indent="-457200">
              <a:buFont typeface="+mj-lt"/>
              <a:buAutoNum type="arabicPeriod"/>
            </a:pPr>
            <a:endParaRPr lang="en-PH" sz="2000" dirty="0">
              <a:latin typeface="Verdana"/>
              <a:ea typeface="Verdana" panose="020B0604030504040204" pitchFamily="34" charset="0"/>
              <a:cs typeface="Times New Roman"/>
            </a:endParaRPr>
          </a:p>
          <a:p>
            <a:pPr marL="457200" indent="-457200">
              <a:buFont typeface="+mj-lt"/>
              <a:buAutoNum type="arabicPeriod"/>
            </a:pPr>
            <a:endParaRPr lang="en-PH" sz="2000" dirty="0">
              <a:latin typeface="Verdana"/>
              <a:ea typeface="Verdana" panose="020B0604030504040204" pitchFamily="34" charset="0"/>
              <a:cs typeface="Times New Roman"/>
            </a:endParaRPr>
          </a:p>
          <a:p>
            <a:pPr marL="914400" indent="-457200">
              <a:buFont typeface="+mj-lt"/>
              <a:buAutoNum type="alphaLcPeriod"/>
            </a:pPr>
            <a:r>
              <a:rPr lang="en-US" sz="2000" dirty="0">
                <a:latin typeface="Verdana"/>
                <a:ea typeface="Times New Roman"/>
                <a:cs typeface="Times New Roman"/>
              </a:rPr>
              <a:t>Predict which figure has a longer diagonal. Note that the figures are not drawn to scale.</a:t>
            </a:r>
          </a:p>
          <a:p>
            <a:pPr marL="914400" indent="-457200">
              <a:buFont typeface="+mj-lt"/>
              <a:buAutoNum type="alphaLcPeriod"/>
            </a:pPr>
            <a:endParaRPr lang="en-PH" sz="2000" dirty="0">
              <a:latin typeface="Verdana"/>
              <a:ea typeface="Verdana" panose="020B0604030504040204" pitchFamily="34" charset="0"/>
              <a:cs typeface="Times New Roman"/>
            </a:endParaRPr>
          </a:p>
          <a:p>
            <a:pPr marL="914400" indent="-457200">
              <a:buFont typeface="+mj-lt"/>
              <a:buAutoNum type="alphaLcPeriod"/>
            </a:pPr>
            <a:r>
              <a:rPr lang="en-US" sz="2000" dirty="0">
                <a:latin typeface="Verdana"/>
                <a:ea typeface="Times New Roman"/>
                <a:cs typeface="Times New Roman"/>
              </a:rPr>
              <a:t>Discuss with your partner if there is enough information to find the diagonal using the Pythagorean Theorem. Summarize your discussion.</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11" name="Picture 10" descr="A rectangular prism labeled “K” and a cube labeled “L” are indicated. The rectangular prism has a side with a length of 5 units, a side with length of 4 units, and a vertical height with a length of 6 units. A diagonal is drawn from the bottom left vertex to the top right vertex of the prism. The cube has all side lengths of 5 units. A diagonal is drawn from the bottom left vertex to the top right vertex of the cube."/>
          <p:cNvPicPr/>
          <p:nvPr/>
        </p:nvPicPr>
        <p:blipFill>
          <a:blip r:embed="rId4" cstate="screen">
            <a:extLst>
              <a:ext uri="{28A0092B-C50C-407E-A947-70E740481C1C}">
                <a14:useLocalDpi xmlns:a14="http://schemas.microsoft.com/office/drawing/2010/main"/>
              </a:ext>
            </a:extLst>
          </a:blip>
          <a:srcRect/>
          <a:stretch>
            <a:fillRect/>
          </a:stretch>
        </p:blipFill>
        <p:spPr bwMode="auto">
          <a:xfrm>
            <a:off x="3415052" y="2031366"/>
            <a:ext cx="5039677" cy="2320925"/>
          </a:xfrm>
          <a:prstGeom prst="rect">
            <a:avLst/>
          </a:prstGeom>
          <a:noFill/>
          <a:ln>
            <a:noFill/>
          </a:ln>
        </p:spPr>
      </p:pic>
      <p:pic>
        <p:nvPicPr>
          <p:cNvPr id="13" name="Google Shape;311;g104476d1465_1_39"/>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2881" y="6152140"/>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282;g104476d1465_1_17"/>
          <p:cNvSpPr txBox="1"/>
          <p:nvPr/>
        </p:nvSpPr>
        <p:spPr>
          <a:xfrm>
            <a:off x="8910505" y="64807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212</a:t>
            </a:r>
            <a:endParaRPr i="1" dirty="0">
              <a:latin typeface="Calibri"/>
              <a:ea typeface="Calibri"/>
              <a:cs typeface="Calibri"/>
              <a:sym typeface="Calibri"/>
            </a:endParaRPr>
          </a:p>
        </p:txBody>
      </p:sp>
    </p:spTree>
    <p:extLst>
      <p:ext uri="{BB962C8B-B14F-4D97-AF65-F5344CB8AC3E}">
        <p14:creationId xmlns:p14="http://schemas.microsoft.com/office/powerpoint/2010/main" val="11719182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37209" y="387044"/>
            <a:ext cx="10800000" cy="4893647"/>
          </a:xfrm>
          <a:prstGeom prst="rect">
            <a:avLst/>
          </a:prstGeom>
          <a:noFill/>
        </p:spPr>
        <p:txBody>
          <a:bodyPr wrap="square" rtlCol="0">
            <a:spAutoFit/>
          </a:bodyPr>
          <a:lstStyle/>
          <a:p>
            <a:pPr marL="914400" indent="-457200">
              <a:buFont typeface="+mj-lt"/>
              <a:buAutoNum type="alphaLcPeriod" startAt="3"/>
            </a:pPr>
            <a:r>
              <a:rPr lang="en-US" sz="2400" dirty="0">
                <a:latin typeface="Verdana"/>
                <a:ea typeface="Times New Roman"/>
                <a:cs typeface="Times New Roman"/>
              </a:rPr>
              <a:t>What other measurement must be calculated first to find the diagonal? Label this extra measurement on the figures above.</a:t>
            </a:r>
          </a:p>
          <a:p>
            <a:pPr marL="914400" indent="-457200">
              <a:buFont typeface="+mj-lt"/>
              <a:buAutoNum type="alphaLcPeriod" startAt="3"/>
            </a:pPr>
            <a:endParaRPr lang="en-PH" sz="2400" dirty="0">
              <a:latin typeface="Verdana"/>
              <a:ea typeface="Verdana" panose="020B0604030504040204" pitchFamily="34" charset="0"/>
              <a:cs typeface="Times New Roman"/>
            </a:endParaRPr>
          </a:p>
          <a:p>
            <a:pPr marL="914400" indent="-457200">
              <a:buFont typeface="+mj-lt"/>
              <a:buAutoNum type="alphaLcPeriod" startAt="3"/>
            </a:pPr>
            <a:endParaRPr lang="en-PH" sz="2400" dirty="0">
              <a:latin typeface="Verdana"/>
              <a:ea typeface="Verdana" panose="020B0604030504040204" pitchFamily="34" charset="0"/>
              <a:cs typeface="Times New Roman"/>
            </a:endParaRPr>
          </a:p>
          <a:p>
            <a:pPr marL="914400" indent="-457200">
              <a:buFont typeface="+mj-lt"/>
              <a:buAutoNum type="alphaLcPeriod" startAt="3"/>
            </a:pPr>
            <a:endParaRPr lang="en-US" sz="2400" dirty="0">
              <a:latin typeface="Verdana"/>
              <a:ea typeface="Times New Roman"/>
              <a:cs typeface="Times New Roman"/>
            </a:endParaRPr>
          </a:p>
          <a:p>
            <a:pPr marL="914400" indent="-457200">
              <a:buFont typeface="+mj-lt"/>
              <a:buAutoNum type="alphaLcPeriod" startAt="3"/>
            </a:pPr>
            <a:r>
              <a:rPr lang="en-US" sz="2400" dirty="0">
                <a:latin typeface="Verdana"/>
                <a:ea typeface="Times New Roman"/>
                <a:cs typeface="Times New Roman"/>
              </a:rPr>
              <a:t>Find the exact length of the base diagonals using the Pythagorean Theorem.</a:t>
            </a:r>
            <a:endParaRPr lang="en-PH" sz="2400" dirty="0">
              <a:latin typeface="Verdana"/>
              <a:ea typeface="Verdana" panose="020B0604030504040204" pitchFamily="34" charset="0"/>
              <a:cs typeface="Times New Roman"/>
            </a:endParaRPr>
          </a:p>
          <a:p>
            <a:pPr marL="914400" indent="-457200">
              <a:buFont typeface="+mj-lt"/>
              <a:buAutoNum type="alphaLcPeriod" startAt="3"/>
            </a:pPr>
            <a:endParaRPr lang="en-PH" sz="2400" dirty="0">
              <a:latin typeface="Verdana"/>
              <a:ea typeface="Verdana" panose="020B0604030504040204" pitchFamily="34" charset="0"/>
              <a:cs typeface="Times New Roman"/>
            </a:endParaRPr>
          </a:p>
          <a:p>
            <a:pPr marL="914400" indent="-457200">
              <a:buFont typeface="+mj-lt"/>
              <a:buAutoNum type="alphaLcPeriod" startAt="3"/>
            </a:pPr>
            <a:endParaRPr lang="en-PH" sz="2400" dirty="0">
              <a:latin typeface="Verdana"/>
              <a:ea typeface="Verdana" panose="020B0604030504040204" pitchFamily="34" charset="0"/>
              <a:cs typeface="Times New Roman"/>
            </a:endParaRPr>
          </a:p>
          <a:p>
            <a:pPr marL="914400" indent="-457200">
              <a:buFont typeface="+mj-lt"/>
              <a:buAutoNum type="alphaLcPeriod" startAt="3"/>
            </a:pPr>
            <a:endParaRPr lang="en-PH" sz="2400" dirty="0">
              <a:latin typeface="Verdana"/>
              <a:ea typeface="Verdana" panose="020B0604030504040204" pitchFamily="34" charset="0"/>
              <a:cs typeface="Times New Roman"/>
            </a:endParaRPr>
          </a:p>
          <a:p>
            <a:pPr marL="914400" indent="-457200">
              <a:buFont typeface="+mj-lt"/>
              <a:buAutoNum type="alphaLcPeriod" startAt="3"/>
            </a:pPr>
            <a:r>
              <a:rPr lang="en-US" sz="2400" dirty="0">
                <a:latin typeface="Verdana"/>
                <a:ea typeface="Times New Roman"/>
                <a:cs typeface="Times New Roman"/>
              </a:rPr>
              <a:t>Use the Pythagorean Theorem to calculate the length of both diagonals. Which one is longer?</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7"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2881" y="615214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910505" y="64807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213</a:t>
            </a:r>
            <a:endParaRPr i="1" dirty="0">
              <a:latin typeface="Calibri"/>
              <a:ea typeface="Calibri"/>
              <a:cs typeface="Calibri"/>
              <a:sym typeface="Calibri"/>
            </a:endParaRPr>
          </a:p>
        </p:txBody>
      </p:sp>
    </p:spTree>
    <p:extLst>
      <p:ext uri="{BB962C8B-B14F-4D97-AF65-F5344CB8AC3E}">
        <p14:creationId xmlns:p14="http://schemas.microsoft.com/office/powerpoint/2010/main" val="3520429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pic>
        <p:nvPicPr>
          <p:cNvPr id="9"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881" y="615214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p:cNvSpPr txBox="1"/>
          <p:nvPr/>
        </p:nvSpPr>
        <p:spPr>
          <a:xfrm>
            <a:off x="8910505" y="64807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smtClean="0">
                <a:latin typeface="Calibri"/>
                <a:ea typeface="Calibri"/>
                <a:cs typeface="Calibri"/>
                <a:sym typeface="Calibri"/>
              </a:rPr>
              <a:t>213</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2795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253230" y="298450"/>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5.7.6 Your Turn!</a:t>
            </a:r>
          </a:p>
        </p:txBody>
      </p:sp>
      <p:pic>
        <p:nvPicPr>
          <p:cNvPr id="9"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3">
            <a:alphaModFix/>
          </a:blip>
          <a:srcRect/>
          <a:stretch/>
        </p:blipFill>
        <p:spPr>
          <a:xfrm>
            <a:off x="448855" y="29845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xmlns="" id="{759C3E41-93EC-B84D-963F-86A3B15AC1C6}"/>
                  </a:ext>
                </a:extLst>
              </p:cNvPr>
              <p:cNvSpPr txBox="1"/>
              <p:nvPr/>
            </p:nvSpPr>
            <p:spPr>
              <a:xfrm>
                <a:off x="535921" y="1457602"/>
                <a:ext cx="9763359" cy="2554545"/>
              </a:xfrm>
              <a:prstGeom prst="rect">
                <a:avLst/>
              </a:prstGeom>
              <a:noFill/>
            </p:spPr>
            <p:txBody>
              <a:bodyPr wrap="square" rtlCol="0">
                <a:spAutoFit/>
              </a:bodyPr>
              <a:lstStyle/>
              <a:p>
                <a:r>
                  <a:rPr lang="en-US" sz="2000" dirty="0">
                    <a:latin typeface="Verdana"/>
                    <a:ea typeface="Verdana"/>
                    <a:cs typeface="Verdana"/>
                  </a:rPr>
                  <a:t>Solve each problem by applying the Pythagorean Theorem.</a:t>
                </a:r>
              </a:p>
              <a:p>
                <a:endParaRPr lang="en-US" sz="2000" dirty="0">
                  <a:latin typeface="Verdana"/>
                  <a:ea typeface="Verdana"/>
                  <a:cs typeface="Verdana"/>
                </a:endParaRPr>
              </a:p>
              <a:p>
                <a:pPr marL="457200" indent="-457200">
                  <a:buFont typeface="+mj-lt"/>
                  <a:buAutoNum type="arabicPeriod"/>
                </a:pPr>
                <a:r>
                  <a:rPr lang="en-US" sz="2000" dirty="0">
                    <a:latin typeface="Verdana"/>
                    <a:ea typeface="Times New Roman"/>
                    <a:cs typeface="Times New Roman"/>
                  </a:rPr>
                  <a:t>A man is trying to zombie-proof </a:t>
                </a:r>
                <a:r>
                  <a:rPr lang="en-US" sz="2000" dirty="0" smtClean="0">
                    <a:latin typeface="Verdana"/>
                    <a:ea typeface="Times New Roman"/>
                    <a:cs typeface="Times New Roman"/>
                  </a:rPr>
                  <a:t>his </a:t>
                </a:r>
                <a:r>
                  <a:rPr lang="en-US" sz="2000" dirty="0">
                    <a:latin typeface="Verdana"/>
                    <a:ea typeface="Times New Roman"/>
                    <a:cs typeface="Times New Roman"/>
                  </a:rPr>
                  <a:t>house. </a:t>
                </a:r>
                <a:r>
                  <a:rPr lang="en-US" sz="2000" dirty="0" smtClean="0">
                    <a:latin typeface="Verdana"/>
                    <a:ea typeface="Times New Roman"/>
                    <a:cs typeface="Times New Roman"/>
                  </a:rPr>
                  <a:t/>
                </a:r>
                <a:br>
                  <a:rPr lang="en-US" sz="2000" dirty="0" smtClean="0">
                    <a:latin typeface="Verdana"/>
                    <a:ea typeface="Times New Roman"/>
                    <a:cs typeface="Times New Roman"/>
                  </a:rPr>
                </a:br>
                <a:r>
                  <a:rPr lang="en-US" sz="2000" dirty="0" smtClean="0">
                    <a:latin typeface="Verdana"/>
                    <a:ea typeface="Times New Roman"/>
                    <a:cs typeface="Times New Roman"/>
                  </a:rPr>
                  <a:t>He </a:t>
                </a:r>
                <a:r>
                  <a:rPr lang="en-US" sz="2000" dirty="0">
                    <a:latin typeface="Verdana"/>
                    <a:ea typeface="Times New Roman"/>
                    <a:cs typeface="Times New Roman"/>
                  </a:rPr>
                  <a:t>wants to cut a length </a:t>
                </a:r>
                <a:r>
                  <a:rPr lang="en-US" sz="2000" dirty="0" smtClean="0">
                    <a:latin typeface="Verdana"/>
                    <a:ea typeface="Times New Roman"/>
                    <a:cs typeface="Times New Roman"/>
                  </a:rPr>
                  <a:t>of </a:t>
                </a:r>
                <a:r>
                  <a:rPr lang="en-US" sz="2000" dirty="0">
                    <a:latin typeface="Verdana"/>
                    <a:ea typeface="Times New Roman"/>
                    <a:cs typeface="Times New Roman"/>
                  </a:rPr>
                  <a:t>wood that will </a:t>
                </a:r>
                <a:r>
                  <a:rPr lang="en-US" sz="2000" dirty="0" smtClean="0">
                    <a:latin typeface="Verdana"/>
                    <a:ea typeface="Times New Roman"/>
                    <a:cs typeface="Times New Roman"/>
                  </a:rPr>
                  <a:t/>
                </a:r>
                <a:br>
                  <a:rPr lang="en-US" sz="2000" dirty="0" smtClean="0">
                    <a:latin typeface="Verdana"/>
                    <a:ea typeface="Times New Roman"/>
                    <a:cs typeface="Times New Roman"/>
                  </a:rPr>
                </a:br>
                <a:r>
                  <a:rPr lang="en-US" sz="2000" dirty="0" smtClean="0">
                    <a:latin typeface="Verdana"/>
                    <a:ea typeface="Times New Roman"/>
                    <a:cs typeface="Times New Roman"/>
                  </a:rPr>
                  <a:t>brace </a:t>
                </a:r>
                <a:r>
                  <a:rPr lang="en-US" sz="2000" dirty="0">
                    <a:latin typeface="Verdana"/>
                    <a:ea typeface="Times New Roman"/>
                    <a:cs typeface="Times New Roman"/>
                  </a:rPr>
                  <a:t>a door against </a:t>
                </a:r>
                <a:r>
                  <a:rPr lang="en-US" sz="2000" dirty="0" smtClean="0">
                    <a:latin typeface="Verdana"/>
                    <a:ea typeface="Times New Roman"/>
                    <a:cs typeface="Times New Roman"/>
                  </a:rPr>
                  <a:t>a </a:t>
                </a:r>
                <a:r>
                  <a:rPr lang="en-US" sz="2000" dirty="0">
                    <a:latin typeface="Verdana"/>
                    <a:ea typeface="Times New Roman"/>
                    <a:cs typeface="Times New Roman"/>
                  </a:rPr>
                  <a:t>wall. The wall is </a:t>
                </a:r>
                <a:r>
                  <a:rPr lang="en-US" sz="2000" dirty="0" smtClean="0">
                    <a:latin typeface="Verdana"/>
                    <a:ea typeface="Times New Roman"/>
                    <a:cs typeface="Times New Roman"/>
                  </a:rPr>
                  <a:t/>
                </a:r>
                <a:br>
                  <a:rPr lang="en-US" sz="2000" dirty="0" smtClean="0">
                    <a:latin typeface="Verdana"/>
                    <a:ea typeface="Times New Roman"/>
                    <a:cs typeface="Times New Roman"/>
                  </a:rPr>
                </a:br>
                <a14:m>
                  <m:oMath xmlns:m="http://schemas.openxmlformats.org/officeDocument/2006/math">
                    <m:r>
                      <a:rPr lang="en-US" sz="2000" i="1">
                        <a:latin typeface="Cambria Math"/>
                        <a:ea typeface="Times New Roman"/>
                        <a:cs typeface="Times New Roman"/>
                      </a:rPr>
                      <m:t>4</m:t>
                    </m:r>
                  </m:oMath>
                </a14:m>
                <a:r>
                  <a:rPr lang="en-US" sz="2000" dirty="0">
                    <a:latin typeface="Verdana"/>
                    <a:ea typeface="Times New Roman"/>
                    <a:cs typeface="Times New Roman"/>
                  </a:rPr>
                  <a:t> feet (</a:t>
                </a:r>
                <a:r>
                  <a:rPr lang="en-US" sz="2000" dirty="0" err="1">
                    <a:latin typeface="Verdana"/>
                    <a:ea typeface="Times New Roman"/>
                    <a:cs typeface="Times New Roman"/>
                  </a:rPr>
                  <a:t>ft</a:t>
                </a:r>
                <a:r>
                  <a:rPr lang="en-US" sz="2000" dirty="0">
                    <a:latin typeface="Verdana"/>
                    <a:ea typeface="Times New Roman"/>
                    <a:cs typeface="Times New Roman"/>
                  </a:rPr>
                  <a:t>) away </a:t>
                </a:r>
                <a:r>
                  <a:rPr lang="en-US" sz="2000" dirty="0" smtClean="0">
                    <a:latin typeface="Verdana"/>
                    <a:ea typeface="Times New Roman"/>
                    <a:cs typeface="Times New Roman"/>
                  </a:rPr>
                  <a:t>from </a:t>
                </a:r>
                <a:r>
                  <a:rPr lang="en-US" sz="2000" dirty="0">
                    <a:latin typeface="Verdana"/>
                    <a:ea typeface="Times New Roman"/>
                    <a:cs typeface="Times New Roman"/>
                  </a:rPr>
                  <a:t>the door, and he </a:t>
                </a:r>
                <a:r>
                  <a:rPr lang="en-US" sz="2000" dirty="0" smtClean="0">
                    <a:latin typeface="Verdana"/>
                    <a:ea typeface="Times New Roman"/>
                    <a:cs typeface="Times New Roman"/>
                  </a:rPr>
                  <a:t/>
                </a:r>
                <a:br>
                  <a:rPr lang="en-US" sz="2000" dirty="0" smtClean="0">
                    <a:latin typeface="Verdana"/>
                    <a:ea typeface="Times New Roman"/>
                    <a:cs typeface="Times New Roman"/>
                  </a:rPr>
                </a:br>
                <a:r>
                  <a:rPr lang="en-US" sz="2000" dirty="0" smtClean="0">
                    <a:latin typeface="Verdana"/>
                    <a:ea typeface="Times New Roman"/>
                    <a:cs typeface="Times New Roman"/>
                  </a:rPr>
                  <a:t>wants </a:t>
                </a:r>
                <a:r>
                  <a:rPr lang="en-US" sz="2000" dirty="0">
                    <a:latin typeface="Verdana"/>
                    <a:ea typeface="Times New Roman"/>
                    <a:cs typeface="Times New Roman"/>
                  </a:rPr>
                  <a:t>the </a:t>
                </a:r>
                <a:r>
                  <a:rPr lang="en-US" sz="2000" dirty="0" smtClean="0">
                    <a:latin typeface="Verdana"/>
                    <a:ea typeface="Times New Roman"/>
                    <a:cs typeface="Times New Roman"/>
                  </a:rPr>
                  <a:t>brace </a:t>
                </a:r>
                <a:r>
                  <a:rPr lang="en-US" sz="2000" dirty="0">
                    <a:latin typeface="Verdana"/>
                    <a:ea typeface="Times New Roman"/>
                    <a:cs typeface="Times New Roman"/>
                  </a:rPr>
                  <a:t>to rest </a:t>
                </a:r>
                <a14:m>
                  <m:oMath xmlns:m="http://schemas.openxmlformats.org/officeDocument/2006/math">
                    <m:r>
                      <a:rPr lang="en-US" sz="2000" i="1">
                        <a:latin typeface="Cambria Math"/>
                        <a:ea typeface="Times New Roman"/>
                        <a:cs typeface="Times New Roman"/>
                      </a:rPr>
                      <m:t>2</m:t>
                    </m:r>
                  </m:oMath>
                </a14:m>
                <a:r>
                  <a:rPr lang="en-US" sz="2000" dirty="0">
                    <a:latin typeface="Verdana"/>
                    <a:ea typeface="Times New Roman"/>
                    <a:cs typeface="Times New Roman"/>
                  </a:rPr>
                  <a:t> </a:t>
                </a:r>
                <a:r>
                  <a:rPr lang="en-US" sz="2000" dirty="0" err="1">
                    <a:latin typeface="Verdana"/>
                    <a:ea typeface="Times New Roman"/>
                    <a:cs typeface="Times New Roman"/>
                  </a:rPr>
                  <a:t>ft</a:t>
                </a:r>
                <a:r>
                  <a:rPr lang="en-US" sz="2000" dirty="0">
                    <a:latin typeface="Verdana"/>
                    <a:ea typeface="Times New Roman"/>
                    <a:cs typeface="Times New Roman"/>
                  </a:rPr>
                  <a:t> up the door. </a:t>
                </a:r>
                <a:br>
                  <a:rPr lang="en-US" sz="2000" dirty="0">
                    <a:latin typeface="Verdana"/>
                    <a:ea typeface="Times New Roman"/>
                    <a:cs typeface="Times New Roman"/>
                  </a:rPr>
                </a:br>
                <a:r>
                  <a:rPr lang="en-US" sz="2000" dirty="0">
                    <a:latin typeface="Verdana"/>
                    <a:ea typeface="Times New Roman"/>
                    <a:cs typeface="Times New Roman"/>
                  </a:rPr>
                  <a:t>About how long should he cut </a:t>
                </a:r>
                <a:r>
                  <a:rPr lang="en-US" sz="2000" dirty="0" smtClean="0">
                    <a:latin typeface="Verdana"/>
                    <a:ea typeface="Times New Roman"/>
                    <a:cs typeface="Times New Roman"/>
                  </a:rPr>
                  <a:t>the </a:t>
                </a:r>
                <a:r>
                  <a:rPr lang="en-US" sz="2000" dirty="0">
                    <a:latin typeface="Verdana"/>
                    <a:ea typeface="Times New Roman"/>
                    <a:cs typeface="Times New Roman"/>
                  </a:rPr>
                  <a:t>brace?</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2" name="TextBox 11">
                <a:extLst>
                  <a:ext uri="{FF2B5EF4-FFF2-40B4-BE49-F238E27FC236}">
                    <a16:creationId xmlns:a16="http://schemas.microsoft.com/office/drawing/2014/main" xmlns:a14="http://schemas.microsoft.com/office/drawing/2010/main" xmlns="" id="{759C3E41-93EC-B84D-963F-86A3B15AC1C6}"/>
                  </a:ext>
                </a:extLst>
              </p:cNvPr>
              <p:cNvSpPr txBox="1">
                <a:spLocks noRot="1" noChangeAspect="1" noMove="1" noResize="1" noEditPoints="1" noAdjustHandles="1" noChangeArrowheads="1" noChangeShapeType="1" noTextEdit="1"/>
              </p:cNvSpPr>
              <p:nvPr/>
            </p:nvSpPr>
            <p:spPr>
              <a:xfrm>
                <a:off x="535921" y="1457602"/>
                <a:ext cx="9763359" cy="2554545"/>
              </a:xfrm>
              <a:prstGeom prst="rect">
                <a:avLst/>
              </a:prstGeom>
              <a:blipFill rotWithShape="1">
                <a:blip r:embed="rId4"/>
                <a:stretch>
                  <a:fillRect l="-687" t="-1193" b="-3341"/>
                </a:stretch>
              </a:blipFill>
            </p:spPr>
            <p:txBody>
              <a:bodyPr/>
              <a:lstStyle/>
              <a:p>
                <a:r>
                  <a:rPr lang="en-PH">
                    <a:noFill/>
                  </a:rPr>
                  <a:t> </a:t>
                </a:r>
              </a:p>
            </p:txBody>
          </p:sp>
        </mc:Fallback>
      </mc:AlternateContent>
      <p:pic>
        <p:nvPicPr>
          <p:cNvPr id="8" name="Picture 7" descr="Graphical user interface&#10;&#10;Description automatically generated"/>
          <p:cNvPicPr/>
          <p:nvPr/>
        </p:nvPicPr>
        <p:blipFill>
          <a:blip r:embed="rId5" cstate="screen">
            <a:extLst>
              <a:ext uri="{28A0092B-C50C-407E-A947-70E740481C1C}">
                <a14:useLocalDpi xmlns:a14="http://schemas.microsoft.com/office/drawing/2010/main"/>
              </a:ext>
            </a:extLst>
          </a:blip>
          <a:srcRect/>
          <a:stretch>
            <a:fillRect/>
          </a:stretch>
        </p:blipFill>
        <p:spPr bwMode="auto">
          <a:xfrm>
            <a:off x="7196709" y="2168484"/>
            <a:ext cx="3190875" cy="3119120"/>
          </a:xfrm>
          <a:prstGeom prst="rect">
            <a:avLst/>
          </a:prstGeom>
          <a:noFill/>
          <a:ln>
            <a:noFill/>
          </a:ln>
        </p:spPr>
      </p:pic>
      <p:pic>
        <p:nvPicPr>
          <p:cNvPr id="11" name="Google Shape;311;g104476d1465_1_39"/>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82881" y="6152140"/>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282;g104476d1465_1_17"/>
          <p:cNvSpPr txBox="1"/>
          <p:nvPr/>
        </p:nvSpPr>
        <p:spPr>
          <a:xfrm>
            <a:off x="8910505" y="64807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smtClean="0">
                <a:latin typeface="Calibri"/>
                <a:ea typeface="Calibri"/>
                <a:cs typeface="Calibri"/>
                <a:sym typeface="Calibri"/>
              </a:rPr>
              <a:t>213</a:t>
            </a:r>
            <a:endParaRPr i="1" dirty="0">
              <a:latin typeface="Calibri"/>
              <a:ea typeface="Calibri"/>
              <a:cs typeface="Calibri"/>
              <a:sym typeface="Calibri"/>
            </a:endParaRPr>
          </a:p>
        </p:txBody>
      </p:sp>
    </p:spTree>
    <p:extLst>
      <p:ext uri="{BB962C8B-B14F-4D97-AF65-F5344CB8AC3E}">
        <p14:creationId xmlns:p14="http://schemas.microsoft.com/office/powerpoint/2010/main" val="31012998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0754" y="383273"/>
                <a:ext cx="10844635" cy="2554545"/>
              </a:xfrm>
              <a:prstGeom prst="rect">
                <a:avLst/>
              </a:prstGeom>
              <a:noFill/>
            </p:spPr>
            <p:txBody>
              <a:bodyPr wrap="square" rtlCol="0">
                <a:spAutoFit/>
              </a:bodyPr>
              <a:lstStyle/>
              <a:p>
                <a:pPr marL="457200" indent="-457200">
                  <a:buFont typeface="+mj-lt"/>
                  <a:buAutoNum type="arabicPeriod" startAt="2"/>
                </a:pPr>
                <a:r>
                  <a:rPr lang="en-US" sz="2000" dirty="0">
                    <a:latin typeface="Verdana"/>
                    <a:ea typeface="Times New Roman"/>
                    <a:cs typeface="Times New Roman"/>
                  </a:rPr>
                  <a:t>Lovelace Park in Jacksonville is a rectangular-shaped park, measuring approximately </a:t>
                </a:r>
                <a14:m>
                  <m:oMath xmlns:m="http://schemas.openxmlformats.org/officeDocument/2006/math">
                    <m:r>
                      <a:rPr lang="en-US" sz="2000" i="1">
                        <a:latin typeface="Cambria Math"/>
                        <a:ea typeface="Times New Roman"/>
                        <a:cs typeface="Times New Roman"/>
                      </a:rPr>
                      <m:t>410</m:t>
                    </m:r>
                  </m:oMath>
                </a14:m>
                <a:r>
                  <a:rPr lang="en-US" sz="2000" dirty="0">
                    <a:latin typeface="Verdana"/>
                    <a:ea typeface="Times New Roman"/>
                    <a:cs typeface="Times New Roman"/>
                  </a:rPr>
                  <a:t> meters (m) by </a:t>
                </a:r>
                <a14:m>
                  <m:oMath xmlns:m="http://schemas.openxmlformats.org/officeDocument/2006/math">
                    <m:r>
                      <a:rPr lang="en-US" sz="2000" i="1">
                        <a:latin typeface="Cambria Math"/>
                        <a:ea typeface="Times New Roman"/>
                        <a:cs typeface="Times New Roman"/>
                      </a:rPr>
                      <m:t>360</m:t>
                    </m:r>
                  </m:oMath>
                </a14:m>
                <a:r>
                  <a:rPr lang="en-US" sz="2000" dirty="0">
                    <a:latin typeface="Verdana"/>
                    <a:ea typeface="Times New Roman"/>
                    <a:cs typeface="Times New Roman"/>
                  </a:rPr>
                  <a:t> m. </a:t>
                </a:r>
                <a:r>
                  <a:rPr lang="en-US" sz="2000" dirty="0" err="1">
                    <a:latin typeface="Verdana"/>
                    <a:ea typeface="Times New Roman"/>
                    <a:cs typeface="Times New Roman"/>
                  </a:rPr>
                  <a:t>Joseirie</a:t>
                </a:r>
                <a:r>
                  <a:rPr lang="en-US" sz="2000" dirty="0">
                    <a:latin typeface="Verdana"/>
                    <a:ea typeface="Times New Roman"/>
                    <a:cs typeface="Times New Roman"/>
                  </a:rPr>
                  <a:t> wants to get from one corner of the park to the opposite corner. She wonders about the difference between cutting across the diagonal through the park compared to going around the park, along the streets.</a:t>
                </a:r>
              </a:p>
              <a:p>
                <a:pPr marL="457200" indent="-457200">
                  <a:buFont typeface="+mj-lt"/>
                  <a:buAutoNum type="arabicPeriod" startAt="2"/>
                </a:pPr>
                <a:endParaRPr lang="en-PH" sz="2000" dirty="0">
                  <a:latin typeface="Verdana"/>
                  <a:ea typeface="Verdana" panose="020B0604030504040204" pitchFamily="34" charset="0"/>
                  <a:cs typeface="Times New Roman"/>
                </a:endParaRPr>
              </a:p>
              <a:p>
                <a:pPr marL="457200"/>
                <a:r>
                  <a:rPr lang="en-US" sz="2000" dirty="0">
                    <a:latin typeface="Verdana"/>
                    <a:ea typeface="Times New Roman"/>
                    <a:cs typeface="Times New Roman"/>
                  </a:rPr>
                  <a:t>How much shorter would her walk be cutting through the park? Round your answer to the nearest tenth.</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0754" y="383273"/>
                <a:ext cx="10844635" cy="2554545"/>
              </a:xfrm>
              <a:prstGeom prst="rect">
                <a:avLst/>
              </a:prstGeom>
              <a:blipFill rotWithShape="1">
                <a:blip r:embed="rId3"/>
                <a:stretch>
                  <a:fillRect l="-562" t="-1432" r="-393" b="-3341"/>
                </a:stretch>
              </a:blipFill>
            </p:spPr>
            <p:txBody>
              <a:bodyPr/>
              <a:lstStyle/>
              <a:p>
                <a:r>
                  <a:rPr lang="en-PH">
                    <a:noFill/>
                  </a:rPr>
                  <a:t> </a:t>
                </a:r>
              </a:p>
            </p:txBody>
          </p:sp>
        </mc:Fallback>
      </mc:AlternateContent>
      <p:pic>
        <p:nvPicPr>
          <p:cNvPr id="7"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881" y="615214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910505" y="64807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smtClean="0">
                <a:latin typeface="Calibri"/>
                <a:ea typeface="Calibri"/>
                <a:cs typeface="Calibri"/>
                <a:sym typeface="Calibri"/>
              </a:rPr>
              <a:t>213</a:t>
            </a:r>
            <a:endParaRPr i="1" dirty="0">
              <a:latin typeface="Calibri"/>
              <a:ea typeface="Calibri"/>
              <a:cs typeface="Calibri"/>
              <a:sym typeface="Calibri"/>
            </a:endParaRPr>
          </a:p>
        </p:txBody>
      </p:sp>
    </p:spTree>
    <p:extLst>
      <p:ext uri="{BB962C8B-B14F-4D97-AF65-F5344CB8AC3E}">
        <p14:creationId xmlns:p14="http://schemas.microsoft.com/office/powerpoint/2010/main" val="29452776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6370" y="377518"/>
                <a:ext cx="10821240" cy="2246769"/>
              </a:xfrm>
              <a:prstGeom prst="rect">
                <a:avLst/>
              </a:prstGeom>
              <a:noFill/>
            </p:spPr>
            <p:txBody>
              <a:bodyPr wrap="square" rtlCol="0">
                <a:spAutoFit/>
              </a:bodyPr>
              <a:lstStyle/>
              <a:p>
                <a:pPr marL="457200" indent="-457200">
                  <a:buFont typeface="+mj-lt"/>
                  <a:buAutoNum type="arabicPeriod" startAt="3"/>
                </a:pPr>
                <a:r>
                  <a:rPr lang="en-US" sz="2000" dirty="0">
                    <a:latin typeface="Verdana"/>
                    <a:ea typeface="Times New Roman"/>
                    <a:cs typeface="Times New Roman"/>
                  </a:rPr>
                  <a:t>At a restaurant, a trash can’s opening is rectangular and measures </a:t>
                </a:r>
                <a14:m>
                  <m:oMath xmlns:m="http://schemas.openxmlformats.org/officeDocument/2006/math">
                    <m:r>
                      <a:rPr lang="en-US" sz="2000" i="1">
                        <a:latin typeface="Cambria Math"/>
                        <a:ea typeface="Times New Roman"/>
                        <a:cs typeface="Times New Roman"/>
                      </a:rPr>
                      <m:t>7</m:t>
                    </m:r>
                  </m:oMath>
                </a14:m>
                <a:r>
                  <a:rPr lang="en-US" sz="2000" dirty="0">
                    <a:latin typeface="Verdana"/>
                    <a:ea typeface="Times New Roman"/>
                    <a:cs typeface="Times New Roman"/>
                  </a:rPr>
                  <a:t> inches (in.) by </a:t>
                </a:r>
                <a14:m>
                  <m:oMath xmlns:m="http://schemas.openxmlformats.org/officeDocument/2006/math">
                    <m:r>
                      <a:rPr lang="en-US" sz="2000" i="1">
                        <a:latin typeface="Cambria Math"/>
                        <a:ea typeface="Times New Roman"/>
                        <a:cs typeface="Times New Roman"/>
                      </a:rPr>
                      <m:t>9</m:t>
                    </m:r>
                  </m:oMath>
                </a14:m>
                <a:r>
                  <a:rPr lang="en-US" sz="2000" dirty="0">
                    <a:latin typeface="Verdana"/>
                    <a:ea typeface="Times New Roman"/>
                    <a:cs typeface="Times New Roman"/>
                  </a:rPr>
                  <a:t> in. The restaurant serves food on trays that measure </a:t>
                </a:r>
                <a14:m>
                  <m:oMath xmlns:m="http://schemas.openxmlformats.org/officeDocument/2006/math">
                    <m:r>
                      <a:rPr lang="en-US" sz="2000" i="1">
                        <a:latin typeface="Cambria Math"/>
                        <a:ea typeface="Times New Roman"/>
                        <a:cs typeface="Times New Roman"/>
                      </a:rPr>
                      <m:t>12</m:t>
                    </m:r>
                  </m:oMath>
                </a14:m>
                <a:r>
                  <a:rPr lang="en-US" sz="2000" dirty="0">
                    <a:latin typeface="Verdana"/>
                    <a:ea typeface="Times New Roman"/>
                    <a:cs typeface="Times New Roman"/>
                  </a:rPr>
                  <a:t> in. by </a:t>
                </a:r>
                <a14:m>
                  <m:oMath xmlns:m="http://schemas.openxmlformats.org/officeDocument/2006/math">
                    <m:r>
                      <a:rPr lang="en-US" sz="2000" i="1">
                        <a:latin typeface="Cambria Math"/>
                        <a:ea typeface="Times New Roman"/>
                        <a:cs typeface="Times New Roman"/>
                      </a:rPr>
                      <m:t>16</m:t>
                    </m:r>
                  </m:oMath>
                </a14:m>
                <a:r>
                  <a:rPr lang="en-US" sz="2000" dirty="0">
                    <a:latin typeface="Verdana"/>
                    <a:ea typeface="Times New Roman"/>
                    <a:cs typeface="Times New Roman"/>
                  </a:rPr>
                  <a:t> in. Jada says it is impossible for the tray to accidentally fall through the trash can opening because the shortest side of the tray is longer than either edge of the opening.</a:t>
                </a:r>
              </a:p>
              <a:p>
                <a:pPr marL="457200" indent="-457200">
                  <a:buFont typeface="+mj-lt"/>
                  <a:buAutoNum type="arabicPeriod" startAt="3"/>
                </a:pPr>
                <a:endParaRPr lang="en-PH" sz="2000" dirty="0">
                  <a:latin typeface="Verdana"/>
                  <a:ea typeface="Verdana" panose="020B0604030504040204" pitchFamily="34" charset="0"/>
                  <a:cs typeface="Times New Roman"/>
                </a:endParaRPr>
              </a:p>
              <a:p>
                <a:pPr marL="457200"/>
                <a:r>
                  <a:rPr lang="en-US" sz="2000" dirty="0">
                    <a:latin typeface="Verdana"/>
                    <a:ea typeface="Times New Roman"/>
                    <a:cs typeface="Times New Roman"/>
                  </a:rPr>
                  <a:t>Do you agree or disagree with Jada’s explanation? </a:t>
                </a:r>
                <a:r>
                  <a:rPr lang="en-US" sz="2000" dirty="0" smtClean="0">
                    <a:latin typeface="Verdana"/>
                    <a:ea typeface="Times New Roman"/>
                    <a:cs typeface="Times New Roman"/>
                  </a:rPr>
                  <a:t>Justify </a:t>
                </a:r>
                <a:r>
                  <a:rPr lang="en-US" sz="2000" dirty="0">
                    <a:latin typeface="Verdana"/>
                    <a:ea typeface="Times New Roman"/>
                    <a:cs typeface="Times New Roman"/>
                  </a:rPr>
                  <a:t>mathematically.</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6370" y="377518"/>
                <a:ext cx="10821240" cy="2246769"/>
              </a:xfrm>
              <a:prstGeom prst="rect">
                <a:avLst/>
              </a:prstGeom>
              <a:blipFill rotWithShape="1">
                <a:blip r:embed="rId3"/>
                <a:stretch>
                  <a:fillRect l="-620" t="-1630" r="-113" b="-4076"/>
                </a:stretch>
              </a:blipFill>
            </p:spPr>
            <p:txBody>
              <a:bodyPr/>
              <a:lstStyle/>
              <a:p>
                <a:r>
                  <a:rPr lang="en-PH">
                    <a:noFill/>
                  </a:rPr>
                  <a:t> </a:t>
                </a:r>
              </a:p>
            </p:txBody>
          </p:sp>
        </mc:Fallback>
      </mc:AlternateContent>
      <p:pic>
        <p:nvPicPr>
          <p:cNvPr id="7"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881" y="615214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910505" y="64807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214</a:t>
            </a:r>
            <a:endParaRPr i="1" dirty="0">
              <a:latin typeface="Calibri"/>
              <a:ea typeface="Calibri"/>
              <a:cs typeface="Calibri"/>
              <a:sym typeface="Calibri"/>
            </a:endParaRPr>
          </a:p>
        </p:txBody>
      </p:sp>
    </p:spTree>
    <p:extLst>
      <p:ext uri="{BB962C8B-B14F-4D97-AF65-F5344CB8AC3E}">
        <p14:creationId xmlns:p14="http://schemas.microsoft.com/office/powerpoint/2010/main" val="27340526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pic>
        <p:nvPicPr>
          <p:cNvPr id="9"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881" y="615214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p:cNvSpPr txBox="1"/>
          <p:nvPr/>
        </p:nvSpPr>
        <p:spPr>
          <a:xfrm>
            <a:off x="8910505" y="64807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smtClean="0">
                <a:latin typeface="Calibri"/>
                <a:ea typeface="Calibri"/>
                <a:cs typeface="Calibri"/>
                <a:sym typeface="Calibri"/>
              </a:rPr>
              <a:t>214</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261654" y="9250"/>
            <a:ext cx="947947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5.7.7 Wrap-Up: Ticket Out the Door</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3">
            <a:alphaModFix/>
          </a:blip>
          <a:srcRect/>
          <a:stretch/>
        </p:blipFill>
        <p:spPr>
          <a:xfrm>
            <a:off x="448855" y="29845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xmlns="" id="{0370EDB7-6994-3D43-ABF9-E04CBAFB9CD9}"/>
                  </a:ext>
                </a:extLst>
              </p:cNvPr>
              <p:cNvSpPr txBox="1"/>
              <p:nvPr/>
            </p:nvSpPr>
            <p:spPr>
              <a:xfrm>
                <a:off x="535881" y="1470446"/>
                <a:ext cx="10800000" cy="1631216"/>
              </a:xfrm>
              <a:prstGeom prst="rect">
                <a:avLst/>
              </a:prstGeom>
              <a:noFill/>
            </p:spPr>
            <p:txBody>
              <a:bodyPr wrap="square" rtlCol="0">
                <a:spAutoFit/>
              </a:bodyPr>
              <a:lstStyle/>
              <a:p>
                <a:pPr marL="457200" indent="-457200">
                  <a:buFont typeface="+mj-lt"/>
                  <a:buAutoNum type="arabicPeriod"/>
                </a:pPr>
                <a:r>
                  <a:rPr lang="en-US" sz="2000" dirty="0">
                    <a:latin typeface="Verdana"/>
                    <a:ea typeface="Times New Roman"/>
                    <a:cs typeface="Times New Roman"/>
                  </a:rPr>
                  <a:t>Jonathan places a </a:t>
                </a:r>
                <a14:m>
                  <m:oMath xmlns:m="http://schemas.openxmlformats.org/officeDocument/2006/math">
                    <m:r>
                      <a:rPr lang="en-US" sz="2000" i="1">
                        <a:latin typeface="Cambria Math"/>
                        <a:ea typeface="Times New Roman"/>
                        <a:cs typeface="Times New Roman"/>
                      </a:rPr>
                      <m:t>14</m:t>
                    </m:r>
                  </m:oMath>
                </a14:m>
                <a:r>
                  <a:rPr lang="en-US" sz="2000" dirty="0">
                    <a:latin typeface="Verdana"/>
                    <a:ea typeface="Times New Roman"/>
                    <a:cs typeface="Times New Roman"/>
                  </a:rPr>
                  <a:t>-foot ladder against the side of the school. The top of the ladder is </a:t>
                </a:r>
                <a14:m>
                  <m:oMath xmlns:m="http://schemas.openxmlformats.org/officeDocument/2006/math">
                    <m:r>
                      <a:rPr lang="en-US" sz="2000" i="1">
                        <a:latin typeface="Cambria Math"/>
                        <a:ea typeface="Times New Roman"/>
                        <a:cs typeface="Times New Roman"/>
                      </a:rPr>
                      <m:t>11</m:t>
                    </m:r>
                  </m:oMath>
                </a14:m>
                <a:r>
                  <a:rPr lang="en-US" sz="2000" dirty="0">
                    <a:latin typeface="Verdana"/>
                    <a:ea typeface="Times New Roman"/>
                    <a:cs typeface="Times New Roman"/>
                  </a:rPr>
                  <a:t> feet above the ground.</a:t>
                </a:r>
                <a:br>
                  <a:rPr lang="en-US" sz="2000" dirty="0">
                    <a:latin typeface="Verdana"/>
                    <a:ea typeface="Times New Roman"/>
                    <a:cs typeface="Times New Roman"/>
                  </a:rPr>
                </a:b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How far from the building is the base of the ladder? </a:t>
                </a:r>
                <a:r>
                  <a:rPr lang="en-US" sz="2000" dirty="0" smtClean="0">
                    <a:latin typeface="Verdana"/>
                    <a:ea typeface="Times New Roman"/>
                    <a:cs typeface="Times New Roman"/>
                  </a:rPr>
                  <a:t>Round </a:t>
                </a:r>
                <a:r>
                  <a:rPr lang="en-US" sz="2000" dirty="0">
                    <a:latin typeface="Verdana"/>
                    <a:ea typeface="Times New Roman"/>
                    <a:cs typeface="Times New Roman"/>
                  </a:rPr>
                  <a:t>your answer to the nearest tenth.</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2" name="TextBox 11">
                <a:extLst>
                  <a:ext uri="{FF2B5EF4-FFF2-40B4-BE49-F238E27FC236}">
                    <a16:creationId xmlns:a16="http://schemas.microsoft.com/office/drawing/2014/main" xmlns:a14="http://schemas.microsoft.com/office/drawing/2010/main" xmlns="" id="{0370EDB7-6994-3D43-ABF9-E04CBAFB9CD9}"/>
                  </a:ext>
                </a:extLst>
              </p:cNvPr>
              <p:cNvSpPr txBox="1">
                <a:spLocks noRot="1" noChangeAspect="1" noMove="1" noResize="1" noEditPoints="1" noAdjustHandles="1" noChangeArrowheads="1" noChangeShapeType="1" noTextEdit="1"/>
              </p:cNvSpPr>
              <p:nvPr/>
            </p:nvSpPr>
            <p:spPr>
              <a:xfrm>
                <a:off x="535881" y="1470446"/>
                <a:ext cx="10800000" cy="1631216"/>
              </a:xfrm>
              <a:prstGeom prst="rect">
                <a:avLst/>
              </a:prstGeom>
              <a:blipFill rotWithShape="1">
                <a:blip r:embed="rId4"/>
                <a:stretch>
                  <a:fillRect l="-621" t="-2239" b="-5597"/>
                </a:stretch>
              </a:blipFill>
            </p:spPr>
            <p:txBody>
              <a:bodyPr/>
              <a:lstStyle/>
              <a:p>
                <a:r>
                  <a:rPr lang="en-PH">
                    <a:noFill/>
                  </a:rPr>
                  <a:t> </a:t>
                </a:r>
              </a:p>
            </p:txBody>
          </p:sp>
        </mc:Fallback>
      </mc:AlternateContent>
      <p:pic>
        <p:nvPicPr>
          <p:cNvPr id="10" name="Google Shape;311;g104476d1465_1_39"/>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2881" y="6152140"/>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p:cNvSpPr txBox="1"/>
          <p:nvPr/>
        </p:nvSpPr>
        <p:spPr>
          <a:xfrm>
            <a:off x="8910505" y="648077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smtClean="0">
                <a:latin typeface="Calibri"/>
                <a:ea typeface="Calibri"/>
                <a:cs typeface="Calibri"/>
                <a:sym typeface="Calibri"/>
              </a:rPr>
              <a:t>214</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1398</TotalTime>
  <Words>1050</Words>
  <Application>Microsoft Office PowerPoint</Application>
  <PresentationFormat>Custom</PresentationFormat>
  <Paragraphs>202</Paragraphs>
  <Slides>26</Slides>
  <Notes>26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Arial</vt:lpstr>
      <vt:lpstr>Century Gothic</vt:lpstr>
      <vt:lpstr>Wingdings</vt:lpstr>
      <vt:lpstr>Cambria Math</vt:lpstr>
      <vt:lpstr>Cambria</vt:lpstr>
      <vt:lpstr>Arial Black</vt:lpstr>
      <vt:lpstr>Verdana</vt:lpstr>
      <vt:lpstr>Calibri</vt:lpstr>
      <vt:lpstr>Times New Roman</vt:lpstr>
      <vt:lpstr>1_Office Theme</vt:lpstr>
      <vt:lpstr>8th Grade Math: Pre-Algebra  Unit 5, Lesson 7  Using the Pythagorean Theorem to Solve  Real-World Problems  Volume 1, pg. 208  </vt:lpstr>
      <vt:lpstr>Benchmark</vt:lpstr>
      <vt:lpstr>PowerPoint Presentation</vt:lpstr>
      <vt:lpstr>PowerPoint Presentation</vt:lpstr>
      <vt:lpstr>Warm-Up</vt:lpstr>
      <vt:lpstr>PowerPoint Presentation</vt:lpstr>
      <vt:lpstr>Collaboration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Guided Practice</vt:lpstr>
      <vt:lpstr>PowerPoint Presentation</vt:lpstr>
      <vt:lpstr>PowerPoint Presentation</vt:lpstr>
      <vt:lpstr>Collaboration</vt:lpstr>
      <vt:lpstr>PowerPoint Presentation</vt:lpstr>
      <vt:lpstr>PowerPoint Presentation</vt:lpstr>
      <vt:lpstr>Your Turn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44</cp:revision>
  <dcterms:created xsi:type="dcterms:W3CDTF">2015-03-17T18:51:18Z</dcterms:created>
  <dcterms:modified xsi:type="dcterms:W3CDTF">2022-06-16T06:45:29Z</dcterms:modified>
</cp:coreProperties>
</file>