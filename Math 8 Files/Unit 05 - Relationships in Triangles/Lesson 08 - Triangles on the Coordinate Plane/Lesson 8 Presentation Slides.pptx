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85" r:id="rId4"/>
    <p:sldId id="286" r:id="rId5"/>
    <p:sldId id="261" r:id="rId6"/>
    <p:sldId id="287" r:id="rId7"/>
    <p:sldId id="289" r:id="rId8"/>
    <p:sldId id="290" r:id="rId9"/>
    <p:sldId id="365" r:id="rId10"/>
    <p:sldId id="377" r:id="rId11"/>
    <p:sldId id="320" r:id="rId12"/>
    <p:sldId id="321" r:id="rId13"/>
    <p:sldId id="371" r:id="rId14"/>
    <p:sldId id="372" r:id="rId15"/>
    <p:sldId id="373" r:id="rId16"/>
    <p:sldId id="378" r:id="rId17"/>
    <p:sldId id="374" r:id="rId18"/>
    <p:sldId id="375" r:id="rId19"/>
    <p:sldId id="323" r:id="rId20"/>
    <p:sldId id="324" r:id="rId21"/>
    <p:sldId id="366" r:id="rId22"/>
    <p:sldId id="379" r:id="rId23"/>
    <p:sldId id="302" r:id="rId24"/>
    <p:sldId id="303" r:id="rId25"/>
    <p:sldId id="369" r:id="rId26"/>
    <p:sldId id="306" r:id="rId27"/>
    <p:sldId id="307" r:id="rId28"/>
    <p:sldId id="370" r:id="rId29"/>
  </p:sldIdLst>
  <p:sldSz cx="12192000" cy="6858000"/>
  <p:notesSz cx="6858000" cy="9144000"/>
  <p:embeddedFontLst>
    <p:embeddedFont>
      <p:font typeface="Arial Black" panose="020B0604020202020204" pitchFamily="34" charset="0"/>
      <p:bold r:id="rId31"/>
    </p:embeddedFon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Cambria" panose="02040503050406030204" pitchFamily="18" charset="0"/>
      <p:regular r:id="rId36"/>
      <p:bold r:id="rId37"/>
      <p:italic r:id="rId38"/>
      <p:boldItalic r:id="rId39"/>
    </p:embeddedFont>
    <p:embeddedFont>
      <p:font typeface="Cambria Math" panose="02040503050406030204" pitchFamily="18" charset="0"/>
      <p:regular r:id="rId40"/>
    </p:embeddedFont>
    <p:embeddedFont>
      <p:font typeface="Century Gothic" panose="020B0502020202020204" pitchFamily="34" charset="0"/>
      <p:regular r:id="rId41"/>
      <p:bold r:id="rId42"/>
      <p:italic r:id="rId43"/>
      <p:boldItalic r:id="rId44"/>
    </p:embeddedFont>
    <p:embeddedFont>
      <p:font typeface="Verdana" panose="020B0604030504040204" pitchFamily="34" charset="0"/>
      <p:regular r:id="rId45"/>
      <p:bold r:id="rId46"/>
      <p:italic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9C058"/>
    <a:srgbClr val="3465B0"/>
    <a:srgbClr val="DA4487"/>
    <a:srgbClr val="276C46"/>
    <a:srgbClr val="C9DF6F"/>
    <a:srgbClr val="417DBF"/>
    <a:srgbClr val="3F2A67"/>
    <a:srgbClr val="E24E5F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6249" autoAdjust="0"/>
    <p:restoredTop sz="94694"/>
  </p:normalViewPr>
  <p:slideViewPr>
    <p:cSldViewPr snapToGrid="0">
      <p:cViewPr varScale="1">
        <p:scale>
          <a:sx n="128" d="100"/>
          <a:sy n="128" d="100"/>
        </p:scale>
        <p:origin x="1472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3811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font" Target="fonts/font17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font" Target="fonts/font15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48" Type="http://schemas.openxmlformats.org/officeDocument/2006/relationships/font" Target="fonts/font18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font" Target="fonts/font16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5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9800144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870252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870252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65849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07359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870252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870252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65849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07359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882847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882847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31289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59685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5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5" Type="http://schemas.openxmlformats.org/officeDocument/2006/relationships/image" Target="../media/image230.png"/><Relationship Id="rId9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5" Type="http://schemas.openxmlformats.org/officeDocument/2006/relationships/image" Target="../media/image10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9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9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9.png"/><Relationship Id="rId5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Picture 6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61;g104476d1465_0_0"/>
          <p:cNvSpPr txBox="1">
            <a:spLocks/>
          </p:cNvSpPr>
          <p:nvPr/>
        </p:nvSpPr>
        <p:spPr>
          <a:xfrm>
            <a:off x="5742834" y="2054277"/>
            <a:ext cx="4925167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sz="40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Math: Pre-Algebra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40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>
              <a:lnSpc>
                <a:spcPct val="100000"/>
              </a:lnSpc>
              <a:buClr>
                <a:srgbClr val="000000"/>
              </a:buClr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5, Lesson 8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Triangles </a:t>
            </a:r>
            <a:r>
              <a:rPr lang="en-US" sz="40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on </a:t>
            </a:r>
            <a:br>
              <a:rPr lang="en-US" sz="40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Coordinate Plane</a:t>
            </a:r>
            <a:br>
              <a:rPr lang="en-US" sz="4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4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215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40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79;g104476d1465_1_17"/>
          <p:cNvSpPr txBox="1">
            <a:spLocks/>
          </p:cNvSpPr>
          <p:nvPr/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400"/>
            </a:pPr>
            <a:r>
              <a:rPr lang="en-US" sz="47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lang="en-US"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6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MA.8.GR.1.2</a:t>
            </a:r>
          </a:p>
          <a:p>
            <a:pPr indent="0">
              <a:buNone/>
            </a:pPr>
            <a:r>
              <a:rPr lang="en-US" sz="36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Apply the Pythagorean Theorem to solve mathematical and real-world problems involving the distance between two points in a coordinate plane.</a:t>
            </a:r>
            <a:endParaRPr lang="en-US" sz="2400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3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4216" y="1596390"/>
            <a:ext cx="998050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15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4217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5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213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indent="-679450">
              <a:buClr>
                <a:srgbClr val="434343"/>
              </a:buClr>
              <a:buSzPts val="3500"/>
              <a:buFont typeface="Wingdings" pitchFamily="2" charset="2"/>
              <a:buChar char="q"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determine the horizontal and vertical lengths of a triangle on a coordinate plane.</a:t>
            </a:r>
          </a:p>
          <a:p>
            <a:pPr marL="685800" indent="-679450">
              <a:buClr>
                <a:srgbClr val="434343"/>
              </a:buClr>
              <a:buSzPts val="3500"/>
              <a:buFont typeface="Wingdings" pitchFamily="2" charset="2"/>
              <a:buChar char="q"/>
            </a:pPr>
            <a:endParaRPr lang="en-US" sz="35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685800" indent="-679450">
              <a:buClr>
                <a:srgbClr val="434343"/>
              </a:buClr>
              <a:buSzPts val="3500"/>
              <a:buFont typeface="Wingdings" pitchFamily="2" charset="2"/>
              <a:buChar char="q"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determine the hypotenuse length of a triangle on the coordinate plane.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5828949"/>
              </p:ext>
            </p:extLst>
          </p:nvPr>
        </p:nvGraphicFramePr>
        <p:xfrm>
          <a:off x="1195310" y="3168650"/>
          <a:ext cx="7258050" cy="3279774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3629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9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93258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mbria Math" pitchFamily="18" charset="0"/>
                          <a:ea typeface="Cambria Math" pitchFamily="18" charset="0"/>
                        </a:rPr>
                        <a:t>0</a:t>
                      </a:r>
                      <a:r>
                        <a:rPr lang="en-US" sz="2000" baseline="0" dirty="0">
                          <a:latin typeface="Cambria Math" pitchFamily="18" charset="0"/>
                          <a:ea typeface="Cambria Math" pitchFamily="18" charset="0"/>
                        </a:rPr>
                        <a:t> =</a:t>
                      </a:r>
                      <a:endParaRPr lang="en-US" sz="2000" dirty="0">
                        <a:latin typeface="Cambria Math" pitchFamily="18" charset="0"/>
                        <a:ea typeface="Cambria Math" pitchFamily="18" charset="0"/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Cambria Math" pitchFamily="18" charset="0"/>
                          <a:ea typeface="Cambria Math" pitchFamily="18" charset="0"/>
                        </a:rPr>
                        <a:t>3</a:t>
                      </a:r>
                      <a:r>
                        <a:rPr lang="en-US" sz="2000" baseline="0" dirty="0">
                          <a:latin typeface="Cambria Math" pitchFamily="18" charset="0"/>
                          <a:ea typeface="Cambria Math" pitchFamily="18" charset="0"/>
                        </a:rPr>
                        <a:t> =</a:t>
                      </a:r>
                      <a:endParaRPr lang="en-US" sz="2000" dirty="0">
                        <a:latin typeface="Cambria Math" pitchFamily="18" charset="0"/>
                        <a:ea typeface="Cambria Math" pitchFamily="18" charset="0"/>
                      </a:endParaRPr>
                    </a:p>
                    <a:p>
                      <a:endParaRPr lang="en-US" sz="2000" dirty="0">
                        <a:latin typeface="Cambria Math" pitchFamily="18" charset="0"/>
                        <a:ea typeface="Cambria Math" pitchFamily="18" charset="0"/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325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Cambria Math" pitchFamily="18" charset="0"/>
                          <a:ea typeface="Cambria Math" pitchFamily="18" charset="0"/>
                        </a:rPr>
                        <a:t>1</a:t>
                      </a:r>
                      <a:r>
                        <a:rPr lang="en-US" sz="2000" baseline="0" dirty="0">
                          <a:latin typeface="Cambria Math" pitchFamily="18" charset="0"/>
                          <a:ea typeface="Cambria Math" pitchFamily="18" charset="0"/>
                        </a:rPr>
                        <a:t> =</a:t>
                      </a:r>
                      <a:endParaRPr lang="en-US" sz="2000" dirty="0">
                        <a:latin typeface="Cambria Math" pitchFamily="18" charset="0"/>
                        <a:ea typeface="Cambria Math" pitchFamily="18" charset="0"/>
                      </a:endParaRPr>
                    </a:p>
                    <a:p>
                      <a:endParaRPr lang="en-US" sz="2000" dirty="0">
                        <a:latin typeface="Cambria Math" pitchFamily="18" charset="0"/>
                        <a:ea typeface="Cambria Math" pitchFamily="18" charset="0"/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Cambria Math" pitchFamily="18" charset="0"/>
                          <a:ea typeface="Cambria Math" pitchFamily="18" charset="0"/>
                        </a:rPr>
                        <a:t>4</a:t>
                      </a:r>
                      <a:r>
                        <a:rPr lang="en-US" sz="2000" baseline="0" dirty="0">
                          <a:latin typeface="Cambria Math" pitchFamily="18" charset="0"/>
                          <a:ea typeface="Cambria Math" pitchFamily="18" charset="0"/>
                        </a:rPr>
                        <a:t> =</a:t>
                      </a:r>
                      <a:endParaRPr lang="en-US" sz="2000" dirty="0">
                        <a:latin typeface="Cambria Math" pitchFamily="18" charset="0"/>
                        <a:ea typeface="Cambria Math" pitchFamily="18" charset="0"/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325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Cambria Math" pitchFamily="18" charset="0"/>
                          <a:ea typeface="Cambria Math" pitchFamily="18" charset="0"/>
                        </a:rPr>
                        <a:t>2</a:t>
                      </a:r>
                      <a:r>
                        <a:rPr lang="en-US" sz="2000" baseline="0" dirty="0">
                          <a:latin typeface="Cambria Math" pitchFamily="18" charset="0"/>
                          <a:ea typeface="Cambria Math" pitchFamily="18" charset="0"/>
                        </a:rPr>
                        <a:t> =</a:t>
                      </a:r>
                      <a:endParaRPr lang="en-US" sz="2000" dirty="0">
                        <a:latin typeface="Cambria Math" pitchFamily="18" charset="0"/>
                        <a:ea typeface="Cambria Math" pitchFamily="18" charset="0"/>
                      </a:endParaRPr>
                    </a:p>
                    <a:p>
                      <a:endParaRPr lang="en-US" sz="2000" dirty="0">
                        <a:latin typeface="Cambria Math" pitchFamily="18" charset="0"/>
                        <a:ea typeface="Cambria Math" pitchFamily="18" charset="0"/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Cambria Math" pitchFamily="18" charset="0"/>
                          <a:ea typeface="Cambria Math" pitchFamily="18" charset="0"/>
                        </a:rPr>
                        <a:t>5</a:t>
                      </a:r>
                      <a:r>
                        <a:rPr lang="en-US" sz="2000" baseline="0" dirty="0">
                          <a:latin typeface="Cambria Math" pitchFamily="18" charset="0"/>
                          <a:ea typeface="Cambria Math" pitchFamily="18" charset="0"/>
                        </a:rPr>
                        <a:t> =</a:t>
                      </a:r>
                      <a:endParaRPr lang="en-US" sz="2000" dirty="0">
                        <a:latin typeface="Cambria Math" pitchFamily="18" charset="0"/>
                        <a:ea typeface="Cambria Math" pitchFamily="18" charset="0"/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730265" y="1228396"/>
                <a:ext cx="10800319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Use any combination of operations 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+,−, ×,÷)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to arrange five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5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’s to have an equivalent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0, 1, 2, 3, 4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5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. Multiple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5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’s can be used in one number (e.g.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55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).</a:t>
                </a:r>
                <a:br>
                  <a:rPr lang="en-US" sz="2000" dirty="0">
                    <a:latin typeface="Verdana"/>
                    <a:ea typeface="Times New Roman"/>
                    <a:cs typeface="Times New Roman"/>
                  </a:rPr>
                </a:br>
                <a:br>
                  <a:rPr lang="en-US" sz="2000" dirty="0">
                    <a:latin typeface="Verdana"/>
                    <a:ea typeface="Times New Roman"/>
                    <a:cs typeface="Times New Roman"/>
                  </a:rPr>
                </a:b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Example: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 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  <a:ea typeface="Times New Roman"/>
                            <a:cs typeface="Times New Roman"/>
                          </a:rPr>
                          <m:t>5×5−5×5</m:t>
                        </m:r>
                      </m:e>
                    </m:d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×5=0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5" y="1228396"/>
                <a:ext cx="10800319" cy="1631216"/>
              </a:xfrm>
              <a:prstGeom prst="rect">
                <a:avLst/>
              </a:prstGeom>
              <a:blipFill rotWithShape="1">
                <a:blip r:embed="rId4"/>
                <a:stretch>
                  <a:fillRect l="-621" t="-2247" b="-5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275689"/>
            <a:ext cx="108340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5.8.1 Warm-Up: Critical Thinking</a:t>
            </a:r>
          </a:p>
        </p:txBody>
      </p:sp>
      <p:pic>
        <p:nvPicPr>
          <p:cNvPr id="15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53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751114" y="1386025"/>
                <a:ext cx="9655070" cy="38882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The Triangle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𝐸𝑀𝑌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is shown </a:t>
                </a:r>
                <a:br>
                  <a:rPr lang="en-US" sz="2000" dirty="0">
                    <a:latin typeface="Verdana"/>
                    <a:ea typeface="Times New Roman"/>
                    <a:cs typeface="Times New Roman"/>
                  </a:rPr>
                </a:b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on the coordinate plane.</a:t>
                </a:r>
              </a:p>
              <a:p>
                <a:endParaRPr lang="en-US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Times New Roman"/>
                  </a:rPr>
                  <a:t>List the ordered pairs </a:t>
                </a:r>
                <a:br>
                  <a:rPr lang="en-US" sz="2000" dirty="0">
                    <a:latin typeface="Verdana"/>
                    <a:ea typeface="Times New Roman"/>
                  </a:rPr>
                </a:br>
                <a:r>
                  <a:rPr lang="en-US" sz="2000" dirty="0">
                    <a:latin typeface="Verdana"/>
                    <a:ea typeface="Times New Roman"/>
                  </a:rPr>
                  <a:t>for each vertex.</a:t>
                </a:r>
              </a:p>
              <a:p>
                <a:pPr marL="914400" indent="-457200">
                  <a:spcBef>
                    <a:spcPts val="2000"/>
                  </a:spcBef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Times New Roman"/>
                  </a:rPr>
                  <a:t>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</a:rPr>
                      <m:t>𝐸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</a:rPr>
                  <a:t> (____, ____)</a:t>
                </a:r>
              </a:p>
              <a:p>
                <a:pPr marL="914400" indent="-457200">
                  <a:spcBef>
                    <a:spcPts val="2000"/>
                  </a:spcBef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Times New Roman"/>
                  </a:rPr>
                  <a:t>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</a:rPr>
                      <m:t>𝑀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</a:rPr>
                  <a:t> (____, ____)</a:t>
                </a:r>
              </a:p>
              <a:p>
                <a:pPr marL="914400" indent="-457200">
                  <a:spcBef>
                    <a:spcPts val="2000"/>
                  </a:spcBef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Times New Roman"/>
                  </a:rPr>
                  <a:t>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</a:rPr>
                      <m:t>𝑌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</a:rPr>
                  <a:t> (____, ____)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spcBef>
                    <a:spcPts val="2000"/>
                  </a:spcBef>
                  <a:buFont typeface="+mj-lt"/>
                  <a:buAutoNum type="arabicPeriod" startAt="2"/>
                </a:pPr>
                <a:r>
                  <a:rPr lang="en-US" sz="2000" dirty="0">
                    <a:latin typeface="Verdana"/>
                    <a:ea typeface="Times New Roman"/>
                  </a:rPr>
                  <a:t>What is the length of the horizontal leg of Triangle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</a:rPr>
                      <m:t>𝐸𝑀𝑌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</a:rPr>
                  <a:t>?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114" y="1386025"/>
                <a:ext cx="9655070" cy="3888244"/>
              </a:xfrm>
              <a:prstGeom prst="rect">
                <a:avLst/>
              </a:prstGeom>
              <a:blipFill>
                <a:blip r:embed="rId3"/>
                <a:stretch>
                  <a:fillRect l="-657" t="-649" b="-1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Chart, line chart&#10;&#10;Description automatically generated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67426" y="1386026"/>
            <a:ext cx="4338759" cy="3089578"/>
          </a:xfrm>
          <a:prstGeom prst="rect">
            <a:avLst/>
          </a:prstGeom>
        </p:spPr>
      </p:pic>
      <p:sp>
        <p:nvSpPr>
          <p:cNvPr id="11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87527"/>
            <a:ext cx="10441876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5.8.2 Guided Instruction: </a:t>
            </a:r>
            <a:b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Finding the Length</a:t>
            </a:r>
          </a:p>
        </p:txBody>
      </p:sp>
      <p:pic>
        <p:nvPicPr>
          <p:cNvPr id="15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5350" y="20322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/>
                    <a:ea typeface="Times New Roman"/>
                  </a:rPr>
                  <a:t>What do you notice about the horizontal length and the coordinates of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</a:rPr>
                      <m:t>𝑀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</a:rPr>
                  <a:t> and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</a:rPr>
                      <m:t>𝑌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</a:rPr>
                  <a:t>?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/>
                    <a:ea typeface="Times New Roman"/>
                  </a:rPr>
                  <a:t>What is length of the vertical leg of Triangle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</a:rPr>
                      <m:t>𝐸𝑀𝑌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</a:rPr>
                  <a:t>?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/>
                    <a:ea typeface="Times New Roman"/>
                  </a:rPr>
                  <a:t>What do you notice about the vertical length and the coordinates of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</a:rPr>
                      <m:t>𝐸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</a:rPr>
                  <a:t> and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</a:rPr>
                      <m:t>𝑀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</a:rPr>
                  <a:t>?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4154984"/>
              </a:xfrm>
              <a:prstGeom prst="rect">
                <a:avLst/>
              </a:prstGeom>
              <a:blipFill rotWithShape="1">
                <a:blip r:embed="rId4"/>
                <a:stretch>
                  <a:fillRect l="-890" t="-1173" b="-21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0458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C8F82859-BA98-3646-BF3B-9E17E52A2E35}"/>
              </a:ext>
            </a:extLst>
          </p:cNvPr>
          <p:cNvSpPr txBox="1"/>
          <p:nvPr/>
        </p:nvSpPr>
        <p:spPr>
          <a:xfrm>
            <a:off x="511205" y="533066"/>
            <a:ext cx="1095320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6"/>
            </a:pPr>
            <a:r>
              <a:rPr lang="en-US" sz="2400" dirty="0">
                <a:latin typeface="Verdana"/>
                <a:ea typeface="Times New Roman"/>
                <a:cs typeface="Times New Roman"/>
              </a:rPr>
              <a:t>Complete the statements.</a:t>
            </a:r>
            <a:br>
              <a:rPr lang="en-US" sz="2400" dirty="0">
                <a:latin typeface="Verdana"/>
                <a:ea typeface="Times New Roman"/>
                <a:cs typeface="Times New Roman"/>
              </a:rPr>
            </a:br>
            <a:br>
              <a:rPr lang="en-US" sz="2400" dirty="0">
                <a:latin typeface="Verdana"/>
                <a:ea typeface="Times New Roman"/>
                <a:cs typeface="Times New Roman"/>
              </a:rPr>
            </a:br>
            <a:r>
              <a:rPr lang="en-US" sz="2400" dirty="0">
                <a:latin typeface="Verdana"/>
                <a:ea typeface="Times New Roman"/>
                <a:cs typeface="Times New Roman"/>
              </a:rPr>
              <a:t>To determine horizontal length on the</a:t>
            </a:r>
            <a:br>
              <a:rPr lang="en-US" sz="2400" dirty="0">
                <a:latin typeface="Verdana"/>
                <a:ea typeface="Times New Roman"/>
                <a:cs typeface="Times New Roman"/>
              </a:rPr>
            </a:br>
            <a:r>
              <a:rPr lang="en-US" sz="2400" dirty="0">
                <a:latin typeface="Verdana"/>
                <a:ea typeface="Times New Roman"/>
                <a:cs typeface="Times New Roman"/>
              </a:rPr>
              <a:t> </a:t>
            </a:r>
            <a:br>
              <a:rPr lang="en-US" sz="2400" dirty="0">
                <a:latin typeface="Verdana"/>
                <a:ea typeface="Times New Roman"/>
                <a:cs typeface="Times New Roman"/>
              </a:rPr>
            </a:br>
            <a:r>
              <a:rPr lang="en-US" sz="2400" dirty="0">
                <a:latin typeface="Verdana"/>
                <a:ea typeface="Times New Roman"/>
                <a:cs typeface="Times New Roman"/>
              </a:rPr>
              <a:t>coordinate plane, find the difference between </a:t>
            </a:r>
            <a:br>
              <a:rPr lang="en-US" sz="2400" dirty="0">
                <a:latin typeface="Verdana"/>
                <a:ea typeface="Times New Roman"/>
                <a:cs typeface="Times New Roman"/>
              </a:rPr>
            </a:br>
            <a:br>
              <a:rPr lang="en-US" sz="2400" dirty="0">
                <a:latin typeface="Verdana"/>
                <a:ea typeface="Times New Roman"/>
                <a:cs typeface="Times New Roman"/>
              </a:rPr>
            </a:br>
            <a:r>
              <a:rPr lang="en-US" sz="2400" dirty="0">
                <a:latin typeface="Verdana"/>
                <a:ea typeface="Times New Roman"/>
                <a:cs typeface="Times New Roman"/>
              </a:rPr>
              <a:t>the</a:t>
            </a:r>
          </a:p>
          <a:p>
            <a:pPr marL="457200" indent="-457200">
              <a:buFont typeface="+mj-lt"/>
              <a:buAutoNum type="arabicPeriod" startAt="6"/>
            </a:pPr>
            <a:endParaRPr lang="en-US" sz="2400" dirty="0">
              <a:latin typeface="Verdana"/>
              <a:ea typeface="Verdana" panose="020B0604030504040204" pitchFamily="34" charset="0"/>
              <a:cs typeface="Times New Roman"/>
            </a:endParaRPr>
          </a:p>
          <a:p>
            <a:pPr marL="457200"/>
            <a:endParaRPr lang="en-US" sz="2400" dirty="0">
              <a:latin typeface="Verdana"/>
              <a:ea typeface="Times New Roman"/>
              <a:cs typeface="Times New Roman"/>
            </a:endParaRPr>
          </a:p>
          <a:p>
            <a:pPr marL="457200"/>
            <a:r>
              <a:rPr lang="en-US" sz="2400" dirty="0">
                <a:latin typeface="Verdana"/>
                <a:ea typeface="Times New Roman"/>
                <a:cs typeface="Times New Roman"/>
              </a:rPr>
              <a:t>To determine vertical length on the </a:t>
            </a:r>
            <a:br>
              <a:rPr lang="en-US" sz="2400" dirty="0">
                <a:latin typeface="Verdana"/>
                <a:ea typeface="Times New Roman"/>
                <a:cs typeface="Times New Roman"/>
              </a:rPr>
            </a:br>
            <a:br>
              <a:rPr lang="en-US" sz="2400" dirty="0">
                <a:latin typeface="Verdana"/>
                <a:ea typeface="Times New Roman"/>
                <a:cs typeface="Times New Roman"/>
              </a:rPr>
            </a:br>
            <a:r>
              <a:rPr lang="en-US" sz="2400" dirty="0">
                <a:latin typeface="Verdana"/>
                <a:ea typeface="Times New Roman"/>
                <a:cs typeface="Times New Roman"/>
              </a:rPr>
              <a:t>coordinate plane, find the difference between </a:t>
            </a:r>
            <a:br>
              <a:rPr lang="en-US" sz="2400" dirty="0">
                <a:latin typeface="Verdana"/>
                <a:ea typeface="Times New Roman"/>
                <a:cs typeface="Times New Roman"/>
              </a:rPr>
            </a:br>
            <a:br>
              <a:rPr lang="en-US" sz="2400" dirty="0">
                <a:latin typeface="Verdana"/>
                <a:ea typeface="Times New Roman"/>
                <a:cs typeface="Times New Roman"/>
              </a:rPr>
            </a:br>
            <a:r>
              <a:rPr lang="en-US" sz="2400" dirty="0">
                <a:latin typeface="Verdana"/>
                <a:ea typeface="Times New Roman"/>
                <a:cs typeface="Times New Roman"/>
              </a:rPr>
              <a:t>the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1669002" y="2518112"/>
                <a:ext cx="2926080" cy="919401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400050" indent="-342900">
                  <a:buFont typeface="Courier New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/>
                        <a:ea typeface="Times New Roman"/>
                        <a:cs typeface="Times New Roman"/>
                      </a:rPr>
                      <m:t>𝑥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Verdana" pitchFamily="34" charset="0"/>
                    <a:ea typeface="Verdana" pitchFamily="34" charset="0"/>
                    <a:cs typeface="Times New Roman"/>
                  </a:rPr>
                  <a:t>-coordinates.</a:t>
                </a:r>
                <a:endParaRPr lang="en-US" sz="24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400050" indent="-342900">
                  <a:buFont typeface="Courier New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/>
                        <a:ea typeface="Times New Roman"/>
                        <a:cs typeface="Times New Roman"/>
                      </a:rPr>
                      <m:t>𝑦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Verdana" pitchFamily="34" charset="0"/>
                    <a:ea typeface="Verdana" pitchFamily="34" charset="0"/>
                    <a:cs typeface="Times New Roman"/>
                  </a:rPr>
                  <a:t>-coordinates.</a:t>
                </a: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</p:txBody>
          </p:sp>
        </mc:Choice>
        <mc:Fallback xmlns=""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9002" y="2518112"/>
                <a:ext cx="2926080" cy="919401"/>
              </a:xfrm>
              <a:prstGeom prst="roundRect">
                <a:avLst/>
              </a:prstGeom>
              <a:blipFill rotWithShape="1">
                <a:blip r:embed="rId3"/>
                <a:stretch>
                  <a:fillRect b="-9740"/>
                </a:stretch>
              </a:blipFill>
              <a:ln w="1905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1669002" y="5084996"/>
                <a:ext cx="2926080" cy="919401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400050" indent="-342900">
                  <a:buFont typeface="Courier New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/>
                        <a:ea typeface="Times New Roman"/>
                        <a:cs typeface="Times New Roman"/>
                      </a:rPr>
                      <m:t>𝑥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Verdana" pitchFamily="34" charset="0"/>
                    <a:ea typeface="Verdana" pitchFamily="34" charset="0"/>
                    <a:cs typeface="Times New Roman"/>
                  </a:rPr>
                  <a:t>-coordinates.</a:t>
                </a:r>
                <a:endParaRPr lang="en-US" sz="24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400050" indent="-342900">
                  <a:buFont typeface="Courier New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/>
                        <a:ea typeface="Times New Roman"/>
                        <a:cs typeface="Times New Roman"/>
                      </a:rPr>
                      <m:t>𝑦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Verdana" pitchFamily="34" charset="0"/>
                    <a:ea typeface="Verdana" pitchFamily="34" charset="0"/>
                    <a:cs typeface="Times New Roman"/>
                  </a:rPr>
                  <a:t>-coordinates.</a:t>
                </a: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</p:txBody>
          </p:sp>
        </mc:Choice>
        <mc:Fallback xmlns="">
          <p:sp>
            <p:nvSpPr>
              <p:cNvPr id="7" name="Rounded 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9002" y="5084996"/>
                <a:ext cx="2926080" cy="919401"/>
              </a:xfrm>
              <a:prstGeom prst="roundRect">
                <a:avLst/>
              </a:prstGeom>
              <a:blipFill rotWithShape="1">
                <a:blip r:embed="rId4"/>
                <a:stretch>
                  <a:fillRect b="-9740"/>
                </a:stretch>
              </a:blipFill>
              <a:ln w="1905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97517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-52415" y="-8225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116285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098E9CE-9B4F-0D4F-9369-4E0B8D4E3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13171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6858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B6A3A1-5A0D-C84F-AC89-57E6782F43E5}"/>
              </a:ext>
            </a:extLst>
          </p:cNvPr>
          <p:cNvSpPr txBox="1"/>
          <p:nvPr/>
        </p:nvSpPr>
        <p:spPr>
          <a:xfrm>
            <a:off x="718457" y="1386025"/>
            <a:ext cx="966912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Find the </a:t>
            </a:r>
            <a:r>
              <a:rPr lang="en-US" sz="2000" b="1" dirty="0">
                <a:latin typeface="Verdana"/>
                <a:ea typeface="Times New Roman"/>
                <a:cs typeface="Times New Roman"/>
              </a:rPr>
              <a:t>horizontal</a:t>
            </a:r>
            <a:r>
              <a:rPr lang="en-US" sz="2000" dirty="0">
                <a:latin typeface="Verdana"/>
                <a:ea typeface="Times New Roman"/>
                <a:cs typeface="Times New Roman"/>
              </a:rPr>
              <a:t> distance between the following points.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/>
              <a:ea typeface="Verdana" panose="020B0604030504040204" pitchFamily="34" charset="0"/>
              <a:cs typeface="Times New Roman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/>
              <a:ea typeface="Verdana" panose="020B0604030504040204" pitchFamily="34" charset="0"/>
              <a:cs typeface="Times New Roman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/>
              <a:ea typeface="Verdana" panose="020B0604030504040204" pitchFamily="34" charset="0"/>
              <a:cs typeface="Times New Roman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/>
              <a:ea typeface="Verdana" panose="020B0604030504040204" pitchFamily="34" charset="0"/>
              <a:cs typeface="Times New Roman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/>
              <a:ea typeface="Verdana" panose="020B0604030504040204" pitchFamily="34" charset="0"/>
              <a:cs typeface="Times New Roman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/>
              <a:ea typeface="Verdana" panose="020B0604030504040204" pitchFamily="34" charset="0"/>
              <a:cs typeface="Times New Roman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/>
              <a:ea typeface="Verdana" panose="020B0604030504040204" pitchFamily="34" charset="0"/>
              <a:cs typeface="Times New Roman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Find the </a:t>
            </a:r>
            <a:r>
              <a:rPr lang="en-US" sz="2000" b="1" dirty="0">
                <a:latin typeface="Verdana"/>
                <a:ea typeface="Times New Roman"/>
                <a:cs typeface="Times New Roman"/>
              </a:rPr>
              <a:t>vertical</a:t>
            </a:r>
            <a:r>
              <a:rPr lang="en-US" sz="2000" dirty="0">
                <a:latin typeface="Verdana"/>
                <a:ea typeface="Times New Roman"/>
                <a:cs typeface="Times New Roman"/>
              </a:rPr>
              <a:t> distance between the following points.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70566552"/>
                  </p:ext>
                </p:extLst>
              </p:nvPr>
            </p:nvGraphicFramePr>
            <p:xfrm>
              <a:off x="1312435" y="4482802"/>
              <a:ext cx="7155180" cy="146304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357759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57759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457200" indent="-457200"/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a.</a:t>
                          </a:r>
                          <a:r>
                            <a:rPr lang="en-US" sz="2000" dirty="0">
                              <a:latin typeface="Verdana"/>
                              <a:ea typeface="Times New Roman"/>
                              <a:cs typeface="Times New Roman"/>
                            </a:rPr>
                            <a:t> 	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(2,−9)</m:t>
                              </m:r>
                            </m:oMath>
                          </a14:m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0" smtClean="0">
                                  <a:latin typeface="Cambria Math"/>
                                  <a:ea typeface="Verdana" pitchFamily="34" charset="0"/>
                                </a:rPr>
                                <m:t>(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Verdana" pitchFamily="34" charset="0"/>
                                </a:rPr>
                                <m:t>2, 6)</m:t>
                              </m:r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 marR="0" marT="0" marB="27432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__________ unit(s)</a:t>
                          </a:r>
                        </a:p>
                      </a:txBody>
                      <a:tcPr marL="0" marR="0" marT="0" marB="27432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457200" marR="0" indent="-4572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b.</a:t>
                          </a:r>
                          <a:r>
                            <a:rPr lang="en-US" sz="2000" dirty="0">
                              <a:latin typeface="Verdana"/>
                              <a:ea typeface="Times New Roman"/>
                              <a:cs typeface="Times New Roman"/>
                            </a:rPr>
                            <a:t> 	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(−4,−1)</m:t>
                              </m:r>
                            </m:oMath>
                          </a14:m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0" smtClean="0">
                                  <a:latin typeface="Cambria Math"/>
                                  <a:ea typeface="Verdana" pitchFamily="34" charset="0"/>
                                </a:rPr>
                                <m:t>(−4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Verdana" pitchFamily="34" charset="0"/>
                                </a:rPr>
                                <m:t>, −3)</m:t>
                              </m:r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 marR="0" marT="0" marB="27432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__________ unit(s)</a:t>
                          </a:r>
                        </a:p>
                      </a:txBody>
                      <a:tcPr marL="0" marR="0" marT="0" marB="27432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457200" marR="0" indent="-4572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c.</a:t>
                          </a:r>
                          <a:r>
                            <a:rPr lang="en-US" sz="2000" dirty="0">
                              <a:latin typeface="Verdana"/>
                              <a:ea typeface="Times New Roman"/>
                              <a:cs typeface="Times New Roman"/>
                            </a:rPr>
                            <a:t> 	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(0, 4)</m:t>
                              </m:r>
                            </m:oMath>
                          </a14:m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0" smtClean="0">
                                  <a:latin typeface="Cambria Math"/>
                                  <a:ea typeface="Verdana" pitchFamily="34" charset="0"/>
                                </a:rPr>
                                <m:t>(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Verdana" pitchFamily="34" charset="0"/>
                                </a:rPr>
                                <m:t>6, −3)</m:t>
                              </m:r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 marR="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__________ unit(s)</a:t>
                          </a:r>
                        </a:p>
                      </a:txBody>
                      <a:tcPr marL="0" marR="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70566552"/>
                  </p:ext>
                </p:extLst>
              </p:nvPr>
            </p:nvGraphicFramePr>
            <p:xfrm>
              <a:off x="1312435" y="4482802"/>
              <a:ext cx="7155180" cy="146304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357759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357759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27432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t="-12632" r="-100170" b="-18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__________ unit(s)</a:t>
                          </a:r>
                        </a:p>
                      </a:txBody>
                      <a:tcPr marL="0" marR="0" marT="0" marB="27432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27432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t="-112632" r="-100170" b="-8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__________ unit(s)</a:t>
                          </a:r>
                        </a:p>
                      </a:txBody>
                      <a:tcPr marL="0" marR="0" marT="0" marB="27432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t="-404000" r="-100170" b="-5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__________ unit(s)</a:t>
                          </a:r>
                        </a:p>
                      </a:txBody>
                      <a:tcPr marL="0" marR="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53272920"/>
                  </p:ext>
                </p:extLst>
              </p:nvPr>
            </p:nvGraphicFramePr>
            <p:xfrm>
              <a:off x="1303468" y="2033505"/>
              <a:ext cx="7155180" cy="146304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357759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57759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457200" indent="-457200"/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a.</a:t>
                          </a:r>
                          <a:r>
                            <a:rPr lang="en-US" sz="2000" dirty="0">
                              <a:latin typeface="Verdana"/>
                              <a:ea typeface="Times New Roman"/>
                              <a:cs typeface="Times New Roman"/>
                            </a:rPr>
                            <a:t> 	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(2, 7)</m:t>
                              </m:r>
                            </m:oMath>
                          </a14:m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0" smtClean="0">
                                  <a:latin typeface="Cambria Math"/>
                                  <a:ea typeface="Verdana" pitchFamily="34" charset="0"/>
                                </a:rPr>
                                <m:t>(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Verdana" pitchFamily="34" charset="0"/>
                                </a:rPr>
                                <m:t>8, 7)</m:t>
                              </m:r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 marR="0" marT="0" marB="27432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__________ unit(s)</a:t>
                          </a:r>
                        </a:p>
                      </a:txBody>
                      <a:tcPr marL="0" marR="0" marT="0" marB="27432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457200" marR="0" indent="-4572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b.</a:t>
                          </a:r>
                          <a:r>
                            <a:rPr lang="en-US" sz="2000" dirty="0">
                              <a:latin typeface="Verdana"/>
                              <a:ea typeface="Times New Roman"/>
                              <a:cs typeface="Times New Roman"/>
                            </a:rPr>
                            <a:t> 	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(−5, 1)</m:t>
                              </m:r>
                            </m:oMath>
                          </a14:m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0" smtClean="0">
                                  <a:latin typeface="Cambria Math"/>
                                  <a:ea typeface="Verdana" pitchFamily="34" charset="0"/>
                                </a:rPr>
                                <m:t>(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Verdana" pitchFamily="34" charset="0"/>
                                </a:rPr>
                                <m:t>3, 1)</m:t>
                              </m:r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 marR="0" marT="0" marB="27432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__________ unit(s)</a:t>
                          </a:r>
                        </a:p>
                      </a:txBody>
                      <a:tcPr marL="0" marR="0" marT="0" marB="27432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457200" marR="0" indent="-4572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c.</a:t>
                          </a:r>
                          <a:r>
                            <a:rPr lang="en-US" sz="2000" dirty="0">
                              <a:latin typeface="Verdana"/>
                              <a:ea typeface="Times New Roman"/>
                              <a:cs typeface="Times New Roman"/>
                            </a:rPr>
                            <a:t> 	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(0, 4)</m:t>
                              </m:r>
                            </m:oMath>
                          </a14:m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0" smtClean="0">
                                  <a:latin typeface="Cambria Math"/>
                                  <a:ea typeface="Verdana" pitchFamily="34" charset="0"/>
                                </a:rPr>
                                <m:t>(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Verdana" pitchFamily="34" charset="0"/>
                                </a:rPr>
                                <m:t>6, −3)</m:t>
                              </m:r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 marR="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__________ unit(s)</a:t>
                          </a:r>
                        </a:p>
                      </a:txBody>
                      <a:tcPr marL="0" marR="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53272920"/>
                  </p:ext>
                </p:extLst>
              </p:nvPr>
            </p:nvGraphicFramePr>
            <p:xfrm>
              <a:off x="1303468" y="2033505"/>
              <a:ext cx="7155180" cy="146304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357759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357759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27432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4"/>
                          <a:stretch>
                            <a:fillRect l="-170" t="-13684" r="-100000" b="-1789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__________ unit(s)</a:t>
                          </a:r>
                        </a:p>
                      </a:txBody>
                      <a:tcPr marL="0" marR="0" marT="0" marB="27432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27432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4"/>
                          <a:stretch>
                            <a:fillRect l="-170" t="-113684" r="-100000" b="-789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__________ unit(s)</a:t>
                          </a:r>
                        </a:p>
                      </a:txBody>
                      <a:tcPr marL="0" marR="0" marT="0" marB="27432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4"/>
                          <a:stretch>
                            <a:fillRect l="-170" t="-406000" r="-100000" b="-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__________ unit(s)</a:t>
                          </a:r>
                        </a:p>
                      </a:txBody>
                      <a:tcPr marL="0" marR="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49" y="233831"/>
            <a:ext cx="10343231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5.8.3 Try It: Finding Horizontal and </a:t>
            </a:r>
            <a:b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Vertical Distances</a:t>
            </a: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E0B7508E-1910-D441-91B6-6EA6022F2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3189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0359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136131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545130" y="1386025"/>
                <a:ext cx="9842454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Times New Roman"/>
                  </a:rPr>
                  <a:t>A triangle is defined by the following vertices in the coordinate plane.</a:t>
                </a:r>
              </a:p>
              <a:p>
                <a:endParaRPr lang="en-US" sz="2000" dirty="0">
                  <a:latin typeface="Verdana"/>
                  <a:ea typeface="Times New Roman"/>
                </a:endParaRPr>
              </a:p>
              <a:p>
                <a:pPr marL="457200"/>
                <a:endParaRPr lang="en-US" sz="2000" dirty="0">
                  <a:latin typeface="Verdana"/>
                  <a:ea typeface="Times New Roman"/>
                </a:endParaRPr>
              </a:p>
              <a:p>
                <a:endParaRPr lang="en-US" sz="2000" dirty="0">
                  <a:latin typeface="Verdana"/>
                  <a:ea typeface="Times New Roman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Times New Roman"/>
                  </a:rPr>
                  <a:t>Graph Triangle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</a:rPr>
                      <m:t>𝐵𝐻𝐿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</a:rPr>
                  <a:t>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130" y="1386025"/>
                <a:ext cx="9842454" cy="1631216"/>
              </a:xfrm>
              <a:prstGeom prst="rect">
                <a:avLst/>
              </a:prstGeom>
              <a:blipFill>
                <a:blip r:embed="rId5"/>
                <a:stretch>
                  <a:fillRect l="-681" t="-2239" b="-5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 descr="Chart, line chart&#10;&#10;Description automatically generated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62972" y="2671456"/>
            <a:ext cx="5340401" cy="36245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03097981"/>
                  </p:ext>
                </p:extLst>
              </p:nvPr>
            </p:nvGraphicFramePr>
            <p:xfrm>
              <a:off x="1103873" y="2003513"/>
              <a:ext cx="7430340" cy="39624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24767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4767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47678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1729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Arial"/>
                            </a:rPr>
                            <a:t>Point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Times New Roman"/>
                                  <a:cs typeface="Arial"/>
                                </a:rPr>
                                <m:t> 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Times New Roman"/>
                                  <a:cs typeface="Arial"/>
                                </a:rPr>
                                <m:t>𝐵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Times New Roman"/>
                                  <a:cs typeface="Arial"/>
                                </a:rPr>
                                <m:t> (8, 3)</m:t>
                              </m:r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 marR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Arial"/>
                            </a:rPr>
                            <a:t>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Times New Roman"/>
                                  <a:cs typeface="Arial"/>
                                </a:rPr>
                                <m:t>𝐻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Times New Roman"/>
                                  <a:cs typeface="Arial"/>
                                </a:rPr>
                                <m:t> (−2, 3)</m:t>
                              </m:r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 marR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Arial"/>
                            </a:rPr>
                            <a:t>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Times New Roman"/>
                                  <a:cs typeface="Arial"/>
                                </a:rPr>
                                <m:t>𝐿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Times New Roman"/>
                                  <a:cs typeface="Arial"/>
                                </a:rPr>
                                <m:t> (8, 7)</m:t>
                              </m:r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 marR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03097981"/>
                  </p:ext>
                </p:extLst>
              </p:nvPr>
            </p:nvGraphicFramePr>
            <p:xfrm>
              <a:off x="1103873" y="2003513"/>
              <a:ext cx="7430340" cy="39624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247678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0"/>
                        </a:ext>
                      </a:extLst>
                    </a:gridCol>
                    <a:gridCol w="247678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1"/>
                        </a:ext>
                      </a:extLst>
                    </a:gridCol>
                    <a:gridCol w="247678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7"/>
                          <a:stretch>
                            <a:fillRect t="-7692" r="-200246" b="-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7"/>
                          <a:stretch>
                            <a:fillRect l="-99754" t="-7692" r="-99754" b="-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7"/>
                          <a:stretch>
                            <a:fillRect l="-200246" t="-7692" b="-2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5716"/>
            <a:ext cx="10957380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5.8.4 Guided Instruction: </a:t>
            </a:r>
            <a:b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Right Triangles on the Coordinate Plane</a:t>
            </a:r>
          </a:p>
        </p:txBody>
      </p:sp>
      <p:pic>
        <p:nvPicPr>
          <p:cNvPr id="16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05350" y="12141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302574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8F82859-BA98-3646-BF3B-9E17E52A2E35}"/>
              </a:ext>
            </a:extLst>
          </p:cNvPr>
          <p:cNvSpPr txBox="1"/>
          <p:nvPr/>
        </p:nvSpPr>
        <p:spPr>
          <a:xfrm>
            <a:off x="511205" y="533066"/>
            <a:ext cx="1095320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/>
                <a:ea typeface="Times New Roman"/>
              </a:rPr>
              <a:t>Find the length of the horizontal leg and label the leg with its length.</a:t>
            </a: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/>
                <a:ea typeface="Times New Roman"/>
              </a:rPr>
              <a:t>Find the length of the vertical leg and label the leg with its length.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5306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218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Using the Pythagorean Theorem, find the length of the hypotenuse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  <a:ea typeface="Times New Roman"/>
                            <a:cs typeface="Times New Roman"/>
                          </a:rPr>
                          <m:t>𝐻𝐿</m:t>
                        </m:r>
                      </m:e>
                    </m:acc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). </a:t>
                </a:r>
                <a:r>
                  <a:rPr lang="en-US" sz="2400" dirty="0">
                    <a:latin typeface="Verdana"/>
                    <a:ea typeface="Times New Roman"/>
                  </a:rPr>
                  <a:t>Round to the nearest tenth, if necessary.</a:t>
                </a: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400" dirty="0">
                  <a:latin typeface="Verdana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400" dirty="0">
                  <a:latin typeface="Verdana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400" dirty="0">
                  <a:latin typeface="Verdana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400" dirty="0">
                  <a:latin typeface="Verdana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400" dirty="0">
                  <a:latin typeface="Verdana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400" dirty="0">
                    <a:latin typeface="Verdana"/>
                    <a:ea typeface="Times New Roman"/>
                  </a:rPr>
                  <a:t>Find the perimeter of the triangle.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3046988"/>
              </a:xfrm>
              <a:prstGeom prst="rect">
                <a:avLst/>
              </a:prstGeom>
              <a:blipFill rotWithShape="1">
                <a:blip r:embed="rId4"/>
                <a:stretch>
                  <a:fillRect t="-1600" b="-3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14627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116285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098E9CE-9B4F-0D4F-9369-4E0B8D4E3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13171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218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433464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B6A3A1-5A0D-C84F-AC89-57E6782F43E5}"/>
                  </a:ext>
                </a:extLst>
              </p:cNvPr>
              <p:cNvSpPr txBox="1"/>
              <p:nvPr/>
            </p:nvSpPr>
            <p:spPr>
              <a:xfrm>
                <a:off x="642257" y="1386026"/>
                <a:ext cx="9745327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/>
                    <a:ea typeface="Times New Roman"/>
                  </a:rPr>
                  <a:t>Triangle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</a:rPr>
                      <m:t>𝑃𝑅𝑆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</a:rPr>
                  <a:t> is graphed on the coordinate plane.</a:t>
                </a:r>
              </a:p>
              <a:p>
                <a:endParaRPr lang="en-US" sz="2000" dirty="0">
                  <a:latin typeface="Verdana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Times New Roman"/>
                  </a:rPr>
                  <a:t>Find the perimeter of Triangle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</a:rPr>
                      <m:t>𝑃𝑅𝑆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</a:rPr>
                  <a:t>. Round to the nearest tenth, if necessary.</a:t>
                </a:r>
                <a:endParaRPr lang="en-US" sz="2000" dirty="0">
                  <a:latin typeface="Verdana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AB6A3A1-5A0D-C84F-AC89-57E6782F4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257" y="1386026"/>
                <a:ext cx="9745327" cy="4708981"/>
              </a:xfrm>
              <a:prstGeom prst="rect">
                <a:avLst/>
              </a:prstGeom>
              <a:blipFill rotWithShape="1">
                <a:blip r:embed="rId3"/>
                <a:stretch>
                  <a:fillRect l="-625" t="-647" b="-1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 descr="Chart, line chart&#10;&#10;Description automatically generated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77249" y="1909171"/>
            <a:ext cx="4894029" cy="3245619"/>
          </a:xfrm>
          <a:prstGeom prst="rect">
            <a:avLst/>
          </a:prstGeom>
        </p:spPr>
      </p:pic>
      <p:sp>
        <p:nvSpPr>
          <p:cNvPr id="13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218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49" y="233831"/>
            <a:ext cx="10343231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5.8.5 Try It: Right Triangles on the Coordinate Plane</a:t>
            </a: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E0B7508E-1910-D441-91B6-6EA6022F2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3189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645719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219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620486" y="1386025"/>
                <a:ext cx="9767098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Times New Roman"/>
                  </a:rPr>
                  <a:t>A triangle is defined by the following vertices on the coordinate plane.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/>
                  <a:ea typeface="Times New Roman"/>
                </a:endParaRPr>
              </a:p>
              <a:p>
                <a:pPr marL="457200"/>
                <a:endParaRPr lang="en-US" sz="2000" dirty="0">
                  <a:latin typeface="Verdana"/>
                  <a:ea typeface="Times New Roman"/>
                </a:endParaRPr>
              </a:p>
              <a:p>
                <a:endParaRPr lang="en-US" sz="2000" dirty="0">
                  <a:latin typeface="Verdana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Times New Roman"/>
                  </a:rPr>
                  <a:t>Graph Triangle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</a:rPr>
                      <m:t>𝑊𝑃𝑆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</a:rPr>
                  <a:t>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86" y="1386025"/>
                <a:ext cx="9767098" cy="1631216"/>
              </a:xfrm>
              <a:prstGeom prst="rect">
                <a:avLst/>
              </a:prstGeom>
              <a:blipFill>
                <a:blip r:embed="rId5"/>
                <a:stretch>
                  <a:fillRect l="-687" t="-2239" b="-5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Chart, line chart&#10;&#10;Description automatically generated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49080" y="2637904"/>
            <a:ext cx="5628469" cy="38177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58548923"/>
                  </p:ext>
                </p:extLst>
              </p:nvPr>
            </p:nvGraphicFramePr>
            <p:xfrm>
              <a:off x="1161630" y="2003513"/>
              <a:ext cx="7430340" cy="39624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24767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4767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47678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Arial"/>
                            </a:rPr>
                            <a:t>Point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Times New Roman"/>
                                  <a:cs typeface="Arial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Times New Roman"/>
                                  <a:cs typeface="Arial"/>
                                </a:rPr>
                                <m:t>𝑊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Times New Roman"/>
                                  <a:cs typeface="Arial"/>
                                </a:rPr>
                                <m:t> (</m:t>
                              </m:r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Times New Roman"/>
                                  <a:cs typeface="Arial"/>
                                </a:rPr>
                                <m:t>−4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Times New Roman"/>
                                  <a:cs typeface="Arial"/>
                                </a:rPr>
                                <m:t>, </m:t>
                              </m:r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Times New Roman"/>
                                  <a:cs typeface="Arial"/>
                                </a:rPr>
                                <m:t>2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Times New Roman"/>
                                  <a:cs typeface="Arial"/>
                                </a:rPr>
                                <m:t>)</m:t>
                              </m:r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 marR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Arial"/>
                            </a:rPr>
                            <a:t>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Times New Roman"/>
                                  <a:cs typeface="Arial"/>
                                </a:rPr>
                                <m:t>𝑃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Times New Roman"/>
                                  <a:cs typeface="Arial"/>
                                </a:rPr>
                                <m:t> (</m:t>
                              </m:r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Times New Roman"/>
                                  <a:cs typeface="Arial"/>
                                </a:rPr>
                                <m:t>8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Times New Roman"/>
                                  <a:cs typeface="Arial"/>
                                </a:rPr>
                                <m:t>, </m:t>
                              </m:r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Times New Roman"/>
                                  <a:cs typeface="Arial"/>
                                </a:rPr>
                                <m:t>2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Times New Roman"/>
                                  <a:cs typeface="Arial"/>
                                </a:rPr>
                                <m:t>)</m:t>
                              </m:r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 marR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Arial"/>
                            </a:rPr>
                            <a:t>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Times New Roman"/>
                                  <a:cs typeface="Arial"/>
                                </a:rPr>
                                <m:t>𝑆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Times New Roman"/>
                                  <a:cs typeface="Arial"/>
                                </a:rPr>
                                <m:t> (</m:t>
                              </m:r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Times New Roman"/>
                                  <a:cs typeface="Arial"/>
                                </a:rPr>
                                <m:t>2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Times New Roman"/>
                                  <a:cs typeface="Arial"/>
                                </a:rPr>
                                <m:t>, </m:t>
                              </m:r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Times New Roman"/>
                                  <a:cs typeface="Arial"/>
                                </a:rPr>
                                <m:t>10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Times New Roman"/>
                                  <a:cs typeface="Arial"/>
                                </a:rPr>
                                <m:t>)</m:t>
                              </m:r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 marR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58548923"/>
                  </p:ext>
                </p:extLst>
              </p:nvPr>
            </p:nvGraphicFramePr>
            <p:xfrm>
              <a:off x="1161630" y="2003513"/>
              <a:ext cx="7430340" cy="39624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247678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0"/>
                        </a:ext>
                      </a:extLst>
                    </a:gridCol>
                    <a:gridCol w="247678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1"/>
                        </a:ext>
                      </a:extLst>
                    </a:gridCol>
                    <a:gridCol w="247678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7"/>
                          <a:stretch>
                            <a:fillRect l="-246" t="-7692" r="-200246" b="-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7"/>
                          <a:stretch>
                            <a:fillRect l="-100246" t="-7692" r="-100246" b="-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7"/>
                          <a:stretch>
                            <a:fillRect l="-200246" t="-7692" r="-246" b="-2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219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6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80774"/>
            <a:ext cx="9510717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5.8.6 Guided Practice: </a:t>
            </a:r>
            <a:b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Finding Perimeter</a:t>
            </a:r>
          </a:p>
        </p:txBody>
      </p:sp>
      <p:pic>
        <p:nvPicPr>
          <p:cNvPr id="17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250614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219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What type of triangle is Triangle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 </m:t>
                    </m:r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𝑊𝑃𝑆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?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4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4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4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Find the horizontal length of Triangle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𝑊𝑃𝑆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.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2677656"/>
              </a:xfrm>
              <a:prstGeom prst="rect">
                <a:avLst/>
              </a:prstGeom>
              <a:blipFill rotWithShape="1">
                <a:blip r:embed="rId4"/>
                <a:stretch>
                  <a:fillRect t="-2045" b="-38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07090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219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34170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Draw a perpendicular line segment from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𝑆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to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  <a:ea typeface="Times New Roman"/>
                            <a:cs typeface="Times New Roman"/>
                          </a:rPr>
                          <m:t>𝑊𝑃</m:t>
                        </m:r>
                      </m:e>
                    </m:acc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4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4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4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Use the Pythagorean Theorem to find the lengths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  <a:ea typeface="Times New Roman"/>
                            <a:cs typeface="Times New Roman"/>
                          </a:rPr>
                          <m:t>𝑊𝑆</m:t>
                        </m:r>
                      </m:e>
                    </m:acc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  <a:ea typeface="Times New Roman"/>
                            <a:cs typeface="Times New Roman"/>
                          </a:rPr>
                          <m:t>𝑃𝑆</m:t>
                        </m:r>
                      </m:e>
                    </m:acc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4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4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4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Find the perimeter of Triangle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 </m:t>
                    </m:r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𝑊𝑃𝑆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.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3417089"/>
              </a:xfrm>
              <a:prstGeom prst="rect">
                <a:avLst/>
              </a:prstGeom>
              <a:blipFill rotWithShape="1">
                <a:blip r:embed="rId4"/>
                <a:stretch>
                  <a:fillRect t="-1604" r="-445" b="-2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43407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631371" y="1386026"/>
                <a:ext cx="9756213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Triangle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𝐷𝐾𝐹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is defined by the following vertices.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Graph Triangle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𝐷𝐾𝐹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/>
                  <a:ea typeface="Times New Roman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Label each side with </a:t>
                </a:r>
                <a:br>
                  <a:rPr lang="en-US" sz="2000" dirty="0">
                    <a:latin typeface="Verdana"/>
                    <a:ea typeface="Times New Roman"/>
                    <a:cs typeface="Times New Roman"/>
                  </a:rPr>
                </a:b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its length. Round to </a:t>
                </a:r>
                <a:br>
                  <a:rPr lang="en-US" sz="2000" dirty="0">
                    <a:latin typeface="Verdana"/>
                    <a:ea typeface="Times New Roman"/>
                    <a:cs typeface="Times New Roman"/>
                  </a:rPr>
                </a:b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the nearest tenth, </a:t>
                </a:r>
                <a:br>
                  <a:rPr lang="en-US" sz="2000" dirty="0">
                    <a:latin typeface="Verdana"/>
                    <a:ea typeface="Times New Roman"/>
                    <a:cs typeface="Times New Roman"/>
                  </a:rPr>
                </a:b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if needed.</a:t>
                </a:r>
                <a:endParaRPr lang="en-US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371" y="1386026"/>
                <a:ext cx="9756213" cy="3477875"/>
              </a:xfrm>
              <a:prstGeom prst="rect">
                <a:avLst/>
              </a:prstGeom>
              <a:blipFill>
                <a:blip r:embed="rId5"/>
                <a:stretch>
                  <a:fillRect l="-688" t="-10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2746651"/>
                  </p:ext>
                </p:extLst>
              </p:nvPr>
            </p:nvGraphicFramePr>
            <p:xfrm>
              <a:off x="2634156" y="2016431"/>
              <a:ext cx="5233494" cy="39624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74449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4449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4449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𝐷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 (−1,0)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 marR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𝐾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 (2,−6)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 marR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𝐹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 (2,0)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 marR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2746651"/>
                  </p:ext>
                </p:extLst>
              </p:nvPr>
            </p:nvGraphicFramePr>
            <p:xfrm>
              <a:off x="2634156" y="2016431"/>
              <a:ext cx="5233494" cy="39624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74449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4449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4449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r="-200350" b="-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99652" r="-99652" b="-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200350" b="-181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03916" y="201168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5.8.7 Your Turn!</a:t>
            </a:r>
          </a:p>
        </p:txBody>
      </p:sp>
      <p:pic>
        <p:nvPicPr>
          <p:cNvPr id="15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 descr="Chart, line chart&#10;&#10;Description automatically generated">
            <a:extLst>
              <a:ext uri="{FF2B5EF4-FFF2-40B4-BE49-F238E27FC236}">
                <a16:creationId xmlns:a16="http://schemas.microsoft.com/office/drawing/2014/main" id="{7C7DE0A7-E6F9-35F7-B541-1AAAD482E3E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57541" y="2476018"/>
            <a:ext cx="5556571" cy="4077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7916193"/>
                  </p:ext>
                </p:extLst>
              </p:nvPr>
            </p:nvGraphicFramePr>
            <p:xfrm>
              <a:off x="2567481" y="1130606"/>
              <a:ext cx="5233494" cy="39624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74449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4449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4449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𝑈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 (−</m:t>
                                </m:r>
                                <m:r>
                                  <a:rPr lang="en-US" sz="2000" b="0" i="1" smtClean="0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9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,</m:t>
                                </m:r>
                                <m:r>
                                  <a:rPr lang="en-US" sz="2000" b="0" i="1" smtClean="0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 3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 marR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𝐻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 (</m:t>
                                </m:r>
                                <m:r>
                                  <a:rPr lang="en-US" sz="2000" b="0" i="1" smtClean="0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6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,</m:t>
                                </m:r>
                                <m:r>
                                  <a:rPr lang="en-US" sz="2000" b="0" i="1" smtClean="0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 3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 marR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𝐺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 (</m:t>
                                </m:r>
                                <m:r>
                                  <a:rPr lang="en-US" sz="2000" b="0" i="1" smtClean="0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3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,</m:t>
                                </m:r>
                                <m:r>
                                  <a:rPr lang="en-US" sz="2000" b="0" i="1" smtClean="0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 −5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 marR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7916193"/>
                  </p:ext>
                </p:extLst>
              </p:nvPr>
            </p:nvGraphicFramePr>
            <p:xfrm>
              <a:off x="2567481" y="1130606"/>
              <a:ext cx="5233494" cy="39624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74449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4449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4449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r="-200350" b="-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99652" r="-99652" b="-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0350" b="-181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icture 6" descr="Chart, line chart&#10;&#10;Description automatically generated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9177" y="2383187"/>
            <a:ext cx="5877262" cy="3979239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Triangle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𝑈𝐻𝐺</m:t>
                    </m:r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is defined by the vertices.</a:t>
                </a:r>
              </a:p>
              <a:p>
                <a:endParaRPr lang="en-US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Find the perimeter of Triangle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𝑈𝐻𝐺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. Round to the nearest tenth, if needed.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1631216"/>
              </a:xfrm>
              <a:prstGeom prst="rect">
                <a:avLst/>
              </a:prstGeom>
              <a:blipFill rotWithShape="1">
                <a:blip r:embed="rId8"/>
                <a:stretch>
                  <a:fillRect l="-612" t="-2239" b="-5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52776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6279765"/>
              </p:ext>
            </p:extLst>
          </p:nvPr>
        </p:nvGraphicFramePr>
        <p:xfrm>
          <a:off x="2340690" y="2126705"/>
          <a:ext cx="7645477" cy="292608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33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sz="2000" b="1" dirty="0">
                          <a:latin typeface="Verdana" pitchFamily="34" charset="0"/>
                          <a:ea typeface="Verdana" pitchFamily="34" charset="0"/>
                        </a:rPr>
                        <a:t>Success</a:t>
                      </a:r>
                      <a:br>
                        <a:rPr lang="en-PH" sz="2000" b="1" dirty="0">
                          <a:latin typeface="Verdana" pitchFamily="34" charset="0"/>
                          <a:ea typeface="Verdana" pitchFamily="34" charset="0"/>
                        </a:rPr>
                      </a:br>
                      <a:r>
                        <a:rPr lang="en-PH" sz="2000" b="1" dirty="0">
                          <a:latin typeface="Verdana" pitchFamily="34" charset="0"/>
                          <a:ea typeface="Verdana" pitchFamily="34" charset="0"/>
                        </a:rPr>
                        <a:t>Criteria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Self-Assessment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I can apply the Pythagorean Theorem to find the distance of a segment on the coordinate plane.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I need help.</a:t>
                      </a:r>
                      <a:endParaRPr lang="en-US" sz="1400" dirty="0">
                        <a:effectLst/>
                        <a:latin typeface="Cambria"/>
                        <a:ea typeface="Times New Roman"/>
                        <a:cs typeface="Times New Roman"/>
                      </a:endParaRPr>
                    </a:p>
                    <a:p>
                      <a:pPr algn="ctr"/>
                      <a:r>
                        <a:rPr lang="en-US" sz="2000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I can’t get started.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b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I’m </a:t>
                      </a:r>
                      <a:br>
                        <a:rPr lang="en-US" sz="2000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</a:br>
                      <a:r>
                        <a:rPr lang="en-US" sz="2000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getting there.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I understand and I have evidence.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0" name="Straight Arrow Connector 9"/>
          <p:cNvCxnSpPr/>
          <p:nvPr/>
        </p:nvCxnSpPr>
        <p:spPr>
          <a:xfrm>
            <a:off x="5424665" y="4486275"/>
            <a:ext cx="3853815" cy="0"/>
          </a:xfrm>
          <a:prstGeom prst="straightConnector1">
            <a:avLst/>
          </a:prstGeom>
          <a:ln>
            <a:headEnd type="triangle"/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5" name="Google Shape;468;p34"/>
          <p:cNvSpPr txBox="1"/>
          <p:nvPr/>
        </p:nvSpPr>
        <p:spPr>
          <a:xfrm>
            <a:off x="1142999" y="284833"/>
            <a:ext cx="1066951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5.8.8 Wrap-Up: Reflection</a:t>
            </a:r>
          </a:p>
        </p:txBody>
      </p:sp>
      <p:pic>
        <p:nvPicPr>
          <p:cNvPr id="16" name="Google Shape;469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93248" y="1385906"/>
            <a:ext cx="110055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Place an </a:t>
            </a:r>
            <a:r>
              <a:rPr lang="en-US" sz="2000" b="1" dirty="0">
                <a:latin typeface="Verdana"/>
                <a:ea typeface="Times New Roman"/>
                <a:cs typeface="Times New Roman"/>
              </a:rPr>
              <a:t>X</a:t>
            </a:r>
            <a:r>
              <a:rPr lang="en-US" sz="2000" dirty="0">
                <a:latin typeface="Verdana"/>
                <a:ea typeface="Times New Roman"/>
                <a:cs typeface="Times New Roman"/>
              </a:rPr>
              <a:t> on each line to indicate your understanding of each success criteria.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513468"/>
              </p:ext>
            </p:extLst>
          </p:nvPr>
        </p:nvGraphicFramePr>
        <p:xfrm>
          <a:off x="2035630" y="533066"/>
          <a:ext cx="8002380" cy="2813139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2392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7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8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41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9015">
                <a:tc>
                  <a:txBody>
                    <a:bodyPr/>
                    <a:lstStyle/>
                    <a:p>
                      <a:pPr algn="ctr"/>
                      <a:r>
                        <a:rPr lang="en-PH" sz="2000" b="1" dirty="0">
                          <a:latin typeface="Verdana" pitchFamily="34" charset="0"/>
                          <a:ea typeface="Verdana" pitchFamily="34" charset="0"/>
                        </a:rPr>
                        <a:t>Success</a:t>
                      </a:r>
                      <a:br>
                        <a:rPr lang="en-PH" sz="2000" b="1" dirty="0">
                          <a:latin typeface="Verdana" pitchFamily="34" charset="0"/>
                          <a:ea typeface="Verdana" pitchFamily="34" charset="0"/>
                        </a:rPr>
                      </a:br>
                      <a:r>
                        <a:rPr lang="en-PH" sz="2000" b="1" dirty="0">
                          <a:latin typeface="Verdana" pitchFamily="34" charset="0"/>
                          <a:ea typeface="Verdana" pitchFamily="34" charset="0"/>
                        </a:rPr>
                        <a:t>Criteria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Self-Assessment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5109">
                <a:tc rowSpan="2"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I can find the perimeter of a right triangle on the coordinate plane.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I need help.</a:t>
                      </a:r>
                      <a:endParaRPr lang="en-US" sz="1400" dirty="0">
                        <a:effectLst/>
                        <a:latin typeface="Cambria"/>
                        <a:ea typeface="Times New Roman"/>
                        <a:cs typeface="Times New Roman"/>
                      </a:endParaRPr>
                    </a:p>
                    <a:p>
                      <a:pPr algn="ctr"/>
                      <a:r>
                        <a:rPr lang="en-US" sz="2000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I can’t get started.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b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I’m </a:t>
                      </a:r>
                      <a:br>
                        <a:rPr lang="en-US" sz="2000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</a:br>
                      <a:r>
                        <a:rPr lang="en-US" sz="2000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getting there.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I understand and I have evidence.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9015">
                <a:tc vMerge="1"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>
            <a:off x="5211086" y="2907847"/>
            <a:ext cx="3853815" cy="0"/>
          </a:xfrm>
          <a:prstGeom prst="straightConnector1">
            <a:avLst/>
          </a:prstGeom>
          <a:ln>
            <a:headEnd type="triangle"/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7820342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1407</TotalTime>
  <Words>1181</Words>
  <Application>Microsoft Macintosh PowerPoint</Application>
  <PresentationFormat>Widescreen</PresentationFormat>
  <Paragraphs>232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Calibri</vt:lpstr>
      <vt:lpstr>Arial Black</vt:lpstr>
      <vt:lpstr>Cambria Math</vt:lpstr>
      <vt:lpstr>Wingdings</vt:lpstr>
      <vt:lpstr>Verdana</vt:lpstr>
      <vt:lpstr>Courier New</vt:lpstr>
      <vt:lpstr>Arial</vt:lpstr>
      <vt:lpstr>Cambria</vt:lpstr>
      <vt:lpstr>Century Gothic</vt:lpstr>
      <vt:lpstr>1_Office Theme</vt:lpstr>
      <vt:lpstr>PowerPoint Presentation</vt:lpstr>
      <vt:lpstr>PowerPoint Presentation</vt:lpstr>
      <vt:lpstr>PowerPoint Presentation</vt:lpstr>
      <vt:lpstr>PowerPoint Presentation</vt:lpstr>
      <vt:lpstr>Warm-Up</vt:lpstr>
      <vt:lpstr>PowerPoint Presentation</vt:lpstr>
      <vt:lpstr>Guided Instruction</vt:lpstr>
      <vt:lpstr>PowerPoint Presentation</vt:lpstr>
      <vt:lpstr>PowerPoint Presentation</vt:lpstr>
      <vt:lpstr>PowerPoint Presentation</vt:lpstr>
      <vt:lpstr>Try It</vt:lpstr>
      <vt:lpstr>PowerPoint Presentation</vt:lpstr>
      <vt:lpstr>Guided Instruction</vt:lpstr>
      <vt:lpstr>PowerPoint Presentation</vt:lpstr>
      <vt:lpstr>PowerPoint Presentation</vt:lpstr>
      <vt:lpstr>PowerPoint Presentation</vt:lpstr>
      <vt:lpstr>Try It</vt:lpstr>
      <vt:lpstr>PowerPoint Presentation</vt:lpstr>
      <vt:lpstr>Guided Practice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Diana Barnett</cp:lastModifiedBy>
  <cp:revision>64</cp:revision>
  <dcterms:created xsi:type="dcterms:W3CDTF">2015-03-17T18:51:18Z</dcterms:created>
  <dcterms:modified xsi:type="dcterms:W3CDTF">2023-02-06T19:54:15Z</dcterms:modified>
</cp:coreProperties>
</file>