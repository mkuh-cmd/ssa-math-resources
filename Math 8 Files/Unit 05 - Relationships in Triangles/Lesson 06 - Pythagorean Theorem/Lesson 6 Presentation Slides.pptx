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85" r:id="rId4"/>
    <p:sldId id="286" r:id="rId5"/>
    <p:sldId id="261" r:id="rId6"/>
    <p:sldId id="287" r:id="rId7"/>
    <p:sldId id="326" r:id="rId8"/>
    <p:sldId id="327" r:id="rId9"/>
    <p:sldId id="367" r:id="rId10"/>
    <p:sldId id="374" r:id="rId11"/>
    <p:sldId id="289" r:id="rId12"/>
    <p:sldId id="290" r:id="rId13"/>
    <p:sldId id="375" r:id="rId14"/>
    <p:sldId id="365" r:id="rId15"/>
    <p:sldId id="376" r:id="rId16"/>
    <p:sldId id="320" r:id="rId17"/>
    <p:sldId id="321" r:id="rId18"/>
    <p:sldId id="364" r:id="rId19"/>
    <p:sldId id="314" r:id="rId20"/>
    <p:sldId id="315" r:id="rId21"/>
    <p:sldId id="352" r:id="rId22"/>
    <p:sldId id="371" r:id="rId23"/>
    <p:sldId id="372" r:id="rId24"/>
    <p:sldId id="373" r:id="rId25"/>
    <p:sldId id="377" r:id="rId26"/>
    <p:sldId id="378" r:id="rId27"/>
    <p:sldId id="379" r:id="rId28"/>
    <p:sldId id="380" r:id="rId29"/>
    <p:sldId id="302" r:id="rId30"/>
    <p:sldId id="303" r:id="rId31"/>
    <p:sldId id="369" r:id="rId32"/>
    <p:sldId id="381" r:id="rId33"/>
    <p:sldId id="306" r:id="rId34"/>
    <p:sldId id="307" r:id="rId35"/>
  </p:sldIdLst>
  <p:sldSz cx="12192000" cy="6858000"/>
  <p:notesSz cx="6858000" cy="9144000"/>
  <p:embeddedFontLst>
    <p:embeddedFont>
      <p:font typeface="Arial Black" panose="020B0604020202020204" pitchFamily="34" charset="0"/>
      <p:bold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Cambria" panose="02040503050406030204" pitchFamily="18" charset="0"/>
      <p:regular r:id="rId42"/>
      <p:bold r:id="rId43"/>
      <p:italic r:id="rId44"/>
      <p:boldItalic r:id="rId45"/>
    </p:embeddedFont>
    <p:embeddedFont>
      <p:font typeface="Cambria Math" panose="02040503050406030204" pitchFamily="18" charset="0"/>
      <p:regular r:id="rId46"/>
    </p:embeddedFont>
    <p:embeddedFont>
      <p:font typeface="Century Gothic" panose="020B0502020202020204" pitchFamily="34" charset="0"/>
      <p:regular r:id="rId47"/>
      <p:bold r:id="rId48"/>
      <p:italic r:id="rId49"/>
      <p:boldItalic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6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C058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1"/>
    <p:restoredTop sz="94694"/>
  </p:normalViewPr>
  <p:slideViewPr>
    <p:cSldViewPr snapToGrid="0">
      <p:cViewPr varScale="1">
        <p:scale>
          <a:sx n="113" d="100"/>
          <a:sy n="113" d="100"/>
        </p:scale>
        <p:origin x="200" y="3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8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542329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4032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7289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9042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6148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9316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70252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12899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1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5,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Pythagorean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201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29141D4E-DA2B-B445-945E-1FC6510239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563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0535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45" y="2785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30245" y="1464018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MA.8.GR.1.1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Apply the Pythagorean Theorem to solve mathematical and real-world problems involving unknown side lengths in right triangles.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53708" y="-10632"/>
            <a:ext cx="1125908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</a:t>
            </a:r>
            <a:b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253708" y="1463224"/>
            <a:ext cx="97275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845" y="2785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48291" y="-10632"/>
            <a:ext cx="943677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45" y="2785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28951" y="1467034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apply the Pythagorean Theorem to find the hypotenuse of a triangle.</a:t>
            </a:r>
          </a:p>
          <a:p>
            <a:pPr marL="463550" indent="-457200">
              <a:buClr>
                <a:srgbClr val="434343"/>
              </a:buClr>
              <a:buSzPts val="35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8650" indent="-622300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apply the Pythagorean Theorem to find the leg of a triangle.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8291" y="-8225"/>
            <a:ext cx="107155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5.6.1 Warm-Up: Which One </a:t>
            </a:r>
            <a:b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45" y="2809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28478" y="1468884"/>
                <a:ext cx="9538498" cy="32726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Which one doesn’t belong?</a:t>
                </a: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/>
                    <a:ea typeface="Times New Roman"/>
                    <a:cs typeface="Times New Roman"/>
                  </a:rPr>
                  <a:t>A.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/>
                    <a:ea typeface="Times New Roman"/>
                    <a:cs typeface="Times New Roman"/>
                  </a:rPr>
                  <a:t>B.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/>
                    <a:ea typeface="Times New Roman"/>
                    <a:cs typeface="Times New Roman"/>
                  </a:rPr>
                  <a:t>C.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/>
                    <a:ea typeface="Times New Roman"/>
                    <a:cs typeface="Times New Roman"/>
                  </a:rPr>
                  <a:t>D.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4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5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endParaRPr lang="en-PH" sz="2000" dirty="0">
                  <a:latin typeface="Verdana"/>
                  <a:ea typeface="Times New Roman"/>
                  <a:cs typeface="Times New Roman"/>
                </a:endParaRPr>
              </a:p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Explain your thinking.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478" y="1468884"/>
                <a:ext cx="9538498" cy="3272691"/>
              </a:xfrm>
              <a:prstGeom prst="rect">
                <a:avLst/>
              </a:prstGeom>
              <a:blipFill rotWithShape="1">
                <a:blip r:embed="rId4"/>
                <a:stretch>
                  <a:fillRect l="-703" t="-1117" b="-24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Refresher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266" name="Picture 2" descr="Icon&#10;&#10;Description automatically generated">
            <a:extLst>
              <a:ext uri="{FF2B5EF4-FFF2-40B4-BE49-F238E27FC236}">
                <a16:creationId xmlns:a16="http://schemas.microsoft.com/office/drawing/2014/main" id="{8E68AE2B-31C4-664C-9668-81B7C1673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2434" y="279196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2107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24624" y="3680741"/>
            <a:ext cx="6515100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2847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5225" y="-9479"/>
            <a:ext cx="1095453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5.6.2 Refresher: Parts of a Right Triangle and Using Square Roots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522B94A7-8145-AF4C-A130-4689EF537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337" y="27846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C51FF2-AD43-3B4B-B9DE-330920D33388}"/>
                  </a:ext>
                </a:extLst>
              </p:cNvPr>
              <p:cNvSpPr txBox="1"/>
              <p:nvPr/>
            </p:nvSpPr>
            <p:spPr>
              <a:xfrm>
                <a:off x="534984" y="1386026"/>
                <a:ext cx="10800000" cy="2503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hypotenuse can be found directly across the right angle.</a:t>
                </a:r>
              </a:p>
              <a:p>
                <a:pPr marL="457200" indent="-457200">
                  <a:spcBef>
                    <a:spcPts val="2000"/>
                  </a:spcBef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For each right triangle, label the legs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𝑎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𝑏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the hypotenuse with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DC51FF2-AD43-3B4B-B9DE-330920D33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84" y="1386026"/>
                <a:ext cx="10800000" cy="2503249"/>
              </a:xfrm>
              <a:prstGeom prst="rect">
                <a:avLst/>
              </a:prstGeom>
              <a:blipFill rotWithShape="1">
                <a:blip r:embed="rId5"/>
                <a:stretch>
                  <a:fillRect l="-6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grpSp>
        <p:nvGrpSpPr>
          <p:cNvPr id="2" name="Group 1"/>
          <p:cNvGrpSpPr/>
          <p:nvPr/>
        </p:nvGrpSpPr>
        <p:grpSpPr>
          <a:xfrm>
            <a:off x="1669403" y="1449312"/>
            <a:ext cx="8425543" cy="976131"/>
            <a:chOff x="609600" y="1360479"/>
            <a:chExt cx="8425543" cy="976131"/>
          </a:xfrm>
        </p:grpSpPr>
        <p:grpSp>
          <p:nvGrpSpPr>
            <p:cNvPr id="11" name="Group 10"/>
            <p:cNvGrpSpPr/>
            <p:nvPr/>
          </p:nvGrpSpPr>
          <p:grpSpPr>
            <a:xfrm>
              <a:off x="609600" y="1360479"/>
              <a:ext cx="8425543" cy="976131"/>
              <a:chOff x="580452" y="3291553"/>
              <a:chExt cx="9497568" cy="976895"/>
            </a:xfrm>
          </p:grpSpPr>
          <p:grpSp>
            <p:nvGrpSpPr>
              <p:cNvPr id="13" name="Group 12"/>
              <p:cNvGrpSpPr/>
              <p:nvPr/>
            </p:nvGrpSpPr>
            <p:grpSpPr>
              <a:xfrm>
                <a:off x="580452" y="3291553"/>
                <a:ext cx="9497568" cy="976895"/>
                <a:chOff x="580452" y="3291553"/>
                <a:chExt cx="9497568" cy="976895"/>
              </a:xfrm>
            </p:grpSpPr>
            <p:sp>
              <p:nvSpPr>
                <p:cNvPr id="14" name="Rectangle 13"/>
                <p:cNvSpPr/>
                <p:nvPr/>
              </p:nvSpPr>
              <p:spPr>
                <a:xfrm>
                  <a:off x="2031300" y="337360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40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</a:rPr>
                    <a:t> </a:t>
                  </a:r>
                </a:p>
              </p:txBody>
            </p:sp>
            <p:grpSp>
              <p:nvGrpSpPr>
                <p:cNvPr id="15" name="Group 14"/>
                <p:cNvGrpSpPr/>
                <p:nvPr/>
              </p:nvGrpSpPr>
              <p:grpSpPr>
                <a:xfrm>
                  <a:off x="580452" y="3291553"/>
                  <a:ext cx="9497568" cy="976895"/>
                  <a:chOff x="-1450848" y="-82047"/>
                  <a:chExt cx="9497568" cy="976895"/>
                </a:xfrm>
              </p:grpSpPr>
              <p:sp>
                <p:nvSpPr>
                  <p:cNvPr id="16" name="Rectangle 15"/>
                  <p:cNvSpPr/>
                  <p:nvPr/>
                </p:nvSpPr>
                <p:spPr>
                  <a:xfrm>
                    <a:off x="0" y="0"/>
                    <a:ext cx="6629400" cy="812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40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/>
                        <a:ea typeface="Cambria"/>
                        <a:cs typeface="Cambria"/>
                      </a:rPr>
                      <a:t> </a:t>
                    </a:r>
                  </a:p>
                </p:txBody>
              </p:sp>
              <p:sp>
                <p:nvSpPr>
                  <p:cNvPr id="17" name="Rounded Rectangle 16"/>
                  <p:cNvSpPr/>
                  <p:nvPr/>
                </p:nvSpPr>
                <p:spPr>
                  <a:xfrm>
                    <a:off x="-1450848" y="-82047"/>
                    <a:ext cx="9497568" cy="97689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2EED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91440" rIns="91425" bIns="45700" anchor="ctr" anchorCtr="0">
                    <a:spAutoFit/>
                  </a:bodyPr>
                  <a:lstStyle/>
                  <a:p>
                    <a:pPr marL="68580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6C993D"/>
                        </a:solidFill>
                        <a:latin typeface="Verdana"/>
                        <a:ea typeface="Verdana"/>
                        <a:cs typeface="Verdana"/>
                      </a:rPr>
                      <a:t>The </a:t>
                    </a:r>
                    <a:r>
                      <a:rPr lang="en-US" sz="2000" b="1" i="1" dirty="0">
                        <a:solidFill>
                          <a:srgbClr val="6C993D"/>
                        </a:solidFill>
                        <a:latin typeface="Verdana"/>
                        <a:ea typeface="Verdana"/>
                        <a:cs typeface="Verdana"/>
                      </a:rPr>
                      <a:t>hypotenuse</a:t>
                    </a:r>
                    <a:r>
                      <a:rPr lang="en-US" sz="2000" dirty="0">
                        <a:solidFill>
                          <a:srgbClr val="6C993D"/>
                        </a:solidFill>
                        <a:latin typeface="Verdana"/>
                        <a:ea typeface="Verdana"/>
                        <a:cs typeface="Verdana"/>
                      </a:rPr>
                      <a:t> is the longest side of a right triangle; the side opposite the right angle.</a:t>
                    </a:r>
                    <a:endParaRPr lang="en-US" dirty="0">
                      <a:latin typeface="Cambria"/>
                      <a:ea typeface="Cambria"/>
                      <a:cs typeface="Cambria"/>
                    </a:endParaRPr>
                  </a:p>
                </p:txBody>
              </p:sp>
            </p:grpSp>
          </p:grpSp>
        </p:grpSp>
        <p:pic>
          <p:nvPicPr>
            <p:cNvPr id="23" name="Shape 7" descr="Icon&#10;&#10;Description automatically generated"/>
            <p:cNvPicPr preferRelativeResize="0"/>
            <p:nvPr/>
          </p:nvPicPr>
          <p:blipFill rotWithShape="1">
            <a:blip r:embed="rId7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6920" y="1578669"/>
              <a:ext cx="539750" cy="53975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64029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42287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36366" y="379460"/>
            <a:ext cx="692467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2007765" y="3207046"/>
            <a:ext cx="8327136" cy="1585660"/>
            <a:chOff x="2031300" y="3309432"/>
            <a:chExt cx="8327136" cy="1585660"/>
          </a:xfrm>
        </p:grpSpPr>
        <p:grpSp>
          <p:nvGrpSpPr>
            <p:cNvPr id="18" name="Group 17"/>
            <p:cNvGrpSpPr/>
            <p:nvPr/>
          </p:nvGrpSpPr>
          <p:grpSpPr>
            <a:xfrm>
              <a:off x="2031300" y="3309432"/>
              <a:ext cx="8327136" cy="1585660"/>
              <a:chOff x="2031300" y="3309432"/>
              <a:chExt cx="8327136" cy="1585660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</a:rPr>
                  <a:t> </a:t>
                </a:r>
              </a:p>
            </p:txBody>
          </p:sp>
          <p:grpSp>
            <p:nvGrpSpPr>
              <p:cNvPr id="20" name="Group 19"/>
              <p:cNvGrpSpPr/>
              <p:nvPr/>
            </p:nvGrpSpPr>
            <p:grpSpPr>
              <a:xfrm>
                <a:off x="2031300" y="3309432"/>
                <a:ext cx="8327136" cy="1585660"/>
                <a:chOff x="0" y="-64168"/>
                <a:chExt cx="8327136" cy="1585660"/>
              </a:xfrm>
            </p:grpSpPr>
            <p:sp>
              <p:nvSpPr>
                <p:cNvPr id="21" name="Rectangle 20"/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ounded Rectangle 21"/>
                    <p:cNvSpPr/>
                    <p:nvPr/>
                  </p:nvSpPr>
                  <p:spPr>
                    <a:xfrm>
                      <a:off x="0" y="-64168"/>
                      <a:ext cx="8327136" cy="1585660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E2EED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27432" rIns="91425" bIns="0" anchor="ctr" anchorCtr="0">
                      <a:spAutoFit/>
                    </a:bodyPr>
                    <a:lstStyle/>
                    <a:p>
                      <a:pPr marL="68580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The </a:t>
                      </a:r>
                      <a:r>
                        <a:rPr lang="en-US" sz="2000" b="1" i="1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Converse of the Pythagorean Theorem</a:t>
                      </a:r>
                      <a:r>
                        <a:rPr lang="en-US" sz="2000" b="1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states that if the lengths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𝑎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,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𝑏,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and 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Cambria Math"/>
                        </a:rPr>
                        <a:t>𝑐</a:t>
                      </a:r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 of the three sides of a triangle satisfy the relationship</a:t>
                      </a:r>
                      <a14:m>
                        <m:oMath xmlns:m="http://schemas.openxmlformats.org/officeDocument/2006/math">
                          <m:r>
                            <a:rPr lang="en-PH" sz="2000">
                              <a:solidFill>
                                <a:srgbClr val="6C993D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r>
                        <a:rPr lang="en-US" sz="2000" dirty="0">
                          <a:solidFill>
                            <a:srgbClr val="6C993D"/>
                          </a:solidFill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, then the triangle is a right triangle.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  <a:cs typeface="Cambria"/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ounded Rectangle 2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64168"/>
                      <a:ext cx="8327136" cy="1585660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23" name="Shape 7" descr="Icon&#10;&#10;Description automatically generated"/>
                <p:cNvPicPr preferRelativeResize="0"/>
                <p:nvPr/>
              </p:nvPicPr>
              <p:blipFill rotWithShape="1">
                <a:blip r:embed="rId6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75121" y="119549"/>
                  <a:ext cx="539750" cy="539750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14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3919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3656" y="369473"/>
                <a:ext cx="10800000" cy="46576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</a:rPr>
                  <a:t>Solve for the positive value of the missing variable in each equation. </a:t>
                </a:r>
                <a:br>
                  <a:rPr lang="en-US" sz="2000" dirty="0">
                    <a:latin typeface="Verdana"/>
                  </a:rPr>
                </a:br>
                <a:r>
                  <a:rPr lang="en-US" sz="2000" dirty="0">
                    <a:latin typeface="Verdana"/>
                  </a:rPr>
                  <a:t>If necessary, approximate your answer.</a:t>
                </a: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/>
                    <a:ea typeface="Verdana" panose="020B0604030504040204" pitchFamily="34" charset="0"/>
                    <a:cs typeface="Verdana" panose="020B0604030504040204" pitchFamily="34" charset="0"/>
                  </a:rPr>
                  <a:t>a.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=64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2000"/>
                  </a:spcBef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2000"/>
                  </a:spcBef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2000"/>
                  </a:spcBef>
                </a:pPr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=100+21</m:t>
                    </m:r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2000"/>
                  </a:spcBef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Bef>
                    <a:spcPts val="2000"/>
                  </a:spcBef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Bef>
                    <a:spcPts val="2000"/>
                  </a:spcBef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</a:rPr>
                  <a:t>What strategy did you use to find each missing value?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56" y="369473"/>
                <a:ext cx="10800000" cy="4657685"/>
              </a:xfrm>
              <a:prstGeom prst="rect">
                <a:avLst/>
              </a:prstGeom>
              <a:blipFill rotWithShape="1">
                <a:blip r:embed="rId3"/>
                <a:stretch>
                  <a:fillRect l="-564" t="-785" b="-144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4453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4481" y="-8225"/>
            <a:ext cx="1012549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5.6.3 Guided Instruction: Solving for the Hypotenuse Using the Pythagorean Theorem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45" y="2809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4968" y="1461417"/>
                <a:ext cx="10800000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</a:rPr>
                  <a:t>A right triangle with side lengths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6</m:t>
                    </m:r>
                  </m:oMath>
                </a14:m>
                <a:r>
                  <a:rPr lang="en-US" sz="2000" dirty="0">
                    <a:latin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8</m:t>
                    </m:r>
                  </m:oMath>
                </a14:m>
                <a:r>
                  <a:rPr lang="en-US" sz="2000" dirty="0">
                    <a:latin typeface="Verdana"/>
                  </a:rPr>
                  <a:t> is shown.</a:t>
                </a:r>
              </a:p>
              <a:p>
                <a:endParaRPr lang="en-PH" sz="2000" dirty="0">
                  <a:latin typeface="Verdana"/>
                </a:endParaRPr>
              </a:p>
              <a:p>
                <a:endParaRPr lang="en-PH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Which side length of the triangle is unknown?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Which theorem applies specifically to the side lengths of right triangles?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968" y="1461417"/>
                <a:ext cx="10800000" cy="3477875"/>
              </a:xfrm>
              <a:prstGeom prst="rect">
                <a:avLst/>
              </a:prstGeom>
              <a:blipFill rotWithShape="1">
                <a:blip r:embed="rId4"/>
                <a:stretch>
                  <a:fillRect l="-621" t="-1053" b="-228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 A right triangle with a horizontal side on top and a vertical side on the left. The top side is labeled 8 and the left side is labeled 6.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2924" y="1317475"/>
            <a:ext cx="2404692" cy="19634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ounded Rectangle 10"/>
          <p:cNvSpPr/>
          <p:nvPr/>
        </p:nvSpPr>
        <p:spPr>
          <a:xfrm>
            <a:off x="1619823" y="3200354"/>
            <a:ext cx="2194560" cy="78319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hypotenuse</a:t>
            </a: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legs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9823" y="5005886"/>
            <a:ext cx="4297680" cy="78319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Pythagorean Theorem</a:t>
            </a:r>
          </a:p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Triangle Inequality Theorem</a:t>
            </a:r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075" y="380356"/>
                <a:ext cx="997567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Use the Pythagorean Theorem to substitute the given side lengths for the appropriate variables.</a:t>
                </a:r>
              </a:p>
              <a:p>
                <a:pPr algn="ctr">
                  <a:lnSpc>
                    <a:spcPct val="2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algn="ctr">
                  <a:spcBef>
                    <a:spcPts val="2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______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______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_______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algn="ctr"/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/>
                  </a:rPr>
                  <a:t>Solve the equation for the value of the missing variable.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75" y="380356"/>
                <a:ext cx="9975672" cy="2862322"/>
              </a:xfrm>
              <a:prstGeom prst="rect">
                <a:avLst/>
              </a:prstGeom>
              <a:blipFill rotWithShape="1">
                <a:blip r:embed="rId3"/>
                <a:stretch>
                  <a:fillRect t="-1702" b="-383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8632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545" y="378351"/>
                <a:ext cx="7410454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</a:rPr>
                  <a:t>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𝐺𝐻𝐼</m:t>
                    </m:r>
                  </m:oMath>
                </a14:m>
                <a:r>
                  <a:rPr lang="en-US" sz="2000" dirty="0">
                    <a:latin typeface="Verdana"/>
                  </a:rPr>
                  <a:t> is shown with side </a:t>
                </a:r>
                <a:br>
                  <a:rPr lang="en-US" sz="2000" dirty="0">
                    <a:latin typeface="Verdana"/>
                  </a:rPr>
                </a:br>
                <a:r>
                  <a:rPr lang="en-US" sz="2000" dirty="0">
                    <a:latin typeface="Verdana"/>
                  </a:rPr>
                  <a:t>lengths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000" dirty="0">
                    <a:latin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14</m:t>
                    </m:r>
                  </m:oMath>
                </a14:m>
                <a:r>
                  <a:rPr lang="en-US" sz="2000" dirty="0">
                    <a:latin typeface="Verdana"/>
                  </a:rPr>
                  <a:t> is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/>
                </a:endParaRPr>
              </a:p>
              <a:p>
                <a:pPr marL="457200"/>
                <a:r>
                  <a:rPr lang="en-US" sz="2000" dirty="0">
                    <a:latin typeface="Verdana"/>
                  </a:rPr>
                  <a:t>Find the length of the hypotenuse using the Pythagorean Theorem.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If the measure of the side length is an irrational value, write an exact solution and an approximate solution.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5" y="378351"/>
                <a:ext cx="7410454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822" t="-1626" b="-37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picture containing shape&#10;&#10;Description automatically generated"/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0818" t="3301" r="33574" b="12741"/>
          <a:stretch/>
        </p:blipFill>
        <p:spPr bwMode="auto">
          <a:xfrm>
            <a:off x="7940999" y="245186"/>
            <a:ext cx="3081253" cy="36810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886303"/>
                  </p:ext>
                </p:extLst>
              </p:nvPr>
            </p:nvGraphicFramePr>
            <p:xfrm>
              <a:off x="991035" y="2730763"/>
              <a:ext cx="6096000" cy="3425508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State Pythagorean Theorem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b.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Substitute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______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______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c.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Solve for the missing variable.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______+______=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______=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d.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Solutions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Exact solution: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𝑐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       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Approximate answer: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𝑐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≈__________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886303"/>
                  </p:ext>
                </p:extLst>
              </p:nvPr>
            </p:nvGraphicFramePr>
            <p:xfrm>
              <a:off x="991035" y="2730763"/>
              <a:ext cx="6096000" cy="3425571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467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State Pythagorean Theorem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00" t="-4065" b="-3569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b.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Substitute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00" t="-160000" b="-44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c.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Solve for the missing variable.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00" t="-160000" b="-17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398651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d.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Solutions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200" t="-1475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0458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0758" y="379125"/>
                <a:ext cx="10486430" cy="2275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/>
                  </a:rPr>
                  <a:t>A right triangle is shown with side lengths </a:t>
                </a:r>
                <a:br>
                  <a:rPr lang="en-US" sz="2000" dirty="0">
                    <a:latin typeface="Verdana"/>
                  </a:rPr>
                </a:b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US" sz="2000" dirty="0">
                    <a:latin typeface="Verdana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40</m:t>
                        </m:r>
                      </m:e>
                    </m:rad>
                  </m:oMath>
                </a14:m>
                <a:r>
                  <a:rPr lang="en-US" sz="2000" dirty="0">
                    <a:latin typeface="Verdana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/>
                </a:endParaRPr>
              </a:p>
              <a:p>
                <a:pPr marL="457200"/>
                <a:r>
                  <a:rPr lang="en-US" sz="2000" dirty="0">
                    <a:latin typeface="Verdana"/>
                  </a:rPr>
                  <a:t>Find the length of the hypotenuse using the </a:t>
                </a:r>
                <a:br>
                  <a:rPr lang="en-US" sz="2000" dirty="0">
                    <a:latin typeface="Verdana"/>
                  </a:rPr>
                </a:br>
                <a:r>
                  <a:rPr lang="en-US" sz="2000" dirty="0">
                    <a:latin typeface="Verdana"/>
                  </a:rPr>
                  <a:t>Pythagorean Theorem.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If the measure of the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side length is an irrational value, write an exact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solution and an approximate solution.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58" y="379125"/>
                <a:ext cx="10486430" cy="2275751"/>
              </a:xfrm>
              <a:prstGeom prst="rect">
                <a:avLst/>
              </a:prstGeom>
              <a:blipFill rotWithShape="1">
                <a:blip r:embed="rId3"/>
                <a:stretch>
                  <a:fillRect l="-581" t="-1604" b="-374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5532622"/>
                  </p:ext>
                </p:extLst>
              </p:nvPr>
            </p:nvGraphicFramePr>
            <p:xfrm>
              <a:off x="1008791" y="2843111"/>
              <a:ext cx="6096000" cy="3425508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State Pythagorean Theorem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b.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Substitute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______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______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c.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Solve for the missing variable.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______+______=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______=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d.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Solutions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Exact solution: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𝑐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rial"/>
                                        <a:cs typeface="Arial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0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Arial"/>
                                        <a:cs typeface="Arial"/>
                                      </a:rPr>
                                      <m:t>             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Approximate answer: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𝑐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Arial"/>
                                    <a:cs typeface="Arial"/>
                                  </a:rPr>
                                  <m:t>≈__________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5532622"/>
                  </p:ext>
                </p:extLst>
              </p:nvPr>
            </p:nvGraphicFramePr>
            <p:xfrm>
              <a:off x="1008791" y="2843111"/>
              <a:ext cx="6096000" cy="3425571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30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04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46760">
                    <a:tc>
                      <a:txBody>
                        <a:bodyPr/>
                        <a:lstStyle/>
                        <a:p>
                          <a:pPr marL="457200" indent="-457200"/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a.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State Pythagorean Theorem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4065" r="-200" b="-357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pPr marL="457200" marR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b.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Substitute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60000" r="-200" b="-4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92480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c.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Arial"/>
                              <a:cs typeface="Arial"/>
                            </a:rPr>
                            <a:t>Solve for the missing variable.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60000" r="-200" b="-17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398651">
                    <a:tc>
                      <a:txBody>
                        <a:bodyPr/>
                        <a:lstStyle/>
                        <a:p>
                          <a:pPr marL="457200" marR="0" lvl="0" indent="-45720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Arial"/>
                              <a:cs typeface="Arial"/>
                              <a:sym typeface="Arial"/>
                            </a:rPr>
                            <a:t>d.</a:t>
                          </a:r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/>
                              <a:ea typeface="Times New Roman"/>
                              <a:cs typeface="Times New Roman"/>
                              <a:sym typeface="Arial"/>
                            </a:rPr>
                            <a:t> 	</a:t>
                          </a: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Solutions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47598" r="-200" b="-4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Picture 7" descr="Graphical user interface, application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6971" y="379125"/>
            <a:ext cx="3864610" cy="1481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4984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4117" y="360433"/>
            <a:ext cx="10147134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5.6.4 Try It: Finding the Hypotenuse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337" y="28097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542798" y="1465925"/>
                <a:ext cx="10800000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</a:rPr>
                  <a:t>Right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𝐹𝐸𝐺</m:t>
                    </m:r>
                  </m:oMath>
                </a14:m>
                <a:r>
                  <a:rPr lang="en-US" sz="2000" dirty="0">
                    <a:latin typeface="Verdana"/>
                  </a:rPr>
                  <a:t> is shown with side lengths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4</m:t>
                    </m:r>
                  </m:oMath>
                </a14:m>
                <a:r>
                  <a:rPr lang="en-US" sz="2000" dirty="0">
                    <a:latin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11</m:t>
                    </m:r>
                  </m:oMath>
                </a14:m>
                <a:r>
                  <a:rPr lang="en-US" sz="2000" dirty="0">
                    <a:latin typeface="Verdana"/>
                  </a:rPr>
                  <a:t>.</a:t>
                </a:r>
                <a:br>
                  <a:rPr lang="en-US" sz="2000" dirty="0">
                    <a:latin typeface="Verdana"/>
                  </a:rPr>
                </a:br>
                <a:endParaRPr lang="en-US" sz="2000" dirty="0">
                  <a:latin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 panose="020B0604030504040204" pitchFamily="34" charset="0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endParaRPr lang="en-US" sz="2000" dirty="0">
                  <a:latin typeface="Verdana"/>
                </a:endParaRPr>
              </a:p>
              <a:p>
                <a:r>
                  <a:rPr lang="en-US" sz="2000" dirty="0">
                    <a:latin typeface="Verdana"/>
                  </a:rPr>
                  <a:t>Find the length of the hypotenuse using the Pythagorean Theorem. 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If the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measure of the side length is an irrational value, write an exact solution and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an approximate solution.</a:t>
                </a:r>
                <a:endParaRPr lang="en-US" sz="2000" dirty="0">
                  <a:latin typeface="Verdan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798" y="1465925"/>
                <a:ext cx="10800000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564" t="-776" b="-129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rrow&#10;&#10;Description automatically generated with medium confidence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808" t="9790" r="35466" b="24692"/>
          <a:stretch/>
        </p:blipFill>
        <p:spPr bwMode="auto">
          <a:xfrm>
            <a:off x="4258059" y="1905970"/>
            <a:ext cx="2373560" cy="30377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1811" y="380042"/>
            <a:ext cx="780070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Cambria"/>
                <a:cs typeface="Cambria"/>
              </a:rPr>
              <a:t>Which side length is unknown?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Cambria"/>
              <a:cs typeface="Cambria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Cambria"/>
              <a:cs typeface="Cambria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</a:rPr>
              <a:t>State Pythagorean Theorem.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Cambria"/>
              <a:cs typeface="Cambria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/>
              <a:ea typeface="Cambria"/>
              <a:cs typeface="Cambria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Cambria"/>
                <a:cs typeface="Cambria"/>
              </a:rPr>
              <a:t>Which variable in the equation </a:t>
            </a:r>
            <a:br>
              <a:rPr lang="en-US" sz="2000" dirty="0">
                <a:latin typeface="Verdana"/>
                <a:ea typeface="Cambria"/>
                <a:cs typeface="Cambria"/>
              </a:rPr>
            </a:br>
            <a:r>
              <a:rPr lang="en-US" sz="2000" dirty="0">
                <a:latin typeface="Verdana"/>
                <a:ea typeface="Cambria"/>
                <a:cs typeface="Cambria"/>
              </a:rPr>
              <a:t>is unknown?</a:t>
            </a: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Cambri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Cambri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Cambria"/>
                <a:cs typeface="Cambria"/>
              </a:rPr>
              <a:t>Substitute values into equation.</a:t>
            </a:r>
            <a:endParaRPr lang="en-US" sz="2000" dirty="0">
              <a:latin typeface="Verdana"/>
              <a:ea typeface="Cambri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Algebraically solve for missing variable.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endParaRPr lang="en-US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Solutions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7391400" y="380042"/>
            <a:ext cx="0" cy="532453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817168" y="2484144"/>
                <a:ext cx="640080" cy="1116330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𝑏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168" y="2484144"/>
                <a:ext cx="640080" cy="1116330"/>
              </a:xfrm>
              <a:prstGeom prst="roundRect">
                <a:avLst/>
              </a:prstGeom>
              <a:blipFill rotWithShape="1">
                <a:blip r:embed="rId3"/>
                <a:stretch>
                  <a:fillRect l="-2778" b="-5376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7817168" y="4649034"/>
                <a:ext cx="1644937" cy="7505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itchFamily="18" charset="0"/>
                          <a:ea typeface="Cambria Math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itchFamily="18" charset="0"/>
                          <a:ea typeface="Cambria Math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itchFamily="18" charset="0"/>
                            </a:rPr>
                            <m:t>             </m:t>
                          </m:r>
                        </m:e>
                      </m:rad>
                    </m:oMath>
                  </m:oMathPara>
                </a14:m>
                <a:endParaRPr lang="en-US" sz="2000" dirty="0">
                  <a:latin typeface="Cambria Math" pitchFamily="18" charset="0"/>
                  <a:ea typeface="Cambria Math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𝑐</m:t>
                      </m:r>
                      <m:r>
                        <a:rPr lang="en-US" sz="2000" i="1">
                          <a:latin typeface="Cambria Math"/>
                        </a:rPr>
                        <m:t>≈__________</m:t>
                      </m:r>
                    </m:oMath>
                  </m:oMathPara>
                </a14:m>
                <a:endParaRPr lang="en-US" sz="2000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7168" y="4649034"/>
                <a:ext cx="1644937" cy="75059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Rounded Rectangle 11"/>
          <p:cNvSpPr/>
          <p:nvPr/>
        </p:nvSpPr>
        <p:spPr>
          <a:xfrm>
            <a:off x="7817168" y="667437"/>
            <a:ext cx="2163445" cy="783193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hypotenuse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leg</a:t>
            </a:r>
          </a:p>
        </p:txBody>
      </p:sp>
    </p:spTree>
    <p:extLst>
      <p:ext uri="{BB962C8B-B14F-4D97-AF65-F5344CB8AC3E}">
        <p14:creationId xmlns:p14="http://schemas.microsoft.com/office/powerpoint/2010/main" val="103025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9793" y="20322"/>
            <a:ext cx="106168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5.6.5 Collaboration: What’s the Leg?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337" y="28097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6213" y="1467359"/>
                <a:ext cx="580710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𝑅𝐻𝐿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𝑇𝐾𝑃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are shown.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Both triangles have one side with an unknown measurement.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How are these triangles similar?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How are these triangles different?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13" y="1467359"/>
                <a:ext cx="5807102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1154" t="-1279" b="-298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5AF5C2-9000-F80D-5A08-D2E820463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322" y="1048460"/>
            <a:ext cx="5726918" cy="377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913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4561" y="378351"/>
            <a:ext cx="108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Verdana"/>
                <a:cs typeface="Verdana"/>
              </a:rPr>
              <a:t>Work with your partner to write equations to determine the length of the missing side in each right triangle using the Pythagorean Theorem.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939149"/>
              </p:ext>
            </p:extLst>
          </p:nvPr>
        </p:nvGraphicFramePr>
        <p:xfrm>
          <a:off x="1607881" y="1804125"/>
          <a:ext cx="7156704" cy="226800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357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8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Triangle</a:t>
                      </a:r>
                      <a:r>
                        <a:rPr lang="en-PH" sz="2000" b="0" dirty="0">
                          <a:latin typeface="Verdana" pitchFamily="34" charset="0"/>
                          <a:ea typeface="Verdana" pitchFamily="34" charset="0"/>
                        </a:rPr>
                        <a:t> </a:t>
                      </a:r>
                      <a:r>
                        <a:rPr lang="en-PH" sz="2000" b="1" i="1" dirty="0">
                          <a:latin typeface="Cambria" pitchFamily="18" charset="0"/>
                          <a:ea typeface="Cambria" pitchFamily="18" charset="0"/>
                        </a:rPr>
                        <a:t>RHL</a:t>
                      </a:r>
                      <a:endParaRPr lang="en-US" sz="2000" b="1" i="1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PH" sz="2000" b="1" dirty="0">
                          <a:latin typeface="Verdana" pitchFamily="34" charset="0"/>
                          <a:ea typeface="Verdana" pitchFamily="34" charset="0"/>
                        </a:rPr>
                        <a:t>Triangle</a:t>
                      </a:r>
                      <a:r>
                        <a:rPr lang="en-PH" sz="2000" b="0" dirty="0">
                          <a:latin typeface="Verdana" pitchFamily="34" charset="0"/>
                          <a:ea typeface="Verdana" pitchFamily="34" charset="0"/>
                        </a:rPr>
                        <a:t> </a:t>
                      </a:r>
                      <a:r>
                        <a:rPr lang="en-PH" sz="2000" b="1" i="1" dirty="0">
                          <a:latin typeface="Cambria" pitchFamily="18" charset="0"/>
                          <a:ea typeface="Cambria" pitchFamily="18" charset="0"/>
                        </a:rPr>
                        <a:t>TKP</a:t>
                      </a:r>
                      <a:endParaRPr lang="en-US" sz="2000" b="1" i="1" dirty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algn="ctr"/>
                      <a:endParaRPr lang="en-PH" sz="2000" b="0" dirty="0">
                        <a:latin typeface="Verdana" pitchFamily="34" charset="0"/>
                        <a:ea typeface="Verdana" pitchFamily="34" charset="0"/>
                      </a:endParaRPr>
                    </a:p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22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-30741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599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1053" y="-5717"/>
            <a:ext cx="10408521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5.6.6 Guided Instruction: Solving for a Missing Leg Using the Pythagorean Theorem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337" y="2834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32190" y="1474802"/>
                <a:ext cx="10800000" cy="3786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Pythagorean Theorem can also be used to find a missing leg in a right triangle.</a:t>
                </a:r>
              </a:p>
              <a:p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Use the Pythagorean Theorem to find the approximate measure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/>
                            <a:cs typeface="Times New Roman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  <a:ea typeface="Times New Roman"/>
                            <a:cs typeface="Times New Roman"/>
                          </a:rPr>
                          <m:t>𝑄𝑆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State the Pythagorean Theorem.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90" y="1474802"/>
                <a:ext cx="10800000" cy="3786358"/>
              </a:xfrm>
              <a:prstGeom prst="rect">
                <a:avLst/>
              </a:prstGeom>
              <a:blipFill rotWithShape="1">
                <a:blip r:embed="rId4"/>
                <a:stretch>
                  <a:fillRect l="-564" t="-805" b="-193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Chart&#10;&#10;Description automatically generated with medium confidence"/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51" t="27135" r="8378" b="46014"/>
          <a:stretch/>
        </p:blipFill>
        <p:spPr bwMode="auto">
          <a:xfrm>
            <a:off x="3484831" y="2972428"/>
            <a:ext cx="5083770" cy="1688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0380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567" y="552513"/>
                <a:ext cx="108000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Substitute the length of the			    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.</m:t>
                    </m:r>
                  </m:oMath>
                </a14:m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Substitute the given leg length for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Solve the equation for the missing variable.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67" y="552513"/>
                <a:ext cx="10800000" cy="3416320"/>
              </a:xfrm>
              <a:prstGeom prst="rect">
                <a:avLst/>
              </a:prstGeom>
              <a:blipFill rotWithShape="1">
                <a:blip r:embed="rId3"/>
                <a:stretch>
                  <a:fillRect t="-1607" b="-321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902823" y="377899"/>
            <a:ext cx="2468880" cy="91940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hypotenuse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legs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7077270" y="1596661"/>
                <a:ext cx="1554480" cy="1328023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270" y="1596661"/>
                <a:ext cx="1554480" cy="1328023"/>
              </a:xfrm>
              <a:prstGeom prst="roundRect">
                <a:avLst/>
              </a:prstGeom>
              <a:blipFill rotWithShape="1">
                <a:blip r:embed="rId4"/>
                <a:stretch>
                  <a:fillRect l="-775" b="-4977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0009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5836" y="378352"/>
                <a:ext cx="961644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Cambria"/>
                    <a:cs typeface="Cambria"/>
                  </a:rPr>
                  <a:t>Find the exact measure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/>
                    <a:ea typeface="Cambria"/>
                    <a:cs typeface="Cambria"/>
                  </a:rPr>
                  <a:t> in the diagram.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State the Pythagorean Theorem.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Substitute the length of the			     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.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36" y="378352"/>
                <a:ext cx="9616444" cy="4893647"/>
              </a:xfrm>
              <a:prstGeom prst="rect">
                <a:avLst/>
              </a:prstGeom>
              <a:blipFill rotWithShape="1">
                <a:blip r:embed="rId3"/>
                <a:stretch>
                  <a:fillRect l="-1015" t="-1121" b="-174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Shape&#10;&#10;Description automatically generated with medium confidence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92755" y="964317"/>
            <a:ext cx="3386430" cy="21162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ounded Rectangle 6"/>
          <p:cNvSpPr/>
          <p:nvPr/>
        </p:nvSpPr>
        <p:spPr>
          <a:xfrm>
            <a:off x="5984902" y="4547122"/>
            <a:ext cx="2468880" cy="91940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hypotenuse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legs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7630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4676" y="371481"/>
            <a:ext cx="9670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Substitute the given leg length for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Solve the equation for the missing variable.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076540" y="371481"/>
                <a:ext cx="1554480" cy="1328023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  <a:p>
                <a:pPr marL="228600" indent="-228600">
                  <a:spcAft>
                    <a:spcPts val="1000"/>
                  </a:spcAft>
                  <a:buFont typeface="Courier New"/>
                  <a:buChar char="o"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𝑏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/>
                        <a:ea typeface="Cambria"/>
                        <a:cs typeface="Cambria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Verdana" pitchFamily="34" charset="0"/>
                    <a:ea typeface="Verdana" pitchFamily="34" charset="0"/>
                    <a:cs typeface="Cambria"/>
                  </a:rPr>
                  <a:t>.</a:t>
                </a:r>
                <a:endParaRPr lang="en-US" sz="2400" dirty="0">
                  <a:latin typeface="Verdana" pitchFamily="34" charset="0"/>
                  <a:ea typeface="Verdana" pitchFamily="34" charset="0"/>
                  <a:cs typeface="Cambria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6540" y="371481"/>
                <a:ext cx="1554480" cy="1328023"/>
              </a:xfrm>
              <a:prstGeom prst="roundRect">
                <a:avLst/>
              </a:prstGeom>
              <a:blipFill rotWithShape="1">
                <a:blip r:embed="rId3"/>
                <a:stretch>
                  <a:fillRect l="-775" b="-4977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652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778" y="388491"/>
                <a:ext cx="108000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/>
                    <a:ea typeface="Cambria"/>
                    <a:cs typeface="Cambria"/>
                  </a:rPr>
                  <a:t>Find the exact length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"/>
                        <a:cs typeface="Cambria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Cambria"/>
                    <a:cs typeface="Cambria"/>
                  </a:rPr>
                  <a:t> in the diagram using the Pythagorean Theorem.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400" dirty="0">
                  <a:latin typeface="Verdana"/>
                  <a:ea typeface="Cambri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State the Pythagorean Theorem.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Substitute the length of the			     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𝑐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.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78" y="388491"/>
                <a:ext cx="10800000" cy="5262979"/>
              </a:xfrm>
              <a:prstGeom prst="rect">
                <a:avLst/>
              </a:prstGeom>
              <a:blipFill rotWithShape="1">
                <a:blip r:embed="rId3"/>
                <a:stretch>
                  <a:fillRect l="-903" t="-1043" b="-162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5948845" y="4921412"/>
            <a:ext cx="2468880" cy="919401"/>
          </a:xfrm>
          <a:prstGeom prst="round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hypotenuse</a:t>
            </a:r>
          </a:p>
          <a:p>
            <a:pPr marL="342900" indent="-3429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"/>
              </a:rPr>
              <a:t>legs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89767" y="1180745"/>
            <a:ext cx="3290021" cy="2062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634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5068" y="433900"/>
            <a:ext cx="83271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Substitute the given leg length for</a:t>
            </a: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Solve the equation for the missing variable.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8DE059B7-46DF-C36C-DCAE-092D6A69C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626" y="382193"/>
            <a:ext cx="20828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109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17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51133" y="283483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5.6.7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45" y="2834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531907" y="1469117"/>
            <a:ext cx="10800000" cy="127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Match the triangle to the appropriate equation that could be used to solve for the missing side.</a:t>
            </a:r>
          </a:p>
          <a:p>
            <a:pPr marL="914400" indent="-457200">
              <a:spcBef>
                <a:spcPts val="2000"/>
              </a:spcBef>
              <a:buFont typeface="+mj-lt"/>
              <a:buAutoNum type="alphaUcPeriod"/>
            </a:pPr>
            <a:r>
              <a:rPr lang="en-PH" sz="2000" dirty="0">
                <a:latin typeface="Verdana"/>
                <a:ea typeface="Verdana" panose="020B0604030504040204" pitchFamily="34" charset="0"/>
                <a:cs typeface="Times New Roman"/>
              </a:rPr>
              <a:t>_________			B. 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1424848" y="2754488"/>
            <a:ext cx="1666875" cy="272923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4481424" y="2915961"/>
            <a:ext cx="3438525" cy="19138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235915"/>
                  </p:ext>
                </p:extLst>
              </p:nvPr>
            </p:nvGraphicFramePr>
            <p:xfrm>
              <a:off x="1512383" y="5620077"/>
              <a:ext cx="4886325" cy="1097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623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31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 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III.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IV.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7235915"/>
                  </p:ext>
                </p:extLst>
              </p:nvPr>
            </p:nvGraphicFramePr>
            <p:xfrm>
              <a:off x="1512383" y="5620077"/>
              <a:ext cx="4886325" cy="1097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6231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2631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t="-4348" r="-86079" b="-7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116173" t="-4348" b="-7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t="-184615" r="-86079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6"/>
                          <a:stretch>
                            <a:fillRect l="-116173" t="-184615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6366" y="37834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UcPeriod" startAt="3"/>
            </a:pPr>
            <a:r>
              <a:rPr lang="en-PH" sz="2000" dirty="0">
                <a:latin typeface="Verdana"/>
                <a:ea typeface="Verdana" panose="020B0604030504040204" pitchFamily="34" charset="0"/>
                <a:cs typeface="Times New Roman"/>
              </a:rPr>
              <a:t>_________			D. _________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t="8333" r="6019" b="12500"/>
          <a:stretch/>
        </p:blipFill>
        <p:spPr bwMode="auto">
          <a:xfrm>
            <a:off x="990336" y="1678254"/>
            <a:ext cx="3143250" cy="19119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5221341" y="778460"/>
            <a:ext cx="2199640" cy="37115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4684353"/>
                  </p:ext>
                </p:extLst>
              </p:nvPr>
            </p:nvGraphicFramePr>
            <p:xfrm>
              <a:off x="1434836" y="4736474"/>
              <a:ext cx="4886325" cy="1097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623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631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 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indent="0">
                            <a:buFont typeface="+mj-lt"/>
                            <a:buNone/>
                          </a:pP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III.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II.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6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IV.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8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15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Times New Roman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4684353"/>
                  </p:ext>
                </p:extLst>
              </p:nvPr>
            </p:nvGraphicFramePr>
            <p:xfrm>
              <a:off x="1434836" y="4736474"/>
              <a:ext cx="4886325" cy="109728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62318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2631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4348" r="-86079" b="-7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16173" t="-4348" b="-7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t="-184615" r="-86079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116173" t="-184615" b="-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5277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8313" y="378352"/>
                <a:ext cx="10800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Find the measures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in the diagram using the Pythagorean Theorem.</a:t>
                </a:r>
                <a:endParaRPr lang="en-US" sz="2400" dirty="0">
                  <a:latin typeface="Verdana"/>
                  <a:ea typeface="Cambria"/>
                  <a:cs typeface="Cambri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13" y="378352"/>
                <a:ext cx="10800000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903" t="-6618" b="-1617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18375" y="1338850"/>
            <a:ext cx="661987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207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3350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951591"/>
              </p:ext>
            </p:extLst>
          </p:nvPr>
        </p:nvGraphicFramePr>
        <p:xfrm>
          <a:off x="3852750" y="2191385"/>
          <a:ext cx="6076110" cy="4361688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607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I’m so confident, I can explain this to someone else!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can get to the right answer, but I don’t understand well enough to explain it yet.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16459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  <a:latin typeface="Verdana"/>
                          <a:ea typeface="Verdana"/>
                          <a:cs typeface="Verdana"/>
                        </a:rPr>
                        <a:t>I understand some of this, but I don’t understand all of it yet. 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16459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 tried hard and listened, but I am finding this challenging. I will make sure I get help with this next lesson.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16459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I do not understand any of this yet. There are things I could do to be a better learner next lesson.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 marT="164592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C058"/>
          </a:solidFill>
          <a:ln w="9525" cap="flat" cmpd="sng">
            <a:solidFill>
              <a:srgbClr val="79C05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49265" y="-571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5.6.8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845" y="2834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6910" y="1285580"/>
            <a:ext cx="96038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Color in the arrow up to the statement which best describes your current understanding.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Up Arrow 7"/>
          <p:cNvSpPr/>
          <p:nvPr/>
        </p:nvSpPr>
        <p:spPr>
          <a:xfrm>
            <a:off x="2602000" y="2239011"/>
            <a:ext cx="984250" cy="4337853"/>
          </a:xfrm>
          <a:prstGeom prst="upArrow">
            <a:avLst>
              <a:gd name="adj1" fmla="val 50000"/>
              <a:gd name="adj2" fmla="val 50000"/>
            </a:avLst>
          </a:prstGeom>
          <a:noFill/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1000"/>
              </a:spcAft>
            </a:pPr>
            <a:r>
              <a:rPr lang="en-US" sz="1200">
                <a:latin typeface="Cambria"/>
                <a:ea typeface="Cambria"/>
                <a:cs typeface="Cambria"/>
              </a:rPr>
              <a:t> 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426" y="6517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4694" y="61563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1450</Words>
  <Application>Microsoft Macintosh PowerPoint</Application>
  <PresentationFormat>Widescreen</PresentationFormat>
  <Paragraphs>310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Calibri</vt:lpstr>
      <vt:lpstr>Arial Black</vt:lpstr>
      <vt:lpstr>Cambria Math</vt:lpstr>
      <vt:lpstr>Wingdings</vt:lpstr>
      <vt:lpstr>Verdana</vt:lpstr>
      <vt:lpstr>Courier New</vt:lpstr>
      <vt:lpstr>Arial</vt:lpstr>
      <vt:lpstr>Cambria</vt:lpstr>
      <vt:lpstr>Century Gothic</vt:lpstr>
      <vt:lpstr>1_Office Theme</vt:lpstr>
      <vt:lpstr>8th Grade Math: Pre-Algebra  Unit 5, Lesson 6  Pythagorean Theorem  Volume 1, pg. 201  </vt:lpstr>
      <vt:lpstr>Benchmark</vt:lpstr>
      <vt:lpstr>PowerPoint Presentation</vt:lpstr>
      <vt:lpstr>PowerPoint Presentation</vt:lpstr>
      <vt:lpstr>Warm-Up</vt:lpstr>
      <vt:lpstr>PowerPoint Presentation</vt:lpstr>
      <vt:lpstr>Refresher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56</cp:revision>
  <dcterms:created xsi:type="dcterms:W3CDTF">2015-03-17T18:51:18Z</dcterms:created>
  <dcterms:modified xsi:type="dcterms:W3CDTF">2023-02-06T19:36:44Z</dcterms:modified>
</cp:coreProperties>
</file>