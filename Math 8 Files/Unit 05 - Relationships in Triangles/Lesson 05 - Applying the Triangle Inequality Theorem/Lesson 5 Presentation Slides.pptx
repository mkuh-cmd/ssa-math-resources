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85" r:id="rId4"/>
    <p:sldId id="286" r:id="rId5"/>
    <p:sldId id="261" r:id="rId6"/>
    <p:sldId id="287" r:id="rId7"/>
    <p:sldId id="314" r:id="rId8"/>
    <p:sldId id="315" r:id="rId9"/>
    <p:sldId id="371" r:id="rId10"/>
    <p:sldId id="352" r:id="rId11"/>
    <p:sldId id="372" r:id="rId12"/>
    <p:sldId id="373" r:id="rId13"/>
    <p:sldId id="323" r:id="rId14"/>
    <p:sldId id="324" r:id="rId15"/>
    <p:sldId id="366" r:id="rId16"/>
    <p:sldId id="302" r:id="rId17"/>
    <p:sldId id="303" r:id="rId18"/>
    <p:sldId id="369" r:id="rId19"/>
    <p:sldId id="374" r:id="rId20"/>
    <p:sldId id="306" r:id="rId21"/>
    <p:sldId id="307" r:id="rId22"/>
  </p:sldIdLst>
  <p:sldSz cx="12192000" cy="6858000"/>
  <p:notesSz cx="6858000" cy="9144000"/>
  <p:embeddedFontLst>
    <p:embeddedFont>
      <p:font typeface="Century Gothic" pitchFamily="34" charset="0"/>
      <p:regular r:id="rId24"/>
      <p:bold r:id="rId25"/>
      <p:italic r:id="rId26"/>
      <p:boldItalic r:id="rId27"/>
    </p:embeddedFont>
    <p:embeddedFont>
      <p:font typeface="Cambria Math" pitchFamily="18" charset="0"/>
      <p:regular r:id="rId28"/>
    </p:embeddedFont>
    <p:embeddedFont>
      <p:font typeface="Cambria" pitchFamily="18" charset="0"/>
      <p:regular r:id="rId29"/>
      <p:bold r:id="rId30"/>
      <p:italic r:id="rId31"/>
      <p:boldItalic r:id="rId32"/>
    </p:embeddedFont>
    <p:embeddedFont>
      <p:font typeface="Arial Black" pitchFamily="34" charset="0"/>
      <p:bold r:id="rId33"/>
    </p:embeddedFont>
    <p:embeddedFont>
      <p:font typeface="Verdana" pitchFamily="34" charset="0"/>
      <p:regular r:id="rId34"/>
      <p:bold r:id="rId35"/>
      <p:italic r:id="rId36"/>
      <p:boldItalic r:id="rId37"/>
    </p:embeddedFont>
    <p:embeddedFont>
      <p:font typeface="Calibri"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74" autoAdjust="0"/>
    <p:restoredTop sz="94694"/>
  </p:normalViewPr>
  <p:slideViewPr>
    <p:cSldViewPr snapToGrid="0">
      <p:cViewPr varScale="1">
        <p:scale>
          <a:sx n="105" d="100"/>
          <a:sy n="105" d="100"/>
        </p:scale>
        <p:origin x="-972"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3014674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88284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2431289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lvl="0" algn="ctr">
              <a:lnSpc>
                <a:spcPct val="100000"/>
              </a:lnSpc>
              <a:buClr>
                <a:srgbClr val="000000"/>
              </a:buClr>
            </a:pPr>
            <a:r>
              <a:rPr lang="en-US" sz="3800" b="1" dirty="0">
                <a:solidFill>
                  <a:srgbClr val="417DBF"/>
                </a:solidFill>
                <a:latin typeface="Verdana"/>
                <a:ea typeface="Verdana"/>
                <a:cs typeface="Verdana"/>
                <a:sym typeface="Verdana"/>
              </a:rPr>
              <a:t>Unit 5, Lesson 5</a:t>
            </a:r>
            <a:br>
              <a:rPr lang="en-US" sz="3800" b="1" dirty="0">
                <a:solidFill>
                  <a:srgbClr val="417DBF"/>
                </a:solidFill>
                <a:latin typeface="Verdana"/>
                <a:ea typeface="Verdana"/>
                <a:cs typeface="Verdana"/>
                <a:sym typeface="Verdana"/>
              </a:rPr>
            </a:br>
            <a:r>
              <a:rPr lang="en-US" sz="3200" b="1" dirty="0" smtClean="0">
                <a:solidFill>
                  <a:srgbClr val="417DBF"/>
                </a:solidFill>
                <a:latin typeface="Verdana"/>
                <a:ea typeface="Verdana"/>
                <a:cs typeface="Verdana"/>
                <a:sym typeface="Verdana"/>
              </a:rPr>
              <a:t/>
            </a:r>
            <a:br>
              <a:rPr lang="en-US" sz="3200" b="1" dirty="0" smtClean="0">
                <a:solidFill>
                  <a:srgbClr val="417DBF"/>
                </a:solidFill>
                <a:latin typeface="Verdana"/>
                <a:ea typeface="Verdana"/>
                <a:cs typeface="Verdana"/>
                <a:sym typeface="Verdana"/>
              </a:rPr>
            </a:br>
            <a:r>
              <a:rPr lang="en-US" sz="3800" b="1" dirty="0" smtClean="0">
                <a:solidFill>
                  <a:srgbClr val="417DBF"/>
                </a:solidFill>
                <a:latin typeface="Verdana"/>
                <a:ea typeface="Verdana"/>
                <a:cs typeface="Verdana"/>
                <a:sym typeface="Verdana"/>
              </a:rPr>
              <a:t>Applying </a:t>
            </a:r>
            <a:r>
              <a:rPr lang="en-US" sz="3800" b="1" dirty="0">
                <a:solidFill>
                  <a:srgbClr val="417DBF"/>
                </a:solidFill>
                <a:latin typeface="Verdana"/>
                <a:ea typeface="Verdana"/>
                <a:cs typeface="Verdana"/>
                <a:sym typeface="Verdana"/>
              </a:rPr>
              <a:t>the Triangle Inequality Theorem</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
            </a:r>
            <a:br>
              <a:rPr lang="en-US" sz="32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196</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4875"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0886" y="1627632"/>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53469" y="24879"/>
            <a:ext cx="9621339"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35706" y="296323"/>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504910" y="1455549"/>
            <a:ext cx="1118217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latin typeface="Verdana"/>
                <a:ea typeface="Verdana"/>
                <a:cs typeface="Verdana"/>
              </a:rPr>
              <a:t>MA.8.GR.1.3 </a:t>
            </a:r>
            <a:endParaRPr lang="en-US" sz="2800" dirty="0">
              <a:solidFill>
                <a:schemeClr val="tx1"/>
              </a:solidFill>
              <a:latin typeface="Verdana"/>
              <a:ea typeface="Verdana"/>
              <a:cs typeface="Verdana"/>
              <a:sym typeface="Verdana"/>
            </a:endParaRPr>
          </a:p>
          <a:p>
            <a:pPr indent="0">
              <a:buNone/>
            </a:pPr>
            <a:r>
              <a:rPr lang="en-US" sz="2800" dirty="0">
                <a:latin typeface="Verdana"/>
                <a:ea typeface="Verdana"/>
                <a:cs typeface="Verdana"/>
              </a:rPr>
              <a:t>Use the Triangle Inequality Theorem to determine if a triangle can be formed from a given set of sides. Use the converse of the Pythagorean Theorem to determine if a right triangle can be formed from a given set of sides.</a:t>
            </a:r>
            <a:endParaRPr lang="en-US" sz="28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254068" y="0"/>
            <a:ext cx="1060273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254068" y="1487144"/>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0"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435706" y="296323"/>
            <a:ext cx="747300" cy="7473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251120" y="0"/>
            <a:ext cx="1061456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435706" y="296323"/>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467323" y="1462859"/>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44500" indent="-444500">
              <a:buFont typeface="Wingdings" pitchFamily="2" charset="2"/>
              <a:buChar char="q"/>
            </a:pPr>
            <a:r>
              <a:rPr lang="en-US" sz="2800" dirty="0">
                <a:latin typeface="Verdana"/>
                <a:ea typeface="Verdana"/>
                <a:cs typeface="Verdana"/>
              </a:rPr>
              <a:t>I can use the Triangle Inequality Theorem to determine if a given set of values makes a triangle.</a:t>
            </a:r>
          </a:p>
          <a:p>
            <a:pPr marL="444500" indent="-444500">
              <a:buFont typeface="Wingdings" pitchFamily="2" charset="2"/>
              <a:buChar char="q"/>
            </a:pPr>
            <a:endParaRPr lang="en-PH" sz="2800" dirty="0">
              <a:latin typeface="Cambria"/>
              <a:ea typeface="Cambria"/>
              <a:cs typeface="Cambria"/>
            </a:endParaRPr>
          </a:p>
          <a:p>
            <a:pPr marL="444500" indent="-444500">
              <a:buFont typeface="Wingdings" pitchFamily="2" charset="2"/>
              <a:buChar char="q"/>
            </a:pPr>
            <a:r>
              <a:rPr lang="en-US" sz="2800" dirty="0">
                <a:latin typeface="Verdana"/>
                <a:ea typeface="Verdana"/>
                <a:cs typeface="Verdana"/>
              </a:rPr>
              <a:t>I can use the Triangle Inequality Theorem to determine possible values for the third side of triangle when given two sides.</a:t>
            </a:r>
            <a:endParaRPr lang="en-US" sz="2800" dirty="0">
              <a:solidFill>
                <a:schemeClr val="tx1"/>
              </a:solidFill>
              <a:latin typeface="Verdana"/>
              <a:ea typeface="Verdana"/>
              <a:cs typeface="Verdana"/>
              <a:sym typeface="Verdana"/>
            </a:endParaRPr>
          </a:p>
        </p:txBody>
      </p:sp>
      <p:sp>
        <p:nvSpPr>
          <p:cNvPr id="9"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4233" y="11528"/>
            <a:ext cx="1082679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5.5.1 Warm-Up: Would You Rather?</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3">
            <a:alphaModFix/>
          </a:blip>
          <a:stretch>
            <a:fillRect/>
          </a:stretch>
        </p:blipFill>
        <p:spPr>
          <a:xfrm>
            <a:off x="435706" y="296323"/>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xmlns="" id="{E1D7562E-134F-D14B-AF1A-DF40E11EF758}"/>
              </a:ext>
            </a:extLst>
          </p:cNvPr>
          <p:cNvSpPr txBox="1"/>
          <p:nvPr/>
        </p:nvSpPr>
        <p:spPr>
          <a:xfrm>
            <a:off x="503897" y="1473721"/>
            <a:ext cx="10800000" cy="4524315"/>
          </a:xfrm>
          <a:prstGeom prst="rect">
            <a:avLst/>
          </a:prstGeom>
          <a:noFill/>
        </p:spPr>
        <p:txBody>
          <a:bodyPr wrap="square" rtlCol="0">
            <a:spAutoFit/>
          </a:bodyPr>
          <a:lstStyle/>
          <a:p>
            <a:r>
              <a:rPr lang="en-US" sz="2400" dirty="0">
                <a:latin typeface="Verdana" pitchFamily="34" charset="0"/>
                <a:ea typeface="Verdana" pitchFamily="34" charset="0"/>
                <a:cs typeface="Verdana"/>
              </a:rPr>
              <a:t>The dimensions of two slices of pizza cut into triangles are given in the table.</a:t>
            </a:r>
          </a:p>
          <a:p>
            <a:endParaRPr lang="en-US" sz="2400" dirty="0">
              <a:latin typeface="Verdana" pitchFamily="34" charset="0"/>
              <a:ea typeface="Verdana" pitchFamily="34" charset="0"/>
              <a:cs typeface="Verdana"/>
            </a:endParaRPr>
          </a:p>
          <a:p>
            <a:endParaRPr lang="en-US" sz="2400" dirty="0">
              <a:latin typeface="Verdana" pitchFamily="34" charset="0"/>
              <a:ea typeface="Verdana" pitchFamily="34" charset="0"/>
              <a:cs typeface="Verdana"/>
            </a:endParaRPr>
          </a:p>
          <a:p>
            <a:endParaRPr lang="en-US" sz="2400" dirty="0">
              <a:latin typeface="Verdana" pitchFamily="34" charset="0"/>
              <a:ea typeface="Verdana" pitchFamily="34" charset="0"/>
              <a:cs typeface="Verdana"/>
            </a:endParaRPr>
          </a:p>
          <a:p>
            <a:endParaRPr lang="en-US" sz="2400" dirty="0">
              <a:latin typeface="Verdana" pitchFamily="34" charset="0"/>
              <a:ea typeface="Verdana" pitchFamily="34" charset="0"/>
              <a:cs typeface="Verdana"/>
            </a:endParaRPr>
          </a:p>
          <a:p>
            <a:endParaRPr lang="en-US" sz="2400" dirty="0">
              <a:latin typeface="Verdana" pitchFamily="34" charset="0"/>
              <a:ea typeface="Verdana" pitchFamily="34" charset="0"/>
              <a:cs typeface="Verdana"/>
            </a:endParaRPr>
          </a:p>
          <a:p>
            <a:pPr marL="457200" indent="-457200">
              <a:buSzPct val="100000"/>
              <a:buFont typeface="+mj-lt"/>
              <a:buAutoNum type="arabicPeriod"/>
            </a:pPr>
            <a:r>
              <a:rPr lang="en-US" sz="2400" dirty="0">
                <a:latin typeface="Verdana" pitchFamily="34" charset="0"/>
                <a:ea typeface="Verdana" pitchFamily="34" charset="0"/>
                <a:cs typeface="Verdana"/>
              </a:rPr>
              <a:t>Explain which slice of pizza you would rather eat.</a:t>
            </a:r>
            <a:endParaRPr lang="en-PH" sz="2400" dirty="0">
              <a:latin typeface="Verdana" pitchFamily="34" charset="0"/>
              <a:ea typeface="Verdana" pitchFamily="34" charset="0"/>
              <a:cs typeface="Cambria"/>
            </a:endParaRPr>
          </a:p>
          <a:p>
            <a:pPr marL="457200" indent="-457200">
              <a:buSzPct val="100000"/>
              <a:buFont typeface="+mj-lt"/>
              <a:buAutoNum type="arabicPeriod"/>
            </a:pPr>
            <a:endParaRPr lang="en-US" sz="2400" dirty="0">
              <a:latin typeface="Verdana" pitchFamily="34" charset="0"/>
              <a:ea typeface="Verdana" pitchFamily="34" charset="0"/>
              <a:cs typeface="Verdana"/>
            </a:endParaRPr>
          </a:p>
          <a:p>
            <a:pPr marL="457200" indent="-457200">
              <a:buSzPct val="100000"/>
              <a:buFont typeface="+mj-lt"/>
              <a:buAutoNum type="arabicPeriod"/>
            </a:pPr>
            <a:endParaRPr lang="en-US" sz="2400" dirty="0">
              <a:latin typeface="Verdana" pitchFamily="34" charset="0"/>
              <a:ea typeface="Verdana" pitchFamily="34" charset="0"/>
              <a:cs typeface="Verdana"/>
            </a:endParaRPr>
          </a:p>
          <a:p>
            <a:pPr marL="457200" indent="-457200">
              <a:buSzPct val="100000"/>
              <a:buFont typeface="+mj-lt"/>
              <a:buAutoNum type="arabicPeriod"/>
            </a:pPr>
            <a:endParaRPr lang="en-US" sz="2400" dirty="0">
              <a:latin typeface="Verdana" pitchFamily="34" charset="0"/>
              <a:ea typeface="Verdana" pitchFamily="34" charset="0"/>
              <a:cs typeface="Verdana"/>
            </a:endParaRPr>
          </a:p>
          <a:p>
            <a:pPr marL="457200" indent="-457200">
              <a:buSzPct val="100000"/>
              <a:buFont typeface="+mj-lt"/>
              <a:buAutoNum type="arabicPeriod"/>
            </a:pPr>
            <a:r>
              <a:rPr lang="en-US" sz="2400" dirty="0">
                <a:latin typeface="Verdana" pitchFamily="34" charset="0"/>
                <a:ea typeface="Verdana" pitchFamily="34" charset="0"/>
                <a:cs typeface="Verdana"/>
              </a:rPr>
              <a:t>Which slice of pizza has the larger area?</a:t>
            </a:r>
            <a:endParaRPr lang="en-PH" sz="2400" dirty="0">
              <a:latin typeface="Verdana" pitchFamily="34" charset="0"/>
              <a:ea typeface="Verdana" pitchFamily="34" charset="0"/>
              <a:cs typeface="Cambria"/>
            </a:endParaRPr>
          </a:p>
        </p:txBody>
      </p:sp>
      <mc:AlternateContent xmlns:mc="http://schemas.openxmlformats.org/markup-compatibility/2006">
        <mc:Choice xmlns:a14="http://schemas.microsoft.com/office/drawing/2010/main" Requires="a14">
          <p:graphicFrame>
            <p:nvGraphicFramePr>
              <p:cNvPr id="7" name="Table 6"/>
              <p:cNvGraphicFramePr>
                <a:graphicFrameLocks noGrp="1"/>
              </p:cNvGraphicFramePr>
              <p:nvPr>
                <p:extLst>
                  <p:ext uri="{D42A27DB-BD31-4B8C-83A1-F6EECF244321}">
                    <p14:modId xmlns:p14="http://schemas.microsoft.com/office/powerpoint/2010/main" val="1360310778"/>
                  </p:ext>
                </p:extLst>
              </p:nvPr>
            </p:nvGraphicFramePr>
            <p:xfrm>
              <a:off x="3154926" y="2280081"/>
              <a:ext cx="6480000" cy="1296000"/>
            </p:xfrm>
            <a:graphic>
              <a:graphicData uri="http://schemas.openxmlformats.org/drawingml/2006/table">
                <a:tbl>
                  <a:tblPr firstRow="1" firstCol="1" bandRow="1"/>
                  <a:tblGrid>
                    <a:gridCol w="144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520000">
                      <a:extLst>
                        <a:ext uri="{9D8B030D-6E8A-4147-A177-3AD203B41FA5}">
                          <a16:colId xmlns:a16="http://schemas.microsoft.com/office/drawing/2014/main" xmlns="" val="20002"/>
                        </a:ext>
                      </a:extLst>
                    </a:gridCol>
                  </a:tblGrid>
                  <a:tr h="432000">
                    <a:tc>
                      <a:txBody>
                        <a:bodyPr/>
                        <a:lstStyle/>
                        <a:p>
                          <a:pPr algn="ctr">
                            <a:spcAft>
                              <a:spcPts val="0"/>
                            </a:spcAft>
                          </a:pPr>
                          <a:r>
                            <a:rPr lang="en-US" sz="2000" u="none" strike="noStrike" dirty="0">
                              <a:solidFill>
                                <a:srgbClr val="000000"/>
                              </a:solidFill>
                              <a:effectLst/>
                              <a:latin typeface="Verdana"/>
                              <a:ea typeface="Verdana"/>
                              <a:cs typeface="Verdana"/>
                            </a:rPr>
                            <a:t> </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solidFill>
                                <a:srgbClr val="000000"/>
                              </a:solidFill>
                              <a:effectLst/>
                              <a:latin typeface="Verdana"/>
                              <a:ea typeface="Verdana"/>
                              <a:cs typeface="Verdana"/>
                            </a:rPr>
                            <a:t>Slice A:</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solidFill>
                                <a:srgbClr val="000000"/>
                              </a:solidFill>
                              <a:effectLst/>
                              <a:latin typeface="Verdana"/>
                              <a:ea typeface="Verdana"/>
                              <a:cs typeface="Verdana"/>
                            </a:rPr>
                            <a:t>Slice B:</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432000">
                    <a:tc>
                      <a:txBody>
                        <a:bodyPr/>
                        <a:lstStyle/>
                        <a:p>
                          <a:pPr algn="ctr">
                            <a:spcAft>
                              <a:spcPts val="0"/>
                            </a:spcAft>
                          </a:pPr>
                          <a:r>
                            <a:rPr lang="en-US" sz="2000" b="1" dirty="0">
                              <a:solidFill>
                                <a:srgbClr val="000000"/>
                              </a:solidFill>
                              <a:effectLst/>
                              <a:latin typeface="Verdana"/>
                              <a:ea typeface="Verdana"/>
                              <a:cs typeface="Verdana"/>
                            </a:rPr>
                            <a:t>Height</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 xmlns:m="http://schemas.openxmlformats.org/officeDocument/2006/math">
                              <m:r>
                                <a:rPr lang="en-US" sz="2000" i="1">
                                  <a:solidFill>
                                    <a:srgbClr val="000000"/>
                                  </a:solidFill>
                                  <a:effectLst/>
                                  <a:latin typeface="Cambria Math"/>
                                  <a:ea typeface="Verdana"/>
                                  <a:cs typeface="Verdana"/>
                                </a:rPr>
                                <m:t>2.8</m:t>
                              </m:r>
                            </m:oMath>
                          </a14:m>
                          <a:r>
                            <a:rPr lang="en-US" sz="2000" dirty="0">
                              <a:solidFill>
                                <a:srgbClr val="000000"/>
                              </a:solidFill>
                              <a:effectLst/>
                              <a:latin typeface="Verdana"/>
                              <a:ea typeface="Verdana"/>
                              <a:cs typeface="Verdana"/>
                            </a:rPr>
                            <a:t> inches (in.)</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solidFill>
                                    <a:srgbClr val="000000"/>
                                  </a:solidFill>
                                  <a:effectLst/>
                                  <a:latin typeface="Cambria Math"/>
                                  <a:ea typeface="Verdana"/>
                                  <a:cs typeface="Verdana"/>
                                </a:rPr>
                                <m:t>2.5</m:t>
                              </m:r>
                            </m:oMath>
                          </a14:m>
                          <a:r>
                            <a:rPr lang="en-US" sz="2000" dirty="0">
                              <a:solidFill>
                                <a:srgbClr val="000000"/>
                              </a:solidFill>
                              <a:effectLst/>
                              <a:latin typeface="Verdana"/>
                              <a:ea typeface="Verdana"/>
                              <a:cs typeface="Verdana"/>
                            </a:rPr>
                            <a:t> in.</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32000">
                    <a:tc>
                      <a:txBody>
                        <a:bodyPr/>
                        <a:lstStyle/>
                        <a:p>
                          <a:pPr algn="ctr">
                            <a:spcAft>
                              <a:spcPts val="0"/>
                            </a:spcAft>
                          </a:pPr>
                          <a:r>
                            <a:rPr lang="en-US" sz="2000" b="1" dirty="0">
                              <a:solidFill>
                                <a:srgbClr val="000000"/>
                              </a:solidFill>
                              <a:effectLst/>
                              <a:latin typeface="Verdana"/>
                              <a:ea typeface="Verdana"/>
                              <a:cs typeface="Verdana"/>
                            </a:rPr>
                            <a:t>Base</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14:m>
                            <m:oMath xmlns:m="http://schemas.openxmlformats.org/officeDocument/2006/math">
                              <m:r>
                                <a:rPr lang="en-US" sz="2000" i="1">
                                  <a:solidFill>
                                    <a:srgbClr val="000000"/>
                                  </a:solidFill>
                                  <a:effectLst/>
                                  <a:latin typeface="Cambria Math"/>
                                  <a:ea typeface="Verdana"/>
                                  <a:cs typeface="Verdana"/>
                                </a:rPr>
                                <m:t>6.2</m:t>
                              </m:r>
                            </m:oMath>
                          </a14:m>
                          <a:r>
                            <a:rPr lang="en-US" sz="2000" dirty="0">
                              <a:solidFill>
                                <a:srgbClr val="000000"/>
                              </a:solidFill>
                              <a:effectLst/>
                              <a:latin typeface="Verdana"/>
                              <a:ea typeface="Verdana"/>
                              <a:cs typeface="Verdana"/>
                            </a:rPr>
                            <a:t> in.</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solidFill>
                                    <a:srgbClr val="000000"/>
                                  </a:solidFill>
                                  <a:effectLst/>
                                  <a:latin typeface="Cambria Math"/>
                                  <a:ea typeface="Verdana"/>
                                  <a:cs typeface="Verdana"/>
                                </a:rPr>
                                <m:t>6.6</m:t>
                              </m:r>
                            </m:oMath>
                          </a14:m>
                          <a:r>
                            <a:rPr lang="en-US" sz="2000" dirty="0">
                              <a:solidFill>
                                <a:srgbClr val="000000"/>
                              </a:solidFill>
                              <a:effectLst/>
                              <a:latin typeface="Verdana"/>
                              <a:ea typeface="Verdana"/>
                              <a:cs typeface="Verdana"/>
                            </a:rPr>
                            <a:t> in.</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mc:Choice>
        <mc:Fallback>
          <p:graphicFrame>
            <p:nvGraphicFramePr>
              <p:cNvPr id="7" name="Table 6"/>
              <p:cNvGraphicFramePr>
                <a:graphicFrameLocks noGrp="1"/>
              </p:cNvGraphicFramePr>
              <p:nvPr>
                <p:extLst>
                  <p:ext uri="{D42A27DB-BD31-4B8C-83A1-F6EECF244321}">
                    <p14:modId xmlns:p14="http://schemas.microsoft.com/office/powerpoint/2010/main" val="1360310778"/>
                  </p:ext>
                </p:extLst>
              </p:nvPr>
            </p:nvGraphicFramePr>
            <p:xfrm>
              <a:off x="3154926" y="2280081"/>
              <a:ext cx="6480000" cy="1296000"/>
            </p:xfrm>
            <a:graphic>
              <a:graphicData uri="http://schemas.openxmlformats.org/drawingml/2006/table">
                <a:tbl>
                  <a:tblPr firstRow="1" firstCol="1" bandRow="1"/>
                  <a:tblGrid>
                    <a:gridCol w="1440000">
                      <a:extLst>
                        <a:ext uri="{9D8B030D-6E8A-4147-A177-3AD203B41FA5}">
                          <a16:colId xmlns:a16="http://schemas.microsoft.com/office/drawing/2014/main" xmlns:a14="http://schemas.microsoft.com/office/drawing/2010/main" xmlns="" val="20000"/>
                        </a:ext>
                      </a:extLst>
                    </a:gridCol>
                    <a:gridCol w="2520000">
                      <a:extLst>
                        <a:ext uri="{9D8B030D-6E8A-4147-A177-3AD203B41FA5}">
                          <a16:colId xmlns:a16="http://schemas.microsoft.com/office/drawing/2014/main" xmlns:a14="http://schemas.microsoft.com/office/drawing/2010/main" xmlns="" val="20001"/>
                        </a:ext>
                      </a:extLst>
                    </a:gridCol>
                    <a:gridCol w="2520000">
                      <a:extLst>
                        <a:ext uri="{9D8B030D-6E8A-4147-A177-3AD203B41FA5}">
                          <a16:colId xmlns:a16="http://schemas.microsoft.com/office/drawing/2014/main" xmlns:a14="http://schemas.microsoft.com/office/drawing/2010/main" xmlns="" val="20002"/>
                        </a:ext>
                      </a:extLst>
                    </a:gridCol>
                  </a:tblGrid>
                  <a:tr h="432000">
                    <a:tc>
                      <a:txBody>
                        <a:bodyPr/>
                        <a:lstStyle/>
                        <a:p>
                          <a:pPr algn="ctr">
                            <a:spcAft>
                              <a:spcPts val="0"/>
                            </a:spcAft>
                          </a:pPr>
                          <a:r>
                            <a:rPr lang="en-US" sz="2000" u="none" strike="noStrike" dirty="0">
                              <a:solidFill>
                                <a:srgbClr val="000000"/>
                              </a:solidFill>
                              <a:effectLst/>
                              <a:latin typeface="Verdana"/>
                              <a:ea typeface="Verdana"/>
                              <a:cs typeface="Verdana"/>
                            </a:rPr>
                            <a:t> </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solidFill>
                                <a:srgbClr val="000000"/>
                              </a:solidFill>
                              <a:effectLst/>
                              <a:latin typeface="Verdana"/>
                              <a:ea typeface="Verdana"/>
                              <a:cs typeface="Verdana"/>
                            </a:rPr>
                            <a:t>Slice A:</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solidFill>
                                <a:srgbClr val="000000"/>
                              </a:solidFill>
                              <a:effectLst/>
                              <a:latin typeface="Verdana"/>
                              <a:ea typeface="Verdana"/>
                              <a:cs typeface="Verdana"/>
                            </a:rPr>
                            <a:t>Slice B:</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10000"/>
                      </a:ext>
                    </a:extLst>
                  </a:tr>
                  <a:tr h="432000">
                    <a:tc>
                      <a:txBody>
                        <a:bodyPr/>
                        <a:lstStyle/>
                        <a:p>
                          <a:pPr algn="ctr">
                            <a:spcAft>
                              <a:spcPts val="0"/>
                            </a:spcAft>
                          </a:pPr>
                          <a:r>
                            <a:rPr lang="en-US" sz="2000" b="1" dirty="0">
                              <a:solidFill>
                                <a:srgbClr val="000000"/>
                              </a:solidFill>
                              <a:effectLst/>
                              <a:latin typeface="Verdana"/>
                              <a:ea typeface="Verdana"/>
                              <a:cs typeface="Verdana"/>
                            </a:rPr>
                            <a:t>Height</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7246" t="-102817" r="-99758" b="-12112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7627" t="-102817" b="-121127"/>
                          </a:stretch>
                        </a:blipFill>
                      </a:tcPr>
                    </a:tc>
                    <a:extLst>
                      <a:ext uri="{0D108BD9-81ED-4DB2-BD59-A6C34878D82A}">
                        <a16:rowId xmlns:a16="http://schemas.microsoft.com/office/drawing/2014/main" xmlns:a14="http://schemas.microsoft.com/office/drawing/2010/main" xmlns="" val="10001"/>
                      </a:ext>
                    </a:extLst>
                  </a:tr>
                  <a:tr h="432000">
                    <a:tc>
                      <a:txBody>
                        <a:bodyPr/>
                        <a:lstStyle/>
                        <a:p>
                          <a:pPr algn="ctr">
                            <a:spcAft>
                              <a:spcPts val="0"/>
                            </a:spcAft>
                          </a:pPr>
                          <a:r>
                            <a:rPr lang="en-US" sz="2000" b="1" dirty="0">
                              <a:solidFill>
                                <a:srgbClr val="000000"/>
                              </a:solidFill>
                              <a:effectLst/>
                              <a:latin typeface="Verdana"/>
                              <a:ea typeface="Verdana"/>
                              <a:cs typeface="Verdana"/>
                            </a:rPr>
                            <a:t>Base</a:t>
                          </a:r>
                          <a:endParaRPr lang="en-PH" sz="2000" dirty="0">
                            <a:effectLst/>
                            <a:latin typeface="Cambria"/>
                            <a:ea typeface="Cambria"/>
                            <a:cs typeface="Cambria"/>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57246" t="-202817" r="-99758" b="-21127"/>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157627" t="-202817" b="-21127"/>
                          </a:stretch>
                        </a:blipFill>
                      </a:tcPr>
                    </a:tc>
                    <a:extLst>
                      <a:ext uri="{0D108BD9-81ED-4DB2-BD59-A6C34878D82A}">
                        <a16:rowId xmlns:a16="http://schemas.microsoft.com/office/drawing/2014/main" xmlns:a14="http://schemas.microsoft.com/office/drawing/2010/main" xmlns="" val="10002"/>
                      </a:ext>
                    </a:extLst>
                  </a:tr>
                </a:tbl>
              </a:graphicData>
            </a:graphic>
          </p:graphicFrame>
        </mc:Fallback>
      </mc:AlternateContent>
      <p:sp>
        <p:nvSpPr>
          <p:cNvPr id="10"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196</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197</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52731" y="8377"/>
            <a:ext cx="1093039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5.5.2 Collaboration: Exploring the Triangle Inequality Theorem</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3198" y="29632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E44DF7DE-9172-3E4E-B74A-7A51585FB6EA}"/>
              </a:ext>
            </a:extLst>
          </p:cNvPr>
          <p:cNvSpPr txBox="1"/>
          <p:nvPr/>
        </p:nvSpPr>
        <p:spPr>
          <a:xfrm>
            <a:off x="538347" y="1465116"/>
            <a:ext cx="10800000" cy="3954929"/>
          </a:xfrm>
          <a:prstGeom prst="rect">
            <a:avLst/>
          </a:prstGeom>
          <a:noFill/>
        </p:spPr>
        <p:txBody>
          <a:bodyPr wrap="square" rtlCol="0">
            <a:spAutoFit/>
          </a:bodyPr>
          <a:lstStyle/>
          <a:p>
            <a:pPr marL="457200" indent="-457200">
              <a:spcAft>
                <a:spcPts val="1200"/>
              </a:spcAft>
              <a:buSzPct val="100000"/>
              <a:buFont typeface="+mj-lt"/>
              <a:buAutoNum type="arabicPeriod"/>
            </a:pPr>
            <a:r>
              <a:rPr lang="en-US" sz="2400" dirty="0">
                <a:latin typeface="Verdana" pitchFamily="34" charset="0"/>
                <a:ea typeface="Verdana" pitchFamily="34" charset="0"/>
                <a:cs typeface="Verdana"/>
              </a:rPr>
              <a:t>Put both of your elbows on your desk. Face your hands toward each other, then move them down until they are flat on the desk with only the fingertips touching. Slowly raise your hands up without moving your elbows. </a:t>
            </a:r>
            <a:endParaRPr lang="en-PH" sz="2400" dirty="0">
              <a:latin typeface="Verdana" pitchFamily="34" charset="0"/>
              <a:ea typeface="Verdana" pitchFamily="34" charset="0"/>
              <a:cs typeface="Cambria"/>
            </a:endParaRPr>
          </a:p>
          <a:p>
            <a:pPr marL="896938" indent="-452438">
              <a:spcAft>
                <a:spcPts val="1000"/>
              </a:spcAft>
              <a:buFont typeface="+mj-lt"/>
              <a:buAutoNum type="alphaLcPeriod"/>
            </a:pPr>
            <a:r>
              <a:rPr lang="en-US" sz="2400" dirty="0">
                <a:latin typeface="Verdana" pitchFamily="34" charset="0"/>
                <a:ea typeface="Verdana" pitchFamily="34" charset="0"/>
                <a:cs typeface="Verdana"/>
              </a:rPr>
              <a:t>What do you notice about the length of your arms and the distance between your elbows? </a:t>
            </a:r>
          </a:p>
          <a:p>
            <a:pPr marL="896938" indent="-452438">
              <a:spcAft>
                <a:spcPts val="1000"/>
              </a:spcAft>
              <a:buFont typeface="+mj-lt"/>
              <a:buAutoNum type="alphaLcPeriod"/>
            </a:pPr>
            <a:endParaRPr lang="en-US" sz="2400" dirty="0">
              <a:latin typeface="Verdana" pitchFamily="34" charset="0"/>
              <a:ea typeface="Verdana" pitchFamily="34" charset="0"/>
              <a:cs typeface="Verdana"/>
            </a:endParaRPr>
          </a:p>
          <a:p>
            <a:pPr marL="896938" indent="-452438">
              <a:spcAft>
                <a:spcPts val="1000"/>
              </a:spcAft>
              <a:buFont typeface="+mj-lt"/>
              <a:buAutoNum type="alphaLcPeriod"/>
            </a:pPr>
            <a:endParaRPr lang="en-PH" sz="2400" dirty="0">
              <a:latin typeface="Verdana" pitchFamily="34" charset="0"/>
              <a:ea typeface="Verdana" pitchFamily="34" charset="0"/>
              <a:cs typeface="Verdana"/>
            </a:endParaRPr>
          </a:p>
          <a:p>
            <a:pPr marL="896938" indent="-452438">
              <a:spcAft>
                <a:spcPts val="1000"/>
              </a:spcAft>
              <a:buFont typeface="+mj-lt"/>
              <a:buAutoNum type="alphaLcPeriod"/>
            </a:pPr>
            <a:r>
              <a:rPr lang="en-US" sz="2400" dirty="0">
                <a:latin typeface="Verdana" pitchFamily="34" charset="0"/>
                <a:ea typeface="Verdana" pitchFamily="34" charset="0"/>
                <a:cs typeface="Verdana"/>
              </a:rPr>
              <a:t>What do you wonder about creating a triangle with these lengths?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2"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197</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381" y="383757"/>
                <a:ext cx="10800000" cy="5632311"/>
              </a:xfrm>
              <a:prstGeom prst="rect">
                <a:avLst/>
              </a:prstGeom>
              <a:noFill/>
            </p:spPr>
            <p:txBody>
              <a:bodyPr wrap="square" rtlCol="0">
                <a:spAutoFit/>
              </a:bodyPr>
              <a:lstStyle/>
              <a:p>
                <a:pPr marL="457200" indent="-457200">
                  <a:buSzPct val="100000"/>
                  <a:buFont typeface="+mj-lt"/>
                  <a:buAutoNum type="arabicPeriod" startAt="2"/>
                </a:pPr>
                <a:r>
                  <a:rPr lang="en-US" sz="2000" dirty="0">
                    <a:latin typeface="Verdana"/>
                    <a:ea typeface="Verdana"/>
                    <a:cs typeface="Verdana"/>
                  </a:rPr>
                  <a:t>Roll a die to pick </a:t>
                </a:r>
                <a14:m>
                  <m:oMath xmlns:m="http://schemas.openxmlformats.org/officeDocument/2006/math">
                    <m:r>
                      <a:rPr lang="en-US" sz="2000" i="1">
                        <a:latin typeface="Cambria Math"/>
                        <a:ea typeface="Verdana"/>
                        <a:cs typeface="Verdana"/>
                      </a:rPr>
                      <m:t>3</m:t>
                    </m:r>
                  </m:oMath>
                </a14:m>
                <a:r>
                  <a:rPr lang="en-US" sz="2000" dirty="0">
                    <a:latin typeface="Verdana"/>
                    <a:ea typeface="Verdana"/>
                    <a:cs typeface="Verdana"/>
                  </a:rPr>
                  <a:t> random numbers. Record your numbers in the blanks below. Then, circle true or false to indicate if the inequality is true or not.</a:t>
                </a: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457200" indent="-457200">
                  <a:buSzPct val="100000"/>
                  <a:buFont typeface="+mj-lt"/>
                  <a:buAutoNum type="arabicPeriod" startAt="2"/>
                </a:pPr>
                <a:endParaRPr lang="en-US" sz="2000" dirty="0">
                  <a:latin typeface="Verdana"/>
                  <a:ea typeface="Verdana"/>
                  <a:cs typeface="Verdana"/>
                </a:endParaRPr>
              </a:p>
              <a:p>
                <a:pPr marL="896938" indent="-452438">
                  <a:buSzPct val="100000"/>
                  <a:buFont typeface="+mj-lt"/>
                  <a:buAutoNum type="alphaLcPeriod" startAt="4"/>
                </a:pPr>
                <a:r>
                  <a:rPr lang="en-US" sz="2000" dirty="0">
                    <a:latin typeface="Verdana" pitchFamily="34" charset="0"/>
                    <a:ea typeface="Verdana" pitchFamily="34" charset="0"/>
                    <a:cs typeface="Cambria"/>
                  </a:rPr>
                  <a:t>Did you have any false answers?</a:t>
                </a:r>
              </a:p>
              <a:p>
                <a:pPr marL="355600" indent="-355600">
                  <a:buSzPct val="100000"/>
                </a:pPr>
                <a:endParaRPr lang="en-US" sz="2000" dirty="0">
                  <a:latin typeface="Verdana" pitchFamily="34" charset="0"/>
                  <a:ea typeface="Verdana" pitchFamily="34" charset="0"/>
                  <a:cs typeface="Cambria"/>
                </a:endParaRPr>
              </a:p>
              <a:p>
                <a:pPr marL="355600" indent="-355600">
                  <a:buSzPct val="100000"/>
                </a:pPr>
                <a:endParaRPr lang="en-US" sz="2000" dirty="0">
                  <a:latin typeface="Verdana" pitchFamily="34" charset="0"/>
                  <a:ea typeface="Verdana" pitchFamily="34" charset="0"/>
                  <a:cs typeface="Cambria"/>
                </a:endParaRPr>
              </a:p>
              <a:p>
                <a:pPr marL="457200" indent="-457200">
                  <a:buSzPct val="100000"/>
                  <a:buFont typeface="+mj-lt"/>
                  <a:buAutoNum type="arabicPeriod" startAt="3"/>
                </a:pPr>
                <a:r>
                  <a:rPr lang="en-US" sz="2000" dirty="0">
                    <a:latin typeface="Verdana"/>
                    <a:ea typeface="Verdana"/>
                    <a:cs typeface="Verdana"/>
                  </a:rPr>
                  <a:t>Find a partner who has a different answer for Part D. Discuss what you notice about how different values affected the truth of the inequalities. Summarize your discussion.</a:t>
                </a:r>
              </a:p>
              <a:p>
                <a:pPr marL="355600" indent="-355600">
                  <a:buSzPct val="100000"/>
                </a:pPr>
                <a:endParaRPr lang="en-PH" sz="2000" dirty="0">
                  <a:latin typeface="Verdana" pitchFamily="34" charset="0"/>
                  <a:ea typeface="Verdana" pitchFamily="34" charset="0"/>
                  <a:cs typeface="Cambria"/>
                </a:endParaRPr>
              </a:p>
              <a:p>
                <a:pPr lvl="0">
                  <a:buSzPct val="100000"/>
                </a:pPr>
                <a:endParaRPr lang="en-US" sz="2000" dirty="0">
                  <a:latin typeface="Verdana"/>
                  <a:ea typeface="Verdana"/>
                  <a:cs typeface="Cambria"/>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381" y="383757"/>
                <a:ext cx="10800000" cy="5632311"/>
              </a:xfrm>
              <a:prstGeom prst="rect">
                <a:avLst/>
              </a:prstGeom>
              <a:blipFill rotWithShape="1">
                <a:blip r:embed="rId3"/>
                <a:stretch>
                  <a:fillRect l="-621" t="-649"/>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2652039539"/>
                  </p:ext>
                </p:extLst>
              </p:nvPr>
            </p:nvGraphicFramePr>
            <p:xfrm>
              <a:off x="796869" y="1158060"/>
              <a:ext cx="7676565" cy="2133600"/>
            </p:xfrm>
            <a:graphic>
              <a:graphicData uri="http://schemas.openxmlformats.org/drawingml/2006/table">
                <a:tbl>
                  <a:tblPr firstRow="1" firstCol="1" bandRow="1"/>
                  <a:tblGrid>
                    <a:gridCol w="1800000">
                      <a:extLst>
                        <a:ext uri="{9D8B030D-6E8A-4147-A177-3AD203B41FA5}">
                          <a16:colId xmlns:a16="http://schemas.microsoft.com/office/drawing/2014/main" xmlns="" val="20000"/>
                        </a:ext>
                      </a:extLst>
                    </a:gridCol>
                    <a:gridCol w="372110">
                      <a:extLst>
                        <a:ext uri="{9D8B030D-6E8A-4147-A177-3AD203B41FA5}">
                          <a16:colId xmlns:a16="http://schemas.microsoft.com/office/drawing/2014/main" xmlns="" val="20001"/>
                        </a:ext>
                      </a:extLst>
                    </a:gridCol>
                    <a:gridCol w="1440000">
                      <a:extLst>
                        <a:ext uri="{9D8B030D-6E8A-4147-A177-3AD203B41FA5}">
                          <a16:colId xmlns:a16="http://schemas.microsoft.com/office/drawing/2014/main" xmlns="" val="20002"/>
                        </a:ext>
                      </a:extLst>
                    </a:gridCol>
                    <a:gridCol w="372110">
                      <a:extLst>
                        <a:ext uri="{9D8B030D-6E8A-4147-A177-3AD203B41FA5}">
                          <a16:colId xmlns:a16="http://schemas.microsoft.com/office/drawing/2014/main" xmlns="" val="20003"/>
                        </a:ext>
                      </a:extLst>
                    </a:gridCol>
                    <a:gridCol w="1440000">
                      <a:extLst>
                        <a:ext uri="{9D8B030D-6E8A-4147-A177-3AD203B41FA5}">
                          <a16:colId xmlns:a16="http://schemas.microsoft.com/office/drawing/2014/main" xmlns="" val="20004"/>
                        </a:ext>
                      </a:extLst>
                    </a:gridCol>
                    <a:gridCol w="2252345">
                      <a:extLst>
                        <a:ext uri="{9D8B030D-6E8A-4147-A177-3AD203B41FA5}">
                          <a16:colId xmlns:a16="http://schemas.microsoft.com/office/drawing/2014/main" xmlns="" val="20005"/>
                        </a:ext>
                      </a:extLst>
                    </a:gridCol>
                  </a:tblGrid>
                  <a:tr h="0">
                    <a:tc>
                      <a:txBody>
                        <a:bodyPr/>
                        <a:lstStyle/>
                        <a:p>
                          <a:pPr marL="276225" indent="-342900" algn="ctr">
                            <a:spcAft>
                              <a:spcPts val="0"/>
                            </a:spcAft>
                          </a:pPr>
                          <a:r>
                            <a:rPr lang="en-US" sz="2000" dirty="0">
                              <a:effectLst/>
                              <a:latin typeface="Verdana"/>
                              <a:ea typeface="Verdana"/>
                              <a:cs typeface="Verdana"/>
                            </a:rPr>
                            <a:t>a.  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    Roll </a:t>
                          </a:r>
                          <a14:m>
                            <m:oMath xmlns:m="http://schemas.openxmlformats.org/officeDocument/2006/math">
                              <m:r>
                                <a:rPr lang="en-US" sz="2000" i="1">
                                  <a:effectLst/>
                                  <a:latin typeface="Cambria Math"/>
                                  <a:ea typeface="Verdana"/>
                                  <a:cs typeface="Verdana"/>
                                </a:rPr>
                                <m:t>1</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dirty="0">
                              <a:effectLst/>
                              <a:latin typeface="Cambria Math" pitchFamily="18" charset="0"/>
                              <a:ea typeface="Cambria Math" pitchFamily="18" charset="0"/>
                              <a:cs typeface="Verdana"/>
                            </a:rPr>
                            <a:t>+</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Roll </a:t>
                          </a:r>
                          <a14:m>
                            <m:oMath xmlns:m="http://schemas.openxmlformats.org/officeDocument/2006/math">
                              <m:r>
                                <a:rPr lang="en-US" sz="2000" i="1">
                                  <a:effectLst/>
                                  <a:latin typeface="Cambria Math"/>
                                  <a:ea typeface="Verdana"/>
                                  <a:cs typeface="Verdana"/>
                                </a:rPr>
                                <m:t>2</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dirty="0">
                              <a:effectLst/>
                              <a:latin typeface="Cambria Math" pitchFamily="18" charset="0"/>
                              <a:ea typeface="Cambria Math" pitchFamily="18" charset="0"/>
                              <a:cs typeface="Verdana"/>
                            </a:rPr>
                            <a:t>&gt; </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Roll </a:t>
                          </a:r>
                          <a14:m>
                            <m:oMath xmlns:m="http://schemas.openxmlformats.org/officeDocument/2006/math">
                              <m:r>
                                <a:rPr lang="en-US" sz="2000" i="1">
                                  <a:effectLst/>
                                  <a:latin typeface="Cambria Math"/>
                                  <a:ea typeface="Verdana"/>
                                  <a:cs typeface="Verdana"/>
                                </a:rPr>
                                <m:t>3</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true or false</a:t>
                          </a:r>
                          <a:endParaRPr lang="en-PH" sz="2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r h="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a:effectLst/>
                              <a:latin typeface="Cambria Math" pitchFamily="18" charset="0"/>
                              <a:ea typeface="Cambria Math" pitchFamily="18" charset="0"/>
                              <a:cs typeface="Verdana"/>
                            </a:rPr>
                            <a:t> </a:t>
                          </a:r>
                          <a:endParaRPr lang="en-PH" sz="1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a:effectLst/>
                              <a:latin typeface="Cambria Math" pitchFamily="18" charset="0"/>
                              <a:ea typeface="Cambria Math" pitchFamily="18" charset="0"/>
                              <a:cs typeface="Verdana"/>
                            </a:rPr>
                            <a:t> </a:t>
                          </a:r>
                          <a:endParaRPr lang="en-PH" sz="1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1"/>
                      </a:ext>
                    </a:extLst>
                  </a:tr>
                  <a:tr h="0">
                    <a:tc>
                      <a:txBody>
                        <a:bodyPr/>
                        <a:lstStyle/>
                        <a:p>
                          <a:pPr marL="276225" indent="-342900" algn="ctr">
                            <a:spcAft>
                              <a:spcPts val="0"/>
                            </a:spcAft>
                          </a:pPr>
                          <a:r>
                            <a:rPr lang="en-US" sz="2000" dirty="0">
                              <a:effectLst/>
                              <a:latin typeface="Verdana"/>
                              <a:ea typeface="Verdana"/>
                              <a:cs typeface="Verdana"/>
                            </a:rPr>
                            <a:t>b.  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    Roll </a:t>
                          </a:r>
                          <a14:m>
                            <m:oMath xmlns:m="http://schemas.openxmlformats.org/officeDocument/2006/math">
                              <m:r>
                                <a:rPr lang="en-US" sz="2000" i="1">
                                  <a:effectLst/>
                                  <a:latin typeface="Cambria Math"/>
                                  <a:ea typeface="Verdana"/>
                                  <a:cs typeface="Verdana"/>
                                </a:rPr>
                                <m:t>2</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a:effectLst/>
                              <a:latin typeface="Cambria Math" pitchFamily="18" charset="0"/>
                              <a:ea typeface="Cambria Math" pitchFamily="18" charset="0"/>
                              <a:cs typeface="Verdana"/>
                            </a:rPr>
                            <a:t>+</a:t>
                          </a:r>
                          <a:endParaRPr lang="en-PH" sz="2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a:effectLst/>
                              <a:latin typeface="Verdana"/>
                              <a:ea typeface="Verdana"/>
                              <a:cs typeface="Verdana"/>
                            </a:rPr>
                            <a:t>_____</a:t>
                          </a:r>
                          <a:endParaRPr lang="en-PH" sz="2000">
                            <a:effectLst/>
                            <a:latin typeface="Cambria"/>
                            <a:ea typeface="Cambria"/>
                            <a:cs typeface="Cambria"/>
                          </a:endParaRPr>
                        </a:p>
                        <a:p>
                          <a:pPr marL="276225" indent="-228600" algn="ctr">
                            <a:spcAft>
                              <a:spcPts val="0"/>
                            </a:spcAft>
                          </a:pPr>
                          <a:r>
                            <a:rPr lang="en-US" sz="2000">
                              <a:effectLst/>
                              <a:latin typeface="Verdana"/>
                              <a:ea typeface="Verdana"/>
                              <a:cs typeface="Verdana"/>
                            </a:rPr>
                            <a:t>Roll </a:t>
                          </a:r>
                          <a14:m>
                            <m:oMath xmlns:m="http://schemas.openxmlformats.org/officeDocument/2006/math">
                              <m:r>
                                <a:rPr lang="en-US" sz="2000" i="1">
                                  <a:effectLst/>
                                  <a:latin typeface="Cambria Math"/>
                                  <a:ea typeface="Verdana"/>
                                  <a:cs typeface="Verdana"/>
                                </a:rPr>
                                <m:t>3</m:t>
                              </m:r>
                            </m:oMath>
                          </a14:m>
                          <a:endParaRPr lang="en-PH" sz="200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a:effectLst/>
                              <a:latin typeface="Cambria Math" pitchFamily="18" charset="0"/>
                              <a:ea typeface="Cambria Math" pitchFamily="18" charset="0"/>
                              <a:cs typeface="Verdana"/>
                            </a:rPr>
                            <a:t>&gt; </a:t>
                          </a:r>
                          <a:endParaRPr lang="en-PH" sz="2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a:effectLst/>
                              <a:latin typeface="Verdana"/>
                              <a:ea typeface="Verdana"/>
                              <a:cs typeface="Verdana"/>
                            </a:rPr>
                            <a:t>_____</a:t>
                          </a:r>
                          <a:endParaRPr lang="en-PH" sz="2000">
                            <a:effectLst/>
                            <a:latin typeface="Cambria"/>
                            <a:ea typeface="Cambria"/>
                            <a:cs typeface="Cambria"/>
                          </a:endParaRPr>
                        </a:p>
                        <a:p>
                          <a:pPr marL="276225" indent="-228600" algn="ctr">
                            <a:spcAft>
                              <a:spcPts val="0"/>
                            </a:spcAft>
                          </a:pPr>
                          <a:r>
                            <a:rPr lang="en-US" sz="2000">
                              <a:effectLst/>
                              <a:latin typeface="Verdana"/>
                              <a:ea typeface="Verdana"/>
                              <a:cs typeface="Verdana"/>
                            </a:rPr>
                            <a:t>Roll </a:t>
                          </a:r>
                          <a14:m>
                            <m:oMath xmlns:m="http://schemas.openxmlformats.org/officeDocument/2006/math">
                              <m:r>
                                <a:rPr lang="en-US" sz="2000" i="1">
                                  <a:effectLst/>
                                  <a:latin typeface="Cambria Math"/>
                                  <a:ea typeface="Verdana"/>
                                  <a:cs typeface="Verdana"/>
                                </a:rPr>
                                <m:t>1</m:t>
                              </m:r>
                            </m:oMath>
                          </a14:m>
                          <a:endParaRPr lang="en-PH" sz="200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a:effectLst/>
                              <a:latin typeface="Verdana"/>
                              <a:ea typeface="Verdana"/>
                              <a:cs typeface="Verdana"/>
                            </a:rPr>
                            <a:t>true or false</a:t>
                          </a:r>
                          <a:endParaRPr lang="en-PH" sz="200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2"/>
                      </a:ext>
                    </a:extLst>
                  </a:tr>
                  <a:tr h="126379">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3"/>
                      </a:ext>
                    </a:extLst>
                  </a:tr>
                  <a:tr h="0">
                    <a:tc>
                      <a:txBody>
                        <a:bodyPr/>
                        <a:lstStyle/>
                        <a:p>
                          <a:pPr marL="276225" indent="-342900" algn="ctr">
                            <a:spcAft>
                              <a:spcPts val="0"/>
                            </a:spcAft>
                          </a:pPr>
                          <a:r>
                            <a:rPr lang="en-US" sz="2000" dirty="0">
                              <a:effectLst/>
                              <a:latin typeface="Verdana"/>
                              <a:ea typeface="Verdana"/>
                              <a:cs typeface="Verdana"/>
                            </a:rPr>
                            <a:t>c.  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    Roll </a:t>
                          </a:r>
                          <a14:m>
                            <m:oMath xmlns:m="http://schemas.openxmlformats.org/officeDocument/2006/math">
                              <m:r>
                                <a:rPr lang="en-US" sz="2000" i="1">
                                  <a:effectLst/>
                                  <a:latin typeface="Cambria Math"/>
                                  <a:ea typeface="Verdana"/>
                                  <a:cs typeface="Verdana"/>
                                </a:rPr>
                                <m:t>1</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dirty="0">
                              <a:effectLst/>
                              <a:latin typeface="Cambria Math" pitchFamily="18" charset="0"/>
                              <a:ea typeface="Cambria Math" pitchFamily="18" charset="0"/>
                              <a:cs typeface="Verdana"/>
                            </a:rPr>
                            <a:t>+</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Roll </a:t>
                          </a:r>
                          <a14:m>
                            <m:oMath xmlns:m="http://schemas.openxmlformats.org/officeDocument/2006/math">
                              <m:r>
                                <a:rPr lang="en-US" sz="2000" i="1">
                                  <a:effectLst/>
                                  <a:latin typeface="Cambria Math"/>
                                  <a:ea typeface="Verdana"/>
                                  <a:cs typeface="Verdana"/>
                                </a:rPr>
                                <m:t>3</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000" dirty="0">
                              <a:effectLst/>
                              <a:latin typeface="Cambria Math" pitchFamily="18" charset="0"/>
                              <a:ea typeface="Cambria Math" pitchFamily="18" charset="0"/>
                              <a:cs typeface="Verdana"/>
                            </a:rPr>
                            <a:t>&gt; </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_____</a:t>
                          </a:r>
                          <a:endParaRPr lang="en-PH" sz="2000" dirty="0">
                            <a:effectLst/>
                            <a:latin typeface="Cambria"/>
                            <a:ea typeface="Cambria"/>
                            <a:cs typeface="Cambria"/>
                          </a:endParaRPr>
                        </a:p>
                        <a:p>
                          <a:pPr marL="276225" indent="-228600" algn="ctr">
                            <a:spcAft>
                              <a:spcPts val="0"/>
                            </a:spcAft>
                          </a:pPr>
                          <a:r>
                            <a:rPr lang="en-US" sz="2000" dirty="0">
                              <a:effectLst/>
                              <a:latin typeface="Verdana"/>
                              <a:ea typeface="Verdana"/>
                              <a:cs typeface="Verdana"/>
                            </a:rPr>
                            <a:t>Roll </a:t>
                          </a:r>
                          <a14:m>
                            <m:oMath xmlns:m="http://schemas.openxmlformats.org/officeDocument/2006/math">
                              <m:r>
                                <a:rPr lang="en-US" sz="2000" i="1">
                                  <a:effectLst/>
                                  <a:latin typeface="Cambria Math"/>
                                  <a:ea typeface="Verdana"/>
                                  <a:cs typeface="Verdana"/>
                                </a:rPr>
                                <m:t>2</m:t>
                              </m:r>
                            </m:oMath>
                          </a14:m>
                          <a:endParaRPr lang="en-PH" sz="2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000" dirty="0">
                              <a:effectLst/>
                              <a:latin typeface="Verdana"/>
                              <a:ea typeface="Verdana"/>
                              <a:cs typeface="Verdana"/>
                            </a:rPr>
                            <a:t>true or false</a:t>
                          </a:r>
                          <a:endParaRPr lang="en-PH" sz="2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4"/>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2652039539"/>
                  </p:ext>
                </p:extLst>
              </p:nvPr>
            </p:nvGraphicFramePr>
            <p:xfrm>
              <a:off x="796869" y="1158060"/>
              <a:ext cx="7676565" cy="2133600"/>
            </p:xfrm>
            <a:graphic>
              <a:graphicData uri="http://schemas.openxmlformats.org/drawingml/2006/table">
                <a:tbl>
                  <a:tblPr firstRow="1" firstCol="1" bandRow="1"/>
                  <a:tblGrid>
                    <a:gridCol w="1800000">
                      <a:extLst>
                        <a:ext uri="{9D8B030D-6E8A-4147-A177-3AD203B41FA5}">
                          <a16:colId xmlns:a16="http://schemas.microsoft.com/office/drawing/2014/main" xmlns:a14="http://schemas.microsoft.com/office/drawing/2010/main" xmlns="" val="20000"/>
                        </a:ext>
                      </a:extLst>
                    </a:gridCol>
                    <a:gridCol w="372110">
                      <a:extLst>
                        <a:ext uri="{9D8B030D-6E8A-4147-A177-3AD203B41FA5}">
                          <a16:colId xmlns:a16="http://schemas.microsoft.com/office/drawing/2014/main" xmlns:a14="http://schemas.microsoft.com/office/drawing/2010/main" xmlns="" val="20001"/>
                        </a:ext>
                      </a:extLst>
                    </a:gridCol>
                    <a:gridCol w="1440000">
                      <a:extLst>
                        <a:ext uri="{9D8B030D-6E8A-4147-A177-3AD203B41FA5}">
                          <a16:colId xmlns:a16="http://schemas.microsoft.com/office/drawing/2014/main" xmlns:a14="http://schemas.microsoft.com/office/drawing/2010/main" xmlns="" val="20002"/>
                        </a:ext>
                      </a:extLst>
                    </a:gridCol>
                    <a:gridCol w="372110">
                      <a:extLst>
                        <a:ext uri="{9D8B030D-6E8A-4147-A177-3AD203B41FA5}">
                          <a16:colId xmlns:a16="http://schemas.microsoft.com/office/drawing/2014/main" xmlns:a14="http://schemas.microsoft.com/office/drawing/2010/main" xmlns="" val="20003"/>
                        </a:ext>
                      </a:extLst>
                    </a:gridCol>
                    <a:gridCol w="1440000">
                      <a:extLst>
                        <a:ext uri="{9D8B030D-6E8A-4147-A177-3AD203B41FA5}">
                          <a16:colId xmlns:a16="http://schemas.microsoft.com/office/drawing/2014/main" xmlns:a14="http://schemas.microsoft.com/office/drawing/2010/main" xmlns="" val="20004"/>
                        </a:ext>
                      </a:extLst>
                    </a:gridCol>
                    <a:gridCol w="2252345">
                      <a:extLst>
                        <a:ext uri="{9D8B030D-6E8A-4147-A177-3AD203B41FA5}">
                          <a16:colId xmlns:a16="http://schemas.microsoft.com/office/drawing/2014/main" xmlns:a14="http://schemas.microsoft.com/office/drawing/2010/main" xmlns="" val="20005"/>
                        </a:ext>
                      </a:extLst>
                    </a:gridCol>
                  </a:tblGrid>
                  <a:tr h="609600">
                    <a:tc>
                      <a:txBody>
                        <a:bodyPr/>
                        <a:lstStyle/>
                        <a:p>
                          <a:endParaRPr lang="en-US"/>
                        </a:p>
                      </a:txBody>
                      <a:tcPr marL="68580" marR="68580" marT="0" marB="0">
                        <a:lnL>
                          <a:noFill/>
                        </a:lnL>
                        <a:lnR>
                          <a:noFill/>
                        </a:lnR>
                        <a:lnT>
                          <a:noFill/>
                        </a:lnT>
                        <a:lnB>
                          <a:noFill/>
                        </a:lnB>
                        <a:blipFill rotWithShape="1">
                          <a:blip r:embed="rId4"/>
                          <a:stretch>
                            <a:fillRect l="-339" t="-13000" r="-326780" b="-275000"/>
                          </a:stretch>
                        </a:blipFill>
                      </a:tcPr>
                    </a:tc>
                    <a:tc>
                      <a:txBody>
                        <a:bodyPr/>
                        <a:lstStyle/>
                        <a:p>
                          <a:pPr marL="276225" indent="-228600">
                            <a:spcAft>
                              <a:spcPts val="0"/>
                            </a:spcAft>
                          </a:pPr>
                          <a:r>
                            <a:rPr lang="en-US" sz="2000" dirty="0">
                              <a:effectLst/>
                              <a:latin typeface="Cambria Math" pitchFamily="18" charset="0"/>
                              <a:ea typeface="Cambria Math" pitchFamily="18" charset="0"/>
                              <a:cs typeface="Verdana"/>
                            </a:rPr>
                            <a:t>+</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151271" t="-13000" r="-282627" b="-275000"/>
                          </a:stretch>
                        </a:blipFill>
                      </a:tcPr>
                    </a:tc>
                    <a:tc>
                      <a:txBody>
                        <a:bodyPr/>
                        <a:lstStyle/>
                        <a:p>
                          <a:pPr marL="276225" indent="-228600">
                            <a:spcAft>
                              <a:spcPts val="0"/>
                            </a:spcAft>
                          </a:pPr>
                          <a:r>
                            <a:rPr lang="en-US" sz="2000" dirty="0">
                              <a:effectLst/>
                              <a:latin typeface="Cambria Math" pitchFamily="18" charset="0"/>
                              <a:ea typeface="Cambria Math" pitchFamily="18" charset="0"/>
                              <a:cs typeface="Verdana"/>
                            </a:rPr>
                            <a:t>&gt; </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275949" t="-13000" r="-155696" b="-275000"/>
                          </a:stretch>
                        </a:blipFill>
                      </a:tcPr>
                    </a:tc>
                    <a:tc>
                      <a:txBody>
                        <a:bodyPr/>
                        <a:lstStyle/>
                        <a:p>
                          <a:pPr marL="276225" indent="-228600" algn="ctr">
                            <a:spcAft>
                              <a:spcPts val="0"/>
                            </a:spcAft>
                          </a:pPr>
                          <a:r>
                            <a:rPr lang="en-US" sz="2000" dirty="0">
                              <a:effectLst/>
                              <a:latin typeface="Verdana"/>
                              <a:ea typeface="Verdana"/>
                              <a:cs typeface="Verdana"/>
                            </a:rPr>
                            <a:t>true or false</a:t>
                          </a:r>
                          <a:endParaRPr lang="en-PH" sz="2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0"/>
                      </a:ext>
                    </a:extLst>
                  </a:tr>
                  <a:tr h="15240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a:effectLst/>
                              <a:latin typeface="Cambria Math" pitchFamily="18" charset="0"/>
                              <a:ea typeface="Cambria Math" pitchFamily="18" charset="0"/>
                              <a:cs typeface="Verdana"/>
                            </a:rPr>
                            <a:t> </a:t>
                          </a:r>
                          <a:endParaRPr lang="en-PH" sz="1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a:effectLst/>
                              <a:latin typeface="Cambria Math" pitchFamily="18" charset="0"/>
                              <a:ea typeface="Cambria Math" pitchFamily="18" charset="0"/>
                              <a:cs typeface="Verdana"/>
                            </a:rPr>
                            <a:t> </a:t>
                          </a:r>
                          <a:endParaRPr lang="en-PH" sz="1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1"/>
                      </a:ext>
                    </a:extLst>
                  </a:tr>
                  <a:tr h="609600">
                    <a:tc>
                      <a:txBody>
                        <a:bodyPr/>
                        <a:lstStyle/>
                        <a:p>
                          <a:endParaRPr lang="en-US"/>
                        </a:p>
                      </a:txBody>
                      <a:tcPr marL="68580" marR="68580" marT="0" marB="0">
                        <a:lnL>
                          <a:noFill/>
                        </a:lnL>
                        <a:lnR>
                          <a:noFill/>
                        </a:lnR>
                        <a:lnT>
                          <a:noFill/>
                        </a:lnT>
                        <a:lnB>
                          <a:noFill/>
                        </a:lnB>
                        <a:blipFill rotWithShape="1">
                          <a:blip r:embed="rId4"/>
                          <a:stretch>
                            <a:fillRect l="-339" t="-138000" r="-326780" b="-150000"/>
                          </a:stretch>
                        </a:blipFill>
                      </a:tcPr>
                    </a:tc>
                    <a:tc>
                      <a:txBody>
                        <a:bodyPr/>
                        <a:lstStyle/>
                        <a:p>
                          <a:pPr marL="276225" indent="-228600">
                            <a:spcAft>
                              <a:spcPts val="0"/>
                            </a:spcAft>
                          </a:pPr>
                          <a:r>
                            <a:rPr lang="en-US" sz="2000">
                              <a:effectLst/>
                              <a:latin typeface="Cambria Math" pitchFamily="18" charset="0"/>
                              <a:ea typeface="Cambria Math" pitchFamily="18" charset="0"/>
                              <a:cs typeface="Verdana"/>
                            </a:rPr>
                            <a:t>+</a:t>
                          </a:r>
                          <a:endParaRPr lang="en-PH" sz="2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151271" t="-138000" r="-282627" b="-150000"/>
                          </a:stretch>
                        </a:blipFill>
                      </a:tcPr>
                    </a:tc>
                    <a:tc>
                      <a:txBody>
                        <a:bodyPr/>
                        <a:lstStyle/>
                        <a:p>
                          <a:pPr marL="276225" indent="-228600">
                            <a:spcAft>
                              <a:spcPts val="0"/>
                            </a:spcAft>
                          </a:pPr>
                          <a:r>
                            <a:rPr lang="en-US" sz="2000">
                              <a:effectLst/>
                              <a:latin typeface="Cambria Math" pitchFamily="18" charset="0"/>
                              <a:ea typeface="Cambria Math" pitchFamily="18" charset="0"/>
                              <a:cs typeface="Verdana"/>
                            </a:rPr>
                            <a:t>&gt; </a:t>
                          </a:r>
                          <a:endParaRPr lang="en-PH" sz="20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275949" t="-138000" r="-155696" b="-150000"/>
                          </a:stretch>
                        </a:blipFill>
                      </a:tcPr>
                    </a:tc>
                    <a:tc>
                      <a:txBody>
                        <a:bodyPr/>
                        <a:lstStyle/>
                        <a:p>
                          <a:pPr marL="276225" indent="-228600" algn="ctr">
                            <a:spcAft>
                              <a:spcPts val="0"/>
                            </a:spcAft>
                          </a:pPr>
                          <a:r>
                            <a:rPr lang="en-US" sz="2000">
                              <a:effectLst/>
                              <a:latin typeface="Verdana"/>
                              <a:ea typeface="Verdana"/>
                              <a:cs typeface="Verdana"/>
                            </a:rPr>
                            <a:t>true or false</a:t>
                          </a:r>
                          <a:endParaRPr lang="en-PH" sz="200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2"/>
                      </a:ext>
                    </a:extLst>
                  </a:tr>
                  <a:tr h="15240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lgn="ctr">
                            <a:spcAft>
                              <a:spcPts val="0"/>
                            </a:spcAft>
                          </a:pP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3"/>
                      </a:ext>
                    </a:extLst>
                  </a:tr>
                  <a:tr h="609600">
                    <a:tc>
                      <a:txBody>
                        <a:bodyPr/>
                        <a:lstStyle/>
                        <a:p>
                          <a:endParaRPr lang="en-US"/>
                        </a:p>
                      </a:txBody>
                      <a:tcPr marL="68580" marR="68580" marT="0" marB="0">
                        <a:lnL>
                          <a:noFill/>
                        </a:lnL>
                        <a:lnR>
                          <a:noFill/>
                        </a:lnR>
                        <a:lnT>
                          <a:noFill/>
                        </a:lnT>
                        <a:lnB>
                          <a:noFill/>
                        </a:lnB>
                        <a:blipFill rotWithShape="1">
                          <a:blip r:embed="rId4"/>
                          <a:stretch>
                            <a:fillRect l="-339" t="-263000" r="-326780" b="-25000"/>
                          </a:stretch>
                        </a:blipFill>
                      </a:tcPr>
                    </a:tc>
                    <a:tc>
                      <a:txBody>
                        <a:bodyPr/>
                        <a:lstStyle/>
                        <a:p>
                          <a:pPr marL="276225" indent="-228600">
                            <a:spcAft>
                              <a:spcPts val="0"/>
                            </a:spcAft>
                          </a:pPr>
                          <a:r>
                            <a:rPr lang="en-US" sz="2000" dirty="0">
                              <a:effectLst/>
                              <a:latin typeface="Cambria Math" pitchFamily="18" charset="0"/>
                              <a:ea typeface="Cambria Math" pitchFamily="18" charset="0"/>
                              <a:cs typeface="Verdana"/>
                            </a:rPr>
                            <a:t>+</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151271" t="-263000" r="-282627" b="-25000"/>
                          </a:stretch>
                        </a:blipFill>
                      </a:tcPr>
                    </a:tc>
                    <a:tc>
                      <a:txBody>
                        <a:bodyPr/>
                        <a:lstStyle/>
                        <a:p>
                          <a:pPr marL="276225" indent="-228600">
                            <a:spcAft>
                              <a:spcPts val="0"/>
                            </a:spcAft>
                          </a:pPr>
                          <a:r>
                            <a:rPr lang="en-US" sz="2000" dirty="0">
                              <a:effectLst/>
                              <a:latin typeface="Cambria Math" pitchFamily="18" charset="0"/>
                              <a:ea typeface="Cambria Math" pitchFamily="18" charset="0"/>
                              <a:cs typeface="Verdana"/>
                            </a:rPr>
                            <a:t>&gt; </a:t>
                          </a:r>
                          <a:endParaRPr lang="en-PH" sz="2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275949" t="-263000" r="-155696" b="-25000"/>
                          </a:stretch>
                        </a:blipFill>
                      </a:tcPr>
                    </a:tc>
                    <a:tc>
                      <a:txBody>
                        <a:bodyPr/>
                        <a:lstStyle/>
                        <a:p>
                          <a:pPr marL="276225" indent="-228600" algn="ctr">
                            <a:spcAft>
                              <a:spcPts val="0"/>
                            </a:spcAft>
                          </a:pPr>
                          <a:r>
                            <a:rPr lang="en-US" sz="2000" dirty="0">
                              <a:effectLst/>
                              <a:latin typeface="Verdana"/>
                              <a:ea typeface="Verdana"/>
                              <a:cs typeface="Verdana"/>
                            </a:rPr>
                            <a:t>true or false</a:t>
                          </a:r>
                          <a:endParaRPr lang="en-PH" sz="2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8"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197</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94645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6812" y="383697"/>
                <a:ext cx="11726208" cy="4524315"/>
              </a:xfrm>
              <a:prstGeom prst="rect">
                <a:avLst/>
              </a:prstGeom>
              <a:noFill/>
            </p:spPr>
            <p:txBody>
              <a:bodyPr wrap="square" rtlCol="0">
                <a:spAutoFit/>
              </a:bodyPr>
              <a:lstStyle/>
              <a:p>
                <a:pPr marL="457200" indent="-457200">
                  <a:buSzPct val="100000"/>
                  <a:buFont typeface="+mj-lt"/>
                  <a:buAutoNum type="arabicPeriod" startAt="4"/>
                </a:pPr>
                <a:r>
                  <a:rPr lang="en-US" sz="2400" dirty="0">
                    <a:latin typeface="Verdana"/>
                    <a:ea typeface="Verdana"/>
                    <a:cs typeface="Verdana"/>
                  </a:rPr>
                  <a:t>Roll a die to pick </a:t>
                </a:r>
                <a14:m>
                  <m:oMath xmlns:m="http://schemas.openxmlformats.org/officeDocument/2006/math">
                    <m:r>
                      <a:rPr lang="en-US" sz="2400" i="1">
                        <a:latin typeface="Cambria Math"/>
                        <a:ea typeface="Verdana"/>
                        <a:cs typeface="Verdana"/>
                      </a:rPr>
                      <m:t>2</m:t>
                    </m:r>
                  </m:oMath>
                </a14:m>
                <a:r>
                  <a:rPr lang="en-US" sz="2400" dirty="0">
                    <a:latin typeface="Verdana"/>
                    <a:ea typeface="Verdana"/>
                    <a:cs typeface="Verdana"/>
                  </a:rPr>
                  <a:t> random numbers. Record your numbers on the blanks labeled for each roll. Leave any other lines blank.</a:t>
                </a:r>
                <a:endParaRPr lang="en-PH" sz="2400" dirty="0">
                  <a:latin typeface="Cambria"/>
                  <a:ea typeface="Cambria"/>
                  <a:cs typeface="Cambria"/>
                </a:endParaRPr>
              </a:p>
              <a:p>
                <a:pPr marL="457200" indent="-457200">
                  <a:buSzPct val="100000"/>
                  <a:buFont typeface="+mj-lt"/>
                  <a:buAutoNum type="arabicPeriod" startAt="3"/>
                </a:pPr>
                <a:endParaRPr lang="en-US" sz="2400" dirty="0">
                  <a:latin typeface="Verdana"/>
                  <a:ea typeface="Verdana"/>
                  <a:cs typeface="Verdana"/>
                </a:endParaRPr>
              </a:p>
              <a:p>
                <a:pPr marL="457200" indent="-457200">
                  <a:buSzPct val="100000"/>
                  <a:buFont typeface="+mj-lt"/>
                  <a:buAutoNum type="arabicPeriod" startAt="3"/>
                </a:pPr>
                <a:endParaRPr lang="en-US" sz="2400" dirty="0">
                  <a:latin typeface="Verdana"/>
                  <a:ea typeface="Verdana"/>
                  <a:cs typeface="Verdana"/>
                </a:endParaRPr>
              </a:p>
              <a:p>
                <a:pPr marL="457200" indent="-457200">
                  <a:buSzPct val="100000"/>
                  <a:buFont typeface="+mj-lt"/>
                  <a:buAutoNum type="arabicPeriod" startAt="3"/>
                </a:pPr>
                <a:endParaRPr lang="en-US" sz="2400" dirty="0">
                  <a:latin typeface="Verdana"/>
                  <a:ea typeface="Verdana"/>
                  <a:cs typeface="Verdana"/>
                </a:endParaRPr>
              </a:p>
              <a:p>
                <a:pPr marL="457200" indent="-457200">
                  <a:buSzPct val="100000"/>
                  <a:buFont typeface="+mj-lt"/>
                  <a:buAutoNum type="arabicPeriod" startAt="3"/>
                </a:pPr>
                <a:endParaRPr lang="en-US" sz="2400" dirty="0">
                  <a:latin typeface="Verdana"/>
                  <a:ea typeface="Verdana"/>
                  <a:cs typeface="Verdana"/>
                </a:endParaRPr>
              </a:p>
              <a:p>
                <a:pPr lvl="0">
                  <a:buSzPct val="100000"/>
                </a:pPr>
                <a:endParaRPr lang="en-US" sz="2400" dirty="0">
                  <a:latin typeface="Verdana"/>
                  <a:ea typeface="Verdana"/>
                  <a:cs typeface="Verdana"/>
                </a:endParaRPr>
              </a:p>
              <a:p>
                <a:pPr lvl="0">
                  <a:buSzPct val="100000"/>
                </a:pPr>
                <a:endParaRPr lang="en-US" sz="2400" dirty="0">
                  <a:latin typeface="Verdana"/>
                  <a:ea typeface="Verdana"/>
                  <a:cs typeface="Verdana"/>
                </a:endParaRPr>
              </a:p>
              <a:p>
                <a:pPr lvl="0">
                  <a:buSzPct val="100000"/>
                </a:pPr>
                <a:endParaRPr lang="en-US" sz="2400" dirty="0">
                  <a:latin typeface="Verdana"/>
                  <a:ea typeface="Verdana"/>
                  <a:cs typeface="Verdana"/>
                </a:endParaRPr>
              </a:p>
              <a:p>
                <a:pPr lvl="0">
                  <a:buSzPct val="100000"/>
                </a:pPr>
                <a:endParaRPr lang="en-PH" sz="2400" dirty="0">
                  <a:latin typeface="Cambria"/>
                  <a:ea typeface="Cambria"/>
                  <a:cs typeface="Verdana"/>
                </a:endParaRPr>
              </a:p>
              <a:p>
                <a:pPr marL="896938" indent="-452438">
                  <a:buSzPct val="100000"/>
                  <a:buFont typeface="+mj-lt"/>
                  <a:buAutoNum type="alphaLcPeriod" startAt="4"/>
                </a:pPr>
                <a:r>
                  <a:rPr lang="en-US" sz="2400" dirty="0">
                    <a:latin typeface="Verdana"/>
                    <a:ea typeface="Verdana"/>
                    <a:cs typeface="Verdana"/>
                  </a:rPr>
                  <a:t>Determine one value that will satisfy all three inequalities based on the values already inserted from rolling the die.</a:t>
                </a: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6812" y="383697"/>
                <a:ext cx="11726208" cy="4524315"/>
              </a:xfrm>
              <a:prstGeom prst="rect">
                <a:avLst/>
              </a:prstGeom>
              <a:blipFill rotWithShape="1">
                <a:blip r:embed="rId3"/>
                <a:stretch>
                  <a:fillRect l="-780" t="-1213" b="-2156"/>
                </a:stretch>
              </a:blipFill>
            </p:spPr>
            <p:txBody>
              <a:bodyPr/>
              <a:lstStyle/>
              <a:p>
                <a:r>
                  <a:rPr lang="en-PH">
                    <a:noFill/>
                  </a:rPr>
                  <a:t> </a:t>
                </a:r>
              </a:p>
            </p:txBody>
          </p:sp>
        </mc:Fallback>
      </mc:AlternateContent>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3504096539"/>
                  </p:ext>
                </p:extLst>
              </p:nvPr>
            </p:nvGraphicFramePr>
            <p:xfrm>
              <a:off x="904675" y="1396175"/>
              <a:ext cx="5424220" cy="2499360"/>
            </p:xfrm>
            <a:graphic>
              <a:graphicData uri="http://schemas.openxmlformats.org/drawingml/2006/table">
                <a:tbl>
                  <a:tblPr firstRow="1" firstCol="1" bandRow="1"/>
                  <a:tblGrid>
                    <a:gridCol w="1800000">
                      <a:extLst>
                        <a:ext uri="{9D8B030D-6E8A-4147-A177-3AD203B41FA5}">
                          <a16:colId xmlns:a16="http://schemas.microsoft.com/office/drawing/2014/main" xmlns="" val="20000"/>
                        </a:ext>
                      </a:extLst>
                    </a:gridCol>
                    <a:gridCol w="372110">
                      <a:extLst>
                        <a:ext uri="{9D8B030D-6E8A-4147-A177-3AD203B41FA5}">
                          <a16:colId xmlns:a16="http://schemas.microsoft.com/office/drawing/2014/main" xmlns="" val="20001"/>
                        </a:ext>
                      </a:extLst>
                    </a:gridCol>
                    <a:gridCol w="1440000">
                      <a:extLst>
                        <a:ext uri="{9D8B030D-6E8A-4147-A177-3AD203B41FA5}">
                          <a16:colId xmlns:a16="http://schemas.microsoft.com/office/drawing/2014/main" xmlns="" val="20002"/>
                        </a:ext>
                      </a:extLst>
                    </a:gridCol>
                    <a:gridCol w="372110">
                      <a:extLst>
                        <a:ext uri="{9D8B030D-6E8A-4147-A177-3AD203B41FA5}">
                          <a16:colId xmlns:a16="http://schemas.microsoft.com/office/drawing/2014/main" xmlns="" val="20003"/>
                        </a:ext>
                      </a:extLst>
                    </a:gridCol>
                    <a:gridCol w="1440000">
                      <a:extLst>
                        <a:ext uri="{9D8B030D-6E8A-4147-A177-3AD203B41FA5}">
                          <a16:colId xmlns:a16="http://schemas.microsoft.com/office/drawing/2014/main" xmlns="" val="20004"/>
                        </a:ext>
                      </a:extLst>
                    </a:gridCol>
                  </a:tblGrid>
                  <a:tr h="0">
                    <a:tc>
                      <a:txBody>
                        <a:bodyPr/>
                        <a:lstStyle/>
                        <a:p>
                          <a:pPr marL="276225" indent="-342900" algn="ctr">
                            <a:spcAft>
                              <a:spcPts val="0"/>
                            </a:spcAft>
                          </a:pPr>
                          <a:r>
                            <a:rPr lang="en-US" sz="2400" dirty="0">
                              <a:effectLst/>
                              <a:latin typeface="Verdana"/>
                              <a:ea typeface="Verdana"/>
                              <a:cs typeface="Verdana"/>
                            </a:rPr>
                            <a:t>a.  _____</a:t>
                          </a:r>
                          <a:endParaRPr lang="en-PH" sz="2400" dirty="0">
                            <a:effectLst/>
                            <a:latin typeface="Cambria"/>
                            <a:ea typeface="Cambria"/>
                            <a:cs typeface="Cambria"/>
                          </a:endParaRPr>
                        </a:p>
                        <a:p>
                          <a:pPr marL="276225" indent="-228600" algn="ctr">
                            <a:spcAft>
                              <a:spcPts val="0"/>
                            </a:spcAft>
                          </a:pPr>
                          <a:r>
                            <a:rPr lang="en-US" sz="2400" dirty="0">
                              <a:effectLst/>
                              <a:latin typeface="Verdana"/>
                              <a:ea typeface="Verdana"/>
                              <a:cs typeface="Verdana"/>
                            </a:rPr>
                            <a:t>    Roll </a:t>
                          </a:r>
                          <a14:m>
                            <m:oMath xmlns:m="http://schemas.openxmlformats.org/officeDocument/2006/math">
                              <m:r>
                                <a:rPr lang="en-US" sz="2400" i="1">
                                  <a:effectLst/>
                                  <a:latin typeface="Cambria Math"/>
                                  <a:ea typeface="Verdana"/>
                                  <a:cs typeface="Verdana"/>
                                </a:rPr>
                                <m:t>1</m:t>
                              </m:r>
                            </m:oMath>
                          </a14:m>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dirty="0">
                              <a:effectLst/>
                              <a:latin typeface="Cambria Math" pitchFamily="18" charset="0"/>
                              <a:ea typeface="Cambria Math" pitchFamily="18" charset="0"/>
                              <a:cs typeface="Verdana"/>
                            </a:rPr>
                            <a:t>+</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p>
                          <a:pPr marL="276225" indent="-228600" algn="ctr">
                            <a:spcAft>
                              <a:spcPts val="0"/>
                            </a:spcAft>
                          </a:pPr>
                          <a:r>
                            <a:rPr lang="en-US" sz="2400" dirty="0">
                              <a:effectLst/>
                              <a:latin typeface="Verdana"/>
                              <a:ea typeface="Verdana"/>
                              <a:cs typeface="Verdana"/>
                            </a:rPr>
                            <a:t>Roll </a:t>
                          </a:r>
                          <a14:m>
                            <m:oMath xmlns:m="http://schemas.openxmlformats.org/officeDocument/2006/math">
                              <m:r>
                                <a:rPr lang="en-US" sz="2400" i="1">
                                  <a:effectLst/>
                                  <a:latin typeface="Cambria Math"/>
                                  <a:ea typeface="Verdana"/>
                                  <a:cs typeface="Verdana"/>
                                </a:rPr>
                                <m:t>2</m:t>
                              </m:r>
                            </m:oMath>
                          </a14:m>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dirty="0">
                              <a:effectLst/>
                              <a:latin typeface="Cambria Math" pitchFamily="18" charset="0"/>
                              <a:ea typeface="Cambria Math" pitchFamily="18" charset="0"/>
                              <a:cs typeface="Verdana"/>
                            </a:rPr>
                            <a:t>&gt; </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0"/>
                      </a:ext>
                    </a:extLst>
                  </a:tr>
                  <a:tr h="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1"/>
                      </a:ext>
                    </a:extLst>
                  </a:tr>
                  <a:tr h="0">
                    <a:tc>
                      <a:txBody>
                        <a:bodyPr/>
                        <a:lstStyle/>
                        <a:p>
                          <a:pPr marL="276225" indent="-342900" algn="ctr">
                            <a:spcAft>
                              <a:spcPts val="0"/>
                            </a:spcAft>
                          </a:pPr>
                          <a:r>
                            <a:rPr lang="en-US" sz="2400" dirty="0">
                              <a:effectLst/>
                              <a:latin typeface="Verdana"/>
                              <a:ea typeface="Verdana"/>
                              <a:cs typeface="Verdana"/>
                            </a:rPr>
                            <a:t>b.  _____</a:t>
                          </a:r>
                          <a:endParaRPr lang="en-PH" sz="2400" dirty="0">
                            <a:effectLst/>
                            <a:latin typeface="Cambria"/>
                            <a:ea typeface="Cambria"/>
                            <a:cs typeface="Cambria"/>
                          </a:endParaRPr>
                        </a:p>
                        <a:p>
                          <a:pPr marL="276225" indent="-228600" algn="ctr">
                            <a:spcAft>
                              <a:spcPts val="0"/>
                            </a:spcAft>
                          </a:pPr>
                          <a:r>
                            <a:rPr lang="en-US" sz="2400" dirty="0">
                              <a:effectLst/>
                              <a:latin typeface="Verdana"/>
                              <a:ea typeface="Verdana"/>
                              <a:cs typeface="Verdana"/>
                            </a:rPr>
                            <a:t>    Roll </a:t>
                          </a:r>
                          <a14:m>
                            <m:oMath xmlns:m="http://schemas.openxmlformats.org/officeDocument/2006/math">
                              <m:r>
                                <a:rPr lang="en-US" sz="2400" i="1">
                                  <a:effectLst/>
                                  <a:latin typeface="Cambria Math"/>
                                  <a:ea typeface="Verdana"/>
                                  <a:cs typeface="Verdana"/>
                                </a:rPr>
                                <m:t>2</m:t>
                              </m:r>
                            </m:oMath>
                          </a14:m>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a:effectLst/>
                              <a:latin typeface="Cambria Math" pitchFamily="18" charset="0"/>
                              <a:ea typeface="Cambria Math" pitchFamily="18" charset="0"/>
                              <a:cs typeface="Verdana"/>
                            </a:rPr>
                            <a:t>+</a:t>
                          </a:r>
                          <a:endParaRPr lang="en-PH" sz="24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a:effectLst/>
                              <a:latin typeface="Cambria Math" pitchFamily="18" charset="0"/>
                              <a:ea typeface="Cambria Math" pitchFamily="18" charset="0"/>
                              <a:cs typeface="Verdana"/>
                            </a:rPr>
                            <a:t>&gt; </a:t>
                          </a:r>
                          <a:endParaRPr lang="en-PH" sz="24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a:effectLst/>
                              <a:latin typeface="Verdana"/>
                              <a:ea typeface="Verdana"/>
                              <a:cs typeface="Verdana"/>
                            </a:rPr>
                            <a:t>_____</a:t>
                          </a:r>
                          <a:endParaRPr lang="en-PH" sz="2400">
                            <a:effectLst/>
                            <a:latin typeface="Cambria"/>
                            <a:ea typeface="Cambria"/>
                            <a:cs typeface="Cambria"/>
                          </a:endParaRPr>
                        </a:p>
                        <a:p>
                          <a:pPr marL="276225" indent="-228600" algn="ctr">
                            <a:spcAft>
                              <a:spcPts val="0"/>
                            </a:spcAft>
                          </a:pPr>
                          <a:r>
                            <a:rPr lang="en-US" sz="2400">
                              <a:effectLst/>
                              <a:latin typeface="Verdana"/>
                              <a:ea typeface="Verdana"/>
                              <a:cs typeface="Verdana"/>
                            </a:rPr>
                            <a:t>Roll </a:t>
                          </a:r>
                          <a14:m>
                            <m:oMath xmlns:m="http://schemas.openxmlformats.org/officeDocument/2006/math">
                              <m:r>
                                <a:rPr lang="en-US" sz="2400" i="1">
                                  <a:effectLst/>
                                  <a:latin typeface="Cambria Math"/>
                                  <a:ea typeface="Verdana"/>
                                  <a:cs typeface="Verdana"/>
                                </a:rPr>
                                <m:t>1</m:t>
                              </m:r>
                            </m:oMath>
                          </a14:m>
                          <a:endParaRPr lang="en-PH" sz="240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2"/>
                      </a:ext>
                    </a:extLst>
                  </a:tr>
                  <a:tr h="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3"/>
                      </a:ext>
                    </a:extLst>
                  </a:tr>
                  <a:tr h="0">
                    <a:tc>
                      <a:txBody>
                        <a:bodyPr/>
                        <a:lstStyle/>
                        <a:p>
                          <a:pPr marL="276225" indent="-342900" algn="ctr">
                            <a:spcAft>
                              <a:spcPts val="0"/>
                            </a:spcAft>
                          </a:pPr>
                          <a:r>
                            <a:rPr lang="en-US" sz="2400" dirty="0">
                              <a:effectLst/>
                              <a:latin typeface="Verdana"/>
                              <a:ea typeface="Verdana"/>
                              <a:cs typeface="Verdana"/>
                            </a:rPr>
                            <a:t>c.  _____</a:t>
                          </a:r>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dirty="0">
                              <a:effectLst/>
                              <a:latin typeface="Cambria Math" pitchFamily="18" charset="0"/>
                              <a:ea typeface="Cambria Math" pitchFamily="18" charset="0"/>
                              <a:cs typeface="Verdana"/>
                            </a:rPr>
                            <a:t>+</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p>
                          <a:pPr marL="276225" indent="-228600" algn="ctr">
                            <a:spcAft>
                              <a:spcPts val="0"/>
                            </a:spcAft>
                          </a:pPr>
                          <a:r>
                            <a:rPr lang="en-US" sz="2400" dirty="0">
                              <a:effectLst/>
                              <a:latin typeface="Verdana"/>
                              <a:ea typeface="Verdana"/>
                              <a:cs typeface="Verdana"/>
                            </a:rPr>
                            <a:t>Roll </a:t>
                          </a:r>
                          <a14:m>
                            <m:oMath xmlns:m="http://schemas.openxmlformats.org/officeDocument/2006/math">
                              <m:r>
                                <a:rPr lang="en-PH" sz="2400" b="0" i="1" smtClean="0">
                                  <a:effectLst/>
                                  <a:latin typeface="Cambria Math"/>
                                  <a:ea typeface="Verdana"/>
                                  <a:cs typeface="Verdana"/>
                                </a:rPr>
                                <m:t>1</m:t>
                              </m:r>
                            </m:oMath>
                          </a14:m>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dirty="0">
                              <a:effectLst/>
                              <a:latin typeface="Cambria Math" pitchFamily="18" charset="0"/>
                              <a:ea typeface="Cambria Math" pitchFamily="18" charset="0"/>
                              <a:cs typeface="Verdana"/>
                            </a:rPr>
                            <a:t>&gt; </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p>
                          <a:pPr marL="276225" indent="-228600" algn="ctr">
                            <a:spcAft>
                              <a:spcPts val="0"/>
                            </a:spcAft>
                          </a:pPr>
                          <a:r>
                            <a:rPr lang="en-US" sz="2400" dirty="0">
                              <a:effectLst/>
                              <a:latin typeface="Verdana"/>
                              <a:ea typeface="Verdana"/>
                              <a:cs typeface="Verdana"/>
                            </a:rPr>
                            <a:t>Roll </a:t>
                          </a:r>
                          <a14:m>
                            <m:oMath xmlns:m="http://schemas.openxmlformats.org/officeDocument/2006/math">
                              <m:r>
                                <a:rPr lang="en-US" sz="2400" i="1">
                                  <a:effectLst/>
                                  <a:latin typeface="Cambria Math"/>
                                  <a:ea typeface="Verdana"/>
                                  <a:cs typeface="Verdana"/>
                                </a:rPr>
                                <m:t>2</m:t>
                              </m:r>
                            </m:oMath>
                          </a14:m>
                          <a:endParaRPr lang="en-PH" sz="24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 val="10004"/>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3504096539"/>
                  </p:ext>
                </p:extLst>
              </p:nvPr>
            </p:nvGraphicFramePr>
            <p:xfrm>
              <a:off x="904675" y="1396175"/>
              <a:ext cx="5424220" cy="2499360"/>
            </p:xfrm>
            <a:graphic>
              <a:graphicData uri="http://schemas.openxmlformats.org/drawingml/2006/table">
                <a:tbl>
                  <a:tblPr firstRow="1" firstCol="1" bandRow="1"/>
                  <a:tblGrid>
                    <a:gridCol w="1800000">
                      <a:extLst>
                        <a:ext uri="{9D8B030D-6E8A-4147-A177-3AD203B41FA5}">
                          <a16:colId xmlns:a16="http://schemas.microsoft.com/office/drawing/2014/main" xmlns:a14="http://schemas.microsoft.com/office/drawing/2010/main" xmlns="" val="20000"/>
                        </a:ext>
                      </a:extLst>
                    </a:gridCol>
                    <a:gridCol w="372110">
                      <a:extLst>
                        <a:ext uri="{9D8B030D-6E8A-4147-A177-3AD203B41FA5}">
                          <a16:colId xmlns:a16="http://schemas.microsoft.com/office/drawing/2014/main" xmlns:a14="http://schemas.microsoft.com/office/drawing/2010/main" xmlns="" val="20001"/>
                        </a:ext>
                      </a:extLst>
                    </a:gridCol>
                    <a:gridCol w="1440000">
                      <a:extLst>
                        <a:ext uri="{9D8B030D-6E8A-4147-A177-3AD203B41FA5}">
                          <a16:colId xmlns:a16="http://schemas.microsoft.com/office/drawing/2014/main" xmlns:a14="http://schemas.microsoft.com/office/drawing/2010/main" xmlns="" val="20002"/>
                        </a:ext>
                      </a:extLst>
                    </a:gridCol>
                    <a:gridCol w="372110">
                      <a:extLst>
                        <a:ext uri="{9D8B030D-6E8A-4147-A177-3AD203B41FA5}">
                          <a16:colId xmlns:a16="http://schemas.microsoft.com/office/drawing/2014/main" xmlns:a14="http://schemas.microsoft.com/office/drawing/2010/main" xmlns="" val="20003"/>
                        </a:ext>
                      </a:extLst>
                    </a:gridCol>
                    <a:gridCol w="1440000">
                      <a:extLst>
                        <a:ext uri="{9D8B030D-6E8A-4147-A177-3AD203B41FA5}">
                          <a16:colId xmlns:a16="http://schemas.microsoft.com/office/drawing/2014/main" xmlns:a14="http://schemas.microsoft.com/office/drawing/2010/main" xmlns="" val="20004"/>
                        </a:ext>
                      </a:extLst>
                    </a:gridCol>
                  </a:tblGrid>
                  <a:tr h="731520">
                    <a:tc>
                      <a:txBody>
                        <a:bodyPr/>
                        <a:lstStyle/>
                        <a:p>
                          <a:endParaRPr lang="en-US"/>
                        </a:p>
                      </a:txBody>
                      <a:tcPr marL="68580" marR="68580" marT="0" marB="0">
                        <a:lnL>
                          <a:noFill/>
                        </a:lnL>
                        <a:lnR>
                          <a:noFill/>
                        </a:lnR>
                        <a:lnT>
                          <a:noFill/>
                        </a:lnT>
                        <a:lnB>
                          <a:noFill/>
                        </a:lnB>
                        <a:blipFill rotWithShape="1">
                          <a:blip r:embed="rId4"/>
                          <a:stretch>
                            <a:fillRect t="-13333" r="-202034" b="-266667"/>
                          </a:stretch>
                        </a:blipFill>
                      </a:tcPr>
                    </a:tc>
                    <a:tc>
                      <a:txBody>
                        <a:bodyPr/>
                        <a:lstStyle/>
                        <a:p>
                          <a:pPr marL="276225" indent="-228600">
                            <a:spcAft>
                              <a:spcPts val="0"/>
                            </a:spcAft>
                          </a:pPr>
                          <a:r>
                            <a:rPr lang="en-US" sz="2400" dirty="0">
                              <a:effectLst/>
                              <a:latin typeface="Cambria Math" pitchFamily="18" charset="0"/>
                              <a:ea typeface="Cambria Math" pitchFamily="18" charset="0"/>
                              <a:cs typeface="Verdana"/>
                            </a:rPr>
                            <a:t>+</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150211" t="-13333" r="-125738" b="-266667"/>
                          </a:stretch>
                        </a:blipFill>
                      </a:tcPr>
                    </a:tc>
                    <a:tc>
                      <a:txBody>
                        <a:bodyPr/>
                        <a:lstStyle/>
                        <a:p>
                          <a:pPr marL="276225" indent="-228600">
                            <a:spcAft>
                              <a:spcPts val="0"/>
                            </a:spcAft>
                          </a:pPr>
                          <a:r>
                            <a:rPr lang="en-US" sz="2400" dirty="0">
                              <a:effectLst/>
                              <a:latin typeface="Cambria Math" pitchFamily="18" charset="0"/>
                              <a:ea typeface="Cambria Math" pitchFamily="18" charset="0"/>
                              <a:cs typeface="Verdana"/>
                            </a:rPr>
                            <a:t>&gt; </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0"/>
                      </a:ext>
                    </a:extLst>
                  </a:tr>
                  <a:tr h="15240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1"/>
                      </a:ext>
                    </a:extLst>
                  </a:tr>
                  <a:tr h="731520">
                    <a:tc>
                      <a:txBody>
                        <a:bodyPr/>
                        <a:lstStyle/>
                        <a:p>
                          <a:endParaRPr lang="en-US"/>
                        </a:p>
                      </a:txBody>
                      <a:tcPr marL="68580" marR="68580" marT="0" marB="0">
                        <a:lnL>
                          <a:noFill/>
                        </a:lnL>
                        <a:lnR>
                          <a:noFill/>
                        </a:lnR>
                        <a:lnT>
                          <a:noFill/>
                        </a:lnT>
                        <a:lnB>
                          <a:noFill/>
                        </a:lnB>
                        <a:blipFill rotWithShape="1">
                          <a:blip r:embed="rId4"/>
                          <a:stretch>
                            <a:fillRect t="-134167" r="-202034" b="-145833"/>
                          </a:stretch>
                        </a:blipFill>
                      </a:tcPr>
                    </a:tc>
                    <a:tc>
                      <a:txBody>
                        <a:bodyPr/>
                        <a:lstStyle/>
                        <a:p>
                          <a:pPr marL="276225" indent="-228600">
                            <a:spcAft>
                              <a:spcPts val="0"/>
                            </a:spcAft>
                          </a:pPr>
                          <a:r>
                            <a:rPr lang="en-US" sz="2400">
                              <a:effectLst/>
                              <a:latin typeface="Cambria Math" pitchFamily="18" charset="0"/>
                              <a:ea typeface="Cambria Math" pitchFamily="18" charset="0"/>
                              <a:cs typeface="Verdana"/>
                            </a:rPr>
                            <a:t>+</a:t>
                          </a:r>
                          <a:endParaRPr lang="en-PH" sz="24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2400" dirty="0">
                              <a:effectLst/>
                              <a:latin typeface="Verdana"/>
                              <a:ea typeface="Verdana"/>
                              <a:cs typeface="Verdana"/>
                            </a:rPr>
                            <a:t>_____</a:t>
                          </a:r>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a:effectLst/>
                              <a:latin typeface="Cambria Math" pitchFamily="18" charset="0"/>
                              <a:ea typeface="Cambria Math" pitchFamily="18" charset="0"/>
                              <a:cs typeface="Verdana"/>
                            </a:rPr>
                            <a:t>&gt; </a:t>
                          </a:r>
                          <a:endParaRPr lang="en-PH" sz="240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277119" t="-134167" r="-424" b="-145833"/>
                          </a:stretch>
                        </a:blipFill>
                      </a:tcPr>
                    </a:tc>
                    <a:extLst>
                      <a:ext uri="{0D108BD9-81ED-4DB2-BD59-A6C34878D82A}">
                        <a16:rowId xmlns:a16="http://schemas.microsoft.com/office/drawing/2014/main" xmlns:a14="http://schemas.microsoft.com/office/drawing/2010/main" xmlns="" val="10002"/>
                      </a:ext>
                    </a:extLst>
                  </a:tr>
                  <a:tr h="152400">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1000" dirty="0">
                              <a:effectLst/>
                              <a:latin typeface="Cambria Math" pitchFamily="18" charset="0"/>
                              <a:ea typeface="Cambria Math" pitchFamily="18" charset="0"/>
                              <a:cs typeface="Verdana"/>
                            </a:rPr>
                            <a:t> </a:t>
                          </a:r>
                          <a:endParaRPr lang="en-PH" sz="10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pPr marL="276225" indent="-228600" algn="ctr">
                            <a:spcAft>
                              <a:spcPts val="0"/>
                            </a:spcAft>
                          </a:pPr>
                          <a:r>
                            <a:rPr lang="en-US" sz="1000" dirty="0">
                              <a:effectLst/>
                              <a:latin typeface="Verdana"/>
                              <a:ea typeface="Verdana"/>
                              <a:cs typeface="Verdana"/>
                            </a:rPr>
                            <a:t> </a:t>
                          </a:r>
                          <a:endParaRPr lang="en-PH" sz="1000" dirty="0">
                            <a:effectLst/>
                            <a:latin typeface="Cambria"/>
                            <a:ea typeface="Cambria"/>
                            <a:cs typeface="Cambria"/>
                          </a:endParaRPr>
                        </a:p>
                      </a:txBody>
                      <a:tcPr marL="68580" marR="68580" marT="0" marB="0">
                        <a:lnL>
                          <a:noFill/>
                        </a:lnL>
                        <a:lnR>
                          <a:noFill/>
                        </a:lnR>
                        <a:lnT>
                          <a:noFill/>
                        </a:lnT>
                        <a:lnB>
                          <a:noFill/>
                        </a:lnB>
                      </a:tcPr>
                    </a:tc>
                    <a:extLst>
                      <a:ext uri="{0D108BD9-81ED-4DB2-BD59-A6C34878D82A}">
                        <a16:rowId xmlns:a16="http://schemas.microsoft.com/office/drawing/2014/main" xmlns:a14="http://schemas.microsoft.com/office/drawing/2010/main" xmlns="" val="10003"/>
                      </a:ext>
                    </a:extLst>
                  </a:tr>
                  <a:tr h="731520">
                    <a:tc>
                      <a:txBody>
                        <a:bodyPr/>
                        <a:lstStyle/>
                        <a:p>
                          <a:pPr marL="276225" indent="-342900" algn="ctr">
                            <a:spcAft>
                              <a:spcPts val="0"/>
                            </a:spcAft>
                          </a:pPr>
                          <a:r>
                            <a:rPr lang="en-US" sz="2400" dirty="0">
                              <a:effectLst/>
                              <a:latin typeface="Verdana"/>
                              <a:ea typeface="Verdana"/>
                              <a:cs typeface="Verdana"/>
                            </a:rPr>
                            <a:t>c.  _____</a:t>
                          </a:r>
                          <a:endParaRPr lang="en-PH" sz="2400" dirty="0">
                            <a:effectLst/>
                            <a:latin typeface="Cambria"/>
                            <a:ea typeface="Cambria"/>
                            <a:cs typeface="Cambria"/>
                          </a:endParaRPr>
                        </a:p>
                      </a:txBody>
                      <a:tcPr marL="68580" marR="68580" marT="0" marB="0">
                        <a:lnL>
                          <a:noFill/>
                        </a:lnL>
                        <a:lnR>
                          <a:noFill/>
                        </a:lnR>
                        <a:lnT>
                          <a:noFill/>
                        </a:lnT>
                        <a:lnB>
                          <a:noFill/>
                        </a:lnB>
                      </a:tcPr>
                    </a:tc>
                    <a:tc>
                      <a:txBody>
                        <a:bodyPr/>
                        <a:lstStyle/>
                        <a:p>
                          <a:pPr marL="276225" indent="-228600">
                            <a:spcAft>
                              <a:spcPts val="0"/>
                            </a:spcAft>
                          </a:pPr>
                          <a:r>
                            <a:rPr lang="en-US" sz="2400" dirty="0">
                              <a:effectLst/>
                              <a:latin typeface="Cambria Math" pitchFamily="18" charset="0"/>
                              <a:ea typeface="Cambria Math" pitchFamily="18" charset="0"/>
                              <a:cs typeface="Verdana"/>
                            </a:rPr>
                            <a:t>+</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150211" t="-255000" r="-125738" b="-25000"/>
                          </a:stretch>
                        </a:blipFill>
                      </a:tcPr>
                    </a:tc>
                    <a:tc>
                      <a:txBody>
                        <a:bodyPr/>
                        <a:lstStyle/>
                        <a:p>
                          <a:pPr marL="276225" indent="-228600">
                            <a:spcAft>
                              <a:spcPts val="0"/>
                            </a:spcAft>
                          </a:pPr>
                          <a:r>
                            <a:rPr lang="en-US" sz="2400" dirty="0">
                              <a:effectLst/>
                              <a:latin typeface="Cambria Math" pitchFamily="18" charset="0"/>
                              <a:ea typeface="Cambria Math" pitchFamily="18" charset="0"/>
                              <a:cs typeface="Verdana"/>
                            </a:rPr>
                            <a:t>&gt; </a:t>
                          </a:r>
                          <a:endParaRPr lang="en-PH" sz="2400" dirty="0">
                            <a:effectLst/>
                            <a:latin typeface="Cambria Math" pitchFamily="18" charset="0"/>
                            <a:ea typeface="Cambria Math" pitchFamily="18" charset="0"/>
                            <a:cs typeface="Cambria"/>
                          </a:endParaRPr>
                        </a:p>
                      </a:txBody>
                      <a:tcPr marL="68580" marR="68580" marT="0" marB="0">
                        <a:lnL>
                          <a:noFill/>
                        </a:lnL>
                        <a:lnR>
                          <a:noFill/>
                        </a:lnR>
                        <a:lnT>
                          <a:noFill/>
                        </a:lnT>
                        <a:lnB>
                          <a:noFill/>
                        </a:lnB>
                      </a:tcPr>
                    </a:tc>
                    <a:tc>
                      <a:txBody>
                        <a:bodyPr/>
                        <a:lstStyle/>
                        <a:p>
                          <a:endParaRPr lang="en-US"/>
                        </a:p>
                      </a:txBody>
                      <a:tcPr marL="68580" marR="68580" marT="0" marB="0">
                        <a:lnL>
                          <a:noFill/>
                        </a:lnL>
                        <a:lnR>
                          <a:noFill/>
                        </a:lnR>
                        <a:lnT>
                          <a:noFill/>
                        </a:lnT>
                        <a:lnB>
                          <a:noFill/>
                        </a:lnB>
                        <a:blipFill rotWithShape="1">
                          <a:blip r:embed="rId4"/>
                          <a:stretch>
                            <a:fillRect l="-277119" t="-255000" r="-424" b="-25000"/>
                          </a:stretch>
                        </a:blipFill>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8"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197</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841022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709"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1596" y="381899"/>
            <a:ext cx="10800000" cy="2554545"/>
          </a:xfrm>
          <a:prstGeom prst="rect">
            <a:avLst/>
          </a:prstGeom>
          <a:noFill/>
        </p:spPr>
        <p:txBody>
          <a:bodyPr wrap="square" rtlCol="0">
            <a:spAutoFit/>
          </a:bodyPr>
          <a:lstStyle/>
          <a:p>
            <a:pPr marL="457200" indent="-457200">
              <a:buSzPct val="100000"/>
              <a:buFont typeface="+mj-lt"/>
              <a:buAutoNum type="arabicPeriod" startAt="5"/>
            </a:pPr>
            <a:r>
              <a:rPr lang="en-US" sz="2000" dirty="0">
                <a:latin typeface="Verdana"/>
                <a:ea typeface="Verdana"/>
                <a:cs typeface="Verdana"/>
              </a:rPr>
              <a:t>Complete the statement.</a:t>
            </a:r>
          </a:p>
          <a:p>
            <a:pPr marL="457200" indent="-457200">
              <a:buSzPct val="100000"/>
              <a:buFont typeface="+mj-lt"/>
              <a:buAutoNum type="arabicPeriod" startAt="5"/>
            </a:pPr>
            <a:endParaRPr lang="en-PH" sz="2000" dirty="0">
              <a:latin typeface="Verdana"/>
              <a:ea typeface="Verdana"/>
              <a:cs typeface="Verdana"/>
            </a:endParaRPr>
          </a:p>
          <a:p>
            <a:pPr marL="457200" indent="-457200">
              <a:buSzPct val="100000"/>
              <a:buFont typeface="+mj-lt"/>
              <a:buAutoNum type="arabicPeriod" startAt="5"/>
            </a:pPr>
            <a:endParaRPr lang="en-US" sz="2000" dirty="0">
              <a:latin typeface="Verdana"/>
              <a:ea typeface="Verdana"/>
              <a:cs typeface="Verdana"/>
            </a:endParaRPr>
          </a:p>
          <a:p>
            <a:pPr marL="457200">
              <a:buSzPct val="100000"/>
            </a:pPr>
            <a:r>
              <a:rPr lang="en-US" sz="2000" dirty="0">
                <a:latin typeface="Verdana"/>
              </a:rPr>
              <a:t>The 				         </a:t>
            </a:r>
            <a:r>
              <a:rPr lang="en-US" sz="2000" dirty="0" smtClean="0">
                <a:latin typeface="Verdana"/>
              </a:rPr>
              <a:t> says any		of </a:t>
            </a:r>
            <a:r>
              <a:rPr lang="en-US" sz="2000" dirty="0">
                <a:latin typeface="Verdana"/>
              </a:rPr>
              <a:t>a triangle is 	</a:t>
            </a:r>
            <a:r>
              <a:rPr lang="en-US" sz="2000" dirty="0" smtClean="0">
                <a:latin typeface="Verdana"/>
              </a:rPr>
              <a:t/>
            </a:r>
            <a:br>
              <a:rPr lang="en-US" sz="2000" dirty="0" smtClean="0">
                <a:latin typeface="Verdana"/>
              </a:rPr>
            </a:br>
            <a:r>
              <a:rPr lang="en-US" sz="2000" dirty="0" smtClean="0">
                <a:latin typeface="Verdana"/>
              </a:rPr>
              <a:t/>
            </a:r>
            <a:br>
              <a:rPr lang="en-US" sz="2000" dirty="0" smtClean="0">
                <a:latin typeface="Verdana"/>
              </a:rPr>
            </a:br>
            <a:r>
              <a:rPr lang="en-US" sz="2000" dirty="0" smtClean="0">
                <a:latin typeface="Verdana"/>
              </a:rPr>
              <a:t>	</a:t>
            </a:r>
            <a:br>
              <a:rPr lang="en-US" sz="2000" dirty="0" smtClean="0">
                <a:latin typeface="Verdana"/>
              </a:rPr>
            </a:br>
            <a:r>
              <a:rPr lang="en-US" sz="2000" dirty="0" smtClean="0">
                <a:latin typeface="Verdana"/>
              </a:rPr>
              <a:t>	  </a:t>
            </a:r>
            <a:r>
              <a:rPr lang="en-US" sz="2000" dirty="0">
                <a:latin typeface="Verdana"/>
              </a:rPr>
              <a:t>	  </a:t>
            </a:r>
            <a:r>
              <a:rPr lang="en-US" sz="2000" dirty="0" smtClean="0">
                <a:latin typeface="Verdana"/>
              </a:rPr>
              <a:t> than the		         of </a:t>
            </a:r>
            <a:r>
              <a:rPr lang="en-US" sz="2000" dirty="0">
                <a:latin typeface="Verdana"/>
              </a:rPr>
              <a:t>the other two sides</a:t>
            </a:r>
            <a:r>
              <a:rPr lang="en-US" sz="1600" dirty="0"/>
              <a:t>.</a:t>
            </a:r>
            <a:endParaRPr lang="en-US" sz="2000" dirty="0">
              <a:latin typeface="Verdana"/>
              <a:ea typeface="Verdana"/>
              <a:cs typeface="Verdana"/>
            </a:endParaRPr>
          </a:p>
        </p:txBody>
      </p:sp>
      <p:sp>
        <p:nvSpPr>
          <p:cNvPr id="7" name="Rectangle: Rounded Corners 44"/>
          <p:cNvSpPr/>
          <p:nvPr/>
        </p:nvSpPr>
        <p:spPr>
          <a:xfrm>
            <a:off x="1697602" y="1167171"/>
            <a:ext cx="4204462" cy="783193"/>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pitchFamily="49" charset="0"/>
              <a:buChar char="o"/>
            </a:pPr>
            <a:r>
              <a:rPr lang="en-US" sz="2000" dirty="0">
                <a:solidFill>
                  <a:srgbClr val="000000"/>
                </a:solidFill>
                <a:latin typeface="Verdana" pitchFamily="34" charset="0"/>
                <a:ea typeface="Verdana" pitchFamily="34" charset="0"/>
                <a:cs typeface="Cambria"/>
              </a:rPr>
              <a:t>Triangle Inequality Theorem</a:t>
            </a:r>
            <a:endParaRPr lang="en-US" sz="2000" dirty="0">
              <a:latin typeface="Verdana" pitchFamily="34" charset="0"/>
              <a:ea typeface="Verdana" pitchFamily="34" charset="0"/>
              <a:cs typeface="Cambria"/>
            </a:endParaRPr>
          </a:p>
          <a:p>
            <a:pPr marL="285750" indent="-285750">
              <a:buFont typeface="Courier New" pitchFamily="49" charset="0"/>
              <a:buChar char="o"/>
            </a:pPr>
            <a:r>
              <a:rPr lang="en-US" sz="2000" dirty="0">
                <a:solidFill>
                  <a:srgbClr val="000000"/>
                </a:solidFill>
                <a:latin typeface="Verdana" pitchFamily="34" charset="0"/>
                <a:ea typeface="Verdana" pitchFamily="34" charset="0"/>
                <a:cs typeface="Cambria"/>
              </a:rPr>
              <a:t>Pythagorean Theorem</a:t>
            </a:r>
            <a:endParaRPr lang="en-US" sz="2000" dirty="0">
              <a:latin typeface="Verdana" pitchFamily="34" charset="0"/>
              <a:ea typeface="Verdana" pitchFamily="34" charset="0"/>
              <a:cs typeface="Cambria"/>
            </a:endParaRPr>
          </a:p>
        </p:txBody>
      </p:sp>
      <p:sp>
        <p:nvSpPr>
          <p:cNvPr id="8" name="Rectangle: Rounded Corners 47"/>
          <p:cNvSpPr/>
          <p:nvPr/>
        </p:nvSpPr>
        <p:spPr>
          <a:xfrm>
            <a:off x="7331852" y="1076489"/>
            <a:ext cx="1371600" cy="783193"/>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66700" indent="-266700">
              <a:buFont typeface="Courier New" pitchFamily="49" charset="0"/>
              <a:buChar char="o"/>
            </a:pPr>
            <a:r>
              <a:rPr lang="en-US" sz="2000" dirty="0">
                <a:solidFill>
                  <a:srgbClr val="000000"/>
                </a:solidFill>
                <a:latin typeface="Verdana" pitchFamily="34" charset="0"/>
                <a:ea typeface="Verdana" pitchFamily="34" charset="0"/>
                <a:cs typeface="Cambria"/>
              </a:rPr>
              <a:t>side</a:t>
            </a:r>
            <a:endParaRPr lang="en-US" sz="2000" dirty="0">
              <a:latin typeface="Verdana" pitchFamily="34" charset="0"/>
              <a:ea typeface="Verdana" pitchFamily="34" charset="0"/>
              <a:cs typeface="Cambria"/>
            </a:endParaRPr>
          </a:p>
          <a:p>
            <a:pPr marL="266700" indent="-266700">
              <a:buFont typeface="Courier New" pitchFamily="49" charset="0"/>
              <a:buChar char="o"/>
            </a:pPr>
            <a:r>
              <a:rPr lang="en-US" sz="2000" dirty="0">
                <a:solidFill>
                  <a:srgbClr val="000000"/>
                </a:solidFill>
                <a:latin typeface="Verdana" pitchFamily="34" charset="0"/>
                <a:ea typeface="Verdana" pitchFamily="34" charset="0"/>
                <a:cs typeface="Cambria"/>
              </a:rPr>
              <a:t>angle</a:t>
            </a:r>
            <a:endParaRPr lang="en-US" sz="2000" dirty="0">
              <a:latin typeface="Verdana" pitchFamily="34" charset="0"/>
              <a:ea typeface="Verdana" pitchFamily="34" charset="0"/>
              <a:cs typeface="Cambria"/>
            </a:endParaRPr>
          </a:p>
        </p:txBody>
      </p:sp>
      <p:sp>
        <p:nvSpPr>
          <p:cNvPr id="9" name="Rectangle: Rounded Corners 50"/>
          <p:cNvSpPr/>
          <p:nvPr/>
        </p:nvSpPr>
        <p:spPr>
          <a:xfrm>
            <a:off x="1212507" y="2300791"/>
            <a:ext cx="1371600" cy="783193"/>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66700" indent="-266700">
              <a:buFont typeface="Courier New" pitchFamily="49" charset="0"/>
              <a:buChar char="o"/>
            </a:pPr>
            <a:r>
              <a:rPr lang="en-US" sz="2000" dirty="0">
                <a:solidFill>
                  <a:srgbClr val="000000"/>
                </a:solidFill>
                <a:latin typeface="Verdana" pitchFamily="34" charset="0"/>
                <a:ea typeface="Verdana" pitchFamily="34" charset="0"/>
                <a:cs typeface="Cambria"/>
              </a:rPr>
              <a:t>more</a:t>
            </a:r>
            <a:endParaRPr lang="en-US" sz="2000" dirty="0">
              <a:latin typeface="Verdana" pitchFamily="34" charset="0"/>
              <a:ea typeface="Verdana" pitchFamily="34" charset="0"/>
              <a:cs typeface="Cambria"/>
            </a:endParaRPr>
          </a:p>
          <a:p>
            <a:pPr marL="266700" indent="-266700">
              <a:buFont typeface="Courier New" pitchFamily="49" charset="0"/>
              <a:buChar char="o"/>
            </a:pPr>
            <a:r>
              <a:rPr lang="en-US" sz="2000" dirty="0">
                <a:solidFill>
                  <a:srgbClr val="000000"/>
                </a:solidFill>
                <a:latin typeface="Verdana" pitchFamily="34" charset="0"/>
                <a:ea typeface="Verdana" pitchFamily="34" charset="0"/>
                <a:cs typeface="Cambria"/>
              </a:rPr>
              <a:t>less</a:t>
            </a:r>
            <a:endParaRPr lang="en-US" sz="2000" dirty="0">
              <a:latin typeface="Verdana" pitchFamily="34" charset="0"/>
              <a:ea typeface="Verdana" pitchFamily="34" charset="0"/>
              <a:cs typeface="Cambria"/>
            </a:endParaRPr>
          </a:p>
        </p:txBody>
      </p:sp>
      <p:sp>
        <p:nvSpPr>
          <p:cNvPr id="13" name="Rectangle: Rounded Corners 52"/>
          <p:cNvSpPr/>
          <p:nvPr/>
        </p:nvSpPr>
        <p:spPr>
          <a:xfrm>
            <a:off x="3915969" y="2322718"/>
            <a:ext cx="1920240" cy="783193"/>
          </a:xfrm>
          <a:prstGeom prst="roundRect">
            <a:avLst/>
          </a:prstGeom>
          <a:solidFill>
            <a:schemeClr val="bg1"/>
          </a:solidFill>
          <a:ln w="19050">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pitchFamily="49" charset="0"/>
              <a:buChar char="o"/>
            </a:pPr>
            <a:r>
              <a:rPr lang="en-US" sz="2000" dirty="0">
                <a:solidFill>
                  <a:srgbClr val="000000"/>
                </a:solidFill>
                <a:latin typeface="Verdana" pitchFamily="34" charset="0"/>
                <a:ea typeface="Verdana" pitchFamily="34" charset="0"/>
                <a:cs typeface="Cambria"/>
              </a:rPr>
              <a:t>difference</a:t>
            </a:r>
            <a:endParaRPr lang="en-US" sz="2000" dirty="0">
              <a:latin typeface="Verdana" pitchFamily="34" charset="0"/>
              <a:ea typeface="Verdana" pitchFamily="34" charset="0"/>
              <a:cs typeface="Cambria"/>
            </a:endParaRPr>
          </a:p>
          <a:p>
            <a:pPr marL="285750" indent="-285750">
              <a:buFont typeface="Courier New" pitchFamily="49" charset="0"/>
              <a:buChar char="o"/>
            </a:pPr>
            <a:r>
              <a:rPr lang="en-US" sz="2000" dirty="0">
                <a:solidFill>
                  <a:srgbClr val="000000"/>
                </a:solidFill>
                <a:latin typeface="Verdana" pitchFamily="34" charset="0"/>
                <a:ea typeface="Verdana" pitchFamily="34" charset="0"/>
                <a:cs typeface="Cambria"/>
              </a:rPr>
              <a:t>sum</a:t>
            </a:r>
            <a:endParaRPr lang="en-US" sz="2000" dirty="0">
              <a:latin typeface="Verdana" pitchFamily="34" charset="0"/>
              <a:ea typeface="Verdana" pitchFamily="34" charset="0"/>
              <a:cs typeface="Cambria"/>
            </a:endParaRPr>
          </a:p>
        </p:txBody>
      </p:sp>
      <p:grpSp>
        <p:nvGrpSpPr>
          <p:cNvPr id="5" name="Group 4"/>
          <p:cNvGrpSpPr/>
          <p:nvPr/>
        </p:nvGrpSpPr>
        <p:grpSpPr>
          <a:xfrm>
            <a:off x="2584107" y="4086860"/>
            <a:ext cx="7317019" cy="894080"/>
            <a:chOff x="1107731" y="4086860"/>
            <a:chExt cx="7317019" cy="894080"/>
          </a:xfrm>
        </p:grpSpPr>
        <mc:AlternateContent xmlns:mc="http://schemas.openxmlformats.org/markup-compatibility/2006" xmlns:a14="http://schemas.microsoft.com/office/drawing/2010/main">
          <mc:Choice Requires="a14">
            <p:sp>
              <p:nvSpPr>
                <p:cNvPr id="29" name="Rectangle: Rounded Corners 11"/>
                <p:cNvSpPr/>
                <p:nvPr/>
              </p:nvSpPr>
              <p:spPr>
                <a:xfrm>
                  <a:off x="1107731" y="4086860"/>
                  <a:ext cx="7317019" cy="894080"/>
                </a:xfrm>
                <a:prstGeom prst="roundRect">
                  <a:avLst>
                    <a:gd name="adj" fmla="val 16667"/>
                  </a:avLst>
                </a:prstGeom>
                <a:solidFill>
                  <a:srgbClr val="B8E7F5"/>
                </a:solidFill>
                <a:ln w="25400" cap="flat" cmpd="sng">
                  <a:solidFill>
                    <a:srgbClr val="B8E7F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731520" tIns="91440" rIns="91425" bIns="45700" anchor="t" anchorCtr="0">
                  <a:noAutofit/>
                </a:bodyPr>
                <a:lstStyle/>
                <a:p>
                  <a:pPr lvl="0"/>
                  <a:r>
                    <a:rPr lang="en-US" sz="2000" dirty="0">
                      <a:solidFill>
                        <a:srgbClr val="00609E"/>
                      </a:solidFill>
                      <a:latin typeface="Verdana" pitchFamily="34" charset="0"/>
                      <a:ea typeface="Verdana" pitchFamily="34" charset="0"/>
                    </a:rPr>
                    <a:t>If any side is greater than or equal to the sum of the other </a:t>
                  </a:r>
                  <a14:m>
                    <m:oMath xmlns:m="http://schemas.openxmlformats.org/officeDocument/2006/math">
                      <m:r>
                        <a:rPr lang="en-US" sz="2000" i="1">
                          <a:solidFill>
                            <a:srgbClr val="00609E"/>
                          </a:solidFill>
                          <a:latin typeface="Cambria Math"/>
                        </a:rPr>
                        <m:t>2</m:t>
                      </m:r>
                    </m:oMath>
                  </a14:m>
                  <a:r>
                    <a:rPr lang="en-US" sz="2000" dirty="0">
                      <a:solidFill>
                        <a:srgbClr val="00609E"/>
                      </a:solidFill>
                      <a:latin typeface="Verdana" pitchFamily="34" charset="0"/>
                      <a:ea typeface="Verdana" pitchFamily="34" charset="0"/>
                    </a:rPr>
                    <a:t> sides, a triangle will not be formed. </a:t>
                  </a:r>
                  <a:endParaRPr lang="en-US" sz="2000" dirty="0">
                    <a:latin typeface="Verdana" pitchFamily="34" charset="0"/>
                    <a:ea typeface="Verdana" pitchFamily="34" charset="0"/>
                    <a:cs typeface="Cambria"/>
                  </a:endParaRPr>
                </a:p>
              </p:txBody>
            </p:sp>
          </mc:Choice>
          <mc:Fallback xmlns="">
            <p:sp>
              <p:nvSpPr>
                <p:cNvPr id="29" name="Rectangle: Rounded Corners 11"/>
                <p:cNvSpPr>
                  <a:spLocks noRot="1" noChangeAspect="1" noMove="1" noResize="1" noEditPoints="1" noAdjustHandles="1" noChangeArrowheads="1" noChangeShapeType="1" noTextEdit="1"/>
                </p:cNvSpPr>
                <p:nvPr/>
              </p:nvSpPr>
              <p:spPr>
                <a:xfrm>
                  <a:off x="1107731" y="4086860"/>
                  <a:ext cx="7317019" cy="894080"/>
                </a:xfrm>
                <a:prstGeom prst="roundRect">
                  <a:avLst>
                    <a:gd name="adj" fmla="val 16667"/>
                  </a:avLst>
                </a:prstGeom>
                <a:blipFill rotWithShape="1">
                  <a:blip r:embed="rId4"/>
                  <a:stretch>
                    <a:fillRect/>
                  </a:stretch>
                </a:blipFill>
                <a:ln w="25400" cap="flat" cmpd="sng">
                  <a:solidFill>
                    <a:srgbClr val="B8E7F5"/>
                  </a:solidFill>
                  <a:prstDash val="solid"/>
                  <a:round/>
                  <a:headEnd type="none" w="sm" len="sm"/>
                  <a:tailEnd type="none" w="sm" len="sm"/>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31" name="Shape 40" descr="Icon&#10;&#10;Description automatically generated"/>
            <p:cNvPicPr/>
            <p:nvPr/>
          </p:nvPicPr>
          <p:blipFill rotWithShape="1">
            <a:blip r:embed="rId5" cstate="screen">
              <a:alphaModFix/>
              <a:extLst>
                <a:ext uri="{28A0092B-C50C-407E-A947-70E740481C1C}">
                  <a14:useLocalDpi xmlns:a14="http://schemas.microsoft.com/office/drawing/2010/main"/>
                </a:ext>
              </a:extLst>
            </a:blip>
            <a:srcRect/>
            <a:stretch/>
          </p:blipFill>
          <p:spPr>
            <a:xfrm>
              <a:off x="1217586" y="4226560"/>
              <a:ext cx="539750" cy="539115"/>
            </a:xfrm>
            <a:prstGeom prst="rect">
              <a:avLst/>
            </a:prstGeom>
            <a:noFill/>
            <a:ln>
              <a:noFill/>
            </a:ln>
            <a:effectLst>
              <a:outerShdw blurRad="50800" dist="38100" dir="2700000" algn="tl" rotWithShape="0">
                <a:prstClr val="black">
                  <a:alpha val="40000"/>
                </a:prstClr>
              </a:outerShdw>
            </a:effectLst>
          </p:spPr>
        </p:pic>
      </p:grpSp>
      <p:sp>
        <p:nvSpPr>
          <p:cNvPr id="15"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198</a:t>
            </a:r>
            <a:endParaRPr i="1" dirty="0">
              <a:latin typeface="Calibri"/>
              <a:ea typeface="Calibri"/>
              <a:cs typeface="Calibri"/>
              <a:sym typeface="Calibri"/>
            </a:endParaRPr>
          </a:p>
        </p:txBody>
      </p:sp>
      <p:pic>
        <p:nvPicPr>
          <p:cNvPr id="16"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02852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36713" y="377616"/>
            <a:ext cx="10596224" cy="400110"/>
          </a:xfrm>
          <a:prstGeom prst="rect">
            <a:avLst/>
          </a:prstGeom>
          <a:noFill/>
        </p:spPr>
        <p:txBody>
          <a:bodyPr wrap="square" rtlCol="0">
            <a:spAutoFit/>
          </a:bodyPr>
          <a:lstStyle/>
          <a:p>
            <a:pPr lvl="0">
              <a:buSzPct val="100000"/>
            </a:pPr>
            <a:r>
              <a:rPr lang="en-US" sz="2000" dirty="0">
                <a:latin typeface="Verdana"/>
                <a:ea typeface="Cambria"/>
                <a:cs typeface="Cambria"/>
              </a:rPr>
              <a:t>An example and a non-example are shown.</a:t>
            </a:r>
            <a:endParaRPr lang="en-US" sz="2000" dirty="0">
              <a:latin typeface="Verdana"/>
              <a:ea typeface="Verdana"/>
              <a:cs typeface="Verdana"/>
            </a:endParaRPr>
          </a:p>
        </p:txBody>
      </p:sp>
      <p:pic>
        <p:nvPicPr>
          <p:cNvPr id="1026"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933880" y="822690"/>
            <a:ext cx="5801890" cy="2681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33880" y="3680749"/>
            <a:ext cx="6181724" cy="2475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198</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3304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xmlns=""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93014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251975" y="8377"/>
            <a:ext cx="1077566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5.5.3 Guided Practice: Applying the Triangle Inequality Theorem</a:t>
            </a:r>
          </a:p>
        </p:txBody>
      </p:sp>
      <p:pic>
        <p:nvPicPr>
          <p:cNvPr id="8" name="Picture 2" descr="Icon&#10;&#10;Description automatically generated">
            <a:extLst>
              <a:ext uri="{FF2B5EF4-FFF2-40B4-BE49-F238E27FC236}">
                <a16:creationId xmlns:a16="http://schemas.microsoft.com/office/drawing/2014/main" xmlns="" id="{B3C42596-1BDF-794D-A82A-7C54635CB81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47729" y="296323"/>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31D40250-DEDD-2C41-8538-3D4DD18CCC4A}"/>
              </a:ext>
            </a:extLst>
          </p:cNvPr>
          <p:cNvSpPr txBox="1"/>
          <p:nvPr/>
        </p:nvSpPr>
        <p:spPr>
          <a:xfrm>
            <a:off x="541466" y="1463003"/>
            <a:ext cx="11362835" cy="707886"/>
          </a:xfrm>
          <a:prstGeom prst="rect">
            <a:avLst/>
          </a:prstGeom>
          <a:noFill/>
        </p:spPr>
        <p:txBody>
          <a:bodyPr wrap="square" rtlCol="0">
            <a:spAutoFit/>
          </a:bodyPr>
          <a:lstStyle/>
          <a:p>
            <a:pPr marL="457200" indent="-457200">
              <a:buFont typeface="+mj-lt"/>
              <a:buAutoNum type="arabicPeriod"/>
            </a:pPr>
            <a:r>
              <a:rPr lang="en-US" sz="2000" dirty="0">
                <a:latin typeface="Verdana"/>
                <a:ea typeface="Verdana"/>
                <a:cs typeface="Verdana"/>
              </a:rPr>
              <a:t>Use the given sets of side lengths in the table to determine if a triangle can be formed. Use the explanation column to explain or show why or why not.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AlternateContent xmlns:mc="http://schemas.openxmlformats.org/markup-compatibility/2006">
        <mc:Choice xmlns:a14="http://schemas.microsoft.com/office/drawing/2010/main" Requires="a14">
          <p:graphicFrame>
            <p:nvGraphicFramePr>
              <p:cNvPr id="2" name="Table 1"/>
              <p:cNvGraphicFramePr>
                <a:graphicFrameLocks noGrp="1"/>
              </p:cNvGraphicFramePr>
              <p:nvPr>
                <p:extLst>
                  <p:ext uri="{D42A27DB-BD31-4B8C-83A1-F6EECF244321}">
                    <p14:modId xmlns:p14="http://schemas.microsoft.com/office/powerpoint/2010/main" val="580104025"/>
                  </p:ext>
                </p:extLst>
              </p:nvPr>
            </p:nvGraphicFramePr>
            <p:xfrm>
              <a:off x="2619375" y="2346334"/>
              <a:ext cx="7315200" cy="3810000"/>
            </p:xfrm>
            <a:graphic>
              <a:graphicData uri="http://schemas.openxmlformats.org/drawingml/2006/table">
                <a:tbl>
                  <a:tblPr firstRow="1" bandRow="1">
                    <a:tableStyleId>{A91F0D33-8C57-4600-99A7-42BC86742BE1}</a:tableStyleId>
                  </a:tblPr>
                  <a:tblGrid>
                    <a:gridCol w="1371600">
                      <a:extLst>
                        <a:ext uri="{9D8B030D-6E8A-4147-A177-3AD203B41FA5}">
                          <a16:colId xmlns:a16="http://schemas.microsoft.com/office/drawing/2014/main" xmlns="" val="20000"/>
                        </a:ext>
                      </a:extLst>
                    </a:gridCol>
                    <a:gridCol w="2032000">
                      <a:extLst>
                        <a:ext uri="{9D8B030D-6E8A-4147-A177-3AD203B41FA5}">
                          <a16:colId xmlns:a16="http://schemas.microsoft.com/office/drawing/2014/main" xmlns="" val="20001"/>
                        </a:ext>
                      </a:extLst>
                    </a:gridCol>
                    <a:gridCol w="3911600">
                      <a:extLst>
                        <a:ext uri="{9D8B030D-6E8A-4147-A177-3AD203B41FA5}">
                          <a16:colId xmlns:a16="http://schemas.microsoft.com/office/drawing/2014/main" xmlns="" val="20002"/>
                        </a:ext>
                      </a:extLst>
                    </a:gridCol>
                  </a:tblGrid>
                  <a:tr h="370840">
                    <a:tc>
                      <a:txBody>
                        <a:bodyPr/>
                        <a:lstStyle/>
                        <a:p>
                          <a:pPr algn="ctr"/>
                          <a:r>
                            <a:rPr lang="en-PH" sz="2000" b="1" dirty="0">
                              <a:latin typeface="Verdana" pitchFamily="34" charset="0"/>
                              <a:ea typeface="Verdana" pitchFamily="34" charset="0"/>
                            </a:rPr>
                            <a:t>Side</a:t>
                          </a:r>
                          <a:br>
                            <a:rPr lang="en-PH" sz="2000" b="1" dirty="0">
                              <a:latin typeface="Verdana" pitchFamily="34" charset="0"/>
                              <a:ea typeface="Verdana" pitchFamily="34" charset="0"/>
                            </a:rPr>
                          </a:br>
                          <a:r>
                            <a:rPr lang="en-PH" sz="2000" b="1" dirty="0">
                              <a:latin typeface="Verdana" pitchFamily="34" charset="0"/>
                              <a:ea typeface="Verdana" pitchFamily="34" charset="0"/>
                            </a:rPr>
                            <a:t>Lengths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Verdana"/>
                              <a:cs typeface="Verdana"/>
                            </a:rPr>
                            <a:t>Can the side lengths form a triangle?</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Verdana"/>
                              <a:cs typeface="Verdana"/>
                            </a:rPr>
                            <a:t>Explanation</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10, 2, 9</m:t>
                                </m:r>
                              </m:oMath>
                            </m:oMathPara>
                          </a14:m>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12, 2, 16</m:t>
                                </m:r>
                              </m:oMath>
                            </m:oMathPara>
                          </a14:m>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6, 9, 12</m:t>
                                </m:r>
                              </m:oMath>
                            </m:oMathPara>
                          </a14:m>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370840">
                    <a:tc>
                      <a:txBody>
                        <a:bodyPr/>
                        <a:lstStyle/>
                        <a:p>
                          <a:pPr algn="ctr"/>
                          <a14:m>
                            <m:oMathPara xmlns:m="http://schemas.openxmlformats.org/officeDocument/2006/math">
                              <m:oMathParaPr>
                                <m:jc m:val="centerGroup"/>
                              </m:oMathParaPr>
                              <m:oMath xmlns:m="http://schemas.openxmlformats.org/officeDocument/2006/math">
                                <m:r>
                                  <a:rPr lang="en-PH" sz="2000" b="0" i="1" smtClean="0">
                                    <a:latin typeface="Cambria Math"/>
                                    <a:ea typeface="Verdana" pitchFamily="34" charset="0"/>
                                  </a:rPr>
                                  <m:t>7, 6, 13</m:t>
                                </m:r>
                              </m:oMath>
                            </m:oMathPara>
                          </a14:m>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mc:Choice>
        <mc:Fallback>
          <p:graphicFrame>
            <p:nvGraphicFramePr>
              <p:cNvPr id="2" name="Table 1"/>
              <p:cNvGraphicFramePr>
                <a:graphicFrameLocks noGrp="1"/>
              </p:cNvGraphicFramePr>
              <p:nvPr>
                <p:extLst>
                  <p:ext uri="{D42A27DB-BD31-4B8C-83A1-F6EECF244321}">
                    <p14:modId xmlns:p14="http://schemas.microsoft.com/office/powerpoint/2010/main" val="580104025"/>
                  </p:ext>
                </p:extLst>
              </p:nvPr>
            </p:nvGraphicFramePr>
            <p:xfrm>
              <a:off x="2619375" y="2346334"/>
              <a:ext cx="7315200" cy="3810000"/>
            </p:xfrm>
            <a:graphic>
              <a:graphicData uri="http://schemas.openxmlformats.org/drawingml/2006/table">
                <a:tbl>
                  <a:tblPr firstRow="1" bandRow="1">
                    <a:tableStyleId>{A91F0D33-8C57-4600-99A7-42BC86742BE1}</a:tableStyleId>
                  </a:tblPr>
                  <a:tblGrid>
                    <a:gridCol w="1371600">
                      <a:extLst>
                        <a:ext uri="{9D8B030D-6E8A-4147-A177-3AD203B41FA5}">
                          <a16:colId xmlns:a16="http://schemas.microsoft.com/office/drawing/2014/main" xmlns:a14="http://schemas.microsoft.com/office/drawing/2010/main" xmlns="" val="20000"/>
                        </a:ext>
                      </a:extLst>
                    </a:gridCol>
                    <a:gridCol w="2032000">
                      <a:extLst>
                        <a:ext uri="{9D8B030D-6E8A-4147-A177-3AD203B41FA5}">
                          <a16:colId xmlns:a16="http://schemas.microsoft.com/office/drawing/2014/main" xmlns:a14="http://schemas.microsoft.com/office/drawing/2010/main" xmlns="" val="20001"/>
                        </a:ext>
                      </a:extLst>
                    </a:gridCol>
                    <a:gridCol w="3911600">
                      <a:extLst>
                        <a:ext uri="{9D8B030D-6E8A-4147-A177-3AD203B41FA5}">
                          <a16:colId xmlns:a16="http://schemas.microsoft.com/office/drawing/2014/main" xmlns:a14="http://schemas.microsoft.com/office/drawing/2010/main" xmlns="" val="20002"/>
                        </a:ext>
                      </a:extLst>
                    </a:gridCol>
                  </a:tblGrid>
                  <a:tr h="1005840">
                    <a:tc>
                      <a:txBody>
                        <a:bodyPr/>
                        <a:lstStyle/>
                        <a:p>
                          <a:pPr algn="ctr"/>
                          <a:r>
                            <a:rPr lang="en-PH" sz="2000" b="1" dirty="0">
                              <a:latin typeface="Verdana" pitchFamily="34" charset="0"/>
                              <a:ea typeface="Verdana" pitchFamily="34" charset="0"/>
                            </a:rPr>
                            <a:t>Side</a:t>
                          </a:r>
                          <a:br>
                            <a:rPr lang="en-PH" sz="2000" b="1" dirty="0">
                              <a:latin typeface="Verdana" pitchFamily="34" charset="0"/>
                              <a:ea typeface="Verdana" pitchFamily="34" charset="0"/>
                            </a:rPr>
                          </a:br>
                          <a:r>
                            <a:rPr lang="en-PH" sz="2000" b="1" dirty="0">
                              <a:latin typeface="Verdana" pitchFamily="34" charset="0"/>
                              <a:ea typeface="Verdana" pitchFamily="34" charset="0"/>
                            </a:rPr>
                            <a:t>Lengths</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Verdana"/>
                              <a:cs typeface="Verdana"/>
                            </a:rPr>
                            <a:t>Can the side lengths form a triangle?</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2000" b="1" dirty="0">
                              <a:effectLst/>
                              <a:latin typeface="Verdana"/>
                              <a:ea typeface="Verdana"/>
                              <a:cs typeface="Verdana"/>
                            </a:rPr>
                            <a:t>Explanation</a:t>
                          </a:r>
                          <a:endParaRPr lang="en-US" sz="2000" b="1"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a14="http://schemas.microsoft.com/office/drawing/2010/main" xmlns="" val="10000"/>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4" t="-147826" r="-433333" b="-318261"/>
                          </a:stretch>
                        </a:blipFill>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1"/>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4" t="-247826" r="-433333" b="-218261"/>
                          </a:stretch>
                        </a:blipFill>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2"/>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4" t="-347826" r="-433333" b="-118261"/>
                          </a:stretch>
                        </a:blipFill>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3"/>
                      </a:ext>
                    </a:extLst>
                  </a:tr>
                  <a:tr h="70104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l="-444" t="-447826" r="-433333" b="-18261"/>
                          </a:stretch>
                        </a:blipFill>
                      </a:tcPr>
                    </a:tc>
                    <a:tc>
                      <a:txBody>
                        <a:bodyPr/>
                        <a:lstStyle/>
                        <a:p>
                          <a:pPr marL="342900" indent="-342900" algn="l">
                            <a:buFont typeface="Courier New" pitchFamily="49" charset="0"/>
                            <a:buChar char="o"/>
                          </a:pPr>
                          <a:r>
                            <a:rPr lang="en-PH" sz="2000" dirty="0">
                              <a:latin typeface="Verdana" pitchFamily="34" charset="0"/>
                              <a:ea typeface="Verdana" pitchFamily="34" charset="0"/>
                            </a:rPr>
                            <a:t>Yes</a:t>
                          </a:r>
                        </a:p>
                        <a:p>
                          <a:pPr marL="342900" indent="-342900" algn="l">
                            <a:buFont typeface="Courier New" pitchFamily="49" charset="0"/>
                            <a:buChar char="o"/>
                          </a:pPr>
                          <a:r>
                            <a:rPr lang="en-PH" sz="2000" dirty="0">
                              <a:latin typeface="Verdana" pitchFamily="34" charset="0"/>
                              <a:ea typeface="Verdana" pitchFamily="34" charset="0"/>
                            </a:rPr>
                            <a:t>No</a:t>
                          </a:r>
                          <a:endParaRPr lang="en-US" sz="2000" dirty="0">
                            <a:latin typeface="Verdana" pitchFamily="34" charset="0"/>
                            <a:ea typeface="Verdana" pitchFamily="34" charset="0"/>
                          </a:endParaRPr>
                        </a:p>
                      </a:txBody>
                      <a:tcPr marL="4572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n-US" sz="2000" dirty="0">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0004"/>
                      </a:ext>
                    </a:extLst>
                  </a:tr>
                </a:tbl>
              </a:graphicData>
            </a:graphic>
          </p:graphicFrame>
        </mc:Fallback>
      </mc:AlternateContent>
      <p:sp>
        <p:nvSpPr>
          <p:cNvPr id="11"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198</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552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5588" y="387904"/>
                <a:ext cx="11429601" cy="3836948"/>
              </a:xfrm>
              <a:prstGeom prst="rect">
                <a:avLst/>
              </a:prstGeom>
              <a:noFill/>
            </p:spPr>
            <p:txBody>
              <a:bodyPr wrap="square" rtlCol="0">
                <a:spAutoFit/>
              </a:bodyPr>
              <a:lstStyle/>
              <a:p>
                <a:pPr marL="457200" indent="-457200">
                  <a:buFont typeface="+mj-lt"/>
                  <a:buAutoNum type="arabicPeriod" startAt="2"/>
                </a:pPr>
                <a:r>
                  <a:rPr lang="en-US" sz="2000" dirty="0">
                    <a:latin typeface="Verdana"/>
                    <a:ea typeface="Verdana"/>
                    <a:cs typeface="Verdana"/>
                  </a:rPr>
                  <a:t>Two side lengths of a triangle are given. Determine a third side length that could be used to form a triangle.</a:t>
                </a:r>
              </a:p>
              <a:p>
                <a:pPr marL="914400" indent="-457200">
                  <a:spcBef>
                    <a:spcPts val="2000"/>
                  </a:spcBef>
                </a:pPr>
                <a:r>
                  <a:rPr lang="en-PH" sz="2000" dirty="0">
                    <a:latin typeface="Verdana" panose="020B0604030504040204" pitchFamily="34" charset="0"/>
                    <a:ea typeface="Verdana" panose="020B0604030504040204" pitchFamily="34" charset="0"/>
                    <a:cs typeface="Verdana" panose="020B0604030504040204" pitchFamily="34" charset="0"/>
                  </a:rPr>
                  <a:t>a.	</a:t>
                </a:r>
                <a14:m>
                  <m:oMath xmlns:m="http://schemas.openxmlformats.org/officeDocument/2006/math">
                    <m:r>
                      <a:rPr lang="en-PH" sz="2000" i="1">
                        <a:latin typeface="Cambria Math"/>
                        <a:ea typeface="Verdana" panose="020B0604030504040204" pitchFamily="34" charset="0"/>
                        <a:cs typeface="Verdana" panose="020B0604030504040204" pitchFamily="34" charset="0"/>
                      </a:rPr>
                      <m:t>3, 4, </m:t>
                    </m:r>
                  </m:oMath>
                </a14:m>
                <a:r>
                  <a:rPr lang="en-US" sz="2000" dirty="0">
                    <a:latin typeface="Verdana" panose="020B0604030504040204" pitchFamily="34" charset="0"/>
                    <a:ea typeface="Verdana" panose="020B0604030504040204" pitchFamily="34" charset="0"/>
                    <a:cs typeface="Verdana" panose="020B0604030504040204" pitchFamily="34" charset="0"/>
                  </a:rPr>
                  <a:t>____</a:t>
                </a:r>
              </a:p>
              <a:p>
                <a:pPr marL="914400" indent="-457200">
                  <a:spcBef>
                    <a:spcPts val="2000"/>
                  </a:spcBef>
                </a:pPr>
                <a:r>
                  <a:rPr lang="en-PH" sz="20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PH" sz="2000" i="1">
                        <a:latin typeface="Cambria Math"/>
                        <a:ea typeface="Verdana" panose="020B0604030504040204" pitchFamily="34" charset="0"/>
                        <a:cs typeface="Verdana" panose="020B0604030504040204" pitchFamily="34" charset="0"/>
                      </a:rPr>
                      <m:t>1, 5, </m:t>
                    </m:r>
                  </m:oMath>
                </a14:m>
                <a:r>
                  <a:rPr lang="en-US" sz="2000" dirty="0">
                    <a:latin typeface="Verdana" panose="020B0604030504040204" pitchFamily="34" charset="0"/>
                    <a:ea typeface="Verdana" panose="020B0604030504040204" pitchFamily="34" charset="0"/>
                    <a:cs typeface="Verdana" panose="020B0604030504040204" pitchFamily="34" charset="0"/>
                  </a:rPr>
                  <a:t>____</a:t>
                </a:r>
              </a:p>
              <a:p>
                <a:pPr marL="914400" indent="-457200">
                  <a:spcBef>
                    <a:spcPts val="2000"/>
                  </a:spcBef>
                </a:pPr>
                <a:r>
                  <a:rPr lang="en-PH" sz="20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PH" sz="2000" i="1">
                        <a:latin typeface="Cambria Math"/>
                        <a:ea typeface="Verdana" panose="020B0604030504040204" pitchFamily="34" charset="0"/>
                        <a:cs typeface="Verdana" panose="020B0604030504040204" pitchFamily="34" charset="0"/>
                      </a:rPr>
                      <m:t>10, 20, </m:t>
                    </m:r>
                  </m:oMath>
                </a14:m>
                <a:r>
                  <a:rPr lang="en-US" sz="2000" dirty="0">
                    <a:latin typeface="Verdana" panose="020B0604030504040204" pitchFamily="34" charset="0"/>
                    <a:ea typeface="Verdana" panose="020B0604030504040204" pitchFamily="34" charset="0"/>
                    <a:cs typeface="Verdana" panose="020B0604030504040204" pitchFamily="34" charset="0"/>
                  </a:rPr>
                  <a:t>____</a:t>
                </a:r>
              </a:p>
              <a:p>
                <a:pPr marL="914400" indent="-457200">
                  <a:spcBef>
                    <a:spcPts val="2000"/>
                  </a:spcBef>
                </a:pPr>
                <a:r>
                  <a:rPr lang="en-PH" sz="2000" dirty="0">
                    <a:latin typeface="Verdana" panose="020B0604030504040204" pitchFamily="34" charset="0"/>
                    <a:ea typeface="Verdana" panose="020B0604030504040204" pitchFamily="34" charset="0"/>
                    <a:cs typeface="Verdana" panose="020B0604030504040204" pitchFamily="34" charset="0"/>
                  </a:rPr>
                  <a:t>d.	</a:t>
                </a:r>
                <a14:m>
                  <m:oMath xmlns:m="http://schemas.openxmlformats.org/officeDocument/2006/math">
                    <m:r>
                      <a:rPr lang="en-PH" sz="2000" i="1">
                        <a:latin typeface="Cambria Math"/>
                        <a:ea typeface="Verdana" panose="020B0604030504040204" pitchFamily="34" charset="0"/>
                        <a:cs typeface="Verdana" panose="020B0604030504040204" pitchFamily="34" charset="0"/>
                      </a:rPr>
                      <m:t>300, 400, </m:t>
                    </m:r>
                  </m:oMath>
                </a14:m>
                <a:r>
                  <a:rPr lang="en-US" sz="2000" dirty="0">
                    <a:latin typeface="Verdana" panose="020B0604030504040204" pitchFamily="34" charset="0"/>
                    <a:ea typeface="Verdana" panose="020B0604030504040204" pitchFamily="34" charset="0"/>
                    <a:cs typeface="Verdana" panose="020B0604030504040204" pitchFamily="34" charset="0"/>
                  </a:rPr>
                  <a:t>____</a:t>
                </a:r>
              </a:p>
              <a:p>
                <a:pPr marL="914400" indent="-457200">
                  <a:spcBef>
                    <a:spcPts val="2000"/>
                  </a:spcBef>
                  <a:buFont typeface="+mj-lt"/>
                  <a:buAutoNum type="alphaLcPeriod" startAt="5"/>
                </a:pPr>
                <a:r>
                  <a:rPr lang="en-US" sz="2000" dirty="0">
                    <a:latin typeface="Verdana"/>
                    <a:ea typeface="Verdana"/>
                    <a:cs typeface="Verdana"/>
                  </a:rPr>
                  <a:t>Find a partner who has different answers than you on any problem. Discuss whether both your answers are correct. Write a summary of your discussion.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5588" y="387904"/>
                <a:ext cx="11429601" cy="3836948"/>
              </a:xfrm>
              <a:prstGeom prst="rect">
                <a:avLst/>
              </a:prstGeom>
              <a:blipFill rotWithShape="1">
                <a:blip r:embed="rId3"/>
                <a:stretch>
                  <a:fillRect l="-587" t="-954" r="-907" b="-2067"/>
                </a:stretch>
              </a:blipFill>
            </p:spPr>
            <p:txBody>
              <a:bodyPr/>
              <a:lstStyle/>
              <a:p>
                <a:r>
                  <a:rPr lang="en-PH">
                    <a:noFill/>
                  </a:rPr>
                  <a:t> </a:t>
                </a:r>
              </a:p>
            </p:txBody>
          </p:sp>
        </mc:Fallback>
      </mc:AlternateContent>
      <p:sp>
        <p:nvSpPr>
          <p:cNvPr id="7"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709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199</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248589" y="298831"/>
            <a:ext cx="10273025"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5.5.4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3">
            <a:alphaModFix/>
          </a:blip>
          <a:srcRect/>
          <a:stretch/>
        </p:blipFill>
        <p:spPr>
          <a:xfrm>
            <a:off x="435706" y="29883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759C3E41-93EC-B84D-963F-86A3B15AC1C6}"/>
                  </a:ext>
                </a:extLst>
              </p:cNvPr>
              <p:cNvSpPr txBox="1"/>
              <p:nvPr/>
            </p:nvSpPr>
            <p:spPr>
              <a:xfrm>
                <a:off x="533601" y="1466727"/>
                <a:ext cx="10748319" cy="3960058"/>
              </a:xfrm>
              <a:prstGeom prst="rect">
                <a:avLst/>
              </a:prstGeom>
              <a:noFill/>
            </p:spPr>
            <p:txBody>
              <a:bodyPr wrap="square" rtlCol="0">
                <a:spAutoFit/>
              </a:bodyPr>
              <a:lstStyle/>
              <a:p>
                <a:pPr marL="457200" indent="-457200">
                  <a:buFont typeface="+mj-lt"/>
                  <a:buAutoNum type="arabicPeriod"/>
                </a:pPr>
                <a:r>
                  <a:rPr lang="en-US" sz="2400" dirty="0">
                    <a:latin typeface="Verdana"/>
                    <a:ea typeface="Verdana"/>
                    <a:cs typeface="Verdana"/>
                  </a:rPr>
                  <a:t>Determine if the following sets of side lengths can create a triangle.</a:t>
                </a:r>
              </a:p>
              <a:p>
                <a:pPr marL="914400" indent="-457200">
                  <a:spcBef>
                    <a:spcPts val="2000"/>
                  </a:spcBef>
                </a:pPr>
                <a:r>
                  <a:rPr lang="en-PH" sz="2400" dirty="0">
                    <a:latin typeface="Verdana"/>
                    <a:ea typeface="Verdana"/>
                    <a:cs typeface="Verdana" panose="020B0604030504040204" pitchFamily="34" charset="0"/>
                  </a:rPr>
                  <a:t>a.	</a:t>
                </a:r>
                <a14:m>
                  <m:oMath xmlns:m="http://schemas.openxmlformats.org/officeDocument/2006/math">
                    <m:r>
                      <a:rPr lang="en-US" sz="2400" i="1">
                        <a:latin typeface="Cambria Math"/>
                        <a:ea typeface="Verdana"/>
                        <a:cs typeface="Verdana"/>
                      </a:rPr>
                      <m:t>3</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9</m:t>
                    </m:r>
                  </m:oMath>
                </a14:m>
                <a:r>
                  <a:rPr lang="en-US" sz="2400" dirty="0">
                    <a:latin typeface="Verdana"/>
                    <a:ea typeface="Verdana"/>
                    <a:cs typeface="Verdana"/>
                  </a:rPr>
                  <a:t> in., and </a:t>
                </a:r>
                <a14:m>
                  <m:oMath xmlns:m="http://schemas.openxmlformats.org/officeDocument/2006/math">
                    <m:r>
                      <a:rPr lang="en-US" sz="2400" i="1">
                        <a:latin typeface="Cambria Math"/>
                        <a:ea typeface="Verdana"/>
                        <a:cs typeface="Verdana"/>
                      </a:rPr>
                      <m:t>8 </m:t>
                    </m:r>
                  </m:oMath>
                </a14:m>
                <a:r>
                  <a:rPr lang="en-US" sz="2400" dirty="0">
                    <a:latin typeface="Verdana"/>
                    <a:ea typeface="Verdana"/>
                    <a:cs typeface="Verdana"/>
                  </a:rPr>
                  <a:t>in.</a:t>
                </a:r>
              </a:p>
              <a:p>
                <a:pPr marL="914400" indent="-457200">
                  <a:spcBef>
                    <a:spcPts val="2000"/>
                  </a:spcBef>
                </a:pPr>
                <a:endParaRPr lang="en-US" sz="2400" dirty="0">
                  <a:latin typeface="Verdana"/>
                  <a:ea typeface="Verdana"/>
                  <a:cs typeface="Verdana"/>
                </a:endParaRPr>
              </a:p>
              <a:p>
                <a:pPr marL="914400" indent="-457200">
                  <a:spcBef>
                    <a:spcPts val="2000"/>
                  </a:spcBef>
                </a:pPr>
                <a:r>
                  <a:rPr lang="en-PH" sz="2400" dirty="0">
                    <a:latin typeface="Verdana" panose="020B0604030504040204" pitchFamily="34" charset="0"/>
                    <a:ea typeface="Verdana" panose="020B0604030504040204" pitchFamily="34" charset="0"/>
                    <a:cs typeface="Verdana" panose="020B0604030504040204" pitchFamily="34" charset="0"/>
                  </a:rPr>
                  <a:t>b.	</a:t>
                </a:r>
                <a14:m>
                  <m:oMath xmlns:m="http://schemas.openxmlformats.org/officeDocument/2006/math">
                    <m:r>
                      <a:rPr lang="en-US" sz="2400" i="1">
                        <a:latin typeface="Cambria Math"/>
                        <a:ea typeface="Verdana"/>
                        <a:cs typeface="Verdana"/>
                      </a:rPr>
                      <m:t>16</m:t>
                    </m:r>
                  </m:oMath>
                </a14:m>
                <a:r>
                  <a:rPr lang="en-US" sz="2400" dirty="0">
                    <a:latin typeface="Verdana"/>
                    <a:ea typeface="Verdana"/>
                    <a:cs typeface="Verdana"/>
                  </a:rPr>
                  <a:t> ft., </a:t>
                </a:r>
                <a14:m>
                  <m:oMath xmlns:m="http://schemas.openxmlformats.org/officeDocument/2006/math">
                    <m:r>
                      <a:rPr lang="en-US" sz="2400" i="1">
                        <a:latin typeface="Cambria Math"/>
                        <a:ea typeface="Verdana"/>
                        <a:cs typeface="Verdana"/>
                      </a:rPr>
                      <m:t>6</m:t>
                    </m:r>
                  </m:oMath>
                </a14:m>
                <a:r>
                  <a:rPr lang="en-US" sz="2400" dirty="0">
                    <a:latin typeface="Verdana"/>
                    <a:ea typeface="Verdana"/>
                    <a:cs typeface="Verdana"/>
                  </a:rPr>
                  <a:t> ft., and </a:t>
                </a:r>
                <a14:m>
                  <m:oMath xmlns:m="http://schemas.openxmlformats.org/officeDocument/2006/math">
                    <m:r>
                      <a:rPr lang="en-US" sz="2400" i="1">
                        <a:latin typeface="Cambria Math"/>
                        <a:ea typeface="Verdana"/>
                        <a:cs typeface="Verdana"/>
                      </a:rPr>
                      <m:t>2</m:t>
                    </m:r>
                  </m:oMath>
                </a14:m>
                <a:r>
                  <a:rPr lang="en-US" sz="2400" dirty="0">
                    <a:latin typeface="Verdana"/>
                    <a:ea typeface="Verdana"/>
                    <a:cs typeface="Verdana"/>
                  </a:rPr>
                  <a:t> ft.</a:t>
                </a:r>
              </a:p>
              <a:p>
                <a:pPr marL="914400" indent="-457200">
                  <a:spcBef>
                    <a:spcPts val="2000"/>
                  </a:spcBef>
                </a:pPr>
                <a:endParaRPr lang="en-US" sz="2400" dirty="0">
                  <a:latin typeface="Verdana"/>
                  <a:ea typeface="Verdana"/>
                  <a:cs typeface="Verdana"/>
                </a:endParaRPr>
              </a:p>
              <a:p>
                <a:pPr marL="914400" indent="-457200">
                  <a:spcBef>
                    <a:spcPts val="2000"/>
                  </a:spcBef>
                </a:pPr>
                <a:r>
                  <a:rPr lang="en-PH" sz="2400" dirty="0">
                    <a:latin typeface="Verdana" panose="020B0604030504040204" pitchFamily="34" charset="0"/>
                    <a:ea typeface="Verdana" panose="020B0604030504040204" pitchFamily="34" charset="0"/>
                    <a:cs typeface="Verdana" panose="020B0604030504040204" pitchFamily="34" charset="0"/>
                  </a:rPr>
                  <a:t>c.	</a:t>
                </a:r>
                <a14:m>
                  <m:oMath xmlns:m="http://schemas.openxmlformats.org/officeDocument/2006/math">
                    <m:r>
                      <a:rPr lang="en-US" sz="2400" i="1">
                        <a:latin typeface="Cambria Math"/>
                        <a:ea typeface="Verdana"/>
                        <a:cs typeface="Verdana"/>
                      </a:rPr>
                      <m:t>7</m:t>
                    </m:r>
                  </m:oMath>
                </a14:m>
                <a:r>
                  <a:rPr lang="en-US" sz="2400" dirty="0">
                    <a:latin typeface="Verdana"/>
                    <a:ea typeface="Verdana"/>
                    <a:cs typeface="Verdana"/>
                  </a:rPr>
                  <a:t> yd., </a:t>
                </a:r>
                <a14:m>
                  <m:oMath xmlns:m="http://schemas.openxmlformats.org/officeDocument/2006/math">
                    <m:r>
                      <a:rPr lang="en-US" sz="2400" i="1">
                        <a:latin typeface="Cambria Math"/>
                        <a:ea typeface="Verdana"/>
                        <a:cs typeface="Verdana"/>
                      </a:rPr>
                      <m:t>5</m:t>
                    </m:r>
                  </m:oMath>
                </a14:m>
                <a:r>
                  <a:rPr lang="en-US" sz="2400" dirty="0">
                    <a:latin typeface="Verdana"/>
                    <a:ea typeface="Verdana"/>
                    <a:cs typeface="Verdana"/>
                  </a:rPr>
                  <a:t> yd., and </a:t>
                </a:r>
                <a14:m>
                  <m:oMath xmlns:m="http://schemas.openxmlformats.org/officeDocument/2006/math">
                    <m:r>
                      <a:rPr lang="en-US" sz="2400" i="1">
                        <a:latin typeface="Cambria Math"/>
                        <a:ea typeface="Verdana"/>
                        <a:cs typeface="Verdana"/>
                      </a:rPr>
                      <m:t>10</m:t>
                    </m:r>
                  </m:oMath>
                </a14:m>
                <a:r>
                  <a:rPr lang="en-US" sz="2400" dirty="0">
                    <a:latin typeface="Verdana"/>
                    <a:ea typeface="Verdana"/>
                    <a:cs typeface="Verdana"/>
                  </a:rPr>
                  <a:t> yd.</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xmlns:a14="http://schemas.microsoft.com/office/drawing/2010/main" xmlns="" id="{759C3E41-93EC-B84D-963F-86A3B15AC1C6}"/>
                  </a:ext>
                </a:extLst>
              </p:cNvPr>
              <p:cNvSpPr txBox="1">
                <a:spLocks noRot="1" noChangeAspect="1" noMove="1" noResize="1" noEditPoints="1" noAdjustHandles="1" noChangeArrowheads="1" noChangeShapeType="1" noTextEdit="1"/>
              </p:cNvSpPr>
              <p:nvPr/>
            </p:nvSpPr>
            <p:spPr>
              <a:xfrm>
                <a:off x="533601" y="1466727"/>
                <a:ext cx="10748319" cy="3960058"/>
              </a:xfrm>
              <a:prstGeom prst="rect">
                <a:avLst/>
              </a:prstGeom>
              <a:blipFill rotWithShape="1">
                <a:blip r:embed="rId4"/>
                <a:stretch>
                  <a:fillRect l="-908" t="-1233" b="-2465"/>
                </a:stretch>
              </a:blipFill>
            </p:spPr>
            <p:txBody>
              <a:bodyPr/>
              <a:lstStyle/>
              <a:p>
                <a:r>
                  <a:rPr lang="en-PH">
                    <a:noFill/>
                  </a:rPr>
                  <a:t> </a:t>
                </a:r>
              </a:p>
            </p:txBody>
          </p:sp>
        </mc:Fallback>
      </mc:AlternateContent>
      <p:sp>
        <p:nvSpPr>
          <p:cNvPr id="10"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199</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8117" y="381048"/>
                <a:ext cx="11152650" cy="3908762"/>
              </a:xfrm>
              <a:prstGeom prst="rect">
                <a:avLst/>
              </a:prstGeom>
              <a:noFill/>
            </p:spPr>
            <p:txBody>
              <a:bodyPr wrap="square" rtlCol="0">
                <a:spAutoFit/>
              </a:bodyPr>
              <a:lstStyle/>
              <a:p>
                <a:pPr marL="457200" indent="-457200">
                  <a:buFont typeface="+mj-lt"/>
                  <a:buAutoNum type="arabicPeriod" startAt="2"/>
                </a:pPr>
                <a:r>
                  <a:rPr lang="en-US" sz="2400" dirty="0">
                    <a:latin typeface="Verdana"/>
                    <a:ea typeface="Verdana"/>
                    <a:cs typeface="Verdana"/>
                  </a:rPr>
                  <a:t>Adriana is creating a picture of a house with popsicle sticks. She wants to glue a roof in the shape of a triangle. Circle the set of sides that could form her triangular roof.</a:t>
                </a:r>
              </a:p>
              <a:p>
                <a:pPr marL="457200">
                  <a:spcBef>
                    <a:spcPts val="2400"/>
                  </a:spcBef>
                </a:pPr>
                <a14:m>
                  <m:oMath xmlns:m="http://schemas.openxmlformats.org/officeDocument/2006/math">
                    <m:r>
                      <a:rPr lang="en-US" sz="2400" i="1">
                        <a:latin typeface="Cambria Math"/>
                        <a:ea typeface="Verdana"/>
                        <a:cs typeface="Verdana"/>
                      </a:rPr>
                      <m:t>3</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5</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8</m:t>
                    </m:r>
                  </m:oMath>
                </a14:m>
                <a:r>
                  <a:rPr lang="en-US" sz="2400" dirty="0">
                    <a:latin typeface="Verdana"/>
                    <a:ea typeface="Verdana"/>
                    <a:cs typeface="Verdana"/>
                  </a:rPr>
                  <a:t> in.</a:t>
                </a:r>
              </a:p>
              <a:p>
                <a:pPr marL="457200">
                  <a:spcBef>
                    <a:spcPts val="2400"/>
                  </a:spcBef>
                </a:pPr>
                <a14:m>
                  <m:oMath xmlns:m="http://schemas.openxmlformats.org/officeDocument/2006/math">
                    <m:r>
                      <a:rPr lang="en-US" sz="2400" i="1">
                        <a:latin typeface="Cambria Math"/>
                        <a:ea typeface="Verdana"/>
                        <a:cs typeface="Verdana"/>
                      </a:rPr>
                      <m:t>4</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4</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9</m:t>
                    </m:r>
                  </m:oMath>
                </a14:m>
                <a:r>
                  <a:rPr lang="en-US" sz="2400" dirty="0">
                    <a:latin typeface="Verdana"/>
                    <a:ea typeface="Verdana"/>
                    <a:cs typeface="Verdana"/>
                  </a:rPr>
                  <a:t> in.</a:t>
                </a:r>
              </a:p>
              <a:p>
                <a:pPr marL="457200">
                  <a:spcBef>
                    <a:spcPts val="2400"/>
                  </a:spcBef>
                </a:pPr>
                <a14:m>
                  <m:oMath xmlns:m="http://schemas.openxmlformats.org/officeDocument/2006/math">
                    <m:r>
                      <a:rPr lang="en-US" sz="2400" i="1">
                        <a:latin typeface="Cambria Math"/>
                        <a:ea typeface="Verdana"/>
                        <a:cs typeface="Verdana"/>
                      </a:rPr>
                      <m:t>3</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3</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6</m:t>
                    </m:r>
                  </m:oMath>
                </a14:m>
                <a:r>
                  <a:rPr lang="en-US" sz="2400" dirty="0">
                    <a:latin typeface="Verdana"/>
                    <a:ea typeface="Verdana"/>
                    <a:cs typeface="Verdana"/>
                  </a:rPr>
                  <a:t> in.</a:t>
                </a:r>
              </a:p>
              <a:p>
                <a:pPr marL="457200">
                  <a:spcBef>
                    <a:spcPts val="2400"/>
                  </a:spcBef>
                </a:pPr>
                <a14:m>
                  <m:oMath xmlns:m="http://schemas.openxmlformats.org/officeDocument/2006/math">
                    <m:r>
                      <a:rPr lang="en-US" sz="2400" i="1">
                        <a:latin typeface="Cambria Math"/>
                        <a:ea typeface="Verdana"/>
                        <a:cs typeface="Verdana"/>
                      </a:rPr>
                      <m:t>5</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6</m:t>
                    </m:r>
                  </m:oMath>
                </a14:m>
                <a:r>
                  <a:rPr lang="en-US" sz="2400" dirty="0">
                    <a:latin typeface="Verdana"/>
                    <a:ea typeface="Verdana"/>
                    <a:cs typeface="Verdana"/>
                  </a:rPr>
                  <a:t> in., </a:t>
                </a:r>
                <a14:m>
                  <m:oMath xmlns:m="http://schemas.openxmlformats.org/officeDocument/2006/math">
                    <m:r>
                      <a:rPr lang="en-US" sz="2400" i="1">
                        <a:latin typeface="Cambria Math"/>
                        <a:ea typeface="Verdana"/>
                        <a:cs typeface="Verdana"/>
                      </a:rPr>
                      <m:t>7</m:t>
                    </m:r>
                  </m:oMath>
                </a14:m>
                <a:r>
                  <a:rPr lang="en-US" sz="2400" dirty="0">
                    <a:latin typeface="Verdana"/>
                    <a:ea typeface="Verdana"/>
                    <a:cs typeface="Verdana"/>
                  </a:rPr>
                  <a:t> in.</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8117" y="381048"/>
                <a:ext cx="11152650" cy="3908762"/>
              </a:xfrm>
              <a:prstGeom prst="rect">
                <a:avLst/>
              </a:prstGeom>
              <a:blipFill rotWithShape="1">
                <a:blip r:embed="rId3"/>
                <a:stretch>
                  <a:fillRect l="-820" t="-1248" b="-2496"/>
                </a:stretch>
              </a:blipFill>
            </p:spPr>
            <p:txBody>
              <a:bodyPr/>
              <a:lstStyle/>
              <a:p>
                <a:r>
                  <a:rPr lang="en-PH">
                    <a:noFill/>
                  </a:rPr>
                  <a:t> </a:t>
                </a:r>
              </a:p>
            </p:txBody>
          </p:sp>
        </mc:Fallback>
      </mc:AlternateContent>
      <p:sp>
        <p:nvSpPr>
          <p:cNvPr id="7"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199</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5277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xmlns="" id="{2FA392D8-3ED3-7940-83A8-1451AA8A08D4}"/>
                  </a:ext>
                </a:extLst>
              </p:cNvPr>
              <p:cNvSpPr txBox="1"/>
              <p:nvPr/>
            </p:nvSpPr>
            <p:spPr>
              <a:xfrm>
                <a:off x="531378" y="377837"/>
                <a:ext cx="11325429" cy="3785652"/>
              </a:xfrm>
              <a:prstGeom prst="rect">
                <a:avLst/>
              </a:prstGeom>
              <a:noFill/>
            </p:spPr>
            <p:txBody>
              <a:bodyPr wrap="square" rtlCol="0">
                <a:spAutoFit/>
              </a:bodyPr>
              <a:lstStyle/>
              <a:p>
                <a:pPr marL="457200" indent="-457200">
                  <a:buFont typeface="+mj-lt"/>
                  <a:buAutoNum type="arabicPeriod" startAt="3"/>
                </a:pPr>
                <a:r>
                  <a:rPr lang="en-US" sz="2400" dirty="0">
                    <a:latin typeface="Verdana"/>
                    <a:ea typeface="Verdana"/>
                    <a:cs typeface="Verdana"/>
                  </a:rPr>
                  <a:t>Determine a third side that will form a triangle with the given side lengths.</a:t>
                </a:r>
              </a:p>
              <a:p>
                <a:pPr marL="457200" indent="-457200">
                  <a:buFont typeface="+mj-lt"/>
                  <a:buAutoNum type="arabicPeriod" startAt="3"/>
                </a:pPr>
                <a:endParaRPr lang="en-PH" sz="2400" dirty="0">
                  <a:latin typeface="Verdana"/>
                  <a:ea typeface="Verdana"/>
                  <a:cs typeface="Verdana"/>
                </a:endParaRPr>
              </a:p>
              <a:p>
                <a:pPr algn="ctr"/>
                <a14:m>
                  <m:oMath xmlns:m="http://schemas.openxmlformats.org/officeDocument/2006/math">
                    <m:r>
                      <a:rPr lang="en-PH" sz="2400" i="1">
                        <a:latin typeface="Cambria Math"/>
                        <a:ea typeface="Verdana"/>
                        <a:cs typeface="Verdana"/>
                      </a:rPr>
                      <m:t>8, 5, </m:t>
                    </m:r>
                  </m:oMath>
                </a14:m>
                <a:r>
                  <a:rPr lang="en-PH" sz="2400" dirty="0">
                    <a:latin typeface="Verdana"/>
                    <a:ea typeface="Verdana"/>
                    <a:cs typeface="Verdana"/>
                  </a:rPr>
                  <a:t>____</a:t>
                </a:r>
              </a:p>
              <a:p>
                <a:endParaRPr lang="en-US" sz="2400" dirty="0" smtClean="0">
                  <a:latin typeface="Verdana"/>
                  <a:ea typeface="Verdana"/>
                  <a:cs typeface="Verdana"/>
                </a:endParaRPr>
              </a:p>
              <a:p>
                <a:endParaRPr lang="en-US" sz="2400" dirty="0">
                  <a:latin typeface="Verdana"/>
                  <a:ea typeface="Verdana"/>
                  <a:cs typeface="Verdana"/>
                </a:endParaRPr>
              </a:p>
              <a:p>
                <a:endParaRPr lang="en-US" sz="2400" dirty="0">
                  <a:latin typeface="Verdana"/>
                  <a:ea typeface="Verdana"/>
                  <a:cs typeface="Verdana"/>
                </a:endParaRPr>
              </a:p>
              <a:p>
                <a:pPr marL="457200" indent="-457200">
                  <a:buFont typeface="+mj-lt"/>
                  <a:buAutoNum type="arabicPeriod" startAt="4"/>
                </a:pPr>
                <a:r>
                  <a:rPr lang="en-US" sz="2400" dirty="0">
                    <a:latin typeface="Verdana"/>
                    <a:ea typeface="Verdana"/>
                    <a:cs typeface="Verdana"/>
                  </a:rPr>
                  <a:t>Maria is installing a garden fence in the shape of a triangle. She already has two pieces of fencing measuring </a:t>
                </a:r>
                <a14:m>
                  <m:oMath xmlns:m="http://schemas.openxmlformats.org/officeDocument/2006/math">
                    <m:r>
                      <a:rPr lang="en-US" sz="2400" i="1">
                        <a:latin typeface="Cambria Math"/>
                        <a:ea typeface="Verdana"/>
                        <a:cs typeface="Verdana"/>
                      </a:rPr>
                      <m:t>3</m:t>
                    </m:r>
                  </m:oMath>
                </a14:m>
                <a:r>
                  <a:rPr lang="en-US" sz="2400" dirty="0">
                    <a:latin typeface="Verdana"/>
                    <a:ea typeface="Verdana"/>
                    <a:cs typeface="Verdana"/>
                  </a:rPr>
                  <a:t> feet (ft.) and </a:t>
                </a:r>
                <a14:m>
                  <m:oMath xmlns:m="http://schemas.openxmlformats.org/officeDocument/2006/math">
                    <m:r>
                      <a:rPr lang="en-US" sz="2400" i="1">
                        <a:latin typeface="Cambria Math"/>
                        <a:ea typeface="Verdana"/>
                        <a:cs typeface="Verdana"/>
                      </a:rPr>
                      <m:t>4</m:t>
                    </m:r>
                  </m:oMath>
                </a14:m>
                <a:r>
                  <a:rPr lang="en-US" sz="2400" dirty="0">
                    <a:latin typeface="Verdana"/>
                    <a:ea typeface="Verdana"/>
                    <a:cs typeface="Verdana"/>
                  </a:rPr>
                  <a:t> ft. What is a possible length she can use for her third side?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4" name="TextBox 13">
                <a:extLst>
                  <a:ext uri="{FF2B5EF4-FFF2-40B4-BE49-F238E27FC236}">
                    <a16:creationId xmlns:a16="http://schemas.microsoft.com/office/drawing/2014/main" xmlns:a14="http://schemas.microsoft.com/office/drawing/2010/main" xmlns="" id="{2FA392D8-3ED3-7940-83A8-1451AA8A08D4}"/>
                  </a:ext>
                </a:extLst>
              </p:cNvPr>
              <p:cNvSpPr txBox="1">
                <a:spLocks noRot="1" noChangeAspect="1" noMove="1" noResize="1" noEditPoints="1" noAdjustHandles="1" noChangeArrowheads="1" noChangeShapeType="1" noTextEdit="1"/>
              </p:cNvSpPr>
              <p:nvPr/>
            </p:nvSpPr>
            <p:spPr>
              <a:xfrm>
                <a:off x="531378" y="377837"/>
                <a:ext cx="11325429" cy="3785652"/>
              </a:xfrm>
              <a:prstGeom prst="rect">
                <a:avLst/>
              </a:prstGeom>
              <a:blipFill rotWithShape="1">
                <a:blip r:embed="rId3"/>
                <a:stretch>
                  <a:fillRect l="-807" t="-1288" b="-2738"/>
                </a:stretch>
              </a:blipFill>
            </p:spPr>
            <p:txBody>
              <a:bodyPr/>
              <a:lstStyle/>
              <a:p>
                <a:r>
                  <a:rPr lang="en-PH">
                    <a:noFill/>
                  </a:rPr>
                  <a:t> </a:t>
                </a:r>
              </a:p>
            </p:txBody>
          </p:sp>
        </mc:Fallback>
      </mc:AlternateContent>
      <p:sp>
        <p:nvSpPr>
          <p:cNvPr id="7"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71939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259879" y="9631"/>
            <a:ext cx="981012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5.5.5 Wrap-Up: Error Analysis</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3">
            <a:alphaModFix/>
          </a:blip>
          <a:srcRect/>
          <a:stretch/>
        </p:blipFill>
        <p:spPr>
          <a:xfrm>
            <a:off x="435706" y="29883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xmlns="" id="{0370EDB7-6994-3D43-ABF9-E04CBAFB9CD9}"/>
                  </a:ext>
                </a:extLst>
              </p:cNvPr>
              <p:cNvSpPr txBox="1"/>
              <p:nvPr/>
            </p:nvSpPr>
            <p:spPr>
              <a:xfrm>
                <a:off x="537354" y="1468115"/>
                <a:ext cx="10737061" cy="1938992"/>
              </a:xfrm>
              <a:prstGeom prst="rect">
                <a:avLst/>
              </a:prstGeom>
              <a:noFill/>
            </p:spPr>
            <p:txBody>
              <a:bodyPr wrap="square" rtlCol="0">
                <a:spAutoFit/>
              </a:bodyPr>
              <a:lstStyle/>
              <a:p>
                <a:r>
                  <a:rPr lang="en-US" sz="2000" dirty="0" err="1">
                    <a:latin typeface="Verdana"/>
                    <a:ea typeface="Verdana"/>
                    <a:cs typeface="Verdana"/>
                  </a:rPr>
                  <a:t>Darion</a:t>
                </a:r>
                <a:r>
                  <a:rPr lang="en-US" sz="2000" dirty="0">
                    <a:latin typeface="Verdana"/>
                    <a:ea typeface="Verdana"/>
                    <a:cs typeface="Verdana"/>
                  </a:rPr>
                  <a:t> was asked to determine if the following side lengths would form a triangle: </a:t>
                </a:r>
                <a14:m>
                  <m:oMath xmlns:m="http://schemas.openxmlformats.org/officeDocument/2006/math">
                    <m:r>
                      <a:rPr lang="en-US" sz="2000" i="1">
                        <a:latin typeface="Cambria Math"/>
                        <a:ea typeface="Verdana"/>
                        <a:cs typeface="Verdana"/>
                      </a:rPr>
                      <m:t>4</m:t>
                    </m:r>
                  </m:oMath>
                </a14:m>
                <a:r>
                  <a:rPr lang="en-US" sz="2000" dirty="0">
                    <a:latin typeface="Verdana"/>
                    <a:ea typeface="Verdana"/>
                    <a:cs typeface="Verdana"/>
                  </a:rPr>
                  <a:t> ft., </a:t>
                </a:r>
                <a14:m>
                  <m:oMath xmlns:m="http://schemas.openxmlformats.org/officeDocument/2006/math">
                    <m:r>
                      <a:rPr lang="en-US" sz="2000" i="1">
                        <a:latin typeface="Cambria Math"/>
                        <a:ea typeface="Verdana"/>
                        <a:cs typeface="Verdana"/>
                      </a:rPr>
                      <m:t>6</m:t>
                    </m:r>
                  </m:oMath>
                </a14:m>
                <a:r>
                  <a:rPr lang="en-US" sz="2000" dirty="0">
                    <a:latin typeface="Verdana"/>
                    <a:ea typeface="Verdana"/>
                    <a:cs typeface="Verdana"/>
                  </a:rPr>
                  <a:t> ft., and </a:t>
                </a:r>
                <a14:m>
                  <m:oMath xmlns:m="http://schemas.openxmlformats.org/officeDocument/2006/math">
                    <m:r>
                      <a:rPr lang="en-US" sz="2000" i="1">
                        <a:latin typeface="Cambria Math"/>
                        <a:ea typeface="Verdana"/>
                        <a:cs typeface="Verdana"/>
                      </a:rPr>
                      <m:t>10</m:t>
                    </m:r>
                  </m:oMath>
                </a14:m>
                <a:r>
                  <a:rPr lang="en-US" sz="2000" dirty="0">
                    <a:latin typeface="Verdana"/>
                    <a:ea typeface="Verdana"/>
                    <a:cs typeface="Verdana"/>
                  </a:rPr>
                  <a:t> ft. </a:t>
                </a:r>
                <a:r>
                  <a:rPr lang="en-US" sz="2000" dirty="0" err="1">
                    <a:latin typeface="Verdana"/>
                    <a:ea typeface="Verdana"/>
                    <a:cs typeface="Verdana"/>
                  </a:rPr>
                  <a:t>Darion</a:t>
                </a:r>
                <a:r>
                  <a:rPr lang="en-US" sz="2000" dirty="0">
                    <a:latin typeface="Verdana"/>
                    <a:ea typeface="Verdana"/>
                    <a:cs typeface="Verdana"/>
                  </a:rPr>
                  <a:t> said that they would form a triangle because </a:t>
                </a:r>
                <a14:m>
                  <m:oMath xmlns:m="http://schemas.openxmlformats.org/officeDocument/2006/math">
                    <m:r>
                      <a:rPr lang="en-US" sz="2000" i="1">
                        <a:latin typeface="Cambria Math"/>
                        <a:ea typeface="Verdana"/>
                        <a:cs typeface="Verdana"/>
                      </a:rPr>
                      <m:t>4+6</m:t>
                    </m:r>
                  </m:oMath>
                </a14:m>
                <a:r>
                  <a:rPr lang="en-US" sz="2000" dirty="0">
                    <a:latin typeface="Verdana"/>
                    <a:ea typeface="Verdana"/>
                    <a:cs typeface="Verdana"/>
                  </a:rPr>
                  <a:t> is not less than </a:t>
                </a:r>
                <a14:m>
                  <m:oMath xmlns:m="http://schemas.openxmlformats.org/officeDocument/2006/math">
                    <m:r>
                      <a:rPr lang="en-US" sz="2000" i="1">
                        <a:latin typeface="Cambria Math"/>
                        <a:ea typeface="Verdana"/>
                        <a:cs typeface="Verdana"/>
                      </a:rPr>
                      <m:t>10</m:t>
                    </m:r>
                  </m:oMath>
                </a14:m>
                <a:r>
                  <a:rPr lang="en-US" sz="2000" dirty="0">
                    <a:latin typeface="Verdana"/>
                    <a:ea typeface="Verdana"/>
                    <a:cs typeface="Verdana"/>
                  </a:rPr>
                  <a:t>.</a:t>
                </a:r>
              </a:p>
              <a:p>
                <a:endParaRPr lang="en-US" sz="2000" dirty="0">
                  <a:latin typeface="Verdana"/>
                  <a:ea typeface="Verdana"/>
                  <a:cs typeface="Verdana"/>
                </a:endParaRPr>
              </a:p>
              <a:p>
                <a:pPr marL="457200" indent="-457200">
                  <a:buFont typeface="+mj-lt"/>
                  <a:buAutoNum type="arabicPeriod"/>
                </a:pPr>
                <a:r>
                  <a:rPr lang="en-US" sz="2000" dirty="0">
                    <a:latin typeface="Verdana"/>
                    <a:ea typeface="Verdana"/>
                    <a:cs typeface="Verdana"/>
                  </a:rPr>
                  <a:t>Help </a:t>
                </a:r>
                <a:r>
                  <a:rPr lang="en-US" sz="2000" dirty="0" err="1">
                    <a:latin typeface="Verdana"/>
                    <a:ea typeface="Verdana"/>
                    <a:cs typeface="Verdana"/>
                  </a:rPr>
                  <a:t>Darion</a:t>
                </a:r>
                <a:r>
                  <a:rPr lang="en-US" sz="2000" dirty="0">
                    <a:latin typeface="Verdana"/>
                    <a:ea typeface="Verdana"/>
                    <a:cs typeface="Verdana"/>
                  </a:rPr>
                  <a:t> understand and learn from his mistake. Write a brief note to </a:t>
                </a:r>
                <a:r>
                  <a:rPr lang="en-US" sz="2000" dirty="0" err="1">
                    <a:latin typeface="Verdana"/>
                    <a:ea typeface="Verdana"/>
                    <a:cs typeface="Verdana"/>
                  </a:rPr>
                  <a:t>Darion</a:t>
                </a:r>
                <a:r>
                  <a:rPr lang="en-US" sz="2000" dirty="0">
                    <a:latin typeface="Verdana"/>
                    <a:ea typeface="Verdana"/>
                    <a:cs typeface="Verdana"/>
                  </a:rPr>
                  <a:t> explaining what his mistake is and how he could learn from it.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xmlns:a14="http://schemas.microsoft.com/office/drawing/2010/main" xmlns="" id="{0370EDB7-6994-3D43-ABF9-E04CBAFB9CD9}"/>
                  </a:ext>
                </a:extLst>
              </p:cNvPr>
              <p:cNvSpPr txBox="1">
                <a:spLocks noRot="1" noChangeAspect="1" noMove="1" noResize="1" noEditPoints="1" noAdjustHandles="1" noChangeArrowheads="1" noChangeShapeType="1" noTextEdit="1"/>
              </p:cNvSpPr>
              <p:nvPr/>
            </p:nvSpPr>
            <p:spPr>
              <a:xfrm>
                <a:off x="537354" y="1468115"/>
                <a:ext cx="10737061" cy="1938992"/>
              </a:xfrm>
              <a:prstGeom prst="rect">
                <a:avLst/>
              </a:prstGeom>
              <a:blipFill rotWithShape="1">
                <a:blip r:embed="rId4"/>
                <a:stretch>
                  <a:fillRect l="-568" t="-1572" r="-1136" b="-4717"/>
                </a:stretch>
              </a:blipFill>
            </p:spPr>
            <p:txBody>
              <a:bodyPr/>
              <a:lstStyle/>
              <a:p>
                <a:r>
                  <a:rPr lang="en-PH">
                    <a:noFill/>
                  </a:rPr>
                  <a:t> </a:t>
                </a:r>
              </a:p>
            </p:txBody>
          </p:sp>
        </mc:Fallback>
      </mc:AlternateContent>
      <p:sp>
        <p:nvSpPr>
          <p:cNvPr id="10" name="Google Shape;282;g104476d1465_1_17"/>
          <p:cNvSpPr txBox="1"/>
          <p:nvPr/>
        </p:nvSpPr>
        <p:spPr>
          <a:xfrm>
            <a:off x="8828540" y="650206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200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3760" y="615633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1469</TotalTime>
  <Words>1027</Words>
  <Application>Microsoft Office PowerPoint</Application>
  <PresentationFormat>Custom</PresentationFormat>
  <Paragraphs>242</Paragraphs>
  <Slides>21</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Century Gothic</vt:lpstr>
      <vt:lpstr>Wingdings</vt:lpstr>
      <vt:lpstr>Cambria Math</vt:lpstr>
      <vt:lpstr>Cambria</vt:lpstr>
      <vt:lpstr>Arial Black</vt:lpstr>
      <vt:lpstr>Verdana</vt:lpstr>
      <vt:lpstr>Calibri</vt:lpstr>
      <vt:lpstr>Courier New</vt:lpstr>
      <vt:lpstr>1_Office Theme</vt:lpstr>
      <vt:lpstr>8th Grade Math: Pre-Algebra  Unit 5, Lesson 5  Applying the Triangle Inequality Theorem  Volume 1, pg. 196  </vt:lpstr>
      <vt:lpstr>Benchmark</vt:lpstr>
      <vt:lpstr>PowerPoint Presentation</vt:lpstr>
      <vt:lpstr>PowerPoint Presentation</vt:lpstr>
      <vt:lpstr>Warm-Up</vt:lpstr>
      <vt:lpstr>PowerPoint Presentation</vt:lpstr>
      <vt:lpstr>Collaboration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35</cp:revision>
  <dcterms:created xsi:type="dcterms:W3CDTF">2015-03-17T18:51:18Z</dcterms:created>
  <dcterms:modified xsi:type="dcterms:W3CDTF">2022-06-16T05:22:33Z</dcterms:modified>
</cp:coreProperties>
</file>