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345" r:id="rId4"/>
    <p:sldId id="286" r:id="rId5"/>
    <p:sldId id="261" r:id="rId6"/>
    <p:sldId id="287" r:id="rId7"/>
    <p:sldId id="362" r:id="rId8"/>
    <p:sldId id="363" r:id="rId9"/>
    <p:sldId id="365" r:id="rId10"/>
    <p:sldId id="366" r:id="rId11"/>
    <p:sldId id="379" r:id="rId12"/>
    <p:sldId id="380" r:id="rId13"/>
    <p:sldId id="381" r:id="rId14"/>
    <p:sldId id="386" r:id="rId15"/>
    <p:sldId id="383" r:id="rId16"/>
    <p:sldId id="384" r:id="rId17"/>
    <p:sldId id="385" r:id="rId18"/>
    <p:sldId id="346" r:id="rId19"/>
    <p:sldId id="347" r:id="rId20"/>
    <p:sldId id="348" r:id="rId21"/>
    <p:sldId id="306" r:id="rId22"/>
    <p:sldId id="307" r:id="rId23"/>
  </p:sldIdLst>
  <p:sldSz cx="12192000" cy="6858000"/>
  <p:notesSz cx="6858000" cy="9144000"/>
  <p:embeddedFontLst>
    <p:embeddedFont>
      <p:font typeface="Arial Black" panose="020B0604020202020204" pitchFamily="34" charset="0"/>
      <p:bold r:id="rId25"/>
    </p:embeddedFont>
    <p:embeddedFont>
      <p:font typeface="Calibri" panose="020F0502020204030204" pitchFamily="34" charset="0"/>
      <p:regular r:id="rId26"/>
      <p:bold r:id="rId27"/>
      <p:italic r:id="rId28"/>
      <p:boldItalic r:id="rId29"/>
    </p:embeddedFont>
    <p:embeddedFont>
      <p:font typeface="Cambria" panose="02040503050406030204" pitchFamily="18" charset="0"/>
      <p:regular r:id="rId30"/>
      <p:bold r:id="rId31"/>
      <p:italic r:id="rId32"/>
      <p:boldItalic r:id="rId33"/>
    </p:embeddedFont>
    <p:embeddedFont>
      <p:font typeface="Cambria Math" panose="02040503050406030204" pitchFamily="18" charset="0"/>
      <p:regular r:id="rId34"/>
    </p:embeddedFont>
    <p:embeddedFont>
      <p:font typeface="Century Gothic" panose="020B0502020202020204" pitchFamily="34" charset="0"/>
      <p:regular r:id="rId35"/>
      <p:bold r:id="rId36"/>
      <p:italic r:id="rId37"/>
      <p:boldItalic r:id="rId38"/>
    </p:embeddedFont>
    <p:embeddedFont>
      <p:font typeface="Verdana" panose="020B0604030504040204"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3"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BFBFBF"/>
    <a:srgbClr val="C9DF6F"/>
    <a:srgbClr val="417DBF"/>
    <a:srgbClr val="3F2A67"/>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4"/>
    <p:restoredTop sz="94694"/>
  </p:normalViewPr>
  <p:slideViewPr>
    <p:cSldViewPr snapToGrid="0">
      <p:cViewPr varScale="1">
        <p:scale>
          <a:sx n="121" d="100"/>
          <a:sy n="121" d="100"/>
        </p:scale>
        <p:origin x="592"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17.fntdata"/><Relationship Id="rId5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9628458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4022185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5652651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5031891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0614527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4739150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4887518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4563205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4563205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37011605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5825818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4510975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8434125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4301181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4722354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50.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8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340097" y="2212773"/>
            <a:ext cx="5327904"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8</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Pre-Algebra</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4, Lesson 3</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Applying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Exponent Laws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134</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40"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11480"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134</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914400" y="1307592"/>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200" dirty="0">
                <a:latin typeface="Verdana" panose="020B0604030504040204" pitchFamily="34" charset="0"/>
                <a:ea typeface="Verdana" panose="020B0604030504040204" pitchFamily="34" charset="0"/>
                <a:cs typeface="Verdana" panose="020B0604030504040204" pitchFamily="34" charset="0"/>
              </a:rPr>
              <a:t>MA.8.NSO.1.3</a:t>
            </a:r>
          </a:p>
          <a:p>
            <a:pPr marL="552450" lvl="1" indent="0">
              <a:buNone/>
            </a:pPr>
            <a:r>
              <a:rPr lang="en-US" sz="3200" dirty="0">
                <a:latin typeface="Verdana" panose="020B0604030504040204" pitchFamily="34" charset="0"/>
                <a:ea typeface="Verdana" panose="020B0604030504040204" pitchFamily="34" charset="0"/>
                <a:cs typeface="Verdana" panose="020B0604030504040204" pitchFamily="34" charset="0"/>
              </a:rPr>
              <a:t>Extend previous understanding of the Laws of Exponents to include integer exponents. Apply the Laws of Exponents to evaluate numerical expressions and generate equivalent numerical expressions, limited to integer exponents and rational number bases, with procedural fluency.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id="{D915A027-4791-D04E-90A8-9E6239ED88EB}"/>
              </a:ext>
            </a:extLst>
          </p:cNvPr>
          <p:cNvPicPr preferRelativeResize="0"/>
          <p:nvPr/>
        </p:nvPicPr>
        <p:blipFill>
          <a:blip r:embed="rId2">
            <a:alphaModFix/>
          </a:blip>
          <a:stretch>
            <a:fillRect/>
          </a:stretch>
        </p:blipFill>
        <p:spPr>
          <a:xfrm>
            <a:off x="411480" y="372300"/>
            <a:ext cx="747300" cy="747300"/>
          </a:xfrm>
          <a:prstGeom prst="rect">
            <a:avLst/>
          </a:prstGeom>
          <a:noFill/>
          <a:ln>
            <a:noFill/>
          </a:ln>
          <a:effectLst>
            <a:outerShdw blurRad="57150" dist="19050" dir="5400000" algn="bl" rotWithShape="0">
              <a:srgbClr val="000000">
                <a:alpha val="50000"/>
              </a:srgbClr>
            </a:outerShdw>
          </a:effectLst>
        </p:spPr>
      </p:pic>
      <p:pic>
        <p:nvPicPr>
          <p:cNvPr id="4" name="Google Shape;283;g104476d1465_1_17">
            <a:extLst>
              <a:ext uri="{FF2B5EF4-FFF2-40B4-BE49-F238E27FC236}">
                <a16:creationId xmlns:a16="http://schemas.microsoft.com/office/drawing/2014/main" id="{983DCB5F-2CE8-A74F-A579-F39E2E9337FB}"/>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6" name="Google Shape;282;g104476d1465_1_17">
            <a:extLst>
              <a:ext uri="{FF2B5EF4-FFF2-40B4-BE49-F238E27FC236}">
                <a16:creationId xmlns:a16="http://schemas.microsoft.com/office/drawing/2014/main" id="{FD66E1D7-C8ED-8A4A-9EE6-BDBA39B99125}"/>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134</a:t>
            </a:r>
            <a:endParaRPr i="1" dirty="0">
              <a:latin typeface="Calibri"/>
              <a:ea typeface="Calibri"/>
              <a:cs typeface="Calibri"/>
              <a:sym typeface="Calibri"/>
            </a:endParaRP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914400" y="1453896"/>
            <a:ext cx="10515600"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411480"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134</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14400" y="1521823"/>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apply the laws of exponents to generate equivalent numerical expressions. </a:t>
            </a:r>
          </a:p>
        </p:txBody>
      </p:sp>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661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135</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4.3.1 Warm-Up: Negative Exponents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411480" y="197485"/>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135</a:t>
            </a:r>
            <a:endParaRPr i="1" dirty="0">
              <a:latin typeface="Calibri"/>
              <a:ea typeface="Calibri"/>
              <a:cs typeface="Calibri"/>
              <a:sym typeface="Calibri"/>
            </a:endParaRPr>
          </a:p>
        </p:txBody>
      </p:sp>
      <p:sp>
        <p:nvSpPr>
          <p:cNvPr id="2" name="TextBox 1">
            <a:extLst>
              <a:ext uri="{FF2B5EF4-FFF2-40B4-BE49-F238E27FC236}">
                <a16:creationId xmlns:a16="http://schemas.microsoft.com/office/drawing/2014/main" id="{E1D7562E-134F-D14B-AF1A-DF40E11EF758}"/>
              </a:ext>
            </a:extLst>
          </p:cNvPr>
          <p:cNvSpPr txBox="1"/>
          <p:nvPr/>
        </p:nvSpPr>
        <p:spPr>
          <a:xfrm>
            <a:off x="914400" y="1478101"/>
            <a:ext cx="10515600"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Place a digit in each blue box to make the statement true. Use only digits 0 to 9, at most one time each.  </a:t>
            </a:r>
          </a:p>
        </p:txBody>
      </p:sp>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 name="Picture 3" descr="A picture containing icon&#10;&#10;Description automatically generated">
            <a:extLst>
              <a:ext uri="{FF2B5EF4-FFF2-40B4-BE49-F238E27FC236}">
                <a16:creationId xmlns:a16="http://schemas.microsoft.com/office/drawing/2014/main" id="{46C97A06-7E1C-E547-8CBC-55A8D41F6FB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200625" y="3015243"/>
            <a:ext cx="5790750" cy="1894314"/>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7024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2311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135</a:t>
            </a:r>
            <a:endParaRPr i="1" dirty="0">
              <a:latin typeface="Calibri"/>
              <a:ea typeface="Calibri"/>
              <a:cs typeface="Calibri"/>
              <a:sym typeface="Calibri"/>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5889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113333"/>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4.3.2 Collaboration: Applying More Than One Exponent Law</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135</a:t>
            </a:r>
            <a:endParaRPr i="1" dirty="0">
              <a:latin typeface="Calibri"/>
              <a:ea typeface="Calibri"/>
              <a:cs typeface="Calibri"/>
              <a:sym typeface="Calibri"/>
            </a:endParaRP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11480"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914400" y="1695022"/>
                <a:ext cx="10515600" cy="296978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Fernanda and Junior were asked to write an equivalent expression of </a:t>
                </a:r>
                <a14:m>
                  <m:oMath xmlns:m="http://schemas.openxmlformats.org/officeDocument/2006/math">
                    <m:sSup>
                      <m:sSupPr>
                        <m:ctrlPr>
                          <a:rPr lang="en-US" sz="2400" i="1" dirty="0">
                            <a:latin typeface="Cambria Math" panose="02040503050406030204" pitchFamily="18" charset="0"/>
                            <a:ea typeface="Verdana" panose="020B0604030504040204" pitchFamily="34" charset="0"/>
                            <a:cs typeface="Verdana" panose="020B0604030504040204" pitchFamily="34" charset="0"/>
                          </a:rPr>
                        </m:ctrlPr>
                      </m:sSupPr>
                      <m:e>
                        <m:d>
                          <m:dPr>
                            <m:ctrlPr>
                              <a:rPr lang="en-US" sz="2400" i="1" dirty="0">
                                <a:latin typeface="Cambria Math" panose="02040503050406030204" pitchFamily="18" charset="0"/>
                                <a:ea typeface="Verdana" panose="020B0604030504040204" pitchFamily="34" charset="0"/>
                                <a:cs typeface="Verdana" panose="020B0604030504040204" pitchFamily="34" charset="0"/>
                              </a:rPr>
                            </m:ctrlPr>
                          </m:dPr>
                          <m:e>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sSup>
                                  <m:sSupPr>
                                    <m:ctrlPr>
                                      <a:rPr lang="en-US" sz="2400" i="1" dirty="0">
                                        <a:latin typeface="Cambria Math" panose="02040503050406030204" pitchFamily="18" charset="0"/>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2.5</m:t>
                                    </m:r>
                                  </m:e>
                                  <m:sup>
                                    <m:r>
                                      <a:rPr lang="es-ES" sz="2400" i="1" dirty="0">
                                        <a:latin typeface="Cambria Math" panose="02040503050406030204" pitchFamily="18" charset="0"/>
                                        <a:ea typeface="Verdana" panose="020B0604030504040204" pitchFamily="34" charset="0"/>
                                        <a:cs typeface="Verdana" panose="020B0604030504040204" pitchFamily="34" charset="0"/>
                                      </a:rPr>
                                      <m:t>5</m:t>
                                    </m:r>
                                  </m:sup>
                                </m:sSup>
                              </m:num>
                              <m:den>
                                <m:sSup>
                                  <m:sSupPr>
                                    <m:ctrlPr>
                                      <a:rPr lang="en-US" sz="2400" i="1" dirty="0">
                                        <a:latin typeface="Cambria Math" panose="02040503050406030204" pitchFamily="18" charset="0"/>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2.5</m:t>
                                    </m:r>
                                  </m:e>
                                  <m:sup>
                                    <m:r>
                                      <a:rPr lang="es-ES" sz="2400" i="1" dirty="0">
                                        <a:latin typeface="Cambria Math" panose="02040503050406030204" pitchFamily="18" charset="0"/>
                                        <a:ea typeface="Verdana" panose="020B0604030504040204" pitchFamily="34" charset="0"/>
                                        <a:cs typeface="Verdana" panose="020B0604030504040204" pitchFamily="34" charset="0"/>
                                      </a:rPr>
                                      <m:t>3</m:t>
                                    </m:r>
                                  </m:sup>
                                </m:sSup>
                              </m:den>
                            </m:f>
                          </m:e>
                        </m:d>
                      </m:e>
                      <m:sup>
                        <m:r>
                          <a:rPr lang="es-ES" sz="2400" i="1" dirty="0">
                            <a:latin typeface="Cambria Math" panose="02040503050406030204" pitchFamily="18" charset="0"/>
                            <a:ea typeface="Verdana" panose="020B0604030504040204" pitchFamily="34" charset="0"/>
                            <a:cs typeface="Verdana" panose="020B0604030504040204" pitchFamily="34" charset="0"/>
                          </a:rPr>
                          <m:t>−1</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by applying multiple exponent laws. Each student first described their plan.</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981075" indent="-48418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Complete each student’s work based on the description of their plan.</a:t>
                </a: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914400" y="1695022"/>
                <a:ext cx="10515600" cy="2969787"/>
              </a:xfrm>
              <a:prstGeom prst="rect">
                <a:avLst/>
              </a:prstGeom>
              <a:blipFill>
                <a:blip r:embed="rId5"/>
                <a:stretch>
                  <a:fillRect l="-965" t="-1702"/>
                </a:stretch>
              </a:blipFill>
            </p:spPr>
            <p:txBody>
              <a:bodyPr/>
              <a:lstStyle/>
              <a:p>
                <a:r>
                  <a:rPr lang="en-US">
                    <a:noFill/>
                  </a:rPr>
                  <a:t> </a:t>
                </a:r>
              </a:p>
            </p:txBody>
          </p:sp>
        </mc:Fallback>
      </mc:AlternateContent>
    </p:spTree>
    <p:extLst>
      <p:ext uri="{BB962C8B-B14F-4D97-AF65-F5344CB8AC3E}">
        <p14:creationId xmlns:p14="http://schemas.microsoft.com/office/powerpoint/2010/main" val="2190428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74F865D9-E762-D642-B9AD-248E3E8B3327}"/>
                  </a:ext>
                </a:extLst>
              </p:cNvPr>
              <p:cNvGraphicFramePr>
                <a:graphicFrameLocks noGrp="1"/>
              </p:cNvGraphicFramePr>
              <p:nvPr>
                <p:extLst>
                  <p:ext uri="{D42A27DB-BD31-4B8C-83A1-F6EECF244321}">
                    <p14:modId xmlns:p14="http://schemas.microsoft.com/office/powerpoint/2010/main" val="3162886706"/>
                  </p:ext>
                </p:extLst>
              </p:nvPr>
            </p:nvGraphicFramePr>
            <p:xfrm>
              <a:off x="2137290" y="397919"/>
              <a:ext cx="7772400" cy="6032310"/>
            </p:xfrm>
            <a:graphic>
              <a:graphicData uri="http://schemas.openxmlformats.org/drawingml/2006/table">
                <a:tbl>
                  <a:tblPr firstRow="1" firstCol="1" bandRow="1"/>
                  <a:tblGrid>
                    <a:gridCol w="4023360">
                      <a:extLst>
                        <a:ext uri="{9D8B030D-6E8A-4147-A177-3AD203B41FA5}">
                          <a16:colId xmlns:a16="http://schemas.microsoft.com/office/drawing/2014/main" val="2089860444"/>
                        </a:ext>
                      </a:extLst>
                    </a:gridCol>
                    <a:gridCol w="3749040">
                      <a:extLst>
                        <a:ext uri="{9D8B030D-6E8A-4147-A177-3AD203B41FA5}">
                          <a16:colId xmlns:a16="http://schemas.microsoft.com/office/drawing/2014/main" val="3618859394"/>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Fernanda</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Junior</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776772056"/>
                      </a:ext>
                    </a:extLst>
                  </a:tr>
                  <a:tr h="4572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will first apply the </a:t>
                          </a:r>
                          <a:r>
                            <a:rPr lang="en-US" sz="2000" b="1" dirty="0">
                              <a:effectLst/>
                              <a:latin typeface="Verdana" panose="020B0604030504040204" pitchFamily="34" charset="0"/>
                              <a:ea typeface="Verdana" panose="020B0604030504040204" pitchFamily="34" charset="0"/>
                              <a:cs typeface="Verdana" panose="020B0604030504040204" pitchFamily="34" charset="0"/>
                            </a:rPr>
                            <a:t>quotient of powers </a:t>
                          </a:r>
                          <a:r>
                            <a:rPr lang="en-US" sz="2000" dirty="0">
                              <a:effectLst/>
                              <a:latin typeface="Verdana" panose="020B0604030504040204" pitchFamily="34" charset="0"/>
                              <a:ea typeface="Verdana" panose="020B0604030504040204" pitchFamily="34" charset="0"/>
                              <a:cs typeface="Verdana" panose="020B0604030504040204" pitchFamily="34" charset="0"/>
                            </a:rPr>
                            <a:t>exponent law. Then, I will apply the </a:t>
                          </a:r>
                          <a:r>
                            <a:rPr lang="en-US" sz="2000" b="1" dirty="0">
                              <a:effectLst/>
                              <a:latin typeface="Verdana" panose="020B0604030504040204" pitchFamily="34" charset="0"/>
                              <a:ea typeface="Verdana" panose="020B0604030504040204" pitchFamily="34" charset="0"/>
                              <a:cs typeface="Verdana" panose="020B0604030504040204" pitchFamily="34" charset="0"/>
                            </a:rPr>
                            <a:t>power of a power</a:t>
                          </a:r>
                          <a:r>
                            <a:rPr lang="en-US" sz="2000" dirty="0">
                              <a:effectLst/>
                              <a:latin typeface="Verdana" panose="020B0604030504040204" pitchFamily="34" charset="0"/>
                              <a:ea typeface="Verdana" panose="020B0604030504040204" pitchFamily="34" charset="0"/>
                              <a:cs typeface="Verdana" panose="020B0604030504040204" pitchFamily="34" charset="0"/>
                            </a:rPr>
                            <a:t> exponent law. Finally, I will re-write the decimal as a fraction and apply the </a:t>
                          </a:r>
                          <a:r>
                            <a:rPr lang="en-US" sz="2000" b="1" dirty="0">
                              <a:effectLst/>
                              <a:latin typeface="Verdana" panose="020B0604030504040204" pitchFamily="34" charset="0"/>
                              <a:ea typeface="Verdana" panose="020B0604030504040204" pitchFamily="34" charset="0"/>
                              <a:cs typeface="Verdana" panose="020B0604030504040204" pitchFamily="34" charset="0"/>
                            </a:rPr>
                            <a:t>negative</a:t>
                          </a:r>
                          <a:r>
                            <a:rPr lang="en-US" sz="2000" dirty="0">
                              <a:effectLst/>
                              <a:latin typeface="Verdana" panose="020B0604030504040204" pitchFamily="34" charset="0"/>
                              <a:ea typeface="Verdana" panose="020B0604030504040204" pitchFamily="34" charset="0"/>
                              <a:cs typeface="Verdana" panose="020B0604030504040204" pitchFamily="34" charset="0"/>
                            </a:rPr>
                            <a:t> exponent law.</a:t>
                          </a:r>
                          <a:endParaRPr lang="x-none" sz="2000" dirty="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will first apply the </a:t>
                          </a:r>
                          <a:r>
                            <a:rPr lang="en-US" sz="2000" b="1" dirty="0">
                              <a:effectLst/>
                              <a:latin typeface="Verdana" panose="020B0604030504040204" pitchFamily="34" charset="0"/>
                              <a:ea typeface="Verdana" panose="020B0604030504040204" pitchFamily="34" charset="0"/>
                              <a:cs typeface="Verdana" panose="020B0604030504040204" pitchFamily="34" charset="0"/>
                            </a:rPr>
                            <a:t>power of a quotient </a:t>
                          </a:r>
                          <a:r>
                            <a:rPr lang="en-US" sz="2000" dirty="0">
                              <a:effectLst/>
                              <a:latin typeface="Verdana" panose="020B0604030504040204" pitchFamily="34" charset="0"/>
                              <a:ea typeface="Verdana" panose="020B0604030504040204" pitchFamily="34" charset="0"/>
                              <a:cs typeface="Verdana" panose="020B0604030504040204" pitchFamily="34" charset="0"/>
                            </a:rPr>
                            <a:t>exponent law. Then, I will apply the </a:t>
                          </a:r>
                          <a:r>
                            <a:rPr lang="en-US" sz="2000" b="1" dirty="0">
                              <a:effectLst/>
                              <a:latin typeface="Verdana" panose="020B0604030504040204" pitchFamily="34" charset="0"/>
                              <a:ea typeface="Verdana" panose="020B0604030504040204" pitchFamily="34" charset="0"/>
                              <a:cs typeface="Verdana" panose="020B0604030504040204" pitchFamily="34" charset="0"/>
                            </a:rPr>
                            <a:t>quotient of powers </a:t>
                          </a:r>
                          <a:r>
                            <a:rPr lang="en-US" sz="2000" dirty="0">
                              <a:effectLst/>
                              <a:latin typeface="Verdana" panose="020B0604030504040204" pitchFamily="34" charset="0"/>
                              <a:ea typeface="Verdana" panose="020B0604030504040204" pitchFamily="34" charset="0"/>
                              <a:cs typeface="Verdana" panose="020B0604030504040204" pitchFamily="34" charset="0"/>
                            </a:rPr>
                            <a:t>exponent law. Finally, I will re-write the decimal as a fraction and apply the </a:t>
                          </a:r>
                          <a:r>
                            <a:rPr lang="en-US" sz="2000" b="1" dirty="0">
                              <a:effectLst/>
                              <a:latin typeface="Verdana" panose="020B0604030504040204" pitchFamily="34" charset="0"/>
                              <a:ea typeface="Verdana" panose="020B0604030504040204" pitchFamily="34" charset="0"/>
                              <a:cs typeface="Verdana" panose="020B0604030504040204" pitchFamily="34" charset="0"/>
                            </a:rPr>
                            <a:t>negative</a:t>
                          </a:r>
                          <a:r>
                            <a:rPr lang="en-US" sz="2000" dirty="0">
                              <a:effectLst/>
                              <a:latin typeface="Verdana" panose="020B0604030504040204" pitchFamily="34" charset="0"/>
                              <a:ea typeface="Verdana" panose="020B0604030504040204" pitchFamily="34" charset="0"/>
                              <a:cs typeface="Verdana" panose="020B0604030504040204" pitchFamily="34" charset="0"/>
                            </a:rPr>
                            <a:t> exponent law. </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9646520"/>
                      </a:ext>
                    </a:extLst>
                  </a:tr>
                  <a:tr h="457200">
                    <a:tc>
                      <a:txBody>
                        <a:bodyPr/>
                        <a:lstStyle/>
                        <a:p>
                          <a:pPr marL="0" marR="0" algn="ctr">
                            <a:spcBef>
                              <a:spcPts val="600"/>
                            </a:spcBef>
                            <a:spcAft>
                              <a:spcPts val="1200"/>
                            </a:spcAft>
                          </a:pPr>
                          <a14:m>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2.5</m:t>
                                              </m:r>
                                            </m:e>
                                            <m:sup>
                                              <m:r>
                                                <a:rPr lang="en-US" sz="2000" i="1">
                                                  <a:effectLst/>
                                                  <a:latin typeface="Cambria Math" panose="02040503050406030204" pitchFamily="18" charset="0"/>
                                                  <a:ea typeface="Verdana" panose="020B0604030504040204" pitchFamily="34" charset="0"/>
                                                  <a:cs typeface="Verdana" panose="020B0604030504040204" pitchFamily="34" charset="0"/>
                                                </a:rPr>
                                                <m:t>5</m:t>
                                              </m:r>
                                            </m:sup>
                                          </m:sSup>
                                        </m:num>
                                        <m:den>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2.5</m:t>
                                              </m:r>
                                            </m:e>
                                            <m:sup>
                                              <m:r>
                                                <a:rPr lang="en-US" sz="2000" i="1">
                                                  <a:effectLst/>
                                                  <a:latin typeface="Cambria Math" panose="02040503050406030204" pitchFamily="18" charset="0"/>
                                                  <a:ea typeface="Verdana" panose="020B0604030504040204" pitchFamily="34" charset="0"/>
                                                  <a:cs typeface="Verdana" panose="020B0604030504040204" pitchFamily="34" charset="0"/>
                                                </a:rPr>
                                                <m:t>3</m:t>
                                              </m:r>
                                            </m:sup>
                                          </m:sSup>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−1</m:t>
                                  </m:r>
                                </m:sup>
                              </m:sSup>
                            </m:oMath>
                          </a14:m>
                          <a:r>
                            <a:rPr lang="en-US" sz="2000" dirty="0">
                              <a:effectLst/>
                              <a:latin typeface="Verdana"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p>
                          <a:pPr marL="1485900" marR="0" indent="0" algn="ctr" defTabSz="342900">
                            <a:spcBef>
                              <a:spcPts val="0"/>
                            </a:spcBef>
                            <a:spcAft>
                              <a:spcPts val="12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(2.5</m:t>
                                        </m:r>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e>
                                  <m:sup>
                                    <m:r>
                                      <a:rPr lang="en-US" sz="2000" i="1">
                                        <a:effectLst/>
                                        <a:latin typeface="Cambria Math" panose="02040503050406030204" pitchFamily="18" charset="0"/>
                                        <a:ea typeface="Verdana" panose="020B0604030504040204" pitchFamily="34" charset="0"/>
                                        <a:cs typeface="Verdana" panose="020B0604030504040204" pitchFamily="34" charset="0"/>
                                      </a:rPr>
                                      <m:t>−1 </m:t>
                                    </m:r>
                                  </m:sup>
                                </m:sSup>
                              </m:oMath>
                            </m:oMathPara>
                          </a14:m>
                          <a:endParaRPr lang="x-none" sz="2000" dirty="0">
                            <a:effectLst/>
                            <a:latin typeface="Verdana" pitchFamily="34" charset="0"/>
                            <a:ea typeface="Verdana" pitchFamily="34" charset="0"/>
                            <a:cs typeface="Times New Roman" panose="02020603050405020304" pitchFamily="18" charset="0"/>
                          </a:endParaRPr>
                        </a:p>
                        <a:p>
                          <a:pPr marL="1485900" marR="0" indent="0" algn="ctr">
                            <a:spcBef>
                              <a:spcPts val="0"/>
                            </a:spcBef>
                            <a:spcAft>
                              <a:spcPts val="12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r>
                                          <a:rPr lang="en-US" sz="2000" i="1">
                                            <a:effectLst/>
                                            <a:latin typeface="Cambria Math" panose="02040503050406030204" pitchFamily="18" charset="0"/>
                                            <a:ea typeface="Verdana" panose="020B0604030504040204" pitchFamily="34" charset="0"/>
                                            <a:cs typeface="Verdana" panose="020B0604030504040204" pitchFamily="34" charset="0"/>
                                          </a:rPr>
                                          <m:t>2.5</m:t>
                                        </m:r>
                                      </m:e>
                                    </m:d>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oMath>
                            </m:oMathPara>
                          </a14:m>
                          <a:endParaRPr lang="x-none" sz="2000" dirty="0">
                            <a:effectLst/>
                            <a:latin typeface="Verdana" pitchFamily="34" charset="0"/>
                            <a:ea typeface="Verdana" pitchFamily="34" charset="0"/>
                            <a:cs typeface="Times New Roman" panose="02020603050405020304" pitchFamily="18" charset="0"/>
                          </a:endParaRPr>
                        </a:p>
                        <a:p>
                          <a:pPr marL="0" marR="0" indent="0" algn="ctr">
                            <a:spcBef>
                              <a:spcPts val="0"/>
                            </a:spcBef>
                            <a:spcAft>
                              <a:spcPts val="1200"/>
                            </a:spcAft>
                          </a:pPr>
                          <a14:m>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5</m:t>
                                          </m:r>
                                        </m:num>
                                        <m:den>
                                          <m:r>
                                            <a:rPr lang="en-US" sz="2000" i="1">
                                              <a:effectLst/>
                                              <a:latin typeface="Cambria Math" panose="02040503050406030204" pitchFamily="18" charset="0"/>
                                              <a:ea typeface="Verdana" panose="020B0604030504040204" pitchFamily="34" charset="0"/>
                                              <a:cs typeface="Verdana" panose="020B0604030504040204" pitchFamily="34" charset="0"/>
                                            </a:rPr>
                                            <m:t>2</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oMath>
                          </a14:m>
                          <a:r>
                            <a:rPr lang="en-US" sz="2000" dirty="0">
                              <a:effectLst/>
                              <a:latin typeface="Verdana"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p>
                          <a:pPr marL="1485900" marR="0" indent="0" algn="ctr">
                            <a:spcBef>
                              <a:spcPts val="0"/>
                            </a:spcBef>
                            <a:spcAft>
                              <a:spcPts val="12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x-none" sz="2000" dirty="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588" marR="0" indent="0" algn="ctr">
                            <a:spcBef>
                              <a:spcPts val="600"/>
                            </a:spcBef>
                            <a:spcAft>
                              <a:spcPts val="1200"/>
                            </a:spcAft>
                          </a:pPr>
                          <a14:m>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2.5</m:t>
                                              </m:r>
                                            </m:e>
                                            <m:sup>
                                              <m:r>
                                                <a:rPr lang="en-US" sz="2000" i="1">
                                                  <a:effectLst/>
                                                  <a:latin typeface="Cambria Math" panose="02040503050406030204" pitchFamily="18" charset="0"/>
                                                  <a:ea typeface="Verdana" panose="020B0604030504040204" pitchFamily="34" charset="0"/>
                                                  <a:cs typeface="Verdana" panose="020B0604030504040204" pitchFamily="34" charset="0"/>
                                                </a:rPr>
                                                <m:t>5</m:t>
                                              </m:r>
                                            </m:sup>
                                          </m:sSup>
                                        </m:num>
                                        <m:den>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2.5</m:t>
                                              </m:r>
                                            </m:e>
                                            <m:sup>
                                              <m:r>
                                                <a:rPr lang="en-US" sz="2000" i="1">
                                                  <a:effectLst/>
                                                  <a:latin typeface="Cambria Math" panose="02040503050406030204" pitchFamily="18" charset="0"/>
                                                  <a:ea typeface="Verdana" panose="020B0604030504040204" pitchFamily="34" charset="0"/>
                                                  <a:cs typeface="Verdana" panose="020B0604030504040204" pitchFamily="34" charset="0"/>
                                                </a:rPr>
                                                <m:t>3</m:t>
                                              </m:r>
                                            </m:sup>
                                          </m:sSup>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−1</m:t>
                                  </m:r>
                                </m:sup>
                              </m:sSup>
                            </m:oMath>
                          </a14:m>
                          <a:r>
                            <a:rPr lang="en-US" sz="2000" dirty="0">
                              <a:effectLst/>
                              <a:latin typeface="Verdana"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p>
                          <a:pPr marL="1588" marR="0" indent="0" algn="ctr">
                            <a:spcBef>
                              <a:spcPts val="0"/>
                            </a:spcBef>
                            <a:spcAft>
                              <a:spcPts val="1200"/>
                            </a:spcAft>
                          </a:pP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(2.5)</m:t>
                                      </m:r>
                                    </m:e>
                                    <m:sup>
                                      <m:r>
                                        <a:rPr lang="en-US" sz="2000" i="1">
                                          <a:effectLst/>
                                          <a:latin typeface="Cambria Math" panose="02040503050406030204" pitchFamily="18" charset="0"/>
                                          <a:ea typeface="Verdana" panose="020B0604030504040204" pitchFamily="34" charset="0"/>
                                          <a:cs typeface="Verdana" panose="020B0604030504040204" pitchFamily="34" charset="0"/>
                                        </a:rPr>
                                        <m:t>−5</m:t>
                                      </m:r>
                                    </m:sup>
                                  </m:sSup>
                                </m:num>
                                <m:den>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(2.5)</m:t>
                                      </m:r>
                                    </m:e>
                                    <m:sup>
                                      <m:r>
                                        <a:rPr lang="en-US" sz="2000" i="1">
                                          <a:effectLst/>
                                          <a:latin typeface="Cambria Math" panose="02040503050406030204" pitchFamily="18" charset="0"/>
                                          <a:ea typeface="Verdana" panose="020B0604030504040204" pitchFamily="34" charset="0"/>
                                          <a:cs typeface="Verdana" panose="020B0604030504040204" pitchFamily="34" charset="0"/>
                                        </a:rPr>
                                        <m:t>−3</m:t>
                                      </m:r>
                                    </m:sup>
                                  </m:sSup>
                                </m:den>
                              </m:f>
                            </m:oMath>
                          </a14:m>
                          <a:r>
                            <a:rPr lang="en-US" sz="2000" i="1"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p>
                          <a:pPr marL="1319213" marR="0" indent="0" algn="ctr">
                            <a:spcBef>
                              <a:spcPts val="0"/>
                            </a:spcBef>
                            <a:spcAft>
                              <a:spcPts val="12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m:t>
                                </m:r>
                              </m:oMath>
                            </m:oMathPara>
                          </a14:m>
                          <a:endParaRPr lang="x-none" sz="2000" dirty="0">
                            <a:effectLst/>
                            <a:latin typeface="Verdana" pitchFamily="34" charset="0"/>
                            <a:ea typeface="Verdana" pitchFamily="34" charset="0"/>
                            <a:cs typeface="Times New Roman" panose="02020603050405020304" pitchFamily="18" charset="0"/>
                          </a:endParaRPr>
                        </a:p>
                        <a:p>
                          <a:pPr marL="1317625" marR="0" indent="-1316038" algn="ctr">
                            <a:spcBef>
                              <a:spcPts val="0"/>
                            </a:spcBef>
                            <a:spcAft>
                              <a:spcPts val="12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m:t>
                                </m:r>
                              </m:oMath>
                            </m:oMathPara>
                          </a14:m>
                          <a:endParaRPr lang="en-US" sz="2000" i="1" dirty="0">
                            <a:effectLst/>
                            <a:latin typeface="Verdana" panose="020B0604030504040204" pitchFamily="34" charset="0"/>
                            <a:ea typeface="Verdana" panose="020B0604030504040204" pitchFamily="34" charset="0"/>
                            <a:cs typeface="Verdana" panose="020B0604030504040204" pitchFamily="34" charset="0"/>
                          </a:endParaRPr>
                        </a:p>
                        <a:p>
                          <a:pPr marL="1317625" marR="0" indent="-1316038" algn="ctr">
                            <a:spcBef>
                              <a:spcPts val="0"/>
                            </a:spcBef>
                            <a:spcAft>
                              <a:spcPts val="12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m:t>
                                </m:r>
                              </m:oMath>
                            </m:oMathPara>
                          </a14:m>
                          <a:endParaRPr lang="x-none" sz="2000" dirty="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74117842"/>
                      </a:ext>
                    </a:extLst>
                  </a:tr>
                </a:tbl>
              </a:graphicData>
            </a:graphic>
          </p:graphicFrame>
        </mc:Choice>
        <mc:Fallback xmlns="">
          <p:graphicFrame>
            <p:nvGraphicFramePr>
              <p:cNvPr id="4" name="Table 3">
                <a:extLst>
                  <a:ext uri="{FF2B5EF4-FFF2-40B4-BE49-F238E27FC236}">
                    <a16:creationId xmlns:a16="http://schemas.microsoft.com/office/drawing/2014/main" id="{74F865D9-E762-D642-B9AD-248E3E8B3327}"/>
                  </a:ext>
                </a:extLst>
              </p:cNvPr>
              <p:cNvGraphicFramePr>
                <a:graphicFrameLocks noGrp="1"/>
              </p:cNvGraphicFramePr>
              <p:nvPr>
                <p:extLst>
                  <p:ext uri="{D42A27DB-BD31-4B8C-83A1-F6EECF244321}">
                    <p14:modId xmlns:p14="http://schemas.microsoft.com/office/powerpoint/2010/main" val="3162886706"/>
                  </p:ext>
                </p:extLst>
              </p:nvPr>
            </p:nvGraphicFramePr>
            <p:xfrm>
              <a:off x="2137290" y="397919"/>
              <a:ext cx="7772400" cy="6032310"/>
            </p:xfrm>
            <a:graphic>
              <a:graphicData uri="http://schemas.openxmlformats.org/drawingml/2006/table">
                <a:tbl>
                  <a:tblPr firstRow="1" firstCol="1" bandRow="1"/>
                  <a:tblGrid>
                    <a:gridCol w="4023360">
                      <a:extLst>
                        <a:ext uri="{9D8B030D-6E8A-4147-A177-3AD203B41FA5}">
                          <a16:colId xmlns:a16="http://schemas.microsoft.com/office/drawing/2014/main" val="2089860444"/>
                        </a:ext>
                      </a:extLst>
                    </a:gridCol>
                    <a:gridCol w="3749040">
                      <a:extLst>
                        <a:ext uri="{9D8B030D-6E8A-4147-A177-3AD203B41FA5}">
                          <a16:colId xmlns:a16="http://schemas.microsoft.com/office/drawing/2014/main" val="3618859394"/>
                        </a:ext>
                      </a:extLst>
                    </a:gridCol>
                  </a:tblGrid>
                  <a:tr h="48768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Fernanda</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Junior</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776772056"/>
                      </a:ext>
                    </a:extLst>
                  </a:tr>
                  <a:tr h="262128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will first apply the </a:t>
                          </a:r>
                          <a:r>
                            <a:rPr lang="en-US" sz="2000" b="1" dirty="0">
                              <a:effectLst/>
                              <a:latin typeface="Verdana" panose="020B0604030504040204" pitchFamily="34" charset="0"/>
                              <a:ea typeface="Verdana" panose="020B0604030504040204" pitchFamily="34" charset="0"/>
                              <a:cs typeface="Verdana" panose="020B0604030504040204" pitchFamily="34" charset="0"/>
                            </a:rPr>
                            <a:t>quotient of powers </a:t>
                          </a:r>
                          <a:r>
                            <a:rPr lang="en-US" sz="2000" dirty="0">
                              <a:effectLst/>
                              <a:latin typeface="Verdana" panose="020B0604030504040204" pitchFamily="34" charset="0"/>
                              <a:ea typeface="Verdana" panose="020B0604030504040204" pitchFamily="34" charset="0"/>
                              <a:cs typeface="Verdana" panose="020B0604030504040204" pitchFamily="34" charset="0"/>
                            </a:rPr>
                            <a:t>exponent law. Then, I will apply the </a:t>
                          </a:r>
                          <a:r>
                            <a:rPr lang="en-US" sz="2000" b="1" dirty="0">
                              <a:effectLst/>
                              <a:latin typeface="Verdana" panose="020B0604030504040204" pitchFamily="34" charset="0"/>
                              <a:ea typeface="Verdana" panose="020B0604030504040204" pitchFamily="34" charset="0"/>
                              <a:cs typeface="Verdana" panose="020B0604030504040204" pitchFamily="34" charset="0"/>
                            </a:rPr>
                            <a:t>power of a power</a:t>
                          </a:r>
                          <a:r>
                            <a:rPr lang="en-US" sz="2000" dirty="0">
                              <a:effectLst/>
                              <a:latin typeface="Verdana" panose="020B0604030504040204" pitchFamily="34" charset="0"/>
                              <a:ea typeface="Verdana" panose="020B0604030504040204" pitchFamily="34" charset="0"/>
                              <a:cs typeface="Verdana" panose="020B0604030504040204" pitchFamily="34" charset="0"/>
                            </a:rPr>
                            <a:t> exponent law. Finally, I will re-write the decimal as a fraction and apply the </a:t>
                          </a:r>
                          <a:r>
                            <a:rPr lang="en-US" sz="2000" b="1" dirty="0">
                              <a:effectLst/>
                              <a:latin typeface="Verdana" panose="020B0604030504040204" pitchFamily="34" charset="0"/>
                              <a:ea typeface="Verdana" panose="020B0604030504040204" pitchFamily="34" charset="0"/>
                              <a:cs typeface="Verdana" panose="020B0604030504040204" pitchFamily="34" charset="0"/>
                            </a:rPr>
                            <a:t>negative</a:t>
                          </a:r>
                          <a:r>
                            <a:rPr lang="en-US" sz="2000" dirty="0">
                              <a:effectLst/>
                              <a:latin typeface="Verdana" panose="020B0604030504040204" pitchFamily="34" charset="0"/>
                              <a:ea typeface="Verdana" panose="020B0604030504040204" pitchFamily="34" charset="0"/>
                              <a:cs typeface="Verdana" panose="020B0604030504040204" pitchFamily="34" charset="0"/>
                            </a:rPr>
                            <a:t> exponent law.</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will first apply the </a:t>
                          </a:r>
                          <a:r>
                            <a:rPr lang="en-US" sz="2000" b="1" dirty="0">
                              <a:effectLst/>
                              <a:latin typeface="Verdana" panose="020B0604030504040204" pitchFamily="34" charset="0"/>
                              <a:ea typeface="Verdana" panose="020B0604030504040204" pitchFamily="34" charset="0"/>
                              <a:cs typeface="Verdana" panose="020B0604030504040204" pitchFamily="34" charset="0"/>
                            </a:rPr>
                            <a:t>power of a quotient </a:t>
                          </a:r>
                          <a:r>
                            <a:rPr lang="en-US" sz="2000" dirty="0">
                              <a:effectLst/>
                              <a:latin typeface="Verdana" panose="020B0604030504040204" pitchFamily="34" charset="0"/>
                              <a:ea typeface="Verdana" panose="020B0604030504040204" pitchFamily="34" charset="0"/>
                              <a:cs typeface="Verdana" panose="020B0604030504040204" pitchFamily="34" charset="0"/>
                            </a:rPr>
                            <a:t>exponent law. Then, I will apply the </a:t>
                          </a:r>
                          <a:r>
                            <a:rPr lang="en-US" sz="2000" b="1" dirty="0">
                              <a:effectLst/>
                              <a:latin typeface="Verdana" panose="020B0604030504040204" pitchFamily="34" charset="0"/>
                              <a:ea typeface="Verdana" panose="020B0604030504040204" pitchFamily="34" charset="0"/>
                              <a:cs typeface="Verdana" panose="020B0604030504040204" pitchFamily="34" charset="0"/>
                            </a:rPr>
                            <a:t>quotient of powers </a:t>
                          </a:r>
                          <a:r>
                            <a:rPr lang="en-US" sz="2000" dirty="0">
                              <a:effectLst/>
                              <a:latin typeface="Verdana" panose="020B0604030504040204" pitchFamily="34" charset="0"/>
                              <a:ea typeface="Verdana" panose="020B0604030504040204" pitchFamily="34" charset="0"/>
                              <a:cs typeface="Verdana" panose="020B0604030504040204" pitchFamily="34" charset="0"/>
                            </a:rPr>
                            <a:t>exponent law. Finally, I will re-write the decimal as a fraction and apply the </a:t>
                          </a:r>
                          <a:r>
                            <a:rPr lang="en-US" sz="2000" b="1" dirty="0">
                              <a:effectLst/>
                              <a:latin typeface="Verdana" panose="020B0604030504040204" pitchFamily="34" charset="0"/>
                              <a:ea typeface="Verdana" panose="020B0604030504040204" pitchFamily="34" charset="0"/>
                              <a:cs typeface="Verdana" panose="020B0604030504040204" pitchFamily="34" charset="0"/>
                            </a:rPr>
                            <a:t>negative</a:t>
                          </a:r>
                          <a:r>
                            <a:rPr lang="en-US" sz="2000" dirty="0">
                              <a:effectLst/>
                              <a:latin typeface="Verdana" panose="020B0604030504040204" pitchFamily="34" charset="0"/>
                              <a:ea typeface="Verdana" panose="020B0604030504040204" pitchFamily="34" charset="0"/>
                              <a:cs typeface="Verdana" panose="020B0604030504040204" pitchFamily="34" charset="0"/>
                            </a:rPr>
                            <a:t> exponent law. </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9646520"/>
                      </a:ext>
                    </a:extLst>
                  </a:tr>
                  <a:tr h="2923350">
                    <a:tc>
                      <a:txBody>
                        <a:bodyPr/>
                        <a:lstStyle/>
                        <a:p>
                          <a:endParaRPr lang="en-US"/>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15" t="-106494" r="-93691" b="-433"/>
                          </a:stretch>
                        </a:blipFill>
                      </a:tcPr>
                    </a:tc>
                    <a:tc>
                      <a:txBody>
                        <a:bodyPr/>
                        <a:lstStyle/>
                        <a:p>
                          <a:endParaRPr lang="en-US"/>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07432" t="-106494" r="-338" b="-433"/>
                          </a:stretch>
                        </a:blipFill>
                      </a:tcPr>
                    </a:tc>
                    <a:extLst>
                      <a:ext uri="{0D108BD9-81ED-4DB2-BD59-A6C34878D82A}">
                        <a16:rowId xmlns:a16="http://schemas.microsoft.com/office/drawing/2014/main" val="674117842"/>
                      </a:ext>
                    </a:extLst>
                  </a:tr>
                </a:tbl>
              </a:graphicData>
            </a:graphic>
          </p:graphicFrame>
        </mc:Fallback>
      </mc:AlternateContent>
    </p:spTree>
    <p:extLst>
      <p:ext uri="{BB962C8B-B14F-4D97-AF65-F5344CB8AC3E}">
        <p14:creationId xmlns:p14="http://schemas.microsoft.com/office/powerpoint/2010/main" val="1159944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136</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914400" y="402336"/>
            <a:ext cx="10515600" cy="3785652"/>
          </a:xfrm>
          <a:prstGeom prst="rect">
            <a:avLst/>
          </a:prstGeom>
        </p:spPr>
        <p:txBody>
          <a:bodyPr wrap="square">
            <a:spAutoFit/>
          </a:bodyPr>
          <a:lstStyle/>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Explain which method you prefer.</a:t>
            </a: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Ask your partner which method they prefer. Summarize your partner’s explanation.</a:t>
            </a:r>
          </a:p>
        </p:txBody>
      </p:sp>
    </p:spTree>
    <p:extLst>
      <p:ext uri="{BB962C8B-B14F-4D97-AF65-F5344CB8AC3E}">
        <p14:creationId xmlns:p14="http://schemas.microsoft.com/office/powerpoint/2010/main" val="1699501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499539" y="2819159"/>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136</a:t>
            </a:r>
            <a:endParaRPr i="1" dirty="0">
              <a:latin typeface="Calibri"/>
              <a:ea typeface="Calibri"/>
              <a:cs typeface="Calibri"/>
              <a:sym typeface="Calibri"/>
            </a:endParaRPr>
          </a:p>
        </p:txBody>
      </p:sp>
      <p:pic>
        <p:nvPicPr>
          <p:cNvPr id="8" name="image12.png" descr="Icon&#10;&#10;Description automatically generated">
            <a:extLst>
              <a:ext uri="{FF2B5EF4-FFF2-40B4-BE49-F238E27FC236}">
                <a16:creationId xmlns:a16="http://schemas.microsoft.com/office/drawing/2014/main" id="{A9BB7A96-7FA7-A842-A8CD-36C78EFCB1CF}"/>
              </a:ext>
            </a:extLst>
          </p:cNvPr>
          <p:cNvPicPr/>
          <p:nvPr/>
        </p:nvPicPr>
        <p:blipFill>
          <a:blip r:embed="rId4"/>
          <a:srcRect/>
          <a:stretch>
            <a:fillRect/>
          </a:stretch>
        </p:blipFill>
        <p:spPr>
          <a:xfrm>
            <a:off x="3054096" y="2905937"/>
            <a:ext cx="1152144" cy="115214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525382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113333"/>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4.3.3 Activity: Roundtable</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136</a:t>
            </a:r>
            <a:endParaRPr i="1" dirty="0">
              <a:latin typeface="Calibri"/>
              <a:ea typeface="Calibri"/>
              <a:cs typeface="Calibri"/>
              <a:sym typeface="Calibri"/>
            </a:endParaRPr>
          </a:p>
        </p:txBody>
      </p:sp>
      <p:sp>
        <p:nvSpPr>
          <p:cNvPr id="10" name="TextBox 9">
            <a:extLst>
              <a:ext uri="{FF2B5EF4-FFF2-40B4-BE49-F238E27FC236}">
                <a16:creationId xmlns:a16="http://schemas.microsoft.com/office/drawing/2014/main" id="{E44DF7DE-9172-3E4E-B74A-7A51585FB6EA}"/>
              </a:ext>
            </a:extLst>
          </p:cNvPr>
          <p:cNvSpPr txBox="1"/>
          <p:nvPr/>
        </p:nvSpPr>
        <p:spPr>
          <a:xfrm>
            <a:off x="914400" y="1695021"/>
            <a:ext cx="10515600" cy="4154984"/>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In teams of three, assign a number (1–3) to each team member. Each student will complete the </a:t>
            </a:r>
            <a:r>
              <a:rPr lang="en-US" sz="2400" b="1" dirty="0">
                <a:latin typeface="Verdana" panose="020B0604030504040204" pitchFamily="34" charset="0"/>
                <a:ea typeface="Verdana" panose="020B0604030504040204" pitchFamily="34" charset="0"/>
                <a:cs typeface="Verdana" panose="020B0604030504040204" pitchFamily="34" charset="0"/>
              </a:rPr>
              <a:t>first</a:t>
            </a:r>
            <a:r>
              <a:rPr lang="en-US" sz="2400" dirty="0">
                <a:latin typeface="Verdana" panose="020B0604030504040204" pitchFamily="34" charset="0"/>
                <a:ea typeface="Verdana" panose="020B0604030504040204" pitchFamily="34" charset="0"/>
                <a:cs typeface="Verdana" panose="020B0604030504040204" pitchFamily="34" charset="0"/>
              </a:rPr>
              <a:t> step of their assigned problem and identify the exponent law used. </a:t>
            </a:r>
          </a:p>
          <a:p>
            <a:pPr lvl="0"/>
            <a:r>
              <a:rPr lang="en-US" sz="2400" dirty="0">
                <a:latin typeface="Verdana" panose="020B0604030504040204" pitchFamily="34" charset="0"/>
                <a:ea typeface="Verdana" panose="020B0604030504040204" pitchFamily="34" charset="0"/>
                <a:cs typeface="Verdana" panose="020B0604030504040204" pitchFamily="34" charset="0"/>
              </a:rPr>
              <a:t>Then, pass the problem to the student on your right to check the work and complete the next step in the problem. </a:t>
            </a:r>
          </a:p>
          <a:p>
            <a:pPr lvl="0"/>
            <a:r>
              <a:rPr lang="en-US" sz="2400" dirty="0">
                <a:latin typeface="Verdana" panose="020B0604030504040204" pitchFamily="34" charset="0"/>
                <a:ea typeface="Verdana" panose="020B0604030504040204" pitchFamily="34" charset="0"/>
                <a:cs typeface="Verdana" panose="020B0604030504040204" pitchFamily="34" charset="0"/>
              </a:rPr>
              <a:t> </a:t>
            </a:r>
          </a:p>
          <a:p>
            <a:pPr lvl="0"/>
            <a:r>
              <a:rPr lang="en-US" sz="2400" dirty="0">
                <a:latin typeface="Verdana" panose="020B0604030504040204" pitchFamily="34" charset="0"/>
                <a:ea typeface="Verdana" panose="020B0604030504040204" pitchFamily="34" charset="0"/>
                <a:cs typeface="Verdana" panose="020B0604030504040204" pitchFamily="34" charset="0"/>
              </a:rPr>
              <a:t>For each new step, continue passing the problems to the student on your right until the problems have one base and one exponent.</a:t>
            </a:r>
          </a:p>
        </p:txBody>
      </p:sp>
      <p:pic>
        <p:nvPicPr>
          <p:cNvPr id="11" name="image12.png" descr="Icon&#10;&#10;Description automatically generated">
            <a:extLst>
              <a:ext uri="{FF2B5EF4-FFF2-40B4-BE49-F238E27FC236}">
                <a16:creationId xmlns:a16="http://schemas.microsoft.com/office/drawing/2014/main" id="{4E517EDD-D2A9-714F-8720-53EE45632B60}"/>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411480" y="335019"/>
            <a:ext cx="749809" cy="749809"/>
          </a:xfrm>
          <a:prstGeom prst="rect">
            <a:avLst/>
          </a:prstGeom>
          <a:ln/>
        </p:spPr>
      </p:pic>
    </p:spTree>
    <p:extLst>
      <p:ext uri="{BB962C8B-B14F-4D97-AF65-F5344CB8AC3E}">
        <p14:creationId xmlns:p14="http://schemas.microsoft.com/office/powerpoint/2010/main" val="2760412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3696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CA608A09-11AB-0948-B09D-4C4A3D9DC7E6}"/>
                  </a:ext>
                </a:extLst>
              </p:cNvPr>
              <p:cNvGraphicFramePr>
                <a:graphicFrameLocks noGrp="1"/>
              </p:cNvGraphicFramePr>
              <p:nvPr>
                <p:extLst>
                  <p:ext uri="{D42A27DB-BD31-4B8C-83A1-F6EECF244321}">
                    <p14:modId xmlns:p14="http://schemas.microsoft.com/office/powerpoint/2010/main" val="1526909885"/>
                  </p:ext>
                </p:extLst>
              </p:nvPr>
            </p:nvGraphicFramePr>
            <p:xfrm>
              <a:off x="2137290" y="397919"/>
              <a:ext cx="7809350" cy="6096000"/>
            </p:xfrm>
            <a:graphic>
              <a:graphicData uri="http://schemas.openxmlformats.org/drawingml/2006/table">
                <a:tbl>
                  <a:tblPr firstRow="1" firstCol="1" bandRow="1"/>
                  <a:tblGrid>
                    <a:gridCol w="3904675">
                      <a:extLst>
                        <a:ext uri="{9D8B030D-6E8A-4147-A177-3AD203B41FA5}">
                          <a16:colId xmlns:a16="http://schemas.microsoft.com/office/drawing/2014/main" val="455627618"/>
                        </a:ext>
                      </a:extLst>
                    </a:gridCol>
                    <a:gridCol w="3904675">
                      <a:extLst>
                        <a:ext uri="{9D8B030D-6E8A-4147-A177-3AD203B41FA5}">
                          <a16:colId xmlns:a16="http://schemas.microsoft.com/office/drawing/2014/main" val="2120287364"/>
                        </a:ext>
                      </a:extLst>
                    </a:gridCol>
                  </a:tblGrid>
                  <a:tr h="254035">
                    <a:tc gridSpan="2">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Team </a:t>
                          </a: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Member 1: _________________</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x-none"/>
                        </a:p>
                      </a:txBody>
                      <a:tcPr/>
                    </a:tc>
                    <a:extLst>
                      <a:ext uri="{0D108BD9-81ED-4DB2-BD59-A6C34878D82A}">
                        <a16:rowId xmlns:a16="http://schemas.microsoft.com/office/drawing/2014/main" val="2046215813"/>
                      </a:ext>
                    </a:extLst>
                  </a:tr>
                  <a:tr h="2560320">
                    <a:tc>
                      <a:txBody>
                        <a:bodyPr/>
                        <a:lstStyle/>
                        <a:p>
                          <a:pPr marL="0" marR="0" algn="ctr">
                            <a:spcBef>
                              <a:spcPts val="0"/>
                            </a:spcBef>
                            <a:spcAft>
                              <a:spcPts val="0"/>
                            </a:spcAft>
                          </a:pPr>
                          <a14:m>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4</m:t>
                                                  </m:r>
                                                </m:num>
                                                <m:den>
                                                  <m:r>
                                                    <a:rPr lang="en-US" sz="2000" i="1">
                                                      <a:effectLst/>
                                                      <a:latin typeface="Cambria Math" panose="02040503050406030204" pitchFamily="18" charset="0"/>
                                                      <a:ea typeface="Verdana" panose="020B0604030504040204" pitchFamily="34" charset="0"/>
                                                      <a:cs typeface="Verdana" panose="020B0604030504040204" pitchFamily="34" charset="0"/>
                                                    </a:rPr>
                                                    <m:t>5</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0</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den>
                                              </m:f>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e>
                                  </m:d>
                                </m:e>
                                <m:sup>
                                  <m:r>
                                    <a:rPr lang="en-US" sz="2000" i="1">
                                      <a:effectLst/>
                                      <a:latin typeface="Cambria Math" panose="02040503050406030204" pitchFamily="18" charset="0"/>
                                      <a:ea typeface="Verdana" panose="020B0604030504040204" pitchFamily="34" charset="0"/>
                                      <a:cs typeface="Verdana" panose="020B0604030504040204" pitchFamily="34" charset="0"/>
                                    </a:rPr>
                                    <m:t>3</m:t>
                                  </m:r>
                                </m:sup>
                              </m:sSup>
                            </m:oMath>
                          </a14:m>
                          <a:r>
                            <a:rPr lang="en-PH" sz="2000" dirty="0">
                              <a:effectLst/>
                              <a:latin typeface="Verdana"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u="sng" dirty="0">
                              <a:effectLst/>
                              <a:latin typeface="Verdana" panose="020B0604030504040204" pitchFamily="34" charset="0"/>
                              <a:ea typeface="Verdana" pitchFamily="34" charset="0"/>
                              <a:cs typeface="Times New Roman" panose="02020603050405020304" pitchFamily="18" charset="0"/>
                            </a:rPr>
                            <a:t>Exponent Law Used</a:t>
                          </a:r>
                          <a:endParaRPr lang="x-none" sz="2000" dirty="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0000023"/>
                      </a:ext>
                    </a:extLst>
                  </a:tr>
                  <a:tr h="254035">
                    <a:tc gridSpan="2">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Team Member 2: _________________</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x-none"/>
                        </a:p>
                      </a:txBody>
                      <a:tcPr/>
                    </a:tc>
                    <a:extLst>
                      <a:ext uri="{0D108BD9-81ED-4DB2-BD59-A6C34878D82A}">
                        <a16:rowId xmlns:a16="http://schemas.microsoft.com/office/drawing/2014/main" val="4267767559"/>
                      </a:ext>
                    </a:extLst>
                  </a:tr>
                  <a:tr h="256032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0.5</m:t>
                                            </m:r>
                                          </m:e>
                                          <m:sup>
                                            <m:r>
                                              <a:rPr lang="en-US" sz="2000" i="1">
                                                <a:effectLst/>
                                                <a:latin typeface="Cambria Math" panose="02040503050406030204" pitchFamily="18" charset="0"/>
                                                <a:ea typeface="Verdana" panose="020B0604030504040204" pitchFamily="34" charset="0"/>
                                                <a:cs typeface="Verdana" panose="020B0604030504040204" pitchFamily="34" charset="0"/>
                                              </a:rPr>
                                              <m:t>1</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num>
                                  <m:den>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0.5</m:t>
                                            </m:r>
                                          </m:e>
                                          <m:sup>
                                            <m:r>
                                              <a:rPr lang="en-US" sz="2000" i="1">
                                                <a:effectLst/>
                                                <a:latin typeface="Cambria Math" panose="02040503050406030204" pitchFamily="18" charset="0"/>
                                                <a:ea typeface="Verdana" panose="020B0604030504040204" pitchFamily="34" charset="0"/>
                                                <a:cs typeface="Verdana" panose="020B0604030504040204" pitchFamily="34" charset="0"/>
                                              </a:rPr>
                                              <m:t>3</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den>
                                </m:f>
                              </m:oMath>
                            </m:oMathPara>
                          </a14:m>
                          <a:endParaRPr lang="x-none" sz="2000" dirty="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u="sng" dirty="0">
                              <a:effectLst/>
                              <a:latin typeface="Verdana" panose="020B0604030504040204" pitchFamily="34" charset="0"/>
                              <a:ea typeface="Verdana" pitchFamily="34" charset="0"/>
                              <a:cs typeface="Times New Roman" panose="02020603050405020304" pitchFamily="18" charset="0"/>
                            </a:rPr>
                            <a:t>Exponent Law Used</a:t>
                          </a:r>
                          <a:endParaRPr lang="x-none" sz="2000" dirty="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04909250"/>
                      </a:ext>
                    </a:extLst>
                  </a:tr>
                </a:tbl>
              </a:graphicData>
            </a:graphic>
          </p:graphicFrame>
        </mc:Choice>
        <mc:Fallback xmlns="">
          <p:graphicFrame>
            <p:nvGraphicFramePr>
              <p:cNvPr id="6" name="Table 5">
                <a:extLst>
                  <a:ext uri="{FF2B5EF4-FFF2-40B4-BE49-F238E27FC236}">
                    <a16:creationId xmlns:a16="http://schemas.microsoft.com/office/drawing/2014/main" id="{CA608A09-11AB-0948-B09D-4C4A3D9DC7E6}"/>
                  </a:ext>
                </a:extLst>
              </p:cNvPr>
              <p:cNvGraphicFramePr>
                <a:graphicFrameLocks noGrp="1"/>
              </p:cNvGraphicFramePr>
              <p:nvPr>
                <p:extLst>
                  <p:ext uri="{D42A27DB-BD31-4B8C-83A1-F6EECF244321}">
                    <p14:modId xmlns:p14="http://schemas.microsoft.com/office/powerpoint/2010/main" val="1526909885"/>
                  </p:ext>
                </p:extLst>
              </p:nvPr>
            </p:nvGraphicFramePr>
            <p:xfrm>
              <a:off x="2137290" y="397919"/>
              <a:ext cx="7809350" cy="6096000"/>
            </p:xfrm>
            <a:graphic>
              <a:graphicData uri="http://schemas.openxmlformats.org/drawingml/2006/table">
                <a:tbl>
                  <a:tblPr firstRow="1" firstCol="1" bandRow="1"/>
                  <a:tblGrid>
                    <a:gridCol w="3904675">
                      <a:extLst>
                        <a:ext uri="{9D8B030D-6E8A-4147-A177-3AD203B41FA5}">
                          <a16:colId xmlns:a16="http://schemas.microsoft.com/office/drawing/2014/main" val="455627618"/>
                        </a:ext>
                      </a:extLst>
                    </a:gridCol>
                    <a:gridCol w="3904675">
                      <a:extLst>
                        <a:ext uri="{9D8B030D-6E8A-4147-A177-3AD203B41FA5}">
                          <a16:colId xmlns:a16="http://schemas.microsoft.com/office/drawing/2014/main" val="2120287364"/>
                        </a:ext>
                      </a:extLst>
                    </a:gridCol>
                  </a:tblGrid>
                  <a:tr h="487680">
                    <a:tc gridSpan="2">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Team </a:t>
                          </a: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Member 1: _________________</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x-none"/>
                        </a:p>
                      </a:txBody>
                      <a:tcPr/>
                    </a:tc>
                    <a:extLst>
                      <a:ext uri="{0D108BD9-81ED-4DB2-BD59-A6C34878D82A}">
                        <a16:rowId xmlns:a16="http://schemas.microsoft.com/office/drawing/2014/main" val="2046215813"/>
                      </a:ext>
                    </a:extLst>
                  </a:tr>
                  <a:tr h="2560320">
                    <a:tc>
                      <a:txBody>
                        <a:bodyPr/>
                        <a:lstStyle/>
                        <a:p>
                          <a:endParaRPr lang="en-US"/>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25" t="-19212" r="-100325" b="-118719"/>
                          </a:stretch>
                        </a:blipFill>
                      </a:tcPr>
                    </a:tc>
                    <a:tc>
                      <a:txBody>
                        <a:bodyPr/>
                        <a:lstStyle/>
                        <a:p>
                          <a:pPr marL="0" marR="0" algn="ctr">
                            <a:spcBef>
                              <a:spcPts val="0"/>
                            </a:spcBef>
                            <a:spcAft>
                              <a:spcPts val="0"/>
                            </a:spcAft>
                          </a:pPr>
                          <a:r>
                            <a:rPr lang="en-US" sz="2000" u="sng" dirty="0">
                              <a:effectLst/>
                              <a:latin typeface="Verdana" panose="020B0604030504040204" pitchFamily="34" charset="0"/>
                              <a:ea typeface="Verdana" pitchFamily="34" charset="0"/>
                              <a:cs typeface="Times New Roman" panose="02020603050405020304" pitchFamily="18" charset="0"/>
                            </a:rPr>
                            <a:t>Exponent Law Used</a:t>
                          </a:r>
                          <a:endParaRPr lang="x-none" sz="2000" dirty="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0000023"/>
                      </a:ext>
                    </a:extLst>
                  </a:tr>
                  <a:tr h="487680">
                    <a:tc gridSpan="2">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Team Member 2: _________________</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x-none"/>
                        </a:p>
                      </a:txBody>
                      <a:tcPr/>
                    </a:tc>
                    <a:extLst>
                      <a:ext uri="{0D108BD9-81ED-4DB2-BD59-A6C34878D82A}">
                        <a16:rowId xmlns:a16="http://schemas.microsoft.com/office/drawing/2014/main" val="4267767559"/>
                      </a:ext>
                    </a:extLst>
                  </a:tr>
                  <a:tr h="2560320">
                    <a:tc>
                      <a:txBody>
                        <a:bodyPr/>
                        <a:lstStyle/>
                        <a:p>
                          <a:endParaRPr lang="en-US"/>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25" t="-138614" r="-100325" b="-495"/>
                          </a:stretch>
                        </a:blipFill>
                      </a:tcPr>
                    </a:tc>
                    <a:tc>
                      <a:txBody>
                        <a:bodyPr/>
                        <a:lstStyle/>
                        <a:p>
                          <a:pPr marL="0" marR="0" algn="ctr">
                            <a:spcBef>
                              <a:spcPts val="0"/>
                            </a:spcBef>
                            <a:spcAft>
                              <a:spcPts val="0"/>
                            </a:spcAft>
                          </a:pPr>
                          <a:r>
                            <a:rPr lang="en-US" sz="2000" u="sng" dirty="0">
                              <a:effectLst/>
                              <a:latin typeface="Verdana" panose="020B0604030504040204" pitchFamily="34" charset="0"/>
                              <a:ea typeface="Verdana" pitchFamily="34" charset="0"/>
                              <a:cs typeface="Times New Roman" panose="02020603050405020304" pitchFamily="18" charset="0"/>
                            </a:rPr>
                            <a:t>Exponent Law Used</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04909250"/>
                      </a:ext>
                    </a:extLst>
                  </a:tr>
                </a:tbl>
              </a:graphicData>
            </a:graphic>
          </p:graphicFrame>
        </mc:Fallback>
      </mc:AlternateContent>
    </p:spTree>
    <p:extLst>
      <p:ext uri="{BB962C8B-B14F-4D97-AF65-F5344CB8AC3E}">
        <p14:creationId xmlns:p14="http://schemas.microsoft.com/office/powerpoint/2010/main" val="1515772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CA608A09-11AB-0948-B09D-4C4A3D9DC7E6}"/>
                  </a:ext>
                </a:extLst>
              </p:cNvPr>
              <p:cNvGraphicFramePr>
                <a:graphicFrameLocks noGrp="1"/>
              </p:cNvGraphicFramePr>
              <p:nvPr>
                <p:extLst>
                  <p:ext uri="{D42A27DB-BD31-4B8C-83A1-F6EECF244321}">
                    <p14:modId xmlns:p14="http://schemas.microsoft.com/office/powerpoint/2010/main" val="3853664373"/>
                  </p:ext>
                </p:extLst>
              </p:nvPr>
            </p:nvGraphicFramePr>
            <p:xfrm>
              <a:off x="2137290" y="397919"/>
              <a:ext cx="7809350" cy="3048000"/>
            </p:xfrm>
            <a:graphic>
              <a:graphicData uri="http://schemas.openxmlformats.org/drawingml/2006/table">
                <a:tbl>
                  <a:tblPr firstRow="1" firstCol="1" bandRow="1"/>
                  <a:tblGrid>
                    <a:gridCol w="3904675">
                      <a:extLst>
                        <a:ext uri="{9D8B030D-6E8A-4147-A177-3AD203B41FA5}">
                          <a16:colId xmlns:a16="http://schemas.microsoft.com/office/drawing/2014/main" val="455627618"/>
                        </a:ext>
                      </a:extLst>
                    </a:gridCol>
                    <a:gridCol w="3904675">
                      <a:extLst>
                        <a:ext uri="{9D8B030D-6E8A-4147-A177-3AD203B41FA5}">
                          <a16:colId xmlns:a16="http://schemas.microsoft.com/office/drawing/2014/main" val="2120287364"/>
                        </a:ext>
                      </a:extLst>
                    </a:gridCol>
                  </a:tblGrid>
                  <a:tr h="457200">
                    <a:tc gridSpan="2">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Team Member 3: _________________</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x-none"/>
                        </a:p>
                      </a:txBody>
                      <a:tcPr/>
                    </a:tc>
                    <a:extLst>
                      <a:ext uri="{0D108BD9-81ED-4DB2-BD59-A6C34878D82A}">
                        <a16:rowId xmlns:a16="http://schemas.microsoft.com/office/drawing/2014/main" val="4085401988"/>
                      </a:ext>
                    </a:extLst>
                  </a:tr>
                  <a:tr h="256032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((−3)</m:t>
                                            </m:r>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e>
                                      <m:sup>
                                        <m:r>
                                          <a:rPr lang="en-US" sz="2000" i="1">
                                            <a:effectLst/>
                                            <a:latin typeface="Cambria Math" panose="02040503050406030204" pitchFamily="18" charset="0"/>
                                            <a:ea typeface="Verdana" panose="020B0604030504040204" pitchFamily="34" charset="0"/>
                                            <a:cs typeface="Verdana" panose="020B0604030504040204" pitchFamily="34" charset="0"/>
                                          </a:rPr>
                                          <m:t>4</m:t>
                                        </m:r>
                                      </m:sup>
                                    </m:sSup>
                                  </m:num>
                                  <m:den>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(−3)</m:t>
                                        </m:r>
                                      </m:e>
                                      <m:sup>
                                        <m:r>
                                          <a:rPr lang="en-US" sz="2000" i="1">
                                            <a:effectLst/>
                                            <a:latin typeface="Cambria Math" panose="02040503050406030204" pitchFamily="18" charset="0"/>
                                            <a:ea typeface="Verdana" panose="020B0604030504040204" pitchFamily="34" charset="0"/>
                                            <a:cs typeface="Verdana" panose="020B0604030504040204" pitchFamily="34" charset="0"/>
                                          </a:rPr>
                                          <m:t>0</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 ∙ </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(−3)</m:t>
                                        </m:r>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den>
                                </m:f>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u="sng" dirty="0">
                              <a:effectLst/>
                              <a:latin typeface="Verdana" panose="020B0604030504040204" pitchFamily="34" charset="0"/>
                              <a:ea typeface="Verdana" pitchFamily="34" charset="0"/>
                              <a:cs typeface="Times New Roman" panose="02020603050405020304" pitchFamily="18" charset="0"/>
                            </a:rPr>
                            <a:t>Exponent Law Used</a:t>
                          </a:r>
                          <a:endParaRPr lang="x-none" sz="2000" dirty="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44442205"/>
                      </a:ext>
                    </a:extLst>
                  </a:tr>
                </a:tbl>
              </a:graphicData>
            </a:graphic>
          </p:graphicFrame>
        </mc:Choice>
        <mc:Fallback xmlns="">
          <p:graphicFrame>
            <p:nvGraphicFramePr>
              <p:cNvPr id="6" name="Table 5">
                <a:extLst>
                  <a:ext uri="{FF2B5EF4-FFF2-40B4-BE49-F238E27FC236}">
                    <a16:creationId xmlns:a16="http://schemas.microsoft.com/office/drawing/2014/main" id="{CA608A09-11AB-0948-B09D-4C4A3D9DC7E6}"/>
                  </a:ext>
                </a:extLst>
              </p:cNvPr>
              <p:cNvGraphicFramePr>
                <a:graphicFrameLocks noGrp="1"/>
              </p:cNvGraphicFramePr>
              <p:nvPr>
                <p:extLst>
                  <p:ext uri="{D42A27DB-BD31-4B8C-83A1-F6EECF244321}">
                    <p14:modId xmlns:p14="http://schemas.microsoft.com/office/powerpoint/2010/main" val="3853664373"/>
                  </p:ext>
                </p:extLst>
              </p:nvPr>
            </p:nvGraphicFramePr>
            <p:xfrm>
              <a:off x="2137290" y="397919"/>
              <a:ext cx="7809350" cy="3048000"/>
            </p:xfrm>
            <a:graphic>
              <a:graphicData uri="http://schemas.openxmlformats.org/drawingml/2006/table">
                <a:tbl>
                  <a:tblPr firstRow="1" firstCol="1" bandRow="1"/>
                  <a:tblGrid>
                    <a:gridCol w="3904675">
                      <a:extLst>
                        <a:ext uri="{9D8B030D-6E8A-4147-A177-3AD203B41FA5}">
                          <a16:colId xmlns:a16="http://schemas.microsoft.com/office/drawing/2014/main" val="455627618"/>
                        </a:ext>
                      </a:extLst>
                    </a:gridCol>
                    <a:gridCol w="3904675">
                      <a:extLst>
                        <a:ext uri="{9D8B030D-6E8A-4147-A177-3AD203B41FA5}">
                          <a16:colId xmlns:a16="http://schemas.microsoft.com/office/drawing/2014/main" val="2120287364"/>
                        </a:ext>
                      </a:extLst>
                    </a:gridCol>
                  </a:tblGrid>
                  <a:tr h="487680">
                    <a:tc gridSpan="2">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Team Member 3: _________________</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x-none"/>
                        </a:p>
                      </a:txBody>
                      <a:tcPr/>
                    </a:tc>
                    <a:extLst>
                      <a:ext uri="{0D108BD9-81ED-4DB2-BD59-A6C34878D82A}">
                        <a16:rowId xmlns:a16="http://schemas.microsoft.com/office/drawing/2014/main" val="4085401988"/>
                      </a:ext>
                    </a:extLst>
                  </a:tr>
                  <a:tr h="2560320">
                    <a:tc>
                      <a:txBody>
                        <a:bodyPr/>
                        <a:lstStyle/>
                        <a:p>
                          <a:endParaRPr lang="en-US"/>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25" t="-19802" r="-100325" b="-495"/>
                          </a:stretch>
                        </a:blipFill>
                      </a:tcPr>
                    </a:tc>
                    <a:tc>
                      <a:txBody>
                        <a:bodyPr/>
                        <a:lstStyle/>
                        <a:p>
                          <a:pPr marL="0" marR="0" algn="ctr">
                            <a:spcBef>
                              <a:spcPts val="0"/>
                            </a:spcBef>
                            <a:spcAft>
                              <a:spcPts val="0"/>
                            </a:spcAft>
                          </a:pPr>
                          <a:r>
                            <a:rPr lang="en-US" sz="2000" u="sng" dirty="0">
                              <a:effectLst/>
                              <a:latin typeface="Verdana" panose="020B0604030504040204" pitchFamily="34" charset="0"/>
                              <a:ea typeface="Verdana" pitchFamily="34" charset="0"/>
                              <a:cs typeface="Times New Roman" panose="02020603050405020304" pitchFamily="18" charset="0"/>
                            </a:rPr>
                            <a:t>Exponent Law Used</a:t>
                          </a:r>
                          <a:endParaRPr lang="x-none" sz="2000" dirty="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44442205"/>
                      </a:ext>
                    </a:extLst>
                  </a:tr>
                </a:tbl>
              </a:graphicData>
            </a:graphic>
          </p:graphicFrame>
        </mc:Fallback>
      </mc:AlternateContent>
    </p:spTree>
    <p:extLst>
      <p:ext uri="{BB962C8B-B14F-4D97-AF65-F5344CB8AC3E}">
        <p14:creationId xmlns:p14="http://schemas.microsoft.com/office/powerpoint/2010/main" val="600028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7024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137</a:t>
            </a:r>
            <a:endParaRPr i="1" dirty="0">
              <a:latin typeface="Calibri"/>
              <a:ea typeface="Calibri"/>
              <a:cs typeface="Calibri"/>
              <a:sym typeface="Calibri"/>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9676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113333"/>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4.3.4 Collaboration: Equivalent Expressions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137</a:t>
            </a:r>
            <a:endParaRPr i="1" dirty="0">
              <a:latin typeface="Calibri"/>
              <a:ea typeface="Calibri"/>
              <a:cs typeface="Calibri"/>
              <a:sym typeface="Calibri"/>
            </a:endParaRP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11480"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914400" y="1339026"/>
                <a:ext cx="10515600" cy="2814168"/>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Consider the expression </a:t>
                </a:r>
                <a14:m>
                  <m:oMath xmlns:m="http://schemas.openxmlformats.org/officeDocument/2006/math">
                    <m:f>
                      <m:fPr>
                        <m:ctrlPr>
                          <a:rPr lang="en-US" sz="2400" i="1">
                            <a:latin typeface="Cambria Math" panose="02040503050406030204" pitchFamily="18" charset="0"/>
                            <a:ea typeface="Verdana" panose="020B0604030504040204" pitchFamily="34" charset="0"/>
                            <a:cs typeface="Verdana" panose="020B0604030504040204" pitchFamily="34" charset="0"/>
                          </a:rPr>
                        </m:ctrlPr>
                      </m:fPr>
                      <m:num>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400" i="1">
                                    <a:latin typeface="Cambria Math" panose="02040503050406030204" pitchFamily="18" charset="0"/>
                                    <a:ea typeface="Verdana" panose="020B0604030504040204" pitchFamily="34" charset="0"/>
                                    <a:cs typeface="Verdana" panose="020B0604030504040204" pitchFamily="34" charset="0"/>
                                  </a:rPr>
                                </m:ctrlPr>
                              </m:dPr>
                              <m:e>
                                <m:f>
                                  <m:fPr>
                                    <m:ctrlPr>
                                      <a:rPr lang="en-US" sz="2400" i="1">
                                        <a:latin typeface="Cambria Math" panose="02040503050406030204" pitchFamily="18" charset="0"/>
                                        <a:ea typeface="Verdana" panose="020B0604030504040204" pitchFamily="34" charset="0"/>
                                        <a:cs typeface="Verdana" panose="020B0604030504040204" pitchFamily="34" charset="0"/>
                                      </a:rPr>
                                    </m:ctrlPr>
                                  </m:fPr>
                                  <m:num>
                                    <m:r>
                                      <a:rPr lang="es-ES" sz="2400" i="1">
                                        <a:latin typeface="Cambria Math" panose="02040503050406030204" pitchFamily="18" charset="0"/>
                                        <a:ea typeface="Verdana" panose="020B0604030504040204" pitchFamily="34" charset="0"/>
                                        <a:cs typeface="Verdana" panose="020B0604030504040204" pitchFamily="34" charset="0"/>
                                      </a:rPr>
                                      <m:t>1</m:t>
                                    </m:r>
                                  </m:num>
                                  <m:den>
                                    <m:r>
                                      <a:rPr lang="es-ES" sz="2400" i="1">
                                        <a:latin typeface="Cambria Math" panose="02040503050406030204" pitchFamily="18" charset="0"/>
                                        <a:ea typeface="Verdana" panose="020B0604030504040204" pitchFamily="34" charset="0"/>
                                        <a:cs typeface="Verdana" panose="020B0604030504040204" pitchFamily="34" charset="0"/>
                                      </a:rPr>
                                      <m:t>6</m:t>
                                    </m:r>
                                  </m:den>
                                </m:f>
                              </m:e>
                            </m:d>
                          </m:e>
                          <m:sup>
                            <m:r>
                              <a:rPr lang="es-ES" sz="2400" i="1">
                                <a:latin typeface="Cambria Math" panose="02040503050406030204" pitchFamily="18" charset="0"/>
                                <a:ea typeface="Verdana" panose="020B0604030504040204" pitchFamily="34" charset="0"/>
                                <a:cs typeface="Verdana" panose="020B0604030504040204" pitchFamily="34" charset="0"/>
                              </a:rPr>
                              <m:t>3</m:t>
                            </m:r>
                          </m:sup>
                        </m:sSup>
                      </m:num>
                      <m:den>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r>
                              <a:rPr lang="es-ES" sz="2400" i="1">
                                <a:latin typeface="Cambria Math" panose="02040503050406030204" pitchFamily="18" charset="0"/>
                                <a:ea typeface="Verdana" panose="020B0604030504040204" pitchFamily="34" charset="0"/>
                                <a:cs typeface="Verdana" panose="020B0604030504040204" pitchFamily="34" charset="0"/>
                              </a:rPr>
                              <m:t>6</m:t>
                            </m:r>
                          </m:e>
                          <m:sup>
                            <m:r>
                              <a:rPr lang="es-ES" sz="2400" i="1">
                                <a:latin typeface="Cambria Math" panose="02040503050406030204" pitchFamily="18" charset="0"/>
                                <a:ea typeface="Verdana" panose="020B0604030504040204" pitchFamily="34" charset="0"/>
                                <a:cs typeface="Verdana" panose="020B0604030504040204" pitchFamily="34" charset="0"/>
                              </a:rPr>
                              <m:t>−6</m:t>
                            </m:r>
                          </m:sup>
                        </m:sSup>
                      </m:den>
                    </m:f>
                    <m:r>
                      <a:rPr lang="es-ES" sz="2400" i="1">
                        <a:latin typeface="Cambria Math" panose="02040503050406030204" pitchFamily="18" charset="0"/>
                        <a:ea typeface="Verdana" panose="020B0604030504040204" pitchFamily="34" charset="0"/>
                        <a:cs typeface="Verdana" panose="020B0604030504040204" pitchFamily="34" charset="0"/>
                      </a:rPr>
                      <m:t>·</m:t>
                    </m:r>
                    <m:sSup>
                      <m:sSupPr>
                        <m:ctrlPr>
                          <a:rPr lang="es-ES" sz="2400" i="1">
                            <a:latin typeface="Cambria Math" panose="02040503050406030204" pitchFamily="18" charset="0"/>
                            <a:ea typeface="Verdana" panose="020B0604030504040204" pitchFamily="34" charset="0"/>
                            <a:cs typeface="Verdana" panose="020B0604030504040204" pitchFamily="34" charset="0"/>
                          </a:rPr>
                        </m:ctrlPr>
                      </m:sSupPr>
                      <m:e>
                        <m:r>
                          <a:rPr lang="es-ES" sz="2400" i="1">
                            <a:latin typeface="Cambria Math" panose="02040503050406030204" pitchFamily="18" charset="0"/>
                            <a:ea typeface="Verdana" panose="020B0604030504040204" pitchFamily="34" charset="0"/>
                            <a:cs typeface="Verdana" panose="020B0604030504040204" pitchFamily="34" charset="0"/>
                          </a:rPr>
                          <m:t>6</m:t>
                        </m:r>
                      </m:e>
                      <m:sup>
                        <m:r>
                          <a:rPr lang="es-ES" sz="2400" i="1">
                            <a:latin typeface="Cambria Math" panose="02040503050406030204" pitchFamily="18" charset="0"/>
                            <a:ea typeface="Verdana" panose="020B0604030504040204" pitchFamily="34" charset="0"/>
                            <a:cs typeface="Verdana" panose="020B0604030504040204" pitchFamily="34" charset="0"/>
                          </a:rPr>
                          <m:t>4</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444500"/>
                <a:r>
                  <a:rPr lang="en-US" sz="2400" dirty="0">
                    <a:latin typeface="Verdana" panose="020B0604030504040204" pitchFamily="34" charset="0"/>
                    <a:ea typeface="Verdana" panose="020B0604030504040204" pitchFamily="34" charset="0"/>
                    <a:cs typeface="Verdana" panose="020B0604030504040204" pitchFamily="34" charset="0"/>
                  </a:rPr>
                  <a:t>For each expression, work with your partner to determine </a:t>
                </a:r>
                <a:br>
                  <a:rPr lang="en-US" sz="2400" dirty="0">
                    <a:latin typeface="Verdana" panose="020B0604030504040204" pitchFamily="34" charset="0"/>
                    <a:ea typeface="Verdana" panose="020B0604030504040204" pitchFamily="34" charset="0"/>
                    <a:cs typeface="Verdana" panose="020B0604030504040204" pitchFamily="34" charset="0"/>
                  </a:rPr>
                </a:br>
                <a:r>
                  <a:rPr lang="en-US" sz="2400" dirty="0">
                    <a:latin typeface="Verdana" panose="020B0604030504040204" pitchFamily="34" charset="0"/>
                    <a:ea typeface="Verdana" panose="020B0604030504040204" pitchFamily="34" charset="0"/>
                    <a:cs typeface="Verdana" panose="020B0604030504040204" pitchFamily="34" charset="0"/>
                  </a:rPr>
                  <a:t>if it is equivalent to </a:t>
                </a:r>
                <a14:m>
                  <m:oMath xmlns:m="http://schemas.openxmlformats.org/officeDocument/2006/math">
                    <m:f>
                      <m:fPr>
                        <m:ctrlPr>
                          <a:rPr lang="en-US" sz="2400" i="1">
                            <a:latin typeface="Cambria Math" panose="02040503050406030204" pitchFamily="18" charset="0"/>
                            <a:ea typeface="Verdana" panose="020B0604030504040204" pitchFamily="34" charset="0"/>
                            <a:cs typeface="Verdana" panose="020B0604030504040204" pitchFamily="34" charset="0"/>
                          </a:rPr>
                        </m:ctrlPr>
                      </m:fPr>
                      <m:num>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400" i="1">
                                    <a:latin typeface="Cambria Math" panose="02040503050406030204" pitchFamily="18" charset="0"/>
                                    <a:ea typeface="Verdana" panose="020B0604030504040204" pitchFamily="34" charset="0"/>
                                    <a:cs typeface="Verdana" panose="020B0604030504040204" pitchFamily="34" charset="0"/>
                                  </a:rPr>
                                </m:ctrlPr>
                              </m:dPr>
                              <m:e>
                                <m:f>
                                  <m:fPr>
                                    <m:ctrlPr>
                                      <a:rPr lang="en-US" sz="2400" i="1">
                                        <a:latin typeface="Cambria Math" panose="02040503050406030204" pitchFamily="18" charset="0"/>
                                        <a:ea typeface="Verdana" panose="020B0604030504040204" pitchFamily="34" charset="0"/>
                                        <a:cs typeface="Verdana" panose="020B0604030504040204" pitchFamily="34" charset="0"/>
                                      </a:rPr>
                                    </m:ctrlPr>
                                  </m:fPr>
                                  <m:num>
                                    <m:r>
                                      <a:rPr lang="es-ES" sz="2400" i="1">
                                        <a:latin typeface="Cambria Math" panose="02040503050406030204" pitchFamily="18" charset="0"/>
                                        <a:ea typeface="Verdana" panose="020B0604030504040204" pitchFamily="34" charset="0"/>
                                        <a:cs typeface="Verdana" panose="020B0604030504040204" pitchFamily="34" charset="0"/>
                                      </a:rPr>
                                      <m:t>1</m:t>
                                    </m:r>
                                  </m:num>
                                  <m:den>
                                    <m:r>
                                      <a:rPr lang="es-ES" sz="2400" i="1">
                                        <a:latin typeface="Cambria Math" panose="02040503050406030204" pitchFamily="18" charset="0"/>
                                        <a:ea typeface="Verdana" panose="020B0604030504040204" pitchFamily="34" charset="0"/>
                                        <a:cs typeface="Verdana" panose="020B0604030504040204" pitchFamily="34" charset="0"/>
                                      </a:rPr>
                                      <m:t>6</m:t>
                                    </m:r>
                                  </m:den>
                                </m:f>
                              </m:e>
                            </m:d>
                          </m:e>
                          <m:sup>
                            <m:r>
                              <a:rPr lang="es-ES" sz="2400" i="1">
                                <a:latin typeface="Cambria Math" panose="02040503050406030204" pitchFamily="18" charset="0"/>
                                <a:ea typeface="Verdana" panose="020B0604030504040204" pitchFamily="34" charset="0"/>
                                <a:cs typeface="Verdana" panose="020B0604030504040204" pitchFamily="34" charset="0"/>
                              </a:rPr>
                              <m:t>3</m:t>
                            </m:r>
                          </m:sup>
                        </m:sSup>
                      </m:num>
                      <m:den>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r>
                              <a:rPr lang="es-ES" sz="2400" i="1">
                                <a:latin typeface="Cambria Math" panose="02040503050406030204" pitchFamily="18" charset="0"/>
                                <a:ea typeface="Verdana" panose="020B0604030504040204" pitchFamily="34" charset="0"/>
                                <a:cs typeface="Verdana" panose="020B0604030504040204" pitchFamily="34" charset="0"/>
                              </a:rPr>
                              <m:t>6</m:t>
                            </m:r>
                          </m:e>
                          <m:sup>
                            <m:r>
                              <a:rPr lang="es-ES" sz="2400" i="1">
                                <a:latin typeface="Cambria Math" panose="02040503050406030204" pitchFamily="18" charset="0"/>
                                <a:ea typeface="Verdana" panose="020B0604030504040204" pitchFamily="34" charset="0"/>
                                <a:cs typeface="Verdana" panose="020B0604030504040204" pitchFamily="34" charset="0"/>
                              </a:rPr>
                              <m:t>−6</m:t>
                            </m:r>
                          </m:sup>
                        </m:sSup>
                      </m:den>
                    </m:f>
                    <m:r>
                      <a:rPr lang="es-ES" sz="2400" i="1">
                        <a:latin typeface="Cambria Math" panose="02040503050406030204" pitchFamily="18" charset="0"/>
                        <a:ea typeface="Verdana" panose="020B0604030504040204" pitchFamily="34" charset="0"/>
                        <a:cs typeface="Verdana" panose="020B0604030504040204" pitchFamily="34" charset="0"/>
                      </a:rPr>
                      <m:t>·</m:t>
                    </m:r>
                    <m:sSup>
                      <m:sSupPr>
                        <m:ctrlPr>
                          <a:rPr lang="es-ES" sz="2400" i="1">
                            <a:latin typeface="Cambria Math" panose="02040503050406030204" pitchFamily="18" charset="0"/>
                            <a:ea typeface="Verdana" panose="020B0604030504040204" pitchFamily="34" charset="0"/>
                            <a:cs typeface="Verdana" panose="020B0604030504040204" pitchFamily="34" charset="0"/>
                          </a:rPr>
                        </m:ctrlPr>
                      </m:sSupPr>
                      <m:e>
                        <m:r>
                          <a:rPr lang="es-ES" sz="2400" i="1">
                            <a:latin typeface="Cambria Math" panose="02040503050406030204" pitchFamily="18" charset="0"/>
                            <a:ea typeface="Verdana" panose="020B0604030504040204" pitchFamily="34" charset="0"/>
                            <a:cs typeface="Verdana" panose="020B0604030504040204" pitchFamily="34" charset="0"/>
                          </a:rPr>
                          <m:t>6</m:t>
                        </m:r>
                      </m:e>
                      <m:sup>
                        <m:r>
                          <a:rPr lang="es-ES" sz="2400" i="1">
                            <a:latin typeface="Cambria Math" panose="02040503050406030204" pitchFamily="18" charset="0"/>
                            <a:ea typeface="Verdana" panose="020B0604030504040204" pitchFamily="34" charset="0"/>
                            <a:cs typeface="Verdana" panose="020B0604030504040204" pitchFamily="34" charset="0"/>
                          </a:rPr>
                          <m:t>4</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Then, justify your choice by</a:t>
                </a:r>
              </a:p>
              <a:p>
                <a:pPr marL="444500">
                  <a:lnSpc>
                    <a:spcPct val="150000"/>
                  </a:lnSpc>
                </a:pPr>
                <a:r>
                  <a:rPr lang="en-US" sz="2400" dirty="0">
                    <a:latin typeface="Verdana" panose="020B0604030504040204" pitchFamily="34" charset="0"/>
                    <a:ea typeface="Verdana" panose="020B0604030504040204" pitchFamily="34" charset="0"/>
                    <a:cs typeface="Verdana" panose="020B0604030504040204" pitchFamily="34" charset="0"/>
                  </a:rPr>
                  <a:t>explaining using laws of exponents or showing your work.</a:t>
                </a: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914400" y="1339026"/>
                <a:ext cx="10515600" cy="2814168"/>
              </a:xfrm>
              <a:prstGeom prst="rect">
                <a:avLst/>
              </a:prstGeom>
              <a:blipFill>
                <a:blip r:embed="rId5"/>
                <a:stretch>
                  <a:fillRect l="-870" b="-41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899076364"/>
                  </p:ext>
                </p:extLst>
              </p:nvPr>
            </p:nvGraphicFramePr>
            <p:xfrm>
              <a:off x="2635401" y="4388907"/>
              <a:ext cx="7254076" cy="2068767"/>
            </p:xfrm>
            <a:graphic>
              <a:graphicData uri="http://schemas.openxmlformats.org/drawingml/2006/table">
                <a:tbl>
                  <a:tblPr firstRow="1" firstCol="1" bandRow="1"/>
                  <a:tblGrid>
                    <a:gridCol w="18288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773516">
                      <a:extLst>
                        <a:ext uri="{9D8B030D-6E8A-4147-A177-3AD203B41FA5}">
                          <a16:colId xmlns:a16="http://schemas.microsoft.com/office/drawing/2014/main" val="20002"/>
                        </a:ext>
                      </a:extLst>
                    </a:gridCol>
                  </a:tblGrid>
                  <a:tr h="90275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Is It Equivalent to </a:t>
                          </a:r>
                          <a14:m>
                            <m:oMath xmlns:m="http://schemas.openxmlformats.org/officeDocument/2006/math">
                              <m:f>
                                <m:fPr>
                                  <m:ctrlPr>
                                    <a:rPr lang="x-none" sz="2000" b="1" i="1">
                                      <a:effectLst/>
                                      <a:latin typeface="Cambria Math" panose="02040503050406030204" pitchFamily="18" charset="0"/>
                                      <a:ea typeface="Verdana" panose="020B0604030504040204" pitchFamily="34" charset="0"/>
                                      <a:cs typeface="Verdana" panose="020B0604030504040204" pitchFamily="34" charset="0"/>
                                    </a:rPr>
                                  </m:ctrlPr>
                                </m:fPr>
                                <m:num>
                                  <m:sSup>
                                    <m:sSupPr>
                                      <m:ctrlPr>
                                        <a:rPr lang="x-none" sz="2000" b="1"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b="1"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b="1"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𝟏</m:t>
                                              </m:r>
                                            </m:num>
                                            <m:den>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𝟔</m:t>
                                              </m:r>
                                            </m:den>
                                          </m:f>
                                        </m:e>
                                      </m:d>
                                    </m:e>
                                    <m:sup>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𝟑</m:t>
                                      </m:r>
                                    </m:sup>
                                  </m:sSup>
                                </m:num>
                                <m:den>
                                  <m:sSup>
                                    <m:sSupPr>
                                      <m:ctrlPr>
                                        <a:rPr lang="x-none" sz="2000" b="1"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𝟔</m:t>
                                      </m:r>
                                    </m:e>
                                    <m:sup>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m:t>
                                      </m:r>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𝟓</m:t>
                                      </m:r>
                                    </m:sup>
                                  </m:sSup>
                                </m:den>
                              </m:f>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b="1"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𝟔</m:t>
                                  </m:r>
                                </m:e>
                                <m:sup>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𝟒</m:t>
                                  </m:r>
                                </m:sup>
                              </m:sSup>
                            </m:oMath>
                          </a14:m>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Justify or Explain</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855721">
                    <a:tc>
                      <a:txBody>
                        <a:bodyPr/>
                        <a:lstStyle/>
                        <a:p>
                          <a:pPr marL="457200" marR="0" indent="-457200">
                            <a:lnSpc>
                              <a:spcPct val="150000"/>
                            </a:lnSpc>
                            <a:spcBef>
                              <a:spcPts val="0"/>
                            </a:spcBef>
                            <a:spcAft>
                              <a:spcPts val="0"/>
                            </a:spcAft>
                          </a:pPr>
                          <a:r>
                            <a:rPr lang="en-PH" sz="2000" dirty="0">
                              <a:effectLst/>
                              <a:latin typeface="Verdana" pitchFamily="34" charset="0"/>
                              <a:ea typeface="Verdana" pitchFamily="34" charset="0"/>
                              <a:cs typeface="Verdana" panose="020B0604030504040204" pitchFamily="34" charset="0"/>
                            </a:rPr>
                            <a:t>a.</a:t>
                          </a: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6</m:t>
                                      </m:r>
                                    </m:e>
                                    <m:sup>
                                      <m:r>
                                        <a:rPr lang="en-US" sz="2000" i="1">
                                          <a:effectLst/>
                                          <a:latin typeface="Cambria Math" panose="02040503050406030204" pitchFamily="18" charset="0"/>
                                          <a:ea typeface="Verdana" panose="020B0604030504040204" pitchFamily="34" charset="0"/>
                                          <a:cs typeface="Verdana" panose="020B0604030504040204" pitchFamily="34" charset="0"/>
                                        </a:rPr>
                                        <m:t>−3</m:t>
                                      </m:r>
                                    </m:sup>
                                  </m:sSup>
                                </m:num>
                                <m:den>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6</m:t>
                                      </m:r>
                                    </m:e>
                                    <m:sup>
                                      <m:r>
                                        <a:rPr lang="en-US" sz="2000" i="1">
                                          <a:effectLst/>
                                          <a:latin typeface="Cambria Math" panose="02040503050406030204" pitchFamily="18" charset="0"/>
                                          <a:ea typeface="Verdana" panose="020B0604030504040204" pitchFamily="34" charset="0"/>
                                          <a:cs typeface="Verdana" panose="020B0604030504040204" pitchFamily="34" charset="0"/>
                                        </a:rPr>
                                        <m:t>−5</m:t>
                                      </m:r>
                                    </m:sup>
                                  </m:sSup>
                                </m:den>
                              </m:f>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∙6</m:t>
                                  </m:r>
                                </m:e>
                                <m:sup>
                                  <m:r>
                                    <a:rPr lang="en-US" sz="2000" i="1">
                                      <a:effectLst/>
                                      <a:latin typeface="Cambria Math" panose="02040503050406030204" pitchFamily="18" charset="0"/>
                                      <a:ea typeface="Verdana" panose="020B0604030504040204" pitchFamily="34" charset="0"/>
                                      <a:cs typeface="Verdana" panose="020B0604030504040204" pitchFamily="34" charset="0"/>
                                    </a:rPr>
                                    <m:t>4</m:t>
                                  </m:r>
                                </m:sup>
                              </m:sSup>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50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899076364"/>
                  </p:ext>
                </p:extLst>
              </p:nvPr>
            </p:nvGraphicFramePr>
            <p:xfrm>
              <a:off x="2635401" y="4388907"/>
              <a:ext cx="7254076" cy="2068767"/>
            </p:xfrm>
            <a:graphic>
              <a:graphicData uri="http://schemas.openxmlformats.org/drawingml/2006/table">
                <a:tbl>
                  <a:tblPr firstRow="1" firstCol="1" bandRow="1"/>
                  <a:tblGrid>
                    <a:gridCol w="18288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773516">
                      <a:extLst>
                        <a:ext uri="{9D8B030D-6E8A-4147-A177-3AD203B41FA5}">
                          <a16:colId xmlns:a16="http://schemas.microsoft.com/office/drawing/2014/main" val="20002"/>
                        </a:ext>
                      </a:extLst>
                    </a:gridCol>
                  </a:tblGrid>
                  <a:tr h="1123887">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69037" t="-541" r="-104817" b="-91351"/>
                          </a:stretch>
                        </a:blip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Justify or Explain</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944880">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333" t="-119231" r="-297667" b="-8333"/>
                          </a:stretch>
                        </a:blipFill>
                      </a:tcPr>
                    </a:tc>
                    <a:tc>
                      <a:txBody>
                        <a:bodyPr/>
                        <a:lstStyle/>
                        <a:p>
                          <a:pPr marL="342900" marR="0" lvl="0" indent="-342900">
                            <a:lnSpc>
                              <a:spcPct val="150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Fallback>
      </mc:AlternateContent>
    </p:spTree>
    <p:extLst>
      <p:ext uri="{BB962C8B-B14F-4D97-AF65-F5344CB8AC3E}">
        <p14:creationId xmlns:p14="http://schemas.microsoft.com/office/powerpoint/2010/main" val="1138453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137</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2540311668"/>
                  </p:ext>
                </p:extLst>
              </p:nvPr>
            </p:nvGraphicFramePr>
            <p:xfrm>
              <a:off x="2694777" y="397920"/>
              <a:ext cx="7254076" cy="5888991"/>
            </p:xfrm>
            <a:graphic>
              <a:graphicData uri="http://schemas.openxmlformats.org/drawingml/2006/table">
                <a:tbl>
                  <a:tblPr firstRow="1" firstCol="1" bandRow="1"/>
                  <a:tblGrid>
                    <a:gridCol w="18288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773516">
                      <a:extLst>
                        <a:ext uri="{9D8B030D-6E8A-4147-A177-3AD203B41FA5}">
                          <a16:colId xmlns:a16="http://schemas.microsoft.com/office/drawing/2014/main" val="20002"/>
                        </a:ext>
                      </a:extLst>
                    </a:gridCol>
                  </a:tblGrid>
                  <a:tr h="90275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Is It Equivalent to </a:t>
                          </a:r>
                          <a14:m>
                            <m:oMath xmlns:m="http://schemas.openxmlformats.org/officeDocument/2006/math">
                              <m:f>
                                <m:fPr>
                                  <m:ctrlPr>
                                    <a:rPr lang="x-none" sz="2000" b="1" i="1">
                                      <a:effectLst/>
                                      <a:latin typeface="Cambria Math" panose="02040503050406030204" pitchFamily="18" charset="0"/>
                                      <a:ea typeface="Verdana" panose="020B0604030504040204" pitchFamily="34" charset="0"/>
                                      <a:cs typeface="Verdana" panose="020B0604030504040204" pitchFamily="34" charset="0"/>
                                    </a:rPr>
                                  </m:ctrlPr>
                                </m:fPr>
                                <m:num>
                                  <m:sSup>
                                    <m:sSupPr>
                                      <m:ctrlPr>
                                        <a:rPr lang="x-none" sz="2000" b="1"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b="1"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b="1"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𝟏</m:t>
                                              </m:r>
                                            </m:num>
                                            <m:den>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𝟔</m:t>
                                              </m:r>
                                            </m:den>
                                          </m:f>
                                        </m:e>
                                      </m:d>
                                    </m:e>
                                    <m:sup>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𝟑</m:t>
                                      </m:r>
                                    </m:sup>
                                  </m:sSup>
                                </m:num>
                                <m:den>
                                  <m:sSup>
                                    <m:sSupPr>
                                      <m:ctrlPr>
                                        <a:rPr lang="x-none" sz="2000" b="1"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𝟔</m:t>
                                      </m:r>
                                    </m:e>
                                    <m:sup>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m:t>
                                      </m:r>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𝟓</m:t>
                                      </m:r>
                                    </m:sup>
                                  </m:sSup>
                                </m:den>
                              </m:f>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b="1"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𝟔</m:t>
                                  </m:r>
                                </m:e>
                                <m:sup>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𝟒</m:t>
                                  </m:r>
                                </m:sup>
                              </m:sSup>
                            </m:oMath>
                          </a14:m>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Justify or Explain</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914400">
                    <a:tc>
                      <a:txBody>
                        <a:bodyPr/>
                        <a:lstStyle/>
                        <a:p>
                          <a:pPr marL="342900" marR="0" indent="-342900">
                            <a:lnSpc>
                              <a:spcPct val="150000"/>
                            </a:lnSpc>
                            <a:spcBef>
                              <a:spcPts val="0"/>
                            </a:spcBef>
                            <a:spcAft>
                              <a:spcPts val="0"/>
                            </a:spcAft>
                          </a:pPr>
                          <a:r>
                            <a:rPr lang="en-PH" sz="2000" dirty="0">
                              <a:effectLst/>
                              <a:latin typeface="Verdana" pitchFamily="34" charset="0"/>
                              <a:ea typeface="Verdana" pitchFamily="34" charset="0"/>
                              <a:cs typeface="Times New Roman" panose="02020603050405020304" pitchFamily="18" charset="0"/>
                            </a:rPr>
                            <a:t>b.</a:t>
                          </a:r>
                          <a:r>
                            <a:rPr kumimoji="0" lang="en-US" sz="2000" b="0"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Arial"/>
                            </a:rPr>
                            <a:t> 	</a:t>
                          </a:r>
                          <a14:m>
                            <m:oMath xmlns:m="http://schemas.openxmlformats.org/officeDocument/2006/math">
                              <m:sSup>
                                <m:sSupPr>
                                  <m:ctrlPr>
                                    <a:rPr lang="en-US" sz="2000" i="1" smtClean="0">
                                      <a:effectLst/>
                                      <a:latin typeface="Cambria Math" panose="02040503050406030204" pitchFamily="18" charset="0"/>
                                      <a:ea typeface="Verdana"/>
                                      <a:cs typeface="Verdana"/>
                                    </a:rPr>
                                  </m:ctrlPr>
                                </m:sSupPr>
                                <m:e>
                                  <m:r>
                                    <a:rPr lang="en-US" sz="2000" i="1">
                                      <a:effectLst/>
                                      <a:latin typeface="Cambria Math"/>
                                      <a:ea typeface="Verdana"/>
                                      <a:cs typeface="Verdana"/>
                                    </a:rPr>
                                    <m:t>6</m:t>
                                  </m:r>
                                </m:e>
                                <m:sup>
                                  <m:r>
                                    <a:rPr lang="en-US" sz="2000" i="1">
                                      <a:effectLst/>
                                      <a:latin typeface="Cambria Math"/>
                                      <a:ea typeface="Verdana"/>
                                      <a:cs typeface="Verdana"/>
                                    </a:rPr>
                                    <m:t>−8</m:t>
                                  </m:r>
                                </m:sup>
                              </m:sSup>
                              <m:r>
                                <a:rPr lang="en-US" sz="2000" i="1">
                                  <a:effectLst/>
                                  <a:latin typeface="Cambria Math"/>
                                  <a:ea typeface="Verdana"/>
                                  <a:cs typeface="Verdana"/>
                                </a:rPr>
                                <m:t>∙</m:t>
                              </m:r>
                              <m:r>
                                <a:rPr lang="en-US" sz="2000" i="1">
                                  <a:effectLst/>
                                  <a:latin typeface="Cambria Math"/>
                                  <a:ea typeface="Times New Roman"/>
                                  <a:cs typeface="Times New Roman"/>
                                </a:rPr>
                                <m:t> </m:t>
                              </m:r>
                              <m:sSup>
                                <m:sSupPr>
                                  <m:ctrlPr>
                                    <a:rPr lang="en-US" sz="2000" i="1">
                                      <a:effectLst/>
                                      <a:latin typeface="Cambria Math" panose="02040503050406030204" pitchFamily="18" charset="0"/>
                                    </a:rPr>
                                  </m:ctrlPr>
                                </m:sSupPr>
                                <m:e>
                                  <m:r>
                                    <a:rPr lang="en-US" sz="2000" i="1">
                                      <a:effectLst/>
                                      <a:latin typeface="Cambria Math"/>
                                      <a:ea typeface="Times New Roman"/>
                                      <a:cs typeface="Times New Roman"/>
                                    </a:rPr>
                                    <m:t>6</m:t>
                                  </m:r>
                                </m:e>
                                <m:sup>
                                  <m:r>
                                    <a:rPr lang="en-US" sz="2000" i="1">
                                      <a:effectLst/>
                                      <a:latin typeface="Cambria Math"/>
                                      <a:ea typeface="Times New Roman"/>
                                      <a:cs typeface="Times New Roman"/>
                                    </a:rPr>
                                    <m:t>4</m:t>
                                  </m:r>
                                </m:sup>
                              </m:sSup>
                            </m:oMath>
                          </a14:m>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50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14400">
                    <a:tc>
                      <a:txBody>
                        <a:bodyPr/>
                        <a:lstStyle/>
                        <a:p>
                          <a:pPr marL="457200" marR="0" indent="-457200">
                            <a:lnSpc>
                              <a:spcPct val="100000"/>
                            </a:lnSpc>
                            <a:spcBef>
                              <a:spcPts val="0"/>
                            </a:spcBef>
                            <a:spcAft>
                              <a:spcPts val="0"/>
                            </a:spcAft>
                          </a:pPr>
                          <a:r>
                            <a:rPr lang="en-PH" sz="2000" dirty="0">
                              <a:effectLst/>
                              <a:latin typeface="Verdana" pitchFamily="34" charset="0"/>
                              <a:ea typeface="Verdana" pitchFamily="34" charset="0"/>
                              <a:cs typeface="Times New Roman" panose="02020603050405020304" pitchFamily="18" charset="0"/>
                            </a:rPr>
                            <a:t>c.</a:t>
                          </a: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US" sz="2000" i="1" smtClean="0">
                                      <a:effectLst/>
                                      <a:latin typeface="Cambria Math" panose="02040503050406030204" pitchFamily="18" charset="0"/>
                                      <a:ea typeface="Verdana"/>
                                      <a:cs typeface="Verdana"/>
                                    </a:rPr>
                                  </m:ctrlPr>
                                </m:sSupPr>
                                <m:e>
                                  <m:d>
                                    <m:dPr>
                                      <m:ctrlPr>
                                        <a:rPr lang="en-US" sz="2000" i="1">
                                          <a:effectLst/>
                                          <a:latin typeface="Cambria Math" panose="02040503050406030204" pitchFamily="18" charset="0"/>
                                          <a:ea typeface="Verdana"/>
                                          <a:cs typeface="Verdana"/>
                                        </a:rPr>
                                      </m:ctrlPr>
                                    </m:dPr>
                                    <m:e>
                                      <m:f>
                                        <m:fPr>
                                          <m:ctrlPr>
                                            <a:rPr lang="en-US" sz="2000" i="1">
                                              <a:effectLst/>
                                              <a:latin typeface="Cambria Math" panose="02040503050406030204" pitchFamily="18" charset="0"/>
                                              <a:ea typeface="Verdana"/>
                                              <a:cs typeface="Verdana"/>
                                            </a:rPr>
                                          </m:ctrlPr>
                                        </m:fPr>
                                        <m:num>
                                          <m:r>
                                            <a:rPr lang="en-US" sz="2000">
                                              <a:effectLst/>
                                              <a:latin typeface="Cambria Math"/>
                                              <a:ea typeface="Verdana"/>
                                              <a:cs typeface="Verdana"/>
                                            </a:rPr>
                                            <m:t>1</m:t>
                                          </m:r>
                                        </m:num>
                                        <m:den>
                                          <m:r>
                                            <a:rPr lang="en-US" sz="2000" i="1">
                                              <a:effectLst/>
                                              <a:latin typeface="Cambria Math"/>
                                              <a:ea typeface="Verdana"/>
                                              <a:cs typeface="Verdana"/>
                                            </a:rPr>
                                            <m:t>6</m:t>
                                          </m:r>
                                        </m:den>
                                      </m:f>
                                    </m:e>
                                  </m:d>
                                </m:e>
                                <m:sup>
                                  <m:r>
                                    <a:rPr lang="en-US" sz="2000" i="1">
                                      <a:effectLst/>
                                      <a:latin typeface="Cambria Math"/>
                                      <a:ea typeface="Verdana"/>
                                      <a:cs typeface="Verdana"/>
                                    </a:rPr>
                                    <m:t>−2</m:t>
                                  </m:r>
                                </m:sup>
                              </m:sSup>
                              <m:r>
                                <a:rPr lang="en-US" sz="2000" i="1">
                                  <a:effectLst/>
                                  <a:latin typeface="Cambria Math"/>
                                  <a:ea typeface="Times New Roman"/>
                                  <a:cs typeface="Times New Roman"/>
                                </a:rPr>
                                <m:t>∙ </m:t>
                              </m:r>
                              <m:sSup>
                                <m:sSupPr>
                                  <m:ctrlPr>
                                    <a:rPr lang="en-US" sz="2000" i="1">
                                      <a:effectLst/>
                                      <a:latin typeface="Cambria Math" panose="02040503050406030204" pitchFamily="18" charset="0"/>
                                    </a:rPr>
                                  </m:ctrlPr>
                                </m:sSupPr>
                                <m:e>
                                  <m:r>
                                    <a:rPr lang="en-US" sz="2000" i="1">
                                      <a:effectLst/>
                                      <a:latin typeface="Cambria Math"/>
                                      <a:ea typeface="Times New Roman"/>
                                      <a:cs typeface="Times New Roman"/>
                                    </a:rPr>
                                    <m:t>6</m:t>
                                  </m:r>
                                </m:e>
                                <m:sup>
                                  <m:r>
                                    <a:rPr lang="en-US" sz="2000" i="1">
                                      <a:effectLst/>
                                      <a:latin typeface="Cambria Math"/>
                                      <a:ea typeface="Times New Roman"/>
                                      <a:cs typeface="Times New Roman"/>
                                    </a:rPr>
                                    <m:t>4</m:t>
                                  </m:r>
                                </m:sup>
                              </m:sSup>
                            </m:oMath>
                          </a14:m>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50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14400">
                    <a:tc>
                      <a:txBody>
                        <a:bodyPr/>
                        <a:lstStyle/>
                        <a:p>
                          <a:pPr marL="457200" marR="0" indent="-457200">
                            <a:lnSpc>
                              <a:spcPct val="100000"/>
                            </a:lnSpc>
                            <a:spcBef>
                              <a:spcPts val="0"/>
                            </a:spcBef>
                            <a:spcAft>
                              <a:spcPts val="0"/>
                            </a:spcAft>
                          </a:pPr>
                          <a:r>
                            <a:rPr lang="en-PH" sz="2000" dirty="0">
                              <a:effectLst/>
                              <a:latin typeface="Verdana" pitchFamily="34" charset="0"/>
                              <a:ea typeface="Verdana" pitchFamily="34" charset="0"/>
                              <a:cs typeface="Times New Roman" panose="02020603050405020304" pitchFamily="18" charset="0"/>
                            </a:rPr>
                            <a:t>d.</a:t>
                          </a: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US" sz="2000" i="1" smtClean="0">
                                      <a:effectLst/>
                                      <a:latin typeface="Cambria Math" panose="02040503050406030204" pitchFamily="18" charset="0"/>
                                      <a:ea typeface="Verdana"/>
                                      <a:cs typeface="Verdana"/>
                                    </a:rPr>
                                  </m:ctrlPr>
                                </m:sSupPr>
                                <m:e>
                                  <m:d>
                                    <m:dPr>
                                      <m:ctrlPr>
                                        <a:rPr lang="en-US" sz="2000" i="1">
                                          <a:effectLst/>
                                          <a:latin typeface="Cambria Math" panose="02040503050406030204" pitchFamily="18" charset="0"/>
                                          <a:ea typeface="Verdana"/>
                                          <a:cs typeface="Verdana"/>
                                        </a:rPr>
                                      </m:ctrlPr>
                                    </m:dPr>
                                    <m:e>
                                      <m:f>
                                        <m:fPr>
                                          <m:ctrlPr>
                                            <a:rPr lang="en-US" sz="2000" i="1">
                                              <a:effectLst/>
                                              <a:latin typeface="Cambria Math" panose="02040503050406030204" pitchFamily="18" charset="0"/>
                                              <a:ea typeface="Verdana"/>
                                              <a:cs typeface="Verdana"/>
                                            </a:rPr>
                                          </m:ctrlPr>
                                        </m:fPr>
                                        <m:num>
                                          <m:r>
                                            <a:rPr lang="en-US" sz="2000">
                                              <a:effectLst/>
                                              <a:latin typeface="Cambria Math"/>
                                              <a:ea typeface="Verdana"/>
                                              <a:cs typeface="Verdana"/>
                                            </a:rPr>
                                            <m:t>1</m:t>
                                          </m:r>
                                        </m:num>
                                        <m:den>
                                          <m:r>
                                            <a:rPr lang="en-US" sz="2000" i="1">
                                              <a:effectLst/>
                                              <a:latin typeface="Cambria Math"/>
                                              <a:ea typeface="Verdana"/>
                                              <a:cs typeface="Verdana"/>
                                            </a:rPr>
                                            <m:t>6</m:t>
                                          </m:r>
                                        </m:den>
                                      </m:f>
                                    </m:e>
                                  </m:d>
                                </m:e>
                                <m:sup>
                                  <m:r>
                                    <a:rPr lang="en-US" sz="2000" i="1">
                                      <a:effectLst/>
                                      <a:latin typeface="Cambria Math"/>
                                      <a:ea typeface="Verdana"/>
                                      <a:cs typeface="Verdana"/>
                                    </a:rPr>
                                    <m:t>−8</m:t>
                                  </m:r>
                                </m:sup>
                              </m:sSup>
                              <m:r>
                                <a:rPr lang="en-US" sz="2000" i="1">
                                  <a:effectLst/>
                                  <a:latin typeface="Cambria Math"/>
                                  <a:ea typeface="Times New Roman"/>
                                  <a:cs typeface="Times New Roman"/>
                                </a:rPr>
                                <m:t>∙ </m:t>
                              </m:r>
                              <m:sSup>
                                <m:sSupPr>
                                  <m:ctrlPr>
                                    <a:rPr lang="en-US" sz="2000" i="1">
                                      <a:effectLst/>
                                      <a:latin typeface="Cambria Math" panose="02040503050406030204" pitchFamily="18" charset="0"/>
                                    </a:rPr>
                                  </m:ctrlPr>
                                </m:sSupPr>
                                <m:e>
                                  <m:r>
                                    <a:rPr lang="en-US" sz="2000" i="1">
                                      <a:effectLst/>
                                      <a:latin typeface="Cambria Math"/>
                                      <a:ea typeface="Times New Roman"/>
                                      <a:cs typeface="Times New Roman"/>
                                    </a:rPr>
                                    <m:t>6</m:t>
                                  </m:r>
                                </m:e>
                                <m:sup>
                                  <m:r>
                                    <a:rPr lang="en-US" sz="2000" i="1">
                                      <a:effectLst/>
                                      <a:latin typeface="Cambria Math"/>
                                      <a:ea typeface="Times New Roman"/>
                                      <a:cs typeface="Times New Roman"/>
                                    </a:rPr>
                                    <m:t>4</m:t>
                                  </m:r>
                                </m:sup>
                              </m:sSup>
                            </m:oMath>
                          </a14:m>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50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914400">
                    <a:tc>
                      <a:txBody>
                        <a:bodyPr/>
                        <a:lstStyle/>
                        <a:p>
                          <a:pPr marL="457200" marR="0" indent="-457200">
                            <a:lnSpc>
                              <a:spcPct val="100000"/>
                            </a:lnSpc>
                            <a:spcBef>
                              <a:spcPts val="0"/>
                            </a:spcBef>
                            <a:spcAft>
                              <a:spcPts val="0"/>
                            </a:spcAft>
                          </a:pPr>
                          <a:r>
                            <a:rPr lang="en-PH" sz="2000" dirty="0">
                              <a:effectLst/>
                              <a:latin typeface="Verdana" pitchFamily="34" charset="0"/>
                              <a:ea typeface="Verdana" pitchFamily="34" charset="0"/>
                              <a:cs typeface="Times New Roman" panose="02020603050405020304" pitchFamily="18" charset="0"/>
                            </a:rPr>
                            <a:t>e.</a:t>
                          </a: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en-US" sz="2000" i="1" smtClean="0">
                                      <a:effectLst/>
                                      <a:latin typeface="Cambria Math" panose="02040503050406030204" pitchFamily="18" charset="0"/>
                                      <a:ea typeface="Verdana"/>
                                      <a:cs typeface="Verdana"/>
                                    </a:rPr>
                                  </m:ctrlPr>
                                </m:fPr>
                                <m:num>
                                  <m:sSup>
                                    <m:sSupPr>
                                      <m:ctrlPr>
                                        <a:rPr lang="en-US" sz="2000" i="1">
                                          <a:effectLst/>
                                          <a:latin typeface="Cambria Math" panose="02040503050406030204" pitchFamily="18" charset="0"/>
                                          <a:ea typeface="Verdana"/>
                                          <a:cs typeface="Verdana"/>
                                        </a:rPr>
                                      </m:ctrlPr>
                                    </m:sSupPr>
                                    <m:e>
                                      <m:d>
                                        <m:dPr>
                                          <m:ctrlPr>
                                            <a:rPr lang="en-US" sz="2000" i="1">
                                              <a:effectLst/>
                                              <a:latin typeface="Cambria Math" panose="02040503050406030204" pitchFamily="18" charset="0"/>
                                              <a:ea typeface="Verdana"/>
                                              <a:cs typeface="Verdana"/>
                                            </a:rPr>
                                          </m:ctrlPr>
                                        </m:dPr>
                                        <m:e>
                                          <m:f>
                                            <m:fPr>
                                              <m:ctrlPr>
                                                <a:rPr lang="en-US" sz="2000" i="1">
                                                  <a:effectLst/>
                                                  <a:latin typeface="Cambria Math" panose="02040503050406030204" pitchFamily="18" charset="0"/>
                                                  <a:ea typeface="Verdana"/>
                                                  <a:cs typeface="Verdana"/>
                                                </a:rPr>
                                              </m:ctrlPr>
                                            </m:fPr>
                                            <m:num>
                                              <m:r>
                                                <a:rPr lang="en-US" sz="2000" i="1">
                                                  <a:effectLst/>
                                                  <a:latin typeface="Cambria Math"/>
                                                  <a:ea typeface="Verdana"/>
                                                  <a:cs typeface="Verdana"/>
                                                </a:rPr>
                                                <m:t>1</m:t>
                                              </m:r>
                                            </m:num>
                                            <m:den>
                                              <m:r>
                                                <a:rPr lang="en-US" sz="2000" i="1">
                                                  <a:effectLst/>
                                                  <a:latin typeface="Cambria Math"/>
                                                  <a:ea typeface="Verdana"/>
                                                  <a:cs typeface="Verdana"/>
                                                </a:rPr>
                                                <m:t>6</m:t>
                                              </m:r>
                                            </m:den>
                                          </m:f>
                                        </m:e>
                                      </m:d>
                                    </m:e>
                                    <m:sup>
                                      <m:r>
                                        <a:rPr lang="en-US" sz="2000" i="1">
                                          <a:effectLst/>
                                          <a:latin typeface="Cambria Math"/>
                                          <a:ea typeface="Verdana"/>
                                          <a:cs typeface="Verdana"/>
                                        </a:rPr>
                                        <m:t>−3</m:t>
                                      </m:r>
                                    </m:sup>
                                  </m:sSup>
                                </m:num>
                                <m:den>
                                  <m:sSup>
                                    <m:sSupPr>
                                      <m:ctrlPr>
                                        <a:rPr lang="en-US" sz="2000" i="1">
                                          <a:effectLst/>
                                          <a:latin typeface="Cambria Math" panose="02040503050406030204" pitchFamily="18" charset="0"/>
                                          <a:ea typeface="Verdana"/>
                                          <a:cs typeface="Verdana"/>
                                        </a:rPr>
                                      </m:ctrlPr>
                                    </m:sSupPr>
                                    <m:e>
                                      <m:d>
                                        <m:dPr>
                                          <m:ctrlPr>
                                            <a:rPr lang="en-US" sz="2000" i="1">
                                              <a:effectLst/>
                                              <a:latin typeface="Cambria Math" panose="02040503050406030204" pitchFamily="18" charset="0"/>
                                              <a:ea typeface="Verdana"/>
                                              <a:cs typeface="Verdana"/>
                                            </a:rPr>
                                          </m:ctrlPr>
                                        </m:dPr>
                                        <m:e>
                                          <m:f>
                                            <m:fPr>
                                              <m:ctrlPr>
                                                <a:rPr lang="en-US" sz="2000" i="1">
                                                  <a:effectLst/>
                                                  <a:latin typeface="Cambria Math" panose="02040503050406030204" pitchFamily="18" charset="0"/>
                                                  <a:ea typeface="Verdana"/>
                                                  <a:cs typeface="Verdana"/>
                                                </a:rPr>
                                              </m:ctrlPr>
                                            </m:fPr>
                                            <m:num>
                                              <m:r>
                                                <a:rPr lang="en-US" sz="2000" i="1">
                                                  <a:effectLst/>
                                                  <a:latin typeface="Cambria Math"/>
                                                  <a:ea typeface="Verdana"/>
                                                  <a:cs typeface="Verdana"/>
                                                </a:rPr>
                                                <m:t>1</m:t>
                                              </m:r>
                                            </m:num>
                                            <m:den>
                                              <m:r>
                                                <a:rPr lang="en-US" sz="2000" i="1">
                                                  <a:effectLst/>
                                                  <a:latin typeface="Cambria Math"/>
                                                  <a:ea typeface="Verdana"/>
                                                  <a:cs typeface="Verdana"/>
                                                </a:rPr>
                                                <m:t>6</m:t>
                                              </m:r>
                                            </m:den>
                                          </m:f>
                                        </m:e>
                                      </m:d>
                                    </m:e>
                                    <m:sup>
                                      <m:r>
                                        <a:rPr lang="en-US" sz="2000" i="1">
                                          <a:effectLst/>
                                          <a:latin typeface="Cambria Math"/>
                                          <a:ea typeface="Verdana"/>
                                          <a:cs typeface="Verdana"/>
                                        </a:rPr>
                                        <m:t>5</m:t>
                                      </m:r>
                                    </m:sup>
                                  </m:sSup>
                                </m:den>
                              </m:f>
                              <m:r>
                                <a:rPr lang="en-US" sz="2000" i="1" smtClean="0">
                                  <a:effectLst/>
                                  <a:latin typeface="Cambria Math"/>
                                  <a:ea typeface="Verdana"/>
                                  <a:cs typeface="Verdana"/>
                                </a:rPr>
                                <m:t>∙</m:t>
                              </m:r>
                              <m:sSup>
                                <m:sSupPr>
                                  <m:ctrlPr>
                                    <a:rPr lang="en-US" sz="2000" i="1" smtClean="0">
                                      <a:effectLst/>
                                      <a:latin typeface="Cambria Math" panose="02040503050406030204" pitchFamily="18" charset="0"/>
                                      <a:ea typeface="Verdana"/>
                                      <a:cs typeface="Verdana"/>
                                    </a:rPr>
                                  </m:ctrlPr>
                                </m:sSupPr>
                                <m:e>
                                  <m:d>
                                    <m:dPr>
                                      <m:ctrlPr>
                                        <a:rPr lang="en-US" sz="2000" i="1">
                                          <a:effectLst/>
                                          <a:latin typeface="Cambria Math" panose="02040503050406030204" pitchFamily="18" charset="0"/>
                                          <a:ea typeface="Verdana"/>
                                          <a:cs typeface="Verdana"/>
                                        </a:rPr>
                                      </m:ctrlPr>
                                    </m:dPr>
                                    <m:e>
                                      <m:f>
                                        <m:fPr>
                                          <m:ctrlPr>
                                            <a:rPr lang="en-US" sz="2000" i="1">
                                              <a:effectLst/>
                                              <a:latin typeface="Cambria Math" panose="02040503050406030204" pitchFamily="18" charset="0"/>
                                              <a:ea typeface="Verdana"/>
                                              <a:cs typeface="Verdana"/>
                                            </a:rPr>
                                          </m:ctrlPr>
                                        </m:fPr>
                                        <m:num>
                                          <m:r>
                                            <a:rPr lang="en-US" sz="2000">
                                              <a:effectLst/>
                                              <a:latin typeface="Cambria Math"/>
                                              <a:ea typeface="Verdana"/>
                                              <a:cs typeface="Verdana"/>
                                            </a:rPr>
                                            <m:t>1</m:t>
                                          </m:r>
                                        </m:num>
                                        <m:den>
                                          <m:r>
                                            <a:rPr lang="en-US" sz="2000" i="1">
                                              <a:effectLst/>
                                              <a:latin typeface="Cambria Math"/>
                                              <a:ea typeface="Verdana"/>
                                              <a:cs typeface="Verdana"/>
                                            </a:rPr>
                                            <m:t>6</m:t>
                                          </m:r>
                                        </m:den>
                                      </m:f>
                                    </m:e>
                                  </m:d>
                                </m:e>
                                <m:sup>
                                  <m:r>
                                    <a:rPr lang="en-US" sz="2000" i="1" smtClean="0">
                                      <a:effectLst/>
                                      <a:latin typeface="Cambria Math"/>
                                      <a:ea typeface="Verdana"/>
                                      <a:cs typeface="Verdana"/>
                                    </a:rPr>
                                    <m:t>−4</m:t>
                                  </m:r>
                                </m:sup>
                              </m:sSup>
                            </m:oMath>
                          </a14:m>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50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14400">
                    <a:tc>
                      <a:txBody>
                        <a:bodyPr/>
                        <a:lstStyle/>
                        <a:p>
                          <a:pPr marL="342900" marR="0" indent="-342900">
                            <a:lnSpc>
                              <a:spcPct val="100000"/>
                            </a:lnSpc>
                            <a:spcBef>
                              <a:spcPts val="0"/>
                            </a:spcBef>
                            <a:spcAft>
                              <a:spcPts val="0"/>
                            </a:spcAft>
                          </a:pPr>
                          <a:r>
                            <a:rPr lang="en-PH" sz="2000" dirty="0">
                              <a:effectLst/>
                              <a:latin typeface="Verdana" pitchFamily="34" charset="0"/>
                              <a:ea typeface="Verdana" pitchFamily="34" charset="0"/>
                              <a:cs typeface="Times New Roman" panose="02020603050405020304" pitchFamily="18" charset="0"/>
                            </a:rPr>
                            <a:t>f.</a:t>
                          </a:r>
                          <a:r>
                            <a:rPr kumimoji="0" lang="en-US" sz="2000" b="0"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Arial"/>
                            </a:rPr>
                            <a:t> 	</a:t>
                          </a:r>
                          <a14:m>
                            <m:oMath xmlns:m="http://schemas.openxmlformats.org/officeDocument/2006/math">
                              <m:sSup>
                                <m:sSupPr>
                                  <m:ctrlPr>
                                    <a:rPr lang="en-US" sz="2000" i="1" smtClean="0">
                                      <a:effectLst/>
                                      <a:latin typeface="Cambria Math" panose="02040503050406030204" pitchFamily="18" charset="0"/>
                                      <a:ea typeface="Verdana"/>
                                      <a:cs typeface="Verdana"/>
                                    </a:rPr>
                                  </m:ctrlPr>
                                </m:sSupPr>
                                <m:e>
                                  <m:r>
                                    <a:rPr lang="en-US" sz="2000" i="1">
                                      <a:effectLst/>
                                      <a:latin typeface="Cambria Math"/>
                                      <a:ea typeface="Verdana"/>
                                      <a:cs typeface="Verdana"/>
                                    </a:rPr>
                                    <m:t>6</m:t>
                                  </m:r>
                                </m:e>
                                <m:sup>
                                  <m:r>
                                    <a:rPr lang="en-US" sz="2000" i="1">
                                      <a:effectLst/>
                                      <a:latin typeface="Cambria Math"/>
                                      <a:ea typeface="Verdana"/>
                                      <a:cs typeface="Verdana"/>
                                    </a:rPr>
                                    <m:t>6</m:t>
                                  </m:r>
                                </m:sup>
                              </m:sSup>
                            </m:oMath>
                          </a14:m>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50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2540311668"/>
                  </p:ext>
                </p:extLst>
              </p:nvPr>
            </p:nvGraphicFramePr>
            <p:xfrm>
              <a:off x="2694777" y="397920"/>
              <a:ext cx="7254076" cy="5888991"/>
            </p:xfrm>
            <a:graphic>
              <a:graphicData uri="http://schemas.openxmlformats.org/drawingml/2006/table">
                <a:tbl>
                  <a:tblPr firstRow="1" firstCol="1" bandRow="1"/>
                  <a:tblGrid>
                    <a:gridCol w="18288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773516">
                      <a:extLst>
                        <a:ext uri="{9D8B030D-6E8A-4147-A177-3AD203B41FA5}">
                          <a16:colId xmlns:a16="http://schemas.microsoft.com/office/drawing/2014/main" val="20002"/>
                        </a:ext>
                      </a:extLst>
                    </a:gridCol>
                  </a:tblGrid>
                  <a:tr h="1123887">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9037" t="-541" r="-104817" b="-429730"/>
                          </a:stretch>
                        </a:blip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Justify or Explain</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944880">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33" t="-120000" r="-297667" b="-412903"/>
                          </a:stretch>
                        </a:blipFill>
                      </a:tcPr>
                    </a:tc>
                    <a:tc>
                      <a:txBody>
                        <a:bodyPr/>
                        <a:lstStyle/>
                        <a:p>
                          <a:pPr marL="342900" marR="0" lvl="0" indent="-342900">
                            <a:lnSpc>
                              <a:spcPct val="150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44880">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33" t="-220000" r="-297667" b="-312903"/>
                          </a:stretch>
                        </a:blipFill>
                      </a:tcPr>
                    </a:tc>
                    <a:tc>
                      <a:txBody>
                        <a:bodyPr/>
                        <a:lstStyle/>
                        <a:p>
                          <a:pPr marL="342900" marR="0" lvl="0" indent="-342900">
                            <a:lnSpc>
                              <a:spcPct val="150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44880">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33" t="-320000" r="-297667" b="-212903"/>
                          </a:stretch>
                        </a:blipFill>
                      </a:tcPr>
                    </a:tc>
                    <a:tc>
                      <a:txBody>
                        <a:bodyPr/>
                        <a:lstStyle/>
                        <a:p>
                          <a:pPr marL="342900" marR="0" lvl="0" indent="-342900">
                            <a:lnSpc>
                              <a:spcPct val="150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985584">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33" t="-401852" r="-297667" b="-103704"/>
                          </a:stretch>
                        </a:blipFill>
                      </a:tcPr>
                    </a:tc>
                    <a:tc>
                      <a:txBody>
                        <a:bodyPr/>
                        <a:lstStyle/>
                        <a:p>
                          <a:pPr marL="342900" marR="0" lvl="0" indent="-342900">
                            <a:lnSpc>
                              <a:spcPct val="150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44880">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33" t="-524516" r="-297667" b="-8387"/>
                          </a:stretch>
                        </a:blipFill>
                      </a:tcPr>
                    </a:tc>
                    <a:tc>
                      <a:txBody>
                        <a:bodyPr/>
                        <a:lstStyle/>
                        <a:p>
                          <a:pPr marL="342900" marR="0" lvl="0" indent="-342900">
                            <a:lnSpc>
                              <a:spcPct val="150000"/>
                            </a:lnSpc>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Fallback>
      </mc:AlternateContent>
    </p:spTree>
    <p:extLst>
      <p:ext uri="{BB962C8B-B14F-4D97-AF65-F5344CB8AC3E}">
        <p14:creationId xmlns:p14="http://schemas.microsoft.com/office/powerpoint/2010/main" val="1405978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138</a:t>
            </a:r>
            <a:endParaRPr i="1" dirty="0">
              <a:latin typeface="Calibri"/>
              <a:ea typeface="Calibri"/>
              <a:cs typeface="Calibri"/>
              <a:sym typeface="Calibri"/>
            </a:endParaRPr>
          </a:p>
        </p:txBody>
      </p:sp>
      <p:pic>
        <p:nvPicPr>
          <p:cNvPr id="7" name="image10.png" descr="Icon&#10;&#10;Description automatically generated">
            <a:extLst>
              <a:ext uri="{FF2B5EF4-FFF2-40B4-BE49-F238E27FC236}">
                <a16:creationId xmlns:a16="http://schemas.microsoft.com/office/drawing/2014/main" id="{90FE0D4A-09BD-744B-9256-B0664DDDB853}"/>
              </a:ext>
            </a:extLst>
          </p:cNvPr>
          <p:cNvPicPr/>
          <p:nvPr/>
        </p:nvPicPr>
        <p:blipFill>
          <a:blip r:embed="rId4"/>
          <a:srcRect/>
          <a:stretch>
            <a:fillRect/>
          </a:stretch>
        </p:blipFill>
        <p:spPr>
          <a:xfrm>
            <a:off x="3054096" y="2844580"/>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5253322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42696" y="192189"/>
            <a:ext cx="830664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4400" b="1" dirty="0">
                <a:solidFill>
                  <a:srgbClr val="E24E5F"/>
                </a:solidFill>
                <a:latin typeface="Verdana"/>
                <a:ea typeface="Verdana"/>
                <a:cs typeface="Verdana"/>
                <a:sym typeface="Verdana"/>
              </a:rPr>
              <a:t>4.3.5 Your Turn!</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138</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914400" y="1333029"/>
                <a:ext cx="10515600" cy="269516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Apply the laws of exponents to write an equivalent numerical expression with one base and one positive exponent. Show your steps in the column on the left and identify the law of exponents used in each step in the column on the right.</a:t>
                </a:r>
              </a:p>
              <a:p>
                <a:pPr marL="457200" indent="-457200" eaLnBrk="0" fontAlgn="base" hangingPunct="0">
                  <a:spcBef>
                    <a:spcPct val="0"/>
                  </a:spcBef>
                  <a:spcAft>
                    <a:spcPct val="0"/>
                  </a:spcAft>
                  <a:buClrTx/>
                  <a:buFont typeface="+mj-lt"/>
                  <a:buAutoNum type="arabicPeriod"/>
                </a:pPr>
                <a:endPar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914400" indent="-457200" eaLnBrk="0" fontAlgn="base" hangingPunct="0">
                  <a:spcBef>
                    <a:spcPct val="0"/>
                  </a:spcBef>
                  <a:spcAft>
                    <a:spcPct val="0"/>
                  </a:spcAft>
                  <a:buClrTx/>
                  <a:buFont typeface="+mj-lt"/>
                  <a:buAutoNum type="alphaLcPeriod"/>
                </a:pPr>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US" altLang="en-US" sz="2400" i="1">
                            <a:solidFill>
                              <a:schemeClr val="tx1"/>
                            </a:solidFill>
                            <a:latin typeface="Cambria Math" panose="02040503050406030204" pitchFamily="18" charset="0"/>
                            <a:cs typeface="Times New Roman" panose="02020603050405020304" pitchFamily="18" charset="0"/>
                          </a:rPr>
                        </m:ctrlPr>
                      </m:sSupPr>
                      <m:e>
                        <m:d>
                          <m:dPr>
                            <m:begChr m:val="["/>
                            <m:endChr m:val="]"/>
                            <m:ctrlPr>
                              <a:rPr lang="en-US" altLang="en-US" sz="2400" i="1">
                                <a:solidFill>
                                  <a:schemeClr val="tx1"/>
                                </a:solidFill>
                                <a:latin typeface="Cambria Math" panose="02040503050406030204" pitchFamily="18" charset="0"/>
                                <a:cs typeface="Times New Roman" panose="02020603050405020304" pitchFamily="18" charset="0"/>
                              </a:rPr>
                            </m:ctrlPr>
                          </m:dPr>
                          <m:e>
                            <m:sSup>
                              <m:sSupPr>
                                <m:ctrlPr>
                                  <a:rPr lang="en-US" altLang="en-US" sz="2400" i="1">
                                    <a:solidFill>
                                      <a:schemeClr val="tx1"/>
                                    </a:solidFill>
                                    <a:latin typeface="Cambria Math" panose="02040503050406030204" pitchFamily="18" charset="0"/>
                                    <a:cs typeface="Times New Roman" panose="02020603050405020304" pitchFamily="18" charset="0"/>
                                  </a:rPr>
                                </m:ctrlPr>
                              </m:sSupPr>
                              <m:e>
                                <m:d>
                                  <m:dPr>
                                    <m:ctrlPr>
                                      <a:rPr lang="en-US" altLang="en-US" sz="2400" i="1">
                                        <a:solidFill>
                                          <a:schemeClr val="tx1"/>
                                        </a:solidFill>
                                        <a:latin typeface="Cambria Math" panose="02040503050406030204" pitchFamily="18" charset="0"/>
                                        <a:cs typeface="Times New Roman" panose="02020603050405020304" pitchFamily="18" charset="0"/>
                                      </a:rPr>
                                    </m:ctrlPr>
                                  </m:dPr>
                                  <m:e>
                                    <m:f>
                                      <m:fPr>
                                        <m:ctrlPr>
                                          <a:rPr lang="en-US" altLang="en-US" sz="2400" i="1">
                                            <a:solidFill>
                                              <a:schemeClr val="tx1"/>
                                            </a:solidFill>
                                            <a:latin typeface="Cambria Math" panose="02040503050406030204" pitchFamily="18" charset="0"/>
                                            <a:cs typeface="Times New Roman" panose="02020603050405020304" pitchFamily="18" charset="0"/>
                                          </a:rPr>
                                        </m:ctrlPr>
                                      </m:fPr>
                                      <m:num>
                                        <m:r>
                                          <a:rPr lang="es-ES" altLang="en-US" sz="2400" i="1">
                                            <a:solidFill>
                                              <a:schemeClr val="tx1"/>
                                            </a:solidFill>
                                            <a:latin typeface="Cambria Math" panose="02040503050406030204" pitchFamily="18" charset="0"/>
                                            <a:cs typeface="Times New Roman" panose="02020603050405020304" pitchFamily="18" charset="0"/>
                                          </a:rPr>
                                          <m:t>2</m:t>
                                        </m:r>
                                      </m:num>
                                      <m:den>
                                        <m:r>
                                          <a:rPr lang="es-ES" altLang="en-US" sz="2400" i="1">
                                            <a:solidFill>
                                              <a:schemeClr val="tx1"/>
                                            </a:solidFill>
                                            <a:latin typeface="Cambria Math" panose="02040503050406030204" pitchFamily="18" charset="0"/>
                                            <a:cs typeface="Times New Roman" panose="02020603050405020304" pitchFamily="18" charset="0"/>
                                          </a:rPr>
                                          <m:t>3</m:t>
                                        </m:r>
                                      </m:den>
                                    </m:f>
                                  </m:e>
                                </m:d>
                              </m:e>
                              <m:sup>
                                <m:r>
                                  <a:rPr lang="es-ES" altLang="en-US" sz="2400" i="1">
                                    <a:solidFill>
                                      <a:schemeClr val="tx1"/>
                                    </a:solidFill>
                                    <a:latin typeface="Cambria Math" panose="02040503050406030204" pitchFamily="18" charset="0"/>
                                    <a:cs typeface="Times New Roman" panose="02020603050405020304" pitchFamily="18" charset="0"/>
                                  </a:rPr>
                                  <m:t>5</m:t>
                                </m:r>
                              </m:sup>
                            </m:sSup>
                            <m:r>
                              <a:rPr lang="es-ES" altLang="en-US" sz="2400" i="1">
                                <a:solidFill>
                                  <a:schemeClr val="tx1"/>
                                </a:solidFill>
                                <a:latin typeface="Cambria Math" panose="02040503050406030204" pitchFamily="18" charset="0"/>
                                <a:cs typeface="Times New Roman" panose="02020603050405020304" pitchFamily="18" charset="0"/>
                              </a:rPr>
                              <m:t>·</m:t>
                            </m:r>
                            <m:sSup>
                              <m:sSupPr>
                                <m:ctrlPr>
                                  <a:rPr lang="en-US" altLang="en-US" sz="2400" i="1">
                                    <a:solidFill>
                                      <a:schemeClr val="tx1"/>
                                    </a:solidFill>
                                    <a:latin typeface="Cambria Math" panose="02040503050406030204" pitchFamily="18" charset="0"/>
                                    <a:cs typeface="Times New Roman" panose="02020603050405020304" pitchFamily="18" charset="0"/>
                                  </a:rPr>
                                </m:ctrlPr>
                              </m:sSupPr>
                              <m:e>
                                <m:d>
                                  <m:dPr>
                                    <m:ctrlPr>
                                      <a:rPr lang="en-US" altLang="en-US" sz="2400" i="1">
                                        <a:solidFill>
                                          <a:schemeClr val="tx1"/>
                                        </a:solidFill>
                                        <a:latin typeface="Cambria Math" panose="02040503050406030204" pitchFamily="18" charset="0"/>
                                        <a:cs typeface="Times New Roman" panose="02020603050405020304" pitchFamily="18" charset="0"/>
                                      </a:rPr>
                                    </m:ctrlPr>
                                  </m:dPr>
                                  <m:e>
                                    <m:f>
                                      <m:fPr>
                                        <m:ctrlPr>
                                          <a:rPr lang="en-US" altLang="en-US" sz="2400" i="1">
                                            <a:solidFill>
                                              <a:schemeClr val="tx1"/>
                                            </a:solidFill>
                                            <a:latin typeface="Cambria Math" panose="02040503050406030204" pitchFamily="18" charset="0"/>
                                            <a:cs typeface="Times New Roman" panose="02020603050405020304" pitchFamily="18" charset="0"/>
                                          </a:rPr>
                                        </m:ctrlPr>
                                      </m:fPr>
                                      <m:num>
                                        <m:r>
                                          <a:rPr lang="es-ES" altLang="en-US" sz="2400" i="1">
                                            <a:solidFill>
                                              <a:schemeClr val="tx1"/>
                                            </a:solidFill>
                                            <a:latin typeface="Cambria Math" panose="02040503050406030204" pitchFamily="18" charset="0"/>
                                            <a:cs typeface="Times New Roman" panose="02020603050405020304" pitchFamily="18" charset="0"/>
                                          </a:rPr>
                                          <m:t>2</m:t>
                                        </m:r>
                                      </m:num>
                                      <m:den>
                                        <m:r>
                                          <a:rPr lang="es-ES" altLang="en-US" sz="2400" i="1">
                                            <a:solidFill>
                                              <a:schemeClr val="tx1"/>
                                            </a:solidFill>
                                            <a:latin typeface="Cambria Math" panose="02040503050406030204" pitchFamily="18" charset="0"/>
                                            <a:cs typeface="Times New Roman" panose="02020603050405020304" pitchFamily="18" charset="0"/>
                                          </a:rPr>
                                          <m:t>3</m:t>
                                        </m:r>
                                      </m:den>
                                    </m:f>
                                  </m:e>
                                </m:d>
                              </m:e>
                              <m:sup>
                                <m:r>
                                  <a:rPr lang="es-ES" altLang="en-US" sz="2400" i="1">
                                    <a:solidFill>
                                      <a:schemeClr val="tx1"/>
                                    </a:solidFill>
                                    <a:latin typeface="Cambria Math" panose="02040503050406030204" pitchFamily="18" charset="0"/>
                                    <a:cs typeface="Times New Roman" panose="02020603050405020304" pitchFamily="18" charset="0"/>
                                  </a:rPr>
                                  <m:t>−2</m:t>
                                </m:r>
                              </m:sup>
                            </m:sSup>
                          </m:e>
                        </m:d>
                      </m:e>
                      <m:sup>
                        <m:r>
                          <a:rPr lang="es-ES" altLang="en-US" sz="2400" i="1">
                            <a:solidFill>
                              <a:schemeClr val="tx1"/>
                            </a:solidFill>
                            <a:latin typeface="Cambria Math" panose="02040503050406030204" pitchFamily="18" charset="0"/>
                            <a:cs typeface="Times New Roman" panose="02020603050405020304" pitchFamily="18" charset="0"/>
                          </a:rPr>
                          <m:t>3</m:t>
                        </m:r>
                      </m:sup>
                    </m:sSup>
                  </m:oMath>
                </a14:m>
                <a:endPar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4" name="Rectangle 3">
                <a:extLst>
                  <a:ext uri="{FF2B5EF4-FFF2-40B4-BE49-F238E27FC236}">
                    <a16:creationId xmlns:a16="http://schemas.microsoft.com/office/drawing/2014/main" id="{FE208A00-51E7-C544-ABDE-AE9DC3DAAB4C}"/>
                  </a:ext>
                </a:extLst>
              </p:cNvPr>
              <p:cNvSpPr>
                <a:spLocks noRot="1" noChangeAspect="1" noMove="1" noResize="1" noEditPoints="1" noAdjustHandles="1" noChangeArrowheads="1" noChangeShapeType="1" noTextEdit="1"/>
              </p:cNvSpPr>
              <p:nvPr/>
            </p:nvSpPr>
            <p:spPr bwMode="auto">
              <a:xfrm>
                <a:off x="914400" y="1333029"/>
                <a:ext cx="10515600" cy="2695161"/>
              </a:xfrm>
              <a:prstGeom prst="rect">
                <a:avLst/>
              </a:prstGeom>
              <a:blipFill>
                <a:blip r:embed="rId4"/>
                <a:stretch>
                  <a:fillRect l="-965" t="-187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36" name="image10.png" descr="Icon&#10;&#10;Description automatically generated">
            <a:extLst>
              <a:ext uri="{FF2B5EF4-FFF2-40B4-BE49-F238E27FC236}">
                <a16:creationId xmlns:a16="http://schemas.microsoft.com/office/drawing/2014/main" id="{FB37AF03-B938-AD4A-BADA-02A8D639DAA4}"/>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411480" y="101313"/>
            <a:ext cx="753726" cy="753726"/>
          </a:xfrm>
          <a:prstGeom prst="rect">
            <a:avLst/>
          </a:prstGeom>
          <a:ln/>
        </p:spPr>
      </p:pic>
      <p:graphicFrame>
        <p:nvGraphicFramePr>
          <p:cNvPr id="3" name="Table 2">
            <a:extLst>
              <a:ext uri="{FF2B5EF4-FFF2-40B4-BE49-F238E27FC236}">
                <a16:creationId xmlns:a16="http://schemas.microsoft.com/office/drawing/2014/main" id="{685D05B1-23DF-E840-84D6-CAE6F39ED6B2}"/>
              </a:ext>
            </a:extLst>
          </p:cNvPr>
          <p:cNvGraphicFramePr>
            <a:graphicFrameLocks noGrp="1"/>
          </p:cNvGraphicFramePr>
          <p:nvPr>
            <p:extLst>
              <p:ext uri="{D42A27DB-BD31-4B8C-83A1-F6EECF244321}">
                <p14:modId xmlns:p14="http://schemas.microsoft.com/office/powerpoint/2010/main" val="2285251339"/>
              </p:ext>
            </p:extLst>
          </p:nvPr>
        </p:nvGraphicFramePr>
        <p:xfrm>
          <a:off x="3126993" y="4151798"/>
          <a:ext cx="6322653" cy="2377440"/>
        </p:xfrm>
        <a:graphic>
          <a:graphicData uri="http://schemas.openxmlformats.org/drawingml/2006/table">
            <a:tbl>
              <a:tblPr firstRow="1" firstCol="1" bandRow="1"/>
              <a:tblGrid>
                <a:gridCol w="3207398">
                  <a:extLst>
                    <a:ext uri="{9D8B030D-6E8A-4147-A177-3AD203B41FA5}">
                      <a16:colId xmlns:a16="http://schemas.microsoft.com/office/drawing/2014/main" val="1250581085"/>
                    </a:ext>
                  </a:extLst>
                </a:gridCol>
                <a:gridCol w="3115255">
                  <a:extLst>
                    <a:ext uri="{9D8B030D-6E8A-4147-A177-3AD203B41FA5}">
                      <a16:colId xmlns:a16="http://schemas.microsoft.com/office/drawing/2014/main" val="1981618316"/>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Steps</a:t>
                      </a:r>
                      <a:endParaRPr lang="x-none" sz="2000">
                        <a:effectLst/>
                        <a:latin typeface="Verdana" pitchFamily="34" charset="0"/>
                        <a:ea typeface="Verdana" pitchFamily="34" charset="0"/>
                        <a:cs typeface="Times New Roman" panose="02020603050405020304" pitchFamily="18" charset="0"/>
                      </a:endParaRPr>
                    </a:p>
                  </a:txBody>
                  <a:tcPr marL="63385" marR="633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Laws of Exponents</a:t>
                      </a:r>
                      <a:endParaRPr lang="x-none" sz="2000">
                        <a:effectLst/>
                        <a:latin typeface="Verdana" pitchFamily="34" charset="0"/>
                        <a:ea typeface="Verdana" pitchFamily="34" charset="0"/>
                        <a:cs typeface="Times New Roman" panose="02020603050405020304" pitchFamily="18" charset="0"/>
                      </a:endParaRPr>
                    </a:p>
                  </a:txBody>
                  <a:tcPr marL="63385" marR="633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4235008574"/>
                  </a:ext>
                </a:extLst>
              </a:tr>
              <a:tr h="192024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p>
                      <a:pPr marL="0" marR="0">
                        <a:spcBef>
                          <a:spcPts val="0"/>
                        </a:spcBef>
                        <a:spcAft>
                          <a:spcPts val="0"/>
                        </a:spcAft>
                      </a:pPr>
                      <a:r>
                        <a:rPr lang="en-US" sz="2000" i="1"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3385" marR="633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i="1"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marL="63385" marR="633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6574945"/>
                  </a:ext>
                </a:extLst>
              </a:tr>
            </a:tbl>
          </a:graphicData>
        </a:graphic>
      </p:graphicFrame>
    </p:spTree>
    <p:extLst>
      <p:ext uri="{BB962C8B-B14F-4D97-AF65-F5344CB8AC3E}">
        <p14:creationId xmlns:p14="http://schemas.microsoft.com/office/powerpoint/2010/main" val="20204133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889B13CF-7799-4D4C-A21A-ADC21E179E83}"/>
                  </a:ext>
                </a:extLst>
              </p:cNvPr>
              <p:cNvSpPr/>
              <p:nvPr/>
            </p:nvSpPr>
            <p:spPr>
              <a:xfrm>
                <a:off x="914400" y="393726"/>
                <a:ext cx="10515600" cy="667234"/>
              </a:xfrm>
              <a:prstGeom prst="rect">
                <a:avLst/>
              </a:prstGeom>
            </p:spPr>
            <p:txBody>
              <a:bodyPr wrap="square">
                <a:spAutoFit/>
              </a:bodyPr>
              <a:lstStyle/>
              <a:p>
                <a:pPr marL="914400" indent="-457200">
                  <a:buFont typeface="+mj-lt"/>
                  <a:buAutoNum type="alphaLcPeriod" startAt="2"/>
                </a:pPr>
                <a:r>
                  <a:rPr lang="en-PH" sz="2400" dirty="0">
                    <a:latin typeface="Verdana" panose="020B0604030504040204" pitchFamily="34" charset="0"/>
                    <a:cs typeface="Times New Roman" panose="02020603050405020304" pitchFamily="18" charset="0"/>
                  </a:rPr>
                  <a:t> </a:t>
                </a:r>
                <a14:m>
                  <m:oMath xmlns:m="http://schemas.openxmlformats.org/officeDocument/2006/math">
                    <m:f>
                      <m:fPr>
                        <m:ctrlPr>
                          <a:rPr lang="en-US" sz="2400" i="1" dirty="0">
                            <a:latin typeface="Cambria Math" panose="02040503050406030204" pitchFamily="18" charset="0"/>
                            <a:cs typeface="Times New Roman" panose="02020603050405020304" pitchFamily="18" charset="0"/>
                          </a:rPr>
                        </m:ctrlPr>
                      </m:fPr>
                      <m:num>
                        <m:sSup>
                          <m:sSupPr>
                            <m:ctrlPr>
                              <a:rPr lang="en-US" sz="2400" i="1" dirty="0">
                                <a:latin typeface="Cambria Math" panose="02040503050406030204" pitchFamily="18" charset="0"/>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5</m:t>
                            </m:r>
                          </m:e>
                          <m:sup>
                            <m:r>
                              <a:rPr lang="es-ES" sz="2400" i="1" dirty="0">
                                <a:latin typeface="Cambria Math" panose="02040503050406030204" pitchFamily="18" charset="0"/>
                                <a:cs typeface="Times New Roman" panose="02020603050405020304" pitchFamily="18" charset="0"/>
                              </a:rPr>
                              <m:t>4</m:t>
                            </m:r>
                          </m:sup>
                        </m:sSup>
                        <m:r>
                          <a:rPr lang="es-ES" sz="2400" i="1" dirty="0">
                            <a:latin typeface="Cambria Math" panose="02040503050406030204" pitchFamily="18" charset="0"/>
                            <a:cs typeface="Times New Roman" panose="02020603050405020304" pitchFamily="18" charset="0"/>
                          </a:rPr>
                          <m:t>·</m:t>
                        </m:r>
                        <m:sSup>
                          <m:sSupPr>
                            <m:ctrlPr>
                              <a:rPr lang="en-US" sz="2400" i="1" dirty="0">
                                <a:latin typeface="Cambria Math" panose="02040503050406030204" pitchFamily="18" charset="0"/>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5</m:t>
                            </m:r>
                          </m:e>
                          <m:sup>
                            <m:r>
                              <a:rPr lang="es-ES" sz="2400" i="1" dirty="0">
                                <a:latin typeface="Cambria Math" panose="02040503050406030204" pitchFamily="18" charset="0"/>
                                <a:cs typeface="Times New Roman" panose="02020603050405020304" pitchFamily="18" charset="0"/>
                              </a:rPr>
                              <m:t>4</m:t>
                            </m:r>
                          </m:sup>
                        </m:sSup>
                      </m:num>
                      <m:den>
                        <m:sSup>
                          <m:sSupPr>
                            <m:ctrlPr>
                              <a:rPr lang="en-US" sz="2400" i="1" dirty="0">
                                <a:latin typeface="Cambria Math" panose="02040503050406030204" pitchFamily="18" charset="0"/>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5</m:t>
                            </m:r>
                          </m:e>
                          <m:sup>
                            <m:r>
                              <a:rPr lang="es-ES" sz="2400" i="1" dirty="0">
                                <a:latin typeface="Cambria Math" panose="02040503050406030204" pitchFamily="18" charset="0"/>
                                <a:cs typeface="Times New Roman" panose="02020603050405020304" pitchFamily="18" charset="0"/>
                              </a:rPr>
                              <m:t>3</m:t>
                            </m:r>
                          </m:sup>
                        </m:sSup>
                      </m:den>
                    </m:f>
                  </m:oMath>
                </a14:m>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4" name="Rectangle 3">
                <a:extLst>
                  <a:ext uri="{FF2B5EF4-FFF2-40B4-BE49-F238E27FC236}">
                    <a16:creationId xmlns:a16="http://schemas.microsoft.com/office/drawing/2014/main" id="{889B13CF-7799-4D4C-A21A-ADC21E179E83}"/>
                  </a:ext>
                </a:extLst>
              </p:cNvPr>
              <p:cNvSpPr>
                <a:spLocks noRot="1" noChangeAspect="1" noMove="1" noResize="1" noEditPoints="1" noAdjustHandles="1" noChangeArrowheads="1" noChangeShapeType="1" noTextEdit="1"/>
              </p:cNvSpPr>
              <p:nvPr/>
            </p:nvSpPr>
            <p:spPr>
              <a:xfrm>
                <a:off x="914400" y="393726"/>
                <a:ext cx="10515600" cy="667234"/>
              </a:xfrm>
              <a:prstGeom prst="rect">
                <a:avLst/>
              </a:prstGeom>
              <a:blipFill>
                <a:blip r:embed="rId4"/>
                <a:stretch>
                  <a:fillRect b="-6422"/>
                </a:stretch>
              </a:blipFill>
            </p:spPr>
            <p:txBody>
              <a:bodyPr/>
              <a:lstStyle/>
              <a:p>
                <a:r>
                  <a:rPr lang="en-US">
                    <a:noFill/>
                  </a:rPr>
                  <a:t> </a:t>
                </a:r>
              </a:p>
            </p:txBody>
          </p:sp>
        </mc:Fallback>
      </mc:AlternateContent>
      <p:graphicFrame>
        <p:nvGraphicFramePr>
          <p:cNvPr id="7" name="Table 6">
            <a:extLst>
              <a:ext uri="{FF2B5EF4-FFF2-40B4-BE49-F238E27FC236}">
                <a16:creationId xmlns:a16="http://schemas.microsoft.com/office/drawing/2014/main" id="{685D05B1-23DF-E840-84D6-CAE6F39ED6B2}"/>
              </a:ext>
            </a:extLst>
          </p:cNvPr>
          <p:cNvGraphicFramePr>
            <a:graphicFrameLocks noGrp="1"/>
          </p:cNvGraphicFramePr>
          <p:nvPr>
            <p:extLst>
              <p:ext uri="{D42A27DB-BD31-4B8C-83A1-F6EECF244321}">
                <p14:modId xmlns:p14="http://schemas.microsoft.com/office/powerpoint/2010/main" val="416271271"/>
              </p:ext>
            </p:extLst>
          </p:nvPr>
        </p:nvGraphicFramePr>
        <p:xfrm>
          <a:off x="3216614" y="1299537"/>
          <a:ext cx="6322653" cy="2743200"/>
        </p:xfrm>
        <a:graphic>
          <a:graphicData uri="http://schemas.openxmlformats.org/drawingml/2006/table">
            <a:tbl>
              <a:tblPr firstRow="1" firstCol="1" bandRow="1"/>
              <a:tblGrid>
                <a:gridCol w="3207398">
                  <a:extLst>
                    <a:ext uri="{9D8B030D-6E8A-4147-A177-3AD203B41FA5}">
                      <a16:colId xmlns:a16="http://schemas.microsoft.com/office/drawing/2014/main" val="1250581085"/>
                    </a:ext>
                  </a:extLst>
                </a:gridCol>
                <a:gridCol w="3115255">
                  <a:extLst>
                    <a:ext uri="{9D8B030D-6E8A-4147-A177-3AD203B41FA5}">
                      <a16:colId xmlns:a16="http://schemas.microsoft.com/office/drawing/2014/main" val="1981618316"/>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Steps</a:t>
                      </a:r>
                      <a:endParaRPr lang="x-none" sz="2000">
                        <a:effectLst/>
                        <a:latin typeface="Verdana" pitchFamily="34" charset="0"/>
                        <a:ea typeface="Verdana" pitchFamily="34" charset="0"/>
                        <a:cs typeface="Times New Roman" panose="02020603050405020304" pitchFamily="18" charset="0"/>
                      </a:endParaRPr>
                    </a:p>
                  </a:txBody>
                  <a:tcPr marL="63385" marR="633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Laws of Exponents</a:t>
                      </a:r>
                      <a:endParaRPr lang="x-none" sz="2000">
                        <a:effectLst/>
                        <a:latin typeface="Verdana" pitchFamily="34" charset="0"/>
                        <a:ea typeface="Verdana" pitchFamily="34" charset="0"/>
                        <a:cs typeface="Times New Roman" panose="02020603050405020304" pitchFamily="18" charset="0"/>
                      </a:endParaRPr>
                    </a:p>
                  </a:txBody>
                  <a:tcPr marL="63385" marR="633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4235008574"/>
                  </a:ext>
                </a:extLst>
              </a:tr>
              <a:tr h="2286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p>
                      <a:pPr marL="0" marR="0">
                        <a:spcBef>
                          <a:spcPts val="0"/>
                        </a:spcBef>
                        <a:spcAft>
                          <a:spcPts val="0"/>
                        </a:spcAft>
                      </a:pPr>
                      <a:r>
                        <a:rPr lang="en-US" sz="2000" i="1"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63385" marR="633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i="1"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marL="63385" marR="633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6574945"/>
                  </a:ext>
                </a:extLst>
              </a:tr>
            </a:tbl>
          </a:graphicData>
        </a:graphic>
      </p:graphicFrame>
    </p:spTree>
    <p:extLst>
      <p:ext uri="{BB962C8B-B14F-4D97-AF65-F5344CB8AC3E}">
        <p14:creationId xmlns:p14="http://schemas.microsoft.com/office/powerpoint/2010/main" val="40405167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138</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855625" y="2779101"/>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138</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3000" y="151759"/>
            <a:ext cx="8019300" cy="56443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4.3.6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411480" y="64008"/>
            <a:ext cx="747300" cy="747300"/>
          </a:xfrm>
          <a:prstGeom prst="rect">
            <a:avLst/>
          </a:prstGeom>
          <a:noFill/>
          <a:ln>
            <a:noFill/>
          </a:ln>
        </p:spPr>
      </p:pic>
      <p:sp>
        <p:nvSpPr>
          <p:cNvPr id="2" name="Rectangle 1">
            <a:extLst>
              <a:ext uri="{FF2B5EF4-FFF2-40B4-BE49-F238E27FC236}">
                <a16:creationId xmlns:a16="http://schemas.microsoft.com/office/drawing/2014/main" id="{AE281112-0763-C941-9DB7-9B28C4EA4745}"/>
              </a:ext>
            </a:extLst>
          </p:cNvPr>
          <p:cNvSpPr/>
          <p:nvPr/>
        </p:nvSpPr>
        <p:spPr>
          <a:xfrm>
            <a:off x="914400" y="995216"/>
            <a:ext cx="10515600" cy="1723549"/>
          </a:xfrm>
          <a:prstGeom prst="rect">
            <a:avLst/>
          </a:prstGeom>
        </p:spPr>
        <p:txBody>
          <a:bodyPr wrap="square">
            <a:spAutoFit/>
          </a:bodyPr>
          <a:lstStyle/>
          <a:p>
            <a:pPr marL="457200" indent="-457200">
              <a:spcAft>
                <a:spcPts val="1200"/>
              </a:spcAft>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Color in the arrow up to the statement that best describes your current understanding of today’s learning target.</a:t>
            </a:r>
          </a:p>
          <a:p>
            <a:pPr marL="914400" indent="-4508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apply the Laws of Exponents to generate equivalent numerical expressions. </a:t>
            </a:r>
          </a:p>
        </p:txBody>
      </p:sp>
      <p:graphicFrame>
        <p:nvGraphicFramePr>
          <p:cNvPr id="4" name="Table 3">
            <a:extLst>
              <a:ext uri="{FF2B5EF4-FFF2-40B4-BE49-F238E27FC236}">
                <a16:creationId xmlns:a16="http://schemas.microsoft.com/office/drawing/2014/main" id="{E6DE6A9D-B053-F44A-9E31-4AF99F69953F}"/>
              </a:ext>
            </a:extLst>
          </p:cNvPr>
          <p:cNvGraphicFramePr>
            <a:graphicFrameLocks noGrp="1"/>
          </p:cNvGraphicFramePr>
          <p:nvPr>
            <p:extLst>
              <p:ext uri="{D42A27DB-BD31-4B8C-83A1-F6EECF244321}">
                <p14:modId xmlns:p14="http://schemas.microsoft.com/office/powerpoint/2010/main" val="792417881"/>
              </p:ext>
            </p:extLst>
          </p:nvPr>
        </p:nvGraphicFramePr>
        <p:xfrm>
          <a:off x="3144756" y="2884047"/>
          <a:ext cx="7318346" cy="3703320"/>
        </p:xfrm>
        <a:graphic>
          <a:graphicData uri="http://schemas.openxmlformats.org/drawingml/2006/table">
            <a:tbl>
              <a:tblPr firstRow="1" firstCol="1" bandRow="1"/>
              <a:tblGrid>
                <a:gridCol w="1008986">
                  <a:extLst>
                    <a:ext uri="{9D8B030D-6E8A-4147-A177-3AD203B41FA5}">
                      <a16:colId xmlns:a16="http://schemas.microsoft.com/office/drawing/2014/main" val="1425575976"/>
                    </a:ext>
                  </a:extLst>
                </a:gridCol>
                <a:gridCol w="6309360">
                  <a:extLst>
                    <a:ext uri="{9D8B030D-6E8A-4147-A177-3AD203B41FA5}">
                      <a16:colId xmlns:a16="http://schemas.microsoft.com/office/drawing/2014/main" val="671948316"/>
                    </a:ext>
                  </a:extLst>
                </a:gridCol>
              </a:tblGrid>
              <a:tr h="584200">
                <a:tc>
                  <a:txBody>
                    <a:bodyPr/>
                    <a:lstStyle/>
                    <a:p>
                      <a:endParaRPr lang="x-none" sz="1000">
                        <a:effectLst/>
                        <a:latin typeface="Cambria" panose="02040503050406030204" pitchFamily="18" charset="0"/>
                      </a:endParaRPr>
                    </a:p>
                  </a:txBody>
                  <a:tcPr marL="63500" marR="63500" marT="63500" marB="63500">
                    <a:lnL>
                      <a:noFill/>
                    </a:lnL>
                    <a:lnR>
                      <a:noFill/>
                    </a:lnR>
                    <a:lnT>
                      <a:noFill/>
                    </a:lnT>
                    <a:lnB>
                      <a:noFill/>
                    </a:lnB>
                  </a:tcPr>
                </a:tc>
                <a:tc>
                  <a:txBody>
                    <a:bodyPr/>
                    <a:lstStyle/>
                    <a:p>
                      <a:pPr marL="0" marR="0">
                        <a:spcBef>
                          <a:spcPts val="1200"/>
                        </a:spcBef>
                        <a:spcAft>
                          <a:spcPts val="1200"/>
                        </a:spcAft>
                      </a:pP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I’m so confident, I could explain this to someone else!</a:t>
                      </a:r>
                      <a:endParaRPr lang="x-none" sz="18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3500" marR="63500" marT="0" marB="137160">
                    <a:lnL>
                      <a:noFill/>
                    </a:lnL>
                    <a:lnR>
                      <a:noFill/>
                    </a:lnR>
                    <a:lnT>
                      <a:noFill/>
                    </a:lnT>
                    <a:lnB>
                      <a:noFill/>
                    </a:lnB>
                  </a:tcPr>
                </a:tc>
                <a:extLst>
                  <a:ext uri="{0D108BD9-81ED-4DB2-BD59-A6C34878D82A}">
                    <a16:rowId xmlns:a16="http://schemas.microsoft.com/office/drawing/2014/main" val="3965503422"/>
                  </a:ext>
                </a:extLst>
              </a:tr>
              <a:tr h="584200">
                <a:tc>
                  <a:txBody>
                    <a:bodyPr/>
                    <a:lstStyle/>
                    <a:p>
                      <a:endParaRPr lang="x-none" sz="1000">
                        <a:effectLst/>
                        <a:latin typeface="Cambria" panose="02040503050406030204" pitchFamily="18" charset="0"/>
                      </a:endParaRPr>
                    </a:p>
                  </a:txBody>
                  <a:tcPr marL="63500" marR="63500" marT="63500" marB="63500">
                    <a:lnL>
                      <a:noFill/>
                    </a:lnL>
                    <a:lnR>
                      <a:noFill/>
                    </a:lnR>
                    <a:lnT>
                      <a:noFill/>
                    </a:lnT>
                    <a:lnB>
                      <a:noFill/>
                    </a:lnB>
                  </a:tcPr>
                </a:tc>
                <a:tc>
                  <a:txBody>
                    <a:bodyPr/>
                    <a:lstStyle/>
                    <a:p>
                      <a:pPr marL="0" marR="0">
                        <a:spcBef>
                          <a:spcPts val="1200"/>
                        </a:spcBef>
                        <a:spcAft>
                          <a:spcPts val="1200"/>
                        </a:spcAft>
                      </a:pP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I can get to the right answer, but I don’t understand well enough to explain it yet.</a:t>
                      </a:r>
                      <a:endParaRPr lang="x-none" sz="18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3500" marR="63500" marT="0" marB="137160">
                    <a:lnL>
                      <a:noFill/>
                    </a:lnL>
                    <a:lnR>
                      <a:noFill/>
                    </a:lnR>
                    <a:lnT>
                      <a:noFill/>
                    </a:lnT>
                    <a:lnB>
                      <a:noFill/>
                    </a:lnB>
                  </a:tcPr>
                </a:tc>
                <a:extLst>
                  <a:ext uri="{0D108BD9-81ED-4DB2-BD59-A6C34878D82A}">
                    <a16:rowId xmlns:a16="http://schemas.microsoft.com/office/drawing/2014/main" val="2113088897"/>
                  </a:ext>
                </a:extLst>
              </a:tr>
              <a:tr h="584200">
                <a:tc>
                  <a:txBody>
                    <a:bodyPr/>
                    <a:lstStyle/>
                    <a:p>
                      <a:endParaRPr lang="x-none" sz="1000">
                        <a:effectLst/>
                        <a:latin typeface="Cambria" panose="02040503050406030204" pitchFamily="18" charset="0"/>
                      </a:endParaRPr>
                    </a:p>
                  </a:txBody>
                  <a:tcPr marL="63500" marR="63500" marT="63500" marB="63500">
                    <a:lnL>
                      <a:noFill/>
                    </a:lnL>
                    <a:lnR>
                      <a:noFill/>
                    </a:lnR>
                    <a:lnT>
                      <a:noFill/>
                    </a:lnT>
                    <a:lnB>
                      <a:noFill/>
                    </a:lnB>
                  </a:tcPr>
                </a:tc>
                <a:tc>
                  <a:txBody>
                    <a:bodyPr/>
                    <a:lstStyle/>
                    <a:p>
                      <a:pPr marL="0" marR="0">
                        <a:spcBef>
                          <a:spcPts val="1200"/>
                        </a:spcBef>
                        <a:spcAft>
                          <a:spcPts val="1200"/>
                        </a:spcAft>
                      </a:pP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I understand some of this, but I don’t understand all of it yet.</a:t>
                      </a:r>
                      <a:endParaRPr lang="x-none" sz="18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3500" marR="63500" marT="0" marB="137160">
                    <a:lnL>
                      <a:noFill/>
                    </a:lnL>
                    <a:lnR>
                      <a:noFill/>
                    </a:lnR>
                    <a:lnT>
                      <a:noFill/>
                    </a:lnT>
                    <a:lnB>
                      <a:noFill/>
                    </a:lnB>
                  </a:tcPr>
                </a:tc>
                <a:extLst>
                  <a:ext uri="{0D108BD9-81ED-4DB2-BD59-A6C34878D82A}">
                    <a16:rowId xmlns:a16="http://schemas.microsoft.com/office/drawing/2014/main" val="1774481441"/>
                  </a:ext>
                </a:extLst>
              </a:tr>
              <a:tr h="755650">
                <a:tc>
                  <a:txBody>
                    <a:bodyPr/>
                    <a:lstStyle/>
                    <a:p>
                      <a:endParaRPr lang="x-none" sz="1000">
                        <a:effectLst/>
                        <a:latin typeface="Cambria" panose="02040503050406030204" pitchFamily="18" charset="0"/>
                      </a:endParaRPr>
                    </a:p>
                  </a:txBody>
                  <a:tcPr marL="63500" marR="63500" marT="63500" marB="63500">
                    <a:lnL>
                      <a:noFill/>
                    </a:lnL>
                    <a:lnR>
                      <a:noFill/>
                    </a:lnR>
                    <a:lnT>
                      <a:noFill/>
                    </a:lnT>
                    <a:lnB>
                      <a:noFill/>
                    </a:lnB>
                  </a:tcPr>
                </a:tc>
                <a:tc>
                  <a:txBody>
                    <a:bodyPr/>
                    <a:lstStyle/>
                    <a:p>
                      <a:pPr marL="0" marR="0">
                        <a:spcBef>
                          <a:spcPts val="1200"/>
                        </a:spcBef>
                        <a:spcAft>
                          <a:spcPts val="1200"/>
                        </a:spcAft>
                      </a:pP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I tried hard and I listened, but I am finding this challenging. I will make sure that I get help with this next lesson.</a:t>
                      </a:r>
                      <a:endParaRPr lang="x-none" sz="1800">
                        <a:effectLst/>
                        <a:latin typeface="Cambria" panose="02040503050406030204" pitchFamily="18" charset="0"/>
                        <a:ea typeface="Times New Roman" panose="02020603050405020304" pitchFamily="18" charset="0"/>
                        <a:cs typeface="Times New Roman" panose="02020603050405020304" pitchFamily="18" charset="0"/>
                      </a:endParaRPr>
                    </a:p>
                  </a:txBody>
                  <a:tcPr marL="63500" marR="63500" marT="0" marB="137160">
                    <a:lnL>
                      <a:noFill/>
                    </a:lnL>
                    <a:lnR>
                      <a:noFill/>
                    </a:lnR>
                    <a:lnT>
                      <a:noFill/>
                    </a:lnT>
                    <a:lnB>
                      <a:noFill/>
                    </a:lnB>
                  </a:tcPr>
                </a:tc>
                <a:extLst>
                  <a:ext uri="{0D108BD9-81ED-4DB2-BD59-A6C34878D82A}">
                    <a16:rowId xmlns:a16="http://schemas.microsoft.com/office/drawing/2014/main" val="3009947544"/>
                  </a:ext>
                </a:extLst>
              </a:tr>
              <a:tr h="584200">
                <a:tc>
                  <a:txBody>
                    <a:bodyPr/>
                    <a:lstStyle/>
                    <a:p>
                      <a:endParaRPr lang="x-none" sz="1000">
                        <a:effectLst/>
                        <a:latin typeface="Cambria" panose="02040503050406030204" pitchFamily="18" charset="0"/>
                      </a:endParaRPr>
                    </a:p>
                  </a:txBody>
                  <a:tcPr marL="63500" marR="63500" marT="63500" marB="63500">
                    <a:lnL>
                      <a:noFill/>
                    </a:lnL>
                    <a:lnR>
                      <a:noFill/>
                    </a:lnR>
                    <a:lnT>
                      <a:noFill/>
                    </a:lnT>
                    <a:lnB>
                      <a:noFill/>
                    </a:lnB>
                  </a:tcPr>
                </a:tc>
                <a:tc>
                  <a:txBody>
                    <a:bodyPr/>
                    <a:lstStyle/>
                    <a:p>
                      <a:pPr marL="0" marR="0">
                        <a:spcBef>
                          <a:spcPts val="1200"/>
                        </a:spcBef>
                        <a:spcAft>
                          <a:spcPts val="1200"/>
                        </a:spcAft>
                      </a:pPr>
                      <a:r>
                        <a:rPr lang="en-US"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I do not understand any of this yet. There are things I could do to be a better learner next lesson.</a:t>
                      </a:r>
                      <a:endParaRPr lang="x-none" sz="18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3500" marR="63500" marT="0" marB="137160">
                    <a:lnL>
                      <a:noFill/>
                    </a:lnL>
                    <a:lnR>
                      <a:noFill/>
                    </a:lnR>
                    <a:lnT>
                      <a:noFill/>
                    </a:lnT>
                    <a:lnB>
                      <a:noFill/>
                    </a:lnB>
                  </a:tcPr>
                </a:tc>
                <a:extLst>
                  <a:ext uri="{0D108BD9-81ED-4DB2-BD59-A6C34878D82A}">
                    <a16:rowId xmlns:a16="http://schemas.microsoft.com/office/drawing/2014/main" val="3264110767"/>
                  </a:ext>
                </a:extLst>
              </a:tr>
            </a:tbl>
          </a:graphicData>
        </a:graphic>
      </p:graphicFrame>
      <p:sp>
        <p:nvSpPr>
          <p:cNvPr id="10" name="Up Arrow 9">
            <a:extLst>
              <a:ext uri="{FF2B5EF4-FFF2-40B4-BE49-F238E27FC236}">
                <a16:creationId xmlns:a16="http://schemas.microsoft.com/office/drawing/2014/main" id="{10853B41-BFDE-8448-AA59-67A01D378C21}"/>
              </a:ext>
            </a:extLst>
          </p:cNvPr>
          <p:cNvSpPr/>
          <p:nvPr/>
        </p:nvSpPr>
        <p:spPr>
          <a:xfrm>
            <a:off x="3144756" y="2902673"/>
            <a:ext cx="899795" cy="3518024"/>
          </a:xfrm>
          <a:prstGeom prst="upArrow">
            <a:avLst/>
          </a:prstGeom>
          <a:noFill/>
          <a:ln w="666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3138</TotalTime>
  <Words>925</Words>
  <Application>Microsoft Macintosh PowerPoint</Application>
  <PresentationFormat>Widescreen</PresentationFormat>
  <Paragraphs>160</Paragraphs>
  <Slides>22</Slides>
  <Notes>21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Calibri</vt:lpstr>
      <vt:lpstr>Arial Black</vt:lpstr>
      <vt:lpstr>Cambria Math</vt:lpstr>
      <vt:lpstr>Wingdings</vt:lpstr>
      <vt:lpstr>Verdana</vt:lpstr>
      <vt:lpstr>Courier New</vt:lpstr>
      <vt:lpstr>Arial</vt:lpstr>
      <vt:lpstr>Cambria</vt:lpstr>
      <vt:lpstr>Century Gothic</vt:lpstr>
      <vt:lpstr>1_Office Theme</vt:lpstr>
      <vt:lpstr>8th Grade Math: Pre-Algebra  Unit 4, Lesson 3  Applying  Exponent Laws  Volume 1, pg. 134  </vt:lpstr>
      <vt:lpstr>Benchmark</vt:lpstr>
      <vt:lpstr>PowerPoint Presentation</vt:lpstr>
      <vt:lpstr>PowerPoint Presentation</vt:lpstr>
      <vt:lpstr>Warm-Up</vt:lpstr>
      <vt:lpstr>PowerPoint Presentation</vt:lpstr>
      <vt:lpstr>Collaboration</vt:lpstr>
      <vt:lpstr>PowerPoint Presentation</vt:lpstr>
      <vt:lpstr>PowerPoint Presentation</vt:lpstr>
      <vt:lpstr>PowerPoint Presentation</vt:lpstr>
      <vt:lpstr>Activity</vt:lpstr>
      <vt:lpstr>PowerPoint Presentation</vt:lpstr>
      <vt:lpstr>PowerPoint Presentation</vt:lpstr>
      <vt:lpstr>PowerPoint Presentation</vt:lpstr>
      <vt:lpstr>Collaboration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Diana Barnett</cp:lastModifiedBy>
  <cp:revision>38</cp:revision>
  <dcterms:created xsi:type="dcterms:W3CDTF">2015-03-17T18:51:18Z</dcterms:created>
  <dcterms:modified xsi:type="dcterms:W3CDTF">2023-02-06T19:05:13Z</dcterms:modified>
</cp:coreProperties>
</file>