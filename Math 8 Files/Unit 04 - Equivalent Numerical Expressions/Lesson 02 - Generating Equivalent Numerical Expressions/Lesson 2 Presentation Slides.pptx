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345" r:id="rId4"/>
    <p:sldId id="286" r:id="rId5"/>
    <p:sldId id="261" r:id="rId6"/>
    <p:sldId id="287" r:id="rId7"/>
    <p:sldId id="289" r:id="rId8"/>
    <p:sldId id="290" r:id="rId9"/>
    <p:sldId id="308" r:id="rId10"/>
    <p:sldId id="371" r:id="rId11"/>
    <p:sldId id="372" r:id="rId12"/>
    <p:sldId id="373" r:id="rId13"/>
    <p:sldId id="374" r:id="rId14"/>
    <p:sldId id="354" r:id="rId15"/>
    <p:sldId id="355" r:id="rId16"/>
    <p:sldId id="356" r:id="rId17"/>
    <p:sldId id="376" r:id="rId18"/>
    <p:sldId id="377" r:id="rId19"/>
    <p:sldId id="379" r:id="rId20"/>
    <p:sldId id="362" r:id="rId21"/>
    <p:sldId id="363" r:id="rId22"/>
    <p:sldId id="365" r:id="rId23"/>
    <p:sldId id="346" r:id="rId24"/>
    <p:sldId id="347" r:id="rId25"/>
    <p:sldId id="348"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p:restoredTop sz="94719"/>
  </p:normalViewPr>
  <p:slideViewPr>
    <p:cSldViewPr snapToGrid="0">
      <p:cViewPr varScale="1">
        <p:scale>
          <a:sx n="81" d="100"/>
          <a:sy n="81" d="100"/>
        </p:scale>
        <p:origin x="864" y="78"/>
      </p:cViewPr>
      <p:guideLst>
        <p:guide orient="horz" pos="2160"/>
        <p:guide pos="3840"/>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font" Target="fonts/font12.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56"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7098213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8480710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87824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28081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652588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909070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193343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7933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7933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2218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565265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503189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843412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4301181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4722354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0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9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0.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148509" y="2212771"/>
            <a:ext cx="5327904"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Generating Equivalent Numerical Expressions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129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237668"/>
            <a:ext cx="1119584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200" dirty="0">
                <a:latin typeface="Verdana" panose="020B0604030504040204" pitchFamily="34" charset="0"/>
                <a:ea typeface="Verdana" panose="020B0604030504040204" pitchFamily="34" charset="0"/>
                <a:cs typeface="Verdana" panose="020B0604030504040204" pitchFamily="34" charset="0"/>
              </a:rPr>
              <a:t>MA.8.NSO.1.3</a:t>
            </a:r>
          </a:p>
          <a:p>
            <a:pPr marL="552450" lvl="1" indent="0">
              <a:buNone/>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237331" y="-5450"/>
            <a:ext cx="1045531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730266" y="1455367"/>
            <a:ext cx="11098568"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129</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415374"/>
            <a:ext cx="1081646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generate equivalent numerical expressions for an expression with a rational base and integer exponent by applying the law of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180920"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53249"/>
            <a:ext cx="1038911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4.2.1 Warm-Up: Math Argument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730265" y="1272451"/>
                <a:ext cx="11001291" cy="313618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Without performing any calculations, circle the expression you think has the greater value.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60</m:t>
                          </m:r>
                        </m:e>
                        <m:sup>
                          <m:r>
                            <a:rPr lang="es-ES" sz="2400" i="1" dirty="0">
                              <a:latin typeface="Cambria Math" panose="02040503050406030204" pitchFamily="18" charset="0"/>
                              <a:ea typeface="Verdana" panose="020B0604030504040204" pitchFamily="34" charset="0"/>
                              <a:cs typeface="Verdana" panose="020B0604030504040204" pitchFamily="34" charset="0"/>
                            </a:rPr>
                            <m:t>63</m:t>
                          </m:r>
                        </m:sup>
                      </m:sSup>
                      <m:r>
                        <a:rPr lang="en-US" sz="2400" i="1" dirty="0">
                          <a:latin typeface="Cambria Math" panose="02040503050406030204" pitchFamily="18" charset="0"/>
                          <a:ea typeface="Verdana" panose="020B0604030504040204" pitchFamily="34" charset="0"/>
                          <a:cs typeface="Verdana" panose="020B0604030504040204" pitchFamily="34" charset="0"/>
                        </a:rPr>
                        <m:t> </m:t>
                      </m:r>
                      <m:r>
                        <a:rPr lang="es-ES" sz="2400" i="1" dirty="0">
                          <a:latin typeface="Cambria Math" panose="02040503050406030204" pitchFamily="18" charset="0"/>
                          <a:ea typeface="Verdana" panose="020B0604030504040204" pitchFamily="34" charset="0"/>
                          <a:cs typeface="Verdana" panose="020B0604030504040204" pitchFamily="34" charset="0"/>
                        </a:rPr>
                        <m:t>                                     </m:t>
                      </m:r>
                      <m:r>
                        <a:rPr lang="en-US" sz="2400" i="1" dirty="0">
                          <a:latin typeface="Cambria Math" panose="02040503050406030204" pitchFamily="18" charset="0"/>
                          <a:ea typeface="Verdana" panose="020B0604030504040204" pitchFamily="34" charset="0"/>
                          <a:cs typeface="Verdana" panose="020B0604030504040204" pitchFamily="34" charset="0"/>
                        </a:rPr>
                        <m:t>			</m:t>
                      </m:r>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r>
                            <a:rPr lang="es-ES" sz="2400" i="1" dirty="0">
                              <a:latin typeface="Cambria Math" panose="02040503050406030204" pitchFamily="18" charset="0"/>
                              <a:ea typeface="Verdana" panose="020B0604030504040204" pitchFamily="34" charset="0"/>
                              <a:cs typeface="Verdana" panose="020B0604030504040204" pitchFamily="34" charset="0"/>
                            </a:rPr>
                            <m:t>63</m:t>
                          </m:r>
                        </m:e>
                        <m:sup>
                          <m:r>
                            <a:rPr lang="es-ES" sz="2400" i="1" dirty="0">
                              <a:latin typeface="Cambria Math" panose="02040503050406030204" pitchFamily="18" charset="0"/>
                              <a:ea typeface="Verdana" panose="020B0604030504040204" pitchFamily="34" charset="0"/>
                              <a:cs typeface="Verdana" panose="020B0604030504040204" pitchFamily="34" charset="0"/>
                            </a:rPr>
                            <m:t>60</m:t>
                          </m:r>
                        </m:sup>
                      </m:sSup>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Justify why you selected that expression.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5" y="1272451"/>
                <a:ext cx="11001291" cy="3136180"/>
              </a:xfrm>
              <a:prstGeom prst="rect">
                <a:avLst/>
              </a:prstGeom>
              <a:blipFill>
                <a:blip r:embed="rId5"/>
                <a:stretch>
                  <a:fillRect l="-923" t="-1613" b="-403"/>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92232" y="2764152"/>
            <a:ext cx="791842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pic>
        <p:nvPicPr>
          <p:cNvPr id="7" name="image1.png" descr="Icon&#10;&#10;Description automatically generated">
            <a:extLst>
              <a:ext uri="{FF2B5EF4-FFF2-40B4-BE49-F238E27FC236}">
                <a16:creationId xmlns:a16="http://schemas.microsoft.com/office/drawing/2014/main" id="{1FDE3BB4-3568-2749-8696-3B1A7746CFDA}"/>
              </a:ext>
            </a:extLst>
          </p:cNvPr>
          <p:cNvPicPr/>
          <p:nvPr/>
        </p:nvPicPr>
        <p:blipFill>
          <a:blip r:embed="rId4"/>
          <a:srcRect/>
          <a:stretch>
            <a:fillRect/>
          </a:stretch>
        </p:blipFill>
        <p:spPr>
          <a:xfrm>
            <a:off x="3054096" y="2852928"/>
            <a:ext cx="1148148" cy="1148148"/>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3914" y="0"/>
            <a:ext cx="1108808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4.2.2 Guided Instruction: Rational Number Bases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265" y="1424566"/>
            <a:ext cx="7897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Consider the table shown. </a:t>
            </a:r>
          </a:p>
        </p:txBody>
      </p:sp>
      <p:pic>
        <p:nvPicPr>
          <p:cNvPr id="9" name="image1.png" descr="Icon&#10;&#10;Description automatically generated">
            <a:extLst>
              <a:ext uri="{FF2B5EF4-FFF2-40B4-BE49-F238E27FC236}">
                <a16:creationId xmlns:a16="http://schemas.microsoft.com/office/drawing/2014/main" id="{85096DCC-8120-ED4D-8FC2-2F95727A5302}"/>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299" cy="747299"/>
          </a:xfrm>
          <a:prstGeom prst="rect">
            <a:avLst/>
          </a:prstGeom>
          <a:ln/>
        </p:spPr>
      </p:pic>
      <p:pic>
        <p:nvPicPr>
          <p:cNvPr id="5" name="Picture 4" descr="Table&#10;&#10;Description automatically generated">
            <a:extLst>
              <a:ext uri="{FF2B5EF4-FFF2-40B4-BE49-F238E27FC236}">
                <a16:creationId xmlns:a16="http://schemas.microsoft.com/office/drawing/2014/main" id="{C993AFDF-0898-2C46-8149-EBE5F67ACD0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66154" y="1985098"/>
            <a:ext cx="7106162" cy="4041767"/>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371443" y="414623"/>
                <a:ext cx="11418480" cy="3600986"/>
              </a:xfrm>
              <a:prstGeom prst="rect">
                <a:avLst/>
              </a:prstGeom>
            </p:spPr>
            <p:txBody>
              <a:bodyPr wrap="square">
                <a:spAutoFit/>
              </a:bodyPr>
              <a:lstStyle/>
              <a:p>
                <a:pPr marL="457200"/>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 to describe the pattern in the table.</a:t>
                </a:r>
              </a:p>
              <a:p>
                <a:pPr marL="457200">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As the value of the exponent                       by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the column on the left, the equivalent expression in the column on the right can be found by                       the previous value by the </a:t>
                </a:r>
              </a:p>
              <a:p>
                <a:pPr marL="4572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371443" y="414623"/>
                <a:ext cx="11418480" cy="3600986"/>
              </a:xfrm>
              <a:prstGeom prst="rect">
                <a:avLst/>
              </a:prstGeom>
              <a:blipFill>
                <a:blip r:embed="rId4"/>
                <a:stretch>
                  <a:fillRect t="-1354"/>
                </a:stretch>
              </a:blipFill>
            </p:spPr>
            <p:txBody>
              <a:bodyPr/>
              <a:lstStyle/>
              <a:p>
                <a:r>
                  <a:rPr lang="en-US">
                    <a:noFill/>
                  </a:rPr>
                  <a:t> </a:t>
                </a:r>
              </a:p>
            </p:txBody>
          </p:sp>
        </mc:Fallback>
      </mc:AlternateContent>
      <p:pic>
        <p:nvPicPr>
          <p:cNvPr id="3" name="Picture 2" descr="A picture containing shape&#10;&#10;Description automatically generated">
            <a:extLst>
              <a:ext uri="{FF2B5EF4-FFF2-40B4-BE49-F238E27FC236}">
                <a16:creationId xmlns:a16="http://schemas.microsoft.com/office/drawing/2014/main" id="{1E4142CE-09E6-484C-A197-34FBFCBF6DA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455066" y="954453"/>
            <a:ext cx="2289230" cy="961127"/>
          </a:xfrm>
          <a:prstGeom prst="rect">
            <a:avLst/>
          </a:prstGeom>
        </p:spPr>
      </p:pic>
      <p:pic>
        <p:nvPicPr>
          <p:cNvPr id="7" name="Picture 6" descr="A picture containing text&#10;&#10;Description automatically generated">
            <a:extLst>
              <a:ext uri="{FF2B5EF4-FFF2-40B4-BE49-F238E27FC236}">
                <a16:creationId xmlns:a16="http://schemas.microsoft.com/office/drawing/2014/main" id="{273075CD-6495-284A-B71A-1E901F15AC4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371798" y="2768801"/>
            <a:ext cx="2289229" cy="961126"/>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1006D59C-7446-7345-B6D8-073505EFF5C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799056" y="2794949"/>
            <a:ext cx="2289229" cy="934978"/>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89B13CF-7799-4D4C-A21A-ADC21E179E83}"/>
                  </a:ext>
                </a:extLst>
              </p:cNvPr>
              <p:cNvSpPr/>
              <p:nvPr/>
            </p:nvSpPr>
            <p:spPr>
              <a:xfrm>
                <a:off x="769860" y="358959"/>
                <a:ext cx="11029791" cy="5545364"/>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Continuing the pattern, the next row in the table would begin with the expression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5</m:t>
                                </m:r>
                              </m:den>
                            </m:f>
                          </m:e>
                        </m:d>
                      </m:e>
                      <m:sup>
                        <m:r>
                          <a:rPr lang="es-ES" sz="2400" i="1" dirty="0">
                            <a:latin typeface="Cambria Math" panose="02040503050406030204" pitchFamily="18" charset="0"/>
                            <a:cs typeface="Times New Roman" panose="02020603050405020304" pitchFamily="18" charset="0"/>
                          </a:rPr>
                          <m:t>−1</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To continue the pattern, find the value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5</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Since dividing by a fraction is equivalent to multiplying by the fraction’s reciprocal, the result is as follows. </a:t>
                </a:r>
              </a:p>
              <a:p>
                <a:pPr algn="ctr">
                  <a:spcBef>
                    <a:spcPts val="1200"/>
                  </a:spcBef>
                  <a:spcAft>
                    <a:spcPts val="1200"/>
                  </a:spcAft>
                </a:pP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5</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 1∙</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2</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Since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5</m:t>
                                </m:r>
                              </m:den>
                            </m:f>
                          </m:e>
                        </m:d>
                      </m:e>
                      <m:sup>
                        <m:r>
                          <a:rPr lang="es-ES" sz="2400" i="1" dirty="0">
                            <a:latin typeface="Cambria Math" panose="02040503050406030204" pitchFamily="18" charset="0"/>
                            <a:cs typeface="Times New Roman" panose="02020603050405020304" pitchFamily="18" charset="0"/>
                          </a:rPr>
                          <m:t>−1</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the identity exponent law states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2</m:t>
                        </m:r>
                      </m:den>
                    </m:f>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2</m:t>
                                </m:r>
                              </m:den>
                            </m:f>
                          </m:e>
                        </m:d>
                      </m:e>
                      <m:sup>
                        <m:r>
                          <a:rPr lang="es-ES" sz="2400" i="1" dirty="0">
                            <a:latin typeface="Cambria Math" panose="02040503050406030204" pitchFamily="18" charset="0"/>
                            <a:cs typeface="Times New Roman" panose="02020603050405020304" pitchFamily="18" charset="0"/>
                          </a:rPr>
                          <m:t>1</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it can be concluded that</a:t>
                </a:r>
              </a:p>
              <a:p>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5</m:t>
                                </m:r>
                              </m:den>
                            </m:f>
                          </m:e>
                        </m:d>
                      </m:e>
                      <m:sup>
                        <m:r>
                          <a:rPr lang="es-ES" sz="2400" i="1" dirty="0">
                            <a:latin typeface="Cambria Math" panose="02040503050406030204" pitchFamily="18" charset="0"/>
                            <a:cs typeface="Times New Roman" panose="02020603050405020304" pitchFamily="18" charset="0"/>
                          </a:rPr>
                          <m:t>−1</m:t>
                        </m:r>
                      </m:sup>
                    </m:sSup>
                    <m:r>
                      <a:rPr lang="es-ES" sz="2400" i="1" dirty="0">
                        <a:latin typeface="Cambria Math" panose="020405030504060302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2</m:t>
                                </m:r>
                              </m:den>
                            </m:f>
                          </m:e>
                        </m:d>
                      </m:e>
                      <m:sup>
                        <m:r>
                          <a:rPr lang="es-ES" sz="2400" i="1" dirty="0">
                            <a:latin typeface="Cambria Math" panose="02040503050406030204" pitchFamily="18" charset="0"/>
                            <a:cs typeface="Times New Roman" panose="02020603050405020304" pitchFamily="18" charset="0"/>
                          </a:rPr>
                          <m:t>1</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769860" y="358959"/>
                <a:ext cx="11029791" cy="5545364"/>
              </a:xfrm>
              <a:prstGeom prst="rect">
                <a:avLst/>
              </a:prstGeom>
              <a:blipFill>
                <a:blip r:embed="rId4"/>
                <a:stretch>
                  <a:fillRect l="-805" t="-913" r="-1609"/>
                </a:stretch>
              </a:blipFill>
            </p:spPr>
            <p:txBody>
              <a:bodyPr/>
              <a:lstStyle/>
              <a:p>
                <a:r>
                  <a:rPr lang="en-US">
                    <a:noFill/>
                  </a:rPr>
                  <a:t> </a:t>
                </a:r>
              </a:p>
            </p:txBody>
          </p:sp>
        </mc:Fallback>
      </mc:AlternateContent>
    </p:spTree>
    <p:extLst>
      <p:ext uri="{BB962C8B-B14F-4D97-AF65-F5344CB8AC3E}">
        <p14:creationId xmlns:p14="http://schemas.microsoft.com/office/powerpoint/2010/main" val="1610181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546125" y="351670"/>
            <a:ext cx="7785057" cy="46166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Continue the pattern.</a:t>
            </a:r>
          </a:p>
        </p:txBody>
      </p:sp>
      <p:pic>
        <p:nvPicPr>
          <p:cNvPr id="3" name="Picture 2" descr="Table&#10;&#10;Description automatically generated">
            <a:extLst>
              <a:ext uri="{FF2B5EF4-FFF2-40B4-BE49-F238E27FC236}">
                <a16:creationId xmlns:a16="http://schemas.microsoft.com/office/drawing/2014/main" id="{958AEDDE-2BBF-8347-941F-A57925EC401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779440" y="1238765"/>
            <a:ext cx="6633120" cy="4002614"/>
          </a:xfrm>
          <a:prstGeom prst="rect">
            <a:avLst/>
          </a:prstGeom>
        </p:spPr>
      </p:pic>
    </p:spTree>
    <p:extLst>
      <p:ext uri="{BB962C8B-B14F-4D97-AF65-F5344CB8AC3E}">
        <p14:creationId xmlns:p14="http://schemas.microsoft.com/office/powerpoint/2010/main" val="2920394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13"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682311" y="410035"/>
                <a:ext cx="10747689" cy="4166718"/>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488950">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 rational base with a negative exponent,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𝑎</m:t>
                                </m:r>
                              </m:num>
                              <m:den>
                                <m:r>
                                  <a:rPr lang="es-ES" sz="2400" i="1" dirty="0">
                                    <a:latin typeface="Cambria Math" panose="02040503050406030204" pitchFamily="18" charset="0"/>
                                    <a:cs typeface="Times New Roman" panose="02020603050405020304" pitchFamily="18" charset="0"/>
                                  </a:rPr>
                                  <m:t>𝑏</m:t>
                                </m:r>
                              </m:den>
                            </m:f>
                          </m:e>
                        </m:d>
                      </m:e>
                      <m:sup>
                        <m:r>
                          <a:rPr lang="es-ES" sz="2400" i="1" dirty="0">
                            <a:latin typeface="Cambria Math" panose="02040503050406030204" pitchFamily="18" charset="0"/>
                            <a:cs typeface="Times New Roman" panose="02020603050405020304" pitchFamily="18" charset="0"/>
                          </a:rPr>
                          <m:t>−</m:t>
                        </m:r>
                        <m:r>
                          <a:rPr lang="es-ES" sz="2400" i="1" dirty="0">
                            <a:latin typeface="Cambria Math" panose="02040503050406030204" pitchFamily="18" charset="0"/>
                            <a:cs typeface="Times New Roman" panose="02020603050405020304" pitchFamily="18" charset="0"/>
                          </a:rPr>
                          <m:t>𝑚</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using the                    of the base with the    exponent.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682311" y="410035"/>
                <a:ext cx="10747689" cy="4166718"/>
              </a:xfrm>
              <a:prstGeom prst="rect">
                <a:avLst/>
              </a:prstGeom>
              <a:blipFill>
                <a:blip r:embed="rId4"/>
                <a:stretch>
                  <a:fillRect l="-908" t="-1170"/>
                </a:stretch>
              </a:blipFill>
            </p:spPr>
            <p:txBody>
              <a:bodyPr/>
              <a:lstStyle/>
              <a:p>
                <a:r>
                  <a:rPr lang="en-US">
                    <a:noFill/>
                  </a:rPr>
                  <a:t> </a:t>
                </a:r>
              </a:p>
            </p:txBody>
          </p:sp>
        </mc:Fallback>
      </mc:AlternateContent>
      <p:pic>
        <p:nvPicPr>
          <p:cNvPr id="5" name="Picture 4" descr="Shape&#10;&#10;Description automatically generated">
            <a:extLst>
              <a:ext uri="{FF2B5EF4-FFF2-40B4-BE49-F238E27FC236}">
                <a16:creationId xmlns:a16="http://schemas.microsoft.com/office/drawing/2014/main" id="{4D957F43-563A-8D41-AE0F-2379DD175A4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508343" y="2486893"/>
            <a:ext cx="2001346" cy="866307"/>
          </a:xfrm>
          <a:prstGeom prst="rect">
            <a:avLst/>
          </a:prstGeom>
        </p:spPr>
      </p:pic>
      <p:pic>
        <p:nvPicPr>
          <p:cNvPr id="9" name="Picture 8" descr="Shape&#10;&#10;Description automatically generated">
            <a:extLst>
              <a:ext uri="{FF2B5EF4-FFF2-40B4-BE49-F238E27FC236}">
                <a16:creationId xmlns:a16="http://schemas.microsoft.com/office/drawing/2014/main" id="{2BB8C9FB-ED46-274C-ADC8-285C3E26B6D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59658" y="2493394"/>
            <a:ext cx="2001346" cy="866307"/>
          </a:xfrm>
          <a:prstGeom prst="rect">
            <a:avLst/>
          </a:prstGeom>
        </p:spPr>
      </p:pic>
    </p:spTree>
    <p:extLst>
      <p:ext uri="{BB962C8B-B14F-4D97-AF65-F5344CB8AC3E}">
        <p14:creationId xmlns:p14="http://schemas.microsoft.com/office/powerpoint/2010/main" val="2554818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536397" y="410035"/>
                <a:ext cx="10864420" cy="5322611"/>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Rewrite each expression as an equivalent exponential expression with positive exponents.</a:t>
                </a:r>
              </a:p>
              <a:p>
                <a:pPr marL="914400" indent="-457200"/>
                <a:endParaRPr lang="en-PH"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4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3</m:t>
                                </m:r>
                              </m:den>
                            </m:f>
                          </m:e>
                        </m:d>
                      </m:e>
                      <m:sup>
                        <m:r>
                          <a:rPr lang="es-ES" sz="2400" i="1" dirty="0">
                            <a:latin typeface="Cambria Math" panose="02040503050406030204" pitchFamily="18" charset="0"/>
                            <a:cs typeface="Times New Roman" panose="02020603050405020304" pitchFamily="18" charset="0"/>
                          </a:rPr>
                          <m:t>−4</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spcBef>
                    <a:spcPts val="4200"/>
                  </a:spcBef>
                </a:pPr>
                <a:r>
                  <a:rPr lang="en-PH" sz="2400" dirty="0">
                    <a:latin typeface="Verdana" pitchFamily="34" charset="0"/>
                    <a:ea typeface="Verdana" pitchFamily="34" charset="0"/>
                    <a:cs typeface="Times New Roman" panose="02020603050405020304" pitchFamily="18" charset="0"/>
                  </a:rPr>
                  <a:t>b.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m:t>
                                </m:r>
                              </m:num>
                              <m:den>
                                <m:r>
                                  <a:rPr lang="es-ES" sz="2400" i="1" dirty="0">
                                    <a:latin typeface="Cambria Math" panose="02040503050406030204" pitchFamily="18" charset="0"/>
                                    <a:cs typeface="Times New Roman" panose="02020603050405020304" pitchFamily="18" charset="0"/>
                                  </a:rPr>
                                  <m:t>−5</m:t>
                                </m:r>
                              </m:den>
                            </m:f>
                          </m:e>
                        </m:d>
                      </m:e>
                      <m:sup>
                        <m:r>
                          <a:rPr lang="es-ES" sz="2400" i="1" dirty="0">
                            <a:latin typeface="Cambria Math" panose="02040503050406030204" pitchFamily="18" charset="0"/>
                            <a:cs typeface="Times New Roman" panose="02020603050405020304" pitchFamily="18" charset="0"/>
                          </a:rPr>
                          <m:t>−9</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spcBef>
                    <a:spcPts val="4200"/>
                  </a:spcBef>
                </a:pPr>
                <a:r>
                  <a:rPr lang="en-PH" sz="24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r>
                              <a:rPr lang="es-ES" sz="2400" i="1" dirty="0">
                                <a:latin typeface="Cambria Math" panose="02040503050406030204" pitchFamily="18" charset="0"/>
                                <a:cs typeface="Times New Roman" panose="02020603050405020304" pitchFamily="18" charset="0"/>
                              </a:rPr>
                              <m:t>−</m:t>
                            </m:r>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8</m:t>
                                </m:r>
                              </m:num>
                              <m:den>
                                <m:r>
                                  <a:rPr lang="es-ES" sz="2400" i="1" dirty="0">
                                    <a:latin typeface="Cambria Math" panose="02040503050406030204" pitchFamily="18" charset="0"/>
                                    <a:cs typeface="Times New Roman" panose="02020603050405020304" pitchFamily="18" charset="0"/>
                                  </a:rPr>
                                  <m:t>9</m:t>
                                </m:r>
                              </m:den>
                            </m:f>
                          </m:e>
                        </m:d>
                      </m:e>
                      <m:sup>
                        <m:r>
                          <a:rPr lang="es-ES" sz="2400" i="1" dirty="0">
                            <a:latin typeface="Cambria Math" panose="02040503050406030204" pitchFamily="18" charset="0"/>
                            <a:cs typeface="Times New Roman" panose="02020603050405020304" pitchFamily="18" charset="0"/>
                          </a:rPr>
                          <m:t>−2</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spcBef>
                    <a:spcPts val="4200"/>
                  </a:spcBef>
                </a:pPr>
                <a:r>
                  <a:rPr lang="en-PH" sz="2400" dirty="0">
                    <a:latin typeface="Verdana" panose="020B0604030504040204" pitchFamily="34" charset="0"/>
                    <a:ea typeface="Verdana" panose="020B0604030504040204" pitchFamily="34" charset="0"/>
                    <a:cs typeface="Verdana" panose="020B0604030504040204" pitchFamily="34" charset="0"/>
                  </a:rPr>
                  <a:t>d.	</a:t>
                </a:r>
                <a:r>
                  <a:rPr lang="en-US" sz="2400" dirty="0">
                    <a:cs typeface="Times New Roman" panose="02020603050405020304" pitchFamily="18" charset="0"/>
                  </a:rPr>
                  <a:t>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21</m:t>
                                </m:r>
                              </m:num>
                              <m:den>
                                <m:r>
                                  <a:rPr lang="es-ES" sz="2400" i="1" dirty="0">
                                    <a:latin typeface="Cambria Math" panose="02040503050406030204" pitchFamily="18" charset="0"/>
                                    <a:cs typeface="Times New Roman" panose="02020603050405020304" pitchFamily="18" charset="0"/>
                                  </a:rPr>
                                  <m:t>4</m:t>
                                </m:r>
                              </m:den>
                            </m:f>
                          </m:e>
                        </m:d>
                      </m:e>
                      <m:sup>
                        <m:r>
                          <a:rPr lang="es-ES" sz="2400" i="1" dirty="0">
                            <a:latin typeface="Cambria Math" panose="02040503050406030204" pitchFamily="18" charset="0"/>
                            <a:cs typeface="Times New Roman" panose="02020603050405020304" pitchFamily="18" charset="0"/>
                          </a:rPr>
                          <m:t>−5</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536397" y="410035"/>
                <a:ext cx="10864420" cy="5322611"/>
              </a:xfrm>
              <a:prstGeom prst="rect">
                <a:avLst/>
              </a:prstGeom>
              <a:blipFill>
                <a:blip r:embed="rId4"/>
                <a:stretch>
                  <a:fillRect l="-898" t="-916"/>
                </a:stretch>
              </a:blipFill>
            </p:spPr>
            <p:txBody>
              <a:bodyPr/>
              <a:lstStyle/>
              <a:p>
                <a:r>
                  <a:rPr lang="en-US">
                    <a:noFill/>
                  </a:rPr>
                  <a:t> </a:t>
                </a:r>
              </a:p>
            </p:txBody>
          </p:sp>
        </mc:Fallback>
      </mc:AlternateContent>
    </p:spTree>
    <p:extLst>
      <p:ext uri="{BB962C8B-B14F-4D97-AF65-F5344CB8AC3E}">
        <p14:creationId xmlns:p14="http://schemas.microsoft.com/office/powerpoint/2010/main" val="313247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524884" y="2766145"/>
            <a:ext cx="8021847"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pic>
        <p:nvPicPr>
          <p:cNvPr id="9" name="image9.png" descr="Icon&#10;&#10;Description automatically generated">
            <a:extLst>
              <a:ext uri="{FF2B5EF4-FFF2-40B4-BE49-F238E27FC236}">
                <a16:creationId xmlns:a16="http://schemas.microsoft.com/office/drawing/2014/main" id="{A0AA6A5A-24D8-EB4E-9410-D27842550BC8}"/>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462" y="90057"/>
            <a:ext cx="1084429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4.2.3 Guided Practice: Applying Multiple Exponent Laws to Expressions with Rational Bases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1" y="1585107"/>
                <a:ext cx="11224963" cy="186692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ts val="1200"/>
                  </a:spcAft>
                  <a:buClrTx/>
                  <a:buFont typeface="+mj-lt"/>
                  <a:buAutoNum type="arabicPeriod"/>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The table shows equivalent forms of the exponential expression </a:t>
                </a:r>
                <a14:m>
                  <m:oMath xmlns:m="http://schemas.openxmlformats.org/officeDocument/2006/math">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4</m:t>
                                </m:r>
                              </m:num>
                              <m:den>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5</m:t>
                                </m:r>
                              </m:den>
                            </m:f>
                          </m:e>
                        </m:d>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4</m:t>
                        </m:r>
                      </m:sup>
                    </m:sSup>
                    <m: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m:t>
                    </m:r>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4</m:t>
                                </m:r>
                              </m:num>
                              <m:den>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5</m:t>
                                </m:r>
                              </m:den>
                            </m:f>
                          </m:e>
                        </m:d>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oMath>
                </a14:m>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t>
                </a:r>
              </a:p>
              <a:p>
                <a:pPr marL="809625" indent="-350838"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Complete the table to find the value of </a:t>
                </a:r>
                <a14:m>
                  <m:oMath xmlns:m="http://schemas.openxmlformats.org/officeDocument/2006/math">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4</m:t>
                                </m:r>
                              </m:num>
                              <m:den>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5</m:t>
                                </m:r>
                              </m:den>
                            </m:f>
                          </m:e>
                        </m:d>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4</m:t>
                        </m:r>
                      </m:sup>
                    </m:sSup>
                    <m: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m:t>
                    </m:r>
                    <m:sSup>
                      <m:sSup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sSupPr>
                      <m:e>
                        <m:d>
                          <m:d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dPr>
                          <m:e>
                            <m:f>
                              <m:fPr>
                                <m:ctrlPr>
                                  <a:rPr lang="en-U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ctrlPr>
                              </m:fPr>
                              <m:num>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4</m:t>
                                </m:r>
                              </m:num>
                              <m:den>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5</m:t>
                                </m:r>
                              </m:den>
                            </m:f>
                          </m:e>
                        </m:d>
                      </m:e>
                      <m:sup>
                        <m:r>
                          <a:rPr lang="es-ES" altLang="en-US" sz="2400" i="1" dirty="0">
                            <a:solidFill>
                              <a:schemeClr val="tx1"/>
                            </a:solidFill>
                            <a:latin typeface="Cambria Math" panose="02040503050406030204" pitchFamily="18" charset="0"/>
                            <a:ea typeface="Verdana" panose="020B0604030504040204" pitchFamily="34" charset="0"/>
                            <a:cs typeface="Verdana" panose="020B0604030504040204" pitchFamily="34" charset="0"/>
                          </a:rPr>
                          <m:t>−3</m:t>
                        </m:r>
                      </m:sup>
                    </m:sSup>
                  </m:oMath>
                </a14:m>
                <a:r>
                  <a:rPr lang="en-US" altLang="en-US" sz="2400" dirty="0">
                    <a:solidFill>
                      <a:schemeClr val="tx1"/>
                    </a:solidFill>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1" y="1585107"/>
                <a:ext cx="11224963" cy="1866921"/>
              </a:xfrm>
              <a:prstGeom prst="rect">
                <a:avLst/>
              </a:prstGeom>
              <a:blipFill>
                <a:blip r:embed="rId4"/>
                <a:stretch>
                  <a:fillRect l="-869" t="-2614" b="-9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5" name="image9.png" descr="Icon&#10;&#10;Description automatically generated">
            <a:extLst>
              <a:ext uri="{FF2B5EF4-FFF2-40B4-BE49-F238E27FC236}">
                <a16:creationId xmlns:a16="http://schemas.microsoft.com/office/drawing/2014/main" id="{6DB42D22-D0CA-A94B-B8FC-CBBCE2DD3A9B}"/>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430" cy="747430"/>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F927FE71-817B-444B-A226-5B46B4907C4F}"/>
                  </a:ext>
                </a:extLst>
              </p:cNvPr>
              <p:cNvGraphicFramePr>
                <a:graphicFrameLocks noGrp="1"/>
              </p:cNvGraphicFramePr>
              <p:nvPr>
                <p:extLst>
                  <p:ext uri="{D42A27DB-BD31-4B8C-83A1-F6EECF244321}">
                    <p14:modId xmlns:p14="http://schemas.microsoft.com/office/powerpoint/2010/main" val="670541273"/>
                  </p:ext>
                </p:extLst>
              </p:nvPr>
            </p:nvGraphicFramePr>
            <p:xfrm>
              <a:off x="2438400" y="3708060"/>
              <a:ext cx="7315200" cy="1848104"/>
            </p:xfrm>
            <a:graphic>
              <a:graphicData uri="http://schemas.openxmlformats.org/drawingml/2006/table">
                <a:tbl>
                  <a:tblPr firstRow="1" firstCol="1" bandRow="1"/>
                  <a:tblGrid>
                    <a:gridCol w="1920240">
                      <a:extLst>
                        <a:ext uri="{9D8B030D-6E8A-4147-A177-3AD203B41FA5}">
                          <a16:colId xmlns:a16="http://schemas.microsoft.com/office/drawing/2014/main" val="3548717349"/>
                        </a:ext>
                      </a:extLst>
                    </a:gridCol>
                    <a:gridCol w="2377440">
                      <a:extLst>
                        <a:ext uri="{9D8B030D-6E8A-4147-A177-3AD203B41FA5}">
                          <a16:colId xmlns:a16="http://schemas.microsoft.com/office/drawing/2014/main" val="1582685601"/>
                        </a:ext>
                      </a:extLst>
                    </a:gridCol>
                    <a:gridCol w="2011680">
                      <a:extLst>
                        <a:ext uri="{9D8B030D-6E8A-4147-A177-3AD203B41FA5}">
                          <a16:colId xmlns:a16="http://schemas.microsoft.com/office/drawing/2014/main" val="2730440776"/>
                        </a:ext>
                      </a:extLst>
                    </a:gridCol>
                    <a:gridCol w="1005840">
                      <a:extLst>
                        <a:ext uri="{9D8B030D-6E8A-4147-A177-3AD203B41FA5}">
                          <a16:colId xmlns:a16="http://schemas.microsoft.com/office/drawing/2014/main" val="3855695929"/>
                        </a:ext>
                      </a:extLst>
                    </a:gridCol>
                  </a:tblGrid>
                  <a:tr h="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Expanded Form</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23658460"/>
                      </a:ext>
                    </a:extLst>
                  </a:tr>
                  <a:tr h="914400">
                    <a:tc>
                      <a:txBody>
                        <a:bodyPr/>
                        <a:lstStyle/>
                        <a:p>
                          <a:pPr marL="0" marR="0" algn="ctr">
                            <a:spcBef>
                              <a:spcPts val="0"/>
                            </a:spcBef>
                            <a:spcAft>
                              <a:spcPts val="0"/>
                            </a:spcAft>
                          </a:pPr>
                          <a14:m>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sup>
                              </m:s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−3</m:t>
                                  </m:r>
                                </m:sup>
                              </m:sSup>
                            </m:oMath>
                          </a14:m>
                          <a:r>
                            <a:rPr lang="en-US" sz="2000" dirty="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3</m:t>
                                  </m:r>
                                </m:sup>
                              </m:sSup>
                            </m:oMath>
                          </a14:m>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5</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5</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5</m:t>
                                  </m:r>
                                </m:num>
                                <m:den>
                                  <m:r>
                                    <a:rPr lang="en-US" sz="2000" i="1">
                                      <a:effectLst/>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8746725"/>
                      </a:ext>
                    </a:extLst>
                  </a:tr>
                </a:tbl>
              </a:graphicData>
            </a:graphic>
          </p:graphicFrame>
        </mc:Choice>
        <mc:Fallback>
          <p:graphicFrame>
            <p:nvGraphicFramePr>
              <p:cNvPr id="3" name="Table 2">
                <a:extLst>
                  <a:ext uri="{FF2B5EF4-FFF2-40B4-BE49-F238E27FC236}">
                    <a16:creationId xmlns:a16="http://schemas.microsoft.com/office/drawing/2014/main" id="{F927FE71-817B-444B-A226-5B46B4907C4F}"/>
                  </a:ext>
                </a:extLst>
              </p:cNvPr>
              <p:cNvGraphicFramePr>
                <a:graphicFrameLocks noGrp="1"/>
              </p:cNvGraphicFramePr>
              <p:nvPr>
                <p:extLst>
                  <p:ext uri="{D42A27DB-BD31-4B8C-83A1-F6EECF244321}">
                    <p14:modId xmlns:p14="http://schemas.microsoft.com/office/powerpoint/2010/main" val="670541273"/>
                  </p:ext>
                </p:extLst>
              </p:nvPr>
            </p:nvGraphicFramePr>
            <p:xfrm>
              <a:off x="2438400" y="3708060"/>
              <a:ext cx="7315200" cy="1848104"/>
            </p:xfrm>
            <a:graphic>
              <a:graphicData uri="http://schemas.openxmlformats.org/drawingml/2006/table">
                <a:tbl>
                  <a:tblPr firstRow="1" firstCol="1" bandRow="1"/>
                  <a:tblGrid>
                    <a:gridCol w="1920240">
                      <a:extLst>
                        <a:ext uri="{9D8B030D-6E8A-4147-A177-3AD203B41FA5}">
                          <a16:colId xmlns:a16="http://schemas.microsoft.com/office/drawing/2014/main" val="3548717349"/>
                        </a:ext>
                      </a:extLst>
                    </a:gridCol>
                    <a:gridCol w="2377440">
                      <a:extLst>
                        <a:ext uri="{9D8B030D-6E8A-4147-A177-3AD203B41FA5}">
                          <a16:colId xmlns:a16="http://schemas.microsoft.com/office/drawing/2014/main" val="1582685601"/>
                        </a:ext>
                      </a:extLst>
                    </a:gridCol>
                    <a:gridCol w="2011680">
                      <a:extLst>
                        <a:ext uri="{9D8B030D-6E8A-4147-A177-3AD203B41FA5}">
                          <a16:colId xmlns:a16="http://schemas.microsoft.com/office/drawing/2014/main" val="2730440776"/>
                        </a:ext>
                      </a:extLst>
                    </a:gridCol>
                    <a:gridCol w="1005840">
                      <a:extLst>
                        <a:ext uri="{9D8B030D-6E8A-4147-A177-3AD203B41FA5}">
                          <a16:colId xmlns:a16="http://schemas.microsoft.com/office/drawing/2014/main" val="3855695929"/>
                        </a:ext>
                      </a:extLst>
                    </a:gridCol>
                  </a:tblGrid>
                  <a:tr h="7924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Apply Negative Exponent Law</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Expanded Form</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Value</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23658460"/>
                      </a:ext>
                    </a:extLst>
                  </a:tr>
                  <a:tr h="1055624">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35" t="-75287" r="-281905" b="-1149"/>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81282" t="-75287" r="-127692" b="-1149"/>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14242" t="-75287" r="-50909" b="-114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8746725"/>
                      </a:ext>
                    </a:extLst>
                  </a:tr>
                </a:tbl>
              </a:graphicData>
            </a:graphic>
          </p:graphicFrame>
        </mc:Fallback>
      </mc:AlternateContent>
    </p:spTree>
    <p:extLst>
      <p:ext uri="{BB962C8B-B14F-4D97-AF65-F5344CB8AC3E}">
        <p14:creationId xmlns:p14="http://schemas.microsoft.com/office/powerpoint/2010/main" val="86611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111599" y="516898"/>
            <a:ext cx="11454587" cy="830997"/>
          </a:xfrm>
          <a:prstGeom prst="rect">
            <a:avLst/>
          </a:prstGeom>
        </p:spPr>
        <p:txBody>
          <a:bodyPr wrap="square">
            <a:spAutoFit/>
          </a:bodyPr>
          <a:lstStyle/>
          <a:p>
            <a:pPr marL="137795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how you used the expanded form of the expression to determine the value.</a:t>
            </a:r>
          </a:p>
        </p:txBody>
      </p:sp>
    </p:spTree>
    <p:extLst>
      <p:ext uri="{BB962C8B-B14F-4D97-AF65-F5344CB8AC3E}">
        <p14:creationId xmlns:p14="http://schemas.microsoft.com/office/powerpoint/2010/main" val="1681844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889B13CF-7799-4D4C-A21A-ADC21E179E83}"/>
              </a:ext>
            </a:extLst>
          </p:cNvPr>
          <p:cNvSpPr/>
          <p:nvPr/>
        </p:nvSpPr>
        <p:spPr>
          <a:xfrm>
            <a:off x="506400" y="500003"/>
            <a:ext cx="11273795" cy="2462213"/>
          </a:xfrm>
          <a:prstGeom prst="rect">
            <a:avLst/>
          </a:prstGeom>
        </p:spPr>
        <p:txBody>
          <a:bodyPr wrap="square">
            <a:spAutoFit/>
          </a:bodyPr>
          <a:lstStyle/>
          <a:p>
            <a:pPr>
              <a:spcAft>
                <a:spcPts val="1200"/>
              </a:spcAft>
            </a:pPr>
            <a:r>
              <a:rPr lang="en-US" sz="2400" dirty="0">
                <a:latin typeface="Verdana" panose="020B0604030504040204" pitchFamily="34" charset="0"/>
                <a:ea typeface="Verdana" panose="020B0604030504040204" pitchFamily="34" charset="0"/>
                <a:cs typeface="Verdana" panose="020B0604030504040204" pitchFamily="34" charset="0"/>
              </a:rPr>
              <a:t>Multiple exponent laws can be applied to write equivalent forms of exponential expressions and to evaluate them.</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For each expression, apply one or more exponent laws to rewrite as an equivalent expression with a rational base and positive exponent. Check off the exponent law(s) you applied to generate the expression. Show your work.</a:t>
            </a: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921293764"/>
                  </p:ext>
                </p:extLst>
              </p:nvPr>
            </p:nvGraphicFramePr>
            <p:xfrm>
              <a:off x="2301240" y="3249037"/>
              <a:ext cx="7589520" cy="3108960"/>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 with a Rational Base and Positive Exponent</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marL="0" marR="0" algn="ctr">
                            <a:spcBef>
                              <a:spcPts val="0"/>
                            </a:spcBef>
                            <a:spcAft>
                              <a:spcPts val="0"/>
                            </a:spcAft>
                          </a:pPr>
                          <a14:m>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sup>
                              </m:s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−3</m:t>
                                  </m:r>
                                </m:sup>
                              </m:sSup>
                            </m:oMath>
                          </a14:m>
                          <a:r>
                            <a:rPr lang="en-US" sz="2000">
                              <a:solidFill>
                                <a:srgbClr val="000000"/>
                              </a:solidFill>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921293764"/>
                  </p:ext>
                </p:extLst>
              </p:nvPr>
            </p:nvGraphicFramePr>
            <p:xfrm>
              <a:off x="2301240" y="3249037"/>
              <a:ext cx="7589520" cy="3108960"/>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14020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dirty="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 with a Rational Base and Positive Exponent</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06880">
                    <a:tc>
                      <a:txBody>
                        <a:bodyPr/>
                        <a:lstStyle/>
                        <a:p>
                          <a:endParaRPr lang="en-US"/>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33" t="-82206" r="-316000" b="-3559"/>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2004429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677222803"/>
                  </p:ext>
                </p:extLst>
              </p:nvPr>
            </p:nvGraphicFramePr>
            <p:xfrm>
              <a:off x="2631980" y="565536"/>
              <a:ext cx="7589520" cy="4815840"/>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 with a Rational Base and Positive Exponent</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sSup>
                                <m:sSupPr>
                                  <m:ctrlPr>
                                    <a:rPr kumimoji="0" lang="x-none" sz="2000" b="0" i="1" u="none" strike="noStrike" kern="0" cap="none" spc="0" normalizeH="0" baseline="0" noProof="0" smtClean="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ctrlPr>
                                </m:sSupPr>
                                <m:e>
                                  <m:d>
                                    <m:d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ctrlPr>
                                    </m:dPr>
                                    <m:e>
                                      <m:f>
                                        <m:f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ctrlPr>
                                        </m:fPr>
                                        <m:num>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11</m:t>
                                          </m:r>
                                        </m:num>
                                        <m:den>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3</m:t>
                                          </m:r>
                                        </m:den>
                                      </m:f>
                                    </m:e>
                                  </m:d>
                                </m:e>
                                <m: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−5</m:t>
                                  </m:r>
                                </m:sup>
                              </m:s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m:t>
                              </m:r>
                              <m:sSup>
                                <m:sSup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ctrlPr>
                                </m:sSupPr>
                                <m:e>
                                  <m:d>
                                    <m:d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ctrlPr>
                                    </m:dPr>
                                    <m:e>
                                      <m:f>
                                        <m:f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ctrlPr>
                                        </m:fPr>
                                        <m:num>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11</m:t>
                                          </m:r>
                                        </m:num>
                                        <m:den>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3</m:t>
                                          </m:r>
                                        </m:den>
                                      </m:f>
                                    </m:e>
                                  </m:d>
                                </m:e>
                                <m: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Times New Roman" panose="02020603050405020304" pitchFamily="18" charset="0"/>
                                      <a:cs typeface="Arial" panose="020B0604020202020204" pitchFamily="34" charset="0"/>
                                      <a:sym typeface="Arial"/>
                                    </a:rPr>
                                    <m:t>2</m:t>
                                  </m:r>
                                </m:sup>
                              </m:sSup>
                            </m:oMath>
                          </a14:m>
                          <a:r>
                            <a:rPr kumimoji="0" lang="en-US" sz="2000" b="0" i="0" u="none" strike="noStrike" kern="0" cap="none" spc="0" normalizeH="0" baseline="0" noProof="0" dirty="0">
                              <a:ln>
                                <a:noFill/>
                              </a:ln>
                              <a:solidFill>
                                <a:srgbClr val="000000"/>
                              </a:solidFill>
                              <a:effectLst/>
                              <a:uLnTx/>
                              <a:uFillTx/>
                              <a:latin typeface="Verdana" panose="020B0604030504040204" pitchFamily="34" charset="0"/>
                              <a:ea typeface="Verdana" pitchFamily="34" charset="0"/>
                              <a:cs typeface="Times New Roman" panose="02020603050405020304" pitchFamily="18" charset="0"/>
                              <a:sym typeface="Arial"/>
                            </a:rPr>
                            <a:t> </a:t>
                          </a: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sSup>
                                <m:sSupPr>
                                  <m:ctrlPr>
                                    <a:rPr lang="x-none" sz="2000" i="1"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4</m:t>
                                                  </m:r>
                                                </m:den>
                                              </m:f>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sup>
                                      </m:sSup>
                                    </m:e>
                                  </m:d>
                                </m:e>
                                <m:sup>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−5</m:t>
                                  </m:r>
                                </m:sup>
                              </m:sSup>
                            </m:oMath>
                          </a14:m>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x-none" sz="2000" b="0" i="0" u="none" strike="noStrike" kern="0" cap="none" spc="0" normalizeH="0" baseline="0" noProof="0">
                            <a:ln>
                              <a:noFill/>
                            </a:ln>
                            <a:solidFill>
                              <a:srgbClr val="000000"/>
                            </a:solidFill>
                            <a:effectLst/>
                            <a:uLnTx/>
                            <a:uFillTx/>
                            <a:latin typeface="Verdana" pitchFamily="34" charset="0"/>
                            <a:ea typeface="Verdana" pitchFamily="34" charset="0"/>
                            <a:cs typeface="Times New Roman" panose="02020603050405020304" pitchFamily="18" charset="0"/>
                            <a:sym typeface="Arial"/>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677222803"/>
                  </p:ext>
                </p:extLst>
              </p:nvPr>
            </p:nvGraphicFramePr>
            <p:xfrm>
              <a:off x="2631980" y="565536"/>
              <a:ext cx="7589520" cy="4815840"/>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14020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 with a Rational Base and Positive Exponent</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06880">
                    <a:tc>
                      <a:txBody>
                        <a:bodyPr/>
                        <a:lstStyle/>
                        <a:p>
                          <a:endParaRPr lang="en-US"/>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83582" r="-315972" b="-104478"/>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06880">
                    <a:tc>
                      <a:txBody>
                        <a:bodyPr/>
                        <a:lstStyle/>
                        <a:p>
                          <a:endParaRPr lang="en-US"/>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182222" r="-315972" b="-370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2882437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47745367"/>
                  </p:ext>
                </p:extLst>
              </p:nvPr>
            </p:nvGraphicFramePr>
            <p:xfrm>
              <a:off x="2597488" y="468258"/>
              <a:ext cx="7589520" cy="3108960"/>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 with a Rational Base and Positive Exponent</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sSup>
                                <m:sSupPr>
                                  <m:ctrlPr>
                                    <a:rPr lang="x-none" sz="2000" i="1" smtClean="0">
                                      <a:effectLst/>
                                      <a:latin typeface="Cambria Math" panose="02040503050406030204" pitchFamily="18" charset="0"/>
                                      <a:ea typeface="Verdana" panose="020B0604030504040204" pitchFamily="34" charset="0"/>
                                      <a:cs typeface="Verdana" panose="020B0604030504040204" pitchFamily="34" charset="0"/>
                                    </a:rPr>
                                  </m:ctrlPr>
                                </m:sSupPr>
                                <m:e>
                                  <m:d>
                                    <m: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dPr>
                                    <m:e>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2</m:t>
                                          </m:r>
                                        </m:num>
                                        <m:den>
                                          <m:r>
                                            <a:rPr lang="en-US" sz="2000" i="1">
                                              <a:effectLst/>
                                              <a:latin typeface="Cambria Math" panose="02040503050406030204" pitchFamily="18" charset="0"/>
                                              <a:ea typeface="Verdana" panose="020B0604030504040204" pitchFamily="34" charset="0"/>
                                              <a:cs typeface="Verdana" panose="020B0604030504040204" pitchFamily="34" charset="0"/>
                                            </a:rPr>
                                            <m:t>3</m:t>
                                          </m:r>
                                        </m:den>
                                      </m:f>
                                      <m:r>
                                        <a:rPr lang="en-US" sz="2000" i="1">
                                          <a:effectLst/>
                                          <a:latin typeface="Cambria Math" panose="02040503050406030204" pitchFamily="18" charset="0"/>
                                          <a:ea typeface="Verdana" panose="020B0604030504040204" pitchFamily="34" charset="0"/>
                                          <a:cs typeface="Verdana" panose="020B0604030504040204" pitchFamily="34" charset="0"/>
                                        </a:rPr>
                                        <m:t>∙</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4</m:t>
                                          </m:r>
                                        </m:num>
                                        <m:den>
                                          <m:r>
                                            <a:rPr lang="en-US" sz="2000" i="1">
                                              <a:effectLst/>
                                              <a:latin typeface="Cambria Math" panose="02040503050406030204" pitchFamily="18" charset="0"/>
                                              <a:ea typeface="Verdana" panose="020B0604030504040204" pitchFamily="34" charset="0"/>
                                              <a:cs typeface="Verdana" panose="020B0604030504040204" pitchFamily="34" charset="0"/>
                                            </a:rPr>
                                            <m:t>5</m:t>
                                          </m:r>
                                        </m:den>
                                      </m:f>
                                    </m:e>
                                  </m:d>
                                </m:e>
                                <m:sup>
                                  <m:r>
                                    <a:rPr lang="en-US" sz="2000" i="1">
                                      <a:effectLst/>
                                      <a:latin typeface="Cambria Math" panose="02040503050406030204" pitchFamily="18" charset="0"/>
                                      <a:ea typeface="Verdana" panose="020B0604030504040204" pitchFamily="34" charset="0"/>
                                      <a:cs typeface="Verdana" panose="020B0604030504040204" pitchFamily="34" charset="0"/>
                                    </a:rPr>
                                    <m:t>−4</m:t>
                                  </m:r>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dirty="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dirty="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47745367"/>
                  </p:ext>
                </p:extLst>
              </p:nvPr>
            </p:nvGraphicFramePr>
            <p:xfrm>
              <a:off x="2597488" y="468258"/>
              <a:ext cx="7589520" cy="3108960"/>
            </p:xfrm>
            <a:graphic>
              <a:graphicData uri="http://schemas.openxmlformats.org/drawingml/2006/table">
                <a:tbl>
                  <a:tblPr firstRow="1" firstCol="1" bandRow="1"/>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14020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Exponential Expression</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 with a Rational Base and Positive Exponent</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Exponent Laws Applied</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706880">
                    <a:tc>
                      <a:txBody>
                        <a:bodyPr/>
                        <a:lstStyle/>
                        <a:p>
                          <a:endParaRPr lang="en-US"/>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82222" r="-316667" b="-3704"/>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negative exponent</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power</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power of a product </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product of powers</a:t>
                          </a:r>
                          <a:endParaRPr lang="x-none" sz="2000">
                            <a:effectLst/>
                            <a:latin typeface="Verdana" pitchFamily="34" charset="0"/>
                            <a:ea typeface="Verdana"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quotient of powers</a:t>
                          </a:r>
                          <a:endParaRPr lang="x-none" sz="2000">
                            <a:effectLst/>
                            <a:latin typeface="Verdana" pitchFamily="34" charset="0"/>
                            <a:ea typeface="Verdana" pitchFamily="34" charset="0"/>
                            <a:cs typeface="Times New Roman" panose="02020603050405020304" pitchFamily="18" charset="0"/>
                          </a:endParaRPr>
                        </a:p>
                      </a:txBody>
                      <a:tcPr marL="45720" marR="4572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3217487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52024"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89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677"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06424" y="-86778"/>
            <a:ext cx="1106440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4.2.4 Collaboration: Comparing Strategies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731520" y="1331259"/>
                <a:ext cx="11155680" cy="1831271"/>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Edeline and Franco determined the same equivalent expression for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7</m:t>
                                </m:r>
                              </m:num>
                              <m:den>
                                <m:r>
                                  <a:rPr lang="es-ES" sz="2400" i="1" dirty="0">
                                    <a:latin typeface="Cambria Math" panose="02040503050406030204" pitchFamily="18" charset="0"/>
                                    <a:ea typeface="Verdana" panose="020B0604030504040204" pitchFamily="34" charset="0"/>
                                    <a:cs typeface="Verdana" panose="020B0604030504040204" pitchFamily="34" charset="0"/>
                                  </a:rPr>
                                  <m:t>11</m:t>
                                </m:r>
                              </m:den>
                            </m:f>
                          </m:e>
                        </m:d>
                      </m:e>
                      <m:sup>
                        <m:r>
                          <a:rPr lang="es-ES" sz="2400" i="1" dirty="0">
                            <a:latin typeface="Cambria Math" panose="02040503050406030204" pitchFamily="18" charset="0"/>
                            <a:ea typeface="Verdana" panose="020B0604030504040204" pitchFamily="34" charset="0"/>
                            <a:cs typeface="Verdana" panose="020B0604030504040204" pitchFamily="34" charset="0"/>
                          </a:rPr>
                          <m:t>−5</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but they used different strategies.</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indent="458788"/>
                <a:r>
                  <a:rPr lang="en-US" sz="2400" dirty="0">
                    <a:latin typeface="Verdana" panose="020B0604030504040204" pitchFamily="34" charset="0"/>
                    <a:ea typeface="Verdana" panose="020B0604030504040204" pitchFamily="34" charset="0"/>
                    <a:cs typeface="Verdana" panose="020B0604030504040204" pitchFamily="34" charset="0"/>
                  </a:rPr>
                  <a:t>Their work is shown in the table.</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731520" y="1331259"/>
                <a:ext cx="11155680" cy="1831271"/>
              </a:xfrm>
              <a:prstGeom prst="rect">
                <a:avLst/>
              </a:prstGeom>
              <a:blipFill>
                <a:blip r:embed="rId5"/>
                <a:stretch>
                  <a:fillRect l="-909" t="-2740" b="-68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A625273-AA1A-E04B-A4F2-3F3A722A554F}"/>
                  </a:ext>
                </a:extLst>
              </p:cNvPr>
              <p:cNvGraphicFramePr>
                <a:graphicFrameLocks noGrp="1"/>
              </p:cNvGraphicFramePr>
              <p:nvPr>
                <p:extLst>
                  <p:ext uri="{D42A27DB-BD31-4B8C-83A1-F6EECF244321}">
                    <p14:modId xmlns:p14="http://schemas.microsoft.com/office/powerpoint/2010/main" val="2160087332"/>
                  </p:ext>
                </p:extLst>
              </p:nvPr>
            </p:nvGraphicFramePr>
            <p:xfrm>
              <a:off x="3308985" y="3769556"/>
              <a:ext cx="6000750" cy="1191324"/>
            </p:xfrm>
            <a:graphic>
              <a:graphicData uri="http://schemas.openxmlformats.org/drawingml/2006/table">
                <a:tbl>
                  <a:tblPr firstRow="1" firstCol="1" bandRow="1"/>
                  <a:tblGrid>
                    <a:gridCol w="3000375">
                      <a:extLst>
                        <a:ext uri="{9D8B030D-6E8A-4147-A177-3AD203B41FA5}">
                          <a16:colId xmlns:a16="http://schemas.microsoft.com/office/drawing/2014/main" val="3122459507"/>
                        </a:ext>
                      </a:extLst>
                    </a:gridCol>
                    <a:gridCol w="3000375">
                      <a:extLst>
                        <a:ext uri="{9D8B030D-6E8A-4147-A177-3AD203B41FA5}">
                          <a16:colId xmlns:a16="http://schemas.microsoft.com/office/drawing/2014/main" val="768244893"/>
                        </a:ext>
                      </a:extLst>
                    </a:gridCol>
                  </a:tblGrid>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Edeline’s Work</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Franco’s Work</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374067711"/>
                      </a:ext>
                    </a:extLst>
                  </a:tr>
                  <a:tr h="457200">
                    <a:tc>
                      <a:txBody>
                        <a:bodyPr/>
                        <a:lstStyle/>
                        <a:p>
                          <a:pPr marL="0" marR="0" algn="ctr">
                            <a:spcBef>
                              <a:spcPts val="0"/>
                            </a:spcBef>
                            <a:spcAft>
                              <a:spcPts val="0"/>
                            </a:spcAft>
                          </a:pPr>
                          <a14:m>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11</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7</m:t>
                                      </m:r>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num>
                                <m:den>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11</m:t>
                                      </m:r>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den>
                              </m:f>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11</m:t>
                                      </m:r>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num>
                                <m:den>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7</m:t>
                                      </m:r>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den>
                              </m:f>
                            </m:oMath>
                          </a14:m>
                          <a:r>
                            <a:rPr lang="en-US" sz="2000" i="1" dirty="0">
                              <a:solidFill>
                                <a:srgbClr val="000000"/>
                              </a:solidFill>
                              <a:effectLst/>
                              <a:latin typeface="Verdana" panose="020B0604030504040204" pitchFamily="34" charset="0"/>
                              <a:ea typeface="Verdana" pitchFamily="34" charset="0"/>
                              <a:cs typeface="Arial" panose="020B0604020202020204" pitchFamily="34" charset="0"/>
                            </a:rPr>
                            <a:t> </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7</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11</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11</m:t>
                                          </m:r>
                                        </m:num>
                                        <m:den>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7</m:t>
                                          </m:r>
                                        </m:den>
                                      </m:f>
                                    </m:e>
                                  </m:d>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f>
                                <m:f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11</m:t>
                                      </m:r>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num>
                                <m:den>
                                  <m:sSup>
                                    <m:sSupPr>
                                      <m:ctrlPr>
                                        <a:rPr lang="x-none"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7</m:t>
                                      </m:r>
                                    </m:e>
                                    <m:sup>
                                      <m:r>
                                        <a:rPr lang="en-US" sz="20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sup>
                                  </m:sSup>
                                </m:den>
                              </m:f>
                            </m:oMath>
                          </a14:m>
                          <a:r>
                            <a:rPr lang="en-US" sz="2000" i="1" dirty="0">
                              <a:solidFill>
                                <a:srgbClr val="000000"/>
                              </a:solidFill>
                              <a:effectLst/>
                              <a:latin typeface="Verdana"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0566779"/>
                      </a:ext>
                    </a:extLst>
                  </a:tr>
                </a:tbl>
              </a:graphicData>
            </a:graphic>
          </p:graphicFrame>
        </mc:Choice>
        <mc:Fallback xmlns="">
          <p:graphicFrame>
            <p:nvGraphicFramePr>
              <p:cNvPr id="3" name="Table 2">
                <a:extLst>
                  <a:ext uri="{FF2B5EF4-FFF2-40B4-BE49-F238E27FC236}">
                    <a16:creationId xmlns:a16="http://schemas.microsoft.com/office/drawing/2014/main" id="{EA625273-AA1A-E04B-A4F2-3F3A722A554F}"/>
                  </a:ext>
                </a:extLst>
              </p:cNvPr>
              <p:cNvGraphicFramePr>
                <a:graphicFrameLocks noGrp="1"/>
              </p:cNvGraphicFramePr>
              <p:nvPr>
                <p:extLst>
                  <p:ext uri="{D42A27DB-BD31-4B8C-83A1-F6EECF244321}">
                    <p14:modId xmlns:p14="http://schemas.microsoft.com/office/powerpoint/2010/main" val="2160087332"/>
                  </p:ext>
                </p:extLst>
              </p:nvPr>
            </p:nvGraphicFramePr>
            <p:xfrm>
              <a:off x="3308985" y="3769556"/>
              <a:ext cx="6000750" cy="1191324"/>
            </p:xfrm>
            <a:graphic>
              <a:graphicData uri="http://schemas.openxmlformats.org/drawingml/2006/table">
                <a:tbl>
                  <a:tblPr firstRow="1" firstCol="1" bandRow="1"/>
                  <a:tblGrid>
                    <a:gridCol w="3000375">
                      <a:extLst>
                        <a:ext uri="{9D8B030D-6E8A-4147-A177-3AD203B41FA5}">
                          <a16:colId xmlns:a16="http://schemas.microsoft.com/office/drawing/2014/main" val="3122459507"/>
                        </a:ext>
                      </a:extLst>
                    </a:gridCol>
                    <a:gridCol w="3000375">
                      <a:extLst>
                        <a:ext uri="{9D8B030D-6E8A-4147-A177-3AD203B41FA5}">
                          <a16:colId xmlns:a16="http://schemas.microsoft.com/office/drawing/2014/main" val="768244893"/>
                        </a:ext>
                      </a:extLst>
                    </a:gridCol>
                  </a:tblGrid>
                  <a:tr h="487680">
                    <a:tc>
                      <a:txBody>
                        <a:bodyPr/>
                        <a:lstStyle/>
                        <a:p>
                          <a:pPr marL="0" marR="0" algn="ctr">
                            <a:spcBef>
                              <a:spcPts val="0"/>
                            </a:spcBef>
                            <a:spcAft>
                              <a:spcPts val="0"/>
                            </a:spcAft>
                          </a:pPr>
                          <a:r>
                            <a:rPr lang="en-US" sz="2000" b="1" dirty="0" err="1">
                              <a:solidFill>
                                <a:srgbClr val="000000"/>
                              </a:solidFill>
                              <a:effectLst/>
                              <a:latin typeface="Verdana" panose="020B0604030504040204" pitchFamily="34" charset="0"/>
                              <a:ea typeface="Verdana" pitchFamily="34" charset="0"/>
                              <a:cs typeface="Arial" panose="020B0604020202020204" pitchFamily="34" charset="0"/>
                            </a:rPr>
                            <a:t>Edeline’s</a:t>
                          </a:r>
                          <a:r>
                            <a:rPr lang="en-US" sz="2000" b="1" dirty="0">
                              <a:solidFill>
                                <a:srgbClr val="000000"/>
                              </a:solidFill>
                              <a:effectLst/>
                              <a:latin typeface="Verdana" panose="020B0604030504040204" pitchFamily="34" charset="0"/>
                              <a:ea typeface="Verdana" pitchFamily="34" charset="0"/>
                              <a:cs typeface="Arial" panose="020B0604020202020204" pitchFamily="34" charset="0"/>
                            </a:rPr>
                            <a:t> Work</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Arial" panose="020B0604020202020204" pitchFamily="34" charset="0"/>
                            </a:rPr>
                            <a:t>Franco’s Work</a:t>
                          </a:r>
                          <a:endParaRPr lang="x-none"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374067711"/>
                      </a:ext>
                    </a:extLst>
                  </a:tr>
                  <a:tr h="703644">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22" t="-69643" r="-100422" b="-1786"/>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0422" t="-69643" r="-422" b="-1786"/>
                          </a:stretch>
                        </a:blipFill>
                      </a:tcPr>
                    </a:tc>
                    <a:extLst>
                      <a:ext uri="{0D108BD9-81ED-4DB2-BD59-A6C34878D82A}">
                        <a16:rowId xmlns:a16="http://schemas.microsoft.com/office/drawing/2014/main" val="1820566779"/>
                      </a:ext>
                    </a:extLst>
                  </a:tr>
                </a:tbl>
              </a:graphicData>
            </a:graphic>
          </p:graphicFrame>
        </mc:Fallback>
      </mc:AlternateContent>
    </p:spTree>
    <p:extLst>
      <p:ext uri="{BB962C8B-B14F-4D97-AF65-F5344CB8AC3E}">
        <p14:creationId xmlns:p14="http://schemas.microsoft.com/office/powerpoint/2010/main" val="2190428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327944" y="584403"/>
            <a:ext cx="10995051" cy="4893647"/>
          </a:xfrm>
          <a:prstGeom prst="rect">
            <a:avLst/>
          </a:prstGeom>
        </p:spPr>
        <p:txBody>
          <a:bodyPr wrap="square">
            <a:spAutoFit/>
          </a:bodyPr>
          <a:lstStyle/>
          <a:p>
            <a:pPr marL="137795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both students’ strategies with your partner. </a:t>
            </a:r>
          </a:p>
          <a:p>
            <a:pPr marL="137795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steps did Edeline take to find the equivalent expression?</a:t>
            </a:r>
          </a:p>
          <a:p>
            <a:pPr marL="1377950" indent="-457200">
              <a:buFont typeface="+mj-lt"/>
              <a:buAutoNum type="alphaLcPeriod"/>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What steps did Franco take to find the equivalent expression?</a:t>
            </a:r>
          </a:p>
          <a:p>
            <a:pPr marL="137795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startAt="3"/>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37795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Whose method do you prefer?</a:t>
            </a:r>
          </a:p>
        </p:txBody>
      </p:sp>
    </p:spTree>
    <p:extLst>
      <p:ext uri="{BB962C8B-B14F-4D97-AF65-F5344CB8AC3E}">
        <p14:creationId xmlns:p14="http://schemas.microsoft.com/office/powerpoint/2010/main" val="1159944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pic>
        <p:nvPicPr>
          <p:cNvPr id="7" name="image10.png" descr="Icon&#10;&#10;Description automatically generated">
            <a:extLst>
              <a:ext uri="{FF2B5EF4-FFF2-40B4-BE49-F238E27FC236}">
                <a16:creationId xmlns:a16="http://schemas.microsoft.com/office/drawing/2014/main" id="{90FE0D4A-09BD-744B-9256-B0664DDDB853}"/>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525332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43758" y="-76075"/>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800" b="1" dirty="0">
                <a:solidFill>
                  <a:srgbClr val="E24E5F"/>
                </a:solidFill>
                <a:latin typeface="Verdana"/>
                <a:ea typeface="Verdana"/>
                <a:cs typeface="Verdana"/>
                <a:sym typeface="Verdana"/>
              </a:rPr>
              <a:t>4.2.5 Your Turn!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3479" y="1296833"/>
            <a:ext cx="1125099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Match each expression in Column A to an equivalent expression in Column B by drawing arrows.</a:t>
            </a:r>
          </a:p>
        </p:txBody>
      </p:sp>
      <p:pic>
        <p:nvPicPr>
          <p:cNvPr id="36" name="image10.png" descr="Icon&#10;&#10;Description automatically generated">
            <a:extLst>
              <a:ext uri="{FF2B5EF4-FFF2-40B4-BE49-F238E27FC236}">
                <a16:creationId xmlns:a16="http://schemas.microsoft.com/office/drawing/2014/main" id="{FB37AF03-B938-AD4A-BADA-02A8D639DAA4}"/>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53726" cy="753726"/>
          </a:xfrm>
          <a:prstGeom prst="rect">
            <a:avLst/>
          </a:prstGeom>
          <a:ln/>
        </p:spPr>
      </p:pic>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3118363E-648D-C241-BA9B-3C1AFB36D27E}"/>
                  </a:ext>
                </a:extLst>
              </p:cNvPr>
              <p:cNvGraphicFramePr>
                <a:graphicFrameLocks noGrp="1"/>
              </p:cNvGraphicFramePr>
              <p:nvPr>
                <p:extLst>
                  <p:ext uri="{D42A27DB-BD31-4B8C-83A1-F6EECF244321}">
                    <p14:modId xmlns:p14="http://schemas.microsoft.com/office/powerpoint/2010/main" val="806473093"/>
                  </p:ext>
                </p:extLst>
              </p:nvPr>
            </p:nvGraphicFramePr>
            <p:xfrm>
              <a:off x="3580765" y="2388789"/>
              <a:ext cx="5030470" cy="4091561"/>
            </p:xfrm>
            <a:graphic>
              <a:graphicData uri="http://schemas.openxmlformats.org/drawingml/2006/table">
                <a:tbl>
                  <a:tblPr firstRow="1" firstCol="1" bandRow="1"/>
                  <a:tblGrid>
                    <a:gridCol w="2515235">
                      <a:extLst>
                        <a:ext uri="{9D8B030D-6E8A-4147-A177-3AD203B41FA5}">
                          <a16:colId xmlns:a16="http://schemas.microsoft.com/office/drawing/2014/main" val="1412877534"/>
                        </a:ext>
                      </a:extLst>
                    </a:gridCol>
                    <a:gridCol w="2515235">
                      <a:extLst>
                        <a:ext uri="{9D8B030D-6E8A-4147-A177-3AD203B41FA5}">
                          <a16:colId xmlns:a16="http://schemas.microsoft.com/office/drawing/2014/main" val="1282209654"/>
                        </a:ext>
                      </a:extLst>
                    </a:gridCol>
                  </a:tblGrid>
                  <a:tr h="39370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Arial" panose="020B0604020202020204" pitchFamily="34" charset="0"/>
                            </a:rPr>
                            <a:t>Column A</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Column B</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017269736"/>
                      </a:ext>
                    </a:extLst>
                  </a:tr>
                  <a:tr h="5568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918120038"/>
                      </a:ext>
                    </a:extLst>
                  </a:tr>
                  <a:tr h="53784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215007416"/>
                      </a:ext>
                    </a:extLst>
                  </a:tr>
                  <a:tr h="5568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711808023"/>
                      </a:ext>
                    </a:extLst>
                  </a:tr>
                  <a:tr h="55689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oMath>
                            </m:oMathPara>
                          </a14:m>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313588"/>
                      </a:ext>
                    </a:extLst>
                  </a:tr>
                </a:tbl>
              </a:graphicData>
            </a:graphic>
          </p:graphicFrame>
        </mc:Choice>
        <mc:Fallback>
          <p:graphicFrame>
            <p:nvGraphicFramePr>
              <p:cNvPr id="5" name="Table 4">
                <a:extLst>
                  <a:ext uri="{FF2B5EF4-FFF2-40B4-BE49-F238E27FC236}">
                    <a16:creationId xmlns:a16="http://schemas.microsoft.com/office/drawing/2014/main" id="{3118363E-648D-C241-BA9B-3C1AFB36D27E}"/>
                  </a:ext>
                </a:extLst>
              </p:cNvPr>
              <p:cNvGraphicFramePr>
                <a:graphicFrameLocks noGrp="1"/>
              </p:cNvGraphicFramePr>
              <p:nvPr>
                <p:extLst>
                  <p:ext uri="{D42A27DB-BD31-4B8C-83A1-F6EECF244321}">
                    <p14:modId xmlns:p14="http://schemas.microsoft.com/office/powerpoint/2010/main" val="806473093"/>
                  </p:ext>
                </p:extLst>
              </p:nvPr>
            </p:nvGraphicFramePr>
            <p:xfrm>
              <a:off x="3580765" y="2388789"/>
              <a:ext cx="5030470" cy="4091561"/>
            </p:xfrm>
            <a:graphic>
              <a:graphicData uri="http://schemas.openxmlformats.org/drawingml/2006/table">
                <a:tbl>
                  <a:tblPr firstRow="1" firstCol="1" bandRow="1"/>
                  <a:tblGrid>
                    <a:gridCol w="2515235">
                      <a:extLst>
                        <a:ext uri="{9D8B030D-6E8A-4147-A177-3AD203B41FA5}">
                          <a16:colId xmlns:a16="http://schemas.microsoft.com/office/drawing/2014/main" val="1412877534"/>
                        </a:ext>
                      </a:extLst>
                    </a:gridCol>
                    <a:gridCol w="2515235">
                      <a:extLst>
                        <a:ext uri="{9D8B030D-6E8A-4147-A177-3AD203B41FA5}">
                          <a16:colId xmlns:a16="http://schemas.microsoft.com/office/drawing/2014/main" val="1282209654"/>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Arial" panose="020B0604020202020204" pitchFamily="34" charset="0"/>
                            </a:rPr>
                            <a:t>Column A</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Arial" panose="020B0604020202020204" pitchFamily="34" charset="0"/>
                            </a:rPr>
                            <a:t>Column B</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017269736"/>
                      </a:ext>
                    </a:extLst>
                  </a:tr>
                  <a:tr h="820103">
                    <a:tc>
                      <a:txBody>
                        <a:bodyPr/>
                        <a:lstStyle/>
                        <a:p>
                          <a:endParaRPr lang="en-US"/>
                        </a:p>
                      </a:txBody>
                      <a:tcPr marT="91440" marB="9144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blipFill>
                          <a:blip r:embed="rId5"/>
                          <a:stretch>
                            <a:fillRect l="-242" t="-60000" r="-100484" b="-340741"/>
                          </a:stretch>
                        </a:blipFill>
                      </a:tcPr>
                    </a:tc>
                    <a:tc>
                      <a:txBody>
                        <a:bodyPr/>
                        <a:lstStyle/>
                        <a:p>
                          <a:endParaRPr lang="en-US"/>
                        </a:p>
                      </a:txBody>
                      <a:tcPr marT="91440" marB="9144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blipFill>
                          <a:blip r:embed="rId5"/>
                          <a:stretch>
                            <a:fillRect l="-100242" t="-60000" r="-484" b="-340741"/>
                          </a:stretch>
                        </a:blipFill>
                      </a:tcPr>
                    </a:tc>
                    <a:extLst>
                      <a:ext uri="{0D108BD9-81ED-4DB2-BD59-A6C34878D82A}">
                        <a16:rowId xmlns:a16="http://schemas.microsoft.com/office/drawing/2014/main" val="3918120038"/>
                      </a:ext>
                    </a:extLst>
                  </a:tr>
                  <a:tr h="927926">
                    <a:tc>
                      <a:txBody>
                        <a:bodyPr/>
                        <a:lstStyle/>
                        <a:p>
                          <a:endParaRPr lang="en-US"/>
                        </a:p>
                      </a:txBody>
                      <a:tcPr marT="91440" marB="91440" anchor="ctr">
                        <a:lnL w="12700" cap="flat" cmpd="sng" algn="ctr">
                          <a:solidFill>
                            <a:srgbClr val="000000"/>
                          </a:solidFill>
                          <a:prstDash val="solid"/>
                          <a:round/>
                          <a:headEnd type="none" w="med" len="med"/>
                          <a:tailEnd type="none" w="med" len="med"/>
                        </a:lnL>
                        <a:lnR>
                          <a:noFill/>
                        </a:lnR>
                        <a:lnT>
                          <a:noFill/>
                        </a:lnT>
                        <a:lnB>
                          <a:noFill/>
                        </a:lnB>
                        <a:blipFill>
                          <a:blip r:embed="rId5"/>
                          <a:stretch>
                            <a:fillRect l="-242" t="-141176" r="-100484" b="-200654"/>
                          </a:stretch>
                        </a:blipFill>
                      </a:tcPr>
                    </a:tc>
                    <a:tc>
                      <a:txBody>
                        <a:bodyPr/>
                        <a:lstStyle/>
                        <a:p>
                          <a:endParaRPr lang="en-US"/>
                        </a:p>
                      </a:txBody>
                      <a:tcPr marT="91440" marB="91440" anchor="ctr">
                        <a:lnL>
                          <a:noFill/>
                        </a:lnL>
                        <a:lnR w="12700" cap="flat" cmpd="sng" algn="ctr">
                          <a:solidFill>
                            <a:srgbClr val="000000"/>
                          </a:solidFill>
                          <a:prstDash val="solid"/>
                          <a:round/>
                          <a:headEnd type="none" w="med" len="med"/>
                          <a:tailEnd type="none" w="med" len="med"/>
                        </a:lnR>
                        <a:lnT>
                          <a:noFill/>
                        </a:lnT>
                        <a:lnB>
                          <a:noFill/>
                        </a:lnB>
                        <a:blipFill>
                          <a:blip r:embed="rId5"/>
                          <a:stretch>
                            <a:fillRect l="-100242" t="-141176" r="-484" b="-200654"/>
                          </a:stretch>
                        </a:blipFill>
                      </a:tcPr>
                    </a:tc>
                    <a:extLst>
                      <a:ext uri="{0D108BD9-81ED-4DB2-BD59-A6C34878D82A}">
                        <a16:rowId xmlns:a16="http://schemas.microsoft.com/office/drawing/2014/main" val="2215007416"/>
                      </a:ext>
                    </a:extLst>
                  </a:tr>
                  <a:tr h="927926">
                    <a:tc>
                      <a:txBody>
                        <a:bodyPr/>
                        <a:lstStyle/>
                        <a:p>
                          <a:endParaRPr lang="en-US"/>
                        </a:p>
                      </a:txBody>
                      <a:tcPr marT="91440" marB="91440" anchor="ctr">
                        <a:lnL w="12700" cap="flat" cmpd="sng" algn="ctr">
                          <a:solidFill>
                            <a:srgbClr val="000000"/>
                          </a:solidFill>
                          <a:prstDash val="solid"/>
                          <a:round/>
                          <a:headEnd type="none" w="med" len="med"/>
                          <a:tailEnd type="none" w="med" len="med"/>
                        </a:lnL>
                        <a:lnR>
                          <a:noFill/>
                        </a:lnR>
                        <a:lnT>
                          <a:noFill/>
                        </a:lnT>
                        <a:lnB>
                          <a:noFill/>
                        </a:lnB>
                        <a:blipFill>
                          <a:blip r:embed="rId5"/>
                          <a:stretch>
                            <a:fillRect l="-242" t="-242763" r="-100484" b="-101974"/>
                          </a:stretch>
                        </a:blipFill>
                      </a:tcPr>
                    </a:tc>
                    <a:tc>
                      <a:txBody>
                        <a:bodyPr/>
                        <a:lstStyle/>
                        <a:p>
                          <a:endParaRPr lang="en-US"/>
                        </a:p>
                      </a:txBody>
                      <a:tcPr marT="91440" marB="91440" anchor="ctr">
                        <a:lnL>
                          <a:noFill/>
                        </a:lnL>
                        <a:lnR w="12700" cap="flat" cmpd="sng" algn="ctr">
                          <a:solidFill>
                            <a:srgbClr val="000000"/>
                          </a:solidFill>
                          <a:prstDash val="solid"/>
                          <a:round/>
                          <a:headEnd type="none" w="med" len="med"/>
                          <a:tailEnd type="none" w="med" len="med"/>
                        </a:lnR>
                        <a:lnT>
                          <a:noFill/>
                        </a:lnT>
                        <a:lnB>
                          <a:noFill/>
                        </a:lnB>
                        <a:blipFill>
                          <a:blip r:embed="rId5"/>
                          <a:stretch>
                            <a:fillRect l="-100242" t="-242763" r="-484" b="-101974"/>
                          </a:stretch>
                        </a:blipFill>
                      </a:tcPr>
                    </a:tc>
                    <a:extLst>
                      <a:ext uri="{0D108BD9-81ED-4DB2-BD59-A6C34878D82A}">
                        <a16:rowId xmlns:a16="http://schemas.microsoft.com/office/drawing/2014/main" val="711808023"/>
                      </a:ext>
                    </a:extLst>
                  </a:tr>
                  <a:tr h="927926">
                    <a:tc>
                      <a:txBody>
                        <a:bodyPr/>
                        <a:lstStyle/>
                        <a:p>
                          <a:endParaRPr lang="en-US"/>
                        </a:p>
                      </a:txBody>
                      <a:tcPr marT="91440" marB="9144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blipFill>
                          <a:blip r:embed="rId5"/>
                          <a:stretch>
                            <a:fillRect l="-242" t="-340523" r="-100484" b="-1307"/>
                          </a:stretch>
                        </a:blipFill>
                      </a:tcPr>
                    </a:tc>
                    <a:tc>
                      <a:txBody>
                        <a:bodyPr/>
                        <a:lstStyle/>
                        <a:p>
                          <a:endParaRPr lang="en-US"/>
                        </a:p>
                      </a:txBody>
                      <a:tcPr marT="91440" marB="9144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blipFill>
                          <a:blip r:embed="rId5"/>
                          <a:stretch>
                            <a:fillRect l="-100242" t="-340523" r="-484" b="-1307"/>
                          </a:stretch>
                        </a:blipFill>
                      </a:tcPr>
                    </a:tc>
                    <a:extLst>
                      <a:ext uri="{0D108BD9-81ED-4DB2-BD59-A6C34878D82A}">
                        <a16:rowId xmlns:a16="http://schemas.microsoft.com/office/drawing/2014/main" val="404313588"/>
                      </a:ext>
                    </a:extLst>
                  </a:tr>
                </a:tbl>
              </a:graphicData>
            </a:graphic>
          </p:graphicFrame>
        </mc:Fallback>
      </mc:AlternateContent>
    </p:spTree>
    <p:extLst>
      <p:ext uri="{BB962C8B-B14F-4D97-AF65-F5344CB8AC3E}">
        <p14:creationId xmlns:p14="http://schemas.microsoft.com/office/powerpoint/2010/main" val="2020413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F54A4596-5923-6342-9500-70E8F702680A}"/>
                  </a:ext>
                </a:extLst>
              </p:cNvPr>
              <p:cNvSpPr/>
              <p:nvPr/>
            </p:nvSpPr>
            <p:spPr>
              <a:xfrm>
                <a:off x="610047" y="681680"/>
                <a:ext cx="11053417" cy="5057795"/>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Three expressions are shown. Circle the two expressions that are equivalent. </a:t>
                </a:r>
              </a:p>
              <a:p>
                <a:pPr marL="457200" indent="-457200">
                  <a:buFont typeface="+mj-lt"/>
                  <a:buAutoNum type="arabicPeriod" startAt="2"/>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endParaRPr lang="en-PH"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Generate an equivalent expression using the laws of exponents. Express your answer using positive exponents.</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9</m:t>
                                  </m:r>
                                </m:num>
                                <m:den>
                                  <m:r>
                                    <a:rPr lang="es-ES" sz="2400" i="1" dirty="0">
                                      <a:latin typeface="Cambria Math" panose="02040503050406030204" pitchFamily="18" charset="0"/>
                                      <a:cs typeface="Times New Roman" panose="02020603050405020304" pitchFamily="18" charset="0"/>
                                    </a:rPr>
                                    <m:t>10</m:t>
                                  </m:r>
                                </m:den>
                              </m:f>
                              <m:r>
                                <a:rPr lang="es-ES" sz="2400" i="1" dirty="0">
                                  <a:latin typeface="Cambria Math" panose="02040503050406030204" pitchFamily="18" charset="0"/>
                                  <a:cs typeface="Times New Roman" panose="02020603050405020304" pitchFamily="18" charset="0"/>
                                </a:rPr>
                                <m:t>·</m:t>
                              </m:r>
                              <m:f>
                                <m:fPr>
                                  <m:ctrlPr>
                                    <a:rPr lang="es-E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6</m:t>
                                  </m:r>
                                </m:den>
                              </m:f>
                            </m:e>
                          </m:d>
                        </m:e>
                        <m:sup>
                          <m:r>
                            <a:rPr lang="es-ES" sz="2400" i="1" dirty="0">
                              <a:latin typeface="Cambria Math" panose="02040503050406030204" pitchFamily="18" charset="0"/>
                              <a:cs typeface="Times New Roman" panose="02020603050405020304" pitchFamily="18" charset="0"/>
                            </a:rPr>
                            <m:t>−6</m:t>
                          </m:r>
                        </m:sup>
                      </m:sSup>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7" name="Rectangle 6">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610047" y="681680"/>
                <a:ext cx="11053417" cy="5057795"/>
              </a:xfrm>
              <a:prstGeom prst="rect">
                <a:avLst/>
              </a:prstGeom>
              <a:blipFill>
                <a:blip r:embed="rId3"/>
                <a:stretch>
                  <a:fillRect l="-827" t="-964"/>
                </a:stretch>
              </a:blipFill>
            </p:spPr>
            <p:txBody>
              <a:bodyPr/>
              <a:lstStyle/>
              <a:p>
                <a:r>
                  <a:rPr lang="en-US">
                    <a:noFill/>
                  </a:rPr>
                  <a:t> </a:t>
                </a:r>
              </a:p>
            </p:txBody>
          </p:sp>
        </mc:Fallback>
      </mc:AlternateContent>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2A568BDD-9F14-5847-BB63-770034C0905C}"/>
                  </a:ext>
                </a:extLst>
              </p:cNvPr>
              <p:cNvGraphicFramePr>
                <a:graphicFrameLocks noGrp="1"/>
              </p:cNvGraphicFramePr>
              <p:nvPr>
                <p:extLst>
                  <p:ext uri="{D42A27DB-BD31-4B8C-83A1-F6EECF244321}">
                    <p14:modId xmlns:p14="http://schemas.microsoft.com/office/powerpoint/2010/main" val="1528333848"/>
                  </p:ext>
                </p:extLst>
              </p:nvPr>
            </p:nvGraphicFramePr>
            <p:xfrm>
              <a:off x="2666480" y="1760923"/>
              <a:ext cx="6940550" cy="1117727"/>
            </p:xfrm>
            <a:graphic>
              <a:graphicData uri="http://schemas.openxmlformats.org/drawingml/2006/table">
                <a:tbl>
                  <a:tblPr firstRow="1" firstCol="1" bandRow="1"/>
                  <a:tblGrid>
                    <a:gridCol w="2313305">
                      <a:extLst>
                        <a:ext uri="{9D8B030D-6E8A-4147-A177-3AD203B41FA5}">
                          <a16:colId xmlns:a16="http://schemas.microsoft.com/office/drawing/2014/main" val="3120124030"/>
                        </a:ext>
                      </a:extLst>
                    </a:gridCol>
                    <a:gridCol w="2313305">
                      <a:extLst>
                        <a:ext uri="{9D8B030D-6E8A-4147-A177-3AD203B41FA5}">
                          <a16:colId xmlns:a16="http://schemas.microsoft.com/office/drawing/2014/main" val="3138805339"/>
                        </a:ext>
                      </a:extLst>
                    </a:gridCol>
                    <a:gridCol w="2313940">
                      <a:extLst>
                        <a:ext uri="{9D8B030D-6E8A-4147-A177-3AD203B41FA5}">
                          <a16:colId xmlns:a16="http://schemas.microsoft.com/office/drawing/2014/main" val="2807279026"/>
                        </a:ext>
                      </a:extLst>
                    </a:gridCol>
                  </a:tblGrid>
                  <a:tr h="925830">
                    <a:tc>
                      <a:txBody>
                        <a:bodyPr/>
                        <a:lstStyle/>
                        <a:p>
                          <a:pPr marL="0" marR="0" algn="ctr">
                            <a:spcBef>
                              <a:spcPts val="0"/>
                            </a:spcBef>
                            <a:spcAft>
                              <a:spcPts val="0"/>
                            </a:spcAft>
                          </a:pPr>
                          <a14:m>
                            <m:oMath xmlns:m="http://schemas.openxmlformats.org/officeDocument/2006/math">
                              <m:sSup>
                                <m:sSup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num>
                                        <m:den>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8</m:t>
                                          </m:r>
                                        </m:den>
                                      </m:f>
                                    </m:e>
                                  </m:d>
                                </m:e>
                                <m:sup>
                                  <m: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2</m:t>
                                  </m:r>
                                </m:sup>
                              </m:sSup>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sSup>
                                <m:sSup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num>
                                        <m:den>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8</m:t>
                                          </m:r>
                                        </m:den>
                                      </m:f>
                                    </m:e>
                                  </m:d>
                                </m:e>
                                <m:sup>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sup>
                              </m:sSup>
                            </m:oMath>
                          </a14:m>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x-none"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14:m>
                            <m:oMath xmlns:m="http://schemas.openxmlformats.org/officeDocument/2006/math">
                              <m:f>
                                <m:f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sSup>
                                    <m:sSup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8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num>
                                            <m:den>
                                              <m:r>
                                                <a:rPr lang="en-US" sz="28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8</m:t>
                                              </m:r>
                                            </m:den>
                                          </m:f>
                                        </m:e>
                                      </m:d>
                                    </m:e>
                                    <m:sup>
                                      <m:r>
                                        <a:rPr lang="en-US"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r>
                                        <a:rPr lang="en-US" sz="28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2</m:t>
                                      </m:r>
                                    </m:sup>
                                  </m:sSup>
                                </m:num>
                                <m:den>
                                  <m:sSup>
                                    <m:sSup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8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num>
                                            <m:den>
                                              <m:r>
                                                <a:rPr lang="en-US" sz="28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8</m:t>
                                              </m:r>
                                            </m:den>
                                          </m:f>
                                        </m:e>
                                      </m:d>
                                    </m:e>
                                    <m:sup>
                                      <m:r>
                                        <a:rPr lang="en-US" sz="28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r>
                                        <a:rPr lang="en-US" sz="28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sup>
                                  </m:sSup>
                                </m:den>
                              </m:f>
                            </m:oMath>
                          </a14:m>
                          <a:r>
                            <a:rPr lang="en-US" sz="2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x-none"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gn="ctr">
                            <a:spcBef>
                              <a:spcPts val="0"/>
                            </a:spcBef>
                            <a:spcAft>
                              <a:spcPts val="0"/>
                            </a:spcAft>
                          </a:pPr>
                          <a14:m>
                            <m:oMath xmlns:m="http://schemas.openxmlformats.org/officeDocument/2006/math">
                              <m:sSup>
                                <m:sSup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sSup>
                                        <m:sSup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sSupPr>
                                        <m:e>
                                          <m:d>
                                            <m:d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x-none"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ctrlPr>
                                                </m:fPr>
                                                <m:num>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5</m:t>
                                                  </m:r>
                                                </m:num>
                                                <m:den>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8</m:t>
                                                  </m:r>
                                                </m:den>
                                              </m:f>
                                            </m:e>
                                          </m:d>
                                        </m:e>
                                        <m:sup>
                                          <m:r>
                                            <a:rPr lang="en-US" sz="2400" i="1">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m:t>
                                          </m:r>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2</m:t>
                                          </m:r>
                                        </m:sup>
                                      </m:sSup>
                                    </m:e>
                                  </m:d>
                                </m:e>
                                <m:sup>
                                  <m:r>
                                    <a:rPr lang="en-US" sz="2400">
                                      <a:solidFill>
                                        <a:srgbClr val="000000"/>
                                      </a:solidFill>
                                      <a:effectLst/>
                                      <a:latin typeface="Cambria Math" panose="02040503050406030204" pitchFamily="18" charset="0"/>
                                      <a:ea typeface="Times New Roman" panose="02020603050405020304" pitchFamily="18" charset="0"/>
                                      <a:cs typeface="Arial" panose="020B0604020202020204" pitchFamily="34" charset="0"/>
                                    </a:rPr>
                                    <m:t>4</m:t>
                                  </m:r>
                                </m:sup>
                              </m:sSup>
                            </m:oMath>
                          </a14:m>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x-none"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682084910"/>
                      </a:ext>
                    </a:extLst>
                  </a:tr>
                </a:tbl>
              </a:graphicData>
            </a:graphic>
          </p:graphicFrame>
        </mc:Choice>
        <mc:Fallback>
          <p:graphicFrame>
            <p:nvGraphicFramePr>
              <p:cNvPr id="3" name="Table 2">
                <a:extLst>
                  <a:ext uri="{FF2B5EF4-FFF2-40B4-BE49-F238E27FC236}">
                    <a16:creationId xmlns:a16="http://schemas.microsoft.com/office/drawing/2014/main" id="{2A568BDD-9F14-5847-BB63-770034C0905C}"/>
                  </a:ext>
                </a:extLst>
              </p:cNvPr>
              <p:cNvGraphicFramePr>
                <a:graphicFrameLocks noGrp="1"/>
              </p:cNvGraphicFramePr>
              <p:nvPr>
                <p:extLst>
                  <p:ext uri="{D42A27DB-BD31-4B8C-83A1-F6EECF244321}">
                    <p14:modId xmlns:p14="http://schemas.microsoft.com/office/powerpoint/2010/main" val="1528333848"/>
                  </p:ext>
                </p:extLst>
              </p:nvPr>
            </p:nvGraphicFramePr>
            <p:xfrm>
              <a:off x="2666480" y="1760923"/>
              <a:ext cx="6940550" cy="1117727"/>
            </p:xfrm>
            <a:graphic>
              <a:graphicData uri="http://schemas.openxmlformats.org/drawingml/2006/table">
                <a:tbl>
                  <a:tblPr firstRow="1" firstCol="1" bandRow="1"/>
                  <a:tblGrid>
                    <a:gridCol w="2313305">
                      <a:extLst>
                        <a:ext uri="{9D8B030D-6E8A-4147-A177-3AD203B41FA5}">
                          <a16:colId xmlns:a16="http://schemas.microsoft.com/office/drawing/2014/main" val="3120124030"/>
                        </a:ext>
                      </a:extLst>
                    </a:gridCol>
                    <a:gridCol w="2313305">
                      <a:extLst>
                        <a:ext uri="{9D8B030D-6E8A-4147-A177-3AD203B41FA5}">
                          <a16:colId xmlns:a16="http://schemas.microsoft.com/office/drawing/2014/main" val="3138805339"/>
                        </a:ext>
                      </a:extLst>
                    </a:gridCol>
                    <a:gridCol w="2313940">
                      <a:extLst>
                        <a:ext uri="{9D8B030D-6E8A-4147-A177-3AD203B41FA5}">
                          <a16:colId xmlns:a16="http://schemas.microsoft.com/office/drawing/2014/main" val="2807279026"/>
                        </a:ext>
                      </a:extLst>
                    </a:gridCol>
                  </a:tblGrid>
                  <a:tr h="1117727">
                    <a:tc>
                      <a:txBody>
                        <a:bodyPr/>
                        <a:lstStyle/>
                        <a:p>
                          <a:endParaRPr lang="en-US"/>
                        </a:p>
                      </a:txBody>
                      <a:tcPr marL="68580" marR="68580" marT="0" marB="0">
                        <a:lnL>
                          <a:noFill/>
                        </a:lnL>
                        <a:lnR>
                          <a:noFill/>
                        </a:lnR>
                        <a:lnT>
                          <a:noFill/>
                        </a:lnT>
                        <a:lnB>
                          <a:noFill/>
                        </a:lnB>
                        <a:blipFill>
                          <a:blip r:embed="rId5"/>
                          <a:stretch>
                            <a:fillRect r="-199737"/>
                          </a:stretch>
                        </a:blipFill>
                      </a:tcPr>
                    </a:tc>
                    <a:tc>
                      <a:txBody>
                        <a:bodyPr/>
                        <a:lstStyle/>
                        <a:p>
                          <a:endParaRPr lang="en-US"/>
                        </a:p>
                      </a:txBody>
                      <a:tcPr marL="68580" marR="68580" marT="0" marB="0">
                        <a:lnL>
                          <a:noFill/>
                        </a:lnL>
                        <a:lnR>
                          <a:noFill/>
                        </a:lnR>
                        <a:lnT>
                          <a:noFill/>
                        </a:lnT>
                        <a:lnB>
                          <a:noFill/>
                        </a:lnB>
                        <a:blipFill>
                          <a:blip r:embed="rId5"/>
                          <a:stretch>
                            <a:fillRect l="-100264" r="-100264"/>
                          </a:stretch>
                        </a:blipFill>
                      </a:tcPr>
                    </a:tc>
                    <a:tc>
                      <a:txBody>
                        <a:bodyPr/>
                        <a:lstStyle/>
                        <a:p>
                          <a:endParaRPr lang="en-US"/>
                        </a:p>
                      </a:txBody>
                      <a:tcPr marL="68580" marR="68580" marT="0" marB="0">
                        <a:lnL>
                          <a:noFill/>
                        </a:lnL>
                        <a:lnR>
                          <a:noFill/>
                        </a:lnR>
                        <a:lnT>
                          <a:noFill/>
                        </a:lnT>
                        <a:lnB>
                          <a:noFill/>
                        </a:lnB>
                        <a:blipFill>
                          <a:blip r:embed="rId5"/>
                          <a:stretch>
                            <a:fillRect l="-199737"/>
                          </a:stretch>
                        </a:blipFill>
                      </a:tcPr>
                    </a:tc>
                    <a:extLst>
                      <a:ext uri="{0D108BD9-81ED-4DB2-BD59-A6C34878D82A}">
                        <a16:rowId xmlns:a16="http://schemas.microsoft.com/office/drawing/2014/main" val="3682084910"/>
                      </a:ext>
                    </a:extLst>
                  </a:tr>
                </a:tbl>
              </a:graphicData>
            </a:graphic>
          </p:graphicFrame>
        </mc:Fallback>
      </mc:AlternateContent>
    </p:spTree>
    <p:extLst>
      <p:ext uri="{BB962C8B-B14F-4D97-AF65-F5344CB8AC3E}">
        <p14:creationId xmlns:p14="http://schemas.microsoft.com/office/powerpoint/2010/main" val="4040516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134</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03916" y="-88032"/>
            <a:ext cx="99221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4.2.6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AE281112-0763-C941-9DB7-9B28C4EA4745}"/>
                  </a:ext>
                </a:extLst>
              </p:cNvPr>
              <p:cNvSpPr/>
              <p:nvPr/>
            </p:nvSpPr>
            <p:spPr>
              <a:xfrm>
                <a:off x="724973" y="1351210"/>
                <a:ext cx="11123315" cy="4554708"/>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Rewrite each expression as an equivalent exponential expression with positive exponents.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4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−13</m:t>
                                </m:r>
                              </m:num>
                              <m:den>
                                <m:r>
                                  <a:rPr lang="es-ES" sz="2400" i="1" dirty="0">
                                    <a:latin typeface="Cambria Math" panose="02040503050406030204" pitchFamily="18" charset="0"/>
                                    <a:cs typeface="Times New Roman" panose="02020603050405020304" pitchFamily="18" charset="0"/>
                                  </a:rPr>
                                  <m:t>2</m:t>
                                </m:r>
                              </m:den>
                            </m:f>
                          </m:e>
                        </m:d>
                      </m:e>
                      <m:sup>
                        <m:r>
                          <a:rPr lang="es-ES" sz="2400" i="1" dirty="0">
                            <a:latin typeface="Cambria Math" panose="02040503050406030204" pitchFamily="18" charset="0"/>
                            <a:cs typeface="Times New Roman" panose="02020603050405020304" pitchFamily="18" charset="0"/>
                          </a:rPr>
                          <m:t>−3</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PH" sz="24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5</m:t>
                                </m:r>
                              </m:den>
                            </m:f>
                          </m:e>
                        </m:d>
                      </m:e>
                      <m:sup>
                        <m:r>
                          <a:rPr lang="es-ES" sz="2400" i="1" dirty="0">
                            <a:latin typeface="Cambria Math" panose="02040503050406030204" pitchFamily="18" charset="0"/>
                            <a:cs typeface="Times New Roman" panose="02020603050405020304" pitchFamily="18" charset="0"/>
                          </a:rPr>
                          <m:t>−8</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=________________</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Generate an equivalent expression using the laws of exponents. Express your answer with positive exponents.</a:t>
                </a:r>
              </a:p>
              <a:p>
                <a:pPr algn="ctr"/>
                <a14:m>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4</m:t>
                                </m:r>
                              </m:den>
                            </m:f>
                          </m:e>
                        </m:d>
                      </m:e>
                      <m:sup>
                        <m:r>
                          <a:rPr lang="es-ES" sz="2400" i="1" dirty="0">
                            <a:latin typeface="Cambria Math" panose="02040503050406030204" pitchFamily="18" charset="0"/>
                            <a:cs typeface="Times New Roman" panose="02020603050405020304" pitchFamily="18" charset="0"/>
                          </a:rPr>
                          <m:t>−7</m:t>
                        </m:r>
                      </m:sup>
                    </m:sSup>
                    <m:r>
                      <a:rPr lang="es-ES" sz="2400" i="1" dirty="0">
                        <a:latin typeface="Cambria Math" panose="02040503050406030204" pitchFamily="18" charset="0"/>
                        <a:cs typeface="Times New Roman" panose="02020603050405020304" pitchFamily="18" charset="0"/>
                      </a:rPr>
                      <m:t>·</m:t>
                    </m:r>
                    <m:sSup>
                      <m:sSupPr>
                        <m:ctrlPr>
                          <a:rPr lang="en-US" sz="2400" i="1" dirty="0">
                            <a:latin typeface="Cambria Math" panose="02040503050406030204" pitchFamily="18" charset="0"/>
                            <a:cs typeface="Times New Roman" panose="02020603050405020304" pitchFamily="18" charset="0"/>
                          </a:rPr>
                        </m:ctrlPr>
                      </m:sSupPr>
                      <m:e>
                        <m:d>
                          <m:dPr>
                            <m:ctrlPr>
                              <a:rPr lang="en-US" sz="2400" i="1" dirty="0">
                                <a:latin typeface="Cambria Math" panose="02040503050406030204" pitchFamily="18" charset="0"/>
                                <a:cs typeface="Times New Roman" panose="02020603050405020304" pitchFamily="18" charset="0"/>
                              </a:rPr>
                            </m:ctrlPr>
                          </m:dPr>
                          <m:e>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−5</m:t>
                                </m:r>
                              </m:num>
                              <m:den>
                                <m:r>
                                  <a:rPr lang="es-ES" sz="2400" i="1" dirty="0">
                                    <a:latin typeface="Cambria Math" panose="02040503050406030204" pitchFamily="18" charset="0"/>
                                    <a:cs typeface="Times New Roman" panose="02020603050405020304" pitchFamily="18" charset="0"/>
                                  </a:rPr>
                                  <m:t>4</m:t>
                                </m:r>
                              </m:den>
                            </m:f>
                          </m:e>
                        </m:d>
                      </m:e>
                      <m:sup>
                        <m:r>
                          <a:rPr lang="es-ES" sz="2400" i="1" dirty="0">
                            <a:latin typeface="Cambria Math" panose="02040503050406030204" pitchFamily="18" charset="0"/>
                            <a:cs typeface="Times New Roman" panose="02020603050405020304" pitchFamily="18" charset="0"/>
                          </a:rPr>
                          <m:t>−3</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p:sp>
            <p:nvSpPr>
              <p:cNvPr id="2" name="Rectangle 1">
                <a:extLst>
                  <a:ext uri="{FF2B5EF4-FFF2-40B4-BE49-F238E27FC236}">
                    <a16:creationId xmlns:a16="http://schemas.microsoft.com/office/drawing/2014/main" id="{AE281112-0763-C941-9DB7-9B28C4EA4745}"/>
                  </a:ext>
                </a:extLst>
              </p:cNvPr>
              <p:cNvSpPr>
                <a:spLocks noRot="1" noChangeAspect="1" noMove="1" noResize="1" noEditPoints="1" noAdjustHandles="1" noChangeArrowheads="1" noChangeShapeType="1" noTextEdit="1"/>
              </p:cNvSpPr>
              <p:nvPr/>
            </p:nvSpPr>
            <p:spPr>
              <a:xfrm>
                <a:off x="724973" y="1351210"/>
                <a:ext cx="11123315" cy="4554708"/>
              </a:xfrm>
              <a:prstGeom prst="rect">
                <a:avLst/>
              </a:prstGeom>
              <a:blipFill>
                <a:blip r:embed="rId5"/>
                <a:stretch>
                  <a:fillRect l="-877" t="-1071"/>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3093</TotalTime>
  <Words>1057</Words>
  <Application>Microsoft Office PowerPoint</Application>
  <PresentationFormat>Widescreen</PresentationFormat>
  <Paragraphs>202</Paragraphs>
  <Slides>27</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Verdana</vt:lpstr>
      <vt:lpstr>Wingdings</vt:lpstr>
      <vt:lpstr>Century Gothic</vt:lpstr>
      <vt:lpstr>Calibri</vt:lpstr>
      <vt:lpstr>Arial Black</vt:lpstr>
      <vt:lpstr>Cambria Math</vt:lpstr>
      <vt:lpstr>Arial</vt:lpstr>
      <vt:lpstr>Cambria</vt:lpstr>
      <vt:lpstr>1_Office Theme</vt:lpstr>
      <vt:lpstr>8th Grade Math: Pre-Algebra  Unit 4, Lesson 2  Generating Equivalent Numerical Expressions  Volume 1, pg. 129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40</cp:revision>
  <dcterms:created xsi:type="dcterms:W3CDTF">2015-03-17T18:51:18Z</dcterms:created>
  <dcterms:modified xsi:type="dcterms:W3CDTF">2022-06-15T15:00:38Z</dcterms:modified>
</cp:coreProperties>
</file>