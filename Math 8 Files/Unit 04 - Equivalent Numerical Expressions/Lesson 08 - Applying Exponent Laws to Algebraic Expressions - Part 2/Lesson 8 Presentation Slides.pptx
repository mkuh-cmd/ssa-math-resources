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345" r:id="rId4"/>
    <p:sldId id="286" r:id="rId5"/>
    <p:sldId id="261" r:id="rId6"/>
    <p:sldId id="287" r:id="rId7"/>
    <p:sldId id="289" r:id="rId8"/>
    <p:sldId id="290" r:id="rId9"/>
    <p:sldId id="308" r:id="rId10"/>
    <p:sldId id="372" r:id="rId11"/>
    <p:sldId id="373" r:id="rId12"/>
    <p:sldId id="374" r:id="rId13"/>
    <p:sldId id="375" r:id="rId14"/>
    <p:sldId id="314" r:id="rId15"/>
    <p:sldId id="315" r:id="rId16"/>
    <p:sldId id="362" r:id="rId17"/>
    <p:sldId id="363" r:id="rId18"/>
    <p:sldId id="365" r:id="rId19"/>
    <p:sldId id="306" r:id="rId20"/>
    <p:sldId id="307" r:id="rId21"/>
  </p:sldIdLst>
  <p:sldSz cx="12192000" cy="6858000"/>
  <p:notesSz cx="6858000" cy="9144000"/>
  <p:embeddedFontLst>
    <p:embeddedFont>
      <p:font typeface="Arial Black" panose="020B0A04020102020204" pitchFamily="34" charset="0"/>
      <p:bold r:id="rId23"/>
    </p:embeddedFont>
    <p:embeddedFont>
      <p:font typeface="Calibri" panose="020F0502020204030204" pitchFamily="34" charset="0"/>
      <p:regular r:id="rId24"/>
      <p:bold r:id="rId25"/>
      <p:italic r:id="rId26"/>
      <p:boldItalic r:id="rId27"/>
    </p:embeddedFont>
    <p:embeddedFont>
      <p:font typeface="Cambria" panose="02040503050406030204" pitchFamily="18" charset="0"/>
      <p:regular r:id="rId28"/>
      <p:bold r:id="rId29"/>
      <p:italic r:id="rId30"/>
      <p:boldItalic r:id="rId31"/>
    </p:embeddedFont>
    <p:embeddedFont>
      <p:font typeface="Cambria Math" panose="02040503050406030204" pitchFamily="18" charset="0"/>
      <p:regular r:id="rId32"/>
    </p:embeddedFont>
    <p:embeddedFont>
      <p:font typeface="Century Gothic" panose="020B0502020202020204" pitchFamily="34" charset="0"/>
      <p:regular r:id="rId33"/>
      <p:bold r:id="rId34"/>
      <p:italic r:id="rId35"/>
      <p:boldItalic r:id="rId36"/>
    </p:embeddedFont>
    <p:embeddedFont>
      <p:font typeface="Verdana" panose="020B0604030504040204" pitchFamily="34" charset="0"/>
      <p:regular r:id="rId37"/>
      <p:bold r:id="rId38"/>
      <p:italic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3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24E5F"/>
    <a:srgbClr val="BFBFBF"/>
    <a:srgbClr val="C9DF6F"/>
    <a:srgbClr val="417DBF"/>
    <a:srgbClr val="3F2A67"/>
    <a:srgbClr val="26B7D4"/>
    <a:srgbClr val="54B5D1"/>
    <a:srgbClr val="33BEA6"/>
    <a:srgbClr val="2DA48F"/>
    <a:srgbClr val="52BD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279" autoAdjust="0"/>
    <p:restoredTop sz="94591" autoAdjust="0"/>
  </p:normalViewPr>
  <p:slideViewPr>
    <p:cSldViewPr snapToGrid="0">
      <p:cViewPr varScale="1">
        <p:scale>
          <a:sx n="86" d="100"/>
          <a:sy n="86" d="100"/>
        </p:scale>
        <p:origin x="834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9" Type="http://schemas.openxmlformats.org/officeDocument/2006/relationships/font" Target="fonts/font17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12.fntdata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38" Type="http://schemas.openxmlformats.org/officeDocument/2006/relationships/font" Target="fonts/font1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font" Target="fonts/font15.fntdata"/><Relationship Id="rId40" Type="http://schemas.openxmlformats.org/officeDocument/2006/relationships/font" Target="fonts/font18.fntdata"/><Relationship Id="rId53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font" Target="fonts/font14.fntdata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font" Target="fonts/font13.fntdata"/><Relationship Id="rId56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3283704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Video Link: https://</a:t>
            </a:r>
            <a:r>
              <a:rPr lang="en-US" dirty="0" err="1"/>
              <a:t>algebranation.wistia.com</a:t>
            </a:r>
            <a:r>
              <a:rPr lang="en-US" dirty="0"/>
              <a:t>/medias/fi4fidi5y8</a:t>
            </a:r>
            <a:endParaRPr dirty="0"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8865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27792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480710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249655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090820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660402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5878986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0380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999061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221854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6526516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0318918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eg"/><Relationship Id="rId3" Type="http://schemas.openxmlformats.org/officeDocument/2006/relationships/image" Target="../media/image10.png"/><Relationship Id="rId7" Type="http://schemas.openxmlformats.org/officeDocument/2006/relationships/image" Target="file:///E:/var/folders/dj/cr11xx6s15d_8pjxqhznbjlc0000gn/T/com.microsoft.Word/WebArchiveCopyPasteTempFiles/image%3furl=https:/static.onecms.io/wp-content/uploads/sites/9/2017/07/worlds-largest-burger-complete-FT-BLOG0717.jpg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4.jpe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file:///E:/var/folders/dj/cr11xx6s15d_8pjxqhznbjlc0000gn/T/com.microsoft.Word/WebArchiveCopyPasteTempFiles/image%3furl=https:/static.onecms.io/wp-content/uploads/sites/9/2017/07/worlds-largest-burger-FT-BLOG0717.jpg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6.png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8.png"/><Relationship Id="rId4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711688" y="2212773"/>
            <a:ext cx="4863548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8</a:t>
            </a:r>
            <a:r>
              <a:rPr lang="en-US" sz="36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Math: Pre-Algebra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6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4, Lesson 8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Applying Exponent Laws to Algebraic Expressions – Part 2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157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-11151" y="-11151"/>
            <a:ext cx="4094106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Picture 2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8753" y="1522577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11151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304693" y="136525"/>
            <a:ext cx="8796457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2604" y="42572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157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1070517" y="1307592"/>
            <a:ext cx="9140283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95250" indent="0">
              <a:buNone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MA.8.AR.1.1</a:t>
            </a:r>
          </a:p>
          <a:p>
            <a:pPr marL="552450" lvl="1" indent="0">
              <a:buNone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Apply the Laws of Exponents to generate equivalent algebraic expressions, limited to integer exponents and monomial bases.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78;g104476d1465_1_17">
            <a:extLst>
              <a:ext uri="{FF2B5EF4-FFF2-40B4-BE49-F238E27FC236}">
                <a16:creationId xmlns:a16="http://schemas.microsoft.com/office/drawing/2014/main" id="{78632872-3F42-3447-924A-20A16C6976F7}"/>
              </a:ext>
            </a:extLst>
          </p:cNvPr>
          <p:cNvSpPr/>
          <p:nvPr/>
        </p:nvSpPr>
        <p:spPr>
          <a:xfrm>
            <a:off x="0" y="-11151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Google Shape;281;g104476d1465_1_17">
            <a:extLst>
              <a:ext uri="{FF2B5EF4-FFF2-40B4-BE49-F238E27FC236}">
                <a16:creationId xmlns:a16="http://schemas.microsoft.com/office/drawing/2014/main" id="{D915A027-4791-D04E-90A8-9E6239ED88EB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9479" y="418867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4" name="Google Shape;283;g104476d1465_1_17">
            <a:extLst>
              <a:ext uri="{FF2B5EF4-FFF2-40B4-BE49-F238E27FC236}">
                <a16:creationId xmlns:a16="http://schemas.microsoft.com/office/drawing/2014/main" id="{983DCB5F-2CE8-A74F-A579-F39E2E9337FB}"/>
              </a:ext>
            </a:extLst>
          </p:cNvPr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5" name="Google Shape;295;g103996e1364_0_10">
            <a:extLst>
              <a:ext uri="{FF2B5EF4-FFF2-40B4-BE49-F238E27FC236}">
                <a16:creationId xmlns:a16="http://schemas.microsoft.com/office/drawing/2014/main" id="{73A67FE7-C13F-C24F-85E9-A4B96A1F42A8}"/>
              </a:ext>
            </a:extLst>
          </p:cNvPr>
          <p:cNvSpPr txBox="1">
            <a:spLocks/>
          </p:cNvSpPr>
          <p:nvPr/>
        </p:nvSpPr>
        <p:spPr>
          <a:xfrm>
            <a:off x="1304693" y="129667"/>
            <a:ext cx="9312133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6" name="Google Shape;282;g104476d1465_1_17">
            <a:extLst>
              <a:ext uri="{FF2B5EF4-FFF2-40B4-BE49-F238E27FC236}">
                <a16:creationId xmlns:a16="http://schemas.microsoft.com/office/drawing/2014/main" id="{FD66E1D7-C8ED-8A4A-9EE6-BDBA39B99125}"/>
              </a:ext>
            </a:extLst>
          </p:cNvPr>
          <p:cNvSpPr txBox="1"/>
          <p:nvPr/>
        </p:nvSpPr>
        <p:spPr>
          <a:xfrm>
            <a:off x="8889924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157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296;g103996e1364_0_10">
            <a:extLst>
              <a:ext uri="{FF2B5EF4-FFF2-40B4-BE49-F238E27FC236}">
                <a16:creationId xmlns:a16="http://schemas.microsoft.com/office/drawing/2014/main" id="{5BB4D65A-27E8-4F4F-9348-5380FE318E8D}"/>
              </a:ext>
            </a:extLst>
          </p:cNvPr>
          <p:cNvSpPr txBox="1">
            <a:spLocks/>
          </p:cNvSpPr>
          <p:nvPr/>
        </p:nvSpPr>
        <p:spPr>
          <a:xfrm>
            <a:off x="1070517" y="1600200"/>
            <a:ext cx="8846403" cy="46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 Demonstrate understanding by representing problems in multiple ways.</a:t>
            </a:r>
          </a:p>
          <a:p>
            <a:pPr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MA.K12.MTR.3.1 Complete tasks with mathematical fluency.</a:t>
            </a:r>
          </a:p>
          <a:p>
            <a:pPr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</p:txBody>
      </p:sp>
    </p:spTree>
    <p:extLst>
      <p:ext uri="{BB962C8B-B14F-4D97-AF65-F5344CB8AC3E}">
        <p14:creationId xmlns:p14="http://schemas.microsoft.com/office/powerpoint/2010/main" val="2342996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11151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304693" y="169000"/>
            <a:ext cx="9224343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9055" y="4582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id="{3ECD2D46-55D5-C547-91DD-0801CE9D6AD7}"/>
              </a:ext>
            </a:extLst>
          </p:cNvPr>
          <p:cNvSpPr txBox="1"/>
          <p:nvPr/>
        </p:nvSpPr>
        <p:spPr>
          <a:xfrm>
            <a:off x="8889924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157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1070517" y="1600200"/>
            <a:ext cx="9140283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457200">
              <a:buFont typeface="Wingdings" pitchFamily="2" charset="2"/>
              <a:buChar char="q"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write an equivalent expression by applying quotient of powers or power of a quotient laws of exponents.</a:t>
            </a: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-11151" y="-8225"/>
            <a:ext cx="2731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158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11151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315844" y="196334"/>
            <a:ext cx="942278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4.8.1 Warm-Up: Notice and Wonder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4717" y="3810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158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1D7562E-134F-D14B-AF1A-DF40E11EF758}"/>
                  </a:ext>
                </a:extLst>
              </p:cNvPr>
              <p:cNvSpPr txBox="1"/>
              <p:nvPr/>
            </p:nvSpPr>
            <p:spPr>
              <a:xfrm>
                <a:off x="1070517" y="1546650"/>
                <a:ext cx="8982459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world’s largest burger belongs to Mallie’s Sports Grill and Bar in Detroit and it costs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$8,000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1D7562E-134F-D14B-AF1A-DF40E11EF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0517" y="1546650"/>
                <a:ext cx="8982459" cy="707886"/>
              </a:xfrm>
              <a:prstGeom prst="rect">
                <a:avLst/>
              </a:prstGeom>
              <a:blipFill>
                <a:blip r:embed="rId5"/>
                <a:stretch>
                  <a:fillRect l="-747" t="-6034" b="-146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 13">
            <a:extLst>
              <a:ext uri="{FF2B5EF4-FFF2-40B4-BE49-F238E27FC236}">
                <a16:creationId xmlns:a16="http://schemas.microsoft.com/office/drawing/2014/main" id="{F32FA606-312E-FE45-9E7F-5EB4EB5783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1963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1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0" name="Rectangle 15">
            <a:extLst>
              <a:ext uri="{FF2B5EF4-FFF2-40B4-BE49-F238E27FC236}">
                <a16:creationId xmlns:a16="http://schemas.microsoft.com/office/drawing/2014/main" id="{3F80061E-0FC7-534E-8F32-815F86902C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455713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0241" name="Picture 6" descr="full burger shot from the worlds largest burger record">
            <a:extLst>
              <a:ext uri="{FF2B5EF4-FFF2-40B4-BE49-F238E27FC236}">
                <a16:creationId xmlns:a16="http://schemas.microsoft.com/office/drawing/2014/main" id="{D270456B-64B9-364F-8DB4-D093709359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r:link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691212" y="2356161"/>
            <a:ext cx="3365500" cy="1917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3" name="Picture 7" descr="worlds largest burger without top bun">
            <a:extLst>
              <a:ext uri="{FF2B5EF4-FFF2-40B4-BE49-F238E27FC236}">
                <a16:creationId xmlns:a16="http://schemas.microsoft.com/office/drawing/2014/main" id="{8CFE7C2C-AAE8-7046-A964-90B9BD19CA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r:link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209112" y="2356161"/>
            <a:ext cx="3416300" cy="1917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1D7562E-134F-D14B-AF1A-DF40E11EF758}"/>
              </a:ext>
            </a:extLst>
          </p:cNvPr>
          <p:cNvSpPr txBox="1"/>
          <p:nvPr/>
        </p:nvSpPr>
        <p:spPr>
          <a:xfrm>
            <a:off x="1070517" y="4411006"/>
            <a:ext cx="898245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92175" indent="-457200">
              <a:buFont typeface="+mj-lt"/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What do you wonder about the world’s largest burger? </a:t>
            </a:r>
          </a:p>
          <a:p>
            <a:pPr marL="892175" indent="-4572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892175" indent="-4572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892175" indent="-457200">
              <a:buFont typeface="+mj-lt"/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Write a math problem that could be solved using the world’s largest hamburger. </a:t>
            </a:r>
          </a:p>
        </p:txBody>
      </p:sp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-11151" y="-11151"/>
            <a:ext cx="2731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33005AFD-D615-1344-BDC0-5A40F6454816}"/>
              </a:ext>
            </a:extLst>
          </p:cNvPr>
          <p:cNvSpPr txBox="1"/>
          <p:nvPr/>
        </p:nvSpPr>
        <p:spPr>
          <a:xfrm>
            <a:off x="8889924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158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image8.png" descr="Icon&#10;&#10;Description automatically generated">
            <a:extLst>
              <a:ext uri="{FF2B5EF4-FFF2-40B4-BE49-F238E27FC236}">
                <a16:creationId xmlns:a16="http://schemas.microsoft.com/office/drawing/2014/main" id="{652F52D2-FC93-F542-AC97-3F44C21CAFB4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4516715" y="2854919"/>
            <a:ext cx="1148153" cy="1148153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026124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293541" y="181615"/>
            <a:ext cx="9492129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4.8.2 Guided Instruction: Equivalent Algebraic Expressions Involving Division</a:t>
            </a:r>
          </a:p>
        </p:txBody>
      </p:sp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B2B1ECCC-8E07-F247-BB16-7B958B8E6B20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158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E208A00-51E7-C544-ABDE-AE9DC3DAAB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0518" y="1829716"/>
            <a:ext cx="898246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altLang="en-US" sz="2400" dirty="0">
                <a:solidFill>
                  <a:schemeClr val="tx1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 each expression, rewrite the expression in expanded form. Then, write an equivalent algebraic expression using the fewest possible variable bases.</a:t>
            </a:r>
          </a:p>
        </p:txBody>
      </p:sp>
      <p:pic>
        <p:nvPicPr>
          <p:cNvPr id="9" name="image8.png" descr="Icon&#10;&#10;Description automatically generated">
            <a:extLst>
              <a:ext uri="{FF2B5EF4-FFF2-40B4-BE49-F238E27FC236}">
                <a16:creationId xmlns:a16="http://schemas.microsoft.com/office/drawing/2014/main" id="{B190B1DB-5AD6-B640-AF0D-A39B851A3459}"/>
              </a:ext>
            </a:extLst>
          </p:cNvPr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39989" y="335874"/>
            <a:ext cx="749552" cy="749552"/>
          </a:xfrm>
          <a:prstGeom prst="rect">
            <a:avLst/>
          </a:prstGeom>
          <a:ln/>
        </p:spPr>
      </p:pic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635D1302-B36B-ED45-B4E5-C26C8084928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74304605"/>
                  </p:ext>
                </p:extLst>
              </p:nvPr>
            </p:nvGraphicFramePr>
            <p:xfrm>
              <a:off x="1691966" y="3424825"/>
              <a:ext cx="7560000" cy="286104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160000">
                      <a:extLst>
                        <a:ext uri="{9D8B030D-6E8A-4147-A177-3AD203B41FA5}">
                          <a16:colId xmlns:a16="http://schemas.microsoft.com/office/drawing/2014/main" val="2585727392"/>
                        </a:ext>
                      </a:extLst>
                    </a:gridCol>
                    <a:gridCol w="3240000">
                      <a:extLst>
                        <a:ext uri="{9D8B030D-6E8A-4147-A177-3AD203B41FA5}">
                          <a16:colId xmlns:a16="http://schemas.microsoft.com/office/drawing/2014/main" val="2734108336"/>
                        </a:ext>
                      </a:extLst>
                    </a:gridCol>
                    <a:gridCol w="2160000">
                      <a:extLst>
                        <a:ext uri="{9D8B030D-6E8A-4147-A177-3AD203B41FA5}">
                          <a16:colId xmlns:a16="http://schemas.microsoft.com/office/drawing/2014/main" val="1529173809"/>
                        </a:ext>
                      </a:extLst>
                    </a:gridCol>
                  </a:tblGrid>
                  <a:tr h="695234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Given Expression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Expanded Form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Equivalent Expression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46963802"/>
                      </a:ext>
                    </a:extLst>
                  </a:tr>
                  <a:tr h="108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𝑧</m:t>
                                        </m:r>
                                      </m:e>
                                      <m:sup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8</m:t>
                                        </m:r>
                                      </m:sup>
                                    </m:sSup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𝑧</m:t>
                                        </m:r>
                                      </m:e>
                                      <m:sup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6</m:t>
                                        </m:r>
                                      </m:sup>
                                    </m:sSup>
                                  </m:den>
                                </m:f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solidFill>
                                <a:srgbClr val="FFC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706685554"/>
                      </a:ext>
                    </a:extLst>
                  </a:tr>
                  <a:tr h="108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4</m:t>
                                        </m:r>
                                      </m:sup>
                                    </m:sSup>
                                    <m:sSup>
                                      <m:sSup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𝑦</m:t>
                                        </m:r>
                                      </m:e>
                                      <m:sup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7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  <m:sSup>
                                      <m:sSup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𝑦</m:t>
                                        </m:r>
                                      </m:e>
                                      <m:sup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5</m:t>
                                        </m:r>
                                      </m:sup>
                                    </m:sSup>
                                  </m:den>
                                </m:f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5124502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635D1302-B36B-ED45-B4E5-C26C8084928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74304605"/>
                  </p:ext>
                </p:extLst>
              </p:nvPr>
            </p:nvGraphicFramePr>
            <p:xfrm>
              <a:off x="1691966" y="3424825"/>
              <a:ext cx="7560000" cy="286104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160000">
                      <a:extLst>
                        <a:ext uri="{9D8B030D-6E8A-4147-A177-3AD203B41FA5}">
                          <a16:colId xmlns:a16="http://schemas.microsoft.com/office/drawing/2014/main" val="2585727392"/>
                        </a:ext>
                      </a:extLst>
                    </a:gridCol>
                    <a:gridCol w="3240000">
                      <a:extLst>
                        <a:ext uri="{9D8B030D-6E8A-4147-A177-3AD203B41FA5}">
                          <a16:colId xmlns:a16="http://schemas.microsoft.com/office/drawing/2014/main" val="2734108336"/>
                        </a:ext>
                      </a:extLst>
                    </a:gridCol>
                    <a:gridCol w="2160000">
                      <a:extLst>
                        <a:ext uri="{9D8B030D-6E8A-4147-A177-3AD203B41FA5}">
                          <a16:colId xmlns:a16="http://schemas.microsoft.com/office/drawing/2014/main" val="1529173809"/>
                        </a:ext>
                      </a:extLst>
                    </a:gridCol>
                  </a:tblGrid>
                  <a:tr h="70104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Given Expression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Expanded Form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Equivalent Expression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46963802"/>
                      </a:ext>
                    </a:extLst>
                  </a:tr>
                  <a:tr h="108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63" t="-67416" r="-250423" b="-1016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solidFill>
                                <a:srgbClr val="FFC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706685554"/>
                      </a:ext>
                    </a:extLst>
                  </a:tr>
                  <a:tr h="108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63" t="-167416" r="-250423" b="-16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5124502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9024578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150616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07691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158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89B13CF-7799-4D4C-A21A-ADC21E179E83}"/>
              </a:ext>
            </a:extLst>
          </p:cNvPr>
          <p:cNvSpPr/>
          <p:nvPr/>
        </p:nvSpPr>
        <p:spPr>
          <a:xfrm>
            <a:off x="1081668" y="312759"/>
            <a:ext cx="897130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Show how each of the equivalent expressions could have been generated by applying the quotient of powers law of exponents.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E5526087-73AF-B849-9165-0CB90D0AAD2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06774466"/>
                  </p:ext>
                </p:extLst>
              </p:nvPr>
            </p:nvGraphicFramePr>
            <p:xfrm>
              <a:off x="1669663" y="1652038"/>
              <a:ext cx="7560000" cy="32400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160000">
                      <a:extLst>
                        <a:ext uri="{9D8B030D-6E8A-4147-A177-3AD203B41FA5}">
                          <a16:colId xmlns:a16="http://schemas.microsoft.com/office/drawing/2014/main" val="3702369214"/>
                        </a:ext>
                      </a:extLst>
                    </a:gridCol>
                    <a:gridCol w="3240000">
                      <a:extLst>
                        <a:ext uri="{9D8B030D-6E8A-4147-A177-3AD203B41FA5}">
                          <a16:colId xmlns:a16="http://schemas.microsoft.com/office/drawing/2014/main" val="4078204657"/>
                        </a:ext>
                      </a:extLst>
                    </a:gridCol>
                    <a:gridCol w="2160000">
                      <a:extLst>
                        <a:ext uri="{9D8B030D-6E8A-4147-A177-3AD203B41FA5}">
                          <a16:colId xmlns:a16="http://schemas.microsoft.com/office/drawing/2014/main" val="990096509"/>
                        </a:ext>
                      </a:extLst>
                    </a:gridCol>
                  </a:tblGrid>
                  <a:tr h="108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Given Expression</a:t>
                          </a:r>
                          <a:endParaRPr lang="x-none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Apply Quotient of Powers Law of Exponents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Equivalent Expression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05915383"/>
                      </a:ext>
                    </a:extLst>
                  </a:tr>
                  <a:tr h="108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𝑧</m:t>
                                        </m:r>
                                      </m:e>
                                      <m:sup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8</m:t>
                                        </m:r>
                                      </m:sup>
                                    </m:sSup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𝑧</m:t>
                                        </m:r>
                                      </m:e>
                                      <m:sup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6</m:t>
                                        </m:r>
                                      </m:sup>
                                    </m:sSup>
                                  </m:den>
                                </m:f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solidFill>
                                <a:srgbClr val="FFC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514512263"/>
                      </a:ext>
                    </a:extLst>
                  </a:tr>
                  <a:tr h="108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4</m:t>
                                        </m:r>
                                      </m:sup>
                                    </m:sSup>
                                    <m:sSup>
                                      <m:sSup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𝑦</m:t>
                                        </m:r>
                                      </m:e>
                                      <m:sup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7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  <m:sSup>
                                      <m:sSup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𝑦</m:t>
                                        </m:r>
                                      </m:e>
                                      <m:sup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5</m:t>
                                        </m:r>
                                      </m:sup>
                                    </m:sSup>
                                  </m:den>
                                </m:f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17885276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E5526087-73AF-B849-9165-0CB90D0AAD2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06774466"/>
                  </p:ext>
                </p:extLst>
              </p:nvPr>
            </p:nvGraphicFramePr>
            <p:xfrm>
              <a:off x="1669663" y="1652038"/>
              <a:ext cx="7560000" cy="32400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160000">
                      <a:extLst>
                        <a:ext uri="{9D8B030D-6E8A-4147-A177-3AD203B41FA5}">
                          <a16:colId xmlns:a16="http://schemas.microsoft.com/office/drawing/2014/main" val="3702369214"/>
                        </a:ext>
                      </a:extLst>
                    </a:gridCol>
                    <a:gridCol w="3240000">
                      <a:extLst>
                        <a:ext uri="{9D8B030D-6E8A-4147-A177-3AD203B41FA5}">
                          <a16:colId xmlns:a16="http://schemas.microsoft.com/office/drawing/2014/main" val="4078204657"/>
                        </a:ext>
                      </a:extLst>
                    </a:gridCol>
                    <a:gridCol w="2160000">
                      <a:extLst>
                        <a:ext uri="{9D8B030D-6E8A-4147-A177-3AD203B41FA5}">
                          <a16:colId xmlns:a16="http://schemas.microsoft.com/office/drawing/2014/main" val="990096509"/>
                        </a:ext>
                      </a:extLst>
                    </a:gridCol>
                  </a:tblGrid>
                  <a:tr h="108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Given Expression</a:t>
                          </a:r>
                          <a:endParaRPr lang="x-none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Apply Quotient of Powers Law of Exponents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Equivalent Expression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05915383"/>
                      </a:ext>
                    </a:extLst>
                  </a:tr>
                  <a:tr h="108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82" t="-100562" r="-250704" b="-1011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solidFill>
                                <a:srgbClr val="FFC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514512263"/>
                      </a:ext>
                    </a:extLst>
                  </a:tr>
                  <a:tr h="108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82" t="-201695" r="-250704" b="-16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17885276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88C47AE3-1B72-E948-B50A-174C96AAFEE1}"/>
              </a:ext>
            </a:extLst>
          </p:cNvPr>
          <p:cNvSpPr/>
          <p:nvPr/>
        </p:nvSpPr>
        <p:spPr>
          <a:xfrm>
            <a:off x="1081668" y="5049700"/>
            <a:ext cx="926948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quotient of powers law of exponents can be applied to generate equivalent expressions involving division with algebraic expressions.</a:t>
            </a:r>
          </a:p>
        </p:txBody>
      </p:sp>
    </p:spTree>
    <p:extLst>
      <p:ext uri="{BB962C8B-B14F-4D97-AF65-F5344CB8AC3E}">
        <p14:creationId xmlns:p14="http://schemas.microsoft.com/office/powerpoint/2010/main" val="33938133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11151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159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889B13CF-7799-4D4C-A21A-ADC21E179E83}"/>
                  </a:ext>
                </a:extLst>
              </p:cNvPr>
              <p:cNvSpPr/>
              <p:nvPr/>
            </p:nvSpPr>
            <p:spPr>
              <a:xfrm>
                <a:off x="1070518" y="312759"/>
                <a:ext cx="8982460" cy="328371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When dividing algebraic expressions, the coefficients are divided as well. In both expressions above, the coefficients of the divisor and the dividend are both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so the coefficient of the resulting expression is also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because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1÷1=1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Consider the expression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s-E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16</m:t>
                            </m:r>
                            <m:r>
                              <a:rPr lang="es-E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s-E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9</m:t>
                            </m:r>
                          </m:sup>
                        </m:sSup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s-E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s-E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6</m:t>
                            </m:r>
                          </m:sup>
                        </m:sSup>
                      </m:num>
                      <m:den>
                        <m:r>
                          <a:rPr lang="es-E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8</m:t>
                        </m:r>
                        <m:r>
                          <a:rPr lang="es-E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s-E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s-E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Generate an equivalent expression using division.</a:t>
                </a:r>
              </a:p>
            </p:txBody>
          </p:sp>
        </mc:Choice>
        <mc:Fallback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889B13CF-7799-4D4C-A21A-ADC21E179E8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0518" y="312759"/>
                <a:ext cx="8982460" cy="3283719"/>
              </a:xfrm>
              <a:prstGeom prst="rect">
                <a:avLst/>
              </a:prstGeom>
              <a:blipFill>
                <a:blip r:embed="rId4"/>
                <a:stretch>
                  <a:fillRect l="-1086" t="-1484" r="-1969" b="-35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Diagram&#10;&#10;Description automatically generated with low confidence">
            <a:extLst>
              <a:ext uri="{FF2B5EF4-FFF2-40B4-BE49-F238E27FC236}">
                <a16:creationId xmlns:a16="http://schemas.microsoft.com/office/drawing/2014/main" id="{CE05B921-E5DF-9743-953C-A76D764AACBD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55181" y="4024136"/>
            <a:ext cx="2352615" cy="2006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98921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11151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1660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7367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159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889B13CF-7799-4D4C-A21A-ADC21E179E83}"/>
                  </a:ext>
                </a:extLst>
              </p:cNvPr>
              <p:cNvSpPr/>
              <p:nvPr/>
            </p:nvSpPr>
            <p:spPr>
              <a:xfrm>
                <a:off x="1081668" y="312758"/>
                <a:ext cx="8971309" cy="193899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+mj-lt"/>
                  <a:buAutoNum type="arabicPeriod" startAt="4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The coefficients will not always be integers. Consider the value of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3÷12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pPr marL="889000" indent="-4445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Express the value of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3÷12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as both a fraction and a decimal.</a:t>
                </a:r>
              </a:p>
            </p:txBody>
          </p:sp>
        </mc:Choice>
        <mc:Fallback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889B13CF-7799-4D4C-A21A-ADC21E179E8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1668" y="312758"/>
                <a:ext cx="8971309" cy="1938992"/>
              </a:xfrm>
              <a:prstGeom prst="rect">
                <a:avLst/>
              </a:prstGeom>
              <a:blipFill>
                <a:blip r:embed="rId4"/>
                <a:stretch>
                  <a:fillRect l="-1019" t="-2516" r="-2038" b="-62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54326AC-3643-6241-AC31-1102DE7189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6280160"/>
              </p:ext>
            </p:extLst>
          </p:nvPr>
        </p:nvGraphicFramePr>
        <p:xfrm>
          <a:off x="2934873" y="2510425"/>
          <a:ext cx="5400000" cy="1080000"/>
        </p:xfrm>
        <a:graphic>
          <a:graphicData uri="http://schemas.openxmlformats.org/drawingml/2006/table">
            <a:tbl>
              <a:tblPr firstRow="1" firstCol="1" bandRow="1"/>
              <a:tblGrid>
                <a:gridCol w="1800000">
                  <a:extLst>
                    <a:ext uri="{9D8B030D-6E8A-4147-A177-3AD203B41FA5}">
                      <a16:colId xmlns:a16="http://schemas.microsoft.com/office/drawing/2014/main" val="1126648307"/>
                    </a:ext>
                  </a:extLst>
                </a:gridCol>
                <a:gridCol w="3600000">
                  <a:extLst>
                    <a:ext uri="{9D8B030D-6E8A-4147-A177-3AD203B41FA5}">
                      <a16:colId xmlns:a16="http://schemas.microsoft.com/office/drawing/2014/main" val="3042899142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Fraction</a:t>
                      </a:r>
                      <a:endParaRPr lang="x-none" sz="14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x-none" sz="14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5928644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Decimal</a:t>
                      </a:r>
                      <a:endParaRPr lang="x-none" sz="14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x-none" sz="14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0979500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8E6A6EDC-DFBF-334A-806B-7D37CE0950A6}"/>
                  </a:ext>
                </a:extLst>
              </p:cNvPr>
              <p:cNvSpPr/>
              <p:nvPr/>
            </p:nvSpPr>
            <p:spPr>
              <a:xfrm>
                <a:off x="1081668" y="3973751"/>
                <a:ext cx="8971309" cy="86260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889000" indent="-444500">
                  <a:buFont typeface="+mj-lt"/>
                  <a:buAutoNum type="alphaLcPeriod" startAt="2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Generate an equivalent expression to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−3</m:t>
                    </m:r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s-E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e>
                      <m:sup>
                        <m:r>
                          <a:rPr lang="es-E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6</m:t>
                        </m:r>
                      </m:sup>
                    </m:sSup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s-E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</m:e>
                      <m:sup>
                        <m:r>
                          <a:rPr lang="es-E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5</m:t>
                        </m:r>
                      </m:sup>
                    </m:sSup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÷12</m:t>
                    </m:r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s-E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e>
                      <m:sup>
                        <m:r>
                          <a:rPr lang="es-E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sup>
                    </m:sSup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s-E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</m:e>
                      <m:sup>
                        <m:r>
                          <a:rPr lang="es-E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8E6A6EDC-DFBF-334A-806B-7D37CE0950A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1668" y="3973751"/>
                <a:ext cx="8971309" cy="862608"/>
              </a:xfrm>
              <a:prstGeom prst="rect">
                <a:avLst/>
              </a:prstGeom>
              <a:blipFill>
                <a:blip r:embed="rId5"/>
                <a:stretch>
                  <a:fillRect t="-5674" b="-120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690634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11151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159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89B13CF-7799-4D4C-A21A-ADC21E179E83}"/>
              </a:ext>
            </a:extLst>
          </p:cNvPr>
          <p:cNvSpPr/>
          <p:nvPr/>
        </p:nvSpPr>
        <p:spPr>
          <a:xfrm>
            <a:off x="1070518" y="312758"/>
            <a:ext cx="898246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 startAt="5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Consider the expressions in the table.</a:t>
            </a:r>
          </a:p>
          <a:p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41388" indent="-496888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 each expression, rewrite the expression in expanded form. Then, write an equivalent algebraic expression using the fewest possible variable bases.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53EA9720-F189-BB4F-93FF-25E5E7079F8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71077876"/>
                  </p:ext>
                </p:extLst>
              </p:nvPr>
            </p:nvGraphicFramePr>
            <p:xfrm>
              <a:off x="2093409" y="2949274"/>
              <a:ext cx="6660000" cy="34200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980000">
                      <a:extLst>
                        <a:ext uri="{9D8B030D-6E8A-4147-A177-3AD203B41FA5}">
                          <a16:colId xmlns:a16="http://schemas.microsoft.com/office/drawing/2014/main" val="1732008770"/>
                        </a:ext>
                      </a:extLst>
                    </a:gridCol>
                    <a:gridCol w="2700000">
                      <a:extLst>
                        <a:ext uri="{9D8B030D-6E8A-4147-A177-3AD203B41FA5}">
                          <a16:colId xmlns:a16="http://schemas.microsoft.com/office/drawing/2014/main" val="3258142554"/>
                        </a:ext>
                      </a:extLst>
                    </a:gridCol>
                    <a:gridCol w="1980000">
                      <a:extLst>
                        <a:ext uri="{9D8B030D-6E8A-4147-A177-3AD203B41FA5}">
                          <a16:colId xmlns:a16="http://schemas.microsoft.com/office/drawing/2014/main" val="1300287791"/>
                        </a:ext>
                      </a:extLst>
                    </a:gridCol>
                  </a:tblGrid>
                  <a:tr h="72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Given Expression</a:t>
                          </a:r>
                          <a:endParaRPr lang="x-none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Expanded Form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Equivalent Expression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67338588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x-none" sz="20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sz="20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𝑤</m:t>
                                            </m:r>
                                          </m:num>
                                          <m:den>
                                            <m:r>
                                              <a:rPr lang="en-US" sz="20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𝑛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e>
                                  <m:sup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686739822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x-none" sz="20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sz="20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𝑞</m:t>
                                            </m:r>
                                          </m:num>
                                          <m:den>
                                            <m:r>
                                              <a:rPr lang="en-US" sz="20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−</m:t>
                                            </m:r>
                                            <m:r>
                                              <a:rPr lang="en-US" sz="20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𝑟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e>
                                  <m:sup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5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513170011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x-none" sz="20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sz="20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−2</m:t>
                                            </m:r>
                                            <m:r>
                                              <a:rPr lang="en-US" sz="20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𝑝</m:t>
                                            </m:r>
                                          </m:num>
                                          <m:den>
                                            <m:r>
                                              <a:rPr lang="en-US" sz="20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𝑥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e>
                                  <m:sup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14633961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53EA9720-F189-BB4F-93FF-25E5E7079F8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71077876"/>
                  </p:ext>
                </p:extLst>
              </p:nvPr>
            </p:nvGraphicFramePr>
            <p:xfrm>
              <a:off x="2093409" y="2949274"/>
              <a:ext cx="6660000" cy="34200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980000">
                      <a:extLst>
                        <a:ext uri="{9D8B030D-6E8A-4147-A177-3AD203B41FA5}">
                          <a16:colId xmlns:a16="http://schemas.microsoft.com/office/drawing/2014/main" val="1732008770"/>
                        </a:ext>
                      </a:extLst>
                    </a:gridCol>
                    <a:gridCol w="2700000">
                      <a:extLst>
                        <a:ext uri="{9D8B030D-6E8A-4147-A177-3AD203B41FA5}">
                          <a16:colId xmlns:a16="http://schemas.microsoft.com/office/drawing/2014/main" val="3258142554"/>
                        </a:ext>
                      </a:extLst>
                    </a:gridCol>
                    <a:gridCol w="1980000">
                      <a:extLst>
                        <a:ext uri="{9D8B030D-6E8A-4147-A177-3AD203B41FA5}">
                          <a16:colId xmlns:a16="http://schemas.microsoft.com/office/drawing/2014/main" val="1300287791"/>
                        </a:ext>
                      </a:extLst>
                    </a:gridCol>
                  </a:tblGrid>
                  <a:tr h="72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Given Expression</a:t>
                          </a:r>
                          <a:endParaRPr lang="x-none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Expanded Form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Equivalent Expression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67338588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615" t="-81757" r="-237538" b="-2020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686739822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615" t="-181757" r="-237538" b="-1020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513170011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615" t="-281757" r="-237538" b="-20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14633961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9582458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195953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3028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159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889B13CF-7799-4D4C-A21A-ADC21E179E83}"/>
                  </a:ext>
                </a:extLst>
              </p:cNvPr>
              <p:cNvSpPr/>
              <p:nvPr/>
            </p:nvSpPr>
            <p:spPr>
              <a:xfrm>
                <a:off x="1059366" y="312759"/>
                <a:ext cx="9790771" cy="580165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914400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Complete the statements.</a:t>
                </a:r>
              </a:p>
              <a:p>
                <a:pPr marL="914400">
                  <a:lnSpc>
                    <a:spcPct val="250000"/>
                  </a:lnSpc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When a quotient is raised to a power, the 			  	law of exponents can be applied by raising both the dividend and divisor to the same power. If either the dividend or divisor includes a product, the 			 law of exponents can also be applied. For example,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s-ES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−2</m:t>
                                </m:r>
                                <m:r>
                                  <a:rPr lang="es-ES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𝑝</m:t>
                                </m:r>
                              </m:num>
                              <m:den>
                                <m:r>
                                  <a:rPr lang="es-ES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s-E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can be expressed as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s-ES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−2</m:t>
                                </m:r>
                              </m:e>
                            </m:d>
                          </m:e>
                          <m:sup>
                            <m:r>
                              <a:rPr lang="es-ES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sup>
                        </m:sSup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s-ES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s-ES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s-ES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s-ES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which is equivalent to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s-E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               </m:t>
                        </m:r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s-ES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s-ES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s-ES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s-ES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</p:txBody>
          </p:sp>
        </mc:Choice>
        <mc:Fallback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889B13CF-7799-4D4C-A21A-ADC21E179E8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9366" y="312759"/>
                <a:ext cx="9790771" cy="5801653"/>
              </a:xfrm>
              <a:prstGeom prst="rect">
                <a:avLst/>
              </a:prstGeom>
              <a:blipFill>
                <a:blip r:embed="rId4"/>
                <a:stretch>
                  <a:fillRect t="-630" r="-11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 descr="Text&#10;&#10;Description automatically generated">
            <a:extLst>
              <a:ext uri="{FF2B5EF4-FFF2-40B4-BE49-F238E27FC236}">
                <a16:creationId xmlns:a16="http://schemas.microsoft.com/office/drawing/2014/main" id="{08C6C8BD-358C-D64E-BCF0-F3ADF5132C97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63192" y="2908964"/>
            <a:ext cx="2676028" cy="103172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EA80BE5-4E69-074E-A5FE-F7C01E60B326}"/>
              </a:ext>
            </a:extLst>
          </p:cNvPr>
          <p:cNvSpPr>
            <a:spLocks/>
          </p:cNvSpPr>
          <p:nvPr/>
        </p:nvSpPr>
        <p:spPr>
          <a:xfrm>
            <a:off x="3925320" y="5366905"/>
            <a:ext cx="457200" cy="365760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pic>
        <p:nvPicPr>
          <p:cNvPr id="11" name="Picture 10" descr="Text&#10;&#10;Description automatically generated">
            <a:extLst>
              <a:ext uri="{FF2B5EF4-FFF2-40B4-BE49-F238E27FC236}">
                <a16:creationId xmlns:a16="http://schemas.microsoft.com/office/drawing/2014/main" id="{08C6C8BD-358C-D64E-BCF0-F3ADF5132C97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30896" y="643227"/>
            <a:ext cx="2676028" cy="1031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5056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-11151" y="-11151"/>
            <a:ext cx="2731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089186" y="2766145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Try It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160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image4.png" descr="Icon&#10;&#10;Description automatically generated">
            <a:extLst>
              <a:ext uri="{FF2B5EF4-FFF2-40B4-BE49-F238E27FC236}">
                <a16:creationId xmlns:a16="http://schemas.microsoft.com/office/drawing/2014/main" id="{000D1E49-A542-E14A-9680-F4F91F33B13A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5089186" y="2852923"/>
            <a:ext cx="1152144" cy="1152144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607887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77724" y="1513712"/>
            <a:ext cx="4471834" cy="50451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78" name="Google Shape;278;g104476d1465_1_17"/>
          <p:cNvSpPr/>
          <p:nvPr/>
        </p:nvSpPr>
        <p:spPr>
          <a:xfrm>
            <a:off x="4559" y="-8225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3591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304693" y="137697"/>
            <a:ext cx="9144865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4.8.3 Try It: Equivalent Algebraic Expressions Involving Division</a:t>
            </a:r>
          </a:p>
        </p:txBody>
      </p:sp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8885365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160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44DF7DE-9172-3E4E-B74A-7A51585FB6EA}"/>
              </a:ext>
            </a:extLst>
          </p:cNvPr>
          <p:cNvSpPr txBox="1"/>
          <p:nvPr/>
        </p:nvSpPr>
        <p:spPr>
          <a:xfrm>
            <a:off x="1070517" y="1513712"/>
            <a:ext cx="473993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Match the expressions in the column on the left to an equivalent expression in the column on the right by drawing arrows.</a:t>
            </a:r>
          </a:p>
        </p:txBody>
      </p:sp>
      <p:pic>
        <p:nvPicPr>
          <p:cNvPr id="9" name="image4.png" descr="Icon&#10;&#10;Description automatically generated">
            <a:extLst>
              <a:ext uri="{FF2B5EF4-FFF2-40B4-BE49-F238E27FC236}">
                <a16:creationId xmlns:a16="http://schemas.microsoft.com/office/drawing/2014/main" id="{402B99DF-8A6D-A443-BC8B-7D711EEA0FB0}"/>
              </a:ext>
            </a:extLst>
          </p:cNvPr>
          <p:cNvPicPr/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30347" y="325105"/>
            <a:ext cx="750164" cy="750164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16744370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-11151" y="-11151"/>
            <a:ext cx="2731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545990" y="2766145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160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image7.png" descr="Icon&#10;&#10;Description automatically generated">
            <a:extLst>
              <a:ext uri="{FF2B5EF4-FFF2-40B4-BE49-F238E27FC236}">
                <a16:creationId xmlns:a16="http://schemas.microsoft.com/office/drawing/2014/main" id="{40CE98E7-F05D-D54B-A7FB-38B742379B70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4778154" y="2852921"/>
            <a:ext cx="1152149" cy="1152149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7458898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304693" y="47073"/>
            <a:ext cx="9274213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40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4.8.4 Your Turn!</a:t>
            </a:r>
          </a:p>
        </p:txBody>
      </p:sp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160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44DF7DE-9172-3E4E-B74A-7A51585FB6EA}"/>
                  </a:ext>
                </a:extLst>
              </p:cNvPr>
              <p:cNvSpPr txBox="1"/>
              <p:nvPr/>
            </p:nvSpPr>
            <p:spPr>
              <a:xfrm>
                <a:off x="1070517" y="1372774"/>
                <a:ext cx="9401565" cy="38851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44500" indent="-4445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For each expression, apply exponent laws to generate an equivalent expression with the fewest factors possible.</a:t>
                </a:r>
                <a:endParaRPr lang="x-none" sz="20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:endParaRPr lang="x-none" sz="16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spcAft>
                    <a:spcPts val="1000"/>
                  </a:spcAft>
                  <a:buFont typeface="+mj-lt"/>
                  <a:buAutoNum type="alphaLcPeriod"/>
                </a:pPr>
                <a:r>
                  <a:rPr lang="x-none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x-none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x-none" sz="24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9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x-none" sz="24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=_____________</m:t>
                    </m:r>
                  </m:oMath>
                </a14:m>
                <a:endParaRPr lang="x-none" sz="16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spcAft>
                    <a:spcPts val="1000"/>
                  </a:spcAft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:endParaRPr lang="x-none" sz="16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spcAft>
                    <a:spcPts val="1000"/>
                  </a:spcAft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:endParaRPr lang="x-none" sz="16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spcAft>
                    <a:spcPts val="1000"/>
                  </a:spcAft>
                  <a:buFont typeface="+mj-lt"/>
                  <a:buAutoNum type="alphaLcPeriod" startAt="2"/>
                </a:pPr>
                <a:r>
                  <a:rPr lang="x-none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x-none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5</m:t>
                        </m:r>
                        <m:sSup>
                          <m:sSupPr>
                            <m:ctrlPr>
                              <a:rPr lang="x-none" sz="24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4</m:t>
                            </m:r>
                          </m:sup>
                        </m:sSup>
                        <m:sSup>
                          <m:sSupPr>
                            <m:ctrlPr>
                              <a:rPr lang="x-none" sz="24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7</m:t>
                            </m:r>
                          </m:sup>
                        </m:sSup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15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  <m:sSup>
                          <m:sSupPr>
                            <m:ctrlPr>
                              <a:rPr lang="x-none" sz="24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5</m:t>
                            </m:r>
                          </m:sup>
                        </m:sSup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=_____________</m:t>
                    </m:r>
                  </m:oMath>
                </a14:m>
                <a:endParaRPr lang="x-none" sz="16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44DF7DE-9172-3E4E-B74A-7A51585FB6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0517" y="1372774"/>
                <a:ext cx="9401565" cy="3885103"/>
              </a:xfrm>
              <a:prstGeom prst="rect">
                <a:avLst/>
              </a:prstGeom>
              <a:blipFill>
                <a:blip r:embed="rId4"/>
                <a:stretch>
                  <a:fillRect l="-1038" t="-12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image7.png" descr="Icon&#10;&#10;Description automatically generated">
            <a:extLst>
              <a:ext uri="{FF2B5EF4-FFF2-40B4-BE49-F238E27FC236}">
                <a16:creationId xmlns:a16="http://schemas.microsoft.com/office/drawing/2014/main" id="{52D0E395-60B6-4646-8515-171ACC31F5B4}"/>
              </a:ext>
            </a:extLst>
          </p:cNvPr>
          <p:cNvPicPr/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32075" y="289318"/>
            <a:ext cx="751998" cy="751998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21904283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160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F54A4596-5923-6342-9500-70E8F702680A}"/>
                  </a:ext>
                </a:extLst>
              </p:cNvPr>
              <p:cNvSpPr/>
              <p:nvPr/>
            </p:nvSpPr>
            <p:spPr>
              <a:xfrm>
                <a:off x="1070517" y="457943"/>
                <a:ext cx="8982459" cy="59031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914400" indent="-457200">
                  <a:spcAft>
                    <a:spcPts val="1000"/>
                  </a:spcAft>
                  <a:buFont typeface="+mj-lt"/>
                  <a:buAutoNum type="alphaLcPeriod" startAt="3"/>
                </a:pPr>
                <a:r>
                  <a:rPr lang="x-none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x-none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x-none" sz="24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−21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5</m:t>
                            </m:r>
                          </m:sup>
                        </m:sSup>
                        <m:sSup>
                          <m:sSupPr>
                            <m:ctrlPr>
                              <a:rPr lang="x-none" sz="24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6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x-none" sz="24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7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4</m:t>
                            </m:r>
                          </m:sup>
                        </m:sSup>
                        <m:sSup>
                          <m:sSupPr>
                            <m:ctrlPr>
                              <a:rPr lang="x-none" sz="24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=_____________</m:t>
                    </m:r>
                  </m:oMath>
                </a14:m>
                <a:endParaRPr lang="x-none" sz="16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spcAft>
                    <a:spcPts val="1000"/>
                  </a:spcAft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:endParaRPr lang="x-none" sz="16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spcAft>
                    <a:spcPts val="1000"/>
                  </a:spcAft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:endParaRPr lang="x-none" sz="16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spcAft>
                    <a:spcPts val="1000"/>
                  </a:spcAft>
                  <a:buFont typeface="+mj-lt"/>
                  <a:buAutoNum type="alphaLcPeriod" startAt="4"/>
                </a:pPr>
                <a:r>
                  <a:rPr lang="x-none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x-none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x-none" sz="24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x-none" sz="2400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𝑧</m:t>
                                </m:r>
                              </m:num>
                              <m:den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=_____________</m:t>
                    </m:r>
                  </m:oMath>
                </a14:m>
                <a:endParaRPr lang="x-none" sz="16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spcAft>
                    <a:spcPts val="1000"/>
                  </a:spcAft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:endParaRPr lang="x-none" sz="16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spcAft>
                    <a:spcPts val="1000"/>
                  </a:spcAft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:endParaRPr lang="x-none" sz="16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spcAft>
                    <a:spcPts val="1000"/>
                  </a:spcAft>
                  <a:buFont typeface="+mj-lt"/>
                  <a:buAutoNum type="alphaLcPeriod" startAt="5"/>
                </a:pPr>
                <a:r>
                  <a:rPr lang="x-none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x-none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x-none" sz="24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x-none" sz="2400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𝑓</m:t>
                                </m:r>
                              </m:num>
                              <m:den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𝑔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8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=_____________</m:t>
                    </m:r>
                  </m:oMath>
                </a14:m>
                <a:endParaRPr lang="x-none" sz="16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spcAft>
                    <a:spcPts val="1000"/>
                  </a:spcAft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:endParaRPr lang="x-none" sz="16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spcAft>
                    <a:spcPts val="1000"/>
                  </a:spcAft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:endParaRPr lang="x-none" sz="16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spcAft>
                    <a:spcPts val="1000"/>
                  </a:spcAft>
                  <a:buFont typeface="+mj-lt"/>
                  <a:buAutoNum type="alphaLcPeriod" startAt="6"/>
                </a:pPr>
                <a:r>
                  <a:rPr lang="x-none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x-none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x-none" sz="24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7</m:t>
                            </m:r>
                          </m:sup>
                        </m:sSup>
                        <m:sSup>
                          <m:sSupPr>
                            <m:ctrlPr>
                              <a:rPr lang="x-none" sz="24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9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x-none" sz="24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6</m:t>
                            </m:r>
                          </m:sup>
                        </m:sSup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=_____________</m:t>
                    </m:r>
                  </m:oMath>
                </a14:m>
                <a:endParaRPr lang="x-none" sz="16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F54A4596-5923-6342-9500-70E8F702680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0517" y="457943"/>
                <a:ext cx="8982459" cy="59031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599444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-11151" y="-13402"/>
            <a:ext cx="2731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0" name="Google Shape;310;g104476d1465_1_39"/>
          <p:cNvSpPr txBox="1"/>
          <p:nvPr/>
        </p:nvSpPr>
        <p:spPr>
          <a:xfrm>
            <a:off x="731475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161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52976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82" name="Google Shape;282;g104476d1465_1_17"/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161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304693" y="378576"/>
            <a:ext cx="9312133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0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4.8.5 Wrap-Up: Error Analysis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1493" y="328070"/>
            <a:ext cx="747300" cy="7473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AE281112-0763-C941-9DB7-9B28C4EA4745}"/>
                  </a:ext>
                </a:extLst>
              </p:cNvPr>
              <p:cNvSpPr/>
              <p:nvPr/>
            </p:nvSpPr>
            <p:spPr>
              <a:xfrm>
                <a:off x="1070517" y="1155476"/>
                <a:ext cx="9546309" cy="501893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96888" indent="-496888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Luis rewrote the expression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x-none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x-none" sz="24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−8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6</m:t>
                            </m:r>
                          </m:sup>
                        </m:sSup>
                        <m:sSup>
                          <m:sSupPr>
                            <m:ctrlPr>
                              <a:rPr lang="x-none" sz="24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8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x-none" sz="24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sup>
                        </m:sSup>
                        <m:sSup>
                          <m:sSupPr>
                            <m:ctrlPr>
                              <a:rPr lang="x-none" sz="24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but he made an error and ended up with expression that is not equivalent. His work is shown.</a:t>
                </a:r>
                <a:endParaRPr lang="x-none" sz="1600" dirty="0"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/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endParaRPr lang="x-none" sz="1600" dirty="0"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x-none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x-none" sz="24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−8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6</m:t>
                            </m:r>
                          </m:sup>
                        </m:sSup>
                        <m:sSup>
                          <m:sSupPr>
                            <m:ctrlPr>
                              <a:rPr lang="x-none" sz="24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8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x-none" sz="24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sup>
                        </m:sSup>
                        <m:sSup>
                          <m:sSupPr>
                            <m:ctrlPr>
                              <a:rPr lang="x-none" sz="24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−4</m:t>
                    </m:r>
                    <m:sSup>
                      <m:sSupPr>
                        <m:ctrlPr>
                          <a:rPr lang="x-none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𝑞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x-none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sup>
                    </m:sSup>
                  </m:oMath>
                </a14:m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error did Luis make?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Write a brief note to Luis explaining how to avoid making the same error in the future. Be sure to include what he did correctly in your note.</a:t>
                </a: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AE281112-0763-C941-9DB7-9B28C4EA474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0517" y="1155476"/>
                <a:ext cx="9546309" cy="5018938"/>
              </a:xfrm>
              <a:prstGeom prst="rect">
                <a:avLst/>
              </a:prstGeom>
              <a:blipFill>
                <a:blip r:embed="rId5"/>
                <a:stretch>
                  <a:fillRect l="-1022" r="-255" b="-18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3080</TotalTime>
  <Words>839</Words>
  <Application>Microsoft Office PowerPoint</Application>
  <PresentationFormat>Widescreen</PresentationFormat>
  <Paragraphs>142</Paragraphs>
  <Slides>20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Verdana</vt:lpstr>
      <vt:lpstr>Wingdings</vt:lpstr>
      <vt:lpstr>Century Gothic</vt:lpstr>
      <vt:lpstr>Calibri</vt:lpstr>
      <vt:lpstr>Arial Black</vt:lpstr>
      <vt:lpstr>Cambria Math</vt:lpstr>
      <vt:lpstr>Arial</vt:lpstr>
      <vt:lpstr>Cambria</vt:lpstr>
      <vt:lpstr>1_Office Theme</vt:lpstr>
      <vt:lpstr>8th Grade Math: Pre-Algebra  Unit 4, Lesson 8  Applying Exponent Laws to Algebraic Expressions – Part 2  Volume 1, pg. 157  </vt:lpstr>
      <vt:lpstr>Benchmark</vt:lpstr>
      <vt:lpstr>PowerPoint Presentation</vt:lpstr>
      <vt:lpstr>PowerPoint Presentation</vt:lpstr>
      <vt:lpstr>Warm-Up</vt:lpstr>
      <vt:lpstr>PowerPoint Presentation</vt:lpstr>
      <vt:lpstr>Guided Instruction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Try It</vt:lpstr>
      <vt:lpstr>PowerPoint Presentation</vt:lpstr>
      <vt:lpstr>Your Turn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Natasha Dease</cp:lastModifiedBy>
  <cp:revision>28</cp:revision>
  <dcterms:created xsi:type="dcterms:W3CDTF">2015-03-17T18:51:18Z</dcterms:created>
  <dcterms:modified xsi:type="dcterms:W3CDTF">2022-06-15T22:29:46Z</dcterms:modified>
</cp:coreProperties>
</file>