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345" r:id="rId4"/>
    <p:sldId id="286" r:id="rId5"/>
    <p:sldId id="261" r:id="rId6"/>
    <p:sldId id="287" r:id="rId7"/>
    <p:sldId id="354" r:id="rId8"/>
    <p:sldId id="355" r:id="rId9"/>
    <p:sldId id="356" r:id="rId10"/>
    <p:sldId id="372" r:id="rId11"/>
    <p:sldId id="314" r:id="rId12"/>
    <p:sldId id="315" r:id="rId13"/>
    <p:sldId id="316" r:id="rId14"/>
    <p:sldId id="362" r:id="rId15"/>
    <p:sldId id="363" r:id="rId16"/>
    <p:sldId id="365" r:id="rId17"/>
    <p:sldId id="366" r:id="rId18"/>
    <p:sldId id="367" r:id="rId19"/>
    <p:sldId id="346" r:id="rId20"/>
    <p:sldId id="347" r:id="rId21"/>
    <p:sldId id="348" r:id="rId22"/>
    <p:sldId id="306" r:id="rId23"/>
    <p:sldId id="307"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Cambria Math" panose="02040503050406030204" pitchFamily="18" charset="0"/>
      <p:regular r:id="rId35"/>
    </p:embeddedFont>
    <p:embeddedFont>
      <p:font typeface="Century Gothic" panose="020B0502020202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49" autoAdjust="0"/>
    <p:restoredTop sz="94694" autoAdjust="0"/>
  </p:normalViewPr>
  <p:slideViewPr>
    <p:cSldViewPr snapToGrid="0">
      <p:cViewPr varScale="1">
        <p:scale>
          <a:sx n="81" d="100"/>
          <a:sy n="81" d="100"/>
        </p:scale>
        <p:origin x="726"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619396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633578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02218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03189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61452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036980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843412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472235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
        <p:nvSpPr>
          <p:cNvPr id="6" name="Google Shape;261;g104476d1465_0_0"/>
          <p:cNvSpPr txBox="1">
            <a:spLocks/>
          </p:cNvSpPr>
          <p:nvPr/>
        </p:nvSpPr>
        <p:spPr>
          <a:xfrm>
            <a:off x="5751444" y="2140969"/>
            <a:ext cx="481054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buFont typeface="Arial"/>
              <a:buNone/>
            </a:pPr>
            <a:r>
              <a:rPr lang="en-US" sz="3800" b="1" dirty="0">
                <a:solidFill>
                  <a:srgbClr val="417DBF"/>
                </a:solidFill>
                <a:latin typeface="Verdana"/>
                <a:ea typeface="Verdana"/>
                <a:cs typeface="Verdana"/>
                <a:sym typeface="Verdana"/>
              </a:rPr>
              <a:t>Unit 4, Lesson 5</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000" b="1" dirty="0">
                <a:solidFill>
                  <a:srgbClr val="417DBF"/>
                </a:solidFill>
                <a:latin typeface="Verdana"/>
                <a:ea typeface="Verdana"/>
                <a:cs typeface="Verdana"/>
                <a:sym typeface="Verdana"/>
              </a:rPr>
              <a:t>Evaluating Numerical Expressions with Integer Exponents – Part 2</a:t>
            </a:r>
            <a:br>
              <a:rPr lang="en-US" sz="2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143</a:t>
            </a:r>
          </a:p>
          <a:p>
            <a:pPr algn="ctr">
              <a:lnSpc>
                <a:spcPct val="100000"/>
              </a:lnSpc>
              <a:buClr>
                <a:srgbClr val="000000"/>
              </a:buClr>
              <a:buFont typeface="Arial"/>
              <a:buNone/>
            </a:pPr>
            <a:endParaRPr lang="en-US" sz="3400" b="1" dirty="0">
              <a:solidFill>
                <a:srgbClr val="417DBF"/>
              </a:solidFill>
              <a:latin typeface="Verdana"/>
              <a:ea typeface="Verdana"/>
              <a:cs typeface="Verdana"/>
              <a:sym typeface="Verdana"/>
            </a:endParaRPr>
          </a:p>
          <a:p>
            <a:pPr algn="ctr">
              <a:lnSpc>
                <a:spcPct val="75000"/>
              </a:lnSpc>
            </a:pPr>
            <a:endParaRPr lang="en-US" sz="3100" dirty="0">
              <a:solidFill>
                <a:srgbClr val="417DB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46486" y="172551"/>
            <a:ext cx="8070075"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78936" y="34259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05643" y="1307592"/>
            <a:ext cx="960515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5859"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77153" y="323864"/>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330036" y="129667"/>
            <a:ext cx="92867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143</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831273" y="1455367"/>
            <a:ext cx="9085647"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46704" y="77150"/>
            <a:ext cx="929227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99404" y="36635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143</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8531" y="1600200"/>
            <a:ext cx="929227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evaluate a numerical expression using the laws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894" y="6200599"/>
            <a:ext cx="563850" cy="657276"/>
          </a:xfrm>
          <a:prstGeom prst="rect">
            <a:avLst/>
          </a:prstGeom>
          <a:noFill/>
          <a:ln>
            <a:noFill/>
          </a:ln>
          <a:effectLst>
            <a:outerShdw blurRad="57150" dist="19050" dir="5400000" algn="bl" rotWithShape="0">
              <a:srgbClr val="000000">
                <a:alpha val="50000"/>
              </a:srgb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068779" y="1473140"/>
            <a:ext cx="8984197" cy="532453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Two artists are drawing a plant. As they go through the process, both artists make mistakes and start over on their drawings. One of the artists crumples their papers up and throws them on the floor. The other artist hangs them on the wall next to where she is working.</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What do you think is the purpose of hanging up the drawings with mistakes? </a:t>
            </a:r>
          </a:p>
        </p:txBody>
      </p:sp>
      <p:sp>
        <p:nvSpPr>
          <p:cNvPr id="278" name="Google Shape;278;g104476d1465_1_17"/>
          <p:cNvSpPr/>
          <p:nvPr/>
        </p:nvSpPr>
        <p:spPr>
          <a:xfrm>
            <a:off x="5256"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1143" y="196334"/>
            <a:ext cx="924895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4.5.1 Warm-Up: Mistakes Help You Grow</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63843" y="455713"/>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466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143</a:t>
            </a:r>
            <a:endParaRPr i="1" dirty="0">
              <a:latin typeface="Calibri"/>
              <a:ea typeface="Calibri"/>
              <a:cs typeface="Calibri"/>
              <a:sym typeface="Calibri"/>
            </a:endParaRP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a:extLst>
              <a:ext uri="{FF2B5EF4-FFF2-40B4-BE49-F238E27FC236}">
                <a16:creationId xmlns:a16="http://schemas.microsoft.com/office/drawing/2014/main" id="{8A9516DF-5AA9-2D42-9282-3172B9D71331}"/>
              </a:ext>
            </a:extLst>
          </p:cNvPr>
          <p:cNvPicPr>
            <a:picLocks noChangeAspect="1"/>
          </p:cNvPicPr>
          <p:nvPr/>
        </p:nvPicPr>
        <p:blipFill>
          <a:blip r:embed="rId5"/>
          <a:stretch>
            <a:fillRect/>
          </a:stretch>
        </p:blipFill>
        <p:spPr>
          <a:xfrm>
            <a:off x="2701455" y="3231245"/>
            <a:ext cx="5943600" cy="25273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144</a:t>
            </a:r>
            <a:endParaRPr i="1" dirty="0">
              <a:latin typeface="Calibri"/>
              <a:ea typeface="Calibri"/>
              <a:cs typeface="Calibri"/>
              <a:sym typeface="Calibri"/>
            </a:endParaRPr>
          </a:p>
        </p:txBody>
      </p:sp>
      <p:pic>
        <p:nvPicPr>
          <p:cNvPr id="9" name="image9.png" descr="Icon&#10;&#10;Description automatically generated">
            <a:extLst>
              <a:ext uri="{FF2B5EF4-FFF2-40B4-BE49-F238E27FC236}">
                <a16:creationId xmlns:a16="http://schemas.microsoft.com/office/drawing/2014/main" id="{A0AA6A5A-24D8-EB4E-9410-D27842550BC8}"/>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1CC38751-7EE5-3749-97FF-AD8018AC8E20}"/>
                  </a:ext>
                </a:extLst>
              </p:cNvPr>
              <p:cNvGraphicFramePr>
                <a:graphicFrameLocks noGrp="1"/>
              </p:cNvGraphicFramePr>
              <p:nvPr>
                <p:extLst>
                  <p:ext uri="{D42A27DB-BD31-4B8C-83A1-F6EECF244321}">
                    <p14:modId xmlns:p14="http://schemas.microsoft.com/office/powerpoint/2010/main" val="3657619756"/>
                  </p:ext>
                </p:extLst>
              </p:nvPr>
            </p:nvGraphicFramePr>
            <p:xfrm>
              <a:off x="2172639" y="1267391"/>
              <a:ext cx="3657600" cy="5429568"/>
            </p:xfrm>
            <a:graphic>
              <a:graphicData uri="http://schemas.openxmlformats.org/drawingml/2006/table">
                <a:tbl>
                  <a:tblPr firstRow="1" firstCol="1" bandRow="1"/>
                  <a:tblGrid>
                    <a:gridCol w="1828800">
                      <a:extLst>
                        <a:ext uri="{9D8B030D-6E8A-4147-A177-3AD203B41FA5}">
                          <a16:colId xmlns:a16="http://schemas.microsoft.com/office/drawing/2014/main" val="2471537197"/>
                        </a:ext>
                      </a:extLst>
                    </a:gridCol>
                    <a:gridCol w="1828800">
                      <a:extLst>
                        <a:ext uri="{9D8B030D-6E8A-4147-A177-3AD203B41FA5}">
                          <a16:colId xmlns:a16="http://schemas.microsoft.com/office/drawing/2014/main" val="3450970849"/>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Danny</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 Work</a:t>
                          </a:r>
                          <a:endParaRPr lang="x-none" sz="2000">
                            <a:effectLst/>
                            <a:latin typeface="Verdana" pitchFamily="34" charset="0"/>
                            <a:ea typeface="Verdana" pitchFamily="34" charset="0"/>
                          </a:endParaRPr>
                        </a:p>
                      </a:txBody>
                      <a:tcPr marL="53365" marR="533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Reina’s Work</a:t>
                          </a:r>
                          <a:endParaRPr lang="x-none" sz="2000">
                            <a:effectLst/>
                            <a:latin typeface="Verdana" pitchFamily="34" charset="0"/>
                            <a:ea typeface="Verdana" pitchFamily="34" charset="0"/>
                          </a:endParaRPr>
                        </a:p>
                      </a:txBody>
                      <a:tcPr marL="53365" marR="533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860057295"/>
                      </a:ext>
                    </a:extLst>
                  </a:tr>
                  <a:tr h="457200">
                    <a:tc>
                      <a:txBody>
                        <a:bodyPr/>
                        <a:lstStyle/>
                        <a:p>
                          <a:pPr marL="0" marR="0" algn="ctr">
                            <a:spcBef>
                              <a:spcPts val="0"/>
                            </a:spcBef>
                            <a:spcAft>
                              <a:spcPts val="120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r>
                                    <a:rPr lang="en-US" sz="2000" i="1">
                                      <a:effectLst/>
                                      <a:latin typeface="Cambria Math" panose="02040503050406030204" pitchFamily="18" charset="0"/>
                                      <a:ea typeface="Times New Roman" panose="02020603050405020304" pitchFamily="18" charset="0"/>
                                    </a:rPr>
                                    <m:t>∙ </m:t>
                                  </m:r>
                                  <m:sSup>
                                    <m:sSupPr>
                                      <m:ctrlPr>
                                        <a:rPr lang="x-none" sz="2000" i="1">
                                          <a:effectLst/>
                                          <a:latin typeface="Cambria Math" panose="02040503050406030204" pitchFamily="18" charset="0"/>
                                          <a:ea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rPr>
                                                <m:t>4</m:t>
                                              </m:r>
                                            </m:den>
                                          </m:f>
                                        </m:e>
                                      </m:d>
                                    </m:e>
                                    <m:sup>
                                      <m:r>
                                        <a:rPr lang="en-US" sz="2000" i="1">
                                          <a:effectLst/>
                                          <a:latin typeface="Cambria Math" panose="02040503050406030204" pitchFamily="18" charset="0"/>
                                          <a:ea typeface="Times New Roman" panose="02020603050405020304" pitchFamily="18" charset="0"/>
                                        </a:rPr>
                                        <m:t>0</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i="1" dirty="0">
                              <a:effectLst/>
                              <a:latin typeface="Verdana" pitchFamily="34" charset="0"/>
                              <a:ea typeface="Verdana"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−3−(−2)</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L="53365" marR="53365"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20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r>
                                    <a:rPr lang="en-US" sz="2000" i="1">
                                      <a:effectLst/>
                                      <a:latin typeface="Cambria Math" panose="02040503050406030204" pitchFamily="18" charset="0"/>
                                      <a:ea typeface="Times New Roman" panose="02020603050405020304" pitchFamily="18" charset="0"/>
                                    </a:rPr>
                                    <m:t>∙ </m:t>
                                  </m:r>
                                  <m:sSup>
                                    <m:sSupPr>
                                      <m:ctrlPr>
                                        <a:rPr lang="x-none" sz="2000" i="1">
                                          <a:effectLst/>
                                          <a:latin typeface="Cambria Math" panose="02040503050406030204" pitchFamily="18" charset="0"/>
                                          <a:ea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rPr>
                                                <m:t>4</m:t>
                                              </m:r>
                                            </m:den>
                                          </m:f>
                                        </m:e>
                                      </m:d>
                                    </m:e>
                                    <m:sup>
                                      <m:r>
                                        <a:rPr lang="en-US" sz="2000" i="1">
                                          <a:effectLst/>
                                          <a:latin typeface="Cambria Math" panose="02040503050406030204" pitchFamily="18" charset="0"/>
                                          <a:ea typeface="Times New Roman" panose="02020603050405020304" pitchFamily="18" charset="0"/>
                                        </a:rPr>
                                        <m:t>0</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r>
                                    <a:rPr lang="en-US" sz="2000" i="1">
                                      <a:effectLst/>
                                      <a:latin typeface="Cambria Math" panose="02040503050406030204" pitchFamily="18" charset="0"/>
                                      <a:ea typeface="Times New Roman" panose="02020603050405020304" pitchFamily="18" charset="0"/>
                                    </a:rPr>
                                    <m:t>∙ 1</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m:t>
                                  </m:r>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r>
                                    <a:rPr lang="en-US" sz="2000" i="1" smtClean="0">
                                      <a:effectLst/>
                                      <a:latin typeface="Cambria Math" panose="02040503050406030204" pitchFamily="18" charset="0"/>
                                      <a:ea typeface="Verdana" panose="020B0604030504040204" pitchFamily="34" charset="0"/>
                                      <a:cs typeface="Verdana" panose="020B0604030504040204" pitchFamily="34" charset="0"/>
                                    </a:rPr>
                                    <m:t>2</m:t>
                                  </m:r>
                                  <m:r>
                                    <a:rPr lang="en-US" sz="2000" i="1">
                                      <a:effectLst/>
                                      <a:latin typeface="Cambria Math" panose="02040503050406030204" pitchFamily="18" charset="0"/>
                                      <a:ea typeface="Verdana" panose="020B0604030504040204" pitchFamily="34" charset="0"/>
                                      <a:cs typeface="Verdana" panose="020B0604030504040204" pitchFamily="34" charset="0"/>
                                    </a:rPr>
                                    <m:t>)</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3</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p>
                          <a:pPr marL="0" marR="0" algn="ctr">
                            <a:spcBef>
                              <a:spcPts val="0"/>
                            </a:spcBef>
                            <a:spcAft>
                              <a:spcPts val="12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L="53365" marR="53365"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7731024"/>
                      </a:ext>
                    </a:extLst>
                  </a:tr>
                </a:tbl>
              </a:graphicData>
            </a:graphic>
          </p:graphicFrame>
        </mc:Choice>
        <mc:Fallback xmlns="">
          <p:graphicFrame>
            <p:nvGraphicFramePr>
              <p:cNvPr id="8" name="Table 7">
                <a:extLst>
                  <a:ext uri="{FF2B5EF4-FFF2-40B4-BE49-F238E27FC236}">
                    <a16:creationId xmlns:a16="http://schemas.microsoft.com/office/drawing/2014/main" id="{1CC38751-7EE5-3749-97FF-AD8018AC8E20}"/>
                  </a:ext>
                </a:extLst>
              </p:cNvPr>
              <p:cNvGraphicFramePr>
                <a:graphicFrameLocks noGrp="1"/>
              </p:cNvGraphicFramePr>
              <p:nvPr>
                <p:extLst>
                  <p:ext uri="{D42A27DB-BD31-4B8C-83A1-F6EECF244321}">
                    <p14:modId xmlns:p14="http://schemas.microsoft.com/office/powerpoint/2010/main" val="3657619756"/>
                  </p:ext>
                </p:extLst>
              </p:nvPr>
            </p:nvGraphicFramePr>
            <p:xfrm>
              <a:off x="2172639" y="1267391"/>
              <a:ext cx="3657600" cy="5429568"/>
            </p:xfrm>
            <a:graphic>
              <a:graphicData uri="http://schemas.openxmlformats.org/drawingml/2006/table">
                <a:tbl>
                  <a:tblPr firstRow="1" firstCol="1" bandRow="1"/>
                  <a:tblGrid>
                    <a:gridCol w="1828800">
                      <a:extLst>
                        <a:ext uri="{9D8B030D-6E8A-4147-A177-3AD203B41FA5}">
                          <a16:colId xmlns:a16="http://schemas.microsoft.com/office/drawing/2014/main" val="2471537197"/>
                        </a:ext>
                      </a:extLst>
                    </a:gridCol>
                    <a:gridCol w="1828800">
                      <a:extLst>
                        <a:ext uri="{9D8B030D-6E8A-4147-A177-3AD203B41FA5}">
                          <a16:colId xmlns:a16="http://schemas.microsoft.com/office/drawing/2014/main" val="3450970849"/>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Danny</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 Work</a:t>
                          </a:r>
                          <a:endParaRPr lang="x-none" sz="2000">
                            <a:effectLst/>
                            <a:latin typeface="Verdana" pitchFamily="34" charset="0"/>
                            <a:ea typeface="Verdana" pitchFamily="34" charset="0"/>
                          </a:endParaRPr>
                        </a:p>
                      </a:txBody>
                      <a:tcPr marL="53365" marR="533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Reina’s Work</a:t>
                          </a:r>
                          <a:endParaRPr lang="x-none" sz="2000">
                            <a:effectLst/>
                            <a:latin typeface="Verdana" pitchFamily="34" charset="0"/>
                            <a:ea typeface="Verdana" pitchFamily="34" charset="0"/>
                          </a:endParaRPr>
                        </a:p>
                      </a:txBody>
                      <a:tcPr marL="53365" marR="533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860057295"/>
                      </a:ext>
                    </a:extLst>
                  </a:tr>
                  <a:tr h="4819968">
                    <a:tc>
                      <a:txBody>
                        <a:bodyPr/>
                        <a:lstStyle/>
                        <a:p>
                          <a:endParaRPr lang="en-US"/>
                        </a:p>
                      </a:txBody>
                      <a:tcPr marL="53365" marR="53365"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90" t="-14173" r="-100000" b="-262"/>
                          </a:stretch>
                        </a:blipFill>
                      </a:tcPr>
                    </a:tc>
                    <a:tc>
                      <a:txBody>
                        <a:bodyPr/>
                        <a:lstStyle/>
                        <a:p>
                          <a:endParaRPr lang="en-US"/>
                        </a:p>
                      </a:txBody>
                      <a:tcPr marL="53365" marR="53365"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1389" t="-14173" r="-694" b="-262"/>
                          </a:stretch>
                        </a:blipFill>
                      </a:tcPr>
                    </a:tc>
                    <a:extLst>
                      <a:ext uri="{0D108BD9-81ED-4DB2-BD59-A6C34878D82A}">
                        <a16:rowId xmlns:a16="http://schemas.microsoft.com/office/drawing/2014/main" val="1517731024"/>
                      </a:ext>
                    </a:extLst>
                  </a:tr>
                </a:tbl>
              </a:graphicData>
            </a:graphic>
          </p:graphicFrame>
        </mc:Fallback>
      </mc:AlternateContent>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2921" y="77470"/>
            <a:ext cx="996488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4.5.2 Guided Practice: Evaluating Exponential Expressions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6096000" y="1897868"/>
                <a:ext cx="4314161" cy="30539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Danny and Reina evaluated the expression </a:t>
                </a:r>
                <a14:m>
                  <m:oMath xmlns:m="http://schemas.openxmlformats.org/officeDocument/2006/math">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0</m:t>
                            </m:r>
                          </m:sup>
                        </m:sSup>
                      </m:num>
                      <m:den>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457200" eaLnBrk="0" fontAlgn="base" hangingPunct="0">
                  <a:lnSpc>
                    <a:spcPct val="150000"/>
                  </a:lnSpc>
                  <a:spcBef>
                    <a:spcPct val="0"/>
                  </a:spcBef>
                  <a:spcAft>
                    <a:spcPct val="0"/>
                  </a:spcAft>
                  <a:buClrTx/>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They found the same value but used different processes. Their work is shown.</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6096000" y="1897868"/>
                <a:ext cx="4314161" cy="3053913"/>
              </a:xfrm>
              <a:prstGeom prst="rect">
                <a:avLst/>
              </a:prstGeom>
              <a:blipFill>
                <a:blip r:embed="rId5"/>
                <a:stretch>
                  <a:fillRect l="-1471" t="-1245" b="-8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5" name="image9.png" descr="Icon&#10;&#10;Description automatically generated">
            <a:extLst>
              <a:ext uri="{FF2B5EF4-FFF2-40B4-BE49-F238E27FC236}">
                <a16:creationId xmlns:a16="http://schemas.microsoft.com/office/drawing/2014/main" id="{6DB42D22-D0CA-A94B-B8FC-CBBCE2DD3A9B}"/>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45492" y="366605"/>
            <a:ext cx="747430" cy="747430"/>
          </a:xfrm>
          <a:prstGeom prst="rect">
            <a:avLst/>
          </a:prstGeom>
          <a:ln/>
        </p:spPr>
      </p:pic>
    </p:spTree>
    <p:extLst>
      <p:ext uri="{BB962C8B-B14F-4D97-AF65-F5344CB8AC3E}">
        <p14:creationId xmlns:p14="http://schemas.microsoft.com/office/powerpoint/2010/main" val="86611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26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804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2462CA84-B0A7-574F-BCDC-AB209CE8769D}"/>
                  </a:ext>
                </a:extLst>
              </p:cNvPr>
              <p:cNvSpPr>
                <a:spLocks noChangeArrowheads="1"/>
              </p:cNvSpPr>
              <p:nvPr/>
            </p:nvSpPr>
            <p:spPr bwMode="auto">
              <a:xfrm>
                <a:off x="1080656" y="422207"/>
                <a:ext cx="8868096" cy="553818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eaLnBrk="0" fontAlgn="base" hangingPunct="0">
                  <a:spcBef>
                    <a:spcPct val="0"/>
                  </a:spcBef>
                  <a:spcAft>
                    <a:spcPct val="0"/>
                  </a:spcAft>
                  <a:buClrTx/>
                  <a:buFont typeface="+mj-lt"/>
                  <a:buAutoNum type="alphaLcPeriod"/>
                </a:pPr>
                <a:r>
                  <a:rPr lang="en-US" altLang="en-US" sz="2000" dirty="0">
                    <a:latin typeface="Verdana" panose="020B0604030504040204" pitchFamily="34" charset="0"/>
                    <a:ea typeface="Verdana" panose="020B0604030504040204" pitchFamily="34" charset="0"/>
                    <a:cs typeface="Verdana" panose="020B0604030504040204" pitchFamily="34" charset="0"/>
                  </a:rPr>
                  <a:t>With your partner, discuss and compare how each student evaluated the expression.</a:t>
                </a:r>
              </a:p>
              <a:p>
                <a:pPr marL="914400" indent="-457200" eaLnBrk="0" fontAlgn="base" hangingPunct="0">
                  <a:spcBef>
                    <a:spcPct val="0"/>
                  </a:spcBef>
                  <a:spcAft>
                    <a:spcPct val="0"/>
                  </a:spcAft>
                  <a:buClrTx/>
                  <a:buFont typeface="+mj-lt"/>
                  <a:buAutoNum type="alphaLcPeriod"/>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r>
                  <a:rPr lang="en-US" altLang="en-US" sz="2000" dirty="0">
                    <a:latin typeface="Verdana" panose="020B0604030504040204" pitchFamily="34" charset="0"/>
                    <a:ea typeface="Verdana" panose="020B0604030504040204" pitchFamily="34" charset="0"/>
                    <a:cs typeface="Verdana" panose="020B0604030504040204" pitchFamily="34" charset="0"/>
                  </a:rPr>
                  <a:t>Use words or phrases from the bank to complete the descriptions of each student’s work. Some words or phrases will be used more than once and others not at all.</a:t>
                </a: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startAt="2"/>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914400" eaLnBrk="0" fontAlgn="base" hangingPunct="0">
                  <a:spcBef>
                    <a:spcPct val="0"/>
                  </a:spcBef>
                  <a:spcAft>
                    <a:spcPct val="0"/>
                  </a:spcAft>
                  <a:buClrTx/>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Danny applied the ______________________ exponent law first by rewriting </a:t>
                </a:r>
                <a14:m>
                  <m:oMath xmlns:m="http://schemas.openxmlformats.org/officeDocument/2006/math">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0</m:t>
                        </m:r>
                      </m:sup>
                    </m:sSup>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sSup>
                      <m:sSup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8" name="Rectangle 7">
                <a:extLst>
                  <a:ext uri="{FF2B5EF4-FFF2-40B4-BE49-F238E27FC236}">
                    <a16:creationId xmlns:a16="http://schemas.microsoft.com/office/drawing/2014/main" id="{2462CA84-B0A7-574F-BCDC-AB209CE8769D}"/>
                  </a:ext>
                </a:extLst>
              </p:cNvPr>
              <p:cNvSpPr>
                <a:spLocks noRot="1" noChangeAspect="1" noMove="1" noResize="1" noEditPoints="1" noAdjustHandles="1" noChangeArrowheads="1" noChangeShapeType="1" noTextEdit="1"/>
              </p:cNvSpPr>
              <p:nvPr/>
            </p:nvSpPr>
            <p:spPr bwMode="auto">
              <a:xfrm>
                <a:off x="1080656" y="422207"/>
                <a:ext cx="8868096" cy="5538183"/>
              </a:xfrm>
              <a:prstGeom prst="rect">
                <a:avLst/>
              </a:prstGeom>
              <a:blipFill>
                <a:blip r:embed="rId4"/>
                <a:stretch>
                  <a:fillRect t="-660" r="-82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249EEBF9-37C0-A340-AA7A-BB0212F2DE44}"/>
              </a:ext>
            </a:extLst>
          </p:cNvPr>
          <p:cNvGraphicFramePr>
            <a:graphicFrameLocks noGrp="1"/>
          </p:cNvGraphicFramePr>
          <p:nvPr>
            <p:extLst>
              <p:ext uri="{D42A27DB-BD31-4B8C-83A1-F6EECF244321}">
                <p14:modId xmlns:p14="http://schemas.microsoft.com/office/powerpoint/2010/main" val="2632609902"/>
              </p:ext>
            </p:extLst>
          </p:nvPr>
        </p:nvGraphicFramePr>
        <p:xfrm>
          <a:off x="3053397" y="2922334"/>
          <a:ext cx="6029325" cy="1463040"/>
        </p:xfrm>
        <a:graphic>
          <a:graphicData uri="http://schemas.openxmlformats.org/drawingml/2006/table">
            <a:tbl>
              <a:tblPr firstRow="1" firstCol="1" bandRow="1"/>
              <a:tblGrid>
                <a:gridCol w="3014345">
                  <a:extLst>
                    <a:ext uri="{9D8B030D-6E8A-4147-A177-3AD203B41FA5}">
                      <a16:colId xmlns:a16="http://schemas.microsoft.com/office/drawing/2014/main" val="4262117401"/>
                    </a:ext>
                  </a:extLst>
                </a:gridCol>
                <a:gridCol w="3014980">
                  <a:extLst>
                    <a:ext uri="{9D8B030D-6E8A-4147-A177-3AD203B41FA5}">
                      <a16:colId xmlns:a16="http://schemas.microsoft.com/office/drawing/2014/main" val="1168131855"/>
                    </a:ext>
                  </a:extLst>
                </a:gridCol>
              </a:tblGrid>
              <a:tr h="3657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zero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identity</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833294148"/>
                  </a:ext>
                </a:extLst>
              </a:tr>
              <a:tr h="3657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negative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691311436"/>
                  </a:ext>
                </a:extLst>
              </a:tr>
              <a:tr h="3657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963110656"/>
                  </a:ext>
                </a:extLst>
              </a:tr>
              <a:tr h="3657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112548477"/>
                  </a:ext>
                </a:extLst>
              </a:tr>
            </a:tbl>
          </a:graphicData>
        </a:graphic>
      </p:graphicFrame>
      <p:sp>
        <p:nvSpPr>
          <p:cNvPr id="10" name="Rounded Rectangle 9">
            <a:extLst>
              <a:ext uri="{FF2B5EF4-FFF2-40B4-BE49-F238E27FC236}">
                <a16:creationId xmlns:a16="http://schemas.microsoft.com/office/drawing/2014/main" id="{0ED1BEA8-190F-B44C-9B80-3638BCC160F3}"/>
              </a:ext>
            </a:extLst>
          </p:cNvPr>
          <p:cNvSpPr/>
          <p:nvPr/>
        </p:nvSpPr>
        <p:spPr>
          <a:xfrm>
            <a:off x="3053397" y="2794699"/>
            <a:ext cx="6085205" cy="1718310"/>
          </a:xfrm>
          <a:prstGeom prst="roundRect">
            <a:avLst/>
          </a:prstGeom>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6818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2462CA84-B0A7-574F-BCDC-AB209CE8769D}"/>
                  </a:ext>
                </a:extLst>
              </p:cNvPr>
              <p:cNvSpPr>
                <a:spLocks noChangeArrowheads="1"/>
              </p:cNvSpPr>
              <p:nvPr/>
            </p:nvSpPr>
            <p:spPr bwMode="auto">
              <a:xfrm>
                <a:off x="1068779" y="422206"/>
                <a:ext cx="9266122" cy="49226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Then, he applied the ______________________ exponent law, subtracting the exponents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Finally, he applied the __________________ exponent law to find the value of the expression.</a:t>
                </a:r>
              </a:p>
              <a:p>
                <a:pPr marL="914400" eaLnBrk="0" fontAlgn="base" hangingPunct="0">
                  <a:spcBef>
                    <a:spcPct val="0"/>
                  </a:spcBef>
                  <a:spcAft>
                    <a:spcPct val="0"/>
                  </a:spcAft>
                  <a:buClrTx/>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914400"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Reina applied the _________________________ exponent law first by re-writing </a:t>
                </a:r>
                <a14:m>
                  <m:oMath xmlns:m="http://schemas.openxmlformats.org/officeDocument/2006/math">
                    <m:sSup>
                      <m:sSupPr>
                        <m:ctrlPr>
                          <a:rPr lang="en-US" alt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latin typeface="Cambria Math" panose="02040503050406030204" pitchFamily="18" charset="0"/>
                            <a:ea typeface="Verdana" panose="020B0604030504040204" pitchFamily="34" charset="0"/>
                            <a:cs typeface="Verdana" panose="020B0604030504040204" pitchFamily="34" charset="0"/>
                          </a:rPr>
                          <m:t>0</m:t>
                        </m:r>
                      </m:sup>
                    </m:sSup>
                  </m:oMath>
                </a14:m>
                <a:r>
                  <a:rPr lang="en-US" alt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Then, she multiplied </a:t>
                </a:r>
                <a14:m>
                  <m:oMath xmlns:m="http://schemas.openxmlformats.org/officeDocument/2006/math">
                    <m:sSup>
                      <m:sSupPr>
                        <m:ctrlPr>
                          <a:rPr lang="en-US" alt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000" i="1">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000" i="1">
                                    <a:latin typeface="Cambria Math" panose="02040503050406030204" pitchFamily="18" charset="0"/>
                                    <a:ea typeface="Verdana" panose="020B0604030504040204" pitchFamily="34" charset="0"/>
                                    <a:cs typeface="Verdana" panose="020B0604030504040204" pitchFamily="34" charset="0"/>
                                  </a:rPr>
                                </m:ctrlPr>
                              </m:fPr>
                              <m:num>
                                <m:r>
                                  <a:rPr lang="es-ES" altLang="en-US" sz="2000" i="1">
                                    <a:latin typeface="Cambria Math" panose="02040503050406030204" pitchFamily="18" charset="0"/>
                                    <a:ea typeface="Verdana" panose="020B0604030504040204" pitchFamily="34" charset="0"/>
                                    <a:cs typeface="Verdana" panose="020B0604030504040204" pitchFamily="34" charset="0"/>
                                  </a:rPr>
                                  <m:t>3</m:t>
                                </m:r>
                              </m:num>
                              <m:den>
                                <m:r>
                                  <a:rPr lang="es-ES" altLang="en-US" sz="2000" i="1">
                                    <a:latin typeface="Cambria Math" panose="02040503050406030204" pitchFamily="18" charset="0"/>
                                    <a:ea typeface="Verdana" panose="020B0604030504040204" pitchFamily="34" charset="0"/>
                                    <a:cs typeface="Verdana" panose="020B0604030504040204" pitchFamily="34" charset="0"/>
                                  </a:rPr>
                                  <m:t>4</m:t>
                                </m:r>
                              </m:den>
                            </m:f>
                          </m:e>
                        </m:d>
                      </m:e>
                      <m:sup>
                        <m:r>
                          <a:rPr lang="es-ES" alt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000"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Next, she applied the ________________________ exponent law by subtracting the exponents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alt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altLang="en-US" sz="2000" dirty="0">
                    <a:latin typeface="Verdana" panose="020B0604030504040204" pitchFamily="34" charset="0"/>
                    <a:ea typeface="Verdana" panose="020B0604030504040204" pitchFamily="34" charset="0"/>
                    <a:cs typeface="Verdana" panose="020B0604030504040204" pitchFamily="34" charset="0"/>
                  </a:rPr>
                  <a:t>. Finally, she applied the ____________________ exponent law to find the value of the expression.</a:t>
                </a:r>
              </a:p>
              <a:p>
                <a:pPr marL="514350" eaLnBrk="0" fontAlgn="base" hangingPunct="0">
                  <a:spcBef>
                    <a:spcPct val="0"/>
                  </a:spcBef>
                  <a:spcAft>
                    <a:spcPct val="0"/>
                  </a:spcAft>
                  <a:buClrTx/>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While the students applied the laws differently, they both generated equivalent expressions in each step to find the value of the expression.</a:t>
                </a:r>
              </a:p>
            </p:txBody>
          </p:sp>
        </mc:Choice>
        <mc:Fallback>
          <p:sp>
            <p:nvSpPr>
              <p:cNvPr id="6" name="Rectangle 5">
                <a:extLst>
                  <a:ext uri="{FF2B5EF4-FFF2-40B4-BE49-F238E27FC236}">
                    <a16:creationId xmlns:a16="http://schemas.microsoft.com/office/drawing/2014/main" id="{2462CA84-B0A7-574F-BCDC-AB209CE8769D}"/>
                  </a:ext>
                </a:extLst>
              </p:cNvPr>
              <p:cNvSpPr>
                <a:spLocks noRot="1" noChangeAspect="1" noMove="1" noResize="1" noEditPoints="1" noAdjustHandles="1" noChangeArrowheads="1" noChangeShapeType="1" noTextEdit="1"/>
              </p:cNvSpPr>
              <p:nvPr/>
            </p:nvSpPr>
            <p:spPr bwMode="auto">
              <a:xfrm>
                <a:off x="1068779" y="422206"/>
                <a:ext cx="9266122" cy="4922630"/>
              </a:xfrm>
              <a:prstGeom prst="rect">
                <a:avLst/>
              </a:prstGeom>
              <a:blipFill>
                <a:blip r:embed="rId3"/>
                <a:stretch>
                  <a:fillRect l="-658" t="-619" r="-1645" b="-12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78" name="Google Shape;278;g104476d1465_1_17"/>
          <p:cNvSpPr/>
          <p:nvPr/>
        </p:nvSpPr>
        <p:spPr>
          <a:xfrm>
            <a:off x="-1766"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144</a:t>
            </a:r>
            <a:endParaRPr i="1" dirty="0">
              <a:latin typeface="Calibri"/>
              <a:ea typeface="Calibri"/>
              <a:cs typeface="Calibri"/>
              <a:sym typeface="Calibri"/>
            </a:endParaRPr>
          </a:p>
        </p:txBody>
      </p:sp>
    </p:spTree>
    <p:extLst>
      <p:ext uri="{BB962C8B-B14F-4D97-AF65-F5344CB8AC3E}">
        <p14:creationId xmlns:p14="http://schemas.microsoft.com/office/powerpoint/2010/main" val="1651286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87130"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9" name="image4.png" descr="Icon&#10;&#10;Description automatically generated">
            <a:extLst>
              <a:ext uri="{FF2B5EF4-FFF2-40B4-BE49-F238E27FC236}">
                <a16:creationId xmlns:a16="http://schemas.microsoft.com/office/drawing/2014/main" id="{31D41894-D584-834C-8E47-A8F8918973E8}"/>
              </a:ext>
            </a:extLst>
          </p:cNvPr>
          <p:cNvPicPr/>
          <p:nvPr/>
        </p:nvPicPr>
        <p:blipFill>
          <a:blip r:embed="rId4"/>
          <a:srcRect/>
          <a:stretch>
            <a:fillRect/>
          </a:stretch>
        </p:blipFill>
        <p:spPr>
          <a:xfrm>
            <a:off x="5425865"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114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7767" y="86829"/>
            <a:ext cx="958378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4.5.3 Try It: Evaluating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4821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080655" y="1263536"/>
                <a:ext cx="9320181" cy="2243371"/>
              </a:xfrm>
              <a:prstGeom prst="rect">
                <a:avLst/>
              </a:prstGeom>
              <a:noFill/>
            </p:spPr>
            <p:txBody>
              <a:bodyPr wrap="square" rtlCol="0">
                <a:spAutoFit/>
              </a:bodyPr>
              <a:lstStyle/>
              <a:p>
                <a:pPr marL="457200" indent="-457200">
                  <a:spcAft>
                    <a:spcPts val="1200"/>
                  </a:spcAft>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2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200" i="1">
                                <a:latin typeface="Cambria Math" panose="02040503050406030204" pitchFamily="18" charset="0"/>
                                <a:ea typeface="Verdana" panose="020B0604030504040204" pitchFamily="34" charset="0"/>
                                <a:cs typeface="Verdana" panose="020B0604030504040204" pitchFamily="34" charset="0"/>
                              </a:rPr>
                            </m:ctrlPr>
                          </m:sSupPr>
                          <m:e>
                            <m:d>
                              <m:dPr>
                                <m:begChr m:val="["/>
                                <m:endChr m:val="]"/>
                                <m:ctrlPr>
                                  <a:rPr lang="en-US" sz="22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2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200" i="1">
                                            <a:latin typeface="Cambria Math" panose="02040503050406030204" pitchFamily="18" charset="0"/>
                                            <a:ea typeface="Verdana" panose="020B0604030504040204" pitchFamily="34" charset="0"/>
                                            <a:cs typeface="Verdana" panose="020B0604030504040204" pitchFamily="34" charset="0"/>
                                          </a:rPr>
                                        </m:ctrlPr>
                                      </m:dPr>
                                      <m:e>
                                        <m:f>
                                          <m:fPr>
                                            <m:ctrlPr>
                                              <a:rPr lang="en-US" sz="2200" i="1">
                                                <a:latin typeface="Cambria Math" panose="02040503050406030204" pitchFamily="18" charset="0"/>
                                                <a:ea typeface="Verdana" panose="020B0604030504040204" pitchFamily="34" charset="0"/>
                                                <a:cs typeface="Verdana" panose="020B0604030504040204" pitchFamily="34" charset="0"/>
                                              </a:rPr>
                                            </m:ctrlPr>
                                          </m:fPr>
                                          <m:num>
                                            <m:r>
                                              <a:rPr lang="es-ES" sz="2200" i="1">
                                                <a:latin typeface="Cambria Math" panose="02040503050406030204" pitchFamily="18" charset="0"/>
                                                <a:ea typeface="Verdana" panose="020B0604030504040204" pitchFamily="34" charset="0"/>
                                                <a:cs typeface="Verdana" panose="020B0604030504040204" pitchFamily="34" charset="0"/>
                                              </a:rPr>
                                              <m:t>1</m:t>
                                            </m:r>
                                          </m:num>
                                          <m:den>
                                            <m:r>
                                              <a:rPr lang="es-ES" sz="2200" i="1">
                                                <a:latin typeface="Cambria Math" panose="02040503050406030204" pitchFamily="18" charset="0"/>
                                                <a:ea typeface="Verdana" panose="020B0604030504040204" pitchFamily="34" charset="0"/>
                                                <a:cs typeface="Verdana" panose="020B0604030504040204" pitchFamily="34" charset="0"/>
                                              </a:rPr>
                                              <m:t>3</m:t>
                                            </m:r>
                                          </m:den>
                                        </m:f>
                                      </m:e>
                                    </m:d>
                                  </m:e>
                                  <m:sup>
                                    <m:r>
                                      <a:rPr lang="es-ES" sz="2200" i="1">
                                        <a:latin typeface="Cambria Math" panose="02040503050406030204" pitchFamily="18" charset="0"/>
                                        <a:ea typeface="Verdana" panose="020B0604030504040204" pitchFamily="34" charset="0"/>
                                        <a:cs typeface="Verdana" panose="020B0604030504040204" pitchFamily="34" charset="0"/>
                                      </a:rPr>
                                      <m:t>−5</m:t>
                                    </m:r>
                                  </m:sup>
                                </m:sSup>
                                <m:r>
                                  <a:rPr lang="es-ES" sz="2200" i="1">
                                    <a:latin typeface="Cambria Math" panose="02040503050406030204" pitchFamily="18" charset="0"/>
                                    <a:ea typeface="Verdana" panose="020B0604030504040204" pitchFamily="34" charset="0"/>
                                    <a:cs typeface="Verdana" panose="020B0604030504040204" pitchFamily="34" charset="0"/>
                                  </a:rPr>
                                  <m:t>·</m:t>
                                </m:r>
                                <m:sSup>
                                  <m:sSupPr>
                                    <m:ctrlPr>
                                      <a:rPr lang="en-US" sz="22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200" i="1">
                                            <a:latin typeface="Cambria Math" panose="02040503050406030204" pitchFamily="18" charset="0"/>
                                            <a:ea typeface="Verdana" panose="020B0604030504040204" pitchFamily="34" charset="0"/>
                                            <a:cs typeface="Verdana" panose="020B0604030504040204" pitchFamily="34" charset="0"/>
                                          </a:rPr>
                                        </m:ctrlPr>
                                      </m:dPr>
                                      <m:e>
                                        <m:f>
                                          <m:fPr>
                                            <m:ctrlPr>
                                              <a:rPr lang="en-US" sz="2200" i="1">
                                                <a:latin typeface="Cambria Math" panose="02040503050406030204" pitchFamily="18" charset="0"/>
                                                <a:ea typeface="Verdana" panose="020B0604030504040204" pitchFamily="34" charset="0"/>
                                                <a:cs typeface="Verdana" panose="020B0604030504040204" pitchFamily="34" charset="0"/>
                                              </a:rPr>
                                            </m:ctrlPr>
                                          </m:fPr>
                                          <m:num>
                                            <m:r>
                                              <a:rPr lang="es-ES" sz="2200" i="1">
                                                <a:latin typeface="Cambria Math" panose="02040503050406030204" pitchFamily="18" charset="0"/>
                                                <a:ea typeface="Verdana" panose="020B0604030504040204" pitchFamily="34" charset="0"/>
                                                <a:cs typeface="Verdana" panose="020B0604030504040204" pitchFamily="34" charset="0"/>
                                              </a:rPr>
                                              <m:t>1</m:t>
                                            </m:r>
                                          </m:num>
                                          <m:den>
                                            <m:r>
                                              <a:rPr lang="es-ES" sz="2200" i="1">
                                                <a:latin typeface="Cambria Math" panose="02040503050406030204" pitchFamily="18" charset="0"/>
                                                <a:ea typeface="Verdana" panose="020B0604030504040204" pitchFamily="34" charset="0"/>
                                                <a:cs typeface="Verdana" panose="020B0604030504040204" pitchFamily="34" charset="0"/>
                                              </a:rPr>
                                              <m:t>3</m:t>
                                            </m:r>
                                          </m:den>
                                        </m:f>
                                      </m:e>
                                    </m:d>
                                  </m:e>
                                  <m:sup>
                                    <m:r>
                                      <a:rPr lang="es-ES" sz="2200" i="1">
                                        <a:latin typeface="Cambria Math" panose="02040503050406030204" pitchFamily="18" charset="0"/>
                                        <a:ea typeface="Verdana" panose="020B0604030504040204" pitchFamily="34" charset="0"/>
                                        <a:cs typeface="Verdana" panose="020B0604030504040204" pitchFamily="34" charset="0"/>
                                      </a:rPr>
                                      <m:t>2</m:t>
                                    </m:r>
                                  </m:sup>
                                </m:sSup>
                              </m:e>
                            </m:d>
                          </m:e>
                          <m:sup>
                            <m:r>
                              <a:rPr lang="es-ES" sz="2200" i="1">
                                <a:latin typeface="Cambria Math" panose="02040503050406030204" pitchFamily="18" charset="0"/>
                                <a:ea typeface="Verdana" panose="020B0604030504040204" pitchFamily="34" charset="0"/>
                                <a:cs typeface="Verdana" panose="020B0604030504040204" pitchFamily="34" charset="0"/>
                              </a:rPr>
                              <m:t>2</m:t>
                            </m:r>
                          </m:sup>
                        </m:sSup>
                      </m:num>
                      <m:den>
                        <m:sSup>
                          <m:sSupPr>
                            <m:ctrlPr>
                              <a:rPr lang="en-US" sz="22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200" i="1">
                                    <a:latin typeface="Cambria Math" panose="02040503050406030204" pitchFamily="18" charset="0"/>
                                    <a:ea typeface="Verdana" panose="020B0604030504040204" pitchFamily="34" charset="0"/>
                                    <a:cs typeface="Verdana" panose="020B0604030504040204" pitchFamily="34" charset="0"/>
                                  </a:rPr>
                                </m:ctrlPr>
                              </m:dPr>
                              <m:e>
                                <m:f>
                                  <m:fPr>
                                    <m:ctrlPr>
                                      <a:rPr lang="en-US" sz="2200" i="1">
                                        <a:latin typeface="Cambria Math" panose="02040503050406030204" pitchFamily="18" charset="0"/>
                                        <a:ea typeface="Verdana" panose="020B0604030504040204" pitchFamily="34" charset="0"/>
                                        <a:cs typeface="Verdana" panose="020B0604030504040204" pitchFamily="34" charset="0"/>
                                      </a:rPr>
                                    </m:ctrlPr>
                                  </m:fPr>
                                  <m:num>
                                    <m:r>
                                      <a:rPr lang="es-ES" sz="2200" i="1">
                                        <a:latin typeface="Cambria Math" panose="02040503050406030204" pitchFamily="18" charset="0"/>
                                        <a:ea typeface="Verdana" panose="020B0604030504040204" pitchFamily="34" charset="0"/>
                                        <a:cs typeface="Verdana" panose="020B0604030504040204" pitchFamily="34" charset="0"/>
                                      </a:rPr>
                                      <m:t>1</m:t>
                                    </m:r>
                                  </m:num>
                                  <m:den>
                                    <m:r>
                                      <a:rPr lang="es-ES" sz="2200" i="1">
                                        <a:latin typeface="Cambria Math" panose="02040503050406030204" pitchFamily="18" charset="0"/>
                                        <a:ea typeface="Verdana" panose="020B0604030504040204" pitchFamily="34" charset="0"/>
                                        <a:cs typeface="Verdana" panose="020B0604030504040204" pitchFamily="34" charset="0"/>
                                      </a:rPr>
                                      <m:t>3</m:t>
                                    </m:r>
                                  </m:den>
                                </m:f>
                              </m:e>
                            </m:d>
                          </m:e>
                          <m:sup>
                            <m:r>
                              <a:rPr lang="es-ES" sz="2200" i="1">
                                <a:latin typeface="Cambria Math" panose="02040503050406030204" pitchFamily="18" charset="0"/>
                                <a:ea typeface="Verdana" panose="020B0604030504040204" pitchFamily="34" charset="0"/>
                                <a:cs typeface="Verdana" panose="020B0604030504040204" pitchFamily="34" charset="0"/>
                              </a:rPr>
                              <m:t>−4</m:t>
                            </m:r>
                          </m:sup>
                        </m:sSup>
                      </m:den>
                    </m:f>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81075" indent="-536575">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Evaluate the expression in two different ways using the strategies described in the table. Show your work under each strategy.</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080655" y="1263536"/>
                <a:ext cx="9320181" cy="2243371"/>
              </a:xfrm>
              <a:prstGeom prst="rect">
                <a:avLst/>
              </a:prstGeom>
              <a:blipFill>
                <a:blip r:embed="rId4"/>
                <a:stretch>
                  <a:fillRect l="-850" b="-4891"/>
                </a:stretch>
              </a:blipFill>
            </p:spPr>
            <p:txBody>
              <a:bodyPr/>
              <a:lstStyle/>
              <a:p>
                <a:r>
                  <a:rPr lang="en-US">
                    <a:noFill/>
                  </a:rPr>
                  <a:t> </a:t>
                </a:r>
              </a:p>
            </p:txBody>
          </p:sp>
        </mc:Fallback>
      </mc:AlternateContent>
      <p:pic>
        <p:nvPicPr>
          <p:cNvPr id="9" name="image4.png" descr="Icon&#10;&#10;Description automatically generated">
            <a:extLst>
              <a:ext uri="{FF2B5EF4-FFF2-40B4-BE49-F238E27FC236}">
                <a16:creationId xmlns:a16="http://schemas.microsoft.com/office/drawing/2014/main" id="{A44353D7-8066-C348-8058-E013E77719F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76065" y="378828"/>
            <a:ext cx="741702" cy="741702"/>
          </a:xfrm>
          <a:prstGeom prst="rect">
            <a:avLst/>
          </a:prstGeom>
          <a:ln/>
        </p:spPr>
      </p:pic>
      <mc:AlternateContent xmlns:mc="http://schemas.openxmlformats.org/markup-compatibility/2006">
        <mc:Choice xmlns:a14="http://schemas.microsoft.com/office/drawing/2010/main" Requires="a14">
          <p:graphicFrame>
            <p:nvGraphicFramePr>
              <p:cNvPr id="11" name="Table 10">
                <a:extLst>
                  <a:ext uri="{FF2B5EF4-FFF2-40B4-BE49-F238E27FC236}">
                    <a16:creationId xmlns:a16="http://schemas.microsoft.com/office/drawing/2014/main" id="{85AA3C1C-ACEF-1C43-854D-08F505AA835B}"/>
                  </a:ext>
                </a:extLst>
              </p:cNvPr>
              <p:cNvGraphicFramePr>
                <a:graphicFrameLocks noGrp="1"/>
              </p:cNvGraphicFramePr>
              <p:nvPr>
                <p:extLst>
                  <p:ext uri="{D42A27DB-BD31-4B8C-83A1-F6EECF244321}">
                    <p14:modId xmlns:p14="http://schemas.microsoft.com/office/powerpoint/2010/main" val="390517397"/>
                  </p:ext>
                </p:extLst>
              </p:nvPr>
            </p:nvGraphicFramePr>
            <p:xfrm>
              <a:off x="2364763" y="3600319"/>
              <a:ext cx="6751964" cy="3048000"/>
            </p:xfrm>
            <a:graphic>
              <a:graphicData uri="http://schemas.openxmlformats.org/drawingml/2006/table">
                <a:tbl>
                  <a:tblPr firstRow="1" firstCol="1" bandRow="1"/>
                  <a:tblGrid>
                    <a:gridCol w="3375982">
                      <a:extLst>
                        <a:ext uri="{9D8B030D-6E8A-4147-A177-3AD203B41FA5}">
                          <a16:colId xmlns:a16="http://schemas.microsoft.com/office/drawing/2014/main" val="3227551649"/>
                        </a:ext>
                      </a:extLst>
                    </a:gridCol>
                    <a:gridCol w="3375982">
                      <a:extLst>
                        <a:ext uri="{9D8B030D-6E8A-4147-A177-3AD203B41FA5}">
                          <a16:colId xmlns:a16="http://schemas.microsoft.com/office/drawing/2014/main" val="75852815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rPr>
                            <a:t>Strategy 1:</a:t>
                          </a:r>
                          <a:endParaRPr lang="x-none" sz="2000">
                            <a:effectLst/>
                            <a:latin typeface="Verdana" pitchFamily="34" charset="0"/>
                            <a:ea typeface="Verdana"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rPr>
                            <a:t>Start by applying the product of powers law of exponents.</a:t>
                          </a:r>
                          <a:endParaRPr lang="x-none" sz="2000">
                            <a:effectLst/>
                            <a:latin typeface="Verdana" pitchFamily="34" charset="0"/>
                            <a:ea typeface="Verdana" pitchFamily="34" charset="0"/>
                          </a:endParaRP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rPr>
                            <a:t>Strategy 2:</a:t>
                          </a:r>
                          <a:endParaRPr lang="x-none" sz="2000">
                            <a:effectLst/>
                            <a:latin typeface="Verdana" pitchFamily="34" charset="0"/>
                            <a:ea typeface="Verdana"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rPr>
                            <a:t>Start by applying the power of a product law of exponents.</a:t>
                          </a:r>
                          <a:endParaRPr lang="x-none" sz="2000">
                            <a:effectLst/>
                            <a:latin typeface="Verdana" pitchFamily="34" charset="0"/>
                            <a:ea typeface="Verdana" pitchFamily="34" charset="0"/>
                          </a:endParaRP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448206459"/>
                      </a:ext>
                    </a:extLst>
                  </a:tr>
                  <a:tr h="1828800">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begChr m:val="["/>
                                          <m:endChr m:val="]"/>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den>
                              </m:f>
                            </m:oMath>
                          </a14:m>
                          <a:r>
                            <a:rPr lang="en-US" sz="2000" i="1" dirty="0">
                              <a:effectLst/>
                              <a:latin typeface="Verdana" panose="020B0604030504040204" pitchFamily="34" charset="0"/>
                              <a:ea typeface="Verdana" pitchFamily="34" charset="0"/>
                            </a:rPr>
                            <a:t> </a:t>
                          </a: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begChr m:val="["/>
                                          <m:endChr m:val="]"/>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den>
                              </m:f>
                            </m:oMath>
                          </a14:m>
                          <a:r>
                            <a:rPr lang="en-US" sz="2000" i="1" dirty="0">
                              <a:effectLst/>
                              <a:latin typeface="Verdana" panose="020B0604030504040204" pitchFamily="34" charset="0"/>
                              <a:ea typeface="Verdana" pitchFamily="34" charset="0"/>
                            </a:rPr>
                            <a:t> </a:t>
                          </a:r>
                          <a:endParaRPr lang="x-none" sz="2000" dirty="0">
                            <a:effectLst/>
                            <a:latin typeface="Verdana" pitchFamily="34" charset="0"/>
                            <a:ea typeface="Verdana" pitchFamily="34" charset="0"/>
                          </a:endParaRP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7140579"/>
                      </a:ext>
                    </a:extLst>
                  </a:tr>
                </a:tbl>
              </a:graphicData>
            </a:graphic>
          </p:graphicFrame>
        </mc:Choice>
        <mc:Fallback>
          <p:graphicFrame>
            <p:nvGraphicFramePr>
              <p:cNvPr id="11" name="Table 10">
                <a:extLst>
                  <a:ext uri="{FF2B5EF4-FFF2-40B4-BE49-F238E27FC236}">
                    <a16:creationId xmlns:a16="http://schemas.microsoft.com/office/drawing/2014/main" id="{85AA3C1C-ACEF-1C43-854D-08F505AA835B}"/>
                  </a:ext>
                </a:extLst>
              </p:cNvPr>
              <p:cNvGraphicFramePr>
                <a:graphicFrameLocks noGrp="1"/>
              </p:cNvGraphicFramePr>
              <p:nvPr>
                <p:extLst>
                  <p:ext uri="{D42A27DB-BD31-4B8C-83A1-F6EECF244321}">
                    <p14:modId xmlns:p14="http://schemas.microsoft.com/office/powerpoint/2010/main" val="390517397"/>
                  </p:ext>
                </p:extLst>
              </p:nvPr>
            </p:nvGraphicFramePr>
            <p:xfrm>
              <a:off x="2364763" y="3600319"/>
              <a:ext cx="6751964" cy="3048000"/>
            </p:xfrm>
            <a:graphic>
              <a:graphicData uri="http://schemas.openxmlformats.org/drawingml/2006/table">
                <a:tbl>
                  <a:tblPr firstRow="1" firstCol="1" bandRow="1"/>
                  <a:tblGrid>
                    <a:gridCol w="3375982">
                      <a:extLst>
                        <a:ext uri="{9D8B030D-6E8A-4147-A177-3AD203B41FA5}">
                          <a16:colId xmlns:a16="http://schemas.microsoft.com/office/drawing/2014/main" val="3227551649"/>
                        </a:ext>
                      </a:extLst>
                    </a:gridCol>
                    <a:gridCol w="3375982">
                      <a:extLst>
                        <a:ext uri="{9D8B030D-6E8A-4147-A177-3AD203B41FA5}">
                          <a16:colId xmlns:a16="http://schemas.microsoft.com/office/drawing/2014/main" val="758528151"/>
                        </a:ext>
                      </a:extLst>
                    </a:gridCol>
                  </a:tblGrid>
                  <a:tr h="1219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rPr>
                            <a:t>Strategy 1:</a:t>
                          </a:r>
                          <a:endParaRPr lang="x-none" sz="2000">
                            <a:effectLst/>
                            <a:latin typeface="Verdana" pitchFamily="34" charset="0"/>
                            <a:ea typeface="Verdana"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rPr>
                            <a:t>Start by applying the product of powers law of exponents.</a:t>
                          </a:r>
                          <a:endParaRPr lang="x-none" sz="2000">
                            <a:effectLst/>
                            <a:latin typeface="Verdana" pitchFamily="34" charset="0"/>
                            <a:ea typeface="Verdana" pitchFamily="34" charset="0"/>
                          </a:endParaRP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rPr>
                            <a:t>Strategy 2:</a:t>
                          </a:r>
                          <a:endParaRPr lang="x-none" sz="2000">
                            <a:effectLst/>
                            <a:latin typeface="Verdana" pitchFamily="34" charset="0"/>
                            <a:ea typeface="Verdana"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itchFamily="34" charset="0"/>
                            </a:rPr>
                            <a:t>Start by applying the power of a product law of exponents.</a:t>
                          </a:r>
                          <a:endParaRPr lang="x-none" sz="2000">
                            <a:effectLst/>
                            <a:latin typeface="Verdana" pitchFamily="34" charset="0"/>
                            <a:ea typeface="Verdana" pitchFamily="34" charset="0"/>
                          </a:endParaRPr>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448206459"/>
                      </a:ext>
                    </a:extLst>
                  </a:tr>
                  <a:tr h="1828800">
                    <a:tc>
                      <a:txBody>
                        <a:bodyPr/>
                        <a:lstStyle/>
                        <a:p>
                          <a:endParaRPr lang="en-US"/>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80" t="-70432" r="-100180" b="-664"/>
                          </a:stretch>
                        </a:blipFill>
                      </a:tcPr>
                    </a:tc>
                    <a:tc>
                      <a:txBody>
                        <a:bodyPr/>
                        <a:lstStyle/>
                        <a:p>
                          <a:endParaRPr lang="en-US"/>
                        </a:p>
                      </a:txBody>
                      <a:tcPr marL="60866" marR="60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0361" t="-70432" r="-361" b="-664"/>
                          </a:stretch>
                        </a:blipFill>
                      </a:tcPr>
                    </a:tc>
                    <a:extLst>
                      <a:ext uri="{0D108BD9-81ED-4DB2-BD59-A6C34878D82A}">
                        <a16:rowId xmlns:a16="http://schemas.microsoft.com/office/drawing/2014/main" val="4097140579"/>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sp>
        <p:nvSpPr>
          <p:cNvPr id="7" name="Rectangle 6">
            <a:extLst>
              <a:ext uri="{FF2B5EF4-FFF2-40B4-BE49-F238E27FC236}">
                <a16:creationId xmlns:a16="http://schemas.microsoft.com/office/drawing/2014/main" id="{2462CA84-B0A7-574F-BCDC-AB209CE8769D}"/>
              </a:ext>
            </a:extLst>
          </p:cNvPr>
          <p:cNvSpPr>
            <a:spLocks noChangeArrowheads="1"/>
          </p:cNvSpPr>
          <p:nvPr/>
        </p:nvSpPr>
        <p:spPr bwMode="auto">
          <a:xfrm>
            <a:off x="1080655" y="632414"/>
            <a:ext cx="90964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whether or not the quotient of powers law of exponents could have been applied first.</a:t>
            </a:r>
          </a:p>
        </p:txBody>
      </p:sp>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3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77538" y="439898"/>
            <a:ext cx="9130081" cy="8582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4.5.4 Collaboration: Choose Your Own Adventure!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24157" y="36864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080655" y="1488427"/>
                <a:ext cx="9359896" cy="231781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2</m:t>
                                    </m:r>
                                  </m:e>
                                  <m:sup>
                                    <m:r>
                                      <a:rPr lang="es-ES" sz="2400" i="1">
                                        <a:latin typeface="Cambria Math" panose="02040503050406030204" pitchFamily="18" charset="0"/>
                                        <a:ea typeface="Verdana" panose="020B0604030504040204" pitchFamily="34" charset="0"/>
                                        <a:cs typeface="Verdana" panose="020B0604030504040204" pitchFamily="34" charset="0"/>
                                      </a:rPr>
                                      <m:t>−1</m:t>
                                    </m:r>
                                  </m:sup>
                                </m:sSup>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f>
                                  <m:fPr>
                                    <m:ctrlPr>
                                      <a:rPr lang="es-E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1</m:t>
                                    </m:r>
                                  </m:num>
                                  <m:den>
                                    <m:r>
                                      <a:rPr lang="es-ES" sz="2400" i="1">
                                        <a:latin typeface="Cambria Math" panose="02040503050406030204" pitchFamily="18" charset="0"/>
                                        <a:ea typeface="Verdana" panose="020B0604030504040204" pitchFamily="34" charset="0"/>
                                        <a:cs typeface="Verdana" panose="020B0604030504040204" pitchFamily="34" charset="0"/>
                                      </a:rPr>
                                      <m:t>2</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num>
                      <m:den>
                        <m:r>
                          <a:rPr lang="es-ES" sz="2400" i="1">
                            <a:latin typeface="Cambria Math" panose="02040503050406030204" pitchFamily="18" charset="0"/>
                            <a:ea typeface="Verdana" panose="020B0604030504040204" pitchFamily="34" charset="0"/>
                            <a:cs typeface="Verdana" panose="020B0604030504040204" pitchFamily="34" charset="0"/>
                          </a:rPr>
                          <m:t>2·</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2</m:t>
                            </m:r>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which exponent laws could be applied in the first step. Check off all that apply from the list.</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080655" y="1488427"/>
                <a:ext cx="9359896" cy="2317814"/>
              </a:xfrm>
              <a:prstGeom prst="rect">
                <a:avLst/>
              </a:prstGeom>
              <a:blipFill>
                <a:blip r:embed="rId5"/>
                <a:stretch>
                  <a:fillRect l="-977" r="-1107" b="-5000"/>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A6744CB1-20D0-024C-9517-021BA462B79E}"/>
              </a:ext>
            </a:extLst>
          </p:cNvPr>
          <p:cNvGraphicFramePr>
            <a:graphicFrameLocks noGrp="1"/>
          </p:cNvGraphicFramePr>
          <p:nvPr>
            <p:extLst>
              <p:ext uri="{D42A27DB-BD31-4B8C-83A1-F6EECF244321}">
                <p14:modId xmlns:p14="http://schemas.microsoft.com/office/powerpoint/2010/main" val="3910413514"/>
              </p:ext>
            </p:extLst>
          </p:nvPr>
        </p:nvGraphicFramePr>
        <p:xfrm>
          <a:off x="2459772" y="3949673"/>
          <a:ext cx="6940550" cy="1824292"/>
        </p:xfrm>
        <a:graphic>
          <a:graphicData uri="http://schemas.openxmlformats.org/drawingml/2006/table">
            <a:tbl>
              <a:tblPr firstRow="1" firstCol="1" bandRow="1"/>
              <a:tblGrid>
                <a:gridCol w="3470275">
                  <a:extLst>
                    <a:ext uri="{9D8B030D-6E8A-4147-A177-3AD203B41FA5}">
                      <a16:colId xmlns:a16="http://schemas.microsoft.com/office/drawing/2014/main" val="1806141890"/>
                    </a:ext>
                  </a:extLst>
                </a:gridCol>
                <a:gridCol w="3470275">
                  <a:extLst>
                    <a:ext uri="{9D8B030D-6E8A-4147-A177-3AD203B41FA5}">
                      <a16:colId xmlns:a16="http://schemas.microsoft.com/office/drawing/2014/main" val="192920812"/>
                    </a:ext>
                  </a:extLst>
                </a:gridCol>
              </a:tblGrid>
              <a:tr h="0">
                <a:tc>
                  <a:txBody>
                    <a:bodyPr/>
                    <a:lstStyle/>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778532920"/>
                  </a:ext>
                </a:extLst>
              </a:tr>
            </a:tbl>
          </a:graphicData>
        </a:graphic>
      </p:graphicFrame>
    </p:spTree>
    <p:extLst>
      <p:ext uri="{BB962C8B-B14F-4D97-AF65-F5344CB8AC3E}">
        <p14:creationId xmlns:p14="http://schemas.microsoft.com/office/powerpoint/2010/main" val="2190428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145</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2462CA84-B0A7-574F-BCDC-AB209CE8769D}"/>
              </a:ext>
            </a:extLst>
          </p:cNvPr>
          <p:cNvSpPr>
            <a:spLocks noChangeArrowheads="1"/>
          </p:cNvSpPr>
          <p:nvPr/>
        </p:nvSpPr>
        <p:spPr bwMode="auto">
          <a:xfrm>
            <a:off x="1080655" y="422206"/>
            <a:ext cx="925424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Evaluate the expression beginning with a different first step than your partner. </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your work with your partner’s and come to a consensus about the value of the expression. Discuss the similarities and differences in your work.</a:t>
            </a:r>
          </a:p>
        </p:txBody>
      </p:sp>
    </p:spTree>
    <p:extLst>
      <p:ext uri="{BB962C8B-B14F-4D97-AF65-F5344CB8AC3E}">
        <p14:creationId xmlns:p14="http://schemas.microsoft.com/office/powerpoint/2010/main" val="1159944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2462CA84-B0A7-574F-BCDC-AB209CE8769D}"/>
                  </a:ext>
                </a:extLst>
              </p:cNvPr>
              <p:cNvSpPr>
                <a:spLocks noChangeArrowheads="1"/>
              </p:cNvSpPr>
              <p:nvPr/>
            </p:nvSpPr>
            <p:spPr bwMode="auto">
              <a:xfrm>
                <a:off x="1092530" y="422207"/>
                <a:ext cx="9242371" cy="294305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the expression </a:t>
                </a:r>
                <a14:m>
                  <m:oMath xmlns:m="http://schemas.openxmlformats.org/officeDocument/2006/math">
                    <m:f>
                      <m:fPr>
                        <m:ctrlPr>
                          <a:rPr lang="en-US" sz="2400" i="1">
                            <a:latin typeface="Cambria Math" panose="02040503050406030204" pitchFamily="18" charset="0"/>
                            <a:cs typeface="Times New Roman" panose="02020603050405020304" pitchFamily="18" charset="0"/>
                          </a:rPr>
                        </m:ctrlPr>
                      </m:fPr>
                      <m:num>
                        <m:sSup>
                          <m:sSupPr>
                            <m:ctrlPr>
                              <a:rPr lang="en-US" sz="2400" i="1">
                                <a:latin typeface="Cambria Math" panose="02040503050406030204" pitchFamily="18" charset="0"/>
                                <a:cs typeface="Times New Roman" panose="02020603050405020304" pitchFamily="18" charset="0"/>
                              </a:rPr>
                            </m:ctrlPr>
                          </m:sSupPr>
                          <m:e>
                            <m:d>
                              <m:dPr>
                                <m:ctrlPr>
                                  <a:rPr lang="en-US" sz="2400" i="1">
                                    <a:latin typeface="Cambria Math" panose="02040503050406030204" pitchFamily="18" charset="0"/>
                                    <a:cs typeface="Times New Roman" panose="02020603050405020304" pitchFamily="18" charset="0"/>
                                  </a:rPr>
                                </m:ctrlPr>
                              </m:dPr>
                              <m:e>
                                <m:f>
                                  <m:fPr>
                                    <m:ctrlPr>
                                      <a:rPr lang="en-US" sz="2400" i="1">
                                        <a:latin typeface="Cambria Math" panose="02040503050406030204" pitchFamily="18"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3</m:t>
                                    </m:r>
                                  </m:num>
                                  <m:den>
                                    <m:r>
                                      <a:rPr lang="es-ES" sz="2400" i="1">
                                        <a:latin typeface="Cambria Math" panose="02040503050406030204" pitchFamily="18" charset="0"/>
                                        <a:cs typeface="Times New Roman" panose="02020603050405020304" pitchFamily="18" charset="0"/>
                                      </a:rPr>
                                      <m:t>2</m:t>
                                    </m:r>
                                  </m:den>
                                </m:f>
                              </m:e>
                            </m:d>
                          </m:e>
                          <m:sup>
                            <m:r>
                              <a:rPr lang="es-ES" sz="2400" i="1">
                                <a:latin typeface="Cambria Math" panose="02040503050406030204" pitchFamily="18" charset="0"/>
                                <a:cs typeface="Times New Roman" panose="02020603050405020304" pitchFamily="18" charset="0"/>
                              </a:rPr>
                              <m:t>−5</m:t>
                            </m:r>
                          </m:sup>
                        </m:sSup>
                        <m:r>
                          <a:rPr lang="es-ES" sz="2400" i="1">
                            <a:latin typeface="Cambria Math" panose="02040503050406030204" pitchFamily="18" charset="0"/>
                            <a:cs typeface="Times New Roman" panose="02020603050405020304" pitchFamily="18" charset="0"/>
                          </a:rPr>
                          <m:t>·</m:t>
                        </m:r>
                        <m:sSup>
                          <m:sSupPr>
                            <m:ctrlPr>
                              <a:rPr lang="es-ES" sz="2400" i="1">
                                <a:latin typeface="Cambria Math" panose="02040503050406030204" pitchFamily="18" charset="0"/>
                                <a:cs typeface="Times New Roman" panose="02020603050405020304" pitchFamily="18" charset="0"/>
                              </a:rPr>
                            </m:ctrlPr>
                          </m:sSupPr>
                          <m:e>
                            <m:d>
                              <m:dPr>
                                <m:ctrlPr>
                                  <a:rPr lang="es-ES" sz="2400" i="1">
                                    <a:latin typeface="Cambria Math" panose="02040503050406030204" pitchFamily="18" charset="0"/>
                                    <a:cs typeface="Times New Roman" panose="02020603050405020304" pitchFamily="18" charset="0"/>
                                  </a:rPr>
                                </m:ctrlPr>
                              </m:dPr>
                              <m:e>
                                <m:sSup>
                                  <m:sSupPr>
                                    <m:ctrlPr>
                                      <a:rPr lang="en-US" sz="2400" i="1">
                                        <a:latin typeface="Cambria Math" panose="02040503050406030204" pitchFamily="18" charset="0"/>
                                        <a:cs typeface="Times New Roman" panose="02020603050405020304" pitchFamily="18" charset="0"/>
                                      </a:rPr>
                                    </m:ctrlPr>
                                  </m:sSupPr>
                                  <m:e>
                                    <m:d>
                                      <m:dPr>
                                        <m:ctrlPr>
                                          <a:rPr lang="en-US" sz="2400" i="1">
                                            <a:latin typeface="Cambria Math" panose="02040503050406030204" pitchFamily="18" charset="0"/>
                                            <a:cs typeface="Times New Roman" panose="02020603050405020304" pitchFamily="18" charset="0"/>
                                          </a:rPr>
                                        </m:ctrlPr>
                                      </m:dPr>
                                      <m:e>
                                        <m:f>
                                          <m:fPr>
                                            <m:ctrlPr>
                                              <a:rPr lang="en-US" sz="2400" i="1">
                                                <a:latin typeface="Cambria Math" panose="02040503050406030204" pitchFamily="18"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2</m:t>
                                            </m:r>
                                          </m:num>
                                          <m:den>
                                            <m:r>
                                              <a:rPr lang="es-ES" sz="2400" i="1">
                                                <a:latin typeface="Cambria Math" panose="02040503050406030204" pitchFamily="18" charset="0"/>
                                                <a:cs typeface="Times New Roman" panose="02020603050405020304" pitchFamily="18" charset="0"/>
                                              </a:rPr>
                                              <m:t>3</m:t>
                                            </m:r>
                                          </m:den>
                                        </m:f>
                                      </m:e>
                                    </m:d>
                                  </m:e>
                                  <m:sup>
                                    <m:r>
                                      <a:rPr lang="es-ES" sz="2400" i="1">
                                        <a:latin typeface="Cambria Math" panose="02040503050406030204" pitchFamily="18" charset="0"/>
                                        <a:cs typeface="Times New Roman" panose="02020603050405020304" pitchFamily="18" charset="0"/>
                                      </a:rPr>
                                      <m:t>7</m:t>
                                    </m:r>
                                  </m:sup>
                                </m:sSup>
                              </m:e>
                            </m:d>
                          </m:e>
                          <m:sup>
                            <m:r>
                              <a:rPr lang="es-ES" sz="2400" i="1">
                                <a:latin typeface="Cambria Math" panose="02040503050406030204" pitchFamily="18" charset="0"/>
                                <a:cs typeface="Times New Roman" panose="02020603050405020304" pitchFamily="18" charset="0"/>
                              </a:rPr>
                              <m:t>0</m:t>
                            </m:r>
                          </m:sup>
                        </m:sSup>
                      </m:num>
                      <m:den>
                        <m:sSup>
                          <m:sSupPr>
                            <m:ctrlPr>
                              <a:rPr lang="en-US" sz="2400" i="1">
                                <a:latin typeface="Cambria Math" panose="02040503050406030204" pitchFamily="18" charset="0"/>
                                <a:cs typeface="Times New Roman" panose="02020603050405020304" pitchFamily="18" charset="0"/>
                              </a:rPr>
                            </m:ctrlPr>
                          </m:sSupPr>
                          <m:e>
                            <m:d>
                              <m:dPr>
                                <m:ctrlPr>
                                  <a:rPr lang="en-US" sz="2400" i="1">
                                    <a:latin typeface="Cambria Math" panose="02040503050406030204" pitchFamily="18" charset="0"/>
                                    <a:cs typeface="Times New Roman" panose="02020603050405020304" pitchFamily="18" charset="0"/>
                                  </a:rPr>
                                </m:ctrlPr>
                              </m:dPr>
                              <m:e>
                                <m:sSup>
                                  <m:sSupPr>
                                    <m:ctrlPr>
                                      <a:rPr lang="en-US" sz="2400" i="1">
                                        <a:latin typeface="Cambria Math" panose="02040503050406030204" pitchFamily="18" charset="0"/>
                                        <a:cs typeface="Times New Roman" panose="02020603050405020304" pitchFamily="18" charset="0"/>
                                      </a:rPr>
                                    </m:ctrlPr>
                                  </m:sSupPr>
                                  <m:e>
                                    <m:d>
                                      <m:dPr>
                                        <m:ctrlPr>
                                          <a:rPr lang="en-US" sz="2400" i="1">
                                            <a:latin typeface="Cambria Math" panose="02040503050406030204" pitchFamily="18" charset="0"/>
                                            <a:cs typeface="Times New Roman" panose="02020603050405020304" pitchFamily="18" charset="0"/>
                                          </a:rPr>
                                        </m:ctrlPr>
                                      </m:dPr>
                                      <m:e>
                                        <m:f>
                                          <m:fPr>
                                            <m:ctrlPr>
                                              <a:rPr lang="en-US" sz="2400" i="1">
                                                <a:latin typeface="Cambria Math" panose="02040503050406030204" pitchFamily="18" charset="0"/>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2</m:t>
                                            </m:r>
                                          </m:num>
                                          <m:den>
                                            <m:r>
                                              <a:rPr lang="es-ES" sz="2400" i="1">
                                                <a:latin typeface="Cambria Math" panose="02040503050406030204" pitchFamily="18" charset="0"/>
                                                <a:cs typeface="Times New Roman" panose="02020603050405020304" pitchFamily="18" charset="0"/>
                                              </a:rPr>
                                              <m:t>3</m:t>
                                            </m:r>
                                          </m:den>
                                        </m:f>
                                      </m:e>
                                    </m:d>
                                  </m:e>
                                  <m:sup>
                                    <m:r>
                                      <a:rPr lang="es-ES" sz="2400" i="1">
                                        <a:latin typeface="Cambria Math" panose="02040503050406030204" pitchFamily="18" charset="0"/>
                                        <a:cs typeface="Times New Roman" panose="02020603050405020304" pitchFamily="18" charset="0"/>
                                      </a:rPr>
                                      <m:t>2</m:t>
                                    </m:r>
                                  </m:sup>
                                </m:sSup>
                              </m:e>
                            </m:d>
                          </m:e>
                          <m:sup>
                            <m:r>
                              <a:rPr lang="es-ES" sz="2400" i="1">
                                <a:latin typeface="Cambria Math" panose="02040503050406030204" pitchFamily="18" charset="0"/>
                                <a:cs typeface="Times New Roman" panose="02020603050405020304" pitchFamily="18" charset="0"/>
                              </a:rPr>
                              <m:t>3</m:t>
                            </m:r>
                          </m:sup>
                        </m:sSup>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84188">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which exponent laws could be applied in the first step. Check off all that apply from the list.</a:t>
                </a:r>
              </a:p>
            </p:txBody>
          </p:sp>
        </mc:Choice>
        <mc:Fallback>
          <p:sp>
            <p:nvSpPr>
              <p:cNvPr id="7" name="Rectangle 6">
                <a:extLst>
                  <a:ext uri="{FF2B5EF4-FFF2-40B4-BE49-F238E27FC236}">
                    <a16:creationId xmlns:a16="http://schemas.microsoft.com/office/drawing/2014/main" id="{2462CA84-B0A7-574F-BCDC-AB209CE8769D}"/>
                  </a:ext>
                </a:extLst>
              </p:cNvPr>
              <p:cNvSpPr>
                <a:spLocks noRot="1" noChangeAspect="1" noMove="1" noResize="1" noEditPoints="1" noAdjustHandles="1" noChangeArrowheads="1" noChangeShapeType="1" noTextEdit="1"/>
              </p:cNvSpPr>
              <p:nvPr/>
            </p:nvSpPr>
            <p:spPr bwMode="auto">
              <a:xfrm>
                <a:off x="1092530" y="422207"/>
                <a:ext cx="9242371" cy="2943050"/>
              </a:xfrm>
              <a:prstGeom prst="rect">
                <a:avLst/>
              </a:prstGeom>
              <a:blipFill>
                <a:blip r:embed="rId3"/>
                <a:stretch>
                  <a:fillRect l="-989" b="-372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graphicFrame>
        <p:nvGraphicFramePr>
          <p:cNvPr id="8" name="Table 7">
            <a:extLst>
              <a:ext uri="{FF2B5EF4-FFF2-40B4-BE49-F238E27FC236}">
                <a16:creationId xmlns:a16="http://schemas.microsoft.com/office/drawing/2014/main" id="{A6744CB1-20D0-024C-9517-021BA462B79E}"/>
              </a:ext>
            </a:extLst>
          </p:cNvPr>
          <p:cNvGraphicFramePr>
            <a:graphicFrameLocks noGrp="1"/>
          </p:cNvGraphicFramePr>
          <p:nvPr>
            <p:extLst>
              <p:ext uri="{D42A27DB-BD31-4B8C-83A1-F6EECF244321}">
                <p14:modId xmlns:p14="http://schemas.microsoft.com/office/powerpoint/2010/main" val="1539321453"/>
              </p:ext>
            </p:extLst>
          </p:nvPr>
        </p:nvGraphicFramePr>
        <p:xfrm>
          <a:off x="2971521" y="3731474"/>
          <a:ext cx="6940550" cy="1824292"/>
        </p:xfrm>
        <a:graphic>
          <a:graphicData uri="http://schemas.openxmlformats.org/drawingml/2006/table">
            <a:tbl>
              <a:tblPr firstRow="1" firstCol="1" bandRow="1"/>
              <a:tblGrid>
                <a:gridCol w="3470275">
                  <a:extLst>
                    <a:ext uri="{9D8B030D-6E8A-4147-A177-3AD203B41FA5}">
                      <a16:colId xmlns:a16="http://schemas.microsoft.com/office/drawing/2014/main" val="1806141890"/>
                    </a:ext>
                  </a:extLst>
                </a:gridCol>
                <a:gridCol w="3470275">
                  <a:extLst>
                    <a:ext uri="{9D8B030D-6E8A-4147-A177-3AD203B41FA5}">
                      <a16:colId xmlns:a16="http://schemas.microsoft.com/office/drawing/2014/main" val="192920812"/>
                    </a:ext>
                  </a:extLst>
                </a:gridCol>
              </a:tblGrid>
              <a:tr h="0">
                <a:tc>
                  <a:txBody>
                    <a:bodyPr/>
                    <a:lstStyle/>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lnSpc>
                          <a:spcPct val="115000"/>
                        </a:lnSpc>
                        <a:spcBef>
                          <a:spcPts val="0"/>
                        </a:spcBef>
                        <a:spcAft>
                          <a:spcPts val="1200"/>
                        </a:spcAft>
                        <a:buFont typeface="Wingdings" pitchFamily="2" charset="2"/>
                        <a:buChar char=""/>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778532920"/>
                  </a:ext>
                </a:extLst>
              </a:tr>
            </a:tbl>
          </a:graphicData>
        </a:graphic>
      </p:graphicFrame>
    </p:spTree>
    <p:extLst>
      <p:ext uri="{BB962C8B-B14F-4D97-AF65-F5344CB8AC3E}">
        <p14:creationId xmlns:p14="http://schemas.microsoft.com/office/powerpoint/2010/main" val="1699501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2462CA84-B0A7-574F-BCDC-AB209CE8769D}"/>
              </a:ext>
            </a:extLst>
          </p:cNvPr>
          <p:cNvSpPr>
            <a:spLocks noChangeArrowheads="1"/>
          </p:cNvSpPr>
          <p:nvPr/>
        </p:nvSpPr>
        <p:spPr bwMode="auto">
          <a:xfrm>
            <a:off x="1080655" y="422206"/>
            <a:ext cx="925424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Evaluate the expression beginning with a different first step than your partner. </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your work with your partner’s and come to a consensus about the value of the expression. Discuss the similarities and differences in your work.</a:t>
            </a:r>
          </a:p>
        </p:txBody>
      </p:sp>
    </p:spTree>
    <p:extLst>
      <p:ext uri="{BB962C8B-B14F-4D97-AF65-F5344CB8AC3E}">
        <p14:creationId xmlns:p14="http://schemas.microsoft.com/office/powerpoint/2010/main" val="2801657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p:pic>
        <p:nvPicPr>
          <p:cNvPr id="7" name="image7.png" descr="Icon&#10;&#10;Description automatically generated">
            <a:extLst>
              <a:ext uri="{FF2B5EF4-FFF2-40B4-BE49-F238E27FC236}">
                <a16:creationId xmlns:a16="http://schemas.microsoft.com/office/drawing/2014/main" id="{F11D5DBA-01ED-9747-AD77-C5ADFE0AC29D}"/>
              </a:ext>
            </a:extLst>
          </p:cNvPr>
          <p:cNvPicPr/>
          <p:nvPr/>
        </p:nvPicPr>
        <p:blipFill>
          <a:blip r:embed="rId4"/>
          <a:srcRect/>
          <a:stretch>
            <a:fillRect/>
          </a:stretch>
        </p:blipFill>
        <p:spPr>
          <a:xfrm>
            <a:off x="4591420" y="2849918"/>
            <a:ext cx="1158155" cy="115815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32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4410" y="59250"/>
            <a:ext cx="96508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4.5.5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80656" y="1384950"/>
                <a:ext cx="8960988" cy="427501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Otis is evaluating the expression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0</m:t>
                            </m:r>
                          </m:sup>
                        </m:sSup>
                      </m:num>
                      <m:den>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7575" indent="-460375"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Circle the expressions that show a correct first step in evaluating the expression.</a:t>
                </a:r>
              </a:p>
              <a:p>
                <a:pPr marL="917575" indent="-460375"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indent="-35401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indent="-35401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indent="-35401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indent="-354013"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Evaluate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0</m:t>
                            </m:r>
                          </m:sup>
                        </m:sSup>
                      </m:num>
                      <m:den>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3.2</m:t>
                                    </m:r>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80656" y="1384950"/>
                <a:ext cx="8960988" cy="4275016"/>
              </a:xfrm>
              <a:prstGeom prst="rect">
                <a:avLst/>
              </a:prstGeom>
              <a:blipFill>
                <a:blip r:embed="rId4"/>
                <a:stretch>
                  <a:fillRect l="-10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6" name="image7.png" descr="Icon&#10;&#10;Description automatically generated">
            <a:extLst>
              <a:ext uri="{FF2B5EF4-FFF2-40B4-BE49-F238E27FC236}">
                <a16:creationId xmlns:a16="http://schemas.microsoft.com/office/drawing/2014/main" id="{F5D5FD80-02E9-6444-8A7D-9A8F08A2BCD1}"/>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35002" y="346212"/>
            <a:ext cx="751775" cy="751775"/>
          </a:xfrm>
          <a:prstGeom prst="rect">
            <a:avLst/>
          </a:prstGeom>
          <a:ln/>
        </p:spPr>
      </p:pic>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E12F1DED-884E-E944-BCD4-DA24E29D3762}"/>
                  </a:ext>
                </a:extLst>
              </p:cNvPr>
              <p:cNvGraphicFramePr>
                <a:graphicFrameLocks noGrp="1"/>
              </p:cNvGraphicFramePr>
              <p:nvPr>
                <p:extLst>
                  <p:ext uri="{D42A27DB-BD31-4B8C-83A1-F6EECF244321}">
                    <p14:modId xmlns:p14="http://schemas.microsoft.com/office/powerpoint/2010/main" val="3809608767"/>
                  </p:ext>
                </p:extLst>
              </p:nvPr>
            </p:nvGraphicFramePr>
            <p:xfrm>
              <a:off x="2604694" y="3522458"/>
              <a:ext cx="6285230" cy="860933"/>
            </p:xfrm>
            <a:graphic>
              <a:graphicData uri="http://schemas.openxmlformats.org/drawingml/2006/table">
                <a:tbl>
                  <a:tblPr firstRow="1" firstCol="1" bandRow="1"/>
                  <a:tblGrid>
                    <a:gridCol w="1463040">
                      <a:extLst>
                        <a:ext uri="{9D8B030D-6E8A-4147-A177-3AD203B41FA5}">
                          <a16:colId xmlns:a16="http://schemas.microsoft.com/office/drawing/2014/main" val="2165929138"/>
                        </a:ext>
                      </a:extLst>
                    </a:gridCol>
                    <a:gridCol w="1828800">
                      <a:extLst>
                        <a:ext uri="{9D8B030D-6E8A-4147-A177-3AD203B41FA5}">
                          <a16:colId xmlns:a16="http://schemas.microsoft.com/office/drawing/2014/main" val="1605527481"/>
                        </a:ext>
                      </a:extLst>
                    </a:gridCol>
                    <a:gridCol w="1371600">
                      <a:extLst>
                        <a:ext uri="{9D8B030D-6E8A-4147-A177-3AD203B41FA5}">
                          <a16:colId xmlns:a16="http://schemas.microsoft.com/office/drawing/2014/main" val="675779126"/>
                        </a:ext>
                      </a:extLst>
                    </a:gridCol>
                    <a:gridCol w="1621790">
                      <a:extLst>
                        <a:ext uri="{9D8B030D-6E8A-4147-A177-3AD203B41FA5}">
                          <a16:colId xmlns:a16="http://schemas.microsoft.com/office/drawing/2014/main" val="3079267246"/>
                        </a:ext>
                      </a:extLst>
                    </a:gridCol>
                  </a:tblGrid>
                  <a:tr h="0">
                    <a:tc>
                      <a:txBody>
                        <a:bodyPr/>
                        <a:lstStyle/>
                        <a:p>
                          <a:pPr marL="0" marR="0" algn="l">
                            <a:spcBef>
                              <a:spcPts val="0"/>
                            </a:spcBef>
                            <a:spcAft>
                              <a:spcPts val="0"/>
                            </a:spcAft>
                          </a:pPr>
                          <a14:m>
                            <m:oMathPara xmlns:m="http://schemas.openxmlformats.org/officeDocument/2006/math">
                              <m:oMathParaPr>
                                <m:jc m:val="left"/>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 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l">
                            <a:spcBef>
                              <a:spcPts val="0"/>
                            </a:spcBef>
                            <a:spcAft>
                              <a:spcPts val="0"/>
                            </a:spcAft>
                          </a:pPr>
                          <a14:m>
                            <m:oMathPara xmlns:m="http://schemas.openxmlformats.org/officeDocument/2006/math">
                              <m:oMathParaPr>
                                <m:jc m:val="left"/>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m:oMathPara>
                          </a14:m>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l">
                            <a:spcBef>
                              <a:spcPts val="0"/>
                            </a:spcBef>
                            <a:spcAft>
                              <a:spcPts val="0"/>
                            </a:spcAft>
                          </a:pPr>
                          <a14:m>
                            <m:oMathPara xmlns:m="http://schemas.openxmlformats.org/officeDocument/2006/math">
                              <m:oMathParaPr>
                                <m:jc m:val="left"/>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14:m>
                            <m:oMathPara xmlns:m="http://schemas.openxmlformats.org/officeDocument/2006/math">
                              <m:oMathParaPr>
                                <m:jc m:val="left"/>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3.2</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den>
                                </m:f>
                              </m:oMath>
                            </m:oMathPara>
                          </a14:m>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1406855098"/>
                      </a:ext>
                    </a:extLst>
                  </a:tr>
                </a:tbl>
              </a:graphicData>
            </a:graphic>
          </p:graphicFrame>
        </mc:Choice>
        <mc:Fallback>
          <p:graphicFrame>
            <p:nvGraphicFramePr>
              <p:cNvPr id="5" name="Table 4">
                <a:extLst>
                  <a:ext uri="{FF2B5EF4-FFF2-40B4-BE49-F238E27FC236}">
                    <a16:creationId xmlns:a16="http://schemas.microsoft.com/office/drawing/2014/main" id="{E12F1DED-884E-E944-BCD4-DA24E29D3762}"/>
                  </a:ext>
                </a:extLst>
              </p:cNvPr>
              <p:cNvGraphicFramePr>
                <a:graphicFrameLocks noGrp="1"/>
              </p:cNvGraphicFramePr>
              <p:nvPr>
                <p:extLst>
                  <p:ext uri="{D42A27DB-BD31-4B8C-83A1-F6EECF244321}">
                    <p14:modId xmlns:p14="http://schemas.microsoft.com/office/powerpoint/2010/main" val="3809608767"/>
                  </p:ext>
                </p:extLst>
              </p:nvPr>
            </p:nvGraphicFramePr>
            <p:xfrm>
              <a:off x="2604694" y="3522458"/>
              <a:ext cx="6285230" cy="860933"/>
            </p:xfrm>
            <a:graphic>
              <a:graphicData uri="http://schemas.openxmlformats.org/drawingml/2006/table">
                <a:tbl>
                  <a:tblPr firstRow="1" firstCol="1" bandRow="1"/>
                  <a:tblGrid>
                    <a:gridCol w="1463040">
                      <a:extLst>
                        <a:ext uri="{9D8B030D-6E8A-4147-A177-3AD203B41FA5}">
                          <a16:colId xmlns:a16="http://schemas.microsoft.com/office/drawing/2014/main" val="2165929138"/>
                        </a:ext>
                      </a:extLst>
                    </a:gridCol>
                    <a:gridCol w="1828800">
                      <a:extLst>
                        <a:ext uri="{9D8B030D-6E8A-4147-A177-3AD203B41FA5}">
                          <a16:colId xmlns:a16="http://schemas.microsoft.com/office/drawing/2014/main" val="1605527481"/>
                        </a:ext>
                      </a:extLst>
                    </a:gridCol>
                    <a:gridCol w="1371600">
                      <a:extLst>
                        <a:ext uri="{9D8B030D-6E8A-4147-A177-3AD203B41FA5}">
                          <a16:colId xmlns:a16="http://schemas.microsoft.com/office/drawing/2014/main" val="675779126"/>
                        </a:ext>
                      </a:extLst>
                    </a:gridCol>
                    <a:gridCol w="1621790">
                      <a:extLst>
                        <a:ext uri="{9D8B030D-6E8A-4147-A177-3AD203B41FA5}">
                          <a16:colId xmlns:a16="http://schemas.microsoft.com/office/drawing/2014/main" val="3079267246"/>
                        </a:ext>
                      </a:extLst>
                    </a:gridCol>
                  </a:tblGrid>
                  <a:tr h="860933">
                    <a:tc>
                      <a:txBody>
                        <a:bodyPr/>
                        <a:lstStyle/>
                        <a:p>
                          <a:endParaRPr lang="en-US"/>
                        </a:p>
                      </a:txBody>
                      <a:tcPr marL="68580" marR="68580" marT="0" marB="0" anchor="ctr">
                        <a:lnL>
                          <a:noFill/>
                        </a:lnL>
                        <a:lnR>
                          <a:noFill/>
                        </a:lnR>
                        <a:lnT>
                          <a:noFill/>
                        </a:lnT>
                        <a:lnB>
                          <a:noFill/>
                        </a:lnB>
                        <a:blipFill>
                          <a:blip r:embed="rId6"/>
                          <a:stretch>
                            <a:fillRect r="-330000"/>
                          </a:stretch>
                        </a:blipFill>
                      </a:tcPr>
                    </a:tc>
                    <a:tc>
                      <a:txBody>
                        <a:bodyPr/>
                        <a:lstStyle/>
                        <a:p>
                          <a:endParaRPr lang="en-US"/>
                        </a:p>
                      </a:txBody>
                      <a:tcPr marL="68580" marR="68580" marT="0" marB="0" anchor="ctr">
                        <a:lnL>
                          <a:noFill/>
                        </a:lnL>
                        <a:lnR>
                          <a:noFill/>
                        </a:lnR>
                        <a:lnT>
                          <a:noFill/>
                        </a:lnT>
                        <a:lnB>
                          <a:noFill/>
                        </a:lnB>
                        <a:blipFill>
                          <a:blip r:embed="rId6"/>
                          <a:stretch>
                            <a:fillRect l="-79734" r="-163123"/>
                          </a:stretch>
                        </a:blipFill>
                      </a:tcPr>
                    </a:tc>
                    <a:tc>
                      <a:txBody>
                        <a:bodyPr/>
                        <a:lstStyle/>
                        <a:p>
                          <a:endParaRPr lang="en-US"/>
                        </a:p>
                      </a:txBody>
                      <a:tcPr marL="68580" marR="68580" marT="0" marB="0" anchor="ctr">
                        <a:lnL>
                          <a:noFill/>
                        </a:lnL>
                        <a:lnR>
                          <a:noFill/>
                        </a:lnR>
                        <a:lnT>
                          <a:noFill/>
                        </a:lnT>
                        <a:lnB>
                          <a:noFill/>
                        </a:lnB>
                        <a:blipFill>
                          <a:blip r:embed="rId6"/>
                          <a:stretch>
                            <a:fillRect l="-240444" r="-118222"/>
                          </a:stretch>
                        </a:blipFill>
                      </a:tcPr>
                    </a:tc>
                    <a:tc>
                      <a:txBody>
                        <a:bodyPr/>
                        <a:lstStyle/>
                        <a:p>
                          <a:endParaRPr lang="en-US"/>
                        </a:p>
                      </a:txBody>
                      <a:tcPr marL="68580" marR="68580" marT="0" marB="0" anchor="ctr">
                        <a:lnL>
                          <a:noFill/>
                        </a:lnL>
                        <a:lnR>
                          <a:noFill/>
                        </a:lnR>
                        <a:lnT>
                          <a:noFill/>
                        </a:lnT>
                        <a:lnB>
                          <a:noFill/>
                        </a:lnB>
                        <a:blipFill>
                          <a:blip r:embed="rId6"/>
                          <a:stretch>
                            <a:fillRect l="-287970"/>
                          </a:stretch>
                        </a:blipFill>
                      </a:tcPr>
                    </a:tc>
                    <a:extLst>
                      <a:ext uri="{0D108BD9-81ED-4DB2-BD59-A6C34878D82A}">
                        <a16:rowId xmlns:a16="http://schemas.microsoft.com/office/drawing/2014/main" val="1406855098"/>
                      </a:ext>
                    </a:extLst>
                  </a:tr>
                </a:tbl>
              </a:graphicData>
            </a:graphic>
          </p:graphicFrame>
        </mc:Fallback>
      </mc:AlternateContent>
    </p:spTree>
    <p:extLst>
      <p:ext uri="{BB962C8B-B14F-4D97-AF65-F5344CB8AC3E}">
        <p14:creationId xmlns:p14="http://schemas.microsoft.com/office/powerpoint/2010/main" val="2020413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2462CA84-B0A7-574F-BCDC-AB209CE8769D}"/>
                  </a:ext>
                </a:extLst>
              </p:cNvPr>
              <p:cNvSpPr>
                <a:spLocks noChangeArrowheads="1"/>
              </p:cNvSpPr>
              <p:nvPr/>
            </p:nvSpPr>
            <p:spPr bwMode="auto">
              <a:xfrm>
                <a:off x="1080655" y="422206"/>
                <a:ext cx="9254246" cy="454804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spcAft>
                    <a:spcPts val="1000"/>
                  </a:spcAft>
                  <a:buFont typeface="+mj-lt"/>
                  <a:buAutoNum type="arabicPeriod" startAt="2"/>
                </a:pPr>
                <a:r>
                  <a:rPr lang="en-US" sz="2400" dirty="0">
                    <a:latin typeface="Verdana" panose="020B0604030504040204" pitchFamily="34" charset="0"/>
                    <a:ea typeface="Verdana" pitchFamily="34" charset="0"/>
                    <a:cs typeface="Times New Roman" panose="02020603050405020304" pitchFamily="18" charset="0"/>
                  </a:rPr>
                  <a:t>Select all the expressions that are equivalent to </a:t>
                </a: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25</m:t>
                        </m:r>
                      </m:den>
                    </m:f>
                  </m:oMath>
                </a14:m>
                <a:r>
                  <a:rPr lang="en-US" sz="2400" dirty="0">
                    <a:latin typeface="Verdana" panose="020B0604030504040204" pitchFamily="34" charset="0"/>
                    <a:ea typeface="Verdana" pitchFamily="34" charset="0"/>
                    <a:cs typeface="Times New Roman" panose="02020603050405020304" pitchFamily="18" charset="0"/>
                  </a:rPr>
                  <a:t>.</a:t>
                </a:r>
                <a:endParaRPr lang="x-none" sz="2400" dirty="0">
                  <a:latin typeface="Verdana" pitchFamily="34" charset="0"/>
                  <a:ea typeface="Verdana" pitchFamily="34" charset="0"/>
                </a:endParaRPr>
              </a:p>
              <a:p>
                <a:pPr marL="909638" indent="-452438">
                  <a:spcAft>
                    <a:spcPts val="2000"/>
                  </a:spcAft>
                  <a:buFont typeface="Wingdings" pitchFamily="2" charset="2"/>
                  <a:buChar char=""/>
                </a:pP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−1</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5</m:t>
                        </m:r>
                      </m:sup>
                    </m:sSup>
                  </m:oMath>
                </a14:m>
                <a:endParaRPr lang="x-none" sz="2400" dirty="0">
                  <a:latin typeface="Verdana" pitchFamily="34" charset="0"/>
                  <a:ea typeface="Verdana" pitchFamily="34" charset="0"/>
                  <a:cs typeface="Times New Roman" panose="02020603050405020304" pitchFamily="18" charset="0"/>
                </a:endParaRPr>
              </a:p>
              <a:p>
                <a:pPr marL="914400" indent="-457200">
                  <a:spcAft>
                    <a:spcPts val="2000"/>
                  </a:spcAft>
                  <a:buFont typeface="Wingdings" pitchFamily="2" charset="2"/>
                  <a:buChar char=""/>
                </a:pP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den>
                    </m:f>
                  </m:oMath>
                </a14:m>
                <a:endParaRPr lang="x-none" sz="2400" dirty="0">
                  <a:latin typeface="Verdana" pitchFamily="34" charset="0"/>
                  <a:ea typeface="Verdana" pitchFamily="34" charset="0"/>
                  <a:cs typeface="Times New Roman" panose="02020603050405020304" pitchFamily="18" charset="0"/>
                </a:endParaRPr>
              </a:p>
              <a:p>
                <a:pPr marL="914400" indent="-457200">
                  <a:spcAft>
                    <a:spcPts val="2000"/>
                  </a:spcAft>
                  <a:buFont typeface="Wingdings" pitchFamily="2" charset="2"/>
                  <a:buChar char=""/>
                </a:pP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0</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 (5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−1</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5</m:t>
                        </m:r>
                      </m:den>
                    </m:f>
                  </m:oMath>
                </a14:m>
                <a:endParaRPr lang="x-none" sz="2400" dirty="0">
                  <a:latin typeface="Verdana" pitchFamily="34" charset="0"/>
                  <a:ea typeface="Verdana" pitchFamily="34" charset="0"/>
                  <a:cs typeface="Times New Roman" panose="02020603050405020304" pitchFamily="18" charset="0"/>
                </a:endParaRPr>
              </a:p>
              <a:p>
                <a:pPr marL="914400" indent="-457200">
                  <a:spcAft>
                    <a:spcPts val="2000"/>
                  </a:spcAft>
                  <a:buFont typeface="Wingdings" pitchFamily="2" charset="2"/>
                  <a:buChar char=""/>
                </a:pP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den>
                    </m:f>
                  </m:oMath>
                </a14:m>
                <a:endParaRPr lang="x-none" sz="2400" dirty="0">
                  <a:latin typeface="Verdana" pitchFamily="34" charset="0"/>
                  <a:ea typeface="Verdana" pitchFamily="34" charset="0"/>
                  <a:cs typeface="Times New Roman" panose="02020603050405020304" pitchFamily="18" charset="0"/>
                </a:endParaRPr>
              </a:p>
              <a:p>
                <a:pPr marL="914400" indent="-457200">
                  <a:spcAft>
                    <a:spcPts val="1000"/>
                  </a:spcAft>
                  <a:buFont typeface="Wingdings" pitchFamily="2" charset="2"/>
                  <a:buChar char=""/>
                </a:pP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 ∙ 5</m:t>
                        </m:r>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5</m:t>
                            </m:r>
                          </m:sup>
                        </m:sSup>
                      </m:den>
                    </m:f>
                  </m:oMath>
                </a14:m>
                <a:endParaRPr lang="x-none" sz="2400" dirty="0">
                  <a:latin typeface="Verdana" pitchFamily="34" charset="0"/>
                  <a:ea typeface="Verdana" pitchFamily="34" charset="0"/>
                  <a:cs typeface="Times New Roman" panose="02020603050405020304" pitchFamily="18" charset="0"/>
                </a:endParaRPr>
              </a:p>
            </p:txBody>
          </p:sp>
        </mc:Choice>
        <mc:Fallback>
          <p:sp>
            <p:nvSpPr>
              <p:cNvPr id="6" name="Rectangle 5">
                <a:extLst>
                  <a:ext uri="{FF2B5EF4-FFF2-40B4-BE49-F238E27FC236}">
                    <a16:creationId xmlns:a16="http://schemas.microsoft.com/office/drawing/2014/main" id="{2462CA84-B0A7-574F-BCDC-AB209CE8769D}"/>
                  </a:ext>
                </a:extLst>
              </p:cNvPr>
              <p:cNvSpPr>
                <a:spLocks noRot="1" noChangeAspect="1" noMove="1" noResize="1" noEditPoints="1" noAdjustHandles="1" noChangeArrowheads="1" noChangeShapeType="1" noTextEdit="1"/>
              </p:cNvSpPr>
              <p:nvPr/>
            </p:nvSpPr>
            <p:spPr bwMode="auto">
              <a:xfrm>
                <a:off x="1080655" y="422206"/>
                <a:ext cx="9254246" cy="4548040"/>
              </a:xfrm>
              <a:prstGeom prst="rect">
                <a:avLst/>
              </a:prstGeom>
              <a:blipFill>
                <a:blip r:embed="rId4"/>
                <a:stretch>
                  <a:fillRect l="-9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4040516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06286" y="324093"/>
            <a:ext cx="9028615"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37099" y="2752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024361" y="1439713"/>
            <a:ext cx="9028615" cy="415498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emoji scale to indicate your level of confidence with evaluating numerical expressions with exponents.</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why you chose that level of confidence.</a:t>
            </a:r>
          </a:p>
        </p:txBody>
      </p:sp>
      <p:grpSp>
        <p:nvGrpSpPr>
          <p:cNvPr id="3" name="Group 2"/>
          <p:cNvGrpSpPr/>
          <p:nvPr/>
        </p:nvGrpSpPr>
        <p:grpSpPr>
          <a:xfrm>
            <a:off x="2508104" y="2681585"/>
            <a:ext cx="6835142" cy="1671240"/>
            <a:chOff x="1154428" y="2508639"/>
            <a:chExt cx="6835142" cy="1671240"/>
          </a:xfrm>
        </p:grpSpPr>
        <p:pic>
          <p:nvPicPr>
            <p:cNvPr id="8" name="image4.png" descr="Chart&#10;&#10;Description automatically generated">
              <a:extLst>
                <a:ext uri="{FF2B5EF4-FFF2-40B4-BE49-F238E27FC236}">
                  <a16:creationId xmlns:a16="http://schemas.microsoft.com/office/drawing/2014/main" id="{3C9A685C-EFE3-4C40-913C-AF83F634F330}"/>
                </a:ext>
              </a:extLst>
            </p:cNvPr>
            <p:cNvPicPr/>
            <p:nvPr/>
          </p:nvPicPr>
          <p:blipFill>
            <a:blip r:embed="rId5" cstate="screen">
              <a:extLst>
                <a:ext uri="{28A0092B-C50C-407E-A947-70E740481C1C}">
                  <a14:useLocalDpi xmlns:a14="http://schemas.microsoft.com/office/drawing/2010/main"/>
                </a:ext>
              </a:extLst>
            </a:blip>
            <a:srcRect t="46060" b="42611"/>
            <a:stretch>
              <a:fillRect/>
            </a:stretch>
          </p:blipFill>
          <p:spPr>
            <a:xfrm>
              <a:off x="1154430" y="3673149"/>
              <a:ext cx="6835140" cy="506730"/>
            </a:xfrm>
            <a:prstGeom prst="rect">
              <a:avLst/>
            </a:prstGeom>
            <a:ln/>
          </p:spPr>
        </p:pic>
        <p:pic>
          <p:nvPicPr>
            <p:cNvPr id="4" name="Picture 3" descr="A group of yellow smiley faces&#10;&#10;Description automatically generated with medium confidence">
              <a:extLst>
                <a:ext uri="{FF2B5EF4-FFF2-40B4-BE49-F238E27FC236}">
                  <a16:creationId xmlns:a16="http://schemas.microsoft.com/office/drawing/2014/main" id="{78131367-B71A-6F4D-925B-777DEFEF723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54428" y="2508639"/>
              <a:ext cx="6835141" cy="1039072"/>
            </a:xfrm>
            <a:prstGeom prst="rect">
              <a:avLst/>
            </a:prstGeom>
          </p:spPr>
        </p:pic>
      </p:gr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3132</TotalTime>
  <Words>1042</Words>
  <Application>Microsoft Office PowerPoint</Application>
  <PresentationFormat>Widescreen</PresentationFormat>
  <Paragraphs>191</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Verdana</vt:lpstr>
      <vt:lpstr>Wingdings</vt:lpstr>
      <vt:lpstr>Century Gothic</vt:lpstr>
      <vt:lpstr>Calibri</vt:lpstr>
      <vt:lpstr>Arial Black</vt:lpstr>
      <vt:lpstr>Cambria Math</vt:lpstr>
      <vt:lpstr>Arial</vt:lpstr>
      <vt:lpstr>Cambria</vt:lpstr>
      <vt:lpstr>1_Office Theme</vt:lpstr>
      <vt:lpstr>PowerPoint Presentation</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35</cp:revision>
  <dcterms:created xsi:type="dcterms:W3CDTF">2015-03-17T18:51:18Z</dcterms:created>
  <dcterms:modified xsi:type="dcterms:W3CDTF">2022-06-15T17:03:48Z</dcterms:modified>
</cp:coreProperties>
</file>